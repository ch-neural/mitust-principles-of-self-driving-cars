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第三節，整節講作業。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作業頁有四張表：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雷達兩顆、超音波兩顆、衛星兩顆、IMU 兩顆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，各配兩三個情境，一共二十二格。後面還有一句隧道的結論，和四句是非。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今天一題一題對答案。每一格我都會講：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夠還是不夠，卡在哪一行。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各位跟著在作業頁上點開那一格，看著判讀，自己選夠或不夠。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四張表問的問題不一樣。雷達和超音波問「看不看得到」；衛星問「知不知道自己在哪一道」；IMU 問「衛星斷掉那幾秒撐不撐得住」。這一點最容易搞混，等一下每一題開頭我都會先講。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下課前每個人按「產生作答單」，截圖傳 LINE 群。先把網頁打開。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兩個網頁。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右邊那個 QR 是作業頁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，今天主要用它。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左邊那個是判讀台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，第一節開過的，要查規格表上哪一行的時候切過去。網址前面一樣，最後一段一個是 hw，一個是 spec。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我等全班。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作業頁開好了再舉手。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還沒開的，先跟旁邊的同學共用一台。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開好之後，作業頁最上面的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姓名和學號現在就填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。右上角語言鈕，要看越南文現在切。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這兩個網頁下課以後還在，回家可以再看一次。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對答案之前，先看兩支影片，把這週的四種感測器再複習一次。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第一支，左邊那個連結，從 0:12 播到 4:40。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英文旁白，畫面是圖示動畫，看圖就懂。它把五種感測器排在一起，每一種問三個問題：怎麼感測、擅長什麼、什麼時候失靈。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1:24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雷達：用都卜勒直接量速度，晚上、雨、霧都能用；可是它看到的只是一團，分不出停著的車和頭頂的金屬路牌。這就是第一節第十張講的兩個弱點。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2:50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超音波：便宜、可靠，只看得到幾公尺，像車子周圍的一個小泡泡，所以是停車用的。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3:14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GPS 和 IMU：這兩個不看外面，是告訴車子自己在哪裡。GPS 會差好幾公尺，隧道裡收不到，高樓之間訊號會反射；IMU 不需要訊號，可是小誤差會累積，慢慢飄。兩個互相補。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4:03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這裡停一下。畫面上是一張表：每一種「知道什麼」，旁邊是「漏掉什麼」。請各位唸一遍：相機知道那是什麼，雷達知道多快、而且不怕天氣，光達知道形狀，超音波知道很近的東西，GPS 和 IMU 知道車子在哪。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每一個強項都配一個弱點。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這就是今天作業要你們一格一格判斷的事。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播到 4:40 停，後面在講光達和純相機兩派路線，第七週以後再說。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第二支，右邊那個連結，一分半，整支播。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美國德州大學的團隊，把公分級的衛星定位裝在車上，用一個叫 Lane Watcher 的 App 顯示車子在車道裡的位置。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0:48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記者把方向盤慢慢轉向中線，App 馬上警告 drifting out of lane，偏出車道了。旁白沒有說出名字，可是這就是我們第二節講的高精度定位，RTK 那一類。它回答的就是作業第三題那個問題：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知不知道自己在哪一道。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看完，我們從怎麼讀判讀開始，一題一題對答案。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先教怎麼看一格。各位在作業頁隨便點開一格，我們一起看。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第一步，看抬頭。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展開的最上面那一塊，會寫這一格在問什麼。雷達和超音波問「看不看得到」，衛星問「知不知道自己在哪一道」，IMU 問「衛星斷掉這幾秒撐不撐得住」。問題不一樣，門檻就不一樣。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第二步，找門檻。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抬頭最後那個數字就是門檻：看得到的那一類是測距門檻，衛星是零點五公尺，IMU 是這個情境衛星斷幾秒。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第三步，找紅字。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下面一行一行，綠的打勾是過，紅的打叉是卡住。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只要有一行紅，這一格就不夠。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第四步，其他顏色。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琥珀色加一個驚嘆號，是本課自己估的數字，或是提醒你要小心的地方，例如手機級 IMU 的偏差。灰色的行不是門檻，是代價，例如更新率、功耗。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最重要的一句：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選夠或不夠還不算完，要講得出卡在哪一行。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第一題在下一張。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第一題。作業頁第一題的表：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ARS 408-21、ARS 548 RDI，乘以校園、河內、國道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，六格。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先講這一題看哪一行。測距兩顆都夠：四十公尺、一百五十公尺，兩百五十和三百都綽綽有餘。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決定的是角解析度那一行：一束攤到目標那裡多寬，要比一個車道窄。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算法跟第一節一樣，距離乘以 tan 角度。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校園和河內，兩顆都夠。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目標在四十公尺，ARS 408 一束攤成一點一公尺，ARS 548 零點八公尺，都比三點五公尺窄。四十公尺也還在 408 的近場，正負六十度，側面鑽過來的機車看得到。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國道，ARS 408 不夠。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各位在作業頁點開這一格。測距那一行是綠的。往下看角解析度那一行，紅的：一百五十公尺處一束攤成四點二公尺，比一個車道還寬。它知道前面一百五十公尺有車，說不出在你這一道還是隔壁。就是第一節講的，晚上遠方來車，兩個頭燈黏成一盞。視野那一行還有一個琥珀色：一百五十公尺已經在遠場，只剩正負九度，旁邊切進來的看不到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國道，ARS 548 夠。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一點二度，一百五十公尺攤成三點一公尺，剛好比車道窄。只差零點四度，一個過、一個不過。548 的表上沒有印解析度那一行，本課用波束寬一點二度當上限，展開裡有註明。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拿出上週的作答單，看國道那一欄。AT128P 過了，可是只剩十二個點，剛好壓線。今天的 ARS 408 測距比它遠，卻在另一行出局。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同一個情境、兩種感測器、兩種卡法。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灰色那行「高度」也看一眼：408 沒有，548 有。今天不計分，第七週會回來。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第二題。作業頁第二題的表：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HC-SR04、Bosch 6.5，乘以停車場、校園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，四格。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這一題看測距那一行。兩個情境差在車速和要看多遠：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停車場時速五，小孩在兩公尺外，門檻兩公尺；校園時速二十，行人在四十公尺外，門檻四十公尺。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停車場，兩顆都夠。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煞停只要零點六公尺，加零點五公尺餘裕，一公尺多，還不到小孩那兩公尺，所以門檻就是兩公尺。四公尺和五點五公尺都夠。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校園，兩顆都不夠。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門檻四十公尺，一顆差三十六公尺，一顆差三十四點五公尺。就算不管那個行人，只算煞停：時速二十，煞停四點二公尺加餘裕五公尺，九點二公尺，五點五公尺也搆不到。展開裡的波束角那一行會寫「超過它的測距，用不上」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這裡補一句判讀表上沒有的話：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停車場兩顆都過，可是兩顆不一樣。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第二節第三張講過，Bosch 那顆被泥巴、冰雪蓋住會自己發現，儀表板跳警告；HC-SR04 被蓋住就安靜地回報「前面沒東西」。判讀只算測距，所以兩顆都打勾。真的要裝上車，要選會說「我看不到」的那一顆。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順便想一題，不用寫：為什麼車用的要「可變頻率」，43 到 60 千赫？車頭裝六顆，同時發聲，要分得出哪個回音是自己的。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第三題。作業頁第三題的表：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NEO-M8N、ZED-F9P，乘以校園、河內、隧道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，六格。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這一題問題換了。展開的抬頭會寫：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問的是「知不知道自己在哪一道」，橫向誤差要在零點五公尺以內。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車道三點五、車寬一點八，左右各剩零點八五，零點五是留一點餘裕。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NEO-M8N，三格都不夠。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校園和河內，精度那一行寫 2.5 公尺 CEP，比零點五大五倍，紅的。CEP 是一半的點在圈內，乘以二大約九成五，也就是五公尺內——知道在哪條路，不知道在哪一道。隧道那一格，天空那一行就紅了：收不到衛星，沒有位置可言。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ZED-F9P 校園，夠。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先複習 RTK 是什麼：英文是 Real-Time Kinematic，中文叫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即時動態定位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，第二節第八張講過。附近有一座位置早就量好的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基準站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，它也收同樣的衛星，知道自己算出來差多少，把這個差從網路送給車子，車子扣掉就從公尺級變成公分級，就像有人拿著準的手錶告訴全班「教室的鐘快五分鐘」。校園天空開闊，RTK 鎖得住：一公分，加上離基準站二十公里、每公里一公釐，兩公分，一共三公分。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ZED-F9P 河內，不夠。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請各位點開這一格。精度那一行寫：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多路徑讓 RTK 失鎖，退回單機解 1.5 公尺。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失鎖的意思是：RTK 要一直穩穩追著衛星的訊號，訊號被大樓反射打亂，就追丟了，只剩沒有修正的單機解。同一顆模組，換個地方就從三公分變一點五公尺。原因就是第二節的鏡子：訊號從大樓的牆上反射進來，走了遠路，接收機被騙了。這是今天最重要的一格，跟上週 OS1 換模式翻盤一樣，只是這次往壞的方向翻。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隧道，兩顆都不夠。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不是誤差大，是根本沒有位置。那沒有衛星的九分鐘，誰來補？下一題。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第四題。作業頁第四題的表：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ICM-20948、ADIS16470，乘以河內、停車場、隧道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，六格。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這一題問的是：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衛星斷掉那幾秒，它撐不撐得住。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撐多久，就是第二節那條曲線碰到紅線的秒數：橫向偏到零點五公尺要幾秒。這個秒數要比衛星斷掉的時間長，才算撐得住。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河內，斷十秒。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ADIS16470 撐四十八秒，夠。ICM-20948 撐三秒，不夠。各位看 ICM 那一行是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琥珀色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的：規格表沒印偏差，本課用零點五度每秒估的。兩個「撐多久」差十幾倍。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停車場，斷六十秒。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時速五。ADIS 撐一百三十六秒，夠；ICM 撐九秒，不夠。為什麼慢反而撐得久？算式裡有車速：同樣的方向誤差，車開得慢，橫向偏得就慢。閉著眼睛走路也一樣，慢慢走比用跑的偏得少。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隧道，斷五百八十秒。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兩顆都不夠。工業級也只撐三十四秒，手機級兩秒。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 IMU 是補幾秒到幾十秒的洞，不是用來過隧道。那隧道怎麼辦？就是第五題。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第五題，替隧道寫一句結論，四選一。先舉手：選第一句的？第二句？第三句？第四句？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。它把兩件事都講對了：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卡在哪一行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，撐多久，工業級三十四秒、隧道五百八十秒；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該怎麼補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，相機看車道線、輪速、高精地圖，不是換一顆更貴的 IMU。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另外三句錯在哪：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說 ADIS16470 撐得住。工業級比手機級好兩百倍沒錯，可是三十四秒還是不到五百八十秒。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說用 RTK 就好。RTK 再準也要收得到衛星，隧道裡是零。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第四句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說 IMU 不好用。太籠統，而且不對：衛星斷一兩秒、十秒的時候，它把洞補起來，很好用。它只是不能單獨過隧道。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輪速、相機、高精地圖各管什麼，第二節第十四張講過：輪速知道走了多遠，相機看車道線知道有沒有偏，高精地圖知道前面怎麼走。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四張表講完了，一起看總表。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十二個型號、五個情境、六十格，兩週加起來各位做了三十四格。只有一顆五格全過：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ARS 548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。那每台車都裝它就好了？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想三秒。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不對，理由跟上週一樣，而且更多。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第一，它看不到「那是什麼」。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雷達的目標只有三個數字，多遠、多快、哪個方向。紅綠燈是紅是綠、路上那個是人還是垃圾桶，它不知道。這要相機。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第二，它不知道自己在哪。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它量的全是相對的東西。要知道自己在地圖上哪一條路、哪一道，要衛星，而衛星在隧道裡是零。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第三，隧道裡那九分鐘。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衛星沒有，IMU 三十四秒就出局。這時候靠的是光達、相機看車道線和高精地圖——第五章。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所以第三週那張表，「每一種的弱點由哪一種來補」，今天每一格都有了真的型號：雷達補雨霧和速度，超音波補保險桿前面二十公分，衛星給絕對位置，IMU 補那幾秒。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沒有一顆是主角，每一顆都在補別人的洞。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像一支足球隊：不會派十一個守門員上場，也不會派十一個前鋒。守門員最會擋球，可是不會進球。每個位置找最適合的人，合起來才是一支隊。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最後播一分鐘的影片，Waymo 的工程師講他們的車為什麼三種都裝。英文，畫面上有英文字幕。他說：相機有解析度和顏色；光達直接量出周圍的立體形狀；雷達穿得過霧和雨，還用都卜勒直接量速度，就是第一節那一張。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0:40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他說這幾種感測器 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not backups to each other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，不是彼此的備胎，是合起來變成一張圖，比任何一顆單獨看都好。這就是足球隊。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影片只講這三種。播完問學生：今天的衛星和 IMU 如果也放上這輛車，它們補的是哪個洞？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這就是第七週要講的事：融合。今天先把這句話記住。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第六題，四句話，對或錯，再選一個理由。一句一句來：我先唸，各位舉手，選對的舉一隻手，選錯的舉兩隻手。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四句都錯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錯在把測距當成全部。一點六度到一百五十公尺攤成四點二公尺，比車道還寬。測得到遠，不等於知道在哪一道，就像遠方的兩個頭燈，看得到，分不開。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錯在用一個情境否定一種感測器。停車場時速五、兩公尺，它最便宜又夠用。守門員不會進球，不代表球隊不需要守門員。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錯在把機率讀成保證。CEP 是百分之五十，一半在圈內、一半在外，像射一百支飛鏢，有五十支在圈外，大多只是稍微出界。跟上週的「大於九成偵測機率」是同一種東西。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第四句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錯在忘了它會飄。橫向誤差隨時間平方長，像閉著眼睛走路，愈走愈歪。8 °/h 在時速八十只撐三十四秒，隧道要五百八十秒。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四題都對完了。現在每個人按「產生作答單」，截圖傳 LINE 群，記得姓名有填到。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下週第七週，十月二十二日，第三章最後一次。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前面三週我們把感測器一顆一顆讀完了。下週把它們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合起來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：同一個場景、同一個時刻，相機、光達、雷達各看到什麼，哪一顆先壞、壞了誰補。我會拿公開的資料集 nuScenes 來放。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要帶的東西：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今天和上週的作答單截圖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，兩張都留著。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今天就到這裡。下課。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youtu.be/5iSt3Q8jyno" TargetMode="External"/><Relationship Id="rId2" Type="http://schemas.openxmlformats.org/officeDocument/2006/relationships/hyperlink" Target="https://youtu.be/CRzdppfI-vc" TargetMode="External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youtu.be/Vwrz1hfVeSM" TargetMode="External"/><Relationship Id="rId2" Type="http://schemas.openxmlformats.org/officeDocument/2006/relationships/image" Target="../media/image-10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6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1002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9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Chữa bài: radar, siêu âm, vệ tinh, IMU</a:t>
            </a:r>
            <a:endParaRPr lang="en-US" sz="29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6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作業講解：雷達、超音波、衛星、IMU</a:t>
            </a:r>
            <a:endParaRPr lang="en-US" sz="2990" dirty="0"/>
          </a:p>
        </p:txBody>
      </p:sp>
      <p:sp>
        <p:nvSpPr>
          <p:cNvPr id="6" name="Shape 4"/>
          <p:cNvSpPr/>
          <p:nvPr/>
        </p:nvSpPr>
        <p:spPr>
          <a:xfrm>
            <a:off x="516938" y="2715525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2916000"/>
            <a:ext cx="7107750" cy="610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bảng, một câu kết luận, bốn câu đúng/sai — chữa từng câu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四張表、一句結論、四句是非——一題一題對答案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16938" y="3881925"/>
            <a:ext cx="5923125" cy="382725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4513" y="3927488"/>
            <a:ext cx="5667975" cy="29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作業｜Bài tập： ch-neural.github.io/MITUST-Principles-of-Self-Driving-Cars/week6/hw/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第六週 第 3 節　2026/10/15（四）11:10–12:00　CH Tseng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3" name="Image 0" descr="/Users/tsengchenghsun/Class/carClass/Claude outputs/第六週(10-15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hai trang: trang nộp bài và bàn đọc thông số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開兩個網頁：作業頁、規格判讀台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257800" y="1133856"/>
            <a:ext cx="1737360" cy="2267712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294376" y="1207008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Bàn đọc thông số</a:t>
            </a:r>
            <a:endParaRPr lang="en-US" sz="10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規格判讀台</a:t>
            </a:r>
            <a:endParaRPr lang="en-US" sz="1000" dirty="0"/>
          </a:p>
        </p:txBody>
      </p:sp>
      <p:pic>
        <p:nvPicPr>
          <p:cNvPr id="5" name="Image 0" descr="/Users/tsengchenghsun/Class/carClass/Claude outputs/第六週(10-15)/src/img/w6_qr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85816" y="1554480"/>
            <a:ext cx="1481328" cy="148132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294376" y="3054096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…/week6/spec/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6903720" y="1133856"/>
            <a:ext cx="1737360" cy="2267712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940296" y="1207008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Trang nộp bài</a:t>
            </a:r>
            <a:endParaRPr lang="en-US" sz="10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作業頁</a:t>
            </a:r>
            <a:endParaRPr lang="en-US" sz="1000" dirty="0"/>
          </a:p>
        </p:txBody>
      </p:sp>
      <p:pic>
        <p:nvPicPr>
          <p:cNvPr id="9" name="Image 1" descr="/Users/tsengchenghsun/Class/carClass/Claude outputs/第六週(10-15)/src/img/w6_qr_h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1736" y="1554480"/>
            <a:ext cx="1481328" cy="148132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940296" y="3054096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…/week6/hw/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5257800" y="3346704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Quét hai mã, mở thành hai tab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兩個都掃，開成兩個分頁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502920" y="1133856"/>
            <a:ext cx="4443984" cy="841248"/>
          </a:xfrm>
          <a:prstGeom prst="roundRect">
            <a:avLst>
              <a:gd name="adj" fmla="val 9783"/>
            </a:avLst>
          </a:prstGeom>
          <a:solidFill>
            <a:srgbClr val="0B1F3A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649224" y="1225296"/>
            <a:ext cx="41513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兩個網址前面都一樣：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https://ch-neural.github.io/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MITUST-Principles-of-Self-Driving-Cars/week6/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539496" y="2157984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539496" y="2167128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6" name="Text 12"/>
          <p:cNvSpPr txBox="1"/>
          <p:nvPr/>
        </p:nvSpPr>
        <p:spPr>
          <a:xfrm>
            <a:off x="941832" y="212140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Trang nộp bài: theo lời giảng, bấm mở từng ô rồi tự chọn đủ / không đủ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作業頁：跟著講解點開每一格，自己選夠或不夠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539496" y="2745371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539496" y="2754515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9" name="Text 15"/>
          <p:cNvSpPr txBox="1"/>
          <p:nvPr/>
        </p:nvSpPr>
        <p:spPr>
          <a:xfrm>
            <a:off x="941832" y="2708795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Bàn đọc thông số: muốn xem dòng nào trên datasheet thì chuyển sang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判讀台：要查規格表上哪一行，切過去看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539496" y="3332758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539496" y="3341902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18"/>
          <p:cNvSpPr txBox="1"/>
          <p:nvPr/>
        </p:nvSpPr>
        <p:spPr>
          <a:xfrm>
            <a:off x="941832" y="329618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Trước giờ về: bấm «Tạo phiếu», chụp màn hình, gửi LINE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下課前：按「產生作答單」，截圖傳 LINE</a:t>
            </a:r>
            <a:endParaRPr lang="en-US" sz="1150" dirty="0"/>
          </a:p>
        </p:txBody>
      </p:sp>
      <p:sp>
        <p:nvSpPr>
          <p:cNvPr id="23" name="Shape 19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Điền họ tên và MSSV ngay bây giờ. Ai không mở được thì tạm hai người dùng chung một máy.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姓名學號現在就填。打不開的人先兩個人共用一台。</a:t>
            </a:r>
            <a:endParaRPr lang="en-US" sz="1200" dirty="0"/>
          </a:p>
        </p:txBody>
      </p:sp>
      <p:pic>
        <p:nvPicPr>
          <p:cNvPr id="26" name="Image 2" descr="/Users/tsengchenghsun/Class/carClass/Claude outputs/第六週(10-15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12</a:t>
            </a:r>
            <a:endParaRPr lang="en-US" sz="900" dirty="0"/>
          </a:p>
        </p:txBody>
      </p:sp>
      <p:sp>
        <p:nvSpPr>
          <p:cNvPr id="28" name="Text 22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Ôn tập · 影片複習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918972"/>
            <a:ext cx="2468880" cy="2514600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5393" y="1864462"/>
            <a:ext cx="1303934" cy="623621"/>
          </a:xfrm>
          <a:prstGeom prst="ellipse">
            <a:avLst/>
          </a:prstGeom>
          <a:solidFill>
            <a:srgbClr val="1F4E79">
              <a:alpha val="28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085393" y="1864462"/>
            <a:ext cx="1303934" cy="623621"/>
          </a:xfrm>
          <a:prstGeom prst="ellipse">
            <a:avLst/>
          </a:prstGeom>
          <a:solidFill>
            <a:srgbClr val="FFFFFF">
              <a:alpha val="0"/>
            </a:srgbClr>
          </a:solidFill>
          <a:ln w="31750">
            <a:solidFill>
              <a:srgbClr val="1F4E7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538935" y="1935328"/>
            <a:ext cx="396850" cy="481889"/>
          </a:xfrm>
          <a:prstGeom prst="ellipse">
            <a:avLst/>
          </a:prstGeom>
          <a:solidFill>
            <a:srgbClr val="1F4E79"/>
          </a:solidFill>
          <a:ln/>
        </p:spPr>
      </p:sp>
      <p:sp>
        <p:nvSpPr>
          <p:cNvPr id="7" name="Shape 5"/>
          <p:cNvSpPr/>
          <p:nvPr/>
        </p:nvSpPr>
        <p:spPr>
          <a:xfrm>
            <a:off x="1652321" y="2048713"/>
            <a:ext cx="170078" cy="226771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429000" y="914400"/>
            <a:ext cx="5212080" cy="2523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Video: năm loại cảm biến — mỗi loại biết gì, bỏ sót gì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影片：五種感測器，各自知道什麼、漏掉什麼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Camera, radar, lidar, siêu âm, GPS + IMU: cảm nhận thế nào, giỏi gì, khi nào hỏng. Xem xong rồi chữa bài.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相機、雷達、光達、超音波、GPS＋IMU：怎麼感測、擅長什麼、什麼時候失靈。看完再對作業的答案。</a:t>
            </a:r>
            <a:endParaRPr lang="en-US" sz="2300" dirty="0"/>
          </a:p>
        </p:txBody>
      </p:sp>
      <p:sp>
        <p:nvSpPr>
          <p:cNvPr id="9" name="Shape 7"/>
          <p:cNvSpPr/>
          <p:nvPr/>
        </p:nvSpPr>
        <p:spPr>
          <a:xfrm>
            <a:off x="539496" y="3538728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39496" y="3566160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11" name="Text 9"/>
          <p:cNvSpPr txBox="1"/>
          <p:nvPr/>
        </p:nvSpPr>
        <p:spPr>
          <a:xfrm>
            <a:off x="832104" y="3493008"/>
            <a:ext cx="36255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xe tự lái cảm nhận đường thế nào　6:03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影片：五種感測器怎麼看路　</a:t>
            </a:r>
            <a:pPr indent="0" marL="0">
              <a:lnSpc>
                <a:spcPct val="100000"/>
              </a:lnSpc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youtu.be/5iSt3Q8jyno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722876" y="3538728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722876" y="3566160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14" name="Text 12"/>
          <p:cNvSpPr txBox="1"/>
          <p:nvPr/>
        </p:nvSpPr>
        <p:spPr>
          <a:xfrm>
            <a:off x="5015484" y="3493008"/>
            <a:ext cx="36255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GPS biết mình ở làn nào　1:39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影片：知道在哪一道的 GPS　</a:t>
            </a:r>
            <a:pPr indent="0" marL="0">
              <a:lnSpc>
                <a:spcPct val="100000"/>
              </a:lnSpc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youtu.be/CRzdppfI-vc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có cảm biến nào hoàn hảo: mỗi điểm mạnh đi kèm một điểm yếu.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沒有一種感測器是完美的：每一個強項都配一個弱點。</a:t>
            </a:r>
            <a:endParaRPr lang="en-US" sz="1250" dirty="0"/>
          </a:p>
        </p:txBody>
      </p:sp>
      <p:pic>
        <p:nvPicPr>
          <p:cNvPr id="18" name="Image 0" descr="/Users/tsengchenghsun/Class/carClass/Claude outputs/第六週(10-15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12</a:t>
            </a:r>
            <a:endParaRPr lang="en-US" sz="900" dirty="0"/>
          </a:p>
        </p:txBody>
      </p:sp>
      <p:sp>
        <p:nvSpPr>
          <p:cNvPr id="20" name="Text 1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phần phán định của một ô: bốn bước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每一格的判讀怎麼看：四個步驟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17957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7957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3093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dòng đầu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看抬頭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3093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Ô này hỏi gì: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thấy không / biết làn không / giữ được không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這一格在問什麼：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看得到嗎／知道在哪一道嗎／撐得住嗎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233172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260604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82696" y="1316736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28269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73405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Tìm ngưỡng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找門檻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73405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cuối dòng đầu: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tầm đo, 0,5 m, mất mấy giây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抬頭最後那個數字：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測距、0.5 m、斷幾秒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443484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470916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38581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38581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3717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Tìm chữ đỏ ✗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找紅字 ✗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83717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Đỏ = dòng bị chặn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Một dòng đỏ là không đủ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紅字＝卡住的那一行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有一行紅就不夠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653796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21" name="Shape 19"/>
          <p:cNvSpPr/>
          <p:nvPr/>
        </p:nvSpPr>
        <p:spPr>
          <a:xfrm>
            <a:off x="681228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488936" y="1316736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48893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94029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Màu khác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其他顏色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694029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Hổ phách ⚠ = ước lượng hay cảnh báo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Xám = cái giá, không phải ngưỡng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琥珀 ⚠＝估計或警告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灰色＝代價，不是門檻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02920" y="4005072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«đủ» hay «không đủ» chưa xong — phải nói được ô đó tắc ở dòng nào.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選夠或不夠還不算完——要講得出那一格卡在哪一行。</a:t>
            </a:r>
            <a:endParaRPr lang="en-US" sz="1250" dirty="0"/>
          </a:p>
        </p:txBody>
      </p:sp>
      <p:pic>
        <p:nvPicPr>
          <p:cNvPr id="28" name="Image 0" descr="/Users/tsengchenghsun/Class/carClass/Claude outputs/第六週(10-15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12</a:t>
            </a:r>
            <a:endParaRPr lang="en-US" sz="900" dirty="0"/>
          </a:p>
        </p:txBody>
      </p:sp>
      <p:sp>
        <p:nvSpPr>
          <p:cNvPr id="30" name="Text 2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1 — Hai radar: chỉ một ô không đủ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第一題答案：雷達兩顆，只有一格不夠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8138160" cy="713232"/>
          </a:xfrm>
          <a:prstGeom prst="roundRect">
            <a:avLst>
              <a:gd name="adj" fmla="val 10256"/>
            </a:avLst>
          </a:prstGeom>
          <a:solidFill>
            <a:srgbClr val="EAF6F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9224" y="1207008"/>
            <a:ext cx="7845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Tầm đo cả hai đều đủ. Ô quyết định là dòng phân giải góc: chùm toả ra ở chỗ vật rộng bao nhiêu — phải hẹp hơn một làn (3,5 m).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測距兩顆都夠。決定的是「角解析度」那一行：一束攤到目標那裡多寬，要比一個車道（3.5 m）窄。</a:t>
            </a:r>
            <a:endParaRPr lang="en-US" sz="11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956816"/>
          <a:ext cx="81381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103120"/>
                <a:gridCol w="2103120"/>
                <a:gridCol w="2103120"/>
              </a:tblGrid>
              <a:tr h="566928">
                <a:tc>
                  <a:txBody>
                    <a:bodyPr/>
                    <a:lstStyle/>
                    <a:p>
                      <a:endParaRPr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Sân trường 20 km/h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校園：40 m 外的行人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Hà Nội 40 km/h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河內：40 m 外的機車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Cao tốc 100 km/h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國道：150 m 外的車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ARS 408-21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1.6°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 Đủ — chùm 1,1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夠：一束 1.1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 Đủ — chùm 1,1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夠：一束 1.1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 Không đủ — chùm 4,2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不夠：一束 4.2 m，比車道寬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ARS 548 RDI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1.2°（用波束寬）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 Đủ — chùm 0,8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夠：一束 0.8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 Đủ — chùm 0,8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夠：一束 0.8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 Đủ — chùm 3,1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夠：一束 3.1 m，剛好比車道窄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02920" y="3971422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trước AT128P ở cao tốc qua với 12 điểm; hôm nay ARS 408 tầm 250 m thừa sức mà tắc ở dòng khác.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上週 AT128P 國道只剩 12 個點勉強過；今天 ARS 408 測距 250 m 綽綽有餘，卻卡在另一行。</a:t>
            </a:r>
            <a:endParaRPr lang="en-US" sz="1200" dirty="0"/>
          </a:p>
        </p:txBody>
      </p:sp>
      <p:pic>
        <p:nvPicPr>
          <p:cNvPr id="8" name="Image 0" descr="/Users/tsengchenghsun/Class/carClass/Claude outputs/第六週(10-15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12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2 — Hai siêu âm: bãi đỗ xe qua, sân trường không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第二題答案：超音波兩顆，停車場夠、校園不夠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8138160" cy="713232"/>
          </a:xfrm>
          <a:prstGeom prst="roundRect">
            <a:avLst>
              <a:gd name="adj" fmla="val 10256"/>
            </a:avLst>
          </a:prstGeom>
          <a:solidFill>
            <a:srgbClr val="EAF6F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9224" y="1207008"/>
            <a:ext cx="7845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Dòng quyết định là tầm đo. Bãi đỗ xe: trẻ em ở 2 m → ngưỡng 2 m. Sân trường: người ở 40 m → ngưỡng 40 m.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決定的是測距那一行。停車場：小孩在 2 m 外 → 門檻 2 m。校園：行人在 40 m 外 → 門檻 40 m。</a:t>
            </a:r>
            <a:endParaRPr lang="en-US" sz="11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956816"/>
          <a:ext cx="81381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926080"/>
                <a:gridCol w="2926080"/>
              </a:tblGrid>
              <a:tr h="566928">
                <a:tc>
                  <a:txBody>
                    <a:bodyPr/>
                    <a:lstStyle/>
                    <a:p>
                      <a:endParaRPr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Bãi đỗ xe 5 km/h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停車場：2 m 外的小孩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Sân trường 20 km/h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校園：40 m 外的行人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HC-SR04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最遠 4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 Đủ — 4 m ≥ 2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夠：4 m ≥ 2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 Không đủ — thiếu 36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不夠：差 36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Bosch USS Gen 6 (6.5)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最遠 5.5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 Đủ — 5,5 m ≥ 2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夠：5.5 m ≥ 2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 Không đủ — thiếu 34,5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不夠：差 34.5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02920" y="3971422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Bãi đỗ xe cả hai qua — nhưng chỉ cái ô tô biết mình bị bùn che (tiết 2, slide 3).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停車場兩顆都過——可是只有車用那顆會發現自己被泥巴蓋住（第二節第 3 張）。</a:t>
            </a:r>
            <a:endParaRPr lang="en-US" sz="1200" dirty="0"/>
          </a:p>
        </p:txBody>
      </p:sp>
      <p:pic>
        <p:nvPicPr>
          <p:cNvPr id="8" name="Image 0" descr="/Users/tsengchenghsun/Class/carClass/Claude outputs/第六週(10-15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12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1387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5264" y="291720"/>
            <a:ext cx="8113472" cy="838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19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3 — Hai GNSS: chỉ một ô biết mình ở làn nào</a:t>
            </a:r>
            <a:endParaRPr lang="en-US" sz="219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第三題答案：衛星兩顆，只有一格知道自己在哪一道</a:t>
            </a:r>
            <a:endParaRPr lang="en-US" sz="2190" dirty="0"/>
          </a:p>
        </p:txBody>
      </p:sp>
      <p:sp>
        <p:nvSpPr>
          <p:cNvPr id="3" name="Shape 1"/>
          <p:cNvSpPr/>
          <p:nvPr/>
        </p:nvSpPr>
        <p:spPr>
          <a:xfrm>
            <a:off x="515264" y="1130416"/>
            <a:ext cx="8113472" cy="711068"/>
          </a:xfrm>
          <a:prstGeom prst="roundRect">
            <a:avLst>
              <a:gd name="adj" fmla="val 10256"/>
            </a:avLst>
          </a:prstGeom>
          <a:solidFill>
            <a:srgbClr val="EAF6F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61124" y="1203346"/>
            <a:ext cx="7821751" cy="565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hỏi đổi: không phải «thấy không» mà «biết mình ở làn nào không». Sai số ngang phải ≤ 0,5 m (làn 3,5 m, xe 1,8 m, mỗi bên còn 0,85 m).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問題換了：不是「看不看得到」，是「知不知道自己在哪一道」。橫向誤差要 ≤ 0.5 m（車道 3.5、車寬 1.8，左右各剩 0.85）。</a:t>
            </a:r>
            <a:endParaRPr lang="en-US" sz="11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15264" y="1950880"/>
          <a:ext cx="8113472" cy="911626"/>
        </p:xfrm>
        <a:graphic>
          <a:graphicData uri="http://schemas.openxmlformats.org/drawingml/2006/table">
            <a:tbl>
              <a:tblPr/>
              <a:tblGrid>
                <a:gridCol w="1732089"/>
                <a:gridCol w="2096740"/>
                <a:gridCol w="2096740"/>
                <a:gridCol w="2096740"/>
              </a:tblGrid>
              <a:tr h="565208">
                <a:tc>
                  <a:txBody>
                    <a:bodyPr/>
                    <a:lstStyle/>
                    <a:p>
                      <a:endParaRPr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Sân trường — trời thoáng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校園：天空開闊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Hà Nội — phố hẹp nhà cao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河內：高樓窄巷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Hầm — không có vệ tinh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隧道：收不到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5652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u-blox NEO-M8N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2.5 m CEP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 Không đủ — 2,5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不夠：2.5 m &gt; 0.5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 Không đủ — 2,5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不夠：2.5 m &gt; 0.5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 Không đủ — không có vị trí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不夠：沒有位置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52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u-blox ZED-F9P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RTK 0.01 m + 1 ppm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 Đủ — RTK 0,03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夠：RTK 0.03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 Không đủ — mất khoá, 1,5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不夠：失鎖退回 1.5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 Không đủ — không có vị trí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不夠：沒有位置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15264" y="4173337"/>
            <a:ext cx="8113472" cy="4558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ZED-F9P: sân trường 3 cm, sang Hà Nội thành 1,5 m — đa đường làm mất khoá RTK.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同一顆 ZED-F9P：校園 3 公分，換到河內變 1.5 公尺——多路徑讓 RTK 失鎖。</a:t>
            </a:r>
            <a:endParaRPr lang="en-US" sz="1200" dirty="0"/>
          </a:p>
        </p:txBody>
      </p:sp>
      <p:pic>
        <p:nvPicPr>
          <p:cNvPr id="8" name="Image 0" descr="/Users/tsengchenghsun/Class/carClass/Claude outputs/第六週(10-15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23265" y="127628"/>
            <a:ext cx="820463" cy="2552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12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71077" y="127628"/>
            <a:ext cx="2005577" cy="2552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4 — Hai IMU: cấp công nghiệp giữ được hai ô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第四題答案：IMU 兩顆，工業級撐得住兩格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8138160" cy="713232"/>
          </a:xfrm>
          <a:prstGeom prst="roundRect">
            <a:avLst>
              <a:gd name="adj" fmla="val 10256"/>
            </a:avLst>
          </a:prstGeom>
          <a:solidFill>
            <a:srgbClr val="EAF6F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9224" y="1207008"/>
            <a:ext cx="7845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Hỏi: mất vệ tinh mấy giây, nó giữ được không. «Giữ được» = số giây đến khi lệch ngang 0,5 m — phải ≥ số giây mất vệ tinh.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問的是衛星斷掉那幾秒撐不撐得住。「撐多久」＝橫向偏到 0.5 m 要幾秒，要 ≥ 衛星斷掉的秒數。</a:t>
            </a:r>
            <a:endParaRPr lang="en-US" sz="11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956816"/>
          <a:ext cx="81381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103120"/>
                <a:gridCol w="2103120"/>
                <a:gridCol w="2103120"/>
              </a:tblGrid>
              <a:tr h="566928">
                <a:tc>
                  <a:txBody>
                    <a:bodyPr/>
                    <a:lstStyle/>
                    <a:p>
                      <a:endParaRPr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Hà Nội 40 km/h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河內：斷 10 秒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Bãi đỗ xe 5 km/h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停車場：斷 60 秒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Hầm 80 km/h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隧道：斷 580 秒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TDK ICM-20948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估 1800 °/h（琥珀色）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 Không đủ — giữ 3 s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不夠：撐 3 秒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 Không đủ — giữ 9 s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不夠：撐 9 秒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 Không đủ — giữ 2 s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不夠：撐 2 秒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Analog Devices ADIS16470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8 °/h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 Đủ — giữ 48 s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夠：撐 48 秒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 Đủ — giữ 136 s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夠：撐 136 秒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 Không đủ — giữ 34 s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不夠：撐 34 秒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02920" y="404296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 càng chậm, lệch càng chậm: ở bãi đỗ xe 5 km/h, cấp công nghiệp giữ được 136 s.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開得愈慢，偏得愈慢：停車場時速 5，工業級撐 136 秒。</a:t>
            </a:r>
            <a:endParaRPr lang="en-US" sz="1200" dirty="0"/>
          </a:p>
        </p:txBody>
      </p:sp>
      <p:pic>
        <p:nvPicPr>
          <p:cNvPr id="8" name="Image 0" descr="/Users/tsengchenghsun/Class/carClass/Claude outputs/第六週(10-15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12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Đáp án câu 5 · 第五題答案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Kết luận cho hầm: câu thứ 3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隧道的結論：第 3 句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«ADIS16470 giữ được vì là cấp công nghiệp» — cũng chỉ 34 s, hầm cần 580 s.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✗「ADIS16470 撐得住，因為是工業級」——它也只撐 34 秒，隧道要 580 秒。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487168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450592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«Dùng RTK của ZED-F9P là được» — trong hầm không có vệ tinh, RTK cũng bằng không.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✗「用 ZED-F9P 的 RTK 就好」——隧道裡收不到衛星，RTK 也是零。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200400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163824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Không IMU nào giữ nổi; phải nhờ camera nhìn vạch làn, tốc độ bánh, bản đồ HD.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✓ 沒有一顆 IMU 撐得住，要靠相機看車道線、輪速、高精地圖補——卡在哪、怎麼補都講對。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3913632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22376" y="3877056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«IMU không tốt» — bù vài chục giây rất tốt, chỉ không qua hầm một mình.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✗「IMU 不好用」——補幾十秒的洞很好用，只是不能單獨過隧道。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12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có cảm biến nào thắng cả năm tình huống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沒有一種感測器五個情境都贏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316736"/>
            <a:ext cx="3566160" cy="2194560"/>
          </a:xfrm>
          <a:prstGeom prst="roundRect">
            <a:avLst>
              <a:gd name="adj" fmla="val 4167"/>
            </a:avLst>
          </a:prstGeom>
          <a:solidFill>
            <a:srgbClr val="0B1F3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67512" y="1444752"/>
            <a:ext cx="3236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Cái ta vừa làm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我們剛剛做的事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667512" y="1847088"/>
            <a:ext cx="32369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× 5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2450592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mười hai model, năm tình huống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十二個型號、五個情境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667512" y="3017520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00" b="1" dirty="0">
                <a:solidFill>
                  <a:srgbClr val="7E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ARS 548 qua cả 5 — nhưng 18 W, 526 g, không thấy màu đèn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7E93A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ARS 548 五格都過——可是 18 W、526 g，看不到號誌顏色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187952" y="2267712"/>
            <a:ext cx="768096" cy="292608"/>
          </a:xfrm>
          <a:prstGeom prst="rightArrow">
            <a:avLst/>
          </a:prstGeom>
          <a:solidFill>
            <a:srgbClr val="C4CFD9"/>
          </a:solidFill>
          <a:ln/>
        </p:spPr>
      </p:sp>
      <p:sp>
        <p:nvSpPr>
          <p:cNvPr id="9" name="Shape 7"/>
          <p:cNvSpPr/>
          <p:nvPr/>
        </p:nvSpPr>
        <p:spPr>
          <a:xfrm flipH="1">
            <a:off x="4370832" y="2212848"/>
            <a:ext cx="402336" cy="402336"/>
          </a:xfrm>
          <a:prstGeom prst="line">
            <a:avLst/>
          </a:prstGeom>
          <a:noFill/>
          <a:ln w="44450">
            <a:solidFill>
              <a:srgbClr val="D9463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70832" y="2212848"/>
            <a:ext cx="402336" cy="402336"/>
          </a:xfrm>
          <a:prstGeom prst="line">
            <a:avLst/>
          </a:prstGeom>
          <a:noFill/>
          <a:ln w="44450">
            <a:solidFill>
              <a:srgbClr val="D9463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74920" y="1316736"/>
            <a:ext cx="3566160" cy="2194560"/>
          </a:xfrm>
          <a:prstGeom prst="roundRect">
            <a:avLst>
              <a:gd name="adj" fmla="val 4167"/>
            </a:avLst>
          </a:prstGeom>
          <a:solidFill>
            <a:srgbClr val="FDECEC"/>
          </a:solidFill>
          <a:ln w="15875">
            <a:solidFill>
              <a:srgbClr val="D9463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239512" y="1444752"/>
            <a:ext cx="3236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Nhưng câu hỏi thật là…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D9463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但真正的問題是……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671566" y="2337984"/>
            <a:ext cx="370332" cy="170353"/>
          </a:xfrm>
          <a:prstGeom prst="roundRect">
            <a:avLst>
              <a:gd name="adj" fmla="val 22000"/>
            </a:avLst>
          </a:prstGeom>
          <a:solidFill>
            <a:srgbClr val="5F7183"/>
          </a:solidFill>
          <a:ln/>
        </p:spPr>
      </p:sp>
      <p:sp>
        <p:nvSpPr>
          <p:cNvPr id="14" name="Shape 12"/>
          <p:cNvSpPr/>
          <p:nvPr/>
        </p:nvSpPr>
        <p:spPr>
          <a:xfrm>
            <a:off x="5812292" y="2372054"/>
            <a:ext cx="125913" cy="102212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/>
        </p:spPr>
      </p:sp>
      <p:sp>
        <p:nvSpPr>
          <p:cNvPr id="15" name="Shape 13"/>
          <p:cNvSpPr/>
          <p:nvPr/>
        </p:nvSpPr>
        <p:spPr>
          <a:xfrm>
            <a:off x="6238077" y="2506937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6" name="Shape 14"/>
          <p:cNvSpPr/>
          <p:nvPr/>
        </p:nvSpPr>
        <p:spPr>
          <a:xfrm>
            <a:off x="6115533" y="2683992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7" name="Shape 15"/>
          <p:cNvSpPr/>
          <p:nvPr/>
        </p:nvSpPr>
        <p:spPr>
          <a:xfrm>
            <a:off x="5912068" y="2781602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8" name="Shape 16"/>
          <p:cNvSpPr/>
          <p:nvPr/>
        </p:nvSpPr>
        <p:spPr>
          <a:xfrm>
            <a:off x="5682198" y="2773612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9" name="Shape 17"/>
          <p:cNvSpPr/>
          <p:nvPr/>
        </p:nvSpPr>
        <p:spPr>
          <a:xfrm>
            <a:off x="5487518" y="2662163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0" name="Shape 18"/>
          <p:cNvSpPr/>
          <p:nvPr/>
        </p:nvSpPr>
        <p:spPr>
          <a:xfrm>
            <a:off x="5380191" y="2477118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1" name="Shape 19"/>
          <p:cNvSpPr/>
          <p:nvPr/>
        </p:nvSpPr>
        <p:spPr>
          <a:xfrm>
            <a:off x="5388977" y="2268060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2" name="Shape 20"/>
          <p:cNvSpPr/>
          <p:nvPr/>
        </p:nvSpPr>
        <p:spPr>
          <a:xfrm>
            <a:off x="5511520" y="2091005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3" name="Shape 21"/>
          <p:cNvSpPr/>
          <p:nvPr/>
        </p:nvSpPr>
        <p:spPr>
          <a:xfrm>
            <a:off x="5714986" y="1993395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4" name="Shape 22"/>
          <p:cNvSpPr/>
          <p:nvPr/>
        </p:nvSpPr>
        <p:spPr>
          <a:xfrm>
            <a:off x="5944855" y="2001385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5" name="Shape 23"/>
          <p:cNvSpPr/>
          <p:nvPr/>
        </p:nvSpPr>
        <p:spPr>
          <a:xfrm>
            <a:off x="6139536" y="2112834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6" name="Shape 24"/>
          <p:cNvSpPr/>
          <p:nvPr/>
        </p:nvSpPr>
        <p:spPr>
          <a:xfrm>
            <a:off x="6246862" y="2297879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373368" y="1883664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Vậy mọi xe đều gắn ARS 548 là xong?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那每台車都裝 ARS 548 就好了？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5239512" y="3017520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0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thấy màu đèn, không thấy vạch làn, không biết mình ở đâu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看不到紅燈顏色、看不到車道線、不知道自己在哪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255264" y="3529584"/>
            <a:ext cx="2385816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383280" y="3547872"/>
            <a:ext cx="2202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đội bóng không xếp 11 thủ môn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足球隊不會派十一個守門員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39496" y="3575304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39496" y="3602736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33" name="Text 31"/>
          <p:cNvSpPr txBox="1"/>
          <p:nvPr/>
        </p:nvSpPr>
        <p:spPr>
          <a:xfrm>
            <a:off x="832104" y="3529584"/>
            <a:ext cx="5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vì sao Waymo dùng cả camera, lidar, radar　1:03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影片：Waymo 為什麼三種都用　</a:t>
            </a:r>
            <a:pPr indent="0" marL="0">
              <a:lnSpc>
                <a:spcPct val="100000"/>
              </a:lnSpc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youtu.be/Vwrz1hfVeSM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Bảng «điểm yếu của loại này, loại nào bù» ở tuần 3 — hôm nay mỗi ô đều có model thật.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第三週那張「每一種的弱點由誰來補」的表，今天每一格都有了真的型號。</a:t>
            </a:r>
            <a:endParaRPr lang="en-US" sz="1200" dirty="0"/>
          </a:p>
        </p:txBody>
      </p:sp>
      <p:pic>
        <p:nvPicPr>
          <p:cNvPr id="37" name="Image 0" descr="/Users/tsengchenghsun/Class/carClass/Claude outputs/第六週(10-15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38" name="Text 3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12</a:t>
            </a:r>
            <a:endParaRPr lang="en-US" sz="900" dirty="0"/>
          </a:p>
        </p:txBody>
      </p:sp>
      <p:sp>
        <p:nvSpPr>
          <p:cNvPr id="39" name="Text 3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Đáp án câu 6 · 第六題答案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 đều sai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四句都錯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1,6° ở 150 m thành 4,2 m, rộng hơn làn 3,5 m. Đo được xa ≠ biết ở làn nào.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① 1.6° 到 150 公尺攤成 4.2 公尺，比車道 3.5 寬。測得到遠 ≠ 知道在哪一道。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487168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450592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Bãi đỗ xe 5 km/h, 2 m: nó rẻ nhất mà đủ. Mỗi loại có tình huống riêng.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② 停車場時速 5、2 公尺：它最便宜又夠用。每一種各有自己的情境。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200400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163824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CEP là 50%: một nửa trong vòng, một nửa ngoài — xác suất, không phải bảo đảm.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③ CEP 是 50%：一半在圈內、一半在外——機率，不是保證。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3913632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22376" y="3877056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Nó trôi theo t²: 8 °/h ở 80 km/h chỉ 34 s. Hầm cần 580 s.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④ 它隨 t² 飄：8 °/h 在時速 80 只撐 34 秒。隧道要 580 秒。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12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sau · 下週預告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7, 22/10: khi nào hỏng, và ghép lại thế nào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7 週，10 月 22 日：什麼時候壞、怎麼合起來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Lấy một cảnh trong bộ dữ liệu công khai nuScenes: camera, lidar, radar cùng lúc nhìn thấy gì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拿公開資料集 nuScenes 的同一個場景：相機、光達、雷達同一時刻各看到什麼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647817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611241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Bảng «điểm yếu của loại này, loại nào bù» tuần 3 — tuần sau điền thật vào từng ô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第三週那張「弱點由誰補」的表——下週每一格真的填進去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361049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324473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 theo: phiếu hôm nay và phiếu tuần trước, cả hai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要帶：今天和上週的作答單截圖，兩張都留著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12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2026-10-13T05:19:15Z</dcterms:created>
  <dcterms:modified xsi:type="dcterms:W3CDTF">2026-10-13T05:19:15Z</dcterms:modified>
</cp:coreProperties>
</file>