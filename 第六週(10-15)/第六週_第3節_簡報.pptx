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/>
  <p:notesSz cx="7560000" cy="106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5" name="備忘稿版面配置區 4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42958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第三節，整節在電腦上。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上週各位做了一張表：四個型號、三個情境、十二格。今天在那張表旁邊再加四張小表：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雷達兩顆、超音波兩顆、衛星兩顆、IMU 兩顆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，各配兩三個情境，一共二十二格。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規則跟上週一樣：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點一格，判讀展開，看完選夠或不夠，而且要講得出卡在哪一行。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後面兩張表問的問題不一樣。雷達和超音波問「看不看得到」；衛星問「知不知道自己在哪一道」；IMU 問「衛星斷掉那幾秒撐不撐得住」。展開的那一塊會寫清楚這一格在問什麼。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個人作業，截圖傳 LINE 群，下課前交。先把兩個網頁打開。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兩個網頁。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左邊那個 QR 是判讀台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，第一節開過的，分頁還在的直接切回去。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右邊那個是作業頁，新的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，今天的答案全部填在那裡。網址前面一樣，最後一段一個是 spec，一個是 hw。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我等全班。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兩個都開好了再舉手。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還沒開的，先跟旁邊的同學共用一台。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開好之後兩件事。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，右上角語言鈕，要看越南文現在切。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，判讀台的「只看英文原文」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按下去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，今天讀的是真的規格表。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作業頁最上面有姓名和學號，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現在就填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。下面四張表、一句結論、四句是非。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這兩個網頁下課以後還在，回家可以再練。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四個步驟。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第一步，選情境。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最上面那一條，今天五個：校園、河內、國道、停車場、隧道。旁邊會印這個情境的煞停距離、天空看不看得到、衛星斷幾秒。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第二步，選型號。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判定上面那一排，只列同一組的兩顆，情境固定、兩顆輪完。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第三步，看判定。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跟上週一樣，綠色是過、紅色是卡住的那一行。今天多一種顏色：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琥珀色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。那是規格表上沒有、本課自己估的數字，例如手機級 IMU 的偏差。看到琥珀色，作答的時候要知道那是估計，不是廠商寫的。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第四步，作答。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作業頁四張表，點格子展開，選夠或不夠。然後一句結論、四句是非。最後按「產生作答單」，截圖。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第一題在下一張。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第一題，十分鐘。作業頁第一張表：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ARS 408-21、ARS 548 RDI，乘以校園、河內、國道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，六格。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點下去判讀就展開，和上週一樣：先看煞停和測距門檻，再一行一行往下。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我先講各位會看到什麼。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校園和河內，兩顆都過。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四十公尺在近場，正負六十度，一束攤成一點一公尺，比車道窄，分得出在哪一道。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國道，ARS 408 是紅的。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測距兩百五十公尺，門檻一百五十，綠的。可是角解析度那一行：一百五十公尺處一束攤成四點二公尺，比一個車道還寬，紅的。它知道前面一百五十公尺有車，說不出在你這一道還是隔壁。就是第一節講的，晚上遠方來車，兩個頭燈黏成一盞：看得到，分不開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把那一行整句抄下來。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現在拿出上週的作答單，看國道那一欄。AT128P 過了，可是上週講過它只剩十二個點，剛好壓線。今天的 ARS 408 測距比它遠，卻在另一行出局。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同一個情境、兩種感測器、兩種卡法。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ARS 548 三格都過。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各位去判讀台左邊那張表找：它贏在哪一行？波束寬一點二度，一百五十公尺攤成三點一公尺，剛好比車道窄。只差零點四度，過與不過。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灰色的行不是門檻，但「高度」那一行請各位讀一次：408 沒有高度，548 有。這一行今天不計分，第七週會回來。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十分鐘，開始。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第二題，七分鐘。第二張表：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HC-SR04、Bosch 6.5，乘以停車場、校園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，四格。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停車場，兩顆都過。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時速五，煞停零點四公尺，餘裕零點五，門檻兩公尺——那個小孩在兩公尺外。四公尺和五點五公尺都夠。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校園，兩顆都不過。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時速二十，煞停四點二公尺加餘裕五公尺，九點二公尺。五點五公尺搆不到。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把這兩個煞停距離抄下來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，零點四和四點二，差在這裡。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判定裡有一行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波束角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：HC-SR04 寫十五度，兩公尺處只蓋零點五公尺寬，所以保險桿要裝四到六顆。Bosch 那一行寫「規格表上沒有這一行」——那份是售後市場的規格單，沒印。抄下來。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最後想一題，不用寫：為什麼車用的要「可變頻率」，43 到 60 千赫？提示：車頭裝六顆，同時發聲。想想第二節那六個在山谷裡同時喊的人。等一下我問。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七分鐘。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第三題，十分鐘。第三張表：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NEO-M8N、ZED-F9P，乘以校園、河內、隧道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，六格。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這張表的問題換了。展開的抬頭會寫：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問的是「知不知道自己在哪一道」，橫向誤差要在零點五公尺以內。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為什麼是零點五？車道三點五、車寬一點八，左右各剩零點八五，零點五是留一點餘裕。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NEO-M8N 三格都不過。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校園、河內兩格，精度那一行寫 2.5 公尺 CEP，門檻 0.5，紅的。隧道那一格，天空那一行就紅了：收不到。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抄精度那一行。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ZED-F9P 校園過。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開闊天空，RTK 鎖得住，一公分加二十公里的兩公分，三公分，綠的。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ZED-F9P 河內不過。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各位看那一行：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多路徑讓 RTK 失鎖，退回單機解 1.5 公尺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。同一顆模組，換個地方就從三公分變一點五公尺。原因就是第二節的鏡子：訊號從大樓的牆上反射進來，接收機被騙了。這是今天最重要的一格，跟上週 OS1 換模式翻盤一樣重要——只是這次是往壞的方向翻。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抄下來：退回幾公尺。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隧道，兩顆都零。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不是誤差大，是沒有位置。這就是第四題要問的事：沒有衛星的那九分鐘，誰來補？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十分鐘，開始。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第四題，七分鐘，加第五題。第四張表：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ICM-20948、ADIS16470，乘以河內、停車場、隧道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，六格。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這張表問的是：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衛星斷掉那幾秒，它撐不撐得住。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展開的抬頭會寫這個情境衛星斷幾秒、為什麼。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河內，斷十秒。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ADIS 撐四十八秒，過。ICM 撐三秒，不過。各位看 ICM 那一行是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琥珀色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的：規格表沒印偏差，本課用零點五度每秒估。作答的時候要記得那是估計。兩個「撐多久」差十六倍。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停車場，斷六十秒。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時速五。ADIS 撐一百三十六秒，過；ICM 撐九秒，不過。想一下為什麼慢反而撐得久——算式裡有車速，同樣的航向誤差，車開得慢，橫向偏得就慢。閉著眼睛走路也一樣：同樣走十秒，慢慢走比用跑的偏得少。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隧道，斷五百八十秒。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兩顆都不過。工業級也只撐三十四秒。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然後第五題，替隧道寫一句結論，四選一。選項裡有一句說「ADIS16470 撐得住因為它是工業級」，有一句說「用 RTK 就好」，還有一句「IMU 不好用」。要選的是那句把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卡在哪一行、該怎麼補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都講對的：隧道裡要靠相機看車道線、輪速和高精地圖，不是換一顆更貴的 IMU。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七分鐘，做完先不要傳，等我總結。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先別傳，一起看總表。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十二個型號、五個情境、六十格，兩週加起來各位做了三十四格。只有一顆五格全過：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ARS 548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。那每台車都裝它就好了？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想三秒。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不對，理由跟上週一樣，而且更多。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第一，它看不到「那是什麼」。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雷達的目標只有三個數字，多遠、多快、哪個方向。紅綠燈是紅是綠、路上那個是人還是垃圾桶，它不知道。這要相機。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第二，它不知道自己在哪。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它量的全是相對的東西。要知道自己在地圖上哪一條路、哪一道，要衛星，而衛星在隧道裡是零。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第三，隧道裡那九分鐘。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衛星沒有，IMU 三十四秒就出局。這時候靠的是光達、相機看車道線和高精地圖——第五章。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所以第三週那張表，「每一種的弱點由哪一種來補」，今天每一格都有了真的型號：雷達補雨霧和速度，超音波補保險桿前面二十公分，衛星給絕對位置，IMU 補那幾秒。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沒有一顆是主角，每一顆都在補別人的洞。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像一支足球隊：不會派十一個守門員上場，也不會派十一個前鋒。守門員最會擋球，可是不會進球。每個位置找最適合的人，合起來才是一支隊。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最後播一分鐘的影片，Waymo 的工程師講他們的車為什麼三種都裝。英文，畫面上有英文字幕。他說：相機有解析度和顏色；光達直接量出周圍的立體形狀；雷達穿得過霧和雨，還用都卜勒直接量速度，就是第一節那一張。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0:40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他說這幾種感測器 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not backups to each other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，不是彼此的備胎，是合起來變成一張圖，比任何一顆單獨看都好。這就是足球隊。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影片只講這三種。播完問學生：今天的衛星和 IMU 如果也放上這輛車，它們補的是哪個洞？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這就是第七週要講的事：融合。今天先把這句話記住。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最後三分鐘，四句是非題，作業頁第六題。四人一組討論，每題一分鐘。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第一句：雷達測距 250 公尺，所以 150 公尺外的車，它一定知道在哪一道。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第二句：超音波量不到 5 公尺以外的東西，所以它沒有用。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第三句：規格表寫精度 2.5 公尺，表示每一次定位的誤差都不會超過 2.5 公尺。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第四句：IMU 不靠外界，所以隧道裡靠它就夠了。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四個提示詞：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角解析度、停車場、CEP、時間平方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一分鐘後公布答案。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答案：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四句都錯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第一句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錯在把測距當成全部。一點六度到一百五十公尺攤成四點二公尺，比車道還寬。測得到遠，不等於知道在哪一道，就像遠方的兩個頭燈，看得到，分不開。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第二句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錯在用一個情境否定一種感測器。停車場時速五、兩公尺，它最便宜又夠用。守門員不會進球，不代表球隊不需要守門員。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第三句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錯在把機率讀成保證。CEP 是百分之五十，一半在圈內、一半在外，像射一百支飛鏢，有五十支在圈外。跟上週的「大於九成偵測機率」是同一種東西。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第四句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錯在忘了它會飄。橫向誤差隨時間平方長，像閉著眼睛走路，愈走愈歪。8 °/h 在時速八十只撐三十四秒，隧道要五百八十秒。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作答單都傳上來了嗎？沒傳的現在傳，記得姓名有填到。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下週第七週，十月二十二日，第三章最後一次。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前面三週我們把感測器一顆一顆讀完了。下週把它們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合起來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：同一個場景、同一個時刻，相機、光達、雷達各看到什麼，哪一顆先壞、壞了誰補。我會拿公開的資料集 nuScenes 來放。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要帶的東西：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今天和上週的作答單截圖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，兩張都留著。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今天就到這裡。下課。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youtu.be/Vwrz1hfVeSM" TargetMode="Externa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1575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59000" y="-1366875"/>
            <a:ext cx="4191750" cy="419175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25875" y="2095875"/>
            <a:ext cx="2369250" cy="236925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16938" y="1202850"/>
            <a:ext cx="6925500" cy="27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MITUST · Nguyên lý xe tự lái · Tuần 6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16938" y="1567350"/>
            <a:ext cx="7472250" cy="1199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5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cảm biến cho một chiếc xe (2): radar, siêu âm, vệ tinh, quán tính</a:t>
            </a:r>
            <a:endParaRPr lang="en-US" sz="259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40" dirty="0">
                <a:solidFill>
                  <a:srgbClr val="C8D6E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替一台車選感測器（二）：雷達、超音波、衛星、IMU</a:t>
            </a:r>
            <a:endParaRPr lang="en-US" sz="2590" dirty="0"/>
          </a:p>
        </p:txBody>
      </p:sp>
      <p:sp>
        <p:nvSpPr>
          <p:cNvPr id="6" name="Shape 4"/>
          <p:cNvSpPr/>
          <p:nvPr/>
        </p:nvSpPr>
        <p:spPr>
          <a:xfrm>
            <a:off x="516938" y="2912875"/>
            <a:ext cx="1366875" cy="41006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16938" y="3113350"/>
            <a:ext cx="7107750" cy="610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8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Tám model, năm tình huống, bốn bảng — mỗi người nộp một tờ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八個型號、五個情境、四張表——每個人交一張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16938" y="3881925"/>
            <a:ext cx="5923125" cy="382725"/>
          </a:xfrm>
          <a:prstGeom prst="roundRect">
            <a:avLst>
              <a:gd name="adj" fmla="val 16667"/>
            </a:avLst>
          </a:prstGeom>
          <a:solidFill>
            <a:srgbClr val="1331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4513" y="3927488"/>
            <a:ext cx="5667975" cy="29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工具｜Công cụ： ch-neural.github.io/MITUST-Principles-of-Self-Driving-Cars/week6/spec/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16938" y="4355775"/>
            <a:ext cx="6925500" cy="27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第六週 第 3 節　2026/10/15（四）11:10–12:00　CH Tseng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71138" y="309825"/>
            <a:ext cx="2205225" cy="74722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pic>
        <p:nvPicPr>
          <p:cNvPr id="13" name="Image 0" descr="/Users/tsengchenghsun/Class/carClass/Claude outputs/第六週(10-15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75488"/>
            <a:ext cx="1920240" cy="4242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hai trang: bàn đọc thông số và trang nộp bài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開兩個網頁：規格判讀台、作業頁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257800" y="1133856"/>
            <a:ext cx="1737360" cy="226771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294376" y="120700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Bàn đọc thông số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規格判讀台</a:t>
            </a:r>
            <a:endParaRPr lang="en-US" sz="1000" dirty="0"/>
          </a:p>
        </p:txBody>
      </p:sp>
      <p:pic>
        <p:nvPicPr>
          <p:cNvPr id="5" name="Image 0" descr="/Users/tsengchenghsun/Class/carClass/Claude outputs/第六週(10-15)/src/img/w6_qr_sp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5816" y="1554480"/>
            <a:ext cx="1481328" cy="14813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294376" y="305409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…/week6/spec/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903720" y="1133856"/>
            <a:ext cx="1737360" cy="226771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40296" y="120700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nộp bài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作業頁</a:t>
            </a:r>
            <a:endParaRPr lang="en-US" sz="1000" dirty="0"/>
          </a:p>
        </p:txBody>
      </p:sp>
      <p:pic>
        <p:nvPicPr>
          <p:cNvPr id="9" name="Image 1" descr="/Users/tsengchenghsun/Class/carClass/Claude outputs/第六週(10-15)/src/img/w6_qr_h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736" y="1554480"/>
            <a:ext cx="1481328" cy="14813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940296" y="305409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…/week6/hw/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5257800" y="334670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Quét hai mã, mở thành hai tab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兩個都掃，開成兩個分頁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02920" y="1133856"/>
            <a:ext cx="4443984" cy="841248"/>
          </a:xfrm>
          <a:prstGeom prst="roundRect">
            <a:avLst>
              <a:gd name="adj" fmla="val 9783"/>
            </a:avLst>
          </a:prstGeom>
          <a:solidFill>
            <a:srgbClr val="0B1F3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49224" y="1225296"/>
            <a:ext cx="4151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兩個網址前面都一樣：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https://ch-neural.github.io/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MITUST-Principles-of-Self-Driving-Cars/week6/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39496" y="2157984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39496" y="216712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941832" y="21214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Bàn đọc thông số: vẫn là trang tiết 1, địa chỉ không đổi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判讀台就是第一節那一個，網址沒變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39496" y="2745371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39496" y="2754515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941832" y="2708795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Trang nộp bài là trang MỚI — quét thêm mã thứ hai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作業頁是新的，要再掃第二個 QR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39496" y="3239147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539496" y="3248291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941832" y="3202571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này bật «chỉ tiếng Anh» trên bàn đọc thông số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判讀台的「只看英文原文」這一節要按下去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502920" y="3913632"/>
            <a:ext cx="8138160" cy="603504"/>
          </a:xfrm>
          <a:prstGeom prst="roundRect">
            <a:avLst>
              <a:gd name="adj" fmla="val 1363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85800" y="3977640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cả hai rồi hãy giơ tay. Ai không mở được thì tạm hai người dùng chung một máy.</a:t>
            </a: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兩個都開好了再舉手。打不開的人先兩個人共用一台。</a:t>
            </a:r>
            <a:endParaRPr lang="en-US" sz="1200" dirty="0"/>
          </a:p>
        </p:txBody>
      </p:sp>
      <p:pic>
        <p:nvPicPr>
          <p:cNvPr id="26" name="Image 2" descr="/Users/tsengchenghsun/Class/carClass/Claude outputs/第六週(10-15)/sr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Bốn bước, mỗi bước đều có thứ phải chép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四個步驟，每一步都有要抄的東西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1133856"/>
            <a:ext cx="1828800" cy="272491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79576" y="1316736"/>
            <a:ext cx="475488" cy="47548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79576" y="141732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0936" y="1883664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tình huống</a:t>
            </a:r>
            <a:endParaRPr lang="en-US" sz="14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選情境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0936" y="2578608"/>
            <a:ext cx="1572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Ở thanh trên cùng</a:t>
            </a:r>
            <a:endParaRPr lang="en-US" sz="10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 có 5 cái</a:t>
            </a:r>
            <a:endParaRPr lang="en-US" sz="10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在最上面那一條</a:t>
            </a:r>
            <a:endParaRPr lang="en-US" sz="10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今天有五個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20482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2606040" y="1133856"/>
            <a:ext cx="1828800" cy="272491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82696" y="1316736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82696" y="141732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34056" y="1883664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model</a:t>
            </a:r>
            <a:endParaRPr lang="en-US" sz="14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選型號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34056" y="2578608"/>
            <a:ext cx="1572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Hàng nút trên kết luận</a:t>
            </a:r>
            <a:endParaRPr lang="en-US" sz="10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hết cùng nhóm</a:t>
            </a:r>
            <a:endParaRPr lang="en-US" sz="10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判定上方那一排</a:t>
            </a:r>
            <a:endParaRPr lang="en-US" sz="10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同一組輪完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20482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4709160" y="1133856"/>
            <a:ext cx="1828800" cy="272491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85816" y="1316736"/>
            <a:ext cx="475488" cy="47548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85816" y="141732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37176" y="1883664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phán định</a:t>
            </a:r>
            <a:endParaRPr lang="en-US" sz="14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看判定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37176" y="2578608"/>
            <a:ext cx="1572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Đỏ = dòng bị chặn</a:t>
            </a:r>
            <a:endParaRPr lang="en-US" sz="10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Hổ phách = lớp ước lượng</a:t>
            </a:r>
            <a:endParaRPr lang="en-US" sz="10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紅字＝卡住的行</a:t>
            </a:r>
            <a:endParaRPr lang="en-US" sz="10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琥珀色＝本課的估計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20482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812280" y="1133856"/>
            <a:ext cx="1828800" cy="272491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88936" y="1316736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88936" y="141732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40296" y="1883664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Viết &amp; nộp</a:t>
            </a:r>
            <a:endParaRPr lang="en-US" sz="14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作答與上傳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40296" y="2578608"/>
            <a:ext cx="1572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bảng + kết luận + 4 câu</a:t>
            </a:r>
            <a:endParaRPr lang="en-US" sz="10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phiếu → chụp → LINE</a:t>
            </a:r>
            <a:endParaRPr lang="en-US" sz="10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四張表＋結論＋四句</a:t>
            </a:r>
            <a:endParaRPr lang="en-US" sz="10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產生作答單→截圖→LINE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40050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3 có thêm một màu: hổ phách là chỗ datasheet không có, lớp tự ước lượng — phải nói được đó là ước lượng.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3 步多了一種顏色：琥珀色是規格表沒有、本課自己估的——要講得出那是估計。</a:t>
            </a:r>
            <a:endParaRPr lang="en-US" sz="1250" dirty="0"/>
          </a:p>
        </p:txBody>
      </p:sp>
      <p:pic>
        <p:nvPicPr>
          <p:cNvPr id="28" name="Image 0" descr="/Users/tsengchenghsun/Class/carClass/Claude outputs/第六週(10-15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Nhiệm vụ 1 · 第一題（10 分鐘）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radar × sân trường, Hà Nội, cao tốc. Sáu ô, rồi so với bảng tuần trước.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雷達兩顆 × 校園、河內、國道。六格，做完和上週那張表比。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880384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02668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205412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926104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Ô cao tốc của ARS 408 màu đỏ: chép nguyên dòng đỏ — nó tắc ở đâu?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ARS 408 國道那一格是紅的：把紅字那一行整句抄下來——它卡在哪？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593616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73992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7673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639336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với AT128P tuần trước ở cao tốc: một cái qua với 12 điểm, một cái 250 m mà không biết làn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和上週 AT128P 的國道格比：一個 12 個點勉強過，一個 250 公尺卻分不出車道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306848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3453152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48058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3352568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 548 qua cả ba ô: tìm xem nó thắng ở dòng nào trên bảng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ARS 548 三格都過：找出它贏在表上哪一行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05665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dòng xám dưới phán định không phải ngưỡng — nhưng dòng «độ cao» hãy đọc một lần.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判定底下的灰色行不是門檻——但「高度」那一行請讀一次。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Nhiệm vụ 2 · 第二題（7 分鐘）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siêu âm × bãi đỗ xe, sân trường. Bốn ô — chỉ khác tốc độ.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超音波兩顆 × 停車場、校園。四格——只差在車速。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880384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02668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205412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926104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Bãi đỗ xe cả hai qua, sân trường cả hai không: khác ở quãng đường phanh — chép hai con số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停車場兩顆都過，校園兩顆都不過：差在煞停距離——抄下兩個數字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593616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73992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7673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639336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Chép dòng «góc chùm»: HC-SR04 15°, Bosch — bảng không in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把判定裡「波束角」那行抄下來：HC-SR04 15°，Bosch 沒印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306848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3453152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48058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3352568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Nghĩ một câu: vì sao loại ô tô phải «tần số thay đổi»?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想一題：為什麼車用的要「可變頻率」？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05665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Ở 20 km/h phanh 4,2 m cộng 5 m dự phòng = 9,2 m; nó thấy xa nhất 5,5 m.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時速 20 煞停 4.2 加餘裕 5 ＝ 9.2 公尺；它最遠看 5.5。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Nhiệm vụ 3 · 第三題（10 分鐘）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GNSS × sân trường, Hà Nội, hầm. Câu hỏi đổi rồi: «biết mình ở làn nào không?»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衛星兩顆 × 校園、河內、隧道。問題換了：「知不知道自己在哪一道？」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880384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02668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205412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926104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NEO-M8N không qua ô nào: chép dòng «độ chính xác» — 2,5 m so với ngưỡng mấy mét?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NEO-M8N 三格都不過：抄「精度」那一行——2.5 m 對門檻幾公尺？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593616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73992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7673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639336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ZED-F9P qua ở sân trường, không qua ở Hà Nội: mất khoá rồi lùi về mấy mét?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ZED-F9P 校園過、河內不過：失鎖之後退回幾公尺？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306848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3453152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48058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3352568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Cột hầm cả hai bằng không — đó là điểm xuất phát của câu 4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隧道那一欄兩顆都零——這就是第四題的起點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05665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Ngưỡng 0,5 m: làn 3,5 m, xe 1,8 m, mỗi bên còn 0,85 m.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門檻 0.5 公尺：車道 3.5、車寬 1.8，左右各只剩 0.85。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Nhiệm vụ 4 · 第四題（7 分鐘）＋ 第五題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IMU × Hà Nội, bãi đỗ xe, hầm. Rồi viết một câu kết luận cho hầm.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IMU 兩顆 × 河內、停車場、隧道。然後替隧道寫一句結論。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880384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02668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205412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926104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 Nội 10 s: ADIS qua, ICM không — hai con số «giữ được» khác nhau mấy lần?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河內 10 秒：ADIS 過、ICM 不過——兩個「撐多久」差幾倍？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593616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73992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7673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639336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Bãi đỗ xe 60 s: 5 km/h, cấp công nghiệp giữ được — vì sao chậm lại giữ được lâu hơn?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停車場 60 秒：時速 5，工業級撐得住——為什麼慢反而撐得久？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306848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3453152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48058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3352568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Hầm 580 s: cả hai không. Câu 5 chọn câu nói đúng «bù bằng gì»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隧道 580 秒：兩顆都不過。第五題選那句把「該怎麼補」講對的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05665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Dòng hổ phách của ICM-20948: datasheet không in độ trôi, 0,5 °/s là lớp ước lượng — ghi là ước lượng.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ICM-20948 那行琥珀色：規格表沒印偏差，0.5 °/s 是本課估的——要記得那是估計。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có cảm biến nào thắng cả năm tình huống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沒有一種感測器五個情境都贏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1316736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0B1F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7512" y="1444752"/>
            <a:ext cx="3236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Cái ta vừa làm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我們剛剛做的事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847088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× 5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2450592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mười hai model, năm tình huống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十二個型號、五個情境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3017520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7E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 548 qua cả 5 — nhưng 18 W, 526 g, không thấy màu đèn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7E93A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ARS 548 五格都過——可是 18 W、526 g，看不到號誌顏色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87952" y="2267712"/>
            <a:ext cx="768096" cy="292608"/>
          </a:xfrm>
          <a:prstGeom prst="rightArrow">
            <a:avLst/>
          </a:prstGeom>
          <a:solidFill>
            <a:srgbClr val="C4CFD9"/>
          </a:solidFill>
          <a:ln/>
        </p:spPr>
      </p:sp>
      <p:sp>
        <p:nvSpPr>
          <p:cNvPr id="9" name="Shape 7"/>
          <p:cNvSpPr/>
          <p:nvPr/>
        </p:nvSpPr>
        <p:spPr>
          <a:xfrm flipH="1">
            <a:off x="4370832" y="2212848"/>
            <a:ext cx="402336" cy="402336"/>
          </a:xfrm>
          <a:prstGeom prst="line">
            <a:avLst/>
          </a:prstGeom>
          <a:noFill/>
          <a:ln w="44450">
            <a:solidFill>
              <a:srgbClr val="D946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2212848"/>
            <a:ext cx="402336" cy="402336"/>
          </a:xfrm>
          <a:prstGeom prst="line">
            <a:avLst/>
          </a:prstGeom>
          <a:noFill/>
          <a:ln w="44450">
            <a:solidFill>
              <a:srgbClr val="D946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74920" y="1316736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DECEC"/>
          </a:solidFill>
          <a:ln w="15875">
            <a:solidFill>
              <a:srgbClr val="D946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39512" y="1444752"/>
            <a:ext cx="3236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Nhưng câu hỏi thật là…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9463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但真正的問題是……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71566" y="2337984"/>
            <a:ext cx="370332" cy="170353"/>
          </a:xfrm>
          <a:prstGeom prst="roundRect">
            <a:avLst>
              <a:gd name="adj" fmla="val 22000"/>
            </a:avLst>
          </a:prstGeom>
          <a:solidFill>
            <a:srgbClr val="5F7183"/>
          </a:solidFill>
          <a:ln/>
        </p:spPr>
      </p:sp>
      <p:sp>
        <p:nvSpPr>
          <p:cNvPr id="14" name="Shape 12"/>
          <p:cNvSpPr/>
          <p:nvPr/>
        </p:nvSpPr>
        <p:spPr>
          <a:xfrm>
            <a:off x="5812292" y="2372054"/>
            <a:ext cx="125913" cy="102212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238077" y="2506937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15533" y="2683992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17" name="Shape 15"/>
          <p:cNvSpPr/>
          <p:nvPr/>
        </p:nvSpPr>
        <p:spPr>
          <a:xfrm>
            <a:off x="5912068" y="2781602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18" name="Shape 16"/>
          <p:cNvSpPr/>
          <p:nvPr/>
        </p:nvSpPr>
        <p:spPr>
          <a:xfrm>
            <a:off x="5682198" y="2773612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7518" y="2662163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20" name="Shape 18"/>
          <p:cNvSpPr/>
          <p:nvPr/>
        </p:nvSpPr>
        <p:spPr>
          <a:xfrm>
            <a:off x="5380191" y="2477118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21" name="Shape 19"/>
          <p:cNvSpPr/>
          <p:nvPr/>
        </p:nvSpPr>
        <p:spPr>
          <a:xfrm>
            <a:off x="5388977" y="2268060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22" name="Shape 20"/>
          <p:cNvSpPr/>
          <p:nvPr/>
        </p:nvSpPr>
        <p:spPr>
          <a:xfrm>
            <a:off x="5511520" y="2091005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23" name="Shape 21"/>
          <p:cNvSpPr/>
          <p:nvPr/>
        </p:nvSpPr>
        <p:spPr>
          <a:xfrm>
            <a:off x="5714986" y="1993395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4855" y="2001385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25" name="Shape 23"/>
          <p:cNvSpPr/>
          <p:nvPr/>
        </p:nvSpPr>
        <p:spPr>
          <a:xfrm>
            <a:off x="6139536" y="2112834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26" name="Shape 24"/>
          <p:cNvSpPr/>
          <p:nvPr/>
        </p:nvSpPr>
        <p:spPr>
          <a:xfrm>
            <a:off x="6246862" y="2297879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73368" y="1883664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A32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Vậy mọi xe đều gắn ARS 548 là xong?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32C2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那每台車都裝 ARS 548 就好了？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239512" y="3017520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A32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thấy màu đèn, không thấy vạch làn, không biết mình ở đâu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A32C2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看不到紅燈顏色、看不到車道線、不知道自己在哪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55264" y="3529584"/>
            <a:ext cx="2385816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83280" y="3547872"/>
            <a:ext cx="2202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đội bóng không xếp 11 thủ môn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足球隊不會派十一個守門員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9496" y="3575304"/>
            <a:ext cx="219456" cy="21945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39496" y="360273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832104" y="3529584"/>
            <a:ext cx="5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u="sng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Video: vì sao Waymo dùng cả camera, lidar, radar　1:03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u="sng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影片：Waymo 為什麼三種都用　</a:t>
            </a:r>
            <a:pPr indent="0" marL="0">
              <a:lnSpc>
                <a:spcPct val="100000"/>
              </a:lnSpc>
              <a:buNone/>
            </a:pPr>
            <a:r>
              <a:rPr lang="en-US" sz="850" u="sng" dirty="0">
                <a:solidFill>
                  <a:srgbClr val="1F6F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youtu.be/Vwrz1hfVeSM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2920" y="3913632"/>
            <a:ext cx="8138160" cy="603504"/>
          </a:xfrm>
          <a:prstGeom prst="roundRect">
            <a:avLst>
              <a:gd name="adj" fmla="val 1363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3977640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«điểm yếu của loại này, loại nào bù» ở tuần 3 — hôm nay mỗi ô đều có model thật.</a:t>
            </a: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第三週那張「每一種的弱點由誰來補」的表，今天每一格都有了真的型號。</a:t>
            </a:r>
            <a:endParaRPr lang="en-US" sz="1200" dirty="0"/>
          </a:p>
        </p:txBody>
      </p:sp>
      <p:pic>
        <p:nvPicPr>
          <p:cNvPr id="37" name="Image 0" descr="/Users/tsengchenghsun/Class/carClass/Claude outputs/第六週(10-15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900" dirty="0"/>
          </a:p>
        </p:txBody>
      </p:sp>
      <p:sp>
        <p:nvSpPr>
          <p:cNvPr id="39" name="Text 35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· 這句話對不對（每題 1 分鐘）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Bốn câu sau: chọn đúng hay sai, rồi chọn một lý do.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下面四句話。選對或錯，再選一個理由。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883664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191109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783080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Radar đo 250 m, nên xe ở 150 m nó chắc chắn biết ở làn nào.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雷達測距 250 公尺，所以 150 公尺外的車，它一定知道在哪一道。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450592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596896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62432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496312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Siêu âm không đo được quá 5 m, nên nó vô dụng.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超音波量不到 5 公尺以外的東西，所以它沒有用。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163824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331012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33756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3209544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Bảng ghi độ chính xác 2,5 m, nghĩa là mỗi lần định vị sai số không vượt 2,5 m.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規格表寫精度 2.5 m，表示每一次定位的誤差都不會超過 2.5 m。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39136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IMU không cần bên ngoài, nên trong hầm chỉ cần nó là đủ.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IMU 不靠外界，所以隧道裡靠它就夠了。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Đáp án · 答案：四句都錯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8046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Bốn câu đều sai</a:t>
            </a:r>
            <a:endParaRPr lang="en-US" sz="2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四句都錯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773936"/>
            <a:ext cx="45720" cy="5120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2376" y="1737360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1,6° ở 150 m thành 4,2 m, rộng hơn làn 3,5 m. Đo được xa ≠ biết ở làn nào.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1.6° 到 150 公尺攤成 4.2 公尺，比車道 3.5 寬。測得到遠 ≠ 知道在哪一道。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45720" cy="5120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2376" y="2450592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Bãi đỗ xe 5 km/h, 2 m: nó rẻ nhất mà đủ. Mỗi loại có tình huống riêng.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停車場時速 5、2 公尺：它最便宜又夠用。每一種各有自己的情境。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200400"/>
            <a:ext cx="45720" cy="5120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2376" y="3163824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CEP là 50%: một nửa trong vòng, một nửa ngoài — xác suất, không phải bảo đảm.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CEP 是 50%：一半在圈內、一半在外——機率，不是保證。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913632"/>
            <a:ext cx="45720" cy="5120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2376" y="3877056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Nó trôi theo t²: 8 °/h ở 80 km/h chỉ 34 s. Hầm cần 580 s.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它隨 t² 飄：8 °/h 在時速 80 只撐 34 秒。隧道要 580 秒。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sau · 下週預告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8046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7, 22/10: khi nào hỏng, và ghép lại thế nào</a:t>
            </a:r>
            <a:endParaRPr lang="en-US" sz="2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7 週，10 月 22 日：什麼時候壞、怎麼合起來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773936"/>
            <a:ext cx="45720" cy="672713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2376" y="1737360"/>
            <a:ext cx="7863840" cy="7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Lấy một cảnh trong bộ dữ liệu công khai nuScenes: camera, lidar, radar cùng lúc nhìn thấy gì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拿公開資料集 nuScenes 的同一個場景：相機、光達、雷達同一時刻各看到什麼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647817"/>
            <a:ext cx="45720" cy="5120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2376" y="2611241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«điểm yếu của loại này, loại nào bù» tuần 3 — tuần sau điền thật vào từng ô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第三週那張「弱點由誰補」的表——下週每一格真的填進去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361049"/>
            <a:ext cx="45720" cy="5120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2376" y="3324473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 theo: phiếu hôm nay và phiếu tuần trước, cả hai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要帶：今天和上週的作答單截圖，兩張都留著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otes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自動駕駛原理</dc:creator>
  <cp:lastModifiedBy>自動駕駛原理</cp:lastModifiedBy>
  <cp:revision>1</cp:revision>
  <dcterms:created xsi:type="dcterms:W3CDTF">2026-10-12T02:08:16Z</dcterms:created>
  <dcterms:modified xsi:type="dcterms:W3CDTF">2026-10-12T02:08:16Z</dcterms:modified>
</cp:coreProperties>
</file>