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第二顆，同一家公司的 </a:t>
            </a:r>
            <a:r>
              <a:rPr sz="850" b="1" lang="zh-TW" dirty="0">
                <a:solidFill>
                  <a:srgbClr val="000000"/>
                </a:solidFill>
                <a:latin typeface="Arial Unicode MS"/>
                <a:ea typeface="Arial Unicode MS"/>
                <a:cs typeface="Arial Unicode MS"/>
              </a:rPr>
              <a:t>ZED-F9P</a:t>
            </a:r>
            <a:r>
              <a:rPr sz="850" lang="zh-TW" dirty="0">
                <a:solidFill>
                  <a:srgbClr val="000000"/>
                </a:solidFill>
                <a:latin typeface="Arial Unicode MS"/>
                <a:ea typeface="Arial Unicode MS"/>
                <a:cs typeface="Arial Unicode MS"/>
              </a:rPr>
              <a:t>。做測量、無人機、農業機械、自駕研究車，很多都用它。左邊是它規格書第五頁的表，三列。
</a:t>
            </a:r>
          </a:p>
          <a:p>
            <a:pPr algn="l">
              <a:spcBef>
                <a:spcPts val="0"/>
              </a:spcBef>
              <a:spcAft>
                <a:spcPts val="142"/>
              </a:spcAft>
            </a:pPr>
            <a:r>
              <a:rPr sz="850" b="1" lang="zh-TW" dirty="0">
                <a:solidFill>
                  <a:srgbClr val="000000"/>
                </a:solidFill>
                <a:latin typeface="Arial Unicode MS"/>
                <a:ea typeface="Arial Unicode MS"/>
                <a:cs typeface="Arial Unicode MS"/>
              </a:rPr>
              <a:t>第一列 PVT，1.5 公尺 CEP。</a:t>
            </a:r>
            <a:r>
              <a:rPr sz="850" lang="zh-TW" dirty="0">
                <a:solidFill>
                  <a:srgbClr val="000000"/>
                </a:solidFill>
                <a:latin typeface="Arial Unicode MS"/>
                <a:ea typeface="Arial Unicode MS"/>
                <a:cs typeface="Arial Unicode MS"/>
              </a:rPr>
              <a:t>這是它自己一顆、沒有任何修正資料的精度。比剛剛那顆好一點，因為它收</a:t>
            </a:r>
            <a:r>
              <a:rPr sz="850" b="1" lang="zh-TW" dirty="0">
                <a:solidFill>
                  <a:srgbClr val="000000"/>
                </a:solidFill>
                <a:latin typeface="Arial Unicode MS"/>
                <a:ea typeface="Arial Unicode MS"/>
                <a:cs typeface="Arial Unicode MS"/>
              </a:rPr>
              <a:t>兩個頻率</a:t>
            </a:r>
            <a:r>
              <a:rPr sz="850" lang="zh-TW" dirty="0">
                <a:solidFill>
                  <a:srgbClr val="000000"/>
                </a:solidFill>
                <a:latin typeface="Arial Unicode MS"/>
                <a:ea typeface="Arial Unicode MS"/>
                <a:cs typeface="Arial Unicode MS"/>
              </a:rPr>
              <a:t>，可以把大氣造成的誤差消掉大半。
</a:t>
            </a:r>
          </a:p>
          <a:p>
            <a:pPr algn="l">
              <a:spcBef>
                <a:spcPts val="0"/>
              </a:spcBef>
              <a:spcAft>
                <a:spcPts val="142"/>
              </a:spcAft>
            </a:pPr>
            <a:r>
              <a:rPr sz="850" b="1" lang="zh-TW" dirty="0">
                <a:solidFill>
                  <a:srgbClr val="000000"/>
                </a:solidFill>
                <a:latin typeface="Arial Unicode MS"/>
                <a:ea typeface="Arial Unicode MS"/>
                <a:cs typeface="Arial Unicode MS"/>
              </a:rPr>
              <a:t>第三列 RTK，0.01 公尺 + 1 ppm CEP。</a:t>
            </a:r>
            <a:r>
              <a:rPr sz="850" lang="zh-TW" dirty="0">
                <a:solidFill>
                  <a:srgbClr val="000000"/>
                </a:solidFill>
                <a:latin typeface="Arial Unicode MS"/>
                <a:ea typeface="Arial Unicode MS"/>
                <a:cs typeface="Arial Unicode MS"/>
              </a:rPr>
              <a:t>一公分。怎麼從一點五公尺變成一公分？靠一座</a:t>
            </a:r>
            <a:r>
              <a:rPr sz="850" b="1" lang="zh-TW" dirty="0">
                <a:solidFill>
                  <a:srgbClr val="000000"/>
                </a:solidFill>
                <a:latin typeface="Arial Unicode MS"/>
                <a:ea typeface="Arial Unicode MS"/>
                <a:cs typeface="Arial Unicode MS"/>
              </a:rPr>
              <a:t>基準站</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50" b="1" lang="zh-TW" dirty="0">
                <a:solidFill>
                  <a:srgbClr val="000000"/>
                </a:solidFill>
                <a:latin typeface="Arial Unicode MS"/>
                <a:ea typeface="Arial Unicode MS"/>
                <a:cs typeface="Arial Unicode MS"/>
              </a:rPr>
              <a:t>RTK</a:t>
            </a:r>
            <a:r>
              <a:rPr sz="850" lang="zh-TW" dirty="0">
                <a:solidFill>
                  <a:srgbClr val="000000"/>
                </a:solidFill>
                <a:latin typeface="Arial Unicode MS"/>
                <a:ea typeface="Arial Unicode MS"/>
                <a:cs typeface="Arial Unicode MS"/>
              </a:rPr>
              <a:t>，即時動態定位。
</a:t>
            </a:r>
          </a:p>
          <a:p>
            <a:pPr algn="l">
              <a:spcBef>
                <a:spcPts val="0"/>
              </a:spcBef>
              <a:spcAft>
                <a:spcPts val="142"/>
              </a:spcAft>
            </a:pPr>
            <a:r>
              <a:rPr sz="85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42"/>
              </a:spcAft>
            </a:pPr>
            <a:r>
              <a:rPr sz="850" lang="zh-TW" dirty="0">
                <a:solidFill>
                  <a:srgbClr val="000000"/>
                </a:solidFill>
                <a:latin typeface="Arial Unicode MS"/>
                <a:ea typeface="Arial Unicode MS"/>
                <a:cs typeface="Arial Unicode MS"/>
              </a:rPr>
              <a:t>這件事 u-blox 自己做了一支短片，就是做這顆 ZED-F9P 的公司。</a:t>
            </a:r>
            <a:r>
              <a:rPr sz="850" b="1" lang="zh-TW" dirty="0">
                <a:solidFill>
                  <a:srgbClr val="000000"/>
                </a:solidFill>
                <a:latin typeface="Arial Unicode MS"/>
                <a:ea typeface="Arial Unicode MS"/>
                <a:cs typeface="Arial Unicode MS"/>
              </a:rPr>
              <a:t>播到 1:07 就好</a:t>
            </a:r>
            <a:r>
              <a:rPr sz="850" lang="zh-TW" dirty="0">
                <a:solidFill>
                  <a:srgbClr val="000000"/>
                </a:solidFill>
                <a:latin typeface="Arial Unicode MS"/>
                <a:ea typeface="Arial Unicode MS"/>
                <a:cs typeface="Arial Unicode MS"/>
              </a:rPr>
              <a:t>，英文，畫面是簡報式的插圖，看圖就懂。
</a:t>
            </a:r>
          </a:p>
          <a:p>
            <a:pPr algn="l">
              <a:spcBef>
                <a:spcPts val="0"/>
              </a:spcBef>
              <a:spcAft>
                <a:spcPts val="142"/>
              </a:spcAft>
            </a:pPr>
            <a:r>
              <a:rPr sz="850" b="1" lang="zh-TW" dirty="0">
                <a:solidFill>
                  <a:srgbClr val="000000"/>
                </a:solidFill>
                <a:latin typeface="Arial Unicode MS"/>
                <a:ea typeface="Arial Unicode MS"/>
                <a:cs typeface="Arial Unicode MS"/>
              </a:rPr>
              <a:t>0:18</a:t>
            </a:r>
            <a:r>
              <a:rPr sz="85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旁白說兩個人靠得近，誤差幾乎一樣。</a:t>
            </a:r>
            <a:r>
              <a:rPr sz="850" b="1" lang="zh-TW" dirty="0">
                <a:solidFill>
                  <a:srgbClr val="000000"/>
                </a:solidFill>
                <a:latin typeface="Arial Unicode MS"/>
                <a:ea typeface="Arial Unicode MS"/>
                <a:cs typeface="Arial Unicode MS"/>
              </a:rPr>
              <a:t>0:50</a:t>
            </a:r>
            <a:r>
              <a:rPr sz="85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42"/>
              </a:spcAft>
            </a:pPr>
            <a:r>
              <a:rPr sz="85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42"/>
              </a:spcAft>
            </a:pPr>
            <a:r>
              <a:rPr sz="850" lang="zh-TW" dirty="0">
                <a:solidFill>
                  <a:srgbClr val="000000"/>
                </a:solidFill>
                <a:latin typeface="Arial Unicode MS"/>
                <a:ea typeface="Arial Unicode MS"/>
                <a:cs typeface="Arial Unicode MS"/>
              </a:rPr>
              <a:t>那 </a:t>
            </a:r>
            <a:r>
              <a:rPr sz="850" b="1" lang="zh-TW" dirty="0">
                <a:solidFill>
                  <a:srgbClr val="000000"/>
                </a:solidFill>
                <a:latin typeface="Arial Unicode MS"/>
                <a:ea typeface="Arial Unicode MS"/>
                <a:cs typeface="Arial Unicode MS"/>
              </a:rPr>
              <a:t>1 ppm</a:t>
            </a:r>
            <a:r>
              <a:rPr sz="85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50" b="1" lang="zh-TW" dirty="0">
                <a:solidFill>
                  <a:srgbClr val="000000"/>
                </a:solidFill>
                <a:latin typeface="Arial Unicode MS"/>
                <a:ea typeface="Arial Unicode MS"/>
                <a:cs typeface="Arial Unicode MS"/>
              </a:rPr>
              <a:t>註腳 8</a:t>
            </a:r>
            <a:r>
              <a:rPr sz="850" lang="zh-TW" dirty="0">
                <a:solidFill>
                  <a:srgbClr val="000000"/>
                </a:solidFill>
                <a:latin typeface="Arial Unicode MS"/>
                <a:ea typeface="Arial Unicode MS"/>
                <a:cs typeface="Arial Unicode MS"/>
              </a:rPr>
              <a:t>：量的時候基準站在一公里外，而且 </a:t>
            </a:r>
            <a:r>
              <a:rPr sz="850" b="1" lang="zh-TW" dirty="0">
                <a:solidFill>
                  <a:srgbClr val="000000"/>
                </a:solidFill>
                <a:latin typeface="Arial Unicode MS"/>
                <a:ea typeface="Arial Unicode MS"/>
                <a:cs typeface="Arial Unicode MS"/>
              </a:rPr>
              <a:t>ppm 只保證到二十公里</a:t>
            </a:r>
            <a:r>
              <a:rPr sz="850" lang="zh-TW" dirty="0">
                <a:solidFill>
                  <a:srgbClr val="000000"/>
                </a:solidFill>
                <a:latin typeface="Arial Unicode MS"/>
                <a:ea typeface="Arial Unicode MS"/>
                <a:cs typeface="Arial Unicode MS"/>
              </a:rPr>
              <a:t>。所以二十公里外，一公分加兩公分，三公分。判讀台就用二十公里算。
</a:t>
            </a:r>
          </a:p>
          <a:p>
            <a:pPr algn="l">
              <a:spcBef>
                <a:spcPts val="0"/>
              </a:spcBef>
              <a:spcAft>
                <a:spcPts val="142"/>
              </a:spcAft>
            </a:pPr>
            <a:r>
              <a:rPr sz="850" lang="zh-TW" dirty="0">
                <a:solidFill>
                  <a:srgbClr val="000000"/>
                </a:solidFill>
                <a:latin typeface="Arial Unicode MS"/>
                <a:ea typeface="Arial Unicode MS"/>
                <a:cs typeface="Arial Unicode MS"/>
              </a:rPr>
              <a:t>誰來當基準站？台灣有 </a:t>
            </a:r>
            <a:r>
              <a:rPr sz="850" b="1" lang="zh-TW" dirty="0">
                <a:solidFill>
                  <a:srgbClr val="000000"/>
                </a:solidFill>
                <a:latin typeface="Arial Unicode MS"/>
                <a:ea typeface="Arial Unicode MS"/>
                <a:cs typeface="Arial Unicode MS"/>
              </a:rPr>
              <a:t>e-GNSS</a:t>
            </a:r>
            <a:r>
              <a:rPr sz="850" lang="zh-TW" dirty="0">
                <a:solidFill>
                  <a:srgbClr val="000000"/>
                </a:solidFill>
                <a:latin typeface="Arial Unicode MS"/>
                <a:ea typeface="Arial Unicode MS"/>
                <a:cs typeface="Arial Unicode MS"/>
              </a:rPr>
              <a:t>，內政部架的全國網路；越南有 </a:t>
            </a:r>
            <a:r>
              <a:rPr sz="850" b="1" lang="zh-TW" dirty="0">
                <a:solidFill>
                  <a:srgbClr val="000000"/>
                </a:solidFill>
                <a:latin typeface="Arial Unicode MS"/>
                <a:ea typeface="Arial Unicode MS"/>
                <a:cs typeface="Arial Unicode MS"/>
              </a:rPr>
              <a:t>VNGEONET</a:t>
            </a:r>
            <a:r>
              <a:rPr sz="850" lang="zh-TW" dirty="0">
                <a:solidFill>
                  <a:srgbClr val="000000"/>
                </a:solidFill>
                <a:latin typeface="Arial Unicode MS"/>
                <a:ea typeface="Arial Unicode MS"/>
                <a:cs typeface="Arial Unicode MS"/>
              </a:rPr>
              <a:t>。訂閱之後用網路收修正資料。所以 RTK 不是買一顆模組就有，是</a:t>
            </a:r>
            <a:r>
              <a:rPr sz="850" b="1" lang="zh-TW" dirty="0">
                <a:solidFill>
                  <a:srgbClr val="000000"/>
                </a:solidFill>
                <a:latin typeface="Arial Unicode MS"/>
                <a:ea typeface="Arial Unicode MS"/>
                <a:cs typeface="Arial Unicode MS"/>
              </a:rPr>
              <a:t>一顆模組加一個訂閱</a:t>
            </a:r>
            <a:r>
              <a:rPr sz="850" lang="zh-TW" dirty="0">
                <a:solidFill>
                  <a:srgbClr val="000000"/>
                </a:solidFill>
                <a:latin typeface="Arial Unicode MS"/>
                <a:ea typeface="Arial Unicode MS"/>
                <a:cs typeface="Arial Unicode MS"/>
              </a:rPr>
              <a:t>。
</a:t>
            </a:r>
          </a:p>
          <a:p>
            <a:pPr algn="l">
              <a:spcBef>
                <a:spcPts val="0"/>
              </a:spcBef>
              <a:spcAft>
                <a:spcPts val="142"/>
              </a:spcAft>
            </a:pPr>
            <a:r>
              <a:rPr sz="850" b="1" lang="zh-TW" dirty="0">
                <a:solidFill>
                  <a:srgbClr val="000000"/>
                </a:solidFill>
                <a:latin typeface="Arial Unicode MS"/>
                <a:ea typeface="Arial Unicode MS"/>
                <a:cs typeface="Arial Unicode MS"/>
              </a:rPr>
              <a:t>Convergence time，10 秒內</a:t>
            </a:r>
            <a:r>
              <a:rPr sz="850" lang="zh-TW" dirty="0">
                <a:solidFill>
                  <a:srgbClr val="000000"/>
                </a:solidFill>
                <a:latin typeface="Arial Unicode MS"/>
                <a:ea typeface="Arial Unicode MS"/>
                <a:cs typeface="Arial Unicode MS"/>
              </a:rPr>
              <a:t>：修正資料收到之後，要十秒才會「鎖住」到一公分。各位看註腳 6，</a:t>
            </a:r>
            <a:r>
              <a:rPr sz="850" b="1" lang="zh-TW" dirty="0">
                <a:solidFill>
                  <a:srgbClr val="000000"/>
                </a:solidFill>
                <a:latin typeface="Arial Unicode MS"/>
                <a:ea typeface="Arial Unicode MS"/>
                <a:cs typeface="Arial Unicode MS"/>
              </a:rPr>
              <a:t>depends on multipath conditions</a:t>
            </a:r>
            <a:r>
              <a:rPr sz="85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42"/>
              </a:spcAft>
            </a:pPr>
            <a:r>
              <a:rPr sz="850" b="1" lang="zh-TW" dirty="0">
                <a:solidFill>
                  <a:srgbClr val="000000"/>
                </a:solidFill>
                <a:latin typeface="Arial Unicode MS"/>
                <a:ea typeface="Arial Unicode MS"/>
                <a:cs typeface="Arial Unicode MS"/>
              </a:rPr>
              <a:t>更新率，四系統 RTK 是 8 Hz</a:t>
            </a:r>
            <a:r>
              <a:rPr sz="85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這顆是車上 ESP 用的，量車子有沒有繞著自己轉，也就是有沒有</a:t>
            </a:r>
            <a:r>
              <a:rPr sz="850" b="1" lang="zh-TW" dirty="0">
                <a:solidFill>
                  <a:srgbClr val="000000"/>
                </a:solidFill>
                <a:latin typeface="Arial Unicode MS"/>
                <a:ea typeface="Arial Unicode MS"/>
                <a:cs typeface="Arial Unicode MS"/>
              </a:rPr>
              <a:t>打滑</a:t>
            </a:r>
            <a:r>
              <a:rPr sz="850" lang="zh-TW" dirty="0">
                <a:solidFill>
                  <a:srgbClr val="000000"/>
                </a:solidFill>
                <a:latin typeface="Arial Unicode MS"/>
                <a:ea typeface="Arial Unicode MS"/>
                <a:cs typeface="Arial Unicode MS"/>
              </a:rPr>
              <a:t>。</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一秒轉五圈半。這個數字等一下工業級那顆也一樣，所以量程不是等級的差別。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第二顆，Analog Devices 的 </a:t>
            </a:r>
            <a:r>
              <a:rPr sz="1200" b="1" lang="zh-TW" dirty="0">
                <a:solidFill>
                  <a:srgbClr val="000000"/>
                </a:solidFill>
                <a:latin typeface="Arial Unicode MS"/>
                <a:ea typeface="Arial Unicode MS"/>
                <a:cs typeface="Arial Unicode MS"/>
              </a:rPr>
              <a:t>ADIS16470</a:t>
            </a:r>
            <a:r>
              <a:rPr sz="120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200"/>
              </a:spcAft>
            </a:pPr>
            <a:r>
              <a:rPr sz="1200" lang="zh-TW" dirty="0">
                <a:solidFill>
                  <a:srgbClr val="000000"/>
                </a:solidFill>
                <a:latin typeface="Arial Unicode MS"/>
                <a:ea typeface="Arial Unicode MS"/>
                <a:cs typeface="Arial Unicode MS"/>
              </a:rPr>
              <a:t>從上往下。</a:t>
            </a:r>
            <a:r>
              <a:rPr sz="1200" b="1" lang="zh-TW" dirty="0">
                <a:solidFill>
                  <a:srgbClr val="000000"/>
                </a:solidFill>
                <a:latin typeface="Arial Unicode MS"/>
                <a:ea typeface="Arial Unicode MS"/>
                <a:cs typeface="Arial Unicode MS"/>
              </a:rPr>
              <a:t>Dynamic Range，±2000 °/sec</a:t>
            </a:r>
            <a:r>
              <a:rPr sz="1200" lang="zh-TW" dirty="0">
                <a:solidFill>
                  <a:srgbClr val="000000"/>
                </a:solidFill>
                <a:latin typeface="Arial Unicode MS"/>
                <a:ea typeface="Arial Unicode MS"/>
                <a:cs typeface="Arial Unicode MS"/>
              </a:rPr>
              <a:t>——和剛剛那顆手機級一模一樣。所以等級不是差在量程。
</a:t>
            </a:r>
          </a:p>
          <a:p>
            <a:pPr algn="l">
              <a:spcBef>
                <a:spcPts val="0"/>
              </a:spcBef>
              <a:spcAft>
                <a:spcPts val="200"/>
              </a:spcAft>
            </a:pPr>
            <a:r>
              <a:rPr sz="1200" lang="zh-TW" dirty="0">
                <a:solidFill>
                  <a:srgbClr val="000000"/>
                </a:solidFill>
                <a:latin typeface="Arial Unicode MS"/>
                <a:ea typeface="Arial Unicode MS"/>
                <a:cs typeface="Arial Unicode MS"/>
              </a:rPr>
              <a:t>往下看 </a:t>
            </a:r>
            <a:r>
              <a:rPr sz="1200" b="1" lang="zh-TW" dirty="0">
                <a:solidFill>
                  <a:srgbClr val="000000"/>
                </a:solidFill>
                <a:latin typeface="Arial Unicode MS"/>
                <a:ea typeface="Arial Unicode MS"/>
                <a:cs typeface="Arial Unicode MS"/>
              </a:rPr>
              <a:t>Bias</a:t>
            </a:r>
            <a:r>
              <a:rPr sz="1200" lang="zh-TW" dirty="0">
                <a:solidFill>
                  <a:srgbClr val="000000"/>
                </a:solidFill>
                <a:latin typeface="Arial Unicode MS"/>
                <a:ea typeface="Arial Unicode MS"/>
                <a:cs typeface="Arial Unicode MS"/>
              </a:rPr>
              <a:t> 那一塊，前兩列就是剛剛手機級找不到的。</a:t>
            </a:r>
            <a:r>
              <a:rPr sz="1200" b="1" lang="zh-TW" dirty="0">
                <a:solidFill>
                  <a:srgbClr val="000000"/>
                </a:solidFill>
                <a:latin typeface="Arial Unicode MS"/>
                <a:ea typeface="Arial Unicode MS"/>
                <a:cs typeface="Arial Unicode MS"/>
              </a:rPr>
              <a:t>In Run Stability，8 °/hr</a:t>
            </a:r>
            <a:r>
              <a:rPr sz="120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200" b="1" lang="zh-TW" dirty="0">
                <a:solidFill>
                  <a:srgbClr val="000000"/>
                </a:solidFill>
                <a:latin typeface="Arial Unicode MS"/>
                <a:ea typeface="Arial Unicode MS"/>
                <a:cs typeface="Arial Unicode MS"/>
              </a:rPr>
              <a:t>Angular Random Walk，0.34 °/√hr</a:t>
            </a:r>
            <a:r>
              <a:rPr sz="120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200"/>
              </a:spcAft>
            </a:pPr>
            <a:r>
              <a:rPr sz="1200" lang="zh-TW" dirty="0">
                <a:solidFill>
                  <a:srgbClr val="000000"/>
                </a:solidFill>
                <a:latin typeface="Arial Unicode MS"/>
                <a:ea typeface="Arial Unicode MS"/>
                <a:cs typeface="Arial Unicode MS"/>
              </a:rPr>
              <a:t>再看 </a:t>
            </a:r>
            <a:r>
              <a:rPr sz="1200" b="1" lang="zh-TW" dirty="0">
                <a:solidFill>
                  <a:srgbClr val="000000"/>
                </a:solidFill>
                <a:latin typeface="Arial Unicode MS"/>
                <a:ea typeface="Arial Unicode MS"/>
                <a:cs typeface="Arial Unicode MS"/>
              </a:rPr>
              <a:t>Rate Noise Density，0.008</a:t>
            </a:r>
            <a:r>
              <a:rPr sz="120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200"/>
              </a:spcAft>
            </a:pPr>
            <a:r>
              <a:rPr sz="1200" lang="zh-TW" dirty="0">
                <a:solidFill>
                  <a:srgbClr val="000000"/>
                </a:solidFill>
                <a:latin typeface="Arial Unicode MS"/>
                <a:ea typeface="Arial Unicode MS"/>
                <a:cs typeface="Arial Unicode MS"/>
              </a:rPr>
              <a:t>翻回規格書第一頁，Applications 那一欄寫的是 Navigation、</a:t>
            </a:r>
            <a:r>
              <a:rPr sz="1200" b="1" lang="zh-TW" dirty="0">
                <a:solidFill>
                  <a:srgbClr val="000000"/>
                </a:solidFill>
                <a:latin typeface="Arial Unicode MS"/>
                <a:ea typeface="Arial Unicode MS"/>
                <a:cs typeface="Arial Unicode MS"/>
              </a:rPr>
              <a:t>Unmanned and autonomous vehicles</a:t>
            </a:r>
            <a:r>
              <a:rPr sz="120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200"/>
              </a:spcAft>
            </a:pPr>
            <a:r>
              <a:rPr sz="120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2026-10-12T06:32:11Z</dcterms:created>
  <dcterms:modified xsi:type="dcterms:W3CDTF">2026-10-12T06:32:11Z</dcterms:modified>
</cp:coreProperties>
</file>