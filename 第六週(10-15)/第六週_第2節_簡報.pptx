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先說清楚：影片裡那顆</a:t>
            </a:r>
            <a:r>
              <a:rPr sz="850" b="1" lang="zh-TW" dirty="0">
                <a:solidFill>
                  <a:srgbClr val="000000"/>
                </a:solidFill>
                <a:latin typeface="Arial Unicode MS"/>
                <a:ea typeface="Arial Unicode MS"/>
                <a:cs typeface="Arial Unicode MS"/>
              </a:rPr>
              <a:t>不是</a:t>
            </a:r>
            <a:r>
              <a:rPr sz="850" lang="zh-TW" dirty="0">
                <a:solidFill>
                  <a:srgbClr val="000000"/>
                </a:solidFill>
                <a:latin typeface="Arial Unicode MS"/>
                <a:ea typeface="Arial Unicode MS"/>
                <a:cs typeface="Arial Unicode MS"/>
              </a:rPr>
              <a:t>今天表上的 ICM-20948，是 Bosch 做給車子用的陀螺儀。它裝在車上的 </a:t>
            </a:r>
            <a:r>
              <a:rPr sz="850" b="1" lang="zh-TW" dirty="0">
                <a:solidFill>
                  <a:srgbClr val="000000"/>
                </a:solidFill>
                <a:latin typeface="Arial Unicode MS"/>
                <a:ea typeface="Arial Unicode MS"/>
                <a:cs typeface="Arial Unicode MS"/>
              </a:rPr>
              <a:t>ESP</a:t>
            </a:r>
            <a:r>
              <a:rPr sz="850" lang="zh-TW" dirty="0">
                <a:solidFill>
                  <a:srgbClr val="000000"/>
                </a:solidFill>
                <a:latin typeface="Arial Unicode MS"/>
                <a:ea typeface="Arial Unicode MS"/>
                <a:cs typeface="Arial Unicode MS"/>
              </a:rPr>
              <a:t>，也就是車身電子穩定系統：車子快要打滑、開始繞著自己轉的時候，ESP 會自動對某一個輪子煞車，把車身拉回來。陀螺儀的工作，就是量車子有沒有繞著自己轉。</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旁白說它裝在車子重心附近，例如安全氣囊的控制器裡。放這支影片，是因為手機級和車用級的陀螺儀，裡面的原理是一樣的。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意思是它最快量得到一秒轉兩千度。正負是兩個方向，往左轉記正的、往右轉記負的。轉得比這還快，它就一直讀兩千，像速度表的指針頂到底。表上只寫度，換成圈數要自己算：一圈三百六十度，兩千除以三百六十，大約</a:t>
            </a:r>
            <a:r>
              <a:rPr sz="850" b="1" lang="zh-TW" dirty="0">
                <a:solidFill>
                  <a:srgbClr val="000000"/>
                </a:solidFill>
                <a:latin typeface="Arial Unicode MS"/>
                <a:ea typeface="Arial Unicode MS"/>
                <a:cs typeface="Arial Unicode MS"/>
              </a:rPr>
              <a:t>五圈半</a:t>
            </a:r>
            <a:r>
              <a:rPr sz="850" lang="zh-TW" dirty="0">
                <a:solidFill>
                  <a:srgbClr val="000000"/>
                </a:solidFill>
                <a:latin typeface="Arial Unicode MS"/>
                <a:ea typeface="Arial Unicode MS"/>
                <a:cs typeface="Arial Unicode MS"/>
              </a:rPr>
              <a:t>。車子用不到這麼快：路口迴轉，大概五秒轉半圈，一秒三、四十度而已。這個數字等一下工業級那顆也一樣，所以量程不是等級的差別。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第二顆，Analog Devices 的 </a:t>
            </a:r>
            <a:r>
              <a:rPr sz="1150" b="1" lang="zh-TW" dirty="0">
                <a:solidFill>
                  <a:srgbClr val="000000"/>
                </a:solidFill>
                <a:latin typeface="Arial Unicode MS"/>
                <a:ea typeface="Arial Unicode MS"/>
                <a:cs typeface="Arial Unicode MS"/>
              </a:rPr>
              <a:t>ADIS16470</a:t>
            </a:r>
            <a:r>
              <a:rPr sz="115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192"/>
              </a:spcAft>
            </a:pPr>
            <a:r>
              <a:rPr sz="1150" lang="zh-TW" dirty="0">
                <a:solidFill>
                  <a:srgbClr val="000000"/>
                </a:solidFill>
                <a:latin typeface="Arial Unicode MS"/>
                <a:ea typeface="Arial Unicode MS"/>
                <a:cs typeface="Arial Unicode MS"/>
              </a:rPr>
              <a:t>從上往下。</a:t>
            </a:r>
            <a:r>
              <a:rPr sz="1150" b="1" lang="zh-TW" dirty="0">
                <a:solidFill>
                  <a:srgbClr val="000000"/>
                </a:solidFill>
                <a:latin typeface="Arial Unicode MS"/>
                <a:ea typeface="Arial Unicode MS"/>
                <a:cs typeface="Arial Unicode MS"/>
              </a:rPr>
              <a:t>Dynamic Range，±2000 °/sec。</a:t>
            </a:r>
            <a:r>
              <a:rPr sz="1150" lang="zh-TW" dirty="0">
                <a:solidFill>
                  <a:srgbClr val="000000"/>
                </a:solidFill>
                <a:latin typeface="Arial Unicode MS"/>
                <a:ea typeface="Arial Unicode MS"/>
                <a:cs typeface="Arial Unicode MS"/>
              </a:rPr>
              <a:t>各位可能會想：上週相機也有動態範圍，那是同一件事嗎？</a:t>
            </a:r>
            <a:r>
              <a:rPr sz="1150" b="1" lang="zh-TW" dirty="0">
                <a:solidFill>
                  <a:srgbClr val="000000"/>
                </a:solidFill>
                <a:latin typeface="Arial Unicode MS"/>
                <a:ea typeface="Arial Unicode MS"/>
                <a:cs typeface="Arial Unicode MS"/>
              </a:rPr>
              <a:t>不是。</a:t>
            </a:r>
            <a:r>
              <a:rPr sz="1150" lang="zh-TW" dirty="0">
                <a:solidFill>
                  <a:srgbClr val="000000"/>
                </a:solidFill>
                <a:latin typeface="Arial Unicode MS"/>
                <a:ea typeface="Arial Unicode MS"/>
                <a:cs typeface="Arial Unicode MS"/>
              </a:rPr>
              <a:t>上週相機的動態範圍，講的是最亮和最暗差多少倍，單位是 dB，逆光、隧道口就看它。這裡的 Dynamic Range，看單位是 °/sec，講的是最快量得到轉多快，就是剛剛 TDK 那張表叫 </a:t>
            </a:r>
            <a:r>
              <a:rPr sz="1150" b="1" lang="zh-TW" dirty="0">
                <a:solidFill>
                  <a:srgbClr val="000000"/>
                </a:solidFill>
                <a:latin typeface="Arial Unicode MS"/>
                <a:ea typeface="Arial Unicode MS"/>
                <a:cs typeface="Arial Unicode MS"/>
              </a:rPr>
              <a:t>Full-Scale Range</a:t>
            </a:r>
            <a:r>
              <a:rPr sz="1150" lang="zh-TW" dirty="0">
                <a:solidFill>
                  <a:srgbClr val="000000"/>
                </a:solidFill>
                <a:latin typeface="Arial Unicode MS"/>
                <a:ea typeface="Arial Unicode MS"/>
                <a:cs typeface="Arial Unicode MS"/>
              </a:rPr>
              <a:t> 的那一行，量程。兩家公司用不同的名字講同一件事；同一個英文詞，放在不同感測器上，意思也可能不一樣。所以讀規格表，</a:t>
            </a:r>
            <a:r>
              <a:rPr sz="1150" b="1" lang="zh-TW" dirty="0">
                <a:solidFill>
                  <a:srgbClr val="000000"/>
                </a:solidFill>
                <a:latin typeface="Arial Unicode MS"/>
                <a:ea typeface="Arial Unicode MS"/>
                <a:cs typeface="Arial Unicode MS"/>
              </a:rPr>
              <a:t>先看單位</a:t>
            </a:r>
            <a:r>
              <a:rPr sz="1150" lang="zh-TW" dirty="0">
                <a:solidFill>
                  <a:srgbClr val="000000"/>
                </a:solidFill>
                <a:latin typeface="Arial Unicode MS"/>
                <a:ea typeface="Arial Unicode MS"/>
                <a:cs typeface="Arial Unicode MS"/>
              </a:rPr>
              <a:t>，不要只看名字。
</a:t>
            </a:r>
          </a:p>
          <a:p>
            <a:pPr algn="l">
              <a:spcBef>
                <a:spcPts val="0"/>
              </a:spcBef>
              <a:spcAft>
                <a:spcPts val="192"/>
              </a:spcAft>
            </a:pPr>
            <a:r>
              <a:rPr sz="1150" lang="zh-TW" dirty="0">
                <a:solidFill>
                  <a:srgbClr val="000000"/>
                </a:solidFill>
                <a:latin typeface="Arial Unicode MS"/>
                <a:ea typeface="Arial Unicode MS"/>
                <a:cs typeface="Arial Unicode MS"/>
              </a:rPr>
              <a:t>數字是正負兩千度每秒，和剛剛那顆手機級一模一樣。所以等級不是差在量程。
</a:t>
            </a:r>
          </a:p>
          <a:p>
            <a:pPr algn="l">
              <a:spcBef>
                <a:spcPts val="0"/>
              </a:spcBef>
              <a:spcAft>
                <a:spcPts val="192"/>
              </a:spcAft>
            </a:pPr>
            <a:r>
              <a:rPr sz="1150" lang="zh-TW" dirty="0">
                <a:solidFill>
                  <a:srgbClr val="000000"/>
                </a:solidFill>
                <a:latin typeface="Arial Unicode MS"/>
                <a:ea typeface="Arial Unicode MS"/>
                <a:cs typeface="Arial Unicode MS"/>
              </a:rPr>
              <a:t>往下看 </a:t>
            </a:r>
            <a:r>
              <a:rPr sz="1150" b="1" lang="zh-TW" dirty="0">
                <a:solidFill>
                  <a:srgbClr val="000000"/>
                </a:solidFill>
                <a:latin typeface="Arial Unicode MS"/>
                <a:ea typeface="Arial Unicode MS"/>
                <a:cs typeface="Arial Unicode MS"/>
              </a:rPr>
              <a:t>Bias</a:t>
            </a:r>
            <a:r>
              <a:rPr sz="1150" lang="zh-TW" dirty="0">
                <a:solidFill>
                  <a:srgbClr val="000000"/>
                </a:solidFill>
                <a:latin typeface="Arial Unicode MS"/>
                <a:ea typeface="Arial Unicode MS"/>
                <a:cs typeface="Arial Unicode MS"/>
              </a:rPr>
              <a:t> 那一塊，前兩列就是剛剛手機級找不到的。</a:t>
            </a:r>
            <a:r>
              <a:rPr sz="1150" b="1" lang="zh-TW" dirty="0">
                <a:solidFill>
                  <a:srgbClr val="000000"/>
                </a:solidFill>
                <a:latin typeface="Arial Unicode MS"/>
                <a:ea typeface="Arial Unicode MS"/>
                <a:cs typeface="Arial Unicode MS"/>
              </a:rPr>
              <a:t>In Run Stability，8 °/hr</a:t>
            </a:r>
            <a:r>
              <a:rPr sz="115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150" b="1" lang="zh-TW" dirty="0">
                <a:solidFill>
                  <a:srgbClr val="000000"/>
                </a:solidFill>
                <a:latin typeface="Arial Unicode MS"/>
                <a:ea typeface="Arial Unicode MS"/>
                <a:cs typeface="Arial Unicode MS"/>
              </a:rPr>
              <a:t>Angular Random Walk，0.34 °/√hr</a:t>
            </a:r>
            <a:r>
              <a:rPr sz="115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192"/>
              </a:spcAft>
            </a:pPr>
            <a:r>
              <a:rPr sz="1150" lang="zh-TW" dirty="0">
                <a:solidFill>
                  <a:srgbClr val="000000"/>
                </a:solidFill>
                <a:latin typeface="Arial Unicode MS"/>
                <a:ea typeface="Arial Unicode MS"/>
                <a:cs typeface="Arial Unicode MS"/>
              </a:rPr>
              <a:t>再看 </a:t>
            </a:r>
            <a:r>
              <a:rPr sz="1150" b="1" lang="zh-TW" dirty="0">
                <a:solidFill>
                  <a:srgbClr val="000000"/>
                </a:solidFill>
                <a:latin typeface="Arial Unicode MS"/>
                <a:ea typeface="Arial Unicode MS"/>
                <a:cs typeface="Arial Unicode MS"/>
              </a:rPr>
              <a:t>Rate Noise Density，0.008</a:t>
            </a:r>
            <a:r>
              <a:rPr sz="115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192"/>
              </a:spcAft>
            </a:pPr>
            <a:r>
              <a:rPr sz="1150" lang="zh-TW" dirty="0">
                <a:solidFill>
                  <a:srgbClr val="000000"/>
                </a:solidFill>
                <a:latin typeface="Arial Unicode MS"/>
                <a:ea typeface="Arial Unicode MS"/>
                <a:cs typeface="Arial Unicode MS"/>
              </a:rPr>
              <a:t>翻回規格書第一頁，Applications 那一欄寫的是 Navigation、</a:t>
            </a:r>
            <a:r>
              <a:rPr sz="1150" b="1" lang="zh-TW" dirty="0">
                <a:solidFill>
                  <a:srgbClr val="000000"/>
                </a:solidFill>
                <a:latin typeface="Arial Unicode MS"/>
                <a:ea typeface="Arial Unicode MS"/>
                <a:cs typeface="Arial Unicode MS"/>
              </a:rPr>
              <a:t>Unmanned and autonomous vehicles</a:t>
            </a:r>
            <a:r>
              <a:rPr sz="115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192"/>
              </a:spcAft>
            </a:pPr>
            <a:r>
              <a:rPr sz="115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2026-10-12T08:31:15Z</dcterms:created>
  <dcterms:modified xsi:type="dcterms:W3CDTF">2026-10-12T08:31:15Z</dcterms:modified>
</cp:coreProperties>
</file>