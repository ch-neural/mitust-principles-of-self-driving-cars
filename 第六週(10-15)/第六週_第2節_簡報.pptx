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p:notesSz cx="7560000" cy="106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投影片影像版面配置區 3"/>
          <p:cNvSpPr>
            <a:spLocks noGrp="1" noRot="1" noChangeAspect="1"/>
          </p:cNvSpPr>
          <p:nvPr>
            <p:ph type="sldImg" idx="2"/>
          </p:nvPr>
        </p:nvSpPr>
        <p:spPr>
          <a:xfrm>
            <a:off x="540000" y="540000"/>
            <a:ext cx="6480000" cy="3645000"/>
          </a:xfrm>
          <a:prstGeom prst="rect">
            <a:avLst/>
          </a:prstGeom>
          <a:noFill/>
          <a:ln w="12700">
            <a:solidFill>
              <a:prstClr val="black"/>
            </a:solidFill>
          </a:ln>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5" name="備忘稿版面配置區 4"/>
          <p:cNvSpPr>
            <a:spLocks noGrp="1"/>
          </p:cNvSpPr>
          <p:nvPr>
            <p:ph type="body" idx="3"/>
          </p:nvPr>
        </p:nvSpPr>
        <p:spPr>
          <a:xfrm>
            <a:off x="540000" y="4440000"/>
            <a:ext cx="6480000" cy="55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7" name="投影片編號版面配置區 6"/>
          <p:cNvSpPr>
            <a:spLocks noGrp="1"/>
          </p:cNvSpPr>
          <p:nvPr>
            <p:ph type="sldNum" idx="5"/>
          </p:nvPr>
        </p:nvSpPr>
        <p:spPr>
          <a:xfrm>
            <a:off x="6500000" y="10200000"/>
            <a:ext cx="500000" cy="3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Tree>
    <p:extLst>
      <p:ext uri="{BB962C8B-B14F-4D97-AF65-F5344CB8AC3E}">
        <p14:creationId xmlns:p14="http://schemas.microsoft.com/office/powerpoint/2010/main" val="74295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Unicode MS"/>
        <a:ea typeface="Arial Unicode MS"/>
        <a:cs typeface="Arial Unicode MS"/>
      </a:defRPr>
    </a:lvl1pPr>
    <a:lvl2pPr marL="457200" algn="l" defTabSz="914400" rtl="0" eaLnBrk="1" latinLnBrk="0" hangingPunct="1">
      <a:defRPr sz="1200" kern="1200">
        <a:solidFill>
          <a:schemeClr val="tx1"/>
        </a:solidFill>
        <a:latin typeface="Arial Unicode MS"/>
        <a:ea typeface="Arial Unicode MS"/>
        <a:cs typeface="Arial Unicode MS"/>
      </a:defRPr>
    </a:lvl2pPr>
    <a:lvl3pPr marL="914400" algn="l" defTabSz="914400" rtl="0" eaLnBrk="1" latinLnBrk="0" hangingPunct="1">
      <a:defRPr sz="1200" kern="1200">
        <a:solidFill>
          <a:schemeClr val="tx1"/>
        </a:solidFill>
        <a:latin typeface="Arial Unicode MS"/>
        <a:ea typeface="Arial Unicode MS"/>
        <a:cs typeface="Arial Unicode MS"/>
      </a:defRPr>
    </a:lvl3pPr>
    <a:lvl4pPr marL="1371600" algn="l" defTabSz="914400" rtl="0" eaLnBrk="1" latinLnBrk="0" hangingPunct="1">
      <a:defRPr sz="1200" kern="1200">
        <a:solidFill>
          <a:schemeClr val="tx1"/>
        </a:solidFill>
        <a:latin typeface="Arial Unicode MS"/>
        <a:ea typeface="Arial Unicode MS"/>
        <a:cs typeface="Arial Unicode MS"/>
      </a:defRPr>
    </a:lvl4pPr>
    <a:lvl5pPr marL="1828800" algn="l" defTabSz="914400" rtl="0" eaLnBrk="1" latinLnBrk="0" hangingPunct="1">
      <a:defRPr sz="1200" kern="1200">
        <a:solidFill>
          <a:schemeClr val="tx1"/>
        </a:solidFill>
        <a:latin typeface="Arial Unicode MS"/>
        <a:ea typeface="Arial Unicode MS"/>
        <a:cs typeface="Arial Unicode MS"/>
      </a:defRPr>
    </a:lvl5pPr>
    <a:lvl6pPr marL="2286000" algn="l" defTabSz="914400" rtl="0" eaLnBrk="1" latinLnBrk="0" hangingPunct="1">
      <a:defRPr sz="1200" kern="1200">
        <a:solidFill>
          <a:schemeClr val="tx1"/>
        </a:solidFill>
        <a:latin typeface="Arial Unicode MS"/>
        <a:ea typeface="Arial Unicode MS"/>
        <a:cs typeface="Arial Unicode MS"/>
      </a:defRPr>
    </a:lvl6pPr>
    <a:lvl7pPr marL="2743200" algn="l" defTabSz="914400" rtl="0" eaLnBrk="1" latinLnBrk="0" hangingPunct="1">
      <a:defRPr sz="1200" kern="1200">
        <a:solidFill>
          <a:schemeClr val="tx1"/>
        </a:solidFill>
        <a:latin typeface="Arial Unicode MS"/>
        <a:ea typeface="Arial Unicode MS"/>
        <a:cs typeface="Arial Unicode MS"/>
      </a:defRPr>
    </a:lvl7pPr>
    <a:lvl8pPr marL="3200400" algn="l" defTabSz="914400" rtl="0" eaLnBrk="1" latinLnBrk="0" hangingPunct="1">
      <a:defRPr sz="1200" kern="1200">
        <a:solidFill>
          <a:schemeClr val="tx1"/>
        </a:solidFill>
        <a:latin typeface="Arial Unicode MS"/>
        <a:ea typeface="Arial Unicode MS"/>
        <a:cs typeface="Arial Unicode MS"/>
      </a:defRPr>
    </a:lvl8pPr>
    <a:lvl9pPr marL="3657600" algn="l" defTabSz="914400" rtl="0" eaLnBrk="1" latinLnBrk="0" hangingPunct="1">
      <a:defRPr sz="1200" kern="1200">
        <a:solidFill>
          <a:schemeClr val="tx1"/>
        </a:solidFill>
        <a:latin typeface="Arial Unicode MS"/>
        <a:ea typeface="Arial Unicode MS"/>
        <a:cs typeface="Arial Unicode M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第二節。上一節的雷達，跟光達、相機一樣，是用來</a:t>
            </a:r>
            <a:r>
              <a:rPr sz="1200" b="1" lang="zh-TW" dirty="0">
                <a:solidFill>
                  <a:srgbClr val="000000"/>
                </a:solidFill>
                <a:latin typeface="Arial Unicode MS"/>
                <a:ea typeface="Arial Unicode MS"/>
                <a:cs typeface="Arial Unicode MS"/>
              </a:rPr>
              <a:t>看東西</a:t>
            </a:r>
            <a:r>
              <a:rPr sz="1200" lang="zh-TW" dirty="0">
                <a:solidFill>
                  <a:srgbClr val="000000"/>
                </a:solidFill>
                <a:latin typeface="Arial Unicode MS"/>
                <a:ea typeface="Arial Unicode MS"/>
                <a:cs typeface="Arial Unicode MS"/>
              </a:rPr>
              <a:t>的：前面有什麼、多遠。
</a:t>
            </a:r>
          </a:p>
          <a:p>
            <a:pPr algn="l">
              <a:spcBef>
                <a:spcPts val="0"/>
              </a:spcBef>
              <a:spcAft>
                <a:spcPts val="200"/>
              </a:spcAft>
            </a:pPr>
            <a:r>
              <a:rPr sz="1200" lang="zh-TW" dirty="0">
                <a:solidFill>
                  <a:srgbClr val="000000"/>
                </a:solidFill>
                <a:latin typeface="Arial Unicode MS"/>
                <a:ea typeface="Arial Unicode MS"/>
                <a:cs typeface="Arial Unicode MS"/>
              </a:rPr>
              <a:t>這一節的三種，都不是。
</a:t>
            </a:r>
          </a:p>
          <a:p>
            <a:pPr algn="l">
              <a:spcBef>
                <a:spcPts val="0"/>
              </a:spcBef>
              <a:spcAft>
                <a:spcPts val="200"/>
              </a:spcAft>
            </a:pPr>
            <a:r>
              <a:rPr sz="1200" b="1" lang="zh-TW" dirty="0">
                <a:solidFill>
                  <a:srgbClr val="000000"/>
                </a:solidFill>
                <a:latin typeface="Arial Unicode MS"/>
                <a:ea typeface="Arial Unicode MS"/>
                <a:cs typeface="Arial Unicode MS"/>
              </a:rPr>
              <a:t>超音波</a:t>
            </a:r>
            <a:r>
              <a:rPr sz="1200" lang="zh-TW" dirty="0">
                <a:solidFill>
                  <a:srgbClr val="000000"/>
                </a:solidFill>
                <a:latin typeface="Arial Unicode MS"/>
                <a:ea typeface="Arial Unicode MS"/>
                <a:cs typeface="Arial Unicode MS"/>
              </a:rPr>
              <a:t>也看東西，但它只看兩公尺，是停車用的。</a:t>
            </a:r>
            <a:r>
              <a:rPr sz="1200" b="1" lang="zh-TW" dirty="0">
                <a:solidFill>
                  <a:srgbClr val="000000"/>
                </a:solidFill>
                <a:latin typeface="Arial Unicode MS"/>
                <a:ea typeface="Arial Unicode MS"/>
                <a:cs typeface="Arial Unicode MS"/>
              </a:rPr>
              <a:t>衛星定位</a:t>
            </a:r>
            <a:r>
              <a:rPr sz="1200" lang="zh-TW" dirty="0">
                <a:solidFill>
                  <a:srgbClr val="000000"/>
                </a:solidFill>
                <a:latin typeface="Arial Unicode MS"/>
                <a:ea typeface="Arial Unicode MS"/>
                <a:cs typeface="Arial Unicode MS"/>
              </a:rPr>
              <a:t>不看任何東西，它告訴你</a:t>
            </a:r>
            <a:r>
              <a:rPr sz="1200" b="1" lang="zh-TW" dirty="0">
                <a:solidFill>
                  <a:srgbClr val="000000"/>
                </a:solidFill>
                <a:latin typeface="Arial Unicode MS"/>
                <a:ea typeface="Arial Unicode MS"/>
                <a:cs typeface="Arial Unicode MS"/>
              </a:rPr>
              <a:t>你自己在地球上的哪裡</a:t>
            </a:r>
            <a:r>
              <a:rPr sz="1200" lang="zh-TW" dirty="0">
                <a:solidFill>
                  <a:srgbClr val="000000"/>
                </a:solidFill>
                <a:latin typeface="Arial Unicode MS"/>
                <a:ea typeface="Arial Unicode MS"/>
                <a:cs typeface="Arial Unicode MS"/>
              </a:rPr>
              <a:t>。第三種叫</a:t>
            </a:r>
            <a:r>
              <a:rPr sz="1200" b="1" lang="zh-TW" dirty="0">
                <a:solidFill>
                  <a:srgbClr val="000000"/>
                </a:solidFill>
                <a:latin typeface="Arial Unicode MS"/>
                <a:ea typeface="Arial Unicode MS"/>
                <a:cs typeface="Arial Unicode MS"/>
              </a:rPr>
              <a:t>慣性量測單元</a:t>
            </a:r>
            <a:r>
              <a:rPr sz="1200" lang="zh-TW" dirty="0">
                <a:solidFill>
                  <a:srgbClr val="000000"/>
                </a:solidFill>
                <a:latin typeface="Arial Unicode MS"/>
                <a:ea typeface="Arial Unicode MS"/>
                <a:cs typeface="Arial Unicode MS"/>
              </a:rPr>
              <a:t>，英文縮寫 </a:t>
            </a:r>
            <a:r>
              <a:rPr sz="1200" b="1" lang="zh-TW" dirty="0">
                <a:solidFill>
                  <a:srgbClr val="000000"/>
                </a:solidFill>
                <a:latin typeface="Arial Unicode MS"/>
                <a:ea typeface="Arial Unicode MS"/>
                <a:cs typeface="Arial Unicode MS"/>
              </a:rPr>
              <a:t>IMU</a:t>
            </a:r>
            <a:r>
              <a:rPr sz="1200" lang="zh-TW" dirty="0">
                <a:solidFill>
                  <a:srgbClr val="000000"/>
                </a:solidFill>
                <a:latin typeface="Arial Unicode MS"/>
                <a:ea typeface="Arial Unicode MS"/>
                <a:cs typeface="Arial Unicode MS"/>
              </a:rPr>
              <a:t>，它也不看任何東西，它告訴你</a:t>
            </a:r>
            <a:r>
              <a:rPr sz="1200" b="1" lang="zh-TW" dirty="0">
                <a:solidFill>
                  <a:srgbClr val="000000"/>
                </a:solidFill>
                <a:latin typeface="Arial Unicode MS"/>
                <a:ea typeface="Arial Unicode MS"/>
                <a:cs typeface="Arial Unicode MS"/>
              </a:rPr>
              <a:t>你轉了多少度、加速了多少</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後面兩種，各位的手機裡都有：地圖定位用的是衛星，轉螢幕用的是 IMU。今天把它們的規格表打開，看車上用的那一顆跟手機裡那一顆差在哪。
</a:t>
            </a:r>
          </a:p>
          <a:p>
            <a:pPr algn="l">
              <a:spcBef>
                <a:spcPts val="0"/>
              </a:spcBef>
              <a:spcAft>
                <a:spcPts val="200"/>
              </a:spcAft>
            </a:pPr>
            <a:r>
              <a:rPr sz="1200" lang="zh-TW" dirty="0">
                <a:solidFill>
                  <a:srgbClr val="000000"/>
                </a:solidFill>
                <a:latin typeface="Arial Unicode MS"/>
                <a:ea typeface="Arial Unicode MS"/>
                <a:cs typeface="Arial Unicode MS"/>
              </a:rPr>
              <a:t>三段，每段兩顆型號。從最便宜的開始。</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第一段，超音波。第三週講過它的原理：發一聲人耳聽不到的高音，等回音，算時間。跟光達一樣是飛行時間，只是用的是聲音。蝙蝠就是這樣飛的。各位倒車的時候聽過嗶、嗶、嗶，愈靠近牆叫得愈快，那就是超音波在量距離。
</a:t>
            </a:r>
          </a:p>
          <a:p>
            <a:pPr algn="l">
              <a:spcBef>
                <a:spcPts val="0"/>
              </a:spcBef>
              <a:spcAft>
                <a:spcPts val="200"/>
              </a:spcAft>
            </a:pPr>
            <a:r>
              <a:rPr sz="1200" lang="zh-TW" dirty="0">
                <a:solidFill>
                  <a:srgbClr val="000000"/>
                </a:solidFill>
                <a:latin typeface="Arial Unicode MS"/>
                <a:ea typeface="Arial Unicode MS"/>
                <a:cs typeface="Arial Unicode MS"/>
              </a:rPr>
              <a:t>我拿兩份規格表來比。一份是 </a:t>
            </a:r>
            <a:r>
              <a:rPr sz="1200" b="1" lang="zh-TW" dirty="0">
                <a:solidFill>
                  <a:srgbClr val="000000"/>
                </a:solidFill>
                <a:latin typeface="Arial Unicode MS"/>
                <a:ea typeface="Arial Unicode MS"/>
                <a:cs typeface="Arial Unicode MS"/>
              </a:rPr>
              <a:t>HC-SR04</a:t>
            </a:r>
            <a:r>
              <a:rPr sz="1200" lang="zh-TW" dirty="0">
                <a:solidFill>
                  <a:srgbClr val="000000"/>
                </a:solidFill>
                <a:latin typeface="Arial Unicode MS"/>
                <a:ea typeface="Arial Unicode MS"/>
                <a:cs typeface="Arial Unicode MS"/>
              </a:rPr>
              <a:t>，就是做專題常用的那顆藍色小板子，幾十塊台幣。另一份是 </a:t>
            </a:r>
            <a:r>
              <a:rPr sz="1200" b="1" lang="zh-TW" dirty="0">
                <a:solidFill>
                  <a:srgbClr val="000000"/>
                </a:solidFill>
                <a:latin typeface="Arial Unicode MS"/>
                <a:ea typeface="Arial Unicode MS"/>
                <a:cs typeface="Arial Unicode MS"/>
              </a:rPr>
              <a:t>Bosch</a:t>
            </a:r>
            <a:r>
              <a:rPr sz="1200" lang="zh-TW" dirty="0">
                <a:solidFill>
                  <a:srgbClr val="000000"/>
                </a:solidFill>
                <a:latin typeface="Arial Unicode MS"/>
                <a:ea typeface="Arial Unicode MS"/>
                <a:cs typeface="Arial Unicode MS"/>
              </a:rPr>
              <a:t> 的車用超音波，各位看到保險桿上那幾個圓圓的點，就是它。</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2</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lang="zh-TW" dirty="0">
                <a:solidFill>
                  <a:srgbClr val="000000"/>
                </a:solidFill>
                <a:latin typeface="Arial Unicode MS"/>
                <a:ea typeface="Arial Unicode MS"/>
                <a:cs typeface="Arial Unicode MS"/>
              </a:rPr>
              <a:t>左邊是 HC-SR04，右邊是 Bosch。先看數字。
</a:t>
            </a:r>
          </a:p>
          <a:p>
            <a:pPr algn="l">
              <a:spcBef>
                <a:spcPts val="0"/>
              </a:spcBef>
              <a:spcAft>
                <a:spcPts val="133"/>
              </a:spcAft>
            </a:pPr>
            <a:r>
              <a:rPr sz="800" b="1" lang="zh-TW" dirty="0">
                <a:solidFill>
                  <a:srgbClr val="000000"/>
                </a:solidFill>
                <a:latin typeface="Arial Unicode MS"/>
                <a:ea typeface="Arial Unicode MS"/>
                <a:cs typeface="Arial Unicode MS"/>
              </a:rPr>
              <a:t>左邊：Max Range 4 公尺，Min Range 2 公分，Measuring Angle 15 度。</a:t>
            </a:r>
            <a:r>
              <a:rPr sz="800" lang="zh-TW" dirty="0">
                <a:solidFill>
                  <a:srgbClr val="000000"/>
                </a:solidFill>
                <a:latin typeface="Arial Unicode MS"/>
                <a:ea typeface="Arial Unicode MS"/>
                <a:cs typeface="Arial Unicode MS"/>
              </a:rPr>
              <a:t>十五度很窄，一顆只蓋一小片，所以要用好幾顆。
</a:t>
            </a:r>
          </a:p>
          <a:p>
            <a:pPr algn="l">
              <a:spcBef>
                <a:spcPts val="0"/>
              </a:spcBef>
              <a:spcAft>
                <a:spcPts val="133"/>
              </a:spcAft>
            </a:pPr>
            <a:r>
              <a:rPr sz="800" lang="zh-TW" dirty="0">
                <a:solidFill>
                  <a:srgbClr val="000000"/>
                </a:solidFill>
                <a:latin typeface="Arial Unicode MS"/>
                <a:ea typeface="Arial Unicode MS"/>
                <a:cs typeface="Arial Unicode MS"/>
              </a:rPr>
              <a:t>再看 </a:t>
            </a:r>
            <a:r>
              <a:rPr sz="800" b="1" lang="zh-TW" dirty="0">
                <a:solidFill>
                  <a:srgbClr val="000000"/>
                </a:solidFill>
                <a:latin typeface="Arial Unicode MS"/>
                <a:ea typeface="Arial Unicode MS"/>
                <a:cs typeface="Arial Unicode MS"/>
              </a:rPr>
              <a:t>Working Frequency，表格印 40Hz</a:t>
            </a:r>
            <a:r>
              <a:rPr sz="800" lang="zh-TW" dirty="0">
                <a:solidFill>
                  <a:srgbClr val="000000"/>
                </a:solidFill>
                <a:latin typeface="Arial Unicode MS"/>
                <a:ea typeface="Arial Unicode MS"/>
                <a:cs typeface="Arial Unicode MS"/>
              </a:rPr>
              <a:t>。各位覺得合理嗎？四十赫茲是人耳聽得到的低音，像低音喇叭。往上看同一頁的內文，寫的是 </a:t>
            </a:r>
            <a:r>
              <a:rPr sz="800" b="1" lang="zh-TW" dirty="0">
                <a:solidFill>
                  <a:srgbClr val="000000"/>
                </a:solidFill>
                <a:latin typeface="Arial Unicode MS"/>
                <a:ea typeface="Arial Unicode MS"/>
                <a:cs typeface="Arial Unicode MS"/>
              </a:rPr>
              <a:t>eight 40 kHz</a:t>
            </a:r>
            <a:r>
              <a:rPr sz="800" lang="zh-TW" dirty="0">
                <a:solidFill>
                  <a:srgbClr val="000000"/>
                </a:solidFill>
                <a:latin typeface="Arial Unicode MS"/>
                <a:ea typeface="Arial Unicode MS"/>
                <a:cs typeface="Arial Unicode MS"/>
              </a:rPr>
              <a:t>，四十千赫。表格漏印了一個 k。這週的第二個誤植。規格表會印錯，一週遇到兩次，各位以後看表要有這個警覺。
</a:t>
            </a:r>
          </a:p>
          <a:p>
            <a:pPr algn="l">
              <a:spcBef>
                <a:spcPts val="0"/>
              </a:spcBef>
              <a:spcAft>
                <a:spcPts val="133"/>
              </a:spcAft>
            </a:pPr>
            <a:r>
              <a:rPr sz="800" lang="zh-TW" dirty="0">
                <a:solidFill>
                  <a:srgbClr val="000000"/>
                </a:solidFill>
                <a:latin typeface="Arial Unicode MS"/>
                <a:ea typeface="Arial Unicode MS"/>
                <a:cs typeface="Arial Unicode MS"/>
              </a:rPr>
              <a:t>這顆怎麼量距離，播底下那支影片看，</a:t>
            </a:r>
            <a:r>
              <a:rPr sz="800" b="1" lang="zh-TW" dirty="0">
                <a:solidFill>
                  <a:srgbClr val="000000"/>
                </a:solidFill>
                <a:latin typeface="Arial Unicode MS"/>
                <a:ea typeface="Arial Unicode MS"/>
                <a:cs typeface="Arial Unicode MS"/>
              </a:rPr>
              <a:t>播到 1:12 停</a:t>
            </a:r>
            <a:r>
              <a:rPr sz="800" lang="zh-TW" dirty="0">
                <a:solidFill>
                  <a:srgbClr val="000000"/>
                </a:solidFill>
                <a:latin typeface="Arial Unicode MS"/>
                <a:ea typeface="Arial Unicode MS"/>
                <a:cs typeface="Arial Unicode MS"/>
              </a:rPr>
              <a:t>，一分鐘。英文旁白，畫面是動畫，看圖就懂。播之前問一句：「它怎麼知道前面的東西多遠？」
</a:t>
            </a:r>
          </a:p>
          <a:p>
            <a:pPr algn="l">
              <a:spcBef>
                <a:spcPts val="0"/>
              </a:spcBef>
              <a:spcAft>
                <a:spcPts val="133"/>
              </a:spcAft>
            </a:pPr>
            <a:r>
              <a:rPr sz="800" lang="zh-TW" dirty="0">
                <a:solidFill>
                  <a:srgbClr val="000000"/>
                </a:solidFill>
                <a:latin typeface="Arial Unicode MS"/>
                <a:ea typeface="Arial Unicode MS"/>
                <a:cs typeface="Arial Unicode MS"/>
              </a:rPr>
              <a:t>影片一開始唸的就是左表的數字：兩公分到四百公分。</a:t>
            </a:r>
            <a:r>
              <a:rPr sz="800" b="1" lang="zh-TW" dirty="0">
                <a:solidFill>
                  <a:srgbClr val="000000"/>
                </a:solidFill>
                <a:latin typeface="Arial Unicode MS"/>
                <a:ea typeface="Arial Unicode MS"/>
                <a:cs typeface="Arial Unicode MS"/>
              </a:rPr>
              <a:t>0:26</a:t>
            </a:r>
            <a:r>
              <a:rPr sz="800" lang="zh-TW" dirty="0">
                <a:solidFill>
                  <a:srgbClr val="000000"/>
                </a:solidFill>
                <a:latin typeface="Arial Unicode MS"/>
                <a:ea typeface="Arial Unicode MS"/>
                <a:cs typeface="Arial Unicode MS"/>
              </a:rPr>
              <a:t> 它說發出去的聲音是 </a:t>
            </a:r>
            <a:r>
              <a:rPr sz="800" b="1" lang="zh-TW" dirty="0">
                <a:solidFill>
                  <a:srgbClr val="000000"/>
                </a:solidFill>
                <a:latin typeface="Arial Unicode MS"/>
                <a:ea typeface="Arial Unicode MS"/>
                <a:cs typeface="Arial Unicode MS"/>
              </a:rPr>
              <a:t>40 kilohertz</a:t>
            </a:r>
            <a:r>
              <a:rPr sz="800" lang="zh-TW" dirty="0">
                <a:solidFill>
                  <a:srgbClr val="000000"/>
                </a:solidFill>
                <a:latin typeface="Arial Unicode MS"/>
                <a:ea typeface="Arial Unicode MS"/>
                <a:cs typeface="Arial Unicode MS"/>
              </a:rPr>
              <a:t>，四十千赫，跟內文一樣，不是表格印的 40Hz。接著動畫：一個圓筒發出聲音，碰到東西彈回來，另一個圓筒收到。
</a:t>
            </a:r>
          </a:p>
          <a:p>
            <a:pPr algn="l">
              <a:spcBef>
                <a:spcPts val="0"/>
              </a:spcBef>
              <a:spcAft>
                <a:spcPts val="133"/>
              </a:spcAft>
            </a:pPr>
            <a:r>
              <a:rPr sz="800" b="1" lang="zh-TW" dirty="0">
                <a:solidFill>
                  <a:srgbClr val="000000"/>
                </a:solidFill>
                <a:latin typeface="Arial Unicode MS"/>
                <a:ea typeface="Arial Unicode MS"/>
                <a:cs typeface="Arial Unicode MS"/>
              </a:rPr>
              <a:t>1:01</a:t>
            </a:r>
            <a:r>
              <a:rPr sz="800" lang="zh-TW" dirty="0">
                <a:solidFill>
                  <a:srgbClr val="000000"/>
                </a:solidFill>
                <a:latin typeface="Arial Unicode MS"/>
                <a:ea typeface="Arial Unicode MS"/>
                <a:cs typeface="Arial Unicode MS"/>
              </a:rPr>
              <a:t> 出現公式：距離等於時間乘聲速，再</a:t>
            </a:r>
            <a:r>
              <a:rPr sz="800" b="1" lang="zh-TW" dirty="0">
                <a:solidFill>
                  <a:srgbClr val="000000"/>
                </a:solidFill>
                <a:latin typeface="Arial Unicode MS"/>
                <a:ea typeface="Arial Unicode MS"/>
                <a:cs typeface="Arial Unicode MS"/>
              </a:rPr>
              <a:t>除以二</a:t>
            </a:r>
            <a:r>
              <a:rPr sz="800" lang="zh-TW" dirty="0">
                <a:solidFill>
                  <a:srgbClr val="000000"/>
                </a:solidFill>
                <a:latin typeface="Arial Unicode MS"/>
                <a:ea typeface="Arial Unicode MS"/>
                <a:cs typeface="Arial Unicode MS"/>
              </a:rPr>
              <a:t>。問學生為什麼要除以二？因為聲音去一趟、回來一趟，走了兩倍的路。這個除以二，下一張馬上要用。1:12 以後講接腳和觸發訊號，是給做 Arduino 的人看的，可以不播。
</a:t>
            </a:r>
          </a:p>
          <a:p>
            <a:pPr algn="l">
              <a:spcBef>
                <a:spcPts val="0"/>
              </a:spcBef>
              <a:spcAft>
                <a:spcPts val="133"/>
              </a:spcAft>
            </a:pPr>
            <a:r>
              <a:rPr sz="800" b="1" lang="zh-TW" dirty="0">
                <a:solidFill>
                  <a:srgbClr val="000000"/>
                </a:solidFill>
                <a:latin typeface="Arial Unicode MS"/>
                <a:ea typeface="Arial Unicode MS"/>
                <a:cs typeface="Arial Unicode MS"/>
              </a:rPr>
              <a:t>右邊：Bosch 的 6.5 版最遠 5.5 公尺，最近 15 公分，頻率 43 到 60 千赫。</a:t>
            </a:r>
            <a:r>
              <a:rPr sz="800" lang="zh-TW" dirty="0">
                <a:solidFill>
                  <a:srgbClr val="000000"/>
                </a:solidFill>
                <a:latin typeface="Arial Unicode MS"/>
                <a:ea typeface="Arial Unicode MS"/>
                <a:cs typeface="Arial Unicode MS"/>
              </a:rPr>
              <a:t>數字跟左邊差不多，再遠也遠不到哪裡去——這是聲音的物理，下一張講。
</a:t>
            </a:r>
          </a:p>
          <a:p>
            <a:pPr algn="l">
              <a:spcBef>
                <a:spcPts val="0"/>
              </a:spcBef>
              <a:spcAft>
                <a:spcPts val="133"/>
              </a:spcAft>
            </a:pPr>
            <a:r>
              <a:rPr sz="800" lang="zh-TW" dirty="0">
                <a:solidFill>
                  <a:srgbClr val="000000"/>
                </a:solidFill>
                <a:latin typeface="Arial Unicode MS"/>
                <a:ea typeface="Arial Unicode MS"/>
                <a:cs typeface="Arial Unicode MS"/>
              </a:rPr>
              <a:t>那車用的貴在哪？看右表下面那幾行。
</a:t>
            </a:r>
          </a:p>
          <a:p>
            <a:pPr algn="l">
              <a:spcBef>
                <a:spcPts val="0"/>
              </a:spcBef>
              <a:spcAft>
                <a:spcPts val="133"/>
              </a:spcAft>
            </a:pPr>
            <a:r>
              <a:rPr sz="800" b="1" lang="zh-TW" dirty="0">
                <a:solidFill>
                  <a:srgbClr val="000000"/>
                </a:solidFill>
                <a:latin typeface="Arial Unicode MS"/>
                <a:ea typeface="Arial Unicode MS"/>
                <a:cs typeface="Arial Unicode MS"/>
              </a:rPr>
              <a:t>Blindness detection，遮蔽偵測。</a:t>
            </a:r>
            <a:r>
              <a:rPr sz="800" lang="zh-TW" dirty="0">
                <a:solidFill>
                  <a:srgbClr val="000000"/>
                </a:solidFill>
                <a:latin typeface="Arial Unicode MS"/>
                <a:ea typeface="Arial Unicode MS"/>
                <a:cs typeface="Arial Unicode MS"/>
              </a:rPr>
              <a:t>探頭被泥巴、冰、雪蓋住的時候，它自己發現「我現在聽不清楚了」，回報給車上的電腦。車子接著做兩件事。第一，</a:t>
            </a:r>
            <a:r>
              <a:rPr sz="800" b="1" lang="zh-TW" dirty="0">
                <a:solidFill>
                  <a:srgbClr val="000000"/>
                </a:solidFill>
                <a:latin typeface="Arial Unicode MS"/>
                <a:ea typeface="Arial Unicode MS"/>
                <a:cs typeface="Arial Unicode MS"/>
              </a:rPr>
              <a:t>儀表板跳警告</a:t>
            </a:r>
            <a:r>
              <a:rPr sz="800" lang="zh-TW" dirty="0">
                <a:solidFill>
                  <a:srgbClr val="000000"/>
                </a:solidFill>
                <a:latin typeface="Arial Unicode MS"/>
                <a:ea typeface="Arial Unicode MS"/>
                <a:cs typeface="Arial Unicode MS"/>
              </a:rPr>
              <a:t>，告訴駕駛哪一顆被蓋住、請擦乾淨。例如 Lexus 的車主手冊寫的是「停車輔助無法使用，感測器被遮蔽」，畫面上還會標出是哪一顆。第二，</a:t>
            </a:r>
            <a:r>
              <a:rPr sz="800" b="1" lang="zh-TW" dirty="0">
                <a:solidFill>
                  <a:srgbClr val="000000"/>
                </a:solidFill>
                <a:latin typeface="Arial Unicode MS"/>
                <a:ea typeface="Arial Unicode MS"/>
                <a:cs typeface="Arial Unicode MS"/>
              </a:rPr>
              <a:t>停車輔助暫停</a:t>
            </a:r>
            <a:r>
              <a:rPr sz="800" lang="zh-TW" dirty="0">
                <a:solidFill>
                  <a:srgbClr val="000000"/>
                </a:solidFill>
                <a:latin typeface="Arial Unicode MS"/>
                <a:ea typeface="Arial Unicode MS"/>
                <a:cs typeface="Arial Unicode MS"/>
              </a:rPr>
              <a:t>，不再假裝它在幫你看。駕駛就知道：現在要自己回頭看。
</a:t>
            </a:r>
          </a:p>
          <a:p>
            <a:pPr algn="l">
              <a:spcBef>
                <a:spcPts val="0"/>
              </a:spcBef>
              <a:spcAft>
                <a:spcPts val="133"/>
              </a:spcAft>
            </a:pPr>
            <a:r>
              <a:rPr sz="800" lang="zh-TW" dirty="0">
                <a:solidFill>
                  <a:srgbClr val="000000"/>
                </a:solidFill>
                <a:latin typeface="Arial Unicode MS"/>
                <a:ea typeface="Arial Unicode MS"/>
                <a:cs typeface="Arial Unicode MS"/>
              </a:rPr>
              <a:t>左邊那顆沒有這個功能。被蓋住了，它收不到回音，就照常回報「前面沒東西」，也不會有任何警告。駕駛以為後面是空的，倒車就撞上去了。像一個人耳朵被摀住了，卻以為四周很安靜。
</a:t>
            </a:r>
          </a:p>
          <a:p>
            <a:pPr algn="l">
              <a:spcBef>
                <a:spcPts val="0"/>
              </a:spcBef>
              <a:spcAft>
                <a:spcPts val="133"/>
              </a:spcAft>
            </a:pPr>
            <a:r>
              <a:rPr sz="800" lang="zh-TW" dirty="0">
                <a:solidFill>
                  <a:srgbClr val="000000"/>
                </a:solidFill>
                <a:latin typeface="Arial Unicode MS"/>
                <a:ea typeface="Arial Unicode MS"/>
                <a:cs typeface="Arial Unicode MS"/>
              </a:rPr>
              <a:t>所以這一行的差別不是量得比較準，是</a:t>
            </a:r>
            <a:r>
              <a:rPr sz="800" b="1" lang="zh-TW" dirty="0">
                <a:solidFill>
                  <a:srgbClr val="000000"/>
                </a:solidFill>
                <a:latin typeface="Arial Unicode MS"/>
                <a:ea typeface="Arial Unicode MS"/>
                <a:cs typeface="Arial Unicode MS"/>
              </a:rPr>
              <a:t>看不到的時候，會不會說自己看不到</a:t>
            </a:r>
            <a:r>
              <a:rPr sz="800" lang="zh-TW" dirty="0">
                <a:solidFill>
                  <a:srgbClr val="000000"/>
                </a:solidFill>
                <a:latin typeface="Arial Unicode MS"/>
                <a:ea typeface="Arial Unicode MS"/>
                <a:cs typeface="Arial Unicode MS"/>
              </a:rPr>
              <a:t>。
</a:t>
            </a:r>
          </a:p>
          <a:p>
            <a:pPr algn="l">
              <a:spcBef>
                <a:spcPts val="0"/>
              </a:spcBef>
              <a:spcAft>
                <a:spcPts val="133"/>
              </a:spcAft>
            </a:pPr>
            <a:r>
              <a:rPr sz="800" b="1" lang="zh-TW" dirty="0">
                <a:solidFill>
                  <a:srgbClr val="000000"/>
                </a:solidFill>
                <a:latin typeface="Arial Unicode MS"/>
                <a:ea typeface="Arial Unicode MS"/>
                <a:cs typeface="Arial Unicode MS"/>
              </a:rPr>
              <a:t>Signal coding，訊號編碼</a:t>
            </a:r>
            <a:r>
              <a:rPr sz="800" lang="zh-TW" dirty="0">
                <a:solidFill>
                  <a:srgbClr val="000000"/>
                </a:solidFill>
                <a:latin typeface="Arial Unicode MS"/>
                <a:ea typeface="Arial Unicode MS"/>
                <a:cs typeface="Arial Unicode MS"/>
              </a:rPr>
              <a:t>：車頭裝六顆，每一顆發的聲音有自己的記號，收到回波知道是不是自己發的；左邊那顆分不出來，隔壁那顆的回音它也當成自己的。想像六個人在山谷裡同時喊「喂」，誰也分不出哪一個回音是自己的；如果每個人喊自己的名字，就認得出來。</a:t>
            </a:r>
            <a:r>
              <a:rPr sz="800" b="1" lang="zh-TW" dirty="0">
                <a:solidFill>
                  <a:srgbClr val="000000"/>
                </a:solidFill>
                <a:latin typeface="Arial Unicode MS"/>
                <a:ea typeface="Arial Unicode MS"/>
                <a:cs typeface="Arial Unicode MS"/>
              </a:rPr>
              <a:t>ASIL B</a:t>
            </a:r>
            <a:r>
              <a:rPr sz="800" lang="zh-TW" dirty="0">
                <a:solidFill>
                  <a:srgbClr val="000000"/>
                </a:solidFill>
                <a:latin typeface="Arial Unicode MS"/>
                <a:ea typeface="Arial Unicode MS"/>
                <a:cs typeface="Arial Unicode MS"/>
              </a:rPr>
              <a:t>，功能安全等級；</a:t>
            </a:r>
            <a:r>
              <a:rPr sz="800" b="1" lang="zh-TW" dirty="0">
                <a:solidFill>
                  <a:srgbClr val="000000"/>
                </a:solidFill>
                <a:latin typeface="Arial Unicode MS"/>
                <a:ea typeface="Arial Unicode MS"/>
                <a:cs typeface="Arial Unicode MS"/>
              </a:rPr>
              <a:t>Fusional capability</a:t>
            </a:r>
            <a:r>
              <a:rPr sz="800" lang="zh-TW" dirty="0">
                <a:solidFill>
                  <a:srgbClr val="000000"/>
                </a:solidFill>
                <a:latin typeface="Arial Unicode MS"/>
                <a:ea typeface="Arial Unicode MS"/>
                <a:cs typeface="Arial Unicode MS"/>
              </a:rPr>
              <a:t>，能和相機雷達融合。
</a:t>
            </a:r>
          </a:p>
          <a:p>
            <a:pPr algn="l">
              <a:spcBef>
                <a:spcPts val="0"/>
              </a:spcBef>
              <a:spcAft>
                <a:spcPts val="133"/>
              </a:spcAft>
            </a:pPr>
            <a:r>
              <a:rPr sz="800" lang="zh-TW" dirty="0">
                <a:solidFill>
                  <a:srgbClr val="000000"/>
                </a:solidFill>
                <a:latin typeface="Arial Unicode MS"/>
                <a:ea typeface="Arial Unicode MS"/>
                <a:cs typeface="Arial Unicode MS"/>
              </a:rPr>
              <a:t>還有一行要注意：右表下面的註腳寫 </a:t>
            </a:r>
            <a:r>
              <a:rPr sz="800" b="1" lang="zh-TW" dirty="0">
                <a:solidFill>
                  <a:srgbClr val="000000"/>
                </a:solidFill>
                <a:latin typeface="Arial Unicode MS"/>
                <a:ea typeface="Arial Unicode MS"/>
                <a:cs typeface="Arial Unicode MS"/>
              </a:rPr>
              <a:t>reference object: 75 mm standard pole</a:t>
            </a:r>
            <a:r>
              <a:rPr sz="800" lang="zh-TW" dirty="0">
                <a:solidFill>
                  <a:srgbClr val="000000"/>
                </a:solidFill>
                <a:latin typeface="Arial Unicode MS"/>
                <a:ea typeface="Arial Unicode MS"/>
                <a:cs typeface="Arial Unicode MS"/>
              </a:rPr>
              <a:t>，5.5 公尺是對一根七十五公釐粗的桿子量的。跟上週光達的 10% 反射率一樣，測距後面永遠綁著「對什麼量的」。
</a:t>
            </a:r>
          </a:p>
          <a:p>
            <a:pPr algn="l">
              <a:spcBef>
                <a:spcPts val="0"/>
              </a:spcBef>
              <a:spcAft>
                <a:spcPts val="133"/>
              </a:spcAft>
            </a:pPr>
            <a:r>
              <a:rPr sz="800" lang="zh-TW" dirty="0">
                <a:solidFill>
                  <a:srgbClr val="000000"/>
                </a:solidFill>
                <a:latin typeface="Arial Unicode MS"/>
                <a:ea typeface="Arial Unicode MS"/>
                <a:cs typeface="Arial Unicode MS"/>
              </a:rPr>
              <a:t>最後，右表上</a:t>
            </a:r>
            <a:r>
              <a:rPr sz="800" b="1" lang="zh-TW" dirty="0">
                <a:solidFill>
                  <a:srgbClr val="000000"/>
                </a:solidFill>
                <a:latin typeface="Arial Unicode MS"/>
                <a:ea typeface="Arial Unicode MS"/>
                <a:cs typeface="Arial Unicode MS"/>
              </a:rPr>
              <a:t>沒有波束角</a:t>
            </a:r>
            <a:r>
              <a:rPr sz="800" lang="zh-TW" dirty="0">
                <a:solidFill>
                  <a:srgbClr val="000000"/>
                </a:solidFill>
                <a:latin typeface="Arial Unicode MS"/>
                <a:ea typeface="Arial Unicode MS"/>
                <a:cs typeface="Arial Unicode MS"/>
              </a:rPr>
              <a:t>。等一下判讀題會問，答案是「規格表上沒有這一行」。</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3</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50"/>
              </a:spcAft>
            </a:pPr>
            <a:r>
              <a:rPr sz="900" lang="zh-TW" dirty="0">
                <a:solidFill>
                  <a:srgbClr val="000000"/>
                </a:solidFill>
                <a:latin typeface="Arial Unicode MS"/>
                <a:ea typeface="Arial Unicode MS"/>
                <a:cs typeface="Arial Unicode MS"/>
              </a:rPr>
              <a:t>為什麼超音波只能看幾公尺？因為</a:t>
            </a:r>
            <a:r>
              <a:rPr sz="900" b="1" lang="zh-TW" dirty="0">
                <a:solidFill>
                  <a:srgbClr val="000000"/>
                </a:solidFill>
                <a:latin typeface="Arial Unicode MS"/>
                <a:ea typeface="Arial Unicode MS"/>
                <a:cs typeface="Arial Unicode MS"/>
              </a:rPr>
              <a:t>聲音慢</a:t>
            </a:r>
            <a:r>
              <a:rPr sz="900" lang="zh-TW" dirty="0">
                <a:solidFill>
                  <a:srgbClr val="000000"/>
                </a:solidFill>
                <a:latin typeface="Arial Unicode MS"/>
                <a:ea typeface="Arial Unicode MS"/>
                <a:cs typeface="Arial Unicode MS"/>
              </a:rPr>
              <a:t>。
</a:t>
            </a:r>
          </a:p>
          <a:p>
            <a:pPr algn="l">
              <a:spcBef>
                <a:spcPts val="0"/>
              </a:spcBef>
              <a:spcAft>
                <a:spcPts val="150"/>
              </a:spcAft>
            </a:pPr>
            <a:r>
              <a:rPr sz="900" lang="zh-TW" dirty="0">
                <a:solidFill>
                  <a:srgbClr val="000000"/>
                </a:solidFill>
                <a:latin typeface="Arial Unicode MS"/>
                <a:ea typeface="Arial Unicode MS"/>
                <a:cs typeface="Arial Unicode MS"/>
              </a:rPr>
              <a:t>打雷的時候，先看到閃電，過幾秒才聽到雷聲。光一秒鐘走三十萬公里，幾乎不用時間；聲音一秒鐘只走</a:t>
            </a:r>
            <a:r>
              <a:rPr sz="900" b="1" lang="zh-TW" dirty="0">
                <a:solidFill>
                  <a:srgbClr val="000000"/>
                </a:solidFill>
                <a:latin typeface="Arial Unicode MS"/>
                <a:ea typeface="Arial Unicode MS"/>
                <a:cs typeface="Arial Unicode MS"/>
              </a:rPr>
              <a:t>三百四十公尺</a:t>
            </a:r>
            <a:r>
              <a:rPr sz="900" lang="zh-TW" dirty="0">
                <a:solidFill>
                  <a:srgbClr val="000000"/>
                </a:solidFill>
                <a:latin typeface="Arial Unicode MS"/>
                <a:ea typeface="Arial Unicode MS"/>
                <a:cs typeface="Arial Unicode MS"/>
              </a:rPr>
              <a:t>。五點五公尺的來回是十一公尺，除以三百四十，等於</a:t>
            </a:r>
            <a:r>
              <a:rPr sz="900" b="1" lang="zh-TW" dirty="0">
                <a:solidFill>
                  <a:srgbClr val="000000"/>
                </a:solidFill>
                <a:latin typeface="Arial Unicode MS"/>
                <a:ea typeface="Arial Unicode MS"/>
                <a:cs typeface="Arial Unicode MS"/>
              </a:rPr>
              <a:t>三十二毫秒</a:t>
            </a:r>
            <a:r>
              <a:rPr sz="900" lang="zh-TW" dirty="0">
                <a:solidFill>
                  <a:srgbClr val="000000"/>
                </a:solidFill>
                <a:latin typeface="Arial Unicode MS"/>
                <a:ea typeface="Arial Unicode MS"/>
                <a:cs typeface="Arial Unicode MS"/>
              </a:rPr>
              <a:t>。光達打到一百公尺外再回來，只要零點七微秒。差了幾萬倍。
</a:t>
            </a:r>
          </a:p>
          <a:p>
            <a:pPr algn="l">
              <a:spcBef>
                <a:spcPts val="0"/>
              </a:spcBef>
              <a:spcAft>
                <a:spcPts val="150"/>
              </a:spcAft>
            </a:pPr>
            <a:r>
              <a:rPr sz="900" lang="zh-TW" dirty="0">
                <a:solidFill>
                  <a:srgbClr val="000000"/>
                </a:solidFill>
                <a:latin typeface="Arial Unicode MS"/>
                <a:ea typeface="Arial Unicode MS"/>
                <a:cs typeface="Arial Unicode MS"/>
              </a:rPr>
              <a:t>慢有兩個後果。第一，不能看太遠，不然等回音等太久，下一聲又發出去了，兩聲混在一起。第二，每一次量測都要三十幾毫秒，HC-SR04 的文件建議每六十毫秒量一次。
</a:t>
            </a:r>
          </a:p>
          <a:p>
            <a:pPr algn="l">
              <a:spcBef>
                <a:spcPts val="0"/>
              </a:spcBef>
              <a:spcAft>
                <a:spcPts val="150"/>
              </a:spcAft>
            </a:pPr>
            <a:r>
              <a:rPr sz="900" lang="zh-TW" dirty="0">
                <a:solidFill>
                  <a:srgbClr val="000000"/>
                </a:solidFill>
                <a:latin typeface="Arial Unicode MS"/>
                <a:ea typeface="Arial Unicode MS"/>
                <a:cs typeface="Arial Unicode MS"/>
              </a:rPr>
              <a:t>再加上車速。時速二十，煞停距離四點二公尺，加五公尺餘裕，要看到九點二公尺。超音波最遠五點五，</a:t>
            </a:r>
            <a:r>
              <a:rPr sz="900" b="1" lang="zh-TW" dirty="0">
                <a:solidFill>
                  <a:srgbClr val="000000"/>
                </a:solidFill>
                <a:latin typeface="Arial Unicode MS"/>
                <a:ea typeface="Arial Unicode MS"/>
                <a:cs typeface="Arial Unicode MS"/>
              </a:rPr>
              <a:t>不夠</a:t>
            </a:r>
            <a:r>
              <a:rPr sz="900" lang="zh-TW" dirty="0">
                <a:solidFill>
                  <a:srgbClr val="000000"/>
                </a:solidFill>
                <a:latin typeface="Arial Unicode MS"/>
                <a:ea typeface="Arial Unicode MS"/>
                <a:cs typeface="Arial Unicode MS"/>
              </a:rPr>
              <a:t>。時速二十就不夠了，更不用說四十、一百。所以它在校園、河內、國道三個情境全部是紅的。
</a:t>
            </a:r>
          </a:p>
          <a:p>
            <a:pPr algn="l">
              <a:spcBef>
                <a:spcPts val="0"/>
              </a:spcBef>
              <a:spcAft>
                <a:spcPts val="150"/>
              </a:spcAft>
            </a:pPr>
            <a:r>
              <a:rPr sz="900" lang="zh-TW" dirty="0">
                <a:solidFill>
                  <a:srgbClr val="000000"/>
                </a:solidFill>
                <a:latin typeface="Arial Unicode MS"/>
                <a:ea typeface="Arial Unicode MS"/>
                <a:cs typeface="Arial Unicode MS"/>
              </a:rPr>
              <a:t>那它什麼時候過關？</a:t>
            </a:r>
            <a:r>
              <a:rPr sz="900" b="1" lang="zh-TW" dirty="0">
                <a:solidFill>
                  <a:srgbClr val="000000"/>
                </a:solidFill>
                <a:latin typeface="Arial Unicode MS"/>
                <a:ea typeface="Arial Unicode MS"/>
                <a:cs typeface="Arial Unicode MS"/>
              </a:rPr>
              <a:t>停車場</a:t>
            </a:r>
            <a:r>
              <a:rPr sz="900" lang="zh-TW" dirty="0">
                <a:solidFill>
                  <a:srgbClr val="000000"/>
                </a:solidFill>
                <a:latin typeface="Arial Unicode MS"/>
                <a:ea typeface="Arial Unicode MS"/>
                <a:cs typeface="Arial Unicode MS"/>
              </a:rPr>
              <a:t>。時速五，煞停零點四公尺；本課在這個情境把餘裕改成零點五公尺，不然時速五還要留五公尺餘裕，什麼感測器都不用做了。門檻兩公尺，兩顆都過。
</a:t>
            </a:r>
          </a:p>
          <a:p>
            <a:pPr algn="l">
              <a:spcBef>
                <a:spcPts val="0"/>
              </a:spcBef>
              <a:spcAft>
                <a:spcPts val="150"/>
              </a:spcAft>
            </a:pPr>
            <a:r>
              <a:rPr sz="900" lang="zh-TW" dirty="0">
                <a:solidFill>
                  <a:srgbClr val="000000"/>
                </a:solidFill>
                <a:latin typeface="Arial Unicode MS"/>
                <a:ea typeface="Arial Unicode MS"/>
                <a:cs typeface="Arial Unicode MS"/>
              </a:rPr>
              <a:t>所以超音波只做一件事：</a:t>
            </a:r>
            <a:r>
              <a:rPr sz="900" b="1" lang="zh-TW" dirty="0">
                <a:solidFill>
                  <a:srgbClr val="000000"/>
                </a:solidFill>
                <a:latin typeface="Arial Unicode MS"/>
                <a:ea typeface="Arial Unicode MS"/>
                <a:cs typeface="Arial Unicode MS"/>
              </a:rPr>
              <a:t>停車、倒車、低速補盲</a:t>
            </a:r>
            <a:r>
              <a:rPr sz="900" lang="zh-TW" dirty="0">
                <a:solidFill>
                  <a:srgbClr val="000000"/>
                </a:solidFill>
                <a:latin typeface="Arial Unicode MS"/>
                <a:ea typeface="Arial Unicode MS"/>
                <a:cs typeface="Arial Unicode MS"/>
              </a:rPr>
              <a:t>。它是車上最便宜的一顆，一顆幾美元，也是唯一一顆看得到保險桿前面二十公分的。順便講一件事：二〇二二年有一家車廠宣布把超音波從新車上拿掉，改用相機做停車——到今天業界還在吵這樣對不對。
</a:t>
            </a:r>
          </a:p>
          <a:p>
            <a:pPr algn="l">
              <a:spcBef>
                <a:spcPts val="0"/>
              </a:spcBef>
              <a:spcAft>
                <a:spcPts val="150"/>
              </a:spcAft>
            </a:pPr>
            <a:r>
              <a:rPr sz="900" lang="zh-TW" dirty="0">
                <a:solidFill>
                  <a:srgbClr val="000000"/>
                </a:solidFill>
                <a:latin typeface="Arial Unicode MS"/>
                <a:ea typeface="Arial Unicode MS"/>
                <a:cs typeface="Arial Unicode MS"/>
              </a:rPr>
              <a:t>最後看實際的車。底下那支影片是台北一家 Toyota 經銷商的業務在介紹倒車雷達，中文。</a:t>
            </a:r>
            <a:r>
              <a:rPr sz="900" b="1" lang="zh-TW" dirty="0">
                <a:solidFill>
                  <a:srgbClr val="000000"/>
                </a:solidFill>
                <a:latin typeface="Arial Unicode MS"/>
                <a:ea typeface="Arial Unicode MS"/>
                <a:cs typeface="Arial Unicode MS"/>
              </a:rPr>
              <a:t>從 2:00 播到 3:07</a:t>
            </a:r>
            <a:r>
              <a:rPr sz="900" lang="zh-TW" dirty="0">
                <a:solidFill>
                  <a:srgbClr val="000000"/>
                </a:solidFill>
                <a:latin typeface="Arial Unicode MS"/>
                <a:ea typeface="Arial Unicode MS"/>
                <a:cs typeface="Arial Unicode MS"/>
              </a:rPr>
              <a:t>，一分鐘。播之前問：「嗶聲越來越急，代表什麼？」
</a:t>
            </a:r>
          </a:p>
          <a:p>
            <a:pPr algn="l">
              <a:spcBef>
                <a:spcPts val="0"/>
              </a:spcBef>
              <a:spcAft>
                <a:spcPts val="150"/>
              </a:spcAft>
            </a:pPr>
            <a:r>
              <a:rPr sz="900" b="1" lang="zh-TW" dirty="0">
                <a:solidFill>
                  <a:srgbClr val="000000"/>
                </a:solidFill>
                <a:latin typeface="Arial Unicode MS"/>
                <a:ea typeface="Arial Unicode MS"/>
                <a:cs typeface="Arial Unicode MS"/>
              </a:rPr>
              <a:t>2:03 他說「平面用電波式的感應」，這句不對</a:t>
            </a:r>
            <a:r>
              <a:rPr sz="900" lang="zh-TW" dirty="0">
                <a:solidFill>
                  <a:srgbClr val="000000"/>
                </a:solidFill>
                <a:latin typeface="Arial Unicode MS"/>
                <a:ea typeface="Arial Unicode MS"/>
                <a:cs typeface="Arial Unicode MS"/>
              </a:rPr>
              <a:t>，請學生抓出來。倒車雷達發的是</a:t>
            </a:r>
            <a:r>
              <a:rPr sz="900" b="1" lang="zh-TW" dirty="0">
                <a:solidFill>
                  <a:srgbClr val="000000"/>
                </a:solidFill>
                <a:latin typeface="Arial Unicode MS"/>
                <a:ea typeface="Arial Unicode MS"/>
                <a:cs typeface="Arial Unicode MS"/>
              </a:rPr>
              <a:t>超音波，是聲音</a:t>
            </a:r>
            <a:r>
              <a:rPr sz="900" lang="zh-TW" dirty="0">
                <a:solidFill>
                  <a:srgbClr val="000000"/>
                </a:solidFill>
                <a:latin typeface="Arial Unicode MS"/>
                <a:ea typeface="Arial Unicode MS"/>
                <a:cs typeface="Arial Unicode MS"/>
              </a:rPr>
              <a:t>，不是電波。如果是電波，就跟第一節的雷達一樣一秒走三十萬公里了。就是因為用聲音，才慢、才只看得到這麼近，剛好接回這一張。
</a:t>
            </a:r>
          </a:p>
          <a:p>
            <a:pPr algn="l">
              <a:spcBef>
                <a:spcPts val="0"/>
              </a:spcBef>
              <a:spcAft>
                <a:spcPts val="150"/>
              </a:spcAft>
            </a:pPr>
            <a:r>
              <a:rPr sz="900" lang="zh-TW" dirty="0">
                <a:solidFill>
                  <a:srgbClr val="000000"/>
                </a:solidFill>
                <a:latin typeface="Arial Unicode MS"/>
                <a:ea typeface="Arial Unicode MS"/>
                <a:cs typeface="Arial Unicode MS"/>
              </a:rPr>
              <a:t>接著他講偵測範圍：水平一百二十度、垂直五十度。然後是三段聲音：</a:t>
            </a:r>
            <a:r>
              <a:rPr sz="900" b="1" lang="zh-TW" dirty="0">
                <a:solidFill>
                  <a:srgbClr val="000000"/>
                </a:solidFill>
                <a:latin typeface="Arial Unicode MS"/>
                <a:ea typeface="Arial Unicode MS"/>
                <a:cs typeface="Arial Unicode MS"/>
              </a:rPr>
              <a:t>綠色</a:t>
            </a:r>
            <a:r>
              <a:rPr sz="900" lang="zh-TW" dirty="0">
                <a:solidFill>
                  <a:srgbClr val="000000"/>
                </a:solidFill>
                <a:latin typeface="Arial Unicode MS"/>
                <a:ea typeface="Arial Unicode MS"/>
                <a:cs typeface="Arial Unicode MS"/>
              </a:rPr>
              <a:t>，嗶、嗶、嗶的短聲，障礙物在一百二十到六十公分；</a:t>
            </a:r>
            <a:r>
              <a:rPr sz="900" b="1" lang="zh-TW" dirty="0">
                <a:solidFill>
                  <a:srgbClr val="000000"/>
                </a:solidFill>
                <a:latin typeface="Arial Unicode MS"/>
                <a:ea typeface="Arial Unicode MS"/>
                <a:cs typeface="Arial Unicode MS"/>
              </a:rPr>
              <a:t>黃色</a:t>
            </a:r>
            <a:r>
              <a:rPr sz="900" lang="zh-TW" dirty="0">
                <a:solidFill>
                  <a:srgbClr val="000000"/>
                </a:solidFill>
                <a:latin typeface="Arial Unicode MS"/>
                <a:ea typeface="Arial Unicode MS"/>
                <a:cs typeface="Arial Unicode MS"/>
              </a:rPr>
              <a:t>，嗶聲變急，六十到四十公分；</a:t>
            </a:r>
            <a:r>
              <a:rPr sz="900" b="1" lang="zh-TW" dirty="0">
                <a:solidFill>
                  <a:srgbClr val="000000"/>
                </a:solidFill>
                <a:latin typeface="Arial Unicode MS"/>
                <a:ea typeface="Arial Unicode MS"/>
                <a:cs typeface="Arial Unicode MS"/>
              </a:rPr>
              <a:t>紅色</a:t>
            </a:r>
            <a:r>
              <a:rPr sz="900" lang="zh-TW" dirty="0">
                <a:solidFill>
                  <a:srgbClr val="000000"/>
                </a:solidFill>
                <a:latin typeface="Arial Unicode MS"/>
                <a:ea typeface="Arial Unicode MS"/>
                <a:cs typeface="Arial Unicode MS"/>
              </a:rPr>
              <a:t>，長音不停，四十公分以內，要馬上踩煞車。請學生注意這些距離：最遠一百二十公分，比規格表的五點五公尺短很多。停車需要的就是這個距離。
</a:t>
            </a:r>
          </a:p>
          <a:p>
            <a:pPr algn="l">
              <a:spcBef>
                <a:spcPts val="0"/>
              </a:spcBef>
              <a:spcAft>
                <a:spcPts val="150"/>
              </a:spcAft>
            </a:pPr>
            <a:r>
              <a:rPr sz="900" lang="zh-TW" dirty="0">
                <a:solidFill>
                  <a:srgbClr val="000000"/>
                </a:solidFill>
                <a:latin typeface="Arial Unicode MS"/>
                <a:ea typeface="Arial Unicode MS"/>
                <a:cs typeface="Arial Unicode MS"/>
              </a:rPr>
              <a:t>有時間可以從頭播。前兩分鐘他拿三代探頭比大小：二十年前外掛式、四公分；十年前要在保險桿上鑽洞、二點五公分；現在一點五公分。</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4</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第二段，衛星定位。
</a:t>
            </a:r>
          </a:p>
          <a:p>
            <a:pPr algn="l">
              <a:spcBef>
                <a:spcPts val="0"/>
              </a:spcBef>
              <a:spcAft>
                <a:spcPts val="200"/>
              </a:spcAft>
            </a:pPr>
            <a:r>
              <a:rPr sz="1200" lang="zh-TW" dirty="0">
                <a:solidFill>
                  <a:srgbClr val="000000"/>
                </a:solidFill>
                <a:latin typeface="Arial Unicode MS"/>
                <a:ea typeface="Arial Unicode MS"/>
                <a:cs typeface="Arial Unicode MS"/>
              </a:rPr>
              <a:t>前面講的每一種感測器，給的都是</a:t>
            </a:r>
            <a:r>
              <a:rPr sz="1200" b="1" lang="zh-TW" dirty="0">
                <a:solidFill>
                  <a:srgbClr val="000000"/>
                </a:solidFill>
                <a:latin typeface="Arial Unicode MS"/>
                <a:ea typeface="Arial Unicode MS"/>
                <a:cs typeface="Arial Unicode MS"/>
              </a:rPr>
              <a:t>相對</a:t>
            </a:r>
            <a:r>
              <a:rPr sz="1200" lang="zh-TW" dirty="0">
                <a:solidFill>
                  <a:srgbClr val="000000"/>
                </a:solidFill>
                <a:latin typeface="Arial Unicode MS"/>
                <a:ea typeface="Arial Unicode MS"/>
                <a:cs typeface="Arial Unicode MS"/>
              </a:rPr>
              <a:t>的東西：前面三十公尺有一台車。衛星定位給的是</a:t>
            </a:r>
            <a:r>
              <a:rPr sz="1200" b="1" lang="zh-TW" dirty="0">
                <a:solidFill>
                  <a:srgbClr val="000000"/>
                </a:solidFill>
                <a:latin typeface="Arial Unicode MS"/>
                <a:ea typeface="Arial Unicode MS"/>
                <a:cs typeface="Arial Unicode MS"/>
              </a:rPr>
              <a:t>絕對</a:t>
            </a:r>
            <a:r>
              <a:rPr sz="1200" lang="zh-TW" dirty="0">
                <a:solidFill>
                  <a:srgbClr val="000000"/>
                </a:solidFill>
                <a:latin typeface="Arial Unicode MS"/>
                <a:ea typeface="Arial Unicode MS"/>
                <a:cs typeface="Arial Unicode MS"/>
              </a:rPr>
              <a:t>的東西：你在北緯幾度、東經幾度。這是地圖、路線、高精地圖全部的起點。
</a:t>
            </a:r>
          </a:p>
          <a:p>
            <a:pPr algn="l">
              <a:spcBef>
                <a:spcPts val="0"/>
              </a:spcBef>
              <a:spcAft>
                <a:spcPts val="200"/>
              </a:spcAft>
            </a:pPr>
            <a:r>
              <a:rPr sz="1200" lang="zh-TW" dirty="0">
                <a:solidFill>
                  <a:srgbClr val="000000"/>
                </a:solidFill>
                <a:latin typeface="Arial Unicode MS"/>
                <a:ea typeface="Arial Unicode MS"/>
                <a:cs typeface="Arial Unicode MS"/>
              </a:rPr>
              <a:t>各位打開手機地圖，那個藍色的點就是衛星定位算出來的。藍點外面那一圈淡淡的圓，是它在告訴你：我可能差這麼多。今天的規格表，講的就是這一圈有多大。
</a:t>
            </a:r>
          </a:p>
          <a:p>
            <a:pPr algn="l">
              <a:spcBef>
                <a:spcPts val="0"/>
              </a:spcBef>
              <a:spcAft>
                <a:spcPts val="200"/>
              </a:spcAft>
            </a:pPr>
            <a:r>
              <a:rPr sz="1200" lang="zh-TW" dirty="0">
                <a:solidFill>
                  <a:srgbClr val="000000"/>
                </a:solidFill>
                <a:latin typeface="Arial Unicode MS"/>
                <a:ea typeface="Arial Unicode MS"/>
                <a:cs typeface="Arial Unicode MS"/>
              </a:rPr>
              <a:t>先講一下名字。各位常說 GPS，GPS 是美國那一套。俄羅斯有 GLONASS，歐洲有 Galileo，中國有北斗。四套合起來叫 </a:t>
            </a:r>
            <a:r>
              <a:rPr sz="1200" b="1" lang="zh-TW" dirty="0">
                <a:solidFill>
                  <a:srgbClr val="000000"/>
                </a:solidFill>
                <a:latin typeface="Arial Unicode MS"/>
                <a:ea typeface="Arial Unicode MS"/>
                <a:cs typeface="Arial Unicode MS"/>
              </a:rPr>
              <a:t>GNSS</a:t>
            </a:r>
            <a:r>
              <a:rPr sz="1200" lang="zh-TW" dirty="0">
                <a:solidFill>
                  <a:srgbClr val="000000"/>
                </a:solidFill>
                <a:latin typeface="Arial Unicode MS"/>
                <a:ea typeface="Arial Unicode MS"/>
                <a:cs typeface="Arial Unicode MS"/>
              </a:rPr>
              <a:t>，全球導航衛星系統。今天看的兩顆模組都是四套一起收。
</a:t>
            </a:r>
          </a:p>
          <a:p>
            <a:pPr algn="l">
              <a:spcBef>
                <a:spcPts val="0"/>
              </a:spcBef>
              <a:spcAft>
                <a:spcPts val="200"/>
              </a:spcAft>
            </a:pPr>
            <a:r>
              <a:rPr sz="1200" lang="zh-TW" dirty="0">
                <a:solidFill>
                  <a:srgbClr val="000000"/>
                </a:solidFill>
                <a:latin typeface="Arial Unicode MS"/>
                <a:ea typeface="Arial Unicode MS"/>
                <a:cs typeface="Arial Unicode MS"/>
              </a:rPr>
              <a:t>然後兩份規格表：一顆兩點五公尺，一顆一公分。差在哪，看完各位就知道。</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5</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lang="zh-TW" dirty="0">
                <a:solidFill>
                  <a:srgbClr val="000000"/>
                </a:solidFill>
                <a:latin typeface="Arial Unicode MS"/>
                <a:ea typeface="Arial Unicode MS"/>
                <a:cs typeface="Arial Unicode MS"/>
              </a:rPr>
              <a:t>原理用一張圖講。
</a:t>
            </a:r>
          </a:p>
          <a:p>
            <a:pPr algn="l">
              <a:spcBef>
                <a:spcPts val="0"/>
              </a:spcBef>
              <a:spcAft>
                <a:spcPts val="133"/>
              </a:spcAft>
            </a:pPr>
            <a:r>
              <a:rPr sz="800" lang="zh-TW" dirty="0">
                <a:solidFill>
                  <a:srgbClr val="000000"/>
                </a:solidFill>
                <a:latin typeface="Arial Unicode MS"/>
                <a:ea typeface="Arial Unicode MS"/>
                <a:cs typeface="Arial Unicode MS"/>
              </a:rPr>
              <a:t>兩萬公里高的地方有幾十顆衛星，每一顆一直在廣播兩件事：</a:t>
            </a:r>
            <a:r>
              <a:rPr sz="800" b="1" lang="zh-TW" dirty="0">
                <a:solidFill>
                  <a:srgbClr val="000000"/>
                </a:solidFill>
                <a:latin typeface="Arial Unicode MS"/>
                <a:ea typeface="Arial Unicode MS"/>
                <a:cs typeface="Arial Unicode MS"/>
              </a:rPr>
              <a:t>我在哪裡、現在幾點</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怎麼廣播？用無線電。所有 GPS 衛星用同一個頻率，每一顆有自己的一組編碼，像每個人有自己的口音。接收機手上有每一顆的編碼表，一比對就知道現在聽到的是哪一顆。教室再吵，你也聽得出哪個聲音是你的朋友。
</a:t>
            </a:r>
          </a:p>
          <a:p>
            <a:pPr algn="l">
              <a:spcBef>
                <a:spcPts val="0"/>
              </a:spcBef>
              <a:spcAft>
                <a:spcPts val="133"/>
              </a:spcAft>
            </a:pPr>
            <a:r>
              <a:rPr sz="800" b="1" lang="zh-TW" dirty="0">
                <a:solidFill>
                  <a:srgbClr val="000000"/>
                </a:solidFill>
                <a:latin typeface="Arial Unicode MS"/>
                <a:ea typeface="Arial Unicode MS"/>
                <a:cs typeface="Arial Unicode MS"/>
              </a:rPr>
              <a:t>「我在哪裡」，其實是地面站先幫它算好的。</a:t>
            </a:r>
            <a:r>
              <a:rPr sz="800" lang="zh-TW" dirty="0">
                <a:solidFill>
                  <a:srgbClr val="000000"/>
                </a:solidFill>
                <a:latin typeface="Arial Unicode MS"/>
                <a:ea typeface="Arial Unicode MS"/>
                <a:cs typeface="Arial Unicode MS"/>
              </a:rPr>
              <a:t>衛星自己不知道自己在哪。地面有十幾個監測站，位置都量得很準，一直在聽每一顆衛星的訊號。資料送回美國的主控站，算出每顆衛星接下來幾個小時會飛到哪裡，大約一天上傳一次給衛星。衛星把這張預測表存起來，照著唸。這張表叫</a:t>
            </a:r>
            <a:r>
              <a:rPr sz="800" b="1" lang="zh-TW" dirty="0">
                <a:solidFill>
                  <a:srgbClr val="000000"/>
                </a:solidFill>
                <a:latin typeface="Arial Unicode MS"/>
                <a:ea typeface="Arial Unicode MS"/>
                <a:cs typeface="Arial Unicode MS"/>
              </a:rPr>
              <a:t>星曆</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就像公車站的時刻表。客運公司不用每分鐘打電話告訴站牌車子到哪了，每天貼一張新的時刻表就好。衛星的軌道比公車規律得多，一天更新一次就夠準。幾天沒上傳也照樣廣播，只是誤差慢慢變大。
</a:t>
            </a:r>
          </a:p>
          <a:p>
            <a:pPr algn="l">
              <a:spcBef>
                <a:spcPts val="0"/>
              </a:spcBef>
              <a:spcAft>
                <a:spcPts val="133"/>
              </a:spcAft>
            </a:pPr>
            <a:r>
              <a:rPr sz="800" b="1" lang="zh-TW" dirty="0">
                <a:solidFill>
                  <a:srgbClr val="000000"/>
                </a:solidFill>
                <a:latin typeface="Arial Unicode MS"/>
                <a:ea typeface="Arial Unicode MS"/>
                <a:cs typeface="Arial Unicode MS"/>
              </a:rPr>
              <a:t>「現在幾點」，靠原子鐘。</a:t>
            </a:r>
            <a:r>
              <a:rPr sz="800" lang="zh-TW" dirty="0">
                <a:solidFill>
                  <a:srgbClr val="000000"/>
                </a:solidFill>
                <a:latin typeface="Arial Unicode MS"/>
                <a:ea typeface="Arial Unicode MS"/>
                <a:cs typeface="Arial Unicode MS"/>
              </a:rPr>
              <a:t>每一段訊號開頭都寫著「這一段是幾點幾分幾秒發出的」。衛星上的時鐘是原子鐘，地面站還會量出每一顆差多少，把校正值一起廣播。這樣可以準到十億分之一秒。為什麼要這麼準？光在十億分之一秒裡走三十公分，時間差一點點，距離就差很多。
</a:t>
            </a:r>
          </a:p>
          <a:p>
            <a:pPr algn="l">
              <a:spcBef>
                <a:spcPts val="0"/>
              </a:spcBef>
              <a:spcAft>
                <a:spcPts val="133"/>
              </a:spcAft>
            </a:pPr>
            <a:r>
              <a:rPr sz="800" lang="zh-TW" dirty="0">
                <a:solidFill>
                  <a:srgbClr val="000000"/>
                </a:solidFill>
                <a:latin typeface="Arial Unicode MS"/>
                <a:ea typeface="Arial Unicode MS"/>
                <a:cs typeface="Arial Unicode MS"/>
              </a:rPr>
              <a:t>想成廣播電台的整點報時：「嘟、嘟、嘟、嘟——最後一響，十點整。」你知道電台在哪裡，也知道最後一響是十點整發出的。看自己的錶，記下聽到的時間，就知道聲音走了多久。衛星定位一樣，只是聲音換成光速的無線電。
</a:t>
            </a:r>
          </a:p>
          <a:p>
            <a:pPr algn="l">
              <a:spcBef>
                <a:spcPts val="0"/>
              </a:spcBef>
              <a:spcAft>
                <a:spcPts val="133"/>
              </a:spcAft>
            </a:pPr>
            <a:r>
              <a:rPr sz="800" lang="zh-TW" dirty="0">
                <a:solidFill>
                  <a:srgbClr val="000000"/>
                </a:solidFill>
                <a:latin typeface="Arial Unicode MS"/>
                <a:ea typeface="Arial Unicode MS"/>
                <a:cs typeface="Arial Unicode MS"/>
              </a:rPr>
              <a:t>地上的接收機收到訊號，看訊號上寫的發送時間，跟自己的時鐘比，就知道訊號走了多久。乘以光速，就是離那顆衛星多遠。離一顆衛星兩萬公里，你就在以它為中心、半徑兩萬公里的球面上。左圖畫成平面，就是一個圈。
</a:t>
            </a:r>
          </a:p>
          <a:p>
            <a:pPr algn="l">
              <a:spcBef>
                <a:spcPts val="0"/>
              </a:spcBef>
              <a:spcAft>
                <a:spcPts val="133"/>
              </a:spcAft>
            </a:pPr>
            <a:r>
              <a:rPr sz="800" lang="zh-TW" dirty="0">
                <a:solidFill>
                  <a:srgbClr val="000000"/>
                </a:solidFill>
                <a:latin typeface="Arial Unicode MS"/>
                <a:ea typeface="Arial Unicode MS"/>
                <a:cs typeface="Arial Unicode MS"/>
              </a:rPr>
              <a:t>舉個例子。有人告訴你：你離火車站兩公里。你只知道自己在火車站周圍那一圈上。又有人說：你離學校三公里，兩個圈交在兩個點。第三個人說：你離市場一公里，就只剩一個點。衛星定位就是這樣，只是那三個地標在天上。
</a:t>
            </a:r>
          </a:p>
          <a:p>
            <a:pPr algn="l">
              <a:spcBef>
                <a:spcPts val="0"/>
              </a:spcBef>
              <a:spcAft>
                <a:spcPts val="133"/>
              </a:spcAft>
            </a:pPr>
            <a:r>
              <a:rPr sz="800" lang="zh-TW" dirty="0">
                <a:solidFill>
                  <a:srgbClr val="000000"/>
                </a:solidFill>
                <a:latin typeface="Arial Unicode MS"/>
                <a:ea typeface="Arial Unicode MS"/>
                <a:cs typeface="Arial Unicode MS"/>
              </a:rPr>
              <a:t>看一支兩分鐘的中文動畫，「GPS 定位原理」，有中文字幕。</a:t>
            </a:r>
            <a:r>
              <a:rPr sz="800" b="1" lang="zh-TW" dirty="0">
                <a:solidFill>
                  <a:srgbClr val="000000"/>
                </a:solidFill>
                <a:latin typeface="Arial Unicode MS"/>
                <a:ea typeface="Arial Unicode MS"/>
                <a:cs typeface="Arial Unicode MS"/>
              </a:rPr>
              <a:t>從 0:58 播到 2:52。</a:t>
            </a:r>
            <a:r>
              <a:rPr sz="800" lang="zh-TW" dirty="0">
                <a:solidFill>
                  <a:srgbClr val="000000"/>
                </a:solidFill>
                <a:latin typeface="Arial Unicode MS"/>
                <a:ea typeface="Arial Unicode MS"/>
                <a:cs typeface="Arial Unicode MS"/>
              </a:rPr>
              <a:t>　</a:t>
            </a:r>
            <a:r>
              <a:rPr sz="800" b="1" lang="zh-TW" dirty="0">
                <a:solidFill>
                  <a:srgbClr val="000000"/>
                </a:solidFill>
                <a:latin typeface="Arial Unicode MS"/>
                <a:ea typeface="Arial Unicode MS"/>
                <a:cs typeface="Arial Unicode MS"/>
              </a:rPr>
              <a:t>0:58</a:t>
            </a:r>
            <a:r>
              <a:rPr sz="800" lang="zh-TW" dirty="0">
                <a:solidFill>
                  <a:srgbClr val="000000"/>
                </a:solidFill>
                <a:latin typeface="Arial Unicode MS"/>
                <a:ea typeface="Arial Unicode MS"/>
                <a:cs typeface="Arial Unicode MS"/>
              </a:rPr>
              <a:t> 算時間差：訊號走了多久，乘以光速就是距離。</a:t>
            </a:r>
            <a:r>
              <a:rPr sz="800" b="1" lang="zh-TW" dirty="0">
                <a:solidFill>
                  <a:srgbClr val="000000"/>
                </a:solidFill>
                <a:latin typeface="Arial Unicode MS"/>
                <a:ea typeface="Arial Unicode MS"/>
                <a:cs typeface="Arial Unicode MS"/>
              </a:rPr>
              <a:t>1:14</a:t>
            </a:r>
            <a:r>
              <a:rPr sz="800" lang="zh-TW" dirty="0">
                <a:solidFill>
                  <a:srgbClr val="000000"/>
                </a:solidFill>
                <a:latin typeface="Arial Unicode MS"/>
                <a:ea typeface="Arial Unicode MS"/>
                <a:cs typeface="Arial Unicode MS"/>
              </a:rPr>
              <a:t> 只有一顆衛星，你只知道自己在一個圓上，可能在台北、東京，也可能在海底。</a:t>
            </a:r>
            <a:r>
              <a:rPr sz="800" b="1" lang="zh-TW" dirty="0">
                <a:solidFill>
                  <a:srgbClr val="000000"/>
                </a:solidFill>
                <a:latin typeface="Arial Unicode MS"/>
                <a:ea typeface="Arial Unicode MS"/>
                <a:cs typeface="Arial Unicode MS"/>
              </a:rPr>
              <a:t>1:27</a:t>
            </a:r>
            <a:r>
              <a:rPr sz="800" lang="zh-TW" dirty="0">
                <a:solidFill>
                  <a:srgbClr val="000000"/>
                </a:solidFill>
                <a:latin typeface="Arial Unicode MS"/>
                <a:ea typeface="Arial Unicode MS"/>
                <a:cs typeface="Arial Unicode MS"/>
              </a:rPr>
              <a:t> 第二顆，兩個圓交出兩個點；</a:t>
            </a:r>
            <a:r>
              <a:rPr sz="800" b="1" lang="zh-TW" dirty="0">
                <a:solidFill>
                  <a:srgbClr val="000000"/>
                </a:solidFill>
                <a:latin typeface="Arial Unicode MS"/>
                <a:ea typeface="Arial Unicode MS"/>
                <a:cs typeface="Arial Unicode MS"/>
              </a:rPr>
              <a:t>1:37</a:t>
            </a:r>
            <a:r>
              <a:rPr sz="800" lang="zh-TW" dirty="0">
                <a:solidFill>
                  <a:srgbClr val="000000"/>
                </a:solidFill>
                <a:latin typeface="Arial Unicode MS"/>
                <a:ea typeface="Arial Unicode MS"/>
                <a:cs typeface="Arial Unicode MS"/>
              </a:rPr>
              <a:t> 第三顆，只剩一個點。</a:t>
            </a:r>
            <a:r>
              <a:rPr sz="800" b="1" lang="zh-TW" dirty="0">
                <a:solidFill>
                  <a:srgbClr val="000000"/>
                </a:solidFill>
                <a:latin typeface="Arial Unicode MS"/>
                <a:ea typeface="Arial Unicode MS"/>
                <a:cs typeface="Arial Unicode MS"/>
              </a:rPr>
              <a:t>1:44</a:t>
            </a:r>
            <a:r>
              <a:rPr sz="800" lang="zh-TW" dirty="0">
                <a:solidFill>
                  <a:srgbClr val="000000"/>
                </a:solidFill>
                <a:latin typeface="Arial Unicode MS"/>
                <a:ea typeface="Arial Unicode MS"/>
                <a:cs typeface="Arial Unicode MS"/>
              </a:rPr>
              <a:t> 旁白說這叫</a:t>
            </a:r>
            <a:r>
              <a:rPr sz="800" b="1" lang="zh-TW" dirty="0">
                <a:solidFill>
                  <a:srgbClr val="000000"/>
                </a:solidFill>
                <a:latin typeface="Arial Unicode MS"/>
                <a:ea typeface="Arial Unicode MS"/>
                <a:cs typeface="Arial Unicode MS"/>
              </a:rPr>
              <a:t>三邊定位</a:t>
            </a:r>
            <a:r>
              <a:rPr sz="800" lang="zh-TW" dirty="0">
                <a:solidFill>
                  <a:srgbClr val="000000"/>
                </a:solidFill>
                <a:latin typeface="Arial Unicode MS"/>
                <a:ea typeface="Arial Unicode MS"/>
                <a:cs typeface="Arial Unicode MS"/>
              </a:rPr>
              <a:t>：量距離是三邊，量角度是三角。
</a:t>
            </a:r>
          </a:p>
          <a:p>
            <a:pPr algn="l">
              <a:spcBef>
                <a:spcPts val="0"/>
              </a:spcBef>
              <a:spcAft>
                <a:spcPts val="133"/>
              </a:spcAft>
            </a:pPr>
            <a:r>
              <a:rPr sz="800" b="1" lang="zh-TW" dirty="0">
                <a:solidFill>
                  <a:srgbClr val="000000"/>
                </a:solidFill>
                <a:latin typeface="Arial Unicode MS"/>
                <a:ea typeface="Arial Unicode MS"/>
                <a:cs typeface="Arial Unicode MS"/>
              </a:rPr>
              <a:t>2:10</a:t>
            </a:r>
            <a:r>
              <a:rPr sz="800" lang="zh-TW" dirty="0">
                <a:solidFill>
                  <a:srgbClr val="000000"/>
                </a:solidFill>
                <a:latin typeface="Arial Unicode MS"/>
                <a:ea typeface="Arial Unicode MS"/>
                <a:cs typeface="Arial Unicode MS"/>
              </a:rPr>
              <a:t> 影片自己說「按暫停，想想看」：三顆就能定位了，為什麼還要第四顆？</a:t>
            </a:r>
            <a:r>
              <a:rPr sz="800" b="1" lang="zh-TW" dirty="0">
                <a:solidFill>
                  <a:srgbClr val="000000"/>
                </a:solidFill>
                <a:latin typeface="Arial Unicode MS"/>
                <a:ea typeface="Arial Unicode MS"/>
                <a:cs typeface="Arial Unicode MS"/>
              </a:rPr>
              <a:t>真的按暫停</a:t>
            </a:r>
            <a:r>
              <a:rPr sz="800" lang="zh-TW" dirty="0">
                <a:solidFill>
                  <a:srgbClr val="000000"/>
                </a:solidFill>
                <a:latin typeface="Arial Unicode MS"/>
                <a:ea typeface="Arial Unicode MS"/>
                <a:cs typeface="Arial Unicode MS"/>
              </a:rPr>
              <a:t>，問學生，等兩三個人回答再播。</a:t>
            </a:r>
            <a:r>
              <a:rPr sz="800" b="1" lang="zh-TW" dirty="0">
                <a:solidFill>
                  <a:srgbClr val="000000"/>
                </a:solidFill>
                <a:latin typeface="Arial Unicode MS"/>
                <a:ea typeface="Arial Unicode MS"/>
                <a:cs typeface="Arial Unicode MS"/>
              </a:rPr>
              <a:t>2:15</a:t>
            </a:r>
            <a:r>
              <a:rPr sz="800" lang="zh-TW" dirty="0">
                <a:solidFill>
                  <a:srgbClr val="000000"/>
                </a:solidFill>
                <a:latin typeface="Arial Unicode MS"/>
                <a:ea typeface="Arial Unicode MS"/>
                <a:cs typeface="Arial Unicode MS"/>
              </a:rPr>
              <a:t> 到 </a:t>
            </a:r>
            <a:r>
              <a:rPr sz="800" b="1" lang="zh-TW" dirty="0">
                <a:solidFill>
                  <a:srgbClr val="000000"/>
                </a:solidFill>
                <a:latin typeface="Arial Unicode MS"/>
                <a:ea typeface="Arial Unicode MS"/>
                <a:cs typeface="Arial Unicode MS"/>
              </a:rPr>
              <a:t>2:52</a:t>
            </a:r>
            <a:r>
              <a:rPr sz="800" lang="zh-TW" dirty="0">
                <a:solidFill>
                  <a:srgbClr val="000000"/>
                </a:solidFill>
                <a:latin typeface="Arial Unicode MS"/>
                <a:ea typeface="Arial Unicode MS"/>
                <a:cs typeface="Arial Unicode MS"/>
              </a:rPr>
              <a:t>：手機沒有原子鐘，差一百萬分之一秒就差三百公尺；所以要四個方程式，解四個未知數，三個是位置，第四個是時鐘誤差。</a:t>
            </a:r>
            <a:r>
              <a:rPr sz="800" b="1" lang="zh-TW" dirty="0">
                <a:solidFill>
                  <a:srgbClr val="000000"/>
                </a:solidFill>
                <a:latin typeface="Arial Unicode MS"/>
                <a:ea typeface="Arial Unicode MS"/>
                <a:cs typeface="Arial Unicode MS"/>
              </a:rPr>
              <a:t>播到 2:52 停</a:t>
            </a:r>
            <a:r>
              <a:rPr sz="800" lang="zh-TW" dirty="0">
                <a:solidFill>
                  <a:srgbClr val="000000"/>
                </a:solidFill>
                <a:latin typeface="Arial Unicode MS"/>
                <a:ea typeface="Arial Unicode MS"/>
                <a:cs typeface="Arial Unicode MS"/>
              </a:rPr>
              <a:t>，後面講大樓反射，第九張再講。
</a:t>
            </a:r>
          </a:p>
          <a:p>
            <a:pPr algn="l">
              <a:spcBef>
                <a:spcPts val="0"/>
              </a:spcBef>
              <a:spcAft>
                <a:spcPts val="133"/>
              </a:spcAft>
            </a:pPr>
            <a:r>
              <a:rPr sz="800" lang="zh-TW" dirty="0">
                <a:solidFill>
                  <a:srgbClr val="000000"/>
                </a:solidFill>
                <a:latin typeface="Arial Unicode MS"/>
                <a:ea typeface="Arial Unicode MS"/>
                <a:cs typeface="Arial Unicode MS"/>
              </a:rPr>
              <a:t>影片說第四顆是為了時鐘。用左圖再講清楚一點。學生可能會問：接收機的時間不是也要跟衛星一樣準嗎？對，問題就在這裡。接收機的時鐘不是原子鐘，它是幾塊美元的石英，差一微秒就差三百公尺。
</a:t>
            </a:r>
          </a:p>
          <a:p>
            <a:pPr algn="l">
              <a:spcBef>
                <a:spcPts val="0"/>
              </a:spcBef>
              <a:spcAft>
                <a:spcPts val="133"/>
              </a:spcAft>
            </a:pPr>
            <a:r>
              <a:rPr sz="800" lang="zh-TW" dirty="0">
                <a:solidFill>
                  <a:srgbClr val="000000"/>
                </a:solidFill>
                <a:latin typeface="Arial Unicode MS"/>
                <a:ea typeface="Arial Unicode MS"/>
                <a:cs typeface="Arial Unicode MS"/>
              </a:rPr>
              <a:t>解法是：不去校時，把鐘差當成一個未知數一起解。接收機只有一個時鐘，不管它快多少，對每一顆衛星都快一樣多。所以每個圈都畫得太大，而且大一樣多。三個圈不會交在一點，中間會圍出一個小三角形。把所有圈一起縮小同樣的量，縮到剛好交在一點。那一點就是你，縮了多少，就是你的錶快了多少。平面上兩個座標加一個時鐘，要三個圈；空間裡三個座標加一個時鐘，四個未知數，所以要四顆衛星。
</a:t>
            </a:r>
          </a:p>
          <a:p>
            <a:pPr algn="l">
              <a:spcBef>
                <a:spcPts val="0"/>
              </a:spcBef>
              <a:spcAft>
                <a:spcPts val="133"/>
              </a:spcAft>
            </a:pPr>
            <a:r>
              <a:rPr sz="800" lang="zh-TW" dirty="0">
                <a:solidFill>
                  <a:srgbClr val="000000"/>
                </a:solidFill>
                <a:latin typeface="Arial Unicode MS"/>
                <a:ea typeface="Arial Unicode MS"/>
                <a:cs typeface="Arial Unicode MS"/>
              </a:rPr>
              <a:t>順便一提：解完以後，接收機也知道自己的錶差多少，所以手機基地台、電網都拿 GPS 接收機來對時。接收機不用一開始就準，它是</a:t>
            </a:r>
            <a:r>
              <a:rPr sz="800" b="1" lang="zh-TW" dirty="0">
                <a:solidFill>
                  <a:srgbClr val="000000"/>
                </a:solidFill>
                <a:latin typeface="Arial Unicode MS"/>
                <a:ea typeface="Arial Unicode MS"/>
                <a:cs typeface="Arial Unicode MS"/>
              </a:rPr>
              <a:t>算完才變準</a:t>
            </a:r>
            <a:r>
              <a:rPr sz="800" lang="zh-TW" dirty="0">
                <a:solidFill>
                  <a:srgbClr val="000000"/>
                </a:solidFill>
                <a:latin typeface="Arial Unicode MS"/>
                <a:ea typeface="Arial Unicode MS"/>
                <a:cs typeface="Arial Unicode MS"/>
              </a:rPr>
              <a:t>的。
</a:t>
            </a:r>
          </a:p>
          <a:p>
            <a:pPr algn="l">
              <a:spcBef>
                <a:spcPts val="0"/>
              </a:spcBef>
              <a:spcAft>
                <a:spcPts val="133"/>
              </a:spcAft>
            </a:pPr>
            <a:r>
              <a:rPr sz="800" lang="zh-TW" dirty="0">
                <a:solidFill>
                  <a:srgbClr val="000000"/>
                </a:solidFill>
                <a:latin typeface="Arial Unicode MS"/>
                <a:ea typeface="Arial Unicode MS"/>
                <a:cs typeface="Arial Unicode MS"/>
              </a:rPr>
              <a:t>這樣算出來的精度，一般是</a:t>
            </a:r>
            <a:r>
              <a:rPr sz="800" b="1" lang="zh-TW" dirty="0">
                <a:solidFill>
                  <a:srgbClr val="000000"/>
                </a:solidFill>
                <a:latin typeface="Arial Unicode MS"/>
                <a:ea typeface="Arial Unicode MS"/>
                <a:cs typeface="Arial Unicode MS"/>
              </a:rPr>
              <a:t>兩到十公尺</a:t>
            </a:r>
            <a:r>
              <a:rPr sz="800" lang="zh-TW" dirty="0">
                <a:solidFill>
                  <a:srgbClr val="000000"/>
                </a:solidFill>
                <a:latin typeface="Arial Unicode MS"/>
                <a:ea typeface="Arial Unicode MS"/>
                <a:cs typeface="Arial Unicode MS"/>
              </a:rPr>
              <a:t>。對導航夠，開到路口它會叫你右轉。對自駕不夠。右邊那格：一個車道才三點五公尺，兩點五公尺的圈，比車道還大。你知道自己在這條路上，不知道在哪一道。誤差從哪來、怎麼壓到一公分，看規格表。</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6</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42"/>
              </a:spcAft>
            </a:pPr>
            <a:r>
              <a:rPr sz="850" lang="zh-TW" dirty="0">
                <a:solidFill>
                  <a:srgbClr val="000000"/>
                </a:solidFill>
                <a:latin typeface="Arial Unicode MS"/>
                <a:ea typeface="Arial Unicode MS"/>
                <a:cs typeface="Arial Unicode MS"/>
              </a:rPr>
              <a:t>第一顆，u-blox 的 </a:t>
            </a:r>
            <a:r>
              <a:rPr sz="850" b="1" lang="zh-TW" dirty="0">
                <a:solidFill>
                  <a:srgbClr val="000000"/>
                </a:solidFill>
                <a:latin typeface="Arial Unicode MS"/>
                <a:ea typeface="Arial Unicode MS"/>
                <a:cs typeface="Arial Unicode MS"/>
              </a:rPr>
              <a:t>NEO-M8N</a:t>
            </a:r>
            <a:r>
              <a:rPr sz="850" lang="zh-TW" dirty="0">
                <a:solidFill>
                  <a:srgbClr val="000000"/>
                </a:solidFill>
                <a:latin typeface="Arial Unicode MS"/>
                <a:ea typeface="Arial Unicode MS"/>
                <a:cs typeface="Arial Unicode MS"/>
              </a:rPr>
              <a:t>。u-blox 是瑞士的公司，做衛星定位模組最大的幾家之一。這一顆是導航等級，無人機、行車記錄器、很多手機外接的 GPS 都是它。左邊是規格書第六頁的表，下面淡黃色那一行是同一頁最底下的註腳，中間省略了幾行。
</a:t>
            </a:r>
          </a:p>
          <a:p>
            <a:pPr algn="l">
              <a:spcBef>
                <a:spcPts val="0"/>
              </a:spcBef>
              <a:spcAft>
                <a:spcPts val="142"/>
              </a:spcAft>
            </a:pPr>
            <a:r>
              <a:rPr sz="850" b="1" lang="zh-TW" dirty="0">
                <a:solidFill>
                  <a:srgbClr val="000000"/>
                </a:solidFill>
                <a:latin typeface="Arial Unicode MS"/>
                <a:ea typeface="Arial Unicode MS"/>
                <a:cs typeface="Arial Unicode MS"/>
              </a:rPr>
              <a:t>Horizontal position accuracy，水平精度，2.5 公尺。</a:t>
            </a:r>
            <a:r>
              <a:rPr sz="850" lang="zh-TW" dirty="0">
                <a:solidFill>
                  <a:srgbClr val="000000"/>
                </a:solidFill>
                <a:latin typeface="Arial Unicode MS"/>
                <a:ea typeface="Arial Unicode MS"/>
                <a:cs typeface="Arial Unicode MS"/>
              </a:rPr>
              <a:t>同時收 GPS 和 GLONASS 的時候。旁邊有一欄 With SBAS，2.0 公尺。SBAS 是</a:t>
            </a:r>
            <a:r>
              <a:rPr sz="850" b="1" lang="zh-TW" dirty="0">
                <a:solidFill>
                  <a:srgbClr val="000000"/>
                </a:solidFill>
                <a:latin typeface="Arial Unicode MS"/>
                <a:ea typeface="Arial Unicode MS"/>
                <a:cs typeface="Arial Unicode MS"/>
              </a:rPr>
              <a:t>衛星增強系統</a:t>
            </a:r>
            <a:r>
              <a:rPr sz="850" lang="zh-TW" dirty="0">
                <a:solidFill>
                  <a:srgbClr val="000000"/>
                </a:solidFill>
                <a:latin typeface="Arial Unicode MS"/>
                <a:ea typeface="Arial Unicode MS"/>
                <a:cs typeface="Arial Unicode MS"/>
              </a:rPr>
              <a:t>：一國在地面設很多監測站，量出 GPS 現在差多少，算好修正，再從一顆停在赤道上空的衛星，用跟 GPS 同一個頻率廣播下來。接收機不用接網路，也不用付錢，收得到就準一點。美國有 WAAS、歐洲有 EGNOS、日本有 MSAS、印度有 GAGAN、中國有北斗的 BDSBAS。可是每一套的修正，是替自己國家那一區算的。台灣和越南不在任何一套的主要服務範圍裡，收得到鄰國的訊號，效果有限。就像收音機的路況報導：免費、一打開就有，可是播的是別的城市的路況。所以本課判讀用沒有 SBAS 的 2.5 公尺。
</a:t>
            </a:r>
          </a:p>
          <a:p>
            <a:pPr algn="l">
              <a:spcBef>
                <a:spcPts val="0"/>
              </a:spcBef>
              <a:spcAft>
                <a:spcPts val="142"/>
              </a:spcAft>
            </a:pPr>
            <a:r>
              <a:rPr sz="850" lang="zh-TW" dirty="0">
                <a:solidFill>
                  <a:srgbClr val="000000"/>
                </a:solidFill>
                <a:latin typeface="Arial Unicode MS"/>
                <a:ea typeface="Arial Unicode MS"/>
                <a:cs typeface="Arial Unicode MS"/>
              </a:rPr>
              <a:t>現在請各位看那個數字右上角的小 3，再看圖下面淡黃色那一行，就是</a:t>
            </a:r>
            <a:r>
              <a:rPr sz="850" b="1" lang="zh-TW" dirty="0">
                <a:solidFill>
                  <a:srgbClr val="000000"/>
                </a:solidFill>
                <a:latin typeface="Arial Unicode MS"/>
                <a:ea typeface="Arial Unicode MS"/>
                <a:cs typeface="Arial Unicode MS"/>
              </a:rPr>
              <a:t>註腳 3</a:t>
            </a:r>
            <a:r>
              <a:rPr sz="850" lang="zh-TW" dirty="0">
                <a:solidFill>
                  <a:srgbClr val="000000"/>
                </a:solidFill>
                <a:latin typeface="Arial Unicode MS"/>
                <a:ea typeface="Arial Unicode MS"/>
                <a:cs typeface="Arial Unicode MS"/>
              </a:rPr>
              <a:t>，右邊第二條把它翻成中文：</a:t>
            </a:r>
            <a:r>
              <a:rPr sz="850" b="1" lang="zh-TW" dirty="0">
                <a:solidFill>
                  <a:srgbClr val="000000"/>
                </a:solidFill>
                <a:latin typeface="Arial Unicode MS"/>
                <a:ea typeface="Arial Unicode MS"/>
                <a:cs typeface="Arial Unicode MS"/>
              </a:rPr>
              <a:t>CEP, 50%, 24 hours static, −130 dBm, more than 6 SVs</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一個一個講。</a:t>
            </a:r>
            <a:r>
              <a:rPr sz="850" b="1" lang="zh-TW" dirty="0">
                <a:solidFill>
                  <a:srgbClr val="000000"/>
                </a:solidFill>
                <a:latin typeface="Arial Unicode MS"/>
                <a:ea typeface="Arial Unicode MS"/>
                <a:cs typeface="Arial Unicode MS"/>
              </a:rPr>
              <a:t>CEP</a:t>
            </a:r>
            <a:r>
              <a:rPr sz="850" lang="zh-TW" dirty="0">
                <a:solidFill>
                  <a:srgbClr val="000000"/>
                </a:solidFill>
                <a:latin typeface="Arial Unicode MS"/>
                <a:ea typeface="Arial Unicode MS"/>
                <a:cs typeface="Arial Unicode MS"/>
              </a:rPr>
              <a:t> 是圓機率誤差，</a:t>
            </a:r>
            <a:r>
              <a:rPr sz="850" b="1" lang="zh-TW" dirty="0">
                <a:solidFill>
                  <a:srgbClr val="000000"/>
                </a:solidFill>
                <a:latin typeface="Arial Unicode MS"/>
                <a:ea typeface="Arial Unicode MS"/>
                <a:cs typeface="Arial Unicode MS"/>
              </a:rPr>
              <a:t>50%</a:t>
            </a:r>
            <a:r>
              <a:rPr sz="850" lang="zh-TW" dirty="0">
                <a:solidFill>
                  <a:srgbClr val="000000"/>
                </a:solidFill>
                <a:latin typeface="Arial Unicode MS"/>
                <a:ea typeface="Arial Unicode MS"/>
                <a:cs typeface="Arial Unicode MS"/>
              </a:rPr>
              <a:t> 的意思是：量一千次，有五百次落在 2.5 公尺的圈裡，另外五百次在圈外。所以 2.5 公尺不是「最多錯 2.5 公尺」，是「一半的時候錯不到 2.5 公尺」。
</a:t>
            </a:r>
          </a:p>
          <a:p>
            <a:pPr algn="l">
              <a:spcBef>
                <a:spcPts val="0"/>
              </a:spcBef>
              <a:spcAft>
                <a:spcPts val="142"/>
              </a:spcAft>
            </a:pPr>
            <a:r>
              <a:rPr sz="850" lang="zh-TW" dirty="0">
                <a:solidFill>
                  <a:srgbClr val="000000"/>
                </a:solidFill>
                <a:latin typeface="Arial Unicode MS"/>
                <a:ea typeface="Arial Unicode MS"/>
                <a:cs typeface="Arial Unicode MS"/>
              </a:rPr>
              <a:t>聽起來好像一半都不準？不是。圈外那一半，大多只是稍微出界。想成射飛鏢：朝靶心射一百支，五十支落在 2.5 公尺的圈裡；把圈畫大一倍，五公尺，大約九十五支都在裡面。偏得很遠的只有少數幾支，通常是大樓反射那種，第九張講。所以看到 CEP 有一個簡單的換算：</a:t>
            </a:r>
            <a:r>
              <a:rPr sz="850" b="1" lang="zh-TW" dirty="0">
                <a:solidFill>
                  <a:srgbClr val="000000"/>
                </a:solidFill>
                <a:latin typeface="Arial Unicode MS"/>
                <a:ea typeface="Arial Unicode MS"/>
                <a:cs typeface="Arial Unicode MS"/>
              </a:rPr>
              <a:t>乘以二，大約就是九成五的範圍</a:t>
            </a:r>
            <a:r>
              <a:rPr sz="850" lang="zh-TW" dirty="0">
                <a:solidFill>
                  <a:srgbClr val="000000"/>
                </a:solidFill>
                <a:latin typeface="Arial Unicode MS"/>
                <a:ea typeface="Arial Unicode MS"/>
                <a:cs typeface="Arial Unicode MS"/>
              </a:rPr>
              <a:t>。2.5 公尺的 CEP，九成五的時候錯不到五公尺。
</a:t>
            </a:r>
          </a:p>
          <a:p>
            <a:pPr algn="l">
              <a:spcBef>
                <a:spcPts val="0"/>
              </a:spcBef>
              <a:spcAft>
                <a:spcPts val="142"/>
              </a:spcAft>
            </a:pPr>
            <a:r>
              <a:rPr sz="850" lang="zh-TW" dirty="0">
                <a:solidFill>
                  <a:srgbClr val="000000"/>
                </a:solidFill>
                <a:latin typeface="Arial Unicode MS"/>
                <a:ea typeface="Arial Unicode MS"/>
                <a:cs typeface="Arial Unicode MS"/>
              </a:rPr>
              <a:t>那廠商為什麼寫一半，不寫九成五？因為這是這一行的習慣，數字也比較小、比較好看。各位以後看到 CEP，自己乘以二。
</a:t>
            </a:r>
          </a:p>
          <a:p>
            <a:pPr algn="l">
              <a:spcBef>
                <a:spcPts val="0"/>
              </a:spcBef>
              <a:spcAft>
                <a:spcPts val="142"/>
              </a:spcAft>
            </a:pPr>
            <a:r>
              <a:rPr sz="850" lang="zh-TW" dirty="0">
                <a:solidFill>
                  <a:srgbClr val="000000"/>
                </a:solidFill>
                <a:latin typeface="Arial Unicode MS"/>
                <a:ea typeface="Arial Unicode MS"/>
                <a:cs typeface="Arial Unicode MS"/>
              </a:rPr>
              <a:t>各位還記得上週 OS1 那行 </a:t>
            </a:r>
            <a:r>
              <a:rPr sz="850" b="1" lang="zh-TW" dirty="0">
                <a:solidFill>
                  <a:srgbClr val="000000"/>
                </a:solidFill>
                <a:latin typeface="Arial Unicode MS"/>
                <a:ea typeface="Arial Unicode MS"/>
                <a:cs typeface="Arial Unicode MS"/>
              </a:rPr>
              <a:t>&gt;90% detection probability</a:t>
            </a:r>
            <a:r>
              <a:rPr sz="850" lang="zh-TW" dirty="0">
                <a:solidFill>
                  <a:srgbClr val="000000"/>
                </a:solidFill>
                <a:latin typeface="Arial Unicode MS"/>
                <a:ea typeface="Arial Unicode MS"/>
                <a:cs typeface="Arial Unicode MS"/>
              </a:rPr>
              <a:t> 嗎？同一種東西，都是機率。這一週的第三題會考。
</a:t>
            </a:r>
          </a:p>
          <a:p>
            <a:pPr algn="l">
              <a:spcBef>
                <a:spcPts val="0"/>
              </a:spcBef>
              <a:spcAft>
                <a:spcPts val="142"/>
              </a:spcAft>
            </a:pPr>
            <a:r>
              <a:rPr sz="850" b="1" lang="zh-TW" dirty="0">
                <a:solidFill>
                  <a:srgbClr val="000000"/>
                </a:solidFill>
                <a:latin typeface="Arial Unicode MS"/>
                <a:ea typeface="Arial Unicode MS"/>
                <a:cs typeface="Arial Unicode MS"/>
              </a:rPr>
              <a:t>24 hours static</a:t>
            </a:r>
            <a:r>
              <a:rPr sz="850" lang="zh-TW" dirty="0">
                <a:solidFill>
                  <a:srgbClr val="000000"/>
                </a:solidFill>
                <a:latin typeface="Arial Unicode MS"/>
                <a:ea typeface="Arial Unicode MS"/>
                <a:cs typeface="Arial Unicode MS"/>
              </a:rPr>
              <a:t>：接收機放著不動，量二十四小時。你在河內的路上以時速四十在跑，條件比這個差。</a:t>
            </a:r>
            <a:r>
              <a:rPr sz="850" b="1" lang="zh-TW" dirty="0">
                <a:solidFill>
                  <a:srgbClr val="000000"/>
                </a:solidFill>
                <a:latin typeface="Arial Unicode MS"/>
                <a:ea typeface="Arial Unicode MS"/>
                <a:cs typeface="Arial Unicode MS"/>
              </a:rPr>
              <a:t>−130 dBm</a:t>
            </a:r>
            <a:r>
              <a:rPr sz="850" lang="zh-TW" dirty="0">
                <a:solidFill>
                  <a:srgbClr val="000000"/>
                </a:solidFill>
                <a:latin typeface="Arial Unicode MS"/>
                <a:ea typeface="Arial Unicode MS"/>
                <a:cs typeface="Arial Unicode MS"/>
              </a:rPr>
              <a:t>：衛星訊號的強度，大約是天空開闊時收到的正常強度；樹下、窄巷裡會更弱。</a:t>
            </a:r>
            <a:r>
              <a:rPr sz="850" b="1" lang="zh-TW" dirty="0">
                <a:solidFill>
                  <a:srgbClr val="000000"/>
                </a:solidFill>
                <a:latin typeface="Arial Unicode MS"/>
                <a:ea typeface="Arial Unicode MS"/>
                <a:cs typeface="Arial Unicode MS"/>
              </a:rPr>
              <a:t>more than 6 SVs</a:t>
            </a:r>
            <a:r>
              <a:rPr sz="850" lang="zh-TW" dirty="0">
                <a:solidFill>
                  <a:srgbClr val="000000"/>
                </a:solidFill>
                <a:latin typeface="Arial Unicode MS"/>
                <a:ea typeface="Arial Unicode MS"/>
                <a:cs typeface="Arial Unicode MS"/>
              </a:rPr>
              <a:t>：SV 是衛星，至少看得到六顆，窄巷裡看不到六顆。
</a:t>
            </a:r>
          </a:p>
          <a:p>
            <a:pPr algn="l">
              <a:spcBef>
                <a:spcPts val="0"/>
              </a:spcBef>
              <a:spcAft>
                <a:spcPts val="142"/>
              </a:spcAft>
            </a:pPr>
            <a:r>
              <a:rPr sz="850" lang="zh-TW" dirty="0">
                <a:solidFill>
                  <a:srgbClr val="000000"/>
                </a:solidFill>
                <a:latin typeface="Arial Unicode MS"/>
                <a:ea typeface="Arial Unicode MS"/>
                <a:cs typeface="Arial Unicode MS"/>
              </a:rPr>
              <a:t>往下，</a:t>
            </a:r>
            <a:r>
              <a:rPr sz="850" b="1" lang="zh-TW" dirty="0">
                <a:solidFill>
                  <a:srgbClr val="000000"/>
                </a:solidFill>
                <a:latin typeface="Arial Unicode MS"/>
                <a:ea typeface="Arial Unicode MS"/>
                <a:cs typeface="Arial Unicode MS"/>
              </a:rPr>
              <a:t>更新率 5 Hz</a:t>
            </a:r>
            <a:r>
              <a:rPr sz="850" lang="zh-TW" dirty="0">
                <a:solidFill>
                  <a:srgbClr val="000000"/>
                </a:solidFill>
                <a:latin typeface="Arial Unicode MS"/>
                <a:ea typeface="Arial Unicode MS"/>
                <a:cs typeface="Arial Unicode MS"/>
              </a:rPr>
              <a:t>：每兩百毫秒一個位置。時速四十的話，兩個位置之間車子走了二點二公尺。
</a:t>
            </a:r>
          </a:p>
          <a:p>
            <a:pPr algn="l">
              <a:spcBef>
                <a:spcPts val="0"/>
              </a:spcBef>
              <a:spcAft>
                <a:spcPts val="142"/>
              </a:spcAft>
            </a:pPr>
            <a:r>
              <a:rPr sz="850" b="1" lang="zh-TW" dirty="0">
                <a:solidFill>
                  <a:srgbClr val="000000"/>
                </a:solidFill>
                <a:latin typeface="Arial Unicode MS"/>
                <a:ea typeface="Arial Unicode MS"/>
                <a:cs typeface="Arial Unicode MS"/>
              </a:rPr>
              <a:t>Time-To-First-Fix，Cold start 26 秒。</a:t>
            </a:r>
            <a:r>
              <a:rPr sz="850" lang="zh-TW" dirty="0">
                <a:solidFill>
                  <a:srgbClr val="000000"/>
                </a:solidFill>
                <a:latin typeface="Arial Unicode MS"/>
                <a:ea typeface="Arial Unicode MS"/>
                <a:cs typeface="Arial Unicode MS"/>
              </a:rPr>
              <a:t>開機之後要二十六秒才有第一個位置，因為要先把上一張講的星曆收完。衛星傳資料非常慢，每秒只有五十個位元，整份星曆要二、三十秒才收得完。手機之所以一打開就有位置，是因為它先用網路把那些資料抓好了。
</a:t>
            </a:r>
          </a:p>
          <a:p>
            <a:pPr algn="l">
              <a:spcBef>
                <a:spcPts val="0"/>
              </a:spcBef>
              <a:spcAft>
                <a:spcPts val="142"/>
              </a:spcAft>
            </a:pPr>
            <a:r>
              <a:rPr sz="850" lang="zh-TW" dirty="0">
                <a:solidFill>
                  <a:srgbClr val="000000"/>
                </a:solidFill>
                <a:latin typeface="Arial Unicode MS"/>
                <a:ea typeface="Arial Unicode MS"/>
                <a:cs typeface="Arial Unicode MS"/>
              </a:rPr>
              <a:t>所以這一顆的結論是：它知道你在哪條路，不知道你在哪一道。</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7</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lang="zh-TW" dirty="0">
                <a:solidFill>
                  <a:srgbClr val="000000"/>
                </a:solidFill>
                <a:latin typeface="Arial Unicode MS"/>
                <a:ea typeface="Arial Unicode MS"/>
                <a:cs typeface="Arial Unicode MS"/>
              </a:rPr>
              <a:t>第二顆，同一家公司的 </a:t>
            </a:r>
            <a:r>
              <a:rPr sz="800" b="1" lang="zh-TW" dirty="0">
                <a:solidFill>
                  <a:srgbClr val="000000"/>
                </a:solidFill>
                <a:latin typeface="Arial Unicode MS"/>
                <a:ea typeface="Arial Unicode MS"/>
                <a:cs typeface="Arial Unicode MS"/>
              </a:rPr>
              <a:t>ZED-F9P</a:t>
            </a:r>
            <a:r>
              <a:rPr sz="800" lang="zh-TW" dirty="0">
                <a:solidFill>
                  <a:srgbClr val="000000"/>
                </a:solidFill>
                <a:latin typeface="Arial Unicode MS"/>
                <a:ea typeface="Arial Unicode MS"/>
                <a:cs typeface="Arial Unicode MS"/>
              </a:rPr>
              <a:t>。做測量、無人機、農業機械、自駕研究車，很多都用它。左邊是它規格書第五頁的表。表頭那一排 GPS+GLO+GAL+BDS……是同時收哪幾個系統，每一欄的數字都一樣，看第一欄就好。上面三列，由上往下。
</a:t>
            </a:r>
          </a:p>
          <a:p>
            <a:pPr algn="l">
              <a:spcBef>
                <a:spcPts val="0"/>
              </a:spcBef>
              <a:spcAft>
                <a:spcPts val="133"/>
              </a:spcAft>
            </a:pPr>
            <a:r>
              <a:rPr sz="800" b="1" lang="zh-TW" dirty="0">
                <a:solidFill>
                  <a:srgbClr val="000000"/>
                </a:solidFill>
                <a:latin typeface="Arial Unicode MS"/>
                <a:ea typeface="Arial Unicode MS"/>
                <a:cs typeface="Arial Unicode MS"/>
              </a:rPr>
              <a:t>第一列 PVT，1.5 公尺 CEP。</a:t>
            </a:r>
            <a:r>
              <a:rPr sz="800" lang="zh-TW" dirty="0">
                <a:solidFill>
                  <a:srgbClr val="000000"/>
                </a:solidFill>
                <a:latin typeface="Arial Unicode MS"/>
                <a:ea typeface="Arial Unicode MS"/>
                <a:cs typeface="Arial Unicode MS"/>
              </a:rPr>
              <a:t>PVT 是位置、速度、時間，意思是它自己一顆算、沒有任何修正資料的精度。比上一張那顆的 2.5 公尺好，主要因為它收</a:t>
            </a:r>
            <a:r>
              <a:rPr sz="800" b="1" lang="zh-TW" dirty="0">
                <a:solidFill>
                  <a:srgbClr val="000000"/>
                </a:solidFill>
                <a:latin typeface="Arial Unicode MS"/>
                <a:ea typeface="Arial Unicode MS"/>
                <a:cs typeface="Arial Unicode MS"/>
              </a:rPr>
              <a:t>兩個頻率</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兩個頻率是什麼？每顆衛星同時用兩個頻率各發一份訊號，一份在 1575 MHz，一份在 1227 MHz 左右。訊號下來要穿過</a:t>
            </a:r>
            <a:r>
              <a:rPr sz="800" b="1" lang="zh-TW" dirty="0">
                <a:solidFill>
                  <a:srgbClr val="000000"/>
                </a:solidFill>
                <a:latin typeface="Arial Unicode MS"/>
                <a:ea typeface="Arial Unicode MS"/>
                <a:cs typeface="Arial Unicode MS"/>
              </a:rPr>
              <a:t>電離層</a:t>
            </a:r>
            <a:r>
              <a:rPr sz="800" lang="zh-TW" dirty="0">
                <a:solidFill>
                  <a:srgbClr val="000000"/>
                </a:solidFill>
                <a:latin typeface="Arial Unicode MS"/>
                <a:ea typeface="Arial Unicode MS"/>
                <a:cs typeface="Arial Unicode MS"/>
              </a:rPr>
              <a:t>，就是大氣最上面那一層帶電的氣體。電離層會把訊號拖慢，而且</a:t>
            </a:r>
            <a:r>
              <a:rPr sz="800" b="1" lang="zh-TW" dirty="0">
                <a:solidFill>
                  <a:srgbClr val="000000"/>
                </a:solidFill>
                <a:latin typeface="Arial Unicode MS"/>
                <a:ea typeface="Arial Unicode MS"/>
                <a:cs typeface="Arial Unicode MS"/>
              </a:rPr>
              <a:t>頻率愈低，拖得愈多</a:t>
            </a:r>
            <a:r>
              <a:rPr sz="800" lang="zh-TW" dirty="0">
                <a:solidFill>
                  <a:srgbClr val="000000"/>
                </a:solidFill>
                <a:latin typeface="Arial Unicode MS"/>
                <a:ea typeface="Arial Unicode MS"/>
                <a:cs typeface="Arial Unicode MS"/>
              </a:rPr>
              <a:t>。NEO-M8N 只收一個頻率，被拖慢多少它不知道，只能用一個估計值，猜錯的部分就變成誤差。ZED-F9P 兩份都收：同一刻發出的兩份訊號，看它們差多久到，就算得出電離層拖慢了多少，直接扣掉。
</a:t>
            </a:r>
          </a:p>
          <a:p>
            <a:pPr algn="l">
              <a:spcBef>
                <a:spcPts val="0"/>
              </a:spcBef>
              <a:spcAft>
                <a:spcPts val="133"/>
              </a:spcAft>
            </a:pPr>
            <a:r>
              <a:rPr sz="800" lang="zh-TW" dirty="0">
                <a:solidFill>
                  <a:srgbClr val="000000"/>
                </a:solidFill>
                <a:latin typeface="Arial Unicode MS"/>
                <a:ea typeface="Arial Unicode MS"/>
                <a:cs typeface="Arial Unicode MS"/>
              </a:rPr>
              <a:t>打個比方：兩個人同時從學校走到車站，路上有泥巴，一個穿球鞋，一個穿拖鞋，穿拖鞋的被拖慢得多。看兩個人差幾分鐘到，就知道泥巴有多深，也就推得回沒有泥巴要走多久。電離層是單機誤差裡最大的一塊，所以扣掉它就準很多。低層大氣、衛星軌道這些，兩個頻率消不掉，要靠下面的修正。
</a:t>
            </a:r>
          </a:p>
          <a:p>
            <a:pPr algn="l">
              <a:spcBef>
                <a:spcPts val="0"/>
              </a:spcBef>
              <a:spcAft>
                <a:spcPts val="133"/>
              </a:spcAft>
            </a:pPr>
            <a:r>
              <a:rPr sz="800" b="1" lang="zh-TW" dirty="0">
                <a:solidFill>
                  <a:srgbClr val="000000"/>
                </a:solidFill>
                <a:latin typeface="Arial Unicode MS"/>
                <a:ea typeface="Arial Unicode MS"/>
                <a:cs typeface="Arial Unicode MS"/>
              </a:rPr>
              <a:t>第二列 SBAS，1.0 公尺</a:t>
            </a:r>
            <a:r>
              <a:rPr sz="800" lang="zh-TW" dirty="0">
                <a:solidFill>
                  <a:srgbClr val="000000"/>
                </a:solidFill>
                <a:latin typeface="Arial Unicode MS"/>
                <a:ea typeface="Arial Unicode MS"/>
                <a:cs typeface="Arial Unicode MS"/>
              </a:rPr>
              <a:t>：上一張講過的衛星增強系統。台灣和越南不在它的主要服務範圍，所以本課不算它。
</a:t>
            </a:r>
          </a:p>
          <a:p>
            <a:pPr algn="l">
              <a:spcBef>
                <a:spcPts val="0"/>
              </a:spcBef>
              <a:spcAft>
                <a:spcPts val="133"/>
              </a:spcAft>
            </a:pPr>
            <a:r>
              <a:rPr sz="800" b="1" lang="zh-TW" dirty="0">
                <a:solidFill>
                  <a:srgbClr val="000000"/>
                </a:solidFill>
                <a:latin typeface="Arial Unicode MS"/>
                <a:ea typeface="Arial Unicode MS"/>
                <a:cs typeface="Arial Unicode MS"/>
              </a:rPr>
              <a:t>第三列 RTK，0.01 公尺 + 1 ppm CEP。</a:t>
            </a:r>
            <a:r>
              <a:rPr sz="800" lang="zh-TW" dirty="0">
                <a:solidFill>
                  <a:srgbClr val="000000"/>
                </a:solidFill>
                <a:latin typeface="Arial Unicode MS"/>
                <a:ea typeface="Arial Unicode MS"/>
                <a:cs typeface="Arial Unicode MS"/>
              </a:rPr>
              <a:t>一公分。怎麼從一點五公尺變成一公分？靠一座</a:t>
            </a:r>
            <a:r>
              <a:rPr sz="800" b="1" lang="zh-TW" dirty="0">
                <a:solidFill>
                  <a:srgbClr val="000000"/>
                </a:solidFill>
                <a:latin typeface="Arial Unicode MS"/>
                <a:ea typeface="Arial Unicode MS"/>
                <a:cs typeface="Arial Unicode MS"/>
              </a:rPr>
              <a:t>基準站</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想法是這樣：附近放一台位置已經精確知道的接收機，它也在收同樣的衛星，算出來的位置跟真的差多少，它知道。大氣、衛星軌道造成的誤差，在幾十公里內幾乎一樣，所以它把「差多少」廣播出去，車子減掉這個差，誤差就消掉了。這叫 </a:t>
            </a:r>
            <a:r>
              <a:rPr sz="800" b="1" lang="zh-TW" dirty="0">
                <a:solidFill>
                  <a:srgbClr val="000000"/>
                </a:solidFill>
                <a:latin typeface="Arial Unicode MS"/>
                <a:ea typeface="Arial Unicode MS"/>
                <a:cs typeface="Arial Unicode MS"/>
              </a:rPr>
              <a:t>RTK</a:t>
            </a:r>
            <a:r>
              <a:rPr sz="800" lang="zh-TW" dirty="0">
                <a:solidFill>
                  <a:srgbClr val="000000"/>
                </a:solidFill>
                <a:latin typeface="Arial Unicode MS"/>
                <a:ea typeface="Arial Unicode MS"/>
                <a:cs typeface="Arial Unicode MS"/>
              </a:rPr>
              <a:t>，即時動態定位。
</a:t>
            </a:r>
          </a:p>
          <a:p>
            <a:pPr algn="l">
              <a:spcBef>
                <a:spcPts val="0"/>
              </a:spcBef>
              <a:spcAft>
                <a:spcPts val="133"/>
              </a:spcAft>
            </a:pPr>
            <a:r>
              <a:rPr sz="800" lang="zh-TW" dirty="0">
                <a:solidFill>
                  <a:srgbClr val="000000"/>
                </a:solidFill>
                <a:latin typeface="Arial Unicode MS"/>
                <a:ea typeface="Arial Unicode MS"/>
                <a:cs typeface="Arial Unicode MS"/>
              </a:rPr>
              <a:t>打個比方。教室的時鐘快了五分鐘，大家看鐘都會錯五分鐘。如果有一個人拿著很準的手錶，告訴大家「這個鐘快五分鐘」，大家看鐘再減五分鐘就對了。基準站就是那個拿著準手錶的人。
</a:t>
            </a:r>
          </a:p>
          <a:p>
            <a:pPr algn="l">
              <a:spcBef>
                <a:spcPts val="0"/>
              </a:spcBef>
              <a:spcAft>
                <a:spcPts val="133"/>
              </a:spcAft>
            </a:pPr>
            <a:r>
              <a:rPr sz="800" lang="zh-TW" dirty="0">
                <a:solidFill>
                  <a:srgbClr val="000000"/>
                </a:solidFill>
                <a:latin typeface="Arial Unicode MS"/>
                <a:ea typeface="Arial Unicode MS"/>
                <a:cs typeface="Arial Unicode MS"/>
              </a:rPr>
              <a:t>這件事 u-blox 自己做了一支短片，就是做這顆 ZED-F9P 的公司。</a:t>
            </a:r>
            <a:r>
              <a:rPr sz="800" b="1" lang="zh-TW" dirty="0">
                <a:solidFill>
                  <a:srgbClr val="000000"/>
                </a:solidFill>
                <a:latin typeface="Arial Unicode MS"/>
                <a:ea typeface="Arial Unicode MS"/>
                <a:cs typeface="Arial Unicode MS"/>
              </a:rPr>
              <a:t>播到 1:07 就好</a:t>
            </a:r>
            <a:r>
              <a:rPr sz="800" lang="zh-TW" dirty="0">
                <a:solidFill>
                  <a:srgbClr val="000000"/>
                </a:solidFill>
                <a:latin typeface="Arial Unicode MS"/>
                <a:ea typeface="Arial Unicode MS"/>
                <a:cs typeface="Arial Unicode MS"/>
              </a:rPr>
              <a:t>，英文，畫面是簡報式的插圖，看圖就懂。
</a:t>
            </a:r>
          </a:p>
          <a:p>
            <a:pPr algn="l">
              <a:spcBef>
                <a:spcPts val="0"/>
              </a:spcBef>
              <a:spcAft>
                <a:spcPts val="133"/>
              </a:spcAft>
            </a:pPr>
            <a:r>
              <a:rPr sz="800" b="1" lang="zh-TW" dirty="0">
                <a:solidFill>
                  <a:srgbClr val="000000"/>
                </a:solidFill>
                <a:latin typeface="Arial Unicode MS"/>
                <a:ea typeface="Arial Unicode MS"/>
                <a:cs typeface="Arial Unicode MS"/>
              </a:rPr>
              <a:t>0:18</a:t>
            </a:r>
            <a:r>
              <a:rPr sz="800" lang="zh-TW" dirty="0">
                <a:solidFill>
                  <a:srgbClr val="000000"/>
                </a:solidFill>
                <a:latin typeface="Arial Unicode MS"/>
                <a:ea typeface="Arial Unicode MS"/>
                <a:cs typeface="Arial Unicode MS"/>
              </a:rPr>
              <a:t> 一個人站在紅圈裡，圈寫二到三公尺，這是一般的 GPS。接著兩個人站得很近，各有一個一樣大的圈，</a:t>
            </a:r>
            <a:r>
              <a:rPr sz="800" b="1" lang="zh-TW" dirty="0">
                <a:solidFill>
                  <a:srgbClr val="000000"/>
                </a:solidFill>
                <a:latin typeface="Arial Unicode MS"/>
                <a:ea typeface="Arial Unicode MS"/>
                <a:cs typeface="Arial Unicode MS"/>
              </a:rPr>
              <a:t>0:24</a:t>
            </a:r>
            <a:r>
              <a:rPr sz="800" lang="zh-TW" dirty="0">
                <a:solidFill>
                  <a:srgbClr val="000000"/>
                </a:solidFill>
                <a:latin typeface="Arial Unicode MS"/>
                <a:ea typeface="Arial Unicode MS"/>
                <a:cs typeface="Arial Unicode MS"/>
              </a:rPr>
              <a:t> 旁白說兩個人靠得近，誤差幾乎一樣。</a:t>
            </a:r>
            <a:r>
              <a:rPr sz="800" b="1" lang="zh-TW" dirty="0">
                <a:solidFill>
                  <a:srgbClr val="000000"/>
                </a:solidFill>
                <a:latin typeface="Arial Unicode MS"/>
                <a:ea typeface="Arial Unicode MS"/>
                <a:cs typeface="Arial Unicode MS"/>
              </a:rPr>
              <a:t>0:50</a:t>
            </a:r>
            <a:r>
              <a:rPr sz="800" lang="zh-TW" dirty="0">
                <a:solidFill>
                  <a:srgbClr val="000000"/>
                </a:solidFill>
                <a:latin typeface="Arial Unicode MS"/>
                <a:ea typeface="Arial Unicode MS"/>
                <a:cs typeface="Arial Unicode MS"/>
              </a:rPr>
              <a:t> 其中一個人換成一座基準站，中間一條線寫 Corrections，修正資料，送給旁邊的人。這就是剛剛那個拿準手錶的人。
</a:t>
            </a:r>
          </a:p>
          <a:p>
            <a:pPr algn="l">
              <a:spcBef>
                <a:spcPts val="0"/>
              </a:spcBef>
              <a:spcAft>
                <a:spcPts val="133"/>
              </a:spcAft>
            </a:pPr>
            <a:r>
              <a:rPr sz="800" lang="zh-TW" dirty="0">
                <a:solidFill>
                  <a:srgbClr val="000000"/>
                </a:solidFill>
                <a:latin typeface="Arial Unicode MS"/>
                <a:ea typeface="Arial Unicode MS"/>
                <a:cs typeface="Arial Unicode MS"/>
              </a:rPr>
              <a:t>1:07 以後講載波相位，波長十九公分，那是從幾十公分壓到一公分的數學，這堂課不用。最後出現的是兩公分的小紅圈。他推銷的是 NEO-M8P，舊一代的模組，不是今天這顆。
</a:t>
            </a:r>
          </a:p>
          <a:p>
            <a:pPr algn="l">
              <a:spcBef>
                <a:spcPts val="0"/>
              </a:spcBef>
              <a:spcAft>
                <a:spcPts val="133"/>
              </a:spcAft>
            </a:pPr>
            <a:r>
              <a:rPr sz="800" lang="zh-TW" dirty="0">
                <a:solidFill>
                  <a:srgbClr val="000000"/>
                </a:solidFill>
                <a:latin typeface="Arial Unicode MS"/>
                <a:ea typeface="Arial Unicode MS"/>
                <a:cs typeface="Arial Unicode MS"/>
              </a:rPr>
              <a:t>那 </a:t>
            </a:r>
            <a:r>
              <a:rPr sz="800" b="1" lang="zh-TW" dirty="0">
                <a:solidFill>
                  <a:srgbClr val="000000"/>
                </a:solidFill>
                <a:latin typeface="Arial Unicode MS"/>
                <a:ea typeface="Arial Unicode MS"/>
                <a:cs typeface="Arial Unicode MS"/>
              </a:rPr>
              <a:t>1 ppm</a:t>
            </a:r>
            <a:r>
              <a:rPr sz="800" lang="zh-TW" dirty="0">
                <a:solidFill>
                  <a:srgbClr val="000000"/>
                </a:solidFill>
                <a:latin typeface="Arial Unicode MS"/>
                <a:ea typeface="Arial Unicode MS"/>
                <a:cs typeface="Arial Unicode MS"/>
              </a:rPr>
              <a:t> 是什麼？ppm 是百萬分之一。離基準站每一公里，再加一公釐。離得愈遠，你頭上的天空和基準站頭上的愈不一樣，就像別棟大樓的鐘，不一定也是快五分鐘。各位看表下面的</a:t>
            </a:r>
            <a:r>
              <a:rPr sz="800" b="1" lang="zh-TW" dirty="0">
                <a:solidFill>
                  <a:srgbClr val="000000"/>
                </a:solidFill>
                <a:latin typeface="Arial Unicode MS"/>
                <a:ea typeface="Arial Unicode MS"/>
                <a:cs typeface="Arial Unicode MS"/>
              </a:rPr>
              <a:t>註腳 8</a:t>
            </a:r>
            <a:r>
              <a:rPr sz="800" lang="zh-TW" dirty="0">
                <a:solidFill>
                  <a:srgbClr val="000000"/>
                </a:solidFill>
                <a:latin typeface="Arial Unicode MS"/>
                <a:ea typeface="Arial Unicode MS"/>
                <a:cs typeface="Arial Unicode MS"/>
              </a:rPr>
              <a:t>：量的時候基準站在一公里外，而且 </a:t>
            </a:r>
            <a:r>
              <a:rPr sz="800" b="1" lang="zh-TW" dirty="0">
                <a:solidFill>
                  <a:srgbClr val="000000"/>
                </a:solidFill>
                <a:latin typeface="Arial Unicode MS"/>
                <a:ea typeface="Arial Unicode MS"/>
                <a:cs typeface="Arial Unicode MS"/>
              </a:rPr>
              <a:t>ppm 只保證到二十公里</a:t>
            </a:r>
            <a:r>
              <a:rPr sz="800" lang="zh-TW" dirty="0">
                <a:solidFill>
                  <a:srgbClr val="000000"/>
                </a:solidFill>
                <a:latin typeface="Arial Unicode MS"/>
                <a:ea typeface="Arial Unicode MS"/>
                <a:cs typeface="Arial Unicode MS"/>
              </a:rPr>
              <a:t>。所以二十公里外，一公分加兩公分，三公分。判讀台就用二十公里算。表最下面還有一列 Vertical，是高度方向，也是一公分加 1 ppm；R50 跟 CEP 一樣，是一半的意思。
</a:t>
            </a:r>
          </a:p>
          <a:p>
            <a:pPr algn="l">
              <a:spcBef>
                <a:spcPts val="0"/>
              </a:spcBef>
              <a:spcAft>
                <a:spcPts val="133"/>
              </a:spcAft>
            </a:pPr>
            <a:r>
              <a:rPr sz="800" lang="zh-TW" dirty="0">
                <a:solidFill>
                  <a:srgbClr val="000000"/>
                </a:solidFill>
                <a:latin typeface="Arial Unicode MS"/>
                <a:ea typeface="Arial Unicode MS"/>
                <a:cs typeface="Arial Unicode MS"/>
              </a:rPr>
              <a:t>誰來當基準站？台灣有 </a:t>
            </a:r>
            <a:r>
              <a:rPr sz="800" b="1" lang="zh-TW" dirty="0">
                <a:solidFill>
                  <a:srgbClr val="000000"/>
                </a:solidFill>
                <a:latin typeface="Arial Unicode MS"/>
                <a:ea typeface="Arial Unicode MS"/>
                <a:cs typeface="Arial Unicode MS"/>
              </a:rPr>
              <a:t>e-GNSS</a:t>
            </a:r>
            <a:r>
              <a:rPr sz="800" lang="zh-TW" dirty="0">
                <a:solidFill>
                  <a:srgbClr val="000000"/>
                </a:solidFill>
                <a:latin typeface="Arial Unicode MS"/>
                <a:ea typeface="Arial Unicode MS"/>
                <a:cs typeface="Arial Unicode MS"/>
              </a:rPr>
              <a:t>，內政部架的全國網路；越南有 </a:t>
            </a:r>
            <a:r>
              <a:rPr sz="800" b="1" lang="zh-TW" dirty="0">
                <a:solidFill>
                  <a:srgbClr val="000000"/>
                </a:solidFill>
                <a:latin typeface="Arial Unicode MS"/>
                <a:ea typeface="Arial Unicode MS"/>
                <a:cs typeface="Arial Unicode MS"/>
              </a:rPr>
              <a:t>VNGEONET</a:t>
            </a:r>
            <a:r>
              <a:rPr sz="800" lang="zh-TW" dirty="0">
                <a:solidFill>
                  <a:srgbClr val="000000"/>
                </a:solidFill>
                <a:latin typeface="Arial Unicode MS"/>
                <a:ea typeface="Arial Unicode MS"/>
                <a:cs typeface="Arial Unicode MS"/>
              </a:rPr>
              <a:t>。訂閱之後用網路收修正資料。所以 RTK 不是買一顆模組就有，是</a:t>
            </a:r>
            <a:r>
              <a:rPr sz="800" b="1" lang="zh-TW" dirty="0">
                <a:solidFill>
                  <a:srgbClr val="000000"/>
                </a:solidFill>
                <a:latin typeface="Arial Unicode MS"/>
                <a:ea typeface="Arial Unicode MS"/>
                <a:cs typeface="Arial Unicode MS"/>
              </a:rPr>
              <a:t>一顆模組加一個訂閱</a:t>
            </a:r>
            <a:r>
              <a:rPr sz="800" lang="zh-TW" dirty="0">
                <a:solidFill>
                  <a:srgbClr val="000000"/>
                </a:solidFill>
                <a:latin typeface="Arial Unicode MS"/>
                <a:ea typeface="Arial Unicode MS"/>
                <a:cs typeface="Arial Unicode MS"/>
              </a:rPr>
              <a:t>。
</a:t>
            </a:r>
          </a:p>
          <a:p>
            <a:pPr algn="l">
              <a:spcBef>
                <a:spcPts val="0"/>
              </a:spcBef>
              <a:spcAft>
                <a:spcPts val="133"/>
              </a:spcAft>
            </a:pPr>
            <a:r>
              <a:rPr sz="800" b="1" lang="zh-TW" dirty="0">
                <a:solidFill>
                  <a:srgbClr val="000000"/>
                </a:solidFill>
                <a:latin typeface="Arial Unicode MS"/>
                <a:ea typeface="Arial Unicode MS"/>
                <a:cs typeface="Arial Unicode MS"/>
              </a:rPr>
              <a:t>Convergence time，10 秒內</a:t>
            </a:r>
            <a:r>
              <a:rPr sz="800" lang="zh-TW" dirty="0">
                <a:solidFill>
                  <a:srgbClr val="000000"/>
                </a:solidFill>
                <a:latin typeface="Arial Unicode MS"/>
                <a:ea typeface="Arial Unicode MS"/>
                <a:cs typeface="Arial Unicode MS"/>
              </a:rPr>
              <a:t>：修正資料收到之後，要十秒才會「鎖住」到一公分。各位看註腳 6，</a:t>
            </a:r>
            <a:r>
              <a:rPr sz="800" b="1" lang="zh-TW" dirty="0">
                <a:solidFill>
                  <a:srgbClr val="000000"/>
                </a:solidFill>
                <a:latin typeface="Arial Unicode MS"/>
                <a:ea typeface="Arial Unicode MS"/>
                <a:cs typeface="Arial Unicode MS"/>
              </a:rPr>
              <a:t>depends on multipath conditions</a:t>
            </a:r>
            <a:r>
              <a:rPr sz="800" lang="zh-TW" dirty="0">
                <a:solidFill>
                  <a:srgbClr val="000000"/>
                </a:solidFill>
                <a:latin typeface="Arial Unicode MS"/>
                <a:ea typeface="Arial Unicode MS"/>
                <a:cs typeface="Arial Unicode MS"/>
              </a:rPr>
              <a:t>——多路徑。這三個字下一張講，它就是河內那一格變紅的原因。
</a:t>
            </a:r>
          </a:p>
          <a:p>
            <a:pPr algn="l">
              <a:spcBef>
                <a:spcPts val="0"/>
              </a:spcBef>
              <a:spcAft>
                <a:spcPts val="133"/>
              </a:spcAft>
            </a:pPr>
            <a:r>
              <a:rPr sz="800" b="1" lang="zh-TW" dirty="0">
                <a:solidFill>
                  <a:srgbClr val="000000"/>
                </a:solidFill>
                <a:latin typeface="Arial Unicode MS"/>
                <a:ea typeface="Arial Unicode MS"/>
                <a:cs typeface="Arial Unicode MS"/>
              </a:rPr>
              <a:t>更新率，四系統 RTK 是 8 Hz</a:t>
            </a:r>
            <a:r>
              <a:rPr sz="800" lang="zh-TW" dirty="0">
                <a:solidFill>
                  <a:srgbClr val="000000"/>
                </a:solidFill>
                <a:latin typeface="Arial Unicode MS"/>
                <a:ea typeface="Arial Unicode MS"/>
                <a:cs typeface="Arial Unicode MS"/>
              </a:rPr>
              <a:t>，只收 GPS 可以到 20。收愈多系統算愈慢，又是一個交換。</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8</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75"/>
              </a:spcAft>
            </a:pPr>
            <a:r>
              <a:rPr sz="1050" lang="zh-TW" dirty="0">
                <a:solidFill>
                  <a:srgbClr val="000000"/>
                </a:solidFill>
                <a:latin typeface="Arial Unicode MS"/>
                <a:ea typeface="Arial Unicode MS"/>
                <a:cs typeface="Arial Unicode MS"/>
              </a:rPr>
              <a:t>講完它最好的樣子，講它什麼時候失靈。兩個地方，正好是我們兩個情境。
</a:t>
            </a:r>
          </a:p>
          <a:p>
            <a:pPr algn="l">
              <a:spcBef>
                <a:spcPts val="0"/>
              </a:spcBef>
              <a:spcAft>
                <a:spcPts val="175"/>
              </a:spcAft>
            </a:pPr>
            <a:r>
              <a:rPr sz="1050" b="1" lang="zh-TW" dirty="0">
                <a:solidFill>
                  <a:srgbClr val="000000"/>
                </a:solidFill>
                <a:latin typeface="Arial Unicode MS"/>
                <a:ea typeface="Arial Unicode MS"/>
                <a:cs typeface="Arial Unicode MS"/>
              </a:rPr>
              <a:t>第一個，高樓窄巷。</a:t>
            </a:r>
            <a:r>
              <a:rPr sz="1050" lang="zh-TW" dirty="0">
                <a:solidFill>
                  <a:srgbClr val="000000"/>
                </a:solidFill>
                <a:latin typeface="Arial Unicode MS"/>
                <a:ea typeface="Arial Unicode MS"/>
                <a:cs typeface="Arial Unicode MS"/>
              </a:rPr>
              <a:t>左圖。衛星在左上角，直直打下來的訊號被左邊那棟大樓擋住了。可是右邊那棟大樓的玻璃牆把訊號</a:t>
            </a:r>
            <a:r>
              <a:rPr sz="1050" b="1" lang="zh-TW" dirty="0">
                <a:solidFill>
                  <a:srgbClr val="000000"/>
                </a:solidFill>
                <a:latin typeface="Arial Unicode MS"/>
                <a:ea typeface="Arial Unicode MS"/>
                <a:cs typeface="Arial Unicode MS"/>
              </a:rPr>
              <a:t>反射</a:t>
            </a:r>
            <a:r>
              <a:rPr sz="1050" lang="zh-TW" dirty="0">
                <a:solidFill>
                  <a:srgbClr val="000000"/>
                </a:solidFill>
                <a:latin typeface="Arial Unicode MS"/>
                <a:ea typeface="Arial Unicode MS"/>
                <a:cs typeface="Arial Unicode MS"/>
              </a:rPr>
              <a:t>過來，接收機收到了。問題是這道訊號</a:t>
            </a:r>
            <a:r>
              <a:rPr sz="1050" b="1" lang="zh-TW" dirty="0">
                <a:solidFill>
                  <a:srgbClr val="000000"/>
                </a:solidFill>
                <a:latin typeface="Arial Unicode MS"/>
                <a:ea typeface="Arial Unicode MS"/>
                <a:cs typeface="Arial Unicode MS"/>
              </a:rPr>
              <a:t>繞了遠路</a:t>
            </a:r>
            <a:r>
              <a:rPr sz="1050" lang="zh-TW" dirty="0">
                <a:solidFill>
                  <a:srgbClr val="000000"/>
                </a:solidFill>
                <a:latin typeface="Arial Unicode MS"/>
                <a:ea typeface="Arial Unicode MS"/>
                <a:cs typeface="Arial Unicode MS"/>
              </a:rPr>
              <a:t>，接收機不知道，它以為衛星比較遠，算出來的位置就偏了。就像看鏡子裡的人：你會覺得他站在鏡子後面，比他真正的位置遠。偏幾十公尺都有可能。這叫</a:t>
            </a:r>
            <a:r>
              <a:rPr sz="1050" b="1" lang="zh-TW" dirty="0">
                <a:solidFill>
                  <a:srgbClr val="000000"/>
                </a:solidFill>
                <a:latin typeface="Arial Unicode MS"/>
                <a:ea typeface="Arial Unicode MS"/>
                <a:cs typeface="Arial Unicode MS"/>
              </a:rPr>
              <a:t>多路徑</a:t>
            </a:r>
            <a:r>
              <a:rPr sz="1050" lang="zh-TW" dirty="0">
                <a:solidFill>
                  <a:srgbClr val="000000"/>
                </a:solidFill>
                <a:latin typeface="Arial Unicode MS"/>
                <a:ea typeface="Arial Unicode MS"/>
                <a:cs typeface="Arial Unicode MS"/>
              </a:rPr>
              <a:t>。
</a:t>
            </a:r>
          </a:p>
          <a:p>
            <a:pPr algn="l">
              <a:spcBef>
                <a:spcPts val="0"/>
              </a:spcBef>
              <a:spcAft>
                <a:spcPts val="175"/>
              </a:spcAft>
            </a:pPr>
            <a:r>
              <a:rPr sz="1050" lang="zh-TW" dirty="0">
                <a:solidFill>
                  <a:srgbClr val="000000"/>
                </a:solidFill>
                <a:latin typeface="Arial Unicode MS"/>
                <a:ea typeface="Arial Unicode MS"/>
                <a:cs typeface="Arial Unicode MS"/>
              </a:rPr>
              <a:t>播左下那支 Garmin 的影片，中文，</a:t>
            </a:r>
            <a:r>
              <a:rPr sz="1050" b="1" lang="zh-TW" dirty="0">
                <a:solidFill>
                  <a:srgbClr val="000000"/>
                </a:solidFill>
                <a:latin typeface="Arial Unicode MS"/>
                <a:ea typeface="Arial Unicode MS"/>
                <a:cs typeface="Arial Unicode MS"/>
              </a:rPr>
              <a:t>從 1:08 播到 1:28</a:t>
            </a:r>
            <a:r>
              <a:rPr sz="1050" lang="zh-TW" dirty="0">
                <a:solidFill>
                  <a:srgbClr val="000000"/>
                </a:solidFill>
                <a:latin typeface="Arial Unicode MS"/>
                <a:ea typeface="Arial Unicode MS"/>
                <a:cs typeface="Arial Unicode MS"/>
              </a:rPr>
              <a:t>，二十秒。畫面上兩棟大樓，訊號在中間彈來彈去。旁白說：大樓的玻璃會反射訊號，造成訊號延遲；大樓本身也會擋住訊號；樹木茂密的地方也一樣。「延遲」就是剛剛講的繞了遠路。
</a:t>
            </a:r>
          </a:p>
          <a:p>
            <a:pPr algn="l">
              <a:spcBef>
                <a:spcPts val="0"/>
              </a:spcBef>
              <a:spcAft>
                <a:spcPts val="175"/>
              </a:spcAft>
            </a:pPr>
            <a:r>
              <a:rPr sz="1050" lang="zh-TW" dirty="0">
                <a:solidFill>
                  <a:srgbClr val="000000"/>
                </a:solidFill>
                <a:latin typeface="Arial Unicode MS"/>
                <a:ea typeface="Arial Unicode MS"/>
                <a:cs typeface="Arial Unicode MS"/>
              </a:rPr>
              <a:t>更麻煩的是</a:t>
            </a:r>
            <a:r>
              <a:rPr sz="1050" b="1" lang="zh-TW" dirty="0">
                <a:solidFill>
                  <a:srgbClr val="000000"/>
                </a:solidFill>
                <a:latin typeface="Arial Unicode MS"/>
                <a:ea typeface="Arial Unicode MS"/>
                <a:cs typeface="Arial Unicode MS"/>
              </a:rPr>
              <a:t>它不知道自己錯了</a:t>
            </a:r>
            <a:r>
              <a:rPr sz="1050" lang="zh-TW" dirty="0">
                <a:solidFill>
                  <a:srgbClr val="000000"/>
                </a:solidFill>
                <a:latin typeface="Arial Unicode MS"/>
                <a:ea typeface="Arial Unicode MS"/>
                <a:cs typeface="Arial Unicode MS"/>
              </a:rPr>
              <a:t>。它照樣回報一個位置，看起來很正常。河內的老城區，巷子三公尺寬、兩邊五層樓，就是多路徑最嚴重的地方。RTK 在那裡會</a:t>
            </a:r>
            <a:r>
              <a:rPr sz="1050" b="1" lang="zh-TW" dirty="0">
                <a:solidFill>
                  <a:srgbClr val="000000"/>
                </a:solidFill>
                <a:latin typeface="Arial Unicode MS"/>
                <a:ea typeface="Arial Unicode MS"/>
                <a:cs typeface="Arial Unicode MS"/>
              </a:rPr>
              <a:t>失鎖</a:t>
            </a:r>
            <a:r>
              <a:rPr sz="1050" lang="zh-TW" dirty="0">
                <a:solidFill>
                  <a:srgbClr val="000000"/>
                </a:solidFill>
                <a:latin typeface="Arial Unicode MS"/>
                <a:ea typeface="Arial Unicode MS"/>
                <a:cs typeface="Arial Unicode MS"/>
              </a:rPr>
              <a:t>，退回一點五公尺，而且要重新收斂十秒。本課在河內那個情境假設有十秒算不出可靠的位置，判讀台上 ZED-F9P 河內那一格是紅的，原因就是這個。
</a:t>
            </a:r>
          </a:p>
          <a:p>
            <a:pPr algn="l">
              <a:spcBef>
                <a:spcPts val="0"/>
              </a:spcBef>
              <a:spcAft>
                <a:spcPts val="175"/>
              </a:spcAft>
            </a:pPr>
            <a:r>
              <a:rPr sz="1050" b="1" lang="zh-TW" dirty="0">
                <a:solidFill>
                  <a:srgbClr val="000000"/>
                </a:solidFill>
                <a:latin typeface="Arial Unicode MS"/>
                <a:ea typeface="Arial Unicode MS"/>
                <a:cs typeface="Arial Unicode MS"/>
              </a:rPr>
              <a:t>第二個，隧道。</a:t>
            </a:r>
            <a:r>
              <a:rPr sz="1050" lang="zh-TW" dirty="0">
                <a:solidFill>
                  <a:srgbClr val="000000"/>
                </a:solidFill>
                <a:latin typeface="Arial Unicode MS"/>
                <a:ea typeface="Arial Unicode MS"/>
                <a:cs typeface="Arial Unicode MS"/>
              </a:rPr>
              <a:t>右圖，什麼都收不到，不是誤差大，是</a:t>
            </a:r>
            <a:r>
              <a:rPr sz="1050" b="1" lang="zh-TW" dirty="0">
                <a:solidFill>
                  <a:srgbClr val="000000"/>
                </a:solidFill>
                <a:latin typeface="Arial Unicode MS"/>
                <a:ea typeface="Arial Unicode MS"/>
                <a:cs typeface="Arial Unicode MS"/>
              </a:rPr>
              <a:t>沒有</a:t>
            </a:r>
            <a:r>
              <a:rPr sz="1050" lang="zh-TW" dirty="0">
                <a:solidFill>
                  <a:srgbClr val="000000"/>
                </a:solidFill>
                <a:latin typeface="Arial Unicode MS"/>
                <a:ea typeface="Arial Unicode MS"/>
                <a:cs typeface="Arial Unicode MS"/>
              </a:rPr>
              <a:t>。就像手機到了地下室沒有訊號。地下停車場也一樣。雪山隧道十二點九公里，時速八十要跑九分多鐘，這九分鐘車子完全不知道自己在哪。
</a:t>
            </a:r>
          </a:p>
          <a:p>
            <a:pPr algn="l">
              <a:spcBef>
                <a:spcPts val="0"/>
              </a:spcBef>
              <a:spcAft>
                <a:spcPts val="175"/>
              </a:spcAft>
            </a:pPr>
            <a:r>
              <a:rPr sz="1050" lang="zh-TW" dirty="0">
                <a:solidFill>
                  <a:srgbClr val="000000"/>
                </a:solidFill>
                <a:latin typeface="Arial Unicode MS"/>
                <a:ea typeface="Arial Unicode MS"/>
                <a:cs typeface="Arial Unicode MS"/>
              </a:rPr>
              <a:t>播右下那支，五十二秒，</a:t>
            </a:r>
            <a:r>
              <a:rPr sz="1050" b="1" lang="zh-TW" dirty="0">
                <a:solidFill>
                  <a:srgbClr val="000000"/>
                </a:solidFill>
                <a:latin typeface="Arial Unicode MS"/>
                <a:ea typeface="Arial Unicode MS"/>
                <a:cs typeface="Arial Unicode MS"/>
              </a:rPr>
              <a:t>沒有旁白</a:t>
            </a:r>
            <a:r>
              <a:rPr sz="1050" lang="zh-TW" dirty="0">
                <a:solidFill>
                  <a:srgbClr val="000000"/>
                </a:solidFill>
                <a:latin typeface="Arial Unicode MS"/>
                <a:ea typeface="Arial Unicode MS"/>
                <a:cs typeface="Arial Unicode MS"/>
              </a:rPr>
              <a:t>，只有音樂和英文字卡，是一家做車用追蹤器的公司的廣告。一台車開進地下停車場。右上角的地圖有兩條線：</a:t>
            </a:r>
            <a:r>
              <a:rPr sz="1050" b="1" lang="zh-TW" dirty="0">
                <a:solidFill>
                  <a:srgbClr val="000000"/>
                </a:solidFill>
                <a:latin typeface="Arial Unicode MS"/>
                <a:ea typeface="Arial Unicode MS"/>
                <a:cs typeface="Arial Unicode MS"/>
              </a:rPr>
              <a:t>紅線</a:t>
            </a:r>
            <a:r>
              <a:rPr sz="1050" lang="zh-TW" dirty="0">
                <a:solidFill>
                  <a:srgbClr val="000000"/>
                </a:solidFill>
                <a:latin typeface="Arial Unicode MS"/>
                <a:ea typeface="Arial Unicode MS"/>
                <a:cs typeface="Arial Unicode MS"/>
              </a:rPr>
              <a:t>是一般的追蹤器，標示寫 GPS signal lost，到入口就斷了；</a:t>
            </a:r>
            <a:r>
              <a:rPr sz="1050" b="1" lang="zh-TW" dirty="0">
                <a:solidFill>
                  <a:srgbClr val="000000"/>
                </a:solidFill>
                <a:latin typeface="Arial Unicode MS"/>
                <a:ea typeface="Arial Unicode MS"/>
                <a:cs typeface="Arial Unicode MS"/>
              </a:rPr>
              <a:t>藍線</a:t>
            </a:r>
            <a:r>
              <a:rPr sz="1050" lang="zh-TW" dirty="0">
                <a:solidFill>
                  <a:srgbClr val="000000"/>
                </a:solidFill>
                <a:latin typeface="Arial Unicode MS"/>
                <a:ea typeface="Arial Unicode MS"/>
                <a:cs typeface="Arial Unicode MS"/>
              </a:rPr>
              <a:t>是他們的產品，一直畫進停車場裡面。字卡說它用的是 </a:t>
            </a:r>
            <a:r>
              <a:rPr sz="1050" b="1" lang="zh-TW" dirty="0">
                <a:solidFill>
                  <a:srgbClr val="000000"/>
                </a:solidFill>
                <a:latin typeface="Arial Unicode MS"/>
                <a:ea typeface="Arial Unicode MS"/>
                <a:cs typeface="Arial Unicode MS"/>
              </a:rPr>
              <a:t>accelerometer and gyroscope</a:t>
            </a:r>
            <a:r>
              <a:rPr sz="1050" lang="zh-TW" dirty="0">
                <a:solidFill>
                  <a:srgbClr val="000000"/>
                </a:solidFill>
                <a:latin typeface="Arial Unicode MS"/>
                <a:ea typeface="Arial Unicode MS"/>
                <a:cs typeface="Arial Unicode MS"/>
              </a:rPr>
              <a:t>，加速度計和陀螺儀，從最後一個已知的位置往下推。
</a:t>
            </a:r>
          </a:p>
          <a:p>
            <a:pPr algn="l">
              <a:spcBef>
                <a:spcPts val="0"/>
              </a:spcBef>
              <a:spcAft>
                <a:spcPts val="175"/>
              </a:spcAft>
            </a:pPr>
            <a:r>
              <a:rPr sz="1050" lang="zh-TW" dirty="0">
                <a:solidFill>
                  <a:srgbClr val="000000"/>
                </a:solidFill>
                <a:latin typeface="Arial Unicode MS"/>
                <a:ea typeface="Arial Unicode MS"/>
                <a:cs typeface="Arial Unicode MS"/>
              </a:rPr>
              <a:t>播完問一句：「藍線能一直畫下去嗎？能撐多久？」先不要回答，這就是第三段要算的。
</a:t>
            </a:r>
          </a:p>
          <a:p>
            <a:pPr algn="l">
              <a:spcBef>
                <a:spcPts val="0"/>
              </a:spcBef>
              <a:spcAft>
                <a:spcPts val="175"/>
              </a:spcAft>
            </a:pPr>
            <a:r>
              <a:rPr sz="1050" lang="zh-TW" dirty="0">
                <a:solidFill>
                  <a:srgbClr val="000000"/>
                </a:solidFill>
                <a:latin typeface="Arial Unicode MS"/>
                <a:ea typeface="Arial Unicode MS"/>
                <a:cs typeface="Arial Unicode MS"/>
              </a:rPr>
              <a:t>所以自駕車不能只靠衛星。它是「</a:t>
            </a:r>
            <a:r>
              <a:rPr sz="1050" b="1" lang="zh-TW" dirty="0">
                <a:solidFill>
                  <a:srgbClr val="000000"/>
                </a:solidFill>
                <a:latin typeface="Arial Unicode MS"/>
                <a:ea typeface="Arial Unicode MS"/>
                <a:cs typeface="Arial Unicode MS"/>
              </a:rPr>
              <a:t>偶爾給你一個絕對位置</a:t>
            </a:r>
            <a:r>
              <a:rPr sz="1050" lang="zh-TW" dirty="0">
                <a:solidFill>
                  <a:srgbClr val="000000"/>
                </a:solidFill>
                <a:latin typeface="Arial Unicode MS"/>
                <a:ea typeface="Arial Unicode MS"/>
                <a:cs typeface="Arial Unicode MS"/>
              </a:rPr>
              <a:t>」的感測器，中間要靠別的東西補。補的那個東西，就是第三段。</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9</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第三段，</a:t>
            </a:r>
            <a:r>
              <a:rPr sz="1200" b="1" lang="zh-TW" dirty="0">
                <a:solidFill>
                  <a:srgbClr val="000000"/>
                </a:solidFill>
                <a:latin typeface="Arial Unicode MS"/>
                <a:ea typeface="Arial Unicode MS"/>
                <a:cs typeface="Arial Unicode MS"/>
              </a:rPr>
              <a:t>慣性量測單元</a:t>
            </a:r>
            <a:r>
              <a:rPr sz="1200" lang="zh-TW" dirty="0">
                <a:solidFill>
                  <a:srgbClr val="000000"/>
                </a:solidFill>
                <a:latin typeface="Arial Unicode MS"/>
                <a:ea typeface="Arial Unicode MS"/>
                <a:cs typeface="Arial Unicode MS"/>
              </a:rPr>
              <a:t>，英文縮寫 </a:t>
            </a:r>
            <a:r>
              <a:rPr sz="1200" b="1" lang="zh-TW" dirty="0">
                <a:solidFill>
                  <a:srgbClr val="000000"/>
                </a:solidFill>
                <a:latin typeface="Arial Unicode MS"/>
                <a:ea typeface="Arial Unicode MS"/>
                <a:cs typeface="Arial Unicode MS"/>
              </a:rPr>
              <a:t>IMU</a:t>
            </a:r>
            <a:r>
              <a:rPr sz="1200" lang="zh-TW" dirty="0">
                <a:solidFill>
                  <a:srgbClr val="000000"/>
                </a:solidFill>
                <a:latin typeface="Arial Unicode MS"/>
                <a:ea typeface="Arial Unicode MS"/>
                <a:cs typeface="Arial Unicode MS"/>
              </a:rPr>
              <a:t>，是 </a:t>
            </a:r>
            <a:r>
              <a:rPr sz="1200" b="1" lang="zh-TW" dirty="0">
                <a:solidFill>
                  <a:srgbClr val="000000"/>
                </a:solidFill>
                <a:latin typeface="Arial Unicode MS"/>
                <a:ea typeface="Arial Unicode MS"/>
                <a:cs typeface="Arial Unicode MS"/>
              </a:rPr>
              <a:t>Inertial Measurement Unit</a:t>
            </a:r>
            <a:r>
              <a:rPr sz="1200" lang="zh-TW" dirty="0">
                <a:solidFill>
                  <a:srgbClr val="000000"/>
                </a:solidFill>
                <a:latin typeface="Arial Unicode MS"/>
                <a:ea typeface="Arial Unicode MS"/>
                <a:cs typeface="Arial Unicode MS"/>
              </a:rPr>
              <a:t> 三個字的第一個字母：Inertial 慣性、Measurement 量測、Unit 單元。以下都叫它 IMU。
</a:t>
            </a:r>
          </a:p>
          <a:p>
            <a:pPr algn="l">
              <a:spcBef>
                <a:spcPts val="0"/>
              </a:spcBef>
              <a:spcAft>
                <a:spcPts val="200"/>
              </a:spcAft>
            </a:pPr>
            <a:r>
              <a:rPr sz="1200" lang="zh-TW" dirty="0">
                <a:solidFill>
                  <a:srgbClr val="000000"/>
                </a:solidFill>
                <a:latin typeface="Arial Unicode MS"/>
                <a:ea typeface="Arial Unicode MS"/>
                <a:cs typeface="Arial Unicode MS"/>
              </a:rPr>
              <a:t>它裡面有兩種東西：</a:t>
            </a:r>
            <a:r>
              <a:rPr sz="1200" b="1" lang="zh-TW" dirty="0">
                <a:solidFill>
                  <a:srgbClr val="000000"/>
                </a:solidFill>
                <a:latin typeface="Arial Unicode MS"/>
                <a:ea typeface="Arial Unicode MS"/>
                <a:cs typeface="Arial Unicode MS"/>
              </a:rPr>
              <a:t>加速度計</a:t>
            </a:r>
            <a:r>
              <a:rPr sz="1200" lang="zh-TW" dirty="0">
                <a:solidFill>
                  <a:srgbClr val="000000"/>
                </a:solidFill>
                <a:latin typeface="Arial Unicode MS"/>
                <a:ea typeface="Arial Unicode MS"/>
                <a:cs typeface="Arial Unicode MS"/>
              </a:rPr>
              <a:t>，量你往哪個方向加速；</a:t>
            </a:r>
            <a:r>
              <a:rPr sz="1200" b="1" lang="zh-TW" dirty="0">
                <a:solidFill>
                  <a:srgbClr val="000000"/>
                </a:solidFill>
                <a:latin typeface="Arial Unicode MS"/>
                <a:ea typeface="Arial Unicode MS"/>
                <a:cs typeface="Arial Unicode MS"/>
              </a:rPr>
              <a:t>陀螺儀</a:t>
            </a:r>
            <a:r>
              <a:rPr sz="1200" lang="zh-TW" dirty="0">
                <a:solidFill>
                  <a:srgbClr val="000000"/>
                </a:solidFill>
                <a:latin typeface="Arial Unicode MS"/>
                <a:ea typeface="Arial Unicode MS"/>
                <a:cs typeface="Arial Unicode MS"/>
              </a:rPr>
              <a:t>，量你轉了多快。三軸加三軸，所以叫六軸。各位手機轉成橫的螢幕會跟著轉，就是它。
</a:t>
            </a:r>
          </a:p>
          <a:p>
            <a:pPr algn="l">
              <a:spcBef>
                <a:spcPts val="0"/>
              </a:spcBef>
              <a:spcAft>
                <a:spcPts val="200"/>
              </a:spcAft>
            </a:pPr>
            <a:r>
              <a:rPr sz="1200" lang="zh-TW" dirty="0">
                <a:solidFill>
                  <a:srgbClr val="000000"/>
                </a:solidFill>
                <a:latin typeface="Arial Unicode MS"/>
                <a:ea typeface="Arial Unicode MS"/>
                <a:cs typeface="Arial Unicode MS"/>
              </a:rPr>
              <a:t>它最大的好處是</a:t>
            </a:r>
            <a:r>
              <a:rPr sz="1200" b="1" lang="zh-TW" dirty="0">
                <a:solidFill>
                  <a:srgbClr val="000000"/>
                </a:solidFill>
                <a:latin typeface="Arial Unicode MS"/>
                <a:ea typeface="Arial Unicode MS"/>
                <a:cs typeface="Arial Unicode MS"/>
              </a:rPr>
              <a:t>完全不靠外界</a:t>
            </a:r>
            <a:r>
              <a:rPr sz="1200" lang="zh-TW" dirty="0">
                <a:solidFill>
                  <a:srgbClr val="000000"/>
                </a:solidFill>
                <a:latin typeface="Arial Unicode MS"/>
                <a:ea typeface="Arial Unicode MS"/>
                <a:cs typeface="Arial Unicode MS"/>
              </a:rPr>
              <a:t>：隧道裡、地下室、大霧裡，照常工作。它最大的問題也是這個：沒有外界可以對，錯了沒有人糾正，所以</a:t>
            </a:r>
            <a:r>
              <a:rPr sz="1200" b="1" lang="zh-TW" dirty="0">
                <a:solidFill>
                  <a:srgbClr val="000000"/>
                </a:solidFill>
                <a:latin typeface="Arial Unicode MS"/>
                <a:ea typeface="Arial Unicode MS"/>
                <a:cs typeface="Arial Unicode MS"/>
              </a:rPr>
              <a:t>會飄</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各位可以試試看，閉上眼睛走直線。前幾步還好，走十步、二十步就歪了，而且自己不知道歪了多少。IMU 就像閉著眼睛走路的人。
</a:t>
            </a:r>
          </a:p>
          <a:p>
            <a:pPr algn="l">
              <a:spcBef>
                <a:spcPts val="0"/>
              </a:spcBef>
              <a:spcAft>
                <a:spcPts val="200"/>
              </a:spcAft>
            </a:pPr>
            <a:r>
              <a:rPr sz="1200" lang="zh-TW" dirty="0">
                <a:solidFill>
                  <a:srgbClr val="000000"/>
                </a:solidFill>
                <a:latin typeface="Arial Unicode MS"/>
                <a:ea typeface="Arial Unicode MS"/>
                <a:cs typeface="Arial Unicode MS"/>
              </a:rPr>
              <a:t>兩顆型號：手機裡那顆，和工業級那顆。差在一行字。</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10</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42"/>
              </a:spcAft>
            </a:pPr>
            <a:r>
              <a:rPr sz="850" lang="zh-TW" dirty="0">
                <a:solidFill>
                  <a:srgbClr val="000000"/>
                </a:solidFill>
                <a:latin typeface="Arial Unicode MS"/>
                <a:ea typeface="Arial Unicode MS"/>
                <a:cs typeface="Arial Unicode MS"/>
              </a:rPr>
              <a:t>看表之前，先看陀螺儀裡面長什麼樣子。播左下那支 Bosch 的動畫，一分半，英文旁白，看動畫就懂。
</a:t>
            </a:r>
          </a:p>
          <a:p>
            <a:pPr algn="l">
              <a:spcBef>
                <a:spcPts val="0"/>
              </a:spcBef>
              <a:spcAft>
                <a:spcPts val="142"/>
              </a:spcAft>
            </a:pPr>
            <a:r>
              <a:rPr sz="850" lang="zh-TW" dirty="0">
                <a:solidFill>
                  <a:srgbClr val="000000"/>
                </a:solidFill>
                <a:latin typeface="Arial Unicode MS"/>
                <a:ea typeface="Arial Unicode MS"/>
                <a:cs typeface="Arial Unicode MS"/>
              </a:rPr>
              <a:t>先說清楚：影片裡那顆</a:t>
            </a:r>
            <a:r>
              <a:rPr sz="850" b="1" lang="zh-TW" dirty="0">
                <a:solidFill>
                  <a:srgbClr val="000000"/>
                </a:solidFill>
                <a:latin typeface="Arial Unicode MS"/>
                <a:ea typeface="Arial Unicode MS"/>
                <a:cs typeface="Arial Unicode MS"/>
              </a:rPr>
              <a:t>不是</a:t>
            </a:r>
            <a:r>
              <a:rPr sz="850" lang="zh-TW" dirty="0">
                <a:solidFill>
                  <a:srgbClr val="000000"/>
                </a:solidFill>
                <a:latin typeface="Arial Unicode MS"/>
                <a:ea typeface="Arial Unicode MS"/>
                <a:cs typeface="Arial Unicode MS"/>
              </a:rPr>
              <a:t>今天表上的 ICM-20948，是 Bosch 做給車子用的陀螺儀。它裝在車上的 </a:t>
            </a:r>
            <a:r>
              <a:rPr sz="850" b="1" lang="zh-TW" dirty="0">
                <a:solidFill>
                  <a:srgbClr val="000000"/>
                </a:solidFill>
                <a:latin typeface="Arial Unicode MS"/>
                <a:ea typeface="Arial Unicode MS"/>
                <a:cs typeface="Arial Unicode MS"/>
              </a:rPr>
              <a:t>ESP</a:t>
            </a:r>
            <a:r>
              <a:rPr sz="850" lang="zh-TW" dirty="0">
                <a:solidFill>
                  <a:srgbClr val="000000"/>
                </a:solidFill>
                <a:latin typeface="Arial Unicode MS"/>
                <a:ea typeface="Arial Unicode MS"/>
                <a:cs typeface="Arial Unicode MS"/>
              </a:rPr>
              <a:t>，也就是車身電子穩定系統：車子快要打滑、開始繞著自己轉的時候，ESP 會自動對某一個輪子煞車，把車身拉回來。陀螺儀的工作，就是量車子有沒有繞著自己轉。</a:t>
            </a:r>
            <a:r>
              <a:rPr sz="850" b="1" lang="zh-TW" dirty="0">
                <a:solidFill>
                  <a:srgbClr val="000000"/>
                </a:solidFill>
                <a:latin typeface="Arial Unicode MS"/>
                <a:ea typeface="Arial Unicode MS"/>
                <a:cs typeface="Arial Unicode MS"/>
              </a:rPr>
              <a:t>0:17</a:t>
            </a:r>
            <a:r>
              <a:rPr sz="850" lang="zh-TW" dirty="0">
                <a:solidFill>
                  <a:srgbClr val="000000"/>
                </a:solidFill>
                <a:latin typeface="Arial Unicode MS"/>
                <a:ea typeface="Arial Unicode MS"/>
                <a:cs typeface="Arial Unicode MS"/>
              </a:rPr>
              <a:t> 旁白說它裝在車子重心附近，例如安全氣囊的控制器裡。放這支影片，是因為手機級和車用級的陀螺儀，裡面的原理是一樣的。
</a:t>
            </a:r>
          </a:p>
          <a:p>
            <a:pPr algn="l">
              <a:spcBef>
                <a:spcPts val="0"/>
              </a:spcBef>
              <a:spcAft>
                <a:spcPts val="142"/>
              </a:spcAft>
            </a:pPr>
            <a:r>
              <a:rPr sz="850" b="1" lang="zh-TW" dirty="0">
                <a:solidFill>
                  <a:srgbClr val="000000"/>
                </a:solidFill>
                <a:latin typeface="Arial Unicode MS"/>
                <a:ea typeface="Arial Unicode MS"/>
                <a:cs typeface="Arial Unicode MS"/>
              </a:rPr>
              <a:t>0:24</a:t>
            </a:r>
            <a:r>
              <a:rPr sz="850" lang="zh-TW" dirty="0">
                <a:solidFill>
                  <a:srgbClr val="000000"/>
                </a:solidFill>
                <a:latin typeface="Arial Unicode MS"/>
                <a:ea typeface="Arial Unicode MS"/>
                <a:cs typeface="Arial Unicode MS"/>
              </a:rPr>
              <a:t> 開始看裡面：沒有在轉的東西，是兩組</a:t>
            </a:r>
            <a:r>
              <a:rPr sz="850" b="1" lang="zh-TW" dirty="0">
                <a:solidFill>
                  <a:srgbClr val="000000"/>
                </a:solidFill>
                <a:latin typeface="Arial Unicode MS"/>
                <a:ea typeface="Arial Unicode MS"/>
                <a:cs typeface="Arial Unicode MS"/>
              </a:rPr>
              <a:t>梳子形狀</a:t>
            </a:r>
            <a:r>
              <a:rPr sz="850" lang="zh-TW" dirty="0">
                <a:solidFill>
                  <a:srgbClr val="000000"/>
                </a:solidFill>
                <a:latin typeface="Arial Unicode MS"/>
                <a:ea typeface="Arial Unicode MS"/>
                <a:cs typeface="Arial Unicode MS"/>
              </a:rPr>
              <a:t>的結構，用彈簧連著，一直來回振動。車子直直開，它就只是振動。</a:t>
            </a:r>
            <a:r>
              <a:rPr sz="850" b="1" lang="zh-TW" dirty="0">
                <a:solidFill>
                  <a:srgbClr val="000000"/>
                </a:solidFill>
                <a:latin typeface="Arial Unicode MS"/>
                <a:ea typeface="Arial Unicode MS"/>
                <a:cs typeface="Arial Unicode MS"/>
              </a:rPr>
              <a:t>0:57</a:t>
            </a:r>
            <a:r>
              <a:rPr sz="850" lang="zh-TW" dirty="0">
                <a:solidFill>
                  <a:srgbClr val="000000"/>
                </a:solidFill>
                <a:latin typeface="Arial Unicode MS"/>
                <a:ea typeface="Arial Unicode MS"/>
                <a:cs typeface="Arial Unicode MS"/>
              </a:rPr>
              <a:t> 車子轉方向，有一股力，叫</a:t>
            </a:r>
            <a:r>
              <a:rPr sz="850" b="1" lang="zh-TW" dirty="0">
                <a:solidFill>
                  <a:srgbClr val="000000"/>
                </a:solidFill>
                <a:latin typeface="Arial Unicode MS"/>
                <a:ea typeface="Arial Unicode MS"/>
                <a:cs typeface="Arial Unicode MS"/>
              </a:rPr>
              <a:t>科氏力</a:t>
            </a:r>
            <a:r>
              <a:rPr sz="850" lang="zh-TW" dirty="0">
                <a:solidFill>
                  <a:srgbClr val="000000"/>
                </a:solidFill>
                <a:latin typeface="Arial Unicode MS"/>
                <a:ea typeface="Arial Unicode MS"/>
                <a:cs typeface="Arial Unicode MS"/>
              </a:rPr>
              <a:t>，把結構往旁邊推一點點，梳齒之間的電容就變了；變多少，代表轉多快。</a:t>
            </a:r>
            <a:r>
              <a:rPr sz="850" b="1" lang="zh-TW" dirty="0">
                <a:solidFill>
                  <a:srgbClr val="000000"/>
                </a:solidFill>
                <a:latin typeface="Arial Unicode MS"/>
                <a:ea typeface="Arial Unicode MS"/>
                <a:cs typeface="Arial Unicode MS"/>
              </a:rPr>
              <a:t>1:11</a:t>
            </a:r>
            <a:r>
              <a:rPr sz="850" lang="zh-TW" dirty="0">
                <a:solidFill>
                  <a:srgbClr val="000000"/>
                </a:solidFill>
                <a:latin typeface="Arial Unicode MS"/>
                <a:ea typeface="Arial Unicode MS"/>
                <a:cs typeface="Arial Unicode MS"/>
              </a:rPr>
              <a:t> 旁白說，它量得到的位移小到像原子核那麼小。
</a:t>
            </a:r>
          </a:p>
          <a:p>
            <a:pPr algn="l">
              <a:spcBef>
                <a:spcPts val="0"/>
              </a:spcBef>
              <a:spcAft>
                <a:spcPts val="142"/>
              </a:spcAft>
            </a:pPr>
            <a:r>
              <a:rPr sz="850" lang="zh-TW" dirty="0">
                <a:solidFill>
                  <a:srgbClr val="000000"/>
                </a:solidFill>
                <a:latin typeface="Arial Unicode MS"/>
                <a:ea typeface="Arial Unicode MS"/>
                <a:cs typeface="Arial Unicode MS"/>
              </a:rPr>
              <a:t>位移這麼小，溫度變一點、零件差一點，讀數就會偏。等一下表上那一行「零偏」，講的就是這個。手機裡的 ICM-20948 也是這樣量轉動，只是等級不一樣。
</a:t>
            </a:r>
          </a:p>
          <a:p>
            <a:pPr algn="l">
              <a:spcBef>
                <a:spcPts val="0"/>
              </a:spcBef>
              <a:spcAft>
                <a:spcPts val="142"/>
              </a:spcAft>
            </a:pPr>
            <a:r>
              <a:rPr sz="850" lang="zh-TW" dirty="0">
                <a:solidFill>
                  <a:srgbClr val="000000"/>
                </a:solidFill>
                <a:latin typeface="Arial Unicode MS"/>
                <a:ea typeface="Arial Unicode MS"/>
                <a:cs typeface="Arial Unicode MS"/>
              </a:rPr>
              <a:t>第一顆，TDK 的 </a:t>
            </a:r>
            <a:r>
              <a:rPr sz="850" b="1" lang="zh-TW" dirty="0">
                <a:solidFill>
                  <a:srgbClr val="000000"/>
                </a:solidFill>
                <a:latin typeface="Arial Unicode MS"/>
                <a:ea typeface="Arial Unicode MS"/>
                <a:cs typeface="Arial Unicode MS"/>
              </a:rPr>
              <a:t>ICM-20948</a:t>
            </a:r>
            <a:r>
              <a:rPr sz="850" lang="zh-TW" dirty="0">
                <a:solidFill>
                  <a:srgbClr val="000000"/>
                </a:solidFill>
                <a:latin typeface="Arial Unicode MS"/>
                <a:ea typeface="Arial Unicode MS"/>
                <a:cs typeface="Arial Unicode MS"/>
              </a:rPr>
              <a:t>。三乘三公釐，九軸，手機、手錶、無人機裡面都是這一類。左邊是規格書第十一頁陀螺儀那張表。
</a:t>
            </a:r>
          </a:p>
          <a:p>
            <a:pPr algn="l">
              <a:spcBef>
                <a:spcPts val="0"/>
              </a:spcBef>
              <a:spcAft>
                <a:spcPts val="142"/>
              </a:spcAft>
            </a:pPr>
            <a:r>
              <a:rPr sz="850" lang="zh-TW" dirty="0">
                <a:solidFill>
                  <a:srgbClr val="000000"/>
                </a:solidFill>
                <a:latin typeface="Arial Unicode MS"/>
                <a:ea typeface="Arial Unicode MS"/>
                <a:cs typeface="Arial Unicode MS"/>
              </a:rPr>
              <a:t>從上往下。</a:t>
            </a:r>
            <a:r>
              <a:rPr sz="850" b="1" lang="zh-TW" dirty="0">
                <a:solidFill>
                  <a:srgbClr val="000000"/>
                </a:solidFill>
                <a:latin typeface="Arial Unicode MS"/>
                <a:ea typeface="Arial Unicode MS"/>
                <a:cs typeface="Arial Unicode MS"/>
              </a:rPr>
              <a:t>Full-Scale Range，量程，最大正負兩千度每秒。</a:t>
            </a:r>
            <a:r>
              <a:rPr sz="850" lang="zh-TW" dirty="0">
                <a:solidFill>
                  <a:srgbClr val="000000"/>
                </a:solidFill>
                <a:latin typeface="Arial Unicode MS"/>
                <a:ea typeface="Arial Unicode MS"/>
                <a:cs typeface="Arial Unicode MS"/>
              </a:rPr>
              <a:t>意思是它最快量得到一秒轉兩千度。正負是兩個方向，往左轉記正的、往右轉記負的。轉得比這還快，它就一直讀兩千，像速度表的指針頂到底。表上只寫度，換成圈數要自己算：一圈三百六十度，兩千除以三百六十，大約</a:t>
            </a:r>
            <a:r>
              <a:rPr sz="850" b="1" lang="zh-TW" dirty="0">
                <a:solidFill>
                  <a:srgbClr val="000000"/>
                </a:solidFill>
                <a:latin typeface="Arial Unicode MS"/>
                <a:ea typeface="Arial Unicode MS"/>
                <a:cs typeface="Arial Unicode MS"/>
              </a:rPr>
              <a:t>五圈半</a:t>
            </a:r>
            <a:r>
              <a:rPr sz="850" lang="zh-TW" dirty="0">
                <a:solidFill>
                  <a:srgbClr val="000000"/>
                </a:solidFill>
                <a:latin typeface="Arial Unicode MS"/>
                <a:ea typeface="Arial Unicode MS"/>
                <a:cs typeface="Arial Unicode MS"/>
              </a:rPr>
              <a:t>。車子用不到這麼快：路口迴轉，大概五秒轉半圈，一秒三、四十度而已。這個數字等一下工業級那顆也一樣，所以量程不是等級的差別。
</a:t>
            </a:r>
          </a:p>
          <a:p>
            <a:pPr algn="l">
              <a:spcBef>
                <a:spcPts val="0"/>
              </a:spcBef>
              <a:spcAft>
                <a:spcPts val="142"/>
              </a:spcAft>
            </a:pPr>
            <a:r>
              <a:rPr sz="850" lang="zh-TW" dirty="0">
                <a:solidFill>
                  <a:srgbClr val="000000"/>
                </a:solidFill>
                <a:latin typeface="Arial Unicode MS"/>
                <a:ea typeface="Arial Unicode MS"/>
                <a:cs typeface="Arial Unicode MS"/>
              </a:rPr>
              <a:t>中間那一塊，</a:t>
            </a:r>
            <a:r>
              <a:rPr sz="850" b="1" lang="zh-TW" dirty="0">
                <a:solidFill>
                  <a:srgbClr val="000000"/>
                </a:solidFill>
                <a:latin typeface="Arial Unicode MS"/>
                <a:ea typeface="Arial Unicode MS"/>
                <a:cs typeface="Arial Unicode MS"/>
              </a:rPr>
              <a:t>ZERO-RATE OUTPUT</a:t>
            </a:r>
            <a:r>
              <a:rPr sz="850" lang="zh-TW" dirty="0">
                <a:solidFill>
                  <a:srgbClr val="000000"/>
                </a:solidFill>
                <a:latin typeface="Arial Unicode MS"/>
                <a:ea typeface="Arial Unicode MS"/>
                <a:cs typeface="Arial Unicode MS"/>
              </a:rPr>
              <a:t>，零偏。</a:t>
            </a:r>
            <a:r>
              <a:rPr sz="850" b="1" lang="zh-TW" dirty="0">
                <a:solidFill>
                  <a:srgbClr val="000000"/>
                </a:solidFill>
                <a:latin typeface="Arial Unicode MS"/>
                <a:ea typeface="Arial Unicode MS"/>
                <a:cs typeface="Arial Unicode MS"/>
              </a:rPr>
              <a:t>Initial ZRO Tolerance，正負 5 dps。</a:t>
            </a:r>
            <a:r>
              <a:rPr sz="850" lang="zh-TW" dirty="0">
                <a:solidFill>
                  <a:srgbClr val="000000"/>
                </a:solidFill>
                <a:latin typeface="Arial Unicode MS"/>
                <a:ea typeface="Arial Unicode MS"/>
                <a:cs typeface="Arial Unicode MS"/>
              </a:rPr>
              <a:t>意思是：這顆晶片放在桌上完全不動，它可能告訴你「我正在以每秒五度轉」。一分鐘就轉了三百度，轉了快一圈。就像一台體重計，沒人站上去也顯示兩公斤。所以每一顆用之前都要先靜止放一下，把這個零偏量出來扣掉，就是先歸零。
</a:t>
            </a:r>
          </a:p>
          <a:p>
            <a:pPr algn="l">
              <a:spcBef>
                <a:spcPts val="0"/>
              </a:spcBef>
              <a:spcAft>
                <a:spcPts val="142"/>
              </a:spcAft>
            </a:pPr>
            <a:r>
              <a:rPr sz="850" lang="zh-TW" dirty="0">
                <a:solidFill>
                  <a:srgbClr val="000000"/>
                </a:solidFill>
                <a:latin typeface="Arial Unicode MS"/>
                <a:ea typeface="Arial Unicode MS"/>
                <a:cs typeface="Arial Unicode MS"/>
              </a:rPr>
              <a:t>下一行，</a:t>
            </a:r>
            <a:r>
              <a:rPr sz="850" b="1" lang="zh-TW" dirty="0">
                <a:solidFill>
                  <a:srgbClr val="000000"/>
                </a:solidFill>
                <a:latin typeface="Arial Unicode MS"/>
                <a:ea typeface="Arial Unicode MS"/>
                <a:cs typeface="Arial Unicode MS"/>
              </a:rPr>
              <a:t>ZRO Variation Over Temperature，正負 0.05 dps 每 °C。</a:t>
            </a:r>
            <a:r>
              <a:rPr sz="850" lang="zh-TW" dirty="0">
                <a:solidFill>
                  <a:srgbClr val="000000"/>
                </a:solidFill>
                <a:latin typeface="Arial Unicode MS"/>
                <a:ea typeface="Arial Unicode MS"/>
                <a:cs typeface="Arial Unicode MS"/>
              </a:rPr>
              <a:t>扣掉零偏之後，溫度一變它又跑掉，像體重計歸零以後，搬到冷氣房又不準了。車子從地下室開到太陽底下，差十度，就是 </a:t>
            </a:r>
            <a:r>
              <a:rPr sz="850" b="1" lang="zh-TW" dirty="0">
                <a:solidFill>
                  <a:srgbClr val="000000"/>
                </a:solidFill>
                <a:latin typeface="Arial Unicode MS"/>
                <a:ea typeface="Arial Unicode MS"/>
                <a:cs typeface="Arial Unicode MS"/>
              </a:rPr>
              <a:t>0.5 度每秒</a:t>
            </a:r>
            <a:r>
              <a:rPr sz="850" lang="zh-TW" dirty="0">
                <a:solidFill>
                  <a:srgbClr val="000000"/>
                </a:solidFill>
                <a:latin typeface="Arial Unicode MS"/>
                <a:ea typeface="Arial Unicode MS"/>
                <a:cs typeface="Arial Unicode MS"/>
              </a:rPr>
              <a:t>。本課估算手機級的漂移，用的就是這個數字。
</a:t>
            </a:r>
          </a:p>
          <a:p>
            <a:pPr algn="l">
              <a:spcBef>
                <a:spcPts val="0"/>
              </a:spcBef>
              <a:spcAft>
                <a:spcPts val="142"/>
              </a:spcAft>
            </a:pPr>
            <a:r>
              <a:rPr sz="850" lang="zh-TW" dirty="0">
                <a:solidFill>
                  <a:srgbClr val="000000"/>
                </a:solidFill>
                <a:latin typeface="Arial Unicode MS"/>
                <a:ea typeface="Arial Unicode MS"/>
                <a:cs typeface="Arial Unicode MS"/>
              </a:rPr>
              <a:t>現在請各位在整張表上找一行：</a:t>
            </a:r>
            <a:r>
              <a:rPr sz="850" b="1" lang="zh-TW" dirty="0">
                <a:solidFill>
                  <a:srgbClr val="000000"/>
                </a:solidFill>
                <a:latin typeface="Arial Unicode MS"/>
                <a:ea typeface="Arial Unicode MS"/>
                <a:cs typeface="Arial Unicode MS"/>
              </a:rPr>
              <a:t>in-run bias stability</a:t>
            </a:r>
            <a:r>
              <a:rPr sz="850" lang="zh-TW" dirty="0">
                <a:solidFill>
                  <a:srgbClr val="000000"/>
                </a:solidFill>
                <a:latin typeface="Arial Unicode MS"/>
                <a:ea typeface="Arial Unicode MS"/>
                <a:cs typeface="Arial Unicode MS"/>
              </a:rPr>
              <a:t>，長時間偏差穩定度——它靜止放一個小時，讀數會慢慢飄多少。
</a:t>
            </a:r>
          </a:p>
          <a:p>
            <a:pPr algn="l">
              <a:spcBef>
                <a:spcPts val="0"/>
              </a:spcBef>
              <a:spcAft>
                <a:spcPts val="142"/>
              </a:spcAft>
            </a:pPr>
            <a:r>
              <a:rPr sz="850" lang="zh-TW" dirty="0">
                <a:solidFill>
                  <a:srgbClr val="000000"/>
                </a:solidFill>
                <a:latin typeface="Arial Unicode MS"/>
                <a:ea typeface="Arial Unicode MS"/>
                <a:cs typeface="Arial Unicode MS"/>
              </a:rPr>
              <a:t>找不到。這份規格書沒有這一行。不是漏印，是這一顆的客戶不在乎：手機轉螢幕只要知道「現在轉了沒」，不需要知道一分鐘以後偏了幾度。規格書第一頁自己寫的用途是手機、平板、穿戴，</a:t>
            </a:r>
            <a:r>
              <a:rPr sz="850" b="1" lang="zh-TW" dirty="0">
                <a:solidFill>
                  <a:srgbClr val="000000"/>
                </a:solidFill>
                <a:latin typeface="Arial Unicode MS"/>
                <a:ea typeface="Arial Unicode MS"/>
                <a:cs typeface="Arial Unicode MS"/>
              </a:rPr>
              <a:t>沒有寫車</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這就是上週講過的那件事又來一次：</a:t>
            </a:r>
            <a:r>
              <a:rPr sz="850" b="1" lang="zh-TW" dirty="0">
                <a:solidFill>
                  <a:srgbClr val="000000"/>
                </a:solidFill>
                <a:latin typeface="Arial Unicode MS"/>
                <a:ea typeface="Arial Unicode MS"/>
                <a:cs typeface="Arial Unicode MS"/>
              </a:rPr>
              <a:t>規格表上找不到的那一行，常常是因為這顆東西本來就不是給你用的。</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11</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58"/>
              </a:spcAft>
            </a:pPr>
            <a:r>
              <a:rPr sz="950" lang="zh-TW" dirty="0">
                <a:solidFill>
                  <a:srgbClr val="000000"/>
                </a:solidFill>
                <a:latin typeface="Arial Unicode MS"/>
                <a:ea typeface="Arial Unicode MS"/>
                <a:cs typeface="Arial Unicode MS"/>
              </a:rPr>
              <a:t>第二顆，Analog Devices 的 </a:t>
            </a:r>
            <a:r>
              <a:rPr sz="950" b="1" lang="zh-TW" dirty="0">
                <a:solidFill>
                  <a:srgbClr val="000000"/>
                </a:solidFill>
                <a:latin typeface="Arial Unicode MS"/>
                <a:ea typeface="Arial Unicode MS"/>
                <a:cs typeface="Arial Unicode MS"/>
              </a:rPr>
              <a:t>ADIS16470</a:t>
            </a:r>
            <a:r>
              <a:rPr sz="950" lang="zh-TW" dirty="0">
                <a:solidFill>
                  <a:srgbClr val="000000"/>
                </a:solidFill>
                <a:latin typeface="Arial Unicode MS"/>
                <a:ea typeface="Arial Unicode MS"/>
                <a:cs typeface="Arial Unicode MS"/>
              </a:rPr>
              <a:t>。工業級，機器人、無人機、測量車上常見。左邊是它規格書第三頁 Table 1 陀螺儀那一塊，各位的判讀台上也有。
</a:t>
            </a:r>
          </a:p>
          <a:p>
            <a:pPr algn="l">
              <a:spcBef>
                <a:spcPts val="0"/>
              </a:spcBef>
              <a:spcAft>
                <a:spcPts val="158"/>
              </a:spcAft>
            </a:pPr>
            <a:r>
              <a:rPr sz="950" lang="zh-TW" dirty="0">
                <a:solidFill>
                  <a:srgbClr val="000000"/>
                </a:solidFill>
                <a:latin typeface="Arial Unicode MS"/>
                <a:ea typeface="Arial Unicode MS"/>
                <a:cs typeface="Arial Unicode MS"/>
              </a:rPr>
              <a:t>從上往下。</a:t>
            </a:r>
            <a:r>
              <a:rPr sz="950" b="1" lang="zh-TW" dirty="0">
                <a:solidFill>
                  <a:srgbClr val="000000"/>
                </a:solidFill>
                <a:latin typeface="Arial Unicode MS"/>
                <a:ea typeface="Arial Unicode MS"/>
                <a:cs typeface="Arial Unicode MS"/>
              </a:rPr>
              <a:t>Dynamic Range，±2000 °/sec。</a:t>
            </a:r>
            <a:r>
              <a:rPr sz="950" lang="zh-TW" dirty="0">
                <a:solidFill>
                  <a:srgbClr val="000000"/>
                </a:solidFill>
                <a:latin typeface="Arial Unicode MS"/>
                <a:ea typeface="Arial Unicode MS"/>
                <a:cs typeface="Arial Unicode MS"/>
              </a:rPr>
              <a:t>各位可能會想：上週相機也有動態範圍，那是同一件事嗎？</a:t>
            </a:r>
            <a:r>
              <a:rPr sz="950" b="1" lang="zh-TW" dirty="0">
                <a:solidFill>
                  <a:srgbClr val="000000"/>
                </a:solidFill>
                <a:latin typeface="Arial Unicode MS"/>
                <a:ea typeface="Arial Unicode MS"/>
                <a:cs typeface="Arial Unicode MS"/>
              </a:rPr>
              <a:t>不是。</a:t>
            </a:r>
            <a:r>
              <a:rPr sz="950" lang="zh-TW" dirty="0">
                <a:solidFill>
                  <a:srgbClr val="000000"/>
                </a:solidFill>
                <a:latin typeface="Arial Unicode MS"/>
                <a:ea typeface="Arial Unicode MS"/>
                <a:cs typeface="Arial Unicode MS"/>
              </a:rPr>
              <a:t>上週相機的動態範圍，講的是最亮和最暗差多少倍，單位是 dB，逆光、隧道口就看它。這裡的 Dynamic Range，看單位是 °/sec，講的是最快量得到轉多快，就是剛剛 TDK 那張表叫 </a:t>
            </a:r>
            <a:r>
              <a:rPr sz="950" b="1" lang="zh-TW" dirty="0">
                <a:solidFill>
                  <a:srgbClr val="000000"/>
                </a:solidFill>
                <a:latin typeface="Arial Unicode MS"/>
                <a:ea typeface="Arial Unicode MS"/>
                <a:cs typeface="Arial Unicode MS"/>
              </a:rPr>
              <a:t>Full-Scale Range</a:t>
            </a:r>
            <a:r>
              <a:rPr sz="950" lang="zh-TW" dirty="0">
                <a:solidFill>
                  <a:srgbClr val="000000"/>
                </a:solidFill>
                <a:latin typeface="Arial Unicode MS"/>
                <a:ea typeface="Arial Unicode MS"/>
                <a:cs typeface="Arial Unicode MS"/>
              </a:rPr>
              <a:t> 的那一行，量程。兩家公司用不同的名字講同一件事；同一個英文詞，放在不同感測器上，意思也可能不一樣。所以讀規格表，</a:t>
            </a:r>
            <a:r>
              <a:rPr sz="950" b="1" lang="zh-TW" dirty="0">
                <a:solidFill>
                  <a:srgbClr val="000000"/>
                </a:solidFill>
                <a:latin typeface="Arial Unicode MS"/>
                <a:ea typeface="Arial Unicode MS"/>
                <a:cs typeface="Arial Unicode MS"/>
              </a:rPr>
              <a:t>先看單位</a:t>
            </a:r>
            <a:r>
              <a:rPr sz="950" lang="zh-TW" dirty="0">
                <a:solidFill>
                  <a:srgbClr val="000000"/>
                </a:solidFill>
                <a:latin typeface="Arial Unicode MS"/>
                <a:ea typeface="Arial Unicode MS"/>
                <a:cs typeface="Arial Unicode MS"/>
              </a:rPr>
              <a:t>，不要只看名字。
</a:t>
            </a:r>
          </a:p>
          <a:p>
            <a:pPr algn="l">
              <a:spcBef>
                <a:spcPts val="0"/>
              </a:spcBef>
              <a:spcAft>
                <a:spcPts val="158"/>
              </a:spcAft>
            </a:pPr>
            <a:r>
              <a:rPr sz="950" lang="zh-TW" dirty="0">
                <a:solidFill>
                  <a:srgbClr val="000000"/>
                </a:solidFill>
                <a:latin typeface="Arial Unicode MS"/>
                <a:ea typeface="Arial Unicode MS"/>
                <a:cs typeface="Arial Unicode MS"/>
              </a:rPr>
              <a:t>數字是正負兩千度每秒，和剛剛那顆手機級一模一樣。所以等級不是差在量程。
</a:t>
            </a:r>
          </a:p>
          <a:p>
            <a:pPr algn="l">
              <a:spcBef>
                <a:spcPts val="0"/>
              </a:spcBef>
              <a:spcAft>
                <a:spcPts val="158"/>
              </a:spcAft>
            </a:pPr>
            <a:r>
              <a:rPr sz="950" lang="zh-TW" dirty="0">
                <a:solidFill>
                  <a:srgbClr val="000000"/>
                </a:solidFill>
                <a:latin typeface="Arial Unicode MS"/>
                <a:ea typeface="Arial Unicode MS"/>
                <a:cs typeface="Arial Unicode MS"/>
              </a:rPr>
              <a:t>往下看 </a:t>
            </a:r>
            <a:r>
              <a:rPr sz="950" b="1" lang="zh-TW" dirty="0">
                <a:solidFill>
                  <a:srgbClr val="000000"/>
                </a:solidFill>
                <a:latin typeface="Arial Unicode MS"/>
                <a:ea typeface="Arial Unicode MS"/>
                <a:cs typeface="Arial Unicode MS"/>
              </a:rPr>
              <a:t>Bias</a:t>
            </a:r>
            <a:r>
              <a:rPr sz="950" lang="zh-TW" dirty="0">
                <a:solidFill>
                  <a:srgbClr val="000000"/>
                </a:solidFill>
                <a:latin typeface="Arial Unicode MS"/>
                <a:ea typeface="Arial Unicode MS"/>
                <a:cs typeface="Arial Unicode MS"/>
              </a:rPr>
              <a:t> 那一塊，前兩列就是剛剛手機級找不到的。</a:t>
            </a:r>
            <a:r>
              <a:rPr sz="950" b="1" lang="zh-TW" dirty="0">
                <a:solidFill>
                  <a:srgbClr val="000000"/>
                </a:solidFill>
                <a:latin typeface="Arial Unicode MS"/>
                <a:ea typeface="Arial Unicode MS"/>
                <a:cs typeface="Arial Unicode MS"/>
              </a:rPr>
              <a:t>In Run Stability，8 °/hr</a:t>
            </a:r>
            <a:r>
              <a:rPr sz="950" lang="zh-TW" dirty="0">
                <a:solidFill>
                  <a:srgbClr val="000000"/>
                </a:solidFill>
                <a:latin typeface="Arial Unicode MS"/>
                <a:ea typeface="Arial Unicode MS"/>
                <a:cs typeface="Arial Unicode MS"/>
              </a:rPr>
              <a:t>，後面寫 1 σ。σ 是希臘字母，唸「西格瑪」，越南文唸 xích-ma。1 σ 是統計上的一個標準差，意思是大約七成的時候落在這個數字以內。跟上一張的 CEP 50%、上週光達的 &gt;90% 一樣，是機率的寫法，不是保證。8 °/hr 的意思是這顆靜止放著，一個小時偏差只飄八度，一分鐘零點一三度。用手錶來想：便宜的錶一天可能差一分鐘，好的錶一個月才差幾秒。偏差穩定度講的就是這種「走久了會差多少」。</a:t>
            </a:r>
            <a:r>
              <a:rPr sz="950" b="1" lang="zh-TW" dirty="0">
                <a:solidFill>
                  <a:srgbClr val="000000"/>
                </a:solidFill>
                <a:latin typeface="Arial Unicode MS"/>
                <a:ea typeface="Arial Unicode MS"/>
                <a:cs typeface="Arial Unicode MS"/>
              </a:rPr>
              <a:t>Angular Random Walk，0.34 °/√hr</a:t>
            </a:r>
            <a:r>
              <a:rPr sz="950" lang="zh-TW" dirty="0">
                <a:solidFill>
                  <a:srgbClr val="000000"/>
                </a:solidFill>
                <a:latin typeface="Arial Unicode MS"/>
                <a:ea typeface="Arial Unicode MS"/>
                <a:cs typeface="Arial Unicode MS"/>
              </a:rPr>
              <a:t>，雜訊累積出來的角度誤差，隨時間開根號長。
</a:t>
            </a:r>
          </a:p>
          <a:p>
            <a:pPr algn="l">
              <a:spcBef>
                <a:spcPts val="0"/>
              </a:spcBef>
              <a:spcAft>
                <a:spcPts val="158"/>
              </a:spcAft>
            </a:pPr>
            <a:r>
              <a:rPr sz="950" lang="zh-TW" dirty="0">
                <a:solidFill>
                  <a:srgbClr val="000000"/>
                </a:solidFill>
                <a:latin typeface="Arial Unicode MS"/>
                <a:ea typeface="Arial Unicode MS"/>
                <a:cs typeface="Arial Unicode MS"/>
              </a:rPr>
              <a:t>再看 </a:t>
            </a:r>
            <a:r>
              <a:rPr sz="950" b="1" lang="zh-TW" dirty="0">
                <a:solidFill>
                  <a:srgbClr val="000000"/>
                </a:solidFill>
                <a:latin typeface="Arial Unicode MS"/>
                <a:ea typeface="Arial Unicode MS"/>
                <a:cs typeface="Arial Unicode MS"/>
              </a:rPr>
              <a:t>Rate Noise Density，雜訊密度，0.008</a:t>
            </a:r>
            <a:r>
              <a:rPr sz="950" lang="zh-TW" dirty="0">
                <a:solidFill>
                  <a:srgbClr val="000000"/>
                </a:solidFill>
                <a:latin typeface="Arial Unicode MS"/>
                <a:ea typeface="Arial Unicode MS"/>
                <a:cs typeface="Arial Unicode MS"/>
              </a:rPr>
              <a:t>，單位是度每秒、再除以根號赫茲。它講的是讀數一直在「抖」的程度：東西靜止，讀數卻一下 +0.02、一下 −0.03，跳來跳去。這跟剛剛的零偏不一樣。用體重計來想：沒人站上去也顯示兩公斤，是</a:t>
            </a:r>
            <a:r>
              <a:rPr sz="950" b="1" lang="zh-TW" dirty="0">
                <a:solidFill>
                  <a:srgbClr val="000000"/>
                </a:solidFill>
                <a:latin typeface="Arial Unicode MS"/>
                <a:ea typeface="Arial Unicode MS"/>
                <a:cs typeface="Arial Unicode MS"/>
              </a:rPr>
              <a:t>零偏</a:t>
            </a:r>
            <a:r>
              <a:rPr sz="950" lang="zh-TW" dirty="0">
                <a:solidFill>
                  <a:srgbClr val="000000"/>
                </a:solidFill>
                <a:latin typeface="Arial Unicode MS"/>
                <a:ea typeface="Arial Unicode MS"/>
                <a:cs typeface="Arial Unicode MS"/>
              </a:rPr>
              <a:t>，一直偏同一邊；人站上去，數字在 60.1、59.9、60.2 之間跳，是</a:t>
            </a:r>
            <a:r>
              <a:rPr sz="950" b="1" lang="zh-TW" dirty="0">
                <a:solidFill>
                  <a:srgbClr val="000000"/>
                </a:solidFill>
                <a:latin typeface="Arial Unicode MS"/>
                <a:ea typeface="Arial Unicode MS"/>
                <a:cs typeface="Arial Unicode MS"/>
              </a:rPr>
              <a:t>雜訊</a:t>
            </a:r>
            <a:r>
              <a:rPr sz="950" lang="zh-TW" dirty="0">
                <a:solidFill>
                  <a:srgbClr val="000000"/>
                </a:solidFill>
                <a:latin typeface="Arial Unicode MS"/>
                <a:ea typeface="Arial Unicode MS"/>
                <a:cs typeface="Arial Unicode MS"/>
              </a:rPr>
              <a:t>，忽上忽下。零偏可以先量出來扣掉，雜訊扣不掉，只能平均。單位裡的「除以根號赫茲」是說：你要的更新愈快，抖得愈厲害。手機級那顆是 0.015，大約差一倍。這一行兩邊的表都有，可以直接比；Bias 那兩行只有這邊有。
</a:t>
            </a:r>
          </a:p>
          <a:p>
            <a:pPr algn="l">
              <a:spcBef>
                <a:spcPts val="0"/>
              </a:spcBef>
              <a:spcAft>
                <a:spcPts val="158"/>
              </a:spcAft>
            </a:pPr>
            <a:r>
              <a:rPr sz="950" lang="zh-TW" dirty="0">
                <a:solidFill>
                  <a:srgbClr val="000000"/>
                </a:solidFill>
                <a:latin typeface="Arial Unicode MS"/>
                <a:ea typeface="Arial Unicode MS"/>
                <a:cs typeface="Arial Unicode MS"/>
              </a:rPr>
              <a:t>翻回規格書第一頁，Applications 那一欄寫的是 Navigation（導航）、</a:t>
            </a:r>
            <a:r>
              <a:rPr sz="950" b="1" lang="zh-TW" dirty="0">
                <a:solidFill>
                  <a:srgbClr val="000000"/>
                </a:solidFill>
                <a:latin typeface="Arial Unicode MS"/>
                <a:ea typeface="Arial Unicode MS"/>
                <a:cs typeface="Arial Unicode MS"/>
              </a:rPr>
              <a:t>Unmanned and autonomous vehicles</a:t>
            </a:r>
            <a:r>
              <a:rPr sz="950" lang="zh-TW" dirty="0">
                <a:solidFill>
                  <a:srgbClr val="000000"/>
                </a:solidFill>
                <a:latin typeface="Arial Unicode MS"/>
                <a:ea typeface="Arial Unicode MS"/>
                <a:cs typeface="Arial Unicode MS"/>
              </a:rPr>
              <a:t>、robotics（機器人）。中間那個是「</a:t>
            </a:r>
            <a:r>
              <a:rPr sz="950" b="1" lang="zh-TW" dirty="0">
                <a:solidFill>
                  <a:srgbClr val="000000"/>
                </a:solidFill>
                <a:latin typeface="Arial Unicode MS"/>
                <a:ea typeface="Arial Unicode MS"/>
                <a:cs typeface="Arial Unicode MS"/>
              </a:rPr>
              <a:t>無人載具與自駕載具</a:t>
            </a:r>
            <a:r>
              <a:rPr sz="950" lang="zh-TW" dirty="0">
                <a:solidFill>
                  <a:srgbClr val="000000"/>
                </a:solidFill>
                <a:latin typeface="Arial Unicode MS"/>
                <a:ea typeface="Arial Unicode MS"/>
                <a:cs typeface="Arial Unicode MS"/>
              </a:rPr>
              <a:t>」：unmanned 是裡面沒有人在開，像無人機、工廠裡的無人搬運車；autonomous 是自己判斷、自己開，像自駕車。底下的結論條寫的就是這一句。手機級那顆寫的是 Smartphones。規格書自己告訴你它是給誰用的。
</a:t>
            </a:r>
          </a:p>
          <a:p>
            <a:pPr algn="l">
              <a:spcBef>
                <a:spcPts val="0"/>
              </a:spcBef>
              <a:spcAft>
                <a:spcPts val="158"/>
              </a:spcAft>
            </a:pPr>
            <a:r>
              <a:rPr sz="950" lang="zh-TW" dirty="0">
                <a:solidFill>
                  <a:srgbClr val="000000"/>
                </a:solidFill>
                <a:latin typeface="Arial Unicode MS"/>
                <a:ea typeface="Arial Unicode MS"/>
                <a:cs typeface="Arial Unicode MS"/>
              </a:rPr>
              <a:t>價格：手機級幾塊美元，這顆幾百美元。多出來的錢買的就是 Bias 那兩行。下一張把兩顆排在一起。</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12</a:t>
            </a: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把兩顆放在一起。右邊就是上一張那顆 ADIS16470，數字都是它原表上的。
</a:t>
            </a:r>
          </a:p>
          <a:p>
            <a:pPr algn="l">
              <a:spcBef>
                <a:spcPts val="0"/>
              </a:spcBef>
              <a:spcAft>
                <a:spcPts val="200"/>
              </a:spcAft>
            </a:pPr>
            <a:r>
              <a:rPr sz="1200" b="1" lang="zh-TW" dirty="0">
                <a:solidFill>
                  <a:srgbClr val="000000"/>
                </a:solidFill>
                <a:latin typeface="Arial Unicode MS"/>
                <a:ea typeface="Arial Unicode MS"/>
                <a:cs typeface="Arial Unicode MS"/>
              </a:rPr>
              <a:t>第一列，偏差穩定度。</a:t>
            </a:r>
            <a:r>
              <a:rPr sz="1200" lang="zh-TW" dirty="0">
                <a:solidFill>
                  <a:srgbClr val="000000"/>
                </a:solidFill>
                <a:latin typeface="Arial Unicode MS"/>
                <a:ea typeface="Arial Unicode MS"/>
                <a:cs typeface="Arial Unicode MS"/>
              </a:rPr>
              <a:t>左邊沒印。右邊 </a:t>
            </a:r>
            <a:r>
              <a:rPr sz="1200" b="1" lang="zh-TW" dirty="0">
                <a:solidFill>
                  <a:srgbClr val="000000"/>
                </a:solidFill>
                <a:latin typeface="Arial Unicode MS"/>
                <a:ea typeface="Arial Unicode MS"/>
                <a:cs typeface="Arial Unicode MS"/>
              </a:rPr>
              <a:t>8 °/h</a:t>
            </a:r>
            <a:r>
              <a:rPr sz="1200" lang="zh-TW" dirty="0">
                <a:solidFill>
                  <a:srgbClr val="000000"/>
                </a:solidFill>
                <a:latin typeface="Arial Unicode MS"/>
                <a:ea typeface="Arial Unicode MS"/>
                <a:cs typeface="Arial Unicode MS"/>
              </a:rPr>
              <a:t>：一個小時飄八度，一分鐘零點一三度。左邊本課用剛剛那個溫度係數估，零點五度每秒，換成每小時是一千八百度。兩邊差兩百多倍。這一行就是等級。
</a:t>
            </a:r>
          </a:p>
          <a:p>
            <a:pPr algn="l">
              <a:spcBef>
                <a:spcPts val="0"/>
              </a:spcBef>
              <a:spcAft>
                <a:spcPts val="200"/>
              </a:spcAft>
            </a:pPr>
            <a:r>
              <a:rPr sz="1200" b="1" lang="zh-TW" dirty="0">
                <a:solidFill>
                  <a:srgbClr val="000000"/>
                </a:solidFill>
                <a:latin typeface="Arial Unicode MS"/>
                <a:ea typeface="Arial Unicode MS"/>
                <a:cs typeface="Arial Unicode MS"/>
              </a:rPr>
              <a:t>第二列，角度隨機游走，0.34 °/√h。</a:t>
            </a:r>
            <a:r>
              <a:rPr sz="1200" lang="zh-TW" dirty="0">
                <a:solidFill>
                  <a:srgbClr val="000000"/>
                </a:solidFill>
                <a:latin typeface="Arial Unicode MS"/>
                <a:ea typeface="Arial Unicode MS"/>
                <a:cs typeface="Arial Unicode MS"/>
              </a:rPr>
              <a:t>這是雜訊累積出來的誤差，隨時間開根號長。今天不細講，各位知道工業級的表會印這一行就好。
</a:t>
            </a:r>
          </a:p>
          <a:p>
            <a:pPr algn="l">
              <a:spcBef>
                <a:spcPts val="0"/>
              </a:spcBef>
              <a:spcAft>
                <a:spcPts val="200"/>
              </a:spcAft>
            </a:pPr>
            <a:r>
              <a:rPr sz="1200" b="1" lang="zh-TW" dirty="0">
                <a:solidFill>
                  <a:srgbClr val="000000"/>
                </a:solidFill>
                <a:latin typeface="Arial Unicode MS"/>
                <a:ea typeface="Arial Unicode MS"/>
                <a:cs typeface="Arial Unicode MS"/>
              </a:rPr>
              <a:t>第三列，量程，都是正負兩千度。</a:t>
            </a:r>
            <a:r>
              <a:rPr sz="1200" lang="zh-TW" dirty="0">
                <a:solidFill>
                  <a:srgbClr val="000000"/>
                </a:solidFill>
                <a:latin typeface="Arial Unicode MS"/>
                <a:ea typeface="Arial Unicode MS"/>
                <a:cs typeface="Arial Unicode MS"/>
              </a:rPr>
              <a:t>量程就是量得到的範圍，像體重計最多量到一百五十公斤。這裡指最快量得到轉多快，就是第十一張的 Full-Scale Range、第十二張的 Dynamic Range，兩家叫法不同，講的是同一行。兩顆一樣，所以差的不是量程。就像兩支錶的錶面都是十二小時，差的是走得準不準。買 IMU 的人最常犯的錯就是比量程。
</a:t>
            </a:r>
          </a:p>
          <a:p>
            <a:pPr algn="l">
              <a:spcBef>
                <a:spcPts val="0"/>
              </a:spcBef>
              <a:spcAft>
                <a:spcPts val="200"/>
              </a:spcAft>
            </a:pPr>
            <a:r>
              <a:rPr sz="1200" b="1" lang="zh-TW" dirty="0">
                <a:solidFill>
                  <a:srgbClr val="000000"/>
                </a:solidFill>
                <a:latin typeface="Arial Unicode MS"/>
                <a:ea typeface="Arial Unicode MS"/>
                <a:cs typeface="Arial Unicode MS"/>
              </a:rPr>
              <a:t>第四列，價格。</a:t>
            </a:r>
            <a:r>
              <a:rPr sz="1200" lang="zh-TW" dirty="0">
                <a:solidFill>
                  <a:srgbClr val="000000"/>
                </a:solidFill>
                <a:latin typeface="Arial Unicode MS"/>
                <a:ea typeface="Arial Unicode MS"/>
                <a:cs typeface="Arial Unicode MS"/>
              </a:rPr>
              <a:t>幾塊美元對幾百美元，差一百倍。
</a:t>
            </a:r>
          </a:p>
          <a:p>
            <a:pPr algn="l">
              <a:spcBef>
                <a:spcPts val="0"/>
              </a:spcBef>
              <a:spcAft>
                <a:spcPts val="200"/>
              </a:spcAft>
            </a:pPr>
            <a:r>
              <a:rPr sz="1200" lang="zh-TW" dirty="0">
                <a:solidFill>
                  <a:srgbClr val="000000"/>
                </a:solidFill>
                <a:latin typeface="Arial Unicode MS"/>
                <a:ea typeface="Arial Unicode MS"/>
                <a:cs typeface="Arial Unicode MS"/>
              </a:rPr>
              <a:t>再往上還有一級：</a:t>
            </a:r>
            <a:r>
              <a:rPr sz="1200" b="1" lang="zh-TW" dirty="0">
                <a:solidFill>
                  <a:srgbClr val="000000"/>
                </a:solidFill>
                <a:latin typeface="Arial Unicode MS"/>
                <a:ea typeface="Arial Unicode MS"/>
                <a:cs typeface="Arial Unicode MS"/>
              </a:rPr>
              <a:t>光纖陀螺</a:t>
            </a:r>
            <a:r>
              <a:rPr sz="1200" lang="zh-TW" dirty="0">
                <a:solidFill>
                  <a:srgbClr val="000000"/>
                </a:solidFill>
                <a:latin typeface="Arial Unicode MS"/>
                <a:ea typeface="Arial Unicode MS"/>
                <a:cs typeface="Arial Unicode MS"/>
              </a:rPr>
              <a:t>，用光在光纖裡繞圈來量轉動，偏差穩定度可以到零點零幾度每小時，撐幾分鐘，一顆幾萬美元。所以 IMU 的等級，說穿了就是一件事：</a:t>
            </a:r>
            <a:r>
              <a:rPr sz="1200" b="1" lang="zh-TW" dirty="0">
                <a:solidFill>
                  <a:srgbClr val="000000"/>
                </a:solidFill>
                <a:latin typeface="Arial Unicode MS"/>
                <a:ea typeface="Arial Unicode MS"/>
                <a:cs typeface="Arial Unicode MS"/>
              </a:rPr>
              <a:t>沒有外界的時候，它撐多久。</a:t>
            </a:r>
            <a:r>
              <a:rPr sz="1200" lang="zh-TW" dirty="0">
                <a:solidFill>
                  <a:srgbClr val="000000"/>
                </a:solidFill>
                <a:latin typeface="Arial Unicode MS"/>
                <a:ea typeface="Arial Unicode MS"/>
                <a:cs typeface="Arial Unicode MS"/>
              </a:rPr>
              <a:t>撐多久怎麼算，下一張。</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13</a:t>
            </a: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58"/>
              </a:spcAft>
            </a:pPr>
            <a:r>
              <a:rPr sz="950" lang="zh-TW" dirty="0">
                <a:solidFill>
                  <a:srgbClr val="000000"/>
                </a:solidFill>
                <a:latin typeface="Arial Unicode MS"/>
                <a:ea typeface="Arial Unicode MS"/>
                <a:cs typeface="Arial Unicode MS"/>
              </a:rPr>
              <a:t>漂移怎麼算，用最簡單的方式。
</a:t>
            </a:r>
          </a:p>
          <a:p>
            <a:pPr algn="l">
              <a:spcBef>
                <a:spcPts val="0"/>
              </a:spcBef>
              <a:spcAft>
                <a:spcPts val="158"/>
              </a:spcAft>
            </a:pPr>
            <a:r>
              <a:rPr sz="950" lang="zh-TW" dirty="0">
                <a:solidFill>
                  <a:srgbClr val="000000"/>
                </a:solidFill>
                <a:latin typeface="Arial Unicode MS"/>
                <a:ea typeface="Arial Unicode MS"/>
                <a:cs typeface="Arial Unicode MS"/>
              </a:rPr>
              <a:t>陀螺儀有一個偏差，假設是每小時八度。它不轉的時候，陀螺儀還是告訴你「你在轉」，一小時累積八度。所以</a:t>
            </a:r>
            <a:r>
              <a:rPr sz="950" b="1" lang="zh-TW" dirty="0">
                <a:solidFill>
                  <a:srgbClr val="000000"/>
                </a:solidFill>
                <a:latin typeface="Arial Unicode MS"/>
                <a:ea typeface="Arial Unicode MS"/>
                <a:cs typeface="Arial Unicode MS"/>
              </a:rPr>
              <a:t>航向的誤差＝偏差乘時間</a:t>
            </a:r>
            <a:r>
              <a:rPr sz="950" lang="zh-TW" dirty="0">
                <a:solidFill>
                  <a:srgbClr val="000000"/>
                </a:solidFill>
                <a:latin typeface="Arial Unicode MS"/>
                <a:ea typeface="Arial Unicode MS"/>
                <a:cs typeface="Arial Unicode MS"/>
              </a:rPr>
              <a:t>，愈久愈歪。
</a:t>
            </a:r>
          </a:p>
          <a:p>
            <a:pPr algn="l">
              <a:spcBef>
                <a:spcPts val="0"/>
              </a:spcBef>
              <a:spcAft>
                <a:spcPts val="158"/>
              </a:spcAft>
            </a:pPr>
            <a:r>
              <a:rPr sz="950" lang="zh-TW" dirty="0">
                <a:solidFill>
                  <a:srgbClr val="000000"/>
                </a:solidFill>
                <a:latin typeface="Arial Unicode MS"/>
                <a:ea typeface="Arial Unicode MS"/>
                <a:cs typeface="Arial Unicode MS"/>
              </a:rPr>
              <a:t>航向歪了，車子以為自己直直開，其實在斜著走。</a:t>
            </a:r>
            <a:r>
              <a:rPr sz="950" b="1" lang="zh-TW" dirty="0">
                <a:solidFill>
                  <a:srgbClr val="000000"/>
                </a:solidFill>
                <a:latin typeface="Arial Unicode MS"/>
                <a:ea typeface="Arial Unicode MS"/>
                <a:cs typeface="Arial Unicode MS"/>
              </a:rPr>
              <a:t>橫向偏掉的距離，大約是車速乘偏差乘時間的平方除以二。</a:t>
            </a:r>
            <a:r>
              <a:rPr sz="950" lang="zh-TW" dirty="0">
                <a:solidFill>
                  <a:srgbClr val="000000"/>
                </a:solidFill>
                <a:latin typeface="Arial Unicode MS"/>
                <a:ea typeface="Arial Unicode MS"/>
                <a:cs typeface="Arial Unicode MS"/>
              </a:rPr>
              <a:t>時間是平方，所以一開始幾乎沒事，然後突然就很大。就像閉著眼睛走路：一開始只歪一點點；走得愈久，方向歪得愈多，偏得也愈來愈快。
</a:t>
            </a:r>
          </a:p>
          <a:p>
            <a:pPr algn="l">
              <a:spcBef>
                <a:spcPts val="0"/>
              </a:spcBef>
              <a:spcAft>
                <a:spcPts val="158"/>
              </a:spcAft>
            </a:pPr>
            <a:r>
              <a:rPr sz="950" lang="zh-TW" dirty="0">
                <a:solidFill>
                  <a:srgbClr val="000000"/>
                </a:solidFill>
                <a:latin typeface="Arial Unicode MS"/>
                <a:ea typeface="Arial Unicode MS"/>
                <a:cs typeface="Arial Unicode MS"/>
              </a:rPr>
              <a:t>左圖畫的就是這條算式。先教各位怎麼看：條件是</a:t>
            </a:r>
            <a:r>
              <a:rPr sz="950" b="1" lang="zh-TW" dirty="0">
                <a:solidFill>
                  <a:srgbClr val="000000"/>
                </a:solidFill>
                <a:latin typeface="Arial Unicode MS"/>
                <a:ea typeface="Arial Unicode MS"/>
                <a:cs typeface="Arial Unicode MS"/>
              </a:rPr>
              <a:t>時速八十，衛星突然斷掉</a:t>
            </a:r>
            <a:r>
              <a:rPr sz="950" lang="zh-TW" dirty="0">
                <a:solidFill>
                  <a:srgbClr val="000000"/>
                </a:solidFill>
                <a:latin typeface="Arial Unicode MS"/>
                <a:ea typeface="Arial Unicode MS"/>
                <a:cs typeface="Arial Unicode MS"/>
              </a:rPr>
              <a:t>。</a:t>
            </a:r>
            <a:r>
              <a:rPr sz="950" b="1" lang="zh-TW" dirty="0">
                <a:solidFill>
                  <a:srgbClr val="000000"/>
                </a:solidFill>
                <a:latin typeface="Arial Unicode MS"/>
                <a:ea typeface="Arial Unicode MS"/>
                <a:cs typeface="Arial Unicode MS"/>
              </a:rPr>
              <a:t>橫軸</a:t>
            </a:r>
            <a:r>
              <a:rPr sz="950" lang="zh-TW" dirty="0">
                <a:solidFill>
                  <a:srgbClr val="000000"/>
                </a:solidFill>
                <a:latin typeface="Arial Unicode MS"/>
                <a:ea typeface="Arial Unicode MS"/>
                <a:cs typeface="Arial Unicode MS"/>
              </a:rPr>
              <a:t>是斷掉以後過了幾秒，</a:t>
            </a:r>
            <a:r>
              <a:rPr sz="950" b="1" lang="zh-TW" dirty="0">
                <a:solidFill>
                  <a:srgbClr val="000000"/>
                </a:solidFill>
                <a:latin typeface="Arial Unicode MS"/>
                <a:ea typeface="Arial Unicode MS"/>
                <a:cs typeface="Arial Unicode MS"/>
              </a:rPr>
              <a:t>縱軸</a:t>
            </a:r>
            <a:r>
              <a:rPr sz="950" lang="zh-TW" dirty="0">
                <a:solidFill>
                  <a:srgbClr val="000000"/>
                </a:solidFill>
                <a:latin typeface="Arial Unicode MS"/>
                <a:ea typeface="Arial Unicode MS"/>
                <a:cs typeface="Arial Unicode MS"/>
              </a:rPr>
              <a:t>是車子以為自己在車道中間、其實已經橫向偏了幾公尺。中間那條紅線是</a:t>
            </a:r>
            <a:r>
              <a:rPr sz="950" b="1" lang="zh-TW" dirty="0">
                <a:solidFill>
                  <a:srgbClr val="000000"/>
                </a:solidFill>
                <a:latin typeface="Arial Unicode MS"/>
                <a:ea typeface="Arial Unicode MS"/>
                <a:cs typeface="Arial Unicode MS"/>
              </a:rPr>
              <a:t>零點五公尺</a:t>
            </a:r>
            <a:r>
              <a:rPr sz="950" lang="zh-TW" dirty="0">
                <a:solidFill>
                  <a:srgbClr val="000000"/>
                </a:solidFill>
                <a:latin typeface="Arial Unicode MS"/>
                <a:ea typeface="Arial Unicode MS"/>
                <a:cs typeface="Arial Unicode MS"/>
              </a:rPr>
              <a:t>：紅線以下淡綠色，還在車道內；紅線以上淡紅色，偏出車道。</a:t>
            </a:r>
            <a:r>
              <a:rPr sz="950" b="1" lang="zh-TW" dirty="0">
                <a:solidFill>
                  <a:srgbClr val="000000"/>
                </a:solidFill>
                <a:latin typeface="Arial Unicode MS"/>
                <a:ea typeface="Arial Unicode MS"/>
                <a:cs typeface="Arial Unicode MS"/>
              </a:rPr>
              <a:t>曲線碰到紅線的那一點，就是它撐得住的秒數。</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為什麼紅線畫在零點五？看右上角那個小框：車道三點五公尺、車寬一點八，左右各只剩</a:t>
            </a:r>
            <a:r>
              <a:rPr sz="950" b="1" lang="zh-TW" dirty="0">
                <a:solidFill>
                  <a:srgbClr val="000000"/>
                </a:solidFill>
                <a:latin typeface="Arial Unicode MS"/>
                <a:ea typeface="Arial Unicode MS"/>
                <a:cs typeface="Arial Unicode MS"/>
              </a:rPr>
              <a:t>零點八五</a:t>
            </a:r>
            <a:r>
              <a:rPr sz="950" lang="zh-TW" dirty="0">
                <a:solidFill>
                  <a:srgbClr val="000000"/>
                </a:solidFill>
                <a:latin typeface="Arial Unicode MS"/>
                <a:ea typeface="Arial Unicode MS"/>
                <a:cs typeface="Arial Unicode MS"/>
              </a:rPr>
              <a:t>；再留一點給方向盤的晃動，零點五是保守一點的門檻。
</a:t>
            </a:r>
          </a:p>
          <a:p>
            <a:pPr algn="l">
              <a:spcBef>
                <a:spcPts val="0"/>
              </a:spcBef>
              <a:spcAft>
                <a:spcPts val="158"/>
              </a:spcAft>
            </a:pPr>
            <a:r>
              <a:rPr sz="950" b="1" lang="zh-TW" dirty="0">
                <a:solidFill>
                  <a:srgbClr val="000000"/>
                </a:solidFill>
                <a:latin typeface="Arial Unicode MS"/>
                <a:ea typeface="Arial Unicode MS"/>
                <a:cs typeface="Arial Unicode MS"/>
              </a:rPr>
              <a:t>綠線是工業級，8 °/h：三十四秒碰到紅線。</a:t>
            </a:r>
            <a:r>
              <a:rPr sz="950" lang="zh-TW" dirty="0">
                <a:solidFill>
                  <a:srgbClr val="000000"/>
                </a:solidFill>
                <a:latin typeface="Arial Unicode MS"/>
                <a:ea typeface="Arial Unicode MS"/>
                <a:cs typeface="Arial Unicode MS"/>
              </a:rPr>
              <a:t>三十四秒，時速八十可以跑七百五十公尺。</a:t>
            </a:r>
            <a:r>
              <a:rPr sz="950" b="1" lang="zh-TW" dirty="0">
                <a:solidFill>
                  <a:srgbClr val="000000"/>
                </a:solidFill>
                <a:latin typeface="Arial Unicode MS"/>
                <a:ea typeface="Arial Unicode MS"/>
                <a:cs typeface="Arial Unicode MS"/>
              </a:rPr>
              <a:t>黃線是手機級，1800 °/h：兩秒。</a:t>
            </a:r>
            <a:r>
              <a:rPr sz="950" lang="zh-TW" dirty="0">
                <a:solidFill>
                  <a:srgbClr val="000000"/>
                </a:solidFill>
                <a:latin typeface="Arial Unicode MS"/>
                <a:ea typeface="Arial Unicode MS"/>
                <a:cs typeface="Arial Unicode MS"/>
              </a:rPr>
              <a:t>兩秒就偏半公尺，所以手機的導航在隧道裡會亂飄。
</a:t>
            </a:r>
          </a:p>
          <a:p>
            <a:pPr algn="l">
              <a:spcBef>
                <a:spcPts val="0"/>
              </a:spcBef>
              <a:spcAft>
                <a:spcPts val="158"/>
              </a:spcAft>
            </a:pPr>
            <a:r>
              <a:rPr sz="950" lang="zh-TW" dirty="0">
                <a:solidFill>
                  <a:srgbClr val="000000"/>
                </a:solidFill>
                <a:latin typeface="Arial Unicode MS"/>
                <a:ea typeface="Arial Unicode MS"/>
                <a:cs typeface="Arial Unicode MS"/>
              </a:rPr>
              <a:t>現在想隧道。雪山隧道十二點九公里，時速八十，</a:t>
            </a:r>
            <a:r>
              <a:rPr sz="950" b="1" lang="zh-TW" dirty="0">
                <a:solidFill>
                  <a:srgbClr val="000000"/>
                </a:solidFill>
                <a:latin typeface="Arial Unicode MS"/>
                <a:ea typeface="Arial Unicode MS"/>
                <a:cs typeface="Arial Unicode MS"/>
              </a:rPr>
              <a:t>五百八十秒</a:t>
            </a:r>
            <a:r>
              <a:rPr sz="950" lang="zh-TW" dirty="0">
                <a:solidFill>
                  <a:srgbClr val="000000"/>
                </a:solidFill>
                <a:latin typeface="Arial Unicode MS"/>
                <a:ea typeface="Arial Unicode MS"/>
                <a:cs typeface="Arial Unicode MS"/>
              </a:rPr>
              <a:t>。綠線三十四秒就出局了。沒有一顆 IMU 撐得住，光纖陀螺也撐不住。
</a:t>
            </a:r>
          </a:p>
          <a:p>
            <a:pPr algn="l">
              <a:spcBef>
                <a:spcPts val="0"/>
              </a:spcBef>
              <a:spcAft>
                <a:spcPts val="158"/>
              </a:spcAft>
            </a:pPr>
            <a:r>
              <a:rPr sz="950" lang="zh-TW" dirty="0">
                <a:solidFill>
                  <a:srgbClr val="000000"/>
                </a:solidFill>
                <a:latin typeface="Arial Unicode MS"/>
                <a:ea typeface="Arial Unicode MS"/>
                <a:cs typeface="Arial Unicode MS"/>
              </a:rPr>
              <a:t>所以 IMU 的用法不是「過隧道」，是</a:t>
            </a:r>
            <a:r>
              <a:rPr sz="950" b="1" lang="zh-TW" dirty="0">
                <a:solidFill>
                  <a:srgbClr val="000000"/>
                </a:solidFill>
                <a:latin typeface="Arial Unicode MS"/>
                <a:ea typeface="Arial Unicode MS"/>
                <a:cs typeface="Arial Unicode MS"/>
              </a:rPr>
              <a:t>補洞</a:t>
            </a:r>
            <a:r>
              <a:rPr sz="950" lang="zh-TW" dirty="0">
                <a:solidFill>
                  <a:srgbClr val="000000"/>
                </a:solidFill>
                <a:latin typeface="Arial Unicode MS"/>
                <a:ea typeface="Arial Unicode MS"/>
                <a:cs typeface="Arial Unicode MS"/>
              </a:rPr>
              <a:t>：衛星斷一秒、兩秒、十秒的時候，它把這幾秒接起來。真的要過隧道，得靠別的，三樣各管一件事。</a:t>
            </a:r>
            <a:r>
              <a:rPr sz="950" b="1" lang="zh-TW" dirty="0">
                <a:solidFill>
                  <a:srgbClr val="000000"/>
                </a:solidFill>
                <a:latin typeface="Arial Unicode MS"/>
                <a:ea typeface="Arial Unicode MS"/>
                <a:cs typeface="Arial Unicode MS"/>
              </a:rPr>
              <a:t>輪速</a:t>
            </a:r>
            <a:r>
              <a:rPr sz="950" lang="zh-TW" dirty="0">
                <a:solidFill>
                  <a:srgbClr val="000000"/>
                </a:solidFill>
                <a:latin typeface="Arial Unicode MS"/>
                <a:ea typeface="Arial Unicode MS"/>
                <a:cs typeface="Arial Unicode MS"/>
              </a:rPr>
              <a:t>：每個輪子旁邊都有感測器，本來是給 ABS 用的，數輪子轉幾圈，就知道走了多遠、開多快；塞車停下來時，它說「車子沒動」，陀螺儀讀到的就全是零偏，可以趁機重新歸零。可是輪速不知道你在車道裡偏左還是偏右，那要靠</a:t>
            </a:r>
            <a:r>
              <a:rPr sz="950" b="1" lang="zh-TW" dirty="0">
                <a:solidFill>
                  <a:srgbClr val="000000"/>
                </a:solidFill>
                <a:latin typeface="Arial Unicode MS"/>
                <a:ea typeface="Arial Unicode MS"/>
                <a:cs typeface="Arial Unicode MS"/>
              </a:rPr>
              <a:t>相機看車道線</a:t>
            </a:r>
            <a:r>
              <a:rPr sz="950" lang="zh-TW" dirty="0">
                <a:solidFill>
                  <a:srgbClr val="000000"/>
                </a:solidFill>
                <a:latin typeface="Arial Unicode MS"/>
                <a:ea typeface="Arial Unicode MS"/>
                <a:cs typeface="Arial Unicode MS"/>
              </a:rPr>
              <a:t>。在隧道第幾公里、前面要不要轉彎，看</a:t>
            </a:r>
            <a:r>
              <a:rPr sz="950" b="1" lang="zh-TW" dirty="0">
                <a:solidFill>
                  <a:srgbClr val="000000"/>
                </a:solidFill>
                <a:latin typeface="Arial Unicode MS"/>
                <a:ea typeface="Arial Unicode MS"/>
                <a:cs typeface="Arial Unicode MS"/>
              </a:rPr>
              <a:t>高精地圖</a:t>
            </a:r>
            <a:r>
              <a:rPr sz="950" lang="zh-TW" dirty="0">
                <a:solidFill>
                  <a:srgbClr val="000000"/>
                </a:solidFill>
                <a:latin typeface="Arial Unicode MS"/>
                <a:ea typeface="Arial Unicode MS"/>
                <a:cs typeface="Arial Unicode MS"/>
              </a:rPr>
              <a:t>。就像閉著眼睛走路：數步數知道走了多遠，伸手摸到牆才知道有沒有歪。這是第五章的事。
</a:t>
            </a:r>
          </a:p>
          <a:p>
            <a:pPr algn="l">
              <a:spcBef>
                <a:spcPts val="0"/>
              </a:spcBef>
              <a:spcAft>
                <a:spcPts val="158"/>
              </a:spcAft>
            </a:pPr>
            <a:r>
              <a:rPr sz="950" lang="zh-TW" dirty="0">
                <a:solidFill>
                  <a:srgbClr val="000000"/>
                </a:solidFill>
                <a:latin typeface="Arial Unicode MS"/>
                <a:ea typeface="Arial Unicode MS"/>
                <a:cs typeface="Arial Unicode MS"/>
              </a:rPr>
              <a:t>這條算式判讀台上有，第③個小工具。等一下各位會自己拉。</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14</a:t>
            </a: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最後一件事，接回上週。
</a:t>
            </a:r>
          </a:p>
          <a:p>
            <a:pPr algn="l">
              <a:spcBef>
                <a:spcPts val="0"/>
              </a:spcBef>
              <a:spcAft>
                <a:spcPts val="200"/>
              </a:spcAft>
            </a:pPr>
            <a:r>
              <a:rPr sz="1200" lang="zh-TW" dirty="0">
                <a:solidFill>
                  <a:srgbClr val="000000"/>
                </a:solidFill>
                <a:latin typeface="Arial Unicode MS"/>
                <a:ea typeface="Arial Unicode MS"/>
                <a:cs typeface="Arial Unicode MS"/>
              </a:rPr>
              <a:t>底下這一條是 OS1 規格書第三頁，</a:t>
            </a:r>
            <a:r>
              <a:rPr sz="1200" b="1" lang="zh-TW" dirty="0">
                <a:solidFill>
                  <a:srgbClr val="000000"/>
                </a:solidFill>
                <a:latin typeface="Arial Unicode MS"/>
                <a:ea typeface="Arial Unicode MS"/>
                <a:cs typeface="Arial Unicode MS"/>
              </a:rPr>
              <a:t>IMU OUTPUT</a:t>
            </a:r>
            <a:r>
              <a:rPr sz="1200" lang="zh-TW" dirty="0">
                <a:solidFill>
                  <a:srgbClr val="000000"/>
                </a:solidFill>
                <a:latin typeface="Arial Unicode MS"/>
                <a:ea typeface="Arial Unicode MS"/>
                <a:cs typeface="Arial Unicode MS"/>
              </a:rPr>
              <a:t> 那一塊。上週各位看了它三頁，我沒講這一塊。</a:t>
            </a:r>
            <a:r>
              <a:rPr sz="1200" b="1" lang="zh-TW" dirty="0">
                <a:solidFill>
                  <a:srgbClr val="000000"/>
                </a:solidFill>
                <a:latin typeface="Arial Unicode MS"/>
                <a:ea typeface="Arial Unicode MS"/>
                <a:cs typeface="Arial Unicode MS"/>
              </a:rPr>
              <a:t>Samples Per Second，640</a:t>
            </a:r>
            <a:r>
              <a:rPr sz="1200" lang="zh-TW" dirty="0">
                <a:solidFill>
                  <a:srgbClr val="000000"/>
                </a:solidFill>
                <a:latin typeface="Arial Unicode MS"/>
                <a:ea typeface="Arial Unicode MS"/>
                <a:cs typeface="Arial Unicode MS"/>
              </a:rPr>
              <a:t>，一秒六百四十筆，三軸陀螺儀加三軸加速度計。最後一行還指名：</a:t>
            </a:r>
            <a:r>
              <a:rPr sz="1200" b="1" lang="zh-TW" dirty="0">
                <a:solidFill>
                  <a:srgbClr val="000000"/>
                </a:solidFill>
                <a:latin typeface="Arial Unicode MS"/>
                <a:ea typeface="Arial Unicode MS"/>
                <a:cs typeface="Arial Unicode MS"/>
              </a:rPr>
              <a:t>InvenSense IAM-20680HT</a:t>
            </a:r>
            <a:r>
              <a:rPr sz="1200" lang="zh-TW" dirty="0">
                <a:solidFill>
                  <a:srgbClr val="000000"/>
                </a:solidFill>
                <a:latin typeface="Arial Unicode MS"/>
                <a:ea typeface="Arial Unicode MS"/>
                <a:cs typeface="Arial Unicode MS"/>
              </a:rPr>
              <a:t>，TDK 的車規版，跟剛剛那顆 ICM-20948 是同一家。
</a:t>
            </a:r>
          </a:p>
          <a:p>
            <a:pPr algn="l">
              <a:spcBef>
                <a:spcPts val="0"/>
              </a:spcBef>
              <a:spcAft>
                <a:spcPts val="200"/>
              </a:spcAft>
            </a:pPr>
            <a:r>
              <a:rPr sz="1200" lang="zh-TW" dirty="0">
                <a:solidFill>
                  <a:srgbClr val="000000"/>
                </a:solidFill>
                <a:latin typeface="Arial Unicode MS"/>
                <a:ea typeface="Arial Unicode MS"/>
                <a:cs typeface="Arial Unicode MS"/>
              </a:rPr>
              <a:t>光達為什麼要內建一顆 IMU？想想看：OS1 轉一圈要一百毫秒。時速四十，一百毫秒車子走了一點一公尺。一圈掃到一半，車子已經往前一公尺，而且可能在轉彎。掃出來的那一圈點雲，前半圈和後半圈不是從同一個地方看的，整圈會被</a:t>
            </a:r>
            <a:r>
              <a:rPr sz="1200" b="1" lang="zh-TW" dirty="0">
                <a:solidFill>
                  <a:srgbClr val="000000"/>
                </a:solidFill>
                <a:latin typeface="Arial Unicode MS"/>
                <a:ea typeface="Arial Unicode MS"/>
                <a:cs typeface="Arial Unicode MS"/>
              </a:rPr>
              <a:t>拉歪</a:t>
            </a:r>
            <a:r>
              <a:rPr sz="1200" lang="zh-TW" dirty="0">
                <a:solidFill>
                  <a:srgbClr val="000000"/>
                </a:solidFill>
                <a:latin typeface="Arial Unicode MS"/>
                <a:ea typeface="Arial Unicode MS"/>
                <a:cs typeface="Arial Unicode MS"/>
              </a:rPr>
              <a:t>。各位用手機拍過全景照嗎？拍的時候人如果一邊走，接起來的照片就會歪掉。光達轉一圈也是在拍一張全景，車子在動，這張全景就歪了。
</a:t>
            </a:r>
          </a:p>
          <a:p>
            <a:pPr algn="l">
              <a:spcBef>
                <a:spcPts val="0"/>
              </a:spcBef>
              <a:spcAft>
                <a:spcPts val="200"/>
              </a:spcAft>
            </a:pPr>
            <a:r>
              <a:rPr sz="1200" lang="zh-TW" dirty="0">
                <a:solidFill>
                  <a:srgbClr val="000000"/>
                </a:solidFill>
                <a:latin typeface="Arial Unicode MS"/>
                <a:ea typeface="Arial Unicode MS"/>
                <a:cs typeface="Arial Unicode MS"/>
              </a:rPr>
              <a:t>機內那顆 IMU 一秒給六百四十筆「我現在往哪轉、往哪加速」，軟體用它把這一百毫秒內每一個點各自搬回正確的位置。這叫</a:t>
            </a:r>
            <a:r>
              <a:rPr sz="1200" b="1" lang="zh-TW" dirty="0">
                <a:solidFill>
                  <a:srgbClr val="000000"/>
                </a:solidFill>
                <a:latin typeface="Arial Unicode MS"/>
                <a:ea typeface="Arial Unicode MS"/>
                <a:cs typeface="Arial Unicode MS"/>
              </a:rPr>
              <a:t>運動補償</a:t>
            </a:r>
            <a:r>
              <a:rPr sz="1200" lang="zh-TW" dirty="0">
                <a:solidFill>
                  <a:srgbClr val="000000"/>
                </a:solidFill>
                <a:latin typeface="Arial Unicode MS"/>
                <a:ea typeface="Arial Unicode MS"/>
                <a:cs typeface="Arial Unicode MS"/>
              </a:rPr>
              <a:t>，每一顆車用光達都要做。
</a:t>
            </a:r>
          </a:p>
          <a:p>
            <a:pPr algn="l">
              <a:spcBef>
                <a:spcPts val="0"/>
              </a:spcBef>
              <a:spcAft>
                <a:spcPts val="200"/>
              </a:spcAft>
            </a:pPr>
            <a:r>
              <a:rPr sz="1200" lang="zh-TW" dirty="0">
                <a:solidFill>
                  <a:srgbClr val="000000"/>
                </a:solidFill>
                <a:latin typeface="Arial Unicode MS"/>
                <a:ea typeface="Arial Unicode MS"/>
                <a:cs typeface="Arial Unicode MS"/>
              </a:rPr>
              <a:t>各位還記得上週第二節最後那張 Additional Programmability，裡面有一行 </a:t>
            </a:r>
            <a:r>
              <a:rPr sz="1200" b="1" lang="zh-TW" dirty="0">
                <a:solidFill>
                  <a:srgbClr val="000000"/>
                </a:solidFill>
                <a:latin typeface="Arial Unicode MS"/>
                <a:ea typeface="Arial Unicode MS"/>
                <a:cs typeface="Arial Unicode MS"/>
              </a:rPr>
              <a:t>IMU pose correction matrix</a:t>
            </a:r>
            <a:r>
              <a:rPr sz="1200" lang="zh-TW" dirty="0">
                <a:solidFill>
                  <a:srgbClr val="000000"/>
                </a:solidFill>
                <a:latin typeface="Arial Unicode MS"/>
                <a:ea typeface="Arial Unicode MS"/>
                <a:cs typeface="Arial Unicode MS"/>
              </a:rPr>
              <a:t>？那就是這顆 IMU 和光達本體之間的</a:t>
            </a:r>
            <a:r>
              <a:rPr sz="1200" b="1" lang="zh-TW" dirty="0">
                <a:solidFill>
                  <a:srgbClr val="000000"/>
                </a:solidFill>
                <a:latin typeface="Arial Unicode MS"/>
                <a:ea typeface="Arial Unicode MS"/>
                <a:cs typeface="Arial Unicode MS"/>
              </a:rPr>
              <a:t>外參</a:t>
            </a:r>
            <a:r>
              <a:rPr sz="1200" lang="zh-TW" dirty="0">
                <a:solidFill>
                  <a:srgbClr val="000000"/>
                </a:solidFill>
                <a:latin typeface="Arial Unicode MS"/>
                <a:ea typeface="Arial Unicode MS"/>
                <a:cs typeface="Arial Unicode MS"/>
              </a:rPr>
              <a:t>，原廠標好的。上週講的標定，今天跟 IMU 接起來了。
</a:t>
            </a:r>
          </a:p>
          <a:p>
            <a:pPr algn="l">
              <a:spcBef>
                <a:spcPts val="0"/>
              </a:spcBef>
              <a:spcAft>
                <a:spcPts val="200"/>
              </a:spcAft>
            </a:pPr>
            <a:r>
              <a:rPr sz="1200" lang="zh-TW" dirty="0">
                <a:solidFill>
                  <a:srgbClr val="000000"/>
                </a:solidFill>
                <a:latin typeface="Arial Unicode MS"/>
                <a:ea typeface="Arial Unicode MS"/>
                <a:cs typeface="Arial Unicode MS"/>
              </a:rPr>
              <a:t>所以 IMU 從來不單獨用。它永遠在別人旁邊：在光達裡面補那一百毫秒，在衛星旁邊補那幾秒。</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15</a:t>
            </a: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停四分鐘，動手。
</a:t>
            </a:r>
          </a:p>
          <a:p>
            <a:pPr algn="l">
              <a:spcBef>
                <a:spcPts val="0"/>
              </a:spcBef>
              <a:spcAft>
                <a:spcPts val="200"/>
              </a:spcAft>
            </a:pPr>
            <a:r>
              <a:rPr sz="1200" lang="zh-TW" dirty="0">
                <a:solidFill>
                  <a:srgbClr val="000000"/>
                </a:solidFill>
                <a:latin typeface="Arial Unicode MS"/>
                <a:ea typeface="Arial Unicode MS"/>
                <a:cs typeface="Arial Unicode MS"/>
              </a:rPr>
              <a:t>判讀台右邊第③個小工具，「沒有衛星，IMU 撐多久」。兩個滑桿：偏差、車速。
</a:t>
            </a:r>
          </a:p>
          <a:p>
            <a:pPr algn="l">
              <a:spcBef>
                <a:spcPts val="0"/>
              </a:spcBef>
              <a:spcAft>
                <a:spcPts val="200"/>
              </a:spcAft>
            </a:pPr>
            <a:r>
              <a:rPr sz="1200" lang="zh-TW" dirty="0">
                <a:solidFill>
                  <a:srgbClr val="000000"/>
                </a:solidFill>
                <a:latin typeface="Arial Unicode MS"/>
                <a:ea typeface="Arial Unicode MS"/>
                <a:cs typeface="Arial Unicode MS"/>
              </a:rPr>
              <a:t>先把偏差放在 8，車速 80，看撐多久——三十四秒，跟剛剛那張圖一樣。
</a:t>
            </a:r>
          </a:p>
          <a:p>
            <a:pPr algn="l">
              <a:spcBef>
                <a:spcPts val="0"/>
              </a:spcBef>
              <a:spcAft>
                <a:spcPts val="200"/>
              </a:spcAft>
            </a:pPr>
            <a:r>
              <a:rPr sz="1200" b="1" lang="zh-TW" dirty="0">
                <a:solidFill>
                  <a:srgbClr val="000000"/>
                </a:solidFill>
                <a:latin typeface="Arial Unicode MS"/>
                <a:ea typeface="Arial Unicode MS"/>
                <a:cs typeface="Arial Unicode MS"/>
              </a:rPr>
              <a:t>第一題，把偏差拉到 1800。</a:t>
            </a:r>
            <a:r>
              <a:rPr sz="1200" lang="zh-TW" dirty="0">
                <a:solidFill>
                  <a:srgbClr val="000000"/>
                </a:solidFill>
                <a:latin typeface="Arial Unicode MS"/>
                <a:ea typeface="Arial Unicode MS"/>
                <a:cs typeface="Arial Unicode MS"/>
              </a:rPr>
              <a:t>看秒數變多少。
</a:t>
            </a:r>
          </a:p>
          <a:p>
            <a:pPr algn="l">
              <a:spcBef>
                <a:spcPts val="0"/>
              </a:spcBef>
              <a:spcAft>
                <a:spcPts val="200"/>
              </a:spcAft>
            </a:pPr>
            <a:r>
              <a:rPr sz="1200" b="1" lang="zh-TW" dirty="0">
                <a:solidFill>
                  <a:srgbClr val="000000"/>
                </a:solidFill>
                <a:latin typeface="Arial Unicode MS"/>
                <a:ea typeface="Arial Unicode MS"/>
                <a:cs typeface="Arial Unicode MS"/>
              </a:rPr>
              <a:t>第二題，偏差留在 1800，把車速拉到 5。</a:t>
            </a:r>
            <a:r>
              <a:rPr sz="1200" lang="zh-TW" dirty="0">
                <a:solidFill>
                  <a:srgbClr val="000000"/>
                </a:solidFill>
                <a:latin typeface="Arial Unicode MS"/>
                <a:ea typeface="Arial Unicode MS"/>
                <a:cs typeface="Arial Unicode MS"/>
              </a:rPr>
              <a:t>停車場的情境。下面會列出五個情境各要撐幾秒，看停車場那個 60 秒前面是勾還是叉。
</a:t>
            </a:r>
          </a:p>
          <a:p>
            <a:pPr algn="l">
              <a:spcBef>
                <a:spcPts val="0"/>
              </a:spcBef>
              <a:spcAft>
                <a:spcPts val="200"/>
              </a:spcAft>
            </a:pPr>
            <a:r>
              <a:rPr sz="1200" b="1" lang="zh-TW" dirty="0">
                <a:solidFill>
                  <a:srgbClr val="000000"/>
                </a:solidFill>
                <a:latin typeface="Arial Unicode MS"/>
                <a:ea typeface="Arial Unicode MS"/>
                <a:cs typeface="Arial Unicode MS"/>
              </a:rPr>
              <a:t>第三題，偏差拉回 8，車速拉回 80，看五個情境哪一個是叉。</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四分鐘，自己拉。做完的人把偏差拉到最右邊的十八萬——那是手機級完全沒校正的樣子，看會變幾秒。</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16</a:t>
            </a: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第二節收起來，三句話。
</a:t>
            </a:r>
          </a:p>
          <a:p>
            <a:pPr algn="l">
              <a:spcBef>
                <a:spcPts val="0"/>
              </a:spcBef>
              <a:spcAft>
                <a:spcPts val="200"/>
              </a:spcAft>
            </a:pPr>
            <a:r>
              <a:rPr sz="1200" b="1" lang="zh-TW" dirty="0">
                <a:solidFill>
                  <a:srgbClr val="000000"/>
                </a:solidFill>
                <a:latin typeface="Arial Unicode MS"/>
                <a:ea typeface="Arial Unicode MS"/>
                <a:cs typeface="Arial Unicode MS"/>
              </a:rPr>
              <a:t>第一句，超音波。</a:t>
            </a:r>
            <a:r>
              <a:rPr sz="1200" lang="zh-TW" dirty="0">
                <a:solidFill>
                  <a:srgbClr val="000000"/>
                </a:solidFill>
                <a:latin typeface="Arial Unicode MS"/>
                <a:ea typeface="Arial Unicode MS"/>
                <a:cs typeface="Arial Unicode MS"/>
              </a:rPr>
              <a:t>最遠五點五公尺，時速二十以上就來不及。但停車場它是王：最便宜，而且是唯一一顆看得到保險桿前面二十公分的。
</a:t>
            </a:r>
          </a:p>
          <a:p>
            <a:pPr algn="l">
              <a:spcBef>
                <a:spcPts val="0"/>
              </a:spcBef>
              <a:spcAft>
                <a:spcPts val="200"/>
              </a:spcAft>
            </a:pPr>
            <a:r>
              <a:rPr sz="1200" b="1" lang="zh-TW" dirty="0">
                <a:solidFill>
                  <a:srgbClr val="000000"/>
                </a:solidFill>
                <a:latin typeface="Arial Unicode MS"/>
                <a:ea typeface="Arial Unicode MS"/>
                <a:cs typeface="Arial Unicode MS"/>
              </a:rPr>
              <a:t>第二句，衛星定位。</a:t>
            </a:r>
            <a:r>
              <a:rPr sz="1200" lang="zh-TW" dirty="0">
                <a:solidFill>
                  <a:srgbClr val="000000"/>
                </a:solidFill>
                <a:latin typeface="Arial Unicode MS"/>
                <a:ea typeface="Arial Unicode MS"/>
                <a:cs typeface="Arial Unicode MS"/>
              </a:rPr>
              <a:t>2.5 公尺是機率，CEP 一半在圈內；RTK 一公分要有人送修正資料；高樓窄巷會偏幾十公尺而且不自知，隧道裡完全沒有。
</a:t>
            </a:r>
          </a:p>
          <a:p>
            <a:pPr algn="l">
              <a:spcBef>
                <a:spcPts val="0"/>
              </a:spcBef>
              <a:spcAft>
                <a:spcPts val="200"/>
              </a:spcAft>
            </a:pPr>
            <a:r>
              <a:rPr sz="1200" b="1" lang="zh-TW" dirty="0">
                <a:solidFill>
                  <a:srgbClr val="000000"/>
                </a:solidFill>
                <a:latin typeface="Arial Unicode MS"/>
                <a:ea typeface="Arial Unicode MS"/>
                <a:cs typeface="Arial Unicode MS"/>
              </a:rPr>
              <a:t>第三句，IMU。</a:t>
            </a:r>
            <a:r>
              <a:rPr sz="1200" lang="zh-TW" dirty="0">
                <a:solidFill>
                  <a:srgbClr val="000000"/>
                </a:solidFill>
                <a:latin typeface="Arial Unicode MS"/>
                <a:ea typeface="Arial Unicode MS"/>
                <a:cs typeface="Arial Unicode MS"/>
              </a:rPr>
              <a:t>不靠外界所以會飄，等級就是撐多久。工業級 8 °/h 在時速八十撐三十四秒。它是用來補幾秒的洞，不是用來過隧道。
</a:t>
            </a:r>
          </a:p>
          <a:p>
            <a:pPr algn="l">
              <a:spcBef>
                <a:spcPts val="0"/>
              </a:spcBef>
              <a:spcAft>
                <a:spcPts val="200"/>
              </a:spcAft>
            </a:pPr>
            <a:r>
              <a:rPr sz="1200" lang="zh-TW" dirty="0">
                <a:solidFill>
                  <a:srgbClr val="000000"/>
                </a:solidFill>
                <a:latin typeface="Arial Unicode MS"/>
                <a:ea typeface="Arial Unicode MS"/>
                <a:cs typeface="Arial Unicode MS"/>
              </a:rPr>
              <a:t>三句各配一個例子幫各位記：超音波是先看到閃電、後聽到雷聲，聲音太慢；衛星的 2.5 公尺是射飛鏢，一半在圈裡；IMU 是閉著眼睛走路，愈走愈歪。
</a:t>
            </a:r>
          </a:p>
          <a:p>
            <a:pPr algn="l">
              <a:spcBef>
                <a:spcPts val="0"/>
              </a:spcBef>
              <a:spcAft>
                <a:spcPts val="200"/>
              </a:spcAft>
            </a:pPr>
            <a:r>
              <a:rPr sz="1200" lang="zh-TW" dirty="0">
                <a:solidFill>
                  <a:srgbClr val="000000"/>
                </a:solidFill>
                <a:latin typeface="Arial Unicode MS"/>
                <a:ea typeface="Arial Unicode MS"/>
                <a:cs typeface="Arial Unicode MS"/>
              </a:rPr>
              <a:t>下一節一題一題講作業：八個新型號、五個情境、四張表，我講一題、各位填一題，下課前每個人交一張。
</a:t>
            </a:r>
          </a:p>
          <a:p>
            <a:pPr algn="l">
              <a:spcBef>
                <a:spcPts val="0"/>
              </a:spcBef>
              <a:spcAft>
                <a:spcPts val="200"/>
              </a:spcAft>
            </a:pPr>
            <a:r>
              <a:rPr sz="1200" lang="zh-TW" dirty="0">
                <a:solidFill>
                  <a:srgbClr val="000000"/>
                </a:solidFill>
                <a:latin typeface="Arial Unicode MS"/>
                <a:ea typeface="Arial Unicode MS"/>
                <a:cs typeface="Arial Unicode MS"/>
              </a:rPr>
              <a:t>休息十分鐘。</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17</a:t>
            </a: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這一張不唸，是附錄。第一頁的 Electric Parameter 表格裡 Working Frequency 印 40Hz，同一頁上面的內文寫 eight 40 kHz；第二頁有產品照、時序圖和「建議 60 ms 量測週期」那句話。</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18</a:t>
            </a: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這一張也不唸，是附錄。這是售後市場的規格單，不是工程文件，所以沒有波束角——第三張講過。註腳 2 的「75 mm standard pole」就在表格下面。</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19</a:t>
            </a: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這一張也不唸，是附錄。左邊是 NEO-M8 的 Performance 表，註腳 3「CEP, 50%, 24 hours static」在最下面；中間是 ZED-F9P 的 Table 1 和 2，更新率與收斂時間；右邊是 Table 3 精度，註腳 8「ppm limited to baselines up to 20 km」在最下面。</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20</a:t>
            </a: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這一張也不唸，是附錄。封面右上角 Applications 三行：手機平板、穿戴、物聯網；第十一頁那張表從頭到尾沒有 bias stability 這一行，各位可以自己找一次。</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21</a:t>
            </a: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lang="zh-TW" dirty="0">
                <a:solidFill>
                  <a:srgbClr val="000000"/>
                </a:solidFill>
                <a:latin typeface="Arial Unicode MS"/>
                <a:ea typeface="Arial Unicode MS"/>
                <a:cs typeface="Arial Unicode MS"/>
              </a:rPr>
              <a:t>這一張也不唸，是附錄。封面左欄 Features 前五行就是第十二張圈的那幾個數字；右欄 Applications 第二行寫 Unmanned and autonomous vehicles。第三頁 Table 1 的 GYROSCOPES 那一塊，Bias 底下兩列 In Run Stability 與 Angular Random Walk，就是手機級那份沒有的。</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vf2lW4LkmMQ"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youtu.be/lV-MiiOEGIA" TargetMode="Externa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youtu.be/R_mY4GLhauk" TargetMode="Externa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youtu.be/28_YpdN8Thw" TargetMode="Externa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youtu.be/u54tYw5_NsY" TargetMode="External"/><Relationship Id="rId3" Type="http://schemas.openxmlformats.org/officeDocument/2006/relationships/hyperlink" Target="https://youtu.be/U6rOEcyo6xU" TargetMode="External"/><Relationship Id="rId1"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youtu.be/XsjvaYAFN1M" TargetMode="External"/><Relationship Id="rId1"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15750" y="0"/>
          <a:ext cx="1" cy="1"/>
          <a:chOff x="0" y="0"/>
          <a:chExt cx="0" cy="0"/>
        </a:xfrm>
      </p:grpSpPr>
      <p:sp>
        <p:nvSpPr>
          <p:cNvPr id="2" name="Shape 0"/>
          <p:cNvSpPr/>
          <p:nvPr/>
        </p:nvSpPr>
        <p:spPr>
          <a:xfrm>
            <a:off x="6759000" y="-1366875"/>
            <a:ext cx="4191750" cy="4191750"/>
          </a:xfrm>
          <a:prstGeom prst="ellipse">
            <a:avLst/>
          </a:prstGeom>
          <a:solidFill>
            <a:srgbClr val="13314F"/>
          </a:solidFill>
          <a:ln w="12700">
            <a:solidFill>
              <a:srgbClr val="13314F"/>
            </a:solidFill>
            <a:prstDash val="solid"/>
          </a:ln>
        </p:spPr>
      </p:sp>
      <p:sp>
        <p:nvSpPr>
          <p:cNvPr id="3" name="Shape 1"/>
          <p:cNvSpPr/>
          <p:nvPr/>
        </p:nvSpPr>
        <p:spPr>
          <a:xfrm>
            <a:off x="8125875" y="2095875"/>
            <a:ext cx="2369250" cy="2369250"/>
          </a:xfrm>
          <a:prstGeom prst="ellipse">
            <a:avLst/>
          </a:prstGeom>
          <a:solidFill>
            <a:srgbClr val="007F72">
              <a:alpha val="28000"/>
            </a:srgbClr>
          </a:solidFill>
          <a:ln/>
        </p:spPr>
      </p:sp>
      <p:sp>
        <p:nvSpPr>
          <p:cNvPr id="4" name="Text 2"/>
          <p:cNvSpPr txBox="1"/>
          <p:nvPr/>
        </p:nvSpPr>
        <p:spPr>
          <a:xfrm>
            <a:off x="516938" y="1202850"/>
            <a:ext cx="6925500" cy="273375"/>
          </a:xfrm>
          <a:prstGeom prst="rect">
            <a:avLst/>
          </a:prstGeom>
          <a:noFill/>
          <a:ln/>
        </p:spPr>
        <p:txBody>
          <a:bodyPr wrap="square" lIns="0" tIns="0" rIns="0" bIns="0" rtlCol="0" anchor="ctr"/>
          <a:lstStyle/>
          <a:p>
            <a:pPr indent="0" marL="0">
              <a:buNone/>
            </a:pPr>
            <a:r>
              <a:rPr lang="en-US" sz="1250" b="1" dirty="0">
                <a:solidFill>
                  <a:srgbClr val="00A896"/>
                </a:solidFill>
                <a:latin typeface="Arial" pitchFamily="34" charset="0"/>
                <a:ea typeface="Arial" pitchFamily="34" charset="-122"/>
                <a:cs typeface="Arial" pitchFamily="34" charset="-120"/>
              </a:rPr>
              <a:t>MITUST · Nguyên lý xe tự lái · Tuần 6</a:t>
            </a:r>
            <a:endParaRPr lang="en-US" sz="1250" dirty="0"/>
          </a:p>
        </p:txBody>
      </p:sp>
      <p:sp>
        <p:nvSpPr>
          <p:cNvPr id="5" name="Text 3"/>
          <p:cNvSpPr txBox="1"/>
          <p:nvPr/>
        </p:nvSpPr>
        <p:spPr>
          <a:xfrm>
            <a:off x="516938" y="1567350"/>
            <a:ext cx="7472250" cy="1076548"/>
          </a:xfrm>
          <a:prstGeom prst="rect">
            <a:avLst/>
          </a:prstGeom>
          <a:noFill/>
          <a:ln/>
        </p:spPr>
        <p:txBody>
          <a:bodyPr wrap="square" lIns="0" tIns="0" rIns="0" bIns="0" rtlCol="0" anchor="t"/>
          <a:lstStyle/>
          <a:p>
            <a:pPr indent="0" marL="0">
              <a:lnSpc>
                <a:spcPct val="118000"/>
              </a:lnSpc>
              <a:buNone/>
            </a:pPr>
            <a:r>
              <a:rPr lang="en-US" sz="2290" b="1" dirty="0">
                <a:solidFill>
                  <a:srgbClr val="FFFFFF"/>
                </a:solidFill>
                <a:latin typeface="Arial" pitchFamily="34" charset="0"/>
                <a:ea typeface="Arial" pitchFamily="34" charset="-122"/>
                <a:cs typeface="Arial" pitchFamily="34" charset="-120"/>
              </a:rPr>
              <a:t>Ba cảm biến không dùng để nhìn: siêu âm, GNSS, IMU</a:t>
            </a:r>
            <a:endParaRPr lang="en-US" sz="2290" dirty="0"/>
          </a:p>
          <a:p>
            <a:pPr indent="0" marL="0">
              <a:lnSpc>
                <a:spcPct val="118000"/>
              </a:lnSpc>
              <a:buNone/>
            </a:pPr>
            <a:r>
              <a:rPr lang="en-US" sz="1400" dirty="0">
                <a:solidFill>
                  <a:srgbClr val="C8D6E2"/>
                </a:solidFill>
                <a:latin typeface="微軟正黑體" pitchFamily="34" charset="0"/>
                <a:ea typeface="微軟正黑體" pitchFamily="34" charset="-122"/>
                <a:cs typeface="微軟正黑體" pitchFamily="34" charset="-120"/>
              </a:rPr>
              <a:t>三種不是用來看的感測器：超音波、衛星定位、IMU</a:t>
            </a:r>
            <a:endParaRPr lang="en-US" sz="2290" dirty="0"/>
          </a:p>
        </p:txBody>
      </p:sp>
      <p:sp>
        <p:nvSpPr>
          <p:cNvPr id="6" name="Shape 4"/>
          <p:cNvSpPr/>
          <p:nvPr/>
        </p:nvSpPr>
        <p:spPr>
          <a:xfrm>
            <a:off x="516938" y="2789698"/>
            <a:ext cx="1366875" cy="41006"/>
          </a:xfrm>
          <a:prstGeom prst="rect">
            <a:avLst/>
          </a:prstGeom>
          <a:solidFill>
            <a:srgbClr val="FFB020"/>
          </a:solidFill>
          <a:ln/>
        </p:spPr>
      </p:sp>
      <p:sp>
        <p:nvSpPr>
          <p:cNvPr id="7" name="Text 5"/>
          <p:cNvSpPr txBox="1"/>
          <p:nvPr/>
        </p:nvSpPr>
        <p:spPr>
          <a:xfrm>
            <a:off x="516938" y="2990173"/>
            <a:ext cx="7107750" cy="557292"/>
          </a:xfrm>
          <a:prstGeom prst="rect">
            <a:avLst/>
          </a:prstGeom>
          <a:noFill/>
          <a:ln/>
        </p:spPr>
        <p:txBody>
          <a:bodyPr wrap="square" lIns="0" tIns="0" rIns="0" bIns="0" rtlCol="0" anchor="t"/>
          <a:lstStyle/>
          <a:p>
            <a:pPr indent="0" marL="0">
              <a:lnSpc>
                <a:spcPct val="120000"/>
              </a:lnSpc>
              <a:buNone/>
            </a:pPr>
            <a:r>
              <a:rPr lang="en-US" sz="1250" dirty="0">
                <a:solidFill>
                  <a:srgbClr val="C8D6E2"/>
                </a:solidFill>
                <a:latin typeface="Arial" pitchFamily="34" charset="0"/>
                <a:ea typeface="Arial" pitchFamily="34" charset="-122"/>
                <a:cs typeface="Arial" pitchFamily="34" charset="-120"/>
              </a:rPr>
              <a:t>Siêu âm chỉ thấy hai mét · vệ tinh nói bạn ở đâu · quán tính nói bạn đã quay bao nhiêu</a:t>
            </a:r>
            <a:endParaRPr lang="en-US" sz="1250" dirty="0"/>
          </a:p>
          <a:p>
            <a:pPr indent="0" marL="0">
              <a:lnSpc>
                <a:spcPct val="120000"/>
              </a:lnSpc>
              <a:buNone/>
            </a:pPr>
            <a:r>
              <a:rPr lang="en-US" sz="1100" dirty="0">
                <a:solidFill>
                  <a:srgbClr val="8AA0B4"/>
                </a:solidFill>
                <a:latin typeface="微軟正黑體" pitchFamily="34" charset="0"/>
                <a:ea typeface="微軟正黑體" pitchFamily="34" charset="-122"/>
                <a:cs typeface="微軟正黑體" pitchFamily="34" charset="-120"/>
              </a:rPr>
              <a:t>超音波只看兩公尺・衛星告訴你在哪・IMU 告訴你轉了多少</a:t>
            </a:r>
            <a:endParaRPr lang="en-US" sz="1250" dirty="0"/>
          </a:p>
        </p:txBody>
      </p:sp>
      <p:sp>
        <p:nvSpPr>
          <p:cNvPr id="8" name="Shape 6"/>
          <p:cNvSpPr/>
          <p:nvPr/>
        </p:nvSpPr>
        <p:spPr>
          <a:xfrm>
            <a:off x="516938" y="3881925"/>
            <a:ext cx="5923125" cy="382725"/>
          </a:xfrm>
          <a:prstGeom prst="roundRect">
            <a:avLst>
              <a:gd name="adj" fmla="val 16667"/>
            </a:avLst>
          </a:prstGeom>
          <a:solidFill>
            <a:srgbClr val="13314F"/>
          </a:solidFill>
          <a:ln/>
        </p:spPr>
      </p:sp>
      <p:sp>
        <p:nvSpPr>
          <p:cNvPr id="9" name="Text 7"/>
          <p:cNvSpPr txBox="1"/>
          <p:nvPr/>
        </p:nvSpPr>
        <p:spPr>
          <a:xfrm>
            <a:off x="644513" y="3927488"/>
            <a:ext cx="5667975" cy="291600"/>
          </a:xfrm>
          <a:prstGeom prst="rect">
            <a:avLst/>
          </a:prstGeom>
          <a:noFill/>
          <a:ln/>
        </p:spPr>
        <p:txBody>
          <a:bodyPr wrap="square" lIns="0" tIns="0" rIns="0" bIns="0" rtlCol="0" anchor="ctr"/>
          <a:lstStyle/>
          <a:p>
            <a:pPr indent="0" marL="0">
              <a:buNone/>
            </a:pPr>
            <a:r>
              <a:rPr lang="en-US" sz="1050" b="1" dirty="0">
                <a:solidFill>
                  <a:srgbClr val="9FD6CE"/>
                </a:solidFill>
                <a:latin typeface="Arial" pitchFamily="34" charset="0"/>
                <a:ea typeface="Arial" pitchFamily="34" charset="-122"/>
                <a:cs typeface="Arial" pitchFamily="34" charset="-120"/>
              </a:rPr>
              <a:t>工具｜Công cụ： ch-neural.github.io/MITUST-Principles-of-Self-Driving-Cars/week6/spec/</a:t>
            </a:r>
            <a:endParaRPr lang="en-US" sz="1050" dirty="0"/>
          </a:p>
        </p:txBody>
      </p:sp>
      <p:sp>
        <p:nvSpPr>
          <p:cNvPr id="10" name="Text 8"/>
          <p:cNvSpPr txBox="1"/>
          <p:nvPr/>
        </p:nvSpPr>
        <p:spPr>
          <a:xfrm>
            <a:off x="516938" y="4355775"/>
            <a:ext cx="6925500" cy="273375"/>
          </a:xfrm>
          <a:prstGeom prst="rect">
            <a:avLst/>
          </a:prstGeom>
          <a:noFill/>
          <a:ln/>
        </p:spPr>
        <p:txBody>
          <a:bodyPr wrap="square" lIns="0" tIns="0" rIns="0" bIns="0" rtlCol="0" anchor="ctr"/>
          <a:lstStyle/>
          <a:p>
            <a:pPr indent="0" marL="0">
              <a:buNone/>
            </a:pPr>
            <a:r>
              <a:rPr lang="en-US" sz="1150" dirty="0">
                <a:solidFill>
                  <a:srgbClr val="8AA0B4"/>
                </a:solidFill>
                <a:latin typeface="微軟正黑體" pitchFamily="34" charset="0"/>
                <a:ea typeface="微軟正黑體" pitchFamily="34" charset="-122"/>
                <a:cs typeface="微軟正黑體" pitchFamily="34" charset="-120"/>
              </a:rPr>
              <a:t>第六週 第 2 節　2026/10/15（四）10:10–11:00　CH Tseng</a:t>
            </a:r>
            <a:endParaRPr lang="en-US" sz="1150" dirty="0"/>
          </a:p>
        </p:txBody>
      </p:sp>
      <p:sp>
        <p:nvSpPr>
          <p:cNvPr id="12" name="Shape 9"/>
          <p:cNvSpPr/>
          <p:nvPr/>
        </p:nvSpPr>
        <p:spPr>
          <a:xfrm>
            <a:off x="371138" y="309825"/>
            <a:ext cx="2205225" cy="747225"/>
          </a:xfrm>
          <a:prstGeom prst="roundRect">
            <a:avLst>
              <a:gd name="adj" fmla="val 9756"/>
            </a:avLst>
          </a:prstGeom>
          <a:solidFill>
            <a:srgbClr val="FFFFFF"/>
          </a:solidFill>
          <a:ln/>
        </p:spPr>
      </p:sp>
      <p:pic>
        <p:nvPicPr>
          <p:cNvPr id="13" name="Image 0" descr="/Users/tsengchenghsun/Class/carClass/Claude outputs/第六週(10-15)/src/logo.png">    </p:cNvPr>
          <p:cNvPicPr>
            <a:picLocks noChangeAspect="1"/>
          </p:cNvPicPr>
          <p:nvPr/>
        </p:nvPicPr>
        <p:blipFill>
          <a:blip r:embed="rId1"/>
          <a:stretch>
            <a:fillRect/>
          </a:stretch>
        </p:blipFill>
        <p:spPr>
          <a:xfrm>
            <a:off x="502920" y="475488"/>
            <a:ext cx="1920240" cy="4242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1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Siêu âm: rẻ nhất, gần nhất, chậm nhất</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超音波：最便宜、最近、最慢</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Hai datasheet: một mô-đun vài chục nghìn, một linh kiện ô tô</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兩份規格表：一顆幾十塊的模組、一顆車用的</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2 / 22</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0" cy="0"/>
        </a:xfrm>
      </p:grpSpPr>
      <p:sp>
        <p:nvSpPr>
          <p:cNvPr id="2" name="Text 0"/>
          <p:cNvSpPr txBox="1"/>
          <p:nvPr/>
        </p:nvSpPr>
        <p:spPr>
          <a:xfrm>
            <a:off x="502920" y="365760"/>
            <a:ext cx="813816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Siêu âm · 兩份規格表</a:t>
            </a:r>
            <a:endParaRPr lang="en-US" sz="1300" dirty="0"/>
          </a:p>
        </p:txBody>
      </p:sp>
      <p:sp>
        <p:nvSpPr>
          <p:cNvPr id="3" name="Text 1"/>
          <p:cNvSpPr txBox="1"/>
          <p:nvPr/>
        </p:nvSpPr>
        <p:spPr>
          <a:xfrm>
            <a:off x="502920" y="676656"/>
            <a:ext cx="8138160" cy="831096"/>
          </a:xfrm>
          <a:prstGeom prst="rect">
            <a:avLst/>
          </a:prstGeom>
          <a:noFill/>
          <a:ln/>
        </p:spPr>
        <p:txBody>
          <a:bodyPr wrap="square" lIns="0" tIns="0" rIns="0" bIns="0" rtlCol="0" anchor="t"/>
          <a:lstStyle/>
          <a:p>
            <a:pPr indent="0" marL="0">
              <a:lnSpc>
                <a:spcPct val="116000"/>
              </a:lnSpc>
              <a:buNone/>
            </a:pPr>
            <a:r>
              <a:rPr lang="en-US" sz="1700" b="1" dirty="0">
                <a:solidFill>
                  <a:srgbClr val="0B1F3A"/>
                </a:solidFill>
                <a:latin typeface="Arial" pitchFamily="34" charset="0"/>
                <a:ea typeface="Arial" pitchFamily="34" charset="-122"/>
                <a:cs typeface="Arial" pitchFamily="34" charset="-120"/>
              </a:rPr>
              <a:t>Datasheet của hai cảm biến siêu âm: HC-SR04 (vài chục nghìn) và Bosch (loại ô tô)</a:t>
            </a:r>
            <a:endParaRPr lang="en-US" sz="1700" dirty="0"/>
          </a:p>
          <a:p>
            <a:pPr indent="0" marL="0">
              <a:lnSpc>
                <a:spcPct val="116000"/>
              </a:lnSpc>
              <a:buNone/>
            </a:pPr>
            <a:r>
              <a:rPr lang="en-US" sz="1250" dirty="0">
                <a:solidFill>
                  <a:srgbClr val="5F7183"/>
                </a:solidFill>
                <a:latin typeface="微軟正黑體" pitchFamily="34" charset="0"/>
                <a:ea typeface="微軟正黑體" pitchFamily="34" charset="-122"/>
                <a:cs typeface="微軟正黑體" pitchFamily="34" charset="-120"/>
              </a:rPr>
              <a:t>兩顆超音波的規格表：HC-SR04（幾十塊）和 Bosch（車用）</a:t>
            </a:r>
            <a:endParaRPr lang="en-US" sz="1700" dirty="0"/>
          </a:p>
        </p:txBody>
      </p:sp>
      <p:sp>
        <p:nvSpPr>
          <p:cNvPr id="4" name="Shape 2"/>
          <p:cNvSpPr/>
          <p:nvPr/>
        </p:nvSpPr>
        <p:spPr>
          <a:xfrm>
            <a:off x="2118771" y="1580904"/>
            <a:ext cx="2383177" cy="1893816"/>
          </a:xfrm>
          <a:prstGeom prst="roundRect">
            <a:avLst>
              <a:gd name="adj" fmla="val 4828"/>
            </a:avLst>
          </a:prstGeom>
          <a:solidFill>
            <a:srgbClr val="FFFFFF"/>
          </a:solidFill>
          <a:ln w="12700">
            <a:solidFill>
              <a:srgbClr val="DBE3EA"/>
            </a:solidFill>
            <a:prstDash val="solid"/>
          </a:ln>
        </p:spPr>
      </p:sp>
      <p:sp>
        <p:nvSpPr>
          <p:cNvPr id="5" name="Shape 3"/>
          <p:cNvSpPr/>
          <p:nvPr/>
        </p:nvSpPr>
        <p:spPr>
          <a:xfrm>
            <a:off x="2210211" y="1672344"/>
            <a:ext cx="2200297" cy="347413"/>
          </a:xfrm>
          <a:prstGeom prst="roundRect">
            <a:avLst>
              <a:gd name="adj" fmla="val 13160"/>
            </a:avLst>
          </a:prstGeom>
          <a:solidFill>
            <a:srgbClr val="0B1F3A"/>
          </a:solidFill>
          <a:ln/>
        </p:spPr>
      </p:sp>
      <p:sp>
        <p:nvSpPr>
          <p:cNvPr id="6" name="Text 4"/>
          <p:cNvSpPr txBox="1"/>
          <p:nvPr/>
        </p:nvSpPr>
        <p:spPr>
          <a:xfrm>
            <a:off x="2283363" y="1699776"/>
            <a:ext cx="2053993" cy="310837"/>
          </a:xfrm>
          <a:prstGeom prst="rect">
            <a:avLst/>
          </a:prstGeom>
          <a:noFill/>
          <a:ln/>
        </p:spPr>
        <p:txBody>
          <a:bodyPr wrap="square" lIns="0" tIns="0" rIns="0" bIns="0" rtlCol="0" anchor="t"/>
          <a:lstStyle/>
          <a:p>
            <a:pPr algn="ctr" indent="0" marL="0">
              <a:lnSpc>
                <a:spcPct val="104000"/>
              </a:lnSpc>
              <a:buNone/>
            </a:pPr>
            <a:r>
              <a:rPr lang="en-US" sz="950" b="1" dirty="0">
                <a:solidFill>
                  <a:srgbClr val="FFFFFF"/>
                </a:solidFill>
                <a:latin typeface="Arial" pitchFamily="34" charset="0"/>
                <a:ea typeface="Arial" pitchFamily="34" charset="-122"/>
                <a:cs typeface="Arial" pitchFamily="34" charset="-120"/>
              </a:rPr>
              <a:t>Mô-đun học tập · HC-SR04</a:t>
            </a:r>
            <a:endParaRPr lang="en-US" sz="950" dirty="0"/>
          </a:p>
          <a:p>
            <a:pPr algn="ctr" indent="0" marL="0">
              <a:lnSpc>
                <a:spcPct val="104000"/>
              </a:lnSpc>
              <a:buNone/>
            </a:pPr>
            <a:r>
              <a:rPr lang="en-US" sz="850" dirty="0">
                <a:solidFill>
                  <a:srgbClr val="FFFFFF"/>
                </a:solidFill>
                <a:latin typeface="微軟正黑體" pitchFamily="34" charset="0"/>
                <a:ea typeface="微軟正黑體" pitchFamily="34" charset="-122"/>
                <a:cs typeface="微軟正黑體" pitchFamily="34" charset="-120"/>
              </a:rPr>
              <a:t>教學模組 · HC-SR04</a:t>
            </a:r>
            <a:endParaRPr lang="en-US" sz="950" dirty="0"/>
          </a:p>
        </p:txBody>
      </p:sp>
      <p:pic>
        <p:nvPicPr>
          <p:cNvPr id="7" name="Image 0" descr="/Users/tsengchenghsun/Class/carClass/Claude outputs/第六週(10-15)/src/img/w6_hcsr04_table.png">    </p:cNvPr>
          <p:cNvPicPr>
            <a:picLocks noChangeAspect="1"/>
          </p:cNvPicPr>
          <p:nvPr/>
        </p:nvPicPr>
        <p:blipFill>
          <a:blip r:embed="rId1"/>
          <a:stretch>
            <a:fillRect/>
          </a:stretch>
        </p:blipFill>
        <p:spPr>
          <a:xfrm>
            <a:off x="2210211" y="2074621"/>
            <a:ext cx="2200297" cy="1021688"/>
          </a:xfrm>
          <a:prstGeom prst="rect">
            <a:avLst/>
          </a:prstGeom>
        </p:spPr>
      </p:pic>
      <p:sp>
        <p:nvSpPr>
          <p:cNvPr id="8" name="Text 5"/>
          <p:cNvSpPr txBox="1"/>
          <p:nvPr/>
        </p:nvSpPr>
        <p:spPr>
          <a:xfrm>
            <a:off x="2210211" y="3114597"/>
            <a:ext cx="2200297" cy="250395"/>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ElecFreaks, Ultrasonic Ranging Module HC-SR04, p.1 · 節錄 · 讀取 2026/10/08</a:t>
            </a:r>
            <a:endParaRPr lang="en-US" sz="700" dirty="0"/>
          </a:p>
        </p:txBody>
      </p:sp>
      <p:sp>
        <p:nvSpPr>
          <p:cNvPr id="9" name="Shape 6"/>
          <p:cNvSpPr/>
          <p:nvPr/>
        </p:nvSpPr>
        <p:spPr>
          <a:xfrm>
            <a:off x="4776268" y="1580904"/>
            <a:ext cx="2248961" cy="1893816"/>
          </a:xfrm>
          <a:prstGeom prst="roundRect">
            <a:avLst>
              <a:gd name="adj" fmla="val 4828"/>
            </a:avLst>
          </a:prstGeom>
          <a:solidFill>
            <a:srgbClr val="FFFFFF"/>
          </a:solidFill>
          <a:ln w="12700">
            <a:solidFill>
              <a:srgbClr val="DBE3EA"/>
            </a:solidFill>
            <a:prstDash val="solid"/>
          </a:ln>
        </p:spPr>
      </p:sp>
      <p:sp>
        <p:nvSpPr>
          <p:cNvPr id="10" name="Shape 7"/>
          <p:cNvSpPr/>
          <p:nvPr/>
        </p:nvSpPr>
        <p:spPr>
          <a:xfrm>
            <a:off x="4867708" y="1672344"/>
            <a:ext cx="2066081" cy="347413"/>
          </a:xfrm>
          <a:prstGeom prst="roundRect">
            <a:avLst>
              <a:gd name="adj" fmla="val 13160"/>
            </a:avLst>
          </a:prstGeom>
          <a:solidFill>
            <a:srgbClr val="007F72"/>
          </a:solidFill>
          <a:ln/>
        </p:spPr>
      </p:sp>
      <p:sp>
        <p:nvSpPr>
          <p:cNvPr id="11" name="Text 8"/>
          <p:cNvSpPr txBox="1"/>
          <p:nvPr/>
        </p:nvSpPr>
        <p:spPr>
          <a:xfrm>
            <a:off x="4940860" y="1699776"/>
            <a:ext cx="1919777" cy="310837"/>
          </a:xfrm>
          <a:prstGeom prst="rect">
            <a:avLst/>
          </a:prstGeom>
          <a:noFill/>
          <a:ln/>
        </p:spPr>
        <p:txBody>
          <a:bodyPr wrap="square" lIns="0" tIns="0" rIns="0" bIns="0" rtlCol="0" anchor="t"/>
          <a:lstStyle/>
          <a:p>
            <a:pPr algn="ctr" indent="0" marL="0">
              <a:lnSpc>
                <a:spcPct val="104000"/>
              </a:lnSpc>
              <a:buNone/>
            </a:pPr>
            <a:r>
              <a:rPr lang="en-US" sz="950" b="1" dirty="0">
                <a:solidFill>
                  <a:srgbClr val="FFFFFF"/>
                </a:solidFill>
                <a:latin typeface="Arial" pitchFamily="34" charset="0"/>
                <a:ea typeface="Arial" pitchFamily="34" charset="-122"/>
                <a:cs typeface="Arial" pitchFamily="34" charset="-120"/>
              </a:rPr>
              <a:t>Cảm biến ô tô · Bosch USS Gen 6</a:t>
            </a:r>
            <a:endParaRPr lang="en-US" sz="950" dirty="0"/>
          </a:p>
          <a:p>
            <a:pPr algn="ctr" indent="0" marL="0">
              <a:lnSpc>
                <a:spcPct val="104000"/>
              </a:lnSpc>
              <a:buNone/>
            </a:pPr>
            <a:r>
              <a:rPr lang="en-US" sz="850" dirty="0">
                <a:solidFill>
                  <a:srgbClr val="FFFFFF"/>
                </a:solidFill>
                <a:latin typeface="微軟正黑體" pitchFamily="34" charset="0"/>
                <a:ea typeface="微軟正黑體" pitchFamily="34" charset="-122"/>
                <a:cs typeface="微軟正黑體" pitchFamily="34" charset="-120"/>
              </a:rPr>
              <a:t>車用 · Bosch 超音波第六代</a:t>
            </a:r>
            <a:endParaRPr lang="en-US" sz="950" dirty="0"/>
          </a:p>
        </p:txBody>
      </p:sp>
      <p:pic>
        <p:nvPicPr>
          <p:cNvPr id="12" name="Image 1" descr="/Users/tsengchenghsun/Class/carClass/Claude outputs/第六週(10-15)/src/img/w6_uss6_table.png">    </p:cNvPr>
          <p:cNvPicPr>
            <a:picLocks noChangeAspect="1"/>
          </p:cNvPicPr>
          <p:nvPr/>
        </p:nvPicPr>
        <p:blipFill>
          <a:blip r:embed="rId2"/>
          <a:stretch>
            <a:fillRect/>
          </a:stretch>
        </p:blipFill>
        <p:spPr>
          <a:xfrm>
            <a:off x="4867708" y="2074621"/>
            <a:ext cx="2066081" cy="1021688"/>
          </a:xfrm>
          <a:prstGeom prst="rect">
            <a:avLst/>
          </a:prstGeom>
        </p:spPr>
      </p:pic>
      <p:sp>
        <p:nvSpPr>
          <p:cNvPr id="13" name="Text 9"/>
          <p:cNvSpPr txBox="1"/>
          <p:nvPr/>
        </p:nvSpPr>
        <p:spPr>
          <a:xfrm>
            <a:off x="4867708" y="3114597"/>
            <a:ext cx="2066081" cy="250395"/>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Bosch Aftermarket, Ultrasonic Sensors Generation 6 factsheet (03/2023), p.1 · 節錄 · 讀取 2026/10/08</a:t>
            </a:r>
            <a:endParaRPr lang="en-US" sz="700" dirty="0"/>
          </a:p>
        </p:txBody>
      </p:sp>
      <p:sp>
        <p:nvSpPr>
          <p:cNvPr id="14" name="Shape 10"/>
          <p:cNvSpPr/>
          <p:nvPr/>
        </p:nvSpPr>
        <p:spPr>
          <a:xfrm>
            <a:off x="539496" y="3575304"/>
            <a:ext cx="219456" cy="219456"/>
          </a:xfrm>
          <a:prstGeom prst="ellipse">
            <a:avLst/>
          </a:prstGeom>
          <a:solidFill>
            <a:srgbClr val="D9463E"/>
          </a:solidFill>
          <a:ln/>
        </p:spPr>
      </p:sp>
      <p:sp>
        <p:nvSpPr>
          <p:cNvPr id="15" name="Text 11"/>
          <p:cNvSpPr txBox="1"/>
          <p:nvPr/>
        </p:nvSpPr>
        <p:spPr>
          <a:xfrm>
            <a:off x="539496" y="3602736"/>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16" name="Text 12"/>
          <p:cNvSpPr txBox="1"/>
          <p:nvPr/>
        </p:nvSpPr>
        <p:spPr>
          <a:xfrm>
            <a:off x="832104" y="3547872"/>
            <a:ext cx="7808976" cy="274320"/>
          </a:xfrm>
          <a:prstGeom prst="rect">
            <a:avLst/>
          </a:prstGeom>
          <a:noFill/>
          <a:ln/>
        </p:spPr>
        <p:txBody>
          <a:bodyPr wrap="square" lIns="0" tIns="0" rIns="0" bIns="0" rtlCol="0" anchor="ctr"/>
          <a:lstStyle/>
          <a:p>
            <a:pPr indent="0" marL="0">
              <a:lnSpc>
                <a:spcPct val="100000"/>
              </a:lnSpc>
              <a:buNone/>
            </a:pPr>
            <a:r>
              <a:rPr lang="en-US" sz="900" b="1" u="sng" dirty="0">
                <a:solidFill>
                  <a:srgbClr val="0B1F3A"/>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Video: HC-SR04 đo khoảng cách thế nào · </a:t>
            </a:r>
            <a:pPr indent="0" marL="0">
              <a:lnSpc>
                <a:spcPct val="100000"/>
              </a:lnSpc>
              <a:buNone/>
            </a:pPr>
            <a:r>
              <a:rPr lang="en-US" sz="900" b="1" u="sng" dirty="0">
                <a:solidFill>
                  <a:srgbClr val="0B1F3A"/>
                </a:solidFill>
                <a:latin typeface="微軟正黑體" pitchFamily="34" charset="0"/>
                <a:ea typeface="微軟正黑體" pitchFamily="34" charset="-122"/>
                <a:cs typeface="微軟正黑體" pitchFamily="34" charset="-120"/>
                <a:hlinkClick r:id="rId3" invalidUrl="" action="" tgtFrame="" tooltip="" history="1" highlightClick="0" endSnd="0">
                  <a:extLst>
                    <a:ext uri="{A12FA001-AC4F-418D-AE19-62706E023703}">
                      <ahyp:hlinkClr xmlns:ahyp="http://schemas.microsoft.com/office/drawing/2018/hyperlinkcolor" val="tx"/>
                    </a:ext>
                  </a:extLst>
                </a:hlinkClick>
              </a:rPr>
              <a:t>影片：HC-SR04 怎麼量距離　2:02　</a:t>
            </a:r>
            <a:pPr indent="0" marL="0">
              <a:lnSpc>
                <a:spcPct val="100000"/>
              </a:lnSpc>
              <a:buNone/>
            </a:pPr>
            <a:r>
              <a:rPr lang="en-US" sz="900" u="sng" dirty="0">
                <a:solidFill>
                  <a:srgbClr val="1F6FB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youtu.be/vf2lW4LkmMQ</a:t>
            </a:r>
            <a:endParaRPr lang="en-US" sz="900" dirty="0"/>
          </a:p>
        </p:txBody>
      </p:sp>
      <p:sp>
        <p:nvSpPr>
          <p:cNvPr id="17" name="Shape 13"/>
          <p:cNvSpPr/>
          <p:nvPr/>
        </p:nvSpPr>
        <p:spPr>
          <a:xfrm>
            <a:off x="502920" y="3931920"/>
            <a:ext cx="8138160" cy="566928"/>
          </a:xfrm>
          <a:prstGeom prst="roundRect">
            <a:avLst>
              <a:gd name="adj" fmla="val 14516"/>
            </a:avLst>
          </a:prstGeom>
          <a:solidFill>
            <a:srgbClr val="FFF6E3"/>
          </a:solidFill>
          <a:ln w="12700">
            <a:solidFill>
              <a:srgbClr val="FFB020"/>
            </a:solidFill>
            <a:prstDash val="solid"/>
          </a:ln>
        </p:spPr>
      </p:sp>
      <p:sp>
        <p:nvSpPr>
          <p:cNvPr id="18" name="Text 14"/>
          <p:cNvSpPr txBox="1"/>
          <p:nvPr/>
        </p:nvSpPr>
        <p:spPr>
          <a:xfrm>
            <a:off x="685800" y="3995928"/>
            <a:ext cx="7772400" cy="457200"/>
          </a:xfrm>
          <a:prstGeom prst="rect">
            <a:avLst/>
          </a:prstGeom>
          <a:noFill/>
          <a:ln/>
        </p:spPr>
        <p:txBody>
          <a:bodyPr wrap="square" lIns="0" tIns="0" rIns="0" bIns="0" rtlCol="0" anchor="t"/>
          <a:lstStyle/>
          <a:p>
            <a:pPr indent="0" marL="0">
              <a:lnSpc>
                <a:spcPct val="116000"/>
              </a:lnSpc>
              <a:buNone/>
            </a:pPr>
            <a:r>
              <a:rPr lang="en-US" sz="1200" b="1" dirty="0">
                <a:solidFill>
                  <a:srgbClr val="7A4E00"/>
                </a:solidFill>
                <a:latin typeface="Arial" pitchFamily="34" charset="0"/>
                <a:ea typeface="Arial" pitchFamily="34" charset="-122"/>
                <a:cs typeface="Arial" pitchFamily="34" charset="-120"/>
              </a:rPr>
              <a:t>4 m và 5,5 m gần như nhau; khác ở chỗ biết mình bị bẩn che, và không nhầm tiếng vọng của cái khác.</a:t>
            </a:r>
            <a:endParaRPr lang="en-US" sz="1200" dirty="0"/>
          </a:p>
          <a:p>
            <a:pPr indent="0" marL="0">
              <a:lnSpc>
                <a:spcPct val="116000"/>
              </a:lnSpc>
              <a:buNone/>
            </a:pPr>
            <a:r>
              <a:rPr lang="en-US" sz="1100" dirty="0">
                <a:solidFill>
                  <a:srgbClr val="7A4E00"/>
                </a:solidFill>
                <a:latin typeface="微軟正黑體" pitchFamily="34" charset="0"/>
                <a:ea typeface="微軟正黑體" pitchFamily="34" charset="-122"/>
                <a:cs typeface="微軟正黑體" pitchFamily="34" charset="-120"/>
              </a:rPr>
              <a:t>4 公尺對 5.5 公尺差不多；差在會不會自己發現被髒污蓋住、會不會跟別顆的回波搞混。</a:t>
            </a:r>
            <a:endParaRPr lang="en-US" sz="1200" dirty="0"/>
          </a:p>
        </p:txBody>
      </p:sp>
      <p:sp>
        <p:nvSpPr>
          <p:cNvPr id="19" name="Shape 15"/>
          <p:cNvSpPr/>
          <p:nvPr/>
        </p:nvSpPr>
        <p:spPr>
          <a:xfrm>
            <a:off x="3630162" y="365760"/>
            <a:ext cx="5010918" cy="310896"/>
          </a:xfrm>
          <a:prstGeom prst="roundRect">
            <a:avLst>
              <a:gd name="adj" fmla="val 20588"/>
            </a:avLst>
          </a:prstGeom>
          <a:solidFill>
            <a:srgbClr val="EAF6F4"/>
          </a:solidFill>
          <a:ln w="9525">
            <a:solidFill>
              <a:srgbClr val="9FD6CE"/>
            </a:solidFill>
            <a:prstDash val="solid"/>
          </a:ln>
        </p:spPr>
      </p:sp>
      <p:sp>
        <p:nvSpPr>
          <p:cNvPr id="20" name="Text 16"/>
          <p:cNvSpPr txBox="1"/>
          <p:nvPr/>
        </p:nvSpPr>
        <p:spPr>
          <a:xfrm>
            <a:off x="3758178" y="384048"/>
            <a:ext cx="4828038"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sáu người cùng gọi trong thung lũng: ai gọi tên mình mới nhận ra tiếng vọng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六個人在山谷同時喊，各喊自己的名字才認得出回音</a:t>
            </a:r>
            <a:endParaRPr lang="en-US" sz="950" dirty="0"/>
          </a:p>
        </p:txBody>
      </p:sp>
      <p:pic>
        <p:nvPicPr>
          <p:cNvPr id="22" name="Image 2" descr="/Users/tsengchenghsun/Class/carClass/Claude outputs/第六週(10-15)/src/logo.png">    </p:cNvPr>
          <p:cNvPicPr>
            <a:picLocks noChangeAspect="1"/>
          </p:cNvPicPr>
          <p:nvPr/>
        </p:nvPicPr>
        <p:blipFill>
          <a:blip r:embed="rId4"/>
          <a:stretch>
            <a:fillRect/>
          </a:stretch>
        </p:blipFill>
        <p:spPr>
          <a:xfrm>
            <a:off x="7882128" y="109728"/>
            <a:ext cx="1097280" cy="242439"/>
          </a:xfrm>
          <a:prstGeom prst="rect">
            <a:avLst/>
          </a:prstGeom>
        </p:spPr>
      </p:pic>
      <p:sp>
        <p:nvSpPr>
          <p:cNvPr id="23" name="Text 1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 / 22</a:t>
            </a:r>
            <a:endParaRPr lang="en-US" sz="900" dirty="0"/>
          </a:p>
        </p:txBody>
      </p:sp>
      <p:sp>
        <p:nvSpPr>
          <p:cNvPr id="24" name="Text 1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Vật lý · 為什麼超音波只能看幾公尺</a:t>
            </a:r>
            <a:endParaRPr lang="en-US" sz="1250" dirty="0"/>
          </a:p>
        </p:txBody>
      </p:sp>
      <p:sp>
        <p:nvSpPr>
          <p:cNvPr id="3" name="Shape 1"/>
          <p:cNvSpPr/>
          <p:nvPr/>
        </p:nvSpPr>
        <p:spPr>
          <a:xfrm>
            <a:off x="502920" y="937260"/>
            <a:ext cx="2468880" cy="2514600"/>
          </a:xfrm>
          <a:prstGeom prst="roundRect">
            <a:avLst>
              <a:gd name="adj" fmla="val 4444"/>
            </a:avLst>
          </a:prstGeom>
          <a:solidFill>
            <a:srgbClr val="F4F7FA"/>
          </a:solidFill>
          <a:ln w="12700">
            <a:solidFill>
              <a:srgbClr val="DBE3EA"/>
            </a:solidFill>
            <a:prstDash val="solid"/>
          </a:ln>
        </p:spPr>
      </p:sp>
      <p:sp>
        <p:nvSpPr>
          <p:cNvPr id="4" name="Shape 2"/>
          <p:cNvSpPr/>
          <p:nvPr/>
        </p:nvSpPr>
        <p:spPr>
          <a:xfrm>
            <a:off x="1113739" y="1967789"/>
            <a:ext cx="226771" cy="481889"/>
          </a:xfrm>
          <a:prstGeom prst="roundRect">
            <a:avLst>
              <a:gd name="adj" fmla="val 120968"/>
            </a:avLst>
          </a:prstGeom>
          <a:solidFill>
            <a:srgbClr val="1F6F5C"/>
          </a:solidFill>
          <a:ln/>
        </p:spPr>
      </p:sp>
      <p:sp>
        <p:nvSpPr>
          <p:cNvPr id="5" name="Shape 3"/>
          <p:cNvSpPr/>
          <p:nvPr/>
        </p:nvSpPr>
        <p:spPr>
          <a:xfrm>
            <a:off x="1397203" y="1882750"/>
            <a:ext cx="311810" cy="651967"/>
          </a:xfrm>
          <a:prstGeom prst="chevron">
            <a:avLst/>
          </a:prstGeom>
          <a:ln w="31750">
            <a:solidFill>
              <a:srgbClr val="1F6F5C"/>
            </a:solidFill>
            <a:prstDash val="solid"/>
          </a:ln>
        </p:spPr>
      </p:sp>
      <p:sp>
        <p:nvSpPr>
          <p:cNvPr id="6" name="Shape 4"/>
          <p:cNvSpPr/>
          <p:nvPr/>
        </p:nvSpPr>
        <p:spPr>
          <a:xfrm>
            <a:off x="1680667" y="1769364"/>
            <a:ext cx="340157" cy="878738"/>
          </a:xfrm>
          <a:prstGeom prst="chevron">
            <a:avLst/>
          </a:prstGeom>
          <a:ln w="31750">
            <a:solidFill>
              <a:srgbClr val="1F6F5C">
                <a:alpha val="65000"/>
              </a:srgbClr>
            </a:solidFill>
            <a:prstDash val="solid"/>
          </a:ln>
        </p:spPr>
      </p:sp>
      <p:sp>
        <p:nvSpPr>
          <p:cNvPr id="7" name="Text 5"/>
          <p:cNvSpPr txBox="1"/>
          <p:nvPr/>
        </p:nvSpPr>
        <p:spPr>
          <a:xfrm>
            <a:off x="3429000" y="914400"/>
            <a:ext cx="5212080" cy="2560320"/>
          </a:xfrm>
          <a:prstGeom prst="rect">
            <a:avLst/>
          </a:prstGeom>
          <a:noFill/>
          <a:ln/>
        </p:spPr>
        <p:txBody>
          <a:bodyPr wrap="square" lIns="0" tIns="0" rIns="0" bIns="0" rtlCol="0" anchor="ctr"/>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Tốc độ âm 340 m/s: 5,5 m đi về mất 32 ms — trên 20 km/h là không kịp</a:t>
            </a:r>
            <a:endParaRPr lang="en-US" sz="2300" dirty="0"/>
          </a:p>
          <a:p>
            <a:pPr indent="0" marL="0">
              <a:lnSpc>
                <a:spcPct val="120000"/>
              </a:lnSpc>
              <a:buNone/>
            </a:pPr>
            <a:r>
              <a:rPr lang="en-US" sz="1400" b="1" dirty="0">
                <a:solidFill>
                  <a:srgbClr val="007F72"/>
                </a:solidFill>
                <a:latin typeface="微軟正黑體" pitchFamily="34" charset="0"/>
                <a:ea typeface="微軟正黑體" pitchFamily="34" charset="-122"/>
                <a:cs typeface="微軟正黑體" pitchFamily="34" charset="-120"/>
              </a:rPr>
              <a:t>聲速 340 m/s：5.5 公尺來回 32 毫秒——時速 20 以上就來不及</a:t>
            </a:r>
            <a:endParaRPr lang="en-US" sz="2300" dirty="0"/>
          </a:p>
          <a:p>
            <a:pPr indent="0" marL="0">
              <a:lnSpc>
                <a:spcPct val="120000"/>
              </a:lnSpc>
              <a:spcBef>
                <a:spcPts val="1440"/>
              </a:spcBef>
              <a:buNone/>
            </a:pPr>
            <a:r>
              <a:rPr lang="en-US" sz="1250" dirty="0">
                <a:solidFill>
                  <a:srgbClr val="5F7183"/>
                </a:solidFill>
                <a:latin typeface="Arial" pitchFamily="34" charset="0"/>
                <a:ea typeface="Arial" pitchFamily="34" charset="-122"/>
                <a:cs typeface="Arial" pitchFamily="34" charset="-120"/>
              </a:rPr>
              <a:t>20 km/h cần quãng phanh 4,2 m cộng dự phòng 5 m, vượt quá 4–5,5 m nó thấy được. Nên siêu âm chỉ làm một việc: đỗ xe, lùi xe, bù điểm mù ở tốc độ thấp.</a:t>
            </a:r>
            <a:endParaRPr lang="en-US" sz="2300" dirty="0"/>
          </a:p>
          <a:p>
            <a:pPr indent="0" marL="0">
              <a:lnSpc>
                <a:spcPct val="120000"/>
              </a:lnSpc>
              <a:buNone/>
            </a:pPr>
            <a:r>
              <a:rPr lang="en-US" sz="1150" dirty="0">
                <a:solidFill>
                  <a:srgbClr val="5F7183"/>
                </a:solidFill>
                <a:latin typeface="微軟正黑體" pitchFamily="34" charset="0"/>
                <a:ea typeface="微軟正黑體" pitchFamily="34" charset="-122"/>
                <a:cs typeface="微軟正黑體" pitchFamily="34" charset="-120"/>
              </a:rPr>
              <a:t>時速 20 煞停要 4.2 公尺加餘裕 5 公尺，超過它看得到的 4 到 5.5 公尺。所以超音波只做一件事：停車、倒車、低速補盲。</a:t>
            </a:r>
            <a:endParaRPr lang="en-US" sz="2300" dirty="0"/>
          </a:p>
        </p:txBody>
      </p:sp>
      <p:sp>
        <p:nvSpPr>
          <p:cNvPr id="8" name="Shape 6"/>
          <p:cNvSpPr/>
          <p:nvPr/>
        </p:nvSpPr>
        <p:spPr>
          <a:xfrm>
            <a:off x="539496" y="3557016"/>
            <a:ext cx="219456" cy="219456"/>
          </a:xfrm>
          <a:prstGeom prst="ellipse">
            <a:avLst/>
          </a:prstGeom>
          <a:solidFill>
            <a:srgbClr val="D9463E"/>
          </a:solidFill>
          <a:ln/>
        </p:spPr>
      </p:sp>
      <p:sp>
        <p:nvSpPr>
          <p:cNvPr id="9" name="Text 7"/>
          <p:cNvSpPr txBox="1"/>
          <p:nvPr/>
        </p:nvSpPr>
        <p:spPr>
          <a:xfrm>
            <a:off x="539496" y="3584448"/>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10" name="Text 8"/>
          <p:cNvSpPr txBox="1"/>
          <p:nvPr/>
        </p:nvSpPr>
        <p:spPr>
          <a:xfrm>
            <a:off x="832104" y="3529584"/>
            <a:ext cx="7808976" cy="274320"/>
          </a:xfrm>
          <a:prstGeom prst="rect">
            <a:avLst/>
          </a:prstGeom>
          <a:noFill/>
          <a:ln/>
        </p:spPr>
        <p:txBody>
          <a:bodyPr wrap="square" lIns="0" tIns="0" rIns="0" bIns="0" rtlCol="0" anchor="ctr"/>
          <a:lstStyle/>
          <a:p>
            <a:pPr indent="0" marL="0">
              <a:lnSpc>
                <a:spcPct val="100000"/>
              </a:lnSpc>
              <a:buNone/>
            </a:pPr>
            <a:r>
              <a:rPr lang="en-US" sz="900" b="1" u="sng" dirty="0">
                <a:solidFill>
                  <a:srgbClr val="0B1F3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Video: cảm biến lùi xe qua ba đời (tiếng Trung) · </a:t>
            </a:r>
            <a:pPr indent="0" marL="0">
              <a:lnSpc>
                <a:spcPct val="100000"/>
              </a:lnSpc>
              <a:buNone/>
            </a:pPr>
            <a:r>
              <a:rPr lang="en-US" sz="900" b="1" u="sng" dirty="0">
                <a:solidFill>
                  <a:srgbClr val="0B1F3A"/>
                </a:solidFill>
                <a:latin typeface="微軟正黑體" pitchFamily="34" charset="0"/>
                <a:ea typeface="微軟正黑體" pitchFamily="34" charset="-122"/>
                <a:cs typeface="微軟正黑體" pitchFamily="34" charset="-120"/>
                <a:hlinkClick r:id="rId1" invalidUrl="" action="" tgtFrame="" tooltip="" history="1" highlightClick="0" endSnd="0">
                  <a:extLst>
                    <a:ext uri="{A12FA001-AC4F-418D-AE19-62706E023703}">
                      <ahyp:hlinkClr xmlns:ahyp="http://schemas.microsoft.com/office/drawing/2018/hyperlinkcolor" val="tx"/>
                    </a:ext>
                  </a:extLst>
                </a:hlinkClick>
              </a:rPr>
              <a:t>影片：倒車雷達的進化史　3:18　</a:t>
            </a:r>
            <a:pPr indent="0" marL="0">
              <a:lnSpc>
                <a:spcPct val="100000"/>
              </a:lnSpc>
              <a:buNone/>
            </a:pPr>
            <a:r>
              <a:rPr lang="en-US" sz="900" u="sng" dirty="0">
                <a:solidFill>
                  <a:srgbClr val="1F6FB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youtu.be/lV-MiiOEGIA</a:t>
            </a:r>
            <a:endParaRPr lang="en-US" sz="900" dirty="0"/>
          </a:p>
        </p:txBody>
      </p:sp>
      <p:sp>
        <p:nvSpPr>
          <p:cNvPr id="11" name="Shape 9"/>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2" name="Text 10"/>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«Bãi đỗ xe» (5 km/h, 2 m) là chỗ duy nhất hôm nay nó qua được.</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「停車場」（時速 5、2 公尺）是今天唯一讓它過關的地方。</a:t>
            </a:r>
            <a:endParaRPr lang="en-US" sz="1250" dirty="0"/>
          </a:p>
        </p:txBody>
      </p:sp>
      <p:sp>
        <p:nvSpPr>
          <p:cNvPr id="13" name="Shape 11"/>
          <p:cNvSpPr/>
          <p:nvPr/>
        </p:nvSpPr>
        <p:spPr>
          <a:xfrm>
            <a:off x="5513387" y="365760"/>
            <a:ext cx="3127693" cy="310896"/>
          </a:xfrm>
          <a:prstGeom prst="roundRect">
            <a:avLst>
              <a:gd name="adj" fmla="val 20588"/>
            </a:avLst>
          </a:prstGeom>
          <a:solidFill>
            <a:srgbClr val="EAF6F4"/>
          </a:solidFill>
          <a:ln w="9525">
            <a:solidFill>
              <a:srgbClr val="9FD6CE"/>
            </a:solidFill>
            <a:prstDash val="solid"/>
          </a:ln>
        </p:spPr>
      </p:sp>
      <p:sp>
        <p:nvSpPr>
          <p:cNvPr id="14" name="Text 12"/>
          <p:cNvSpPr txBox="1"/>
          <p:nvPr/>
        </p:nvSpPr>
        <p:spPr>
          <a:xfrm>
            <a:off x="5641403" y="384048"/>
            <a:ext cx="2944813"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thấy chớp trước, vài giây sau mới nghe sấm</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先看到閃電，幾秒後才聽到雷聲</a:t>
            </a:r>
            <a:endParaRPr lang="en-US" sz="950" dirty="0"/>
          </a:p>
        </p:txBody>
      </p:sp>
      <p:pic>
        <p:nvPicPr>
          <p:cNvPr id="16" name="Image 0" descr="/Users/tsengchenghsun/Class/carClass/Claude outputs/第六週(10-15)/src/logo.png">    </p:cNvPr>
          <p:cNvPicPr>
            <a:picLocks noChangeAspect="1"/>
          </p:cNvPicPr>
          <p:nvPr/>
        </p:nvPicPr>
        <p:blipFill>
          <a:blip r:embed="rId2"/>
          <a:stretch>
            <a:fillRect/>
          </a:stretch>
        </p:blipFill>
        <p:spPr>
          <a:xfrm>
            <a:off x="7882128" y="109728"/>
            <a:ext cx="1097280" cy="242439"/>
          </a:xfrm>
          <a:prstGeom prst="rect">
            <a:avLst/>
          </a:prstGeom>
        </p:spPr>
      </p:pic>
      <p:sp>
        <p:nvSpPr>
          <p:cNvPr id="17" name="Text 13"/>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 / 22</a:t>
            </a:r>
            <a:endParaRPr lang="en-US" sz="900" dirty="0"/>
          </a:p>
        </p:txBody>
      </p:sp>
      <p:sp>
        <p:nvSpPr>
          <p:cNvPr id="18" name="Text 14"/>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2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GNSS: cho vị trí tuyệt đối, nhưng không phải lúc nào cũng có</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衛星定位 GNSS：給你絕對位置，但不是隨時都有</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2,5 m hay 1 cm, khác nhau ở một dòng và một trạm gốc</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2.5 公尺還是 1 公分，差在一行字和一座基準站</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5 / 22</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Nguyên lý · 衛星定位的原理</a:t>
            </a:r>
            <a:endParaRPr lang="en-US" sz="1250" dirty="0"/>
          </a:p>
        </p:txBody>
      </p:sp>
      <p:sp>
        <p:nvSpPr>
          <p:cNvPr id="3" name="Shape 1"/>
          <p:cNvSpPr/>
          <p:nvPr/>
        </p:nvSpPr>
        <p:spPr>
          <a:xfrm>
            <a:off x="502920" y="918972"/>
            <a:ext cx="3305556" cy="2514600"/>
          </a:xfrm>
          <a:prstGeom prst="roundRect">
            <a:avLst>
              <a:gd name="adj" fmla="val 4364"/>
            </a:avLst>
          </a:prstGeom>
          <a:solidFill>
            <a:srgbClr val="FFFFFF"/>
          </a:solidFill>
          <a:ln w="12700">
            <a:solidFill>
              <a:srgbClr val="DBE3EA"/>
            </a:solidFill>
            <a:prstDash val="solid"/>
          </a:ln>
        </p:spPr>
      </p:sp>
      <p:pic>
        <p:nvPicPr>
          <p:cNvPr id="4" name="Image 0" descr="/Users/tsengchenghsun/Class/carClass/Claude outputs/第六週(10-15)/src/img/w6_l2_gnss.png">    </p:cNvPr>
          <p:cNvPicPr>
            <a:picLocks noChangeAspect="1"/>
          </p:cNvPicPr>
          <p:nvPr/>
        </p:nvPicPr>
        <p:blipFill>
          <a:blip r:embed="rId1"/>
          <a:stretch>
            <a:fillRect/>
          </a:stretch>
        </p:blipFill>
        <p:spPr>
          <a:xfrm>
            <a:off x="576072" y="1031748"/>
            <a:ext cx="3159252" cy="2106168"/>
          </a:xfrm>
          <a:prstGeom prst="rect">
            <a:avLst/>
          </a:prstGeom>
        </p:spPr>
      </p:pic>
      <p:sp>
        <p:nvSpPr>
          <p:cNvPr id="5" name="Text 2"/>
          <p:cNvSpPr txBox="1"/>
          <p:nvPr/>
        </p:nvSpPr>
        <p:spPr>
          <a:xfrm>
            <a:off x="576072" y="3214116"/>
            <a:ext cx="3159252"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示意圖：課程自製（src/tools_make_diagrams.py）</a:t>
            </a:r>
            <a:endParaRPr lang="en-US" sz="700" dirty="0"/>
          </a:p>
        </p:txBody>
      </p:sp>
      <p:sp>
        <p:nvSpPr>
          <p:cNvPr id="6" name="Text 3"/>
          <p:cNvSpPr txBox="1"/>
          <p:nvPr/>
        </p:nvSpPr>
        <p:spPr>
          <a:xfrm>
            <a:off x="4119372" y="914400"/>
            <a:ext cx="4521708" cy="2889504"/>
          </a:xfrm>
          <a:prstGeom prst="rect">
            <a:avLst/>
          </a:prstGeom>
          <a:noFill/>
          <a:ln/>
        </p:spPr>
        <p:txBody>
          <a:bodyPr wrap="square" lIns="0" tIns="0" rIns="0" bIns="0" rtlCol="0" anchor="ctr"/>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Bốn vệ tinh, ba toạ độ cộng một đồng hồ: máy thu đơn lẻ sai 2 đến 10 m</a:t>
            </a:r>
            <a:endParaRPr lang="en-US" sz="2300" dirty="0"/>
          </a:p>
          <a:p>
            <a:pPr indent="0" marL="0">
              <a:lnSpc>
                <a:spcPct val="120000"/>
              </a:lnSpc>
              <a:buNone/>
            </a:pPr>
            <a:r>
              <a:rPr lang="en-US" sz="1400" b="1" dirty="0">
                <a:solidFill>
                  <a:srgbClr val="007F72"/>
                </a:solidFill>
                <a:latin typeface="微軟正黑體" pitchFamily="34" charset="0"/>
                <a:ea typeface="微軟正黑體" pitchFamily="34" charset="-122"/>
                <a:cs typeface="微軟正黑體" pitchFamily="34" charset="-120"/>
              </a:rPr>
              <a:t>四顆衛星、三個座標加一個時鐘：單機精度 2 到 10 公尺</a:t>
            </a:r>
            <a:endParaRPr lang="en-US" sz="2300" dirty="0"/>
          </a:p>
          <a:p>
            <a:pPr indent="0" marL="0">
              <a:lnSpc>
                <a:spcPct val="120000"/>
              </a:lnSpc>
              <a:spcBef>
                <a:spcPts val="1440"/>
              </a:spcBef>
              <a:buNone/>
            </a:pPr>
            <a:r>
              <a:rPr lang="en-US" sz="1250" dirty="0">
                <a:solidFill>
                  <a:srgbClr val="5F7183"/>
                </a:solidFill>
                <a:latin typeface="Arial" pitchFamily="34" charset="0"/>
                <a:ea typeface="Arial" pitchFamily="34" charset="-122"/>
                <a:cs typeface="Arial" pitchFamily="34" charset="-120"/>
              </a:rPr>
              <a:t>Mỗi vệ tinh phát «tôi ở đâu, bây giờ mấy giờ»; máy thu đo tín hiệu đi mất bao lâu, nhân tốc độ ánh sáng là khoảng cách. Một làn đường chỉ rộng 3,5 m.</a:t>
            </a:r>
            <a:endParaRPr lang="en-US" sz="2300" dirty="0"/>
          </a:p>
          <a:p>
            <a:pPr indent="0" marL="0">
              <a:lnSpc>
                <a:spcPct val="120000"/>
              </a:lnSpc>
              <a:buNone/>
            </a:pPr>
            <a:r>
              <a:rPr lang="en-US" sz="1150" dirty="0">
                <a:solidFill>
                  <a:srgbClr val="5F7183"/>
                </a:solidFill>
                <a:latin typeface="微軟正黑體" pitchFamily="34" charset="0"/>
                <a:ea typeface="微軟正黑體" pitchFamily="34" charset="-122"/>
                <a:cs typeface="微軟正黑體" pitchFamily="34" charset="-120"/>
              </a:rPr>
              <a:t>每顆衛星廣播自己在哪、現在幾點；接收機量訊號走了多久，乘光速就是距離。一個車道才 3.5 公尺寬。</a:t>
            </a:r>
            <a:endParaRPr lang="en-US" sz="2300" dirty="0"/>
          </a:p>
        </p:txBody>
      </p:sp>
      <p:sp>
        <p:nvSpPr>
          <p:cNvPr id="7" name="Shape 4"/>
          <p:cNvSpPr/>
          <p:nvPr/>
        </p:nvSpPr>
        <p:spPr>
          <a:xfrm>
            <a:off x="539496" y="3534156"/>
            <a:ext cx="219456" cy="219456"/>
          </a:xfrm>
          <a:prstGeom prst="ellipse">
            <a:avLst/>
          </a:prstGeom>
          <a:solidFill>
            <a:srgbClr val="D9463E"/>
          </a:solidFill>
          <a:ln/>
        </p:spPr>
      </p:sp>
      <p:sp>
        <p:nvSpPr>
          <p:cNvPr id="8" name="Text 5"/>
          <p:cNvSpPr txBox="1"/>
          <p:nvPr/>
        </p:nvSpPr>
        <p:spPr>
          <a:xfrm>
            <a:off x="539496" y="3561588"/>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9" name="Text 6"/>
          <p:cNvSpPr txBox="1"/>
          <p:nvPr/>
        </p:nvSpPr>
        <p:spPr>
          <a:xfrm>
            <a:off x="832104" y="3488436"/>
            <a:ext cx="2976372" cy="310896"/>
          </a:xfrm>
          <a:prstGeom prst="rect">
            <a:avLst/>
          </a:prstGeom>
          <a:noFill/>
          <a:ln/>
        </p:spPr>
        <p:txBody>
          <a:bodyPr wrap="square" lIns="0" tIns="0" rIns="0" bIns="0" rtlCol="0" anchor="ctr"/>
          <a:lstStyle/>
          <a:p>
            <a:pPr indent="0" marL="0">
              <a:lnSpc>
                <a:spcPct val="100000"/>
              </a:lnSpc>
              <a:buNone/>
            </a:pPr>
            <a:r>
              <a:rPr lang="en-US" sz="850" b="1" u="sng" dirty="0">
                <a:solidFill>
                  <a:srgbClr val="0B1F3A"/>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Video: GPS định vị thế nào (tiếng Trung)　4:41</a:t>
            </a:r>
            <a:endParaRPr lang="en-US" sz="850" dirty="0"/>
          </a:p>
          <a:p>
            <a:pPr indent="0" marL="0">
              <a:lnSpc>
                <a:spcPct val="100000"/>
              </a:lnSpc>
              <a:buNone/>
            </a:pPr>
            <a:r>
              <a:rPr lang="en-US" sz="850" b="1" u="sng" dirty="0">
                <a:solidFill>
                  <a:srgbClr val="0B1F3A"/>
                </a:solidFill>
                <a:latin typeface="微軟正黑體" pitchFamily="34" charset="0"/>
                <a:ea typeface="微軟正黑體" pitchFamily="34" charset="-122"/>
                <a:cs typeface="微軟正黑體" pitchFamily="34" charset="-120"/>
                <a:hlinkClick r:id="rId2" invalidUrl="" action="" tgtFrame="" tooltip="" history="1" highlightClick="0" endSnd="0">
                  <a:extLst>
                    <a:ext uri="{A12FA001-AC4F-418D-AE19-62706E023703}">
                      <ahyp:hlinkClr xmlns:ahyp="http://schemas.microsoft.com/office/drawing/2018/hyperlinkcolor" val="tx"/>
                    </a:ext>
                  </a:extLst>
                </a:hlinkClick>
              </a:rPr>
              <a:t>影片：GPS 定位原理（中文動畫）　</a:t>
            </a:r>
            <a:pPr indent="0" marL="0">
              <a:lnSpc>
                <a:spcPct val="100000"/>
              </a:lnSpc>
              <a:buNone/>
            </a:pPr>
            <a:r>
              <a:rPr lang="en-US" sz="850" u="sng" dirty="0">
                <a:solidFill>
                  <a:srgbClr val="1F6FB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youtu.be/R_mY4GLhauk</a:t>
            </a:r>
            <a:endParaRPr lang="en-US" sz="850" dirty="0"/>
          </a:p>
        </p:txBody>
      </p:sp>
      <p:sp>
        <p:nvSpPr>
          <p:cNvPr id="10" name="Shape 7"/>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1" name="Text 8"/>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GPS chỉ là một hệ: GPS, GLONASS, Galileo, Bắc Đẩu gộp lại gọi là GNSS.</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GPS 只是其中一家：GPS、GLONASS、Galileo、北斗合起來叫 GNSS。</a:t>
            </a:r>
            <a:endParaRPr lang="en-US" sz="1250" dirty="0"/>
          </a:p>
        </p:txBody>
      </p:sp>
      <p:sp>
        <p:nvSpPr>
          <p:cNvPr id="12" name="Shape 9"/>
          <p:cNvSpPr/>
          <p:nvPr/>
        </p:nvSpPr>
        <p:spPr>
          <a:xfrm>
            <a:off x="4714443" y="365760"/>
            <a:ext cx="3926637" cy="310896"/>
          </a:xfrm>
          <a:prstGeom prst="roundRect">
            <a:avLst>
              <a:gd name="adj" fmla="val 20588"/>
            </a:avLst>
          </a:prstGeom>
          <a:solidFill>
            <a:srgbClr val="EAF6F4"/>
          </a:solidFill>
          <a:ln w="9525">
            <a:solidFill>
              <a:srgbClr val="9FD6CE"/>
            </a:solidFill>
            <a:prstDash val="solid"/>
          </a:ln>
        </p:spPr>
      </p:sp>
      <p:sp>
        <p:nvSpPr>
          <p:cNvPr id="13" name="Text 10"/>
          <p:cNvSpPr txBox="1"/>
          <p:nvPr/>
        </p:nvSpPr>
        <p:spPr>
          <a:xfrm>
            <a:off x="4842459" y="384048"/>
            <a:ext cx="3743757"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ba mốc cho biết «bạn cách tôi bao xa» — giao điểm là bạn</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三個地標各說「你離我多遠」，圈的交點就是你</a:t>
            </a:r>
            <a:endParaRPr lang="en-US" sz="950" dirty="0"/>
          </a:p>
        </p:txBody>
      </p:sp>
      <p:pic>
        <p:nvPicPr>
          <p:cNvPr id="15" name="Image 1"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16" name="Text 11"/>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6 / 22</a:t>
            </a:r>
            <a:endParaRPr lang="en-US" sz="900" dirty="0"/>
          </a:p>
        </p:txBody>
      </p:sp>
      <p:sp>
        <p:nvSpPr>
          <p:cNvPr id="17" name="Text 12"/>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0" cy="0"/>
        </a:xfrm>
      </p:grpSpPr>
      <p:sp>
        <p:nvSpPr>
          <p:cNvPr id="2" name="Text 0"/>
          <p:cNvSpPr txBox="1"/>
          <p:nvPr/>
        </p:nvSpPr>
        <p:spPr>
          <a:xfrm>
            <a:off x="502920" y="365760"/>
            <a:ext cx="813816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1 / 2　u-blox NEO-M8N（導航等級）</a:t>
            </a:r>
            <a:endParaRPr lang="en-US" sz="1300" dirty="0"/>
          </a:p>
        </p:txBody>
      </p:sp>
      <p:sp>
        <p:nvSpPr>
          <p:cNvPr id="3" name="Shape 1"/>
          <p:cNvSpPr/>
          <p:nvPr/>
        </p:nvSpPr>
        <p:spPr>
          <a:xfrm>
            <a:off x="502920" y="877824"/>
            <a:ext cx="3657600" cy="1621185"/>
          </a:xfrm>
          <a:prstGeom prst="roundRect">
            <a:avLst>
              <a:gd name="adj" fmla="val 6768"/>
            </a:avLst>
          </a:prstGeom>
          <a:solidFill>
            <a:srgbClr val="FFFFFF"/>
          </a:solidFill>
          <a:ln w="12700">
            <a:solidFill>
              <a:srgbClr val="DBE3EA"/>
            </a:solidFill>
            <a:prstDash val="solid"/>
          </a:ln>
        </p:spPr>
      </p:sp>
      <p:pic>
        <p:nvPicPr>
          <p:cNvPr id="4" name="Image 0" descr="/Users/tsengchenghsun/Class/carClass/Claude outputs/第六週(10-15)/src/img/w6_neom8_accfn.png">    </p:cNvPr>
          <p:cNvPicPr>
            <a:picLocks noChangeAspect="1"/>
          </p:cNvPicPr>
          <p:nvPr/>
        </p:nvPicPr>
        <p:blipFill>
          <a:blip r:embed="rId1"/>
          <a:stretch>
            <a:fillRect/>
          </a:stretch>
        </p:blipFill>
        <p:spPr>
          <a:xfrm>
            <a:off x="576072" y="976816"/>
            <a:ext cx="3511296" cy="1240321"/>
          </a:xfrm>
          <a:prstGeom prst="rect">
            <a:avLst/>
          </a:prstGeom>
        </p:spPr>
      </p:pic>
      <p:sp>
        <p:nvSpPr>
          <p:cNvPr id="5" name="Text 2"/>
          <p:cNvSpPr txBox="1"/>
          <p:nvPr/>
        </p:nvSpPr>
        <p:spPr>
          <a:xfrm>
            <a:off x="576072" y="2261265"/>
            <a:ext cx="351129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u-blox NEO-M8 Data sheet (UBX-15031086 R14), §1.3 Table 1 與註腳 3（中間省略）· 節錄 · 讀取 2026/10/08</a:t>
            </a:r>
            <a:endParaRPr lang="en-US" sz="700" dirty="0"/>
          </a:p>
        </p:txBody>
      </p:sp>
      <p:sp>
        <p:nvSpPr>
          <p:cNvPr id="6" name="Text 3"/>
          <p:cNvSpPr txBox="1"/>
          <p:nvPr/>
        </p:nvSpPr>
        <p:spPr>
          <a:xfrm>
            <a:off x="4434840" y="786384"/>
            <a:ext cx="4206240" cy="787475"/>
          </a:xfrm>
          <a:prstGeom prst="rect">
            <a:avLst/>
          </a:prstGeom>
          <a:noFill/>
          <a:ln/>
        </p:spPr>
        <p:txBody>
          <a:bodyPr wrap="square" lIns="0" tIns="0" rIns="0" bIns="0" rtlCol="0" anchor="t"/>
          <a:lstStyle/>
          <a:p>
            <a:pPr indent="0" marL="0">
              <a:lnSpc>
                <a:spcPct val="116000"/>
              </a:lnSpc>
              <a:buNone/>
            </a:pPr>
            <a:r>
              <a:rPr lang="en-US" sz="1800" b="1" dirty="0">
                <a:solidFill>
                  <a:srgbClr val="0B1F3A"/>
                </a:solidFill>
                <a:latin typeface="Arial" pitchFamily="34" charset="0"/>
                <a:ea typeface="Arial" pitchFamily="34" charset="-122"/>
                <a:cs typeface="Arial" pitchFamily="34" charset="-120"/>
              </a:rPr>
              <a:t>NEO-M8N: 2,5 m CEP — một nửa số điểm nằm trong vòng</a:t>
            </a:r>
            <a:endParaRPr lang="en-US" sz="1800" dirty="0"/>
          </a:p>
          <a:p>
            <a:pPr indent="0" marL="0">
              <a:lnSpc>
                <a:spcPct val="116000"/>
              </a:lnSpc>
              <a:buNone/>
            </a:pPr>
            <a:r>
              <a:rPr lang="en-US" sz="1250" dirty="0">
                <a:solidFill>
                  <a:srgbClr val="007F72"/>
                </a:solidFill>
                <a:latin typeface="微軟正黑體" pitchFamily="34" charset="0"/>
                <a:ea typeface="微軟正黑體" pitchFamily="34" charset="-122"/>
                <a:cs typeface="微軟正黑體" pitchFamily="34" charset="-120"/>
              </a:rPr>
              <a:t>NEO-M8N：2.5 m CEP，一半的定位點在圈內</a:t>
            </a:r>
            <a:endParaRPr lang="en-US" sz="1800" dirty="0"/>
          </a:p>
        </p:txBody>
      </p:sp>
      <p:sp>
        <p:nvSpPr>
          <p:cNvPr id="7" name="Shape 4"/>
          <p:cNvSpPr/>
          <p:nvPr/>
        </p:nvSpPr>
        <p:spPr>
          <a:xfrm>
            <a:off x="4434840" y="1665299"/>
            <a:ext cx="1060704" cy="441959"/>
          </a:xfrm>
          <a:prstGeom prst="roundRect">
            <a:avLst>
              <a:gd name="adj" fmla="val 12414"/>
            </a:avLst>
          </a:prstGeom>
          <a:solidFill>
            <a:srgbClr val="0B1F3A"/>
          </a:solidFill>
          <a:ln/>
        </p:spPr>
      </p:sp>
      <p:sp>
        <p:nvSpPr>
          <p:cNvPr id="8" name="Text 5"/>
          <p:cNvSpPr txBox="1"/>
          <p:nvPr/>
        </p:nvSpPr>
        <p:spPr>
          <a:xfrm>
            <a:off x="4489704" y="1701875"/>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Độ chính xác</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精度</a:t>
            </a:r>
            <a:endParaRPr lang="en-US" sz="900" dirty="0"/>
          </a:p>
        </p:txBody>
      </p:sp>
      <p:sp>
        <p:nvSpPr>
          <p:cNvPr id="9" name="Text 6"/>
          <p:cNvSpPr txBox="1"/>
          <p:nvPr/>
        </p:nvSpPr>
        <p:spPr>
          <a:xfrm>
            <a:off x="5641848" y="1665299"/>
            <a:ext cx="299923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2,5 m; có SBAS 2,0 m</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2.5 m；有 SBAS 修正 2.0 m</a:t>
            </a:r>
            <a:endParaRPr lang="en-US" sz="1100" dirty="0"/>
          </a:p>
        </p:txBody>
      </p:sp>
      <p:sp>
        <p:nvSpPr>
          <p:cNvPr id="10" name="Shape 7"/>
          <p:cNvSpPr/>
          <p:nvPr/>
        </p:nvSpPr>
        <p:spPr>
          <a:xfrm>
            <a:off x="4434840" y="2226130"/>
            <a:ext cx="1060704" cy="441959"/>
          </a:xfrm>
          <a:prstGeom prst="roundRect">
            <a:avLst>
              <a:gd name="adj" fmla="val 12414"/>
            </a:avLst>
          </a:prstGeom>
          <a:solidFill>
            <a:srgbClr val="007F72"/>
          </a:solidFill>
          <a:ln/>
        </p:spPr>
      </p:sp>
      <p:sp>
        <p:nvSpPr>
          <p:cNvPr id="11" name="Text 8"/>
          <p:cNvSpPr txBox="1"/>
          <p:nvPr/>
        </p:nvSpPr>
        <p:spPr>
          <a:xfrm>
            <a:off x="4489704" y="2262706"/>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Chú thích 3</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註腳 3</a:t>
            </a:r>
            <a:endParaRPr lang="en-US" sz="900" dirty="0"/>
          </a:p>
        </p:txBody>
      </p:sp>
      <p:sp>
        <p:nvSpPr>
          <p:cNvPr id="12" name="Text 9"/>
          <p:cNvSpPr txBox="1"/>
          <p:nvPr/>
        </p:nvSpPr>
        <p:spPr>
          <a:xfrm>
            <a:off x="5641848" y="2226130"/>
            <a:ext cx="2999232" cy="635187"/>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CEP 50% · đứng yên 24 h · −130 dBm · &gt; 6 vệ tinh</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CEP 50%・靜止 24 小時・−130 dBm・6 顆以上衛星</a:t>
            </a:r>
            <a:endParaRPr lang="en-US" sz="1100" dirty="0"/>
          </a:p>
        </p:txBody>
      </p:sp>
      <p:sp>
        <p:nvSpPr>
          <p:cNvPr id="13" name="Shape 10"/>
          <p:cNvSpPr/>
          <p:nvPr/>
        </p:nvSpPr>
        <p:spPr>
          <a:xfrm>
            <a:off x="4434840" y="2925325"/>
            <a:ext cx="1060704" cy="575199"/>
          </a:xfrm>
          <a:prstGeom prst="roundRect">
            <a:avLst>
              <a:gd name="adj" fmla="val 9538"/>
            </a:avLst>
          </a:prstGeom>
          <a:solidFill>
            <a:srgbClr val="FFB020"/>
          </a:solidFill>
          <a:ln/>
        </p:spPr>
      </p:sp>
      <p:sp>
        <p:nvSpPr>
          <p:cNvPr id="14" name="Text 11"/>
          <p:cNvSpPr txBox="1"/>
          <p:nvPr/>
        </p:nvSpPr>
        <p:spPr>
          <a:xfrm>
            <a:off x="4489704" y="2961901"/>
            <a:ext cx="950976" cy="520335"/>
          </a:xfrm>
          <a:prstGeom prst="rect">
            <a:avLst/>
          </a:prstGeom>
          <a:noFill/>
          <a:ln/>
        </p:spPr>
        <p:txBody>
          <a:bodyPr wrap="square" lIns="0" tIns="0" rIns="0" bIns="0" rtlCol="0" anchor="t"/>
          <a:lstStyle/>
          <a:p>
            <a:pPr algn="ctr" indent="0" marL="0">
              <a:lnSpc>
                <a:spcPct val="106000"/>
              </a:lnSpc>
              <a:buNone/>
            </a:pPr>
            <a:r>
              <a:rPr lang="en-US" sz="900" b="1" dirty="0">
                <a:solidFill>
                  <a:srgbClr val="3A2A00"/>
                </a:solidFill>
                <a:latin typeface="Arial" pitchFamily="34" charset="0"/>
                <a:ea typeface="Arial" pitchFamily="34" charset="-122"/>
                <a:cs typeface="Arial" pitchFamily="34" charset="-120"/>
              </a:rPr>
              <a:t>Cập nhật · khởi động</a:t>
            </a:r>
            <a:endParaRPr lang="en-US" sz="900" dirty="0"/>
          </a:p>
          <a:p>
            <a:pPr algn="ctr" indent="0" marL="0">
              <a:lnSpc>
                <a:spcPct val="106000"/>
              </a:lnSpc>
              <a:buNone/>
            </a:pPr>
            <a:r>
              <a:rPr lang="en-US" sz="850" dirty="0">
                <a:solidFill>
                  <a:srgbClr val="3A2A00"/>
                </a:solidFill>
                <a:latin typeface="微軟正黑體" pitchFamily="34" charset="0"/>
                <a:ea typeface="微軟正黑體" pitchFamily="34" charset="-122"/>
                <a:cs typeface="微軟正黑體" pitchFamily="34" charset="-120"/>
              </a:rPr>
              <a:t>更新・開機</a:t>
            </a:r>
            <a:endParaRPr lang="en-US" sz="900" dirty="0"/>
          </a:p>
        </p:txBody>
      </p:sp>
      <p:sp>
        <p:nvSpPr>
          <p:cNvPr id="15" name="Text 12"/>
          <p:cNvSpPr txBox="1"/>
          <p:nvPr/>
        </p:nvSpPr>
        <p:spPr>
          <a:xfrm>
            <a:off x="5641848" y="2925325"/>
            <a:ext cx="2999232" cy="63006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5 Hz; khởi động lạnh 26 s</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5 Hz；冷開機 26 秒</a:t>
            </a:r>
            <a:endParaRPr lang="en-US" sz="1100" dirty="0"/>
          </a:p>
        </p:txBody>
      </p:sp>
      <p:pic>
        <p:nvPicPr>
          <p:cNvPr id="16" name="Image 1" descr="/Users/tsengchenghsun/Class/carClass/Claude outputs/第六週(10-15)/src/img/w6_pic_neom8.png">    </p:cNvPr>
          <p:cNvPicPr>
            <a:picLocks noChangeAspect="1"/>
          </p:cNvPicPr>
          <p:nvPr/>
        </p:nvPicPr>
        <p:blipFill>
          <a:blip r:embed="rId2"/>
          <a:stretch>
            <a:fillRect/>
          </a:stretch>
        </p:blipFill>
        <p:spPr>
          <a:xfrm>
            <a:off x="1655493" y="2517297"/>
            <a:ext cx="1352453" cy="1122015"/>
          </a:xfrm>
          <a:prstGeom prst="rect">
            <a:avLst/>
          </a:prstGeom>
        </p:spPr>
      </p:pic>
      <p:sp>
        <p:nvSpPr>
          <p:cNvPr id="17" name="Text 13"/>
          <p:cNvSpPr txBox="1"/>
          <p:nvPr/>
        </p:nvSpPr>
        <p:spPr>
          <a:xfrm>
            <a:off x="502920" y="3675888"/>
            <a:ext cx="3657600" cy="164592"/>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NEO-M8　圖：規格書封面</a:t>
            </a:r>
            <a:endParaRPr lang="en-US" sz="700" dirty="0"/>
          </a:p>
        </p:txBody>
      </p:sp>
      <p:sp>
        <p:nvSpPr>
          <p:cNvPr id="18" name="Shape 14"/>
          <p:cNvSpPr/>
          <p:nvPr/>
        </p:nvSpPr>
        <p:spPr>
          <a:xfrm>
            <a:off x="502920" y="3931920"/>
            <a:ext cx="8138160" cy="566928"/>
          </a:xfrm>
          <a:prstGeom prst="roundRect">
            <a:avLst>
              <a:gd name="adj" fmla="val 14516"/>
            </a:avLst>
          </a:prstGeom>
          <a:solidFill>
            <a:srgbClr val="FFF6E3"/>
          </a:solidFill>
          <a:ln w="12700">
            <a:solidFill>
              <a:srgbClr val="FFB020"/>
            </a:solidFill>
            <a:prstDash val="solid"/>
          </a:ln>
        </p:spPr>
      </p:sp>
      <p:sp>
        <p:nvSpPr>
          <p:cNvPr id="19" name="Text 15"/>
          <p:cNvSpPr txBox="1"/>
          <p:nvPr/>
        </p:nvSpPr>
        <p:spPr>
          <a:xfrm>
            <a:off x="685800" y="3995928"/>
            <a:ext cx="7772400" cy="457200"/>
          </a:xfrm>
          <a:prstGeom prst="rect">
            <a:avLst/>
          </a:prstGeom>
          <a:noFill/>
          <a:ln/>
        </p:spPr>
        <p:txBody>
          <a:bodyPr wrap="square" lIns="0" tIns="0" rIns="0" bIns="0" rtlCol="0" anchor="t"/>
          <a:lstStyle/>
          <a:p>
            <a:pPr indent="0" marL="0">
              <a:lnSpc>
                <a:spcPct val="116000"/>
              </a:lnSpc>
              <a:buNone/>
            </a:pPr>
            <a:r>
              <a:rPr lang="en-US" sz="1200" b="1" dirty="0">
                <a:solidFill>
                  <a:srgbClr val="7A4E00"/>
                </a:solidFill>
                <a:latin typeface="Arial" pitchFamily="34" charset="0"/>
                <a:ea typeface="Arial" pitchFamily="34" charset="-122"/>
                <a:cs typeface="Arial" pitchFamily="34" charset="-120"/>
              </a:rPr>
              <a:t>Vòng 2,5 m to hơn làn đường: nó biết bạn ở đường nào, không biết ở làn nào.</a:t>
            </a:r>
            <a:endParaRPr lang="en-US" sz="1200" dirty="0"/>
          </a:p>
          <a:p>
            <a:pPr indent="0" marL="0">
              <a:lnSpc>
                <a:spcPct val="116000"/>
              </a:lnSpc>
              <a:buNone/>
            </a:pPr>
            <a:r>
              <a:rPr lang="en-US" sz="1100" dirty="0">
                <a:solidFill>
                  <a:srgbClr val="7A4E00"/>
                </a:solidFill>
                <a:latin typeface="微軟正黑體" pitchFamily="34" charset="0"/>
                <a:ea typeface="微軟正黑體" pitchFamily="34" charset="-122"/>
                <a:cs typeface="微軟正黑體" pitchFamily="34" charset="-120"/>
              </a:rPr>
              <a:t>2.5 公尺的圈比車道還大：它知道你在哪條路，不知道你在哪一道。</a:t>
            </a:r>
            <a:endParaRPr lang="en-US" sz="1200" dirty="0"/>
          </a:p>
        </p:txBody>
      </p:sp>
      <p:sp>
        <p:nvSpPr>
          <p:cNvPr id="20" name="Shape 16"/>
          <p:cNvSpPr/>
          <p:nvPr/>
        </p:nvSpPr>
        <p:spPr>
          <a:xfrm>
            <a:off x="5627522" y="365760"/>
            <a:ext cx="3013558" cy="310896"/>
          </a:xfrm>
          <a:prstGeom prst="roundRect">
            <a:avLst>
              <a:gd name="adj" fmla="val 20588"/>
            </a:avLst>
          </a:prstGeom>
          <a:solidFill>
            <a:srgbClr val="EAF6F4"/>
          </a:solidFill>
          <a:ln w="9525">
            <a:solidFill>
              <a:srgbClr val="9FD6CE"/>
            </a:solidFill>
            <a:prstDash val="solid"/>
          </a:ln>
        </p:spPr>
      </p:sp>
      <p:sp>
        <p:nvSpPr>
          <p:cNvPr id="21" name="Text 17"/>
          <p:cNvSpPr txBox="1"/>
          <p:nvPr/>
        </p:nvSpPr>
        <p:spPr>
          <a:xfrm>
            <a:off x="5755538" y="384048"/>
            <a:ext cx="2830678"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ném 100 phi tiêu, một nửa rơi trong vòng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射一百支飛鏢，一半落在圈裡</a:t>
            </a:r>
            <a:endParaRPr lang="en-US" sz="950" dirty="0"/>
          </a:p>
        </p:txBody>
      </p:sp>
      <p:pic>
        <p:nvPicPr>
          <p:cNvPr id="23" name="Image 2"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24" name="Text 18"/>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7 / 22</a:t>
            </a:r>
            <a:endParaRPr lang="en-US" sz="900" dirty="0"/>
          </a:p>
        </p:txBody>
      </p:sp>
      <p:sp>
        <p:nvSpPr>
          <p:cNvPr id="25" name="Text 19"/>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0" cy="0"/>
        </a:xfrm>
      </p:grpSpPr>
      <p:sp>
        <p:nvSpPr>
          <p:cNvPr id="2" name="Text 0"/>
          <p:cNvSpPr txBox="1"/>
          <p:nvPr/>
        </p:nvSpPr>
        <p:spPr>
          <a:xfrm>
            <a:off x="502920" y="365760"/>
            <a:ext cx="813816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2 / 2　u-blox ZED-F9P（公分級）</a:t>
            </a:r>
            <a:endParaRPr lang="en-US" sz="1300" dirty="0"/>
          </a:p>
        </p:txBody>
      </p:sp>
      <p:sp>
        <p:nvSpPr>
          <p:cNvPr id="3" name="Shape 1"/>
          <p:cNvSpPr/>
          <p:nvPr/>
        </p:nvSpPr>
        <p:spPr>
          <a:xfrm>
            <a:off x="502920" y="877824"/>
            <a:ext cx="3291840" cy="1188852"/>
          </a:xfrm>
          <a:prstGeom prst="roundRect">
            <a:avLst>
              <a:gd name="adj" fmla="val 9230"/>
            </a:avLst>
          </a:prstGeom>
          <a:solidFill>
            <a:srgbClr val="FFFFFF"/>
          </a:solidFill>
          <a:ln w="12700">
            <a:solidFill>
              <a:srgbClr val="DBE3EA"/>
            </a:solidFill>
            <a:prstDash val="solid"/>
          </a:ln>
        </p:spPr>
      </p:sp>
      <p:pic>
        <p:nvPicPr>
          <p:cNvPr id="4" name="Image 0" descr="/Users/tsengchenghsun/Class/carClass/Claude outputs/第六週(10-15)/src/img/w6_zedf9p_acc.png">    </p:cNvPr>
          <p:cNvPicPr>
            <a:picLocks noChangeAspect="1"/>
          </p:cNvPicPr>
          <p:nvPr/>
        </p:nvPicPr>
        <p:blipFill>
          <a:blip r:embed="rId1"/>
          <a:stretch>
            <a:fillRect/>
          </a:stretch>
        </p:blipFill>
        <p:spPr>
          <a:xfrm>
            <a:off x="576072" y="970080"/>
            <a:ext cx="3145536" cy="821460"/>
          </a:xfrm>
          <a:prstGeom prst="rect">
            <a:avLst/>
          </a:prstGeom>
        </p:spPr>
      </p:pic>
      <p:sp>
        <p:nvSpPr>
          <p:cNvPr id="5" name="Text 2"/>
          <p:cNvSpPr txBox="1"/>
          <p:nvPr/>
        </p:nvSpPr>
        <p:spPr>
          <a:xfrm>
            <a:off x="576072" y="1828932"/>
            <a:ext cx="314553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u-blox ZED-F9P-02B Data sheet (UBX-21023276 R03), §1.2 Table 3 · 節錄 · 讀取 2026/10/08</a:t>
            </a:r>
            <a:endParaRPr lang="en-US" sz="700" dirty="0"/>
          </a:p>
        </p:txBody>
      </p:sp>
      <p:sp>
        <p:nvSpPr>
          <p:cNvPr id="6" name="Shape 3"/>
          <p:cNvSpPr/>
          <p:nvPr/>
        </p:nvSpPr>
        <p:spPr>
          <a:xfrm>
            <a:off x="539496" y="2167260"/>
            <a:ext cx="219456" cy="219456"/>
          </a:xfrm>
          <a:prstGeom prst="ellipse">
            <a:avLst/>
          </a:prstGeom>
          <a:solidFill>
            <a:srgbClr val="D9463E"/>
          </a:solidFill>
          <a:ln/>
        </p:spPr>
      </p:sp>
      <p:sp>
        <p:nvSpPr>
          <p:cNvPr id="7" name="Text 4"/>
          <p:cNvSpPr txBox="1"/>
          <p:nvPr/>
        </p:nvSpPr>
        <p:spPr>
          <a:xfrm>
            <a:off x="539496" y="2194692"/>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8" name="Text 5"/>
          <p:cNvSpPr txBox="1"/>
          <p:nvPr/>
        </p:nvSpPr>
        <p:spPr>
          <a:xfrm>
            <a:off x="832104" y="2121540"/>
            <a:ext cx="2962656" cy="310896"/>
          </a:xfrm>
          <a:prstGeom prst="rect">
            <a:avLst/>
          </a:prstGeom>
          <a:noFill/>
          <a:ln/>
        </p:spPr>
        <p:txBody>
          <a:bodyPr wrap="square" lIns="0" tIns="0" rIns="0" bIns="0" rtlCol="0" anchor="ctr"/>
          <a:lstStyle/>
          <a:p>
            <a:pPr indent="0" marL="0">
              <a:lnSpc>
                <a:spcPct val="100000"/>
              </a:lnSpc>
              <a:buNone/>
            </a:pPr>
            <a:r>
              <a:rPr lang="en-US" sz="850" b="1" u="sng" dirty="0">
                <a:solidFill>
                  <a:srgbClr val="0B1F3A"/>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Video: u-blox giải thích RTK　2:34</a:t>
            </a:r>
            <a:endParaRPr lang="en-US" sz="850" dirty="0"/>
          </a:p>
          <a:p>
            <a:pPr indent="0" marL="0">
              <a:lnSpc>
                <a:spcPct val="100000"/>
              </a:lnSpc>
              <a:buNone/>
            </a:pPr>
            <a:r>
              <a:rPr lang="en-US" sz="850" b="1" u="sng" dirty="0">
                <a:solidFill>
                  <a:srgbClr val="0B1F3A"/>
                </a:solidFill>
                <a:latin typeface="微軟正黑體" pitchFamily="34" charset="0"/>
                <a:ea typeface="微軟正黑體" pitchFamily="34" charset="-122"/>
                <a:cs typeface="微軟正黑體" pitchFamily="34" charset="-120"/>
                <a:hlinkClick r:id="rId2" invalidUrl="" action="" tgtFrame="" tooltip="" history="1" highlightClick="0" endSnd="0">
                  <a:extLst>
                    <a:ext uri="{A12FA001-AC4F-418D-AE19-62706E023703}">
                      <ahyp:hlinkClr xmlns:ahyp="http://schemas.microsoft.com/office/drawing/2018/hyperlinkcolor" val="tx"/>
                    </a:ext>
                  </a:extLst>
                </a:hlinkClick>
              </a:rPr>
              <a:t>影片：u-blox 講 RTK　</a:t>
            </a:r>
            <a:pPr indent="0" marL="0">
              <a:lnSpc>
                <a:spcPct val="100000"/>
              </a:lnSpc>
              <a:buNone/>
            </a:pPr>
            <a:r>
              <a:rPr lang="en-US" sz="850" u="sng" dirty="0">
                <a:solidFill>
                  <a:srgbClr val="1F6FB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youtu.be/28_YpdN8Thw</a:t>
            </a:r>
            <a:endParaRPr lang="en-US" sz="850" dirty="0"/>
          </a:p>
        </p:txBody>
      </p:sp>
      <p:sp>
        <p:nvSpPr>
          <p:cNvPr id="9" name="Text 6"/>
          <p:cNvSpPr txBox="1"/>
          <p:nvPr/>
        </p:nvSpPr>
        <p:spPr>
          <a:xfrm>
            <a:off x="4069080" y="786384"/>
            <a:ext cx="4572000" cy="787475"/>
          </a:xfrm>
          <a:prstGeom prst="rect">
            <a:avLst/>
          </a:prstGeom>
          <a:noFill/>
          <a:ln/>
        </p:spPr>
        <p:txBody>
          <a:bodyPr wrap="square" lIns="0" tIns="0" rIns="0" bIns="0" rtlCol="0" anchor="t"/>
          <a:lstStyle/>
          <a:p>
            <a:pPr indent="0" marL="0">
              <a:lnSpc>
                <a:spcPct val="116000"/>
              </a:lnSpc>
              <a:buNone/>
            </a:pPr>
            <a:r>
              <a:rPr lang="en-US" sz="1800" b="1" dirty="0">
                <a:solidFill>
                  <a:srgbClr val="0B1F3A"/>
                </a:solidFill>
                <a:latin typeface="Arial" pitchFamily="34" charset="0"/>
                <a:ea typeface="Arial" pitchFamily="34" charset="-122"/>
                <a:cs typeface="Arial" pitchFamily="34" charset="-120"/>
              </a:rPr>
              <a:t>Độ chính xác RTK của ZED-F9P: 1 cm, cộng 1 mm cho mỗi km cách trạm gốc</a:t>
            </a:r>
            <a:endParaRPr lang="en-US" sz="1800" dirty="0"/>
          </a:p>
          <a:p>
            <a:pPr indent="0" marL="0">
              <a:lnSpc>
                <a:spcPct val="116000"/>
              </a:lnSpc>
              <a:buNone/>
            </a:pPr>
            <a:r>
              <a:rPr lang="en-US" sz="1250" dirty="0">
                <a:solidFill>
                  <a:srgbClr val="007F72"/>
                </a:solidFill>
                <a:latin typeface="微軟正黑體" pitchFamily="34" charset="0"/>
                <a:ea typeface="微軟正黑體" pitchFamily="34" charset="-122"/>
                <a:cs typeface="微軟正黑體" pitchFamily="34" charset="-120"/>
              </a:rPr>
              <a:t>ZED-F9P 的 RTK 精度：1 公分，加上離基準站每公里 1 公釐</a:t>
            </a:r>
            <a:endParaRPr lang="en-US" sz="1800" dirty="0"/>
          </a:p>
        </p:txBody>
      </p:sp>
      <p:sp>
        <p:nvSpPr>
          <p:cNvPr id="10" name="Shape 7"/>
          <p:cNvSpPr/>
          <p:nvPr/>
        </p:nvSpPr>
        <p:spPr>
          <a:xfrm>
            <a:off x="4069080" y="1665299"/>
            <a:ext cx="1060704" cy="441959"/>
          </a:xfrm>
          <a:prstGeom prst="roundRect">
            <a:avLst>
              <a:gd name="adj" fmla="val 12414"/>
            </a:avLst>
          </a:prstGeom>
          <a:solidFill>
            <a:srgbClr val="0B1F3A"/>
          </a:solidFill>
          <a:ln/>
        </p:spPr>
      </p:sp>
      <p:sp>
        <p:nvSpPr>
          <p:cNvPr id="11" name="Text 8"/>
          <p:cNvSpPr txBox="1"/>
          <p:nvPr/>
        </p:nvSpPr>
        <p:spPr>
          <a:xfrm>
            <a:off x="4123944" y="1701875"/>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RTK</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RTK</a:t>
            </a:r>
            <a:endParaRPr lang="en-US" sz="900" dirty="0"/>
          </a:p>
        </p:txBody>
      </p:sp>
      <p:sp>
        <p:nvSpPr>
          <p:cNvPr id="12" name="Text 9"/>
          <p:cNvSpPr txBox="1"/>
          <p:nvPr/>
        </p:nvSpPr>
        <p:spPr>
          <a:xfrm>
            <a:off x="5276088" y="1665299"/>
            <a:ext cx="336499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0,01 m + 1 ppm CEP (trạm gốc ≤ 20 km)</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0.01 m + 1 ppm CEP（基準站 20 km 內）</a:t>
            </a:r>
            <a:endParaRPr lang="en-US" sz="1100" dirty="0"/>
          </a:p>
        </p:txBody>
      </p:sp>
      <p:sp>
        <p:nvSpPr>
          <p:cNvPr id="13" name="Shape 10"/>
          <p:cNvSpPr/>
          <p:nvPr/>
        </p:nvSpPr>
        <p:spPr>
          <a:xfrm>
            <a:off x="4069080" y="2226130"/>
            <a:ext cx="1060704" cy="441959"/>
          </a:xfrm>
          <a:prstGeom prst="roundRect">
            <a:avLst>
              <a:gd name="adj" fmla="val 12414"/>
            </a:avLst>
          </a:prstGeom>
          <a:solidFill>
            <a:srgbClr val="007F72"/>
          </a:solidFill>
          <a:ln/>
        </p:spPr>
      </p:sp>
      <p:sp>
        <p:nvSpPr>
          <p:cNvPr id="14" name="Text 11"/>
          <p:cNvSpPr txBox="1"/>
          <p:nvPr/>
        </p:nvSpPr>
        <p:spPr>
          <a:xfrm>
            <a:off x="4123944" y="2262706"/>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Không hiệu chỉnh</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沒修正時</a:t>
            </a:r>
            <a:endParaRPr lang="en-US" sz="900" dirty="0"/>
          </a:p>
        </p:txBody>
      </p:sp>
      <p:sp>
        <p:nvSpPr>
          <p:cNvPr id="15" name="Text 12"/>
          <p:cNvSpPr txBox="1"/>
          <p:nvPr/>
        </p:nvSpPr>
        <p:spPr>
          <a:xfrm>
            <a:off x="5276088" y="2226130"/>
            <a:ext cx="336499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PVT 1,5 m CEP: mất hiệu chỉnh là lùi về cấp mét</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PVT 1.5 m CEP：修正一斷就退回公尺級</a:t>
            </a:r>
            <a:endParaRPr lang="en-US" sz="1100" dirty="0"/>
          </a:p>
        </p:txBody>
      </p:sp>
      <p:sp>
        <p:nvSpPr>
          <p:cNvPr id="16" name="Shape 13"/>
          <p:cNvSpPr/>
          <p:nvPr/>
        </p:nvSpPr>
        <p:spPr>
          <a:xfrm>
            <a:off x="4069080" y="2786961"/>
            <a:ext cx="1060704" cy="441959"/>
          </a:xfrm>
          <a:prstGeom prst="roundRect">
            <a:avLst>
              <a:gd name="adj" fmla="val 12414"/>
            </a:avLst>
          </a:prstGeom>
          <a:solidFill>
            <a:srgbClr val="FFB020"/>
          </a:solidFill>
          <a:ln/>
        </p:spPr>
      </p:sp>
      <p:sp>
        <p:nvSpPr>
          <p:cNvPr id="17" name="Text 14"/>
          <p:cNvSpPr txBox="1"/>
          <p:nvPr/>
        </p:nvSpPr>
        <p:spPr>
          <a:xfrm>
            <a:off x="4123944" y="2823537"/>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3A2A00"/>
                </a:solidFill>
                <a:latin typeface="Arial" pitchFamily="34" charset="0"/>
                <a:ea typeface="Arial" pitchFamily="34" charset="-122"/>
                <a:cs typeface="Arial" pitchFamily="34" charset="-120"/>
              </a:rPr>
              <a:t>Hội tụ</a:t>
            </a:r>
            <a:endParaRPr lang="en-US" sz="900" dirty="0"/>
          </a:p>
          <a:p>
            <a:pPr algn="ctr" indent="0" marL="0">
              <a:lnSpc>
                <a:spcPct val="106000"/>
              </a:lnSpc>
              <a:buNone/>
            </a:pPr>
            <a:r>
              <a:rPr lang="en-US" sz="850" dirty="0">
                <a:solidFill>
                  <a:srgbClr val="3A2A00"/>
                </a:solidFill>
                <a:latin typeface="微軟正黑體" pitchFamily="34" charset="0"/>
                <a:ea typeface="微軟正黑體" pitchFamily="34" charset="-122"/>
                <a:cs typeface="微軟正黑體" pitchFamily="34" charset="-120"/>
              </a:rPr>
              <a:t>收斂</a:t>
            </a:r>
            <a:endParaRPr lang="en-US" sz="900" dirty="0"/>
          </a:p>
        </p:txBody>
      </p:sp>
      <p:sp>
        <p:nvSpPr>
          <p:cNvPr id="18" name="Text 15"/>
          <p:cNvSpPr txBox="1"/>
          <p:nvPr/>
        </p:nvSpPr>
        <p:spPr>
          <a:xfrm>
            <a:off x="5276088" y="2786961"/>
            <a:ext cx="336499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&lt; 10 s; cập nhật 8 Hz (bốn hệ)</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&lt; 10 s；更新 8 Hz（四系統）</a:t>
            </a:r>
            <a:endParaRPr lang="en-US" sz="1100" dirty="0"/>
          </a:p>
        </p:txBody>
      </p:sp>
      <p:pic>
        <p:nvPicPr>
          <p:cNvPr id="19" name="Image 1" descr="/Users/tsengchenghsun/Class/carClass/Claude outputs/第六週(10-15)/src/img/w6_pic_zedf9p.png">    </p:cNvPr>
          <p:cNvPicPr>
            <a:picLocks noChangeAspect="1"/>
          </p:cNvPicPr>
          <p:nvPr/>
        </p:nvPicPr>
        <p:blipFill>
          <a:blip r:embed="rId3"/>
          <a:stretch>
            <a:fillRect/>
          </a:stretch>
        </p:blipFill>
        <p:spPr>
          <a:xfrm>
            <a:off x="1460045" y="2487300"/>
            <a:ext cx="1377590" cy="1143000"/>
          </a:xfrm>
          <a:prstGeom prst="rect">
            <a:avLst/>
          </a:prstGeom>
        </p:spPr>
      </p:pic>
      <p:sp>
        <p:nvSpPr>
          <p:cNvPr id="20" name="Text 16"/>
          <p:cNvSpPr txBox="1"/>
          <p:nvPr/>
        </p:nvSpPr>
        <p:spPr>
          <a:xfrm>
            <a:off x="502920" y="3666876"/>
            <a:ext cx="3291840" cy="164592"/>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ZED-F9P　圖：規格書封面</a:t>
            </a:r>
            <a:endParaRPr lang="en-US" sz="700" dirty="0"/>
          </a:p>
        </p:txBody>
      </p:sp>
      <p:sp>
        <p:nvSpPr>
          <p:cNvPr id="21" name="Shape 17"/>
          <p:cNvSpPr/>
          <p:nvPr/>
        </p:nvSpPr>
        <p:spPr>
          <a:xfrm>
            <a:off x="502920" y="3931920"/>
            <a:ext cx="8138160" cy="566928"/>
          </a:xfrm>
          <a:prstGeom prst="roundRect">
            <a:avLst>
              <a:gd name="adj" fmla="val 14516"/>
            </a:avLst>
          </a:prstGeom>
          <a:solidFill>
            <a:srgbClr val="FFF6E3"/>
          </a:solidFill>
          <a:ln w="12700">
            <a:solidFill>
              <a:srgbClr val="FFB020"/>
            </a:solidFill>
            <a:prstDash val="solid"/>
          </a:ln>
        </p:spPr>
      </p:sp>
      <p:sp>
        <p:nvSpPr>
          <p:cNvPr id="22" name="Text 18"/>
          <p:cNvSpPr txBox="1"/>
          <p:nvPr/>
        </p:nvSpPr>
        <p:spPr>
          <a:xfrm>
            <a:off x="685800" y="3995928"/>
            <a:ext cx="7772400" cy="457200"/>
          </a:xfrm>
          <a:prstGeom prst="rect">
            <a:avLst/>
          </a:prstGeom>
          <a:noFill/>
          <a:ln/>
        </p:spPr>
        <p:txBody>
          <a:bodyPr wrap="square" lIns="0" tIns="0" rIns="0" bIns="0" rtlCol="0" anchor="t"/>
          <a:lstStyle/>
          <a:p>
            <a:pPr indent="0" marL="0">
              <a:lnSpc>
                <a:spcPct val="116000"/>
              </a:lnSpc>
              <a:buNone/>
            </a:pPr>
            <a:r>
              <a:rPr lang="en-US" sz="1200" b="1" dirty="0">
                <a:solidFill>
                  <a:srgbClr val="7A4E00"/>
                </a:solidFill>
                <a:latin typeface="Arial" pitchFamily="34" charset="0"/>
                <a:ea typeface="Arial" pitchFamily="34" charset="-122"/>
                <a:cs typeface="Arial" pitchFamily="34" charset="-120"/>
              </a:rPr>
              <a:t>RTK cần ai đó gửi hiệu chỉnh (e-GNSS, VNGEONET). Không có trạm gốc, nó là máy thu 1,5 m.</a:t>
            </a:r>
            <a:endParaRPr lang="en-US" sz="1200" dirty="0"/>
          </a:p>
          <a:p>
            <a:pPr indent="0" marL="0">
              <a:lnSpc>
                <a:spcPct val="116000"/>
              </a:lnSpc>
              <a:buNone/>
            </a:pPr>
            <a:r>
              <a:rPr lang="en-US" sz="1100" dirty="0">
                <a:solidFill>
                  <a:srgbClr val="7A4E00"/>
                </a:solidFill>
                <a:latin typeface="微軟正黑體" pitchFamily="34" charset="0"/>
                <a:ea typeface="微軟正黑體" pitchFamily="34" charset="-122"/>
                <a:cs typeface="微軟正黑體" pitchFamily="34" charset="-120"/>
              </a:rPr>
              <a:t>RTK 要有人送修正（e-GNSS、VNGEONET）。沒有基準站，它就是一顆 1.5 公尺的接收機。</a:t>
            </a:r>
            <a:endParaRPr lang="en-US" sz="1200" dirty="0"/>
          </a:p>
        </p:txBody>
      </p:sp>
      <p:sp>
        <p:nvSpPr>
          <p:cNvPr id="23" name="Shape 19"/>
          <p:cNvSpPr/>
          <p:nvPr/>
        </p:nvSpPr>
        <p:spPr>
          <a:xfrm>
            <a:off x="4143769" y="365760"/>
            <a:ext cx="4497311" cy="310896"/>
          </a:xfrm>
          <a:prstGeom prst="roundRect">
            <a:avLst>
              <a:gd name="adj" fmla="val 20588"/>
            </a:avLst>
          </a:prstGeom>
          <a:solidFill>
            <a:srgbClr val="EAF6F4"/>
          </a:solidFill>
          <a:ln w="9525">
            <a:solidFill>
              <a:srgbClr val="9FD6CE"/>
            </a:solidFill>
            <a:prstDash val="solid"/>
          </a:ln>
        </p:spPr>
      </p:sp>
      <p:sp>
        <p:nvSpPr>
          <p:cNvPr id="24" name="Text 20"/>
          <p:cNvSpPr txBox="1"/>
          <p:nvPr/>
        </p:nvSpPr>
        <p:spPr>
          <a:xfrm>
            <a:off x="4271785" y="384048"/>
            <a:ext cx="4314431"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đồng hồ lớp nhanh 5 phút, có người cầm đồng hồ đúng báo cho cả lớp</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教室的鐘快 5 分鐘，有人拿準的錶告訴大家</a:t>
            </a:r>
            <a:endParaRPr lang="en-US" sz="950" dirty="0"/>
          </a:p>
        </p:txBody>
      </p:sp>
      <p:pic>
        <p:nvPicPr>
          <p:cNvPr id="26" name="Image 2" descr="/Users/tsengchenghsun/Class/carClass/Claude outputs/第六週(10-15)/src/logo.png">    </p:cNvPr>
          <p:cNvPicPr>
            <a:picLocks noChangeAspect="1"/>
          </p:cNvPicPr>
          <p:nvPr/>
        </p:nvPicPr>
        <p:blipFill>
          <a:blip r:embed="rId4"/>
          <a:stretch>
            <a:fillRect/>
          </a:stretch>
        </p:blipFill>
        <p:spPr>
          <a:xfrm>
            <a:off x="7882128" y="109728"/>
            <a:ext cx="1097280" cy="242439"/>
          </a:xfrm>
          <a:prstGeom prst="rect">
            <a:avLst/>
          </a:prstGeom>
        </p:spPr>
      </p:pic>
      <p:sp>
        <p:nvSpPr>
          <p:cNvPr id="27" name="Text 21"/>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8 / 22</a:t>
            </a:r>
            <a:endParaRPr lang="en-US" sz="900" dirty="0"/>
          </a:p>
        </p:txBody>
      </p:sp>
      <p:sp>
        <p:nvSpPr>
          <p:cNvPr id="28" name="Text 22"/>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Thất bại · 衛星定位什麼時候失靈</a:t>
            </a:r>
            <a:endParaRPr lang="en-US" sz="1250" dirty="0"/>
          </a:p>
        </p:txBody>
      </p:sp>
      <p:sp>
        <p:nvSpPr>
          <p:cNvPr id="3" name="Shape 1"/>
          <p:cNvSpPr/>
          <p:nvPr/>
        </p:nvSpPr>
        <p:spPr>
          <a:xfrm>
            <a:off x="502920" y="914400"/>
            <a:ext cx="2770632" cy="2157984"/>
          </a:xfrm>
          <a:prstGeom prst="roundRect">
            <a:avLst>
              <a:gd name="adj" fmla="val 5085"/>
            </a:avLst>
          </a:prstGeom>
          <a:solidFill>
            <a:srgbClr val="FFFFFF"/>
          </a:solidFill>
          <a:ln w="12700">
            <a:solidFill>
              <a:srgbClr val="DBE3EA"/>
            </a:solidFill>
            <a:prstDash val="solid"/>
          </a:ln>
        </p:spPr>
      </p:sp>
      <p:pic>
        <p:nvPicPr>
          <p:cNvPr id="4" name="Image 0" descr="/Users/tsengchenghsun/Class/carClass/Claude outputs/第六週(10-15)/src/img/w6_l2_canyon.png">    </p:cNvPr>
          <p:cNvPicPr>
            <a:picLocks noChangeAspect="1"/>
          </p:cNvPicPr>
          <p:nvPr/>
        </p:nvPicPr>
        <p:blipFill>
          <a:blip r:embed="rId1"/>
          <a:stretch>
            <a:fillRect/>
          </a:stretch>
        </p:blipFill>
        <p:spPr>
          <a:xfrm>
            <a:off x="576072" y="1027176"/>
            <a:ext cx="2624328" cy="1749552"/>
          </a:xfrm>
          <a:prstGeom prst="rect">
            <a:avLst/>
          </a:prstGeom>
        </p:spPr>
      </p:pic>
      <p:sp>
        <p:nvSpPr>
          <p:cNvPr id="5" name="Text 2"/>
          <p:cNvSpPr txBox="1"/>
          <p:nvPr/>
        </p:nvSpPr>
        <p:spPr>
          <a:xfrm>
            <a:off x="576072" y="2852928"/>
            <a:ext cx="2624328"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示意圖：課程自製（src/tools_make_diagrams.py）</a:t>
            </a:r>
            <a:endParaRPr lang="en-US" sz="700" dirty="0"/>
          </a:p>
        </p:txBody>
      </p:sp>
      <p:sp>
        <p:nvSpPr>
          <p:cNvPr id="6" name="Text 3"/>
          <p:cNvSpPr txBox="1"/>
          <p:nvPr/>
        </p:nvSpPr>
        <p:spPr>
          <a:xfrm>
            <a:off x="3584448" y="914400"/>
            <a:ext cx="5056632" cy="2889504"/>
          </a:xfrm>
          <a:prstGeom prst="rect">
            <a:avLst/>
          </a:prstGeom>
          <a:noFill/>
          <a:ln/>
        </p:spPr>
        <p:txBody>
          <a:bodyPr wrap="square" lIns="0" tIns="0" rIns="0" bIns="0" rtlCol="0" anchor="ctr"/>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Hai chỗ GNSS hỏng: phố hẹp nhà cao (phản xạ) và đường hầm (bị che)</a:t>
            </a:r>
            <a:endParaRPr lang="en-US" sz="2300" dirty="0"/>
          </a:p>
          <a:p>
            <a:pPr indent="0" marL="0">
              <a:lnSpc>
                <a:spcPct val="120000"/>
              </a:lnSpc>
              <a:buNone/>
            </a:pPr>
            <a:r>
              <a:rPr lang="en-US" sz="1400" b="1" dirty="0">
                <a:solidFill>
                  <a:srgbClr val="007F72"/>
                </a:solidFill>
                <a:latin typeface="微軟正黑體" pitchFamily="34" charset="0"/>
                <a:ea typeface="微軟正黑體" pitchFamily="34" charset="-122"/>
                <a:cs typeface="微軟正黑體" pitchFamily="34" charset="-120"/>
              </a:rPr>
              <a:t>衛星定位失靈的兩個地方：高樓窄巷（反射）、隧道（遮蔽）</a:t>
            </a:r>
            <a:endParaRPr lang="en-US" sz="2300" dirty="0"/>
          </a:p>
          <a:p>
            <a:pPr indent="0" marL="0">
              <a:lnSpc>
                <a:spcPct val="120000"/>
              </a:lnSpc>
              <a:spcBef>
                <a:spcPts val="1440"/>
              </a:spcBef>
              <a:buNone/>
            </a:pPr>
            <a:r>
              <a:rPr lang="en-US" sz="1250" dirty="0">
                <a:solidFill>
                  <a:srgbClr val="5F7183"/>
                </a:solidFill>
                <a:latin typeface="Arial" pitchFamily="34" charset="0"/>
                <a:ea typeface="Arial" pitchFamily="34" charset="-122"/>
                <a:cs typeface="Arial" pitchFamily="34" charset="-120"/>
              </a:rPr>
              <a:t>Ngõ hẹp, nhà cao: tín hiệu dội tường rồi mới vào, đi đường dài hơn, máy thu tưởng vệ tinh xa hơn — lệch vài chục mét mà không biết. Trong hầm: không nhận được gì.</a:t>
            </a:r>
            <a:endParaRPr lang="en-US" sz="2300" dirty="0"/>
          </a:p>
          <a:p>
            <a:pPr indent="0" marL="0">
              <a:lnSpc>
                <a:spcPct val="120000"/>
              </a:lnSpc>
              <a:buNone/>
            </a:pPr>
            <a:r>
              <a:rPr lang="en-US" sz="1150" dirty="0">
                <a:solidFill>
                  <a:srgbClr val="5F7183"/>
                </a:solidFill>
                <a:latin typeface="微軟正黑體" pitchFamily="34" charset="0"/>
                <a:ea typeface="微軟正黑體" pitchFamily="34" charset="-122"/>
                <a:cs typeface="微軟正黑體" pitchFamily="34" charset="-120"/>
              </a:rPr>
              <a:t>窄巷高樓：訊號從牆上反射再進來，走了遠路，接收機以為衛星比較遠——偏幾十公尺還不自知。隧道：什麼都收不到。</a:t>
            </a:r>
            <a:endParaRPr lang="en-US" sz="2300" dirty="0"/>
          </a:p>
        </p:txBody>
      </p:sp>
      <p:sp>
        <p:nvSpPr>
          <p:cNvPr id="7" name="Shape 4"/>
          <p:cNvSpPr/>
          <p:nvPr/>
        </p:nvSpPr>
        <p:spPr>
          <a:xfrm>
            <a:off x="539496" y="3172968"/>
            <a:ext cx="219456" cy="219456"/>
          </a:xfrm>
          <a:prstGeom prst="ellipse">
            <a:avLst/>
          </a:prstGeom>
          <a:solidFill>
            <a:srgbClr val="D9463E"/>
          </a:solidFill>
          <a:ln/>
        </p:spPr>
      </p:sp>
      <p:sp>
        <p:nvSpPr>
          <p:cNvPr id="8" name="Text 5"/>
          <p:cNvSpPr txBox="1"/>
          <p:nvPr/>
        </p:nvSpPr>
        <p:spPr>
          <a:xfrm>
            <a:off x="539496" y="3200400"/>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9" name="Text 6"/>
          <p:cNvSpPr txBox="1"/>
          <p:nvPr/>
        </p:nvSpPr>
        <p:spPr>
          <a:xfrm>
            <a:off x="832104" y="3127248"/>
            <a:ext cx="2441448" cy="310896"/>
          </a:xfrm>
          <a:prstGeom prst="rect">
            <a:avLst/>
          </a:prstGeom>
          <a:noFill/>
          <a:ln/>
        </p:spPr>
        <p:txBody>
          <a:bodyPr wrap="square" lIns="0" tIns="0" rIns="0" bIns="0" rtlCol="0" anchor="ctr"/>
          <a:lstStyle/>
          <a:p>
            <a:pPr indent="0" marL="0">
              <a:lnSpc>
                <a:spcPct val="100000"/>
              </a:lnSpc>
              <a:buNone/>
            </a:pPr>
            <a:r>
              <a:rPr lang="en-US" sz="850" b="1" u="sng" dirty="0">
                <a:solidFill>
                  <a:srgbClr val="0B1F3A"/>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Video: GPS là gì (tiếng Trung)　1:45</a:t>
            </a:r>
            <a:endParaRPr lang="en-US" sz="850" dirty="0"/>
          </a:p>
          <a:p>
            <a:pPr indent="0" marL="0">
              <a:lnSpc>
                <a:spcPct val="100000"/>
              </a:lnSpc>
              <a:buNone/>
            </a:pPr>
            <a:r>
              <a:rPr lang="en-US" sz="850" b="1" u="sng" dirty="0">
                <a:solidFill>
                  <a:srgbClr val="0B1F3A"/>
                </a:solidFill>
                <a:latin typeface="微軟正黑體" pitchFamily="34" charset="0"/>
                <a:ea typeface="微軟正黑體" pitchFamily="34" charset="-122"/>
                <a:cs typeface="微軟正黑體" pitchFamily="34" charset="-120"/>
                <a:hlinkClick r:id="rId2" invalidUrl="" action="" tgtFrame="" tooltip="" history="1" highlightClick="0" endSnd="0">
                  <a:extLst>
                    <a:ext uri="{A12FA001-AC4F-418D-AE19-62706E023703}">
                      <ahyp:hlinkClr xmlns:ahyp="http://schemas.microsoft.com/office/drawing/2018/hyperlinkcolor" val="tx"/>
                    </a:ext>
                  </a:extLst>
                </a:hlinkClick>
              </a:rPr>
              <a:t>影片：什麼是 GPS　</a:t>
            </a:r>
            <a:pPr indent="0" marL="0">
              <a:lnSpc>
                <a:spcPct val="100000"/>
              </a:lnSpc>
              <a:buNone/>
            </a:pPr>
            <a:r>
              <a:rPr lang="en-US" sz="850" u="sng" dirty="0">
                <a:solidFill>
                  <a:srgbClr val="1F6FB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youtu.be/u54tYw5_NsY</a:t>
            </a:r>
            <a:endParaRPr lang="en-US" sz="850" dirty="0"/>
          </a:p>
        </p:txBody>
      </p:sp>
      <p:sp>
        <p:nvSpPr>
          <p:cNvPr id="10" name="Shape 7"/>
          <p:cNvSpPr/>
          <p:nvPr/>
        </p:nvSpPr>
        <p:spPr>
          <a:xfrm>
            <a:off x="539496" y="3538728"/>
            <a:ext cx="219456" cy="219456"/>
          </a:xfrm>
          <a:prstGeom prst="ellipse">
            <a:avLst/>
          </a:prstGeom>
          <a:solidFill>
            <a:srgbClr val="D9463E"/>
          </a:solidFill>
          <a:ln/>
        </p:spPr>
      </p:sp>
      <p:sp>
        <p:nvSpPr>
          <p:cNvPr id="11" name="Text 8"/>
          <p:cNvSpPr txBox="1"/>
          <p:nvPr/>
        </p:nvSpPr>
        <p:spPr>
          <a:xfrm>
            <a:off x="539496" y="3566160"/>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12" name="Text 9"/>
          <p:cNvSpPr txBox="1"/>
          <p:nvPr/>
        </p:nvSpPr>
        <p:spPr>
          <a:xfrm>
            <a:off x="832104" y="3493008"/>
            <a:ext cx="2441448" cy="310896"/>
          </a:xfrm>
          <a:prstGeom prst="rect">
            <a:avLst/>
          </a:prstGeom>
          <a:noFill/>
          <a:ln/>
        </p:spPr>
        <p:txBody>
          <a:bodyPr wrap="square" lIns="0" tIns="0" rIns="0" bIns="0" rtlCol="0" anchor="ctr"/>
          <a:lstStyle/>
          <a:p>
            <a:pPr indent="0" marL="0">
              <a:lnSpc>
                <a:spcPct val="100000"/>
              </a:lnSpc>
              <a:buNone/>
            </a:pPr>
            <a:r>
              <a:rPr lang="en-US" sz="850" b="1" u="sng" dirty="0">
                <a:solidFill>
                  <a:srgbClr val="0B1F3A"/>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Video: vào hầm là mất GPS　0:52</a:t>
            </a:r>
            <a:endParaRPr lang="en-US" sz="850" dirty="0"/>
          </a:p>
          <a:p>
            <a:pPr indent="0" marL="0">
              <a:lnSpc>
                <a:spcPct val="100000"/>
              </a:lnSpc>
              <a:buNone/>
            </a:pPr>
            <a:r>
              <a:rPr lang="en-US" sz="850" b="1" u="sng" dirty="0">
                <a:solidFill>
                  <a:srgbClr val="0B1F3A"/>
                </a:solidFill>
                <a:latin typeface="微軟正黑體" pitchFamily="34" charset="0"/>
                <a:ea typeface="微軟正黑體" pitchFamily="34" charset="-122"/>
                <a:cs typeface="微軟正黑體" pitchFamily="34" charset="-120"/>
                <a:hlinkClick r:id="rId3" invalidUrl="" action="" tgtFrame="" tooltip="" history="1" highlightClick="0" endSnd="0">
                  <a:extLst>
                    <a:ext uri="{A12FA001-AC4F-418D-AE19-62706E023703}">
                      <ahyp:hlinkClr xmlns:ahyp="http://schemas.microsoft.com/office/drawing/2018/hyperlinkcolor" val="tx"/>
                    </a:ext>
                  </a:extLst>
                </a:hlinkClick>
              </a:rPr>
              <a:t>影片：進隧道就沒 GPS　</a:t>
            </a:r>
            <a:pPr indent="0" marL="0">
              <a:lnSpc>
                <a:spcPct val="100000"/>
              </a:lnSpc>
              <a:buNone/>
            </a:pPr>
            <a:r>
              <a:rPr lang="en-US" sz="850" u="sng" dirty="0">
                <a:solidFill>
                  <a:srgbClr val="1F6FB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youtu.be/U6rOEcyo6xU</a:t>
            </a:r>
            <a:endParaRPr lang="en-US" sz="850" dirty="0"/>
          </a:p>
        </p:txBody>
      </p:sp>
      <p:sp>
        <p:nvSpPr>
          <p:cNvPr id="13" name="Shape 10"/>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4" name="Text 11"/>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Trên bàn đọc: ZED-F9P qua ở sân trường, mất khoá ở Hà Nội lùi về 1,5 m, trong hầm bằng không.</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判讀台上：ZED-F9P 校園過、河內失鎖退回 1.5 m、隧道零。</a:t>
            </a:r>
            <a:endParaRPr lang="en-US" sz="1250" dirty="0"/>
          </a:p>
        </p:txBody>
      </p:sp>
      <p:sp>
        <p:nvSpPr>
          <p:cNvPr id="15" name="Shape 12"/>
          <p:cNvSpPr/>
          <p:nvPr/>
        </p:nvSpPr>
        <p:spPr>
          <a:xfrm>
            <a:off x="5228050" y="365760"/>
            <a:ext cx="3413030" cy="310896"/>
          </a:xfrm>
          <a:prstGeom prst="roundRect">
            <a:avLst>
              <a:gd name="adj" fmla="val 20588"/>
            </a:avLst>
          </a:prstGeom>
          <a:solidFill>
            <a:srgbClr val="EAF6F4"/>
          </a:solidFill>
          <a:ln w="9525">
            <a:solidFill>
              <a:srgbClr val="9FD6CE"/>
            </a:solidFill>
            <a:prstDash val="solid"/>
          </a:ln>
        </p:spPr>
      </p:sp>
      <p:sp>
        <p:nvSpPr>
          <p:cNvPr id="16" name="Text 13"/>
          <p:cNvSpPr txBox="1"/>
          <p:nvPr/>
        </p:nvSpPr>
        <p:spPr>
          <a:xfrm>
            <a:off x="5356066" y="384048"/>
            <a:ext cx="3230150"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nhìn người trong gương, tưởng họ đứng sau gương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看鏡子裡的人，會以為他在鏡子後面</a:t>
            </a:r>
            <a:endParaRPr lang="en-US" sz="950" dirty="0"/>
          </a:p>
        </p:txBody>
      </p:sp>
      <p:pic>
        <p:nvPicPr>
          <p:cNvPr id="18" name="Image 1" descr="/Users/tsengchenghsun/Class/carClass/Claude outputs/第六週(10-15)/src/logo.png">    </p:cNvPr>
          <p:cNvPicPr>
            <a:picLocks noChangeAspect="1"/>
          </p:cNvPicPr>
          <p:nvPr/>
        </p:nvPicPr>
        <p:blipFill>
          <a:blip r:embed="rId4"/>
          <a:stretch>
            <a:fillRect/>
          </a:stretch>
        </p:blipFill>
        <p:spPr>
          <a:xfrm>
            <a:off x="7882128" y="109728"/>
            <a:ext cx="1097280" cy="242439"/>
          </a:xfrm>
          <a:prstGeom prst="rect">
            <a:avLst/>
          </a:prstGeom>
        </p:spPr>
      </p:pic>
      <p:sp>
        <p:nvSpPr>
          <p:cNvPr id="19" name="Text 14"/>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9 / 22</a:t>
            </a:r>
            <a:endParaRPr lang="en-US" sz="900" dirty="0"/>
          </a:p>
        </p:txBody>
      </p:sp>
      <p:sp>
        <p:nvSpPr>
          <p:cNvPr id="20" name="Text 15"/>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3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Quán tính IMU: không cần bên ngoài — nên nó trôi</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IMU：不靠外界，所以會飄</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Hai datasheet: chip trong điện thoại và mô-đun công nghiệp</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兩份規格表：手機裡那顆和工業級那顆</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10 / 22</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0" cy="0"/>
        </a:xfrm>
      </p:grpSpPr>
      <p:sp>
        <p:nvSpPr>
          <p:cNvPr id="2" name="Text 0"/>
          <p:cNvSpPr txBox="1"/>
          <p:nvPr/>
        </p:nvSpPr>
        <p:spPr>
          <a:xfrm>
            <a:off x="502920" y="365760"/>
            <a:ext cx="813816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1 / 2　TDK ICM-20948（手機等級）</a:t>
            </a:r>
            <a:endParaRPr lang="en-US" sz="1300" dirty="0"/>
          </a:p>
        </p:txBody>
      </p:sp>
      <p:sp>
        <p:nvSpPr>
          <p:cNvPr id="3" name="Shape 1"/>
          <p:cNvSpPr/>
          <p:nvPr/>
        </p:nvSpPr>
        <p:spPr>
          <a:xfrm>
            <a:off x="502920" y="877824"/>
            <a:ext cx="3108960" cy="2617216"/>
          </a:xfrm>
          <a:prstGeom prst="roundRect">
            <a:avLst>
              <a:gd name="adj" fmla="val 4193"/>
            </a:avLst>
          </a:prstGeom>
          <a:solidFill>
            <a:srgbClr val="FFFFFF"/>
          </a:solidFill>
          <a:ln w="12700">
            <a:solidFill>
              <a:srgbClr val="DBE3EA"/>
            </a:solidFill>
            <a:prstDash val="solid"/>
          </a:ln>
        </p:spPr>
      </p:sp>
      <p:pic>
        <p:nvPicPr>
          <p:cNvPr id="4" name="Image 0" descr="/Users/tsengchenghsun/Class/carClass/Claude outputs/第六週(10-15)/src/img/w6_icm_gyro.png">    </p:cNvPr>
          <p:cNvPicPr>
            <a:picLocks noChangeAspect="1"/>
          </p:cNvPicPr>
          <p:nvPr/>
        </p:nvPicPr>
        <p:blipFill>
          <a:blip r:embed="rId1"/>
          <a:stretch>
            <a:fillRect/>
          </a:stretch>
        </p:blipFill>
        <p:spPr>
          <a:xfrm>
            <a:off x="576072" y="1004812"/>
            <a:ext cx="2962656" cy="2180360"/>
          </a:xfrm>
          <a:prstGeom prst="rect">
            <a:avLst/>
          </a:prstGeom>
        </p:spPr>
      </p:pic>
      <p:sp>
        <p:nvSpPr>
          <p:cNvPr id="5" name="Text 2"/>
          <p:cNvSpPr txBox="1"/>
          <p:nvPr/>
        </p:nvSpPr>
        <p:spPr>
          <a:xfrm>
            <a:off x="576072" y="3257296"/>
            <a:ext cx="296265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TDK InvenSense, ICM-20948 Data Sheet (DS-000189 v1.3), §3.1 Table 1 · 節錄 · 讀取 2026/10/08</a:t>
            </a:r>
            <a:endParaRPr lang="en-US" sz="700" dirty="0"/>
          </a:p>
        </p:txBody>
      </p:sp>
      <p:sp>
        <p:nvSpPr>
          <p:cNvPr id="6" name="Shape 3"/>
          <p:cNvSpPr/>
          <p:nvPr/>
        </p:nvSpPr>
        <p:spPr>
          <a:xfrm>
            <a:off x="539496" y="3595624"/>
            <a:ext cx="219456" cy="219456"/>
          </a:xfrm>
          <a:prstGeom prst="ellipse">
            <a:avLst/>
          </a:prstGeom>
          <a:solidFill>
            <a:srgbClr val="D9463E"/>
          </a:solidFill>
          <a:ln/>
        </p:spPr>
      </p:sp>
      <p:sp>
        <p:nvSpPr>
          <p:cNvPr id="7" name="Text 4"/>
          <p:cNvSpPr txBox="1"/>
          <p:nvPr/>
        </p:nvSpPr>
        <p:spPr>
          <a:xfrm>
            <a:off x="539496" y="3623056"/>
            <a:ext cx="219456" cy="16459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t>
            </a:r>
            <a:endParaRPr lang="en-US" sz="750" dirty="0"/>
          </a:p>
        </p:txBody>
      </p:sp>
      <p:sp>
        <p:nvSpPr>
          <p:cNvPr id="8" name="Text 5"/>
          <p:cNvSpPr txBox="1"/>
          <p:nvPr/>
        </p:nvSpPr>
        <p:spPr>
          <a:xfrm>
            <a:off x="832104" y="3549904"/>
            <a:ext cx="2779776" cy="310896"/>
          </a:xfrm>
          <a:prstGeom prst="rect">
            <a:avLst/>
          </a:prstGeom>
          <a:noFill/>
          <a:ln/>
        </p:spPr>
        <p:txBody>
          <a:bodyPr wrap="square" lIns="0" tIns="0" rIns="0" bIns="0" rtlCol="0" anchor="ctr"/>
          <a:lstStyle/>
          <a:p>
            <a:pPr indent="0" marL="0">
              <a:lnSpc>
                <a:spcPct val="100000"/>
              </a:lnSpc>
              <a:buNone/>
            </a:pPr>
            <a:r>
              <a:rPr lang="en-US" sz="850" b="1" u="sng" dirty="0">
                <a:solidFill>
                  <a:srgbClr val="0B1F3A"/>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Video: bên trong con quay MEMS (Bosch)　1:30</a:t>
            </a:r>
            <a:endParaRPr lang="en-US" sz="850" dirty="0"/>
          </a:p>
          <a:p>
            <a:pPr indent="0" marL="0">
              <a:lnSpc>
                <a:spcPct val="100000"/>
              </a:lnSpc>
              <a:buNone/>
            </a:pPr>
            <a:r>
              <a:rPr lang="en-US" sz="850" b="1" u="sng" dirty="0">
                <a:solidFill>
                  <a:srgbClr val="0B1F3A"/>
                </a:solidFill>
                <a:latin typeface="微軟正黑體" pitchFamily="34" charset="0"/>
                <a:ea typeface="微軟正黑體" pitchFamily="34" charset="-122"/>
                <a:cs typeface="微軟正黑體" pitchFamily="34" charset="-120"/>
                <a:hlinkClick r:id="rId2" invalidUrl="" action="" tgtFrame="" tooltip="" history="1" highlightClick="0" endSnd="0">
                  <a:extLst>
                    <a:ext uri="{A12FA001-AC4F-418D-AE19-62706E023703}">
                      <ahyp:hlinkClr xmlns:ahyp="http://schemas.microsoft.com/office/drawing/2018/hyperlinkcolor" val="tx"/>
                    </a:ext>
                  </a:extLst>
                </a:hlinkClick>
              </a:rPr>
              <a:t>影片：Bosch 車用陀螺儀裡面　</a:t>
            </a:r>
            <a:pPr indent="0" marL="0">
              <a:lnSpc>
                <a:spcPct val="100000"/>
              </a:lnSpc>
              <a:buNone/>
            </a:pPr>
            <a:r>
              <a:rPr lang="en-US" sz="850" u="sng" dirty="0">
                <a:solidFill>
                  <a:srgbClr val="1F6FB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youtu.be/XsjvaYAFN1M</a:t>
            </a:r>
            <a:endParaRPr lang="en-US" sz="850" dirty="0"/>
          </a:p>
        </p:txBody>
      </p:sp>
      <p:sp>
        <p:nvSpPr>
          <p:cNvPr id="9" name="Text 6"/>
          <p:cNvSpPr txBox="1"/>
          <p:nvPr/>
        </p:nvSpPr>
        <p:spPr>
          <a:xfrm>
            <a:off x="3886200" y="786384"/>
            <a:ext cx="4754880" cy="1236689"/>
          </a:xfrm>
          <a:prstGeom prst="rect">
            <a:avLst/>
          </a:prstGeom>
          <a:noFill/>
          <a:ln/>
        </p:spPr>
        <p:txBody>
          <a:bodyPr wrap="square" lIns="0" tIns="0" rIns="0" bIns="0" rtlCol="0" anchor="t"/>
          <a:lstStyle/>
          <a:p>
            <a:pPr indent="0" marL="0">
              <a:lnSpc>
                <a:spcPct val="116000"/>
              </a:lnSpc>
              <a:buNone/>
            </a:pPr>
            <a:r>
              <a:rPr lang="en-US" sz="1800" b="1" dirty="0">
                <a:solidFill>
                  <a:srgbClr val="0B1F3A"/>
                </a:solidFill>
                <a:latin typeface="Arial" pitchFamily="34" charset="0"/>
                <a:ea typeface="Arial" pitchFamily="34" charset="-122"/>
                <a:cs typeface="Arial" pitchFamily="34" charset="-120"/>
              </a:rPr>
              <a:t>ICM-20948 (cấp điện thoại): đứng yên vẫn đọc 5 °/s, và không có dòng ổn định lệch không</a:t>
            </a:r>
            <a:endParaRPr lang="en-US" sz="1800" dirty="0"/>
          </a:p>
          <a:p>
            <a:pPr indent="0" marL="0">
              <a:lnSpc>
                <a:spcPct val="116000"/>
              </a:lnSpc>
              <a:buNone/>
            </a:pPr>
            <a:r>
              <a:rPr lang="en-US" sz="1250" dirty="0">
                <a:solidFill>
                  <a:srgbClr val="007F72"/>
                </a:solidFill>
                <a:latin typeface="微軟正黑體" pitchFamily="34" charset="0"/>
                <a:ea typeface="微軟正黑體" pitchFamily="34" charset="-122"/>
                <a:cs typeface="微軟正黑體" pitchFamily="34" charset="-120"/>
              </a:rPr>
              <a:t>ICM-20948（手機級）：靜止也會讀到 5 °/s，而且沒有偏差穩定度那一行</a:t>
            </a:r>
            <a:endParaRPr lang="en-US" sz="1800" dirty="0"/>
          </a:p>
        </p:txBody>
      </p:sp>
      <p:sp>
        <p:nvSpPr>
          <p:cNvPr id="10" name="Shape 7"/>
          <p:cNvSpPr/>
          <p:nvPr/>
        </p:nvSpPr>
        <p:spPr>
          <a:xfrm>
            <a:off x="3886200" y="2114513"/>
            <a:ext cx="1060704" cy="441959"/>
          </a:xfrm>
          <a:prstGeom prst="roundRect">
            <a:avLst>
              <a:gd name="adj" fmla="val 12414"/>
            </a:avLst>
          </a:prstGeom>
          <a:solidFill>
            <a:srgbClr val="0B1F3A"/>
          </a:solidFill>
          <a:ln/>
        </p:spPr>
      </p:sp>
      <p:sp>
        <p:nvSpPr>
          <p:cNvPr id="11" name="Text 8"/>
          <p:cNvSpPr txBox="1"/>
          <p:nvPr/>
        </p:nvSpPr>
        <p:spPr>
          <a:xfrm>
            <a:off x="3941064" y="2151089"/>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Lệch không</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初始零偏</a:t>
            </a:r>
            <a:endParaRPr lang="en-US" sz="900" dirty="0"/>
          </a:p>
        </p:txBody>
      </p:sp>
      <p:sp>
        <p:nvSpPr>
          <p:cNvPr id="12" name="Text 9"/>
          <p:cNvSpPr txBox="1"/>
          <p:nvPr/>
        </p:nvSpPr>
        <p:spPr>
          <a:xfrm>
            <a:off x="5093208" y="2114513"/>
            <a:ext cx="3547872" cy="635187"/>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Initial ZRO ±5 dps: đứng yên vẫn đọc ra, phải tự hiệu chuẩn</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Initial ZRO ±5 dps：靜止也會讀到，要自己校</a:t>
            </a:r>
            <a:endParaRPr lang="en-US" sz="1100" dirty="0"/>
          </a:p>
        </p:txBody>
      </p:sp>
      <p:sp>
        <p:nvSpPr>
          <p:cNvPr id="13" name="Shape 10"/>
          <p:cNvSpPr/>
          <p:nvPr/>
        </p:nvSpPr>
        <p:spPr>
          <a:xfrm>
            <a:off x="3886200" y="2813708"/>
            <a:ext cx="1060704" cy="441959"/>
          </a:xfrm>
          <a:prstGeom prst="roundRect">
            <a:avLst>
              <a:gd name="adj" fmla="val 12414"/>
            </a:avLst>
          </a:prstGeom>
          <a:solidFill>
            <a:srgbClr val="007F72"/>
          </a:solidFill>
          <a:ln/>
        </p:spPr>
      </p:sp>
      <p:sp>
        <p:nvSpPr>
          <p:cNvPr id="14" name="Text 11"/>
          <p:cNvSpPr txBox="1"/>
          <p:nvPr/>
        </p:nvSpPr>
        <p:spPr>
          <a:xfrm>
            <a:off x="3941064" y="2850284"/>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Nhiệt độ</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溫度</a:t>
            </a:r>
            <a:endParaRPr lang="en-US" sz="900" dirty="0"/>
          </a:p>
        </p:txBody>
      </p:sp>
      <p:sp>
        <p:nvSpPr>
          <p:cNvPr id="15" name="Text 12"/>
          <p:cNvSpPr txBox="1"/>
          <p:nvPr/>
        </p:nvSpPr>
        <p:spPr>
          <a:xfrm>
            <a:off x="5093208" y="2813708"/>
            <a:ext cx="354787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±0,05 dps/°C: chênh 10 °C là 0,5 °/s</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±0.05 dps/°C：差 10 °C 就是 0.5 °/s</a:t>
            </a:r>
            <a:endParaRPr lang="en-US" sz="1100" dirty="0"/>
          </a:p>
        </p:txBody>
      </p:sp>
      <p:sp>
        <p:nvSpPr>
          <p:cNvPr id="16" name="Shape 13"/>
          <p:cNvSpPr/>
          <p:nvPr/>
        </p:nvSpPr>
        <p:spPr>
          <a:xfrm>
            <a:off x="3886200" y="3374539"/>
            <a:ext cx="1060704" cy="441959"/>
          </a:xfrm>
          <a:prstGeom prst="roundRect">
            <a:avLst>
              <a:gd name="adj" fmla="val 12414"/>
            </a:avLst>
          </a:prstGeom>
          <a:solidFill>
            <a:srgbClr val="FFB020"/>
          </a:solidFill>
          <a:ln/>
        </p:spPr>
      </p:sp>
      <p:sp>
        <p:nvSpPr>
          <p:cNvPr id="17" name="Text 14"/>
          <p:cNvSpPr txBox="1"/>
          <p:nvPr/>
        </p:nvSpPr>
        <p:spPr>
          <a:xfrm>
            <a:off x="3941064" y="3411115"/>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3A2A00"/>
                </a:solidFill>
                <a:latin typeface="Arial" pitchFamily="34" charset="0"/>
                <a:ea typeface="Arial" pitchFamily="34" charset="-122"/>
                <a:cs typeface="Arial" pitchFamily="34" charset="-120"/>
              </a:rPr>
              <a:t>Dòng không có</a:t>
            </a:r>
            <a:endParaRPr lang="en-US" sz="900" dirty="0"/>
          </a:p>
          <a:p>
            <a:pPr algn="ctr" indent="0" marL="0">
              <a:lnSpc>
                <a:spcPct val="106000"/>
              </a:lnSpc>
              <a:buNone/>
            </a:pPr>
            <a:r>
              <a:rPr lang="en-US" sz="850" dirty="0">
                <a:solidFill>
                  <a:srgbClr val="3A2A00"/>
                </a:solidFill>
                <a:latin typeface="微軟正黑體" pitchFamily="34" charset="0"/>
                <a:ea typeface="微軟正黑體" pitchFamily="34" charset="-122"/>
                <a:cs typeface="微軟正黑體" pitchFamily="34" charset="-120"/>
              </a:rPr>
              <a:t>沒有的那行</a:t>
            </a:r>
            <a:endParaRPr lang="en-US" sz="900" dirty="0"/>
          </a:p>
        </p:txBody>
      </p:sp>
      <p:sp>
        <p:nvSpPr>
          <p:cNvPr id="18" name="Text 15"/>
          <p:cNvSpPr txBox="1"/>
          <p:nvPr/>
        </p:nvSpPr>
        <p:spPr>
          <a:xfrm>
            <a:off x="5093208" y="3374539"/>
            <a:ext cx="354787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In-run bias stability: datasheet này không có</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In-run bias stability：這份規格書沒有</a:t>
            </a:r>
            <a:endParaRPr lang="en-US" sz="1100" dirty="0"/>
          </a:p>
        </p:txBody>
      </p:sp>
      <p:sp>
        <p:nvSpPr>
          <p:cNvPr id="19" name="Shape 16"/>
          <p:cNvSpPr/>
          <p:nvPr/>
        </p:nvSpPr>
        <p:spPr>
          <a:xfrm>
            <a:off x="502920" y="3931920"/>
            <a:ext cx="8138160" cy="566928"/>
          </a:xfrm>
          <a:prstGeom prst="roundRect">
            <a:avLst>
              <a:gd name="adj" fmla="val 14516"/>
            </a:avLst>
          </a:prstGeom>
          <a:solidFill>
            <a:srgbClr val="FFF6E3"/>
          </a:solidFill>
          <a:ln w="12700">
            <a:solidFill>
              <a:srgbClr val="FFB020"/>
            </a:solidFill>
            <a:prstDash val="solid"/>
          </a:ln>
        </p:spPr>
      </p:sp>
      <p:sp>
        <p:nvSpPr>
          <p:cNvPr id="20" name="Text 17"/>
          <p:cNvSpPr txBox="1"/>
          <p:nvPr/>
        </p:nvSpPr>
        <p:spPr>
          <a:xfrm>
            <a:off x="685800" y="3995928"/>
            <a:ext cx="7772400" cy="457200"/>
          </a:xfrm>
          <a:prstGeom prst="rect">
            <a:avLst/>
          </a:prstGeom>
          <a:noFill/>
          <a:ln/>
        </p:spPr>
        <p:txBody>
          <a:bodyPr wrap="square" lIns="0" tIns="0" rIns="0" bIns="0" rtlCol="0" anchor="t"/>
          <a:lstStyle/>
          <a:p>
            <a:pPr indent="0" marL="0">
              <a:lnSpc>
                <a:spcPct val="116000"/>
              </a:lnSpc>
              <a:buNone/>
            </a:pPr>
            <a:r>
              <a:rPr lang="en-US" sz="1200" b="1" dirty="0">
                <a:solidFill>
                  <a:srgbClr val="7A4E00"/>
                </a:solidFill>
                <a:latin typeface="Arial" pitchFamily="34" charset="0"/>
                <a:ea typeface="Arial" pitchFamily="34" charset="-122"/>
                <a:cs typeface="Arial" pitchFamily="34" charset="-120"/>
              </a:rPr>
              <a:t>Ứng dụng datasheet tự ghi: điện thoại, máy tính bảng, thiết bị đeo. Không ghi xe.</a:t>
            </a:r>
            <a:endParaRPr lang="en-US" sz="1200" dirty="0"/>
          </a:p>
          <a:p>
            <a:pPr indent="0" marL="0">
              <a:lnSpc>
                <a:spcPct val="116000"/>
              </a:lnSpc>
              <a:buNone/>
            </a:pPr>
            <a:r>
              <a:rPr lang="en-US" sz="1100" dirty="0">
                <a:solidFill>
                  <a:srgbClr val="7A4E00"/>
                </a:solidFill>
                <a:latin typeface="微軟正黑體" pitchFamily="34" charset="0"/>
                <a:ea typeface="微軟正黑體" pitchFamily="34" charset="-122"/>
                <a:cs typeface="微軟正黑體" pitchFamily="34" charset="-120"/>
              </a:rPr>
              <a:t>規格書自己寫的用途：手機、平板、穿戴。沒寫車。</a:t>
            </a:r>
            <a:endParaRPr lang="en-US" sz="1200" dirty="0"/>
          </a:p>
        </p:txBody>
      </p:sp>
      <p:sp>
        <p:nvSpPr>
          <p:cNvPr id="21" name="Shape 18"/>
          <p:cNvSpPr/>
          <p:nvPr/>
        </p:nvSpPr>
        <p:spPr>
          <a:xfrm>
            <a:off x="5912860" y="365760"/>
            <a:ext cx="2728220" cy="310896"/>
          </a:xfrm>
          <a:prstGeom prst="roundRect">
            <a:avLst>
              <a:gd name="adj" fmla="val 20588"/>
            </a:avLst>
          </a:prstGeom>
          <a:solidFill>
            <a:srgbClr val="EAF6F4"/>
          </a:solidFill>
          <a:ln w="9525">
            <a:solidFill>
              <a:srgbClr val="9FD6CE"/>
            </a:solidFill>
            <a:prstDash val="solid"/>
          </a:ln>
        </p:spPr>
      </p:sp>
      <p:sp>
        <p:nvSpPr>
          <p:cNvPr id="22" name="Text 19"/>
          <p:cNvSpPr txBox="1"/>
          <p:nvPr/>
        </p:nvSpPr>
        <p:spPr>
          <a:xfrm>
            <a:off x="6040876" y="384048"/>
            <a:ext cx="2545340"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không ai đứng lên, cân vẫn chỉ 2 kg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沒人站上去，體重計也顯示 2 公斤</a:t>
            </a:r>
            <a:endParaRPr lang="en-US" sz="950" dirty="0"/>
          </a:p>
        </p:txBody>
      </p:sp>
      <p:pic>
        <p:nvPicPr>
          <p:cNvPr id="24" name="Image 1"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25" name="Text 20"/>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11 / 22</a:t>
            </a:r>
            <a:endParaRPr lang="en-US" sz="900" dirty="0"/>
          </a:p>
        </p:txBody>
      </p:sp>
      <p:sp>
        <p:nvSpPr>
          <p:cNvPr id="26" name="Text 21"/>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0" cy="0"/>
        </a:xfrm>
      </p:grpSpPr>
      <p:sp>
        <p:nvSpPr>
          <p:cNvPr id="2" name="Text 0"/>
          <p:cNvSpPr txBox="1"/>
          <p:nvPr/>
        </p:nvSpPr>
        <p:spPr>
          <a:xfrm>
            <a:off x="502920" y="365760"/>
            <a:ext cx="8138160" cy="274320"/>
          </a:xfrm>
          <a:prstGeom prst="rect">
            <a:avLst/>
          </a:prstGeom>
          <a:noFill/>
          <a:ln/>
        </p:spPr>
        <p:txBody>
          <a:bodyPr wrap="square" lIns="0" tIns="0" rIns="0" bIns="0" rtlCol="0" anchor="ctr"/>
          <a:lstStyle/>
          <a:p>
            <a:pPr indent="0" marL="0">
              <a:buNone/>
            </a:pPr>
            <a:r>
              <a:rPr lang="en-US" sz="1300" b="1" dirty="0">
                <a:solidFill>
                  <a:srgbClr val="007F72"/>
                </a:solidFill>
                <a:latin typeface="Arial" pitchFamily="34" charset="0"/>
                <a:ea typeface="Arial" pitchFamily="34" charset="-122"/>
                <a:cs typeface="Arial" pitchFamily="34" charset="-120"/>
              </a:rPr>
              <a:t>2 / 2　Analog Devices ADIS16470（工業級）</a:t>
            </a:r>
            <a:endParaRPr lang="en-US" sz="1300" dirty="0"/>
          </a:p>
        </p:txBody>
      </p:sp>
      <p:sp>
        <p:nvSpPr>
          <p:cNvPr id="3" name="Shape 1"/>
          <p:cNvSpPr/>
          <p:nvPr/>
        </p:nvSpPr>
        <p:spPr>
          <a:xfrm>
            <a:off x="502920" y="877824"/>
            <a:ext cx="3291840" cy="1785970"/>
          </a:xfrm>
          <a:prstGeom prst="roundRect">
            <a:avLst>
              <a:gd name="adj" fmla="val 6144"/>
            </a:avLst>
          </a:prstGeom>
          <a:solidFill>
            <a:srgbClr val="FFFFFF"/>
          </a:solidFill>
          <a:ln w="12700">
            <a:solidFill>
              <a:srgbClr val="DBE3EA"/>
            </a:solidFill>
            <a:prstDash val="solid"/>
          </a:ln>
        </p:spPr>
      </p:sp>
      <p:pic>
        <p:nvPicPr>
          <p:cNvPr id="4" name="Image 0" descr="/Users/tsengchenghsun/Class/carClass/Claude outputs/第六週(10-15)/src/img/w6_adis_gyro.png">    </p:cNvPr>
          <p:cNvPicPr>
            <a:picLocks noChangeAspect="1"/>
          </p:cNvPicPr>
          <p:nvPr/>
        </p:nvPicPr>
        <p:blipFill>
          <a:blip r:embed="rId1"/>
          <a:stretch>
            <a:fillRect/>
          </a:stretch>
        </p:blipFill>
        <p:spPr>
          <a:xfrm>
            <a:off x="576072" y="983349"/>
            <a:ext cx="3145536" cy="1392040"/>
          </a:xfrm>
          <a:prstGeom prst="rect">
            <a:avLst/>
          </a:prstGeom>
        </p:spPr>
      </p:pic>
      <p:sp>
        <p:nvSpPr>
          <p:cNvPr id="5" name="Text 2"/>
          <p:cNvSpPr txBox="1"/>
          <p:nvPr/>
        </p:nvSpPr>
        <p:spPr>
          <a:xfrm>
            <a:off x="576072" y="2426050"/>
            <a:ext cx="314553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Analog Devices, ADIS16470 Data Sheet Rev. C, p.3 Table 1 · 節錄 · 讀取 2026/10/08</a:t>
            </a:r>
            <a:endParaRPr lang="en-US" sz="700" dirty="0"/>
          </a:p>
        </p:txBody>
      </p:sp>
      <p:sp>
        <p:nvSpPr>
          <p:cNvPr id="6" name="Text 3"/>
          <p:cNvSpPr txBox="1"/>
          <p:nvPr/>
        </p:nvSpPr>
        <p:spPr>
          <a:xfrm>
            <a:off x="4069080" y="786384"/>
            <a:ext cx="4572000" cy="787475"/>
          </a:xfrm>
          <a:prstGeom prst="rect">
            <a:avLst/>
          </a:prstGeom>
          <a:noFill/>
          <a:ln/>
        </p:spPr>
        <p:txBody>
          <a:bodyPr wrap="square" lIns="0" tIns="0" rIns="0" bIns="0" rtlCol="0" anchor="t"/>
          <a:lstStyle/>
          <a:p>
            <a:pPr indent="0" marL="0">
              <a:lnSpc>
                <a:spcPct val="116000"/>
              </a:lnSpc>
              <a:buNone/>
            </a:pPr>
            <a:r>
              <a:rPr lang="en-US" sz="1800" b="1" dirty="0">
                <a:solidFill>
                  <a:srgbClr val="0B1F3A"/>
                </a:solidFill>
                <a:latin typeface="Arial" pitchFamily="34" charset="0"/>
                <a:ea typeface="Arial" pitchFamily="34" charset="-122"/>
                <a:cs typeface="Arial" pitchFamily="34" charset="-120"/>
              </a:rPr>
              <a:t>ADIS16470 (công nghiệp): ổn định lệch không 8 °/h, ghi ngay dưới mục Bias</a:t>
            </a:r>
            <a:endParaRPr lang="en-US" sz="1800" dirty="0"/>
          </a:p>
          <a:p>
            <a:pPr indent="0" marL="0">
              <a:lnSpc>
                <a:spcPct val="116000"/>
              </a:lnSpc>
              <a:buNone/>
            </a:pPr>
            <a:r>
              <a:rPr lang="en-US" sz="1250" dirty="0">
                <a:solidFill>
                  <a:srgbClr val="007F72"/>
                </a:solidFill>
                <a:latin typeface="微軟正黑體" pitchFamily="34" charset="0"/>
                <a:ea typeface="微軟正黑體" pitchFamily="34" charset="-122"/>
                <a:cs typeface="微軟正黑體" pitchFamily="34" charset="-120"/>
              </a:rPr>
              <a:t>ADIS16470（工業級）：偏差穩定度 8 °/h，寫在 Bias 底下</a:t>
            </a:r>
            <a:endParaRPr lang="en-US" sz="1800" dirty="0"/>
          </a:p>
        </p:txBody>
      </p:sp>
      <p:sp>
        <p:nvSpPr>
          <p:cNvPr id="7" name="Shape 4"/>
          <p:cNvSpPr/>
          <p:nvPr/>
        </p:nvSpPr>
        <p:spPr>
          <a:xfrm>
            <a:off x="4069080" y="1665299"/>
            <a:ext cx="1060704" cy="575199"/>
          </a:xfrm>
          <a:prstGeom prst="roundRect">
            <a:avLst>
              <a:gd name="adj" fmla="val 9538"/>
            </a:avLst>
          </a:prstGeom>
          <a:solidFill>
            <a:srgbClr val="0B1F3A"/>
          </a:solidFill>
          <a:ln/>
        </p:spPr>
      </p:sp>
      <p:sp>
        <p:nvSpPr>
          <p:cNvPr id="8" name="Text 5"/>
          <p:cNvSpPr txBox="1"/>
          <p:nvPr/>
        </p:nvSpPr>
        <p:spPr>
          <a:xfrm>
            <a:off x="4123944" y="1701875"/>
            <a:ext cx="950976" cy="52033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Ổn định lệch không</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偏差穩定度</a:t>
            </a:r>
            <a:endParaRPr lang="en-US" sz="900" dirty="0"/>
          </a:p>
        </p:txBody>
      </p:sp>
      <p:sp>
        <p:nvSpPr>
          <p:cNvPr id="9" name="Text 6"/>
          <p:cNvSpPr txBox="1"/>
          <p:nvPr/>
        </p:nvSpPr>
        <p:spPr>
          <a:xfrm>
            <a:off x="5276088" y="1665299"/>
            <a:ext cx="3364992" cy="63006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Bias → In Run Stability 8 °/hr (1 σ)</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Bias → In Run Stability 8 °/hr（1 σ）</a:t>
            </a:r>
            <a:endParaRPr lang="en-US" sz="1100" dirty="0"/>
          </a:p>
        </p:txBody>
      </p:sp>
      <p:sp>
        <p:nvSpPr>
          <p:cNvPr id="10" name="Shape 7"/>
          <p:cNvSpPr/>
          <p:nvPr/>
        </p:nvSpPr>
        <p:spPr>
          <a:xfrm>
            <a:off x="4069080" y="2359371"/>
            <a:ext cx="1060704" cy="441959"/>
          </a:xfrm>
          <a:prstGeom prst="roundRect">
            <a:avLst>
              <a:gd name="adj" fmla="val 12414"/>
            </a:avLst>
          </a:prstGeom>
          <a:solidFill>
            <a:srgbClr val="007F72"/>
          </a:solidFill>
          <a:ln/>
        </p:spPr>
      </p:sp>
      <p:sp>
        <p:nvSpPr>
          <p:cNvPr id="11" name="Text 8"/>
          <p:cNvSpPr txBox="1"/>
          <p:nvPr/>
        </p:nvSpPr>
        <p:spPr>
          <a:xfrm>
            <a:off x="4123944" y="2395947"/>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FFFFFF"/>
                </a:solidFill>
                <a:latin typeface="Arial" pitchFamily="34" charset="0"/>
                <a:ea typeface="Arial" pitchFamily="34" charset="-122"/>
                <a:cs typeface="Arial" pitchFamily="34" charset="-120"/>
              </a:rPr>
              <a:t>Random walk</a:t>
            </a:r>
            <a:endParaRPr lang="en-US" sz="900" dirty="0"/>
          </a:p>
          <a:p>
            <a:pPr algn="ctr" indent="0" marL="0">
              <a:lnSpc>
                <a:spcPct val="106000"/>
              </a:lnSpc>
              <a:buNone/>
            </a:pPr>
            <a:r>
              <a:rPr lang="en-US" sz="850" dirty="0">
                <a:solidFill>
                  <a:srgbClr val="FFFFFF"/>
                </a:solidFill>
                <a:latin typeface="微軟正黑體" pitchFamily="34" charset="0"/>
                <a:ea typeface="微軟正黑體" pitchFamily="34" charset="-122"/>
                <a:cs typeface="微軟正黑體" pitchFamily="34" charset="-120"/>
              </a:rPr>
              <a:t>隨機游走</a:t>
            </a:r>
            <a:endParaRPr lang="en-US" sz="900" dirty="0"/>
          </a:p>
        </p:txBody>
      </p:sp>
      <p:sp>
        <p:nvSpPr>
          <p:cNvPr id="12" name="Text 9"/>
          <p:cNvSpPr txBox="1"/>
          <p:nvPr/>
        </p:nvSpPr>
        <p:spPr>
          <a:xfrm>
            <a:off x="5276088" y="2359371"/>
            <a:ext cx="336499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Angular Random Walk 0,34 °/√hr</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Angular Random Walk 0.34 °/√hr</a:t>
            </a:r>
            <a:endParaRPr lang="en-US" sz="1100" dirty="0"/>
          </a:p>
        </p:txBody>
      </p:sp>
      <p:sp>
        <p:nvSpPr>
          <p:cNvPr id="13" name="Shape 10"/>
          <p:cNvSpPr/>
          <p:nvPr/>
        </p:nvSpPr>
        <p:spPr>
          <a:xfrm>
            <a:off x="4069080" y="2920201"/>
            <a:ext cx="1060704" cy="441959"/>
          </a:xfrm>
          <a:prstGeom prst="roundRect">
            <a:avLst>
              <a:gd name="adj" fmla="val 12414"/>
            </a:avLst>
          </a:prstGeom>
          <a:solidFill>
            <a:srgbClr val="FFB020"/>
          </a:solidFill>
          <a:ln/>
        </p:spPr>
      </p:sp>
      <p:sp>
        <p:nvSpPr>
          <p:cNvPr id="14" name="Text 11"/>
          <p:cNvSpPr txBox="1"/>
          <p:nvPr/>
        </p:nvSpPr>
        <p:spPr>
          <a:xfrm>
            <a:off x="4123944" y="2956777"/>
            <a:ext cx="950976" cy="387095"/>
          </a:xfrm>
          <a:prstGeom prst="rect">
            <a:avLst/>
          </a:prstGeom>
          <a:noFill/>
          <a:ln/>
        </p:spPr>
        <p:txBody>
          <a:bodyPr wrap="square" lIns="0" tIns="0" rIns="0" bIns="0" rtlCol="0" anchor="t"/>
          <a:lstStyle/>
          <a:p>
            <a:pPr algn="ctr" indent="0" marL="0">
              <a:lnSpc>
                <a:spcPct val="106000"/>
              </a:lnSpc>
              <a:buNone/>
            </a:pPr>
            <a:r>
              <a:rPr lang="en-US" sz="900" b="1" dirty="0">
                <a:solidFill>
                  <a:srgbClr val="3A2A00"/>
                </a:solidFill>
                <a:latin typeface="Arial" pitchFamily="34" charset="0"/>
                <a:ea typeface="Arial" pitchFamily="34" charset="-122"/>
                <a:cs typeface="Arial" pitchFamily="34" charset="-120"/>
              </a:rPr>
              <a:t>Dải đo</a:t>
            </a:r>
            <a:endParaRPr lang="en-US" sz="900" dirty="0"/>
          </a:p>
          <a:p>
            <a:pPr algn="ctr" indent="0" marL="0">
              <a:lnSpc>
                <a:spcPct val="106000"/>
              </a:lnSpc>
              <a:buNone/>
            </a:pPr>
            <a:r>
              <a:rPr lang="en-US" sz="850" dirty="0">
                <a:solidFill>
                  <a:srgbClr val="3A2A00"/>
                </a:solidFill>
                <a:latin typeface="微軟正黑體" pitchFamily="34" charset="0"/>
                <a:ea typeface="微軟正黑體" pitchFamily="34" charset="-122"/>
                <a:cs typeface="微軟正黑體" pitchFamily="34" charset="-120"/>
              </a:rPr>
              <a:t>量程</a:t>
            </a:r>
            <a:endParaRPr lang="en-US" sz="900" dirty="0"/>
          </a:p>
        </p:txBody>
      </p:sp>
      <p:sp>
        <p:nvSpPr>
          <p:cNvPr id="15" name="Text 12"/>
          <p:cNvSpPr txBox="1"/>
          <p:nvPr/>
        </p:nvSpPr>
        <p:spPr>
          <a:xfrm>
            <a:off x="5276088" y="2920201"/>
            <a:ext cx="3364992" cy="496823"/>
          </a:xfrm>
          <a:prstGeom prst="rect">
            <a:avLst/>
          </a:prstGeom>
          <a:noFill/>
          <a:ln/>
        </p:spPr>
        <p:txBody>
          <a:bodyPr wrap="square" lIns="0" tIns="0" rIns="0" bIns="0" rtlCol="0" anchor="t"/>
          <a:lstStyle/>
          <a:p>
            <a:pPr indent="0" marL="0">
              <a:lnSpc>
                <a:spcPct val="126000"/>
              </a:lnSpc>
              <a:buNone/>
            </a:pPr>
            <a:r>
              <a:rPr lang="en-US" sz="1100" dirty="0">
                <a:solidFill>
                  <a:srgbClr val="1A2733"/>
                </a:solidFill>
                <a:latin typeface="Arial" pitchFamily="34" charset="0"/>
                <a:ea typeface="Arial" pitchFamily="34" charset="-122"/>
                <a:cs typeface="Arial" pitchFamily="34" charset="-120"/>
              </a:rPr>
              <a:t>Dynamic Range ±2000 °/sec — như cấp điện thoại</a:t>
            </a:r>
            <a:endParaRPr lang="en-US" sz="1100" dirty="0"/>
          </a:p>
          <a:p>
            <a:pPr indent="0" marL="0">
              <a:lnSpc>
                <a:spcPct val="126000"/>
              </a:lnSpc>
              <a:buNone/>
            </a:pPr>
            <a:r>
              <a:rPr lang="en-US" sz="1000" dirty="0">
                <a:solidFill>
                  <a:srgbClr val="5F7183"/>
                </a:solidFill>
                <a:latin typeface="微軟正黑體" pitchFamily="34" charset="0"/>
                <a:ea typeface="微軟正黑體" pitchFamily="34" charset="-122"/>
                <a:cs typeface="微軟正黑體" pitchFamily="34" charset="-120"/>
              </a:rPr>
              <a:t>Dynamic Range ±2000 °/sec——和手機級一樣</a:t>
            </a:r>
            <a:endParaRPr lang="en-US" sz="1100" dirty="0"/>
          </a:p>
        </p:txBody>
      </p:sp>
      <p:pic>
        <p:nvPicPr>
          <p:cNvPr id="16" name="Image 1" descr="/Users/tsengchenghsun/Class/carClass/Claude outputs/第六週(10-15)/src/img/w6_pic_adis16470.png">    </p:cNvPr>
          <p:cNvPicPr>
            <a:picLocks noChangeAspect="1"/>
          </p:cNvPicPr>
          <p:nvPr/>
        </p:nvPicPr>
        <p:blipFill>
          <a:blip r:embed="rId2"/>
          <a:stretch>
            <a:fillRect/>
          </a:stretch>
        </p:blipFill>
        <p:spPr>
          <a:xfrm>
            <a:off x="1670225" y="2682082"/>
            <a:ext cx="957230" cy="957230"/>
          </a:xfrm>
          <a:prstGeom prst="rect">
            <a:avLst/>
          </a:prstGeom>
        </p:spPr>
      </p:pic>
      <p:sp>
        <p:nvSpPr>
          <p:cNvPr id="17" name="Text 13"/>
          <p:cNvSpPr txBox="1"/>
          <p:nvPr/>
        </p:nvSpPr>
        <p:spPr>
          <a:xfrm>
            <a:off x="502920" y="3675888"/>
            <a:ext cx="3291840" cy="164592"/>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ADIS16470 裝在評估板 ADIS16470/PCBZ 上　圖：Analog Devices</a:t>
            </a:r>
            <a:endParaRPr lang="en-US" sz="700" dirty="0"/>
          </a:p>
        </p:txBody>
      </p:sp>
      <p:sp>
        <p:nvSpPr>
          <p:cNvPr id="18" name="Shape 14"/>
          <p:cNvSpPr/>
          <p:nvPr/>
        </p:nvSpPr>
        <p:spPr>
          <a:xfrm>
            <a:off x="502920" y="3931920"/>
            <a:ext cx="8138160" cy="566928"/>
          </a:xfrm>
          <a:prstGeom prst="roundRect">
            <a:avLst>
              <a:gd name="adj" fmla="val 14516"/>
            </a:avLst>
          </a:prstGeom>
          <a:solidFill>
            <a:srgbClr val="FFF6E3"/>
          </a:solidFill>
          <a:ln w="12700">
            <a:solidFill>
              <a:srgbClr val="FFB020"/>
            </a:solidFill>
            <a:prstDash val="solid"/>
          </a:ln>
        </p:spPr>
      </p:sp>
      <p:sp>
        <p:nvSpPr>
          <p:cNvPr id="19" name="Text 15"/>
          <p:cNvSpPr txBox="1"/>
          <p:nvPr/>
        </p:nvSpPr>
        <p:spPr>
          <a:xfrm>
            <a:off x="685800" y="3995928"/>
            <a:ext cx="7772400" cy="457200"/>
          </a:xfrm>
          <a:prstGeom prst="rect">
            <a:avLst/>
          </a:prstGeom>
          <a:noFill/>
          <a:ln/>
        </p:spPr>
        <p:txBody>
          <a:bodyPr wrap="square" lIns="0" tIns="0" rIns="0" bIns="0" rtlCol="0" anchor="t"/>
          <a:lstStyle/>
          <a:p>
            <a:pPr indent="0" marL="0">
              <a:lnSpc>
                <a:spcPct val="116000"/>
              </a:lnSpc>
              <a:buNone/>
            </a:pPr>
            <a:r>
              <a:rPr lang="en-US" sz="1200" b="1" dirty="0">
                <a:solidFill>
                  <a:srgbClr val="7A4E00"/>
                </a:solidFill>
                <a:latin typeface="Arial" pitchFamily="34" charset="0"/>
                <a:ea typeface="Arial" pitchFamily="34" charset="-122"/>
                <a:cs typeface="Arial" pitchFamily="34" charset="-120"/>
              </a:rPr>
              <a:t>Trang 1 tự ghi ứng dụng: «Unmanned and autonomous vehicles». Chip điện thoại ghi: smartphones.</a:t>
            </a:r>
            <a:endParaRPr lang="en-US" sz="1200" dirty="0"/>
          </a:p>
          <a:p>
            <a:pPr indent="0" marL="0">
              <a:lnSpc>
                <a:spcPct val="116000"/>
              </a:lnSpc>
              <a:buNone/>
            </a:pPr>
            <a:r>
              <a:rPr lang="en-US" sz="1100" dirty="0">
                <a:solidFill>
                  <a:srgbClr val="7A4E00"/>
                </a:solidFill>
                <a:latin typeface="微軟正黑體" pitchFamily="34" charset="0"/>
                <a:ea typeface="微軟正黑體" pitchFamily="34" charset="-122"/>
                <a:cs typeface="微軟正黑體" pitchFamily="34" charset="-120"/>
              </a:rPr>
              <a:t>第 1 頁自己寫的用途：「無人與自駕載具」。手機級那顆寫的是：手機。</a:t>
            </a:r>
            <a:endParaRPr lang="en-US" sz="1200" dirty="0"/>
          </a:p>
        </p:txBody>
      </p:sp>
      <p:sp>
        <p:nvSpPr>
          <p:cNvPr id="20" name="Shape 16"/>
          <p:cNvSpPr/>
          <p:nvPr/>
        </p:nvSpPr>
        <p:spPr>
          <a:xfrm>
            <a:off x="4771511" y="365760"/>
            <a:ext cx="3869569" cy="310896"/>
          </a:xfrm>
          <a:prstGeom prst="roundRect">
            <a:avLst>
              <a:gd name="adj" fmla="val 20588"/>
            </a:avLst>
          </a:prstGeom>
          <a:solidFill>
            <a:srgbClr val="EAF6F4"/>
          </a:solidFill>
          <a:ln w="9525">
            <a:solidFill>
              <a:srgbClr val="9FD6CE"/>
            </a:solidFill>
            <a:prstDash val="solid"/>
          </a:ln>
        </p:spPr>
      </p:sp>
      <p:sp>
        <p:nvSpPr>
          <p:cNvPr id="21" name="Text 17"/>
          <p:cNvSpPr txBox="1"/>
          <p:nvPr/>
        </p:nvSpPr>
        <p:spPr>
          <a:xfrm>
            <a:off x="4899527" y="384048"/>
            <a:ext cx="3686689"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đồng hồ rẻ lệch 1 phút/ngày, đồng hồ tốt vài giây/tháng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便宜的錶一天差一分鐘，好錶一個月才差幾秒</a:t>
            </a:r>
            <a:endParaRPr lang="en-US" sz="950" dirty="0"/>
          </a:p>
        </p:txBody>
      </p:sp>
      <p:pic>
        <p:nvPicPr>
          <p:cNvPr id="23" name="Image 2"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24" name="Text 18"/>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12 / 22</a:t>
            </a:r>
            <a:endParaRPr lang="en-US" sz="900" dirty="0"/>
          </a:p>
        </p:txBody>
      </p:sp>
      <p:sp>
        <p:nvSpPr>
          <p:cNvPr id="25" name="Text 19"/>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0" cy="0"/>
        </a:xfrm>
      </p:grpSpPr>
      <p:sp>
        <p:nvSpPr>
          <p:cNvPr id="2" name="Text 0"/>
          <p:cNvSpPr txBox="1"/>
          <p:nvPr/>
        </p:nvSpPr>
        <p:spPr>
          <a:xfrm>
            <a:off x="502920" y="292608"/>
            <a:ext cx="8138160" cy="841248"/>
          </a:xfrm>
          <a:prstGeom prst="rect">
            <a:avLst/>
          </a:prstGeom>
          <a:noFill/>
          <a:ln/>
        </p:spPr>
        <p:txBody>
          <a:bodyPr wrap="square" lIns="0" tIns="0" rIns="0" bIns="0" rtlCol="0" anchor="t"/>
          <a:lstStyle/>
          <a:p>
            <a:pPr indent="0" marL="0">
              <a:lnSpc>
                <a:spcPct val="116000"/>
              </a:lnSpc>
              <a:buNone/>
            </a:pPr>
            <a:r>
              <a:rPr lang="en-US" sz="2200" b="1" dirty="0">
                <a:solidFill>
                  <a:srgbClr val="0B1F3A"/>
                </a:solidFill>
                <a:latin typeface="Arial" pitchFamily="34" charset="0"/>
                <a:ea typeface="Arial" pitchFamily="34" charset="-122"/>
                <a:cs typeface="Arial" pitchFamily="34" charset="-120"/>
              </a:rPr>
              <a:t>IMU cấp điện thoại và cấp công nghiệp khác nhau ở đâu: dòng ổn định lệch không</a:t>
            </a:r>
            <a:endParaRPr lang="en-US" sz="2200" dirty="0"/>
          </a:p>
          <a:p>
            <a:pPr indent="0" marL="0">
              <a:lnSpc>
                <a:spcPct val="116000"/>
              </a:lnSpc>
              <a:buNone/>
            </a:pPr>
            <a:r>
              <a:rPr lang="en-US" sz="1350" dirty="0">
                <a:solidFill>
                  <a:srgbClr val="5F7183"/>
                </a:solidFill>
                <a:latin typeface="微軟正黑體" pitchFamily="34" charset="0"/>
                <a:ea typeface="微軟正黑體" pitchFamily="34" charset="-122"/>
                <a:cs typeface="微軟正黑體" pitchFamily="34" charset="-120"/>
              </a:rPr>
              <a:t>手機級和工業級 IMU 的差別：偏差穩定度那一行</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22366"/>
          <a:ext cx="8138160" cy="914400"/>
        </p:xfrm>
        <a:graphic>
          <a:graphicData uri="http://schemas.openxmlformats.org/drawingml/2006/table">
            <a:tbl>
              <a:tblPr/>
              <a:tblGrid>
                <a:gridCol w="1920240"/>
                <a:gridCol w="2011680"/>
                <a:gridCol w="2011680"/>
                <a:gridCol w="2194560"/>
              </a:tblGrid>
              <a:tr h="310896">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Dòng trên datasheet</a:t>
                      </a:r>
                      <a:endParaRPr lang="en-US" sz="1200" dirty="0"/>
                    </a:p>
                    <a:p>
                      <a:pPr algn="l" indent="0" marL="0">
                        <a:buNone/>
                      </a:pPr>
                      <a:r>
                        <a:rPr lang="en-US" sz="850" dirty="0">
                          <a:solidFill>
                            <a:srgbClr val="CFE0EC"/>
                          </a:solidFill>
                          <a:latin typeface="微軟正黑體" pitchFamily="34" charset="0"/>
                          <a:ea typeface="微軟正黑體" pitchFamily="34" charset="-122"/>
                          <a:cs typeface="微軟正黑體" pitchFamily="34" charset="-120"/>
                        </a:rPr>
                        <a:t>規格表上那一行</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ICM-20948 (điện thoại)</a:t>
                      </a:r>
                      <a:endParaRPr lang="en-US" sz="1200" dirty="0"/>
                    </a:p>
                    <a:p>
                      <a:pPr algn="l" indent="0" marL="0">
                        <a:buNone/>
                      </a:pPr>
                      <a:r>
                        <a:rPr lang="en-US" sz="850" dirty="0">
                          <a:solidFill>
                            <a:srgbClr val="CFE0EC"/>
                          </a:solidFill>
                          <a:latin typeface="微軟正黑體" pitchFamily="34" charset="0"/>
                          <a:ea typeface="微軟正黑體" pitchFamily="34" charset="-122"/>
                          <a:cs typeface="微軟正黑體" pitchFamily="34" charset="-120"/>
                        </a:rPr>
                        <a:t>ICM-20948（手機級）</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ADIS16470 (công nghiệp)</a:t>
                      </a:r>
                      <a:endParaRPr lang="en-US" sz="1200" dirty="0"/>
                    </a:p>
                    <a:p>
                      <a:pPr algn="l" indent="0" marL="0">
                        <a:buNone/>
                      </a:pPr>
                      <a:r>
                        <a:rPr lang="en-US" sz="850" dirty="0">
                          <a:solidFill>
                            <a:srgbClr val="CFE0EC"/>
                          </a:solidFill>
                          <a:latin typeface="微軟正黑體" pitchFamily="34" charset="0"/>
                          <a:ea typeface="微軟正黑體" pitchFamily="34" charset="-122"/>
                          <a:cs typeface="微軟正黑體" pitchFamily="34" charset="-120"/>
                        </a:rPr>
                        <a:t>ADIS16470（工業級）</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Nghĩa là gì</a:t>
                      </a:r>
                      <a:endParaRPr lang="en-US" sz="1200" dirty="0"/>
                    </a:p>
                    <a:p>
                      <a:pPr algn="l" indent="0" marL="0">
                        <a:buNone/>
                      </a:pPr>
                      <a:r>
                        <a:rPr lang="en-US" sz="850" dirty="0">
                          <a:solidFill>
                            <a:srgbClr val="CFE0EC"/>
                          </a:solidFill>
                          <a:latin typeface="微軟正黑體" pitchFamily="34" charset="0"/>
                          <a:ea typeface="微軟正黑體" pitchFamily="34" charset="-122"/>
                          <a:cs typeface="微軟正黑體" pitchFamily="34" charset="-120"/>
                        </a:rPr>
                        <a:t>這代表什麼</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10896">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Ổn định lệch không</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偏差穩定度</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không in (lớp ước 1800 °/h)</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沒印（本課估 1800 °/h）</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8 °/h</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Khác hơn 200 lần</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差兩百多倍</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Angular random walk</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角度隨機游走</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không in</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沒印</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0.34 °/√h</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Nhiễu tích luỹ theo √t</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雜訊累積，開根號時間</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Dải đo</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量程</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±2000 °/s</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±2000 °/s</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Giống nhau — không phải khác ở đây</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一樣——不是差在這裡</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10896">
                <a:tc>
                  <a:txBody>
                    <a:bodyPr/>
                    <a:lstStyle/>
                    <a:p>
                      <a:pPr algn="l" indent="0" marL="0">
                        <a:buNone/>
                      </a:pPr>
                      <a:r>
                        <a:rPr lang="en-US" sz="1000" b="1" dirty="0">
                          <a:solidFill>
                            <a:srgbClr val="0B1F3A"/>
                          </a:solidFill>
                          <a:latin typeface="Arial" pitchFamily="34" charset="0"/>
                          <a:ea typeface="Arial" pitchFamily="34" charset="-122"/>
                          <a:cs typeface="Arial" pitchFamily="34" charset="-120"/>
                        </a:rPr>
                        <a:t>Giá</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價格</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vài USD</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幾塊美元</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vài trăm USD</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幾百美元</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00" dirty="0">
                          <a:solidFill>
                            <a:srgbClr val="1A2733"/>
                          </a:solidFill>
                          <a:latin typeface="Arial" pitchFamily="34" charset="0"/>
                          <a:ea typeface="Arial" pitchFamily="34" charset="-122"/>
                          <a:cs typeface="Arial" pitchFamily="34" charset="-120"/>
                        </a:rPr>
                        <a:t>Khác 100 lần</a:t>
                      </a:r>
                      <a:endParaRPr lang="en-US" sz="1200" dirty="0"/>
                    </a:p>
                    <a:p>
                      <a:pPr algn="l" indent="0" marL="0">
                        <a:buNone/>
                      </a:pPr>
                      <a:r>
                        <a:rPr lang="en-US" sz="850" dirty="0">
                          <a:solidFill>
                            <a:srgbClr val="5F7183"/>
                          </a:solidFill>
                          <a:latin typeface="微軟正黑體" pitchFamily="34" charset="0"/>
                          <a:ea typeface="微軟正黑體" pitchFamily="34" charset="-122"/>
                          <a:cs typeface="微軟正黑體" pitchFamily="34" charset="-120"/>
                        </a:rPr>
                        <a:t>差一百倍</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3664121"/>
            <a:ext cx="8138160" cy="457200"/>
          </a:xfrm>
          <a:prstGeom prst="rect">
            <a:avLst/>
          </a:prstGeom>
          <a:noFill/>
          <a:ln/>
        </p:spPr>
        <p:txBody>
          <a:bodyPr wrap="square" lIns="0" tIns="0" rIns="0" bIns="0" rtlCol="0" anchor="t"/>
          <a:lstStyle/>
          <a:p>
            <a:pPr indent="0" marL="0">
              <a:lnSpc>
                <a:spcPct val="116000"/>
              </a:lnSpc>
              <a:buNone/>
            </a:pPr>
            <a:r>
              <a:rPr lang="en-US" sz="1200" b="1" dirty="0">
                <a:solidFill>
                  <a:srgbClr val="007F72"/>
                </a:solidFill>
                <a:latin typeface="Arial" pitchFamily="34" charset="0"/>
                <a:ea typeface="Arial" pitchFamily="34" charset="-122"/>
                <a:cs typeface="Arial" pitchFamily="34" charset="-120"/>
              </a:rPr>
              <a:t>Trên nữa còn cấp sợi quang: giữ vài phút, vài chục nghìn USD. Cấp = giữ được bao lâu.</a:t>
            </a:r>
            <a:endParaRPr lang="en-US" sz="1200" dirty="0"/>
          </a:p>
          <a:p>
            <a:pPr indent="0" marL="0">
              <a:lnSpc>
                <a:spcPct val="116000"/>
              </a:lnSpc>
              <a:buNone/>
            </a:pPr>
            <a:r>
              <a:rPr lang="en-US" sz="1100" dirty="0">
                <a:solidFill>
                  <a:srgbClr val="007F72"/>
                </a:solidFill>
                <a:latin typeface="微軟正黑體" pitchFamily="34" charset="0"/>
                <a:ea typeface="微軟正黑體" pitchFamily="34" charset="-122"/>
                <a:cs typeface="微軟正黑體" pitchFamily="34" charset="-120"/>
              </a:rPr>
              <a:t>再上去還有光纖等級：撐幾分鐘、幾萬美元。等級就是撐多久。</a:t>
            </a:r>
            <a:endParaRPr lang="en-US" sz="1200" dirty="0"/>
          </a:p>
        </p:txBody>
      </p:sp>
      <p:sp>
        <p:nvSpPr>
          <p:cNvPr id="5" name="Shape 2"/>
          <p:cNvSpPr/>
          <p:nvPr/>
        </p:nvSpPr>
        <p:spPr>
          <a:xfrm>
            <a:off x="502920" y="4076024"/>
            <a:ext cx="4554379" cy="310896"/>
          </a:xfrm>
          <a:prstGeom prst="roundRect">
            <a:avLst>
              <a:gd name="adj" fmla="val 20588"/>
            </a:avLst>
          </a:prstGeom>
          <a:solidFill>
            <a:srgbClr val="EAF6F4"/>
          </a:solidFill>
          <a:ln w="9525">
            <a:solidFill>
              <a:srgbClr val="9FD6CE"/>
            </a:solidFill>
            <a:prstDash val="solid"/>
          </a:ln>
        </p:spPr>
      </p:sp>
      <p:sp>
        <p:nvSpPr>
          <p:cNvPr id="6" name="Text 3"/>
          <p:cNvSpPr txBox="1"/>
          <p:nvPr/>
        </p:nvSpPr>
        <p:spPr>
          <a:xfrm>
            <a:off x="630936" y="4094312"/>
            <a:ext cx="4371499"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hai chiếc đồng hồ đều có mặt 12 giờ; khác ở chỗ chạy đúng hay không</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兩支錶的錶面都是 12 小時，差在走得準不準</a:t>
            </a:r>
            <a:endParaRPr lang="en-US" sz="950" dirty="0"/>
          </a:p>
        </p:txBody>
      </p:sp>
      <p:pic>
        <p:nvPicPr>
          <p:cNvPr id="8" name="Image 0" descr="/Users/tsengchenghsun/Class/carClass/Claude outputs/第六週(10-15)/src/logo.png">    </p:cNvPr>
          <p:cNvPicPr>
            <a:picLocks noChangeAspect="1"/>
          </p:cNvPicPr>
          <p:nvPr/>
        </p:nvPicPr>
        <p:blipFill>
          <a:blip r:embed="rId1"/>
          <a:stretch>
            <a:fillRect/>
          </a:stretch>
        </p:blipFill>
        <p:spPr>
          <a:xfrm>
            <a:off x="7882128" y="109728"/>
            <a:ext cx="1097280" cy="242439"/>
          </a:xfrm>
          <a:prstGeom prst="rect">
            <a:avLst/>
          </a:prstGeom>
        </p:spPr>
      </p:pic>
      <p:sp>
        <p:nvSpPr>
          <p:cNvPr id="9" name="Text 4"/>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13 / 22</a:t>
            </a:r>
            <a:endParaRPr lang="en-US" sz="900" dirty="0"/>
          </a:p>
        </p:txBody>
      </p:sp>
      <p:sp>
        <p:nvSpPr>
          <p:cNvPr id="10" name="Text 5"/>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Tính thử · 撐多久</a:t>
            </a:r>
            <a:endParaRPr lang="en-US" sz="1250" dirty="0"/>
          </a:p>
        </p:txBody>
      </p:sp>
      <p:sp>
        <p:nvSpPr>
          <p:cNvPr id="3" name="Shape 1"/>
          <p:cNvSpPr/>
          <p:nvPr/>
        </p:nvSpPr>
        <p:spPr>
          <a:xfrm>
            <a:off x="502920" y="1101852"/>
            <a:ext cx="3305556" cy="2514600"/>
          </a:xfrm>
          <a:prstGeom prst="roundRect">
            <a:avLst>
              <a:gd name="adj" fmla="val 4364"/>
            </a:avLst>
          </a:prstGeom>
          <a:solidFill>
            <a:srgbClr val="FFFFFF"/>
          </a:solidFill>
          <a:ln w="12700">
            <a:solidFill>
              <a:srgbClr val="DBE3EA"/>
            </a:solidFill>
            <a:prstDash val="solid"/>
          </a:ln>
        </p:spPr>
      </p:sp>
      <p:pic>
        <p:nvPicPr>
          <p:cNvPr id="4" name="Image 0" descr="/Users/tsengchenghsun/Class/carClass/Claude outputs/第六週(10-15)/src/img/w6_l2_drift.png">    </p:cNvPr>
          <p:cNvPicPr>
            <a:picLocks noChangeAspect="1"/>
          </p:cNvPicPr>
          <p:nvPr/>
        </p:nvPicPr>
        <p:blipFill>
          <a:blip r:embed="rId1"/>
          <a:stretch>
            <a:fillRect/>
          </a:stretch>
        </p:blipFill>
        <p:spPr>
          <a:xfrm>
            <a:off x="576072" y="1214628"/>
            <a:ext cx="3159252" cy="2106168"/>
          </a:xfrm>
          <a:prstGeom prst="rect">
            <a:avLst/>
          </a:prstGeom>
        </p:spPr>
      </p:pic>
      <p:sp>
        <p:nvSpPr>
          <p:cNvPr id="5" name="Text 2"/>
          <p:cNvSpPr txBox="1"/>
          <p:nvPr/>
        </p:nvSpPr>
        <p:spPr>
          <a:xfrm>
            <a:off x="576072" y="3396996"/>
            <a:ext cx="3159252"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示意圖：課程自製（src/tools_make_diagrams.py）</a:t>
            </a:r>
            <a:endParaRPr lang="en-US" sz="700" dirty="0"/>
          </a:p>
        </p:txBody>
      </p:sp>
      <p:sp>
        <p:nvSpPr>
          <p:cNvPr id="6" name="Text 3"/>
          <p:cNvSpPr txBox="1"/>
          <p:nvPr/>
        </p:nvSpPr>
        <p:spPr>
          <a:xfrm>
            <a:off x="4119372" y="914400"/>
            <a:ext cx="4521708" cy="2889504"/>
          </a:xfrm>
          <a:prstGeom prst="rect">
            <a:avLst/>
          </a:prstGeom>
          <a:noFill/>
          <a:ln/>
        </p:spPr>
        <p:txBody>
          <a:bodyPr wrap="square" lIns="0" tIns="0" rIns="0" bIns="0" rtlCol="0" anchor="ctr"/>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IMU giữ được bao lâu: sai số ngang ≈ v × trôi × t² ÷ 2</a:t>
            </a:r>
            <a:endParaRPr lang="en-US" sz="2300" dirty="0"/>
          </a:p>
          <a:p>
            <a:pPr indent="0" marL="0">
              <a:lnSpc>
                <a:spcPct val="120000"/>
              </a:lnSpc>
              <a:buNone/>
            </a:pPr>
            <a:r>
              <a:rPr lang="en-US" sz="1400" b="1" dirty="0">
                <a:solidFill>
                  <a:srgbClr val="007F72"/>
                </a:solidFill>
                <a:latin typeface="微軟正黑體" pitchFamily="34" charset="0"/>
                <a:ea typeface="微軟正黑體" pitchFamily="34" charset="-122"/>
                <a:cs typeface="微軟正黑體" pitchFamily="34" charset="-120"/>
              </a:rPr>
              <a:t>IMU 撐多久：橫向誤差 ≈ 車速 × 偏差 × 時間² ÷ 2</a:t>
            </a:r>
            <a:endParaRPr lang="en-US" sz="2300" dirty="0"/>
          </a:p>
          <a:p>
            <a:pPr indent="0" marL="0">
              <a:lnSpc>
                <a:spcPct val="120000"/>
              </a:lnSpc>
              <a:spcBef>
                <a:spcPts val="1440"/>
              </a:spcBef>
              <a:buNone/>
            </a:pPr>
            <a:r>
              <a:rPr lang="en-US" sz="1250" dirty="0">
                <a:solidFill>
                  <a:srgbClr val="5F7183"/>
                </a:solidFill>
                <a:latin typeface="Arial" pitchFamily="34" charset="0"/>
                <a:ea typeface="Arial" pitchFamily="34" charset="-122"/>
                <a:cs typeface="Arial" pitchFamily="34" charset="-120"/>
              </a:rPr>
              <a:t>80 km/h, cho phép lệch 0,5 m: cấp công nghiệp 8 °/h giữ được 34 s, cấp điện thoại 2 s. Hầm Tuyết Sơn 12,9 km cần 580 s — không cái nào giữ nổi.</a:t>
            </a:r>
            <a:endParaRPr lang="en-US" sz="2300" dirty="0"/>
          </a:p>
          <a:p>
            <a:pPr indent="0" marL="0">
              <a:lnSpc>
                <a:spcPct val="120000"/>
              </a:lnSpc>
              <a:buNone/>
            </a:pPr>
            <a:r>
              <a:rPr lang="en-US" sz="1150" dirty="0">
                <a:solidFill>
                  <a:srgbClr val="5F7183"/>
                </a:solidFill>
                <a:latin typeface="微軟正黑體" pitchFamily="34" charset="0"/>
                <a:ea typeface="微軟正黑體" pitchFamily="34" charset="-122"/>
                <a:cs typeface="微軟正黑體" pitchFamily="34" charset="-120"/>
              </a:rPr>
              <a:t>時速 80、容許 0.5 公尺：8 °/h 的工業級撐 34 秒，手機級撐 2 秒。雪山隧道 12.9 公里要撐 580 秒——沒有一顆撐得住。</a:t>
            </a:r>
            <a:endParaRPr lang="en-US" sz="2300" dirty="0"/>
          </a:p>
        </p:txBody>
      </p:sp>
      <p:sp>
        <p:nvSpPr>
          <p:cNvPr id="7" name="Shape 4"/>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8" name="Text 5"/>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IMU bù lỗ vài giây đến vài chục giây, không phải để qua hầm. Qua hầm nhờ thứ khác (chương 5).</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IMU 補幾秒到幾十秒的洞，不是用來過隧道。過隧道要靠別的（第五章）。</a:t>
            </a:r>
            <a:endParaRPr lang="en-US" sz="1250" dirty="0"/>
          </a:p>
        </p:txBody>
      </p:sp>
      <p:sp>
        <p:nvSpPr>
          <p:cNvPr id="9" name="Shape 6"/>
          <p:cNvSpPr/>
          <p:nvPr/>
        </p:nvSpPr>
        <p:spPr>
          <a:xfrm>
            <a:off x="4486173" y="365760"/>
            <a:ext cx="4154907" cy="310896"/>
          </a:xfrm>
          <a:prstGeom prst="roundRect">
            <a:avLst>
              <a:gd name="adj" fmla="val 20588"/>
            </a:avLst>
          </a:prstGeom>
          <a:solidFill>
            <a:srgbClr val="EAF6F4"/>
          </a:solidFill>
          <a:ln w="9525">
            <a:solidFill>
              <a:srgbClr val="9FD6CE"/>
            </a:solidFill>
            <a:prstDash val="solid"/>
          </a:ln>
        </p:spPr>
      </p:sp>
      <p:sp>
        <p:nvSpPr>
          <p:cNvPr id="10" name="Text 7"/>
          <p:cNvSpPr txBox="1"/>
          <p:nvPr/>
        </p:nvSpPr>
        <p:spPr>
          <a:xfrm>
            <a:off x="4614189" y="384048"/>
            <a:ext cx="3972027"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nhắm mắt đi thẳng: vài bước đầu không sao, càng đi càng lệch</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閉著眼睛走直線：前幾步沒事，越走越偏</a:t>
            </a:r>
            <a:endParaRPr lang="en-US" sz="950" dirty="0"/>
          </a:p>
        </p:txBody>
      </p:sp>
      <p:pic>
        <p:nvPicPr>
          <p:cNvPr id="12" name="Image 1" descr="/Users/tsengchenghsun/Class/carClass/Claude outputs/第六週(10-15)/src/logo.png">    </p:cNvPr>
          <p:cNvPicPr>
            <a:picLocks noChangeAspect="1"/>
          </p:cNvPicPr>
          <p:nvPr/>
        </p:nvPicPr>
        <p:blipFill>
          <a:blip r:embed="rId2"/>
          <a:stretch>
            <a:fillRect/>
          </a:stretch>
        </p:blipFill>
        <p:spPr>
          <a:xfrm>
            <a:off x="7882128" y="109728"/>
            <a:ext cx="1097280" cy="242439"/>
          </a:xfrm>
          <a:prstGeom prst="rect">
            <a:avLst/>
          </a:prstGeom>
        </p:spPr>
      </p:pic>
      <p:sp>
        <p:nvSpPr>
          <p:cNvPr id="13" name="Text 8"/>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14 / 22</a:t>
            </a:r>
            <a:endParaRPr lang="en-US" sz="900" dirty="0"/>
          </a:p>
        </p:txBody>
      </p:sp>
      <p:sp>
        <p:nvSpPr>
          <p:cNvPr id="14" name="Text 9"/>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Nhìn lại · OS1 裡面的 IMU</a:t>
            </a:r>
            <a:endParaRPr lang="en-US" sz="1250" dirty="0"/>
          </a:p>
        </p:txBody>
      </p:sp>
      <p:sp>
        <p:nvSpPr>
          <p:cNvPr id="3" name="Text 1"/>
          <p:cNvSpPr txBox="1"/>
          <p:nvPr/>
        </p:nvSpPr>
        <p:spPr>
          <a:xfrm>
            <a:off x="502920" y="914400"/>
            <a:ext cx="8138160" cy="1572768"/>
          </a:xfrm>
          <a:prstGeom prst="rect">
            <a:avLst/>
          </a:prstGeom>
          <a:noFill/>
          <a:ln/>
        </p:spPr>
        <p:txBody>
          <a:bodyPr wrap="square" lIns="0" tIns="0" rIns="0" bIns="0" rtlCol="0" anchor="ctr"/>
          <a:lstStyle/>
          <a:p>
            <a:pPr indent="0" marL="0">
              <a:lnSpc>
                <a:spcPct val="120000"/>
              </a:lnSpc>
              <a:buNone/>
            </a:pPr>
            <a:r>
              <a:rPr lang="en-US" sz="1900" b="1" dirty="0">
                <a:solidFill>
                  <a:srgbClr val="0B1F3A"/>
                </a:solidFill>
                <a:latin typeface="Arial" pitchFamily="34" charset="0"/>
                <a:ea typeface="Arial" pitchFamily="34" charset="-122"/>
                <a:cs typeface="Arial" pitchFamily="34" charset="-120"/>
              </a:rPr>
              <a:t>Trong OS1 có sẵn một IMU: 640 mẫu mỗi giây</a:t>
            </a:r>
            <a:endParaRPr lang="en-US" sz="1900" dirty="0"/>
          </a:p>
          <a:p>
            <a:pPr indent="0" marL="0">
              <a:lnSpc>
                <a:spcPct val="120000"/>
              </a:lnSpc>
              <a:buNone/>
            </a:pPr>
            <a:r>
              <a:rPr lang="en-US" sz="1200" b="1" dirty="0">
                <a:solidFill>
                  <a:srgbClr val="007F72"/>
                </a:solidFill>
                <a:latin typeface="微軟正黑體" pitchFamily="34" charset="0"/>
                <a:ea typeface="微軟正黑體" pitchFamily="34" charset="-122"/>
                <a:cs typeface="微軟正黑體" pitchFamily="34" charset="-120"/>
              </a:rPr>
              <a:t>OS1 裡面就有一顆 IMU：每秒 640 筆</a:t>
            </a:r>
            <a:endParaRPr lang="en-US" sz="1900" dirty="0"/>
          </a:p>
          <a:p>
            <a:pPr indent="0" marL="0">
              <a:lnSpc>
                <a:spcPct val="120000"/>
              </a:lnSpc>
              <a:spcBef>
                <a:spcPts val="1440"/>
              </a:spcBef>
              <a:buNone/>
            </a:pPr>
            <a:r>
              <a:rPr lang="en-US" sz="1250" dirty="0">
                <a:solidFill>
                  <a:srgbClr val="5F7183"/>
                </a:solidFill>
                <a:latin typeface="Arial" pitchFamily="34" charset="0"/>
                <a:ea typeface="Arial" pitchFamily="34" charset="-122"/>
                <a:cs typeface="Arial" pitchFamily="34" charset="-120"/>
              </a:rPr>
              <a:t>Lidar quay một vòng mất 100 ms, trong 100 ms đó xe đi 1,1 m, point cloud bị kéo méo. IMU trong máy là để «kéo thẳng» vòng đó. Datasheet còn ghi rõ: TDK IAM-20680HT.</a:t>
            </a:r>
            <a:endParaRPr lang="en-US" sz="1900" dirty="0"/>
          </a:p>
          <a:p>
            <a:pPr indent="0" marL="0">
              <a:lnSpc>
                <a:spcPct val="120000"/>
              </a:lnSpc>
              <a:buNone/>
            </a:pPr>
            <a:r>
              <a:rPr lang="en-US" sz="1150" dirty="0">
                <a:solidFill>
                  <a:srgbClr val="5F7183"/>
                </a:solidFill>
                <a:latin typeface="微軟正黑體" pitchFamily="34" charset="0"/>
                <a:ea typeface="微軟正黑體" pitchFamily="34" charset="-122"/>
                <a:cs typeface="微軟正黑體" pitchFamily="34" charset="-120"/>
              </a:rPr>
              <a:t>光達轉一圈要 100 毫秒，車子在這 100 毫秒裡走了 1.1 公尺，點雲會被拉歪。機內的 IMU 就是用來把這一圈的點「拉直」的。規格書還指名是 TDK 的 IAM-20680HT。</a:t>
            </a:r>
            <a:endParaRPr lang="en-US" sz="1900" dirty="0"/>
          </a:p>
        </p:txBody>
      </p:sp>
      <p:sp>
        <p:nvSpPr>
          <p:cNvPr id="4" name="Shape 2"/>
          <p:cNvSpPr/>
          <p:nvPr/>
        </p:nvSpPr>
        <p:spPr>
          <a:xfrm>
            <a:off x="502920" y="2615184"/>
            <a:ext cx="8138160" cy="1261872"/>
          </a:xfrm>
          <a:prstGeom prst="roundRect">
            <a:avLst>
              <a:gd name="adj" fmla="val 6522"/>
            </a:avLst>
          </a:prstGeom>
          <a:solidFill>
            <a:srgbClr val="FFFFFF"/>
          </a:solidFill>
          <a:ln w="12700">
            <a:solidFill>
              <a:srgbClr val="DBE3EA"/>
            </a:solidFill>
            <a:prstDash val="solid"/>
          </a:ln>
        </p:spPr>
      </p:sp>
      <p:pic>
        <p:nvPicPr>
          <p:cNvPr id="5" name="Image 0" descr="/Users/tsengchenghsun/Class/carClass/Claude outputs/第六週(10-15)/src/img/w6_os1_imu.png">    </p:cNvPr>
          <p:cNvPicPr>
            <a:picLocks noChangeAspect="1"/>
          </p:cNvPicPr>
          <p:nvPr/>
        </p:nvPicPr>
        <p:blipFill>
          <a:blip r:embed="rId1"/>
          <a:stretch>
            <a:fillRect/>
          </a:stretch>
        </p:blipFill>
        <p:spPr>
          <a:xfrm>
            <a:off x="2591222" y="2706624"/>
            <a:ext cx="3961556" cy="914400"/>
          </a:xfrm>
          <a:prstGeom prst="rect">
            <a:avLst/>
          </a:prstGeom>
        </p:spPr>
      </p:pic>
      <p:sp>
        <p:nvSpPr>
          <p:cNvPr id="6" name="Text 3"/>
          <p:cNvSpPr txBox="1"/>
          <p:nvPr/>
        </p:nvSpPr>
        <p:spPr>
          <a:xfrm>
            <a:off x="576072" y="3657600"/>
            <a:ext cx="799185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Ouster OS1 datasheet, Rev7 / FW 3.2, p.3 · 節錄 · 讀取 2026/10/08</a:t>
            </a:r>
            <a:endParaRPr lang="en-US" sz="700" dirty="0"/>
          </a:p>
        </p:txBody>
      </p:sp>
      <p:sp>
        <p:nvSpPr>
          <p:cNvPr id="7" name="Shape 4"/>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8" name="Text 5"/>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«IMU pose correction matrix» tuần trước chính là tham số ngoài giữa nó và thân lidar.</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上週第二節講的「IMU pose correction matrix」就是它和光達本體的外參。</a:t>
            </a:r>
            <a:endParaRPr lang="en-US" sz="1250" dirty="0"/>
          </a:p>
        </p:txBody>
      </p:sp>
      <p:sp>
        <p:nvSpPr>
          <p:cNvPr id="9" name="Shape 6"/>
          <p:cNvSpPr/>
          <p:nvPr/>
        </p:nvSpPr>
        <p:spPr>
          <a:xfrm>
            <a:off x="5285118" y="365760"/>
            <a:ext cx="3355962" cy="310896"/>
          </a:xfrm>
          <a:prstGeom prst="roundRect">
            <a:avLst>
              <a:gd name="adj" fmla="val 20588"/>
            </a:avLst>
          </a:prstGeom>
          <a:solidFill>
            <a:srgbClr val="EAF6F4"/>
          </a:solidFill>
          <a:ln w="9525">
            <a:solidFill>
              <a:srgbClr val="9FD6CE"/>
            </a:solidFill>
            <a:prstDash val="solid"/>
          </a:ln>
        </p:spPr>
      </p:sp>
      <p:sp>
        <p:nvSpPr>
          <p:cNvPr id="10" name="Text 7"/>
          <p:cNvSpPr txBox="1"/>
          <p:nvPr/>
        </p:nvSpPr>
        <p:spPr>
          <a:xfrm>
            <a:off x="5413134" y="384048"/>
            <a:ext cx="3173082" cy="274320"/>
          </a:xfrm>
          <a:prstGeom prst="rect">
            <a:avLst/>
          </a:prstGeom>
          <a:noFill/>
          <a:ln/>
        </p:spPr>
        <p:txBody>
          <a:bodyPr wrap="square" lIns="0" tIns="0" rIns="0" bIns="0" rtlCol="0" anchor="ctr"/>
          <a:lstStyle/>
          <a:p>
            <a:pPr indent="0" marL="0">
              <a:lnSpc>
                <a:spcPct val="100000"/>
              </a:lnSpc>
              <a:buNone/>
            </a:pPr>
            <a:r>
              <a:rPr lang="en-US" sz="950" b="1" dirty="0">
                <a:solidFill>
                  <a:srgbClr val="007F72"/>
                </a:solidFill>
                <a:latin typeface="Arial" pitchFamily="34" charset="0"/>
                <a:ea typeface="Arial" pitchFamily="34" charset="-122"/>
                <a:cs typeface="Arial" pitchFamily="34" charset="-120"/>
              </a:rPr>
              <a:t>Ví dụ · </a:t>
            </a:r>
            <a:pPr indent="0" marL="0">
              <a:lnSpc>
                <a:spcPct val="100000"/>
              </a:lnSpc>
              <a:buNone/>
            </a:pPr>
            <a:r>
              <a:rPr lang="en-US" sz="950" dirty="0">
                <a:solidFill>
                  <a:srgbClr val="1A2733"/>
                </a:solidFill>
                <a:latin typeface="Arial" pitchFamily="34" charset="0"/>
                <a:ea typeface="Arial" pitchFamily="34" charset="-122"/>
                <a:cs typeface="Arial" pitchFamily="34" charset="-120"/>
              </a:rPr>
              <a:t>vừa đi vừa chụp ảnh toàn cảnh, ảnh ghép bị méo</a:t>
            </a:r>
            <a:endParaRPr lang="en-US" sz="950" dirty="0"/>
          </a:p>
          <a:p>
            <a:pPr indent="0" marL="0">
              <a:lnSpc>
                <a:spcPct val="100000"/>
              </a:lnSpc>
              <a:buNone/>
            </a:pPr>
            <a:r>
              <a:rPr lang="en-US" sz="900" b="1" dirty="0">
                <a:solidFill>
                  <a:srgbClr val="007F72"/>
                </a:solidFill>
                <a:latin typeface="微軟正黑體" pitchFamily="34" charset="0"/>
                <a:ea typeface="微軟正黑體" pitchFamily="34" charset="-122"/>
                <a:cs typeface="微軟正黑體" pitchFamily="34" charset="-120"/>
              </a:rPr>
              <a:t>例子・</a:t>
            </a:r>
            <a:pPr indent="0" marL="0">
              <a:lnSpc>
                <a:spcPct val="100000"/>
              </a:lnSpc>
              <a:buNone/>
            </a:pPr>
            <a:r>
              <a:rPr lang="en-US" sz="900" dirty="0">
                <a:solidFill>
                  <a:srgbClr val="5F7183"/>
                </a:solidFill>
                <a:latin typeface="微軟正黑體" pitchFamily="34" charset="0"/>
                <a:ea typeface="微軟正黑體" pitchFamily="34" charset="-122"/>
                <a:cs typeface="微軟正黑體" pitchFamily="34" charset="-120"/>
              </a:rPr>
              <a:t>邊走邊拍全景照，接起來的照片會歪</a:t>
            </a:r>
            <a:endParaRPr lang="en-US" sz="950" dirty="0"/>
          </a:p>
        </p:txBody>
      </p:sp>
      <p:pic>
        <p:nvPicPr>
          <p:cNvPr id="12" name="Image 1" descr="/Users/tsengchenghsun/Class/carClass/Claude outputs/第六週(10-15)/src/logo.png">    </p:cNvPr>
          <p:cNvPicPr>
            <a:picLocks noChangeAspect="1"/>
          </p:cNvPicPr>
          <p:nvPr/>
        </p:nvPicPr>
        <p:blipFill>
          <a:blip r:embed="rId2"/>
          <a:stretch>
            <a:fillRect/>
          </a:stretch>
        </p:blipFill>
        <p:spPr>
          <a:xfrm>
            <a:off x="7882128" y="109728"/>
            <a:ext cx="1097280" cy="242439"/>
          </a:xfrm>
          <a:prstGeom prst="rect">
            <a:avLst/>
          </a:prstGeom>
        </p:spPr>
      </p:pic>
      <p:sp>
        <p:nvSpPr>
          <p:cNvPr id="13" name="Text 8"/>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15 / 22</a:t>
            </a:r>
            <a:endParaRPr lang="en-US" sz="900" dirty="0"/>
          </a:p>
        </p:txBody>
      </p:sp>
      <p:sp>
        <p:nvSpPr>
          <p:cNvPr id="14" name="Text 9"/>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475488"/>
            <a:ext cx="676656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Thử nhanh · 小練習（4 分鐘動手）</a:t>
            </a:r>
            <a:endParaRPr lang="en-US" sz="1250" dirty="0"/>
          </a:p>
        </p:txBody>
      </p:sp>
      <p:sp>
        <p:nvSpPr>
          <p:cNvPr id="5" name="Text 3"/>
          <p:cNvSpPr txBox="1"/>
          <p:nvPr/>
        </p:nvSpPr>
        <p:spPr>
          <a:xfrm>
            <a:off x="502920" y="786384"/>
            <a:ext cx="8046720" cy="1225296"/>
          </a:xfrm>
          <a:prstGeom prst="rect">
            <a:avLst/>
          </a:prstGeom>
          <a:noFill/>
          <a:ln/>
        </p:spPr>
        <p:txBody>
          <a:bodyPr wrap="square" lIns="0" tIns="0" rIns="0" bIns="0" rtlCol="0" anchor="t"/>
          <a:lstStyle/>
          <a:p>
            <a:pPr indent="0" marL="0">
              <a:lnSpc>
                <a:spcPct val="120000"/>
              </a:lnSpc>
              <a:buNone/>
            </a:pPr>
            <a:r>
              <a:rPr lang="en-US" sz="2300" b="1" dirty="0">
                <a:solidFill>
                  <a:srgbClr val="FFFFFF"/>
                </a:solidFill>
                <a:latin typeface="Arial" pitchFamily="34" charset="0"/>
                <a:ea typeface="Arial" pitchFamily="34" charset="-122"/>
                <a:cs typeface="Arial" pitchFamily="34" charset="-120"/>
              </a:rPr>
              <a:t>Mở công cụ nhỏ số ③: kéo độ trôi từ 8 lên 1800, rồi kéo tốc độ từ 80 xuống 5.</a:t>
            </a:r>
            <a:endParaRPr lang="en-US" sz="2300" dirty="0"/>
          </a:p>
          <a:p>
            <a:pPr indent="0" marL="0">
              <a:lnSpc>
                <a:spcPct val="120000"/>
              </a:lnSpc>
              <a:buNone/>
            </a:pPr>
            <a:r>
              <a:rPr lang="en-US" sz="1500" dirty="0">
                <a:solidFill>
                  <a:srgbClr val="AFC3D4"/>
                </a:solidFill>
                <a:latin typeface="微軟正黑體" pitchFamily="34" charset="0"/>
                <a:ea typeface="微軟正黑體" pitchFamily="34" charset="-122"/>
                <a:cs typeface="微軟正黑體" pitchFamily="34" charset="-120"/>
              </a:rPr>
              <a:t>打開判讀台第③個小工具：把偏差從 8 拉到 1800，再把車速從 80 拉到 5。</a:t>
            </a:r>
            <a:endParaRPr lang="en-US" sz="2300" dirty="0"/>
          </a:p>
        </p:txBody>
      </p:sp>
      <p:sp>
        <p:nvSpPr>
          <p:cNvPr id="6" name="Shape 4"/>
          <p:cNvSpPr/>
          <p:nvPr/>
        </p:nvSpPr>
        <p:spPr>
          <a:xfrm>
            <a:off x="502920" y="1880384"/>
            <a:ext cx="8138160" cy="621792"/>
          </a:xfrm>
          <a:prstGeom prst="roundRect">
            <a:avLst>
              <a:gd name="adj" fmla="val 11765"/>
            </a:avLst>
          </a:prstGeom>
          <a:solidFill>
            <a:srgbClr val="13314F"/>
          </a:solidFill>
          <a:ln/>
        </p:spPr>
      </p:sp>
      <p:sp>
        <p:nvSpPr>
          <p:cNvPr id="7" name="Shape 5"/>
          <p:cNvSpPr/>
          <p:nvPr/>
        </p:nvSpPr>
        <p:spPr>
          <a:xfrm>
            <a:off x="667512" y="2026688"/>
            <a:ext cx="329184" cy="329184"/>
          </a:xfrm>
          <a:prstGeom prst="ellipse">
            <a:avLst/>
          </a:prstGeom>
          <a:solidFill>
            <a:srgbClr val="00A896"/>
          </a:solidFill>
          <a:ln/>
        </p:spPr>
      </p:sp>
      <p:sp>
        <p:nvSpPr>
          <p:cNvPr id="8" name="Text 6"/>
          <p:cNvSpPr txBox="1"/>
          <p:nvPr/>
        </p:nvSpPr>
        <p:spPr>
          <a:xfrm>
            <a:off x="667512" y="2054120"/>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161288" y="1926104"/>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«Giữ được bao lâu» từ 34 s thành mấy giây?</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「撐多久」從 34 秒變幾秒？</a:t>
            </a:r>
            <a:endParaRPr lang="en-US" sz="1250" dirty="0"/>
          </a:p>
        </p:txBody>
      </p:sp>
      <p:sp>
        <p:nvSpPr>
          <p:cNvPr id="10" name="Shape 8"/>
          <p:cNvSpPr/>
          <p:nvPr/>
        </p:nvSpPr>
        <p:spPr>
          <a:xfrm>
            <a:off x="502920" y="2593616"/>
            <a:ext cx="8138160" cy="621792"/>
          </a:xfrm>
          <a:prstGeom prst="roundRect">
            <a:avLst>
              <a:gd name="adj" fmla="val 11765"/>
            </a:avLst>
          </a:prstGeom>
          <a:solidFill>
            <a:srgbClr val="13314F"/>
          </a:solidFill>
          <a:ln/>
        </p:spPr>
      </p:sp>
      <p:sp>
        <p:nvSpPr>
          <p:cNvPr id="11" name="Shape 9"/>
          <p:cNvSpPr/>
          <p:nvPr/>
        </p:nvSpPr>
        <p:spPr>
          <a:xfrm>
            <a:off x="667512" y="2739920"/>
            <a:ext cx="329184" cy="329184"/>
          </a:xfrm>
          <a:prstGeom prst="ellipse">
            <a:avLst/>
          </a:prstGeom>
          <a:solidFill>
            <a:srgbClr val="00A896"/>
          </a:solidFill>
          <a:ln/>
        </p:spPr>
      </p:sp>
      <p:sp>
        <p:nvSpPr>
          <p:cNvPr id="12" name="Text 10"/>
          <p:cNvSpPr txBox="1"/>
          <p:nvPr/>
        </p:nvSpPr>
        <p:spPr>
          <a:xfrm>
            <a:off x="667512" y="2767352"/>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161288" y="2639336"/>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Bãi đỗ xe 5 km/h: cấp điện thoại có giữ nổi 60 s không?</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時速 5 的停車場，手機級撐得過 60 秒嗎？</a:t>
            </a:r>
            <a:endParaRPr lang="en-US" sz="1250" dirty="0"/>
          </a:p>
        </p:txBody>
      </p:sp>
      <p:sp>
        <p:nvSpPr>
          <p:cNvPr id="14" name="Shape 12"/>
          <p:cNvSpPr/>
          <p:nvPr/>
        </p:nvSpPr>
        <p:spPr>
          <a:xfrm>
            <a:off x="502920" y="3306848"/>
            <a:ext cx="8138160" cy="621792"/>
          </a:xfrm>
          <a:prstGeom prst="roundRect">
            <a:avLst>
              <a:gd name="adj" fmla="val 11765"/>
            </a:avLst>
          </a:prstGeom>
          <a:solidFill>
            <a:srgbClr val="13314F"/>
          </a:solidFill>
          <a:ln/>
        </p:spPr>
      </p:sp>
      <p:sp>
        <p:nvSpPr>
          <p:cNvPr id="15" name="Shape 13"/>
          <p:cNvSpPr/>
          <p:nvPr/>
        </p:nvSpPr>
        <p:spPr>
          <a:xfrm>
            <a:off x="667512" y="3453152"/>
            <a:ext cx="329184" cy="329184"/>
          </a:xfrm>
          <a:prstGeom prst="ellipse">
            <a:avLst/>
          </a:prstGeom>
          <a:solidFill>
            <a:srgbClr val="00A896"/>
          </a:solidFill>
          <a:ln/>
        </p:spPr>
      </p:sp>
      <p:sp>
        <p:nvSpPr>
          <p:cNvPr id="16" name="Text 14"/>
          <p:cNvSpPr txBox="1"/>
          <p:nvPr/>
        </p:nvSpPr>
        <p:spPr>
          <a:xfrm>
            <a:off x="667512" y="3480584"/>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161288" y="3352568"/>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Tình huống nào ngay cả 8 °/h cũng không giữ nổi?</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哪一個情境連 8 °/h 都撐不住？</a:t>
            </a:r>
            <a:endParaRPr lang="en-US" sz="1250" dirty="0"/>
          </a:p>
        </p:txBody>
      </p:sp>
      <p:sp>
        <p:nvSpPr>
          <p:cNvPr id="18" name="Text 16"/>
          <p:cNvSpPr txBox="1"/>
          <p:nvPr/>
        </p:nvSpPr>
        <p:spPr>
          <a:xfrm>
            <a:off x="502920" y="4056656"/>
            <a:ext cx="8046720" cy="457200"/>
          </a:xfrm>
          <a:prstGeom prst="rect">
            <a:avLst/>
          </a:prstGeom>
          <a:noFill/>
          <a:ln/>
        </p:spPr>
        <p:txBody>
          <a:bodyPr wrap="square" lIns="0" tIns="0" rIns="0" bIns="0" rtlCol="0" anchor="t"/>
          <a:lstStyle/>
          <a:p>
            <a:pPr indent="0" marL="0">
              <a:lnSpc>
                <a:spcPct val="116000"/>
              </a:lnSpc>
              <a:buNone/>
            </a:pPr>
            <a:r>
              <a:rPr lang="en-US" sz="1250" b="1" dirty="0">
                <a:solidFill>
                  <a:srgbClr val="FFB020"/>
                </a:solidFill>
                <a:latin typeface="Arial" pitchFamily="34" charset="0"/>
                <a:ea typeface="Arial" pitchFamily="34" charset="-122"/>
                <a:cs typeface="Arial" pitchFamily="34" charset="-120"/>
              </a:rPr>
              <a:t>Đáp án nằm trong câu 4 bài tập tiết sau; giờ chỉ cần cảm nhận đường cong đó.</a:t>
            </a:r>
            <a:endParaRPr lang="en-US" sz="1250" dirty="0"/>
          </a:p>
          <a:p>
            <a:pPr indent="0" marL="0">
              <a:lnSpc>
                <a:spcPct val="116000"/>
              </a:lnSpc>
              <a:buNone/>
            </a:pPr>
            <a:r>
              <a:rPr lang="en-US" sz="1150" dirty="0">
                <a:solidFill>
                  <a:srgbClr val="FFB020"/>
                </a:solidFill>
                <a:latin typeface="微軟正黑體" pitchFamily="34" charset="0"/>
                <a:ea typeface="微軟正黑體" pitchFamily="34" charset="-122"/>
                <a:cs typeface="微軟正黑體" pitchFamily="34" charset="-120"/>
              </a:rPr>
              <a:t>答案在下一節的作業第四題；現在先感覺一下那條曲線。</a:t>
            </a:r>
            <a:endParaRPr lang="en-US" sz="1250" dirty="0"/>
          </a:p>
        </p:txBody>
      </p:sp>
      <p:sp>
        <p:nvSpPr>
          <p:cNvPr id="20" name="Text 1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16 / 22</a:t>
            </a:r>
            <a:endParaRPr lang="en-US" sz="900" dirty="0"/>
          </a:p>
        </p:txBody>
      </p:sp>
      <p:sp>
        <p:nvSpPr>
          <p:cNvPr id="21" name="Text 1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475488"/>
            <a:ext cx="676656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Tiết 2 · 第二節小結</a:t>
            </a:r>
            <a:endParaRPr lang="en-US" sz="1250" dirty="0"/>
          </a:p>
        </p:txBody>
      </p:sp>
      <p:sp>
        <p:nvSpPr>
          <p:cNvPr id="5" name="Text 3"/>
          <p:cNvSpPr txBox="1"/>
          <p:nvPr/>
        </p:nvSpPr>
        <p:spPr>
          <a:xfrm>
            <a:off x="502920" y="822960"/>
            <a:ext cx="8046720" cy="1060704"/>
          </a:xfrm>
          <a:prstGeom prst="rect">
            <a:avLst/>
          </a:prstGeom>
          <a:noFill/>
          <a:ln/>
        </p:spPr>
        <p:txBody>
          <a:bodyPr wrap="square" lIns="0" tIns="0" rIns="0" bIns="0" rtlCol="0" anchor="t"/>
          <a:lstStyle/>
          <a:p>
            <a:pPr indent="0" marL="0">
              <a:lnSpc>
                <a:spcPct val="120000"/>
              </a:lnSpc>
              <a:buNone/>
            </a:pPr>
            <a:r>
              <a:rPr lang="en-US" sz="2500" b="1" dirty="0">
                <a:solidFill>
                  <a:srgbClr val="FFFFFF"/>
                </a:solidFill>
                <a:latin typeface="Arial" pitchFamily="34" charset="0"/>
                <a:ea typeface="Arial" pitchFamily="34" charset="-122"/>
                <a:cs typeface="Arial" pitchFamily="34" charset="-120"/>
              </a:rPr>
              <a:t>Ba câu của tiết 2</a:t>
            </a:r>
            <a:endParaRPr lang="en-US" sz="2500" dirty="0"/>
          </a:p>
          <a:p>
            <a:pPr indent="0" marL="0">
              <a:lnSpc>
                <a:spcPct val="120000"/>
              </a:lnSpc>
              <a:buNone/>
            </a:pPr>
            <a:r>
              <a:rPr lang="en-US" sz="1500" dirty="0">
                <a:solidFill>
                  <a:srgbClr val="AFC3D4"/>
                </a:solidFill>
                <a:latin typeface="微軟正黑體" pitchFamily="34" charset="0"/>
                <a:ea typeface="微軟正黑體" pitchFamily="34" charset="-122"/>
                <a:cs typeface="微軟正黑體" pitchFamily="34" charset="-120"/>
              </a:rPr>
              <a:t>第二節的三句話</a:t>
            </a:r>
            <a:endParaRPr lang="en-US" sz="2500" dirty="0"/>
          </a:p>
        </p:txBody>
      </p:sp>
      <p:sp>
        <p:nvSpPr>
          <p:cNvPr id="6" name="Shape 4"/>
          <p:cNvSpPr/>
          <p:nvPr/>
        </p:nvSpPr>
        <p:spPr>
          <a:xfrm>
            <a:off x="502920" y="1773936"/>
            <a:ext cx="45720" cy="672713"/>
          </a:xfrm>
          <a:prstGeom prst="rect">
            <a:avLst/>
          </a:prstGeom>
          <a:solidFill>
            <a:srgbClr val="00A896"/>
          </a:solidFill>
          <a:ln/>
        </p:spPr>
      </p:sp>
      <p:sp>
        <p:nvSpPr>
          <p:cNvPr id="7" name="Text 5"/>
          <p:cNvSpPr txBox="1"/>
          <p:nvPr/>
        </p:nvSpPr>
        <p:spPr>
          <a:xfrm>
            <a:off x="722376" y="1737360"/>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Siêu âm: 5,5 m, trên 20 km/h là vô dụng, nhưng ở bãi đỗ xe nó là vua — rẻ nhất và duy nhất thấy được 20 cm trước cản.</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超音波：5.5 公尺、時速 20 以上沒用，但停車場它是王——最便宜、唯一看得到保險桿前 20 公分。</a:t>
            </a:r>
            <a:endParaRPr lang="en-US" sz="1350" dirty="0"/>
          </a:p>
        </p:txBody>
      </p:sp>
      <p:sp>
        <p:nvSpPr>
          <p:cNvPr id="8" name="Shape 6"/>
          <p:cNvSpPr/>
          <p:nvPr/>
        </p:nvSpPr>
        <p:spPr>
          <a:xfrm>
            <a:off x="502920" y="2647817"/>
            <a:ext cx="45720" cy="672713"/>
          </a:xfrm>
          <a:prstGeom prst="rect">
            <a:avLst/>
          </a:prstGeom>
          <a:solidFill>
            <a:srgbClr val="FFB020"/>
          </a:solidFill>
          <a:ln/>
        </p:spPr>
      </p:sp>
      <p:sp>
        <p:nvSpPr>
          <p:cNvPr id="9" name="Text 7"/>
          <p:cNvSpPr txBox="1"/>
          <p:nvPr/>
        </p:nvSpPr>
        <p:spPr>
          <a:xfrm>
            <a:off x="722376" y="2611241"/>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GNSS: 2,5 m là xác suất (CEP 50%); RTK 1 cm phải có người gửi hiệu chỉnh; nhà cao thì lệch, trong hầm thì mất.</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GNSS：2.5 m 是機率（CEP 50%）；RTK 1 公分要有人送修正；高樓會偏，隧道會斷。</a:t>
            </a:r>
            <a:endParaRPr lang="en-US" sz="1350" dirty="0"/>
          </a:p>
        </p:txBody>
      </p:sp>
      <p:sp>
        <p:nvSpPr>
          <p:cNvPr id="10" name="Shape 8"/>
          <p:cNvSpPr/>
          <p:nvPr/>
        </p:nvSpPr>
        <p:spPr>
          <a:xfrm>
            <a:off x="502920" y="3521698"/>
            <a:ext cx="45720" cy="672713"/>
          </a:xfrm>
          <a:prstGeom prst="rect">
            <a:avLst/>
          </a:prstGeom>
          <a:solidFill>
            <a:srgbClr val="00A896"/>
          </a:solidFill>
          <a:ln/>
        </p:spPr>
      </p:sp>
      <p:sp>
        <p:nvSpPr>
          <p:cNvPr id="11" name="Text 9"/>
          <p:cNvSpPr txBox="1"/>
          <p:nvPr/>
        </p:nvSpPr>
        <p:spPr>
          <a:xfrm>
            <a:off x="722376" y="3485122"/>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IMU: không cần bên ngoài nên trôi; cấp = giữ được bao lâu (8 °/h: 34 s ở 80 km/h). Nó bù lỗ vài giây, không đi qua hầm.</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IMU：不靠外界所以會飄；等級就是撐多久（8 °/h 在時速 80 撐 34 秒）。它補幾秒的洞，不過隧道。</a:t>
            </a:r>
            <a:endParaRPr lang="en-US" sz="1350" dirty="0"/>
          </a:p>
        </p:txBody>
      </p:sp>
      <p:sp>
        <p:nvSpPr>
          <p:cNvPr id="13" name="Text 10"/>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17 / 22</a:t>
            </a:r>
            <a:endParaRPr lang="en-US" sz="900" dirty="0"/>
          </a:p>
        </p:txBody>
      </p:sp>
      <p:sp>
        <p:nvSpPr>
          <p:cNvPr id="14" name="Text 11"/>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Phụ lục · 附錄（不計時）</a:t>
            </a:r>
            <a:endParaRPr lang="en-US" sz="1250" dirty="0"/>
          </a:p>
        </p:txBody>
      </p:sp>
      <p:sp>
        <p:nvSpPr>
          <p:cNvPr id="3" name="Text 1"/>
          <p:cNvSpPr txBox="1"/>
          <p:nvPr/>
        </p:nvSpPr>
        <p:spPr>
          <a:xfrm>
            <a:off x="502920" y="731520"/>
            <a:ext cx="8138160" cy="585216"/>
          </a:xfrm>
          <a:prstGeom prst="rect">
            <a:avLst/>
          </a:prstGeom>
          <a:noFill/>
          <a:ln/>
        </p:spPr>
        <p:txBody>
          <a:bodyPr wrap="square" lIns="0" tIns="0" rIns="0" bIns="0" rtlCol="0" anchor="t"/>
          <a:lstStyle/>
          <a:p>
            <a:pPr indent="0" marL="0">
              <a:lnSpc>
                <a:spcPct val="120000"/>
              </a:lnSpc>
              <a:buNone/>
            </a:pPr>
            <a:r>
              <a:rPr lang="en-US" sz="1700" b="1" dirty="0">
                <a:solidFill>
                  <a:srgbClr val="0B1F3A"/>
                </a:solidFill>
                <a:latin typeface="Arial" pitchFamily="34" charset="0"/>
                <a:ea typeface="Arial" pitchFamily="34" charset="-122"/>
                <a:cs typeface="Arial" pitchFamily="34" charset="-120"/>
              </a:rPr>
              <a:t>HC-SR04 — toàn bộ tài liệu gốc (2 trang)</a:t>
            </a:r>
            <a:endParaRPr lang="en-US" sz="1700" dirty="0"/>
          </a:p>
          <a:p>
            <a:pPr indent="0" marL="0">
              <a:lnSpc>
                <a:spcPct val="120000"/>
              </a:lnSpc>
              <a:buNone/>
            </a:pPr>
            <a:r>
              <a:rPr lang="en-US" sz="1300" dirty="0">
                <a:solidFill>
                  <a:srgbClr val="007F72"/>
                </a:solidFill>
                <a:latin typeface="微軟正黑體" pitchFamily="34" charset="0"/>
                <a:ea typeface="微軟正黑體" pitchFamily="34" charset="-122"/>
                <a:cs typeface="微軟正黑體" pitchFamily="34" charset="-120"/>
              </a:rPr>
              <a:t>HC-SR04 — 文件原頁（全兩頁）</a:t>
            </a:r>
            <a:endParaRPr lang="en-US" sz="1700" dirty="0"/>
          </a:p>
        </p:txBody>
      </p:sp>
      <p:sp>
        <p:nvSpPr>
          <p:cNvPr id="4" name="Shape 2"/>
          <p:cNvSpPr/>
          <p:nvPr/>
        </p:nvSpPr>
        <p:spPr>
          <a:xfrm>
            <a:off x="2383034" y="1371600"/>
            <a:ext cx="2143246" cy="3017520"/>
          </a:xfrm>
          <a:prstGeom prst="rect">
            <a:avLst/>
          </a:prstGeom>
          <a:solidFill>
            <a:srgbClr val="FFFFFF"/>
          </a:solidFill>
          <a:ln w="12700">
            <a:solidFill>
              <a:srgbClr val="DBE3EA"/>
            </a:solidFill>
            <a:prstDash val="solid"/>
          </a:ln>
        </p:spPr>
      </p:sp>
      <p:pic>
        <p:nvPicPr>
          <p:cNvPr id="5" name="Image 0" descr="/Users/tsengchenghsun/Class/carClass/Claude outputs/第六週(10-15)/src/img/w6_ds_hcsr04_p1.png">    </p:cNvPr>
          <p:cNvPicPr>
            <a:picLocks noChangeAspect="1"/>
          </p:cNvPicPr>
          <p:nvPr/>
        </p:nvPicPr>
        <p:blipFill>
          <a:blip r:embed="rId1"/>
          <a:stretch>
            <a:fillRect/>
          </a:stretch>
        </p:blipFill>
        <p:spPr>
          <a:xfrm>
            <a:off x="2401322" y="1389888"/>
            <a:ext cx="2106670" cy="2980944"/>
          </a:xfrm>
          <a:prstGeom prst="rect">
            <a:avLst/>
          </a:prstGeom>
        </p:spPr>
      </p:pic>
      <p:sp>
        <p:nvSpPr>
          <p:cNvPr id="6" name="Shape 3"/>
          <p:cNvSpPr/>
          <p:nvPr/>
        </p:nvSpPr>
        <p:spPr>
          <a:xfrm>
            <a:off x="4617720" y="1371600"/>
            <a:ext cx="2143246" cy="3017520"/>
          </a:xfrm>
          <a:prstGeom prst="rect">
            <a:avLst/>
          </a:prstGeom>
          <a:solidFill>
            <a:srgbClr val="FFFFFF"/>
          </a:solidFill>
          <a:ln w="12700">
            <a:solidFill>
              <a:srgbClr val="DBE3EA"/>
            </a:solidFill>
            <a:prstDash val="solid"/>
          </a:ln>
        </p:spPr>
      </p:sp>
      <p:pic>
        <p:nvPicPr>
          <p:cNvPr id="7" name="Image 1" descr="/Users/tsengchenghsun/Class/carClass/Claude outputs/第六週(10-15)/src/img/w6_ds_hcsr04_p2.png">    </p:cNvPr>
          <p:cNvPicPr>
            <a:picLocks noChangeAspect="1"/>
          </p:cNvPicPr>
          <p:nvPr/>
        </p:nvPicPr>
        <p:blipFill>
          <a:blip r:embed="rId2"/>
          <a:stretch>
            <a:fillRect/>
          </a:stretch>
        </p:blipFill>
        <p:spPr>
          <a:xfrm>
            <a:off x="4636008" y="1389888"/>
            <a:ext cx="2106670" cy="2980944"/>
          </a:xfrm>
          <a:prstGeom prst="rect">
            <a:avLst/>
          </a:prstGeom>
        </p:spPr>
      </p:pic>
      <p:sp>
        <p:nvSpPr>
          <p:cNvPr id="8" name="Text 4"/>
          <p:cNvSpPr txBox="1"/>
          <p:nvPr/>
        </p:nvSpPr>
        <p:spPr>
          <a:xfrm>
            <a:off x="502920" y="4407408"/>
            <a:ext cx="8138160" cy="201168"/>
          </a:xfrm>
          <a:prstGeom prst="rect">
            <a:avLst/>
          </a:prstGeom>
          <a:noFill/>
          <a:ln/>
        </p:spPr>
        <p:txBody>
          <a:bodyPr wrap="square" lIns="0" tIns="0" rIns="0" bIns="0" rtlCol="0" anchor="ctr"/>
          <a:lstStyle/>
          <a:p>
            <a:pPr algn="ctr" indent="0" marL="0">
              <a:buNone/>
            </a:pPr>
            <a:r>
              <a:rPr lang="en-US" sz="850" dirty="0">
                <a:solidFill>
                  <a:srgbClr val="5F7183"/>
                </a:solidFill>
                <a:latin typeface="Arial" pitchFamily="34" charset="0"/>
                <a:ea typeface="Arial" pitchFamily="34" charset="-122"/>
                <a:cs typeface="Arial" pitchFamily="34" charset="-120"/>
              </a:rPr>
              <a:t>ElecFreaks, Ultrasonic Ranging Module HC-SR04 · 原頁全文 · 讀取 2026/10/08 · 課堂引用</a:t>
            </a:r>
            <a:endParaRPr lang="en-US" sz="850" dirty="0"/>
          </a:p>
        </p:txBody>
      </p:sp>
      <p:pic>
        <p:nvPicPr>
          <p:cNvPr id="10" name="Image 2"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11"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18 / 22</a:t>
            </a:r>
            <a:endParaRPr lang="en-US" sz="900" dirty="0"/>
          </a:p>
        </p:txBody>
      </p:sp>
      <p:sp>
        <p:nvSpPr>
          <p:cNvPr id="12"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Phụ lục · 附錄（不計時）</a:t>
            </a:r>
            <a:endParaRPr lang="en-US" sz="1250" dirty="0"/>
          </a:p>
        </p:txBody>
      </p:sp>
      <p:sp>
        <p:nvSpPr>
          <p:cNvPr id="3" name="Text 1"/>
          <p:cNvSpPr txBox="1"/>
          <p:nvPr/>
        </p:nvSpPr>
        <p:spPr>
          <a:xfrm>
            <a:off x="502920" y="731520"/>
            <a:ext cx="8138160" cy="585216"/>
          </a:xfrm>
          <a:prstGeom prst="rect">
            <a:avLst/>
          </a:prstGeom>
          <a:noFill/>
          <a:ln/>
        </p:spPr>
        <p:txBody>
          <a:bodyPr wrap="square" lIns="0" tIns="0" rIns="0" bIns="0" rtlCol="0" anchor="t"/>
          <a:lstStyle/>
          <a:p>
            <a:pPr indent="0" marL="0">
              <a:lnSpc>
                <a:spcPct val="120000"/>
              </a:lnSpc>
              <a:buNone/>
            </a:pPr>
            <a:r>
              <a:rPr lang="en-US" sz="1700" b="1" dirty="0">
                <a:solidFill>
                  <a:srgbClr val="0B1F3A"/>
                </a:solidFill>
                <a:latin typeface="Arial" pitchFamily="34" charset="0"/>
                <a:ea typeface="Arial" pitchFamily="34" charset="-122"/>
                <a:cs typeface="Arial" pitchFamily="34" charset="-120"/>
              </a:rPr>
              <a:t>Bosch Ultrasonic Sensors Generation 6 — nguyên trang factsheet</a:t>
            </a:r>
            <a:endParaRPr lang="en-US" sz="1700" dirty="0"/>
          </a:p>
          <a:p>
            <a:pPr indent="0" marL="0">
              <a:lnSpc>
                <a:spcPct val="120000"/>
              </a:lnSpc>
              <a:buNone/>
            </a:pPr>
            <a:r>
              <a:rPr lang="en-US" sz="1300" dirty="0">
                <a:solidFill>
                  <a:srgbClr val="007F72"/>
                </a:solidFill>
                <a:latin typeface="微軟正黑體" pitchFamily="34" charset="0"/>
                <a:ea typeface="微軟正黑體" pitchFamily="34" charset="-122"/>
                <a:cs typeface="微軟正黑體" pitchFamily="34" charset="-120"/>
              </a:rPr>
              <a:t>Bosch 超音波第六代 — 規格單原頁</a:t>
            </a:r>
            <a:endParaRPr lang="en-US" sz="1700" dirty="0"/>
          </a:p>
        </p:txBody>
      </p:sp>
      <p:sp>
        <p:nvSpPr>
          <p:cNvPr id="4" name="Shape 2"/>
          <p:cNvSpPr/>
          <p:nvPr/>
        </p:nvSpPr>
        <p:spPr>
          <a:xfrm>
            <a:off x="3499740" y="1371600"/>
            <a:ext cx="2144520" cy="3017520"/>
          </a:xfrm>
          <a:prstGeom prst="rect">
            <a:avLst/>
          </a:prstGeom>
          <a:solidFill>
            <a:srgbClr val="FFFFFF"/>
          </a:solidFill>
          <a:ln w="12700">
            <a:solidFill>
              <a:srgbClr val="DBE3EA"/>
            </a:solidFill>
            <a:prstDash val="solid"/>
          </a:ln>
        </p:spPr>
      </p:sp>
      <p:pic>
        <p:nvPicPr>
          <p:cNvPr id="5" name="Image 0" descr="/Users/tsengchenghsun/Class/carClass/Claude outputs/第六週(10-15)/src/img/w6_ds_uss6_p1.png">    </p:cNvPr>
          <p:cNvPicPr>
            <a:picLocks noChangeAspect="1"/>
          </p:cNvPicPr>
          <p:nvPr/>
        </p:nvPicPr>
        <p:blipFill>
          <a:blip r:embed="rId1"/>
          <a:stretch>
            <a:fillRect/>
          </a:stretch>
        </p:blipFill>
        <p:spPr>
          <a:xfrm>
            <a:off x="3518028" y="1389888"/>
            <a:ext cx="2107944" cy="2980944"/>
          </a:xfrm>
          <a:prstGeom prst="rect">
            <a:avLst/>
          </a:prstGeom>
        </p:spPr>
      </p:pic>
      <p:sp>
        <p:nvSpPr>
          <p:cNvPr id="6" name="Text 3"/>
          <p:cNvSpPr txBox="1"/>
          <p:nvPr/>
        </p:nvSpPr>
        <p:spPr>
          <a:xfrm>
            <a:off x="502920" y="4407408"/>
            <a:ext cx="8138160" cy="201168"/>
          </a:xfrm>
          <a:prstGeom prst="rect">
            <a:avLst/>
          </a:prstGeom>
          <a:noFill/>
          <a:ln/>
        </p:spPr>
        <p:txBody>
          <a:bodyPr wrap="square" lIns="0" tIns="0" rIns="0" bIns="0" rtlCol="0" anchor="ctr"/>
          <a:lstStyle/>
          <a:p>
            <a:pPr algn="ctr" indent="0" marL="0">
              <a:buNone/>
            </a:pPr>
            <a:r>
              <a:rPr lang="en-US" sz="850" dirty="0">
                <a:solidFill>
                  <a:srgbClr val="5F7183"/>
                </a:solidFill>
                <a:latin typeface="Arial" pitchFamily="34" charset="0"/>
                <a:ea typeface="Arial" pitchFamily="34" charset="-122"/>
                <a:cs typeface="Arial" pitchFamily="34" charset="-120"/>
              </a:rPr>
              <a:t>Bosch Aftermarket, Bosch Ultrasonic Sensors Generation 6 factsheet (AA-TR/PAE, 03/2023), p.1 · 原頁全文 · 讀取 2026/10/08 · 版權歸 Bosch，課堂引用</a:t>
            </a:r>
            <a:endParaRPr lang="en-US" sz="850" dirty="0"/>
          </a:p>
        </p:txBody>
      </p:sp>
      <p:pic>
        <p:nvPicPr>
          <p:cNvPr id="8" name="Image 1" descr="/Users/tsengchenghsun/Class/carClass/Claude outputs/第六週(10-15)/src/logo.png">    </p:cNvPr>
          <p:cNvPicPr>
            <a:picLocks noChangeAspect="1"/>
          </p:cNvPicPr>
          <p:nvPr/>
        </p:nvPicPr>
        <p:blipFill>
          <a:blip r:embed="rId2"/>
          <a:stretch>
            <a:fillRect/>
          </a:stretch>
        </p:blipFill>
        <p:spPr>
          <a:xfrm>
            <a:off x="7882128" y="109728"/>
            <a:ext cx="1097280" cy="242439"/>
          </a:xfrm>
          <a:prstGeom prst="rect">
            <a:avLst/>
          </a:prstGeom>
        </p:spPr>
      </p:pic>
      <p:sp>
        <p:nvSpPr>
          <p:cNvPr id="9" name="Text 4"/>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19 / 22</a:t>
            </a:r>
            <a:endParaRPr lang="en-US" sz="900" dirty="0"/>
          </a:p>
        </p:txBody>
      </p:sp>
      <p:sp>
        <p:nvSpPr>
          <p:cNvPr id="10" name="Text 5"/>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Phụ lục · 附錄（不計時）</a:t>
            </a:r>
            <a:endParaRPr lang="en-US" sz="1250" dirty="0"/>
          </a:p>
        </p:txBody>
      </p:sp>
      <p:sp>
        <p:nvSpPr>
          <p:cNvPr id="3" name="Text 1"/>
          <p:cNvSpPr txBox="1"/>
          <p:nvPr/>
        </p:nvSpPr>
        <p:spPr>
          <a:xfrm>
            <a:off x="502920" y="731520"/>
            <a:ext cx="8138160" cy="585216"/>
          </a:xfrm>
          <a:prstGeom prst="rect">
            <a:avLst/>
          </a:prstGeom>
          <a:noFill/>
          <a:ln/>
        </p:spPr>
        <p:txBody>
          <a:bodyPr wrap="square" lIns="0" tIns="0" rIns="0" bIns="0" rtlCol="0" anchor="t"/>
          <a:lstStyle/>
          <a:p>
            <a:pPr indent="0" marL="0">
              <a:lnSpc>
                <a:spcPct val="120000"/>
              </a:lnSpc>
              <a:buNone/>
            </a:pPr>
            <a:r>
              <a:rPr lang="en-US" sz="1700" b="1" dirty="0">
                <a:solidFill>
                  <a:srgbClr val="0B1F3A"/>
                </a:solidFill>
                <a:latin typeface="Arial" pitchFamily="34" charset="0"/>
                <a:ea typeface="Arial" pitchFamily="34" charset="-122"/>
                <a:cs typeface="Arial" pitchFamily="34" charset="-120"/>
              </a:rPr>
              <a:t>u-blox NEO-M8 (trang 6) và ZED-F9P-02B (trang 4–5) — nguyên trang</a:t>
            </a:r>
            <a:endParaRPr lang="en-US" sz="1700" dirty="0"/>
          </a:p>
          <a:p>
            <a:pPr indent="0" marL="0">
              <a:lnSpc>
                <a:spcPct val="120000"/>
              </a:lnSpc>
              <a:buNone/>
            </a:pPr>
            <a:r>
              <a:rPr lang="en-US" sz="1300" dirty="0">
                <a:solidFill>
                  <a:srgbClr val="007F72"/>
                </a:solidFill>
                <a:latin typeface="微軟正黑體" pitchFamily="34" charset="0"/>
                <a:ea typeface="微軟正黑體" pitchFamily="34" charset="-122"/>
                <a:cs typeface="微軟正黑體" pitchFamily="34" charset="-120"/>
              </a:rPr>
              <a:t>u-blox NEO-M8（第 6 頁）與 ZED-F9P-02B（第 4–5 頁）— 原頁</a:t>
            </a:r>
            <a:endParaRPr lang="en-US" sz="1700" dirty="0"/>
          </a:p>
        </p:txBody>
      </p:sp>
      <p:sp>
        <p:nvSpPr>
          <p:cNvPr id="4" name="Shape 2"/>
          <p:cNvSpPr/>
          <p:nvPr/>
        </p:nvSpPr>
        <p:spPr>
          <a:xfrm>
            <a:off x="1263780" y="1371600"/>
            <a:ext cx="2144520" cy="3017520"/>
          </a:xfrm>
          <a:prstGeom prst="rect">
            <a:avLst/>
          </a:prstGeom>
          <a:solidFill>
            <a:srgbClr val="FFFFFF"/>
          </a:solidFill>
          <a:ln w="12700">
            <a:solidFill>
              <a:srgbClr val="DBE3EA"/>
            </a:solidFill>
            <a:prstDash val="solid"/>
          </a:ln>
        </p:spPr>
      </p:sp>
      <p:pic>
        <p:nvPicPr>
          <p:cNvPr id="5" name="Image 0" descr="/Users/tsengchenghsun/Class/carClass/Claude outputs/第六週(10-15)/src/img/w6_ds_neom8_p6.png">    </p:cNvPr>
          <p:cNvPicPr>
            <a:picLocks noChangeAspect="1"/>
          </p:cNvPicPr>
          <p:nvPr/>
        </p:nvPicPr>
        <p:blipFill>
          <a:blip r:embed="rId1"/>
          <a:stretch>
            <a:fillRect/>
          </a:stretch>
        </p:blipFill>
        <p:spPr>
          <a:xfrm>
            <a:off x="1282068" y="1389888"/>
            <a:ext cx="2107944" cy="2980944"/>
          </a:xfrm>
          <a:prstGeom prst="rect">
            <a:avLst/>
          </a:prstGeom>
        </p:spPr>
      </p:pic>
      <p:sp>
        <p:nvSpPr>
          <p:cNvPr id="6" name="Shape 3"/>
          <p:cNvSpPr/>
          <p:nvPr/>
        </p:nvSpPr>
        <p:spPr>
          <a:xfrm>
            <a:off x="3499740" y="1371600"/>
            <a:ext cx="2144520" cy="3017520"/>
          </a:xfrm>
          <a:prstGeom prst="rect">
            <a:avLst/>
          </a:prstGeom>
          <a:solidFill>
            <a:srgbClr val="FFFFFF"/>
          </a:solidFill>
          <a:ln w="12700">
            <a:solidFill>
              <a:srgbClr val="DBE3EA"/>
            </a:solidFill>
            <a:prstDash val="solid"/>
          </a:ln>
        </p:spPr>
      </p:sp>
      <p:pic>
        <p:nvPicPr>
          <p:cNvPr id="7" name="Image 1" descr="/Users/tsengchenghsun/Class/carClass/Claude outputs/第六週(10-15)/src/img/w6_ds_zedf9p_p4.png">    </p:cNvPr>
          <p:cNvPicPr>
            <a:picLocks noChangeAspect="1"/>
          </p:cNvPicPr>
          <p:nvPr/>
        </p:nvPicPr>
        <p:blipFill>
          <a:blip r:embed="rId2"/>
          <a:stretch>
            <a:fillRect/>
          </a:stretch>
        </p:blipFill>
        <p:spPr>
          <a:xfrm>
            <a:off x="3518028" y="1389888"/>
            <a:ext cx="2107944" cy="2980944"/>
          </a:xfrm>
          <a:prstGeom prst="rect">
            <a:avLst/>
          </a:prstGeom>
        </p:spPr>
      </p:pic>
      <p:sp>
        <p:nvSpPr>
          <p:cNvPr id="8" name="Shape 4"/>
          <p:cNvSpPr/>
          <p:nvPr/>
        </p:nvSpPr>
        <p:spPr>
          <a:xfrm>
            <a:off x="5735700" y="1371600"/>
            <a:ext cx="2144520" cy="3017520"/>
          </a:xfrm>
          <a:prstGeom prst="rect">
            <a:avLst/>
          </a:prstGeom>
          <a:solidFill>
            <a:srgbClr val="FFFFFF"/>
          </a:solidFill>
          <a:ln w="12700">
            <a:solidFill>
              <a:srgbClr val="DBE3EA"/>
            </a:solidFill>
            <a:prstDash val="solid"/>
          </a:ln>
        </p:spPr>
      </p:sp>
      <p:pic>
        <p:nvPicPr>
          <p:cNvPr id="9" name="Image 2" descr="/Users/tsengchenghsun/Class/carClass/Claude outputs/第六週(10-15)/src/img/w6_ds_zedf9p_p5.png">    </p:cNvPr>
          <p:cNvPicPr>
            <a:picLocks noChangeAspect="1"/>
          </p:cNvPicPr>
          <p:nvPr/>
        </p:nvPicPr>
        <p:blipFill>
          <a:blip r:embed="rId3"/>
          <a:stretch>
            <a:fillRect/>
          </a:stretch>
        </p:blipFill>
        <p:spPr>
          <a:xfrm>
            <a:off x="5753988" y="1389888"/>
            <a:ext cx="2107944" cy="2980944"/>
          </a:xfrm>
          <a:prstGeom prst="rect">
            <a:avLst/>
          </a:prstGeom>
        </p:spPr>
      </p:pic>
      <p:sp>
        <p:nvSpPr>
          <p:cNvPr id="10" name="Text 5"/>
          <p:cNvSpPr txBox="1"/>
          <p:nvPr/>
        </p:nvSpPr>
        <p:spPr>
          <a:xfrm>
            <a:off x="502920" y="4407408"/>
            <a:ext cx="8138160" cy="201168"/>
          </a:xfrm>
          <a:prstGeom prst="rect">
            <a:avLst/>
          </a:prstGeom>
          <a:noFill/>
          <a:ln/>
        </p:spPr>
        <p:txBody>
          <a:bodyPr wrap="square" lIns="0" tIns="0" rIns="0" bIns="0" rtlCol="0" anchor="ctr"/>
          <a:lstStyle/>
          <a:p>
            <a:pPr algn="ctr" indent="0" marL="0">
              <a:buNone/>
            </a:pPr>
            <a:r>
              <a:rPr lang="en-US" sz="850" dirty="0">
                <a:solidFill>
                  <a:srgbClr val="5F7183"/>
                </a:solidFill>
                <a:latin typeface="Arial" pitchFamily="34" charset="0"/>
                <a:ea typeface="Arial" pitchFamily="34" charset="-122"/>
                <a:cs typeface="Arial" pitchFamily="34" charset="-120"/>
              </a:rPr>
              <a:t>u-blox NEO-M8 Data sheet UBX-15031086 R14 p.6；ZED-F9P-02B Data sheet UBX-21023276 R03 p.4–5 · 原頁全文 · 讀取 2026/10/08 · 版權歸 u-blox，課堂引用</a:t>
            </a:r>
            <a:endParaRPr lang="en-US" sz="850" dirty="0"/>
          </a:p>
        </p:txBody>
      </p:sp>
      <p:pic>
        <p:nvPicPr>
          <p:cNvPr id="12" name="Image 3" descr="/Users/tsengchenghsun/Class/carClass/Claude outputs/第六週(10-15)/src/logo.png">    </p:cNvPr>
          <p:cNvPicPr>
            <a:picLocks noChangeAspect="1"/>
          </p:cNvPicPr>
          <p:nvPr/>
        </p:nvPicPr>
        <p:blipFill>
          <a:blip r:embed="rId4"/>
          <a:stretch>
            <a:fillRect/>
          </a:stretch>
        </p:blipFill>
        <p:spPr>
          <a:xfrm>
            <a:off x="7882128" y="109728"/>
            <a:ext cx="1097280" cy="242439"/>
          </a:xfrm>
          <a:prstGeom prst="rect">
            <a:avLst/>
          </a:prstGeom>
        </p:spPr>
      </p:pic>
      <p:sp>
        <p:nvSpPr>
          <p:cNvPr id="13" name="Text 6"/>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20 / 22</a:t>
            </a:r>
            <a:endParaRPr lang="en-US" sz="900" dirty="0"/>
          </a:p>
        </p:txBody>
      </p:sp>
      <p:sp>
        <p:nvSpPr>
          <p:cNvPr id="14" name="Text 7"/>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Phụ lục · 附錄（不計時）</a:t>
            </a:r>
            <a:endParaRPr lang="en-US" sz="1250" dirty="0"/>
          </a:p>
        </p:txBody>
      </p:sp>
      <p:sp>
        <p:nvSpPr>
          <p:cNvPr id="3" name="Text 1"/>
          <p:cNvSpPr txBox="1"/>
          <p:nvPr/>
        </p:nvSpPr>
        <p:spPr>
          <a:xfrm>
            <a:off x="502920" y="731520"/>
            <a:ext cx="8138160" cy="585216"/>
          </a:xfrm>
          <a:prstGeom prst="rect">
            <a:avLst/>
          </a:prstGeom>
          <a:noFill/>
          <a:ln/>
        </p:spPr>
        <p:txBody>
          <a:bodyPr wrap="square" lIns="0" tIns="0" rIns="0" bIns="0" rtlCol="0" anchor="t"/>
          <a:lstStyle/>
          <a:p>
            <a:pPr indent="0" marL="0">
              <a:lnSpc>
                <a:spcPct val="120000"/>
              </a:lnSpc>
              <a:buNone/>
            </a:pPr>
            <a:r>
              <a:rPr lang="en-US" sz="1700" b="1" dirty="0">
                <a:solidFill>
                  <a:srgbClr val="0B1F3A"/>
                </a:solidFill>
                <a:latin typeface="Arial" pitchFamily="34" charset="0"/>
                <a:ea typeface="Arial" pitchFamily="34" charset="-122"/>
                <a:cs typeface="Arial" pitchFamily="34" charset="-120"/>
              </a:rPr>
              <a:t>TDK ICM-20948 — trang bìa và trang 11 (thông số con quay)</a:t>
            </a:r>
            <a:endParaRPr lang="en-US" sz="1700" dirty="0"/>
          </a:p>
          <a:p>
            <a:pPr indent="0" marL="0">
              <a:lnSpc>
                <a:spcPct val="120000"/>
              </a:lnSpc>
              <a:buNone/>
            </a:pPr>
            <a:r>
              <a:rPr lang="en-US" sz="1300" dirty="0">
                <a:solidFill>
                  <a:srgbClr val="007F72"/>
                </a:solidFill>
                <a:latin typeface="微軟正黑體" pitchFamily="34" charset="0"/>
                <a:ea typeface="微軟正黑體" pitchFamily="34" charset="-122"/>
                <a:cs typeface="微軟正黑體" pitchFamily="34" charset="-120"/>
              </a:rPr>
              <a:t>TDK ICM-20948 — 封面與第 11 頁（陀螺儀規格）</a:t>
            </a:r>
            <a:endParaRPr lang="en-US" sz="1700" dirty="0"/>
          </a:p>
        </p:txBody>
      </p:sp>
      <p:sp>
        <p:nvSpPr>
          <p:cNvPr id="4" name="Shape 2"/>
          <p:cNvSpPr/>
          <p:nvPr/>
        </p:nvSpPr>
        <p:spPr>
          <a:xfrm>
            <a:off x="2186247" y="1371600"/>
            <a:ext cx="2340033" cy="3017520"/>
          </a:xfrm>
          <a:prstGeom prst="rect">
            <a:avLst/>
          </a:prstGeom>
          <a:solidFill>
            <a:srgbClr val="FFFFFF"/>
          </a:solidFill>
          <a:ln w="12700">
            <a:solidFill>
              <a:srgbClr val="DBE3EA"/>
            </a:solidFill>
            <a:prstDash val="solid"/>
          </a:ln>
        </p:spPr>
      </p:sp>
      <p:pic>
        <p:nvPicPr>
          <p:cNvPr id="5" name="Image 0" descr="/Users/tsengchenghsun/Class/carClass/Claude outputs/第六週(10-15)/src/img/w6_ds_icm_p1.png">    </p:cNvPr>
          <p:cNvPicPr>
            <a:picLocks noChangeAspect="1"/>
          </p:cNvPicPr>
          <p:nvPr/>
        </p:nvPicPr>
        <p:blipFill>
          <a:blip r:embed="rId1"/>
          <a:stretch>
            <a:fillRect/>
          </a:stretch>
        </p:blipFill>
        <p:spPr>
          <a:xfrm>
            <a:off x="2204535" y="1389888"/>
            <a:ext cx="2303457" cy="2980944"/>
          </a:xfrm>
          <a:prstGeom prst="rect">
            <a:avLst/>
          </a:prstGeom>
        </p:spPr>
      </p:pic>
      <p:sp>
        <p:nvSpPr>
          <p:cNvPr id="6" name="Shape 3"/>
          <p:cNvSpPr/>
          <p:nvPr/>
        </p:nvSpPr>
        <p:spPr>
          <a:xfrm>
            <a:off x="4617720" y="1371600"/>
            <a:ext cx="2340033" cy="3017520"/>
          </a:xfrm>
          <a:prstGeom prst="rect">
            <a:avLst/>
          </a:prstGeom>
          <a:solidFill>
            <a:srgbClr val="FFFFFF"/>
          </a:solidFill>
          <a:ln w="12700">
            <a:solidFill>
              <a:srgbClr val="DBE3EA"/>
            </a:solidFill>
            <a:prstDash val="solid"/>
          </a:ln>
        </p:spPr>
      </p:sp>
      <p:pic>
        <p:nvPicPr>
          <p:cNvPr id="7" name="Image 1" descr="/Users/tsengchenghsun/Class/carClass/Claude outputs/第六週(10-15)/src/img/w6_ds_icm_p11.png">    </p:cNvPr>
          <p:cNvPicPr>
            <a:picLocks noChangeAspect="1"/>
          </p:cNvPicPr>
          <p:nvPr/>
        </p:nvPicPr>
        <p:blipFill>
          <a:blip r:embed="rId2"/>
          <a:stretch>
            <a:fillRect/>
          </a:stretch>
        </p:blipFill>
        <p:spPr>
          <a:xfrm>
            <a:off x="4636008" y="1389888"/>
            <a:ext cx="2303457" cy="2980944"/>
          </a:xfrm>
          <a:prstGeom prst="rect">
            <a:avLst/>
          </a:prstGeom>
        </p:spPr>
      </p:pic>
      <p:sp>
        <p:nvSpPr>
          <p:cNvPr id="8" name="Text 4"/>
          <p:cNvSpPr txBox="1"/>
          <p:nvPr/>
        </p:nvSpPr>
        <p:spPr>
          <a:xfrm>
            <a:off x="502920" y="4407408"/>
            <a:ext cx="8138160" cy="201168"/>
          </a:xfrm>
          <a:prstGeom prst="rect">
            <a:avLst/>
          </a:prstGeom>
          <a:noFill/>
          <a:ln/>
        </p:spPr>
        <p:txBody>
          <a:bodyPr wrap="square" lIns="0" tIns="0" rIns="0" bIns="0" rtlCol="0" anchor="ctr"/>
          <a:lstStyle/>
          <a:p>
            <a:pPr algn="ctr" indent="0" marL="0">
              <a:buNone/>
            </a:pPr>
            <a:r>
              <a:rPr lang="en-US" sz="850" dirty="0">
                <a:solidFill>
                  <a:srgbClr val="5F7183"/>
                </a:solidFill>
                <a:latin typeface="Arial" pitchFamily="34" charset="0"/>
                <a:ea typeface="Arial" pitchFamily="34" charset="-122"/>
                <a:cs typeface="Arial" pitchFamily="34" charset="-120"/>
              </a:rPr>
              <a:t>TDK InvenSense, ICM-20948 Data Sheet, DS-000189 v1.3 (2017), p.1 與 p.11 · 原頁全文 · 讀取 2026/10/08 · 版權歸 TDK，課堂引用</a:t>
            </a:r>
            <a:endParaRPr lang="en-US" sz="850" dirty="0"/>
          </a:p>
        </p:txBody>
      </p:sp>
      <p:pic>
        <p:nvPicPr>
          <p:cNvPr id="10" name="Image 2"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11"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21 / 22</a:t>
            </a:r>
            <a:endParaRPr lang="en-US" sz="900" dirty="0"/>
          </a:p>
        </p:txBody>
      </p:sp>
      <p:sp>
        <p:nvSpPr>
          <p:cNvPr id="12"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Phụ lục · 附錄（不計時）</a:t>
            </a:r>
            <a:endParaRPr lang="en-US" sz="1250" dirty="0"/>
          </a:p>
        </p:txBody>
      </p:sp>
      <p:sp>
        <p:nvSpPr>
          <p:cNvPr id="3" name="Text 1"/>
          <p:cNvSpPr txBox="1"/>
          <p:nvPr/>
        </p:nvSpPr>
        <p:spPr>
          <a:xfrm>
            <a:off x="502920" y="731520"/>
            <a:ext cx="8138160" cy="585216"/>
          </a:xfrm>
          <a:prstGeom prst="rect">
            <a:avLst/>
          </a:prstGeom>
          <a:noFill/>
          <a:ln/>
        </p:spPr>
        <p:txBody>
          <a:bodyPr wrap="square" lIns="0" tIns="0" rIns="0" bIns="0" rtlCol="0" anchor="t"/>
          <a:lstStyle/>
          <a:p>
            <a:pPr indent="0" marL="0">
              <a:lnSpc>
                <a:spcPct val="120000"/>
              </a:lnSpc>
              <a:buNone/>
            </a:pPr>
            <a:r>
              <a:rPr lang="en-US" sz="1700" b="1" dirty="0">
                <a:solidFill>
                  <a:srgbClr val="0B1F3A"/>
                </a:solidFill>
                <a:latin typeface="Arial" pitchFamily="34" charset="0"/>
                <a:ea typeface="Arial" pitchFamily="34" charset="-122"/>
                <a:cs typeface="Arial" pitchFamily="34" charset="-120"/>
              </a:rPr>
              <a:t>Analog Devices ADIS16470 — trang bìa và trang 3 (Table 1)</a:t>
            </a:r>
            <a:endParaRPr lang="en-US" sz="1700" dirty="0"/>
          </a:p>
          <a:p>
            <a:pPr indent="0" marL="0">
              <a:lnSpc>
                <a:spcPct val="120000"/>
              </a:lnSpc>
              <a:buNone/>
            </a:pPr>
            <a:r>
              <a:rPr lang="en-US" sz="1300" dirty="0">
                <a:solidFill>
                  <a:srgbClr val="007F72"/>
                </a:solidFill>
                <a:latin typeface="微軟正黑體" pitchFamily="34" charset="0"/>
                <a:ea typeface="微軟正黑體" pitchFamily="34" charset="-122"/>
                <a:cs typeface="微軟正黑體" pitchFamily="34" charset="-120"/>
              </a:rPr>
              <a:t>Analog Devices ADIS16470 — 封面與第 3 頁（Table 1）</a:t>
            </a:r>
            <a:endParaRPr lang="en-US" sz="1700" dirty="0"/>
          </a:p>
        </p:txBody>
      </p:sp>
      <p:sp>
        <p:nvSpPr>
          <p:cNvPr id="4" name="Shape 2"/>
          <p:cNvSpPr/>
          <p:nvPr/>
        </p:nvSpPr>
        <p:spPr>
          <a:xfrm>
            <a:off x="2186247" y="1371600"/>
            <a:ext cx="2340033" cy="3017520"/>
          </a:xfrm>
          <a:prstGeom prst="rect">
            <a:avLst/>
          </a:prstGeom>
          <a:solidFill>
            <a:srgbClr val="FFFFFF"/>
          </a:solidFill>
          <a:ln w="12700">
            <a:solidFill>
              <a:srgbClr val="DBE3EA"/>
            </a:solidFill>
            <a:prstDash val="solid"/>
          </a:ln>
        </p:spPr>
      </p:sp>
      <p:pic>
        <p:nvPicPr>
          <p:cNvPr id="5" name="Image 0" descr="/Users/tsengchenghsun/Class/carClass/Claude outputs/第六週(10-15)/src/img/w6_ds_adis_p1.png">    </p:cNvPr>
          <p:cNvPicPr>
            <a:picLocks noChangeAspect="1"/>
          </p:cNvPicPr>
          <p:nvPr/>
        </p:nvPicPr>
        <p:blipFill>
          <a:blip r:embed="rId1"/>
          <a:stretch>
            <a:fillRect/>
          </a:stretch>
        </p:blipFill>
        <p:spPr>
          <a:xfrm>
            <a:off x="2204535" y="1389888"/>
            <a:ext cx="2303457" cy="2980944"/>
          </a:xfrm>
          <a:prstGeom prst="rect">
            <a:avLst/>
          </a:prstGeom>
        </p:spPr>
      </p:pic>
      <p:sp>
        <p:nvSpPr>
          <p:cNvPr id="6" name="Shape 3"/>
          <p:cNvSpPr/>
          <p:nvPr/>
        </p:nvSpPr>
        <p:spPr>
          <a:xfrm>
            <a:off x="4617720" y="1371600"/>
            <a:ext cx="2340033" cy="3017520"/>
          </a:xfrm>
          <a:prstGeom prst="rect">
            <a:avLst/>
          </a:prstGeom>
          <a:solidFill>
            <a:srgbClr val="FFFFFF"/>
          </a:solidFill>
          <a:ln w="12700">
            <a:solidFill>
              <a:srgbClr val="DBE3EA"/>
            </a:solidFill>
            <a:prstDash val="solid"/>
          </a:ln>
        </p:spPr>
      </p:sp>
      <p:pic>
        <p:nvPicPr>
          <p:cNvPr id="7" name="Image 1" descr="/Users/tsengchenghsun/Class/carClass/Claude outputs/第六週(10-15)/src/img/w6_ds_adis_p3.png">    </p:cNvPr>
          <p:cNvPicPr>
            <a:picLocks noChangeAspect="1"/>
          </p:cNvPicPr>
          <p:nvPr/>
        </p:nvPicPr>
        <p:blipFill>
          <a:blip r:embed="rId2"/>
          <a:stretch>
            <a:fillRect/>
          </a:stretch>
        </p:blipFill>
        <p:spPr>
          <a:xfrm>
            <a:off x="4636008" y="1389888"/>
            <a:ext cx="2303457" cy="2980944"/>
          </a:xfrm>
          <a:prstGeom prst="rect">
            <a:avLst/>
          </a:prstGeom>
        </p:spPr>
      </p:pic>
      <p:sp>
        <p:nvSpPr>
          <p:cNvPr id="8" name="Text 4"/>
          <p:cNvSpPr txBox="1"/>
          <p:nvPr/>
        </p:nvSpPr>
        <p:spPr>
          <a:xfrm>
            <a:off x="502920" y="4407408"/>
            <a:ext cx="8138160" cy="201168"/>
          </a:xfrm>
          <a:prstGeom prst="rect">
            <a:avLst/>
          </a:prstGeom>
          <a:noFill/>
          <a:ln/>
        </p:spPr>
        <p:txBody>
          <a:bodyPr wrap="square" lIns="0" tIns="0" rIns="0" bIns="0" rtlCol="0" anchor="ctr"/>
          <a:lstStyle/>
          <a:p>
            <a:pPr algn="ctr" indent="0" marL="0">
              <a:buNone/>
            </a:pPr>
            <a:r>
              <a:rPr lang="en-US" sz="850" dirty="0">
                <a:solidFill>
                  <a:srgbClr val="5F7183"/>
                </a:solidFill>
                <a:latin typeface="Arial" pitchFamily="34" charset="0"/>
                <a:ea typeface="Arial" pitchFamily="34" charset="-122"/>
                <a:cs typeface="Arial" pitchFamily="34" charset="-120"/>
              </a:rPr>
              <a:t>Analog Devices, ADIS16470 Wide Dynamic Range, Miniature MEMs IMU, Data Sheet Rev. C (©2017–2019), p.1 與 p.3 · 原頁全文 · 讀取 2026/10/08 · 版權歸 Analog Devices，課堂引用</a:t>
            </a:r>
            <a:endParaRPr lang="en-US" sz="850" dirty="0"/>
          </a:p>
        </p:txBody>
      </p:sp>
      <p:pic>
        <p:nvPicPr>
          <p:cNvPr id="10" name="Image 2" descr="/Users/tsengchenghsun/Class/carClass/Claude outputs/第六週(10-15)/src/logo.png">    </p:cNvPr>
          <p:cNvPicPr>
            <a:picLocks noChangeAspect="1"/>
          </p:cNvPicPr>
          <p:nvPr/>
        </p:nvPicPr>
        <p:blipFill>
          <a:blip r:embed="rId3"/>
          <a:stretch>
            <a:fillRect/>
          </a:stretch>
        </p:blipFill>
        <p:spPr>
          <a:xfrm>
            <a:off x="7882128" y="109728"/>
            <a:ext cx="1097280" cy="242439"/>
          </a:xfrm>
          <a:prstGeom prst="rect">
            <a:avLst/>
          </a:prstGeom>
        </p:spPr>
      </p:pic>
      <p:sp>
        <p:nvSpPr>
          <p:cNvPr id="11"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22 / 22</a:t>
            </a:r>
            <a:endParaRPr lang="en-US" sz="900" dirty="0"/>
          </a:p>
        </p:txBody>
      </p:sp>
      <p:sp>
        <p:nvSpPr>
          <p:cNvPr id="12"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自動駕駛原理</dc:creator>
  <cp:lastModifiedBy>自動駕駛原理</cp:lastModifiedBy>
  <cp:revision>1</cp:revision>
  <dcterms:created xsi:type="dcterms:W3CDTF">2026-10-14T08:38:42Z</dcterms:created>
  <dcterms:modified xsi:type="dcterms:W3CDTF">2026-10-14T08:38:42Z</dcterms:modified>
</cp:coreProperties>
</file>