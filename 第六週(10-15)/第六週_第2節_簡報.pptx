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漂移怎麼算，用最簡單的方式。
</a:t>
            </a:r>
          </a:p>
          <a:p>
            <a:pPr algn="l">
              <a:spcBef>
                <a:spcPts val="0"/>
              </a:spcBef>
              <a:spcAft>
                <a:spcPts val="158"/>
              </a:spcAft>
            </a:pPr>
            <a:r>
              <a:rPr sz="95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950" b="1" lang="zh-TW" dirty="0">
                <a:solidFill>
                  <a:srgbClr val="000000"/>
                </a:solidFill>
                <a:latin typeface="Arial Unicode MS"/>
                <a:ea typeface="Arial Unicode MS"/>
                <a:cs typeface="Arial Unicode MS"/>
              </a:rPr>
              <a:t>航向的誤差＝偏差乘時間</a:t>
            </a:r>
            <a:r>
              <a:rPr sz="950" lang="zh-TW" dirty="0">
                <a:solidFill>
                  <a:srgbClr val="000000"/>
                </a:solidFill>
                <a:latin typeface="Arial Unicode MS"/>
                <a:ea typeface="Arial Unicode MS"/>
                <a:cs typeface="Arial Unicode MS"/>
              </a:rPr>
              <a:t>，愈久愈歪。
</a:t>
            </a:r>
          </a:p>
          <a:p>
            <a:pPr algn="l">
              <a:spcBef>
                <a:spcPts val="0"/>
              </a:spcBef>
              <a:spcAft>
                <a:spcPts val="158"/>
              </a:spcAft>
            </a:pPr>
            <a:r>
              <a:rPr sz="950" lang="zh-TW" dirty="0">
                <a:solidFill>
                  <a:srgbClr val="000000"/>
                </a:solidFill>
                <a:latin typeface="Arial Unicode MS"/>
                <a:ea typeface="Arial Unicode MS"/>
                <a:cs typeface="Arial Unicode MS"/>
              </a:rPr>
              <a:t>航向歪了，車子以為自己直直開，其實在斜著走。</a:t>
            </a:r>
            <a:r>
              <a:rPr sz="950" b="1" lang="zh-TW" dirty="0">
                <a:solidFill>
                  <a:srgbClr val="000000"/>
                </a:solidFill>
                <a:latin typeface="Arial Unicode MS"/>
                <a:ea typeface="Arial Unicode MS"/>
                <a:cs typeface="Arial Unicode MS"/>
              </a:rPr>
              <a:t>橫向偏掉的距離，大約是車速乘偏差乘時間的平方除以二。</a:t>
            </a:r>
            <a:r>
              <a:rPr sz="95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158"/>
              </a:spcAft>
            </a:pPr>
            <a:r>
              <a:rPr sz="950" lang="zh-TW" dirty="0">
                <a:solidFill>
                  <a:srgbClr val="000000"/>
                </a:solidFill>
                <a:latin typeface="Arial Unicode MS"/>
                <a:ea typeface="Arial Unicode MS"/>
                <a:cs typeface="Arial Unicode MS"/>
              </a:rPr>
              <a:t>左圖畫的就是這條算式。先教各位怎麼看：條件是</a:t>
            </a:r>
            <a:r>
              <a:rPr sz="950" b="1" lang="zh-TW" dirty="0">
                <a:solidFill>
                  <a:srgbClr val="000000"/>
                </a:solidFill>
                <a:latin typeface="Arial Unicode MS"/>
                <a:ea typeface="Arial Unicode MS"/>
                <a:cs typeface="Arial Unicode MS"/>
              </a:rPr>
              <a:t>時速八十，衛星突然斷掉</a:t>
            </a:r>
            <a:r>
              <a:rPr sz="950" lang="zh-TW" dirty="0">
                <a:solidFill>
                  <a:srgbClr val="000000"/>
                </a:solidFill>
                <a:latin typeface="Arial Unicode MS"/>
                <a:ea typeface="Arial Unicode MS"/>
                <a:cs typeface="Arial Unicode MS"/>
              </a:rPr>
              <a:t>。</a:t>
            </a:r>
            <a:r>
              <a:rPr sz="950" b="1" lang="zh-TW" dirty="0">
                <a:solidFill>
                  <a:srgbClr val="000000"/>
                </a:solidFill>
                <a:latin typeface="Arial Unicode MS"/>
                <a:ea typeface="Arial Unicode MS"/>
                <a:cs typeface="Arial Unicode MS"/>
              </a:rPr>
              <a:t>橫軸</a:t>
            </a:r>
            <a:r>
              <a:rPr sz="950" lang="zh-TW" dirty="0">
                <a:solidFill>
                  <a:srgbClr val="000000"/>
                </a:solidFill>
                <a:latin typeface="Arial Unicode MS"/>
                <a:ea typeface="Arial Unicode MS"/>
                <a:cs typeface="Arial Unicode MS"/>
              </a:rPr>
              <a:t>是斷掉以後過了幾秒，</a:t>
            </a:r>
            <a:r>
              <a:rPr sz="950" b="1" lang="zh-TW" dirty="0">
                <a:solidFill>
                  <a:srgbClr val="000000"/>
                </a:solidFill>
                <a:latin typeface="Arial Unicode MS"/>
                <a:ea typeface="Arial Unicode MS"/>
                <a:cs typeface="Arial Unicode MS"/>
              </a:rPr>
              <a:t>縱軸</a:t>
            </a:r>
            <a:r>
              <a:rPr sz="950" lang="zh-TW" dirty="0">
                <a:solidFill>
                  <a:srgbClr val="000000"/>
                </a:solidFill>
                <a:latin typeface="Arial Unicode MS"/>
                <a:ea typeface="Arial Unicode MS"/>
                <a:cs typeface="Arial Unicode MS"/>
              </a:rPr>
              <a:t>是車子以為自己在車道中間、其實已經橫向偏了幾公尺。中間那條紅線是</a:t>
            </a:r>
            <a:r>
              <a:rPr sz="950" b="1" lang="zh-TW" dirty="0">
                <a:solidFill>
                  <a:srgbClr val="000000"/>
                </a:solidFill>
                <a:latin typeface="Arial Unicode MS"/>
                <a:ea typeface="Arial Unicode MS"/>
                <a:cs typeface="Arial Unicode MS"/>
              </a:rPr>
              <a:t>零點五公尺</a:t>
            </a:r>
            <a:r>
              <a:rPr sz="950" lang="zh-TW" dirty="0">
                <a:solidFill>
                  <a:srgbClr val="000000"/>
                </a:solidFill>
                <a:latin typeface="Arial Unicode MS"/>
                <a:ea typeface="Arial Unicode MS"/>
                <a:cs typeface="Arial Unicode MS"/>
              </a:rPr>
              <a:t>：紅線以下淡綠色，還在車道內；紅線以上淡紅色，偏出車道。</a:t>
            </a:r>
            <a:r>
              <a:rPr sz="950" b="1" lang="zh-TW" dirty="0">
                <a:solidFill>
                  <a:srgbClr val="000000"/>
                </a:solidFill>
                <a:latin typeface="Arial Unicode MS"/>
                <a:ea typeface="Arial Unicode MS"/>
                <a:cs typeface="Arial Unicode MS"/>
              </a:rPr>
              <a:t>曲線碰到紅線的那一點，就是它撐得住的秒數。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為什麼紅線畫在零點五？看右上角那個小框：車道三點五公尺、車寬一點八，左右各只剩</a:t>
            </a:r>
            <a:r>
              <a:rPr sz="950" b="1" lang="zh-TW" dirty="0">
                <a:solidFill>
                  <a:srgbClr val="000000"/>
                </a:solidFill>
                <a:latin typeface="Arial Unicode MS"/>
                <a:ea typeface="Arial Unicode MS"/>
                <a:cs typeface="Arial Unicode MS"/>
              </a:rPr>
              <a:t>零點八五</a:t>
            </a:r>
            <a:r>
              <a:rPr sz="950" lang="zh-TW" dirty="0">
                <a:solidFill>
                  <a:srgbClr val="000000"/>
                </a:solidFill>
                <a:latin typeface="Arial Unicode MS"/>
                <a:ea typeface="Arial Unicode MS"/>
                <a:cs typeface="Arial Unicode MS"/>
              </a:rPr>
              <a:t>；再留一點給方向盤的晃動，零點五是保守一點的門檻。
</a:t>
            </a:r>
          </a:p>
          <a:p>
            <a:pPr algn="l">
              <a:spcBef>
                <a:spcPts val="0"/>
              </a:spcBef>
              <a:spcAft>
                <a:spcPts val="158"/>
              </a:spcAft>
            </a:pPr>
            <a:r>
              <a:rPr sz="950" b="1" lang="zh-TW" dirty="0">
                <a:solidFill>
                  <a:srgbClr val="000000"/>
                </a:solidFill>
                <a:latin typeface="Arial Unicode MS"/>
                <a:ea typeface="Arial Unicode MS"/>
                <a:cs typeface="Arial Unicode MS"/>
              </a:rPr>
              <a:t>綠線是工業級，8 °/h：三十四秒碰到紅線。</a:t>
            </a:r>
            <a:r>
              <a:rPr sz="950" lang="zh-TW" dirty="0">
                <a:solidFill>
                  <a:srgbClr val="000000"/>
                </a:solidFill>
                <a:latin typeface="Arial Unicode MS"/>
                <a:ea typeface="Arial Unicode MS"/>
                <a:cs typeface="Arial Unicode MS"/>
              </a:rPr>
              <a:t>三十四秒，時速八十可以跑七百五十公尺。</a:t>
            </a:r>
            <a:r>
              <a:rPr sz="950" b="1" lang="zh-TW" dirty="0">
                <a:solidFill>
                  <a:srgbClr val="000000"/>
                </a:solidFill>
                <a:latin typeface="Arial Unicode MS"/>
                <a:ea typeface="Arial Unicode MS"/>
                <a:cs typeface="Arial Unicode MS"/>
              </a:rPr>
              <a:t>黃線是手機級，1800 °/h：兩秒。</a:t>
            </a:r>
            <a:r>
              <a:rPr sz="95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158"/>
              </a:spcAft>
            </a:pPr>
            <a:r>
              <a:rPr sz="950" lang="zh-TW" dirty="0">
                <a:solidFill>
                  <a:srgbClr val="000000"/>
                </a:solidFill>
                <a:latin typeface="Arial Unicode MS"/>
                <a:ea typeface="Arial Unicode MS"/>
                <a:cs typeface="Arial Unicode MS"/>
              </a:rPr>
              <a:t>現在想隧道。雪山隧道十二點九公里，時速八十，</a:t>
            </a:r>
            <a:r>
              <a:rPr sz="950" b="1" lang="zh-TW" dirty="0">
                <a:solidFill>
                  <a:srgbClr val="000000"/>
                </a:solidFill>
                <a:latin typeface="Arial Unicode MS"/>
                <a:ea typeface="Arial Unicode MS"/>
                <a:cs typeface="Arial Unicode MS"/>
              </a:rPr>
              <a:t>五百八十秒</a:t>
            </a:r>
            <a:r>
              <a:rPr sz="95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158"/>
              </a:spcAft>
            </a:pPr>
            <a:r>
              <a:rPr sz="950" lang="zh-TW" dirty="0">
                <a:solidFill>
                  <a:srgbClr val="000000"/>
                </a:solidFill>
                <a:latin typeface="Arial Unicode MS"/>
                <a:ea typeface="Arial Unicode MS"/>
                <a:cs typeface="Arial Unicode MS"/>
              </a:rPr>
              <a:t>所以 IMU 的用法不是「過隧道」，是</a:t>
            </a:r>
            <a:r>
              <a:rPr sz="950" b="1" lang="zh-TW" dirty="0">
                <a:solidFill>
                  <a:srgbClr val="000000"/>
                </a:solidFill>
                <a:latin typeface="Arial Unicode MS"/>
                <a:ea typeface="Arial Unicode MS"/>
                <a:cs typeface="Arial Unicode MS"/>
              </a:rPr>
              <a:t>補洞</a:t>
            </a:r>
            <a:r>
              <a:rPr sz="950" lang="zh-TW" dirty="0">
                <a:solidFill>
                  <a:srgbClr val="000000"/>
                </a:solidFill>
                <a:latin typeface="Arial Unicode MS"/>
                <a:ea typeface="Arial Unicode MS"/>
                <a:cs typeface="Arial Unicode MS"/>
              </a:rPr>
              <a:t>：衛星斷一秒、兩秒、十秒的時候，它把這幾秒接起來。真的要過隧道，得靠別的，三樣各管一件事。</a:t>
            </a:r>
            <a:r>
              <a:rPr sz="950" b="1" lang="zh-TW" dirty="0">
                <a:solidFill>
                  <a:srgbClr val="000000"/>
                </a:solidFill>
                <a:latin typeface="Arial Unicode MS"/>
                <a:ea typeface="Arial Unicode MS"/>
                <a:cs typeface="Arial Unicode MS"/>
              </a:rPr>
              <a:t>輪速</a:t>
            </a:r>
            <a:r>
              <a:rPr sz="950" lang="zh-TW" dirty="0">
                <a:solidFill>
                  <a:srgbClr val="000000"/>
                </a:solidFill>
                <a:latin typeface="Arial Unicode MS"/>
                <a:ea typeface="Arial Unicode MS"/>
                <a:cs typeface="Arial Unicode MS"/>
              </a:rPr>
              <a:t>：每個輪子旁邊都有感測器，本來是給 ABS 用的，數輪子轉幾圈，就知道走了多遠、開多快；塞車停下來時，它說「車子沒動」，陀螺儀讀到的就全是零偏，可以趁機重新歸零。可是輪速不知道你在車道裡偏左還是偏右，那要靠</a:t>
            </a:r>
            <a:r>
              <a:rPr sz="950" b="1" lang="zh-TW" dirty="0">
                <a:solidFill>
                  <a:srgbClr val="000000"/>
                </a:solidFill>
                <a:latin typeface="Arial Unicode MS"/>
                <a:ea typeface="Arial Unicode MS"/>
                <a:cs typeface="Arial Unicode MS"/>
              </a:rPr>
              <a:t>相機看車道線</a:t>
            </a:r>
            <a:r>
              <a:rPr sz="950" lang="zh-TW" dirty="0">
                <a:solidFill>
                  <a:srgbClr val="000000"/>
                </a:solidFill>
                <a:latin typeface="Arial Unicode MS"/>
                <a:ea typeface="Arial Unicode MS"/>
                <a:cs typeface="Arial Unicode MS"/>
              </a:rPr>
              <a:t>。在隧道第幾公里、前面要不要轉彎，看</a:t>
            </a:r>
            <a:r>
              <a:rPr sz="950" b="1" lang="zh-TW" dirty="0">
                <a:solidFill>
                  <a:srgbClr val="000000"/>
                </a:solidFill>
                <a:latin typeface="Arial Unicode MS"/>
                <a:ea typeface="Arial Unicode MS"/>
                <a:cs typeface="Arial Unicode MS"/>
              </a:rPr>
              <a:t>高精地圖</a:t>
            </a:r>
            <a:r>
              <a:rPr sz="950" lang="zh-TW" dirty="0">
                <a:solidFill>
                  <a:srgbClr val="000000"/>
                </a:solidFill>
                <a:latin typeface="Arial Unicode MS"/>
                <a:ea typeface="Arial Unicode MS"/>
                <a:cs typeface="Arial Unicode MS"/>
              </a:rPr>
              <a:t>。就像閉著眼睛走路：數步數知道走了多遠，伸手摸到牆才知道有沒有歪。這是第五章的事。
</a:t>
            </a:r>
          </a:p>
          <a:p>
            <a:pPr algn="l">
              <a:spcBef>
                <a:spcPts val="0"/>
              </a:spcBef>
              <a:spcAft>
                <a:spcPts val="158"/>
              </a:spcAft>
            </a:pPr>
            <a:r>
              <a:rPr sz="95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下一節一題一題講作業：八個新型號、五個情境、四張表，我講一題、各位填一題，下課前每個人交一張。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2026-10-12T10:15:49Z</dcterms:created>
  <dcterms:modified xsi:type="dcterms:W3CDTF">2026-10-12T10:15:49Z</dcterms:modified>
</cp:coreProperties>
</file>