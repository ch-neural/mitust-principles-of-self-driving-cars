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第一顆，u-blox 的 </a:t>
            </a:r>
            <a:r>
              <a:rPr sz="850" b="1" lang="zh-TW" dirty="0">
                <a:solidFill>
                  <a:srgbClr val="000000"/>
                </a:solidFill>
                <a:latin typeface="Arial Unicode MS"/>
                <a:ea typeface="Arial Unicode MS"/>
                <a:cs typeface="Arial Unicode MS"/>
              </a:rPr>
              <a:t>NEO-M8N</a:t>
            </a:r>
            <a:r>
              <a:rPr sz="85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都是它。左邊是規格書第六頁的表，下面淡黃色那一行是同一頁最底下的註腳，中間省略了幾行。
</a:t>
            </a:r>
          </a:p>
          <a:p>
            <a:pPr algn="l">
              <a:spcBef>
                <a:spcPts val="0"/>
              </a:spcBef>
              <a:spcAft>
                <a:spcPts val="142"/>
              </a:spcAft>
            </a:pPr>
            <a:r>
              <a:rPr sz="850" b="1" lang="zh-TW" dirty="0">
                <a:solidFill>
                  <a:srgbClr val="000000"/>
                </a:solidFill>
                <a:latin typeface="Arial Unicode MS"/>
                <a:ea typeface="Arial Unicode MS"/>
                <a:cs typeface="Arial Unicode MS"/>
              </a:rPr>
              <a:t>Horizontal position accuracy，水平精度，2.5 公尺。</a:t>
            </a:r>
            <a:r>
              <a:rPr sz="850" lang="zh-TW" dirty="0">
                <a:solidFill>
                  <a:srgbClr val="000000"/>
                </a:solidFill>
                <a:latin typeface="Arial Unicode MS"/>
                <a:ea typeface="Arial Unicode MS"/>
                <a:cs typeface="Arial Unicode MS"/>
              </a:rPr>
              <a:t>同時收 GPS 和 GLONASS 的時候。旁邊有一欄 With SBAS，2.0 公尺。SBAS 是</a:t>
            </a:r>
            <a:r>
              <a:rPr sz="850" b="1" lang="zh-TW" dirty="0">
                <a:solidFill>
                  <a:srgbClr val="000000"/>
                </a:solidFill>
                <a:latin typeface="Arial Unicode MS"/>
                <a:ea typeface="Arial Unicode MS"/>
                <a:cs typeface="Arial Unicode MS"/>
              </a:rPr>
              <a:t>衛星增強系統</a:t>
            </a:r>
            <a:r>
              <a:rPr sz="850" lang="zh-TW" dirty="0">
                <a:solidFill>
                  <a:srgbClr val="000000"/>
                </a:solidFill>
                <a:latin typeface="Arial Unicode MS"/>
                <a:ea typeface="Arial Unicode MS"/>
                <a:cs typeface="Arial Unicode MS"/>
              </a:rPr>
              <a:t>：一國在地面設很多監測站，量出 GPS 現在差多少，算好修正，再從一顆停在赤道上空的衛星，用跟 GPS 同一個頻率廣播下來。接收機不用接網路，也不用付錢，收得到就準一點。美國有 WAAS、歐洲有 EGNOS、日本有 MSAS、印度有 GAGAN、中國有北斗的 BDSBAS。可是每一套的修正，是替自己國家那一區算的。台灣和越南不在任何一套的主要服務範圍裡，收得到鄰國的訊號，效果有限。就像收音機的路況報導：免費、一打開就有，可是播的是別的城市的路況。所以本課判讀用沒有 SBAS 的 2.5 公尺。
</a:t>
            </a:r>
          </a:p>
          <a:p>
            <a:pPr algn="l">
              <a:spcBef>
                <a:spcPts val="0"/>
              </a:spcBef>
              <a:spcAft>
                <a:spcPts val="142"/>
              </a:spcAft>
            </a:pPr>
            <a:r>
              <a:rPr sz="850" lang="zh-TW" dirty="0">
                <a:solidFill>
                  <a:srgbClr val="000000"/>
                </a:solidFill>
                <a:latin typeface="Arial Unicode MS"/>
                <a:ea typeface="Arial Unicode MS"/>
                <a:cs typeface="Arial Unicode MS"/>
              </a:rPr>
              <a:t>現在請各位看那個數字右上角的小 3，再看圖下面淡黃色那一行，就是</a:t>
            </a:r>
            <a:r>
              <a:rPr sz="850" b="1" lang="zh-TW" dirty="0">
                <a:solidFill>
                  <a:srgbClr val="000000"/>
                </a:solidFill>
                <a:latin typeface="Arial Unicode MS"/>
                <a:ea typeface="Arial Unicode MS"/>
                <a:cs typeface="Arial Unicode MS"/>
              </a:rPr>
              <a:t>註腳 3</a:t>
            </a:r>
            <a:r>
              <a:rPr sz="850" lang="zh-TW" dirty="0">
                <a:solidFill>
                  <a:srgbClr val="000000"/>
                </a:solidFill>
                <a:latin typeface="Arial Unicode MS"/>
                <a:ea typeface="Arial Unicode MS"/>
                <a:cs typeface="Arial Unicode MS"/>
              </a:rPr>
              <a:t>，右邊第二條把它翻成中文：</a:t>
            </a:r>
            <a:r>
              <a:rPr sz="850" b="1" lang="zh-TW" dirty="0">
                <a:solidFill>
                  <a:srgbClr val="000000"/>
                </a:solidFill>
                <a:latin typeface="Arial Unicode MS"/>
                <a:ea typeface="Arial Unicode MS"/>
                <a:cs typeface="Arial Unicode MS"/>
              </a:rPr>
              <a:t>CEP, 50%, 24 hours static, −130 dBm, more than 6 SVs</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一個一個講。</a:t>
            </a:r>
            <a:r>
              <a:rPr sz="850" b="1" lang="zh-TW" dirty="0">
                <a:solidFill>
                  <a:srgbClr val="000000"/>
                </a:solidFill>
                <a:latin typeface="Arial Unicode MS"/>
                <a:ea typeface="Arial Unicode MS"/>
                <a:cs typeface="Arial Unicode MS"/>
              </a:rPr>
              <a:t>CEP</a:t>
            </a:r>
            <a:r>
              <a:rPr sz="850" lang="zh-TW" dirty="0">
                <a:solidFill>
                  <a:srgbClr val="000000"/>
                </a:solidFill>
                <a:latin typeface="Arial Unicode MS"/>
                <a:ea typeface="Arial Unicode MS"/>
                <a:cs typeface="Arial Unicode MS"/>
              </a:rPr>
              <a:t> 是圓機率誤差，</a:t>
            </a:r>
            <a:r>
              <a:rPr sz="850" b="1" lang="zh-TW" dirty="0">
                <a:solidFill>
                  <a:srgbClr val="000000"/>
                </a:solidFill>
                <a:latin typeface="Arial Unicode MS"/>
                <a:ea typeface="Arial Unicode MS"/>
                <a:cs typeface="Arial Unicode MS"/>
              </a:rPr>
              <a:t>50%</a:t>
            </a:r>
            <a:r>
              <a:rPr sz="85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42"/>
              </a:spcAft>
            </a:pPr>
            <a:r>
              <a:rPr sz="85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850" b="1" lang="zh-TW" dirty="0">
                <a:solidFill>
                  <a:srgbClr val="000000"/>
                </a:solidFill>
                <a:latin typeface="Arial Unicode MS"/>
                <a:ea typeface="Arial Unicode MS"/>
                <a:cs typeface="Arial Unicode MS"/>
              </a:rPr>
              <a:t>乘以二，大約就是九成五的範圍</a:t>
            </a:r>
            <a:r>
              <a:rPr sz="85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42"/>
              </a:spcAft>
            </a:pPr>
            <a:r>
              <a:rPr sz="85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42"/>
              </a:spcAft>
            </a:pPr>
            <a:r>
              <a:rPr sz="850" lang="zh-TW" dirty="0">
                <a:solidFill>
                  <a:srgbClr val="000000"/>
                </a:solidFill>
                <a:latin typeface="Arial Unicode MS"/>
                <a:ea typeface="Arial Unicode MS"/>
                <a:cs typeface="Arial Unicode MS"/>
              </a:rPr>
              <a:t>各位還記得上週 OS1 那行 </a:t>
            </a:r>
            <a:r>
              <a:rPr sz="850" b="1" lang="zh-TW" dirty="0">
                <a:solidFill>
                  <a:srgbClr val="000000"/>
                </a:solidFill>
                <a:latin typeface="Arial Unicode MS"/>
                <a:ea typeface="Arial Unicode MS"/>
                <a:cs typeface="Arial Unicode MS"/>
              </a:rPr>
              <a:t>&gt;90% detection probability</a:t>
            </a:r>
            <a:r>
              <a:rPr sz="85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42"/>
              </a:spcAft>
            </a:pPr>
            <a:r>
              <a:rPr sz="850" b="1" lang="zh-TW" dirty="0">
                <a:solidFill>
                  <a:srgbClr val="000000"/>
                </a:solidFill>
                <a:latin typeface="Arial Unicode MS"/>
                <a:ea typeface="Arial Unicode MS"/>
                <a:cs typeface="Arial Unicode MS"/>
              </a:rPr>
              <a:t>24 hours static</a:t>
            </a:r>
            <a:r>
              <a:rPr sz="850" lang="zh-TW" dirty="0">
                <a:solidFill>
                  <a:srgbClr val="000000"/>
                </a:solidFill>
                <a:latin typeface="Arial Unicode MS"/>
                <a:ea typeface="Arial Unicode MS"/>
                <a:cs typeface="Arial Unicode MS"/>
              </a:rPr>
              <a:t>：接收機放著不動，量二十四小時。你在河內的路上以時速四十在跑，條件比這個差。</a:t>
            </a:r>
            <a:r>
              <a:rPr sz="850" b="1" lang="zh-TW" dirty="0">
                <a:solidFill>
                  <a:srgbClr val="000000"/>
                </a:solidFill>
                <a:latin typeface="Arial Unicode MS"/>
                <a:ea typeface="Arial Unicode MS"/>
                <a:cs typeface="Arial Unicode MS"/>
              </a:rPr>
              <a:t>−130 dBm</a:t>
            </a:r>
            <a:r>
              <a:rPr sz="850" lang="zh-TW" dirty="0">
                <a:solidFill>
                  <a:srgbClr val="000000"/>
                </a:solidFill>
                <a:latin typeface="Arial Unicode MS"/>
                <a:ea typeface="Arial Unicode MS"/>
                <a:cs typeface="Arial Unicode MS"/>
              </a:rPr>
              <a:t>：衛星訊號的強度，大約是天空開闊時收到的正常強度；樹下、窄巷裡會更弱。</a:t>
            </a:r>
            <a:r>
              <a:rPr sz="850" b="1" lang="zh-TW" dirty="0">
                <a:solidFill>
                  <a:srgbClr val="000000"/>
                </a:solidFill>
                <a:latin typeface="Arial Unicode MS"/>
                <a:ea typeface="Arial Unicode MS"/>
                <a:cs typeface="Arial Unicode MS"/>
              </a:rPr>
              <a:t>more than 6 SVs</a:t>
            </a:r>
            <a:r>
              <a:rPr sz="850" lang="zh-TW" dirty="0">
                <a:solidFill>
                  <a:srgbClr val="000000"/>
                </a:solidFill>
                <a:latin typeface="Arial Unicode MS"/>
                <a:ea typeface="Arial Unicode MS"/>
                <a:cs typeface="Arial Unicode MS"/>
              </a:rPr>
              <a:t>：SV 是衛星，至少看得到六顆，窄巷裡看不到六顆。
</a:t>
            </a:r>
          </a:p>
          <a:p>
            <a:pPr algn="l">
              <a:spcBef>
                <a:spcPts val="0"/>
              </a:spcBef>
              <a:spcAft>
                <a:spcPts val="142"/>
              </a:spcAft>
            </a:pPr>
            <a:r>
              <a:rPr sz="850" lang="zh-TW" dirty="0">
                <a:solidFill>
                  <a:srgbClr val="000000"/>
                </a:solidFill>
                <a:latin typeface="Arial Unicode MS"/>
                <a:ea typeface="Arial Unicode MS"/>
                <a:cs typeface="Arial Unicode MS"/>
              </a:rPr>
              <a:t>往下，</a:t>
            </a:r>
            <a:r>
              <a:rPr sz="850" b="1" lang="zh-TW" dirty="0">
                <a:solidFill>
                  <a:srgbClr val="000000"/>
                </a:solidFill>
                <a:latin typeface="Arial Unicode MS"/>
                <a:ea typeface="Arial Unicode MS"/>
                <a:cs typeface="Arial Unicode MS"/>
              </a:rPr>
              <a:t>更新率 5 Hz</a:t>
            </a:r>
            <a:r>
              <a:rPr sz="85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42"/>
              </a:spcAft>
            </a:pPr>
            <a:r>
              <a:rPr sz="850" b="1" lang="zh-TW" dirty="0">
                <a:solidFill>
                  <a:srgbClr val="000000"/>
                </a:solidFill>
                <a:latin typeface="Arial Unicode MS"/>
                <a:ea typeface="Arial Unicode MS"/>
                <a:cs typeface="Arial Unicode MS"/>
              </a:rPr>
              <a:t>Time-To-First-Fix，Cold start 26 秒。</a:t>
            </a:r>
            <a:r>
              <a:rPr sz="85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42"/>
              </a:spcAft>
            </a:pPr>
            <a:r>
              <a:rPr sz="85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：上一張講過的衛星增強系統。台灣和越南不在它的主要服務範圍，所以本課不算它。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先說清楚：影片裡那顆</a:t>
            </a:r>
            <a:r>
              <a:rPr sz="850" b="1" lang="zh-TW" dirty="0">
                <a:solidFill>
                  <a:srgbClr val="000000"/>
                </a:solidFill>
                <a:latin typeface="Arial Unicode MS"/>
                <a:ea typeface="Arial Unicode MS"/>
                <a:cs typeface="Arial Unicode MS"/>
              </a:rPr>
              <a:t>不是</a:t>
            </a:r>
            <a:r>
              <a:rPr sz="850" lang="zh-TW" dirty="0">
                <a:solidFill>
                  <a:srgbClr val="000000"/>
                </a:solidFill>
                <a:latin typeface="Arial Unicode MS"/>
                <a:ea typeface="Arial Unicode MS"/>
                <a:cs typeface="Arial Unicode MS"/>
              </a:rPr>
              <a:t>今天表上的 ICM-20948，是 Bosch 做給車子用的陀螺儀。它裝在車上的 </a:t>
            </a:r>
            <a:r>
              <a:rPr sz="850" b="1" lang="zh-TW" dirty="0">
                <a:solidFill>
                  <a:srgbClr val="000000"/>
                </a:solidFill>
                <a:latin typeface="Arial Unicode MS"/>
                <a:ea typeface="Arial Unicode MS"/>
                <a:cs typeface="Arial Unicode MS"/>
              </a:rPr>
              <a:t>ESP</a:t>
            </a:r>
            <a:r>
              <a:rPr sz="850" lang="zh-TW" dirty="0">
                <a:solidFill>
                  <a:srgbClr val="000000"/>
                </a:solidFill>
                <a:latin typeface="Arial Unicode MS"/>
                <a:ea typeface="Arial Unicode MS"/>
                <a:cs typeface="Arial Unicode MS"/>
              </a:rPr>
              <a:t>，也就是車身電子穩定系統：車子快要打滑、開始繞著自己轉的時候，ESP 會自動對某一個輪子煞車，把車身拉回來。陀螺儀的工作，就是量車子有沒有繞著自己轉。</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旁白說它裝在車子重心附近，例如安全氣囊的控制器裡。放這支影片，是因為手機級和車用級的陀螺儀，裡面的原理是一樣的。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量程就是量得到的範圍，像體重計最多量到一百五十公斤。這裡指最快量得到轉多快，就是第十一張的 Full-Scale Range、第十二張的 Dynamic Range，兩家叫法不同，講的是同一行。兩顆一樣，所以差的不是量程。就像兩支錶的錶面都是十二小時，差的是走得準不準。買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lang="zh-TW" dirty="0">
                <a:solidFill>
                  <a:srgbClr val="000000"/>
                </a:solidFill>
                <a:latin typeface="Arial Unicode MS"/>
                <a:ea typeface="Arial Unicode MS"/>
                <a:cs typeface="Arial Unicode MS"/>
              </a:rPr>
              <a:t>漂移怎麼算，用最簡單的方式。
</a:t>
            </a:r>
          </a:p>
          <a:p>
            <a:pPr algn="l">
              <a:spcBef>
                <a:spcPts val="0"/>
              </a:spcBef>
              <a:spcAft>
                <a:spcPts val="158"/>
              </a:spcAft>
            </a:pPr>
            <a:r>
              <a:rPr sz="95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950" b="1" lang="zh-TW" dirty="0">
                <a:solidFill>
                  <a:srgbClr val="000000"/>
                </a:solidFill>
                <a:latin typeface="Arial Unicode MS"/>
                <a:ea typeface="Arial Unicode MS"/>
                <a:cs typeface="Arial Unicode MS"/>
              </a:rPr>
              <a:t>航向的誤差＝偏差乘時間</a:t>
            </a:r>
            <a:r>
              <a:rPr sz="950" lang="zh-TW" dirty="0">
                <a:solidFill>
                  <a:srgbClr val="000000"/>
                </a:solidFill>
                <a:latin typeface="Arial Unicode MS"/>
                <a:ea typeface="Arial Unicode MS"/>
                <a:cs typeface="Arial Unicode MS"/>
              </a:rPr>
              <a:t>，愈久愈歪。
</a:t>
            </a:r>
          </a:p>
          <a:p>
            <a:pPr algn="l">
              <a:spcBef>
                <a:spcPts val="0"/>
              </a:spcBef>
              <a:spcAft>
                <a:spcPts val="158"/>
              </a:spcAft>
            </a:pPr>
            <a:r>
              <a:rPr sz="950" lang="zh-TW" dirty="0">
                <a:solidFill>
                  <a:srgbClr val="000000"/>
                </a:solidFill>
                <a:latin typeface="Arial Unicode MS"/>
                <a:ea typeface="Arial Unicode MS"/>
                <a:cs typeface="Arial Unicode MS"/>
              </a:rPr>
              <a:t>航向歪了，車子以為自己直直開，其實在斜著走。</a:t>
            </a:r>
            <a:r>
              <a:rPr sz="950" b="1" lang="zh-TW" dirty="0">
                <a:solidFill>
                  <a:srgbClr val="000000"/>
                </a:solidFill>
                <a:latin typeface="Arial Unicode MS"/>
                <a:ea typeface="Arial Unicode MS"/>
                <a:cs typeface="Arial Unicode MS"/>
              </a:rPr>
              <a:t>橫向偏掉的距離，大約是車速乘偏差乘時間的平方除以二。</a:t>
            </a:r>
            <a:r>
              <a:rPr sz="95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158"/>
              </a:spcAft>
            </a:pPr>
            <a:r>
              <a:rPr sz="950" lang="zh-TW" dirty="0">
                <a:solidFill>
                  <a:srgbClr val="000000"/>
                </a:solidFill>
                <a:latin typeface="Arial Unicode MS"/>
                <a:ea typeface="Arial Unicode MS"/>
                <a:cs typeface="Arial Unicode MS"/>
              </a:rPr>
              <a:t>左圖畫的就是這條算式。先教各位怎麼看：條件是</a:t>
            </a:r>
            <a:r>
              <a:rPr sz="950" b="1" lang="zh-TW" dirty="0">
                <a:solidFill>
                  <a:srgbClr val="000000"/>
                </a:solidFill>
                <a:latin typeface="Arial Unicode MS"/>
                <a:ea typeface="Arial Unicode MS"/>
                <a:cs typeface="Arial Unicode MS"/>
              </a:rPr>
              <a:t>時速八十，衛星突然斷掉</a:t>
            </a:r>
            <a:r>
              <a:rPr sz="950" lang="zh-TW" dirty="0">
                <a:solidFill>
                  <a:srgbClr val="000000"/>
                </a:solidFill>
                <a:latin typeface="Arial Unicode MS"/>
                <a:ea typeface="Arial Unicode MS"/>
                <a:cs typeface="Arial Unicode MS"/>
              </a:rPr>
              <a:t>。</a:t>
            </a:r>
            <a:r>
              <a:rPr sz="950" b="1" lang="zh-TW" dirty="0">
                <a:solidFill>
                  <a:srgbClr val="000000"/>
                </a:solidFill>
                <a:latin typeface="Arial Unicode MS"/>
                <a:ea typeface="Arial Unicode MS"/>
                <a:cs typeface="Arial Unicode MS"/>
              </a:rPr>
              <a:t>橫軸</a:t>
            </a:r>
            <a:r>
              <a:rPr sz="950" lang="zh-TW" dirty="0">
                <a:solidFill>
                  <a:srgbClr val="000000"/>
                </a:solidFill>
                <a:latin typeface="Arial Unicode MS"/>
                <a:ea typeface="Arial Unicode MS"/>
                <a:cs typeface="Arial Unicode MS"/>
              </a:rPr>
              <a:t>是斷掉以後過了幾秒，</a:t>
            </a:r>
            <a:r>
              <a:rPr sz="950" b="1" lang="zh-TW" dirty="0">
                <a:solidFill>
                  <a:srgbClr val="000000"/>
                </a:solidFill>
                <a:latin typeface="Arial Unicode MS"/>
                <a:ea typeface="Arial Unicode MS"/>
                <a:cs typeface="Arial Unicode MS"/>
              </a:rPr>
              <a:t>縱軸</a:t>
            </a:r>
            <a:r>
              <a:rPr sz="950" lang="zh-TW" dirty="0">
                <a:solidFill>
                  <a:srgbClr val="000000"/>
                </a:solidFill>
                <a:latin typeface="Arial Unicode MS"/>
                <a:ea typeface="Arial Unicode MS"/>
                <a:cs typeface="Arial Unicode MS"/>
              </a:rPr>
              <a:t>是車子以為自己在車道中間、其實已經橫向偏了幾公尺。中間那條紅線是</a:t>
            </a:r>
            <a:r>
              <a:rPr sz="950" b="1" lang="zh-TW" dirty="0">
                <a:solidFill>
                  <a:srgbClr val="000000"/>
                </a:solidFill>
                <a:latin typeface="Arial Unicode MS"/>
                <a:ea typeface="Arial Unicode MS"/>
                <a:cs typeface="Arial Unicode MS"/>
              </a:rPr>
              <a:t>零點五公尺</a:t>
            </a:r>
            <a:r>
              <a:rPr sz="950" lang="zh-TW" dirty="0">
                <a:solidFill>
                  <a:srgbClr val="000000"/>
                </a:solidFill>
                <a:latin typeface="Arial Unicode MS"/>
                <a:ea typeface="Arial Unicode MS"/>
                <a:cs typeface="Arial Unicode MS"/>
              </a:rPr>
              <a:t>：紅線以下淡綠色，還在車道內；紅線以上淡紅色，偏出車道。</a:t>
            </a:r>
            <a:r>
              <a:rPr sz="950" b="1" lang="zh-TW" dirty="0">
                <a:solidFill>
                  <a:srgbClr val="000000"/>
                </a:solidFill>
                <a:latin typeface="Arial Unicode MS"/>
                <a:ea typeface="Arial Unicode MS"/>
                <a:cs typeface="Arial Unicode MS"/>
              </a:rPr>
              <a:t>曲線碰到紅線的那一點，就是它撐得住的秒數。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為什麼紅線畫在零點五？看右上角那個小框：車道三點五公尺、車寬一點八，左右各只剩</a:t>
            </a:r>
            <a:r>
              <a:rPr sz="950" b="1" lang="zh-TW" dirty="0">
                <a:solidFill>
                  <a:srgbClr val="000000"/>
                </a:solidFill>
                <a:latin typeface="Arial Unicode MS"/>
                <a:ea typeface="Arial Unicode MS"/>
                <a:cs typeface="Arial Unicode MS"/>
              </a:rPr>
              <a:t>零點八五</a:t>
            </a:r>
            <a:r>
              <a:rPr sz="950" lang="zh-TW" dirty="0">
                <a:solidFill>
                  <a:srgbClr val="000000"/>
                </a:solidFill>
                <a:latin typeface="Arial Unicode MS"/>
                <a:ea typeface="Arial Unicode MS"/>
                <a:cs typeface="Arial Unicode MS"/>
              </a:rPr>
              <a:t>；再留一點給方向盤的晃動，零點五是保守一點的門檻。
</a:t>
            </a:r>
          </a:p>
          <a:p>
            <a:pPr algn="l">
              <a:spcBef>
                <a:spcPts val="0"/>
              </a:spcBef>
              <a:spcAft>
                <a:spcPts val="158"/>
              </a:spcAft>
            </a:pPr>
            <a:r>
              <a:rPr sz="950" b="1" lang="zh-TW" dirty="0">
                <a:solidFill>
                  <a:srgbClr val="000000"/>
                </a:solidFill>
                <a:latin typeface="Arial Unicode MS"/>
                <a:ea typeface="Arial Unicode MS"/>
                <a:cs typeface="Arial Unicode MS"/>
              </a:rPr>
              <a:t>綠線是工業級，8 °/h：三十四秒碰到紅線。</a:t>
            </a:r>
            <a:r>
              <a:rPr sz="950" lang="zh-TW" dirty="0">
                <a:solidFill>
                  <a:srgbClr val="000000"/>
                </a:solidFill>
                <a:latin typeface="Arial Unicode MS"/>
                <a:ea typeface="Arial Unicode MS"/>
                <a:cs typeface="Arial Unicode MS"/>
              </a:rPr>
              <a:t>三十四秒，時速八十可以跑七百五十公尺。</a:t>
            </a:r>
            <a:r>
              <a:rPr sz="950" b="1" lang="zh-TW" dirty="0">
                <a:solidFill>
                  <a:srgbClr val="000000"/>
                </a:solidFill>
                <a:latin typeface="Arial Unicode MS"/>
                <a:ea typeface="Arial Unicode MS"/>
                <a:cs typeface="Arial Unicode MS"/>
              </a:rPr>
              <a:t>黃線是手機級，1800 °/h：兩秒。</a:t>
            </a:r>
            <a:r>
              <a:rPr sz="95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158"/>
              </a:spcAft>
            </a:pPr>
            <a:r>
              <a:rPr sz="950" lang="zh-TW" dirty="0">
                <a:solidFill>
                  <a:srgbClr val="000000"/>
                </a:solidFill>
                <a:latin typeface="Arial Unicode MS"/>
                <a:ea typeface="Arial Unicode MS"/>
                <a:cs typeface="Arial Unicode MS"/>
              </a:rPr>
              <a:t>現在想隧道。雪山隧道十二點九公里，時速八十，</a:t>
            </a:r>
            <a:r>
              <a:rPr sz="950" b="1" lang="zh-TW" dirty="0">
                <a:solidFill>
                  <a:srgbClr val="000000"/>
                </a:solidFill>
                <a:latin typeface="Arial Unicode MS"/>
                <a:ea typeface="Arial Unicode MS"/>
                <a:cs typeface="Arial Unicode MS"/>
              </a:rPr>
              <a:t>五百八十秒</a:t>
            </a:r>
            <a:r>
              <a:rPr sz="95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158"/>
              </a:spcAft>
            </a:pPr>
            <a:r>
              <a:rPr sz="950" lang="zh-TW" dirty="0">
                <a:solidFill>
                  <a:srgbClr val="000000"/>
                </a:solidFill>
                <a:latin typeface="Arial Unicode MS"/>
                <a:ea typeface="Arial Unicode MS"/>
                <a:cs typeface="Arial Unicode MS"/>
              </a:rPr>
              <a:t>所以 IMU 的用法不是「過隧道」，是</a:t>
            </a:r>
            <a:r>
              <a:rPr sz="950" b="1" lang="zh-TW" dirty="0">
                <a:solidFill>
                  <a:srgbClr val="000000"/>
                </a:solidFill>
                <a:latin typeface="Arial Unicode MS"/>
                <a:ea typeface="Arial Unicode MS"/>
                <a:cs typeface="Arial Unicode MS"/>
              </a:rPr>
              <a:t>補洞</a:t>
            </a:r>
            <a:r>
              <a:rPr sz="950" lang="zh-TW" dirty="0">
                <a:solidFill>
                  <a:srgbClr val="000000"/>
                </a:solidFill>
                <a:latin typeface="Arial Unicode MS"/>
                <a:ea typeface="Arial Unicode MS"/>
                <a:cs typeface="Arial Unicode MS"/>
              </a:rPr>
              <a:t>：衛星斷一秒、兩秒、十秒的時候，它把這幾秒接起來。真的要過隧道，得靠別的，三樣各管一件事。</a:t>
            </a:r>
            <a:r>
              <a:rPr sz="950" b="1" lang="zh-TW" dirty="0">
                <a:solidFill>
                  <a:srgbClr val="000000"/>
                </a:solidFill>
                <a:latin typeface="Arial Unicode MS"/>
                <a:ea typeface="Arial Unicode MS"/>
                <a:cs typeface="Arial Unicode MS"/>
              </a:rPr>
              <a:t>輪速</a:t>
            </a:r>
            <a:r>
              <a:rPr sz="950" lang="zh-TW" dirty="0">
                <a:solidFill>
                  <a:srgbClr val="000000"/>
                </a:solidFill>
                <a:latin typeface="Arial Unicode MS"/>
                <a:ea typeface="Arial Unicode MS"/>
                <a:cs typeface="Arial Unicode MS"/>
              </a:rPr>
              <a:t>：每個輪子旁邊都有感測器，本來是給 ABS 用的，數輪子轉幾圈，就知道走了多遠、開多快；塞車停下來時，它說「車子沒動」，陀螺儀讀到的就全是零偏，可以趁機重新歸零。可是輪速不知道你在車道裡偏左還是偏右，那要靠</a:t>
            </a:r>
            <a:r>
              <a:rPr sz="950" b="1" lang="zh-TW" dirty="0">
                <a:solidFill>
                  <a:srgbClr val="000000"/>
                </a:solidFill>
                <a:latin typeface="Arial Unicode MS"/>
                <a:ea typeface="Arial Unicode MS"/>
                <a:cs typeface="Arial Unicode MS"/>
              </a:rPr>
              <a:t>相機看車道線</a:t>
            </a:r>
            <a:r>
              <a:rPr sz="950" lang="zh-TW" dirty="0">
                <a:solidFill>
                  <a:srgbClr val="000000"/>
                </a:solidFill>
                <a:latin typeface="Arial Unicode MS"/>
                <a:ea typeface="Arial Unicode MS"/>
                <a:cs typeface="Arial Unicode MS"/>
              </a:rPr>
              <a:t>。在隧道第幾公里、前面要不要轉彎，看</a:t>
            </a:r>
            <a:r>
              <a:rPr sz="950" b="1" lang="zh-TW" dirty="0">
                <a:solidFill>
                  <a:srgbClr val="000000"/>
                </a:solidFill>
                <a:latin typeface="Arial Unicode MS"/>
                <a:ea typeface="Arial Unicode MS"/>
                <a:cs typeface="Arial Unicode MS"/>
              </a:rPr>
              <a:t>高精地圖</a:t>
            </a:r>
            <a:r>
              <a:rPr sz="950" lang="zh-TW" dirty="0">
                <a:solidFill>
                  <a:srgbClr val="000000"/>
                </a:solidFill>
                <a:latin typeface="Arial Unicode MS"/>
                <a:ea typeface="Arial Unicode MS"/>
                <a:cs typeface="Arial Unicode MS"/>
              </a:rPr>
              <a:t>。就像閉著眼睛走路：數步數知道走了多遠，伸手摸到牆才知道有沒有歪。這是第五章的事。
</a:t>
            </a:r>
          </a:p>
          <a:p>
            <a:pPr algn="l">
              <a:spcBef>
                <a:spcPts val="0"/>
              </a:spcBef>
              <a:spcAft>
                <a:spcPts val="158"/>
              </a:spcAft>
            </a:pPr>
            <a:r>
              <a:rPr sz="95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下一節一題一題講作業：八個新型號、五個情境、四張表，我講一題、各位填一題，下課前每個人交一張。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657600" cy="1621185"/>
          </a:xfrm>
          <a:prstGeom prst="roundRect">
            <a:avLst>
              <a:gd name="adj" fmla="val 6768"/>
            </a:avLst>
          </a:prstGeom>
          <a:solidFill>
            <a:srgbClr val="FFFFFF"/>
          </a:solidFill>
          <a:ln w="12700">
            <a:solidFill>
              <a:srgbClr val="DBE3EA"/>
            </a:solidFill>
            <a:prstDash val="solid"/>
          </a:ln>
        </p:spPr>
      </p:sp>
      <p:pic>
        <p:nvPicPr>
          <p:cNvPr id="4" name="Image 0" descr="/Users/tsengchenghsun/Class/carClass/Claude outputs/第六週(10-15)/src/img/w6_neom8_accfn.png">    </p:cNvPr>
          <p:cNvPicPr>
            <a:picLocks noChangeAspect="1"/>
          </p:cNvPicPr>
          <p:nvPr/>
        </p:nvPicPr>
        <p:blipFill>
          <a:blip r:embed="rId1"/>
          <a:stretch>
            <a:fillRect/>
          </a:stretch>
        </p:blipFill>
        <p:spPr>
          <a:xfrm>
            <a:off x="576072" y="976816"/>
            <a:ext cx="3511296" cy="1240321"/>
          </a:xfrm>
          <a:prstGeom prst="rect">
            <a:avLst/>
          </a:prstGeom>
        </p:spPr>
      </p:pic>
      <p:sp>
        <p:nvSpPr>
          <p:cNvPr id="5" name="Text 2"/>
          <p:cNvSpPr txBox="1"/>
          <p:nvPr/>
        </p:nvSpPr>
        <p:spPr>
          <a:xfrm>
            <a:off x="576072" y="2261265"/>
            <a:ext cx="35112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與註腳 3（中間省略）· 節錄 · 讀取 2026/10/08</a:t>
            </a:r>
            <a:endParaRPr lang="en-US" sz="700" dirty="0"/>
          </a:p>
        </p:txBody>
      </p:sp>
      <p:sp>
        <p:nvSpPr>
          <p:cNvPr id="6" name="Text 3"/>
          <p:cNvSpPr txBox="1"/>
          <p:nvPr/>
        </p:nvSpPr>
        <p:spPr>
          <a:xfrm>
            <a:off x="4434840" y="786384"/>
            <a:ext cx="420624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NEO-M8N: 2,5 m CEP — một nửa số điểm nằm trong vòng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NEO-M8N：2.5 m CEP，一半的定位點在圈內</a:t>
            </a:r>
            <a:endParaRPr lang="en-US" sz="1800" dirty="0"/>
          </a:p>
        </p:txBody>
      </p:sp>
      <p:sp>
        <p:nvSpPr>
          <p:cNvPr id="7" name="Shape 4"/>
          <p:cNvSpPr/>
          <p:nvPr/>
        </p:nvSpPr>
        <p:spPr>
          <a:xfrm>
            <a:off x="4434840" y="1665299"/>
            <a:ext cx="1060704" cy="441959"/>
          </a:xfrm>
          <a:prstGeom prst="roundRect">
            <a:avLst>
              <a:gd name="adj" fmla="val 12414"/>
            </a:avLst>
          </a:prstGeom>
          <a:solidFill>
            <a:srgbClr val="0B1F3A"/>
          </a:solidFill>
          <a:ln/>
        </p:spPr>
      </p:sp>
      <p:sp>
        <p:nvSpPr>
          <p:cNvPr id="8" name="Text 5"/>
          <p:cNvSpPr txBox="1"/>
          <p:nvPr/>
        </p:nvSpPr>
        <p:spPr>
          <a:xfrm>
            <a:off x="448970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641848" y="1665299"/>
            <a:ext cx="299923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có SBAS 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m；有 SBAS 修正 2.0 m</a:t>
            </a:r>
            <a:endParaRPr lang="en-US" sz="1100" dirty="0"/>
          </a:p>
        </p:txBody>
      </p:sp>
      <p:sp>
        <p:nvSpPr>
          <p:cNvPr id="10" name="Shape 7"/>
          <p:cNvSpPr/>
          <p:nvPr/>
        </p:nvSpPr>
        <p:spPr>
          <a:xfrm>
            <a:off x="4434840" y="2226130"/>
            <a:ext cx="1060704" cy="441959"/>
          </a:xfrm>
          <a:prstGeom prst="roundRect">
            <a:avLst>
              <a:gd name="adj" fmla="val 12414"/>
            </a:avLst>
          </a:prstGeom>
          <a:solidFill>
            <a:srgbClr val="007F72"/>
          </a:solidFill>
          <a:ln/>
        </p:spPr>
      </p:sp>
      <p:sp>
        <p:nvSpPr>
          <p:cNvPr id="11" name="Text 8"/>
          <p:cNvSpPr txBox="1"/>
          <p:nvPr/>
        </p:nvSpPr>
        <p:spPr>
          <a:xfrm>
            <a:off x="448970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Chú thích 3</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註腳 3</a:t>
            </a:r>
            <a:endParaRPr lang="en-US" sz="900" dirty="0"/>
          </a:p>
        </p:txBody>
      </p:sp>
      <p:sp>
        <p:nvSpPr>
          <p:cNvPr id="12" name="Text 9"/>
          <p:cNvSpPr txBox="1"/>
          <p:nvPr/>
        </p:nvSpPr>
        <p:spPr>
          <a:xfrm>
            <a:off x="5641848" y="2226130"/>
            <a:ext cx="299923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CEP 50% · đứng yên 24 h · −130 dBm · &gt; 6 vệ tinh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CEP 50%・靜止 24 小時・−130 dBm・6 顆以上衛星</a:t>
            </a:r>
            <a:endParaRPr lang="en-US" sz="1100" dirty="0"/>
          </a:p>
        </p:txBody>
      </p:sp>
      <p:sp>
        <p:nvSpPr>
          <p:cNvPr id="13" name="Shape 10"/>
          <p:cNvSpPr/>
          <p:nvPr/>
        </p:nvSpPr>
        <p:spPr>
          <a:xfrm>
            <a:off x="4434840" y="2925325"/>
            <a:ext cx="1060704" cy="575199"/>
          </a:xfrm>
          <a:prstGeom prst="roundRect">
            <a:avLst>
              <a:gd name="adj" fmla="val 9538"/>
            </a:avLst>
          </a:prstGeom>
          <a:solidFill>
            <a:srgbClr val="FFB020"/>
          </a:solidFill>
          <a:ln/>
        </p:spPr>
      </p:sp>
      <p:sp>
        <p:nvSpPr>
          <p:cNvPr id="14" name="Text 11"/>
          <p:cNvSpPr txBox="1"/>
          <p:nvPr/>
        </p:nvSpPr>
        <p:spPr>
          <a:xfrm>
            <a:off x="4489704" y="2961901"/>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Cập nhật · 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更新・開機</a:t>
            </a:r>
            <a:endParaRPr lang="en-US" sz="900" dirty="0"/>
          </a:p>
        </p:txBody>
      </p:sp>
      <p:sp>
        <p:nvSpPr>
          <p:cNvPr id="15" name="Text 12"/>
          <p:cNvSpPr txBox="1"/>
          <p:nvPr/>
        </p:nvSpPr>
        <p:spPr>
          <a:xfrm>
            <a:off x="5641848" y="2925325"/>
            <a:ext cx="299923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khởi động lạnh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Hz；冷開機 26 秒</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655493" y="2517297"/>
            <a:ext cx="1352453" cy="1122015"/>
          </a:xfrm>
          <a:prstGeom prst="rect">
            <a:avLst/>
          </a:prstGeom>
        </p:spPr>
      </p:pic>
      <p:sp>
        <p:nvSpPr>
          <p:cNvPr id="17" name="Text 13"/>
          <p:cNvSpPr txBox="1"/>
          <p:nvPr/>
        </p:nvSpPr>
        <p:spPr>
          <a:xfrm>
            <a:off x="502920" y="3675888"/>
            <a:ext cx="365760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2026-10-14T07:03:48Z</dcterms:created>
  <dcterms:modified xsi:type="dcterms:W3CDTF">2026-10-14T07:03:48Z</dcterms:modified>
</cp:coreProperties>
</file>