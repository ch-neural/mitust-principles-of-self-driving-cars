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/>
  <p:notesSz cx="7560000" cy="106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/>
            </a:r>
          </a:p>
        </p:txBody>
      </p:sp>
      <p:sp>
        <p:nvSpPr>
          <p:cNvPr id="5" name="備忘稿版面配置區 4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  <a:prstGeom prst="rect">
            <a:avLst/>
          </a:prstGeo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/>
            </a: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  <a:prstGeom prst="rect">
            <a:avLst/>
          </a:prstGeo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742958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各位早，第六週。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上週下課前我說過一句話：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雷達的規格表跟光達完全不一樣。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今天就來看它到底哪裡不一樣。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先回想上週讀過的四個數字：視野、測距、解析度、更新率。光達和相機都是在講「看得多遠、看得多清楚」。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雷達的表上，前面那幾行還在，但是多了一行光達沒有的：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速度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。而且同一顆雷達，測距和視野會寫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兩組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數字，一組遠、一組近。這兩件事是今天的重點。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今天三節的安排：第一節雷達，第二節超音波、衛星定位、IMU，第三節上機，把今天的八個型號放進五個情境，在上週那張表上再加幾列。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上週那張作答單的截圖，有留著的人等一下拿出來，今天會用到。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網址跟上週很像，只差一個數字：week5 變成 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week6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。上週的那一頁還在，今天用新的這一頁。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打開以後，左邊的型號變成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十二個，分成五組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。最上面那一組是上週的四顆，光達和相機，答過的題目也還留著。下面四組是新的：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雷達、超音波、衛星定位、IMU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，每組兩顆。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兩件事先提醒。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第一，每一顆的四題不一樣了。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上週四顆問的都是視野、測距、解析度、更新率。今天雷達會問你速度，衛星會問你精度，IMU 會問你偏差。題目在每一顆的中間那一欄。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第二，最上面那一條情境，多了兩個：停車場、隧道。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停車場是時速五，隧道是雪山隧道，十二點九公里。等一下會用到。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現在請大家按第一組下面那一顆，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Continental ARS 408-21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。今天從它開始。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第一段，先把雷達在量什麼講清楚，再去讀表。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光達的做法各位很熟了：打一道雷射出去，等它彈回來，算時間。雷達不是算時間，它是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比頻率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。比頻率是什麼意思，下一張用唱歌來講。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它量三件事：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距離、速度、角度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。這三件事在規格表上各是一行，第二節讀表的時候各位會一行一行找到它們。先看它怎麼量。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左邊這張圖分三格，我一格一格講。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第一格，距離。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先看座標：橫的是時間，直的是頻率，不是訊號的強弱。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光達的做法是「嗶」一聲打出去，等回音，用碼錶算過了多久。汽車雷達不這樣做。它發出去的是一段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頻率一直往上爬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的訊號，從 77 GHz 平平順順升到 81 GHz，只花幾十微秒。畫在圖上，就是往右上斜的綠線。這一段英文叫 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chirp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，就是小鳥叫的時候往上揚的那種聲音。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為什麼要往上爬？舉個例子。各位站在山谷前面，從 Do 開始往上唱：Do、Re、Mi、Fa，一秒升一個音。唱到 Mi 的時候，聽到山谷傳回來的是 Do。差兩個音，就知道回音走了兩秒。山再遠一點，要唱到 Sol 才聽到 Do 回來，差四個音。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差幾個音，就知道山有多遠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，不用碼錶。雷達就是這樣：綠線是它現在唱的音，回音和它差的那一段，就是紅色的 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Δf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。所以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頻率差就是距離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黃色那條是回波。它就是同一段訊號，晚了一點才回來，所以形狀一樣，只是往右挪。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為什麼不直接用碼錶？因為電波太快了。一公尺來回只要六點七奈秒，便宜的晶片很難量這麼短的時間。換成頻率差就好量了。舉個好算的數字：四十微秒爬 4 GHz 的話，十五公尺外的東西，頻率差大約 10 MHz，一般的電路就量得到。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再來是頻寬。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這裡的頻寬不是網路的頻寬，意思是頻率的寬度，也就是綠線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從最低爬到最高，總共爬了多高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。從 77 爬到 81，就是 4 GHz，左邊那個 B。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頻寬愈寬，距離分得愈細。把它想成一把尺：頻寬決定尺上的刻度有多細。前面有兩個東西，一個在二十公尺，一個在二十點一公尺，如果落在同一格，雷達就把它們看成一個。刻度多細，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只看綠線爬了多高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，跟爬得快還是慢沒有關係。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公式是光速除以兩倍的頻寬。一步一步算：GHz 的 G 是十億，4 GHz 就是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四十億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赫茲，兩倍是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八十億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。為什麼要兩倍？因為電波要去再回來，走的是來回，跟下一節超音波公式最後要除以二是同一個道理。光速每秒三億公尺，除以八十億，就是零點零三七五公尺，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三點七五公分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。所以 4 GHz 分得開這兩個東西。如果只爬 1 GHz，只能分到十五公分，這兩個東西就會被看成同一個。第十二張那顆 TI 晶片的規格表，就只寫得出頻寬，到時候再看。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第二格，速度。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這一格先播影片。點圖下面那條紅色的 ▶，十九秒，整段播完。影片裡是一台消防車，警笛跟救護車一樣。播之前先說：「用耳朵聽，警笛的聲音有沒有變？」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前面十一秒畫面上只有馬路，只聽得到警笛越來越近。大約第十二秒，消防車從左邊遠處出現；第十三秒從鏡頭前面開過去，這時候警笛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突然變低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，然後越來越遠。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播完問：「消防車開過去以後，聲音變高還是變低？」答案：變低。可以再播一次，請學生在聲音變低的那一刻舉手。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接著講：警笛本身沒有換聲音，是車子在動。車子朝你開過來，聲波被擠密，頻率變高；開走以後，聲波被拉開，頻率變低。雷達的電波打到車子再彈回來，也會這樣變調，這叫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都卜勒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。變了多少，就知道車子多快，警察的測速槍就是用這個原理。所以雷達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一次量測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就讀出速度，這一行光達沒有。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第三格，角度。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閉上眼睛，有人在你右邊拍手，你也知道聲音在右邊。因為聲音先到右耳，晚一點點才到左耳。雷達的天線就是它的耳朵，只是有好幾根：波斜斜打過來，右邊那根先碰到，左邊晚一點，比一比就知道方向。天線愈多、排得愈開，角度分得愈細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三件事，三行，配三個例子：山谷的回音、救護車、兩隻耳朵。等一下讀表，各位就一行一行找這三行。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58"/>
              </a:spcAft>
            </a:pPr>
            <a:r>
              <a:rPr sz="9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第一個型號，Continental 的 </a:t>
            </a:r>
            <a:r>
              <a:rPr sz="9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ARS 408-21</a:t>
            </a:r>
            <a:r>
              <a:rPr sz="9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。這是二〇一八年的車用長距雷達，很多研究用的自駕車上都裝這一顆。左邊是它規格書第二頁的原圖，各位的判讀台上是同一張表。
</a:t>
            </a:r>
          </a:p>
          <a:p>
            <a:pPr algn="l">
              <a:spcBef>
                <a:spcPts val="0"/>
              </a:spcBef>
              <a:spcAft>
                <a:spcPts val="158"/>
              </a:spcAft>
            </a:pPr>
            <a:r>
              <a:rPr sz="9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從上往下看。</a:t>
            </a:r>
            <a:r>
              <a:rPr sz="9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第一行 Distance range，一行寫了三個數字。</a:t>
            </a:r>
            <a:r>
              <a:rPr sz="9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遠場零點二到</a:t>
            </a:r>
            <a:r>
              <a:rPr sz="9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兩百五十公尺</a:t>
            </a:r>
            <a:r>
              <a:rPr sz="9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。後面兩個都是近場，差在角度：正前方到正負四十五度，看得到</a:t>
            </a:r>
            <a:r>
              <a:rPr sz="9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七十公尺</a:t>
            </a:r>
            <a:r>
              <a:rPr sz="9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；到了最邊邊的正負六十度，只剩</a:t>
            </a:r>
            <a:r>
              <a:rPr sz="9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二十公尺</a:t>
            </a:r>
            <a:r>
              <a:rPr sz="9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。四十五度、六十度，指的是東西在雷達的哪個方向。所以近場越往旁邊，</a:t>
            </a:r>
            <a:r>
              <a:rPr sz="9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只看得到越近的東西</a:t>
            </a:r>
            <a:r>
              <a:rPr sz="9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。同樣在五十公尺外，正前方那台車它看得到；站在六十度方向的那個人，它看不到，要等他走進二十公尺內才看得到。
</a:t>
            </a:r>
          </a:p>
          <a:p>
            <a:pPr algn="l">
              <a:spcBef>
                <a:spcPts val="0"/>
              </a:spcBef>
              <a:spcAft>
                <a:spcPts val="158"/>
              </a:spcAft>
            </a:pPr>
            <a:r>
              <a:rPr sz="9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為什麼越往旁邊越差？拿一把三十公分的尺，正對著看是三十公分；轉六十度斜著看，只剩十五公分。雷達的天線排在一片平板上，東西在旁邊的時候，天線「看起來」也變短了，所以只看得到比較近的東西，也分得比較粗。
</a:t>
            </a:r>
          </a:p>
          <a:p>
            <a:pPr algn="l">
              <a:spcBef>
                <a:spcPts val="0"/>
              </a:spcBef>
              <a:spcAft>
                <a:spcPts val="158"/>
              </a:spcAft>
            </a:pPr>
            <a:r>
              <a:rPr sz="9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同一顆雷達，為什麼要寫遠場、近場兩組數字？下一張講。這裡先記住：這跟上週 OS1 的 80% 和 10% 一樣——同一顆、兩組數字，而且每一組都綁著條件。
</a:t>
            </a:r>
          </a:p>
          <a:p>
            <a:pPr algn="l">
              <a:spcBef>
                <a:spcPts val="0"/>
              </a:spcBef>
              <a:spcAft>
                <a:spcPts val="158"/>
              </a:spcAft>
            </a:pPr>
            <a:r>
              <a:rPr sz="9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跳兩行，</a:t>
            </a:r>
            <a:r>
              <a:rPr sz="9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Azimuth angle augmentation</a:t>
            </a:r>
            <a:r>
              <a:rPr sz="9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，後面括號寫 field of view，就是水平視野。遠場</a:t>
            </a:r>
            <a:r>
              <a:rPr sz="9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正負九度</a:t>
            </a:r>
            <a:r>
              <a:rPr sz="9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，近場</a:t>
            </a:r>
            <a:r>
              <a:rPr sz="9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正負六十度</a:t>
            </a:r>
            <a:r>
              <a:rPr sz="9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。各位把正負九度記起來，它是今天最重要的數字之一：看得到兩百五十公尺的那一束，只有十八度寬，像手電筒。
</a:t>
            </a:r>
          </a:p>
          <a:p>
            <a:pPr algn="l">
              <a:spcBef>
                <a:spcPts val="0"/>
              </a:spcBef>
              <a:spcAft>
                <a:spcPts val="158"/>
              </a:spcAft>
            </a:pPr>
            <a:r>
              <a:rPr sz="9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再往下，</a:t>
            </a:r>
            <a:r>
              <a:rPr sz="9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Resolution azimuth angle</a:t>
            </a:r>
            <a:r>
              <a:rPr sz="9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，水平角解析度。Azimuth 是水平方向，也就是左右的角度。這一行問的是：</a:t>
            </a:r>
            <a:r>
              <a:rPr sz="9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兩個東西離雷達一樣遠、跑得一樣快，左右至少要隔開幾度，雷達才看得出是兩個？</a:t>
            </a:r>
            <a:r>
              <a:rPr sz="9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隔得比這個角度近，它就當成一個。它跟準確度不一樣。準確度講的是一個東西，它的方向量得多準；解析度講的是兩個東西，分不分得開。例子在第八張：遠方來車的兩個頭燈黏成一盞，就是角解析度不夠。
</a:t>
            </a:r>
          </a:p>
          <a:p>
            <a:pPr algn="l">
              <a:spcBef>
                <a:spcPts val="0"/>
              </a:spcBef>
              <a:spcAft>
                <a:spcPts val="158"/>
              </a:spcAft>
            </a:pPr>
            <a:r>
              <a:rPr sz="9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各位看遠場那個數字——</a:t>
            </a:r>
            <a:r>
              <a:rPr sz="9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三十一點六度</a:t>
            </a:r>
            <a:r>
              <a:rPr sz="9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spcBef>
                <a:spcPts val="0"/>
              </a:spcBef>
              <a:spcAft>
                <a:spcPts val="158"/>
              </a:spcAft>
            </a:pPr>
            <a:r>
              <a:rPr sz="9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停一下。合理嗎？上一行 Azimuth beam width，波束寬，才兩點二度。解析度不可能比波束寬還寬十幾倍。這個數字是</a:t>
            </a:r>
            <a:r>
              <a:rPr sz="9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印錯的</a:t>
            </a:r>
            <a:r>
              <a:rPr sz="9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，其他版本的規格書和經銷商的產品頁都印 </a:t>
            </a:r>
            <a:r>
              <a:rPr sz="9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1.6 度</a:t>
            </a:r>
            <a:r>
              <a:rPr sz="9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，本課用 1.6。各位記住：</a:t>
            </a:r>
            <a:r>
              <a:rPr sz="9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規格表也會印錯，要用旁邊那幾行對一下。</a:t>
            </a:r>
            <a:r>
              <a:rPr sz="9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第二節超音波那份也有一個印錯的。
</a:t>
            </a:r>
          </a:p>
          <a:p>
            <a:pPr algn="l">
              <a:spcBef>
                <a:spcPts val="0"/>
              </a:spcBef>
              <a:spcAft>
                <a:spcPts val="158"/>
              </a:spcAft>
            </a:pPr>
            <a:r>
              <a:rPr sz="9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近場那幾個數字比較大：正前方 3.2 度，到六十度變成 12.3 度，越往旁邊分得越粗，跟剛剛斜看尺是同一個道理。遠場 1.6 度到了遠處是多寬，第八張算給各位看。先把這三行圈起來：測距兩組、視野兩組、解析度 1.6。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83"/>
              </a:spcAft>
            </a:pPr>
            <a:r>
              <a:rPr sz="11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上一張的表，每一行都寫兩組數字，遠場一組、近場一組。這一張講</a:t>
            </a:r>
            <a:r>
              <a:rPr sz="11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為什麼會有兩組</a:t>
            </a:r>
            <a:r>
              <a:rPr sz="11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，還有它對判定有什麼影響，不然第三節判定的時候各位會搞混。
</a:t>
            </a:r>
          </a:p>
          <a:p>
            <a:pPr algn="l">
              <a:spcBef>
                <a:spcPts val="0"/>
              </a:spcBef>
              <a:spcAft>
                <a:spcPts val="183"/>
              </a:spcAft>
            </a:pPr>
            <a:r>
              <a:rPr sz="11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答案在那張表的</a:t>
            </a:r>
            <a:r>
              <a:rPr sz="11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最下面兩行</a:t>
            </a:r>
            <a:r>
              <a:rPr sz="11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，就是底下這一條。先看 </a:t>
            </a:r>
            <a:r>
              <a:rPr sz="11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Antenna channels</a:t>
            </a:r>
            <a:r>
              <a:rPr sz="11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，寫的是 </a:t>
            </a:r>
            <a:r>
              <a:rPr sz="11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4TX／2×6RX</a:t>
            </a:r>
            <a:r>
              <a:rPr sz="11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：四根發射天線、兩組各六根接收。後面寫得更清楚：</a:t>
            </a:r>
            <a:r>
              <a:rPr sz="11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2TX/6RX far</a:t>
            </a:r>
            <a:r>
              <a:rPr sz="11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，兩根發射加六根接收，看遠；</a:t>
            </a:r>
            <a:r>
              <a:rPr sz="11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2TX/6RX near</a:t>
            </a:r>
            <a:r>
              <a:rPr sz="11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，另外兩根加六根，看近。兩組的天線數量一樣多。差別在排法：看遠的那組排得比較開，所以分得細、但看得窄；看近的那組擠在一起，看得寬、但分得粗。
</a:t>
            </a:r>
          </a:p>
          <a:p>
            <a:pPr algn="l">
              <a:spcBef>
                <a:spcPts val="0"/>
              </a:spcBef>
              <a:spcAft>
                <a:spcPts val="183"/>
              </a:spcAft>
            </a:pPr>
            <a:r>
              <a:rPr sz="11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再看上面那行 </a:t>
            </a:r>
            <a:r>
              <a:rPr sz="11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Cycle time</a:t>
            </a:r>
            <a:r>
              <a:rPr sz="11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：大約</a:t>
            </a:r>
            <a:r>
              <a:rPr sz="11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七十二毫秒</a:t>
            </a:r>
            <a:r>
              <a:rPr sz="11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一輪，後面寫 near and far measurement，遠場、近場在這一輪裡都量一次。一顆雷達，兩組天線，每七十二毫秒兩組都量一次。
</a:t>
            </a:r>
          </a:p>
          <a:p>
            <a:pPr algn="l">
              <a:spcBef>
                <a:spcPts val="0"/>
              </a:spcBef>
              <a:spcAft>
                <a:spcPts val="183"/>
              </a:spcAft>
            </a:pPr>
            <a:r>
              <a:rPr sz="11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各位的手機背面，大多有一顆廣角、一顆望遠。望遠那顆拍得遠，可是畫面窄；廣角那顆畫面寬，可是遠的東西拍不清楚。ARS 408 的遠場和近場，就像這兩顆鏡頭裝在同一支手機上。
</a:t>
            </a:r>
          </a:p>
          <a:p>
            <a:pPr algn="l">
              <a:spcBef>
                <a:spcPts val="0"/>
              </a:spcBef>
              <a:spcAft>
                <a:spcPts val="183"/>
              </a:spcAft>
            </a:pPr>
            <a:r>
              <a:rPr sz="11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所以遠場、近場不是模式切換，也不是兩顆雷達，是</a:t>
            </a:r>
            <a:r>
              <a:rPr sz="11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同時存在</a:t>
            </a:r>
            <a:r>
              <a:rPr sz="11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的兩組數字。
</a:t>
            </a:r>
          </a:p>
          <a:p>
            <a:pPr algn="l">
              <a:spcBef>
                <a:spcPts val="0"/>
              </a:spcBef>
              <a:spcAft>
                <a:spcPts val="183"/>
              </a:spcAft>
            </a:pPr>
            <a:r>
              <a:rPr sz="11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這會怎麼影響判定？看一個例子。</a:t>
            </a:r>
            <a:r>
              <a:rPr sz="11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河內尖峰，四十公尺外的機車。</a:t>
            </a:r>
            <a:r>
              <a:rPr sz="11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四十公尺在近場的範圍裡，近場正負六十度，側面鑽過來的機車看得到。</a:t>
            </a:r>
            <a:r>
              <a:rPr sz="11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國道，一百五十公尺外的車。</a:t>
            </a:r>
            <a:r>
              <a:rPr sz="11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一百五十公尺已經超過近場的七十公尺，只剩遠場——正負九度。前面那一道的車看得到，隔壁車道準備切過來的，要等它進到正負九度裡面才看得到。
</a:t>
            </a:r>
          </a:p>
          <a:p>
            <a:pPr algn="l">
              <a:spcBef>
                <a:spcPts val="0"/>
              </a:spcBef>
              <a:spcAft>
                <a:spcPts val="183"/>
              </a:spcAft>
            </a:pPr>
            <a:r>
              <a:rPr sz="11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判讀台上「視野」那一行會告訴你，你現在的目標距離落在哪一組。四十公尺寫近場，一百五十公尺寫遠場、後面有一個琥珀色的警告。
</a:t>
            </a:r>
          </a:p>
          <a:p>
            <a:pPr algn="l">
              <a:spcBef>
                <a:spcPts val="0"/>
              </a:spcBef>
              <a:spcAft>
                <a:spcPts val="183"/>
              </a:spcAft>
            </a:pPr>
            <a:r>
              <a:rPr sz="11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買雷達之前要問的問題就是這一句：</a:t>
            </a:r>
            <a:r>
              <a:rPr sz="11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我要的那個距離，是在哪一組？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6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把上週的兩顆光達和這顆雷達放在一起，同一台機車、同樣四十公尺。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第一列，水平角解析度。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OS1 零點三五度，AT128P 零點一度，雷達一點六度。雷達比光達粗四到十六倍。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為什麼差這麼多？雷達的電波，波長大約四公釐；光達的光，不到千分之一公釐。雷達的天線只有手掌大，波長又長，角度就分不細。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不過有一件事要先講清楚：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角度粗，不代表看不到。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看不看得到，看的是回波夠不夠強。機車、汽車是金屬，對雷達來說像一面鏡子，回波很強，一百公尺外照樣看得到。角度粗吃虧的是另一件事：兩個東西靠得很近，距離差不多、速度也差不多，雷達會把它們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看成一個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。下一張就算給各位看。雷達真正怕的，是又小、又不是金屬、又停著不動的東西，第十張再講。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第二列，攤到四十公尺有多寬。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算法跟第四週一樣：距離乘以角度的正切。四十乘 tan 一點六度，等於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一點一公尺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。一台機車才零點八公尺寬。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第三列，機車身上有幾個點。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光達那兩格是上週算過的，九個和一百二十一個。雷達那一格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不是數字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。因為雷達根本不是用「點」在看東西，它一束一點一公尺寬，打到機車，回來的是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一個目標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：距離多少、速度多少、角度多少。三個數字，沒有形狀。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所以光達給你的叫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點雲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，雷達給你的叫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目標清單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打個比方：光達像傳一張照片給你，每一個點都給；雷達像廣播員在報告：「前方四十公尺，一個目標，時速三十公里，偏右五度。」這一顆最多追蹤兩百多個目標，每一個都是三個數字。你要問它「那是機車還是行人」，它答不出來；你要問它「那個東西以每小時三十公里朝我過來」，它一次量測就告訴你，而且準到零點三七公里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這裡播影片。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點表格下面的 ▶，播到大約三十秒，看完一台紅車、一台白車就夠了。一分鐘以後是黑畫面。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這是德國一所大學實驗室錄的：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上週那顆 OS1 光達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和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這顆 ARS 408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 擺在一起，看車子從前面開過去。畫面上方有三樣東西：左邊是相機；中間那格的紅色星號，是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雷達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看到的，這格是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從上往下看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，因為這顆雷達量不到高度，只有距離和左右，只能畫成一張平面地圖；右邊的 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Punkte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 是德文的「點」，後面的數字是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光達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打在車上的點數。下面一大片，是光達畫出來的車。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請學生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比數量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，不用去找哪一顆星號是車。紅車開到正前方的時候，右邊的 Punkte 是一千多，下面畫得出整台車的樣子；中間那格的星號數得出來，大約十顆，看不出是什麼車。這就是照片和廣播員的差別。一台車有好幾個星號，是因為這一格畫的是比較原始的反射點；整理成清單以後，會合成一個目標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後面還有一台黑色的車，時間夠可以播到五十秒。黑車的光達點只剩七百個左右，比紅車、白車少很多。上週講過，深色的車反光比較弱，光達吃虧。雷達那一格，三台車看起來差不多。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第四列，速度。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這就是光達沒有的那一行。光達要拿兩張畫面相減才算得出速度；雷達是量到的。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所以兩種不是誰比較好。光達看形狀，雷達看動向。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7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左邊這張圖，兩格都是俯視，兩台機車並排、相隔一公尺，停在四十公尺外。注意橫向有放大五倍，不然一公尺的縫看不見。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左格是光達 AT128P。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零點一度一條線，四十公尺處相鄰兩條線才差七公分，兩台車各自吃到一把點，一看就是兩台。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右格是雷達 ARS 408。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一點六度一束，到四十公尺攤成一點一公尺，比兩台車中間那一公尺的縫還寬。兩台車被同一束蓋住，回來的是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一個目標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各位晚上看過遠方來車吧？你看得出它在哪個方向，可是兩個頭燈黏成一個光點；等車開近了，兩個頭燈才分開。雷達看兩台並排的機車就是這樣。不過，如果其中一台騎快一點，雷達用速度就分得開。會黏在一起的，是一樣快、並排騎的那種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現在把距離拉遠。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一百五十公尺，國道的情境。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一百五十乘 tan 一點六度，等於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四點二公尺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。一個車道三點五公尺。也就是說，一百五十公尺外那台車，雷達知道它在前方一百五十公尺、知道它的速度，可是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分不出它在你這一道，還是隔壁那一道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這就是第三節各位會看到的那一格紅字：國道，ARS 408 測距兩百五十公尺綽綽有餘，卡在角解析度。本課的門檻是：一束攤到目標的距離，要比一個車道窄。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所以路上的 ACC，就是自動跟車，雷達幾乎都配一顆相機。雷達管「多遠、多快」，相機管「哪一道」。兩個合起來才夠用。判讀台的第①個小工具就是在算這件事，拉距離看一束變多寬。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8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底下這一條是規格表的另外四行，都在講速度和時間。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Velocity range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，速度量程，負四百到正兩百公里。這是量得到的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相對速度範圍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，就像車上的速度表畫到兩百四，不代表車正在開兩百四，只代表最多顯示到那裡。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那負的是什麼意思？負號不是速度比零小，是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方向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。正的是接近，距離越來越短；負的是遠離，距離越來越長。第四張的消防車就是這樣：開過來的時候聲音變高，雷達記成正的；開走以後聲音變低，記成負的。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在白板上畫一條線：左邊寫遠離、負四百，右邊寫接近、正兩百，中間是零。平常指針都落在中間附近，舉三個例子。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第一，前車比我快三十公里，慢慢拉開，量到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負三十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第二，我追上一台比我慢二十公里的車，量到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正二十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第三，對向來車，兩台都開一百，相對速度就是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正兩百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，剛好碰到接近那一邊的盡頭。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遠離的相對速度，路上幾乎不可能到四百。負四百那一端平常用不到，只是規格表上的上限。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Velocity resolution，速度解析度，零點三七公里。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兩台車速度差零點三七公里以上，它就分得出是兩個目標。這一行，上週那三顆光達的表上一行都沒有。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下一行 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Velocity accuracy，速度準確度，正負零點一公里。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它跟上面那一行不一樣，差別跟第五張講角度時一樣：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準確度講一個東西，解析度講兩個東西。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準確度是：前面只有一台車，量出來的速度跟真正的速度最多差多少。解析度是：前面有兩台車，速度要差多少，它才分得出是兩台。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舉個例子。前車真的比你慢二十公里，雷達報出來會在十九點九到二十點一之間，這是準確度。旁邊並排還有一台，比你慢二十點二公里，兩台只差零點二，比零點三七還小，距離和方向又差不多，雷達就把兩台當成一台，這是解析度。表上旁邊那一欄寫 point targets，意思是在理想的小目標上量的，真的車子形狀複雜，會差一點。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為什麼沒有？因為光達不量速度。光達只量「現在在哪」，要知道速度，得拿這一張和上一張的位置相減，像拿兩張照片比一比。十赫茲的話，兩張差一百毫秒；中間車子加速或變道，它都要等下一張才知道。雷達用都卜勒，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一次量測就把速度讀出來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，第四張講過。就像警察的測速槍，按一下就有數字，不用等第二次。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有一點要注意：雷達量到的，只是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朝著它靠近或遠離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的那一份速度。救護車從你正前方橫著開過去的那一瞬間，警笛不高也不低。路口橫著穿過去的機車也一樣，雷達量到的速度接近零，要看它的位置怎麼變，才知道它往哪裡走。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Cycle time，七十二毫秒。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一秒鐘量十四次，遠場近場各一次。這就是它的更新率，比 OS1 的十赫茲快一點。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所以如果你要做的是「前面那台車突然煞車，我多快知道」，雷達是最直接的那一顆。看不到形狀，但是最早知道它在減速。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9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講完它的強項，講它的弱點。這兩件事規格表上都看不到，可是出事的時候就是出在這裡。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第一件，靜止的東西。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各位坐過火車吧？窗外的電線桿，一根一根迎面跑過來。雷達一路開過去也是這樣：路邊的護欄、路牌、橋墩，全部以你的車速迎面而來，全部都會反射，全部都是目標。停在車道上的一台車，也是用同樣的速度迎面而來，雷達分不出它跟路牌有什麼不一樣。如果每一個靜止的回波都當成障礙物，車子會一直莫名其妙急煞，這叫幽靈煞車。所以傳統雷達的軟體會做一件事：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把不動的回波丟掉。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這招平常很好用，直到有一天，前面停了一台車。美國這幾年有幾起事故，是車子在開輔助駕駛的時候撞上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停在路肩的消防車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。技術背景就是這個：雷達把靜止的消防車當成路邊的東西丟掉了，相機又沒認出來那是車。兩顆各自都「正常」，合起來出事。這句話上週講過，今天又出現一次。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這一行在規格表上找不到，它是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軟體的決定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。所以看雷達的時候，除了表上那幾行，還要問廠商一句：靜止目標你怎麼處理？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第二件，沒有高度。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各位翻回第五張那張表，Elevation angle augmentation，遠場十四度。那只是「上下看得到這麼寬」，不是「量得出高度」。就像只看一張平面地圖：天橋和天橋下停的車，在地圖上是同一個位置。所以一座橋和橋下停的一台車，在 ARS 408 眼裡都是「前方一百公尺有東西」。它分不出來。路上掉了一顆輪胎，它也分不出那是可以壓過去的還是要閃的。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這兩個弱點，有一個下一代的雷達解掉了一半。第十三張。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接下來兩張會出現三個型號，名字都很像，先分清楚。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第一列，是什麼。左邊 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TI 的 AWR1843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 是一顆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晶片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，是零件。右邊兩個，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ARS 408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 和 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ARS 548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，是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模組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，是做好的雷達，裝上車就能用。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第二列，誰在買。晶片是賣給做雷達的公司，他們買回去，自己加天線、加電路、加外殼、寫軟體。模組是賣給車廠，或者像我們這樣的學校、研究單位。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第三、第四列，看大小就知道差在哪裡。晶片一公分見方，自己不能用。模組是一個盒子，接上一條線就有資料出來。408 接 CAN；548 的資料量大很多，要接車用乙太網路。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第五、第六列，是 408 和 548 的差別：548 多量了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高度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，天線從二十四個變成一百九十二個。408 寫 Continental、548 寫 AUMOVIO，其實是同一批人做的，第十三張再講。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用車子來比：AWR1843 是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引擎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，ARS 408 是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一整台車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，ARS 548 是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同一家車廠七年後的新款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。下一張比的是引擎和整台車，第十三張比的是舊款和新款。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有一件事要注意：規格書沒有說 408 裡面用的就是 TI 這顆晶片。拿 TI 來比，是因為它的規格表公開、好讀，可以代表這一類晶片。學生如果問「408 裡面是不是這一顆」，就說規格書沒寫，我們不知道。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83"/>
              </a:spcAft>
            </a:pPr>
            <a:r>
              <a:rPr sz="11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上週有一題各位找得很火大：相機晶片的規格表上，找不到視野。今天同一件事再來一次。
</a:t>
            </a:r>
          </a:p>
          <a:p>
            <a:pPr algn="l">
              <a:spcBef>
                <a:spcPts val="0"/>
              </a:spcBef>
              <a:spcAft>
                <a:spcPts val="183"/>
              </a:spcAft>
            </a:pPr>
            <a:r>
              <a:rPr sz="11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左邊是 </a:t>
            </a:r>
            <a:r>
              <a:rPr sz="11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TI 的 AWR1843</a:t>
            </a:r>
            <a:r>
              <a:rPr sz="11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，德州儀器的雷達晶片，一顆一公分見方。右邊是剛剛那顆 ARS 408 的表。
</a:t>
            </a:r>
          </a:p>
          <a:p>
            <a:pPr algn="l">
              <a:spcBef>
                <a:spcPts val="0"/>
              </a:spcBef>
              <a:spcAft>
                <a:spcPts val="183"/>
              </a:spcAft>
            </a:pPr>
            <a:r>
              <a:rPr sz="11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左邊從上往下看：</a:t>
            </a:r>
            <a:r>
              <a:rPr sz="11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76 到 81 GHz，4 GHz 的頻寬。四根接收、三根發射。</a:t>
            </a:r>
            <a:r>
              <a:rPr sz="11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發射功率、雜訊，都有。再往下翻八十幾頁，</a:t>
            </a:r>
            <a:r>
              <a:rPr sz="11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沒有一行寫測距，沒有一行寫視野。</a:t>
            </a:r>
            <a:r>
              <a:rPr sz="11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spcBef>
                <a:spcPts val="0"/>
              </a:spcBef>
              <a:spcAft>
                <a:spcPts val="183"/>
              </a:spcAft>
            </a:pPr>
            <a:r>
              <a:rPr sz="11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為什麼？跟上週的答案一樣。晶片廠賣的是</a:t>
            </a:r>
            <a:r>
              <a:rPr sz="11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晶片</a:t>
            </a:r>
            <a:r>
              <a:rPr sz="11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，不是雷達。看多遠、看多寬，是</a:t>
            </a:r>
            <a:r>
              <a:rPr sz="11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天線</a:t>
            </a:r>
            <a:r>
              <a:rPr sz="11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決定的——天線排得多、排得大，就看得遠看得細。TI 不知道你會把它配什麼天線，所以它寫不出來。
</a:t>
            </a:r>
          </a:p>
          <a:p>
            <a:pPr algn="l">
              <a:spcBef>
                <a:spcPts val="0"/>
              </a:spcBef>
              <a:spcAft>
                <a:spcPts val="183"/>
              </a:spcAft>
            </a:pPr>
            <a:r>
              <a:rPr sz="11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就像汽車的引擎。引擎的規格表寫最大馬力，可是不會寫極速，極速要看整台車多重、輪胎多大、怎麼調校。TI 的晶片是引擎，Continental 的模組才是整台車。
</a:t>
            </a:r>
          </a:p>
          <a:p>
            <a:pPr algn="l">
              <a:spcBef>
                <a:spcPts val="0"/>
              </a:spcBef>
              <a:spcAft>
                <a:spcPts val="183"/>
              </a:spcAft>
            </a:pPr>
            <a:r>
              <a:rPr sz="11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那它寫得出什麼？</a:t>
            </a:r>
            <a:r>
              <a:rPr sz="11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頻寬</a:t>
            </a:r>
            <a:r>
              <a:rPr sz="11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，就是第四張那條綠線爬了多高。頻寬決定距離分得多細：四 GHz，三點七五公分。這是晶片自己就決定的事，所以它敢寫。還有</a:t>
            </a:r>
            <a:r>
              <a:rPr sz="11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天線數</a:t>
            </a:r>
            <a:r>
              <a:rPr sz="11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：三發四收，這是它能接幾根天線的上限。
</a:t>
            </a:r>
          </a:p>
          <a:p>
            <a:pPr algn="l">
              <a:spcBef>
                <a:spcPts val="0"/>
              </a:spcBef>
              <a:spcAft>
                <a:spcPts val="183"/>
              </a:spcAft>
            </a:pPr>
            <a:r>
              <a:rPr sz="11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右邊的 Continental 是</a:t>
            </a:r>
            <a:r>
              <a:rPr sz="11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模組</a:t>
            </a:r>
            <a:r>
              <a:rPr sz="11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：晶片加天線加外殼加軟體，裝上車就能用。所以它的表上有測距、有視野、有解析度。
</a:t>
            </a:r>
          </a:p>
          <a:p>
            <a:pPr algn="l">
              <a:spcBef>
                <a:spcPts val="0"/>
              </a:spcBef>
              <a:spcAft>
                <a:spcPts val="183"/>
              </a:spcAft>
            </a:pPr>
            <a:r>
              <a:rPr sz="11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上週是「感測器晶片沒有視野，鏡頭決定視野」；今天是「雷達晶片沒有測距，天線決定測距」。同一個道理：</a:t>
            </a:r>
            <a:r>
              <a:rPr sz="11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規格表上找不到的那一行，常常是因為那件事不歸這家公司管。</a:t>
            </a:r>
            <a:r>
              <a:rPr sz="11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spcBef>
                <a:spcPts val="0"/>
              </a:spcBef>
              <a:spcAft>
                <a:spcPts val="183"/>
              </a:spcAft>
            </a:pPr>
            <a:r>
              <a:rPr sz="11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左邊那張表還有一件事，順便說：TI 的表沒有印錯，但 Continental 那張的 31.6 度印錯了。這一週各位會看到兩處誤植，第二節還有一處。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第二個型號，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ARS 548 RDI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。這是同一家公司的新一代，二〇二五年的規格書。公司名字變成 AUMOVIO，是 Continental 把汽車電子部門分拆出去的新名字，東西是同一批人做的。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左邊的表長得跟 408 那張很像，一樣由上往下。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先看最下面那一行 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Antenna channels：16 收、12 發，一百九十二個虛擬天線。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408 是二十四個。第四張講過，天線愈多、排得愈開，角度分得愈細。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往上，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Azimuth beam width，一點二度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。408 是二點二度。這裡要講清楚一件事：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這張表上沒有「Resolution azimuth angle」這一行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，408 有、548 沒有。所以判讀台上我用波束寬一點二度當它解析度的上限，表上有註明。這也是讀規格表的常態：兩代的表，行不一樣，你要自己找對應。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再往上，看講「上下」的幾行。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Elevation angle augmentation，垂直視野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，上下看得到多寬。它跟距離綁在一起：三百公尺外是正負四度，一百公尺內是正負十四度。換成公尺算一下：三百乘 tan 四度，大約二十一公尺；一百乘 tan 十四度，大約二十五公尺。所以不管遠近，上下都看得到二十幾公尺。遠的地方角度收窄，是把電波集中起來，才照得到三百公尺。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注意，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408 的表上也有這一行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，十四度、二十度。所以光有這一行，還不算 4D。408 是上下看得到，可是看到以後，全部壓成同一個平面回報，分不出高低。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差別在下面那一行：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Accuracy elevation angle，正負零點一度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。這一行的意思是：每一個目標，它都量得出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往上幾度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，而且準到零點一度。408 的表上沒有這一行。有了角度，高度就算得出來，用的還是第四週那一招：距離乘 tan 角度。一百公尺外，往上三度，大約五公尺高，像一座天橋；往上半度，不到一公尺，像路上的車或輪胎。零點一度的誤差，在一百公尺處只差十幾公分。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所以「4D」是每一個目標都有四個數字：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距離、速度、水平角，加上高度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。408 只有前三個。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第十張說 ARS 408 像只看平面地圖，只寫「前方一百公尺有東西」。548 像立體地圖，會寫「前方一百公尺、五公尺高的地方有東西」。第十張講的那個弱點就解掉一半：天橋和路上的車，一個在上面、一個在下面；路上掉的輪胎，它知道那是一個矮矮的東西。靜止目標要不要丟，軟體就有更多線索可以判斷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不過跟第五張、第九張一樣，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量得準不等於分得開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。零點一度是一個東西的高度量得多準；兩個東西在同一個距離、一上一下，要分成兩個，看的是旁邊那一行 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Elevation beam width，二點三度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。一百公尺外，天橋和橋下的車上下差大約兩度多，剛好在邊上；開近到五十公尺，差到四度以上，就清楚分開了。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代價也在表上：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功耗十八瓦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，408 是六點六瓦；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五百二十六公克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，408 是三百二十公克；介面從 CAN 變成車用乙太網路，因為資料量大很多。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第三節上機，各位會看到這一顆五個情境全部過關。然後我會問一句：那每台車都裝它就好了？先想一下。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13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最後講一件各位第三週就聽過、今天可以用數字講清楚的事：為什麼雷達不怕雨。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三個數字。光達的雷射，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905 奈米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，差不多一微米。雷達，76 GHz，換成波長是 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4 公釐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。雨滴，大約 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 公釐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第三週用竹竿講過的規則：波長比障礙物小，被擋住；波長比障礙物大，繞過去。一微米的光碰到一公釐的雨滴，被擋住、被散射，所以光達在大雨裡測距掉一半。四公釐的電波碰到一公釐的雨滴，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繞過去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，當它不存在。就像海邊的大浪打到一根細細的小木樁，浪直接繞過去，後面照樣是浪。霧滴更小，更不用說。大雨的雨滴大一點，還是會有一點影響，只是比光達和相機輕很多。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所以雷達是車上唯一一顆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全天候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的感測器。下雨、起霧、晚上、逆光，它的那幾行數字幾乎不變。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但是各位注意，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全天候不等於全能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。同樣那個四公釐的波長，碰到零點八公尺寬的機車，回來的也只是「那裡有一個東西」。它看不到形狀，看不到顏色，分不出機車和行人，更讀不出紅綠燈。第七張那一格「一個目標」就是這個意思。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所以每一顆感測器都在做交換：雷達拿形狀換天候。第三週那張「誰補誰」的表，雷達補的是光達和相機在雨霧裡的洞。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好，上機。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14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十分鐘，自己做。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左邊選 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ARS 408-21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，中間四題：遠場測距、遠場視野、速度量程、速度解析度。答案都在左邊那張表上，選好按「檢查我的答案」。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速度量程那一題問的是：負的速度代表什麼？第九張講過，負號講的是方向。答案在那一行的括號裡，請自己找。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四題做完，看下面「這顆放進上面那個情境夠不夠用」。最上面那一條先選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河內尖峰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，看每一行；再選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國道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。國道那一格會變紅，請各位把紅字那一行唸出來，等一下我問。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做得快的，左邊切 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ARS 548 RDI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 再做一次四題。它的四題不一樣：測距、水平視野、垂直方向量得出什麼、更新率。做完比一下，兩代的表哪幾行變了。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我在教室裡走，卡住的舉手。十分鐘。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15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第一節收起來，三句話。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第一句，雷達量三件事，各一行：距離、速度、角度。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速度是直接量到的，光達的表上沒有這一行。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第二句，一顆雷達兩組數字。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遠場窄而遠，正負九度、兩百五十公尺；近場寬而近，正負六十度、七十公尺。買之前要問：我要的那個距離在哪一組。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第三句，角解析度一點六度，到遠處會變成好幾公尺。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它量得到距離，說不出在哪一道。這就是為什麼雷達一定配相機。新一代的 4D 雷達用一百九十二根天線把角度做細，還多了高度。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數字記不住的話，記今天的四個例子：山谷的回音是距離，救護車是速度，兩隻耳朵是角度，遠方黏成一盞的兩個頭燈，是角解析度不夠。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下一節換三種完全不同的東西：超音波、衛星定位、IMU。後兩種各位的手機裡都有。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休息十分鐘。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16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這一張不唸，是附錄。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第一頁是產品照和用途；第二頁是今天圈的那張表，Measuring performance 和 Operating conditions；第三頁是介面、尺寸和材質，138 乘 91 乘 31 公釐、三百二十公克、一條 CAN。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第二頁 Resolution azimuth angle 那一行印的「31.6°」就在這裡，各位可以自己看一次。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17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這一張也不唸，是附錄。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第一頁的說明文字裡寫著「target distances up to 300 m」，第二頁表上 Distance range 那一行印的卻是延伸範圍 301 到 1514 公尺——所以判讀台的測距寫 300，來源註明在表的下面。第三頁是介面與尺寸：車用乙太網路、137 乘 90 乘 39 公釐、526 公克。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18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這一張也不唸，是附錄。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第十二張那張 Features 就是從這一頁左上角裁下來的。整份八十七頁，從頭到尾沒有一行寫測距或視野——各位可以上 TI 的網站自己翻。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19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imoxDcn2Sgo" TargetMode="External"/><Relationship Id="rId1" Type="http://schemas.openxmlformats.org/officeDocument/2006/relationships/image" Target="../media/image-4-1.png"/><Relationship Id="rId3" Type="http://schemas.openxmlformats.org/officeDocument/2006/relationships/image" Target="../media/image-4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watch?v=wcr5EP5Qiio" TargetMode="External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15750" y="0"/>
          <a:ext cx="1" cy="1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59000" y="-1366875"/>
            <a:ext cx="4191750" cy="4191750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25875" y="2095875"/>
            <a:ext cx="2369250" cy="2369250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16938" y="1202850"/>
            <a:ext cx="6925500" cy="27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MITUST · Nguyên lý xe tự lái · Tuần 6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16938" y="1567350"/>
            <a:ext cx="7472250" cy="1002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9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Đọc datasheet của radar như thế nào</a:t>
            </a:r>
            <a:endParaRPr lang="en-US" sz="299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690" dirty="0">
                <a:solidFill>
                  <a:srgbClr val="C8D6E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雷達的規格表怎麼讀</a:t>
            </a:r>
            <a:endParaRPr lang="en-US" sz="2990" dirty="0"/>
          </a:p>
        </p:txBody>
      </p:sp>
      <p:sp>
        <p:nvSpPr>
          <p:cNvPr id="6" name="Shape 4"/>
          <p:cNvSpPr/>
          <p:nvPr/>
        </p:nvSpPr>
        <p:spPr>
          <a:xfrm>
            <a:off x="516938" y="2715525"/>
            <a:ext cx="1366875" cy="41006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16938" y="2916000"/>
            <a:ext cx="7107750" cy="830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C8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với lidar và camera: không có điểm ảnh, không có số kênh; thêm dòng tốc độ; tầm đo và góc nhìn ghi hai bộ số</a:t>
            </a: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AA0B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和光達、相機的表比：沒有像素、沒有線束數；多了速度那一行；測距和視野各寫兩組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16938" y="3881925"/>
            <a:ext cx="5923125" cy="382725"/>
          </a:xfrm>
          <a:prstGeom prst="roundRect">
            <a:avLst>
              <a:gd name="adj" fmla="val 16667"/>
            </a:avLst>
          </a:prstGeom>
          <a:solidFill>
            <a:srgbClr val="13314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4513" y="3927488"/>
            <a:ext cx="5667975" cy="29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FD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工具｜Công cụ： ch-neural.github.io/MITUST-Principles-of-Self-Driving-Cars/week6/spec/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516938" y="4355775"/>
            <a:ext cx="6925500" cy="27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A0B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第六週 第 1 節　2026/10/15（四）09:10–10:00　CH Tseng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71138" y="309825"/>
            <a:ext cx="2205225" cy="747225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</p:spPr>
      </p:sp>
      <p:pic>
        <p:nvPicPr>
          <p:cNvPr id="13" name="Image 0" descr="/Users/tsengchenghsun/Class/carClass/Claude outputs/第六週(10-15)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75488"/>
            <a:ext cx="1920240" cy="4242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2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Mở bàn đọc thông số — bản tuần 6</a:t>
            </a:r>
            <a:endParaRPr lang="en-US" sz="2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打開規格判讀台——第六週版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236208" y="1133856"/>
            <a:ext cx="2404872" cy="2624328"/>
          </a:xfrm>
          <a:prstGeom prst="roundRect">
            <a:avLst>
              <a:gd name="adj" fmla="val 3802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pic>
        <p:nvPicPr>
          <p:cNvPr id="4" name="Image 0" descr="/Users/tsengchenghsun/Class/carClass/Claude outputs/第六週(10-15)/src/img/w6_qr_sp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4224" y="1243584"/>
            <a:ext cx="2148840" cy="21488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236208" y="3429000"/>
            <a:ext cx="2404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Quét mã QR bằng camera điện thoại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用手機相機掃這個 QR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02920" y="1133856"/>
            <a:ext cx="5422392" cy="841248"/>
          </a:xfrm>
          <a:prstGeom prst="roundRect">
            <a:avLst>
              <a:gd name="adj" fmla="val 9783"/>
            </a:avLst>
          </a:prstGeom>
          <a:solidFill>
            <a:srgbClr val="0B1F3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9224" y="1225296"/>
            <a:ext cx="5129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https://ch-neural.github.io/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MITUST-Principles-of-Self-Driving-Cars/week6/spec/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39496" y="2157984"/>
            <a:ext cx="292608" cy="29260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39496" y="2167128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941832" y="2121408"/>
            <a:ext cx="4910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model, chia năm nhóm: bốn cái tuần trước vẫn ở trên cùng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十二個型號分五組：上週那四顆還在最上面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39496" y="2651760"/>
            <a:ext cx="292608" cy="29260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39496" y="2660904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941832" y="2615184"/>
            <a:ext cx="4910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model có bốn câu riêng — radar hỏi tốc độ, vệ tinh hỏi độ chính xác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每一顆的四題不一樣——雷達問速度，衛星問精度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39496" y="3239147"/>
            <a:ext cx="292608" cy="29260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39496" y="3248291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941832" y="3202571"/>
            <a:ext cx="4910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Thanh tình huống có thêm «bãi đỗ xe» và «đường hầm»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情境那一條多了「停車場」和「隧道」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02920" y="3913632"/>
            <a:ext cx="8138160" cy="603504"/>
          </a:xfrm>
          <a:prstGeom prst="roundRect">
            <a:avLst>
              <a:gd name="adj" fmla="val 13636"/>
            </a:avLst>
          </a:prstGeom>
          <a:solidFill>
            <a:srgbClr val="FFF6E3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5800" y="3977640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b="1" dirty="0">
                <a:solidFill>
                  <a:srgbClr val="7A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Mở xong, bấm thử Continental ARS 408-21 — hôm nay bắt đầu từ nó.</a:t>
            </a:r>
            <a:endParaRPr lang="en-US" sz="12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7A4E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打開之後先按 Continental ARS 408-21，今天從它開始。</a:t>
            </a:r>
            <a:endParaRPr lang="en-US" sz="1200" dirty="0"/>
          </a:p>
        </p:txBody>
      </p:sp>
      <p:pic>
        <p:nvPicPr>
          <p:cNvPr id="20" name="Image 1" descr="/Users/tsengchenghsun/Class/carClass/Claude outputs/第六週(10-15)/src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19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371600"/>
            <a:ext cx="4206240" cy="4206240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0" y="2103120"/>
            <a:ext cx="2377440" cy="2377440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169164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Phần 1 / 3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048256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Radar đo ba thứ: khoảng cách, tốc độ, góc</a:t>
            </a:r>
            <a:endParaRPr lang="en-US" sz="29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雷達量三件事：距離、速度、角度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3346704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AF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Trên datasheet, mỗi thứ là một dòng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AA0B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規格表上各是一行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19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2062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Nguyên lý · 它怎麼量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02920" y="918972"/>
            <a:ext cx="3305556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pic>
        <p:nvPicPr>
          <p:cNvPr id="4" name="Image 0" descr="/Users/tsengchenghsun/Class/carClass/Claude outputs/第六週(10-15)/src/img/w6_s04_fmc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031748"/>
            <a:ext cx="3159252" cy="210616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76072" y="3214116"/>
            <a:ext cx="31592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示意圖：課程自製（src/tools_make_diagrams.py）</a:t>
            </a:r>
            <a:endParaRPr lang="en-US" sz="700" dirty="0"/>
          </a:p>
        </p:txBody>
      </p:sp>
      <p:sp>
        <p:nvSpPr>
          <p:cNvPr id="6" name="Text 3"/>
          <p:cNvSpPr txBox="1"/>
          <p:nvPr/>
        </p:nvSpPr>
        <p:spPr>
          <a:xfrm>
            <a:off x="4119372" y="914400"/>
            <a:ext cx="4521708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Lệch tần số = khoảng cách, Doppler = tốc độ, lệch pha giữa các anten = góc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頻率差＝距離，都卜勒＝速度，天線之間的相位差＝角度</a:t>
            </a:r>
            <a:endParaRPr lang="en-US" sz="2300" dirty="0"/>
          </a:p>
          <a:p>
            <a:pPr indent="0" marL="0">
              <a:lnSpc>
                <a:spcPct val="120000"/>
              </a:lnSpc>
              <a:spcBef>
                <a:spcPts val="1440"/>
              </a:spcBef>
              <a:buNone/>
            </a:pPr>
            <a:r>
              <a:rPr lang="en-US" sz="12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 dòng trên datasheet: Distance range, Velocity resolution, Resolution azimuth angle. Lidar không có dòng ở giữa.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規格表上就是三行：Distance range、Velocity resolution、Resolution azimuth angle。光達沒有中間那一行。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539496" y="3534156"/>
            <a:ext cx="219456" cy="219456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39496" y="3561588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750" dirty="0"/>
          </a:p>
        </p:txBody>
      </p:sp>
      <p:sp>
        <p:nvSpPr>
          <p:cNvPr id="9" name="Text 6"/>
          <p:cNvSpPr txBox="1"/>
          <p:nvPr/>
        </p:nvSpPr>
        <p:spPr>
          <a:xfrm>
            <a:off x="832104" y="3488436"/>
            <a:ext cx="29763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b="1" u="sng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Video: xe cứu hỏa chạy qua　0:19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b="1" u="sng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影片：消防車開過去　</a:t>
            </a:r>
            <a:pPr indent="0" marL="0">
              <a:lnSpc>
                <a:spcPct val="100000"/>
              </a:lnSpc>
              <a:buNone/>
            </a:pPr>
            <a:r>
              <a:rPr lang="en-US" sz="850" u="sng" dirty="0">
                <a:solidFill>
                  <a:srgbClr val="1F6FB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youtube.com/watch?v=imoxDcn2Sgo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02920" y="3913632"/>
            <a:ext cx="8138160" cy="621792"/>
          </a:xfrm>
          <a:prstGeom prst="roundRect">
            <a:avLst>
              <a:gd name="adj" fmla="val 13235"/>
            </a:avLst>
          </a:prstGeom>
          <a:solidFill>
            <a:srgbClr val="FFF6E3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3986784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7A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Tuần 3 nói «radar đo tốc độ trực tiếp» — hôm nay nó là một dòng số trên bảng.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7A4E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第三週講過「雷達直接量速度」，今天它變成規格表上的一行數字。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543241" y="365760"/>
            <a:ext cx="4097839" cy="310896"/>
          </a:xfrm>
          <a:prstGeom prst="roundRect">
            <a:avLst>
              <a:gd name="adj" fmla="val 20588"/>
            </a:avLst>
          </a:prstGeom>
          <a:solidFill>
            <a:srgbClr val="EAF6F4"/>
          </a:solidFill>
          <a:ln w="9525">
            <a:solidFill>
              <a:srgbClr val="9FD6C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671257" y="384048"/>
            <a:ext cx="391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 dụ ·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hát vào thung lũng · còi xe cứu thương · hai tai nghe hướng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例子・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對山谷唱歌、救護車變調、兩隻耳朵聽方向</a:t>
            </a:r>
            <a:endParaRPr lang="en-US" sz="950" dirty="0"/>
          </a:p>
        </p:txBody>
      </p:sp>
      <p:pic>
        <p:nvPicPr>
          <p:cNvPr id="15" name="Image 1" descr="/Users/tsengchenghsun/Class/carClass/Claude outputs/第六週(10-15)/src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19</a:t>
            </a:r>
            <a:endParaRPr lang="en-US" sz="900" dirty="0"/>
          </a:p>
        </p:txBody>
      </p:sp>
      <p:sp>
        <p:nvSpPr>
          <p:cNvPr id="17" name="Text 12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2　Continental ARS 408-21（2018）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02920" y="1682496"/>
            <a:ext cx="2907138" cy="2395728"/>
          </a:xfrm>
          <a:prstGeom prst="roundRect">
            <a:avLst>
              <a:gd name="adj" fmla="val 4580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pic>
        <p:nvPicPr>
          <p:cNvPr id="4" name="Image 0" descr="/Users/tsengchenghsun/Class/carClass/Claude outputs/第六週(10-15)/src/img/w6_ars408_per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807648"/>
            <a:ext cx="2760834" cy="19625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76072" y="3840480"/>
            <a:ext cx="27608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Continental Engineering Services, ARS 408-21 data sheet, p.2 · 節錄 · 讀取 2026/10/08</a:t>
            </a:r>
            <a:endParaRPr lang="en-US" sz="700" dirty="0"/>
          </a:p>
        </p:txBody>
      </p:sp>
      <p:sp>
        <p:nvSpPr>
          <p:cNvPr id="6" name="Text 3"/>
          <p:cNvSpPr txBox="1"/>
          <p:nvPr/>
        </p:nvSpPr>
        <p:spPr>
          <a:xfrm>
            <a:off x="3684378" y="786384"/>
            <a:ext cx="4956702" cy="1236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8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Tầm đo và góc nhìn của ARS 408 mỗi thứ ghi hai bộ số: vùng xa 250 m / ±9°, vùng gần 70 m / ±60°</a:t>
            </a:r>
            <a:endParaRPr lang="en-US" sz="18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ARS 408 的測距和視野各寫兩組數字：遠場 250 m／±9°，近場 70 m／±60°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3684378" y="2114513"/>
            <a:ext cx="1060704" cy="441959"/>
          </a:xfrm>
          <a:prstGeom prst="roundRect">
            <a:avLst>
              <a:gd name="adj" fmla="val 12414"/>
            </a:avLst>
          </a:prstGeom>
          <a:solidFill>
            <a:srgbClr val="0B1F3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39242" y="2151089"/>
            <a:ext cx="950976" cy="387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Tầm đo</a:t>
            </a:r>
            <a:endParaRPr lang="en-US" sz="900" dirty="0"/>
          </a:p>
          <a:p>
            <a:pPr algn="ct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測距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4891386" y="2114513"/>
            <a:ext cx="3749694" cy="496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 range: 250 m vùng xa, 70 m vùng gần</a:t>
            </a:r>
            <a:endParaRPr lang="en-US" sz="11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Distance range：遠場 250 m、近場 70 m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684378" y="2675344"/>
            <a:ext cx="1060704" cy="441959"/>
          </a:xfrm>
          <a:prstGeom prst="roundRect">
            <a:avLst>
              <a:gd name="adj" fmla="val 12414"/>
            </a:avLst>
          </a:prstGeom>
          <a:solidFill>
            <a:srgbClr val="007F7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739242" y="2711920"/>
            <a:ext cx="950976" cy="387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Góc nhìn</a:t>
            </a:r>
            <a:endParaRPr lang="en-US" sz="900" dirty="0"/>
          </a:p>
          <a:p>
            <a:pPr algn="ct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視野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4891386" y="2675344"/>
            <a:ext cx="3749694" cy="496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Azimuth angle augmentation: ±9° xa, ±60° gần</a:t>
            </a:r>
            <a:endParaRPr lang="en-US" sz="11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Azimuth angle augmentation：遠場 ±9°、近場 ±60°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684378" y="3236174"/>
            <a:ext cx="1060704" cy="441959"/>
          </a:xfrm>
          <a:prstGeom prst="roundRect">
            <a:avLst>
              <a:gd name="adj" fmla="val 12414"/>
            </a:avLst>
          </a:prstGeom>
          <a:solidFill>
            <a:srgbClr val="FFB020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739242" y="3272750"/>
            <a:ext cx="950976" cy="387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90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giải góc</a:t>
            </a:r>
            <a:endParaRPr lang="en-US" sz="900" dirty="0"/>
          </a:p>
          <a:p>
            <a:pPr algn="ct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3A2A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角解析度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4891386" y="3236174"/>
            <a:ext cx="3749694" cy="635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 azimuth angle: 1,6° vùng xa (bản in ghi «31,6°»)</a:t>
            </a:r>
            <a:endParaRPr lang="en-US" sz="11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Resolution azimuth angle：遠場 1.6°（原件印成 31.6°）</a:t>
            </a:r>
            <a:endParaRPr lang="en-US" sz="1100" dirty="0"/>
          </a:p>
        </p:txBody>
      </p:sp>
      <p:pic>
        <p:nvPicPr>
          <p:cNvPr id="16" name="Image 1" descr="/Users/tsengchenghsun/Class/carClass/Claude outputs/第六週(10-15)/src/img/w6_pic_ars40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649224"/>
            <a:ext cx="1799178" cy="987552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2503266" y="1417320"/>
            <a:ext cx="906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ARS 408-21　圖：規格書第 1 頁</a:t>
            </a:r>
            <a:endParaRPr lang="en-US" sz="700" dirty="0"/>
          </a:p>
        </p:txBody>
      </p:sp>
      <p:sp>
        <p:nvSpPr>
          <p:cNvPr id="18" name="Shape 14"/>
          <p:cNvSpPr/>
          <p:nvPr/>
        </p:nvSpPr>
        <p:spPr>
          <a:xfrm>
            <a:off x="502920" y="3931920"/>
            <a:ext cx="8138160" cy="566928"/>
          </a:xfrm>
          <a:prstGeom prst="roundRect">
            <a:avLst>
              <a:gd name="adj" fmla="val 14516"/>
            </a:avLst>
          </a:prstGeom>
          <a:solidFill>
            <a:srgbClr val="FFF6E3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85800" y="39959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b="1" dirty="0">
                <a:solidFill>
                  <a:srgbClr val="7A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 m nhưng chỉ ±9°: chùm nhìn xa hẹp như đèn pin.</a:t>
            </a:r>
            <a:endParaRPr lang="en-US" sz="1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7A4E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250 公尺只有 ±9 度：看得遠的那一束，窄得像手電筒。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5170983" y="365760"/>
            <a:ext cx="3470097" cy="310896"/>
          </a:xfrm>
          <a:prstGeom prst="roundRect">
            <a:avLst>
              <a:gd name="adj" fmla="val 20588"/>
            </a:avLst>
          </a:prstGeom>
          <a:solidFill>
            <a:srgbClr val="EAF6F4"/>
          </a:solidFill>
          <a:ln w="9525">
            <a:solidFill>
              <a:srgbClr val="9FD6CE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5298999" y="384048"/>
            <a:ext cx="32872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 dụ ·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nhìn nghiêng cây thước 30 cm, chỉ còn thấy 15 cm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例子・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30 公分的尺斜著看，只剩 15 公分</a:t>
            </a:r>
            <a:endParaRPr lang="en-US" sz="950" dirty="0"/>
          </a:p>
        </p:txBody>
      </p:sp>
      <p:pic>
        <p:nvPicPr>
          <p:cNvPr id="23" name="Image 2" descr="/Users/tsengchenghsun/Class/carClass/Claude outputs/第六週(10-15)/src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19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2062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Đọc kỹ · 遠場與近場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14400"/>
            <a:ext cx="81381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Vùng xa và vùng gần là hai bộ anten trong cùng một radar, mỗi 72 ms đo cả hai</a:t>
            </a:r>
            <a:endParaRPr lang="en-US" sz="1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遠場、近場是同一顆雷達裡的兩組天線，每 72 毫秒各量一次</a:t>
            </a:r>
            <a:endParaRPr lang="en-US" sz="1900" dirty="0"/>
          </a:p>
          <a:p>
            <a:pPr indent="0" marL="0">
              <a:lnSpc>
                <a:spcPct val="120000"/>
              </a:lnSpc>
              <a:spcBef>
                <a:spcPts val="1440"/>
              </a:spcBef>
              <a:buNone/>
            </a:pPr>
            <a:r>
              <a:rPr lang="en-US" sz="12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 dòng cuối của bảng: Antenna channels ghi 2TX/6RX nhìn xa, 2TX/6RX nhìn gần; Cycle time ghi mỗi 72 ms đo cả hai.</a:t>
            </a:r>
            <a:endParaRPr lang="en-US" sz="1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表的最後兩行：Antenna channels 寫 2TX/6RX 看遠、2TX/6RX 看近；Cycle time 寫每 72 毫秒兩組都量一次。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2615184"/>
            <a:ext cx="8138160" cy="1261872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pic>
        <p:nvPicPr>
          <p:cNvPr id="5" name="Image 0" descr="/Users/tsengchenghsun/Class/carClass/Claude outputs/第六週(10-15)/src/img/w6_ars408_cyca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1749" y="2706624"/>
            <a:ext cx="7740502" cy="914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76072" y="3657600"/>
            <a:ext cx="7991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Continental Engineering Services, ARS 408-21 data sheet, p.2 · 節錄 · 讀取 2026/10/08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502920" y="3913632"/>
            <a:ext cx="8138160" cy="621792"/>
          </a:xfrm>
          <a:prstGeom prst="roundRect">
            <a:avLst>
              <a:gd name="adj" fmla="val 13235"/>
            </a:avLst>
          </a:prstGeom>
          <a:solidFill>
            <a:srgbClr val="FFF6E3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3986784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7A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Xe máy ở 40 m: vùng gần ±60°. Ô tô ở 150 m: vùng xa ±9° — xe cắt vào từ bên, vùng xa không thấy.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7A4E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40 公尺的機車在近場 ±60°；150 公尺的車在遠場 ±9°——側面切進來的看不到。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399253" y="365760"/>
            <a:ext cx="3241827" cy="310896"/>
          </a:xfrm>
          <a:prstGeom prst="roundRect">
            <a:avLst>
              <a:gd name="adj" fmla="val 20588"/>
            </a:avLst>
          </a:prstGeom>
          <a:solidFill>
            <a:srgbClr val="EAF6F4"/>
          </a:solidFill>
          <a:ln w="9525">
            <a:solidFill>
              <a:srgbClr val="9FD6C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527269" y="384048"/>
            <a:ext cx="30589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 dụ ·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điện thoại có camera góc rộng và camera tele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例子・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手機背面的廣角鏡頭和望遠鏡頭</a:t>
            </a:r>
            <a:endParaRPr lang="en-US" sz="950" dirty="0"/>
          </a:p>
        </p:txBody>
      </p:sp>
      <p:pic>
        <p:nvPicPr>
          <p:cNvPr id="12" name="Image 1" descr="/Users/tsengchenghsun/Class/carClass/Claude outputs/第六週(10-15)/src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19</a:t>
            </a:r>
            <a:endParaRPr lang="en-US" sz="900" dirty="0"/>
          </a:p>
        </p:txBody>
      </p:sp>
      <p:sp>
        <p:nvSpPr>
          <p:cNvPr id="14" name="Text 9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2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Cùng một chiếc xe máy ở 40 m: hai lidar và một radar mỗi cái thấy gì</a:t>
            </a:r>
            <a:endParaRPr lang="en-US" sz="2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同一台 40 公尺的機車，兩顆光達和一顆雷達各看到什麼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2366"/>
          <a:ext cx="81381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417320"/>
                <a:gridCol w="1417320"/>
                <a:gridCol w="1417320"/>
                <a:gridCol w="214884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Dòng trên datasheet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規格表上那一行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Ouster OS1-64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Ouster OS1-64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Hesai AT128P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Hesai AT128P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ARS 408-21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ARS 408-21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Nghĩa là gì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這代表什麼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Phân giải ngang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水平角解析度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0.35°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0.1°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1.6°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Radar thô hơn lidar 4–16 lần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雷達比光達粗 4 到 16 倍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Rộng bao nhiêu ở 40 m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40 m 處攤多寬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0.24 m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0.07 m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 m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 × tan(1,6°) = 1,1 m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40 × tan(1.6°) ＝ 1.1 m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Trên xe máy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機車身上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 điểm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9 個點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121 điểm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121 個點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«một mục tiêu»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「一個目標」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Radar không cho point cloud, cho danh sách mục tiêu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雷達給的不是點雲，是目標清單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Tốc độ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速度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tính ra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算出來的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tính ra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算出來的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đo: 0,37 km/h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直接量：0.37 km/h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Dòng mà lidar không có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光達沒有的那一行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02920" y="3756412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mục tiêu radar báo ba số: bao xa, bao nhanh, hướng nào — không có hình dạng.</a:t>
            </a:r>
            <a:endParaRPr lang="en-US" sz="1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雷達的每一個目標只有三個數字：多遠、多快、哪個方向——沒有形狀。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02920" y="4168315"/>
            <a:ext cx="4154907" cy="310896"/>
          </a:xfrm>
          <a:prstGeom prst="roundRect">
            <a:avLst>
              <a:gd name="adj" fmla="val 20588"/>
            </a:avLst>
          </a:prstGeom>
          <a:solidFill>
            <a:srgbClr val="EAF6F4"/>
          </a:solidFill>
          <a:ln w="9525">
            <a:solidFill>
              <a:srgbClr val="9FD6C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30936" y="4186603"/>
            <a:ext cx="39720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 dụ ·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lidar như gửi một tấm ảnh, radar như phát thanh viên đọc tin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例子・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光達像傳一張照片，雷達像廣播員報告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4877283" y="4214035"/>
            <a:ext cx="219456" cy="219456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877283" y="4241467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750" dirty="0"/>
          </a:p>
        </p:txBody>
      </p:sp>
      <p:sp>
        <p:nvSpPr>
          <p:cNvPr id="9" name="Text 6"/>
          <p:cNvSpPr txBox="1"/>
          <p:nvPr/>
        </p:nvSpPr>
        <p:spPr>
          <a:xfrm>
            <a:off x="5169891" y="4168315"/>
            <a:ext cx="34711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b="1" u="sng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Video: lidar OS1 và radar ARS 408　1:15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b="1" u="sng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影片：OS1 光達對 ARS 408　</a:t>
            </a:r>
            <a:pPr indent="0" marL="0">
              <a:lnSpc>
                <a:spcPct val="100000"/>
              </a:lnSpc>
              <a:buNone/>
            </a:pPr>
            <a:r>
              <a:rPr lang="en-US" sz="850" u="sng" dirty="0">
                <a:solidFill>
                  <a:srgbClr val="1F6FB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youtube.com/watch?v=wcr5EP5Qiio</a:t>
            </a:r>
            <a:endParaRPr lang="en-US" sz="850" dirty="0"/>
          </a:p>
        </p:txBody>
      </p:sp>
      <p:pic>
        <p:nvPicPr>
          <p:cNvPr id="11" name="Image 0" descr="/Users/tsengchenghsun/Class/carClass/Claude outputs/第六週(10-15)/src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19</a:t>
            </a:r>
            <a:endParaRPr lang="en-US" sz="900" dirty="0"/>
          </a:p>
        </p:txBody>
      </p:sp>
      <p:sp>
        <p:nvSpPr>
          <p:cNvPr id="13" name="Text 8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2062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Tính thử · 攤到遠處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02920" y="1101852"/>
            <a:ext cx="3305556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pic>
        <p:nvPicPr>
          <p:cNvPr id="4" name="Image 0" descr="/Users/tsengchenghsun/Class/carClass/Claude outputs/第六週(10-15)/src/img/w6_s07_se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214628"/>
            <a:ext cx="3159252" cy="210616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76072" y="3396996"/>
            <a:ext cx="31592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示意圖：課程自製（src/tools_make_diagrams.py），橫向放大五倍</a:t>
            </a:r>
            <a:endParaRPr lang="en-US" sz="700" dirty="0"/>
          </a:p>
        </p:txBody>
      </p:sp>
      <p:sp>
        <p:nvSpPr>
          <p:cNvPr id="6" name="Text 3"/>
          <p:cNvSpPr txBox="1"/>
          <p:nvPr/>
        </p:nvSpPr>
        <p:spPr>
          <a:xfrm>
            <a:off x="4119372" y="914400"/>
            <a:ext cx="4521708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1,6° ở 40 m thành 1,1 m: hai xe máy đi song song dính thành một mục tiêu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1.6° 到 40 公尺攤成 1.1 公尺：兩台並排的機車黏成一個目標</a:t>
            </a:r>
            <a:endParaRPr lang="en-US" sz="2300" dirty="0"/>
          </a:p>
          <a:p>
            <a:pPr indent="0" marL="0">
              <a:lnSpc>
                <a:spcPct val="120000"/>
              </a:lnSpc>
              <a:spcBef>
                <a:spcPts val="1440"/>
              </a:spcBef>
              <a:buNone/>
            </a:pPr>
            <a:r>
              <a:rPr lang="en-US" sz="12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Ở 150 m thành 4,2 m — rộng hơn một làn đường (3,5 m). Nó đo được khoảng cách, nhưng không nói được xe ở làn nào.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到 150 公尺攤成 4.2 公尺，比一個車道（3.5 m）還寬。它量得到距離，卻說不出那台車在哪一道。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502920" y="3913632"/>
            <a:ext cx="8138160" cy="621792"/>
          </a:xfrm>
          <a:prstGeom prst="roundRect">
            <a:avLst>
              <a:gd name="adj" fmla="val 13235"/>
            </a:avLst>
          </a:prstGeom>
          <a:solidFill>
            <a:srgbClr val="FFF6E3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3986784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7A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Vì thế radar ACC luôn đi cùng camera: radar lo khoảng cách và tốc độ, camera lo làn đường.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7A4E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這就是為什麼 ACC 的雷達一定配相機：雷達管距離和速度，相機管在哪一道。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513387" y="365760"/>
            <a:ext cx="3127693" cy="310896"/>
          </a:xfrm>
          <a:prstGeom prst="roundRect">
            <a:avLst>
              <a:gd name="adj" fmla="val 20588"/>
            </a:avLst>
          </a:prstGeom>
          <a:solidFill>
            <a:srgbClr val="EAF6F4"/>
          </a:solidFill>
          <a:ln w="9525">
            <a:solidFill>
              <a:srgbClr val="9FD6C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641403" y="384048"/>
            <a:ext cx="29448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 dụ ·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xe ở xa ban đêm: hai đèn pha trông như một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例子・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晚上遠方來車，兩個頭燈看起來像一盞</a:t>
            </a:r>
            <a:endParaRPr lang="en-US" sz="950" dirty="0"/>
          </a:p>
        </p:txBody>
      </p:sp>
      <p:pic>
        <p:nvPicPr>
          <p:cNvPr id="12" name="Image 1" descr="/Users/tsengchenghsun/Class/carClass/Claude outputs/第六週(10-15)/src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19</a:t>
            </a:r>
            <a:endParaRPr lang="en-US" sz="900" dirty="0"/>
          </a:p>
        </p:txBody>
      </p:sp>
      <p:sp>
        <p:nvSpPr>
          <p:cNvPr id="14" name="Text 9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2062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Đọc kỹ · 速度那一行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14400"/>
            <a:ext cx="81381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Radar đo tốc độ trực tiếp: Velocity resolution 0,37 km/h</a:t>
            </a:r>
            <a:endParaRPr lang="en-US" sz="1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雷達直接量速度：Velocity resolution 0.37 km/h</a:t>
            </a:r>
            <a:endParaRPr lang="en-US" sz="1900" dirty="0"/>
          </a:p>
          <a:p>
            <a:pPr indent="0" marL="0">
              <a:lnSpc>
                <a:spcPct val="120000"/>
              </a:lnSpc>
              <a:spcBef>
                <a:spcPts val="1440"/>
              </a:spcBef>
              <a:buNone/>
            </a:pPr>
            <a:r>
              <a:rPr lang="en-US" sz="12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Lidar phải lấy hai khung trừ nhau — ở 10 Hz là cách nhau 100 ms. Radar đọc tốc độ ngay trong một lần đo, và trong mưa vẫn đọc được.</a:t>
            </a:r>
            <a:endParaRPr lang="en-US" sz="1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光達要拿兩張畫面相減，10 Hz 的話差 100 毫秒。雷達一次量測就把速度讀出來，而且雨霧裡照樣讀。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2615184"/>
            <a:ext cx="8138160" cy="1261872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pic>
        <p:nvPicPr>
          <p:cNvPr id="5" name="Image 0" descr="/Users/tsengchenghsun/Class/carClass/Claude outputs/第六週(10-15)/src/img/w6_ars408_v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2546" y="2706624"/>
            <a:ext cx="4638907" cy="914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76072" y="3657600"/>
            <a:ext cx="7991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Continental Engineering Services, ARS 408-21 data sheet, p.2 · 節錄 · 讀取 2026/10/08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502920" y="3913632"/>
            <a:ext cx="8138160" cy="621792"/>
          </a:xfrm>
          <a:prstGeom prst="roundRect">
            <a:avLst>
              <a:gd name="adj" fmla="val 13235"/>
            </a:avLst>
          </a:prstGeom>
          <a:solidFill>
            <a:srgbClr val="FFF6E3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3986784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7A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Doppler: xe lại gần thì sóng dồn lại, tần số tăng; xe đi xa thì giãn ra.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7A4E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都卜勒：接近的車把回波擠密，頻率變高；遠離的拉疏。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12332" y="365760"/>
            <a:ext cx="2328748" cy="310896"/>
          </a:xfrm>
          <a:prstGeom prst="roundRect">
            <a:avLst>
              <a:gd name="adj" fmla="val 20588"/>
            </a:avLst>
          </a:prstGeom>
          <a:solidFill>
            <a:srgbClr val="EAF6F4"/>
          </a:solidFill>
          <a:ln w="9525">
            <a:solidFill>
              <a:srgbClr val="9FD6C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40348" y="384048"/>
            <a:ext cx="21458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 dụ ·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súng bắn tốc độ của cảnh sát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例子・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警察的測速槍</a:t>
            </a:r>
            <a:endParaRPr lang="en-US" sz="950" dirty="0"/>
          </a:p>
        </p:txBody>
      </p:sp>
      <p:pic>
        <p:nvPicPr>
          <p:cNvPr id="12" name="Image 1" descr="/Users/tsengchenghsun/Class/carClass/Claude outputs/第六週(10-15)/src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19</a:t>
            </a:r>
            <a:endParaRPr lang="en-US" sz="900" dirty="0"/>
          </a:p>
        </p:txBody>
      </p:sp>
      <p:sp>
        <p:nvSpPr>
          <p:cNvPr id="14" name="Text 9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2062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yếu · 規格表上看不到的弱點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02920" y="1101852"/>
            <a:ext cx="2468880" cy="2514600"/>
          </a:xfrm>
          <a:prstGeom prst="roundRect">
            <a:avLst>
              <a:gd name="adj" fmla="val 4444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5393" y="1792224"/>
            <a:ext cx="1303934" cy="1133856"/>
          </a:xfrm>
          <a:prstGeom prst="triangle">
            <a:avLst/>
          </a:prstGeom>
          <a:solidFill>
            <a:srgbClr val="A3382F"/>
          </a:solidFill>
          <a:ln/>
        </p:spPr>
      </p:sp>
      <p:sp>
        <p:nvSpPr>
          <p:cNvPr id="5" name="Shape 3"/>
          <p:cNvSpPr/>
          <p:nvPr/>
        </p:nvSpPr>
        <p:spPr>
          <a:xfrm>
            <a:off x="1680667" y="2189074"/>
            <a:ext cx="113386" cy="36850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666494" y="2642616"/>
            <a:ext cx="141732" cy="1417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429000" y="914400"/>
            <a:ext cx="5212080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 điểm yếu của radar: vật đứng yên bị bỏ qua, và không đo được độ cao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雷達的兩個弱點：靜止的東西會被丟掉、量不出高度</a:t>
            </a:r>
            <a:endParaRPr lang="en-US" sz="2300" dirty="0"/>
          </a:p>
          <a:p>
            <a:pPr indent="0" marL="0">
              <a:lnSpc>
                <a:spcPct val="120000"/>
              </a:lnSpc>
              <a:spcBef>
                <a:spcPts val="1440"/>
              </a:spcBef>
              <a:buNone/>
            </a:pPr>
            <a:r>
              <a:rPr lang="en-US" sz="12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Để lọc lan can, biển báo, radar truyền thống thường vứt bỏ tiếng vọng đứng yên. Vài vụ đâm vào xe cứu hoả đỗ trên đường có nền kỹ thuật ở đây: radar bỏ mục tiêu đứng yên, camera không nhận ra. Dòng này không có trên datasheet — nó nằm trong phần mềm.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為了過濾護欄、路牌，傳統雷達常把靜止的回波丟掉。幾起撞上停在路上的消防車的事故，技術背景就在這裡：雷達把靜止目標丟了，相機沒認出來。這一行規格表上沒有，在軟體裡。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502920" y="3913632"/>
            <a:ext cx="8138160" cy="621792"/>
          </a:xfrm>
          <a:prstGeom prst="roundRect">
            <a:avLst>
              <a:gd name="adj" fmla="val 13235"/>
            </a:avLst>
          </a:prstGeom>
          <a:solidFill>
            <a:srgbClr val="FFF6E3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3986784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7A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ARS 408 không có độ cao: cầu và chiếc xe đỗ dưới cầu, với nó đều là «phía trước có vật».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7A4E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ARS 408 沒有高度：橋和橋下停的車，在它眼裡都是「前方有東西」。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885646" y="365760"/>
            <a:ext cx="3755434" cy="310896"/>
          </a:xfrm>
          <a:prstGeom prst="roundRect">
            <a:avLst>
              <a:gd name="adj" fmla="val 20588"/>
            </a:avLst>
          </a:prstGeom>
          <a:solidFill>
            <a:srgbClr val="EAF6F4"/>
          </a:solidFill>
          <a:ln w="9525">
            <a:solidFill>
              <a:srgbClr val="9FD6C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13662" y="384048"/>
            <a:ext cx="35725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 dụ ·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ngồi tàu nhìn cột điện lướt qua · chỉ có bản đồ phẳng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例子・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坐火車看窗外的電線桿・只看平面地圖</a:t>
            </a:r>
            <a:endParaRPr lang="en-US" sz="950" dirty="0"/>
          </a:p>
        </p:txBody>
      </p:sp>
      <p:pic>
        <p:nvPicPr>
          <p:cNvPr id="13" name="Image 0" descr="/Users/tsengchenghsun/Class/carClass/Claude outputs/第六週(10-15)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19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417299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74316" y="265901"/>
            <a:ext cx="7395367" cy="764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2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 mã sản phẩm: một con chip, hai đời module</a:t>
            </a:r>
            <a:endParaRPr lang="en-US" sz="20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3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這一節的三個型號：一顆晶片、兩代模組</a:t>
            </a:r>
            <a:endParaRPr lang="en-US" sz="2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74316" y="1030366"/>
          <a:ext cx="7395367" cy="830940"/>
        </p:xfrm>
        <a:graphic>
          <a:graphicData uri="http://schemas.openxmlformats.org/drawingml/2006/table">
            <a:tbl>
              <a:tblPr/>
              <a:tblGrid>
                <a:gridCol w="1329504"/>
                <a:gridCol w="1994256"/>
                <a:gridCol w="2035803"/>
                <a:gridCol w="2035803"/>
              </a:tblGrid>
              <a:tr h="282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1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Mục</a:t>
                      </a:r>
                      <a:endParaRPr lang="en-US" sz="1090" dirty="0"/>
                    </a:p>
                    <a:p>
                      <a:pPr algn="l" indent="0" marL="0">
                        <a:buNone/>
                      </a:pPr>
                      <a:r>
                        <a:rPr lang="en-US" sz="77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en-US" sz="109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1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 AWR1843</a:t>
                      </a:r>
                      <a:endParaRPr lang="en-US" sz="1090" dirty="0"/>
                    </a:p>
                    <a:p>
                      <a:pPr algn="l" indent="0" marL="0">
                        <a:buNone/>
                      </a:pPr>
                      <a:r>
                        <a:rPr lang="en-US" sz="77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（2018）</a:t>
                      </a:r>
                      <a:endParaRPr lang="en-US" sz="109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1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Continental ARS 408-21</a:t>
                      </a:r>
                      <a:endParaRPr lang="en-US" sz="1090" dirty="0"/>
                    </a:p>
                    <a:p>
                      <a:pPr algn="l" indent="0" marL="0">
                        <a:buNone/>
                      </a:pPr>
                      <a:r>
                        <a:rPr lang="en-US" sz="77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（2018）</a:t>
                      </a:r>
                      <a:endParaRPr lang="en-US" sz="109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1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AUMOVIO ARS 548 RDI</a:t>
                      </a:r>
                      <a:endParaRPr lang="en-US" sz="1090" dirty="0"/>
                    </a:p>
                    <a:p>
                      <a:pPr algn="l" indent="0" marL="0">
                        <a:buNone/>
                      </a:pPr>
                      <a:r>
                        <a:rPr lang="en-US" sz="77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（2025）</a:t>
                      </a:r>
                      <a:endParaRPr lang="en-US" sz="109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282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1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Là gì</a:t>
                      </a:r>
                      <a:endParaRPr lang="en-US" sz="1090" dirty="0"/>
                    </a:p>
                    <a:p>
                      <a:pPr algn="l" indent="0" marL="0">
                        <a:buNone/>
                      </a:pPr>
                      <a:r>
                        <a:rPr lang="en-US" sz="77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是什麼</a:t>
                      </a:r>
                      <a:endParaRPr lang="en-US" sz="109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1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Chip radar (linh kiện)</a:t>
                      </a:r>
                      <a:endParaRPr lang="en-US" sz="1090" dirty="0"/>
                    </a:p>
                    <a:p>
                      <a:pPr algn="l" indent="0" marL="0">
                        <a:buNone/>
                      </a:pPr>
                      <a:r>
                        <a:rPr lang="en-US" sz="77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雷達晶片（零件）</a:t>
                      </a:r>
                      <a:endParaRPr lang="en-US" sz="109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1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Module radar (thành phẩm)</a:t>
                      </a:r>
                      <a:endParaRPr lang="en-US" sz="1090" dirty="0"/>
                    </a:p>
                    <a:p>
                      <a:pPr algn="l" indent="0" marL="0">
                        <a:buNone/>
                      </a:pPr>
                      <a:r>
                        <a:rPr lang="en-US" sz="77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雷達模組（成品）</a:t>
                      </a:r>
                      <a:endParaRPr lang="en-US" sz="109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1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Module radar (thế hệ mới)</a:t>
                      </a:r>
                      <a:endParaRPr lang="en-US" sz="1090" dirty="0"/>
                    </a:p>
                    <a:p>
                      <a:pPr algn="l" indent="0" marL="0">
                        <a:buNone/>
                      </a:pPr>
                      <a:r>
                        <a:rPr lang="en-US" sz="77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雷達模組（成品，新一代）</a:t>
                      </a:r>
                      <a:endParaRPr lang="en-US" sz="109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1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mua</a:t>
                      </a:r>
                      <a:endParaRPr lang="en-US" sz="1090" dirty="0"/>
                    </a:p>
                    <a:p>
                      <a:pPr algn="l" indent="0" marL="0">
                        <a:buNone/>
                      </a:pPr>
                      <a:r>
                        <a:rPr lang="en-US" sz="77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誰在買</a:t>
                      </a:r>
                      <a:endParaRPr lang="en-US" sz="109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1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Hãng làm radar</a:t>
                      </a:r>
                      <a:endParaRPr lang="en-US" sz="1090" dirty="0"/>
                    </a:p>
                    <a:p>
                      <a:pPr algn="l" indent="0" marL="0">
                        <a:buNone/>
                      </a:pPr>
                      <a:r>
                        <a:rPr lang="en-US" sz="77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做雷達的廠商</a:t>
                      </a:r>
                      <a:endParaRPr lang="en-US" sz="109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1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Hãng xe, phòng nghiên cứu</a:t>
                      </a:r>
                      <a:endParaRPr lang="en-US" sz="1090" dirty="0"/>
                    </a:p>
                    <a:p>
                      <a:pPr algn="l" indent="0" marL="0">
                        <a:buNone/>
                      </a:pPr>
                      <a:r>
                        <a:rPr lang="en-US" sz="77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車廠、研究單位</a:t>
                      </a:r>
                      <a:endParaRPr lang="en-US" sz="109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1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Hãng xe, phòng nghiên cứu</a:t>
                      </a:r>
                      <a:endParaRPr lang="en-US" sz="1090" dirty="0"/>
                    </a:p>
                    <a:p>
                      <a:pPr algn="l" indent="0" marL="0">
                        <a:buNone/>
                      </a:pPr>
                      <a:r>
                        <a:rPr lang="en-US" sz="77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車廠、研究單位</a:t>
                      </a:r>
                      <a:endParaRPr lang="en-US" sz="109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1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Kích thước</a:t>
                      </a:r>
                      <a:endParaRPr lang="en-US" sz="1090" dirty="0"/>
                    </a:p>
                    <a:p>
                      <a:pPr algn="l" indent="0" marL="0">
                        <a:buNone/>
                      </a:pPr>
                      <a:r>
                        <a:rPr lang="en-US" sz="77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大小</a:t>
                      </a:r>
                      <a:endParaRPr lang="en-US" sz="109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1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Một con IC, khoảng 1 cm × 1 cm</a:t>
                      </a:r>
                      <a:endParaRPr lang="en-US" sz="1090" dirty="0"/>
                    </a:p>
                    <a:p>
                      <a:pPr algn="l" indent="0" marL="0">
                        <a:buNone/>
                      </a:pPr>
                      <a:r>
                        <a:rPr lang="en-US" sz="77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一顆 IC，約一公分見方</a:t>
                      </a:r>
                      <a:endParaRPr lang="en-US" sz="109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1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Một cái hộp, 320 g</a:t>
                      </a:r>
                      <a:endParaRPr lang="en-US" sz="1090" dirty="0"/>
                    </a:p>
                    <a:p>
                      <a:pPr algn="l" indent="0" marL="0">
                        <a:buNone/>
                      </a:pPr>
                      <a:r>
                        <a:rPr lang="en-US" sz="77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一個盒子，320 公克</a:t>
                      </a:r>
                      <a:endParaRPr lang="en-US" sz="109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1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Một cái hộp, 526 g</a:t>
                      </a:r>
                      <a:endParaRPr lang="en-US" sz="1090" dirty="0"/>
                    </a:p>
                    <a:p>
                      <a:pPr algn="l" indent="0" marL="0">
                        <a:buNone/>
                      </a:pPr>
                      <a:r>
                        <a:rPr lang="en-US" sz="77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一個盒子，526 公克</a:t>
                      </a:r>
                      <a:endParaRPr lang="en-US" sz="109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1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Lắp lên xe dùng ngay?</a:t>
                      </a:r>
                      <a:endParaRPr lang="en-US" sz="1090" dirty="0"/>
                    </a:p>
                    <a:p>
                      <a:pPr algn="l" indent="0" marL="0">
                        <a:buNone/>
                      </a:pPr>
                      <a:r>
                        <a:rPr lang="en-US" sz="77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能直接裝上車嗎</a:t>
                      </a:r>
                      <a:endParaRPr lang="en-US" sz="109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1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Không: phải thêm anten, mạch, vỏ, phần mềm</a:t>
                      </a:r>
                      <a:endParaRPr lang="en-US" sz="1090" dirty="0"/>
                    </a:p>
                    <a:p>
                      <a:pPr algn="l" indent="0" marL="0">
                        <a:buNone/>
                      </a:pPr>
                      <a:r>
                        <a:rPr lang="en-US" sz="77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不行，要加天線、電路、外殼、軟體</a:t>
                      </a:r>
                      <a:endParaRPr lang="en-US" sz="109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1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Được, nối CAN</a:t>
                      </a:r>
                      <a:endParaRPr lang="en-US" sz="1090" dirty="0"/>
                    </a:p>
                    <a:p>
                      <a:pPr algn="l" indent="0" marL="0">
                        <a:buNone/>
                      </a:pPr>
                      <a:r>
                        <a:rPr lang="en-US" sz="77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可以，接 CAN 就能用</a:t>
                      </a:r>
                      <a:endParaRPr lang="en-US" sz="109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1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Được, nối Ethernet ô tô</a:t>
                      </a:r>
                      <a:endParaRPr lang="en-US" sz="1090" dirty="0"/>
                    </a:p>
                    <a:p>
                      <a:pPr algn="l" indent="0" marL="0">
                        <a:buNone/>
                      </a:pPr>
                      <a:r>
                        <a:rPr lang="en-US" sz="77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可以，接車用乙太網路</a:t>
                      </a:r>
                      <a:endParaRPr lang="en-US" sz="109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1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Đo gì</a:t>
                      </a:r>
                      <a:endParaRPr lang="en-US" sz="1090" dirty="0"/>
                    </a:p>
                    <a:p>
                      <a:pPr algn="l" indent="0" marL="0">
                        <a:buNone/>
                      </a:pPr>
                      <a:r>
                        <a:rPr lang="en-US" sz="77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量什麼</a:t>
                      </a:r>
                      <a:endParaRPr lang="en-US" sz="109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1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Bảng không có tầm đo, không có góc nhìn</a:t>
                      </a:r>
                      <a:endParaRPr lang="en-US" sz="1090" dirty="0"/>
                    </a:p>
                    <a:p>
                      <a:pPr algn="l" indent="0" marL="0">
                        <a:buNone/>
                      </a:pPr>
                      <a:r>
                        <a:rPr lang="en-US" sz="77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表上沒有測距、沒有視野</a:t>
                      </a:r>
                      <a:endParaRPr lang="en-US" sz="109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1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Khoảng cách, tốc độ, góc ngang (3D)</a:t>
                      </a:r>
                      <a:endParaRPr lang="en-US" sz="1090" dirty="0"/>
                    </a:p>
                    <a:p>
                      <a:pPr algn="l" indent="0" marL="0">
                        <a:buNone/>
                      </a:pPr>
                      <a:r>
                        <a:rPr lang="en-US" sz="77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距離、速度、水平角（3D）</a:t>
                      </a:r>
                      <a:endParaRPr lang="en-US" sz="109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1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Thêm độ cao (4D)</a:t>
                      </a:r>
                      <a:endParaRPr lang="en-US" sz="1090" dirty="0"/>
                    </a:p>
                    <a:p>
                      <a:pPr algn="l" indent="0" marL="0">
                        <a:buNone/>
                      </a:pPr>
                      <a:r>
                        <a:rPr lang="en-US" sz="77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再多量高度（4D）</a:t>
                      </a:r>
                      <a:endParaRPr lang="en-US" sz="109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1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Anten</a:t>
                      </a:r>
                      <a:endParaRPr lang="en-US" sz="1090" dirty="0"/>
                    </a:p>
                    <a:p>
                      <a:pPr algn="l" indent="0" marL="0">
                        <a:buNone/>
                      </a:pPr>
                      <a:r>
                        <a:rPr lang="en-US" sz="77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天線</a:t>
                      </a:r>
                      <a:endParaRPr lang="en-US" sz="109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1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phát 4 thu (số tối đa nối được)</a:t>
                      </a:r>
                      <a:endParaRPr lang="en-US" sz="1090" dirty="0"/>
                    </a:p>
                    <a:p>
                      <a:pPr algn="l" indent="0" marL="0">
                        <a:buNone/>
                      </a:pPr>
                      <a:r>
                        <a:rPr lang="en-US" sz="77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 發 4 收（能接的上限）</a:t>
                      </a:r>
                      <a:endParaRPr lang="en-US" sz="109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1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 anten ảo</a:t>
                      </a:r>
                      <a:endParaRPr lang="en-US" sz="1090" dirty="0"/>
                    </a:p>
                    <a:p>
                      <a:pPr algn="l" indent="0" marL="0">
                        <a:buNone/>
                      </a:pPr>
                      <a:r>
                        <a:rPr lang="en-US" sz="77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24 個虛擬天線</a:t>
                      </a:r>
                      <a:endParaRPr lang="en-US" sz="109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1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192 anten ảo</a:t>
                      </a:r>
                      <a:endParaRPr lang="en-US" sz="1090" dirty="0"/>
                    </a:p>
                    <a:p>
                      <a:pPr algn="l" indent="0" marL="0">
                        <a:buNone/>
                      </a:pPr>
                      <a:r>
                        <a:rPr lang="en-US" sz="77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192 個虛擬天線</a:t>
                      </a:r>
                      <a:endParaRPr lang="en-US" sz="109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74316" y="4213680"/>
            <a:ext cx="7395367" cy="415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9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AWR1843 là động cơ; ARS 408 là cả chiếc xe; ARS 548 là đời xe mới của cùng hãng.</a:t>
            </a:r>
            <a:endParaRPr lang="en-US" sz="109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AWR1843 是引擎；ARS 408 是一整台車；ARS 548 是同一家車廠的新款。</a:t>
            </a:r>
            <a:endParaRPr lang="en-US" sz="1090" dirty="0"/>
          </a:p>
        </p:txBody>
      </p:sp>
      <p:pic>
        <p:nvPicPr>
          <p:cNvPr id="6" name="Image 0" descr="/Users/tsengchenghsun/Class/carClass/Claude outputs/第六週(10-15)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517012" y="116332"/>
            <a:ext cx="747846" cy="232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19</a:t>
            </a:r>
            <a:endParaRPr lang="en-US" sz="820" dirty="0"/>
          </a:p>
        </p:txBody>
      </p:sp>
      <p:sp>
        <p:nvSpPr>
          <p:cNvPr id="8" name="Text 3"/>
          <p:cNvSpPr txBox="1"/>
          <p:nvPr/>
        </p:nvSpPr>
        <p:spPr>
          <a:xfrm>
            <a:off x="1289786" y="116332"/>
            <a:ext cx="1828068" cy="232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8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Chip hay module · 晶片還是模組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8138160" cy="83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7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Datasheet của chip radar (TI AWR1843) không có tầm đo, không có góc nhìn: hai dòng đó do anten quyết định</a:t>
            </a:r>
            <a:endParaRPr lang="en-US" sz="17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雷達晶片（TI AWR1843）的規格表沒有測距、沒有視野：那兩行由天線決定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447477" y="1580904"/>
            <a:ext cx="1770784" cy="2241288"/>
          </a:xfrm>
          <a:prstGeom prst="roundRect">
            <a:avLst>
              <a:gd name="adj" fmla="val 5164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38917" y="1672344"/>
            <a:ext cx="1587904" cy="347413"/>
          </a:xfrm>
          <a:prstGeom prst="roundRect">
            <a:avLst>
              <a:gd name="adj" fmla="val 13160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612069" y="1699776"/>
            <a:ext cx="1441600" cy="3108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Chip radar · TI AWR1843</a:t>
            </a:r>
            <a:endParaRPr lang="en-US" sz="9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雷達晶片 · TI AWR1843</a:t>
            </a:r>
            <a:endParaRPr lang="en-US" sz="950" dirty="0"/>
          </a:p>
        </p:txBody>
      </p:sp>
      <p:pic>
        <p:nvPicPr>
          <p:cNvPr id="7" name="Image 0" descr="/Users/tsengchenghsun/Class/carClass/Claude outputs/第六週(10-15)/src/img/w6_awr1843_fe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38917" y="2074621"/>
            <a:ext cx="1587904" cy="143667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538917" y="3529584"/>
            <a:ext cx="158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TI, AWR1843 data sheet SWRS222D, p.1 · 節錄 · 讀取 2026/10/08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4492581" y="1580904"/>
            <a:ext cx="2203942" cy="2241288"/>
          </a:xfrm>
          <a:prstGeom prst="roundRect">
            <a:avLst>
              <a:gd name="adj" fmla="val 4149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84021" y="1672344"/>
            <a:ext cx="2021062" cy="347413"/>
          </a:xfrm>
          <a:prstGeom prst="roundRect">
            <a:avLst>
              <a:gd name="adj" fmla="val 13160"/>
            </a:avLst>
          </a:prstGeom>
          <a:solidFill>
            <a:srgbClr val="007F7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657173" y="1699776"/>
            <a:ext cx="1874758" cy="3108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radar · Continental ARS 408-21</a:t>
            </a:r>
            <a:endParaRPr lang="en-US" sz="9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雷達模組 · Continental ARS 408-21</a:t>
            </a:r>
            <a:endParaRPr lang="en-US" sz="950" dirty="0"/>
          </a:p>
        </p:txBody>
      </p:sp>
      <p:pic>
        <p:nvPicPr>
          <p:cNvPr id="12" name="Image 1" descr="/Users/tsengchenghsun/Class/carClass/Claude outputs/第六週(10-15)/src/img/w6_ars408_per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4021" y="2074621"/>
            <a:ext cx="2021062" cy="143667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84021" y="3529584"/>
            <a:ext cx="202106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Continental Engineering Services, ARS 408-21 data sheet, p.2 · 節錄 · 讀取 2026/10/08</a:t>
            </a:r>
            <a:endParaRPr lang="en-US" sz="700" dirty="0"/>
          </a:p>
        </p:txBody>
      </p:sp>
      <p:sp>
        <p:nvSpPr>
          <p:cNvPr id="14" name="Shape 10"/>
          <p:cNvSpPr/>
          <p:nvPr/>
        </p:nvSpPr>
        <p:spPr>
          <a:xfrm>
            <a:off x="502920" y="3931920"/>
            <a:ext cx="8138160" cy="566928"/>
          </a:xfrm>
          <a:prstGeom prst="roundRect">
            <a:avLst>
              <a:gd name="adj" fmla="val 14516"/>
            </a:avLst>
          </a:prstGeom>
          <a:solidFill>
            <a:srgbClr val="FFF6E3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85800" y="39959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b="1" dirty="0">
                <a:solidFill>
                  <a:srgbClr val="7A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Băng thông quyết định phân biệt khoảng cách (4 GHz → 3,75 cm); anten quyết định nhìn bao xa, bao rộng.</a:t>
            </a:r>
            <a:endParaRPr lang="en-US" sz="1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7A4E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頻寬決定距離分得多細（4 GHz → 3.75 cm）；天線決定看多遠、多寬。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942713" y="365760"/>
            <a:ext cx="3698367" cy="310896"/>
          </a:xfrm>
          <a:prstGeom prst="roundRect">
            <a:avLst>
              <a:gd name="adj" fmla="val 20588"/>
            </a:avLst>
          </a:prstGeom>
          <a:solidFill>
            <a:srgbClr val="EAF6F4"/>
          </a:solidFill>
          <a:ln w="9525">
            <a:solidFill>
              <a:srgbClr val="9FD6CE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070729" y="384048"/>
            <a:ext cx="35154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 dụ ·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thông số động cơ ghi mã lực, không ghi tốc độ tối đa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例子・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引擎的規格寫馬力，不寫極速</a:t>
            </a:r>
            <a:endParaRPr lang="en-US" sz="950" dirty="0"/>
          </a:p>
        </p:txBody>
      </p:sp>
      <p:pic>
        <p:nvPicPr>
          <p:cNvPr id="19" name="Image 2" descr="/Users/tsengchenghsun/Class/carClass/Claude outputs/第六週(10-15)/src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19</a:t>
            </a:r>
            <a:endParaRPr lang="en-US" sz="900" dirty="0"/>
          </a:p>
        </p:txBody>
      </p:sp>
      <p:sp>
        <p:nvSpPr>
          <p:cNvPr id="21" name="Text 15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2　AUMOVIO ARS 548 RDI（2025）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02920" y="1682496"/>
            <a:ext cx="2856748" cy="2395728"/>
          </a:xfrm>
          <a:prstGeom prst="roundRect">
            <a:avLst>
              <a:gd name="adj" fmla="val 4580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pic>
        <p:nvPicPr>
          <p:cNvPr id="4" name="Image 0" descr="/Users/tsengchenghsun/Class/carClass/Claude outputs/第六週(10-15)/src/img/w6_ars548_per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808565"/>
            <a:ext cx="2710444" cy="196070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76072" y="3840480"/>
            <a:ext cx="27104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AUMOVIO Engineering Solutions, ARS 548 RDI data sheet (2025), p.2 · 節錄 · 讀取 2026/10/08</a:t>
            </a:r>
            <a:endParaRPr lang="en-US" sz="700" dirty="0"/>
          </a:p>
        </p:txBody>
      </p:sp>
      <p:sp>
        <p:nvSpPr>
          <p:cNvPr id="6" name="Text 3"/>
          <p:cNvSpPr txBox="1"/>
          <p:nvPr/>
        </p:nvSpPr>
        <p:spPr>
          <a:xfrm>
            <a:off x="3633988" y="786384"/>
            <a:ext cx="5007092" cy="787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8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ARS 548 RDI (radar 4D): 192 anten, chùm 1,2°, và đo được độ cao</a:t>
            </a:r>
            <a:endParaRPr lang="en-US" sz="18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ARS 548 RDI（4D 雷達）：192 根天線、波束 1.2°、量得出高度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3633988" y="1665299"/>
            <a:ext cx="1060704" cy="441959"/>
          </a:xfrm>
          <a:prstGeom prst="roundRect">
            <a:avLst>
              <a:gd name="adj" fmla="val 12414"/>
            </a:avLst>
          </a:prstGeom>
          <a:solidFill>
            <a:srgbClr val="0B1F3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688852" y="1701875"/>
            <a:ext cx="950976" cy="387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Anten</a:t>
            </a:r>
            <a:endParaRPr lang="en-US" sz="900" dirty="0"/>
          </a:p>
          <a:p>
            <a:pPr algn="ct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天線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4840996" y="1665299"/>
            <a:ext cx="3800084" cy="496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Rx × 12 Tx = 192 anten ảo (ARS 408: 24)</a:t>
            </a:r>
            <a:endParaRPr lang="en-US" sz="11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16 收 × 12 發 = 192 個虛擬天線（408 是 24）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633988" y="2226130"/>
            <a:ext cx="1060704" cy="441959"/>
          </a:xfrm>
          <a:prstGeom prst="roundRect">
            <a:avLst>
              <a:gd name="adj" fmla="val 12414"/>
            </a:avLst>
          </a:prstGeom>
          <a:solidFill>
            <a:srgbClr val="007F7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688852" y="2262706"/>
            <a:ext cx="950976" cy="387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Chùm</a:t>
            </a:r>
            <a:endParaRPr lang="en-US" sz="900" dirty="0"/>
          </a:p>
          <a:p>
            <a:pPr algn="ct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波束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4840996" y="2226130"/>
            <a:ext cx="3800084" cy="807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Azimuth beam width 1,2° (408: 2,2°) — bảng không in dòng phân giải</a:t>
            </a:r>
            <a:endParaRPr lang="en-US" sz="11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Azimuth beam width 1.2°（408 是 2.2°）——表上沒印解析度那一行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633988" y="3098103"/>
            <a:ext cx="1060704" cy="441959"/>
          </a:xfrm>
          <a:prstGeom prst="roundRect">
            <a:avLst>
              <a:gd name="adj" fmla="val 12414"/>
            </a:avLst>
          </a:prstGeom>
          <a:solidFill>
            <a:srgbClr val="FFB020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688852" y="3134679"/>
            <a:ext cx="950976" cy="387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90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Độ cao</a:t>
            </a:r>
            <a:endParaRPr lang="en-US" sz="900" dirty="0"/>
          </a:p>
          <a:p>
            <a:pPr algn="ct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3A2A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高度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4840996" y="3098103"/>
            <a:ext cx="3800084" cy="496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Elevation ±4°…±14°, chính xác ±0,1° — chữ D thứ tư</a:t>
            </a:r>
            <a:endParaRPr lang="en-US" sz="11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Elevation ±4°…±14°，準確度 ±0.1°——第四個 D</a:t>
            </a:r>
            <a:endParaRPr lang="en-US" sz="1100" dirty="0"/>
          </a:p>
        </p:txBody>
      </p:sp>
      <p:pic>
        <p:nvPicPr>
          <p:cNvPr id="16" name="Image 1" descr="/Users/tsengchenghsun/Class/carClass/Claude outputs/第六週(10-15)/src/img/w6_pic_ars54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649224"/>
            <a:ext cx="1561092" cy="987552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2265180" y="1417320"/>
            <a:ext cx="109448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ARS 548 RDI　圖：規格書第 1 頁</a:t>
            </a:r>
            <a:endParaRPr lang="en-US" sz="700" dirty="0"/>
          </a:p>
        </p:txBody>
      </p:sp>
      <p:sp>
        <p:nvSpPr>
          <p:cNvPr id="18" name="Shape 14"/>
          <p:cNvSpPr/>
          <p:nvPr/>
        </p:nvSpPr>
        <p:spPr>
          <a:xfrm>
            <a:off x="502920" y="3931920"/>
            <a:ext cx="8138160" cy="566928"/>
          </a:xfrm>
          <a:prstGeom prst="roundRect">
            <a:avLst>
              <a:gd name="adj" fmla="val 14516"/>
            </a:avLst>
          </a:prstGeom>
          <a:solidFill>
            <a:srgbClr val="FFF6E3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85800" y="39959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b="1" dirty="0">
                <a:solidFill>
                  <a:srgbClr val="7A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Chữ D thứ tư của «4D» là độ cao: xe dưới cầu, lốp trên đường, cuối cùng tách ra được.</a:t>
            </a:r>
            <a:endParaRPr lang="en-US" sz="1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7A4E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4D 的第四個 D 是高度：橋下的車、路上的輪胎，終於分得出來。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6084062" y="365760"/>
            <a:ext cx="2557018" cy="310896"/>
          </a:xfrm>
          <a:prstGeom prst="roundRect">
            <a:avLst>
              <a:gd name="adj" fmla="val 20588"/>
            </a:avLst>
          </a:prstGeom>
          <a:solidFill>
            <a:srgbClr val="EAF6F4"/>
          </a:solidFill>
          <a:ln w="9525">
            <a:solidFill>
              <a:srgbClr val="9FD6CE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212078" y="384048"/>
            <a:ext cx="2374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 dụ ·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từ bản đồ phẳng thành bản đồ nổi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例子・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從平面地圖變成立體地圖</a:t>
            </a:r>
            <a:endParaRPr lang="en-US" sz="950" dirty="0"/>
          </a:p>
        </p:txBody>
      </p:sp>
      <p:pic>
        <p:nvPicPr>
          <p:cNvPr id="23" name="Image 2" descr="/Users/tsengchenghsun/Class/carClass/Claude outputs/第六週(10-15)/src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19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2062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Vì sao · 為什麼它不怕雨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02920" y="1101852"/>
            <a:ext cx="2468880" cy="2514600"/>
          </a:xfrm>
          <a:prstGeom prst="roundRect">
            <a:avLst>
              <a:gd name="adj" fmla="val 4444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0432" y="2245766"/>
            <a:ext cx="255118" cy="255118"/>
          </a:xfrm>
          <a:prstGeom prst="ellipse">
            <a:avLst/>
          </a:prstGeom>
          <a:solidFill>
            <a:srgbClr val="8A5A00"/>
          </a:solidFill>
          <a:ln/>
        </p:spPr>
      </p:sp>
      <p:sp>
        <p:nvSpPr>
          <p:cNvPr id="5" name="Shape 3"/>
          <p:cNvSpPr/>
          <p:nvPr/>
        </p:nvSpPr>
        <p:spPr>
          <a:xfrm>
            <a:off x="1368857" y="1962302"/>
            <a:ext cx="340157" cy="822046"/>
          </a:xfrm>
          <a:prstGeom prst="chevron">
            <a:avLst/>
          </a:prstGeom>
          <a:ln w="31750">
            <a:solidFill>
              <a:srgbClr val="8A5A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52321" y="1848917"/>
            <a:ext cx="368503" cy="1048817"/>
          </a:xfrm>
          <a:prstGeom prst="chevron">
            <a:avLst/>
          </a:prstGeom>
          <a:ln w="31750">
            <a:solidFill>
              <a:srgbClr val="8A5A00">
                <a:alpha val="7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35785" y="1735531"/>
            <a:ext cx="396850" cy="1275588"/>
          </a:xfrm>
          <a:prstGeom prst="chevron">
            <a:avLst/>
          </a:prstGeom>
          <a:ln w="31750">
            <a:solidFill>
              <a:srgbClr val="8A5A00">
                <a:alpha val="5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29000" y="914400"/>
            <a:ext cx="5212080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Radar không sợ mưa sương: bước sóng 4 mm lớn hơn hạt mưa, vòng qua được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雷達不怕雨霧：波長 4 公釐比雨滴大，繞得過去</a:t>
            </a:r>
            <a:endParaRPr lang="en-US" sz="2300" dirty="0"/>
          </a:p>
          <a:p>
            <a:pPr indent="0" marL="0">
              <a:lnSpc>
                <a:spcPct val="120000"/>
              </a:lnSpc>
              <a:spcBef>
                <a:spcPts val="1440"/>
              </a:spcBef>
              <a:buNone/>
            </a:pPr>
            <a:r>
              <a:rPr lang="en-US" sz="12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Tuần 5 nói 905 nm của lidar nhỏ hơn hạt sương một nghìn lần nên bị tán xạ. Bước sóng radar lớn hơn hạt mưa — nên chạy được mọi thời tiết. Cái giá: không thấy hình dạng, không thấy màu.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第五週講過光達的 905 奈米比霧滴小一千倍，所以被散射。雷達的波長比雨滴還大——所以全天候。代價是看不到形狀、看不到顏色。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502920" y="3913632"/>
            <a:ext cx="8138160" cy="621792"/>
          </a:xfrm>
          <a:prstGeom prst="roundRect">
            <a:avLst>
              <a:gd name="adj" fmla="val 13235"/>
            </a:avLst>
          </a:prstGeom>
          <a:solidFill>
            <a:srgbClr val="FFF6E3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986784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7A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Mọi thời tiết không phải vạn năng: nó thấy «có vật, bao xa, bao nhanh», không thấy «đó là gì».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7A4E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全天候不等於全能：它看得到「那裡有東西、多遠、多快」，看不到「那是什麼」。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855792" y="365760"/>
            <a:ext cx="2785288" cy="310896"/>
          </a:xfrm>
          <a:prstGeom prst="roundRect">
            <a:avLst>
              <a:gd name="adj" fmla="val 20588"/>
            </a:avLst>
          </a:prstGeom>
          <a:solidFill>
            <a:srgbClr val="EAF6F4"/>
          </a:solidFill>
          <a:ln w="9525">
            <a:solidFill>
              <a:srgbClr val="9FD6C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83808" y="384048"/>
            <a:ext cx="2602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 dụ ·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sóng lớn gặp cọc gỗ nhỏ thì vòng qua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例子・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大浪遇到小木樁，直接繞過去</a:t>
            </a:r>
            <a:endParaRPr lang="en-US" sz="950" dirty="0"/>
          </a:p>
        </p:txBody>
      </p:sp>
      <p:pic>
        <p:nvPicPr>
          <p:cNvPr id="14" name="Image 0" descr="/Users/tsengchenghsun/Class/carClass/Claude outputs/第六週(10-15)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19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371600"/>
            <a:ext cx="4206240" cy="4206240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0" y="2103120"/>
            <a:ext cx="2377440" cy="2377440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47548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Lên máy · 上機（第一輪）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786384"/>
            <a:ext cx="80467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người tự làm: ARS 408-21, tìm bốn con số, rồi xem phán định ở Hà Nội và cao tốc.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每個人自己做：ARS 408-21，找四個數字，再看河內和國道的判定。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880384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026688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7512" y="205412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61288" y="1926104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Bốn câu: tầm vùng xa · góc nhìn vùng xa · dải tốc độ · phân giải tốc độ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四題：遠場測距・遠場視野・速度量程・速度解析度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593616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11" name="Shape 9"/>
          <p:cNvSpPr/>
          <p:nvPr/>
        </p:nvSpPr>
        <p:spPr>
          <a:xfrm>
            <a:off x="667512" y="2739920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7512" y="276735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61288" y="2639336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Câu dải tốc độ: dấu âm nghĩa là gì? Trong ngoặc của dòng đó có ghi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速度量程那一題問負號是什麼意思，那一行的括號裡有寫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306848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15" name="Shape 13"/>
          <p:cNvSpPr/>
          <p:nvPr/>
        </p:nvSpPr>
        <p:spPr>
          <a:xfrm>
            <a:off x="667512" y="3453152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7512" y="3480584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61288" y="3352568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Làm xong đổi sang ARS 548, làm lại — so xem những dòng nào thay đổi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做完切 ARS 548 再做一次，比一比哪幾行變了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4056656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Ô cao tốc sẽ đỏ — tầm đo 250 m đủ, tắc ở dòng khác.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FFB02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國道那一格會是紅的——測距 250 公尺夠，卡在另一行。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19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371600"/>
            <a:ext cx="4206240" cy="4206240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0" y="2103120"/>
            <a:ext cx="2377440" cy="2377440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47548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第一節小結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822960"/>
            <a:ext cx="80467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 câu của tiết 1</a:t>
            </a:r>
            <a:endParaRPr lang="en-US" sz="2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第一節的三句話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773936"/>
            <a:ext cx="45720" cy="672713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22376" y="1737360"/>
            <a:ext cx="7863840" cy="782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Radar đo ba thứ, mỗi thứ một dòng: khoảng cách, tốc độ, góc. Tốc độ là đo trực tiếp — dòng mà lidar không có.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雷達三件事各一行：距離、速度、角度。速度是直接量的——光達沒有的那一行。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2647817"/>
            <a:ext cx="45720" cy="672713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22376" y="2611241"/>
            <a:ext cx="7863840" cy="782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Một radar, hai bộ số: vùng xa hẹp mà xa (±9°, 250 m), vùng gần rộng mà gần (±60°, 70 m). Hỏi: khoảng cách tôi cần ở bộ nào?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一顆雷達兩組數字：遠場窄而遠（±9°、250 m），近場寬而近（±60°、70 m）。要問：我要的距離在哪一組？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3521698"/>
            <a:ext cx="45720" cy="672713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22376" y="3485122"/>
            <a:ext cx="7863840" cy="782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giải góc 1,6° ra xa thành vài mét: đo được khoảng cách, nhưng không nói được ở làn nào. 4D radar: 192 anten, có độ cao.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角解析度 1.6° 到遠處變成好幾公尺：量得到距離，說不出在哪一道。4D 雷達：192 根天線、有高度。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19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2062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Phụ lục · 附錄（不計時）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31520"/>
            <a:ext cx="8138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Continental ARS 408-21 — toàn bộ data sheet gốc (3 trang)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Continental ARS 408-21 — 廠商規格書原頁（全三頁）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263780" y="1371600"/>
            <a:ext cx="21445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pic>
        <p:nvPicPr>
          <p:cNvPr id="5" name="Image 0" descr="/Users/tsengchenghsun/Class/carClass/Claude outputs/第六週(10-15)/src/img/w6_ds_ars408_p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2068" y="1389888"/>
            <a:ext cx="2107944" cy="29809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499740" y="1371600"/>
            <a:ext cx="21445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pic>
        <p:nvPicPr>
          <p:cNvPr id="7" name="Image 1" descr="/Users/tsengchenghsun/Class/carClass/Claude outputs/第六週(10-15)/src/img/w6_ds_ars408_p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8028" y="1389888"/>
            <a:ext cx="2107944" cy="298094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735700" y="1371600"/>
            <a:ext cx="21445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pic>
        <p:nvPicPr>
          <p:cNvPr id="9" name="Image 2" descr="/Users/tsengchenghsun/Class/carClass/Claude outputs/第六週(10-15)/src/img/w6_ds_ars408_p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3988" y="1389888"/>
            <a:ext cx="2107944" cy="298094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02920" y="440740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Continental Engineering Services, ARS 408-21 Long Range Radar Sensor 77 GHz (Print ID 091018_FS_ARS_408_21_EN_HS) · 原頁全文 · 讀取 2026/10/08 · 版權歸 Continental，課堂引用</a:t>
            </a:r>
            <a:endParaRPr lang="en-US" sz="850" dirty="0"/>
          </a:p>
        </p:txBody>
      </p:sp>
      <p:pic>
        <p:nvPicPr>
          <p:cNvPr id="12" name="Image 3" descr="/Users/tsengchenghsun/Class/carClass/Claude outputs/第六週(10-15)/src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19</a:t>
            </a:r>
            <a:endParaRPr lang="en-US" sz="900" dirty="0"/>
          </a:p>
        </p:txBody>
      </p:sp>
      <p:sp>
        <p:nvSpPr>
          <p:cNvPr id="14" name="Text 7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2062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Phụ lục · 附錄（不計時）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31520"/>
            <a:ext cx="8138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AUMOVIO ARS 548 RDI — toàn bộ data sheet gốc (3 trang)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AUMOVIO ARS 548 RDI — 廠商規格書原頁（全三頁）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263780" y="1371600"/>
            <a:ext cx="21445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pic>
        <p:nvPicPr>
          <p:cNvPr id="5" name="Image 0" descr="/Users/tsengchenghsun/Class/carClass/Claude outputs/第六週(10-15)/src/img/w6_ds_ars548_p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2068" y="1389888"/>
            <a:ext cx="2107944" cy="29809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499740" y="1371600"/>
            <a:ext cx="21445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pic>
        <p:nvPicPr>
          <p:cNvPr id="7" name="Image 1" descr="/Users/tsengchenghsun/Class/carClass/Claude outputs/第六週(10-15)/src/img/w6_ds_ars548_p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8028" y="1389888"/>
            <a:ext cx="2107944" cy="298094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735700" y="1371600"/>
            <a:ext cx="21445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pic>
        <p:nvPicPr>
          <p:cNvPr id="9" name="Image 2" descr="/Users/tsengchenghsun/Class/carClass/Claude outputs/第六週(10-15)/src/img/w6_ds_ars548_p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3988" y="1389888"/>
            <a:ext cx="2107944" cy="298094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02920" y="440740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AUMOVIO Engineering Solutions, ARS 548 RDI long range radar sensor 77 GHz data sheet (FS_ARS-548-RDI_EN, 2025) · 原頁全文 · 讀取 2026/10/08 · 版權歸 AUMOVIO，課堂引用</a:t>
            </a:r>
            <a:endParaRPr lang="en-US" sz="850" dirty="0"/>
          </a:p>
        </p:txBody>
      </p:sp>
      <p:pic>
        <p:nvPicPr>
          <p:cNvPr id="12" name="Image 3" descr="/Users/tsengchenghsun/Class/carClass/Claude outputs/第六週(10-15)/src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19</a:t>
            </a:r>
            <a:endParaRPr lang="en-US" sz="900" dirty="0"/>
          </a:p>
        </p:txBody>
      </p:sp>
      <p:sp>
        <p:nvSpPr>
          <p:cNvPr id="14" name="Text 7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2062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Phụ lục · 附錄（不計時）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31520"/>
            <a:ext cx="8138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 AWR1843 — trang bìa data sheet gốc (87 trang, chỉ in trang 1)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TI AWR1843 — 廠商規格書封面（全 87 頁，只放第 1 頁）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3401984" y="1371600"/>
            <a:ext cx="2340033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pic>
        <p:nvPicPr>
          <p:cNvPr id="5" name="Image 0" descr="/Users/tsengchenghsun/Class/carClass/Claude outputs/第六週(10-15)/src/img/w6_ds_awr1843_p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0272" y="1389888"/>
            <a:ext cx="2303457" cy="29809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440740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Instruments, AWR1843 Single-Chip 77 to 79GHz FMCW Radar Sensor, SWRS222D (Dec 2018, rev. Sept 2024), p.1 · 原頁全文 · 讀取 2026/10/08 · 版權歸 TI，課堂引用</a:t>
            </a:r>
            <a:endParaRPr lang="en-US" sz="850" dirty="0"/>
          </a:p>
        </p:txBody>
      </p:sp>
      <p:pic>
        <p:nvPicPr>
          <p:cNvPr id="8" name="Image 1" descr="/Users/tsengchenghsun/Class/carClass/Claude outputs/第六週(10-15)/src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19</a:t>
            </a:r>
            <a:endParaRPr lang="en-US" sz="900" dirty="0"/>
          </a:p>
        </p:txBody>
      </p:sp>
      <p:sp>
        <p:nvSpPr>
          <p:cNvPr id="10" name="Text 5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Notes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自動駕駛原理</dc:creator>
  <cp:lastModifiedBy>自動駕駛原理</cp:lastModifiedBy>
  <cp:revision>1</cp:revision>
  <dcterms:created xsi:type="dcterms:W3CDTF">2026-10-12T05:36:41Z</dcterms:created>
  <dcterms:modified xsi:type="dcterms:W3CDTF">2026-10-12T05:36:41Z</dcterms:modified>
</cp:coreProperties>
</file>