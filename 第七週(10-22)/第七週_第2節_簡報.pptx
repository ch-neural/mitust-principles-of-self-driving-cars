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
</a:t>
            </a:r>
          </a:p>
          <a:p>
            <a:pPr algn="l">
              <a:spcBef>
                <a:spcPts val="0"/>
              </a:spcBef>
              <a:spcAft>
                <a:spcPts val="200"/>
              </a:spcAft>
            </a:pPr>
            <a:r>
              <a:rPr sz="1200" lang="zh-TW" dirty="0">
                <a:solidFill>
                  <a:srgbClr val="000000"/>
                </a:solidFill>
                <a:latin typeface="Arial Unicode MS"/>
                <a:ea typeface="Arial Unicode MS"/>
                <a:cs typeface="Arial Unicode MS"/>
              </a:rPr>
              <a:t>上一節的結論是：每一顆感測器都會壞，而且最危險的是壞了不說。
</a:t>
            </a:r>
          </a:p>
          <a:p>
            <a:pPr algn="l">
              <a:spcBef>
                <a:spcPts val="0"/>
              </a:spcBef>
              <a:spcAft>
                <a:spcPts val="200"/>
              </a:spcAft>
            </a:pPr>
            <a:r>
              <a:rPr sz="1200" lang="zh-TW" dirty="0">
                <a:solidFill>
                  <a:srgbClr val="000000"/>
                </a:solidFill>
                <a:latin typeface="Arial Unicode MS"/>
                <a:ea typeface="Arial Unicode MS"/>
                <a:cs typeface="Arial Unicode MS"/>
              </a:rPr>
              <a:t>這一節要回答：既然每一顆都會壞，</a:t>
            </a:r>
            <a:r>
              <a:rPr sz="1200" b="1" lang="zh-TW" dirty="0">
                <a:solidFill>
                  <a:srgbClr val="000000"/>
                </a:solidFill>
                <a:latin typeface="Arial Unicode MS"/>
                <a:ea typeface="Arial Unicode MS"/>
                <a:cs typeface="Arial Unicode MS"/>
              </a:rPr>
              <a:t>要怎麼把它們合起來</a:t>
            </a:r>
            <a:r>
              <a:rPr sz="1200" lang="zh-TW" dirty="0">
                <a:solidFill>
                  <a:srgbClr val="000000"/>
                </a:solidFill>
                <a:latin typeface="Arial Unicode MS"/>
                <a:ea typeface="Arial Unicode MS"/>
                <a:cs typeface="Arial Unicode MS"/>
              </a:rPr>
              <a:t>，合起來以後，比任何一顆單獨看都可靠。這件事叫</a:t>
            </a:r>
            <a:r>
              <a:rPr sz="1200" b="1" lang="zh-TW" dirty="0">
                <a:solidFill>
                  <a:srgbClr val="000000"/>
                </a:solidFill>
                <a:latin typeface="Arial Unicode MS"/>
                <a:ea typeface="Arial Unicode MS"/>
                <a:cs typeface="Arial Unicode MS"/>
              </a:rPr>
              <a:t>感測器融合</a:t>
            </a:r>
            <a:r>
              <a:rPr sz="1200" lang="zh-TW" dirty="0">
                <a:solidFill>
                  <a:srgbClr val="000000"/>
                </a:solidFill>
                <a:latin typeface="Arial Unicode MS"/>
                <a:ea typeface="Arial Unicode MS"/>
                <a:cs typeface="Arial Unicode MS"/>
              </a:rPr>
              <a:t>，英文 sensor fusion。
</a:t>
            </a:r>
          </a:p>
          <a:p>
            <a:pPr algn="l">
              <a:spcBef>
                <a:spcPts val="0"/>
              </a:spcBef>
              <a:spcAft>
                <a:spcPts val="200"/>
              </a:spcAft>
            </a:pPr>
            <a:r>
              <a:rPr sz="1200" lang="zh-TW" dirty="0">
                <a:solidFill>
                  <a:srgbClr val="000000"/>
                </a:solidFill>
                <a:latin typeface="Arial Unicode MS"/>
                <a:ea typeface="Arial Unicode MS"/>
                <a:cs typeface="Arial Unicode MS"/>
              </a:rPr>
              <a:t>三個問題：第一，</a:t>
            </a:r>
            <a:r>
              <a:rPr sz="1200" b="1" lang="zh-TW" dirty="0">
                <a:solidFill>
                  <a:srgbClr val="000000"/>
                </a:solidFill>
                <a:latin typeface="Arial Unicode MS"/>
                <a:ea typeface="Arial Unicode MS"/>
                <a:cs typeface="Arial Unicode MS"/>
              </a:rPr>
              <a:t>合之前要先做什麼</a:t>
            </a:r>
            <a:r>
              <a:rPr sz="1200" lang="zh-TW" dirty="0">
                <a:solidFill>
                  <a:srgbClr val="000000"/>
                </a:solidFill>
                <a:latin typeface="Arial Unicode MS"/>
                <a:ea typeface="Arial Unicode MS"/>
                <a:cs typeface="Arial Unicode MS"/>
              </a:rPr>
              <a:t>；第二，</a:t>
            </a:r>
            <a:r>
              <a:rPr sz="1200" b="1" lang="zh-TW" dirty="0">
                <a:solidFill>
                  <a:srgbClr val="000000"/>
                </a:solidFill>
                <a:latin typeface="Arial Unicode MS"/>
                <a:ea typeface="Arial Unicode MS"/>
                <a:cs typeface="Arial Unicode MS"/>
              </a:rPr>
              <a:t>什麼時候合</a:t>
            </a:r>
            <a:r>
              <a:rPr sz="1200" lang="zh-TW" dirty="0">
                <a:solidFill>
                  <a:srgbClr val="000000"/>
                </a:solidFill>
                <a:latin typeface="Arial Unicode MS"/>
                <a:ea typeface="Arial Unicode MS"/>
                <a:cs typeface="Arial Unicode MS"/>
              </a:rPr>
              <a:t>；第三，</a:t>
            </a:r>
            <a:r>
              <a:rPr sz="1200" b="1" lang="zh-TW" dirty="0">
                <a:solidFill>
                  <a:srgbClr val="000000"/>
                </a:solidFill>
                <a:latin typeface="Arial Unicode MS"/>
                <a:ea typeface="Arial Unicode MS"/>
                <a:cs typeface="Arial Unicode MS"/>
              </a:rPr>
              <a:t>兩顆說的不一樣，要聽誰的</a:t>
            </a:r>
            <a:r>
              <a:rPr sz="1200" lang="zh-TW" dirty="0">
                <a:solidFill>
                  <a:srgbClr val="000000"/>
                </a:solidFill>
                <a:latin typeface="Arial Unicode MS"/>
                <a:ea typeface="Arial Unicode MS"/>
                <a:cs typeface="Arial Unicode MS"/>
              </a:rPr>
              <a:t>。最後講：真的壞到合不起來的時候，車子該怎麼辦。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83"/>
              </a:spcAft>
            </a:pPr>
            <a:r>
              <a:rPr sz="1100" lang="zh-TW" dirty="0">
                <a:solidFill>
                  <a:srgbClr val="000000"/>
                </a:solidFill>
                <a:latin typeface="Arial Unicode MS"/>
                <a:ea typeface="Arial Unicode MS"/>
                <a:cs typeface="Arial Unicode MS"/>
              </a:rPr>
              <a:t>先想一個情況。高速公路上，</a:t>
            </a:r>
            <a:r>
              <a:rPr sz="1100" b="1" lang="zh-TW" dirty="0">
                <a:solidFill>
                  <a:srgbClr val="000000"/>
                </a:solidFill>
                <a:latin typeface="Arial Unicode MS"/>
                <a:ea typeface="Arial Unicode MS"/>
                <a:cs typeface="Arial Unicode MS"/>
              </a:rPr>
              <a:t>雷達說：前方六十公尺有東西。相機說：前面沒有車。</a:t>
            </a:r>
            <a:r>
              <a:rPr sz="1100" lang="zh-TW" dirty="0">
                <a:solidFill>
                  <a:srgbClr val="000000"/>
                </a:solidFill>
                <a:latin typeface="Arial Unicode MS"/>
                <a:ea typeface="Arial Unicode MS"/>
                <a:cs typeface="Arial Unicode MS"/>
              </a:rPr>
              <a:t>要聽誰的？
</a:t>
            </a:r>
          </a:p>
          <a:p>
            <a:pPr algn="l">
              <a:spcBef>
                <a:spcPts val="0"/>
              </a:spcBef>
              <a:spcAft>
                <a:spcPts val="183"/>
              </a:spcAft>
            </a:pPr>
            <a:r>
              <a:rPr sz="1100" lang="zh-TW" dirty="0">
                <a:solidFill>
                  <a:srgbClr val="000000"/>
                </a:solidFill>
                <a:latin typeface="Arial Unicode MS"/>
                <a:ea typeface="Arial Unicode MS"/>
                <a:cs typeface="Arial Unicode MS"/>
              </a:rPr>
              <a:t>先舉手：聽雷達的舉一隻手，聽相機的舉兩隻手。
</a:t>
            </a:r>
          </a:p>
          <a:p>
            <a:pPr algn="l">
              <a:spcBef>
                <a:spcPts val="0"/>
              </a:spcBef>
              <a:spcAft>
                <a:spcPts val="183"/>
              </a:spcAft>
            </a:pPr>
            <a:r>
              <a:rPr sz="1100" lang="zh-TW" dirty="0">
                <a:solidFill>
                  <a:srgbClr val="000000"/>
                </a:solidFill>
                <a:latin typeface="Arial Unicode MS"/>
                <a:ea typeface="Arial Unicode MS"/>
                <a:cs typeface="Arial Unicode MS"/>
              </a:rPr>
              <a:t>先看左邊這支動畫，它會循環播兩格。上面是從旁邊看：左邊是我們的車，保險桿上的橘色小方塊是雷達，電波水平往前打出去。六十公尺外有一座頭頂的路牌。下面是</a:t>
            </a:r>
            <a:r>
              <a:rPr sz="1100" b="1" lang="zh-TW" dirty="0">
                <a:solidFill>
                  <a:srgbClr val="000000"/>
                </a:solidFill>
                <a:latin typeface="Arial Unicode MS"/>
                <a:ea typeface="Arial Unicode MS"/>
                <a:cs typeface="Arial Unicode MS"/>
              </a:rPr>
              <a:t>雷達自己的地圖</a:t>
            </a:r>
            <a:r>
              <a:rPr sz="1100" lang="zh-TW" dirty="0">
                <a:solidFill>
                  <a:srgbClr val="000000"/>
                </a:solidFill>
                <a:latin typeface="Arial Unicode MS"/>
                <a:ea typeface="Arial Unicode MS"/>
                <a:cs typeface="Arial Unicode MS"/>
              </a:rPr>
              <a:t>：上週講過，ARS 408 量不出高度，所以地圖上只有距離。
</a:t>
            </a:r>
          </a:p>
          <a:p>
            <a:pPr algn="l">
              <a:spcBef>
                <a:spcPts val="0"/>
              </a:spcBef>
              <a:spcAft>
                <a:spcPts val="183"/>
              </a:spcAft>
            </a:pPr>
            <a:r>
              <a:rPr sz="1100" b="1" lang="zh-TW" dirty="0">
                <a:solidFill>
                  <a:srgbClr val="000000"/>
                </a:solidFill>
                <a:latin typeface="Arial Unicode MS"/>
                <a:ea typeface="Arial Unicode MS"/>
                <a:cs typeface="Arial Unicode MS"/>
              </a:rPr>
              <a:t>第一格，只有頭頂的路牌。</a:t>
            </a:r>
            <a:r>
              <a:rPr sz="1100" lang="zh-TW" dirty="0">
                <a:solidFill>
                  <a:srgbClr val="000000"/>
                </a:solidFill>
                <a:latin typeface="Arial Unicode MS"/>
                <a:ea typeface="Arial Unicode MS"/>
                <a:cs typeface="Arial Unicode MS"/>
              </a:rPr>
              <a:t>電波打到路牌，彈回來，雷達的地圖上出現一個點：前方六十公尺有東西。
</a:t>
            </a:r>
          </a:p>
          <a:p>
            <a:pPr algn="l">
              <a:spcBef>
                <a:spcPts val="0"/>
              </a:spcBef>
              <a:spcAft>
                <a:spcPts val="183"/>
              </a:spcAft>
            </a:pPr>
            <a:r>
              <a:rPr sz="1100" b="1" lang="zh-TW" dirty="0">
                <a:solidFill>
                  <a:srgbClr val="000000"/>
                </a:solidFill>
                <a:latin typeface="Arial Unicode MS"/>
                <a:ea typeface="Arial Unicode MS"/>
                <a:cs typeface="Arial Unicode MS"/>
              </a:rPr>
              <a:t>第二格，路牌下面真的停了一台車。</a:t>
            </a:r>
            <a:r>
              <a:rPr sz="1100" lang="zh-TW" dirty="0">
                <a:solidFill>
                  <a:srgbClr val="000000"/>
                </a:solidFill>
                <a:latin typeface="Arial Unicode MS"/>
                <a:ea typeface="Arial Unicode MS"/>
                <a:cs typeface="Arial Unicode MS"/>
              </a:rPr>
              <a:t>電波打到車，彈回來，地圖上出現的點，</a:t>
            </a:r>
            <a:r>
              <a:rPr sz="1100" b="1" lang="zh-TW" dirty="0">
                <a:solidFill>
                  <a:srgbClr val="000000"/>
                </a:solidFill>
                <a:latin typeface="Arial Unicode MS"/>
                <a:ea typeface="Arial Unicode MS"/>
                <a:cs typeface="Arial Unicode MS"/>
              </a:rPr>
              <a:t>位置一模一樣。</a:t>
            </a:r>
            <a:r>
              <a:rPr sz="1100" lang="zh-TW" dirty="0">
                <a:solidFill>
                  <a:srgbClr val="000000"/>
                </a:solidFill>
                <a:latin typeface="Arial Unicode MS"/>
                <a:ea typeface="Arial Unicode MS"/>
                <a:cs typeface="Arial Unicode MS"/>
              </a:rPr>
              <a:t>雷達分不出這兩種情況。（為了看得清楚，動畫裡的高度是放大畫的。）
</a:t>
            </a:r>
          </a:p>
          <a:p>
            <a:pPr algn="l">
              <a:spcBef>
                <a:spcPts val="0"/>
              </a:spcBef>
              <a:spcAft>
                <a:spcPts val="183"/>
              </a:spcAft>
            </a:pPr>
            <a:r>
              <a:rPr sz="1100" lang="zh-TW" dirty="0">
                <a:solidFill>
                  <a:srgbClr val="000000"/>
                </a:solidFill>
                <a:latin typeface="Arial Unicode MS"/>
                <a:ea typeface="Arial Unicode MS"/>
                <a:cs typeface="Arial Unicode MS"/>
              </a:rPr>
              <a:t>所以雷達單獨回答不了這個問題，要問相機。可是相機說「沒有車」，是真的沒有，還是它沒認出來？
</a:t>
            </a:r>
          </a:p>
          <a:p>
            <a:pPr algn="l">
              <a:spcBef>
                <a:spcPts val="0"/>
              </a:spcBef>
              <a:spcAft>
                <a:spcPts val="183"/>
              </a:spcAft>
            </a:pPr>
            <a:r>
              <a:rPr sz="1100" lang="zh-TW" dirty="0">
                <a:solidFill>
                  <a:srgbClr val="000000"/>
                </a:solidFill>
                <a:latin typeface="Arial Unicode MS"/>
                <a:ea typeface="Arial Unicode MS"/>
                <a:cs typeface="Arial Unicode MS"/>
              </a:rPr>
              <a:t>兩邊都有道理，也都有代價。</a:t>
            </a:r>
            <a:r>
              <a:rPr sz="1100" b="1" lang="zh-TW" dirty="0">
                <a:solidFill>
                  <a:srgbClr val="000000"/>
                </a:solidFill>
                <a:latin typeface="Arial Unicode MS"/>
                <a:ea typeface="Arial Unicode MS"/>
                <a:cs typeface="Arial Unicode MS"/>
              </a:rPr>
              <a:t>聽雷達</a:t>
            </a:r>
            <a:r>
              <a:rPr sz="1100" lang="zh-TW" dirty="0">
                <a:solidFill>
                  <a:srgbClr val="000000"/>
                </a:solidFill>
                <a:latin typeface="Arial Unicode MS"/>
                <a:ea typeface="Arial Unicode MS"/>
                <a:cs typeface="Arial Unicode MS"/>
              </a:rPr>
              <a:t>：上一節講過，雷達量不出高度，那個「東西」可能是頭頂的路牌、天橋；每次都煞，就是幽靈煞車，後面的車可能撞上來。</a:t>
            </a:r>
            <a:r>
              <a:rPr sz="1100" b="1" lang="zh-TW" dirty="0">
                <a:solidFill>
                  <a:srgbClr val="000000"/>
                </a:solidFill>
                <a:latin typeface="Arial Unicode MS"/>
                <a:ea typeface="Arial Unicode MS"/>
                <a:cs typeface="Arial Unicode MS"/>
              </a:rPr>
              <a:t>聽相機</a:t>
            </a:r>
            <a:r>
              <a:rPr sz="1100" lang="zh-TW" dirty="0">
                <a:solidFill>
                  <a:srgbClr val="000000"/>
                </a:solidFill>
                <a:latin typeface="Arial Unicode MS"/>
                <a:ea typeface="Arial Unicode MS"/>
                <a:cs typeface="Arial Unicode MS"/>
              </a:rPr>
              <a:t>：相機可能沒認出來，像消防車那個事故，前面真的停了一台車。
</a:t>
            </a:r>
          </a:p>
          <a:p>
            <a:pPr algn="l">
              <a:spcBef>
                <a:spcPts val="0"/>
              </a:spcBef>
              <a:spcAft>
                <a:spcPts val="183"/>
              </a:spcAft>
            </a:pPr>
            <a:r>
              <a:rPr sz="1100" lang="zh-TW" dirty="0">
                <a:solidFill>
                  <a:srgbClr val="000000"/>
                </a:solidFill>
                <a:latin typeface="Arial Unicode MS"/>
                <a:ea typeface="Arial Unicode MS"/>
                <a:cs typeface="Arial Unicode MS"/>
              </a:rPr>
              <a:t>就像警察問兩個目擊證人，兩個人說的不一樣。不能只聽聲音比較大的那個，要看誰在那個位置看得比較清楚、誰以前比較可靠。
</a:t>
            </a:r>
          </a:p>
          <a:p>
            <a:pPr algn="l">
              <a:spcBef>
                <a:spcPts val="0"/>
              </a:spcBef>
              <a:spcAft>
                <a:spcPts val="183"/>
              </a:spcAft>
            </a:pPr>
            <a:r>
              <a:rPr sz="1100" lang="zh-TW" dirty="0">
                <a:solidFill>
                  <a:srgbClr val="000000"/>
                </a:solidFill>
                <a:latin typeface="Arial Unicode MS"/>
                <a:ea typeface="Arial Unicode MS"/>
                <a:cs typeface="Arial Unicode MS"/>
              </a:rPr>
              <a:t>所以融合沒有一個永遠對的答案。它在做的事，是在不同情況下，</a:t>
            </a:r>
            <a:r>
              <a:rPr sz="1100" b="1" lang="zh-TW" dirty="0">
                <a:solidFill>
                  <a:srgbClr val="000000"/>
                </a:solidFill>
                <a:latin typeface="Arial Unicode MS"/>
                <a:ea typeface="Arial Unicode MS"/>
                <a:cs typeface="Arial Unicode MS"/>
              </a:rPr>
              <a:t>選一個比較承受得起的代價</a:t>
            </a:r>
            <a:r>
              <a:rPr sz="1100" lang="zh-TW" dirty="0">
                <a:solidFill>
                  <a:srgbClr val="000000"/>
                </a:solidFill>
                <a:latin typeface="Arial Unicode MS"/>
                <a:ea typeface="Arial Unicode MS"/>
                <a:cs typeface="Arial Unicode MS"/>
              </a:rPr>
              <a:t>。今天後面就是在講怎麼選。</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合起來有兩種好處。
</a:t>
            </a:r>
          </a:p>
          <a:p>
            <a:pPr algn="l">
              <a:spcBef>
                <a:spcPts val="0"/>
              </a:spcBef>
              <a:spcAft>
                <a:spcPts val="200"/>
              </a:spcAft>
            </a:pPr>
            <a:r>
              <a:rPr sz="1200" b="1" lang="zh-TW" dirty="0">
                <a:solidFill>
                  <a:srgbClr val="000000"/>
                </a:solidFill>
                <a:latin typeface="Arial Unicode MS"/>
                <a:ea typeface="Arial Unicode MS"/>
                <a:cs typeface="Arial Unicode MS"/>
              </a:rPr>
              <a:t>左邊，互補。</a:t>
            </a:r>
            <a:r>
              <a:rPr sz="1200" lang="zh-TW" dirty="0">
                <a:solidFill>
                  <a:srgbClr val="000000"/>
                </a:solidFill>
                <a:latin typeface="Arial Unicode MS"/>
                <a:ea typeface="Arial Unicode MS"/>
                <a:cs typeface="Arial Unicode MS"/>
              </a:rPr>
              <a:t>每一顆給的是不同的資訊。相機告訴你那是什麼、紅綠燈是什麼顏色；雷達告訴你它多快，下雨也量得到；光達告訴你它的形狀、離你多遠。三個合起來，才是一句完整的話：「一台機車，三十公尺，以時速二十朝我過來。」少了任何一顆，這句話就缺一塊。上週那個足球隊的例子講的就是互補：守門員、後衛、前鋒，各做各的事。
</a:t>
            </a:r>
          </a:p>
          <a:p>
            <a:pPr algn="l">
              <a:spcBef>
                <a:spcPts val="0"/>
              </a:spcBef>
              <a:spcAft>
                <a:spcPts val="200"/>
              </a:spcAft>
            </a:pPr>
            <a:r>
              <a:rPr sz="1200" b="1" lang="zh-TW" dirty="0">
                <a:solidFill>
                  <a:srgbClr val="000000"/>
                </a:solidFill>
                <a:latin typeface="Arial Unicode MS"/>
                <a:ea typeface="Arial Unicode MS"/>
                <a:cs typeface="Arial Unicode MS"/>
              </a:rPr>
              <a:t>右邊，備援。</a:t>
            </a:r>
            <a:r>
              <a:rPr sz="1200" lang="zh-TW" dirty="0">
                <a:solidFill>
                  <a:srgbClr val="000000"/>
                </a:solidFill>
                <a:latin typeface="Arial Unicode MS"/>
                <a:ea typeface="Arial Unicode MS"/>
                <a:cs typeface="Arial Unicode MS"/>
              </a:rPr>
              <a:t>同一件事，用兩種方法量。「前面有沒有東西」這件事，相機、光達、雷達都量得到。下大雨，相機糊了，雷達照樣量。而且兩顆一比，還多一個好處：兩顆說的一樣，就更可信；說的不一樣，至少</a:t>
            </a:r>
            <a:r>
              <a:rPr sz="1200" b="1" lang="zh-TW" dirty="0">
                <a:solidFill>
                  <a:srgbClr val="000000"/>
                </a:solidFill>
                <a:latin typeface="Arial Unicode MS"/>
                <a:ea typeface="Arial Unicode MS"/>
                <a:cs typeface="Arial Unicode MS"/>
              </a:rPr>
              <a:t>知道有一顆在出錯</a:t>
            </a:r>
            <a:r>
              <a:rPr sz="1200" lang="zh-TW" dirty="0">
                <a:solidFill>
                  <a:srgbClr val="000000"/>
                </a:solidFill>
                <a:latin typeface="Arial Unicode MS"/>
                <a:ea typeface="Arial Unicode MS"/>
                <a:cs typeface="Arial Unicode MS"/>
              </a:rPr>
              <a:t>。這就是上一節最怕的第三種壞法，看不到卻說沒事，最好的解藥：讓別人來對。
</a:t>
            </a:r>
          </a:p>
          <a:p>
            <a:pPr algn="l">
              <a:spcBef>
                <a:spcPts val="0"/>
              </a:spcBef>
              <a:spcAft>
                <a:spcPts val="200"/>
              </a:spcAft>
            </a:pPr>
            <a:r>
              <a:rPr sz="1200" lang="zh-TW" dirty="0">
                <a:solidFill>
                  <a:srgbClr val="000000"/>
                </a:solidFill>
                <a:latin typeface="Arial Unicode MS"/>
                <a:ea typeface="Arial Unicode MS"/>
                <a:cs typeface="Arial Unicode MS"/>
              </a:rPr>
              <a:t>一台車兩種都要。互補是為了看得完整，備援是為了壞了一顆，車子還開得下去。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要合起來，第一件事：</a:t>
            </a:r>
            <a:r>
              <a:rPr sz="1200" b="1" lang="zh-TW" dirty="0">
                <a:solidFill>
                  <a:srgbClr val="000000"/>
                </a:solidFill>
                <a:latin typeface="Arial Unicode MS"/>
                <a:ea typeface="Arial Unicode MS"/>
                <a:cs typeface="Arial Unicode MS"/>
              </a:rPr>
              <a:t>大家要對齊同一個空間。</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相機在擋風玻璃後面，光達在車頂，雷達在保險桿。每一顆都只知道「東西在我的哪個方向、多遠」，是用它自己的位置講的。要合起來，得先知道每一顆裝在車上的哪裡、朝哪個方向。這叫</a:t>
            </a:r>
            <a:r>
              <a:rPr sz="1200" b="1" lang="zh-TW" dirty="0">
                <a:solidFill>
                  <a:srgbClr val="000000"/>
                </a:solidFill>
                <a:latin typeface="Arial Unicode MS"/>
                <a:ea typeface="Arial Unicode MS"/>
                <a:cs typeface="Arial Unicode MS"/>
              </a:rPr>
              <a:t>外參標定</a:t>
            </a:r>
            <a:r>
              <a:rPr sz="1200" lang="zh-TW" dirty="0">
                <a:solidFill>
                  <a:srgbClr val="000000"/>
                </a:solidFill>
                <a:latin typeface="Arial Unicode MS"/>
                <a:ea typeface="Arial Unicode MS"/>
                <a:cs typeface="Arial Unicode MS"/>
              </a:rPr>
              <a:t>，第五週講過。
</a:t>
            </a:r>
          </a:p>
          <a:p>
            <a:pPr algn="l">
              <a:spcBef>
                <a:spcPts val="0"/>
              </a:spcBef>
              <a:spcAft>
                <a:spcPts val="200"/>
              </a:spcAft>
            </a:pPr>
            <a:r>
              <a:rPr sz="1200" lang="zh-TW" dirty="0">
                <a:solidFill>
                  <a:srgbClr val="000000"/>
                </a:solidFill>
                <a:latin typeface="Arial Unicode MS"/>
                <a:ea typeface="Arial Unicode MS"/>
                <a:cs typeface="Arial Unicode MS"/>
              </a:rPr>
              <a:t>看這兩張圖，是同一個瞬間，把光達點投到相機畫面上。顏色是距離：橘色近，藍色遠。
</a:t>
            </a:r>
          </a:p>
          <a:p>
            <a:pPr algn="l">
              <a:spcBef>
                <a:spcPts val="0"/>
              </a:spcBef>
              <a:spcAft>
                <a:spcPts val="200"/>
              </a:spcAft>
            </a:pPr>
            <a:r>
              <a:rPr sz="1200" b="1" lang="zh-TW" dirty="0">
                <a:solidFill>
                  <a:srgbClr val="000000"/>
                </a:solidFill>
                <a:latin typeface="Arial Unicode MS"/>
                <a:ea typeface="Arial Unicode MS"/>
                <a:cs typeface="Arial Unicode MS"/>
              </a:rPr>
              <a:t>左邊，標定正確。</a:t>
            </a:r>
            <a:r>
              <a:rPr sz="1200" lang="zh-TW" dirty="0">
                <a:solidFill>
                  <a:srgbClr val="000000"/>
                </a:solidFill>
                <a:latin typeface="Arial Unicode MS"/>
                <a:ea typeface="Arial Unicode MS"/>
                <a:cs typeface="Arial Unicode MS"/>
              </a:rPr>
              <a:t>前面那台白色廂型車，身上是一排一排整齊的橘色點，大約十公尺；車子右邊的路上、遠處的樹，才是藍色。
</a:t>
            </a:r>
          </a:p>
          <a:p>
            <a:pPr algn="l">
              <a:spcBef>
                <a:spcPts val="0"/>
              </a:spcBef>
              <a:spcAft>
                <a:spcPts val="200"/>
              </a:spcAft>
            </a:pPr>
            <a:r>
              <a:rPr sz="1200" b="1" lang="zh-TW" dirty="0">
                <a:solidFill>
                  <a:srgbClr val="000000"/>
                </a:solidFill>
                <a:latin typeface="Arial Unicode MS"/>
                <a:ea typeface="Arial Unicode MS"/>
                <a:cs typeface="Arial Unicode MS"/>
              </a:rPr>
              <a:t>右邊，同一格資料，我故意把光達多轉了四度。</a:t>
            </a:r>
            <a:r>
              <a:rPr sz="1200" lang="zh-TW" dirty="0">
                <a:solidFill>
                  <a:srgbClr val="000000"/>
                </a:solidFill>
                <a:latin typeface="Arial Unicode MS"/>
                <a:ea typeface="Arial Unicode MS"/>
                <a:cs typeface="Arial Unicode MS"/>
              </a:rPr>
              <a:t>請看廂型車的右半邊：後窗上出現了藍色的點，那是遠處的東西；車子左邊的樹和柱子上，反而出現橘色的近處點。光達的點整片滑到左邊去了，它以為車子在左邊一點的位置。
</a:t>
            </a:r>
          </a:p>
          <a:p>
            <a:pPr algn="l">
              <a:spcBef>
                <a:spcPts val="0"/>
              </a:spcBef>
              <a:spcAft>
                <a:spcPts val="200"/>
              </a:spcAft>
            </a:pPr>
            <a:r>
              <a:rPr sz="1200" lang="zh-TW" dirty="0">
                <a:solidFill>
                  <a:srgbClr val="000000"/>
                </a:solidFill>
                <a:latin typeface="Arial Unicode MS"/>
                <a:ea typeface="Arial Unicode MS"/>
                <a:cs typeface="Arial Unicode MS"/>
              </a:rPr>
              <a:t>四度是我故意放大的。真的車上，標定可能只差零點幾度，可是第五週算過：</a:t>
            </a:r>
            <a:r>
              <a:rPr sz="1200" b="1" lang="zh-TW" dirty="0">
                <a:solidFill>
                  <a:srgbClr val="000000"/>
                </a:solidFill>
                <a:latin typeface="Arial Unicode MS"/>
                <a:ea typeface="Arial Unicode MS"/>
                <a:cs typeface="Arial Unicode MS"/>
              </a:rPr>
              <a:t>差一度，五十公尺外就差零點八七公尺</a:t>
            </a:r>
            <a:r>
              <a:rPr sz="1200" lang="zh-TW" dirty="0">
                <a:solidFill>
                  <a:srgbClr val="000000"/>
                </a:solidFill>
                <a:latin typeface="Arial Unicode MS"/>
                <a:ea typeface="Arial Unicode MS"/>
                <a:cs typeface="Arial Unicode MS"/>
              </a:rPr>
              <a:t>，快半個車道。
</a:t>
            </a:r>
          </a:p>
          <a:p>
            <a:pPr algn="l">
              <a:spcBef>
                <a:spcPts val="0"/>
              </a:spcBef>
              <a:spcAft>
                <a:spcPts val="200"/>
              </a:spcAft>
            </a:pPr>
            <a:r>
              <a:rPr sz="1200" lang="zh-TW" dirty="0">
                <a:solidFill>
                  <a:srgbClr val="000000"/>
                </a:solidFill>
                <a:latin typeface="Arial Unicode MS"/>
                <a:ea typeface="Arial Unicode MS"/>
                <a:cs typeface="Arial Unicode MS"/>
              </a:rPr>
              <a:t>nuScenes 是怎麼標定的？官網寫：相機和光達，用一個三面都有圖案的立方體校正靶，兩顆同時看它，算出彼此的相對位置。雷達則是開車上路，用路邊靜止的東西，反推它裝歪了幾度。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第二件事：</a:t>
            </a:r>
            <a:r>
              <a:rPr sz="1150" b="1" lang="zh-TW" dirty="0">
                <a:solidFill>
                  <a:srgbClr val="000000"/>
                </a:solidFill>
                <a:latin typeface="Arial Unicode MS"/>
                <a:ea typeface="Arial Unicode MS"/>
                <a:cs typeface="Arial Unicode MS"/>
              </a:rPr>
              <a:t>對齊同一個時間。</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nuScenes 官網寫了三種感測器的更新率：光達每秒二十次，雷達每秒十三次，相機每秒十二次。三種都不一樣，所以「同一個瞬間」其實不存在，每一顆拍的時刻都差一點。我查了其中一格關鍵畫面的時間：前方那顆雷達，比相機晚了六十七毫秒。
</a:t>
            </a:r>
          </a:p>
          <a:p>
            <a:pPr algn="l">
              <a:spcBef>
                <a:spcPts val="0"/>
              </a:spcBef>
              <a:spcAft>
                <a:spcPts val="192"/>
              </a:spcAft>
            </a:pPr>
            <a:r>
              <a:rPr sz="1150" lang="zh-TW" dirty="0">
                <a:solidFill>
                  <a:srgbClr val="000000"/>
                </a:solidFill>
                <a:latin typeface="Arial Unicode MS"/>
                <a:ea typeface="Arial Unicode MS"/>
                <a:cs typeface="Arial Unicode MS"/>
              </a:rPr>
              <a:t>差一點有多嚴重？看真的資料。新加坡晚上的一個路口，一台黑色轎車正從左往右開過去，大約時速三十七公里。為了看清楚，兩張圖都只畫離地零點四到兩公尺、二十五公尺內的光達點。
</a:t>
            </a:r>
          </a:p>
          <a:p>
            <a:pPr algn="l">
              <a:spcBef>
                <a:spcPts val="0"/>
              </a:spcBef>
              <a:spcAft>
                <a:spcPts val="192"/>
              </a:spcAft>
            </a:pPr>
            <a:r>
              <a:rPr sz="1150" b="1" lang="zh-TW" dirty="0">
                <a:solidFill>
                  <a:srgbClr val="000000"/>
                </a:solidFill>
                <a:latin typeface="Arial Unicode MS"/>
                <a:ea typeface="Arial Unicode MS"/>
                <a:cs typeface="Arial Unicode MS"/>
              </a:rPr>
              <a:t>左邊，同步的。</a:t>
            </a:r>
            <a:r>
              <a:rPr sz="1150" lang="zh-TW" dirty="0">
                <a:solidFill>
                  <a:srgbClr val="000000"/>
                </a:solidFill>
                <a:latin typeface="Arial Unicode MS"/>
                <a:ea typeface="Arial Unicode MS"/>
                <a:cs typeface="Arial Unicode MS"/>
              </a:rPr>
              <a:t>光達點蓋滿整台車，連車頭都有；左邊那塊藍色的路牌，點也剛好落在牌子上。
</a:t>
            </a:r>
          </a:p>
          <a:p>
            <a:pPr algn="l">
              <a:spcBef>
                <a:spcPts val="0"/>
              </a:spcBef>
              <a:spcAft>
                <a:spcPts val="192"/>
              </a:spcAft>
            </a:pPr>
            <a:r>
              <a:rPr sz="1150" b="1" lang="zh-TW" dirty="0">
                <a:solidFill>
                  <a:srgbClr val="000000"/>
                </a:solidFill>
                <a:latin typeface="Arial Unicode MS"/>
                <a:ea typeface="Arial Unicode MS"/>
                <a:cs typeface="Arial Unicode MS"/>
              </a:rPr>
              <a:t>右邊，同一張照片，可是光達改用早四圈的那一圈，也就是早零點二秒。</a:t>
            </a:r>
            <a:r>
              <a:rPr sz="1150" lang="zh-TW" dirty="0">
                <a:solidFill>
                  <a:srgbClr val="000000"/>
                </a:solidFill>
                <a:latin typeface="Arial Unicode MS"/>
                <a:ea typeface="Arial Unicode MS"/>
                <a:cs typeface="Arial Unicode MS"/>
              </a:rPr>
              <a:t>請看車頭：沒有點了。車尾後面，本來是背景的地方，反而有一排點。那是車子零點二秒前的位置。時速三十七，零點二秒走了兩公尺。再看左邊的路牌：照樣對得準。</a:t>
            </a:r>
            <a:r>
              <a:rPr sz="1150" b="1" lang="zh-TW" dirty="0">
                <a:solidFill>
                  <a:srgbClr val="000000"/>
                </a:solidFill>
                <a:latin typeface="Arial Unicode MS"/>
                <a:ea typeface="Arial Unicode MS"/>
                <a:cs typeface="Arial Unicode MS"/>
              </a:rPr>
              <a:t>路牌沒動，所以時間差多少都沒關係；會動的東西，時間一差，位置就跟著錯。</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就像兩個人站在路邊，拍同一台開過去的車，一個人晚半秒按快門，兩張照片疊在一起，車子就變成兩台。
</a:t>
            </a:r>
          </a:p>
          <a:p>
            <a:pPr algn="l">
              <a:spcBef>
                <a:spcPts val="0"/>
              </a:spcBef>
              <a:spcAft>
                <a:spcPts val="192"/>
              </a:spcAft>
            </a:pPr>
            <a:r>
              <a:rPr sz="1150" lang="zh-TW" dirty="0">
                <a:solidFill>
                  <a:srgbClr val="000000"/>
                </a:solidFill>
                <a:latin typeface="Arial Unicode MS"/>
                <a:ea typeface="Arial Unicode MS"/>
                <a:cs typeface="Arial Unicode MS"/>
              </a:rPr>
              <a:t>nuScenes 怎麼處理？它的光達在車頂一直轉，</a:t>
            </a:r>
            <a:r>
              <a:rPr sz="1150" b="1" lang="zh-TW" dirty="0">
                <a:solidFill>
                  <a:srgbClr val="000000"/>
                </a:solidFill>
                <a:latin typeface="Arial Unicode MS"/>
                <a:ea typeface="Arial Unicode MS"/>
                <a:cs typeface="Arial Unicode MS"/>
              </a:rPr>
              <a:t>轉到某一台相機視野正中間的那一刻，才觸發那台相機拍照</a:t>
            </a:r>
            <a:r>
              <a:rPr sz="1150" lang="zh-TW" dirty="0">
                <a:solidFill>
                  <a:srgbClr val="000000"/>
                </a:solidFill>
                <a:latin typeface="Arial Unicode MS"/>
                <a:ea typeface="Arial Unicode MS"/>
                <a:cs typeface="Arial Unicode MS"/>
              </a:rPr>
              <a:t>。所以相機和光達，在畫面正中間是對齊的。左邊那張之所以疊得那麼準，就是因為這樣。
</a:t>
            </a:r>
          </a:p>
          <a:p>
            <a:pPr algn="l">
              <a:spcBef>
                <a:spcPts val="0"/>
              </a:spcBef>
              <a:spcAft>
                <a:spcPts val="192"/>
              </a:spcAft>
            </a:pPr>
            <a:r>
              <a:rPr sz="1150" lang="zh-TW" dirty="0">
                <a:solidFill>
                  <a:srgbClr val="000000"/>
                </a:solidFill>
                <a:latin typeface="Arial Unicode MS"/>
                <a:ea typeface="Arial Unicode MS"/>
                <a:cs typeface="Arial Unicode MS"/>
              </a:rPr>
              <a:t>第五週講標定時說過：兩顆都好的感測器，合起來還是可能錯。空間沒對齊，錯；時間沒對齊，也錯。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合的時間點，有三種。
</a:t>
            </a:r>
          </a:p>
          <a:p>
            <a:pPr algn="l">
              <a:spcBef>
                <a:spcPts val="0"/>
              </a:spcBef>
              <a:spcAft>
                <a:spcPts val="200"/>
              </a:spcAft>
            </a:pPr>
            <a:r>
              <a:rPr sz="1200" b="1" lang="zh-TW" dirty="0">
                <a:solidFill>
                  <a:srgbClr val="000000"/>
                </a:solidFill>
                <a:latin typeface="Arial Unicode MS"/>
                <a:ea typeface="Arial Unicode MS"/>
                <a:cs typeface="Arial Unicode MS"/>
              </a:rPr>
              <a:t>第一種，前期融合。</a:t>
            </a:r>
            <a:r>
              <a:rPr sz="1200" lang="zh-TW" dirty="0">
                <a:solidFill>
                  <a:srgbClr val="000000"/>
                </a:solidFill>
                <a:latin typeface="Arial Unicode MS"/>
                <a:ea typeface="Arial Unicode MS"/>
                <a:cs typeface="Arial Unicode MS"/>
              </a:rPr>
              <a:t>原始資料一拿到就合在一起。今天看的那幾張圖，把光達點直接投到相機畫面上，每一個像素都知道自己多遠，就是前期融合。好處是資訊最完整；壞處是對齊要非常準，剛剛差四度就整片滑掉。
</a:t>
            </a:r>
          </a:p>
          <a:p>
            <a:pPr algn="l">
              <a:spcBef>
                <a:spcPts val="0"/>
              </a:spcBef>
              <a:spcAft>
                <a:spcPts val="200"/>
              </a:spcAft>
            </a:pPr>
            <a:r>
              <a:rPr sz="1200" b="1" lang="zh-TW" dirty="0">
                <a:solidFill>
                  <a:srgbClr val="000000"/>
                </a:solidFill>
                <a:latin typeface="Arial Unicode MS"/>
                <a:ea typeface="Arial Unicode MS"/>
                <a:cs typeface="Arial Unicode MS"/>
              </a:rPr>
              <a:t>第二種，中期融合。</a:t>
            </a:r>
            <a:r>
              <a:rPr sz="1200" lang="zh-TW" dirty="0">
                <a:solidFill>
                  <a:srgbClr val="000000"/>
                </a:solidFill>
                <a:latin typeface="Arial Unicode MS"/>
                <a:ea typeface="Arial Unicode MS"/>
                <a:cs typeface="Arial Unicode MS"/>
              </a:rPr>
              <a:t>每一顆先各自整理一下，抽出它覺得重要的東西，再合。現在很流行的做法，是大家先各自畫成同一張</a:t>
            </a:r>
            <a:r>
              <a:rPr sz="1200" b="1" lang="zh-TW" dirty="0">
                <a:solidFill>
                  <a:srgbClr val="000000"/>
                </a:solidFill>
                <a:latin typeface="Arial Unicode MS"/>
                <a:ea typeface="Arial Unicode MS"/>
                <a:cs typeface="Arial Unicode MS"/>
              </a:rPr>
              <a:t>從上往下看的鳥瞰圖</a:t>
            </a:r>
            <a:r>
              <a:rPr sz="1200" lang="zh-TW" dirty="0">
                <a:solidFill>
                  <a:srgbClr val="000000"/>
                </a:solidFill>
                <a:latin typeface="Arial Unicode MS"/>
                <a:ea typeface="Arial Unicode MS"/>
                <a:cs typeface="Arial Unicode MS"/>
              </a:rPr>
              <a:t>（英文 bird&amp;apos;s-eye view），再疊在一起。
</a:t>
            </a:r>
          </a:p>
          <a:p>
            <a:pPr algn="l">
              <a:spcBef>
                <a:spcPts val="0"/>
              </a:spcBef>
              <a:spcAft>
                <a:spcPts val="200"/>
              </a:spcAft>
            </a:pPr>
            <a:r>
              <a:rPr sz="1200" b="1" lang="zh-TW" dirty="0">
                <a:solidFill>
                  <a:srgbClr val="000000"/>
                </a:solidFill>
                <a:latin typeface="Arial Unicode MS"/>
                <a:ea typeface="Arial Unicode MS"/>
                <a:cs typeface="Arial Unicode MS"/>
              </a:rPr>
              <a:t>第三種，後期融合。</a:t>
            </a:r>
            <a:r>
              <a:rPr sz="1200" lang="zh-TW" dirty="0">
                <a:solidFill>
                  <a:srgbClr val="000000"/>
                </a:solidFill>
                <a:latin typeface="Arial Unicode MS"/>
                <a:ea typeface="Arial Unicode MS"/>
                <a:cs typeface="Arial Unicode MS"/>
              </a:rPr>
              <a:t>每一顆先自己把物體找出來，變成一張清單：相機說「這裡有一台車的框」，雷達說「這裡有一個目標，時速三十」。最後才把兩張清單對起來。最簡單，一顆壞了，另外一顆的清單還在；壞處是每一顆自己丟掉的資訊，就再也拿不回來了。
</a:t>
            </a:r>
          </a:p>
          <a:p>
            <a:pPr algn="l">
              <a:spcBef>
                <a:spcPts val="0"/>
              </a:spcBef>
              <a:spcAft>
                <a:spcPts val="200"/>
              </a:spcAft>
            </a:pPr>
            <a:r>
              <a:rPr sz="1200" lang="zh-TW" dirty="0">
                <a:solidFill>
                  <a:srgbClr val="000000"/>
                </a:solidFill>
                <a:latin typeface="Arial Unicode MS"/>
                <a:ea typeface="Arial Unicode MS"/>
                <a:cs typeface="Arial Unicode MS"/>
              </a:rPr>
              <a:t>就像一個團隊做報告：前期是大家把原始資料丟進同一個資料夾一起看；後期是每個人先寫好自己的結論，最後再把幾份結論合成一份。
</a:t>
            </a:r>
          </a:p>
          <a:p>
            <a:pPr algn="l">
              <a:spcBef>
                <a:spcPts val="0"/>
              </a:spcBef>
              <a:spcAft>
                <a:spcPts val="200"/>
              </a:spcAft>
            </a:pPr>
            <a:r>
              <a:rPr sz="1200" lang="zh-TW" dirty="0">
                <a:solidFill>
                  <a:srgbClr val="000000"/>
                </a:solidFill>
                <a:latin typeface="Arial Unicode MS"/>
                <a:ea typeface="Arial Unicode MS"/>
                <a:cs typeface="Arial Unicode MS"/>
              </a:rPr>
              <a:t>等一下那支 NVIDIA 的影片，做的就是後期融合：相機的框，對上雷達的目標。</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後期融合最關鍵的一步，叫</a:t>
            </a:r>
            <a:r>
              <a:rPr sz="1200" b="1" lang="zh-TW" dirty="0">
                <a:solidFill>
                  <a:srgbClr val="000000"/>
                </a:solidFill>
                <a:latin typeface="Arial Unicode MS"/>
                <a:ea typeface="Arial Unicode MS"/>
                <a:cs typeface="Arial Unicode MS"/>
              </a:rPr>
              <a:t>對應</a:t>
            </a:r>
            <a:r>
              <a:rPr sz="1200" lang="zh-TW" dirty="0">
                <a:solidFill>
                  <a:srgbClr val="000000"/>
                </a:solidFill>
                <a:latin typeface="Arial Unicode MS"/>
                <a:ea typeface="Arial Unicode MS"/>
                <a:cs typeface="Arial Unicode MS"/>
              </a:rPr>
              <a:t>：雷達的這個點，跟相機的哪一個框，是同一個東西？
</a:t>
            </a:r>
          </a:p>
          <a:p>
            <a:pPr algn="l">
              <a:spcBef>
                <a:spcPts val="0"/>
              </a:spcBef>
              <a:spcAft>
                <a:spcPts val="200"/>
              </a:spcAft>
            </a:pPr>
            <a:r>
              <a:rPr sz="1200" lang="zh-TW" dirty="0">
                <a:solidFill>
                  <a:srgbClr val="000000"/>
                </a:solidFill>
                <a:latin typeface="Arial Unicode MS"/>
                <a:ea typeface="Arial Unicode MS"/>
                <a:cs typeface="Arial Unicode MS"/>
              </a:rPr>
              <a:t>就像拿到一張班級照片和一份名單，要把名字對到臉上。對錯了，「時速三十」就被安到另一台車身上。
</a:t>
            </a:r>
          </a:p>
          <a:p>
            <a:pPr algn="l">
              <a:spcBef>
                <a:spcPts val="0"/>
              </a:spcBef>
              <a:spcAft>
                <a:spcPts val="200"/>
              </a:spcAft>
            </a:pPr>
            <a:r>
              <a:rPr sz="1200" lang="zh-TW" dirty="0">
                <a:solidFill>
                  <a:srgbClr val="000000"/>
                </a:solidFill>
                <a:latin typeface="Arial Unicode MS"/>
                <a:ea typeface="Arial Unicode MS"/>
                <a:cs typeface="Arial Unicode MS"/>
              </a:rPr>
              <a:t>看左圖，波士頓的一條街。框是官方標註的物體，紅圈是雷達點。</a:t>
            </a:r>
            <a:r>
              <a:rPr sz="1200" b="1" lang="zh-TW" dirty="0">
                <a:solidFill>
                  <a:srgbClr val="000000"/>
                </a:solidFill>
                <a:latin typeface="Arial Unicode MS"/>
                <a:ea typeface="Arial Unicode MS"/>
                <a:cs typeface="Arial Unicode MS"/>
              </a:rPr>
              <a:t>綠框</a:t>
            </a:r>
            <a:r>
              <a:rPr sz="1200" lang="zh-TW" dirty="0">
                <a:solidFill>
                  <a:srgbClr val="000000"/>
                </a:solidFill>
                <a:latin typeface="Arial Unicode MS"/>
                <a:ea typeface="Arial Unicode MS"/>
                <a:cs typeface="Arial Unicode MS"/>
              </a:rPr>
              <a:t>，是框裡至少有一個雷達點的：路邊停的那幾台車，框裡都有紅圈。</a:t>
            </a:r>
            <a:r>
              <a:rPr sz="1200" b="1" lang="zh-TW" dirty="0">
                <a:solidFill>
                  <a:srgbClr val="000000"/>
                </a:solidFill>
                <a:latin typeface="Arial Unicode MS"/>
                <a:ea typeface="Arial Unicode MS"/>
                <a:cs typeface="Arial Unicode MS"/>
              </a:rPr>
              <a:t>黃框</a:t>
            </a:r>
            <a:r>
              <a:rPr sz="1200" lang="zh-TW" dirty="0">
                <a:solidFill>
                  <a:srgbClr val="000000"/>
                </a:solidFill>
                <a:latin typeface="Arial Unicode MS"/>
                <a:ea typeface="Arial Unicode MS"/>
                <a:cs typeface="Arial Unicode MS"/>
              </a:rPr>
              <a:t>，是一個雷達點都沒有的：四個行人，和好幾台遠處的車，大多在四十五公尺以外。這跟上一節那張統計表一樣：雷達抓得到近處的車，抓不太到人，車子一遠也開始漏。
</a:t>
            </a:r>
          </a:p>
          <a:p>
            <a:pPr algn="l">
              <a:spcBef>
                <a:spcPts val="0"/>
              </a:spcBef>
              <a:spcAft>
                <a:spcPts val="200"/>
              </a:spcAft>
            </a:pPr>
            <a:r>
              <a:rPr sz="1200" lang="zh-TW" dirty="0">
                <a:solidFill>
                  <a:srgbClr val="000000"/>
                </a:solidFill>
                <a:latin typeface="Arial Unicode MS"/>
                <a:ea typeface="Arial Unicode MS"/>
                <a:cs typeface="Arial Unicode MS"/>
              </a:rPr>
              <a:t>再看路的右邊，有一長排紅圈，排在人行道旁邊，沒有任何框。那多半是路邊的東西，可能是欄杆、樹、號誌桿。這些點不屬於任何一台標註的物體，對應的時候要</a:t>
            </a:r>
            <a:r>
              <a:rPr sz="1200" b="1" lang="zh-TW" dirty="0">
                <a:solidFill>
                  <a:srgbClr val="000000"/>
                </a:solidFill>
                <a:latin typeface="Arial Unicode MS"/>
                <a:ea typeface="Arial Unicode MS"/>
                <a:cs typeface="Arial Unicode MS"/>
              </a:rPr>
              <a:t>正確地丟掉</a:t>
            </a:r>
            <a:r>
              <a:rPr sz="1200" lang="zh-TW" dirty="0">
                <a:solidFill>
                  <a:srgbClr val="000000"/>
                </a:solidFill>
                <a:latin typeface="Arial Unicode MS"/>
                <a:ea typeface="Arial Unicode MS"/>
                <a:cs typeface="Arial Unicode MS"/>
              </a:rPr>
              <a:t>，不然就變成上一節講的幽靈煞車。
</a:t>
            </a:r>
          </a:p>
          <a:p>
            <a:pPr algn="l">
              <a:spcBef>
                <a:spcPts val="0"/>
              </a:spcBef>
              <a:spcAft>
                <a:spcPts val="200"/>
              </a:spcAft>
            </a:pPr>
            <a:r>
              <a:rPr sz="1200" lang="zh-TW" dirty="0">
                <a:solidFill>
                  <a:srgbClr val="000000"/>
                </a:solidFill>
                <a:latin typeface="Arial Unicode MS"/>
                <a:ea typeface="Arial Unicode MS"/>
                <a:cs typeface="Arial Unicode MS"/>
              </a:rPr>
              <a:t>怎麼對？最簡單的就是看</a:t>
            </a:r>
            <a:r>
              <a:rPr sz="1200" b="1" lang="zh-TW" dirty="0">
                <a:solidFill>
                  <a:srgbClr val="000000"/>
                </a:solidFill>
                <a:latin typeface="Arial Unicode MS"/>
                <a:ea typeface="Arial Unicode MS"/>
                <a:cs typeface="Arial Unicode MS"/>
              </a:rPr>
              <a:t>位置</a:t>
            </a:r>
            <a:r>
              <a:rPr sz="1200" lang="zh-TW" dirty="0">
                <a:solidFill>
                  <a:srgbClr val="000000"/>
                </a:solidFill>
                <a:latin typeface="Arial Unicode MS"/>
                <a:ea typeface="Arial Unicode MS"/>
                <a:cs typeface="Arial Unicode MS"/>
              </a:rPr>
              <a:t>：雷達點落在哪個框附近，就算它的。再加上</a:t>
            </a:r>
            <a:r>
              <a:rPr sz="1200" b="1" lang="zh-TW" dirty="0">
                <a:solidFill>
                  <a:srgbClr val="000000"/>
                </a:solidFill>
                <a:latin typeface="Arial Unicode MS"/>
                <a:ea typeface="Arial Unicode MS"/>
                <a:cs typeface="Arial Unicode MS"/>
              </a:rPr>
              <a:t>速度</a:t>
            </a:r>
            <a:r>
              <a:rPr sz="1200" lang="zh-TW" dirty="0">
                <a:solidFill>
                  <a:srgbClr val="000000"/>
                </a:solidFill>
                <a:latin typeface="Arial Unicode MS"/>
                <a:ea typeface="Arial Unicode MS"/>
                <a:cs typeface="Arial Unicode MS"/>
              </a:rPr>
              <a:t>：雷達量得到速度，一個靜止的點，不會是一台正在開的車。
</a:t>
            </a:r>
          </a:p>
          <a:p>
            <a:pPr algn="l">
              <a:spcBef>
                <a:spcPts val="0"/>
              </a:spcBef>
              <a:spcAft>
                <a:spcPts val="200"/>
              </a:spcAft>
            </a:pPr>
            <a:r>
              <a:rPr sz="1200" lang="zh-TW" dirty="0">
                <a:solidFill>
                  <a:srgbClr val="000000"/>
                </a:solidFill>
                <a:latin typeface="Arial Unicode MS"/>
                <a:ea typeface="Arial Unicode MS"/>
                <a:cs typeface="Arial Unicode MS"/>
              </a:rPr>
              <a:t>看一支影片，NVIDIA 做自駕晶片的團隊。</a:t>
            </a:r>
            <a:r>
              <a:rPr sz="1200" b="1" lang="zh-TW" dirty="0">
                <a:solidFill>
                  <a:srgbClr val="000000"/>
                </a:solidFill>
                <a:latin typeface="Arial Unicode MS"/>
                <a:ea typeface="Arial Unicode MS"/>
                <a:cs typeface="Arial Unicode MS"/>
              </a:rPr>
              <a:t>從 0:42 播到 1:30。</a:t>
            </a:r>
            <a:r>
              <a:rPr sz="1200" lang="zh-TW" dirty="0">
                <a:solidFill>
                  <a:srgbClr val="000000"/>
                </a:solidFill>
                <a:latin typeface="Arial Unicode MS"/>
                <a:ea typeface="Arial Unicode MS"/>
                <a:cs typeface="Arial Unicode MS"/>
              </a:rPr>
              <a:t>英文，我邊播邊講。畫面是車子周圍幾台相機拼起來的；</a:t>
            </a:r>
            <a:r>
              <a:rPr sz="1200" b="1" lang="zh-TW" dirty="0">
                <a:solidFill>
                  <a:srgbClr val="000000"/>
                </a:solidFill>
                <a:latin typeface="Arial Unicode MS"/>
                <a:ea typeface="Arial Unicode MS"/>
                <a:cs typeface="Arial Unicode MS"/>
              </a:rPr>
              <a:t>0:47 小白方塊是雷達追蹤到的目標，橘色的線是它走過的路</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0:52</a:t>
            </a:r>
            <a:r>
              <a:rPr sz="1200" lang="zh-TW" dirty="0">
                <a:solidFill>
                  <a:srgbClr val="000000"/>
                </a:solidFill>
                <a:latin typeface="Arial Unicode MS"/>
                <a:ea typeface="Arial Unicode MS"/>
                <a:cs typeface="Arial Unicode MS"/>
              </a:rPr>
              <a:t> 旁白說：相機框出來的物體，和雷達的目標對上之後，小方塊會變成綠色。</a:t>
            </a:r>
            <a:r>
              <a:rPr sz="1200" b="1" lang="zh-TW" dirty="0">
                <a:solidFill>
                  <a:srgbClr val="000000"/>
                </a:solidFill>
                <a:latin typeface="Arial Unicode MS"/>
                <a:ea typeface="Arial Unicode MS"/>
                <a:cs typeface="Arial Unicode MS"/>
              </a:rPr>
              <a:t>0:58</a:t>
            </a:r>
            <a:r>
              <a:rPr sz="1200" lang="zh-TW" dirty="0">
                <a:solidFill>
                  <a:srgbClr val="000000"/>
                </a:solidFill>
                <a:latin typeface="Arial Unicode MS"/>
                <a:ea typeface="Arial Unicode MS"/>
                <a:cs typeface="Arial Unicode MS"/>
              </a:rPr>
              <a:t> 旁白講了融合的好處：位置、速度、加速度，都變得更準、更可靠。</a:t>
            </a:r>
            <a:r>
              <a:rPr sz="1200" b="1" lang="zh-TW" dirty="0">
                <a:solidFill>
                  <a:srgbClr val="000000"/>
                </a:solidFill>
                <a:latin typeface="Arial Unicode MS"/>
                <a:ea typeface="Arial Unicode MS"/>
                <a:cs typeface="Arial Unicode MS"/>
              </a:rPr>
              <a:t>1:10</a:t>
            </a:r>
            <a:r>
              <a:rPr sz="1200" lang="zh-TW" dirty="0">
                <a:solidFill>
                  <a:srgbClr val="000000"/>
                </a:solidFill>
                <a:latin typeface="Arial Unicode MS"/>
                <a:ea typeface="Arial Unicode MS"/>
                <a:cs typeface="Arial Unicode MS"/>
              </a:rPr>
              <a:t> 左右並排：左邊是雷達的鳥瞰圖，黃色方塊是相機找到的物體、綠色菱形是雷達的目標，兩個連在一起就是對上了；右邊是相機的畫面，綠框配綠色小方塊。</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回到開場那一題：雷達說有，相機說沒有。常見的做法有三種。
</a:t>
            </a:r>
          </a:p>
          <a:p>
            <a:pPr algn="l">
              <a:spcBef>
                <a:spcPts val="0"/>
              </a:spcBef>
              <a:spcAft>
                <a:spcPts val="200"/>
              </a:spcAft>
            </a:pPr>
            <a:r>
              <a:rPr sz="1200" b="1" lang="zh-TW" dirty="0">
                <a:solidFill>
                  <a:srgbClr val="000000"/>
                </a:solidFill>
                <a:latin typeface="Arial Unicode MS"/>
                <a:ea typeface="Arial Unicode MS"/>
                <a:cs typeface="Arial Unicode MS"/>
              </a:rPr>
              <a:t>第一種，看條件決定信誰。</a:t>
            </a:r>
            <a:r>
              <a:rPr sz="1200" lang="zh-TW" dirty="0">
                <a:solidFill>
                  <a:srgbClr val="000000"/>
                </a:solidFill>
                <a:latin typeface="Arial Unicode MS"/>
                <a:ea typeface="Arial Unicode MS"/>
                <a:cs typeface="Arial Unicode MS"/>
              </a:rPr>
              <a:t>每一顆感測器有一個「權重」，就是你有多相信它，而且權重會跟著條件變。上一節那張失效對照表就是權重表：下雨，相機打叉，就少相信相機、多相信雷達；遠處的行人，雷達打叉，就少相信雷達。代價是：你要</a:t>
            </a:r>
            <a:r>
              <a:rPr sz="1200" b="1" lang="zh-TW" dirty="0">
                <a:solidFill>
                  <a:srgbClr val="000000"/>
                </a:solidFill>
                <a:latin typeface="Arial Unicode MS"/>
                <a:ea typeface="Arial Unicode MS"/>
                <a:cs typeface="Arial Unicode MS"/>
              </a:rPr>
              <a:t>事先知道</a:t>
            </a:r>
            <a:r>
              <a:rPr sz="1200" lang="zh-TW" dirty="0">
                <a:solidFill>
                  <a:srgbClr val="000000"/>
                </a:solidFill>
                <a:latin typeface="Arial Unicode MS"/>
                <a:ea typeface="Arial Unicode MS"/>
                <a:cs typeface="Arial Unicode MS"/>
              </a:rPr>
              <a:t>它什麼時候變差，所以上一節那張表很重要。
</a:t>
            </a:r>
          </a:p>
          <a:p>
            <a:pPr algn="l">
              <a:spcBef>
                <a:spcPts val="0"/>
              </a:spcBef>
              <a:spcAft>
                <a:spcPts val="200"/>
              </a:spcAft>
            </a:pPr>
            <a:r>
              <a:rPr sz="1200" b="1" lang="zh-TW" dirty="0">
                <a:solidFill>
                  <a:srgbClr val="000000"/>
                </a:solidFill>
                <a:latin typeface="Arial Unicode MS"/>
                <a:ea typeface="Arial Unicode MS"/>
                <a:cs typeface="Arial Unicode MS"/>
              </a:rPr>
              <a:t>第二種，多數決。</a:t>
            </a:r>
            <a:r>
              <a:rPr sz="1200" lang="zh-TW" dirty="0">
                <a:solidFill>
                  <a:srgbClr val="000000"/>
                </a:solidFill>
                <a:latin typeface="Arial Unicode MS"/>
                <a:ea typeface="Arial Unicode MS"/>
                <a:cs typeface="Arial Unicode MS"/>
              </a:rPr>
              <a:t>三顆裡有兩顆說有，就算有。很直覺，但代價是：至少要有三顆在量</a:t>
            </a:r>
            <a:r>
              <a:rPr sz="1200" b="1" lang="zh-TW" dirty="0">
                <a:solidFill>
                  <a:srgbClr val="000000"/>
                </a:solidFill>
                <a:latin typeface="Arial Unicode MS"/>
                <a:ea typeface="Arial Unicode MS"/>
                <a:cs typeface="Arial Unicode MS"/>
              </a:rPr>
              <a:t>同一件事</a:t>
            </a:r>
            <a:r>
              <a:rPr sz="1200" lang="zh-TW" dirty="0">
                <a:solidFill>
                  <a:srgbClr val="000000"/>
                </a:solidFill>
                <a:latin typeface="Arial Unicode MS"/>
                <a:ea typeface="Arial Unicode MS"/>
                <a:cs typeface="Arial Unicode MS"/>
              </a:rPr>
              <a:t>，不然沒得投票。而且如果兩顆同時被同一個原因騙，例如大雨裡相機和光達一起變差，多數決就會跟著錯。
</a:t>
            </a:r>
          </a:p>
          <a:p>
            <a:pPr algn="l">
              <a:spcBef>
                <a:spcPts val="0"/>
              </a:spcBef>
              <a:spcAft>
                <a:spcPts val="200"/>
              </a:spcAft>
            </a:pPr>
            <a:r>
              <a:rPr sz="1200" b="1" lang="zh-TW" dirty="0">
                <a:solidFill>
                  <a:srgbClr val="000000"/>
                </a:solidFill>
                <a:latin typeface="Arial Unicode MS"/>
                <a:ea typeface="Arial Unicode MS"/>
                <a:cs typeface="Arial Unicode MS"/>
              </a:rPr>
              <a:t>第三種，保守原則。</a:t>
            </a:r>
            <a:r>
              <a:rPr sz="1200" lang="zh-TW" dirty="0">
                <a:solidFill>
                  <a:srgbClr val="000000"/>
                </a:solidFill>
                <a:latin typeface="Arial Unicode MS"/>
                <a:ea typeface="Arial Unicode MS"/>
                <a:cs typeface="Arial Unicode MS"/>
              </a:rPr>
              <a:t>只要有一顆說前面有東西，就先減速。最安全，但代價是幽靈煞車會變多，乘客會不舒服，後面的車也可能撞上來。
</a:t>
            </a:r>
          </a:p>
          <a:p>
            <a:pPr algn="l">
              <a:spcBef>
                <a:spcPts val="0"/>
              </a:spcBef>
              <a:spcAft>
                <a:spcPts val="200"/>
              </a:spcAft>
            </a:pPr>
            <a:r>
              <a:rPr sz="1200" lang="zh-TW" dirty="0">
                <a:solidFill>
                  <a:srgbClr val="000000"/>
                </a:solidFill>
                <a:latin typeface="Arial Unicode MS"/>
                <a:ea typeface="Arial Unicode MS"/>
                <a:cs typeface="Arial Unicode MS"/>
              </a:rPr>
              <a:t>真的系統，三種混著用。而且最重要的一點：上一節說每一顆都要能說「我現在不可靠」。</a:t>
            </a:r>
            <a:r>
              <a:rPr sz="1200" b="1" lang="zh-TW" dirty="0">
                <a:solidFill>
                  <a:srgbClr val="000000"/>
                </a:solidFill>
                <a:latin typeface="Arial Unicode MS"/>
                <a:ea typeface="Arial Unicode MS"/>
                <a:cs typeface="Arial Unicode MS"/>
              </a:rPr>
              <a:t>它一說，它的權重就降下來</a:t>
            </a:r>
            <a:r>
              <a:rPr sz="1200" lang="zh-TW" dirty="0">
                <a:solidFill>
                  <a:srgbClr val="000000"/>
                </a:solidFill>
                <a:latin typeface="Arial Unicode MS"/>
                <a:ea typeface="Arial Unicode MS"/>
                <a:cs typeface="Arial Unicode MS"/>
              </a:rPr>
              <a:t>，別人就多扛一點。這就是為什麼「壞了會不會說」那麼重要。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最後一個融合的例子，是定位。這裡藏著一個很有名的方法，叫</a:t>
            </a:r>
            <a:r>
              <a:rPr sz="1050" b="1" lang="zh-TW" dirty="0">
                <a:solidFill>
                  <a:srgbClr val="000000"/>
                </a:solidFill>
                <a:latin typeface="Arial Unicode MS"/>
                <a:ea typeface="Arial Unicode MS"/>
                <a:cs typeface="Arial Unicode MS"/>
              </a:rPr>
              <a:t>卡爾曼濾波</a:t>
            </a:r>
            <a:r>
              <a:rPr sz="1050" lang="zh-TW" dirty="0">
                <a:solidFill>
                  <a:srgbClr val="000000"/>
                </a:solidFill>
                <a:latin typeface="Arial Unicode MS"/>
                <a:ea typeface="Arial Unicode MS"/>
                <a:cs typeface="Arial Unicode MS"/>
              </a:rPr>
              <a:t>。完整的數學很難，但它的核心，一句話就講得完：</a:t>
            </a:r>
            <a:r>
              <a:rPr sz="1050" b="1" lang="zh-TW" dirty="0">
                <a:solidFill>
                  <a:srgbClr val="000000"/>
                </a:solidFill>
                <a:latin typeface="Arial Unicode MS"/>
                <a:ea typeface="Arial Unicode MS"/>
                <a:cs typeface="Arial Unicode MS"/>
              </a:rPr>
              <a:t>預測一個位置，量到一個位置，比較準的那一個，多相信一點。</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在白板上算一次。車子在一條路上，要知道自己在第幾公尺。
</a:t>
            </a:r>
          </a:p>
          <a:p>
            <a:pPr algn="l">
              <a:spcBef>
                <a:spcPts val="0"/>
              </a:spcBef>
              <a:spcAft>
                <a:spcPts val="175"/>
              </a:spcAft>
            </a:pPr>
            <a:r>
              <a:rPr sz="1050" b="1" lang="zh-TW" dirty="0">
                <a:solidFill>
                  <a:srgbClr val="000000"/>
                </a:solidFill>
                <a:latin typeface="Arial Unicode MS"/>
                <a:ea typeface="Arial Unicode MS"/>
                <a:cs typeface="Arial Unicode MS"/>
              </a:rPr>
              <a:t>預測</a:t>
            </a:r>
            <a:r>
              <a:rPr sz="1050" lang="zh-TW" dirty="0">
                <a:solidFill>
                  <a:srgbClr val="000000"/>
                </a:solidFill>
                <a:latin typeface="Arial Unicode MS"/>
                <a:ea typeface="Arial Unicode MS"/>
                <a:cs typeface="Arial Unicode MS"/>
              </a:rPr>
              <a:t>：IMU 加上輪速，從上一秒的位置往前推，推出來是一百二十點零公尺，這種推算很穩，誤差大約正負一公尺。
</a:t>
            </a:r>
          </a:p>
          <a:p>
            <a:pPr algn="l">
              <a:spcBef>
                <a:spcPts val="0"/>
              </a:spcBef>
              <a:spcAft>
                <a:spcPts val="175"/>
              </a:spcAft>
            </a:pPr>
            <a:r>
              <a:rPr sz="1050" b="1" lang="zh-TW" dirty="0">
                <a:solidFill>
                  <a:srgbClr val="000000"/>
                </a:solidFill>
                <a:latin typeface="Arial Unicode MS"/>
                <a:ea typeface="Arial Unicode MS"/>
                <a:cs typeface="Arial Unicode MS"/>
              </a:rPr>
              <a:t>量到</a:t>
            </a:r>
            <a:r>
              <a:rPr sz="1050" lang="zh-TW" dirty="0">
                <a:solidFill>
                  <a:srgbClr val="000000"/>
                </a:solidFill>
                <a:latin typeface="Arial Unicode MS"/>
                <a:ea typeface="Arial Unicode MS"/>
                <a:cs typeface="Arial Unicode MS"/>
              </a:rPr>
              <a:t>：GPS 說，你在一百一十八點零公尺。可是 GPS 的誤差比較大，正負三公尺。
</a:t>
            </a:r>
          </a:p>
          <a:p>
            <a:pPr algn="l">
              <a:spcBef>
                <a:spcPts val="0"/>
              </a:spcBef>
              <a:spcAft>
                <a:spcPts val="175"/>
              </a:spcAft>
            </a:pPr>
            <a:r>
              <a:rPr sz="1050" lang="zh-TW" dirty="0">
                <a:solidFill>
                  <a:srgbClr val="000000"/>
                </a:solidFill>
                <a:latin typeface="Arial Unicode MS"/>
                <a:ea typeface="Arial Unicode MS"/>
                <a:cs typeface="Arial Unicode MS"/>
              </a:rPr>
              <a:t>兩個差了兩公尺，要相信誰？都相信一點，但不是一半一半。誤差差三倍，信任要差</a:t>
            </a:r>
            <a:r>
              <a:rPr sz="1050" b="1" lang="zh-TW" dirty="0">
                <a:solidFill>
                  <a:srgbClr val="000000"/>
                </a:solidFill>
                <a:latin typeface="Arial Unicode MS"/>
                <a:ea typeface="Arial Unicode MS"/>
                <a:cs typeface="Arial Unicode MS"/>
              </a:rPr>
              <a:t>九倍</a:t>
            </a:r>
            <a:r>
              <a:rPr sz="1050" lang="zh-TW" dirty="0">
                <a:solidFill>
                  <a:srgbClr val="000000"/>
                </a:solidFill>
                <a:latin typeface="Arial Unicode MS"/>
                <a:ea typeface="Arial Unicode MS"/>
                <a:cs typeface="Arial Unicode MS"/>
              </a:rPr>
              <a:t>，也就是三乘三。所以 IMU 拿九份，GPS 拿一份：
</a:t>
            </a:r>
          </a:p>
          <a:p>
            <a:pPr algn="l">
              <a:spcBef>
                <a:spcPts val="0"/>
              </a:spcBef>
              <a:spcAft>
                <a:spcPts val="175"/>
              </a:spcAft>
            </a:pPr>
            <a:r>
              <a:rPr sz="1050" lang="zh-TW" dirty="0">
                <a:solidFill>
                  <a:srgbClr val="000000"/>
                </a:solidFill>
                <a:latin typeface="Arial Unicode MS"/>
                <a:ea typeface="Arial Unicode MS"/>
                <a:cs typeface="Arial Unicode MS"/>
              </a:rPr>
              <a:t>九乘一百二十，加一乘一百一十八，除以十，等於</a:t>
            </a:r>
            <a:r>
              <a:rPr sz="1050" b="1" lang="zh-TW" dirty="0">
                <a:solidFill>
                  <a:srgbClr val="000000"/>
                </a:solidFill>
                <a:latin typeface="Arial Unicode MS"/>
                <a:ea typeface="Arial Unicode MS"/>
                <a:cs typeface="Arial Unicode MS"/>
              </a:rPr>
              <a:t>一百一十九點八公尺</a:t>
            </a:r>
            <a:r>
              <a:rPr sz="1050" lang="zh-TW" dirty="0">
                <a:solidFill>
                  <a:srgbClr val="000000"/>
                </a:solidFill>
                <a:latin typeface="Arial Unicode MS"/>
                <a:ea typeface="Arial Unicode MS"/>
                <a:cs typeface="Arial Unicode MS"/>
              </a:rPr>
              <a:t>。結果很靠近 IMU，只被 GPS 拉了一點點。
</a:t>
            </a:r>
          </a:p>
          <a:p>
            <a:pPr algn="l">
              <a:spcBef>
                <a:spcPts val="0"/>
              </a:spcBef>
              <a:spcAft>
                <a:spcPts val="175"/>
              </a:spcAft>
            </a:pPr>
            <a:r>
              <a:rPr sz="1050" lang="zh-TW" dirty="0">
                <a:solidFill>
                  <a:srgbClr val="000000"/>
                </a:solidFill>
                <a:latin typeface="Arial Unicode MS"/>
                <a:ea typeface="Arial Unicode MS"/>
                <a:cs typeface="Arial Unicode MS"/>
              </a:rPr>
              <a:t>就像你有兩支錶，一支很準、一支常常快慢。你會兩支都看，但比較聽準的那支。
</a:t>
            </a:r>
          </a:p>
          <a:p>
            <a:pPr algn="l">
              <a:spcBef>
                <a:spcPts val="0"/>
              </a:spcBef>
              <a:spcAft>
                <a:spcPts val="175"/>
              </a:spcAft>
            </a:pPr>
            <a:r>
              <a:rPr sz="1050" lang="zh-TW" dirty="0">
                <a:solidFill>
                  <a:srgbClr val="000000"/>
                </a:solidFill>
                <a:latin typeface="Arial Unicode MS"/>
                <a:ea typeface="Arial Unicode MS"/>
                <a:cs typeface="Arial Unicode MS"/>
              </a:rPr>
              <a:t>然後每一秒重複一次：先預測，再用量到的修正。
</a:t>
            </a:r>
          </a:p>
          <a:p>
            <a:pPr algn="l">
              <a:spcBef>
                <a:spcPts val="0"/>
              </a:spcBef>
              <a:spcAft>
                <a:spcPts val="175"/>
              </a:spcAft>
            </a:pPr>
            <a:r>
              <a:rPr sz="1050" b="1" lang="zh-TW" dirty="0">
                <a:solidFill>
                  <a:srgbClr val="000000"/>
                </a:solidFill>
                <a:latin typeface="Arial Unicode MS"/>
                <a:ea typeface="Arial Unicode MS"/>
                <a:cs typeface="Arial Unicode MS"/>
              </a:rPr>
              <a:t>進隧道會怎樣？</a:t>
            </a:r>
            <a:r>
              <a:rPr sz="1050" lang="zh-TW" dirty="0">
                <a:solidFill>
                  <a:srgbClr val="000000"/>
                </a:solidFill>
                <a:latin typeface="Arial Unicode MS"/>
                <a:ea typeface="Arial Unicode MS"/>
                <a:cs typeface="Arial Unicode MS"/>
              </a:rPr>
              <a:t>GPS 沒了，只剩預測。每一秒都在推算，誤差一秒一秒累積，誤差圈愈來愈大，這就是上一節的 IMU 漂移。</a:t>
            </a:r>
            <a:r>
              <a:rPr sz="1050" b="1" lang="zh-TW" dirty="0">
                <a:solidFill>
                  <a:srgbClr val="000000"/>
                </a:solidFill>
                <a:latin typeface="Arial Unicode MS"/>
                <a:ea typeface="Arial Unicode MS"/>
                <a:cs typeface="Arial Unicode MS"/>
              </a:rPr>
              <a:t>出了隧道</a:t>
            </a:r>
            <a:r>
              <a:rPr sz="1050" lang="zh-TW" dirty="0">
                <a:solidFill>
                  <a:srgbClr val="000000"/>
                </a:solidFill>
                <a:latin typeface="Arial Unicode MS"/>
                <a:ea typeface="Arial Unicode MS"/>
                <a:cs typeface="Arial Unicode MS"/>
              </a:rPr>
              <a:t>，GPS 一回來，誤差圈一下就被拉回來。慢慢壞的配突然壞的，上一節說它們個性相反、補得起來，就是這個意思。
</a:t>
            </a:r>
          </a:p>
          <a:p>
            <a:pPr algn="l">
              <a:spcBef>
                <a:spcPts val="0"/>
              </a:spcBef>
              <a:spcAft>
                <a:spcPts val="175"/>
              </a:spcAft>
            </a:pPr>
            <a:r>
              <a:rPr sz="1050" lang="zh-TW" dirty="0">
                <a:solidFill>
                  <a:srgbClr val="000000"/>
                </a:solidFill>
                <a:latin typeface="Arial Unicode MS"/>
                <a:ea typeface="Arial Unicode MS"/>
                <a:cs typeface="Arial Unicode MS"/>
              </a:rPr>
              <a:t>nuScenes 的車也是這樣定位的：官網寫，它的定位用 IMU、GPS，再加上高精地圖一起算；車上那顆 IMU＋GPS 模組，規格寫的位置精度是 20 公釐。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最後，萬一壞到合起來也不夠呢？例如暴雨，相機糊了，光達也變短了，只剩雷達。
</a:t>
            </a:r>
          </a:p>
          <a:p>
            <a:pPr algn="l">
              <a:spcBef>
                <a:spcPts val="0"/>
              </a:spcBef>
              <a:spcAft>
                <a:spcPts val="200"/>
              </a:spcAft>
            </a:pPr>
            <a:r>
              <a:rPr sz="1200" lang="zh-TW" dirty="0">
                <a:solidFill>
                  <a:srgbClr val="000000"/>
                </a:solidFill>
                <a:latin typeface="Arial Unicode MS"/>
                <a:ea typeface="Arial Unicode MS"/>
                <a:cs typeface="Arial Unicode MS"/>
              </a:rPr>
              <a:t>答案是</a:t>
            </a:r>
            <a:r>
              <a:rPr sz="1200" b="1" lang="zh-TW" dirty="0">
                <a:solidFill>
                  <a:srgbClr val="000000"/>
                </a:solidFill>
                <a:latin typeface="Arial Unicode MS"/>
                <a:ea typeface="Arial Unicode MS"/>
                <a:cs typeface="Arial Unicode MS"/>
              </a:rPr>
              <a:t>降級</a:t>
            </a:r>
            <a:r>
              <a:rPr sz="1200" lang="zh-TW" dirty="0">
                <a:solidFill>
                  <a:srgbClr val="000000"/>
                </a:solidFill>
                <a:latin typeface="Arial Unicode MS"/>
                <a:ea typeface="Arial Unicode MS"/>
                <a:cs typeface="Arial Unicode MS"/>
              </a:rPr>
              <a:t>。車子不硬撐，而是主動退一步。
</a:t>
            </a:r>
          </a:p>
          <a:p>
            <a:pPr algn="l">
              <a:spcBef>
                <a:spcPts val="0"/>
              </a:spcBef>
              <a:spcAft>
                <a:spcPts val="200"/>
              </a:spcAft>
            </a:pPr>
            <a:r>
              <a:rPr sz="1200" lang="zh-TW" dirty="0">
                <a:solidFill>
                  <a:srgbClr val="000000"/>
                </a:solidFill>
                <a:latin typeface="Arial Unicode MS"/>
                <a:ea typeface="Arial Unicode MS"/>
                <a:cs typeface="Arial Unicode MS"/>
              </a:rPr>
              <a:t>怎麼退，跟第一週的 SAE 等級有關。</a:t>
            </a:r>
            <a:r>
              <a:rPr sz="1200" b="1" lang="zh-TW" dirty="0">
                <a:solidFill>
                  <a:srgbClr val="000000"/>
                </a:solidFill>
                <a:latin typeface="Arial Unicode MS"/>
                <a:ea typeface="Arial Unicode MS"/>
                <a:cs typeface="Arial Unicode MS"/>
              </a:rPr>
              <a:t>L2</a:t>
            </a:r>
            <a:r>
              <a:rPr sz="1200" lang="zh-TW" dirty="0">
                <a:solidFill>
                  <a:srgbClr val="000000"/>
                </a:solidFill>
                <a:latin typeface="Arial Unicode MS"/>
                <a:ea typeface="Arial Unicode MS"/>
                <a:cs typeface="Arial Unicode MS"/>
              </a:rPr>
              <a:t>，駕駛隨時要準備接手，所以車子會跳警告、發出聲音，請駕駛把方向盤拿回去。</a:t>
            </a:r>
            <a:r>
              <a:rPr sz="1200" b="1" lang="zh-TW" dirty="0">
                <a:solidFill>
                  <a:srgbClr val="000000"/>
                </a:solidFill>
                <a:latin typeface="Arial Unicode MS"/>
                <a:ea typeface="Arial Unicode MS"/>
                <a:cs typeface="Arial Unicode MS"/>
              </a:rPr>
              <a:t>L4</a:t>
            </a:r>
            <a:r>
              <a:rPr sz="1200" lang="zh-TW" dirty="0">
                <a:solidFill>
                  <a:srgbClr val="000000"/>
                </a:solidFill>
                <a:latin typeface="Arial Unicode MS"/>
                <a:ea typeface="Arial Unicode MS"/>
                <a:cs typeface="Arial Unicode MS"/>
              </a:rPr>
              <a:t>，車上可能沒有駕駛，它要自己把車子帶到一個</a:t>
            </a:r>
            <a:r>
              <a:rPr sz="1200" b="1" lang="zh-TW" dirty="0">
                <a:solidFill>
                  <a:srgbClr val="000000"/>
                </a:solidFill>
                <a:latin typeface="Arial Unicode MS"/>
                <a:ea typeface="Arial Unicode MS"/>
                <a:cs typeface="Arial Unicode MS"/>
              </a:rPr>
              <a:t>最小風險狀態</a:t>
            </a:r>
            <a:r>
              <a:rPr sz="1200" lang="zh-TW" dirty="0">
                <a:solidFill>
                  <a:srgbClr val="000000"/>
                </a:solidFill>
                <a:latin typeface="Arial Unicode MS"/>
                <a:ea typeface="Arial Unicode MS"/>
                <a:cs typeface="Arial Unicode MS"/>
              </a:rPr>
              <a:t>，最常見的就是減速、打方向燈、靠邊停下來。就像計程車司機遇到看不清楚的暴雨，會先靠邊停一下，等雨小一點再走。
</a:t>
            </a:r>
          </a:p>
          <a:p>
            <a:pPr algn="l">
              <a:spcBef>
                <a:spcPts val="0"/>
              </a:spcBef>
              <a:spcAft>
                <a:spcPts val="200"/>
              </a:spcAft>
            </a:pPr>
            <a:r>
              <a:rPr sz="1200" lang="zh-TW" dirty="0">
                <a:solidFill>
                  <a:srgbClr val="000000"/>
                </a:solidFill>
                <a:latin typeface="Arial Unicode MS"/>
                <a:ea typeface="Arial Unicode MS"/>
                <a:cs typeface="Arial Unicode MS"/>
              </a:rPr>
              <a:t>什麼時候該降級？回到第一週的 </a:t>
            </a:r>
            <a:r>
              <a:rPr sz="1200" b="1" lang="zh-TW" dirty="0">
                <a:solidFill>
                  <a:srgbClr val="000000"/>
                </a:solidFill>
                <a:latin typeface="Arial Unicode MS"/>
                <a:ea typeface="Arial Unicode MS"/>
                <a:cs typeface="Arial Unicode MS"/>
              </a:rPr>
              <a:t>ODD</a:t>
            </a:r>
            <a:r>
              <a:rPr sz="1200" lang="zh-TW" dirty="0">
                <a:solidFill>
                  <a:srgbClr val="000000"/>
                </a:solidFill>
                <a:latin typeface="Arial Unicode MS"/>
                <a:ea typeface="Arial Unicode MS"/>
                <a:cs typeface="Arial Unicode MS"/>
              </a:rPr>
              <a:t>，運行設計範圍，那六格：道路類型、速度域、交通狀況、天候與光照、地理範圍、人的角色。其中「</a:t>
            </a:r>
            <a:r>
              <a:rPr sz="1200" b="1" lang="zh-TW" dirty="0">
                <a:solidFill>
                  <a:srgbClr val="000000"/>
                </a:solidFill>
                <a:latin typeface="Arial Unicode MS"/>
                <a:ea typeface="Arial Unicode MS"/>
                <a:cs typeface="Arial Unicode MS"/>
              </a:rPr>
              <a:t>天候與光照</a:t>
            </a:r>
            <a:r>
              <a:rPr sz="1200" lang="zh-TW" dirty="0">
                <a:solidFill>
                  <a:srgbClr val="000000"/>
                </a:solidFill>
                <a:latin typeface="Arial Unicode MS"/>
                <a:ea typeface="Arial Unicode MS"/>
                <a:cs typeface="Arial Unicode MS"/>
              </a:rPr>
              <a:t>」那一格，其實就是上一節那張失效對照表：雨大到相機打叉、光達三角形，就是走出了 ODD。「</a:t>
            </a:r>
            <a:r>
              <a:rPr sz="1200" b="1" lang="zh-TW" dirty="0">
                <a:solidFill>
                  <a:srgbClr val="000000"/>
                </a:solidFill>
                <a:latin typeface="Arial Unicode MS"/>
                <a:ea typeface="Arial Unicode MS"/>
                <a:cs typeface="Arial Unicode MS"/>
              </a:rPr>
              <a:t>地理範圍</a:t>
            </a:r>
            <a:r>
              <a:rPr sz="1200" lang="zh-TW" dirty="0">
                <a:solidFill>
                  <a:srgbClr val="000000"/>
                </a:solidFill>
                <a:latin typeface="Arial Unicode MS"/>
                <a:ea typeface="Arial Unicode MS"/>
                <a:cs typeface="Arial Unicode MS"/>
              </a:rPr>
              <a:t>」那一格也一樣：開進一條地圖上沒有的路、開進收不到衛星的地方。
</a:t>
            </a:r>
          </a:p>
          <a:p>
            <a:pPr algn="l">
              <a:spcBef>
                <a:spcPts val="0"/>
              </a:spcBef>
              <a:spcAft>
                <a:spcPts val="200"/>
              </a:spcAft>
            </a:pPr>
            <a:r>
              <a:rPr sz="1200" lang="zh-TW" dirty="0">
                <a:solidFill>
                  <a:srgbClr val="000000"/>
                </a:solidFill>
                <a:latin typeface="Arial Unicode MS"/>
                <a:ea typeface="Arial Unicode MS"/>
                <a:cs typeface="Arial Unicode MS"/>
              </a:rPr>
              <a:t>所以，失效條件、融合、ODD，是同一件事的三面：知道它什麼時候壞，就知道 ODD 的邊界畫在哪裡；邊界一到，就降級。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最後把今天講的收成五組最常見的搭檔。每一組都問三件事：誰負責哪一塊、什麼時候最需要、我們在哪裡看過。
</a:t>
            </a:r>
          </a:p>
          <a:p>
            <a:pPr algn="l">
              <a:spcBef>
                <a:spcPts val="0"/>
              </a:spcBef>
              <a:spcAft>
                <a:spcPts val="200"/>
              </a:spcAft>
            </a:pPr>
            <a:r>
              <a:rPr sz="1200" b="1" lang="zh-TW" dirty="0">
                <a:solidFill>
                  <a:srgbClr val="000000"/>
                </a:solidFill>
                <a:latin typeface="Arial Unicode MS"/>
                <a:ea typeface="Arial Unicode MS"/>
                <a:cs typeface="Arial Unicode MS"/>
              </a:rPr>
              <a:t>第一組，相機加雷達。</a:t>
            </a:r>
            <a:r>
              <a:rPr sz="1200" lang="zh-TW" dirty="0">
                <a:solidFill>
                  <a:srgbClr val="000000"/>
                </a:solidFill>
                <a:latin typeface="Arial Unicode MS"/>
                <a:ea typeface="Arial Unicode MS"/>
                <a:cs typeface="Arial Unicode MS"/>
              </a:rPr>
              <a:t>就像一個人眼睛好、一個人耳朵好：相機看得出那是一台機車，雷達量得出它三十公尺、正以時速二十靠近。自動緊急煞車、跟車，最常用這一組。本節第七張的對應講的就是它；下一節的任務五，各位要自己拼一次。
</a:t>
            </a:r>
          </a:p>
          <a:p>
            <a:pPr algn="l">
              <a:spcBef>
                <a:spcPts val="0"/>
              </a:spcBef>
              <a:spcAft>
                <a:spcPts val="200"/>
              </a:spcAft>
            </a:pPr>
            <a:r>
              <a:rPr sz="1200" b="1" lang="zh-TW" dirty="0">
                <a:solidFill>
                  <a:srgbClr val="000000"/>
                </a:solidFill>
                <a:latin typeface="Arial Unicode MS"/>
                <a:ea typeface="Arial Unicode MS"/>
                <a:cs typeface="Arial Unicode MS"/>
              </a:rPr>
              <a:t>第二組，相機加光達。</a:t>
            </a:r>
            <a:r>
              <a:rPr sz="1200" lang="zh-TW" dirty="0">
                <a:solidFill>
                  <a:srgbClr val="000000"/>
                </a:solidFill>
                <a:latin typeface="Arial Unicode MS"/>
                <a:ea typeface="Arial Unicode MS"/>
                <a:cs typeface="Arial Unicode MS"/>
              </a:rPr>
              <a:t>把光達的點投到照片上，照片上每一個點都知道自己多遠。相機認得出，光達量得準。本節第四張標定那兩張圖，做的就是這件事。
</a:t>
            </a:r>
          </a:p>
          <a:p>
            <a:pPr algn="l">
              <a:spcBef>
                <a:spcPts val="0"/>
              </a:spcBef>
              <a:spcAft>
                <a:spcPts val="200"/>
              </a:spcAft>
            </a:pPr>
            <a:r>
              <a:rPr sz="1200" b="1" lang="zh-TW" dirty="0">
                <a:solidFill>
                  <a:srgbClr val="000000"/>
                </a:solidFill>
                <a:latin typeface="Arial Unicode MS"/>
                <a:ea typeface="Arial Unicode MS"/>
                <a:cs typeface="Arial Unicode MS"/>
              </a:rPr>
              <a:t>第三組，光達加雷達。</a:t>
            </a:r>
            <a:r>
              <a:rPr sz="1200" lang="zh-TW" dirty="0">
                <a:solidFill>
                  <a:srgbClr val="000000"/>
                </a:solidFill>
                <a:latin typeface="Arial Unicode MS"/>
                <a:ea typeface="Arial Unicode MS"/>
                <a:cs typeface="Arial Unicode MS"/>
              </a:rPr>
              <a:t>下雨起霧，光達看的距離變短，雷達幾乎不受影響，先頂上；反過來，雷達量不出高度，分不出頭頂的路牌，光達的點有高有低，補得上。第一節第五張講雨霧，第一節第七張看過雷達的點全部在同一個高度。
</a:t>
            </a:r>
          </a:p>
          <a:p>
            <a:pPr algn="l">
              <a:spcBef>
                <a:spcPts val="0"/>
              </a:spcBef>
              <a:spcAft>
                <a:spcPts val="200"/>
              </a:spcAft>
            </a:pPr>
            <a:r>
              <a:rPr sz="1200" b="1" lang="zh-TW" dirty="0">
                <a:solidFill>
                  <a:srgbClr val="000000"/>
                </a:solidFill>
                <a:latin typeface="Arial Unicode MS"/>
                <a:ea typeface="Arial Unicode MS"/>
                <a:cs typeface="Arial Unicode MS"/>
              </a:rPr>
              <a:t>第四組，衛星定位加 IMU 加地圖。</a:t>
            </a:r>
            <a:r>
              <a:rPr sz="1200" lang="zh-TW" dirty="0">
                <a:solidFill>
                  <a:srgbClr val="000000"/>
                </a:solidFill>
                <a:latin typeface="Arial Unicode MS"/>
                <a:ea typeface="Arial Unicode MS"/>
                <a:cs typeface="Arial Unicode MS"/>
              </a:rPr>
              <a:t>就像閉著眼睛走路，每走一段睜眼看一下：衛星是睜眼，IMU 是閉眼數步。進隧道，衛星斷了，IMU 先撐；出隧道，衛星一回來，馬上拉回正確的位置。本節第九張的九比一，就是在算這件事。
</a:t>
            </a:r>
          </a:p>
          <a:p>
            <a:pPr algn="l">
              <a:spcBef>
                <a:spcPts val="0"/>
              </a:spcBef>
              <a:spcAft>
                <a:spcPts val="200"/>
              </a:spcAft>
            </a:pPr>
            <a:r>
              <a:rPr sz="1200" b="1" lang="zh-TW" dirty="0">
                <a:solidFill>
                  <a:srgbClr val="000000"/>
                </a:solidFill>
                <a:latin typeface="Arial Unicode MS"/>
                <a:ea typeface="Arial Unicode MS"/>
                <a:cs typeface="Arial Unicode MS"/>
              </a:rPr>
              <a:t>第五組，超音波加環景相機。</a:t>
            </a:r>
            <a:r>
              <a:rPr sz="1200" lang="zh-TW" dirty="0">
                <a:solidFill>
                  <a:srgbClr val="000000"/>
                </a:solidFill>
                <a:latin typeface="Arial Unicode MS"/>
                <a:ea typeface="Arial Unicode MS"/>
                <a:cs typeface="Arial Unicode MS"/>
              </a:rPr>
              <a:t>停車的時候，超音波量保險桿前面幾十公分的距離，嗶嗶叫；環景相機讓你看清楚那是一根柱子還是一個小孩。第六週講超音波的時候看過。
</a:t>
            </a:r>
          </a:p>
          <a:p>
            <a:pPr algn="l">
              <a:spcBef>
                <a:spcPts val="0"/>
              </a:spcBef>
              <a:spcAft>
                <a:spcPts val="200"/>
              </a:spcAft>
            </a:pPr>
            <a:r>
              <a:rPr sz="1200" lang="zh-TW" dirty="0">
                <a:solidFill>
                  <a:srgbClr val="000000"/>
                </a:solidFill>
                <a:latin typeface="Arial Unicode MS"/>
                <a:ea typeface="Arial Unicode MS"/>
                <a:cs typeface="Arial Unicode MS"/>
              </a:rPr>
              <a:t>五組看下來，模式只有兩種：</a:t>
            </a:r>
            <a:r>
              <a:rPr sz="1200" b="1" lang="zh-TW" dirty="0">
                <a:solidFill>
                  <a:srgbClr val="000000"/>
                </a:solidFill>
                <a:latin typeface="Arial Unicode MS"/>
                <a:ea typeface="Arial Unicode MS"/>
                <a:cs typeface="Arial Unicode MS"/>
              </a:rPr>
              <a:t>一個管「是什麼」，一個管「多遠、多快」；或是一個壞了，另一個先頂上。</a:t>
            </a:r>
            <a:r>
              <a:rPr sz="1200" lang="zh-TW" dirty="0">
                <a:solidFill>
                  <a:srgbClr val="000000"/>
                </a:solidFill>
                <a:latin typeface="Arial Unicode MS"/>
                <a:ea typeface="Arial Unicode MS"/>
                <a:cs typeface="Arial Unicode MS"/>
              </a:rPr>
              <a:t>這就是本節第三張講的互補和備援。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三句話。
</a:t>
            </a:r>
          </a:p>
          <a:p>
            <a:pPr algn="l">
              <a:spcBef>
                <a:spcPts val="0"/>
              </a:spcBef>
              <a:spcAft>
                <a:spcPts val="200"/>
              </a:spcAft>
            </a:pPr>
            <a:r>
              <a:rPr sz="1200" b="1" lang="zh-TW" dirty="0">
                <a:solidFill>
                  <a:srgbClr val="000000"/>
                </a:solidFill>
                <a:latin typeface="Arial Unicode MS"/>
                <a:ea typeface="Arial Unicode MS"/>
                <a:cs typeface="Arial Unicode MS"/>
              </a:rPr>
              <a:t>第一句，合之前要先對齊。</a:t>
            </a:r>
            <a:r>
              <a:rPr sz="1200" lang="zh-TW" dirty="0">
                <a:solidFill>
                  <a:srgbClr val="000000"/>
                </a:solidFill>
                <a:latin typeface="Arial Unicode MS"/>
                <a:ea typeface="Arial Unicode MS"/>
                <a:cs typeface="Arial Unicode MS"/>
              </a:rPr>
              <a:t>空間對齊叫標定，時間對齊叫同步。今天那張圖，差四度，光達點就從車上滑掉了。
</a:t>
            </a:r>
          </a:p>
          <a:p>
            <a:pPr algn="l">
              <a:spcBef>
                <a:spcPts val="0"/>
              </a:spcBef>
              <a:spcAft>
                <a:spcPts val="200"/>
              </a:spcAft>
            </a:pPr>
            <a:r>
              <a:rPr sz="1200" b="1" lang="zh-TW" dirty="0">
                <a:solidFill>
                  <a:srgbClr val="000000"/>
                </a:solidFill>
                <a:latin typeface="Arial Unicode MS"/>
                <a:ea typeface="Arial Unicode MS"/>
                <a:cs typeface="Arial Unicode MS"/>
              </a:rPr>
              <a:t>第二句，說法不一樣的時候。</a:t>
            </a:r>
            <a:r>
              <a:rPr sz="1200" lang="zh-TW" dirty="0">
                <a:solidFill>
                  <a:srgbClr val="000000"/>
                </a:solidFill>
                <a:latin typeface="Arial Unicode MS"/>
                <a:ea typeface="Arial Unicode MS"/>
                <a:cs typeface="Arial Unicode MS"/>
              </a:rPr>
              <a:t>看條件決定信誰、多數決、保守原則，三種都有代價；感測器自己說「我不可靠」，它的權重就降下來。
</a:t>
            </a:r>
          </a:p>
          <a:p>
            <a:pPr algn="l">
              <a:spcBef>
                <a:spcPts val="0"/>
              </a:spcBef>
              <a:spcAft>
                <a:spcPts val="200"/>
              </a:spcAft>
            </a:pPr>
            <a:r>
              <a:rPr sz="1200" b="1" lang="zh-TW" dirty="0">
                <a:solidFill>
                  <a:srgbClr val="000000"/>
                </a:solidFill>
                <a:latin typeface="Arial Unicode MS"/>
                <a:ea typeface="Arial Unicode MS"/>
                <a:cs typeface="Arial Unicode MS"/>
              </a:rPr>
              <a:t>第三句，比較準的多相信一點。</a:t>
            </a:r>
            <a:r>
              <a:rPr sz="1200" lang="zh-TW" dirty="0">
                <a:solidFill>
                  <a:srgbClr val="000000"/>
                </a:solidFill>
                <a:latin typeface="Arial Unicode MS"/>
                <a:ea typeface="Arial Unicode MS"/>
                <a:cs typeface="Arial Unicode MS"/>
              </a:rPr>
              <a:t>誤差差三倍，信任差九倍。隧道裡只剩預測，出隧道一下拉回來。真的合起來也不夠，就降級。
</a:t>
            </a:r>
          </a:p>
          <a:p>
            <a:pPr algn="l">
              <a:spcBef>
                <a:spcPts val="0"/>
              </a:spcBef>
              <a:spcAft>
                <a:spcPts val="200"/>
              </a:spcAft>
            </a:pPr>
            <a:r>
              <a:rPr sz="1200" lang="zh-TW" dirty="0">
                <a:solidFill>
                  <a:srgbClr val="000000"/>
                </a:solidFill>
                <a:latin typeface="Arial Unicode MS"/>
                <a:ea typeface="Arial Unicode MS"/>
                <a:cs typeface="Arial Unicode MS"/>
              </a:rPr>
              <a:t>下一節，各位自己打開 nuScenes：同一個瞬間，相機、光達、雷達各看到什麼，自己拼一次第一組搭檔，再把第三週那張「誰補誰」的表真的填完。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youtu.be/cMlGyIJH5L8" TargetMode="External"/><Relationship Id="rId1" Type="http://schemas.openxmlformats.org/officeDocument/2006/relationships/image" Target="../media/image-7-1.jp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7</a:t>
            </a:r>
            <a:endParaRPr lang="en-US" sz="1250" dirty="0"/>
          </a:p>
        </p:txBody>
      </p:sp>
      <p:sp>
        <p:nvSpPr>
          <p:cNvPr id="5" name="Text 3"/>
          <p:cNvSpPr txBox="1"/>
          <p:nvPr/>
        </p:nvSpPr>
        <p:spPr>
          <a:xfrm>
            <a:off x="516938" y="1567350"/>
            <a:ext cx="7472250" cy="1519988"/>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Hợp nhất cảm biến: mỗi cái đều hỏng, ghép lại thế nào</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感測器融合：每一顆都會壞，怎麼合起來</a:t>
            </a:r>
            <a:endParaRPr lang="en-US" sz="3390" dirty="0"/>
          </a:p>
        </p:txBody>
      </p:sp>
      <p:sp>
        <p:nvSpPr>
          <p:cNvPr id="6" name="Shape 4"/>
          <p:cNvSpPr/>
          <p:nvPr/>
        </p:nvSpPr>
        <p:spPr>
          <a:xfrm>
            <a:off x="516938" y="3233138"/>
            <a:ext cx="1366875" cy="41006"/>
          </a:xfrm>
          <a:prstGeom prst="rect">
            <a:avLst/>
          </a:prstGeom>
          <a:solidFill>
            <a:srgbClr val="FFB020"/>
          </a:solidFill>
          <a:ln/>
        </p:spPr>
      </p:sp>
      <p:sp>
        <p:nvSpPr>
          <p:cNvPr id="7" name="Text 5"/>
          <p:cNvSpPr txBox="1"/>
          <p:nvPr/>
        </p:nvSpPr>
        <p:spPr>
          <a:xfrm>
            <a:off x="516938" y="3433613"/>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Ghép thế nào, khi nào ghép, nói khác nhau thì nghe ai</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怎麼對齊、什麼時候合、說法不一樣要聽誰的</a:t>
            </a:r>
            <a:endParaRPr lang="en-US" sz="1450" dirty="0"/>
          </a:p>
        </p:txBody>
      </p:sp>
      <p:sp>
        <p:nvSpPr>
          <p:cNvPr id="8" name="Text 6"/>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第七週 第 2 節　2026/10/22（四）10:10–11:00　CH Tseng</a:t>
            </a:r>
            <a:endParaRPr lang="en-US" sz="1150" dirty="0"/>
          </a:p>
        </p:txBody>
      </p:sp>
      <p:sp>
        <p:nvSpPr>
          <p:cNvPr id="10" name="Shape 7"/>
          <p:cNvSpPr/>
          <p:nvPr/>
        </p:nvSpPr>
        <p:spPr>
          <a:xfrm>
            <a:off x="371138" y="309825"/>
            <a:ext cx="2205225" cy="747225"/>
          </a:xfrm>
          <a:prstGeom prst="roundRect">
            <a:avLst>
              <a:gd name="adj" fmla="val 9756"/>
            </a:avLst>
          </a:prstGeom>
          <a:solidFill>
            <a:srgbClr val="FFFFFF"/>
          </a:solidFill>
          <a:ln/>
        </p:spPr>
      </p:sp>
      <p:pic>
        <p:nvPicPr>
          <p:cNvPr id="11" name="Image 0" descr="/Users/tsengchenghsun/Class/carClass/Claude outputs/第七週(10-22)/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Mở đầu · 兩顆說的不一樣</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七週(10-22)/src/img/w7_ghost.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示意動畫：課程自製（高度放大畫）</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Radar nói: 60 m phía trước có vật. Camera nói: không có xe. Nghe ai?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雷達說：前方 60 公尺有東西。相機說：沒有車。要聽誰的？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Nghe radar: có thể phanh gấp vì một tấm biển trên đầu (phanh ma). Nghe camera: có thể đâm vào một xe đang đỗ mà nó không nhận ra.</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聽雷達：可能為了一塊頭頂的路牌急煞（幽靈煞車）。聽相機：可能撞上一台它沒認出來的停著的車。</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Không có câu trả lời luôn đúng — hợp nhất là chọn cái giá nào mình chịu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沒有永遠對的答案——融合是在選哪一種代價比較承受得起。</a:t>
            </a:r>
            <a:endParaRPr lang="en-US" sz="1250" dirty="0"/>
          </a:p>
        </p:txBody>
      </p:sp>
      <p:sp>
        <p:nvSpPr>
          <p:cNvPr id="9" name="Shape 6"/>
          <p:cNvSpPr/>
          <p:nvPr/>
        </p:nvSpPr>
        <p:spPr>
          <a:xfrm>
            <a:off x="6369399" y="365760"/>
            <a:ext cx="2271681"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6497415" y="384048"/>
            <a:ext cx="208880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nhân chứng kể khác nhau</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兩個目擊證人說法不一樣</a:t>
            </a:r>
            <a:endParaRPr lang="en-US" sz="950" dirty="0"/>
          </a:p>
        </p:txBody>
      </p:sp>
      <p:pic>
        <p:nvPicPr>
          <p:cNvPr id="12" name="Image 1" descr="/Users/tsengchenghsun/Class/carClass/Claude outputs/第七週(10-22)/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Hai lý do để ghép: bổ sung và dự phòng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合起來的兩個好處：互補、備援</a:t>
            </a:r>
            <a:endParaRPr lang="en-US" sz="2200" dirty="0"/>
          </a:p>
        </p:txBody>
      </p:sp>
      <p:sp>
        <p:nvSpPr>
          <p:cNvPr id="3" name="Shape 1"/>
          <p:cNvSpPr/>
          <p:nvPr/>
        </p:nvSpPr>
        <p:spPr>
          <a:xfrm>
            <a:off x="502920" y="1133856"/>
            <a:ext cx="3913632" cy="2615184"/>
          </a:xfrm>
          <a:prstGeom prst="roundRect">
            <a:avLst>
              <a:gd name="adj" fmla="val 3497"/>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502920" y="1133856"/>
            <a:ext cx="3913632" cy="64008"/>
          </a:xfrm>
          <a:prstGeom prst="rect">
            <a:avLst/>
          </a:prstGeom>
          <a:solidFill>
            <a:srgbClr val="00A896"/>
          </a:solidFill>
          <a:ln/>
        </p:spPr>
      </p:sp>
      <p:sp>
        <p:nvSpPr>
          <p:cNvPr id="5" name="Text 3"/>
          <p:cNvSpPr txBox="1"/>
          <p:nvPr/>
        </p:nvSpPr>
        <p:spPr>
          <a:xfrm>
            <a:off x="722376" y="1371600"/>
            <a:ext cx="3474720" cy="731520"/>
          </a:xfrm>
          <a:prstGeom prst="rect">
            <a:avLst/>
          </a:prstGeom>
          <a:noFill/>
          <a:ln/>
        </p:spPr>
        <p:txBody>
          <a:bodyPr wrap="square" lIns="0" tIns="0" rIns="0" bIns="0" rtlCol="0" anchor="t"/>
          <a:lstStyle/>
          <a:p>
            <a:pPr indent="0" marL="0">
              <a:lnSpc>
                <a:spcPct val="116000"/>
              </a:lnSpc>
              <a:buNone/>
            </a:pPr>
            <a:r>
              <a:rPr lang="en-US" sz="1500" b="1" dirty="0">
                <a:solidFill>
                  <a:srgbClr val="0B1F3A"/>
                </a:solidFill>
                <a:latin typeface="Arial" pitchFamily="34" charset="0"/>
                <a:ea typeface="Arial" pitchFamily="34" charset="-122"/>
                <a:cs typeface="Arial" pitchFamily="34" charset="-120"/>
              </a:rPr>
              <a:t>Bổ sung — mỗi cái cho một thông tin khác</a:t>
            </a:r>
            <a:endParaRPr lang="en-US" sz="15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互補——每一顆給不同的資訊</a:t>
            </a:r>
            <a:endParaRPr lang="en-US" sz="1500" dirty="0"/>
          </a:p>
        </p:txBody>
      </p:sp>
      <p:sp>
        <p:nvSpPr>
          <p:cNvPr id="6" name="Text 4"/>
          <p:cNvSpPr txBox="1"/>
          <p:nvPr/>
        </p:nvSpPr>
        <p:spPr>
          <a:xfrm>
            <a:off x="722376" y="2157984"/>
            <a:ext cx="3474720" cy="1408176"/>
          </a:xfrm>
          <a:prstGeom prst="rect">
            <a:avLst/>
          </a:prstGeom>
          <a:noFill/>
          <a:ln/>
        </p:spPr>
        <p:txBody>
          <a:bodyPr wrap="square" lIns="0" tIns="0" rIns="0" bIns="0" rtlCol="0" anchor="t"/>
          <a:lstStyle/>
          <a:p>
            <a:pPr indent="0" marL="0">
              <a:lnSpc>
                <a:spcPct val="130000"/>
              </a:lnSpc>
              <a:buNone/>
            </a:pPr>
            <a:r>
              <a:rPr lang="en-US" sz="1200" dirty="0">
                <a:solidFill>
                  <a:srgbClr val="5F7183"/>
                </a:solidFill>
                <a:latin typeface="Arial" pitchFamily="34" charset="0"/>
                <a:ea typeface="Arial" pitchFamily="34" charset="-122"/>
                <a:cs typeface="Arial" pitchFamily="34" charset="-120"/>
              </a:rPr>
              <a:t>Camera: là cái gì. Radar: nhanh bao nhiêu. Lidar: hình dạng, bao xa.</a:t>
            </a:r>
            <a:endParaRPr lang="en-US" sz="1200" dirty="0"/>
          </a:p>
          <a:p>
            <a:pPr indent="0" marL="0">
              <a:lnSpc>
                <a:spcPct val="130000"/>
              </a:lnSpc>
              <a:buNone/>
            </a:pPr>
            <a:r>
              <a:rPr lang="en-US" sz="1200" dirty="0">
                <a:solidFill>
                  <a:srgbClr val="5F7183"/>
                </a:solidFill>
                <a:latin typeface="Arial" pitchFamily="34" charset="0"/>
                <a:ea typeface="Arial" pitchFamily="34" charset="-122"/>
                <a:cs typeface="Arial" pitchFamily="34" charset="-120"/>
              </a:rPr>
              <a:t>Ghép lại: «xe máy, 30 m, lại gần 20 km/h».</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相機：那是什麼。雷達：多快。光達：形狀、多遠。</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合起來：「一台機車，30 公尺，時速 20 接近中」。</a:t>
            </a:r>
            <a:endParaRPr lang="en-US" sz="1200" dirty="0"/>
          </a:p>
        </p:txBody>
      </p:sp>
      <p:sp>
        <p:nvSpPr>
          <p:cNvPr id="7" name="Shape 5"/>
          <p:cNvSpPr/>
          <p:nvPr/>
        </p:nvSpPr>
        <p:spPr>
          <a:xfrm>
            <a:off x="4727448" y="1133856"/>
            <a:ext cx="3913632" cy="2615184"/>
          </a:xfrm>
          <a:prstGeom prst="roundRect">
            <a:avLst>
              <a:gd name="adj" fmla="val 3497"/>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8" name="Shape 6"/>
          <p:cNvSpPr/>
          <p:nvPr/>
        </p:nvSpPr>
        <p:spPr>
          <a:xfrm>
            <a:off x="4727448" y="1133856"/>
            <a:ext cx="3913632" cy="64008"/>
          </a:xfrm>
          <a:prstGeom prst="rect">
            <a:avLst/>
          </a:prstGeom>
          <a:solidFill>
            <a:srgbClr val="FFB020"/>
          </a:solidFill>
          <a:ln/>
        </p:spPr>
      </p:sp>
      <p:sp>
        <p:nvSpPr>
          <p:cNvPr id="9" name="Text 7"/>
          <p:cNvSpPr txBox="1"/>
          <p:nvPr/>
        </p:nvSpPr>
        <p:spPr>
          <a:xfrm>
            <a:off x="4946904" y="1371600"/>
            <a:ext cx="3474720" cy="731520"/>
          </a:xfrm>
          <a:prstGeom prst="rect">
            <a:avLst/>
          </a:prstGeom>
          <a:noFill/>
          <a:ln/>
        </p:spPr>
        <p:txBody>
          <a:bodyPr wrap="square" lIns="0" tIns="0" rIns="0" bIns="0" rtlCol="0" anchor="t"/>
          <a:lstStyle/>
          <a:p>
            <a:pPr indent="0" marL="0">
              <a:lnSpc>
                <a:spcPct val="116000"/>
              </a:lnSpc>
              <a:buNone/>
            </a:pPr>
            <a:r>
              <a:rPr lang="en-US" sz="1500" b="1" dirty="0">
                <a:solidFill>
                  <a:srgbClr val="0B1F3A"/>
                </a:solidFill>
                <a:latin typeface="Arial" pitchFamily="34" charset="0"/>
                <a:ea typeface="Arial" pitchFamily="34" charset="-122"/>
                <a:cs typeface="Arial" pitchFamily="34" charset="-120"/>
              </a:rPr>
              <a:t>Dự phòng — cùng một việc, đo hai lần</a:t>
            </a:r>
            <a:endParaRPr lang="en-US" sz="15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備援——同一件事，量兩次</a:t>
            </a:r>
            <a:endParaRPr lang="en-US" sz="1500" dirty="0"/>
          </a:p>
        </p:txBody>
      </p:sp>
      <p:sp>
        <p:nvSpPr>
          <p:cNvPr id="10" name="Text 8"/>
          <p:cNvSpPr txBox="1"/>
          <p:nvPr/>
        </p:nvSpPr>
        <p:spPr>
          <a:xfrm>
            <a:off x="4946904" y="2157984"/>
            <a:ext cx="3474720" cy="1408176"/>
          </a:xfrm>
          <a:prstGeom prst="rect">
            <a:avLst/>
          </a:prstGeom>
          <a:noFill/>
          <a:ln/>
        </p:spPr>
        <p:txBody>
          <a:bodyPr wrap="square" lIns="0" tIns="0" rIns="0" bIns="0" rtlCol="0" anchor="t"/>
          <a:lstStyle/>
          <a:p>
            <a:pPr indent="0" marL="0">
              <a:lnSpc>
                <a:spcPct val="130000"/>
              </a:lnSpc>
              <a:buNone/>
            </a:pPr>
            <a:r>
              <a:rPr lang="en-US" sz="1200" dirty="0">
                <a:solidFill>
                  <a:srgbClr val="5F7183"/>
                </a:solidFill>
                <a:latin typeface="Arial" pitchFamily="34" charset="0"/>
                <a:ea typeface="Arial" pitchFamily="34" charset="-122"/>
                <a:cs typeface="Arial" pitchFamily="34" charset="-120"/>
              </a:rPr>
              <a:t>Camera, lidar, radar đều đo «phía trước có vật».</a:t>
            </a:r>
            <a:endParaRPr lang="en-US" sz="1200" dirty="0"/>
          </a:p>
          <a:p>
            <a:pPr indent="0" marL="0">
              <a:lnSpc>
                <a:spcPct val="130000"/>
              </a:lnSpc>
              <a:buNone/>
            </a:pPr>
            <a:r>
              <a:rPr lang="en-US" sz="1200" dirty="0">
                <a:solidFill>
                  <a:srgbClr val="5F7183"/>
                </a:solidFill>
                <a:latin typeface="Arial" pitchFamily="34" charset="0"/>
                <a:ea typeface="Arial" pitchFamily="34" charset="-122"/>
                <a:cs typeface="Arial" pitchFamily="34" charset="-120"/>
              </a:rPr>
              <a:t>Một cái hỏng, cái khác vẫn đo; nói khác nhau → biết có cái đang sai.</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相機、光達、雷達都量得到「前面有東西」。</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一顆壞了另一顆照樣量；說法不同 → 知道有一顆在出錯。</a:t>
            </a:r>
            <a:endParaRPr lang="en-US" sz="1200" dirty="0"/>
          </a:p>
        </p:txBody>
      </p:sp>
      <p:sp>
        <p:nvSpPr>
          <p:cNvPr id="11" name="Text 9"/>
          <p:cNvSpPr txBox="1"/>
          <p:nvPr/>
        </p:nvSpPr>
        <p:spPr>
          <a:xfrm>
            <a:off x="502920" y="3895344"/>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Một chiếc xe cần cả hai: bổ sung để thấy đủ, dự phòng để hỏng một cái vẫn chạy được.</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一台車兩種都要：互補是為了看得完整，備援是為了壞一顆還開得下去。</a:t>
            </a:r>
            <a:endParaRPr lang="en-US" sz="1250" dirty="0"/>
          </a:p>
        </p:txBody>
      </p:sp>
      <p:pic>
        <p:nvPicPr>
          <p:cNvPr id="13"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12</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Điều kiện 1 · 先對齊空間：標定</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Trước khi ghép phải căn chỉnh: lệch 4 độ, điểm lidar trượt khỏi chiếc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合之前要先對齊：轉偏 4 度，光達點就從車上滑掉了</a:t>
            </a:r>
            <a:endParaRPr lang="en-US" sz="1700" dirty="0"/>
          </a:p>
        </p:txBody>
      </p:sp>
      <p:sp>
        <p:nvSpPr>
          <p:cNvPr id="4" name="Shape 2"/>
          <p:cNvSpPr/>
          <p:nvPr/>
        </p:nvSpPr>
        <p:spPr>
          <a:xfrm>
            <a:off x="610174" y="1310492"/>
            <a:ext cx="3824666" cy="2511700"/>
          </a:xfrm>
          <a:prstGeom prst="roundRect">
            <a:avLst>
              <a:gd name="adj" fmla="val 3641"/>
            </a:avLst>
          </a:prstGeom>
          <a:solidFill>
            <a:srgbClr val="FFFFFF"/>
          </a:solidFill>
          <a:ln w="12700">
            <a:solidFill>
              <a:srgbClr val="DBE3EA"/>
            </a:solidFill>
            <a:prstDash val="solid"/>
          </a:ln>
        </p:spPr>
      </p:sp>
      <p:sp>
        <p:nvSpPr>
          <p:cNvPr id="5" name="Shape 3"/>
          <p:cNvSpPr/>
          <p:nvPr/>
        </p:nvSpPr>
        <p:spPr>
          <a:xfrm>
            <a:off x="701614" y="1401932"/>
            <a:ext cx="3641786" cy="347413"/>
          </a:xfrm>
          <a:prstGeom prst="roundRect">
            <a:avLst>
              <a:gd name="adj" fmla="val 13160"/>
            </a:avLst>
          </a:prstGeom>
          <a:solidFill>
            <a:srgbClr val="0B1F3A"/>
          </a:solidFill>
          <a:ln/>
        </p:spPr>
      </p:sp>
      <p:sp>
        <p:nvSpPr>
          <p:cNvPr id="6" name="Text 4"/>
          <p:cNvSpPr txBox="1"/>
          <p:nvPr/>
        </p:nvSpPr>
        <p:spPr>
          <a:xfrm>
            <a:off x="774766" y="1429364"/>
            <a:ext cx="3495482"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Hiệu chuẩn đúng: điểm cam (gần) phủ đúng chiếc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標定正確：橘色的近處點剛好蓋在車上</a:t>
            </a:r>
            <a:endParaRPr lang="en-US" sz="950" dirty="0"/>
          </a:p>
        </p:txBody>
      </p:sp>
      <p:pic>
        <p:nvPicPr>
          <p:cNvPr id="7" name="Image 0" descr="/Users/tsengchenghsun/Class/carClass/Claude outputs/第七週(10-22)/src/img/w7_calib_ok.jpg">    </p:cNvPr>
          <p:cNvPicPr>
            <a:picLocks noChangeAspect="1"/>
          </p:cNvPicPr>
          <p:nvPr/>
        </p:nvPicPr>
        <p:blipFill>
          <a:blip r:embed="rId1"/>
          <a:stretch>
            <a:fillRect/>
          </a:stretch>
        </p:blipFill>
        <p:spPr>
          <a:xfrm>
            <a:off x="701614" y="1804209"/>
            <a:ext cx="3641786" cy="1707087"/>
          </a:xfrm>
          <a:prstGeom prst="rect">
            <a:avLst/>
          </a:prstGeom>
        </p:spPr>
      </p:pic>
      <p:sp>
        <p:nvSpPr>
          <p:cNvPr id="8" name="Text 5"/>
          <p:cNvSpPr txBox="1"/>
          <p:nvPr/>
        </p:nvSpPr>
        <p:spPr>
          <a:xfrm>
            <a:off x="701614" y="3529584"/>
            <a:ext cx="364178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scene-0061（新加坡）· CC BY-NC-SA 4.0</a:t>
            </a:r>
            <a:endParaRPr lang="en-US" sz="700" dirty="0"/>
          </a:p>
        </p:txBody>
      </p:sp>
      <p:sp>
        <p:nvSpPr>
          <p:cNvPr id="9" name="Shape 6"/>
          <p:cNvSpPr/>
          <p:nvPr/>
        </p:nvSpPr>
        <p:spPr>
          <a:xfrm>
            <a:off x="4709160" y="1310492"/>
            <a:ext cx="3824666" cy="2511700"/>
          </a:xfrm>
          <a:prstGeom prst="roundRect">
            <a:avLst>
              <a:gd name="adj" fmla="val 3641"/>
            </a:avLst>
          </a:prstGeom>
          <a:solidFill>
            <a:srgbClr val="FFFFFF"/>
          </a:solidFill>
          <a:ln w="12700">
            <a:solidFill>
              <a:srgbClr val="DBE3EA"/>
            </a:solidFill>
            <a:prstDash val="solid"/>
          </a:ln>
        </p:spPr>
      </p:sp>
      <p:sp>
        <p:nvSpPr>
          <p:cNvPr id="10" name="Shape 7"/>
          <p:cNvSpPr/>
          <p:nvPr/>
        </p:nvSpPr>
        <p:spPr>
          <a:xfrm>
            <a:off x="4800600" y="1401932"/>
            <a:ext cx="3641786" cy="347413"/>
          </a:xfrm>
          <a:prstGeom prst="roundRect">
            <a:avLst>
              <a:gd name="adj" fmla="val 13160"/>
            </a:avLst>
          </a:prstGeom>
          <a:solidFill>
            <a:srgbClr val="007F72"/>
          </a:solidFill>
          <a:ln/>
        </p:spPr>
      </p:sp>
      <p:sp>
        <p:nvSpPr>
          <p:cNvPr id="11" name="Text 8"/>
          <p:cNvSpPr txBox="1"/>
          <p:nvPr/>
        </p:nvSpPr>
        <p:spPr>
          <a:xfrm>
            <a:off x="4873752" y="1429364"/>
            <a:ext cx="3495482"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Cố ý lệch 4°: điểm xanh (xa) chạy lên kính sau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故意轉偏 4 度：藍色的遠處點跑到車窗上</a:t>
            </a:r>
            <a:endParaRPr lang="en-US" sz="950" dirty="0"/>
          </a:p>
        </p:txBody>
      </p:sp>
      <p:pic>
        <p:nvPicPr>
          <p:cNvPr id="12" name="Image 1" descr="/Users/tsengchenghsun/Class/carClass/Claude outputs/第七週(10-22)/src/img/w7_calib_bad.jpg">    </p:cNvPr>
          <p:cNvPicPr>
            <a:picLocks noChangeAspect="1"/>
          </p:cNvPicPr>
          <p:nvPr/>
        </p:nvPicPr>
        <p:blipFill>
          <a:blip r:embed="rId2"/>
          <a:stretch>
            <a:fillRect/>
          </a:stretch>
        </p:blipFill>
        <p:spPr>
          <a:xfrm>
            <a:off x="4800600" y="1804209"/>
            <a:ext cx="3641786" cy="1707087"/>
          </a:xfrm>
          <a:prstGeom prst="rect">
            <a:avLst/>
          </a:prstGeom>
        </p:spPr>
      </p:pic>
      <p:sp>
        <p:nvSpPr>
          <p:cNvPr id="13" name="Text 9"/>
          <p:cNvSpPr txBox="1"/>
          <p:nvPr/>
        </p:nvSpPr>
        <p:spPr>
          <a:xfrm>
            <a:off x="4800600" y="3529584"/>
            <a:ext cx="364178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同一格，光達多轉 4° · src/tools_nusc.py</a:t>
            </a:r>
            <a:endParaRPr lang="en-US" sz="700" dirty="0"/>
          </a:p>
        </p:txBody>
      </p:sp>
      <p:sp>
        <p:nvSpPr>
          <p:cNvPr id="14" name="Shape 10"/>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5" name="Text 11"/>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nuScenes dùng một khối hiệu chuẩn ba mặt có hoa văn để căn camera với lidar; tuần 5: lệch 1° ở 50 m là 0,87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nuScenes 用一個三面都有圖案的立方體校正靶，把相機和光達對齊；第五週算過：差 1 度，50 公尺外差 0.87 公尺。</a:t>
            </a:r>
            <a:endParaRPr lang="en-US" sz="1200" dirty="0"/>
          </a:p>
        </p:txBody>
      </p:sp>
      <p:pic>
        <p:nvPicPr>
          <p:cNvPr id="17" name="Image 2"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18" name="Text 1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12</a:t>
            </a:r>
            <a:endParaRPr lang="en-US" sz="900" dirty="0"/>
          </a:p>
        </p:txBody>
      </p:sp>
      <p:sp>
        <p:nvSpPr>
          <p:cNvPr id="19" name="Text 1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Điều kiện 2 · 再對齊時間：同步</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Phải cùng thời điểm: lidar 20 Hz, radar 13 Hz, camera 12 Hz</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還要對齊時間：光達 20、雷達 13、相機 12 Hz，每一顆拍的時刻都不一樣</a:t>
            </a:r>
            <a:endParaRPr lang="en-US" sz="1700" dirty="0"/>
          </a:p>
        </p:txBody>
      </p:sp>
      <p:sp>
        <p:nvSpPr>
          <p:cNvPr id="4" name="Shape 2"/>
          <p:cNvSpPr/>
          <p:nvPr/>
        </p:nvSpPr>
        <p:spPr>
          <a:xfrm>
            <a:off x="665956" y="1310492"/>
            <a:ext cx="3768884" cy="2511700"/>
          </a:xfrm>
          <a:prstGeom prst="roundRect">
            <a:avLst>
              <a:gd name="adj" fmla="val 3641"/>
            </a:avLst>
          </a:prstGeom>
          <a:solidFill>
            <a:srgbClr val="FFFFFF"/>
          </a:solidFill>
          <a:ln w="12700">
            <a:solidFill>
              <a:srgbClr val="DBE3EA"/>
            </a:solidFill>
            <a:prstDash val="solid"/>
          </a:ln>
        </p:spPr>
      </p:sp>
      <p:sp>
        <p:nvSpPr>
          <p:cNvPr id="5" name="Shape 3"/>
          <p:cNvSpPr/>
          <p:nvPr/>
        </p:nvSpPr>
        <p:spPr>
          <a:xfrm>
            <a:off x="757396" y="1401932"/>
            <a:ext cx="3586004" cy="347413"/>
          </a:xfrm>
          <a:prstGeom prst="roundRect">
            <a:avLst>
              <a:gd name="adj" fmla="val 13160"/>
            </a:avLst>
          </a:prstGeom>
          <a:solidFill>
            <a:srgbClr val="0B1F3A"/>
          </a:solidFill>
          <a:ln/>
        </p:spPr>
      </p:sp>
      <p:sp>
        <p:nvSpPr>
          <p:cNvPr id="6" name="Text 4"/>
          <p:cNvSpPr txBox="1"/>
          <p:nvPr/>
        </p:nvSpPr>
        <p:spPr>
          <a:xfrm>
            <a:off x="830548" y="1429364"/>
            <a:ext cx="3439700"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Đồng bộ: điểm phủ đúng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同步：點蓋在車上</a:t>
            </a:r>
            <a:endParaRPr lang="en-US" sz="950" dirty="0"/>
          </a:p>
        </p:txBody>
      </p:sp>
      <p:pic>
        <p:nvPicPr>
          <p:cNvPr id="7" name="Image 0" descr="/Users/tsengchenghsun/Class/carClass/Claude outputs/第七週(10-22)/src/img/w7_sync_ok.jpg">    </p:cNvPr>
          <p:cNvPicPr>
            <a:picLocks noChangeAspect="1"/>
          </p:cNvPicPr>
          <p:nvPr/>
        </p:nvPicPr>
        <p:blipFill>
          <a:blip r:embed="rId1"/>
          <a:stretch>
            <a:fillRect/>
          </a:stretch>
        </p:blipFill>
        <p:spPr>
          <a:xfrm>
            <a:off x="757396" y="1804209"/>
            <a:ext cx="3586004" cy="1707087"/>
          </a:xfrm>
          <a:prstGeom prst="rect">
            <a:avLst/>
          </a:prstGeom>
        </p:spPr>
      </p:pic>
      <p:sp>
        <p:nvSpPr>
          <p:cNvPr id="8" name="Text 5"/>
          <p:cNvSpPr txBox="1"/>
          <p:nvPr/>
        </p:nvSpPr>
        <p:spPr>
          <a:xfrm>
            <a:off x="757396" y="3529584"/>
            <a:ext cx="3586004"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scene-1100（新加坡）· CC BY-NC-SA 4.0</a:t>
            </a:r>
            <a:endParaRPr lang="en-US" sz="700" dirty="0"/>
          </a:p>
        </p:txBody>
      </p:sp>
      <p:sp>
        <p:nvSpPr>
          <p:cNvPr id="9" name="Shape 6"/>
          <p:cNvSpPr/>
          <p:nvPr/>
        </p:nvSpPr>
        <p:spPr>
          <a:xfrm>
            <a:off x="4709160" y="1310492"/>
            <a:ext cx="3768884" cy="2511700"/>
          </a:xfrm>
          <a:prstGeom prst="roundRect">
            <a:avLst>
              <a:gd name="adj" fmla="val 3641"/>
            </a:avLst>
          </a:prstGeom>
          <a:solidFill>
            <a:srgbClr val="FFFFFF"/>
          </a:solidFill>
          <a:ln w="12700">
            <a:solidFill>
              <a:srgbClr val="DBE3EA"/>
            </a:solidFill>
            <a:prstDash val="solid"/>
          </a:ln>
        </p:spPr>
      </p:sp>
      <p:sp>
        <p:nvSpPr>
          <p:cNvPr id="10" name="Shape 7"/>
          <p:cNvSpPr/>
          <p:nvPr/>
        </p:nvSpPr>
        <p:spPr>
          <a:xfrm>
            <a:off x="4800600" y="1401932"/>
            <a:ext cx="3586004" cy="347413"/>
          </a:xfrm>
          <a:prstGeom prst="roundRect">
            <a:avLst>
              <a:gd name="adj" fmla="val 13160"/>
            </a:avLst>
          </a:prstGeom>
          <a:solidFill>
            <a:srgbClr val="8A5A00"/>
          </a:solidFill>
          <a:ln/>
        </p:spPr>
      </p:sp>
      <p:sp>
        <p:nvSpPr>
          <p:cNvPr id="11" name="Text 8"/>
          <p:cNvSpPr txBox="1"/>
          <p:nvPr/>
        </p:nvSpPr>
        <p:spPr>
          <a:xfrm>
            <a:off x="4873752" y="1429364"/>
            <a:ext cx="3439700"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Lidar sớm 0,2 s: điểm ở chỗ cũ</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光達早 0.2 秒：點留在車子剛剛的位置</a:t>
            </a:r>
            <a:endParaRPr lang="en-US" sz="950" dirty="0"/>
          </a:p>
        </p:txBody>
      </p:sp>
      <p:pic>
        <p:nvPicPr>
          <p:cNvPr id="12" name="Image 1" descr="/Users/tsengchenghsun/Class/carClass/Claude outputs/第七週(10-22)/src/img/w7_sync_bad.jpg">    </p:cNvPr>
          <p:cNvPicPr>
            <a:picLocks noChangeAspect="1"/>
          </p:cNvPicPr>
          <p:nvPr/>
        </p:nvPicPr>
        <p:blipFill>
          <a:blip r:embed="rId2"/>
          <a:stretch>
            <a:fillRect/>
          </a:stretch>
        </p:blipFill>
        <p:spPr>
          <a:xfrm>
            <a:off x="4800600" y="1804209"/>
            <a:ext cx="3586004" cy="1707087"/>
          </a:xfrm>
          <a:prstGeom prst="rect">
            <a:avLst/>
          </a:prstGeom>
        </p:spPr>
      </p:pic>
      <p:sp>
        <p:nvSpPr>
          <p:cNvPr id="13" name="Text 9"/>
          <p:cNvSpPr txBox="1"/>
          <p:nvPr/>
        </p:nvSpPr>
        <p:spPr>
          <a:xfrm>
            <a:off x="4800600" y="3529584"/>
            <a:ext cx="3586004"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同一張照片，光達改用早 4 圈的那一圈 · 只畫離地 0.4–2 m</a:t>
            </a:r>
            <a:endParaRPr lang="en-US" sz="700" dirty="0"/>
          </a:p>
        </p:txBody>
      </p:sp>
      <p:sp>
        <p:nvSpPr>
          <p:cNvPr id="14" name="Shape 10"/>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5" name="Text 11"/>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Xe chạy khoảng 37 km/h: 0,2 s đi 2 m. Biển báo đứng yên nên vẫn khớp.</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這台車約時速 37：0.2 秒走 2 公尺。路牌沒動，所以照樣對準。</a:t>
            </a:r>
            <a:endParaRPr lang="en-US" sz="1200" dirty="0"/>
          </a:p>
        </p:txBody>
      </p:sp>
      <p:sp>
        <p:nvSpPr>
          <p:cNvPr id="16" name="Shape 12"/>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7" name="Text 13"/>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người chụp ảnh một chiếc xe đang chạy, lệch nửa giây</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兩個人拍同一台開過去的車，差半秒按快門</a:t>
            </a:r>
            <a:endParaRPr lang="en-US" sz="950" dirty="0"/>
          </a:p>
        </p:txBody>
      </p:sp>
      <p:pic>
        <p:nvPicPr>
          <p:cNvPr id="19" name="Image 2"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20"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12</a:t>
            </a:r>
            <a:endParaRPr lang="en-US" sz="900" dirty="0"/>
          </a:p>
        </p:txBody>
      </p:sp>
      <p:sp>
        <p:nvSpPr>
          <p:cNvPr id="21"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Ghép sớm, giữa hay muộn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早一點合、中間合、最後才合</a:t>
            </a:r>
            <a:endParaRPr lang="en-US" sz="2200" dirty="0"/>
          </a:p>
        </p:txBody>
      </p:sp>
      <p:sp>
        <p:nvSpPr>
          <p:cNvPr id="3" name="Shape 1"/>
          <p:cNvSpPr/>
          <p:nvPr/>
        </p:nvSpPr>
        <p:spPr>
          <a:xfrm>
            <a:off x="50292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530096" y="1316736"/>
            <a:ext cx="475488" cy="475488"/>
          </a:xfrm>
          <a:prstGeom prst="ellipse">
            <a:avLst/>
          </a:prstGeom>
          <a:solidFill>
            <a:srgbClr val="0B1F3A"/>
          </a:solidFill>
          <a:ln/>
        </p:spPr>
      </p:sp>
      <p:sp>
        <p:nvSpPr>
          <p:cNvPr id="5" name="Text 3"/>
          <p:cNvSpPr txBox="1"/>
          <p:nvPr/>
        </p:nvSpPr>
        <p:spPr>
          <a:xfrm>
            <a:off x="153009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63093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sớm</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前期融合</a:t>
            </a:r>
            <a:endParaRPr lang="en-US" sz="1400" dirty="0"/>
          </a:p>
        </p:txBody>
      </p:sp>
      <p:sp>
        <p:nvSpPr>
          <p:cNvPr id="7" name="Text 5"/>
          <p:cNvSpPr txBox="1"/>
          <p:nvPr/>
        </p:nvSpPr>
        <p:spPr>
          <a:xfrm>
            <a:off x="63093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Ghép ngay dữ liệu gốc</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chiếu điểm lidar lên ảnh camera</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原始資料就合在一起</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例：把光達點投到相機畫面上</a:t>
            </a:r>
            <a:endParaRPr lang="en-US" sz="1150" dirty="0"/>
          </a:p>
        </p:txBody>
      </p:sp>
      <p:sp>
        <p:nvSpPr>
          <p:cNvPr id="8" name="Text 6"/>
          <p:cNvSpPr txBox="1"/>
          <p:nvPr/>
        </p:nvSpPr>
        <p:spPr>
          <a:xfrm>
            <a:off x="3032760" y="204825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9" name="Shape 7"/>
          <p:cNvSpPr/>
          <p:nvPr/>
        </p:nvSpPr>
        <p:spPr>
          <a:xfrm>
            <a:off x="330708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34256" y="1316736"/>
            <a:ext cx="475488" cy="475488"/>
          </a:xfrm>
          <a:prstGeom prst="ellipse">
            <a:avLst/>
          </a:prstGeom>
          <a:solidFill>
            <a:srgbClr val="00A896"/>
          </a:solidFill>
          <a:ln/>
        </p:spPr>
      </p:sp>
      <p:sp>
        <p:nvSpPr>
          <p:cNvPr id="11" name="Text 9"/>
          <p:cNvSpPr txBox="1"/>
          <p:nvPr/>
        </p:nvSpPr>
        <p:spPr>
          <a:xfrm>
            <a:off x="433425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343509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giữa</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中期融合</a:t>
            </a:r>
            <a:endParaRPr lang="en-US" sz="1400" dirty="0"/>
          </a:p>
        </p:txBody>
      </p:sp>
      <p:sp>
        <p:nvSpPr>
          <p:cNvPr id="13" name="Text 11"/>
          <p:cNvSpPr txBox="1"/>
          <p:nvPr/>
        </p:nvSpPr>
        <p:spPr>
          <a:xfrm>
            <a:off x="343509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Mỗi cái rút đặc trưng, rồi ghép</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nhìn từ trên xuống chung một bản đồ</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各自抽出特徵再合</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例：大家先畫成同一張鳥瞰圖</a:t>
            </a:r>
            <a:endParaRPr lang="en-US" sz="1150" dirty="0"/>
          </a:p>
        </p:txBody>
      </p:sp>
      <p:sp>
        <p:nvSpPr>
          <p:cNvPr id="14" name="Text 12"/>
          <p:cNvSpPr txBox="1"/>
          <p:nvPr/>
        </p:nvSpPr>
        <p:spPr>
          <a:xfrm>
            <a:off x="5836920" y="204825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15" name="Shape 13"/>
          <p:cNvSpPr/>
          <p:nvPr/>
        </p:nvSpPr>
        <p:spPr>
          <a:xfrm>
            <a:off x="611124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138416" y="1316736"/>
            <a:ext cx="475488" cy="475488"/>
          </a:xfrm>
          <a:prstGeom prst="ellipse">
            <a:avLst/>
          </a:prstGeom>
          <a:solidFill>
            <a:srgbClr val="0B1F3A"/>
          </a:solidFill>
          <a:ln/>
        </p:spPr>
      </p:sp>
      <p:sp>
        <p:nvSpPr>
          <p:cNvPr id="17" name="Text 15"/>
          <p:cNvSpPr txBox="1"/>
          <p:nvPr/>
        </p:nvSpPr>
        <p:spPr>
          <a:xfrm>
            <a:off x="713841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623925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muộn</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後期融合</a:t>
            </a:r>
            <a:endParaRPr lang="en-US" sz="1400" dirty="0"/>
          </a:p>
        </p:txBody>
      </p:sp>
      <p:sp>
        <p:nvSpPr>
          <p:cNvPr id="19" name="Text 17"/>
          <p:cNvSpPr txBox="1"/>
          <p:nvPr/>
        </p:nvSpPr>
        <p:spPr>
          <a:xfrm>
            <a:off x="623925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Mỗi cái tự tìm vật, rồi ghép danh sách</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hộp của camera + mục tiêu radar</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各自找出物體，再合清單</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例：相機的框＋雷達的目標</a:t>
            </a:r>
            <a:endParaRPr lang="en-US" sz="1150" dirty="0"/>
          </a:p>
        </p:txBody>
      </p:sp>
      <p:sp>
        <p:nvSpPr>
          <p:cNvPr id="20" name="Text 18"/>
          <p:cNvSpPr txBox="1"/>
          <p:nvPr/>
        </p:nvSpPr>
        <p:spPr>
          <a:xfrm>
            <a:off x="502920" y="4005072"/>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Ghép càng sớm càng giữ nhiều thông tin, nhưng càng cần căn chỉnh chuẩn; ghép muộn đơn giản, hỏng một cái dễ thay.</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愈早合，留下的資訊愈多，但對齊要愈準；愈晚合，愈簡單，壞一顆也比較好換掉。</a:t>
            </a:r>
            <a:endParaRPr lang="en-US" sz="1250" dirty="0"/>
          </a:p>
        </p:txBody>
      </p:sp>
      <p:pic>
        <p:nvPicPr>
          <p:cNvPr id="22"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12</a:t>
            </a:r>
            <a:endParaRPr lang="en-US" sz="900" dirty="0"/>
          </a:p>
        </p:txBody>
      </p:sp>
      <p:sp>
        <p:nvSpPr>
          <p:cNvPr id="24" name="Text 20"/>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Ghép đôi · 對應：誰是誰</a:t>
            </a:r>
            <a:endParaRPr lang="en-US" sz="1250" dirty="0"/>
          </a:p>
        </p:txBody>
      </p:sp>
      <p:sp>
        <p:nvSpPr>
          <p:cNvPr id="3" name="Shape 1"/>
          <p:cNvSpPr/>
          <p:nvPr/>
        </p:nvSpPr>
        <p:spPr>
          <a:xfrm>
            <a:off x="502920" y="918972"/>
            <a:ext cx="391769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七週(10-22)/src/img/w7_assoc.jpg">    </p:cNvPr>
          <p:cNvPicPr>
            <a:picLocks noChangeAspect="1"/>
          </p:cNvPicPr>
          <p:nvPr/>
        </p:nvPicPr>
        <p:blipFill>
          <a:blip r:embed="rId1"/>
          <a:stretch>
            <a:fillRect/>
          </a:stretch>
        </p:blipFill>
        <p:spPr>
          <a:xfrm>
            <a:off x="576072" y="1024128"/>
            <a:ext cx="3771392" cy="2121408"/>
          </a:xfrm>
          <a:prstGeom prst="rect">
            <a:avLst/>
          </a:prstGeom>
        </p:spPr>
      </p:pic>
      <p:sp>
        <p:nvSpPr>
          <p:cNvPr id="5" name="Text 2"/>
          <p:cNvSpPr txBox="1"/>
          <p:nvPr/>
        </p:nvSpPr>
        <p:spPr>
          <a:xfrm>
            <a:off x="576072" y="3214116"/>
            <a:ext cx="377139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scene-0103（波士頓）· CC BY-NC-SA 4.0 · 綠框＝框內有雷達點，黃框＝沒有</a:t>
            </a:r>
            <a:endParaRPr lang="en-US" sz="700" dirty="0"/>
          </a:p>
        </p:txBody>
      </p:sp>
      <p:sp>
        <p:nvSpPr>
          <p:cNvPr id="6" name="Text 3"/>
          <p:cNvSpPr txBox="1"/>
          <p:nvPr/>
        </p:nvSpPr>
        <p:spPr>
          <a:xfrm>
            <a:off x="4731512" y="914400"/>
            <a:ext cx="390956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Ghép đôi: điểm radar nào thuộc về hộp nào? Dựa vào vị trí và tốc độ</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對應：哪一個雷達點，屬於哪一個框？看位置，也看速度</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Hộp xanh lá: xe trong khoảng 35 m, có điểm radar. Hộp vàng: người đi bộ và xe ở xa (phần lớn ngoài 45 m), không có điểm radar nào.</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綠框：35 公尺內的車，框裡有雷達點。黃框：行人，和遠處的車（大多在 45 公尺外），一個雷達點都沒有。</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358851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ghép camera và radar (NVIDIA)　1:44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影片：相機和雷達的融合（NVIDIA）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youtu.be/cMlGyIJH5L8</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Điểm radar không thuộc hộp nào (hàng rào, cây bên đường) cũng phải bỏ đúng cách.</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不屬於任何框的雷達點（路邊的欄杆、樹）也要正確地丟掉。</a:t>
            </a:r>
            <a:endParaRPr lang="en-US" sz="1250" dirty="0"/>
          </a:p>
        </p:txBody>
      </p:sp>
      <p:sp>
        <p:nvSpPr>
          <p:cNvPr id="12" name="Shape 9"/>
          <p:cNvSpPr/>
          <p:nvPr/>
        </p:nvSpPr>
        <p:spPr>
          <a:xfrm>
            <a:off x="5855792" y="365760"/>
            <a:ext cx="2785288"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5983808" y="384048"/>
            <a:ext cx="260240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ghép tên với khuôn mặt trong ảnh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把名單上的名字對到班級照片的臉上</a:t>
            </a:r>
            <a:endParaRPr lang="en-US" sz="950" dirty="0"/>
          </a:p>
        </p:txBody>
      </p:sp>
      <p:pic>
        <p:nvPicPr>
          <p:cNvPr id="15" name="Image 1"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Nói khác nhau thì nghe ai: ba cách, mỗi cách một cái giá</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說法不一樣，聽誰的：三種做法，各有代價</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554480"/>
                <a:gridCol w="2377440"/>
                <a:gridCol w="2286000"/>
                <a:gridCol w="1828800"/>
              </a:tblGrid>
              <a:tr h="43891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Cách</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做法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Làm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怎麼做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Ví dụ</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例子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Cái giá</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代價</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Tin theo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看條件決定信誰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Mỗi cái có trọng số, đổi theo thời tiết, ánh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每一顆有權重，隨天氣、光線改變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Trời mưa: tin radar nhiều hơn camera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下雨：多相信雷達、少相信相機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biết trước lúc nào nó kém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要先知道它什麼時候變差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Đa số thắng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多數決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Ba cái, hai cái nói có là có</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三顆裡兩顆說有，就算有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lidar nói có; radar nói không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相機、光達說有，雷達說沒有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Cần ít nhất ba cái đo cùng một việc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至少要三顆量同一件事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Cẩn thận trước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保守原則</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Chỉ cần một cái nói có là giảm tốc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只要有一顆說有，就先減速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nói có, camera nói không → giảm tốc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雷達說有、相機說沒有 → 先減速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Phanh ma nhiều hơn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幽靈煞車變多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552615"/>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Hệ thống thật trộn cả ba; và cảm biến tự báo «tôi không đáng tin» thì trọng số của nó giảm xuống.</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真的系統三種混著用；而感測器自己說「我現在不可靠」的時候，它的權重就降下來。</a:t>
            </a:r>
            <a:endParaRPr lang="en-US" sz="1200" dirty="0"/>
          </a:p>
        </p:txBody>
      </p:sp>
      <p:pic>
        <p:nvPicPr>
          <p:cNvPr id="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Định vị · 比較準的，多相信一點</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567282" y="1792224"/>
            <a:ext cx="340157" cy="311810"/>
          </a:xfrm>
          <a:prstGeom prst="roundRect">
            <a:avLst>
              <a:gd name="adj" fmla="val 58651"/>
            </a:avLst>
          </a:prstGeom>
          <a:solidFill>
            <a:srgbClr val="1F4E79"/>
          </a:solidFill>
          <a:ln/>
        </p:spPr>
      </p:sp>
      <p:sp>
        <p:nvSpPr>
          <p:cNvPr id="5" name="Shape 3"/>
          <p:cNvSpPr/>
          <p:nvPr/>
        </p:nvSpPr>
        <p:spPr>
          <a:xfrm>
            <a:off x="1198778" y="1834744"/>
            <a:ext cx="311810" cy="226771"/>
          </a:xfrm>
          <a:prstGeom prst="rect">
            <a:avLst/>
          </a:prstGeom>
          <a:solidFill>
            <a:srgbClr val="1F4E79">
              <a:alpha val="60000"/>
            </a:srgbClr>
          </a:solidFill>
          <a:ln/>
        </p:spPr>
      </p:sp>
      <p:sp>
        <p:nvSpPr>
          <p:cNvPr id="6" name="Shape 4"/>
          <p:cNvSpPr/>
          <p:nvPr/>
        </p:nvSpPr>
        <p:spPr>
          <a:xfrm>
            <a:off x="1964131" y="1834744"/>
            <a:ext cx="311810" cy="226771"/>
          </a:xfrm>
          <a:prstGeom prst="rect">
            <a:avLst/>
          </a:prstGeom>
          <a:solidFill>
            <a:srgbClr val="1F4E79">
              <a:alpha val="60000"/>
            </a:srgbClr>
          </a:solidFill>
          <a:ln/>
        </p:spPr>
      </p:sp>
      <p:sp>
        <p:nvSpPr>
          <p:cNvPr id="7" name="Shape 5"/>
          <p:cNvSpPr/>
          <p:nvPr/>
        </p:nvSpPr>
        <p:spPr>
          <a:xfrm rot="5400000">
            <a:off x="1538935" y="2217420"/>
            <a:ext cx="396850" cy="226771"/>
          </a:xfrm>
          <a:prstGeom prst="chevron">
            <a:avLst/>
          </a:prstGeom>
          <a:ln w="31750">
            <a:solidFill>
              <a:srgbClr val="1F4E79"/>
            </a:solidFill>
            <a:prstDash val="solid"/>
          </a:ln>
        </p:spPr>
      </p:sp>
      <p:sp>
        <p:nvSpPr>
          <p:cNvPr id="8" name="Shape 6"/>
          <p:cNvSpPr/>
          <p:nvPr/>
        </p:nvSpPr>
        <p:spPr>
          <a:xfrm rot="5400000">
            <a:off x="1453896" y="2444191"/>
            <a:ext cx="566928" cy="255118"/>
          </a:xfrm>
          <a:prstGeom prst="chevron">
            <a:avLst/>
          </a:prstGeom>
          <a:ln w="31750">
            <a:solidFill>
              <a:srgbClr val="1F4E79">
                <a:alpha val="55000"/>
              </a:srgbClr>
            </a:solidFill>
            <a:prstDash val="solid"/>
          </a:ln>
        </p:spPr>
      </p:sp>
      <p:sp>
        <p:nvSpPr>
          <p:cNvPr id="9" name="Shape 7"/>
          <p:cNvSpPr/>
          <p:nvPr/>
        </p:nvSpPr>
        <p:spPr>
          <a:xfrm>
            <a:off x="1638148" y="2812694"/>
            <a:ext cx="198425" cy="198425"/>
          </a:xfrm>
          <a:prstGeom prst="ellipse">
            <a:avLst/>
          </a:prstGeom>
          <a:solidFill>
            <a:srgbClr val="1F4E79"/>
          </a:solidFill>
          <a:ln/>
        </p:spPr>
      </p:sp>
      <p:sp>
        <p:nvSpPr>
          <p:cNvPr id="10" name="Text 8"/>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Ghép để định vị: dự đoán một vị trí, đo được một vị trí — cái nào chuẩn hơn thì tin nhiều hơn</a:t>
            </a:r>
            <a:endParaRPr lang="en-US" sz="20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定位的融合：預測一個位置、量到一個位置——比較準的那一個，多相信一點</a:t>
            </a:r>
            <a:endParaRPr lang="en-US" sz="20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IMU + tốc độ bánh dự đoán: 120,0 m (±1 m). GPS đo: 118,0 m (±3 m). Sai số kém nhau 3 lần → tin nhau chênh 9 lần → kết quả 119,8 m.</a:t>
            </a:r>
            <a:endParaRPr lang="en-US" sz="20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IMU＋輪速推算：120.0 公尺（±1）。GPS 量到：118.0 公尺（±3）。誤差差 3 倍 → 信任差 9 倍 → 結果 119.8 公尺。</a:t>
            </a:r>
            <a:endParaRPr lang="en-US" sz="20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Trong hầm chỉ còn dự đoán, vòng sai số lớn dần; ra khỏi hầm GPS quay lại, kéo về ngay.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隧道裡只剩預測，誤差圈愈來愈大；出了隧道 GPS 回來，一下就拉回來。</a:t>
            </a:r>
            <a:endParaRPr lang="en-US" sz="1250" dirty="0"/>
          </a:p>
        </p:txBody>
      </p:sp>
      <p:sp>
        <p:nvSpPr>
          <p:cNvPr id="13" name="Shape 11"/>
          <p:cNvSpPr/>
          <p:nvPr/>
        </p:nvSpPr>
        <p:spPr>
          <a:xfrm>
            <a:off x="4999780" y="365760"/>
            <a:ext cx="3641300"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127796" y="384048"/>
            <a:ext cx="345842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tin cái chạy chuẩn hơn nhiều hơn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兩支錶，比較準的那支多聽一點</a:t>
            </a:r>
            <a:endParaRPr lang="en-US" sz="950" dirty="0"/>
          </a:p>
        </p:txBody>
      </p:sp>
      <p:pic>
        <p:nvPicPr>
          <p:cNvPr id="1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Khi ghép cũng không đủ · 壞到合不起來的時候</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1792224"/>
            <a:ext cx="1303934" cy="1133856"/>
          </a:xfrm>
          <a:prstGeom prst="triangle">
            <a:avLst/>
          </a:prstGeom>
          <a:solidFill>
            <a:srgbClr val="8A5A00"/>
          </a:solidFill>
          <a:ln/>
        </p:spPr>
      </p:sp>
      <p:sp>
        <p:nvSpPr>
          <p:cNvPr id="5" name="Shape 3"/>
          <p:cNvSpPr/>
          <p:nvPr/>
        </p:nvSpPr>
        <p:spPr>
          <a:xfrm>
            <a:off x="1680667" y="2189074"/>
            <a:ext cx="113386" cy="368503"/>
          </a:xfrm>
          <a:prstGeom prst="rect">
            <a:avLst/>
          </a:prstGeom>
          <a:solidFill>
            <a:srgbClr val="FFFFFF"/>
          </a:solidFill>
          <a:ln/>
        </p:spPr>
      </p:sp>
      <p:sp>
        <p:nvSpPr>
          <p:cNvPr id="6" name="Shape 4"/>
          <p:cNvSpPr/>
          <p:nvPr/>
        </p:nvSpPr>
        <p:spPr>
          <a:xfrm>
            <a:off x="1666494" y="2642616"/>
            <a:ext cx="141732" cy="141732"/>
          </a:xfrm>
          <a:prstGeom prst="ellipse">
            <a:avLst/>
          </a:prstGeom>
          <a:solidFill>
            <a:srgbClr val="FFFFFF"/>
          </a:solidFill>
          <a:ln/>
        </p:spPr>
      </p:sp>
      <p:sp>
        <p:nvSpPr>
          <p:cNvPr id="7" name="Text 5"/>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Khi ghép cũng không đủ: hạ cấp — giảm tốc, trả lái cho người, hoặc tự dừng nơi an toàn</a:t>
            </a:r>
            <a:endParaRPr lang="en-US" sz="20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合起來也不夠的時候：降級——減速、交還給人，或自己停到安全的地方</a:t>
            </a:r>
            <a:endParaRPr lang="en-US" sz="20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L2: báo tài xế cầm lái lại. L4: không có tài xế, tự đưa xe về «trạng thái rủi ro tối thiểu», ví dụ tấp vào lề. Ra khỏi ODD (mưa quá to, vào vùng không có bản đồ) là lúc phải hạ cấp.</a:t>
            </a:r>
            <a:endParaRPr lang="en-US" sz="20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L2：通知駕駛接手。L4：沒有駕駛，自己進入「最小風險狀態」，例如靠邊停。走出 ODD（雨太大、開進沒有地圖的地方），就是該降級的時候。</a:t>
            </a:r>
            <a:endParaRPr lang="en-US" sz="2000" dirty="0"/>
          </a:p>
        </p:txBody>
      </p:sp>
      <p:sp>
        <p:nvSpPr>
          <p:cNvPr id="8"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Bảng ODD sáu ô tuần 1: «thời tiết và ánh sáng» chính là bảng điều kiện hỏng của tiết trước.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第一週的 ODD 六格：「天候與光照」那一格，就是上一節的失效對照表。</a:t>
            </a:r>
            <a:endParaRPr lang="en-US" sz="1250" dirty="0"/>
          </a:p>
        </p:txBody>
      </p:sp>
      <p:sp>
        <p:nvSpPr>
          <p:cNvPr id="10" name="Shape 8"/>
          <p:cNvSpPr/>
          <p:nvPr/>
        </p:nvSpPr>
        <p:spPr>
          <a:xfrm>
            <a:off x="5342185" y="365760"/>
            <a:ext cx="3298895" cy="310896"/>
          </a:xfrm>
          <a:prstGeom prst="roundRect">
            <a:avLst>
              <a:gd name="adj" fmla="val 20588"/>
            </a:avLst>
          </a:prstGeom>
          <a:solidFill>
            <a:srgbClr val="EAF6F4"/>
          </a:solidFill>
          <a:ln w="9525">
            <a:solidFill>
              <a:srgbClr val="9FD6CE"/>
            </a:solidFill>
            <a:prstDash val="solid"/>
          </a:ln>
        </p:spPr>
      </p:sp>
      <p:sp>
        <p:nvSpPr>
          <p:cNvPr id="11" name="Text 9"/>
          <p:cNvSpPr txBox="1"/>
          <p:nvPr/>
        </p:nvSpPr>
        <p:spPr>
          <a:xfrm>
            <a:off x="5470201" y="384048"/>
            <a:ext cx="3116015"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tài xế taxi gặp mưa quá to thì tấp vào lề chờ</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計程車司機遇到暴雨，先靠邊停一下</a:t>
            </a:r>
            <a:endParaRPr lang="en-US" sz="950" dirty="0"/>
          </a:p>
        </p:txBody>
      </p:sp>
      <p:pic>
        <p:nvPicPr>
          <p:cNvPr id="13"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12</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277942" y="0"/>
          <a:ext cx="1" cy="1"/>
          <a:chOff x="0" y="0"/>
          <a:chExt cx="0" cy="0"/>
        </a:xfrm>
      </p:grpSpPr>
      <p:sp>
        <p:nvSpPr>
          <p:cNvPr id="2" name="Text 0"/>
          <p:cNvSpPr txBox="1"/>
          <p:nvPr/>
        </p:nvSpPr>
        <p:spPr>
          <a:xfrm>
            <a:off x="750288" y="274820"/>
            <a:ext cx="7643424" cy="790107"/>
          </a:xfrm>
          <a:prstGeom prst="rect">
            <a:avLst/>
          </a:prstGeom>
          <a:noFill/>
          <a:ln/>
        </p:spPr>
        <p:txBody>
          <a:bodyPr wrap="square" lIns="0" tIns="0" rIns="0" bIns="0" rtlCol="0" anchor="t"/>
          <a:lstStyle/>
          <a:p>
            <a:pPr indent="0" marL="0">
              <a:lnSpc>
                <a:spcPct val="116000"/>
              </a:lnSpc>
              <a:buNone/>
            </a:pPr>
            <a:r>
              <a:rPr lang="en-US" sz="2070" b="1" dirty="0">
                <a:solidFill>
                  <a:srgbClr val="0B1F3A"/>
                </a:solidFill>
                <a:latin typeface="Arial" pitchFamily="34" charset="0"/>
                <a:ea typeface="Arial" pitchFamily="34" charset="-122"/>
                <a:cs typeface="Arial" pitchFamily="34" charset="-120"/>
              </a:rPr>
              <a:t>Năm cặp đôi thường gặp: ai lo phần nào</a:t>
            </a:r>
            <a:endParaRPr lang="en-US" sz="2070" dirty="0"/>
          </a:p>
          <a:p>
            <a:pPr indent="0" marL="0">
              <a:lnSpc>
                <a:spcPct val="116000"/>
              </a:lnSpc>
              <a:buNone/>
            </a:pPr>
            <a:r>
              <a:rPr lang="en-US" sz="1270" dirty="0">
                <a:solidFill>
                  <a:srgbClr val="5F7183"/>
                </a:solidFill>
                <a:latin typeface="微軟正黑體" pitchFamily="34" charset="0"/>
                <a:ea typeface="微軟正黑體" pitchFamily="34" charset="-122"/>
                <a:cs typeface="微軟正黑體" pitchFamily="34" charset="-120"/>
              </a:rPr>
              <a:t>五組常見的搭檔：誰負責哪一塊</a:t>
            </a:r>
            <a:endParaRPr lang="en-US" sz="207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50288" y="1064927"/>
          <a:ext cx="7643424" cy="858812"/>
        </p:xfrm>
        <a:graphic>
          <a:graphicData uri="http://schemas.openxmlformats.org/drawingml/2006/table">
            <a:tbl>
              <a:tblPr/>
              <a:tblGrid>
                <a:gridCol w="1631742"/>
                <a:gridCol w="2877019"/>
                <a:gridCol w="1674683"/>
                <a:gridCol w="1459980"/>
              </a:tblGrid>
              <a:tr h="377877">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Cặp đôi</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搭檔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Ai lo phần nào</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誰負責哪一塊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Khi nào cần nhất</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什麼時候最需要</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Đã thấy ở đâu</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在哪裡看過</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Camera + radar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相機＋雷達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Camera: là cái gì. Radar: bao xa, nhanh bao nhiêu.</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相機：那是什麼。雷達：多遠、多快。</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Phanh khẩn cấp, bám xe trước</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自動緊急煞車、跟車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7; tiết 3 nhiệm vụ 5</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本節第七張；第三節任務五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Camera + lidar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相機＋光達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Chiếu điểm lidar lên ảnh: mỗi điểm ảnh biết bao xa.</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光達點投到照片上：每個像素都知道多遠。</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Nhận ra được, lại đo chuẩn</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認得出、又量得準</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4</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本節第四張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Lidar + radar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光達＋雷達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Mưa sương lidar ngắn lại, radar gánh; radar không có độ cao, lidar bù.</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雨霧光達變短，雷達頂上；雷達沒高度，光達補。</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Mưa, sương, biển trên đầu</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下雨、起霧、頭頂的路牌</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Tiết 1, slide 5 và 7</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第一節第五、七張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GNSS + IMU + bản đồ</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衛星定位＋IMU＋地圖</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Mất vệ tinh thì IMU gánh tạm; ra khỏi hầm thì kéo lại.</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衛星斷了 IMU 先撐；出來再拉回。</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Hầm, phố hẹp nhà cao</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隧道、高樓之間</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9</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本節第九張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Siêu âm + camera toàn cảnh</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超音波＋環景相機</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Siêu âm đo vật rất gần; camera thấy rõ đó là gì.</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超音波量很近的距離；相機看清楚是什麼。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Đỗ xe</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停車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Tuần 6</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第六週</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750288" y="4199744"/>
            <a:ext cx="7643424" cy="429406"/>
          </a:xfrm>
          <a:prstGeom prst="rect">
            <a:avLst/>
          </a:prstGeom>
          <a:noFill/>
          <a:ln/>
        </p:spPr>
        <p:txBody>
          <a:bodyPr wrap="square" lIns="0" tIns="0" rIns="0" bIns="0" rtlCol="0" anchor="t"/>
          <a:lstStyle/>
          <a:p>
            <a:pPr indent="0" marL="0">
              <a:lnSpc>
                <a:spcPct val="116000"/>
              </a:lnSpc>
              <a:buNone/>
            </a:pPr>
            <a:r>
              <a:rPr lang="en-US" sz="1130" b="1" dirty="0">
                <a:solidFill>
                  <a:srgbClr val="007F72"/>
                </a:solidFill>
                <a:latin typeface="Arial" pitchFamily="34" charset="0"/>
                <a:ea typeface="Arial" pitchFamily="34" charset="-122"/>
                <a:cs typeface="Arial" pitchFamily="34" charset="-120"/>
              </a:rPr>
              <a:t>Mỗi cặp: một cái lo «là gì», một cái lo «bao xa, nhanh bao nhiêu», hoặc một cái gánh lúc cái kia hỏng.</a:t>
            </a:r>
            <a:endParaRPr lang="en-US" sz="1130" dirty="0"/>
          </a:p>
          <a:p>
            <a:pPr indent="0" marL="0">
              <a:lnSpc>
                <a:spcPct val="116000"/>
              </a:lnSpc>
              <a:buNone/>
            </a:pPr>
            <a:r>
              <a:rPr lang="en-US" sz="1030" dirty="0">
                <a:solidFill>
                  <a:srgbClr val="007F72"/>
                </a:solidFill>
                <a:latin typeface="微軟正黑體" pitchFamily="34" charset="0"/>
                <a:ea typeface="微軟正黑體" pitchFamily="34" charset="-122"/>
                <a:cs typeface="微軟正黑體" pitchFamily="34" charset="-120"/>
              </a:rPr>
              <a:t>每一組都是：一個管「是什麼」，一個管「多遠、多快」；或是一個壞了，另一個先頂上。</a:t>
            </a:r>
            <a:endParaRPr lang="en-US" sz="1130" dirty="0"/>
          </a:p>
        </p:txBody>
      </p:sp>
      <p:pic>
        <p:nvPicPr>
          <p:cNvPr id="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380999" y="120234"/>
            <a:ext cx="772931" cy="240467"/>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11 / 12</a:t>
            </a:r>
            <a:endParaRPr lang="en-US" sz="850" dirty="0"/>
          </a:p>
        </p:txBody>
      </p:sp>
      <p:sp>
        <p:nvSpPr>
          <p:cNvPr id="8" name="Text 3"/>
          <p:cNvSpPr txBox="1"/>
          <p:nvPr/>
        </p:nvSpPr>
        <p:spPr>
          <a:xfrm>
            <a:off x="1179694" y="120234"/>
            <a:ext cx="1889386" cy="240467"/>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Tiết 2 · 第 2 節</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Tóm tắt · 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cần nhớ của tiết này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這一節要記住的三句話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Trước khi ghép phải căn chỉnh không gian (hiệu chuẩn) và thời gian (đồng bộ); lệch 4°, điểm lidar trượt khỏi xe.</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合之前要對齊空間（標定）和時間（同步）；差 4 度，光達點就從車上滑掉。</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Nói khác nhau thì nghe ai: tin theo điều kiện, đa số thắng, hoặc cẩn thận trước — mỗi cách một cái giá.</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說法不一樣，聽誰的：看條件、多數決、保守原則——各有代價。</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Cái nào chuẩn hơn thì tin nhiều hơn: sai số kém 3 lần, tin kém 9 lần. Ghép cũng không đủ thì hạ cấp.</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比較準的多相信一點：誤差差 3 倍，信任差 9 倍。合起來也不夠，就降級。</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2026-10-18T03:25:22Z</dcterms:created>
  <dcterms:modified xsi:type="dcterms:W3CDTF">2026-10-18T03:25:22Z</dcterms:modified>
</cp:coreProperties>
</file>