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/>
  <p:notesSz cx="7560000" cy="106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  <p:sp>
        <p:nvSpPr>
          <p:cNvPr id="5" name="備忘稿版面配置區 4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  <a:prstGeom prst="rect">
            <a:avLst/>
          </a:prstGeo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  <a:prstGeom prst="rect">
            <a:avLst/>
          </a:prstGeo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42958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各位早，第七週。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前面三週，我們把感測器一顆一顆讀完了：第五週光達和相機，第六週雷達、超音波、衛星定位、IMU。每一顆都讀了規格表，也放進情境判斷夠不夠。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上週最後的結論是：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沒有一種感測器五個情境都贏。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這週要再往前一步。第一節問：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它們什麼時候會壞、怎麼壞、壞了會不會說。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第二節問：既然每一顆都會壞，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要怎麼把它們合起來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。第三節，我們打開一份真的自駕車資料，看同一個瞬間，相機、光達、雷達各看到什麼。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今天的資料不是我畫的，是一家自駕公司公開的真實資料，叫 nuScenes，在新加坡和美國波士頓錄的。它開放給非商業使用，投影片上每一張都註明了出處和授權。裡面的雷達，就是上週各位讀過規格表的那一顆：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Continental ARS 408-21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上週我們做了二十二格判斷，結論是沒有一種感測器樣樣都贏。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可是「不夠」有很多種。測距不夠、解析度不夠，那是規格。今天要講的是另一種：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本來夠，但在某些條件下突然不夠了。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下雨、晚上、隧道、被泥巴蓋住。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所以今天問三個問題。第一，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在什麼條件下壞。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壞成什麼樣子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：是什麼都看不到，還是看錯了。第三，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壞了會不會說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：它會不會告訴車上的電腦「我現在不可靠」。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先想一個生活的例子。一個好的駕駛，不是眼睛特別好，是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知道自己什麼時候看不清楚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。下大雨、對面車燈太亮，他會放慢、會多看一眼。自駕車也一樣：每一顆感測器都要知道自己什麼時候不可靠，車子才知道那時候要改聽誰的。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感測器壞掉，大概有三種樣子，愈往右愈危險。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第一種，看不到。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訊號沒了，量不到。最典型的是隧道裡的衛星定位：收不到就是收不到，它自己也知道收不到，會回報「沒有位置」。這種壞法其實最好處理，因為大家都知道它壞了。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第二種，看錯。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有給答案，可是答案是錯的。第六週講過的多路徑：衛星訊號從大樓牆上反射進來，接收機算出一個偏了幾十公尺的位置，而且很有把握。光達的鬼點、雷達的幽靈煞車，也是這一類。幽靈煞車就是前面明明沒有東西，車子卻突然急煞，因為雷達把路邊的牌子、頭頂的橋當成了擋路的東西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第三種，看不到，卻不說。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第六週第二節那顆 HC-SR04：被泥巴蓋住，收不到回音，它就照常回報「前面沒東西」。它不是說「我看不到」，它是說「沒事」。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為什麼第三種最危險？打個比方：汽車的油表。沒油不可怕，油表會亮燈、你會去加油。可怕的是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油表壞了，還一直顯示滿格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，你開到半路才拋錨。感測器也一樣：它說「我看不到」，別的感測器就會來補；它說「沒事」，就沒有人會來補。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今天後面每一個例子，各位都可以問一句：這是第幾種壞法？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這張表把前三週學過的東西，換一個方向排：橫的是條件，直的是六種感測器。四個符號寫在最下面：打勾是照常，三角形是變差，叉叉是失靈，橫線是不相關。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橫著讀一列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，大雨、濃霧：相機叉叉，雨刷刷不乾淨、霧裡什麼都糊；光達三角形，測距變短、多出雜點；雷達打勾，第六週講過，四公釐的波長比雨滴大，繞過去了；超音波三角形，水滴黏在探頭上會亂報；衛星定位和 IMU 都不受影響。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再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直著讀一欄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，衛星定位：前面幾列幾乎都打勾，下雨、晚上都不怕。可是最後一列，高樓窄巷和隧道，叉叉。它的弱點只有一種，但那一種很致命。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有幾格要說明一下。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夜間的相機是三角形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，不是叉叉：有路燈、有車燈的地方還看得到，等一下看真的畫面。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遠處的行人和機車，雷達是叉叉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：這一格是今天才加的，等一下用真的資料給各位看。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被泥巴蓋住，雷達是三角形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：雷達的電波穿得過薄薄一層泥，可是厚的冰雪也會擋。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最後一列的 IMU 是三角形：IMU 本身在隧道裡不會壞，可是衛星斷了，要它一個人撐很久，第六週算過撐不到隧道的盡頭。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最後請各位找一找：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有沒有哪一欄全部是打勾？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沒有。每一欄都至少有一個叉叉或三角形。這就是為什麼車上要裝好幾種。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先講天氣。先看左邊兩張照片。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左邊，雨天從擋風玻璃看出去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，前面那台車只剩一團模糊的影子。車上的相機大多也裝在擋風玻璃後面，下雨的時候，它看到的就是這個樣子，雨刷刷過去的那一下才清楚一點。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右邊，起霧的彎道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，對面來了一台車，只看得到兩盞車燈，車身幾乎整個不見了。人的眼睛是這樣，相機也是這樣。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第六週講過一個規則：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波長比障礙物大，就繞過去；比障礙物小，就被擋住、被打散。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雷達四公釐，雨滴一公釐，繞過去；光達的雷射不到千分之一公釐，碰到雨滴就被打散。相機更直接：它靠的是光線，雨霧把光線打散了，畫面就糊了。就像霧裡看路燈，只剩一團光暈。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看兩支影片。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左邊那支，從 11:18 播到 13:20。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美國一位很有名的工程師 YouTuber，Mark Rober，拿兩台車做測試：一台只靠相機（Tesla，開輔助駕駛），一台裝了光達。路中間站一個小孩的假人。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11:18 霧那一關。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他自己說，用眼睛已經看不到霧後面有小孩，光達那台照樣急煞，假人沒被撞到。換相機那台，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12:11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 他說相機那台連煞車都沒踩，直接撞上去。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12:21 雨那一關。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用水車灑出一道很大的水牆。他說相機那台，一開始下雨，小孩就從畫面上不見了。光達那台「直到最後一刻才煞住」，也算過關；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13:15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 相機那台沒有停。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這支影片要提醒各位兩件事。第一，它是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公開示範，不是正式的科學實驗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：光達那台車上有人穿著光達廠商 Luminar 的衣服，網路上對測試方法也有很多討論。第二，它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只比相機和光達，沒有測雷達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。所以各位記住的是「霧和雨裡，相機最先吃虧」，不是「光達永遠贏」。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右邊那支，從 0:00 播到 1:00。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這是台灣的路：工研院（ITRI）2021 年 8 月 4 日在新竹台 68 線快速道路上，暴雨中錄下的光達和相機資料。沒有聲音，我邊播邊講。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畫面大的那一塊是光達點雲，從上往下看；右上角的小格是相機。請各位比兩邊：相機那一格，雨刷一直在刷，畫面一片灰綠，前面的車只剩模糊的影子；光達那一塊，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護欄和車道線還是一條一條畫得出來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，只是車子周圍多了一些零散的點，遠處的點也變少了。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所以這一列的結論是：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光達會變差，但不是全瞎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；近的還看得到，遠的先不見。最不受影響的是雷達。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接下來的三張，都是 nuScenes 的真實資料。這是新加坡晚上的一個路口，左邊是車子前方的相機，右邊是同一個瞬間，把光達的點疊上去。顏色代表距離，紅色近、藍色遠。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先看左邊。相機看得清楚的，都是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有光的地方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：路燈照著的路面、紅綠燈、那台黑車自己的車燈。樹叢、建築物之間沒有燈的地方，幾乎一片黑。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再看右邊同一塊。路面上一條一條的點照樣在，樹叢那些暗的地方也打得到。因為光達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自己帶光源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，它是自己打雷射出去，不需要路燈。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各位注意那台正在橫越路口的黑色轎車。第五週講過，黑色的東西反射率低，光達可能吃虧。這台車離我們大約十六公尺，官方標註裡，它身上有七十三個光達點；下一張統計表裡，十到二十公尺的車，中位數是六十五個。所以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在這個距離，黑車沒有比較吃虧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；黑色吃虧的是更遠的時候。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反過來，相機最怕的不只是暗，還有太亮：逆光、隧道出口，第五週講的動態範圍。光達也怕太亮：正午的大太陽對它是背景雜訊，第五週規格表上那個 100 klx 的條件就是這樣來的。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這是新加坡白天的一條路，同一個瞬間。左邊疊光達，右邊疊雷達。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左邊，光達。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一條一條的橫線，就是第五週講的線束：這顆光達有三十二條。前方相機的畫面裡，大約有三千一百個點。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右邊，雷達。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紅圈是雷達點，車頭三顆雷達加起來，大約六十個，比光達少了五十倍。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請各位看紅圈的位置：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全部都在很低的地方。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遠處的紅圈貼著地平線，左邊草地上比較近的紅圈低一點；樹幹底下有紅圈，可是樹冠上、牌子上，一個都沒有。為什麼？我打開資料看，每一個雷達點的「高度」那一欄，數字全部是零：所有的點都被放在雷達自己的高度，離地大約半公尺。路邊的樹、遠處的牌子打回來的點，也都被畫在這個高度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同一個高度，為什麼在照片上有高有低？跟站在路上看地上的斑馬線一樣：近的在腳下，畫面下方；遠的擠到地平線附近。這是透視，不是雷達量到的高度。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這就是上週講雷達弱點那一張說的「ARS 408 沒有高度」。上週是在規格表上讀到，今天是在真的資料裡看到。它分不出前面那個東西是在路上，還是在頭頂上。所以天橋、高架的路牌，對它來說都跟路上的車在同一個平面。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另一件事，上週同一張也講過：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靜止的東西常常被丟掉。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右圖路邊有一些紅圈，可是不是每一棵樹、每一根電線桿都有。這些過濾是軟體做的，規格表上看不到。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再看一格，波士頓的一個路口。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左邊是相機畫面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，前面有三台車正在過路口。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雷達點這次不畫在相機畫面上。剛剛說過，雷達量不出高度，所有的點都畫在同一個高度，遠處的點擠在地平線附近，會疊在近處的車身上，看起來好像打到車，其實是車子後面更遠的東西。所以改成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從上往下看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，前後距離才分得清楚。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右邊，同一個瞬間，把雷達點畫在地上。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自己的車在最下面中間，綠色的小長方形，車頭朝上；保險桿上的橘色小方塊是前雷達，淡綠色扇形是它水平往前打出去照得到的範圍。灰色的線是光達掃到的牆和路緣，白框是標註的車。雷達點分兩種顏色：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落在車上的畫綠色，不在車上的畫紅色。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綠圈都在白框裡；紅圈有的沿著灰色的牆和路緣排，有的落在一片空地上，光達在那裡什麼都沒掃到，可能是反射造成的假點。扇形外面那些紅圈，是車子側面另外兩顆雷達打到的。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數一下：這一格，前方相機看得到的範圍裡有五十三個雷達點，落在車上的二十二個。這一格算多的。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整個 mini 版十段場景平均，不到兩成。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就算把車的框放寬到兩公尺，也只有兩成多。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所以雷達每一秒都要做一件事：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這一堆點裡，哪些可以不理。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它又量不出高度，頭頂的路牌和路上停著的車，在它眼裡長得一樣。丟太少，就是幽靈煞車；丟太多，就可能把真的停在路上的車也丟掉。這一張後面還會再用到。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剛剛看的是一個瞬間。這張表是把 mini 版十段場景全部算一遍。資料集裡，每一台車、每一個人都有人工畫的立體框，官方也算好了框裡有幾個光達點、幾個雷達點。我把它們照距離分四段。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第二欄，車身上的光達點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取中位數，就是排在正中間的那個數字。十公尺內五百個，十到二十公尺六十五個，二十到三十公尺十二個，三十公尺以外只剩兩個。第五週講過，光達的點是一個角度一個角度灑出去的，距離愈遠，攤得愈開，打到身上的就愈少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後面三欄，有沒有被雷達抓到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，也就是框裡至少有一個雷達點的比例。車子，十公尺內將近七成，到三十公尺外還有四成多。機車和腳踏車，只有一到兩成。行人，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十公尺內也只有兩成多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，三十公尺外不到一成。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為什麼？雷達的電波打到金屬，回來很強，車子像一面鏡子；人和機車小，又大多不是金屬，回來的很弱，常常在過濾的時候就被當成雜訊丟掉了。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這一格對河內很重要：滿街都是機車和行人，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雷達最不擅長的，剛好是那裡最多的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。所以上週表上的雷達在河內「夠」，講的是測距和解析度；真的上路，還要靠相機和光達來補人和機車。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順便提醒：雷達點是零，不代表一定看不到。有時候是被前面的車擋住了，有時候是過濾掉了。但這麼多筆資料一起看，趨勢很清楚。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接下來不是天氣，是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表面和地形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。這兩個例子前兩週都講過，今天把它們放在一起。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光達怕鏡面和玻璃。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左邊是第五週的動畫，會循環播三格。第五週講過：①玻璃帷幕把雷射整束反射走，回不來，那一塊就破一個洞；②鏡面更麻煩，光被鏡子轉個彎才打到旁邊的車，光達以為東西在鏡子後面，那就是鬼點。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衛星定位怕高樓反射。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第六週：窄巷裡，訊號從牆上反射進來，多走了一段路，接收機以為衛星比較遠，算出來的位置偏掉，而且它自己不知道。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雷達也有同一種毛病，前兩張看過了：量不出高度，頭頂的路牌和路上的車分不出來。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這幾個有一個共同點，請各位想一想是第幾種壞法？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第二種，看錯。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它們都有給答案，而且很有把握，只是答案是錯的。就像看鏡子裡的人，你以為他站在鏡子後面。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這種壞法比看不到還麻煩，因為它不會自己舉手說「我不確定」。要靠別的感測器比對，才發現它錯了。這就是下一節要講的。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再來是最日常的一種：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髒了、被蓋住。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各位戴眼鏡的就知道：鏡片上一滴雨、一點灰塵，看東西就不清楚。車上的相機、光達、超音波都是車子的眼睛，而且它們裝在車頭、車頂，比眼鏡髒得更快：泥巴、雪、冬天路上灑的鹽、高速公路上撞死的昆蟲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看一支一分半的動畫。這是法國汽車零件廠 Valeo 的宣傳片，它在賣清洗系統，所以最後是廣告。可是前面講的道理是對的。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0:45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 停一下：畫面上三副眼鏡，灰塵、冰和鹽、水滴，都會讓感測器看不清楚。後面那段是它的做法：對著鏡頭噴水清洗。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這件事跟第三張的三種壞法有關。第六週那顆 Bosch 超音波，規格表上有一行 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Blindness detection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：它會發現自己被蓋住，告訴車子「我現在聽不清楚」，儀表板跳警告。HC-SR04 沒有這一行，被蓋住就照常說「沒事」。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會發現自己被蓋住，就把最危險的第三種壞法，變成最好處理的第一種。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車用和教學用的差別，常常就差在這一行。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最後一種條件是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時間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左邊這張圖第六週第二節看過：橫軸是衛星斷掉以後過了幾秒，縱軸是車子橫向偏了幾公尺。綠色那條是工業級的 IMU，每小時偏八度，時速八十，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三十四秒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就橫向偏零點五公尺，碰到紅線。手機等級的那條，兩秒就出去了。雪山隧道要開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五百八十秒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，撐不住。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這兩種感測器的壞法，個性剛好相反。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IMU 是慢慢壞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：一開始很準，愈久愈歪，像閉著眼睛走路。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衛星是突然壞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：平常好好的，一進隧道，一秒鐘就沒了。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慢慢壞的，配上突然壞的，剛好可以互補：衛星在的時候，幫 IMU 歸零；衛星斷的那幾秒，IMU 先頂上。這就是下一節要講的融合。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這一張回答一個問題：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雷達看不看得到人？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答案是：看得到，可是抓不穩。先看一個它沒抓到的瞬間，再看整份資料。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先看真的資料。波士頓的一個路口，斑馬線上有六個人正在過馬路，離車子八到十公尺，很近。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左邊這張圖是從上往下看，可是要先講清楚：雷達不是從上面往下照。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自己的車在最下面中間，綠色的長方形，車頭朝上。雷達裝在車頭的保險桿上，就是那個橘色的小方塊，離地大約五十公分。電波是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水平往前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打出去的，像拿手電筒往前照，左右張開成一個扇形，就是淡綠色那一塊。上週讀過 ARS 408 的規格：近場正負四十五度內看得到七十公尺，到正負六十度還有二十公尺，扇形就是照這個畫的。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它回報的每一個點，只有兩個數字：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多遠、偏左還是偏右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，沒有高度。所以把它的點畫出來，本來就是一張平面圖，我只是把這張平面圖鋪在地上給大家看。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黃色的小框是行人，離雷達只有五到八公尺，全部在扇形裡面（圖上有七個，其中一個不在相機畫面裡）。電波一定掃過他們，可是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黃框旁邊一個圈都沒有。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再往前看，二十公尺外那兩台車，身上都有綠圈。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車抓得到，人抓不到。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左右兩邊和右下角那幾個紅圈在扇形外面，是車子側面另外兩顆雷達打到的東西，離這群人十五公尺以上。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右邊，光達，同一個瞬間。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每一個人身上都有點，少的七個，多的七十一個。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電波明明掃過去了，為什麼沒有點？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先想一個例子：拿手電筒在黑暗裡照，照到一面鏡子，光整束彈回來，刺眼；照到一件毛衣，光散掉，回來的很少。對雷達來說，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車子是鏡子，人是毛衣。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車子是一大塊金屬，又有很多平面和直角，電波打上去，大部分彈回雷達；人小小的、圓圓的，身體又不是金屬，電波打上去，散到四面八方，回到雷達的很少。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這件事有人量過。Bosch 和德國 Ulm 大學二〇一三年的論文整理：77 GHz 的雷達看一個人，平均反射強度大約負八 dBsm，也就是只像一塊零點一六平方公尺的反射面；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從側面看，還要再弱三倍左右。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過斑馬線的人，正好是側面對著雷達。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回來的太弱，會怎樣？雷達有一個門檻，比門檻弱的回波，它當成雜訊，不報。我把這一格的原始資料打開來看，七個人裡面，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六個連一個原始的點都沒有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，就是被門檻擋掉了。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剩下那一個，正前方九點四公尺、正在橫越的那個人，雷達其實收到了一個回波。可是雷達量速度，量的是「朝我來、還是離我去」的那一段速度，上週講都卜勒的時候講過。這個人橫著走，每秒走一公尺多，朝雷達的那一段速度卻只有每秒零點二公尺，幾乎是零，在雷達眼裡跟停著的東西差不多。ARS 408 把這個點標成「停下來的物體」，nuScenes 預設的過濾規則會把這一類點丟掉，所以圖上也沒有它。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同學可能會覺得：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雷達這麼難看到人？不太可能吧。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這個懷疑很好。答案是：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不是看不到，是看得很不穩。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我把 mini 版裡，十五公尺內、光達看得到的行人全部算了一遍。八十八個人，跟著每個人走一段，有六十四個，大約七成，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至少被雷達抓到過一次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。可是在任何一個瞬間，抓得到的只有兩到三成；車子在同樣的距離，大約六成。一個人走過去，雷達這一下有、下一下沒有，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像接觸不良的燈泡，一閃一閃的。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為什麼一閃一閃？剛剛那篇論文說：人走路的時候，姿勢、方向、手腳的角度一直在變，所以人的反射強度比車子跳得厲害得多。論文裡還提到一件跟毛衣例子剛好對上的事：穿羊毛衣服的人，反射更弱。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那雷達還能不能用來看行人？下一張講。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為什麼不把雷達點畫在相機畫面上？因為雷達量不出高度，所有的點只能畫在同一個高度，遠處的點擠在地平線附近，會疊在近處的人身上，看起來好像打到人，其實是後面幾十公尺的東西。畫在地上，前後距離才分得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剛剛那張看起來，雷達看人好像很差。各位不要因此覺得雷達不適合看人。新一代的雷達，專門為「人」做了好幾件事，第八週會細講，今天先知道有這四招。
</a:t>
            </a:r>
          </a:p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第一招，點更多。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就是上週講的 4D 雷達。天線從 408 的二十四個，變成 548 的一百九十二個，角度分得更細，一個人身上能分到好幾個點，不會跟旁邊、後面的東西混在一起；又量得出高度，人是瘦高的，車是矮寬的，多一個分辨的線索。
</a:t>
            </a:r>
          </a:p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第二招，看動作。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左邊這張照片，一個正在過馬路的人。一根電線桿，整根都是同一個速度，零。一個人走路，身體往前，手和腳卻一前一後地擺，有的部位快、有的慢、有的往回。雷達量得到這種「同一個東西裡，有好幾種速度，而且有節奏」的特徵，英文叫 micro-Doppler，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微都卜勒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，可以用來分辨行人、腳踏車和桿子。這是雷達研究裡很成熟的方向，不過量產車用到什麼程度，我沒有資料可以講。
</a:t>
            </a:r>
          </a:p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第三招，看久一點。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剛剛說雷達看人一閃一閃。可是雷達每秒更新十幾次，一瞬間只抓到兩三成，一秒鐘裡還是會抓到好幾次。把連續幾次的掃描疊起來一起看，再用追蹤把一閃一閃的點串成一條線，中間的空檔先用預測補，下一節會講。荷蘭一份公開資料集的論文也寫到：加上高度、再把連續幾次掃描疊起來，雷達和光達的差距就縮小了。
</a:t>
            </a:r>
          </a:p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第四招，跟別人一起看。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這是量產車最常見的做法。雷達抓到人的時候，距離和接近的速度量得很準，晚上、下雨也照樣量，這正是相機最弱的地方；它做不到的，是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認出那是一個人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，那要靠相機。所以像 Toyota 的預防碰撞系統，就是相機加毫米波雷達一起看行人。晚上也有人用熱像儀加雷達：人的身體是熱的，在熱像裡特別明顯。
</a:t>
            </a:r>
          </a:p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這些新做法有沒有用？剛剛那份荷蘭的資料集，二〇二二年公開，用的是新一代 4D 雷達：車子正前方的行人，大約一半找得到，比我們今天這顆二〇一八年的 ARS 408 好，但行人還是最難找的那一類；加上相機，分數再往上。
</a:t>
            </a:r>
          </a:p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所以結論是：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雷達不是不適合看人，是不能單獨看人。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最後回到第三張那三種壞法，收在最危險的那一種：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看不到，卻說沒事。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這是剛剛那個路口的照片，斑馬線上的人看得清清楚楚。可是雷達交出去的報告是：前面八到十公尺，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什麼都沒有。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請注意雷達做了什麼：它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沒有說「我看不到」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，它只是什麼都沒報。回波太弱被門檻擋掉也好，被過濾規則丟掉也好，對後面的程式來說，結果都一樣：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沒有點，就是那裡沒有東西。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這種壞法還有三個例子，前兩週和今天都提過。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HC-SR04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 被泥巴蓋住，照樣回報「前面沒東西」。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衛星定位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在窄巷裡被反射騙了，偏了幾十公尺，還是很有把握地告訴你一個位置。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雷達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把停在路肩的消防車當成路邊的東西丟掉，上週講雷達的時候提過，也就是剛剛第八張說的「丟太多」；相機剛好也沒認出那是一台車，兩顆各自都「正常」，合起來就出事了。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這幾個例子，都像那個壞掉卻一直顯示滿格的油表。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所以今天的結論是：每一顆感測器，不只要量得準，還要能說一句「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我現在不可靠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」。它一說，車子就知道那幾秒要改聽別人的。剛剛那六個人，雷達說不出來，就要靠光達和相機來補。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那「改聽別人的」要怎麼做？兩顆說的不一樣，要聽誰的？這就是下一節：融合。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三句話。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第一句，三種壞法。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看不到、看錯、看不到卻不說。第三種最危險，像壞掉還顯示滿格的油表。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第二句，失效對照表沒有一欄全是勾。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下雨害相機，遠處的人和機車害雷達，隧道害衛星定位。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第三句，今天第一次看真的資料。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雷達的點全部在同一個高度；行人看得到，可是抓不穩，一瞬間只有兩三成抓得到，要靠相機一起看；光達三十公尺外，一台車身上只剩兩個點。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下課十分鐘。下一節：每一顆都會壞，那要怎麼合起來？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IQJL3htsDyQ" TargetMode="External"/><Relationship Id="rId3" Type="http://schemas.openxmlformats.org/officeDocument/2006/relationships/hyperlink" Target="https://youtu.be/zTLa0CFpyXY" TargetMode="External"/><Relationship Id="rId1" Type="http://schemas.openxmlformats.org/officeDocument/2006/relationships/image" Target="../media/image-5-1.jpg"/><Relationship Id="rId4" Type="http://schemas.openxmlformats.org/officeDocument/2006/relationships/image" Target="../media/image-5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gif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youtu.be/vhjFmzcD-iQ" TargetMode="External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1575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59000" y="-1366875"/>
            <a:ext cx="4191750" cy="419175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25875" y="2095875"/>
            <a:ext cx="2369250" cy="236925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16938" y="1202850"/>
            <a:ext cx="6925500" cy="27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MITUST · Nguyên lý xe tự lái · Tuần 7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16938" y="1567350"/>
            <a:ext cx="7472250" cy="1519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3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biến (3): khi nào cảm biến hỏng</a:t>
            </a:r>
            <a:endParaRPr lang="en-US" sz="339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90" dirty="0">
                <a:solidFill>
                  <a:srgbClr val="C8D6E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感測器（三）：感測器什麼時候壞</a:t>
            </a:r>
            <a:endParaRPr lang="en-US" sz="3390" dirty="0"/>
          </a:p>
        </p:txBody>
      </p:sp>
      <p:sp>
        <p:nvSpPr>
          <p:cNvPr id="6" name="Shape 4"/>
          <p:cNvSpPr/>
          <p:nvPr/>
        </p:nvSpPr>
        <p:spPr>
          <a:xfrm>
            <a:off x="516938" y="3233138"/>
            <a:ext cx="1366875" cy="41006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16938" y="3433613"/>
            <a:ext cx="7107750" cy="610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8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Khi nào hỏng, hỏng theo kiểu nào, và hỏng rồi có tự báo không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什麼時候壞、怎麼壞、壞了會不會說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16938" y="4355775"/>
            <a:ext cx="6925500" cy="27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第七週 第 1 節　2026/10/22（四）09:10–10:00　CH Tseng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71138" y="309825"/>
            <a:ext cx="2205225" cy="74722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pic>
        <p:nvPicPr>
          <p:cNvPr id="11" name="Image 0" descr="/Users/tsengchenghsun/Class/carClass/Claude outputs/第七週(10-22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75488"/>
            <a:ext cx="1920240" cy="4242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đầu · 從上週接下來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101852"/>
            <a:ext cx="2468880" cy="251460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5393" y="1792224"/>
            <a:ext cx="1303934" cy="1133856"/>
          </a:xfrm>
          <a:prstGeom prst="triangle">
            <a:avLst/>
          </a:prstGeom>
          <a:solidFill>
            <a:srgbClr val="8A5A00"/>
          </a:solidFill>
          <a:ln/>
        </p:spPr>
      </p:sp>
      <p:sp>
        <p:nvSpPr>
          <p:cNvPr id="5" name="Shape 3"/>
          <p:cNvSpPr/>
          <p:nvPr/>
        </p:nvSpPr>
        <p:spPr>
          <a:xfrm>
            <a:off x="1680667" y="2189074"/>
            <a:ext cx="113386" cy="3685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666494" y="2642616"/>
            <a:ext cx="141732" cy="1417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29000" y="914400"/>
            <a:ext cx="5212080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trước: không cảm biến nào thắng cả năm tình huống. Hôm nay: chúng thua khi nào, và thua rồi có nói ra không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上週：沒有一種感測器五個情境都贏。今天：它們什麼時候輸，輸了會不會說</a:t>
            </a:r>
            <a:endParaRPr lang="en-US" sz="2000" dirty="0"/>
          </a:p>
          <a:p>
            <a:pPr indent="0" marL="0">
              <a:lnSpc>
                <a:spcPct val="120000"/>
              </a:lnSpc>
              <a:spcBef>
                <a:spcPts val="1440"/>
              </a:spcBef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câu hỏi: hỏng trong điều kiện nào? Hỏng theo kiểu nào? Hỏng rồi có tự báo cho cảm biến khác biết không?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三個問題：在什麼條件下壞？壞成什麼樣子？壞了，會不會讓別的感測器知道？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" y="3913632"/>
            <a:ext cx="8138160" cy="621792"/>
          </a:xfrm>
          <a:prstGeom prst="roundRect">
            <a:avLst>
              <a:gd name="adj" fmla="val 13235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98678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Biết lúc nào nó hỏng thì mới biết lúc đó phải tin cái nào khác.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知道它什麼時候壞，才知道那時候要改聽誰的。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285118" y="365760"/>
            <a:ext cx="3355962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13134" y="384048"/>
            <a:ext cx="31730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lái giỏi biết lúc nào mình không thấy rõ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好駕駛知道自己什麼時候看不清楚</a:t>
            </a:r>
            <a:endParaRPr lang="en-US" sz="950" dirty="0"/>
          </a:p>
        </p:txBody>
      </p:sp>
      <p:pic>
        <p:nvPicPr>
          <p:cNvPr id="13" name="Image 0" descr="/Users/tsengchenghsun/Class/carClass/Claude outputs/第七週(10-22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16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kiểu hỏng — càng về sau càng nguy hiểm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三種壞法——愈往右愈危險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1133856"/>
            <a:ext cx="2529840" cy="2724912"/>
          </a:xfrm>
          <a:prstGeom prst="roundRect">
            <a:avLst>
              <a:gd name="adj" fmla="val 361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30096" y="1316736"/>
            <a:ext cx="475488" cy="47548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30096" y="141732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30936" y="1883664"/>
            <a:ext cx="2273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thấy</a:t>
            </a:r>
            <a:endParaRPr lang="en-US" sz="14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看不到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0936" y="2578608"/>
            <a:ext cx="22738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Mất tín hiệu, không đo được</a:t>
            </a:r>
            <a:endParaRPr lang="en-US" sz="11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VD: GNSS trong hầm</a:t>
            </a:r>
            <a:endParaRPr lang="en-US" sz="11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訊號沒了、量不到</a:t>
            </a:r>
            <a:endParaRPr lang="en-US" sz="11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例：隧道裡的衛星定位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032760" y="204825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A89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307080" y="1133856"/>
            <a:ext cx="2529840" cy="2724912"/>
          </a:xfrm>
          <a:prstGeom prst="roundRect">
            <a:avLst>
              <a:gd name="adj" fmla="val 361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34256" y="1316736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34256" y="141732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35096" y="1883664"/>
            <a:ext cx="2273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Thấy sai</a:t>
            </a:r>
            <a:endParaRPr lang="en-US" sz="14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看錯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35096" y="2578608"/>
            <a:ext cx="22738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trả lời, nhưng sai</a:t>
            </a:r>
            <a:endParaRPr lang="en-US" sz="11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VD: đa đường, điểm ma, phanh ma</a:t>
            </a:r>
            <a:endParaRPr lang="en-US" sz="11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有答案，但答案是錯的</a:t>
            </a:r>
            <a:endParaRPr lang="en-US" sz="11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例：多路徑、鬼點、幽靈煞車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836920" y="204825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A89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111240" y="1133856"/>
            <a:ext cx="2529840" cy="2724912"/>
          </a:xfrm>
          <a:prstGeom prst="roundRect">
            <a:avLst>
              <a:gd name="adj" fmla="val 361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38416" y="1316736"/>
            <a:ext cx="475488" cy="47548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8416" y="141732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39256" y="1883664"/>
            <a:ext cx="2273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thấy mà không nói</a:t>
            </a:r>
            <a:endParaRPr lang="en-US" sz="14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看不到，卻不說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39256" y="2578608"/>
            <a:ext cx="22738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Vẫn báo «không có gì»</a:t>
            </a:r>
            <a:endParaRPr lang="en-US" sz="11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VD: HC-SR04 bị bùn che</a:t>
            </a:r>
            <a:endParaRPr lang="en-US" sz="11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照常回報「沒事」</a:t>
            </a:r>
            <a:endParaRPr lang="en-US" sz="11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例：被泥巴蓋住的 HC-SR04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40050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Kiểu 3 nguy hiểm nhất: cảm biến khác không biết là phải bù.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第三種最危險：別的感測器不知道要來補。</a:t>
            </a:r>
            <a:endParaRPr lang="en-US" sz="1250" dirty="0"/>
          </a:p>
        </p:txBody>
      </p:sp>
      <p:pic>
        <p:nvPicPr>
          <p:cNvPr id="22" name="Image 0" descr="/Users/tsengchenghsun/Class/carClass/Claude outputs/第七週(10-22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16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552439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4590" y="257252"/>
            <a:ext cx="7154819" cy="739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93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điều kiện hỏng: sáu cảm biến × tám điều kiện</a:t>
            </a:r>
            <a:endParaRPr lang="en-US" sz="193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9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失效對照表：六種感測器 × 八種條件</a:t>
            </a:r>
            <a:endParaRPr lang="en-US" sz="193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94590" y="996851"/>
          <a:ext cx="7154819" cy="803912"/>
        </p:xfrm>
        <a:graphic>
          <a:graphicData uri="http://schemas.openxmlformats.org/drawingml/2006/table">
            <a:tbl>
              <a:tblPr/>
              <a:tblGrid>
                <a:gridCol w="2492128"/>
                <a:gridCol w="763717"/>
                <a:gridCol w="763717"/>
                <a:gridCol w="763717"/>
                <a:gridCol w="763717"/>
                <a:gridCol w="763717"/>
                <a:gridCol w="763717"/>
              </a:tblGrid>
              <a:tr h="2411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Điều kiện</a:t>
                      </a:r>
                      <a:endParaRPr lang="en-US" sz="106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條件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Camera</a:t>
                      </a:r>
                      <a:endParaRPr lang="en-US" sz="106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相機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Lidar</a:t>
                      </a:r>
                      <a:endParaRPr lang="en-US" sz="106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光達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Radar</a:t>
                      </a:r>
                      <a:endParaRPr lang="en-US" sz="106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雷達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Siêu âm</a:t>
                      </a:r>
                      <a:endParaRPr lang="en-US" sz="106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超音波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GNSS</a:t>
                      </a:r>
                      <a:endParaRPr lang="en-US" sz="106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衛星定位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IMU</a:t>
                      </a:r>
                      <a:endParaRPr lang="en-US" sz="106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IMU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2411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Mưa to, sương mù</a:t>
                      </a:r>
                      <a:endParaRPr lang="en-US" sz="106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大雨、濃霧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1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 đêm</a:t>
                      </a:r>
                      <a:endParaRPr lang="en-US" sz="106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夜間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1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Ngược sáng, cửa hầm</a:t>
                      </a:r>
                      <a:endParaRPr lang="en-US" sz="106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逆光、隧道出口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1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Xe đen, kính, gương</a:t>
                      </a:r>
                      <a:endParaRPr lang="en-US" sz="106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黑車、玻璃、鏡面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1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Vật đứng yên, cầu trên đầu</a:t>
                      </a:r>
                      <a:endParaRPr lang="en-US" sz="106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靜止物、頭頂的橋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1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Người đi bộ, xe máy ở xa</a:t>
                      </a:r>
                      <a:endParaRPr lang="en-US" sz="106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遠處的行人、機車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1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Bị bùn, băng tuyết che</a:t>
                      </a:r>
                      <a:endParaRPr lang="en-US" sz="106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被泥巴、冰雪蓋住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1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Phố hẹp nhà cao; đường hầm</a:t>
                      </a:r>
                      <a:endParaRPr lang="en-US" sz="1060" dirty="0"/>
                    </a:p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高樓窄巷；隧道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06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994590" y="4227194"/>
            <a:ext cx="7154819" cy="40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6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bình thường　▲ kém đi　✗ hỏng　— không liên quan. Không có cột nào toàn ✓.</a:t>
            </a:r>
            <a:endParaRPr lang="en-US" sz="106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97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✓ 照常　▲ 變差　✗ 失靈　— 不相關。沒有一欄全是 ✓。</a:t>
            </a:r>
            <a:endParaRPr lang="en-US" sz="1060" dirty="0"/>
          </a:p>
        </p:txBody>
      </p:sp>
      <p:pic>
        <p:nvPicPr>
          <p:cNvPr id="6" name="Image 0" descr="/Users/tsengchenghsun/Class/carClass/Claude outputs/第七週(10-22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48908" y="112548"/>
            <a:ext cx="723521" cy="225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9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16</a:t>
            </a:r>
            <a:endParaRPr lang="en-US" sz="790" dirty="0"/>
          </a:p>
        </p:txBody>
      </p:sp>
      <p:sp>
        <p:nvSpPr>
          <p:cNvPr id="8" name="Text 3"/>
          <p:cNvSpPr txBox="1"/>
          <p:nvPr/>
        </p:nvSpPr>
        <p:spPr>
          <a:xfrm>
            <a:off x="1396547" y="112548"/>
            <a:ext cx="1768607" cy="225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9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7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Thời tiết · 下雨、起霧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3731118" cy="2157984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4" name="Image 0" descr="/Users/tsengchenghsun/Class/carClass/Claude outputs/第七週(10-22)/src/img/w7_rainfo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014622"/>
            <a:ext cx="3584814" cy="17746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6072" y="2852928"/>
            <a:ext cx="35848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左：NPS（公有領域）　右：L. S. Micheler, CC BY-SA 4.0</a:t>
            </a:r>
            <a:endParaRPr lang="en-US" sz="700" dirty="0"/>
          </a:p>
        </p:txBody>
      </p:sp>
      <p:sp>
        <p:nvSpPr>
          <p:cNvPr id="6" name="Text 3"/>
          <p:cNvSpPr txBox="1"/>
          <p:nvPr/>
        </p:nvSpPr>
        <p:spPr>
          <a:xfrm>
            <a:off x="4544934" y="914400"/>
            <a:ext cx="4096146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Mưa, sương: camera nhìn không rõ trước tiên; lidar ngắn lại, thêm điểm nhiễu; radar gần như không sao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下雨、起霧：相機最先看不清；光達變短、多雜點；雷達幾乎不受影響</a:t>
            </a:r>
            <a:endParaRPr lang="en-US" sz="2000" dirty="0"/>
          </a:p>
          <a:p>
            <a:pPr indent="0" marL="0">
              <a:lnSpc>
                <a:spcPct val="120000"/>
              </a:lnSpc>
              <a:spcBef>
                <a:spcPts val="1440"/>
              </a:spcBef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sóng lớn hơn giọt nước thì vòng qua (radar 4 mm); nhỏ hơn thì bị tán xạ (lidar).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波長比水滴大的繞過去（雷達 4 公釐），比水滴小的被打散（光達）。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39496" y="3172968"/>
            <a:ext cx="219456" cy="219456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39496" y="3200400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832104" y="3127248"/>
            <a:ext cx="34019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u="sng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Video: camera vs lidar trong sương và mưa　18:54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u="sng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影片：霧與雨中的相機和光達　</a:t>
            </a:r>
            <a:pPr indent="0" marL="0">
              <a:lnSpc>
                <a:spcPct val="100000"/>
              </a:lnSpc>
              <a:buNone/>
            </a:pPr>
            <a:r>
              <a:rPr lang="en-US" sz="850" u="sng" dirty="0">
                <a:solidFill>
                  <a:srgbClr val="1F6FB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youtu.be/IQJL3htsDyQ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39496" y="3538728"/>
            <a:ext cx="219456" cy="219456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39496" y="3566160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832104" y="3493008"/>
            <a:ext cx="34019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u="sng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Video: mưa lớn trên đường 68, Tân Trúc (ITRI)　6:22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u="sng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影片：工研院・台 68 線暴雨　</a:t>
            </a:r>
            <a:pPr indent="0" marL="0">
              <a:lnSpc>
                <a:spcPct val="100000"/>
              </a:lnSpc>
              <a:buNone/>
            </a:pPr>
            <a:r>
              <a:rPr lang="en-US" sz="850" u="sng" dirty="0">
                <a:solidFill>
                  <a:srgbClr val="1F6FB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youtu.be/zTLa0CFpyXY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02920" y="3913632"/>
            <a:ext cx="8138160" cy="621792"/>
          </a:xfrm>
          <a:prstGeom prst="roundRect">
            <a:avLst>
              <a:gd name="adj" fmla="val 13235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398678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kém đi nhưng không mù hẳn: vật gần vẫn thấy, vật xa mất trước.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光達會變差，但不是全瞎：近的還看得到，遠的先不見。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999780" y="365760"/>
            <a:ext cx="3641300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127796" y="384048"/>
            <a:ext cx="3458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 trong sương mù, đèn đường chỉ còn một quầng sáng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霧裡看路燈，只剩一團光暈</a:t>
            </a:r>
            <a:endParaRPr lang="en-US" sz="950" dirty="0"/>
          </a:p>
        </p:txBody>
      </p:sp>
      <p:pic>
        <p:nvPicPr>
          <p:cNvPr id="18" name="Image 1" descr="/Users/tsengchenghsun/Class/carClass/Claude outputs/第七週(10-22)/src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16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 đêm · 夜間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8138160" cy="56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 đêm: camera dựa vào đèn đường, đèn xe; lidar tự mang nguồn sáng</a:t>
            </a:r>
            <a:endParaRPr lang="en-US" sz="17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夜裡：相機靠路燈和車燈，光達自己帶光源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217138" y="1310492"/>
            <a:ext cx="3217702" cy="2511700"/>
          </a:xfrm>
          <a:prstGeom prst="roundRect">
            <a:avLst>
              <a:gd name="adj" fmla="val 3641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8578" y="1401932"/>
            <a:ext cx="3034822" cy="347413"/>
          </a:xfrm>
          <a:prstGeom prst="roundRect">
            <a:avLst>
              <a:gd name="adj" fmla="val 13160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81730" y="1429364"/>
            <a:ext cx="2888518" cy="310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trước · ban đêm</a:t>
            </a:r>
            <a:endParaRPr lang="en-US" sz="9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前方相機・夜間</a:t>
            </a:r>
            <a:endParaRPr lang="en-US" sz="950" dirty="0"/>
          </a:p>
        </p:txBody>
      </p:sp>
      <p:pic>
        <p:nvPicPr>
          <p:cNvPr id="7" name="Image 0" descr="/Users/tsengchenghsun/Class/carClass/Claude outputs/第七週(10-22)/src/img/w7_night_ca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8578" y="1804209"/>
            <a:ext cx="3034822" cy="170708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08578" y="3529584"/>
            <a:ext cx="30348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nuScenes scene-1100（新加坡）· CC BY-NC-SA 4.0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4709160" y="1310492"/>
            <a:ext cx="3217702" cy="2511700"/>
          </a:xfrm>
          <a:prstGeom prst="roundRect">
            <a:avLst>
              <a:gd name="adj" fmla="val 3641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00600" y="1401932"/>
            <a:ext cx="3034822" cy="347413"/>
          </a:xfrm>
          <a:prstGeom prst="roundRect">
            <a:avLst>
              <a:gd name="adj" fmla="val 13160"/>
            </a:avLst>
          </a:prstGeom>
          <a:solidFill>
            <a:srgbClr val="007F7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73752" y="1429364"/>
            <a:ext cx="2888518" cy="310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Cùng khung, thêm điểm lidar</a:t>
            </a:r>
            <a:endParaRPr lang="en-US" sz="9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同一格，疊上光達點</a:t>
            </a:r>
            <a:endParaRPr lang="en-US" sz="950" dirty="0"/>
          </a:p>
        </p:txBody>
      </p:sp>
      <p:pic>
        <p:nvPicPr>
          <p:cNvPr id="12" name="Image 1" descr="/Users/tsengchenghsun/Class/carClass/Claude outputs/第七週(10-22)/src/img/w7_night_lida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804209"/>
            <a:ext cx="3034822" cy="170708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800600" y="3529584"/>
            <a:ext cx="30348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顏色＝距離：紅近、藍遠 · src/tools_nusc.py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1451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39959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Ngược lại, nắng gắt giữa trưa là nhiễu nền của lidar (tuần 5: 100 klx).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反過來，正午的大太陽是光達的背景雜訊（第五週那個 100 klx）。</a:t>
            </a:r>
            <a:endParaRPr lang="en-US" sz="1200" dirty="0"/>
          </a:p>
        </p:txBody>
      </p:sp>
      <p:pic>
        <p:nvPicPr>
          <p:cNvPr id="17" name="Image 2" descr="/Users/tsengchenghsun/Class/carClass/Claude outputs/第七週(10-22)/src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16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· 雷達的兩個弱點，真的長這樣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8138160" cy="83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Cùng một khoảnh khắc: radar ít điểm, và mọi điểm cùng một độ cao — nó không đo được độ cao</a:t>
            </a:r>
            <a:endParaRPr lang="en-US" sz="17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同一個瞬間：雷達點很少，而且全部在同一個高度——它量不出高度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697870" y="1580904"/>
            <a:ext cx="2736970" cy="2241288"/>
          </a:xfrm>
          <a:prstGeom prst="roundRect">
            <a:avLst>
              <a:gd name="adj" fmla="val 4080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9310" y="1672344"/>
            <a:ext cx="2554090" cy="347413"/>
          </a:xfrm>
          <a:prstGeom prst="roundRect">
            <a:avLst>
              <a:gd name="adj" fmla="val 13160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862462" y="1699776"/>
            <a:ext cx="2407786" cy="310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Lidar: khoảng 3.100 điểm trong khung</a:t>
            </a:r>
            <a:endParaRPr lang="en-US" sz="9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光達：畫面裡約 3,100 點</a:t>
            </a:r>
            <a:endParaRPr lang="en-US" sz="950" dirty="0"/>
          </a:p>
        </p:txBody>
      </p:sp>
      <p:pic>
        <p:nvPicPr>
          <p:cNvPr id="7" name="Image 0" descr="/Users/tsengchenghsun/Class/carClass/Claude outputs/第七週(10-22)/src/img/w7_day_lid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9310" y="2074621"/>
            <a:ext cx="2554090" cy="143667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89310" y="3529584"/>
            <a:ext cx="25540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nuScenes scene-0796（新加坡）· CC BY-NC-SA 4.0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4709160" y="1580904"/>
            <a:ext cx="2736970" cy="2241288"/>
          </a:xfrm>
          <a:prstGeom prst="roundRect">
            <a:avLst>
              <a:gd name="adj" fmla="val 4080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00600" y="1672344"/>
            <a:ext cx="2554090" cy="347413"/>
          </a:xfrm>
          <a:prstGeom prst="roundRect">
            <a:avLst>
              <a:gd name="adj" fmla="val 13160"/>
            </a:avLst>
          </a:prstGeom>
          <a:solidFill>
            <a:srgbClr val="007F7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73752" y="1699776"/>
            <a:ext cx="2407786" cy="310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(3 cái phía trước): khoảng 60 điểm</a:t>
            </a:r>
            <a:endParaRPr lang="en-US" sz="9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雷達（前方三顆）：約 60 點</a:t>
            </a:r>
            <a:endParaRPr lang="en-US" sz="950" dirty="0"/>
          </a:p>
        </p:txBody>
      </p:sp>
      <p:pic>
        <p:nvPicPr>
          <p:cNvPr id="12" name="Image 1" descr="/Users/tsengchenghsun/Class/carClass/Claude outputs/第七週(10-22)/src/img/w7_day_rada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074621"/>
            <a:ext cx="2554090" cy="143667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800600" y="3529584"/>
            <a:ext cx="25540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 408-21 · 預設過濾後 · src/tools_nusc.py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1451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39959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Cột độ cao của mọi điểm radar đều bằng 0: chính là dòng «không có độ cao» của ARS 408 tuần trước.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雷達每一點的高度欄都是 0：這就是上週 ARS 408 那一行「沒有高度」。</a:t>
            </a:r>
            <a:endParaRPr lang="en-US" sz="1200" dirty="0"/>
          </a:p>
        </p:txBody>
      </p:sp>
      <p:pic>
        <p:nvPicPr>
          <p:cNvPr id="17" name="Image 2" descr="/Users/tsengchenghsun/Class/carClass/Claude outputs/第七週(10-22)/src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16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· 雷達的點，大多不在車上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8138160" cy="56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lớn điểm radar không nằm trên xe</a:t>
            </a:r>
            <a:endParaRPr lang="en-US" sz="17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雷達的點，大多不在車上：牆、路緣、桿子，還有空地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1310492"/>
            <a:ext cx="4981651" cy="2424198"/>
          </a:xfrm>
          <a:prstGeom prst="roundRect">
            <a:avLst>
              <a:gd name="adj" fmla="val 3772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01932"/>
            <a:ext cx="4798771" cy="347413"/>
          </a:xfrm>
          <a:prstGeom prst="roundRect">
            <a:avLst>
              <a:gd name="adj" fmla="val 13160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7512" y="1429364"/>
            <a:ext cx="4652467" cy="310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Camera, cùng khoảnh khắc</a:t>
            </a:r>
            <a:endParaRPr lang="en-US" sz="9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同一瞬間的相機畫面</a:t>
            </a:r>
            <a:endParaRPr lang="en-US" sz="950" dirty="0"/>
          </a:p>
        </p:txBody>
      </p:sp>
      <p:pic>
        <p:nvPicPr>
          <p:cNvPr id="7" name="Image 0" descr="/Users/tsengchenghsun/Class/carClass/Claude outputs/第七週(10-22)/src/img/w7_clutter_ca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04209"/>
            <a:ext cx="4798771" cy="161958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4360" y="3442082"/>
            <a:ext cx="47987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nuScenes scene-0757（波士頓）· CC BY-NC-SA 4.0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5758891" y="1310492"/>
            <a:ext cx="2882189" cy="2424198"/>
          </a:xfrm>
          <a:prstGeom prst="roundRect">
            <a:avLst>
              <a:gd name="adj" fmla="val 3772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0331" y="1401932"/>
            <a:ext cx="2699309" cy="347413"/>
          </a:xfrm>
          <a:prstGeom prst="roundRect">
            <a:avLst>
              <a:gd name="adj" fmla="val 13160"/>
            </a:avLst>
          </a:prstGeom>
          <a:solidFill>
            <a:srgbClr val="007F7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23483" y="1429364"/>
            <a:ext cx="2553005" cy="310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trên: xanh trên xe, đỏ thì không</a:t>
            </a:r>
            <a:endParaRPr lang="en-US" sz="9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鳥瞰：綠圈在車上，紅圈不在</a:t>
            </a:r>
            <a:endParaRPr lang="en-US" sz="950" dirty="0"/>
          </a:p>
        </p:txBody>
      </p:sp>
      <p:pic>
        <p:nvPicPr>
          <p:cNvPr id="12" name="Image 1" descr="/Users/tsengchenghsun/Class/carClass/Claude outputs/第七週(10-22)/src/img/w7_clutter_bev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0331" y="1804209"/>
            <a:ext cx="2699309" cy="161958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850331" y="3442082"/>
            <a:ext cx="269930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扇形＝前雷達的範圍 · 灰色是光達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502920" y="3880994"/>
            <a:ext cx="8138160" cy="566928"/>
          </a:xfrm>
          <a:prstGeom prst="roundRect">
            <a:avLst>
              <a:gd name="adj" fmla="val 1451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394500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 bản mini: chưa tới 2/10 điểm radar nằm trên xe hoặc người.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整個 mini 版：不到兩成的雷達點落在車或人身上。剩下的，要自己決定理不理。</a:t>
            </a:r>
            <a:endParaRPr lang="en-US" sz="1200" dirty="0"/>
          </a:p>
        </p:txBody>
      </p:sp>
      <p:pic>
        <p:nvPicPr>
          <p:cNvPr id="17" name="Image 2" descr="/Users/tsengchenghsun/Class/carClass/Claude outputs/第七週(10-22)/src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16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206446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6657" y="279395"/>
            <a:ext cx="7770687" cy="803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Càng xa càng ít điểm: thống kê 10 cảnh của nuScenes</a:t>
            </a:r>
            <a:endParaRPr lang="en-US" sz="2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9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距離一遠，點就少了：nuScenes 十段場景的統計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686657" y="1082657"/>
            <a:ext cx="7770687" cy="681026"/>
          </a:xfrm>
          <a:prstGeom prst="roundRect">
            <a:avLst>
              <a:gd name="adj" fmla="val 10256"/>
            </a:avLst>
          </a:prstGeom>
          <a:solidFill>
            <a:srgbClr val="EAF6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6354" y="1152506"/>
            <a:ext cx="7491291" cy="541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Nhãn chính thức ghi mỗi khung vật có bao nhiêu điểm lidar, bao nhiêu điểm radar. Thống kê toàn bộ 10 cảnh của bản mini, khoảng 1 vạn nhãn.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官方標註裡，每個物體的框內有幾個光達點、幾個雷達點。統計 mini 版全部 10 段場景，約一萬個標註。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6657" y="1868457"/>
          <a:ext cx="7770687" cy="873111"/>
        </p:xfrm>
        <a:graphic>
          <a:graphicData uri="http://schemas.openxmlformats.org/drawingml/2006/table">
            <a:tbl>
              <a:tblPr/>
              <a:tblGrid>
                <a:gridCol w="1309666"/>
                <a:gridCol w="1702566"/>
                <a:gridCol w="1440633"/>
                <a:gridCol w="1702566"/>
                <a:gridCol w="1527944"/>
              </a:tblGrid>
              <a:tr h="3492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Khoảng cách</a:t>
                      </a:r>
                      <a:endParaRPr lang="en-US" sz="1150" dirty="0"/>
                    </a:p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距離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Ô tô: điểm lidar (trung vị)</a:t>
                      </a:r>
                      <a:endParaRPr lang="en-US" sz="1150" dirty="0"/>
                    </a:p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車：光達點（中位數）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Ô tô: có điểm radar</a:t>
                      </a:r>
                      <a:endParaRPr lang="en-US" sz="1150" dirty="0"/>
                    </a:p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車：有雷達點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Xe máy, xe đạp: có điểm radar</a:t>
                      </a:r>
                      <a:endParaRPr lang="en-US" sz="1150" dirty="0"/>
                    </a:p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機車腳踏車：有雷達點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Người đi bộ: có điểm radar</a:t>
                      </a:r>
                      <a:endParaRPr lang="en-US" sz="1150" dirty="0"/>
                    </a:p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行人：有雷達點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492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0–10 m</a:t>
                      </a:r>
                      <a:endParaRPr lang="en-US" sz="1150" dirty="0"/>
                    </a:p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0–10 m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501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69%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19%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23%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92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10–20 m</a:t>
                      </a:r>
                      <a:endParaRPr lang="en-US" sz="1150" dirty="0"/>
                    </a:p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10–20 m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66%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17%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92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20–30 m</a:t>
                      </a:r>
                      <a:endParaRPr lang="en-US" sz="1150" dirty="0"/>
                    </a:p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20–30 m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51%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16%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92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30–50 m</a:t>
                      </a:r>
                      <a:endParaRPr lang="en-US" sz="1150" dirty="0"/>
                    </a:p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30–50 m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43%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8%</a:t>
                      </a:r>
                      <a:endParaRPr lang="en-US" sz="11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86657" y="4192595"/>
            <a:ext cx="7770687" cy="436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càng xa càng thưa; radar bắt được ô tô nhưng ít khi bắt được người và xe máy — chúng nhỏ, lại không phải kim loại.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光達一遠就稀；雷達抓得到車，抓不太到人和機車——它們小，又不是金屬。</a:t>
            </a:r>
            <a:endParaRPr lang="en-US" sz="1150" dirty="0"/>
          </a:p>
        </p:txBody>
      </p:sp>
      <p:pic>
        <p:nvPicPr>
          <p:cNvPr id="8" name="Image 0" descr="/Users/tsengchenghsun/Class/carClass/Claude outputs/第七週(10-22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311219" y="122236"/>
            <a:ext cx="785800" cy="244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16</a:t>
            </a:r>
            <a:endParaRPr lang="en-US" sz="860" dirty="0"/>
          </a:p>
        </p:txBody>
      </p:sp>
      <p:sp>
        <p:nvSpPr>
          <p:cNvPr id="10" name="Text 5"/>
          <p:cNvSpPr txBox="1"/>
          <p:nvPr/>
        </p:nvSpPr>
        <p:spPr>
          <a:xfrm>
            <a:off x="1123212" y="122236"/>
            <a:ext cx="1920844" cy="244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8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Bề mặt và địa hình · 會騙人的表面和地形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101852"/>
            <a:ext cx="3305556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4" name="Image 0" descr="/Users/tsengchenghsun/Class/carClass/Claude outputs/第七週(10-22)/src/img/w5_s12_mirror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214628"/>
            <a:ext cx="3159252" cy="21061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6072" y="3396996"/>
            <a:ext cx="31592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示意動畫：第五週第二節（課程自製）</a:t>
            </a:r>
            <a:endParaRPr lang="en-US" sz="700" dirty="0"/>
          </a:p>
        </p:txBody>
      </p:sp>
      <p:sp>
        <p:nvSpPr>
          <p:cNvPr id="6" name="Text 3"/>
          <p:cNvSpPr txBox="1"/>
          <p:nvPr/>
        </p:nvSpPr>
        <p:spPr>
          <a:xfrm>
            <a:off x="4119372" y="914400"/>
            <a:ext cx="4521708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Bề mặt và địa hình đánh lừa: lidar sợ gương, kính; GNSS sợ nhà cao phản xạ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會騙人的表面和地形：光達怕鏡面玻璃，衛星定位怕高樓反射</a:t>
            </a:r>
            <a:endParaRPr lang="en-US" sz="2300" dirty="0"/>
          </a:p>
          <a:p>
            <a:pPr indent="0" marL="0">
              <a:lnSpc>
                <a:spcPct val="120000"/>
              </a:lnSpc>
              <a:spcBef>
                <a:spcPts val="1440"/>
              </a:spcBef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Lidar: kính hắt tia đi, gương tạo điểm ma (tuần 5). GNSS: tín hiệu dội tường, lệch vài chục mét mà không biết (tuần 6).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光達：玻璃把光反射走，鏡面造出鬼點（第五週）。衛星定位：訊號從牆上反射，偏幾十公尺還不自知（第六週）。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02920" y="3913632"/>
            <a:ext cx="8138160" cy="621792"/>
          </a:xfrm>
          <a:prstGeom prst="roundRect">
            <a:avLst>
              <a:gd name="adj" fmla="val 13235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398678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 hai đều là kiểu 2: có trả lời, nhưng sai — và rất tự tin.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兩個都是第二種壞法：有答案，但是錯的，而且很有把握。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228050" y="365760"/>
            <a:ext cx="3413030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356066" y="384048"/>
            <a:ext cx="3230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nhìn người trong gương, tưởng họ đứng sau gương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看鏡子裡的人，以為他在鏡子後面</a:t>
            </a:r>
            <a:endParaRPr lang="en-US" sz="950" dirty="0"/>
          </a:p>
        </p:txBody>
      </p:sp>
      <p:pic>
        <p:nvPicPr>
          <p:cNvPr id="12" name="Image 1" descr="/Users/tsengchenghsun/Class/carClass/Claude outputs/第七週(10-22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16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Bị che, bị bẩn · 被蓋住、弄髒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937260"/>
            <a:ext cx="2468880" cy="251460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5393" y="1882750"/>
            <a:ext cx="1303934" cy="623621"/>
          </a:xfrm>
          <a:prstGeom prst="ellipse">
            <a:avLst/>
          </a:prstGeom>
          <a:solidFill>
            <a:srgbClr val="1F6F5C">
              <a:alpha val="2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85393" y="1882750"/>
            <a:ext cx="1303934" cy="623621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1F6F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8935" y="1953616"/>
            <a:ext cx="396850" cy="481889"/>
          </a:xfrm>
          <a:prstGeom prst="ellipse">
            <a:avLst/>
          </a:prstGeom>
          <a:solidFill>
            <a:srgbClr val="1F6F5C"/>
          </a:solidFill>
          <a:ln/>
        </p:spPr>
      </p:sp>
      <p:sp>
        <p:nvSpPr>
          <p:cNvPr id="7" name="Shape 5"/>
          <p:cNvSpPr/>
          <p:nvPr/>
        </p:nvSpPr>
        <p:spPr>
          <a:xfrm>
            <a:off x="1652321" y="2067001"/>
            <a:ext cx="170078" cy="22677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29000" y="914400"/>
            <a:ext cx="5212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Bị bẩn, bị che: mọi cảm biến nhìn ra ngoài đều sợ — loại cho ô tô phải tự phát hiện và tự làm sạch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髒了、被蓋住：每一種往外看的感測器都怕——車用的要會自己發現、自己清</a:t>
            </a:r>
            <a:endParaRPr lang="en-US" sz="2000" dirty="0"/>
          </a:p>
          <a:p>
            <a:pPr indent="0" marL="0">
              <a:lnSpc>
                <a:spcPct val="120000"/>
              </a:lnSpc>
              <a:spcBef>
                <a:spcPts val="1440"/>
              </a:spcBef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Bùn, tuyết, muối, côn trùng, giọt mưa. Bosch USS có Blindness detection (tuần 6).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泥巴、雪、鹽、昆蟲、雨滴。Bosch 超音波有 Blindness detection（第六週）。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39496" y="3557016"/>
            <a:ext cx="219456" cy="219456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9496" y="3584448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832104" y="3529584"/>
            <a:ext cx="7808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u="sng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Video: vì sao cảm biến phải được làm sạch (Valeo) · </a:t>
            </a:r>
            <a:pPr indent="0" marL="0">
              <a:lnSpc>
                <a:spcPct val="100000"/>
              </a:lnSpc>
              <a:buNone/>
            </a:pPr>
            <a:r>
              <a:rPr lang="en-US" sz="900" b="1" u="sng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影片：感測器為什麼要清潔（Valeo）　1:29　</a:t>
            </a:r>
            <a:pPr indent="0" marL="0">
              <a:lnSpc>
                <a:spcPct val="100000"/>
              </a:lnSpc>
              <a:buNone/>
            </a:pPr>
            <a:r>
              <a:rPr lang="en-US" sz="900" u="sng" dirty="0">
                <a:solidFill>
                  <a:srgbClr val="1F6FB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youtu.be/vhjFmzcD-iQ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3913632"/>
            <a:ext cx="8138160" cy="621792"/>
          </a:xfrm>
          <a:prstGeom prst="roundRect">
            <a:avLst>
              <a:gd name="adj" fmla="val 13235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98678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 hiện mình bị che là biến kiểu 3 thành kiểu 1.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會發現自己被蓋住，就把第三種壞法變成第一種。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25939" y="365760"/>
            <a:ext cx="1815141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53955" y="384048"/>
            <a:ext cx="16322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kính đeo mắt bị bẩn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眼鏡髒了</a:t>
            </a:r>
            <a:endParaRPr lang="en-US" sz="950" dirty="0"/>
          </a:p>
        </p:txBody>
      </p:sp>
      <p:pic>
        <p:nvPicPr>
          <p:cNvPr id="17" name="Image 0" descr="/Users/tsengchenghsun/Class/carClass/Claude outputs/第七週(10-22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16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Thời gian · 撐太久也會壞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101852"/>
            <a:ext cx="3305556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4" name="Image 0" descr="/Users/tsengchenghsun/Class/carClass/Claude outputs/第七週(10-22)/src/img/w6_l2_dr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214628"/>
            <a:ext cx="3159252" cy="21061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6072" y="3396996"/>
            <a:ext cx="31592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第六週第二節的圖：時速 80、衛星斷掉後的橫向偏移</a:t>
            </a:r>
            <a:endParaRPr lang="en-US" sz="700" dirty="0"/>
          </a:p>
        </p:txBody>
      </p:sp>
      <p:sp>
        <p:nvSpPr>
          <p:cNvPr id="6" name="Text 3"/>
          <p:cNvSpPr txBox="1"/>
          <p:nvPr/>
        </p:nvSpPr>
        <p:spPr>
          <a:xfrm>
            <a:off x="4119372" y="914400"/>
            <a:ext cx="4521708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Kéo dài quá cũng hỏng: IMU trôi dần, GNSS bị mất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撐太久也會壞：IMU 會飄，衛星會斷</a:t>
            </a:r>
            <a:endParaRPr lang="en-US" sz="2300" dirty="0"/>
          </a:p>
          <a:p>
            <a:pPr indent="0" marL="0">
              <a:lnSpc>
                <a:spcPct val="120000"/>
              </a:lnSpc>
              <a:spcBef>
                <a:spcPts val="1440"/>
              </a:spcBef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 công nghiệp 8 °/h ở 80 km/h: 34 s đã lệch 0,5 m. Hầm Tuyết Sơn cần 580 s. Mỗi cái tự nó không đủ; ghép lại mới nối được.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工業級 IMU 8 °/h、時速 80：34 秒就偏 0.5 公尺。雪山隧道要 580 秒。各自都不夠，合起來才接得上。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02920" y="3913632"/>
            <a:ext cx="8138160" cy="621792"/>
          </a:xfrm>
          <a:prstGeom prst="roundRect">
            <a:avLst>
              <a:gd name="adj" fmla="val 13235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398678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 hỏng từ từ, GNSS hỏng đột ngột — tính cách ngược nhau, nên bù được cho nhau.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IMU 慢慢壞，衛星突然壞——個性剛好相反，所以補得起來。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26995" y="365760"/>
            <a:ext cx="2614085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155011" y="384048"/>
            <a:ext cx="24312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nhắm mắt đi bộ: càng đi càng lệch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閉著眼睛走路，愈走愈歪</a:t>
            </a:r>
            <a:endParaRPr lang="en-US" sz="950" dirty="0"/>
          </a:p>
        </p:txBody>
      </p:sp>
      <p:pic>
        <p:nvPicPr>
          <p:cNvPr id="12" name="Image 1" descr="/Users/tsengchenghsun/Class/carClass/Claude outputs/第七週(10-22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16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· 雷達看人：看得到，抓不穩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8138160" cy="56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thấy được người, nhưng không ổn định</a:t>
            </a:r>
            <a:endParaRPr lang="en-US" sz="17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雷達看得到人，但抓不穩：人反射弱，又會一閃一閃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21277" y="1310492"/>
            <a:ext cx="3217702" cy="2511700"/>
          </a:xfrm>
          <a:prstGeom prst="roundRect">
            <a:avLst>
              <a:gd name="adj" fmla="val 3641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717" y="1401932"/>
            <a:ext cx="3034822" cy="347413"/>
          </a:xfrm>
          <a:prstGeom prst="roundRect">
            <a:avLst>
              <a:gd name="adj" fmla="val 13160"/>
            </a:avLst>
          </a:prstGeom>
          <a:solidFill>
            <a:srgbClr val="8A5A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85869" y="1429364"/>
            <a:ext cx="2888518" cy="310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Quạt = vùng radar trước: người ở trong, 0 điểm</a:t>
            </a:r>
            <a:endParaRPr lang="en-US" sz="9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扇形＝前雷達照得到的範圍：行人都在裡面，0 個點</a:t>
            </a:r>
            <a:endParaRPr lang="en-US" sz="950" dirty="0"/>
          </a:p>
        </p:txBody>
      </p:sp>
      <p:pic>
        <p:nvPicPr>
          <p:cNvPr id="7" name="Image 0" descr="/Users/tsengchenghsun/Class/carClass/Claude outputs/第七週(10-22)/src/img/w7_silent_be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17" y="1804209"/>
            <a:ext cx="3034822" cy="170708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12717" y="3529584"/>
            <a:ext cx="30348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nuScenes scene-0553（波士頓）· CC BY-NC-SA 4.0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4213298" y="1310492"/>
            <a:ext cx="4209425" cy="2511700"/>
          </a:xfrm>
          <a:prstGeom prst="roundRect">
            <a:avLst>
              <a:gd name="adj" fmla="val 3641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04738" y="1401932"/>
            <a:ext cx="4026545" cy="347413"/>
          </a:xfrm>
          <a:prstGeom prst="roundRect">
            <a:avLst>
              <a:gd name="adj" fmla="val 13160"/>
            </a:avLst>
          </a:prstGeom>
          <a:solidFill>
            <a:srgbClr val="007F7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377890" y="1429364"/>
            <a:ext cx="3880241" cy="310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Lidar: người nào cũng có điểm</a:t>
            </a:r>
            <a:endParaRPr lang="en-US" sz="9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光達：每個人身上都有點</a:t>
            </a:r>
            <a:endParaRPr lang="en-US" sz="950" dirty="0"/>
          </a:p>
        </p:txBody>
      </p:sp>
      <p:pic>
        <p:nvPicPr>
          <p:cNvPr id="12" name="Image 1" descr="/Users/tsengchenghsun/Class/carClass/Claude outputs/第七週(10-22)/src/img/w7_silent_lida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738" y="1804209"/>
            <a:ext cx="4026545" cy="170708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04738" y="3529584"/>
            <a:ext cx="402654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框：官方標註，黃框＝框裡雷達點 0 個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1451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39959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7/10 người bị bắt ít nhất một lần, nhưng mỗi lúc chỉ 2–3/10. Dùng được, nhưng không dùng một mình.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七成的人至少被抓到一次，但每一瞬間只有兩到三成。不是不能用，是不能單獨用。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912860" y="365760"/>
            <a:ext cx="2728220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040876" y="384048"/>
            <a:ext cx="2545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đèn pin chiếu gương và chiếu áo len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手電筒照鏡子、照毛衣</a:t>
            </a:r>
            <a:endParaRPr lang="en-US" sz="950" dirty="0"/>
          </a:p>
        </p:txBody>
      </p:sp>
      <p:pic>
        <p:nvPicPr>
          <p:cNvPr id="19" name="Image 2" descr="/Users/tsengchenghsun/Class/carClass/Claude outputs/第七週(10-22)/src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16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· 新一代雷達怎麼看人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101852"/>
            <a:ext cx="1796323" cy="2514600"/>
          </a:xfrm>
          <a:prstGeom prst="roundRect">
            <a:avLst>
              <a:gd name="adj" fmla="val 6108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4" name="Image 0" descr="/Users/tsengchenghsun/Class/carClass/Claude outputs/第七週(10-22)/src/img/w7_walk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255602"/>
            <a:ext cx="1650019" cy="20242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6072" y="3396996"/>
            <a:ext cx="165001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nuScenes · CC BY-NC-SA 4.0</a:t>
            </a:r>
            <a:endParaRPr lang="en-US" sz="700" dirty="0"/>
          </a:p>
        </p:txBody>
      </p:sp>
      <p:sp>
        <p:nvSpPr>
          <p:cNvPr id="6" name="Text 3"/>
          <p:cNvSpPr txBox="1"/>
          <p:nvPr/>
        </p:nvSpPr>
        <p:spPr>
          <a:xfrm>
            <a:off x="2610139" y="914400"/>
            <a:ext cx="6030941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mới nhìn người: nhiều điểm hơn, xem chuyển động, xem lâu hơn, ghép với camera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新一代雷達怎麼看人：點更多、看動作、看久一點、跟相機一起看</a:t>
            </a:r>
            <a:endParaRPr lang="en-US" sz="2300" dirty="0"/>
          </a:p>
          <a:p>
            <a:pPr indent="0" marL="0">
              <a:lnSpc>
                <a:spcPct val="120000"/>
              </a:lnSpc>
              <a:spcBef>
                <a:spcPts val="1440"/>
              </a:spcBef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4D: nhiều anten, góc mịn hơn, đo được độ cao. ② Micro-Doppler: tay chân đung đưa. ③ Cộng nhiều lần quét, bám theo. ④ Ghép với camera (hoặc ảnh nhiệt).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4D：天線多、角度細、量得出高度。② 微都卜勒：手腳一前一後擺的速度節奏。③ 好幾次掃描疊起來，再追蹤。④ 跟相機（或熱像）合起來。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02920" y="3913632"/>
            <a:ext cx="8138160" cy="621792"/>
          </a:xfrm>
          <a:prstGeom prst="roundRect">
            <a:avLst>
              <a:gd name="adj" fmla="val 13235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398678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không phải không hợp để nhìn người — chỉ là không nhìn một mình.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雷達不是不適合看人，是不能單獨看人。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41129" y="365760"/>
            <a:ext cx="2499951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69145" y="384048"/>
            <a:ext cx="23170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nhìn dáng đi: tay chân đung đưa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看一個人走路：手腳一前一後</a:t>
            </a:r>
            <a:endParaRPr lang="en-US" sz="950" dirty="0"/>
          </a:p>
        </p:txBody>
      </p:sp>
      <p:pic>
        <p:nvPicPr>
          <p:cNvPr id="12" name="Image 1" descr="/Users/tsengchenghsun/Class/carClass/Claude outputs/第七週(10-22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16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 hiểm nhất · 最危險的那一種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101852"/>
            <a:ext cx="397764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4" name="Image 0" descr="/Users/tsengchenghsun/Class/carClass/Claude outputs/第七週(10-22)/src/img/w7_silent_ca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317860"/>
            <a:ext cx="3831336" cy="1899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6072" y="3396996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nuScenes scene-0553（波士頓）· CC BY-NC-SA 4.0</a:t>
            </a:r>
            <a:endParaRPr lang="en-US" sz="700" dirty="0"/>
          </a:p>
        </p:txBody>
      </p:sp>
      <p:sp>
        <p:nvSpPr>
          <p:cNvPr id="6" name="Text 3"/>
          <p:cNvSpPr txBox="1"/>
          <p:nvPr/>
        </p:nvSpPr>
        <p:spPr>
          <a:xfrm>
            <a:off x="4791456" y="914400"/>
            <a:ext cx="3849624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 hiểm nhất: không thấy mà báo «không sao»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最危險的不是看不到，是看不到卻說沒事</a:t>
            </a:r>
            <a:endParaRPr lang="en-US" sz="2300" dirty="0"/>
          </a:p>
          <a:p>
            <a:pPr indent="0" marL="0">
              <a:lnSpc>
                <a:spcPct val="120000"/>
              </a:lnSpc>
              <a:spcBef>
                <a:spcPts val="1440"/>
              </a:spcBef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không nói «tôi không thấy», nó báo «không có gì». Cùng kiểu: HC-SR04 bị bùn che, GNSS đa đường, xe cứu hoả đứng yên.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雷達不會說「我看不到」，它說「沒東西」。同一種壞法：HC-SR04 被泥巴蓋住、衛星多路徑、停著的消防車。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02920" y="3913632"/>
            <a:ext cx="8138160" cy="621792"/>
          </a:xfrm>
          <a:prstGeom prst="roundRect">
            <a:avLst>
              <a:gd name="adj" fmla="val 13235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398678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Vì vậy mỗi cảm biến phải nói được «lúc này tôi không đáng tin» — đó là tiết sau: hợp nhất.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所以每一顆都要能說「我現在不可靠」——這就是下一節的融合。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798725" y="365760"/>
            <a:ext cx="2842355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26741" y="384048"/>
            <a:ext cx="26594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đồng hồ xăng hỏng mà vẫn chỉ đầy bình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油表壞了，還一直顯示滿格</a:t>
            </a:r>
            <a:endParaRPr lang="en-US" sz="950" dirty="0"/>
          </a:p>
        </p:txBody>
      </p:sp>
      <p:pic>
        <p:nvPicPr>
          <p:cNvPr id="12" name="Image 1" descr="/Users/tsengchenghsun/Class/carClass/Claude outputs/第七週(10-22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16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103120"/>
            <a:ext cx="2377440" cy="237744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Tóm tắt · 小結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80467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câu cần nhớ của tiết này</a:t>
            </a:r>
            <a:endParaRPr lang="en-US" sz="2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這一節要記住的三句話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773936"/>
            <a:ext cx="45720" cy="5120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2376" y="1737360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kiểu hỏng: không thấy, thấy sai, không thấy mà không nói. Kiểu thứ ba nguy hiểm nhất.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三種壞法：看不到、看錯、看不到卻不說。第三種最危險。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487168"/>
            <a:ext cx="45720" cy="672713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2376" y="2450592"/>
            <a:ext cx="7863840" cy="78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điều kiện hỏng không có cột nào toàn ✓: mưa hại camera, xa và người đi bộ hại radar, hầm hại GNSS.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失效對照表沒有一欄全是 ✓：雨害相機，遠處和行人害雷達，隧道害衛星定位。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361049"/>
            <a:ext cx="45720" cy="672713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2376" y="3324473"/>
            <a:ext cx="7863840" cy="78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thật (nuScenes): radar không có độ cao, bắt người đi bộ không ổn định; lidar càng xa càng thưa.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真實資料（nuScenes）：雷達沒有高度、抓行人不穩；光達一遠就稀。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16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otes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自動駕駛原理</dc:creator>
  <cp:lastModifiedBy>自動駕駛原理</cp:lastModifiedBy>
  <cp:revision>1</cp:revision>
  <dcterms:created xsi:type="dcterms:W3CDTF">2026-10-18T03:25:20Z</dcterms:created>
  <dcterms:modified xsi:type="dcterms:W3CDTF">2026-10-18T03:25:20Z</dcterms:modified>
</cp:coreProperties>
</file>