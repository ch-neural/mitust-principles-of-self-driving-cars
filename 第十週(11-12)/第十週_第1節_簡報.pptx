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讓大家知道，模型開始訓練之前，資料要先準備好：照片要標註，標註要存成固定的格式，照片要分成三組，而且還要用資料增強，讓一張照片變出很多種樣子。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各位早，第十週。上週考完期中考，辛苦了。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第八週，各位在標註練習台上自己畫過框，也看過一個模型怎麼框出車和人。那時候我說，第十週要接著講：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標好的資料，怎麼變成一個會認東西的模型。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今天整週都用同一個例子：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三角錐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。為什麼選三角錐，等一下第四張會說。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這一節先講準備工作：照片怎麼標、標完存成什麼樣子、照片怎麼分組，以及一張照片怎麼變出很多張。第二節講訓練本身。第三節講練好的模型怎麼用，以及怎麼替它打分數。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讓大家知道這一週三節各在做什麼，以及今天看到的動畫是從哪裡來的。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先看這一週的安排。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1 節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，準備課本：照片怎麼標註，標完存成什麼樣子，照片要分成哪三組，一張照片怎麼變出很多張。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2 節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，訓練：模型怎麼猜、怎麼對答案、怎麼改，以及練了 50 輪以後，要留哪一輪。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3 節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，推論和打分數：一張新照片進來，模型怎麼框出東西；框得好不好，要怎麼算。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第八週我說過，第十週要拿標好的資料訓練模型。真的要每個人自己訓練，要先在電腦上安裝一整套軟體，每一台電腦的狀況又都不一樣，一節課光是安裝就不夠用。所以我改了做法：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我先在自己的 MacBook 上，真的訓練一次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，把每一步的結果存下來，做成動畫。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所以今天看到的每一個框、每一個數字，都是那一次真的訓練跑出來的，不是畫出來的示意圖。那一次用了 30 張照片，練了 50 輪，總共花了 160 秒，不到三分鐘。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讓大家先看到整條流程的七個步驟，知道今天每一張投影片是在講哪一步。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教電腦認東西，跟教小朋友認東西很像。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第一步，收照片。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要教小朋友認三角錐，要先找很多張有三角錐的照片。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第二步，標註。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在每一張照片上，把三角錐框起來，告訴他「這個就是」。這兩步合起來，就是準備課本。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第三步，分三組。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照片不能全部拿來練習，要留一些當模擬考，留一些當期中考。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第四步，資料增強。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同一張照片，翻過來、調暗一點、放大一點，讓他看到同一個東西的很多種樣子。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第五步，訓練。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這是第二節的主題：模型一次又一次地猜、對答案、修正。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第六步，推論。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練好以後，給它一張從來沒看過的照片，它要自己框出三角錐。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第七步，評估。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拿標準答案對一對，算它框對幾個、多框幾個、漏掉幾個。這兩步是第三節的主題。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最後請看上面那條往回走的箭頭。評估完，一定會找到模型錯的地方：某一種照片它老是認錯。那就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回到第一步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，多收那一種照片、標好、再練一次。這個循環，業界叫它「資料引擎」，第三節最後會再講。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讓大家知道今天為什麼要訓練：現成的模型已經認得車和人，但是它沒學過三角錐，所以一個都框不到；要它認得三角錐，就得自己教。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這是新加坡一段正在施工的路，nuScenes 的真實照片。我拿一個現成的模型來框，這個模型叫 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YOLO11n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，是 Ultralytics 這家公司公開的，可以免費下載。它已經用一套叫 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COCO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的照片練過了；COCO 有十一萬多張照片，教了 80 種東西：人、汽車、卡車、公車、機車、紅綠燈、停車標誌……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看右邊。它框到 3 台卡車、2 台汽車，左邊那台白色的車也框到了。但是路上那些三角錐，照片裡有 14 個，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它一個都沒有框。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不是它眼睛不好。是因為 COCO 的 80 種東西裡面，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根本沒有三角錐這一類。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就像一個小朋友，你從來沒教過他什麼是三角錐，他看到了，也不會說「那是三角錐」。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可是三角錐對自駕車很重要：它告訴你前面在施工、這個車道封起來了、不能開進去。所以今天的任務就是：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教這個模型認得三角錐。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這也是自己訓練最有用的時候：教它原本不會的東西。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讓大家看到標註的過程：每一個三角錐畫一個框，每一個框在檔案裡存成一行文字；照片有幾個三角錐，檔案就有幾行。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第八週各位自己在標註練習台上畫過框，這一張是同一件事，只是換成三角錐。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看動畫。標註的人在照片上，從三角錐的左上角拉到右下角，畫一個框。畫好一個，右邊的檔案就多一行。這張照片有 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 個三角錐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，所以畫完是 14 行。遠的三角錐很小，只有幾個像素，也要框；第八週講過 nuScenes 的規則：感測器看得到，就要標。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這個檔案的格式叫 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YOLO 格式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。第八週練習台最後那個「自己的照片」，按「下載標註」，下載下來的文字檔就是這種格式。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今天的訓練資料有 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30 張照片，一共 282 個三角錐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。這些框是 nuScenes 請人標好的，不是我標的。各位可以想一想：282 個框，如果是你一個一個畫，要畫多久？第八週大家標一張照片大概要幾分鐘，這還只是 30 張。真正的資料集是幾萬張、幾百萬個框。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讓大家看懂一行標註裡的五個數字各是什麼，以及為什麼後面四個都是 0 到 1 之間的小數。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把上一張中間那個三角錐放大來看。它存成一行五個數字。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第一個數字是類別。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今天只教一種東西，三角錐就是 0。如果同時教車、行人、三角錐，就可以編成 0、1、2。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第二、第三個數字，是框的中心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，也就是右上角那個紅點的位置。這張照片寬 1600 個像素，紅點在左邊數過來第 787 個像素；787 除以 1600，等於 0.492。高度方向，紅點在第 625 個像素，照片高 900，625 除以 900，等於 0.695。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第四、第五個數字，是框的寬和高。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寬 86 個像素，除以 1600，是 0.054；高 103 個像素，除以 900，是 0.114。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為什麼都要除以照片的寬和高？因為訓練的時候，照片會被縮小、放大。如果記的是像素，照片一縮小，數字就全部不對了。記成比例，就像說「紅點在照片寬度的一半左右」，照片放多大，這句話都還是對的。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讓大家知道照片要分成訓練、驗證、測試三組，以及每一組的用途；最重要的是，測試組的照片在訓練時完全不能看。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大家上週剛考完期中考，正好拿來比喻。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第一組，訓練組，就是練習題。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30 張，全部是新加坡那一段施工路段。模型就是從這 30 張學的。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第二組，驗證組，就是模擬考。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 張，在波士頓拍的。第八週我們做過一份模擬考，用來知道自己準備得怎麼樣。模型也一樣：每練完一輪，就考一次模擬考，看它現在的程度。練了 50 輪以後，留模擬考成績最好的那一輪。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第三組，測試組，就是期中考。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17 張，也在波士頓，可是跟模擬考是不同的時間、不同的路段。這 17 張在訓練的時候，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模型一張都沒看過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，最後才拿出來考一次。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為什麼期中考的題目不能先給大家看？因為看過了，考出來的分數就不能代表你真的會。模型也一樣：考它看過的照片，它可能只是背起來了。所以測試組只能在最後用，而且只能用一次。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還有一點：練習題在新加坡，考試在波士頓。兩個城市的路、天氣、三角錐擺的方式都不一樣。這樣考，才知道模型換了地方還行不行。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讓大家知道分組的時候，同一段影片的照片要放在同一組；如果把照片打散了隨便分，考試成績會比真正的程度好看很多。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看這兩張照片。左邊是 scene-0061 的第 21 個畫面，右邊是第 22 個畫面。nuScenes 每 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0.5 秒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標一次，所以這兩張只差半秒。車子往前開了幾公尺，三角錐還是那些三角錐，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幾乎一模一樣。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假設我把這一段影片的照片打散，隨便抽幾張當練習題，剩下的當考題。那第 21 個畫面在練習題，第 22 個畫面在考卷上。模型考到第 22 個畫面，其實等於在考它練習過的題目。成績當然很好，可是那不是真的會，只是看過。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這就像老師出期中考，把練習題改一個數字就拿來考，大家都考很好，但是換一題真的新的就不會。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所以今天的做法是：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整段影片分在同一組。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新加坡那一整段是練習題，波士頓那一段拿來考。真正的研究和公司也都這樣做，nuScenes 官方提供的訓練組、測試組，也是整段影片分開的。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讓大家知道資料增強在做什麼：把同一張照片做各種變化，讓模型看到同一個東西的很多種樣子；照片怎麼變，標註的框就跟著怎麼變。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只有 30 張照片，太少了。有一個辦法可以讓 30 張變成很多張，叫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資料增強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。看動畫，右邊的名稱一個一個亮。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左右翻轉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：照片像照鏡子一樣翻過來，三角錐還是三角錐。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調暗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：像傍晚或陰天拍的。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改顏色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：像換了一台相機拍的，顏色偏一點。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放大、移動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：像車子開得比較近。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四張拼一張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：把四張照片各縮小一半，拼成一張；三角錐變小了，也搬到新的位置。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請注意每一個變化裡的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框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：照片翻過來，框也翻過來；照片放大，框也跟著放大、跟著移動。框一定要跟著照片一起變，不然答案就錯了。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訓練的時候，每一輪都會隨機重新變一次。30 張照片練 50 輪，模型一共看了 1,500 次照片，每一次看到的都不太一樣。就像同一個觀念，老師換很多種題目考你，你才是真的懂，不是背下某一題的答案。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讓大家看到真正訓練時，送進模型的照片長什麼樣子：好幾種增強會隨機地同時發生，跟原本的照片已經很不一樣。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上一張的動畫是我一個一個做給大家看的。這一張是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真的訓練時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，軟體自動存下來的第一批照片。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一批有四格。看左上那一格：一張照片被縮小、往右下移，旁邊拼上了另一張照片的一角，灰色的部分是補上去的空白。右下那一格，又是四張小照片拼在一起。藍色的框是標註，旁邊的 0 就是三角錐。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張拼一張、翻轉、變色、縮放，全部是隨機的，而且同時發生。所以模型練的時候，看到的照片常常比真實的路況還要奇怪。這是故意的：練習時題目變化多一點、難一點，正式上路碰到沒看過的樣子，才比較不會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讓大家自己想一想，資料增強不是變得愈多愈好；變化要合理，要是真的上路時可能碰到的樣子。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請大家想三個問題，我會請幾位同學回答。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第一題，左右翻轉。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教三角錐，翻過來沒有問題：三角錐左右是對稱的，翻過來還是三角錐。我們要模型學的是「三角錐長什麼樣子」，不是車子靠哪一邊開。可是如果要教的是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交通標誌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，就要小心：「左轉」的箭頭翻過來，就變成「右轉」；標誌上的字翻過來，也變成反的。那就等於教錯了。所以要不要翻轉，要看你教的是什麼。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第二題，上下翻轉。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不合理。車上的相機永遠是正的，天空在上、馬路在下，真的上路不會看到倒過來的世界。用這種照片練習，只是浪費模型的力氣。Ultralytics 的預設也是不做上下翻轉。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第三題，調暗。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一點幫助，但是不能取代真的晚上拍的照片。第六週和第八週看過夜間的照片：晚上有車燈的眩光、路燈的反光、照片的雜訊，這些不是把白天的照片調暗就會出現的。所以真正要模型晚上也認得，還是要去收晚上的照片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結論：增強是讓模型多看幾種「真的可能出現」的樣子，不是亂變。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這一節的目的回顧：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三句話。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第一句：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一個東西一個框，一個框存成一行五個數字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：類別、中心 x、中心 y、寬、高。後面四個都除以照片的寬和高。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第二句：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照片要整段影片分成三組。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訓練組是練習題，驗證組是模擬考，測試組是期中考，期中考的照片訓練時不能看，最後只考一次。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第三句：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資料增強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讓一張照片變出很多種樣子：翻轉、調暗、改顏色、放大、拼圖。框要跟著照片一起變，變化也要是真的上路會碰到的。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課本準備好了。休息十分鐘，第二節開始訓練。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gif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gif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gif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gif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575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59000" y="-1366875"/>
            <a:ext cx="4191750" cy="419175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25875" y="2095875"/>
            <a:ext cx="2369250" cy="236925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16938" y="1202850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10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16938" y="1567350"/>
            <a:ext cx="7472250" cy="15199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3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Nhận thức (2): từ gán nhãn đến huấn luyện</a:t>
            </a:r>
            <a:endParaRPr lang="en-US" sz="339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89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感知（二）：從標註到訓練</a:t>
            </a:r>
            <a:endParaRPr lang="en-US" sz="3390" dirty="0"/>
          </a:p>
        </p:txBody>
      </p:sp>
      <p:sp>
        <p:nvSpPr>
          <p:cNvPr id="6" name="Shape 4"/>
          <p:cNvSpPr/>
          <p:nvPr/>
        </p:nvSpPr>
        <p:spPr>
          <a:xfrm>
            <a:off x="516938" y="3233138"/>
            <a:ext cx="1366875" cy="41006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16938" y="3433613"/>
            <a:ext cx="7107750" cy="6104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Dạy mô hình nhận ra cọc tiêu — gán nhãn, chia ba nhóm, tăng cường dữ liệu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教模型認三角錐：標註、分三組、資料增強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516938" y="4355775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第十週 第 1 節　2026/11/12（四）09:10–10:00　CH Tseng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71138" y="309825"/>
            <a:ext cx="2205225" cy="74722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1" name="Image 0" descr="/Users/tsengchenghsun/Class/carClass/Claude outputs/第十週(11-1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này: từng bước dạy một mô hình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這一週：一步一步看模型是怎麼教出來的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2529840" cy="2724912"/>
          </a:xfrm>
          <a:prstGeom prst="roundRect">
            <a:avLst>
              <a:gd name="adj" fmla="val 361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530096" y="1316736"/>
            <a:ext cx="475488" cy="47548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53009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30936" y="1883664"/>
            <a:ext cx="22738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chuẩn bị sách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1 節・準備課本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30936" y="2578608"/>
            <a:ext cx="227380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Gán nhãn, lưu thành năm con số, chia ba nhóm, tăng cường dữ liệu.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標註、存成五個數字、分三組、資料增強。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303276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3307080" y="1133856"/>
            <a:ext cx="2529840" cy="2724912"/>
          </a:xfrm>
          <a:prstGeom prst="roundRect">
            <a:avLst>
              <a:gd name="adj" fmla="val 361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34256" y="1316736"/>
            <a:ext cx="475488" cy="47548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33425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435096" y="1883664"/>
            <a:ext cx="22738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huấn luyện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2 節・訓練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435096" y="2578608"/>
            <a:ext cx="227380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Mô hình đoán, so đáp án, sửa tham số — từng vòng một. Chọn vòng tốt nhất.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模型猜、對答案、改參數，一輪一輪來。挑出最好的一輪。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583692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6111240" y="1133856"/>
            <a:ext cx="2529840" cy="2724912"/>
          </a:xfrm>
          <a:prstGeom prst="roundRect">
            <a:avLst>
              <a:gd name="adj" fmla="val 361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138416" y="1316736"/>
            <a:ext cx="475488" cy="47548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13841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239256" y="1883664"/>
            <a:ext cx="22738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suy luận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3 節・推論、打分數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239256" y="2578608"/>
            <a:ext cx="227380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Ảnh mới vào → khung ra. Đúng, thừa, sót. Ngưỡng cao hay thấp.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新照片進來，框出來。框對、多框、漏掉。門檻要高還是低。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502920" y="4005072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Mọi hình động đều lấy từ một lần huấn luyện thật trên MacBook: 30 ảnh, 50 vòng, 160 giây.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所有動畫都來自一次真的訓練：一台 MacBook、30 張照片、50 輪、160 秒。</a:t>
            </a:r>
            <a:endParaRPr lang="en-US" sz="1250" dirty="0"/>
          </a:p>
        </p:txBody>
      </p:sp>
      <p:pic>
        <p:nvPicPr>
          <p:cNvPr id="22" name="Image 0" descr="/Users/tsengchenghsun/Class/carClass/Claude outputs/第十週(11-1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12</a:t>
            </a:r>
            <a:endParaRPr lang="en-US" sz="900" dirty="0"/>
          </a:p>
        </p:txBody>
      </p:sp>
      <p:sp>
        <p:nvSpPr>
          <p:cNvPr id="24" name="Text 20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Toàn bộ quy trình · 整條流程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Bảy bước: từ thu ảnh đến đánh giá, rồi quay lại từ đầu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七個步驟：從收照片到評估，再回到第一步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1020741" y="1371600"/>
            <a:ext cx="7102517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十週(11-12)/src/img/w10_pipeline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9029" y="1389888"/>
            <a:ext cx="7065941" cy="29809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40740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動畫：本週三節各講哪幾步 · 評估完找出錯在哪裡，再回到第一步</a:t>
            </a:r>
            <a:endParaRPr lang="en-US" sz="850" dirty="0"/>
          </a:p>
        </p:txBody>
      </p:sp>
      <p:pic>
        <p:nvPicPr>
          <p:cNvPr id="8" name="Image 1" descr="/Users/tsengchenghsun/Class/carClass/Claude outputs/第十週(11-12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12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Vì sao chọn cọc tiêu · 為什麼選三角錐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Mô hình gốc biết 80 loại vật, nhưng chưa học cọc tiêu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原版模型認得 80 種東西，就是沒學過三角錐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1020741" y="1371600"/>
            <a:ext cx="7102517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十週(11-12)/src/img/w10_coco_con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9029" y="1389888"/>
            <a:ext cx="7065941" cy="29809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40740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scene-0061 #23（新加坡施工路段）· CC BY-NC-SA 4.0 · 模型：Ultralytics YOLO11n，COCO 預訓練、分數門檻 0.25</a:t>
            </a:r>
            <a:endParaRPr lang="en-US" sz="850" dirty="0"/>
          </a:p>
        </p:txBody>
      </p:sp>
      <p:pic>
        <p:nvPicPr>
          <p:cNvPr id="8" name="Image 1" descr="/Users/tsengchenghsun/Class/carClass/Claude outputs/第十週(11-12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12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Bước 2 · 第二步：標註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Gán nhãn: mỗi cọc tiêu một khung, mỗi khung lưu thành một dòng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標註：一個三角錐一個框，一個框存成一行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1020741" y="1371600"/>
            <a:ext cx="7102517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十週(11-12)/src/img/w10_label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9029" y="1389888"/>
            <a:ext cx="7065941" cy="29809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40740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動畫：scene-0061 #23 的 14 個官方標註，一個一個畫上去 · 右邊是存檔的文字檔內容（YOLO 格式，和第八週標註練習台下載的一樣）</a:t>
            </a:r>
            <a:endParaRPr lang="en-US" sz="850" dirty="0"/>
          </a:p>
        </p:txBody>
      </p:sp>
      <p:pic>
        <p:nvPicPr>
          <p:cNvPr id="8" name="Image 1" descr="/Users/tsengchenghsun/Class/carClass/Claude outputs/第十週(11-12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12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Năm con số · 五個數字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Năm con số: loại, tâm x, tâm y, rộng, cao — đều chia cho kích thước ảnh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五個數字：類別、中心 x、中心 y、寬、高，都除以照片的寬和高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1020741" y="1371600"/>
            <a:ext cx="7102517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十週(11-12)/src/img/w10_fiv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9029" y="1389888"/>
            <a:ext cx="7065941" cy="29809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40740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scene-0061 #23 中間那個三角錐 · 照片原本 1600 × 900 像素 · 右上是放大，紅點是框的中心</a:t>
            </a:r>
            <a:endParaRPr lang="en-US" sz="850" dirty="0"/>
          </a:p>
        </p:txBody>
      </p:sp>
      <p:pic>
        <p:nvPicPr>
          <p:cNvPr id="8" name="Image 1" descr="/Users/tsengchenghsun/Class/carClass/Claude outputs/第十週(11-12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12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Bước 3 · 第三步：分三組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Chia ba nhóm: bài tập, thi thử, thi thật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分三組：練習題、模擬考、期中考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1020741" y="1371600"/>
            <a:ext cx="7102517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十週(11-12)/src/img/w10_split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9029" y="1389888"/>
            <a:ext cx="7065941" cy="29809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40740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訓練：scene-0061（新加坡）30 張 · 驗證：scene-0655（波士頓）前段 8 張 · 測試：同一段後段 17 張，訓練時完全沒看過</a:t>
            </a:r>
            <a:endParaRPr lang="en-US" sz="850" dirty="0"/>
          </a:p>
        </p:txBody>
      </p:sp>
      <p:pic>
        <p:nvPicPr>
          <p:cNvPr id="8" name="Image 1" descr="/Users/tsengchenghsun/Class/carClass/Claude outputs/第十週(11-12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12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Chia theo đoạn video · 按影片分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ảnh liền nhau cách 0,5 giây: chia theo cả đoạn video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相鄰兩張只差 0.5 秒：要整段影片一起分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484632" y="1592907"/>
            <a:ext cx="8174736" cy="2574907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十週(11-12)/src/img/w10_adjacen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611195"/>
            <a:ext cx="8138160" cy="2538331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40740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scene-0061 #21 與 #22 · CC BY-NC-SA 4.0 · 一張放練習題、一張放考卷，就像洩題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6768871" y="365760"/>
            <a:ext cx="1872209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96887" y="384048"/>
            <a:ext cx="168932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đề thi trùng bài tập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考題就是練習題</a:t>
            </a:r>
            <a:endParaRPr lang="en-US" sz="950" dirty="0"/>
          </a:p>
        </p:txBody>
      </p:sp>
      <p:pic>
        <p:nvPicPr>
          <p:cNvPr id="10" name="Image 1" descr="/Users/tsengchenghsun/Class/carClass/Claude outputs/第十週(11-12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12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Bước 4 · 第四步：資料增強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Tăng cường dữ liệu: một ảnh biến thành nhiều ảnh, khung đi theo ảnh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資料增強：一張照片變出很多張，框跟著照片一起變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1020741" y="1371600"/>
            <a:ext cx="7102517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十週(11-12)/src/img/w10_aug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9029" y="1389888"/>
            <a:ext cx="7065941" cy="29809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40740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示意動畫：scene-0061 #21；「四張拼一張」另外用了三張訓練照片 · 真的訓練時這些變化是隨機、同時發生的（下一張）</a:t>
            </a:r>
            <a:endParaRPr lang="en-US" sz="850" dirty="0"/>
          </a:p>
        </p:txBody>
      </p:sp>
      <p:pic>
        <p:nvPicPr>
          <p:cNvPr id="8" name="Image 1" descr="/Users/tsengchenghsun/Class/carClass/Claude outputs/第十週(11-12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12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Lúc huấn luyện thật · 真的訓練時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Lúc huấn luyện thật: ghép, lật, đổi màu — ngẫu nhiên, cùng lúc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真的訓練時：拼圖、翻轉、變色，隨機一起來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3063240" y="1371600"/>
            <a:ext cx="3017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十週(11-12)/src/img/w10_batch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81528" y="1389888"/>
            <a:ext cx="2980944" cy="29809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40740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Ultralytics 訓練時自動存下的第一批（train_batch0.jpg）· 一批 4 張 · 藍框旁的 0＝三角錐 · 灰色是補上的空白</a:t>
            </a:r>
            <a:endParaRPr lang="en-US" sz="850" dirty="0"/>
          </a:p>
        </p:txBody>
      </p:sp>
      <p:pic>
        <p:nvPicPr>
          <p:cNvPr id="8" name="Image 1" descr="/Users/tsengchenghsun/Class/carClass/Claude outputs/第十週(11-12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12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Thảo luận · 討論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Tăng cường nào hợp lý cho xe tự lái? Cái nào không?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哪些資料增強對自駕車合理？哪些不合理？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1883664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1911096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783080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Lật trái phải: dạy cọc tiêu được không? Dạy biển báo rẽ trái thì sao?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左右翻轉：教三角錐可以嗎？教「左轉」標誌呢？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450592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596896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624328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496312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Lật trên dưới: trời ở dưới, đường ở trên. Có nên dùng không?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上下翻轉：天空在下面、馬路在上面。該不該用？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16382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31012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33756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20954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 tối ảnh ban ngày: có thay được ảnh chụp ban đêm thật không?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把白天的照片調暗：可以取代真的晚上拍的照片嗎？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3913632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Ultralytics mặc định: lật trái phải 50% số lần, không lật trên dưới.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Ultralytics 的預設：一半的機會左右翻轉，不做上下翻轉。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12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Tóm tắt · 小結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câu cần nhớ của tiết này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這一節要記住的三句話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vật một khung, mỗi khung một dòng năm con số: loại, tâm x, tâm y, rộng, cao (chia cho kích thước ảnh).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一個東西一個框，一個框一行五個數字：類別、中心 x、中心 y、寬、高（都除以照片的寬高）。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647817"/>
            <a:ext cx="45720" cy="672713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611241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Chia ba nhóm theo đoạn video: huấn luyện = bài tập, kiểm định = thi thử, kiểm tra = thi thật, chỉ dùng một lần.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整段影片分三組：訓練＝練習題、驗證＝模擬考、測試＝期中考，最後只用一次。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521698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485122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Tăng cường dữ liệu: lật, làm tối, đổi màu, phóng to, ghép ảnh — khung đi theo ảnh, và phải hợp lý.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資料增強：翻轉、調暗、改顏色、放大、拼圖；框跟著照片變，而且變化要合理。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12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2026-10-29T08:41:14Z</dcterms:created>
  <dcterms:modified xsi:type="dcterms:W3CDTF">2026-10-29T08:41:14Z</dcterms:modified>
</cp:coreProperties>
</file>