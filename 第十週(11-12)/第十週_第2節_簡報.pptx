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讓大家知道練好的模型怎麼用：一張新照片進來，模型猜了一萬九千多次，要經過分數門檻和刪掉重複的框，才剩下最後幾個框；以及這些框好不好，要怎麼打分數。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第一節，我們練出了一個模型，留下第 35 輪。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這一節做兩件事。第一件，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推論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：給它一張從來沒看過的照片，看它怎麼把一萬九千多個猜測，變成照片上那幾個框。第二件，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打分數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：框得好不好，怎麼算？分數高，就一定好嗎？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讓大家知道推論的時候，模型的一萬九千多個猜測，是怎麼一步一步篩到最後剩下十幾個框的。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推論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的意思，就是練好的模型真正拿來用：一張新照片進來，框出三角錐。這是波士頓的一張測試照片，訓練時沒看過。看右邊五個步驟。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第一步，縮照片。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跟訓練時一樣，縮到 1280 寬。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第二步，猜。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模型把照片切成很多小格子，每一格都猜一次「這裡有沒有三角錐、框多大」，一共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19,320 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猜測，每一個都有一個框和一個分數。格子怎麼切，放在附錄。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，大部分的猜測分數幾乎是 0，就是「這裡沒有三角錐」。分數在 0.01 以上的，有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244 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，就是照片上那些淡淡的框，愈淡分數愈低。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第四步，分數門檻。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第八週學過門檻：分數低於門檻的，不算。門檻放 0.25，剩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89 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第五步，刪掉重複的。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89 個框裡，很多是同一個三角錐被框了好幾次。做法是：同一個地方疊了好幾個框，只留分數最高的那一個，跟它重疊太多的都刪掉。最後剩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 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。這一步英文叫 NMS。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整個過程，在我的 MacBook 上，一張照片大約 0.01 秒。車上不只一顆相機，一秒要算幾十張，所以速度也很重要；估算的方法放在附錄。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讓大家知道模型的框怎麼跟標準答案對：每一個框只會落在三種結果之一：框對、多框或漏掉；而且要重疊夠多才算框對。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推論完，最後一步：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打分數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。拿模型的框，跟標準答案一個一個比。白色虛線是答案，這張照片有 8 個三角錐；模型框了 16 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框對，綠色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：模型的框和答案的框，IoU 在 0.5 以上，也就是重疊得夠多。第八週的標註練習台用 0.3，比較寬鬆；正式的比賽常用 0.5。這一張框對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 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多框，紅色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：模型框了，可是那裡沒有對到任何答案。這一張多框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 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。請看中間那個最大的三角錐，被框了好幾次：一個綠的框對了，旁邊還有幾個紅的，大小差很多，重疊不夠多，刪重複那一步沒有刪掉，就變成多框。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一個答案只能配一個框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，多出來的都算多框。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漏掉，橘色虛線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：答案裡有，模型沒框到。這一張漏掉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 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，在最左下角，三角錐被照片的邊切掉，只露出一小塊。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所以一張照片的成績是：框對 7、多框 9、漏掉 1。下一張把這三個數字變成兩個分數。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讓大家知道精確度和召回率各在問什麼問題，以及怎麼從框對、多框、漏掉這三個數字算出來。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框對、多框、漏掉三個數字，可以算出兩個分數。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第一個，精確度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precision。問的是：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模型框出來的，可不可信？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算法是框對的除以框了幾個。這一張框了 16 個，對了 7 個，7 除以 16，大約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44%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。也就是說，它框出來的東西，不到一半真的是答案裡的三角錐。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第二個，召回率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 recall。問的是：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真的有的，有沒有漏掉？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算法是框對的除以真的有幾個。這一張有 8 個，框對 7 個，7 除以 8，大約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88%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用捕魚來想。你在河裡撒網，河裡有 8 條魚。網撒得很大，8 條抓到 7 條，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召回率很高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；可是網子拉上來，還撈到 9 個空罐子、塑膠袋，抓上來的東西只有不到一半是魚，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精確度就低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。網撒得很小，撈上來的都是魚，精確度高，可是很多魚沒抓到，召回率就低。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這兩個分數通常一個高、另一個就低。要哪一個高，看你在乎什麼。下一張拉門檻，就看得到它們怎麼一起變。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讓大家看到門檻怎麼同時影響精確度和召回率：門檻放低，漏掉的少、多框的多；門檻放高，多框的少、漏掉的多。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第八週看過，門檻低會多報、門檻高會漏掉。今天把它換成兩個分數來看。看動畫，門檻從 0.05 一路拉到 0.9，再拉回來。左邊是同一張照片，右邊是 17 張測試照片加起來的成績。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 0.05，很低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：分數一點點也算。左邊的紅框很多。右邊，召回率很高，92%；精確度很低，不到三成。網撒得很大。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 0.25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，前面一直用的：召回率 89%，精確度 53%。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 0.7，很高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：要很有把握才算。紅框幾乎不見了，精確度升到 70%；可是召回率掉到 54%，將近一半的三角錐沒框到。網撒得很小。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 0.9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：精確度 82%，召回率只剩 10%，90 個三角錐只框對 9 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所以門檻沒有「最好」的值，只有「看你要什麼」。每一個門檻的完整數字，整理成表放在附錄。下一張討論自駕車該怎麼選。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讓大家知道自駕車選門檻時要想的事：漏掉和多框的代價不一樣，漏掉通常比較嚴重；可是多框太多也會造成危險，所以要兩邊一起顧。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自駕車的門檻要放哪裡？先想兩種錯各會發生什麼事。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多框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：路上沒有三角錐，模型說有。車子會減速、閃開，或煞一下車。乘客覺得「怎麼突然煞車」，不舒服，但通常不會出事。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漏掉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：路上明明有三角錐，模型沒看到。車子直接開進施工區，撞上去。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兩種錯的代價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差很多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，所以自駕車通常寧可多框一點，把召回率顧好。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用火災警報器來想。警報器太敏感，煎個魚就響，很煩，這是多框。警報器太遲鈍，真的失火了不響，這是漏掉，會出人命。所以警報器寧可敏感一點。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也不能無限敏感。如果自駕車每開一百公尺就亂煞一次車，後面的車來不及反應，就會追撞；乘客也會受不了，乾脆把系統關掉。所以實際的做法不是只看一個門檻，而是像上一張的動畫那樣，把每一種門檻的漏掉和多框都算出來，再看車子的速度、場景來決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讓大家知道分數算出來以後，一定要回頭一個一個看錯在哪裡；而且分數是拿標準答案算的，答案本身也會漏，所以分數不一定代表模型真正的程度。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精確度 53%，聽起來很差：框出來的，將近一半是錯的。我把錯的一個一個裁出來看。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最上面一排，漏掉的 10 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，全部都在這裡。其中 4 個在照片最邊邊，三角錐只露出一小塊，黑色的部分是照片外面。其他幾個看得到，模型卻沒框對。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中間一排，多框的第一種，52 個。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這些框的位置，官方的標註裡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什麼都沒有標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。可是請看框裡面：每一個都是三角錐。我把 52 個全部一個一個看過，每一個框裡都看得到三角錐。也就是說，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不是模型錯，是標準答案漏標了。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 52 個框，九成比答案裡的三角錐小，也就是多半比較遠。第八週講過 nuScenes 的規則：感測器看得到才標；可能是光達沒有打到它們，所以沒有標。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最下面一排，多框的第二種，20 個。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框是框在三角錐上的，可是跟答案的框重疊不到一半，所以不算框對。有的是框的大小跟答案不一樣，有的是同一個三角錐被框了兩次。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如果中間那 52 個都算框對，精確度就從 53% 變成大約 87%。所以要記得：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分數是拿答案算的，答案有錯，分數就不準。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第八週說「標註資料是模型的課本」；其實，它也是模型的考卷答案。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讓大家知道訓練不是做一次就結束：評估完找出錯在哪裡，針對錯的地方補資料、修答案，再訓練、再考；業界把這個循環叫做資料引擎。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第一節第三張那張流程圖，最上面有一條往回走的箭頭。現在可以把它講完了。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第一步，找出錯的。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上一張就是在做這件事：漏掉的多半在照片邊邊；還發現答案本身漏標了 52 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第二步，補資料、修答案。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今天的模型只看過新加坡一段路、白天、晴天。要讓它更好，就去補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它沒看過的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：其他城市的三角錐、晚上的、下雨的、被車子擋住一半的。另外，答案漏標的，要請人補標，不然下一次訓練，模型會學到「那裡沒有三角錐」。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第三步，再訓練。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一樣從練好的模型開始，一樣用驗證組挑最好的一輪。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第四步，再考一次。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用模型沒看過的照片考，然後又會找到新的錯，再回到第一步。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自駕車公司把這個循環跑了幾百次。第八週看過 NVIDIA 的影片：他們把幾個模型意見不一致、最沒把握的照片挑出來，請人標好，再加進訓練資料。那就是這個循環的第一、二步。感知做得好不好，很大一部分不是靠模型的設計，而是靠這個循環轉了多少次。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讓大家知道訓練不一定會讓模型變好：拿很少的照片，去重教模型原本就會的東西，它可能反而把原本會的忘掉；自己訓練最值得做的，是教它原本不會的東西。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講到補資料，有一件事要小心。三角錐是原版模型不會的。那如果拿它原本就會的東西，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車和行人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，再教一次呢？我也試了。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訓練照片 30 張，從 nuScenes 七段不同的影片裡挑的，裡面有 107 台車、30 個行人。測試照片 10 張：波士頓白天的斑馬線，加上新加坡晚上剛下過雨的路口。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第一列，原版模型，什麼都不做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：車框對 13 台，行人 13 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第二列，從零開始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：全部是 0，第一節第八張講過。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第三列，從原版模型開始，用 30 張微調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：車還有 11 台，可是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行人從 13 個掉到 0 個。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它原本會認人，被我們用 30 張照片「教」了以後，反而不會了。因為這 30 張裡只有 30 個行人，太少；模型為了把這 30 張練好，把原本從十一萬張照片學來的東西改掉了。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第四列，用 282 張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：行人回到 7 個，還是比原版的 13 個差。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這告訴我們兩件事。第一，訓練不是一定會變好，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資料太少，可能把原本會的教壞。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第二，自己訓練最值得做的，是像三角錐這樣，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教它原本不會的東西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。像越南路上的三輪貨車，COCO 和 nuScenes 都沒有這一類，這就是值得自己收資料、自己訓練的地方。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讓大家用今天學到的觀念，預測一個模型換到新的地方可能會出什麼錯，並且想到要補哪些資料、要怎麼分組。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最後請大家想三個問題：這個模型如果拿到河內、拿到台灣的路上，會錯在哪裡？要補什麼？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第一題，晚上、下雨、被機車擋住。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它只學過 30 張新加坡白天的照片，從來沒看過晚上的三角錐。晚上三角錐的顏色看起來不一樣，反光條會亮，車燈會照出眩光，它很可能會漏掉。河內和台灣的路上機車很多，三角錐常常只露出一半；今天的訓練照片裡，三角錐大多是完整的。要解決，就是去補晚上、下雨、被擋住的照片，標註的時候照規則，框看得到的部分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第二題，其他橘色的東西。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附錄裡有一組實驗：只用 5 張照片練的模型，看到橘色就框，多框了 587 個。路上橘色的東西很多：施工圍籬、工人的反光背心、橘色的機車、招牌。30 張照片練出來的模型，也可能被這些騙。要解決，就是讓訓練照片裡也有這些東西，而且沒有框，讓模型知道「橘色的不一定是三角錐」。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第三題，教它認三輪貨車。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越南路上有很多三輪貨車，越南話叫 xe ba gác，國外的資料集裡沒有這一類，現成的模型不認得。它的樣子比三角錐變化大得多：載的東西不一樣，從前面、側面、後面看都不一樣，所以至少要幾百張，白天、晚上、下雨都要拍，不同的城市、不同的路都要拍。分組的時候，整段影片放在同一組，測試組最好用另一個城市或另一天拍的影片，就像今天練習題在新加坡、考試在波士頓。訓練的時候，從練好的模型開始，不要從零開始。
</a:t>
            </a:r>
          </a:p>
          <a:p>
            <a:pPr algn="l">
              <a:spcBef>
                <a:spcPts val="0"/>
              </a:spcBef>
              <a:spcAft>
                <a:spcPts val="233"/>
              </a:spcAft>
            </a:pP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這三題的答案都指向同一件事：</a:t>
            </a:r>
            <a:r>
              <a:rPr sz="14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模型只會它看過的。</a:t>
            </a:r>
            <a:r>
              <a:rPr sz="14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要它在越南、在台灣用，就要有越南、台灣的照片。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這一節的目的回顧：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三句話。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推論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。模型對一張照片猜 19,320 次，經過分數門檻、再刪掉重複的框，最後剩幾個框。拿這些框跟標準答案比，每一個都是框對、多框或漏掉。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精確度和召回率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。精確度問框出來的可不可信，召回率問有沒有漏掉。門檻調高，多框變少、漏掉變多；自駕車通常比較怕漏掉。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第三句：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分數只跟答案一樣準。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一定要一個一個看錯在哪裡，針對錯的地方補資料、修答案、再訓練，這個循環叫資料引擎。補資料也要補對：拿很少的照片重教模型原本就會的東西，反而會把它教壞。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到這裡，一個模型從標註、訓練，到推論、打分數，大家都看過一遍了。不過到目前為止，模型都是一張照片一張照片地看。休息十分鐘，第三節講怎麼把一張一張的結果串起來：追蹤。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這裡以後是附錄，上課不講。第一節、第二節講到「細節放在附錄」的，都在這裡，學生問起來可以翻給他們看，也可以留給有興趣的同學自己看 PDF。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讓大家看懂一行標註裡的五個數字各是什麼，以及為什麼後面四個都是 0 到 1 之間的小數。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把第一節第五張中間那個三角錐放大來看。它存成一行五個數字。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第一個數字是類別。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今天只教一種東西，三角錐就是 0。如果同時教車、行人、三角錐，就可以編成 0、1、2。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第二、第三個數字，是框的中心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，也就是右上角那個紅點的位置。這張照片寬 1600 個像素，紅點在左邊數過來第 787 個像素；787 除以 1600，等於 0.492。高度方向，紅點在第 625 個像素，照片高 900，625 除以 900，等於 0.695。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第四、第五個數字，是框的寬和高。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寬 86 個像素，除以 1600，是 0.054；高 103 個像素，除以 900，是 0.114。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為什麼都要除以照片的寬和高？因為訓練的時候，照片會被縮小、放大。如果記的是像素，照片一縮小，數字就全部不對了。記成比例，就像說「紅點在照片寬度的一半左右」，照片放多大，這句話都還是對的。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讓大家知道資料增強在做什麼：把同一張照片做各種變化，讓模型看到同一個東西的很多種樣子；照片怎麼變，標註的框就跟著怎麼變。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只有 30 張照片，太少了。有一個辦法可以讓 30 張變成很多張，叫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資料增強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。看動畫，右邊的名稱一個一個亮。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左右翻轉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：照片像照鏡子一樣翻過來，三角錐還是三角錐。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調暗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：像傍晚或陰天拍的。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改顏色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：像換了一台相機拍的，顏色偏一點。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放大、移動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：像車子開得比較近。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四張拼一張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：把四張照片各縮小一半，拼成一張；三角錐變小了，也搬到新的位置。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請注意每一個變化裡的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框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：照片翻過來，框也翻過來；照片放大，框也跟著放大、跟著移動。框一定要跟著照片一起變，不然答案就錯了。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訓練的時候，每一輪都會隨機重新變一次。30 張照片練 50 輪，模型一共看了 1,500 次照片，每一次看到的都不太一樣。就像同一個觀念，老師換很多種題目考你，你才是真的懂，不是背下某一題的答案。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讓大家看到真正訓練時，送進模型的照片長什麼樣子：好幾種增強會隨機地同時發生，跟原本的照片已經很不一樣。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上一張的動畫是我一個一個做給大家看的。這一張是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真的訓練時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，軟體自動存下來的第一批照片。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一批有四格。看左上那一格：一張照片被縮小、往右下移，旁邊拼上了另一張照片的一角，灰色的部分是補上去的空白。右下那一格，又是四張小照片拼在一起。藍色的框是標註，旁邊的 0 就是三角錐。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張拼一張、翻轉、變色、縮放，全部是隨機的，而且同時發生。所以模型練的時候，看到的照片常常比真實的路況還要奇怪。這是故意的：練習時題目變化多一點、難一點，正式上路碰到沒看過的樣子，才比較不會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 YOLO 這一類的模型怎麼找東西：它把照片切成很多格子，每一格都猜一次「這裡有沒有東西、框多大」；一張照片總共猜了一萬九千多次。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第八週講過，YOLO 的意思是「只看一次」。它怎麼只看一次就找到所有的三角錐？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第一步，縮小照片。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原本 1600 × 900 的照片，縮到 1280 寬。高度補到 736，因為模型需要 32 的倍數。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第二步，切格子。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動畫裡畫的是最粗的一層：每一格 32 個像素，橫的 40 格、直的 23 格，一共 920 格。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第三步，誰負責猜？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看亮起來的格子。每一個三角錐的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中心點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落在哪一格，就由那一格負責猜它：框的位置、框的大小，還有一個分數，表示「這裡是三角錐」它有多少把握。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格子這麼粗，遠處的小三角錐怎麼辦？所以模型其實有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三層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格子：一層很細，每格 8 個像素，專門找小東西；一層中等；一層很粗，找大東西。三層加起來：14,720 加 3,680 加 920，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一共 19,320 個猜測。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每一張照片，模型都同時做完這 19,320 個猜測，這就是「只看一次」。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16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讓大家知道模型對答案時算的是什麼：框的位置跟答案差多少，分數跟答案差多少；兩個加起來是一個數字，叫做損失，損失愈小，代表錯得愈少。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模型猜完了，接下來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對答案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。看動畫，白色虛線是標準答案，橘色的框是模型猜的。錯的程度分兩種。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第一種，位置錯多少。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用第八週學過的 IoU：兩個框重疊的面積除以合起來的面積。完全重疊是 1，完全沒碰到是 0。所以「1 減 IoU」就是位置錯多少。第 1 輪的 IoU 是 0.62，練到第 35 輪是 0.90，紅色的長條愈來愈短。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第二種，分數錯多少。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這裡明明有三角錐，答案是「有，百分之百」。模型給的分數如果只有 0.11，就錯了 0.89。第 35 輪，分數是 0.86，只錯 0.14。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兩種錯加起來，就是第八週講過的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損失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，英文叫 loss，意思就是「錯得有多嚴重」。真正的公式比這個複雜，但意思一樣：位置愈準、分數愈對，損失就愈小。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請注意，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不是每一輪都進步。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 9 輪，框的位置還可以，分數卻突然掉到 0.01，好像忘了；到第 13 輪又回來。訓練就是這樣，忽好忽壞，整體往好的方向走。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17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讓大家知道對完答案以後，模型怎麼改：它裡面有兩百六十萬個參數，每一個都往讓損失變小的方向改一點點；以及「一批」和「一輪」是什麼意思。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對完答案，知道錯多少了，接下來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改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第八週的動畫：大霧裡下山，只摸得到腳下往哪邊斜，就往下坡走一小步。那個例子，模型裡只有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一個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數字要改，就是門檻。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今天這個模型，裡面有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2,604,883 個數字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，叫做參數。電腦會算出每一個數字「往大一點還是往小一點，損失會變小」，然後每一個都往那個方向改一點點。兩百六十萬個數字一起走下坡，道理跟第八週那顆球一樣，只是一次走兩百六十萬個方向。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再講兩個名詞。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一批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：電腦一次看 4 張照片，算一次錯多少。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一輪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：30 張照片全部看過一遍，英文叫 epoch。30 張、一批 4 張，所以一輪是 8 批。今天練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50 輪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，等於這 30 張照片，每一張都看了 50 次，而且每一次都經過資料增強，樣子都不太一樣。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18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讓大家看到，同一個模型，訓練的條件不一樣，結果差很多；照片的數量和照片縮到多大，都會影響模型學得好不好。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我用同樣的 17 張測試照片，比較了幾種訓練條件。照片裡一共 90 個三角錐。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第一列，原版模型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：沒教過，90 個框到 0 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第二列，只用 5 張照片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練：框對 32 個，可是多框了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587 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 張照片，它只學到「橘色的東西大概是」，所以看到橘色就框。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第三列，30 張照片，但是照片縮到 640 寬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：只框對 34 個。為什麼這麼差？因為三角錐很小。原本照片上，遠處的三角錐只有十幾個像素高，縮到 640，就只剩 5 個像素左右，連人都很難看出那是三角錐。第八週也講過：行人在 45 公尺外，縮到 640 以後只剩 19 個像素，就容易漏。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第四列，30 張照片，縮到 1280 寬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：框對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 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，多框 72 個。這就是前面一直在看的那個模型。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所以兩個結論：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照片多一點有用；照片不要縮得太小，小東西才看得到。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代價是時間：縮到 1280，練一次要 160 秒，比 640 多了快一倍。在一台 MacBook 上這還算快；真正的公司用幾百萬張照片，就要很多台電腦算好幾天。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19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 NMS 怎麼刪掉重複的框：同一個東西被框了很多次的時候，只留分數最高的那一個，跟它重疊太多的都刪掉。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把這一節第二張推論動畫裡的一個三角錐放大。這一個三角錐，分數 0.25 以上的框就有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 個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。為什麼？因為好幾個格子、好幾層都覺得「這裡有三角錐」，每一個都猜了一個框。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如果 10 個框全部留下來，自駕車會以為那裡有 10 個三角錐。所以要刪掉重複的，做法很簡單。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，找分數最高的：0.96，留下來，變成綠色。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，其他的框，一個一個跟 0.96 那個比 IoU，也就是重疊多少。重疊超過 0.7，代表框的是同一個東西，刪掉。這 9 個的 IoU 都在 0.82 到 0.98 之間，全部刪掉。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第三步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，剩下沒被刪的框裡，再找分數最高的，重複一樣的事。這個例子已經沒有了，剩 1 個。
</a:t>
            </a:r>
          </a:p>
          <a:p>
            <a:pPr algn="l">
              <a:spcBef>
                <a:spcPts val="0"/>
              </a:spcBef>
              <a:spcAft>
                <a:spcPts val="250"/>
              </a:spcAft>
            </a:pP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這個方法英文叫 </a:t>
            </a:r>
            <a:r>
              <a:rPr sz="15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NMS</a:t>
            </a:r>
            <a:r>
              <a:rPr sz="15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，Non-Maximum Suppression，意思是「不是最大的，就壓下去」。不過它也會出錯：兩個三角錐靠得很近，框重疊超過 0.7，就可能被當成同一個刪掉一個；同一個三角錐的兩個框，大小差很多、重疊不到 0.7，就兩個都留下來，變成多框。這一節第三張就有這種例子。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20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讓大家知道推論的速度為什麼重要：車上的相機一秒拍很多張，模型一定要在下一張進來之前算完；以及一個簡單的估算。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推論不只要準，還要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快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在我的 MacBook 上，一張照片大約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0.01 秒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，精確一點是 0.0115 秒。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可是車上不是一張照片。第七週看過的 nuScenes，那台車上有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 顆相機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，每一顆一秒拍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 張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。一秒就是 72 張照片。72 乘以 0.0115 秒，大約 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0.83 秒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。也就是說，一台 MacBook 全力跑，一秒鐘剛好跑得完這一秒拍的照片。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聽起來好像夠了。可是請看底下那一行：這只是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三角錐一樣東西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車上還要找車、找人、找車道線、看紅綠燈，第八週講過的分割、立體框，每一樣都要算。而且車子不能「剛好跟得上」，要留時間給後面的預測和規劃。這就是為什麼第十五週會講到車載運算平台：真的自駕車上，有專門為這件事設計的晶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1620000" y="380000"/>
            <a:ext cx="4320000" cy="2430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2990000"/>
            <a:ext cx="6480000" cy="706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這一張的目的：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讓大家把第五張動畫裡的數字整理成一張表，看清楚門檻每往上調一點，多框和漏掉各怎麼變。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把這一節第五張動畫裡的數字整理成表。每一列都是同樣的 17 張照片、90 個三角錐，只有門檻不一樣。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看多框那一欄：門檻 0.05 是 206 個，0.25 是 72 個，0.7 只剩 21 個。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門檻愈高，多框愈少。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再看漏掉那一欄：門檻 0.05 只漏 7 個，0.25 漏 10 個，0.7 漏 41 個，0.9 漏 81 個。</a:t>
            </a:r>
            <a:r>
              <a:rPr sz="16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門檻愈高，漏掉愈多。</a:t>
            </a: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精確度和召回率就是從這幾欄算出來的。例如門檻 0.25：框對 80，加上多框 72，一共框了 152 個；80 除以 152，精確度 53%。90 個三角錐框對 80 個，召回率 89%。
</a:t>
            </a:r>
          </a:p>
          <a:p>
            <a:pPr algn="l">
              <a:spcBef>
                <a:spcPts val="0"/>
              </a:spcBef>
              <a:spcAft>
                <a:spcPts val="267"/>
              </a:spcAft>
            </a:pPr>
            <a:r>
              <a:rPr sz="16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請注意 0.25 和 0.5 這兩列：門檻從 0.25 調到 0.5，多框少了 30 個，漏掉只多了 6 個，好像很划算。可是 0.5 到 0.7，多框少 21 個，漏掉卻多了 25 個。門檻要放哪裡，就是在這種取捨裡選一個。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22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gif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gif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gif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gif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gif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gif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gif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10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1002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Suy luận và chấm điểm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推論與打分數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71552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291600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Từ 19.320 lần đoán còn vài khung; đúng, thừa, sót; chọn ngưỡng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從 19,320 個猜測到幾個框；框對、多框、漏掉；門檻放哪裡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第十週 第 2 節　2026/11/12（四）10:10–11:00　CH Tseng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1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6 · 第六步：推論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Suy luận: 19.320 lần đoán → ngưỡng → bỏ trùng → còn 16 khung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推論：19,320 個猜測 → 門檻 → 刪重複 → 剩 16 個框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infe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scene-0655 #34（測試照片，訓練時沒看過）· 模型：第 35 輪 · 第 3 步的框愈淡、分數愈低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7 · 第七步：評估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Chấm điểm: đúng, thừa, sót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打分數：框對、多框、漏掉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tpfpfn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scene-0655 #34 · 白色虛線＝標準答案 · 框對＝和答案的 IoU ≥ 0.5 · 一個答案只能配一個框，分數高的先配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con số · 兩個分數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3000000">
            <a:off x="753466" y="2727107"/>
            <a:ext cx="323332" cy="123627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5" name="Shape 3"/>
          <p:cNvSpPr/>
          <p:nvPr/>
        </p:nvSpPr>
        <p:spPr>
          <a:xfrm rot="-2520000">
            <a:off x="943661" y="2612989"/>
            <a:ext cx="589605" cy="123627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609344" y="2487168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＋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 rot="2700000">
            <a:off x="1960474" y="2622499"/>
            <a:ext cx="760781" cy="104607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8" name="Shape 6"/>
          <p:cNvSpPr/>
          <p:nvPr/>
        </p:nvSpPr>
        <p:spPr>
          <a:xfrm rot="-2700000">
            <a:off x="1960474" y="2622499"/>
            <a:ext cx="760781" cy="104607"/>
          </a:xfrm>
          <a:prstGeom prst="rect">
            <a:avLst/>
          </a:prstGeom>
          <a:solidFill>
            <a:srgbClr val="0B1F3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429000" y="914400"/>
            <a:ext cx="52120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xác: khoanh ra có đáng tin không? Độ bao phủ: có sót không?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精確度：框出來的可不可信？召回率：有沒有漏掉？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 (precision) = đúng ÷ số khung đã khoanh = 7 ÷ 16 ≈ 44%. Độ bao phủ (recall) = đúng ÷ số cọc tiêu thật = 7 ÷ 8 ≈ 88%.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精確度（precision）＝框對 ÷ 框了幾個＝7 ÷ 16 ≈ 44%。召回率（recall）＝框對 ÷ 真的有幾個＝7 ÷ 8 ≈ 88%。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6940074" y="365760"/>
            <a:ext cx="1701006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68090" y="384048"/>
            <a:ext cx="1518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giăng lưới bắt cá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撒網捕魚</a:t>
            </a:r>
            <a:endParaRPr lang="en-US" sz="950" dirty="0"/>
          </a:p>
        </p:txBody>
      </p:sp>
      <p:pic>
        <p:nvPicPr>
          <p:cNvPr id="13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22</a:t>
            </a:r>
            <a:endParaRPr lang="en-US" sz="900" dirty="0"/>
          </a:p>
        </p:txBody>
      </p:sp>
      <p:sp>
        <p:nvSpPr>
          <p:cNvPr id="15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ngưỡng · 拉門檻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Kéo ngưỡng: một con số tăng thì con số kia giảm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拉門檻：一個分數變高，另一個就變低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thr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左：scene-0655 #34 · 右：17 張測試照片（90 個三角錐）合計 · 門檻每次動 0.05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tự lái chọn bên nào · 自駕車選哪邊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96407" y="2289658"/>
            <a:ext cx="874898" cy="760781"/>
          </a:xfrm>
          <a:prstGeom prst="triangle">
            <a:avLst/>
          </a:prstGeom>
          <a:solidFill>
            <a:srgbClr val="0B1F3A"/>
          </a:solidFill>
          <a:ln/>
        </p:spPr>
      </p:sp>
      <p:sp>
        <p:nvSpPr>
          <p:cNvPr id="5" name="Shape 3"/>
          <p:cNvSpPr/>
          <p:nvPr/>
        </p:nvSpPr>
        <p:spPr>
          <a:xfrm>
            <a:off x="1095817" y="2555931"/>
            <a:ext cx="76078" cy="2472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1086307" y="2860243"/>
            <a:ext cx="95098" cy="950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609344" y="2487168"/>
            <a:ext cx="256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＋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903415" y="2612989"/>
            <a:ext cx="874898" cy="266273"/>
          </a:xfrm>
          <a:prstGeom prst="roundRect">
            <a:avLst>
              <a:gd name="adj" fmla="val 103022"/>
            </a:avLst>
          </a:prstGeom>
          <a:solidFill>
            <a:srgbClr val="0B1F3A"/>
          </a:solidFill>
          <a:ln/>
        </p:spPr>
      </p:sp>
      <p:sp>
        <p:nvSpPr>
          <p:cNvPr id="9" name="Shape 7"/>
          <p:cNvSpPr/>
          <p:nvPr/>
        </p:nvSpPr>
        <p:spPr>
          <a:xfrm>
            <a:off x="2093610" y="2422794"/>
            <a:ext cx="475488" cy="209215"/>
          </a:xfrm>
          <a:prstGeom prst="trapezoid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017532" y="2822204"/>
            <a:ext cx="190195" cy="190195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1" name="Shape 9"/>
          <p:cNvSpPr/>
          <p:nvPr/>
        </p:nvSpPr>
        <p:spPr>
          <a:xfrm>
            <a:off x="2474001" y="2822204"/>
            <a:ext cx="190195" cy="190195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2" name="Shape 10"/>
          <p:cNvSpPr/>
          <p:nvPr/>
        </p:nvSpPr>
        <p:spPr>
          <a:xfrm>
            <a:off x="2065081" y="2869753"/>
            <a:ext cx="95098" cy="950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2521549" y="2869753"/>
            <a:ext cx="95098" cy="9509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3429000" y="914400"/>
            <a:ext cx="52120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Sót nguy hiểm hơn thừa — nhưng thừa quá nhiều cũng nguy hiểm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漏掉比多框危險，可是多框太多也危險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Khoanh thừa: xe phanh thêm một lần. Bỏ sót: xe đâm vào. Nhưng nếu thừa quá nhiều, xe phanh liên tục, xe phía sau có thể đâm vào mình.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多框：車子多煞一次。漏掉：車子撞上去。可是多框太多，車子一直亂煞，後面的車可能追撞。</a:t>
            </a:r>
            <a:endParaRPr lang="en-US" sz="2300" dirty="0"/>
          </a:p>
        </p:txBody>
      </p:sp>
      <p:sp>
        <p:nvSpPr>
          <p:cNvPr id="15" name="Shape 13"/>
          <p:cNvSpPr/>
          <p:nvPr/>
        </p:nvSpPr>
        <p:spPr>
          <a:xfrm>
            <a:off x="7054209" y="365760"/>
            <a:ext cx="1586871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182225" y="384048"/>
            <a:ext cx="140399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chuông báo cháy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火災警報器</a:t>
            </a:r>
            <a:endParaRPr lang="en-US" sz="950" dirty="0"/>
          </a:p>
        </p:txBody>
      </p:sp>
      <p:pic>
        <p:nvPicPr>
          <p:cNvPr id="18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22</a:t>
            </a:r>
            <a:endParaRPr lang="en-US" sz="900" dirty="0"/>
          </a:p>
        </p:txBody>
      </p:sp>
      <p:sp>
        <p:nvSpPr>
          <p:cNvPr id="20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ở đâu · 錯在哪裡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 khung «thừa» thật ra có cọc tiêu: đáp án cũng sót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52 個「多框」其實真的有三角錐：答案也會漏標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44277" y="1371600"/>
            <a:ext cx="7855446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erro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565" y="1389888"/>
            <a:ext cx="7818870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門檻 0.25 · 17 張測試照片 · 上：漏掉的 10 個全部 · 中、下：多框的，各挑分數最高的 10 個 · 中間那一排的 52 個我一個一個看過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lỗi → bổ sung → huấn luyện lại → kiểm tra lại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找出錯的 → 補資料 → 再訓練 → 再考一次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117957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7957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3093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Tìm lỗi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找出錯的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3093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Cọc tiêu ở mép ảnh bị sót; đáp án sót 52 cái.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照片邊邊的三角錐漏掉；答案漏標 52 個。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233172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260604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8269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28269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73405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Bổ sung, sửa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補資料、修答案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73405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Thêm ảnh thành phố khác, ban đêm, trời mưa. Sửa đáp án bị sót.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補其他城市、晚上、下雨的照片。把漏標的答案補上。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443484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470916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385816" y="1316736"/>
            <a:ext cx="475488" cy="475488"/>
          </a:xfrm>
          <a:prstGeom prst="ellipse">
            <a:avLst/>
          </a:prstGeom>
          <a:solidFill>
            <a:srgbClr val="0B1F3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38581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483717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Huấn luyện lại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再訓練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83717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Bắt đầu lại từ mô hình đã học, chọn vòng tốt nhất bằng thi thử.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一樣從練好的模型開始，用模擬考挑最好的一輪。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537960" y="2048256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0A896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→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6812280" y="1133856"/>
            <a:ext cx="1828800" cy="27249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488936" y="1316736"/>
            <a:ext cx="475488" cy="47548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488936" y="1417320"/>
            <a:ext cx="475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940296" y="1883664"/>
            <a:ext cx="15727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6000"/>
              </a:lnSpc>
              <a:buNone/>
            </a:pPr>
            <a:r>
              <a:rPr lang="en-US" sz="14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Kiểm tra lại</a:t>
            </a:r>
            <a:endParaRPr lang="en-US" sz="1400" dirty="0"/>
          </a:p>
          <a:p>
            <a:pPr algn="ctr" indent="0" marL="0">
              <a:lnSpc>
                <a:spcPct val="116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再考一次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940296" y="2578608"/>
            <a:ext cx="1572768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6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ảnh mô hình chưa từng thấy. Lại tìm lỗi mới.</a:t>
            </a:r>
            <a:endParaRPr lang="en-US" sz="1050" dirty="0"/>
          </a:p>
          <a:p>
            <a:pPr algn="ctr" indent="0" marL="0">
              <a:lnSpc>
                <a:spcPct val="126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用模型沒看過的照片考。再找新的錯。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02920" y="400507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Các công ty xe tự lái lặp vòng này hàng trăm lần — gọi là «data engine».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自駕車公司把這個循環跑幾百次，叫做「資料引擎」（data engine）。</a:t>
            </a:r>
            <a:endParaRPr lang="en-US" sz="1250" dirty="0"/>
          </a:p>
        </p:txBody>
      </p:sp>
      <p:pic>
        <p:nvPicPr>
          <p:cNvPr id="28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22</a:t>
            </a:r>
            <a:endParaRPr lang="en-US" sz="900" dirty="0"/>
          </a:p>
        </p:txBody>
      </p:sp>
      <p:sp>
        <p:nvSpPr>
          <p:cNvPr id="30" name="Text 2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lại xe và người bằng ít ảnh thì sao?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車和行人原本就會：用少量照片再教一次，會怎樣？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463040"/>
                <a:gridCol w="164592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(19)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車（19）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đi bộ (30)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行人（30）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Xe hai bánh (4)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兩輪（4）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hình gốc COCO, không dạy thêm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原版 COCO 模型，不再教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ảnh, học từ số 0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張，從零開始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ảnh, tinh chỉnh từ COCO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張，從 COCO 微調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 ảnh, tinh chỉnh từ COCO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282 張，從 COCO 微調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39171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Dạy lại thứ đã biết bằng ít ảnh: mô hình quên người đi bộ. Tự huấn luyện đáng nhất khi dạy thứ mới.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用很少的照片重教已經會的東西，反而把行人忘了。自己訓練最值得的，是教它原本不會的東西。</a:t>
            </a:r>
            <a:endParaRPr lang="en-US" sz="1200" dirty="0"/>
          </a:p>
        </p:txBody>
      </p:sp>
      <p:pic>
        <p:nvPicPr>
          <p:cNvPr id="6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Thảo luận · 討論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đường Hà Nội, Đài Loan: sai ở đâu, cần bổ sung gì?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拿到河內、台灣的路上：會錯在哪？要補什麼？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Nó chỉ học 30 ảnh ban ngày ở Singapore. Ban đêm, trời mưa, bị xe máy che thì sao?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它只學過新加坡白天的 30 張。晚上、下雨、被機車擋住呢？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thứ gì màu cam khác mà nó có thể nhầm là cọc tiêu?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路上有沒有其他橘色的東西，它可能會當成三角錐？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Muốn nó nhận ra «xe ba gác»: cần bao nhiêu ảnh, chụp ở đâu, chia nhóm thế nào?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要它認得三輪貨車（xe ba gác）：要幾張照片、在哪裡拍、怎麼分組？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22</a:t>
            </a:r>
            <a:endParaRPr lang="en-US" sz="900" dirty="0"/>
          </a:p>
        </p:txBody>
      </p:sp>
      <p:sp>
        <p:nvSpPr>
          <p:cNvPr id="20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Tóm tắt · 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câu cần nhớ của tiết này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這一節要記住的三句話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51206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Suy luận: 19.320 lần đoán → ngưỡng → bỏ trùng → vài khung. So đáp án: đúng, thừa, sót.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推論：19,320 個猜測 → 門檻 → 刪重複 → 剩幾個框。跟答案比：框對、多框、漏掉。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487168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45059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Độ chính xác = đúng ÷ đã khoanh; độ bao phủ = đúng ÷ có thật. Ngưỡng cao lên thì thừa ít, sót nhiều.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精確度＝框對 ÷ 框了幾個；召回率＝框對 ÷ 真的有幾個。門檻愈高，多框愈少、漏掉愈多。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361049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324473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Điểm số chỉ tốt bằng đáp án. Xem từng lỗi, bổ sung đúng dữ liệu, huấn luyện lại — vòng lặp dữ liệu.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分數只跟答案一樣準。一個一個看錯在哪、補對的資料、再訓練，這就是資料引擎。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22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Phụ lục · 附錄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 tiết (không giảng trên lớp)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訓練與推論的細節（上課不講，備查）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con số · tăng cường · chia ô · loss · tham số · NMS · tốc độ · ngưỡng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五個數字・資料增強・切格子・損失・參數・三種條件・刪重複・速度・門檻表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22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con số · 五個數字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Năm con số: loại, tâm x, tâm y, rộng, cao — đều chia cho kích thước ảnh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五個數字：類別、中心 x、中心 y、寬、高，都除以照片的寬和高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fiv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scene-0061 #23 中間那個三角錐 · 照片原本 1600 × 900 像素 · 右上是放大，紅點是框的中心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Bước 4 · 第四步：資料增強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Tăng cường dữ liệu: một ảnh biến thành nhiều ảnh, khung đi theo ảnh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資料增強：一張照片變出很多張，框跟著照片一起變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aug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示意動畫：scene-0061 #21；「四張拼一張」另外用了三張訓練照片 · 真的訓練時這些變化是隨機、同時發生的（下一張）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Lúc huấn luyện thật · 真的訓練時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Lúc huấn luyện thật: ghép, lật, đổi màu — ngẫu nhiên, cùng lúc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真的訓練時：拼圖、翻轉、變色，隨機一起來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063240" y="1371600"/>
            <a:ext cx="3017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bat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81528" y="1389888"/>
            <a:ext cx="2980944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Ultralytics 訓練時自動存下的第一批（train_batch0.jpg）· 一批 4 張 · 藍框旁的 0＝三角錐 · 灰色是補上的空白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Mô hình đoán thế nào · 模型怎麼猜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Chia ảnh thành ô, ô nào cũng đoán: 19.320 lần cho một ảnh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把照片切成格子，每一格都猜：一張照片猜 19,320 次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grid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scene-0655 #27（測試照片）· 畫面上只畫最粗的一層（每格 32 像素）· 琥珀色的框是第 35 輪模型的結果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 · 對答案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đáp án: vị trí sai bao nhiêu, điểm sai bao nhiêu — cộng lại là «loss»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對答案：位置錯多少、分數錯多少，加起來就是「損失」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matc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scene-0061 #28（訓練照片）中間那個三角錐 · 每一輪取和答案重疊最多的那個框 · 「1 − IoU」「1 − 分數」是簡化的說法，實際公式比較複雜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tham số · 改參數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412748"/>
            <a:ext cx="2468880" cy="2514600"/>
          </a:xfrm>
          <a:prstGeom prst="roundRect">
            <a:avLst>
              <a:gd name="adj" fmla="val 4444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12164" y="2244852"/>
            <a:ext cx="850392" cy="850392"/>
          </a:xfrm>
          <a:prstGeom prst="roundRect">
            <a:avLst>
              <a:gd name="adj" fmla="val 12903"/>
            </a:avLst>
          </a:prstGeom>
          <a:solidFill>
            <a:srgbClr val="0B1F3A"/>
          </a:solidFill>
          <a:ln/>
        </p:spPr>
      </p:sp>
      <p:sp>
        <p:nvSpPr>
          <p:cNvPr id="5" name="Shape 3"/>
          <p:cNvSpPr/>
          <p:nvPr/>
        </p:nvSpPr>
        <p:spPr>
          <a:xfrm>
            <a:off x="1510589" y="2443277"/>
            <a:ext cx="453542" cy="453542"/>
          </a:xfrm>
          <a:prstGeom prst="roundRect">
            <a:avLst>
              <a:gd name="adj" fmla="val 20161"/>
            </a:avLst>
          </a:prstGeom>
          <a:solidFill>
            <a:srgbClr val="FFFFFF">
              <a:alpha val="75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1453896" y="2046427"/>
            <a:ext cx="113386" cy="198425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1453896" y="3095244"/>
            <a:ext cx="113386" cy="198425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1113739" y="2386584"/>
            <a:ext cx="198425" cy="113386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2162556" y="2386584"/>
            <a:ext cx="198425" cy="113386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680667" y="2046427"/>
            <a:ext cx="113386" cy="198425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1680667" y="3095244"/>
            <a:ext cx="113386" cy="198425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113739" y="2613355"/>
            <a:ext cx="198425" cy="113386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2162556" y="2613355"/>
            <a:ext cx="198425" cy="113386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1907438" y="2046427"/>
            <a:ext cx="113386" cy="198425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1907438" y="3095244"/>
            <a:ext cx="113386" cy="198425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1113739" y="2840126"/>
            <a:ext cx="198425" cy="113386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2162556" y="2840126"/>
            <a:ext cx="198425" cy="113386"/>
          </a:xfrm>
          <a:prstGeom prst="rect">
            <a:avLst/>
          </a:prstGeom>
          <a:solidFill>
            <a:srgbClr val="0B1F3A">
              <a:alpha val="70000"/>
            </a:srgbClr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429000" y="914400"/>
            <a:ext cx="5212080" cy="35112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Sửa tham số: 2,6 triệu con số, mỗi số sửa một chút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改參數：260 萬個數字，每一個都改一點點</a:t>
            </a:r>
            <a:endParaRPr lang="en-US" sz="2300" dirty="0"/>
          </a:p>
          <a:p>
            <a:pPr indent="0" marL="0">
              <a:lnSpc>
                <a:spcPct val="120000"/>
              </a:lnSpc>
              <a:spcBef>
                <a:spcPts val="1440"/>
              </a:spcBef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Giống tuần 8: tính hướng làm «sai» giảm, rồi đi một bước nhỏ. Mỗi lô 4 ảnh; xem hết 30 ảnh một lượt là một vòng (epoch). Hôm nay học 50 vòng.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跟第八週一樣：算出往哪邊改會錯得比較少，走一小步。一批 4 張；30 張全部看過一遍，叫一輪。今天練 50 輪。</a:t>
            </a:r>
            <a:endParaRPr lang="en-US" sz="2300" dirty="0"/>
          </a:p>
        </p:txBody>
      </p:sp>
      <p:sp>
        <p:nvSpPr>
          <p:cNvPr id="19" name="Shape 17"/>
          <p:cNvSpPr/>
          <p:nvPr/>
        </p:nvSpPr>
        <p:spPr>
          <a:xfrm>
            <a:off x="6540602" y="365760"/>
            <a:ext cx="2100478" cy="310896"/>
          </a:xfrm>
          <a:prstGeom prst="roundRect">
            <a:avLst>
              <a:gd name="adj" fmla="val 20588"/>
            </a:avLst>
          </a:prstGeom>
          <a:solidFill>
            <a:srgbClr val="EAF6F4"/>
          </a:solidFill>
          <a:ln w="9525">
            <a:solidFill>
              <a:srgbClr val="9FD6C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668618" y="384048"/>
            <a:ext cx="19175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 dụ · </a:t>
            </a:r>
            <a:pPr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xuống núi trong sương mù</a:t>
            </a:r>
            <a:endParaRPr lang="en-US" sz="9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900" b="1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例子・</a:t>
            </a:r>
            <a:pPr indent="0" marL="0">
              <a:lnSpc>
                <a:spcPct val="100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大霧裡下山</a:t>
            </a:r>
            <a:endParaRPr lang="en-US" sz="950" dirty="0"/>
          </a:p>
        </p:txBody>
      </p:sp>
      <p:pic>
        <p:nvPicPr>
          <p:cNvPr id="22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 / 22</a:t>
            </a:r>
            <a:endParaRPr lang="en-US" sz="900" dirty="0"/>
          </a:p>
        </p:txBody>
      </p:sp>
      <p:sp>
        <p:nvSpPr>
          <p:cNvPr id="24" name="Text 20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Thử ba cách huấn luyện, cùng 17 ảnh kiểm tra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三種訓練條件比一比：同樣 17 張測試照片、90 個三角錐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645920"/>
                <a:gridCol w="1463040"/>
                <a:gridCol w="14630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Cách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做法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Thời gian (MacBook)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訓練時間（MacBook）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Khoanh đúng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Khoanh thừa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Mô hình gốc COCO (chưa dạy cọc tiêu)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原版 COCO 模型（沒教過三角錐）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 / 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ảnh, thu nhỏ còn 1280 rộng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5 張照片，縮到 1280 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 giây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79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 / 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ảnh, thu nhỏ còn 640 rộng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張照片，縮到 640 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 giây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95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 / 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ảnh, thu nhỏ còn 1280 rộng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30 張照片，縮到 1280 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 giây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160 秒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 / 90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39171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Nhiều ảnh hơn thì tốt hơn. Ảnh thu nhỏ quá thì cọc tiêu ở xa chỉ còn vài điểm ảnh — không nhìn ra.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照片多一點有用。照片縮得太小，遠處的三角錐只剩幾個像素，根本看不出來。</a:t>
            </a:r>
            <a:endParaRPr lang="en-US" sz="1200" dirty="0"/>
          </a:p>
        </p:txBody>
      </p:sp>
      <p:pic>
        <p:nvPicPr>
          <p:cNvPr id="6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Bỏ trùng · 刪重複（NMS）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731520"/>
            <a:ext cx="8138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Bỏ trùng (NMS): giữ khung điểm cao nhất, xóa khung chồng quá nhiều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刪重複（NMS）：留分數最高的，重疊太多的刪掉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1020741" y="1371600"/>
            <a:ext cx="7102517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十週(11-12)/src/img/w10_nm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9029" y="1389888"/>
            <a:ext cx="7065941" cy="29809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4407408"/>
            <a:ext cx="8138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第 2 張那張照片裡一個單獨的三角錐，放大 · 和它重疊超過 0.3 的候選框 10 個（門檻 0.25 以上）· 重疊用 IoU 算</a:t>
            </a:r>
            <a:endParaRPr lang="en-US" sz="850" dirty="0"/>
          </a:p>
        </p:txBody>
      </p:sp>
      <p:pic>
        <p:nvPicPr>
          <p:cNvPr id="8" name="Image 1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22</a:t>
            </a:r>
            <a:endParaRPr lang="en-US" sz="900" dirty="0"/>
          </a:p>
        </p:txBody>
      </p:sp>
      <p:sp>
        <p:nvSpPr>
          <p:cNvPr id="10" name="Text 5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Suy luận nhanh cỡ nào? Có kịp cho xe chạy không?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推論有多快？跟得上車子嗎？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502920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667512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0,01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giây / ảnh (MacBook)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秒一張（MacBook）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1280 rộng, mô hình YOLO11n.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照片 1280 寬、YOLO11n。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92324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2756916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500" dirty="0"/>
          </a:p>
        </p:txBody>
      </p:sp>
      <p:sp>
        <p:nvSpPr>
          <p:cNvPr id="9" name="Text 7"/>
          <p:cNvSpPr txBox="1"/>
          <p:nvPr/>
        </p:nvSpPr>
        <p:spPr>
          <a:xfrm>
            <a:off x="2756916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/ giây, mỗi camera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張／秒，每顆相機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2756916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của nuScenes chụp 12 lần mỗi 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的相機一秒拍 12 張。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81728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846320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5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trên một xe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顆相機，一台車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 nuScenes: 6 × 12 = 72 ảnh mỗi giây.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nuScenes 的車：6 × 12＝一秒 72 張。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771132" y="1133856"/>
            <a:ext cx="1869948" cy="2670048"/>
          </a:xfrm>
          <a:prstGeom prst="roundRect">
            <a:avLst>
              <a:gd name="adj" fmla="val 4890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  <a:effectLst>
            <a:outerShdw sx="100000" sy="100000" kx="0" ky="0" algn="bl" rotWithShape="0" blurRad="76200" dist="12700" dir="5400000">
              <a:srgbClr val="9AAAB8">
                <a:alpha val="2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935724" y="1316736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0,83</a:t>
            </a:r>
            <a:endParaRPr lang="en-US" sz="2500" dirty="0"/>
          </a:p>
        </p:txBody>
      </p:sp>
      <p:sp>
        <p:nvSpPr>
          <p:cNvPr id="17" name="Text 15"/>
          <p:cNvSpPr txBox="1"/>
          <p:nvPr/>
        </p:nvSpPr>
        <p:spPr>
          <a:xfrm>
            <a:off x="6935724" y="1975104"/>
            <a:ext cx="154076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giây cho 72 ảnh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秒跑完 72 張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935724" y="2596896"/>
            <a:ext cx="15407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1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× 0,0115 giây. Vừa kịp.</a:t>
            </a:r>
            <a:endParaRPr lang="en-US" sz="110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72 × 0.0115 秒。剛好跟得上。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3950208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Đó mới chỉ là cọc tiêu. Còn xe, người, làn đường, đèn giao thông… nên xe thật cần chip riêng.</a:t>
            </a:r>
            <a:endParaRPr lang="en-US" sz="12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1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這還只是三角錐一樣東西。還有車、人、車道線、紅綠燈……所以真車上要有專用的晶片。</a:t>
            </a:r>
            <a:endParaRPr lang="en-US" sz="1250" dirty="0"/>
          </a:p>
        </p:txBody>
      </p:sp>
      <p:pic>
        <p:nvPicPr>
          <p:cNvPr id="21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22</a:t>
            </a:r>
            <a:endParaRPr lang="en-US" sz="900" dirty="0"/>
          </a:p>
        </p:txBody>
      </p:sp>
      <p:sp>
        <p:nvSpPr>
          <p:cNvPr id="23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Kết quả theo từng ngưỡng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每一個門檻的成績：17 張測試照片、90 個三角錐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97280"/>
                <a:gridCol w="1097280"/>
                <a:gridCol w="109728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Ngưỡng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門檻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Đúng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框對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Thừa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多框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Sót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漏掉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chính xác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精確度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Độ bao phủ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召回率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35166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Ngưỡng cao lên: thừa ít đi, sót nhiều lên.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門檻愈高：多框愈少，漏掉愈多。</a:t>
            </a:r>
            <a:endParaRPr lang="en-US" sz="1200" dirty="0"/>
          </a:p>
        </p:txBody>
      </p:sp>
      <p:pic>
        <p:nvPicPr>
          <p:cNvPr id="6" name="Image 0" descr="/Users/tsengchenghsun/Class/carClass/Claude outputs/第十週(11-12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22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2 · 第 2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2026-10-29T10:18:28Z</dcterms:created>
  <dcterms:modified xsi:type="dcterms:W3CDTF">2026-10-29T10:18:28Z</dcterms:modified>
</cp:coreProperties>
</file>