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/>
  <p:notesSz cx="7560000" cy="106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5" name="備忘稿版面配置區 4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7429581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這一節的目的：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讓大家知道什麼是追蹤：把每一張照片的偵測結果串起來，替每個東西編一個號碼；有了號碼，才算得出它往哪裡走、走多快；以及追蹤在什麼情況下會出錯。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前兩節，我們教出一個會認三角錐的模型，也替它打了分數。可是到目前為止，模型都是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一張照片一張照片地看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車上的相機不是拍一張就好，一秒鐘拍十幾張。這一節要回答一個問題：車子怎麼知道，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這一張裡的這個行人，就是上一張的那一個？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這件事叫做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追蹤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今天的例子全部是同一段真實影片：波士頓的一個路口，nuScenes 的車停在斑馬線前面，很多行人從左邊走到右邊。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讓大家分清楚偵測和追蹤的差別：偵測是每一張照片各自找出東西；追蹤是把不同照片裡的同一個東西連起來，給它一個不變的號碼。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先想一個生活的例子。週末晚上，你跟朋友去逛夜市，人很多。你每看一眼，都看到很多人，這就是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偵測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：「這裡有人、那裡有人」。可是你要跟著朋友走，就要知道這麼多人裡面，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哪一個是你的朋友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。你記得他穿紅色的衣服、剛才在你左前方，所以下一眼，你就往左前方找穿紅衣服的人。這就是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追蹤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車子也一樣。偵測只告訴車子：「這一張照片裡，這裡有一個人。」追蹤要再回答：「這個人，是不是上一張那個人？」如果是，就給他同一個號碼。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為什麼一定要知道？請想一個行人站在路邊。只看一張照片，你不知道他是站著等，還是正要走到馬路上。要看好幾張，知道同一個人從哪裡走到哪裡，才知道他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往哪個方向走、走多快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。車子要不要減速，就靠這個判斷。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讓大家看到追蹤真正的樣子：一段真實影片裡，每個行人都有一個號碼，人一直走，號碼一直跟著他。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這是 nuScenes 的一段真實影片，波士頓的一個路口。這台車停在斑馬線前面，整段 20 秒都沒有動，很多行人從左邊走過斑馬線到右邊。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每一個框，都是第一節那個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原版模型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框出來的；它本來就認得人。框旁邊的號碼，是我寫的一個簡單的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配對程式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給的，下一張會看它怎麼配。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請盯著一個人看，例如中間那位拉著紅色推車的女士。她一路從左邊走到右邊，號碼一直是同一個。她腳底那條線，是她最近兩秒走過的路。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看右邊：相機一秒拍大約 12 張，動畫裡每 4 張放 1 張。這 10 秒裡，程式一共給過 18 個行人號碼。影片裡真正的人沒有那麼多，有一些號碼是同一個人「換了號碼」，這一節第六張會看到為什麼。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讓大家知道最簡單的追蹤怎麼做：先猜每個人這一張會在哪裡，再跟這一張偵測到的框比重疊，重疊最多的就配在一起；配不到的，就給新號碼。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這兩張照片只差 0.1 秒。看右邊五個步驟。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第一步，上一張。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每個人都已經有號碼：57、49、45。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第二步，猜。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每個人這一張會走到哪裡？最簡單的猜法：他剛才怎麼走，現在就照同樣的方向、同樣的速度再走一步。虛線就是猜的位置。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第三步，看。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模型在這一張照片上，重新框出所有的人，白色的框。這時候框還沒有號碼。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第四步，配對。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拿猜的框跟新的框比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重疊多少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，就是第二節學過的 IoU。重疊最多的配在一起：57 號是 0.94，45 號是 0.86，49 號是 0.80。重疊不到 0.3，就不配。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第五步，號碼傳下去。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配到的，新框就拿到舊號碼。左邊邊緣剛走進來一個人，他沒有配到任何人，就給他一個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新號碼，73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每一張照片都重複這五步，一秒鐘做 12 次。真正的系統，猜的方法會更準，第十二週會講到的卡曼濾波，就是一種把「猜的」和「看到的」合起來的方法。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讓大家知道追蹤為什麼重要：同一個東西有了固定的號碼，才能拿它不同時間的位置相減，算出它的速度；而且要用地上真正的公尺來算。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這是同一個路口的鳥瞰圖，從上往下看。下面那個綠色長方形是自己的車，停著。灰色的點是光達。每一個點，是同一個號碼每 0.5 秒的位置。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橘色是一個行人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，正在走斑馬線。2 秒走了 3.4 公尺。3.4 除以 2，每秒 1.7 公尺，大約時速 6 公里，就是一般人走路的速度。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藍色是一台車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，在前面的路口橫著開過去。同樣 2 秒，它走了 20.7 公尺，每秒 10.4 公尺，大約時速 37 公里。所以車的點拉得很開，行人的點很密。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為什麼要看 2 秒，不只看 0.5 秒？因為每一次的位置都有一點點誤差。這個行人如果只看最後 0.5 秒，算出來是每秒 1.9 公尺，偏快了。時間拉長一點，誤差就被平均掉。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還有一點：速度要用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地上的公尺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來算。照片上近的東西大、遠的東西小，一個像素在近處和遠處代表的距離不一樣，不能直接換算。這也是為什麼要有光達、要畫鳥瞰圖。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5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讓大家看到追蹤真的會出錯：人被擋住，或同一個人被框了兩次，號碼就會換掉；號碼一換，系統就忘了這個人剛才是怎麼走的。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這兩排都是同一段影片裡真的發生的錯誤，我一張一張看過。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上面一排，被擋住。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綠色 54 號，是走在拉推車那位女士後面的一位男士。第二格，他被走在前面的人整個擋住，模型框不到他。第三格，過了大約 0.2 秒，他又露出來了，模型也框到了。可是程式猜他會在的位置，跟他真正出現的位置，只重疊 0.19，不到 0.3，程式就當他是一個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新的人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，給了新號碼 61，紅色那個。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下面一排，同一個人被框兩次。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綠色 95 號是一位女士。第二格，模型在她身上框了兩個框，一個大、一個小，第二節講過的刪重複那一步沒有刪掉。多出來的那個框，拿到新號碼 117。第三格是下一張，117 配到她整個人的框，95 只配到上半身。第四格，95 已經沒了，從此她變成 117 號。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號碼換了，有什麼關係？系統會以為 54 號消失了，又出現一個剛走進來的 61 號。54 號剛才走過的路、他的速度，全部不見了，要從頭重新算。這在機車很多的地方最常發生：一台機車被另一台擋住，一下子又鑽出來，就可能變成另一個號碼。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6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讓大家知道真正的自駕車多半在鳥瞰圖上追蹤，因為鳥瞰圖上的距離是真的公尺，東西也不會互相擋住；也知道追蹤的標準答案是怎麼來的。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第八週講過鳥瞰圖：從上往下看，有兩個好處。第一，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不會互相擋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：照片上前面的人會擋住後面的人，從上面看，每個人各佔一塊地。第二，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距離不會變形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：一公尺就是一公尺。這兩個好處，剛好解決前兩張的兩個問題：被擋住，以及像素不能直接換成公尺。所以真正的自駕車，多半把相機、光達的結果放到鳥瞰圖上，再在鳥瞰圖上追蹤。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這張動畫用的是 nuScenes 的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官方標註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。nuScenes 請人在每一張關鍵畫面上，把每個人、每台車都標好，而且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同一個東西整段都用同一個號碼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。這就是追蹤的標準答案；研究的人拿自己的追蹤程式跟它比，看號碼換了幾次、漏了幾個。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看右邊的列表：號碼、是人還是車、時速。走斑馬線的行人，大約時速 4 到 6 公里；路口開過去的車，二、三十公里。灰色的框是停著的車，沒有在動。這 20 秒裡，前面這一塊一共出現 18 個號碼。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7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讓大家知道追蹤有一個限制：它只能跟著偵測框得到的東西；認不出來的東西，要靠第八週學過的佔據網格來處理。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追蹤是接在偵測後面的。偵測框得到，追蹤才有東西可以配對；偵測框不到，追蹤也沒辦法。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請回想第一節第四張：原版模型沒學過三角錐，14 個三角錐一個都沒框到。那它當然也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追不到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三角錐。路上掉了一箱貨、一個沒看過的路障，也是一樣。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所以要複習第八週的這張圖。左邊是鳥瞰圖，右邊是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佔據網格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：把地面切成一格一格，每格半公尺，每一格只問一件事：這裡有沒有東西。紅色是有東西，白色是空的，灰色是看不到、不知道。它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不用知道那是什麼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，認不出來的東西，一樣標紅色，車子一樣會避開。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真正的自駕車兩種都用：認得出來的人和車，用偵測加追蹤，知道它是什麼、往哪走、多快；認不出來的東西，至少佔據網格知道那裡不能開過去。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讓大家知道追蹤在整台自駕車裡的位置：它把偵測的結果整理成「每個東西在哪、往哪走、多快」，交給後面的預測和規劃使用。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把這一週和後面幾週串起來看。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第一步，偵測。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第八週和今天：每一張照片，哪裡有人、哪裡有車。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第二步，追蹤。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今天：每個東西一個號碼，知道它在哪裡、往哪個方向走、走多快。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第三步，預測。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第十三週會講：知道一個行人正以每秒 1.7 公尺的速度走向馬路，那接下來 3 秒，他會走到哪裡？沒有追蹤，就沒有這些數字，預測就沒辦法做。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第四步，規劃。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也是第十三週：根據預測，車子要停下來、要讓他先過，還是可以繼續走。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最底下那一行：第十二週講定位的時候，會講到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卡曼濾波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。今天配對時「先猜、再看」，卡曼濾波就是把猜的和看到的合起來、算得更準的方法。車子估計自己在哪裡用它，估計別人在哪裡也用它。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9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讓大家把今天學到的追蹤，放到自己熟悉的越南、台灣路況裡，想一想它最容易在哪裡出錯，以及出錯以後會影響到什麼。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今天的例子是波士頓，行人走得慢、彼此離得也遠。換成河內的機車潮呢？請大家想三個問題。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第一題，靠得很近、互相擋住。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第六張上面那一排的情況，而且會一直發生。一台機車被旁邊的機車擋住一下，再出現時，猜的位置對不上，就給了新號碼。更麻煩的是兩台機車並排、框疊在一起，可能被當成同一台，或者兩台的號碼互換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第二題，突然鑽出來、突然轉彎。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的程式用最簡單的猜法：剛才怎麼走，現在就照樣走。機車常常突然加速、突然切到旁邊的車道，猜的位置就會偏很多，配不上，或者配錯人。所以真正的系統要有更好的猜法，還要搭配光達、雷達看到的距離和速度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第三題，號碼換掉的影響。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號碼一換，系統就忘了這台機車剛才是怎麼騎的，速度要從頭算。剛出現的新號碼還沒有速度，預測就猜不準。結果可能是兩種：車子以為「突然冒出一台新的機車」而急煞；或者沒算出它正在切過來，煞車慢了一步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所以在機車多的地方，追蹤做得好不好，直接影響安全。這也是為什麼越南、台灣的路況，對自駕車特別難。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這一節的目的回顧：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三句話。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第一句：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偵測是一張一張看，追蹤是替每個東西編號碼。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做法是先猜它這一張會在哪裡，再跟這一張偵測到的框比重疊，重疊最多的配在一起；配不到的，給新號碼。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第二句：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有了號碼，才算得出速度。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同一個號碼走了多遠，除以時間。距離要用鳥瞰圖上真正的公尺，時間拉長一點，算出來比較穩。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第三句：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追蹤會出錯。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被擋住、同一個人被框兩次，號碼就換掉，前面走過的路就不見了。偵測認不出來的東西，追蹤也追不到，要靠佔據網格。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今天三節，從標註、訓練，到推論、打分數，再到追蹤，感知這一章就講完了。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下週十一月十九日是校慶，停課一次。再下一週，十一月二十六日，第十二週，我們進到第五章：車子怎麼知道自己在哪裡，定位與高精地圖。今天提到的卡曼濾波，到時候會再講。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11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gif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gif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gif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1575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59000" y="-1366875"/>
            <a:ext cx="4191750" cy="419175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25875" y="2095875"/>
            <a:ext cx="2369250" cy="236925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16938" y="1202850"/>
            <a:ext cx="6925500" cy="27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 · Nguyên lý xe tự lái · Tuần 10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16938" y="1567350"/>
            <a:ext cx="7472250" cy="15199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33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Theo dõi: từ một ảnh đến một đoạn video</a:t>
            </a:r>
            <a:endParaRPr lang="en-US" sz="339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890" dirty="0">
                <a:solidFill>
                  <a:srgbClr val="C8D6E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追蹤：從一張照片到一段影片</a:t>
            </a:r>
            <a:endParaRPr lang="en-US" sz="3390" dirty="0"/>
          </a:p>
        </p:txBody>
      </p:sp>
      <p:sp>
        <p:nvSpPr>
          <p:cNvPr id="6" name="Shape 4"/>
          <p:cNvSpPr/>
          <p:nvPr/>
        </p:nvSpPr>
        <p:spPr>
          <a:xfrm>
            <a:off x="516938" y="3233138"/>
            <a:ext cx="1366875" cy="41006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16938" y="3433613"/>
            <a:ext cx="7107750" cy="6104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C8D6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Mỗi vật một số · ghép từng ảnh · tính tốc độ · khi nào bị sai</a:t>
            </a:r>
            <a:endParaRPr lang="en-US" sz="14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每個東西一個號碼・一張一張配對・算速度・什麼時候會錯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516938" y="4355775"/>
            <a:ext cx="6925500" cy="27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第十週 第 3 節　2026/11/12（四）11:10–12:00　CH Tseng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71138" y="309825"/>
            <a:ext cx="2205225" cy="747225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/>
        </p:spPr>
      </p:sp>
      <p:pic>
        <p:nvPicPr>
          <p:cNvPr id="11" name="Image 0" descr="/Users/tsengchenghsun/Class/carClass/Claude outputs/第十週(11-12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75488"/>
            <a:ext cx="1920240" cy="42426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Phát hiện và theo dõi · 偵測和追蹤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412748"/>
            <a:ext cx="2468880" cy="2514600"/>
          </a:xfrm>
          <a:prstGeom prst="roundRect">
            <a:avLst>
              <a:gd name="adj" fmla="val 444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15427" y="2460833"/>
            <a:ext cx="836859" cy="475488"/>
          </a:xfrm>
          <a:prstGeom prst="roundRect">
            <a:avLst>
              <a:gd name="adj" fmla="val 26923"/>
            </a:avLst>
          </a:prstGeom>
          <a:solidFill>
            <a:srgbClr val="0B1F3A"/>
          </a:solidFill>
          <a:ln/>
        </p:spPr>
      </p:sp>
      <p:sp>
        <p:nvSpPr>
          <p:cNvPr id="5" name="Shape 3"/>
          <p:cNvSpPr/>
          <p:nvPr/>
        </p:nvSpPr>
        <p:spPr>
          <a:xfrm>
            <a:off x="905622" y="2365736"/>
            <a:ext cx="247254" cy="114117"/>
          </a:xfrm>
          <a:prstGeom prst="roundRect">
            <a:avLst>
              <a:gd name="adj" fmla="val 240385"/>
            </a:avLst>
          </a:prstGeom>
          <a:solidFill>
            <a:srgbClr val="0B1F3A"/>
          </a:solidFill>
          <a:ln/>
        </p:spPr>
      </p:sp>
      <p:sp>
        <p:nvSpPr>
          <p:cNvPr id="6" name="Shape 4"/>
          <p:cNvSpPr/>
          <p:nvPr/>
        </p:nvSpPr>
        <p:spPr>
          <a:xfrm>
            <a:off x="981700" y="2536911"/>
            <a:ext cx="304312" cy="304312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7" name="Shape 5"/>
          <p:cNvSpPr/>
          <p:nvPr/>
        </p:nvSpPr>
        <p:spPr>
          <a:xfrm>
            <a:off x="1048268" y="2603480"/>
            <a:ext cx="171176" cy="171176"/>
          </a:xfrm>
          <a:prstGeom prst="ellipse">
            <a:avLst/>
          </a:prstGeom>
          <a:solidFill>
            <a:srgbClr val="0B1F3A">
              <a:alpha val="70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362090" y="2517892"/>
            <a:ext cx="95098" cy="95098"/>
          </a:xfrm>
          <a:prstGeom prst="ellipse">
            <a:avLst/>
          </a:prstGeom>
          <a:solidFill>
            <a:srgbClr val="FFFFFF">
              <a:alpha val="60000"/>
            </a:srgbClr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609344" y="2487168"/>
            <a:ext cx="256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2245766" y="2213580"/>
            <a:ext cx="190195" cy="190195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11" name="Shape 9"/>
          <p:cNvSpPr/>
          <p:nvPr/>
        </p:nvSpPr>
        <p:spPr>
          <a:xfrm>
            <a:off x="2188708" y="2422794"/>
            <a:ext cx="304312" cy="342351"/>
          </a:xfrm>
          <a:prstGeom prst="roundRect">
            <a:avLst>
              <a:gd name="adj" fmla="val 84135"/>
            </a:avLst>
          </a:prstGeom>
          <a:solidFill>
            <a:srgbClr val="0B1F3A"/>
          </a:solidFill>
          <a:ln/>
        </p:spPr>
      </p:sp>
      <p:sp>
        <p:nvSpPr>
          <p:cNvPr id="12" name="Shape 10"/>
          <p:cNvSpPr/>
          <p:nvPr/>
        </p:nvSpPr>
        <p:spPr>
          <a:xfrm rot="960000">
            <a:off x="2136404" y="2451324"/>
            <a:ext cx="76078" cy="247254"/>
          </a:xfrm>
          <a:prstGeom prst="rect">
            <a:avLst/>
          </a:prstGeom>
          <a:solidFill>
            <a:srgbClr val="0B1F3A"/>
          </a:solidFill>
          <a:ln/>
        </p:spPr>
      </p:sp>
      <p:sp>
        <p:nvSpPr>
          <p:cNvPr id="13" name="Shape 11"/>
          <p:cNvSpPr/>
          <p:nvPr/>
        </p:nvSpPr>
        <p:spPr>
          <a:xfrm rot="-960000">
            <a:off x="2469246" y="2451324"/>
            <a:ext cx="76078" cy="247254"/>
          </a:xfrm>
          <a:prstGeom prst="rect">
            <a:avLst/>
          </a:prstGeom>
          <a:solidFill>
            <a:srgbClr val="0B1F3A"/>
          </a:solidFill>
          <a:ln/>
        </p:spPr>
      </p:sp>
      <p:sp>
        <p:nvSpPr>
          <p:cNvPr id="14" name="Shape 12"/>
          <p:cNvSpPr/>
          <p:nvPr/>
        </p:nvSpPr>
        <p:spPr>
          <a:xfrm rot="300000">
            <a:off x="2241012" y="2717597"/>
            <a:ext cx="85588" cy="342351"/>
          </a:xfrm>
          <a:prstGeom prst="rect">
            <a:avLst/>
          </a:prstGeom>
          <a:solidFill>
            <a:srgbClr val="0B1F3A"/>
          </a:solidFill>
          <a:ln/>
        </p:spPr>
      </p:sp>
      <p:sp>
        <p:nvSpPr>
          <p:cNvPr id="15" name="Shape 13"/>
          <p:cNvSpPr/>
          <p:nvPr/>
        </p:nvSpPr>
        <p:spPr>
          <a:xfrm rot="-300000">
            <a:off x="2355129" y="2717597"/>
            <a:ext cx="85588" cy="342351"/>
          </a:xfrm>
          <a:prstGeom prst="rect">
            <a:avLst/>
          </a:prstGeom>
          <a:solidFill>
            <a:srgbClr val="0B1F3A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3429000" y="914400"/>
            <a:ext cx="5212080" cy="3511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Phát hiện: mỗi ảnh xem riêng. Theo dõi: mỗi vật một số, giữ suốt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偵測：一張一張分開看。追蹤：每個東西一個號碼，一直跟著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Phát hiện chỉ trả lời «ảnh này có người ở đâu». Theo dõi trả lời thêm «người này có phải người ở ảnh trước không». Cùng một người luôn giữ một số, mới biết người đó đi hướng nào, nhanh cỡ nào.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偵測只回答「這一張哪裡有人」。追蹤再回答「這個人，是不是上一張那一個」。同一個人一直用同一個號碼，才知道他往哪走、走多快。</a:t>
            </a:r>
            <a:endParaRPr lang="en-US" sz="2300" dirty="0"/>
          </a:p>
        </p:txBody>
      </p:sp>
      <p:sp>
        <p:nvSpPr>
          <p:cNvPr id="17" name="Shape 15"/>
          <p:cNvSpPr/>
          <p:nvPr/>
        </p:nvSpPr>
        <p:spPr>
          <a:xfrm>
            <a:off x="6426467" y="365760"/>
            <a:ext cx="2214613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554483" y="384048"/>
            <a:ext cx="20317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đi theo bạn trong đám đông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人群裡跟著朋友</a:t>
            </a:r>
            <a:endParaRPr lang="en-US" sz="950" dirty="0"/>
          </a:p>
        </p:txBody>
      </p:sp>
      <p:pic>
        <p:nvPicPr>
          <p:cNvPr id="20" name="Image 0" descr="/Users/tsengchenghsun/Class/carClass/Claude outputs/第十週(11-12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11</a:t>
            </a:r>
            <a:endParaRPr lang="en-US" sz="900" dirty="0"/>
          </a:p>
        </p:txBody>
      </p:sp>
      <p:sp>
        <p:nvSpPr>
          <p:cNvPr id="22" name="Text 18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Video thật · 真實影片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731520"/>
            <a:ext cx="8138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Video thật: mỗi người đi bộ một số, đi đến đâu số theo đến đó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真實影片：每個行人一個號碼，走到哪裡，號碼跟到哪裡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484632" y="1622274"/>
            <a:ext cx="8174736" cy="2516172"/>
          </a:xfrm>
          <a:prstGeom prst="rect">
            <a:avLst/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十週(11-12)/src/img/w10_trk_video.g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640562"/>
            <a:ext cx="8138160" cy="247959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02920" y="4407408"/>
            <a:ext cx="8138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scene-0553（波士頓路口，本車停著）第 96–216 張 · CC BY-NC-SA 4.0 · 框＝原版 COCO 模型 · 號碼＝簡單的配對程式 · 每秒 12 張，動畫每 4 張取 1 張</a:t>
            </a:r>
            <a:endParaRPr lang="en-US" sz="850" dirty="0"/>
          </a:p>
        </p:txBody>
      </p:sp>
      <p:pic>
        <p:nvPicPr>
          <p:cNvPr id="8" name="Image 1" descr="/Users/tsengchenghsun/Class/carClass/Claude outputs/第十週(11-12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11</a:t>
            </a:r>
            <a:endParaRPr lang="en-US" sz="900" dirty="0"/>
          </a:p>
        </p:txBody>
      </p:sp>
      <p:sp>
        <p:nvSpPr>
          <p:cNvPr id="10" name="Text 5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Ghép từng ảnh · 一張一張配對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731520"/>
            <a:ext cx="8138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Ghép: đoán trước người đó sẽ đến đâu, rồi tìm khung mới chồng nhiều nhất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配對：先猜他會走到哪，再找重疊最多的新框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1020741" y="1371600"/>
            <a:ext cx="7102517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十週(11-12)/src/img/w10_trk_match.g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9029" y="1389888"/>
            <a:ext cx="7065941" cy="298094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02920" y="4407408"/>
            <a:ext cx="8138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scene-0553 第 128 張 → 第 129 張（相差 0.1 秒）· 虛線＝程式猜的位置 · 數字＝猜的框和新框重疊多少（IoU），不到 0.3 不配</a:t>
            </a:r>
            <a:endParaRPr lang="en-US" sz="850" dirty="0"/>
          </a:p>
        </p:txBody>
      </p:sp>
      <p:pic>
        <p:nvPicPr>
          <p:cNvPr id="8" name="Image 1" descr="/Users/tsengchenghsun/Class/carClass/Claude outputs/第十週(11-12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11</a:t>
            </a:r>
            <a:endParaRPr lang="en-US" sz="900" dirty="0"/>
          </a:p>
        </p:txBody>
      </p:sp>
      <p:sp>
        <p:nvSpPr>
          <p:cNvPr id="10" name="Text 5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Tính tốc độ · 算速度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731520"/>
            <a:ext cx="8138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 số rồi mới tính được tốc độ: cùng một số, 2 giây đi bao xa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有了號碼，才算得出速度：同一個號碼，2 秒走多遠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1020741" y="1371600"/>
            <a:ext cx="7102517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十週(11-12)/src/img/w10_trk_speed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9029" y="1389888"/>
            <a:ext cx="7065941" cy="298094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02920" y="4407408"/>
            <a:ext cx="8138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鳥瞰圖：scene-0553 第 15 秒 · 位置＝nuScenes 官方標註（每 0.5 秒一次）· 灰點＝光達 · 綠色長方形＝自己的車（停著）</a:t>
            </a:r>
            <a:endParaRPr lang="en-US" sz="850" dirty="0"/>
          </a:p>
        </p:txBody>
      </p:sp>
      <p:pic>
        <p:nvPicPr>
          <p:cNvPr id="8" name="Image 1" descr="/Users/tsengchenghsun/Class/carClass/Claude outputs/第十週(11-12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11</a:t>
            </a:r>
            <a:endParaRPr lang="en-US" sz="900" dirty="0"/>
          </a:p>
        </p:txBody>
      </p:sp>
      <p:sp>
        <p:nvSpPr>
          <p:cNvPr id="10" name="Text 5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Theo dõi cũng sai · 追蹤也會錯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731520"/>
            <a:ext cx="8138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Theo dõi cũng sai: bị che, bị khoanh hai lần — thế là đổi số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追蹤也會錯：被擋住、被框兩次，號碼就換了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1093315" y="1371600"/>
            <a:ext cx="6957369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十週(11-12)/src/img/w10_trk_er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1603" y="1389888"/>
            <a:ext cx="6920793" cy="298094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02920" y="4407408"/>
            <a:ext cx="8138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scene-0553 · 綠＝原本的號碼、紅＝換成的新號碼、灰＝其他人 · 第 116 張那一格，54 號被擋住，沒有框</a:t>
            </a:r>
            <a:endParaRPr lang="en-US" sz="850" dirty="0"/>
          </a:p>
        </p:txBody>
      </p:sp>
      <p:pic>
        <p:nvPicPr>
          <p:cNvPr id="8" name="Image 1" descr="/Users/tsengchenghsun/Class/carClass/Claude outputs/第十週(11-12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11</a:t>
            </a:r>
            <a:endParaRPr lang="en-US" sz="900" dirty="0"/>
          </a:p>
        </p:txBody>
      </p:sp>
      <p:sp>
        <p:nvSpPr>
          <p:cNvPr id="10" name="Text 5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Theo dõi trên ảnh nhìn từ trên · 鳥瞰圖上追蹤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731520"/>
            <a:ext cx="8138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Theo dõi trên ảnh nhìn từ trên: khoảng cách là mét thật, không che nhau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在鳥瞰圖上追蹤：距離是真的公尺，人和車不會互相擋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1020741" y="1371600"/>
            <a:ext cx="7102517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十週(11-12)/src/img/w10_trk_bev.g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9029" y="1389888"/>
            <a:ext cx="7065941" cy="298094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02920" y="4407408"/>
            <a:ext cx="8138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scene-0553 官方標註，每 0.5 秒一張、20 秒 · 號碼依出現順序重編 · 線＝最近 3 秒走過的路 · 時速＝最近 2 秒的平均</a:t>
            </a:r>
            <a:endParaRPr lang="en-US" sz="850" dirty="0"/>
          </a:p>
        </p:txBody>
      </p:sp>
      <p:pic>
        <p:nvPicPr>
          <p:cNvPr id="8" name="Image 1" descr="/Users/tsengchenghsun/Class/carClass/Claude outputs/第十週(11-12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11</a:t>
            </a:r>
            <a:endParaRPr lang="en-US" sz="900" dirty="0"/>
          </a:p>
        </p:txBody>
      </p:sp>
      <p:sp>
        <p:nvSpPr>
          <p:cNvPr id="10" name="Text 5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Ôn tập tuần 8 · 複習第八週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731520"/>
            <a:ext cx="8138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Không nhận ra là gì cũng phải tránh: lưới chiếm chỗ lấp chỗ trống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認不出是什麼，也要避開：佔據網格補上追蹤的洞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1911512" y="1371600"/>
            <a:ext cx="5320977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十週(11-12)/src/img/w10_occ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29800" y="1389888"/>
            <a:ext cx="5284401" cy="298094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02920" y="4407408"/>
            <a:ext cx="8138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第八週第 1 節的圖：nuScenes scene-0103 #14 光達 · 左：鳥瞰圖＋立體框 · 右：佔據網格，每格 0.5 公尺</a:t>
            </a:r>
            <a:endParaRPr lang="en-US" sz="850" dirty="0"/>
          </a:p>
        </p:txBody>
      </p:sp>
      <p:pic>
        <p:nvPicPr>
          <p:cNvPr id="8" name="Image 1" descr="/Users/tsengchenghsun/Class/carClass/Claude outputs/第十週(11-12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11</a:t>
            </a:r>
            <a:endParaRPr lang="en-US" sz="900" dirty="0"/>
          </a:p>
        </p:txBody>
      </p:sp>
      <p:sp>
        <p:nvSpPr>
          <p:cNvPr id="10" name="Text 5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Kết quả theo dõi giao cho ai? Dự đoán, rồi lập kế hoạch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追蹤的結果交給誰？預測，然後規劃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02920" y="1133856"/>
            <a:ext cx="1828800" cy="272491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179576" y="1316736"/>
            <a:ext cx="475488" cy="475488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179576" y="1417320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30936" y="1883664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Phát hiện</a:t>
            </a:r>
            <a:endParaRPr lang="en-US" sz="14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偵測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30936" y="2578608"/>
            <a:ext cx="157276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Ảnh này có người, có xe ở đâu. (Tuần 8, hôm nay)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這一張哪裡有人、有車。（第八週、今天）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2331720" y="2048256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2606040" y="1133856"/>
            <a:ext cx="1828800" cy="272491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282696" y="1316736"/>
            <a:ext cx="475488" cy="47548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282696" y="1417320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2734056" y="1883664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Theo dõi</a:t>
            </a:r>
            <a:endParaRPr lang="en-US" sz="14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追蹤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2734056" y="2578608"/>
            <a:ext cx="157276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Mỗi vật một số: ở đâu, đi hướng nào, nhanh cỡ nào. (Hôm nay)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每個東西一個號碼：在哪、往哪走、多快。（今天）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4434840" y="2048256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900" dirty="0"/>
          </a:p>
        </p:txBody>
      </p:sp>
      <p:sp>
        <p:nvSpPr>
          <p:cNvPr id="15" name="Shape 13"/>
          <p:cNvSpPr/>
          <p:nvPr/>
        </p:nvSpPr>
        <p:spPr>
          <a:xfrm>
            <a:off x="4709160" y="1133856"/>
            <a:ext cx="1828800" cy="272491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385816" y="1316736"/>
            <a:ext cx="475488" cy="475488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385816" y="1417320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4837176" y="1883664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Dự đoán</a:t>
            </a:r>
            <a:endParaRPr lang="en-US" sz="14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預測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4837176" y="2578608"/>
            <a:ext cx="157276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giây nữa người đó sẽ ở đâu? (Tuần 13)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接下來 3 秒，他會走到哪裡？（第十三週）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6537960" y="2048256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900" dirty="0"/>
          </a:p>
        </p:txBody>
      </p:sp>
      <p:sp>
        <p:nvSpPr>
          <p:cNvPr id="21" name="Shape 19"/>
          <p:cNvSpPr/>
          <p:nvPr/>
        </p:nvSpPr>
        <p:spPr>
          <a:xfrm>
            <a:off x="6812280" y="1133856"/>
            <a:ext cx="1828800" cy="272491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7488936" y="1316736"/>
            <a:ext cx="475488" cy="47548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488936" y="1417320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6940296" y="1883664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Lập kế hoạch</a:t>
            </a:r>
            <a:endParaRPr lang="en-US" sz="14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規劃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6940296" y="2578608"/>
            <a:ext cx="157276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Xe nên dừng, nhường, hay đi tiếp? (Tuần 13)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車子要停、要讓，還是可以走？（第十三週）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502920" y="4005072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12: bộ lọc Kalman — cách gộp «đoán» và «nhìn thấy» lại. Theo dõi và định vị đều dùng.</a:t>
            </a:r>
            <a:endParaRPr lang="en-US" sz="12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第十二週的卡曼濾波：把「猜的」和「看到的」合起來的方法，追蹤和定位都用它。</a:t>
            </a:r>
            <a:endParaRPr lang="en-US" sz="1250" dirty="0"/>
          </a:p>
        </p:txBody>
      </p:sp>
      <p:pic>
        <p:nvPicPr>
          <p:cNvPr id="28" name="Image 0" descr="/Users/tsengchenghsun/Class/carClass/Claude outputs/第十週(11-12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9" name="Text 25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11</a:t>
            </a:r>
            <a:endParaRPr lang="en-US" sz="900" dirty="0"/>
          </a:p>
        </p:txBody>
      </p:sp>
      <p:sp>
        <p:nvSpPr>
          <p:cNvPr id="30" name="Text 26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Thảo luận · 討論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Giữa dòng xe máy ở Hà Nội, theo dõi sẽ sai ở đâu?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在河內的機車潮裡，追蹤會在哪裡出錯？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737360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1883664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1911096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783080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Rất nhiều xe máy đi sát nhau, che lẫn nhau. Số sẽ ra sao?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很多機車靠得很近、互相擋住，號碼會怎樣？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450592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596896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624328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496312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Xe máy đột nhiên lách ra, đột nhiên rẽ. «Đi tiếp như cũ» có đoán đúng không?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機車突然鑽出來、突然轉彎，「照剛才的樣子走」猜得準嗎？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16382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31012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33756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20954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Nếu số bị đổi, dự đoán và phanh phía sau sẽ bị ảnh hưởng thế nào?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號碼換掉了，對後面的預測和煞車有什麼影響？</a:t>
            </a:r>
            <a:endParaRPr lang="en-US" sz="1250" dirty="0"/>
          </a:p>
        </p:txBody>
      </p:sp>
      <p:sp>
        <p:nvSpPr>
          <p:cNvPr id="19" name="Text 1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11</a:t>
            </a:r>
            <a:endParaRPr lang="en-US" sz="900" dirty="0"/>
          </a:p>
        </p:txBody>
      </p:sp>
      <p:sp>
        <p:nvSpPr>
          <p:cNvPr id="20" name="Text 1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Tóm tắt · 小結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822960"/>
            <a:ext cx="804672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câu cần nhớ của tiết này</a:t>
            </a:r>
            <a:endParaRPr lang="en-US" sz="2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這一節要記住的三句話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502920" y="1773936"/>
            <a:ext cx="45720" cy="672713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2376" y="1737360"/>
            <a:ext cx="7863840" cy="782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Phát hiện xem từng ảnh; theo dõi cho mỗi vật một số: đoán vị trí trước, rồi ghép với khung chồng nhiều nhất.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偵測一張一張看；追蹤替每個東西一個號碼：先猜位置，再跟重疊最多的框配對。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2647817"/>
            <a:ext cx="45720" cy="672713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22376" y="2611241"/>
            <a:ext cx="7863840" cy="782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 số rồi mới tính được tốc độ: cùng một số đi bao xa ÷ thời gian — tính bằng mét, trên ảnh nhìn từ trên.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有了號碼才算得出速度：同一個號碼走多遠 ÷ 時間，要用鳥瞰圖上的公尺。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02920" y="3521698"/>
            <a:ext cx="45720" cy="5120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22376" y="3485122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Bị che, bị khoanh hai lần thì đổi số. Vật không nhận ra được thì nhờ lưới chiếm chỗ.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被擋住、被框兩次，號碼會換。認不出的東西，靠佔據網格。</a:t>
            </a:r>
            <a:endParaRPr lang="en-US" sz="1350" dirty="0"/>
          </a:p>
        </p:txBody>
      </p:sp>
      <p:sp>
        <p:nvSpPr>
          <p:cNvPr id="13" name="Text 10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11</a:t>
            </a:r>
            <a:endParaRPr lang="en-US" sz="900" dirty="0"/>
          </a:p>
        </p:txBody>
      </p:sp>
      <p:sp>
        <p:nvSpPr>
          <p:cNvPr id="14" name="Text 11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Notes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自動駕駛原理</dc:creator>
  <cp:lastModifiedBy>自動駕駛原理</cp:lastModifiedBy>
  <cp:revision>1</cp:revision>
  <dcterms:created xsi:type="dcterms:W3CDTF">2026-10-29T10:18:29Z</dcterms:created>
  <dcterms:modified xsi:type="dcterms:W3CDTF">2026-10-29T10:18:29Z</dcterms:modified>
</cp:coreProperties>
</file>