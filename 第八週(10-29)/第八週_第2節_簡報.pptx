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讓大家知道，模型學得好不好，取決於標準答案標得好不好；自己動手標一次，就知道標註有多花工、規則有多重要。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上一節講了好幾次「標準答案」：模型猜完要對答案，對了才知道往哪邊改。這一節就來做這件事。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前半節，十幾分鐘，講三件事：標註為什麼重要、官方的規則長什麼樣子、怎麼判斷「框得準不準」。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後半節，各位打開一個網頁，在四張真的照片上自己標框，標完按「對答案」，跟官方的答案比，也跟上一節那個模型比，看誰框得多。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請把手機或筆電準備好。手機可以，但要橫過來，畫框會比較準。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讓大家知道，標註資料就是模型的課本：標錯、漏標、每個人標法不一樣，模型都會跟著學壞。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上一節講過，模型是「猜、對答案、改一點點」學出來的。那對答案用的那份答案，就是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標註資料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。可以把它想成模型的課本，或者考古題的解答。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想像一下，考古題的解答印錯了。各位照著練，練得愈認真，學得愈錯。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標註也一樣。三種狀況最常見：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漏標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。照片裡明明有一個人，標註的人沒框到。模型猜「這裡有人」，對答案的時候被說錯了，它就會學到：「這種樣子的東西，不是人。」下次碰到類似的人，它就不框了。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標錯類別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。把機車標成腳踏車，模型就分不清楚兩者。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每個人標法不一樣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。一個人把騎士和機車框在一起，另一個人分開框。模型同時被教兩種答案，就學得很混亂。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左邊這張，就是等一下各位要用的網頁，對完答案的樣子：框上寫 IoU 的是框到了，寫「多標」的是多畫的，白色虛線是漏掉的。等一下各位自己就會看到。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所以專業的標註，一定有一份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標註規則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，所有人照同一份規則標，還要抽查。nuScenes 就公開了它的規則，下下張來看。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讓大家感受一份正式的標註資料有多大，也看到它的偏向：機車很少。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上週介紹過 nuScenes，這次換一個角度看：它標了多少？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四萬個關鍵畫面。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一千段影片，每段二十秒，每零點五秒挑一格出來標。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一百四十萬個立體框。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每一個都是人標的，有規則、有抽查。上週觀察台上那些框，就是這一百四十萬個的一小部分。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二十三種類別。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分得很細：大人和小孩分開、汽車和公車分開、連三角錐、路障都有。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最後一格請注意：我們用的 mini 版，十段影片裡，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汽車有七千六百多個框，機車只有四百七十一個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，少了十六倍。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？因為它是在波士頓和新加坡錄的，那裡路上機車本來就少。課本照當地的路寫，機車那一章就很薄。拿這本課本教出來的模型，到河內、到台北，碰到滿街機車，就是它最不熟的東西。這一點最後一張再回來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讓大家看一份真的標註規則長什麼樣子，每一條都有它的理由。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把給標註員的規則公開在網路上。我挑了六條，左邊是中文，中間是英文原文，右邊是為什麼。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第一條：有一個光達或雷達點就要標。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標準很低，一個點就算。理由是：只要感測器看得到，車子就可能要對它反應，模型就該學。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第二條：框要很貼。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原文用的是「very tight」。框太鬆，物體的位置、大小都不準，距離就算錯。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第三條：手腳要包進去。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行人伸出去的手、跨出去的腳，都在框裡。因為車子擦到的可能就是那隻手。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第四條、第五條，騎士。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機車、腳踏車有人騎，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騎士跟車框在同一個框裡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；可是旁邊站著、沒有騎的人，</a:t>
            </a: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不要包進去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，另外框成行人。理由是：騎在上面的人和車一起動；站在旁邊的人，下一秒可能自己走開。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第六條：可見度分四級。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這個物體被擋住多少，看得到零到四成、四到六成、六到八成、八成以上。上一節的統計，我只算看得到六成以上的，就是用這個欄位。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注意，nuScenes 標的是立體框，今天我們在照片上標平面框，比較簡單，但規則的精神一樣。網頁右邊也寫了一份今天的規則。
</a:t>
            </a:r>
          </a:p>
          <a:p>
            <a:pPr algn="l">
              <a:spcBef>
                <a:spcPts val="0"/>
              </a:spcBef>
              <a:spcAft>
                <a:spcPts val="208"/>
              </a:spcAft>
            </a:pPr>
            <a:r>
              <a:rPr sz="12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影片（CVAT 官方教學，英文，可開自動翻譯字幕）：從 0:16 播到 2:47。</a:t>
            </a:r>
            <a:r>
              <a:rPr sz="12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CVAT 是一套免費、開放原始碼的標註軟體，很多公司真的用它標資料。畫面是一條下雨的街道，有行人和車。他示範兩種畫框的方法：點兩個角（0:43），或點上下左右四個點，形狀奇怪的東西比較準（1:20）；畫好可以拖曳、拉邊調大小（1:48）；2:35 有一個「occluded（被擋住）」的勾選，就是我們表上的可見度。等一下各位用的練習台是簡化版，原理一樣。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讓大家看到騎士規則的真實例子，也想一想這條規則在越南、台灣的意義。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左邊是波士頓一個騎腳踏車的人，右邊是新加坡晚上一台機車，騎士穿深色衣服。兩個框都是 nuScenes 官方的標註，請看框的上緣：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都包到騎士的頭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。騎士沒有自己的框，他是那台車的一部分。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這條規則看起來很小，可是對河內、對台北很重要。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想一下河內的路口：一台機車上載了三個人，大人前面還站一個小孩。照 nuScenes 的規則，這是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一個框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，類別是機車，屬性寫「有人騎」。模型學到的是「一台機車」。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如果換一套規則，把每個人分開框，模型學到的就是「三個人加一台機車」。兩套規則都可以，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重點是整份資料要用同一套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。混著標，模型就會混亂。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等一下上機，規則第三條就是這一條。停車場那張有好幾台停著的機車，沒有人騎；如果你看到旁邊站著人，記得另外框。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讓大家會用 IoU 判斷兩個框有多像：重疊的面積除以合起來的面積。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我框的跟答案不完全一樣，算對還是算錯？要有一個數字來量，這個數字叫 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IoU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，英文是 Intersection over Union，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交集除以聯集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用兩張紙來想。兩張一樣大的紙疊在桌上：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重疊的部分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，就是交集。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兩張紙合起來蓋住桌子的面積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，就是聯集。IoU 就是重疊的面積，除以合起來的面積。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完全疊在一起：重疊等於合起來，IoU 等於 1。完全分開：沒有重疊，IoU 等於 0。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看圖。白框是答案，彩色框是示範的學生框，同一個框，愈往右下偏，IoU 愈小。左邊 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0.91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，幾乎一樣；中間 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0.60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，偏了一點，眼睛看起來還不錯；右邊 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0.30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，差不多只蓋到一半。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一個重點：IoU 掉得比你想的快。框只偏了一點點，數字就從 0.9 掉到 0.6。
</a:t>
            </a:r>
          </a:p>
          <a:p>
            <a:pPr algn="l">
              <a:spcBef>
                <a:spcPts val="0"/>
              </a:spcBef>
              <a:spcAft>
                <a:spcPts val="233"/>
              </a:spcAft>
            </a:pP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今天的網頁，</a:t>
            </a:r>
            <a:r>
              <a:rPr sz="14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IoU 在 0.3 以上、類別也對，就算框到</a:t>
            </a:r>
            <a:r>
              <a:rPr sz="14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。門檻放這麼低，是因為官方的答案是從立體框算出來的，跟你在照片上看到的邊緣本來就會差一些。正式的比賽常用 0.5 或 0.7，要求嚴很多。第十週評估模型的時候還會再用到 IoU。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讓大家打開標註練習台，知道怎麼操作、做完要交什麼。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請掃這個 QR，打開「標註練習台」。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上面有四個任務按鈕，四張真的照片：白天斑馬線、停車場、波士頓的街道、晚上下過雨的路口。最後一個按鈕「自己的照片」，今天先不用。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操作三步：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一、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選類別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：車、行人、機車腳踏車，三選一。然後在照片上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按住拖曳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，就畫出一個框。畫好的框不夠貼？點一下那個框選起來，框的四個角和四邊會出現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白色小方塊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：拖小方塊可以調大小，拖框的中間可以整個移動；用電腦的話，方向鍵可以一格一格微調。畫錯了，選起來按「刪掉」，或直接按另一個類別改掉。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二、一張標完，按「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對答案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」。白色粗虛線是你漏掉的，你的框上面會寫 IoU，或寫「多標」「類別錯」。對完可以再改。再按「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看模型怎麼框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」，淺藍色是上一節那個模型的答案，看看你跟 AI 誰框得多。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三、四張都做完，填姓名學號，按「產生作答單」，截圖傳到 LINE 群組。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畫好的框會存在你自己的瀏覽器裡，重新整理不會不見，但換一台電腦就沒有了。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讓大家在兩張白天的照片上實際標框，感受「框要貼、要一個一個分開」有多費工。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（這一張停在畫面上，讓大家做。大約十分鐘。）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任務一，波士頓的斑馬線。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要標的有七個：五個行人、兩台車。最左邊兩個人走得很近，要分開框，一人一個。右邊有一個人被前面的人擋住一部分，規則第四條：框看得到的部分。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任務二，新加坡的停車場。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要標的有九個，其中五台是停著的機車，都沒有人騎，擠在一起。一台一個框，框到一半跟別台重疊沒關係。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巡堂的時候我會看兩件事：框有沒有貼緊，還有停車場的機車有沒有一台一台分開。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答案參考：上一節那個模型，任務一七個框到七個；任務二九個框到八個。大家可以比比看，自己有沒有贏過模型。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讓大家在被擋住、天黑的照片上標，自己體會這些就是模型最容易漏的情況，人也一樣會漏。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（一樣停在畫面上，大約十分鐘。）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任務三，波士頓的街道。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要標八個。左邊那台黑色休旅車後面，還有一台被擋住大半的車；右邊路邊也有一台被前面那台銀色車擋住。被擋得太多、看不太出來的，網頁上列成「可標可不標」，標了不算多標，沒標也不算漏。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任務四，新加坡晚上，剛下過雨。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要標九個，有行人、有車、有一台機車，很多在路燈下面很暗。其中有一個人站在電動滑板車上，nuScenes 把它算成「行人」，連車一起框，網頁規則第五條有寫。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這一張很有意思：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上一節那個模型，九個只框到四個。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大部分同學應該可以框到比它多。這就是上一節那張圖說的：晚上，模型漏得多。可是也請注意，人也會漏，尤其是很暗、很小的那幾個。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做完的同學，請記得按「產生作答單」，截圖傳到群組。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（做完後問全班：任務四你框到幾個？比 AI 多的舉手。哪一個最難判斷？）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這一張的目的：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讓大家知道，要讓自駕車在台灣、越南開，本地的資料一定要自己收、自己標，而且要先定好類別和規則。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左邊這張是上週看過的：nuScenes mini 版裡每一類有多少個框。汽車七千六百多，機車只有四百七十一，紅色那一條。這本課本，機車只有汽車的十六分之一。拿它教出來的模型，到河內、到台北，碰到的正好是它最不熟的東西。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所以每一個要在當地上路的團隊，都要自己收資料、自己標。而標之前，有一件事要先決定：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要標哪些類別、規則怎麼寫。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各位想一想，河內的路上，有哪些東西是 nuScenes 那二十三類沒有、或分得不夠細的？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例如：機車載了三個人，算一個框還是四個？機車後面綁了一大堆貨，貨要不要包進框裡？三輪貨車算機車還是卡車？挑著扁擔的小販、路邊攤、坐在路邊小板凳上喝咖啡的人，算行人嗎？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這些沒有標準答案，可是</a:t>
            </a:r>
            <a:r>
              <a:rPr sz="15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整份資料要用同一套</a:t>
            </a: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。這就是剛剛那張表的意義：規則要先寫清楚，所有標註的人照同一份做。
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5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網頁上最後一個按鈕「自己的照片」，可以上傳自己拍的照片來標，標好按下載，存成一個文字檔。第十週會用到這種格式訓練模型。要提醒一件事：自己拍路上的照片，不要拍清楚陌生人的臉。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1620000" y="380000"/>
            <a:ext cx="4320000" cy="2430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2990000"/>
            <a:ext cx="6480000" cy="706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這一節的目的回顧：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標註資料就是模型的課本。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漏標、標錯、每個人標法不一樣，模型都會跟著學錯。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規則要先寫清楚，所有人照同一份。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今天用的是 nuScenes 的規則：框要貼、手腳包進去、騎士跟車同一個框、旁邊站的人另外框。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</a:t>
            </a:r>
            <a:r>
              <a:rPr sz="16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IoU 是重疊的面積除以合起來的面積</a:t>
            </a: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，用來量兩個框有多像。今天的四張照片，天黑、被擋住的那幾個，大家和 AI 都比較容易漏。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剛剛標了四張，大概花了二十分鐘。nuScenes 標了四萬張、一百四十萬個框，各位可以想像那是多大的工程。
</a:t>
            </a:r>
          </a:p>
          <a:p>
            <a:pPr algn="l">
              <a:spcBef>
                <a:spcPts val="0"/>
              </a:spcBef>
              <a:spcAft>
                <a:spcPts val="267"/>
              </a:spcAft>
            </a:pPr>
            <a:r>
              <a:rPr sz="16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休息十分鐘。第三節是期中複習，下週四期中考。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TDae8RkGbKk?t=16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8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Gán nhãn dữ liệu: chuẩn bị đáp án cho máy tính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資料標註：幫電腦準備標準答案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gán nhãn — IoU — tự tay gán nhãn, rồi so với đáp án và với AI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標註規則、IoU、自己標一次，再跟答案比、跟 AI 比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第八週 第 2 節　2026/10/29（四）10:10–11:00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· 為什麼要標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017811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9278"/>
            <a:ext cx="2871507" cy="20968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28715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標註練習台（今天要用的網頁）對答案的畫面：IoU、漏掉、多標、類別錯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3831627" y="914400"/>
            <a:ext cx="4809453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gán nhãn là sách giáo khoa của mô hình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標註資料就是模型的課本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 sai thì học sai; sách không dạy thì không biết. Nhãn thiếu một người → mô hình học rằng «chỗ đó không có người».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課本錯了就學錯，課本沒教就不會。漏標一個人，模型就學到「那裡沒有人」。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người cùng gán nhãn → phải theo cùng một bộ quy tắc, nếu không mô hình bị dạy hai kiểu.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很多人一起標，就要照同一套規則，不然模型會被教成兩種樣子。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68871" y="365760"/>
            <a:ext cx="1872209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96887" y="384048"/>
            <a:ext cx="1689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đề thi in sai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考卷的答案印錯了</a:t>
            </a:r>
            <a:endParaRPr lang="en-US" sz="950" dirty="0"/>
          </a:p>
        </p:txBody>
      </p:sp>
      <p:pic>
        <p:nvPicPr>
          <p:cNvPr id="12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đã gán nhãn bao nhiêu?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標了多少？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7512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hình chính (40.000)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個關鍵畫面（4 萬）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0,5 giây gán nhãn một lần, 1000 cảnh × 20 giây.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 0.5 秒標一次，1000 段 × 20 秒。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2324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56916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1.4M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56916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3D (1,4 triệu)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個立體框（140 萬）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756916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người gán từng cái, có quy tắc và kiểm tra.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人一個一個標，有規則、有抽查。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vật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種類別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lớn, trẻ em, xe, xe buýt, xe máy, cọc tiêu…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大人、小孩、汽車、公車、機車、三角錐……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1132" y="1133856"/>
            <a:ext cx="1869948" cy="2670048"/>
          </a:xfrm>
          <a:prstGeom prst="roundRect">
            <a:avLst>
              <a:gd name="adj" fmla="val 489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35724" y="1316736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471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935724" y="1975104"/>
            <a:ext cx="15407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xe máy (bản mini)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個機車框（mini 版）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935724" y="2596896"/>
            <a:ext cx="15407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tô có 7.619. Xe máy ít hơn 16 lần.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汽車有 7,619 個。機車少了十六倍。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502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ở Boston, Singapore → sách này dạy rất ít về xe máy.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波士頓、新加坡的路 → 這本課本，機車教得很少。</a:t>
            </a:r>
            <a:endParaRPr lang="en-US" sz="1250" dirty="0"/>
          </a:p>
        </p:txBody>
      </p:sp>
      <p:pic>
        <p:nvPicPr>
          <p:cNvPr id="21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gán nhãn chính thức của nuScenes (trích)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官方標註規則（節錄）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Quy tắc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Nguyên văn (tiếng Anh)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原文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Vì sao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≥ 1 điểm lidar hoặc radar là phải gán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1 個光達或雷達點就要標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any target object containing at least 1 LIDAR or RADAR point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Cảm biến thấy được thì mô hình phải học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感測器看得到，模型就該學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phải rất sát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框要很貼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Cuboids must be very tight.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rộng → sai vị trí, sai khoảng cách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框太鬆→位置、距離都不準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Tay chân phải nằm trong khung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手腳要包進去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…the bounding box should include the extremities.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Tay giơ ra cũng có thể bị đụng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伸出去的手也會被撞到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 người lái: người lái chung khung với xe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有人騎：騎士和車同一個框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there is a rider, include the rider in the box.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và xe đi cùng nhau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人和車一起動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đứng bên cạnh xe: khoanh riêng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旁邊站著的人：另外框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…standing next to the motorcycle, do NOT include…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Người đó có thể đi chỗ khác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那個人可能自己走開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thấy được: 4 mức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可見度分四級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0–40%, 41–60%, 61–80%, 81–100%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Biết vật nào bị che nhiều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知道哪些被擋得多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39496" y="4362293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39496" y="4389725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32104" y="4334861"/>
            <a:ext cx="7808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vẽ khung bằng CVAT · </a:t>
            </a:r>
            <a:pPr indent="0" marL="0">
              <a:lnSpc>
                <a:spcPct val="100000"/>
              </a:lnSpc>
              <a:buNone/>
            </a:pPr>
            <a:r>
              <a:rPr lang="en-US" sz="90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影片：用 CVAT 畫框（標註工具教學）　0:16–2:47　</a:t>
            </a:r>
            <a:pPr indent="0" marL="0">
              <a:lnSpc>
                <a:spcPct val="100000"/>
              </a:lnSpc>
              <a:buNone/>
            </a:pPr>
            <a:r>
              <a:rPr lang="en-US" sz="90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youtu.be/TDae8RkGbKk?t=16</a:t>
            </a:r>
            <a:endParaRPr lang="en-US" sz="900" dirty="0"/>
          </a:p>
        </p:txBody>
      </p:sp>
      <p:pic>
        <p:nvPicPr>
          <p:cNvPr id="8" name="Image 0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lái · 騎士怎麼標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ri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50065"/>
            <a:ext cx="4974336" cy="18570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scene-0103、scene-1100 官方標註框 · CC BY-NC-SA 4.0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lái nằm trong khung của xe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騎士包在車的框裡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Hà Nội, quy tắc này quyết định mô hình học «một xe máy» hay «một người + một xe máy».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在河內，這條規則決定模型學到的是「一台機車」，還是「一個人加一台機車」。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597669" y="365760"/>
            <a:ext cx="204341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5685" y="384048"/>
            <a:ext cx="1860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xe máy chở ba người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一台機車載三個人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· 框得準不準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2748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io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26076"/>
            <a:ext cx="4974336" cy="190506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0789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scene-0553 一個行人 · 白框＝參考答案，彩色框＝示範的學生框（同一個框往右下平移）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5934456" y="914400"/>
            <a:ext cx="27066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= phần chồng lên nhau ÷ phần gộp lại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IoU ＝ 重疊的面積 ÷ 合起來的面積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trùng khít, 0 = không chạm. Hôm nay IoU ≥ 0,3 và đúng loại thì tính là khoanh trúng.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是完全一樣，0 是完全沒碰到。今天 IoU ≥ 0.3、類別也對，就算框到。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426467" y="365760"/>
            <a:ext cx="2214613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54483" y="384048"/>
            <a:ext cx="2031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tờ giấy chồng lên nhau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兩張紙疊在一起</a:t>
            </a:r>
            <a:endParaRPr lang="en-US" sz="9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bàn tập gán nhãn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打開標註練習台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236208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8_qr_lab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36208" y="3429000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mã, điện thoại xoay ngang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掃 QR，手機橫過來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422392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week8/label/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loại (xe / người / xe 2 bánh), kéo trên ảnh để vẽ khung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選類別（車、行人、機車腳踏車），在照片上拖曳畫框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651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6609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615184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Xong một ảnh, bấm «So đáp án»; rồi bấm «Xem mô hình khoanh»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標完一張按「對答案」，再按「看模型怎麼框」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14553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10896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đủ 4 nhiệm vụ, điền họ tên, bấm «Tạo phiếu», chụp màn hình gửi LINE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四個任務做完，填姓名學號，按「產生作答單」，截圖傳 LINE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đã vẽ được lưu trong trình duyệt của bạn; đổi máy là mất.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畫好的框存在自己的瀏覽器裡，換一台電腦就沒有了。</a:t>
            </a:r>
            <a:endParaRPr lang="en-US" sz="1200" dirty="0"/>
          </a:p>
        </p:txBody>
      </p:sp>
      <p:pic>
        <p:nvPicPr>
          <p:cNvPr id="2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1–2 · 任務一、二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ngày: bạn khoanh được mấy cái? Có sát không?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白天的兩張：你框到幾個？框得貼不貼？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1 (vạch qua đường): 7 vật cần khoanh. Hai người đi sát nhau — bạn có tách ra không?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任務一（斑馬線）：要標 7 個。兩個人走得很近，你有沒有分開框？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2 (bãi đỗ xe): xe máy đỗ chồng lên nhau. Mỗi chiếc một khung. IoU trung bình của bạn bao nhiêu?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任務二（停車場）：機車停得擠在一起，一台一個框。你的平均 IoU 是多少？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Xong mỗi ảnh bấm «So đáp án», rồi «Xem mô hình khoanh».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每張標完按「對答案」，再按「看模型怎麼框」。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3–4 · 任務三、四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che, trời tối: ai khoanh được nhiều hơn — bạn hay AI?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被擋住、天黑：你和 AI 誰框得多？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3 (phố Boston): 8 vật cần khoanh, có xe bị xe khác che. Bạn khoanh được mấy?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任務三（波士頓街道）：要標 8 個，有車被別台擋住。你框到幾個？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4 (đêm sau mưa): 9 vật cần khoanh. AI khoanh trúng mấy? Bạn thì sao?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任務四（夜間雨後）：要標 9 個。AI 框到幾個？你呢？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3434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xong cả 4 nhiệm vụ: điền họ tên, bấm «Tạo phiếu», chụp màn hình gửi LINE.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四個都做完：填姓名學號，按「產生作答單」，截圖傳 LINE。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Đài Loan và Việt Nam · 台灣與越南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814103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八週(10-29)/src/img/w7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08126"/>
            <a:ext cx="3667799" cy="21191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6677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mini 各類別的框數（第七週第 3 節）· 機車 471、汽車 7,619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627919" y="914400"/>
            <a:ext cx="4013161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Sách của người khác ít dạy xe máy — dữ liệu địa phương phải tự gán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別人的課本機車教得少——本地資料要自己標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chọn trước loại và quy tắc: xe máy chở người, chở hàng, xe ba gác.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標之前先定類別和規則：機車載人、載貨、三輪車。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10: dùng nhãn tự gán để huấn luyện. Ảnh tự chụp: không chụp rõ mặt người lạ.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第十週：拿自己標的資料訓練。自己拍照時，不要拍清楚陌生人的臉。</a:t>
            </a:r>
            <a:endParaRPr lang="en-US" sz="1250" dirty="0"/>
          </a:p>
        </p:txBody>
      </p:sp>
      <p:pic>
        <p:nvPicPr>
          <p:cNvPr id="10" name="Image 1" descr="/Users/tsengchenghsun/Class/carClass/Claude outputs/第八週(10-29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gán nhãn là sách giáo khoa: thiếu, sai, mỗi người một kiểu thì mô hình học sai.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標註資料是模型的課本：漏標、標錯、每個人標法不一樣，模型都會學錯。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phải viết rõ, mọi người theo cùng một bộ: khung sát, gồm tay chân, người lái chung khung với xe.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規則要寫清楚、所有人照同一份：框要貼、手腳包進去、騎士跟車同一個框。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361049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324473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= chồng lên ÷ gộp lại, đo khung giống nhau bao nhiêu. Ban đêm, bị che: người và AI đều dễ sót.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IoU＝重疊÷合起來，量兩個框有多像。天黑、被擋住：人和 AI 都容易漏。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2026-10-23T07:44:18Z</dcterms:created>
  <dcterms:modified xsi:type="dcterms:W3CDTF">2026-10-23T07:44:18Z</dcterms:modified>
</cp:coreProperties>
</file>