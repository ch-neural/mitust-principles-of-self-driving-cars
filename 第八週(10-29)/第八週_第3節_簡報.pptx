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1620000" y="380000"/>
            <a:ext cx="4320000" cy="2430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2990000"/>
            <a:ext cx="6480000" cy="706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這一節的目的：</a:t>
            </a:r>
            <a:r>
              <a:rPr sz="1600" lang="zh-TW" dirty="0">
                <a:solidFill>
                  <a:srgbClr val="000000"/>
                </a:solidFill>
                <a:latin typeface="Arial Unicode MS"/>
                <a:ea typeface="Arial Unicode MS"/>
                <a:cs typeface="Arial Unicode MS"/>
              </a:rPr>
              <a:t>讓大家把第一週到今天的重點走一遍，知道期中考會考哪些觀念和圖表，再用一份模擬考檢查自己哪一週要補。
</a:t>
            </a:r>
          </a:p>
          <a:p>
            <a:pPr algn="l">
              <a:spcBef>
                <a:spcPts val="0"/>
              </a:spcBef>
              <a:spcAft>
                <a:spcPts val="267"/>
              </a:spcAft>
            </a:pPr>
            <a:r>
              <a:rPr sz="1600" lang="zh-TW" dirty="0">
                <a:solidFill>
                  <a:srgbClr val="000000"/>
                </a:solidFill>
                <a:latin typeface="Arial Unicode MS"/>
                <a:ea typeface="Arial Unicode MS"/>
                <a:cs typeface="Arial Unicode MS"/>
              </a:rPr>
              <a:t>下週四，十一月五日，期中考，就在上課時間考。
</a:t>
            </a:r>
          </a:p>
          <a:p>
            <a:pPr algn="l">
              <a:spcBef>
                <a:spcPts val="0"/>
              </a:spcBef>
              <a:spcAft>
                <a:spcPts val="267"/>
              </a:spcAft>
            </a:pPr>
            <a:r>
              <a:rPr sz="1600" lang="zh-TW" dirty="0">
                <a:solidFill>
                  <a:srgbClr val="000000"/>
                </a:solidFill>
                <a:latin typeface="Arial Unicode MS"/>
                <a:ea typeface="Arial Unicode MS"/>
                <a:cs typeface="Arial Unicode MS"/>
              </a:rPr>
              <a:t>這一節分兩段。前半段，我們一週一週走過去，每一週只講最重要的幾句話和一張表。後半段，大家打開一份模擬考，二十八題，題目跟期中考一樣是越南文為主、中文對照。做完按交卷，網頁會告訴你哪一週錯得最多，那一週的講義回去再翻一次。
</a:t>
            </a:r>
          </a:p>
          <a:p>
            <a:pPr algn="l">
              <a:spcBef>
                <a:spcPts val="0"/>
              </a:spcBef>
              <a:spcAft>
                <a:spcPts val="267"/>
              </a:spcAft>
            </a:pPr>
            <a:r>
              <a:rPr sz="1600" lang="zh-TW" dirty="0">
                <a:solidFill>
                  <a:srgbClr val="000000"/>
                </a:solidFill>
                <a:latin typeface="Arial Unicode MS"/>
                <a:ea typeface="Arial Unicode MS"/>
                <a:cs typeface="Arial Unicode MS"/>
              </a:rPr>
              <a:t>（老師補充：考試可不可以帶計算機、要帶什麼，請在這裡宣布。）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讓大家清楚知道期中考的日期、比重、題型和範圍。
</a:t>
            </a:r>
          </a:p>
          <a:p>
            <a:pPr algn="l">
              <a:spcBef>
                <a:spcPts val="0"/>
              </a:spcBef>
              <a:spcAft>
                <a:spcPts val="267"/>
              </a:spcAft>
            </a:pPr>
            <a:r>
              <a:rPr sz="1600" lang="zh-TW" dirty="0">
                <a:solidFill>
                  <a:srgbClr val="000000"/>
                </a:solidFill>
                <a:latin typeface="Arial Unicode MS"/>
                <a:ea typeface="Arial Unicode MS"/>
                <a:cs typeface="Arial Unicode MS"/>
              </a:rPr>
              <a:t>四件事。
</a:t>
            </a:r>
          </a:p>
          <a:p>
            <a:pPr algn="l">
              <a:spcBef>
                <a:spcPts val="0"/>
              </a:spcBef>
              <a:spcAft>
                <a:spcPts val="267"/>
              </a:spcAft>
            </a:pPr>
            <a:r>
              <a:rPr sz="1600" b="1" lang="zh-TW" dirty="0">
                <a:solidFill>
                  <a:srgbClr val="000000"/>
                </a:solidFill>
                <a:latin typeface="Arial Unicode MS"/>
                <a:ea typeface="Arial Unicode MS"/>
                <a:cs typeface="Arial Unicode MS"/>
              </a:rPr>
              <a:t>日期</a:t>
            </a:r>
            <a:r>
              <a:rPr sz="1600" lang="zh-TW" dirty="0">
                <a:solidFill>
                  <a:srgbClr val="000000"/>
                </a:solidFill>
                <a:latin typeface="Arial Unicode MS"/>
                <a:ea typeface="Arial Unicode MS"/>
                <a:cs typeface="Arial Unicode MS"/>
              </a:rPr>
              <a:t>：十一月五日，星期四，上課時間，第九週。順便再提醒一次，十一月十九日第十一週，校慶停課。
</a:t>
            </a:r>
          </a:p>
          <a:p>
            <a:pPr algn="l">
              <a:spcBef>
                <a:spcPts val="0"/>
              </a:spcBef>
              <a:spcAft>
                <a:spcPts val="267"/>
              </a:spcAft>
            </a:pPr>
            <a:r>
              <a:rPr sz="1600" b="1" lang="zh-TW" dirty="0">
                <a:solidFill>
                  <a:srgbClr val="000000"/>
                </a:solidFill>
                <a:latin typeface="Arial Unicode MS"/>
                <a:ea typeface="Arial Unicode MS"/>
                <a:cs typeface="Arial Unicode MS"/>
              </a:rPr>
              <a:t>比重</a:t>
            </a:r>
            <a:r>
              <a:rPr sz="1600" lang="zh-TW" dirty="0">
                <a:solidFill>
                  <a:srgbClr val="000000"/>
                </a:solidFill>
                <a:latin typeface="Arial Unicode MS"/>
                <a:ea typeface="Arial Unicode MS"/>
                <a:cs typeface="Arial Unicode MS"/>
              </a:rPr>
              <a:t>：總成績的百分之十五。第一週講過成績組成：實作與上機 40%，期末專題 25%，期中、期末各 15%，課堂參與 5%。
</a:t>
            </a:r>
          </a:p>
          <a:p>
            <a:pPr algn="l">
              <a:spcBef>
                <a:spcPts val="0"/>
              </a:spcBef>
              <a:spcAft>
                <a:spcPts val="267"/>
              </a:spcAft>
            </a:pPr>
            <a:r>
              <a:rPr sz="1600" b="1" lang="zh-TW" dirty="0">
                <a:solidFill>
                  <a:srgbClr val="000000"/>
                </a:solidFill>
                <a:latin typeface="Arial Unicode MS"/>
                <a:ea typeface="Arial Unicode MS"/>
                <a:cs typeface="Arial Unicode MS"/>
              </a:rPr>
              <a:t>題型</a:t>
            </a:r>
            <a:r>
              <a:rPr sz="1600" lang="zh-TW" dirty="0">
                <a:solidFill>
                  <a:srgbClr val="000000"/>
                </a:solidFill>
                <a:latin typeface="Arial Unicode MS"/>
                <a:ea typeface="Arial Unicode MS"/>
                <a:cs typeface="Arial Unicode MS"/>
              </a:rPr>
              <a:t>：兩種。概念題，例如「AEB 是第幾級」；還有圖表判讀，會給你一張表或一張圖，要讀出數字、說出意思。
</a:t>
            </a:r>
          </a:p>
          <a:p>
            <a:pPr algn="l">
              <a:spcBef>
                <a:spcPts val="0"/>
              </a:spcBef>
              <a:spcAft>
                <a:spcPts val="267"/>
              </a:spcAft>
            </a:pPr>
            <a:r>
              <a:rPr sz="1600" b="1" lang="zh-TW" dirty="0">
                <a:solidFill>
                  <a:srgbClr val="000000"/>
                </a:solidFill>
                <a:latin typeface="Arial Unicode MS"/>
                <a:ea typeface="Arial Unicode MS"/>
                <a:cs typeface="Arial Unicode MS"/>
              </a:rPr>
              <a:t>語言</a:t>
            </a:r>
            <a:r>
              <a:rPr sz="1600" lang="zh-TW" dirty="0">
                <a:solidFill>
                  <a:srgbClr val="000000"/>
                </a:solidFill>
                <a:latin typeface="Arial Unicode MS"/>
                <a:ea typeface="Arial Unicode MS"/>
                <a:cs typeface="Arial Unicode MS"/>
              </a:rPr>
              <a:t>：題目以</a:t>
            </a:r>
            <a:r>
              <a:rPr sz="1600" b="1" lang="zh-TW" dirty="0">
                <a:solidFill>
                  <a:srgbClr val="000000"/>
                </a:solidFill>
                <a:latin typeface="Arial Unicode MS"/>
                <a:ea typeface="Arial Unicode MS"/>
                <a:cs typeface="Arial Unicode MS"/>
              </a:rPr>
              <a:t>越南文為主，旁邊附中文對照</a:t>
            </a:r>
            <a:r>
              <a:rPr sz="1600" lang="zh-TW" dirty="0">
                <a:solidFill>
                  <a:srgbClr val="000000"/>
                </a:solidFill>
                <a:latin typeface="Arial Unicode MS"/>
                <a:ea typeface="Arial Unicode MS"/>
                <a:cs typeface="Arial Unicode MS"/>
              </a:rPr>
              <a:t>。今天的模擬考就是這個樣子，大家可以順便練習：越南文看懂了，再對一下中文的關鍵字，例如「門檻」「煞停距離」「外參」，這些中文名詞上課一直在用。
</a:t>
            </a:r>
          </a:p>
          <a:p>
            <a:pPr algn="l">
              <a:spcBef>
                <a:spcPts val="0"/>
              </a:spcBef>
              <a:spcAft>
                <a:spcPts val="267"/>
              </a:spcAft>
            </a:pPr>
            <a:r>
              <a:rPr sz="1600" b="1" lang="zh-TW" dirty="0">
                <a:solidFill>
                  <a:srgbClr val="000000"/>
                </a:solidFill>
                <a:latin typeface="Arial Unicode MS"/>
                <a:ea typeface="Arial Unicode MS"/>
                <a:cs typeface="Arial Unicode MS"/>
              </a:rPr>
              <a:t>範圍</a:t>
            </a:r>
            <a:r>
              <a:rPr sz="1600" lang="zh-TW" dirty="0">
                <a:solidFill>
                  <a:srgbClr val="000000"/>
                </a:solidFill>
                <a:latin typeface="Arial Unicode MS"/>
                <a:ea typeface="Arial Unicode MS"/>
                <a:cs typeface="Arial Unicode MS"/>
              </a:rPr>
              <a:t>：第一週到今天第二節。今天第一節是電腦怎麼看見車和人，第二節是標註練習，</a:t>
            </a:r>
            <a:r>
              <a:rPr sz="1600" b="1" lang="zh-TW" dirty="0">
                <a:solidFill>
                  <a:srgbClr val="000000"/>
                </a:solidFill>
                <a:latin typeface="Arial Unicode MS"/>
                <a:ea typeface="Arial Unicode MS"/>
                <a:cs typeface="Arial Unicode MS"/>
              </a:rPr>
              <a:t>IoU 也會考</a:t>
            </a:r>
            <a:r>
              <a:rPr sz="16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75"/>
              </a:spcAft>
            </a:pPr>
            <a:r>
              <a:rPr sz="1050" b="1" lang="zh-TW" dirty="0">
                <a:solidFill>
                  <a:srgbClr val="000000"/>
                </a:solidFill>
                <a:latin typeface="Arial Unicode MS"/>
                <a:ea typeface="Arial Unicode MS"/>
                <a:cs typeface="Arial Unicode MS"/>
              </a:rPr>
              <a:t>這一張的目的：</a:t>
            </a:r>
            <a:r>
              <a:rPr sz="1050" lang="zh-TW" dirty="0">
                <a:solidFill>
                  <a:srgbClr val="000000"/>
                </a:solidFill>
                <a:latin typeface="Arial Unicode MS"/>
                <a:ea typeface="Arial Unicode MS"/>
                <a:cs typeface="Arial Unicode MS"/>
              </a:rPr>
              <a:t>讓大家先看到整個地圖的前半段：第一到第四週，每週一句話。八句話分成兩張，這一張是第一到四週，下一張是第五到八週。每一句都要說得出意思、舉得出例子、記得住那一週的關鍵數字，這樣期中考就有一半的把握。
</a:t>
            </a:r>
          </a:p>
          <a:p>
            <a:pPr algn="l">
              <a:spcBef>
                <a:spcPts val="0"/>
              </a:spcBef>
              <a:spcAft>
                <a:spcPts val="175"/>
              </a:spcAft>
            </a:pPr>
            <a:r>
              <a:rPr sz="1050" b="1" lang="zh-TW" dirty="0">
                <a:solidFill>
                  <a:srgbClr val="000000"/>
                </a:solidFill>
                <a:latin typeface="Arial Unicode MS"/>
                <a:ea typeface="Arial Unicode MS"/>
                <a:cs typeface="Arial Unicode MS"/>
              </a:rPr>
              <a:t>第一週：等級講的是分工，不是能力。</a:t>
            </a:r>
            <a:r>
              <a:rPr sz="1050" lang="zh-TW" dirty="0">
                <a:solidFill>
                  <a:srgbClr val="000000"/>
                </a:solidFill>
                <a:latin typeface="Arial Unicode MS"/>
                <a:ea typeface="Arial Unicode MS"/>
                <a:cs typeface="Arial Unicode MS"/>
              </a:rPr>
              <a:t>SAE 的 L0 到 L5，問的不是「這台車多聰明」，而是「開車這件事，人和系統怎麼分工」：方向和速度誰在控制、誰負責看路、出狀況誰接手。舉個例子：自動緊急煞車（AEB）的技術很厲害，快撞上的時候自己煞得住，可是它只在最後那一瞬間出手，平常完全不管開車，所以是 </a:t>
            </a:r>
            <a:r>
              <a:rPr sz="1050" b="1" lang="zh-TW" dirty="0">
                <a:solidFill>
                  <a:srgbClr val="000000"/>
                </a:solidFill>
                <a:latin typeface="Arial Unicode MS"/>
                <a:ea typeface="Arial Unicode MS"/>
                <a:cs typeface="Arial Unicode MS"/>
              </a:rPr>
              <a:t>L0</a:t>
            </a:r>
            <a:r>
              <a:rPr sz="1050" lang="zh-TW" dirty="0">
                <a:solidFill>
                  <a:srgbClr val="000000"/>
                </a:solidFill>
                <a:latin typeface="Arial Unicode MS"/>
                <a:ea typeface="Arial Unicode MS"/>
                <a:cs typeface="Arial Unicode MS"/>
              </a:rPr>
              <a:t>，不是 L1。反過來，一台車可以自己置中、跟車，聽起來很先進，但只要人必須一直看路，就是 </a:t>
            </a:r>
            <a:r>
              <a:rPr sz="1050" b="1" lang="zh-TW" dirty="0">
                <a:solidFill>
                  <a:srgbClr val="000000"/>
                </a:solidFill>
                <a:latin typeface="Arial Unicode MS"/>
                <a:ea typeface="Arial Unicode MS"/>
                <a:cs typeface="Arial Unicode MS"/>
              </a:rPr>
              <a:t>L2</a:t>
            </a:r>
            <a:r>
              <a:rPr sz="1050" lang="zh-TW" dirty="0">
                <a:solidFill>
                  <a:srgbClr val="000000"/>
                </a:solidFill>
                <a:latin typeface="Arial Unicode MS"/>
                <a:ea typeface="Arial Unicode MS"/>
                <a:cs typeface="Arial Unicode MS"/>
              </a:rPr>
              <a:t>；車主買的 Tesla FSD（Supervised）就是 L2。判斷三步驟：瞬間還是持續？管一項還是兩項？誰看路、誰接手？最常見的誤會是「等級愈高愈好」「L2+ 是正式等級」，都不對。
</a:t>
            </a:r>
          </a:p>
          <a:p>
            <a:pPr algn="l">
              <a:spcBef>
                <a:spcPts val="0"/>
              </a:spcBef>
              <a:spcAft>
                <a:spcPts val="175"/>
              </a:spcAft>
            </a:pPr>
            <a:r>
              <a:rPr sz="1050" b="1" lang="zh-TW" dirty="0">
                <a:solidFill>
                  <a:srgbClr val="000000"/>
                </a:solidFill>
                <a:latin typeface="Arial Unicode MS"/>
                <a:ea typeface="Arial Unicode MS"/>
                <a:cs typeface="Arial Unicode MS"/>
              </a:rPr>
              <a:t>第二週：「至少」是下限；光達用來回時間算距離；雷達只量朝自己的那一段速度。</a:t>
            </a:r>
            <a:r>
              <a:rPr sz="1050" lang="zh-TW" dirty="0">
                <a:solidFill>
                  <a:srgbClr val="000000"/>
                </a:solidFill>
                <a:latin typeface="Arial Unicode MS"/>
                <a:ea typeface="Arial Unicode MS"/>
                <a:cs typeface="Arial Unicode MS"/>
              </a:rPr>
              <a:t>這一週講兩件事：怎麼讀 ODD 條件，和三種感測器怎麼量東西。先講 ODD。「照度至少 20 lx」是下限，低於 20 就出了 ODD；現場 5 lx，不能說「5 比 20 小，沒超過，所以符合」，方向看反了，開慢一點也不會變回符合。單位也要看清楚：mm/h 是雨下多大，不是積水多深；lx 是亮不亮。再講感測器原理。</a:t>
            </a:r>
            <a:r>
              <a:rPr sz="1050" b="1" lang="zh-TW" dirty="0">
                <a:solidFill>
                  <a:srgbClr val="000000"/>
                </a:solidFill>
                <a:latin typeface="Arial Unicode MS"/>
                <a:ea typeface="Arial Unicode MS"/>
                <a:cs typeface="Arial Unicode MS"/>
              </a:rPr>
              <a:t>相機</a:t>
            </a:r>
            <a:r>
              <a:rPr sz="1050" lang="zh-TW" dirty="0">
                <a:solidFill>
                  <a:srgbClr val="000000"/>
                </a:solidFill>
                <a:latin typeface="Arial Unicode MS"/>
                <a:ea typeface="Arial Unicode MS"/>
                <a:cs typeface="Arial Unicode MS"/>
              </a:rPr>
              <a:t>給的是顏色、文字、外觀，畫面上的框是程式加上去的，不是相機量的。</a:t>
            </a:r>
            <a:r>
              <a:rPr sz="1050" b="1" lang="zh-TW" dirty="0">
                <a:solidFill>
                  <a:srgbClr val="000000"/>
                </a:solidFill>
                <a:latin typeface="Arial Unicode MS"/>
                <a:ea typeface="Arial Unicode MS"/>
                <a:cs typeface="Arial Unicode MS"/>
              </a:rPr>
              <a:t>光達</a:t>
            </a:r>
            <a:r>
              <a:rPr sz="1050" lang="zh-TW" dirty="0">
                <a:solidFill>
                  <a:srgbClr val="000000"/>
                </a:solidFill>
                <a:latin typeface="Arial Unicode MS"/>
                <a:ea typeface="Arial Unicode MS"/>
                <a:cs typeface="Arial Unicode MS"/>
              </a:rPr>
              <a:t>像對著山谷喊一聲、等回音：雷射打出去，等它彈回來，距離＝光速×來回時間÷2，要除以 2 是因為光走了一去一回；來回 100 奈秒就是 15 公尺。</a:t>
            </a:r>
            <a:r>
              <a:rPr sz="1050" b="1" lang="zh-TW" dirty="0">
                <a:solidFill>
                  <a:srgbClr val="000000"/>
                </a:solidFill>
                <a:latin typeface="Arial Unicode MS"/>
                <a:ea typeface="Arial Unicode MS"/>
                <a:cs typeface="Arial Unicode MS"/>
              </a:rPr>
              <a:t>雷達</a:t>
            </a:r>
            <a:r>
              <a:rPr sz="1050" lang="zh-TW" dirty="0">
                <a:solidFill>
                  <a:srgbClr val="000000"/>
                </a:solidFill>
                <a:latin typeface="Arial Unicode MS"/>
                <a:ea typeface="Arial Unicode MS"/>
                <a:cs typeface="Arial Unicode MS"/>
              </a:rPr>
              <a:t>有兩個本事：比較發出去和收回來的頻率差，算出距離；再用都卜勒效應量速度，就像救護車開過來時鳴笛聲變尖、開走時變低。可是它只量得到東西</a:t>
            </a:r>
            <a:r>
              <a:rPr sz="1050" b="1" lang="zh-TW" dirty="0">
                <a:solidFill>
                  <a:srgbClr val="000000"/>
                </a:solidFill>
                <a:latin typeface="Arial Unicode MS"/>
                <a:ea typeface="Arial Unicode MS"/>
                <a:cs typeface="Arial Unicode MS"/>
              </a:rPr>
              <a:t>朝自己靠近或遠離</a:t>
            </a:r>
            <a:r>
              <a:rPr sz="1050" lang="zh-TW" dirty="0">
                <a:solidFill>
                  <a:srgbClr val="000000"/>
                </a:solidFill>
                <a:latin typeface="Arial Unicode MS"/>
                <a:ea typeface="Arial Unicode MS"/>
                <a:cs typeface="Arial Unicode MS"/>
              </a:rPr>
              <a:t>的那一段速度：一台車從正前方橫著開過去，雷達量到的接近 0。上週觀察台那台黑色轎車，其實時速約 22，朝我們的那一段只有約 5，雷達量到 ≈0，就是這個原因。還有一個數字：77 GHz 雷達的波長約 3.9 毫米，是光達的四千多倍，所以霧對雷達的影響比較小。
</a:t>
            </a:r>
          </a:p>
          <a:p>
            <a:pPr algn="l">
              <a:spcBef>
                <a:spcPts val="0"/>
              </a:spcBef>
              <a:spcAft>
                <a:spcPts val="175"/>
              </a:spcAft>
            </a:pPr>
            <a:r>
              <a:rPr sz="1050" b="1" lang="zh-TW" dirty="0">
                <a:solidFill>
                  <a:srgbClr val="000000"/>
                </a:solidFill>
                <a:latin typeface="Arial Unicode MS"/>
                <a:ea typeface="Arial Unicode MS"/>
                <a:cs typeface="Arial Unicode MS"/>
              </a:rPr>
              <a:t>第三週：量得到距離，不等於知道那是什麼；距離變成兩倍，相機估距離的誤差就變成四倍。</a:t>
            </a:r>
            <a:r>
              <a:rPr sz="1050" lang="zh-TW" dirty="0">
                <a:solidFill>
                  <a:srgbClr val="000000"/>
                </a:solidFill>
                <a:latin typeface="Arial Unicode MS"/>
                <a:ea typeface="Arial Unicode MS"/>
                <a:cs typeface="Arial Unicode MS"/>
              </a:rPr>
              <a:t>光達打出去的點，每一個都知道多遠，可是光達不知道那一團點是人、是垃圾桶，還是一根柱子，它給的永遠是「未分類的障礙物」。反過來，相機認得出那是人，可是距離是用照片「算」出來的，不是量的。所以第二個數字很重要：相機估距離的誤差，跟距離的</a:t>
            </a:r>
            <a:r>
              <a:rPr sz="1050" b="1" lang="zh-TW" dirty="0">
                <a:solidFill>
                  <a:srgbClr val="000000"/>
                </a:solidFill>
                <a:latin typeface="Arial Unicode MS"/>
                <a:ea typeface="Arial Unicode MS"/>
                <a:cs typeface="Arial Unicode MS"/>
              </a:rPr>
              <a:t>平方</a:t>
            </a:r>
            <a:r>
              <a:rPr sz="1050" lang="zh-TW" dirty="0">
                <a:solidFill>
                  <a:srgbClr val="000000"/>
                </a:solidFill>
                <a:latin typeface="Arial Unicode MS"/>
                <a:ea typeface="Arial Unicode MS"/>
                <a:cs typeface="Arial Unicode MS"/>
              </a:rPr>
              <a:t>成正比。二十公尺誤差 ±0.15 公尺，四十公尺就變 ±0.58 公尺，大約四倍。光達也有類似的規則：距離兩倍，打在人身上的點剩四分之一，十公尺 308 點、二十公尺 77 點。就像看遠處的人：愈遠，愈難估他到底離你多遠。
</a:t>
            </a:r>
          </a:p>
          <a:p>
            <a:pPr algn="l">
              <a:spcBef>
                <a:spcPts val="0"/>
              </a:spcBef>
              <a:spcAft>
                <a:spcPts val="175"/>
              </a:spcAft>
            </a:pPr>
            <a:r>
              <a:rPr sz="1050" b="1" lang="zh-TW" dirty="0">
                <a:solidFill>
                  <a:srgbClr val="000000"/>
                </a:solidFill>
                <a:latin typeface="Arial Unicode MS"/>
                <a:ea typeface="Arial Unicode MS"/>
                <a:cs typeface="Arial Unicode MS"/>
              </a:rPr>
              <a:t>第四週：時速 50 的煞停距離大約 20 公尺，感測器至少要看到 25 公尺遠；模擬是一道篩子。</a:t>
            </a:r>
            <a:r>
              <a:rPr sz="1050" lang="zh-TW" dirty="0">
                <a:solidFill>
                  <a:srgbClr val="000000"/>
                </a:solidFill>
                <a:latin typeface="Arial Unicode MS"/>
                <a:ea typeface="Arial Unicode MS"/>
                <a:cs typeface="Arial Unicode MS"/>
              </a:rPr>
              <a:t>煞停距離分兩段：反應那 0.3 秒走的路，加上踩煞車到停下來的路。時速 50 是每秒 13.9 公尺，反應 4.2 公尺、煞車 16.1 公尺，合起來大約 20 公尺。感測器至少要看到它的 1.25 倍，25 公尺，這個 1.25 是本課取的餘裕。感測器看得到的距離，如果比煞停距離還短，就一定會撞上。「模擬是篩子」：在模擬器裡過不了的設計，可以先淘汰；可是模擬裡不撞，不代表真車不撞，因為模擬和現實有三種落差：外觀、行為、物理。通過模擬，只是拿到上真車測試的門票。還有，證明安全的單位是</a:t>
            </a:r>
            <a:r>
              <a:rPr sz="1050" b="1" lang="zh-TW" dirty="0">
                <a:solidFill>
                  <a:srgbClr val="000000"/>
                </a:solidFill>
                <a:latin typeface="Arial Unicode MS"/>
                <a:ea typeface="Arial Unicode MS"/>
                <a:cs typeface="Arial Unicode MS"/>
              </a:rPr>
              <a:t>場景</a:t>
            </a:r>
            <a:r>
              <a:rPr sz="1050" lang="zh-TW" dirty="0">
                <a:solidFill>
                  <a:srgbClr val="000000"/>
                </a:solidFill>
                <a:latin typeface="Arial Unicode MS"/>
                <a:ea typeface="Arial Unicode MS"/>
                <a:cs typeface="Arial Unicode MS"/>
              </a:rPr>
              <a:t>，不是跑了多少公里。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83"/>
              </a:spcAft>
            </a:pPr>
            <a:r>
              <a:rPr sz="1100" b="1" lang="zh-TW" dirty="0">
                <a:solidFill>
                  <a:srgbClr val="000000"/>
                </a:solidFill>
                <a:latin typeface="Arial Unicode MS"/>
                <a:ea typeface="Arial Unicode MS"/>
                <a:cs typeface="Arial Unicode MS"/>
              </a:rPr>
              <a:t>這一張的目的：</a:t>
            </a:r>
            <a:r>
              <a:rPr sz="1100" lang="zh-TW" dirty="0">
                <a:solidFill>
                  <a:srgbClr val="000000"/>
                </a:solidFill>
                <a:latin typeface="Arial Unicode MS"/>
                <a:ea typeface="Arial Unicode MS"/>
                <a:cs typeface="Arial Unicode MS"/>
              </a:rPr>
              <a:t>接著看地圖的後半段：第五到第八週，每週一句話。
</a:t>
            </a:r>
          </a:p>
          <a:p>
            <a:pPr algn="l">
              <a:spcBef>
                <a:spcPts val="0"/>
              </a:spcBef>
              <a:spcAft>
                <a:spcPts val="183"/>
              </a:spcAft>
            </a:pPr>
            <a:r>
              <a:rPr sz="1100" b="1" lang="zh-TW" dirty="0">
                <a:solidFill>
                  <a:srgbClr val="000000"/>
                </a:solidFill>
                <a:latin typeface="Arial Unicode MS"/>
                <a:ea typeface="Arial Unicode MS"/>
                <a:cs typeface="Arial Unicode MS"/>
              </a:rPr>
              <a:t>第五週：規格表上的測距，要追問是對多少反射率的目標量的；相機和光達的安裝角度差 1 度，50 公尺外就偏 0.87 公尺。</a:t>
            </a:r>
            <a:r>
              <a:rPr sz="1100" lang="zh-TW" dirty="0">
                <a:solidFill>
                  <a:srgbClr val="000000"/>
                </a:solidFill>
                <a:latin typeface="Arial Unicode MS"/>
                <a:ea typeface="Arial Unicode MS"/>
                <a:cs typeface="Arial Unicode MS"/>
              </a:rPr>
              <a:t>規格表寫「測距 170 公尺」，一定要追問：對什麼東西？OS1 對反射率 80% 的白色目標是 170 公尺，對 10% 的黑色目標只有 90 公尺。路上有黑車、穿深色衣服的人，所以設計要用 </a:t>
            </a:r>
            <a:r>
              <a:rPr sz="1100" b="1" lang="zh-TW" dirty="0">
                <a:solidFill>
                  <a:srgbClr val="000000"/>
                </a:solidFill>
                <a:latin typeface="Arial Unicode MS"/>
                <a:ea typeface="Arial Unicode MS"/>
                <a:cs typeface="Arial Unicode MS"/>
              </a:rPr>
              <a:t>90 公尺</a:t>
            </a:r>
            <a:r>
              <a:rPr sz="1100" lang="zh-TW" dirty="0">
                <a:solidFill>
                  <a:srgbClr val="000000"/>
                </a:solidFill>
                <a:latin typeface="Arial Unicode MS"/>
                <a:ea typeface="Arial Unicode MS"/>
                <a:cs typeface="Arial Unicode MS"/>
              </a:rPr>
              <a:t>。就像手電筒照白牆和照黑布，看得到的距離差很多。第二個數字講標定：相機和光達的安裝角度差 1 度，50 公尺外就偏 0.87 公尺，快半個車道，而且是橫著偏。所以標定要很準，還要定期重標；nuScenes 收資料的時候，大約每週重標兩次。
</a:t>
            </a:r>
          </a:p>
          <a:p>
            <a:pPr algn="l">
              <a:spcBef>
                <a:spcPts val="0"/>
              </a:spcBef>
              <a:spcAft>
                <a:spcPts val="183"/>
              </a:spcAft>
            </a:pPr>
            <a:r>
              <a:rPr sz="1100" b="1" lang="zh-TW" dirty="0">
                <a:solidFill>
                  <a:srgbClr val="000000"/>
                </a:solidFill>
                <a:latin typeface="Arial Unicode MS"/>
                <a:ea typeface="Arial Unicode MS"/>
                <a:cs typeface="Arial Unicode MS"/>
              </a:rPr>
              <a:t>第六週：沒有一種感測器五個情境都贏。</a:t>
            </a:r>
            <a:r>
              <a:rPr sz="1100" lang="zh-TW" dirty="0">
                <a:solidFill>
                  <a:srgbClr val="000000"/>
                </a:solidFill>
                <a:latin typeface="Arial Unicode MS"/>
                <a:ea typeface="Arial Unicode MS"/>
                <a:cs typeface="Arial Unicode MS"/>
              </a:rPr>
              <a:t>這是第六週作業 22 格的結論。我們把雷達、超音波、衛星定位、IMU 放進五個情境（校園、河內、國道、停車場、隧道）一格一格判斷：雷達 ARS 408 到了國道，150 公尺外一束有 4.2 公尺寬，比車道還寬，分不出前車在哪一道；超音波只有 5.5 公尺，只在停車場夠用；衛星定位只有開 RTK 的那一顆在校園夠準，進隧道就完全沒訊號；IMU 會漂移，最好的那一顆在隧道也只撐 34 秒，雪山隧道要 580 秒。每一種都有它贏的地方，也都有它輸的地方，所以一台車要裝好幾種。這句話就是第七週融合的起點。
</a:t>
            </a:r>
          </a:p>
          <a:p>
            <a:pPr algn="l">
              <a:spcBef>
                <a:spcPts val="0"/>
              </a:spcBef>
              <a:spcAft>
                <a:spcPts val="183"/>
              </a:spcAft>
            </a:pPr>
            <a:r>
              <a:rPr sz="1100" b="1" lang="zh-TW" dirty="0">
                <a:solidFill>
                  <a:srgbClr val="000000"/>
                </a:solidFill>
                <a:latin typeface="Arial Unicode MS"/>
                <a:ea typeface="Arial Unicode MS"/>
                <a:cs typeface="Arial Unicode MS"/>
              </a:rPr>
              <a:t>第七週：每一種感測器都會失效；把它們合起來的時候，比較準的那一個要多相信一點。</a:t>
            </a:r>
            <a:r>
              <a:rPr sz="1100" lang="zh-TW" dirty="0">
                <a:solidFill>
                  <a:srgbClr val="000000"/>
                </a:solidFill>
                <a:latin typeface="Arial Unicode MS"/>
                <a:ea typeface="Arial Unicode MS"/>
                <a:cs typeface="Arial Unicode MS"/>
              </a:rPr>
              <a:t>失效對照表上，</a:t>
            </a:r>
            <a:r>
              <a:rPr sz="1100" b="1" lang="zh-TW" dirty="0">
                <a:solidFill>
                  <a:srgbClr val="000000"/>
                </a:solidFill>
                <a:latin typeface="Arial Unicode MS"/>
                <a:ea typeface="Arial Unicode MS"/>
                <a:cs typeface="Arial Unicode MS"/>
              </a:rPr>
              <a:t>沒有一欄全是勾</a:t>
            </a:r>
            <a:r>
              <a:rPr sz="1100" lang="zh-TW" dirty="0">
                <a:solidFill>
                  <a:srgbClr val="000000"/>
                </a:solidFill>
                <a:latin typeface="Arial Unicode MS"/>
                <a:ea typeface="Arial Unicode MS"/>
                <a:cs typeface="Arial Unicode MS"/>
              </a:rPr>
              <a:t>：下雨會讓相機失效，遠處的行人雷達抓不穩，進了隧道衛星定位就收不到訊號。感測器失效的方式有三種，最危險的是「看不到卻說沒事」，就像油表壞了卻一直顯示滿格。既然每一種都會壞，就要合起來，叫融合。合的時候不是平均，而是</a:t>
            </a:r>
            <a:r>
              <a:rPr sz="1100" b="1" lang="zh-TW" dirty="0">
                <a:solidFill>
                  <a:srgbClr val="000000"/>
                </a:solidFill>
                <a:latin typeface="Arial Unicode MS"/>
                <a:ea typeface="Arial Unicode MS"/>
                <a:cs typeface="Arial Unicode MS"/>
              </a:rPr>
              <a:t>比較準的多相信一點</a:t>
            </a:r>
            <a:r>
              <a:rPr sz="1100" lang="zh-TW" dirty="0">
                <a:solidFill>
                  <a:srgbClr val="000000"/>
                </a:solidFill>
                <a:latin typeface="Arial Unicode MS"/>
                <a:ea typeface="Arial Unicode MS"/>
                <a:cs typeface="Arial Unicode MS"/>
              </a:rPr>
              <a:t>：IMU 說 120 公尺（誤差 1），GPS 說 118 公尺（誤差 3），誤差差 3 倍，信任差 9 倍，合起來是 119.8 公尺。就像問路，問到兩個人，一個是住在附近的、一個是剛來的觀光客，你會比較相信住在附近的那個，但也不會完全不聽觀光客的。
</a:t>
            </a:r>
          </a:p>
          <a:p>
            <a:pPr algn="l">
              <a:spcBef>
                <a:spcPts val="0"/>
              </a:spcBef>
              <a:spcAft>
                <a:spcPts val="183"/>
              </a:spcAft>
            </a:pPr>
            <a:r>
              <a:rPr sz="1100" b="1" lang="zh-TW" dirty="0">
                <a:solidFill>
                  <a:srgbClr val="000000"/>
                </a:solidFill>
                <a:latin typeface="Arial Unicode MS"/>
                <a:ea typeface="Arial Unicode MS"/>
                <a:cs typeface="Arial Unicode MS"/>
              </a:rPr>
              <a:t>第八週：模型是從例子學出來的；它給出框、類別和分數；東西離得愈遠、光線愈暗，模型就愈容易漏掉。</a:t>
            </a:r>
            <a:r>
              <a:rPr sz="1100" lang="zh-TW" dirty="0">
                <a:solidFill>
                  <a:srgbClr val="000000"/>
                </a:solidFill>
                <a:latin typeface="Arial Unicode MS"/>
                <a:ea typeface="Arial Unicode MS"/>
                <a:cs typeface="Arial Unicode MS"/>
              </a:rPr>
              <a:t>電腦認車、認人，不是靠人寫規則，是看很多有標準答案的照片學出來的：猜、對答案、改一點點，重複很多次。所以標準答案，也就是標註，非常重要。學好的偵測模型，對每個東西給三樣：</a:t>
            </a:r>
            <a:r>
              <a:rPr sz="1100" b="1" lang="zh-TW" dirty="0">
                <a:solidFill>
                  <a:srgbClr val="000000"/>
                </a:solidFill>
                <a:latin typeface="Arial Unicode MS"/>
                <a:ea typeface="Arial Unicode MS"/>
                <a:cs typeface="Arial Unicode MS"/>
              </a:rPr>
              <a:t>框</a:t>
            </a:r>
            <a:r>
              <a:rPr sz="1100" lang="zh-TW" dirty="0">
                <a:solidFill>
                  <a:srgbClr val="000000"/>
                </a:solidFill>
                <a:latin typeface="Arial Unicode MS"/>
                <a:ea typeface="Arial Unicode MS"/>
                <a:cs typeface="Arial Unicode MS"/>
              </a:rPr>
              <a:t>（在照片的哪裡）、</a:t>
            </a:r>
            <a:r>
              <a:rPr sz="1100" b="1" lang="zh-TW" dirty="0">
                <a:solidFill>
                  <a:srgbClr val="000000"/>
                </a:solidFill>
                <a:latin typeface="Arial Unicode MS"/>
                <a:ea typeface="Arial Unicode MS"/>
                <a:cs typeface="Arial Unicode MS"/>
              </a:rPr>
              <a:t>類別</a:t>
            </a:r>
            <a:r>
              <a:rPr sz="1100" lang="zh-TW" dirty="0">
                <a:solidFill>
                  <a:srgbClr val="000000"/>
                </a:solidFill>
                <a:latin typeface="Arial Unicode MS"/>
                <a:ea typeface="Arial Unicode MS"/>
                <a:cs typeface="Arial Unicode MS"/>
              </a:rPr>
              <a:t>（是什麼）、</a:t>
            </a:r>
            <a:r>
              <a:rPr sz="1100" b="1" lang="zh-TW" dirty="0">
                <a:solidFill>
                  <a:srgbClr val="000000"/>
                </a:solidFill>
                <a:latin typeface="Arial Unicode MS"/>
                <a:ea typeface="Arial Unicode MS"/>
                <a:cs typeface="Arial Unicode MS"/>
              </a:rPr>
              <a:t>分數</a:t>
            </a:r>
            <a:r>
              <a:rPr sz="1100" lang="zh-TW" dirty="0">
                <a:solidFill>
                  <a:srgbClr val="000000"/>
                </a:solidFill>
                <a:latin typeface="Arial Unicode MS"/>
                <a:ea typeface="Arial Unicode MS"/>
                <a:cs typeface="Arial Unicode MS"/>
              </a:rPr>
              <a:t>（多有把握）。分數拿來設門檻：門檻設得低，就會多報出不存在的東西；門檻設得高，就會漏掉真的車和人。而且東西離得愈遠、光線愈暗，它就愈容易漏掉：行人在十公尺內抓到 82%，四十到五十公尺只剩 3%；晚上十到二十公尺的行人，從白天的 66% 掉到 49%。這跟前幾週的感測器一樣，沒有一種是完美的。
</a:t>
            </a:r>
          </a:p>
          <a:p>
            <a:pPr algn="l">
              <a:spcBef>
                <a:spcPts val="0"/>
              </a:spcBef>
              <a:spcAft>
                <a:spcPts val="183"/>
              </a:spcAft>
            </a:pPr>
            <a:r>
              <a:rPr sz="1100" lang="zh-TW" dirty="0">
                <a:solidFill>
                  <a:srgbClr val="000000"/>
                </a:solidFill>
                <a:latin typeface="Arial Unicode MS"/>
                <a:ea typeface="Arial Unicode MS"/>
                <a:cs typeface="Arial Unicode MS"/>
              </a:rPr>
              <a:t>這八句話如果都說得出來，而且說得出例子和數字，期中考就有一半的把握了。接下來一週一週看細節。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17"/>
              </a:spcAft>
            </a:pPr>
            <a:r>
              <a:rPr sz="1300" b="1" lang="zh-TW" dirty="0">
                <a:solidFill>
                  <a:srgbClr val="000000"/>
                </a:solidFill>
                <a:latin typeface="Arial Unicode MS"/>
                <a:ea typeface="Arial Unicode MS"/>
                <a:cs typeface="Arial Unicode MS"/>
              </a:rPr>
              <a:t>這一張的目的：</a:t>
            </a:r>
            <a:r>
              <a:rPr sz="1300" lang="zh-TW" dirty="0">
                <a:solidFill>
                  <a:srgbClr val="000000"/>
                </a:solidFill>
                <a:latin typeface="Arial Unicode MS"/>
                <a:ea typeface="Arial Unicode MS"/>
                <a:cs typeface="Arial Unicode MS"/>
              </a:rPr>
              <a:t>讓大家能用三個問題，判斷一台車是第幾級。
</a:t>
            </a:r>
          </a:p>
          <a:p>
            <a:pPr algn="l">
              <a:spcBef>
                <a:spcPts val="0"/>
              </a:spcBef>
              <a:spcAft>
                <a:spcPts val="217"/>
              </a:spcAft>
            </a:pPr>
            <a:r>
              <a:rPr sz="1300" lang="zh-TW" dirty="0">
                <a:solidFill>
                  <a:srgbClr val="000000"/>
                </a:solidFill>
                <a:latin typeface="Arial Unicode MS"/>
                <a:ea typeface="Arial Unicode MS"/>
                <a:cs typeface="Arial Unicode MS"/>
              </a:rPr>
              <a:t>第一、二週最重要的就是這張表。
</a:t>
            </a:r>
          </a:p>
          <a:p>
            <a:pPr algn="l">
              <a:spcBef>
                <a:spcPts val="0"/>
              </a:spcBef>
              <a:spcAft>
                <a:spcPts val="217"/>
              </a:spcAft>
            </a:pPr>
            <a:r>
              <a:rPr sz="1300" b="1" lang="zh-TW" dirty="0">
                <a:solidFill>
                  <a:srgbClr val="000000"/>
                </a:solidFill>
                <a:latin typeface="Arial Unicode MS"/>
                <a:ea typeface="Arial Unicode MS"/>
                <a:cs typeface="Arial Unicode MS"/>
              </a:rPr>
              <a:t>L0</a:t>
            </a:r>
            <a:r>
              <a:rPr sz="1300" lang="zh-TW" dirty="0">
                <a:solidFill>
                  <a:srgbClr val="000000"/>
                </a:solidFill>
                <a:latin typeface="Arial Unicode MS"/>
                <a:ea typeface="Arial Unicode MS"/>
                <a:cs typeface="Arial Unicode MS"/>
              </a:rPr>
              <a:t>：系統只會警告，或在快撞的時候瞬間介入。</a:t>
            </a:r>
            <a:r>
              <a:rPr sz="1300" b="1" lang="zh-TW" dirty="0">
                <a:solidFill>
                  <a:srgbClr val="000000"/>
                </a:solidFill>
                <a:latin typeface="Arial Unicode MS"/>
                <a:ea typeface="Arial Unicode MS"/>
                <a:cs typeface="Arial Unicode MS"/>
              </a:rPr>
              <a:t>AEB 自動緊急煞車是 L0</a:t>
            </a:r>
            <a:r>
              <a:rPr sz="1300" lang="zh-TW" dirty="0">
                <a:solidFill>
                  <a:srgbClr val="000000"/>
                </a:solidFill>
                <a:latin typeface="Arial Unicode MS"/>
                <a:ea typeface="Arial Unicode MS"/>
                <a:cs typeface="Arial Unicode MS"/>
              </a:rPr>
              <a:t>，這一題最多人錯，以為它會自己煞車就是 L1。
</a:t>
            </a:r>
          </a:p>
          <a:p>
            <a:pPr algn="l">
              <a:spcBef>
                <a:spcPts val="0"/>
              </a:spcBef>
              <a:spcAft>
                <a:spcPts val="217"/>
              </a:spcAft>
            </a:pPr>
            <a:r>
              <a:rPr sz="1300" b="1" lang="zh-TW" dirty="0">
                <a:solidFill>
                  <a:srgbClr val="000000"/>
                </a:solidFill>
                <a:latin typeface="Arial Unicode MS"/>
                <a:ea typeface="Arial Unicode MS"/>
                <a:cs typeface="Arial Unicode MS"/>
              </a:rPr>
              <a:t>L1</a:t>
            </a:r>
            <a:r>
              <a:rPr sz="1300" lang="zh-TW" dirty="0">
                <a:solidFill>
                  <a:srgbClr val="000000"/>
                </a:solidFill>
                <a:latin typeface="Arial Unicode MS"/>
                <a:ea typeface="Arial Unicode MS"/>
                <a:cs typeface="Arial Unicode MS"/>
              </a:rPr>
              <a:t>：持續做一項，方向</a:t>
            </a:r>
            <a:r>
              <a:rPr sz="1300" b="1" lang="zh-TW" dirty="0">
                <a:solidFill>
                  <a:srgbClr val="000000"/>
                </a:solidFill>
                <a:latin typeface="Arial Unicode MS"/>
                <a:ea typeface="Arial Unicode MS"/>
                <a:cs typeface="Arial Unicode MS"/>
              </a:rPr>
              <a:t>或</a:t>
            </a:r>
            <a:r>
              <a:rPr sz="1300" lang="zh-TW" dirty="0">
                <a:solidFill>
                  <a:srgbClr val="000000"/>
                </a:solidFill>
                <a:latin typeface="Arial Unicode MS"/>
                <a:ea typeface="Arial Unicode MS"/>
                <a:cs typeface="Arial Unicode MS"/>
              </a:rPr>
              <a:t>速度。ACC 跟車是 L1。
</a:t>
            </a:r>
          </a:p>
          <a:p>
            <a:pPr algn="l">
              <a:spcBef>
                <a:spcPts val="0"/>
              </a:spcBef>
              <a:spcAft>
                <a:spcPts val="217"/>
              </a:spcAft>
            </a:pPr>
            <a:r>
              <a:rPr sz="1300" b="1" lang="zh-TW" dirty="0">
                <a:solidFill>
                  <a:srgbClr val="000000"/>
                </a:solidFill>
                <a:latin typeface="Arial Unicode MS"/>
                <a:ea typeface="Arial Unicode MS"/>
                <a:cs typeface="Arial Unicode MS"/>
              </a:rPr>
              <a:t>L2</a:t>
            </a:r>
            <a:r>
              <a:rPr sz="1300" lang="zh-TW" dirty="0">
                <a:solidFill>
                  <a:srgbClr val="000000"/>
                </a:solidFill>
                <a:latin typeface="Arial Unicode MS"/>
                <a:ea typeface="Arial Unicode MS"/>
                <a:cs typeface="Arial Unicode MS"/>
              </a:rPr>
              <a:t>：方向</a:t>
            </a:r>
            <a:r>
              <a:rPr sz="1300" b="1" lang="zh-TW" dirty="0">
                <a:solidFill>
                  <a:srgbClr val="000000"/>
                </a:solidFill>
                <a:latin typeface="Arial Unicode MS"/>
                <a:ea typeface="Arial Unicode MS"/>
                <a:cs typeface="Arial Unicode MS"/>
              </a:rPr>
              <a:t>和</a:t>
            </a:r>
            <a:r>
              <a:rPr sz="1300" lang="zh-TW" dirty="0">
                <a:solidFill>
                  <a:srgbClr val="000000"/>
                </a:solidFill>
                <a:latin typeface="Arial Unicode MS"/>
                <a:ea typeface="Arial Unicode MS"/>
                <a:cs typeface="Arial Unicode MS"/>
              </a:rPr>
              <a:t>速度都做，可是人要一直看路，所以車子會一直提醒你手放方向盤。
</a:t>
            </a:r>
          </a:p>
          <a:p>
            <a:pPr algn="l">
              <a:spcBef>
                <a:spcPts val="0"/>
              </a:spcBef>
              <a:spcAft>
                <a:spcPts val="217"/>
              </a:spcAft>
            </a:pPr>
            <a:r>
              <a:rPr sz="1300" b="1" lang="zh-TW" dirty="0">
                <a:solidFill>
                  <a:srgbClr val="000000"/>
                </a:solidFill>
                <a:latin typeface="Arial Unicode MS"/>
                <a:ea typeface="Arial Unicode MS"/>
                <a:cs typeface="Arial Unicode MS"/>
              </a:rPr>
              <a:t>L3</a:t>
            </a:r>
            <a:r>
              <a:rPr sz="1300" lang="zh-TW" dirty="0">
                <a:solidFill>
                  <a:srgbClr val="000000"/>
                </a:solidFill>
                <a:latin typeface="Arial Unicode MS"/>
                <a:ea typeface="Arial Unicode MS"/>
                <a:cs typeface="Arial Unicode MS"/>
              </a:rPr>
              <a:t>：在 ODD 裡面全部自己開，人可以不看路，但系統要求的時候，人要接手。
</a:t>
            </a:r>
          </a:p>
          <a:p>
            <a:pPr algn="l">
              <a:spcBef>
                <a:spcPts val="0"/>
              </a:spcBef>
              <a:spcAft>
                <a:spcPts val="217"/>
              </a:spcAft>
            </a:pPr>
            <a:r>
              <a:rPr sz="1300" b="1" lang="zh-TW" dirty="0">
                <a:solidFill>
                  <a:srgbClr val="000000"/>
                </a:solidFill>
                <a:latin typeface="Arial Unicode MS"/>
                <a:ea typeface="Arial Unicode MS"/>
                <a:cs typeface="Arial Unicode MS"/>
              </a:rPr>
              <a:t>L4</a:t>
            </a:r>
            <a:r>
              <a:rPr sz="1300" lang="zh-TW" dirty="0">
                <a:solidFill>
                  <a:srgbClr val="000000"/>
                </a:solidFill>
                <a:latin typeface="Arial Unicode MS"/>
                <a:ea typeface="Arial Unicode MS"/>
                <a:cs typeface="Arial Unicode MS"/>
              </a:rPr>
              <a:t>：在 ODD 裡面，連接手都自己做，不需要人。
</a:t>
            </a:r>
          </a:p>
          <a:p>
            <a:pPr algn="l">
              <a:spcBef>
                <a:spcPts val="0"/>
              </a:spcBef>
              <a:spcAft>
                <a:spcPts val="217"/>
              </a:spcAft>
            </a:pPr>
            <a:r>
              <a:rPr sz="1300" b="1" lang="zh-TW" dirty="0">
                <a:solidFill>
                  <a:srgbClr val="000000"/>
                </a:solidFill>
                <a:latin typeface="Arial Unicode MS"/>
                <a:ea typeface="Arial Unicode MS"/>
                <a:cs typeface="Arial Unicode MS"/>
              </a:rPr>
              <a:t>L5</a:t>
            </a:r>
            <a:r>
              <a:rPr sz="1300" lang="zh-TW" dirty="0">
                <a:solidFill>
                  <a:srgbClr val="000000"/>
                </a:solidFill>
                <a:latin typeface="Arial Unicode MS"/>
                <a:ea typeface="Arial Unicode MS"/>
                <a:cs typeface="Arial Unicode MS"/>
              </a:rPr>
              <a:t>：沒有 ODD 限制，到哪裡都能開，</a:t>
            </a:r>
            <a:r>
              <a:rPr sz="1300" b="1" lang="zh-TW" dirty="0">
                <a:solidFill>
                  <a:srgbClr val="000000"/>
                </a:solidFill>
                <a:latin typeface="Arial Unicode MS"/>
                <a:ea typeface="Arial Unicode MS"/>
                <a:cs typeface="Arial Unicode MS"/>
              </a:rPr>
              <a:t>目前不存在</a:t>
            </a:r>
            <a:r>
              <a:rPr sz="1300" lang="zh-TW" dirty="0">
                <a:solidFill>
                  <a:srgbClr val="000000"/>
                </a:solidFill>
                <a:latin typeface="Arial Unicode MS"/>
                <a:ea typeface="Arial Unicode MS"/>
                <a:cs typeface="Arial Unicode MS"/>
              </a:rPr>
              <a:t>。
</a:t>
            </a:r>
          </a:p>
          <a:p>
            <a:pPr algn="l">
              <a:spcBef>
                <a:spcPts val="0"/>
              </a:spcBef>
              <a:spcAft>
                <a:spcPts val="217"/>
              </a:spcAft>
            </a:pPr>
            <a:r>
              <a:rPr sz="1300" lang="zh-TW" dirty="0">
                <a:solidFill>
                  <a:srgbClr val="000000"/>
                </a:solidFill>
                <a:latin typeface="Arial Unicode MS"/>
                <a:ea typeface="Arial Unicode MS"/>
                <a:cs typeface="Arial Unicode MS"/>
              </a:rPr>
              <a:t>判斷的時候，問三個問題：一、瞬間還是持續？瞬間就是 L0。二、管一項還是兩項？一項是 L1。三、誰看路、誰接手？人看路是 L2；人可以不看但要接手是 L3；連接手都不用是 L4。
</a:t>
            </a:r>
          </a:p>
          <a:p>
            <a:pPr algn="l">
              <a:spcBef>
                <a:spcPts val="0"/>
              </a:spcBef>
              <a:spcAft>
                <a:spcPts val="217"/>
              </a:spcAft>
            </a:pPr>
            <a:r>
              <a:rPr sz="1300" lang="zh-TW" dirty="0">
                <a:solidFill>
                  <a:srgbClr val="000000"/>
                </a:solidFill>
                <a:latin typeface="Arial Unicode MS"/>
                <a:ea typeface="Arial Unicode MS"/>
                <a:cs typeface="Arial Unicode MS"/>
              </a:rPr>
              <a:t>另外兩個常考的：L2 和 L3 的差別，是</a:t>
            </a:r>
            <a:r>
              <a:rPr sz="1300" b="1" lang="zh-TW" dirty="0">
                <a:solidFill>
                  <a:srgbClr val="000000"/>
                </a:solidFill>
                <a:latin typeface="Arial Unicode MS"/>
                <a:ea typeface="Arial Unicode MS"/>
                <a:cs typeface="Arial Unicode MS"/>
              </a:rPr>
              <a:t>出事的時候誰負責</a:t>
            </a:r>
            <a:r>
              <a:rPr sz="1300" lang="zh-TW" dirty="0">
                <a:solidFill>
                  <a:srgbClr val="000000"/>
                </a:solidFill>
                <a:latin typeface="Arial Unicode MS"/>
                <a:ea typeface="Arial Unicode MS"/>
                <a:cs typeface="Arial Unicode MS"/>
              </a:rPr>
              <a:t>；L4 和 L5 的差別，是</a:t>
            </a:r>
            <a:r>
              <a:rPr sz="1300" b="1" lang="zh-TW" dirty="0">
                <a:solidFill>
                  <a:srgbClr val="000000"/>
                </a:solidFill>
                <a:latin typeface="Arial Unicode MS"/>
                <a:ea typeface="Arial Unicode MS"/>
                <a:cs typeface="Arial Unicode MS"/>
              </a:rPr>
              <a:t>有沒有 ODD</a:t>
            </a:r>
            <a:r>
              <a:rPr sz="1300" lang="zh-TW" dirty="0">
                <a:solidFill>
                  <a:srgbClr val="000000"/>
                </a:solidFill>
                <a:latin typeface="Arial Unicode MS"/>
                <a:ea typeface="Arial Unicode MS"/>
                <a:cs typeface="Arial Unicode MS"/>
              </a:rPr>
              <a:t>。沒有方向盤，不能證明是 L5。
</a:t>
            </a:r>
          </a:p>
          <a:p>
            <a:pPr algn="l">
              <a:spcBef>
                <a:spcPts val="0"/>
              </a:spcBef>
              <a:spcAft>
                <a:spcPts val="217"/>
              </a:spcAft>
            </a:pPr>
            <a:r>
              <a:rPr sz="1300" lang="zh-TW" dirty="0">
                <a:solidFill>
                  <a:srgbClr val="000000"/>
                </a:solidFill>
                <a:latin typeface="Arial Unicode MS"/>
                <a:ea typeface="Arial Unicode MS"/>
                <a:cs typeface="Arial Unicode MS"/>
              </a:rPr>
              <a:t>（老師備註：河內園區巴士、車上有安全員那一題，第一週講義答「接近 L3」，第二週和投影片答 L4，教材有兩種說法，模擬考已避開，期中考出題也請避開或先統一說法。）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25"/>
              </a:spcAft>
            </a:pPr>
            <a:r>
              <a:rPr sz="1350" b="1" lang="zh-TW" dirty="0">
                <a:solidFill>
                  <a:srgbClr val="000000"/>
                </a:solidFill>
                <a:latin typeface="Arial Unicode MS"/>
                <a:ea typeface="Arial Unicode MS"/>
                <a:cs typeface="Arial Unicode MS"/>
              </a:rPr>
              <a:t>這一張的目的：</a:t>
            </a:r>
            <a:r>
              <a:rPr sz="1350" lang="zh-TW" dirty="0">
                <a:solidFill>
                  <a:srgbClr val="000000"/>
                </a:solidFill>
                <a:latin typeface="Arial Unicode MS"/>
                <a:ea typeface="Arial Unicode MS"/>
                <a:cs typeface="Arial Unicode MS"/>
              </a:rPr>
              <a:t>讓大家記得 ODD 六格，並且會讀條件裡的單位和「至少」「不超過」。
</a:t>
            </a:r>
          </a:p>
          <a:p>
            <a:pPr algn="l">
              <a:spcBef>
                <a:spcPts val="0"/>
              </a:spcBef>
              <a:spcAft>
                <a:spcPts val="225"/>
              </a:spcAft>
            </a:pPr>
            <a:r>
              <a:rPr sz="1350" lang="zh-TW" dirty="0">
                <a:solidFill>
                  <a:srgbClr val="000000"/>
                </a:solidFill>
                <a:latin typeface="Arial Unicode MS"/>
                <a:ea typeface="Arial Unicode MS"/>
                <a:cs typeface="Arial Unicode MS"/>
              </a:rPr>
              <a:t>ODD 六格，本課的定版：</a:t>
            </a:r>
            <a:r>
              <a:rPr sz="1350" b="1" lang="zh-TW" dirty="0">
                <a:solidFill>
                  <a:srgbClr val="000000"/>
                </a:solidFill>
                <a:latin typeface="Arial Unicode MS"/>
                <a:ea typeface="Arial Unicode MS"/>
                <a:cs typeface="Arial Unicode MS"/>
              </a:rPr>
              <a:t>道路類型、速度域、交通狀況、天候與光照、地理範圍、人的角色</a:t>
            </a:r>
            <a:r>
              <a:rPr sz="1350" lang="zh-TW" dirty="0">
                <a:solidFill>
                  <a:srgbClr val="000000"/>
                </a:solidFill>
                <a:latin typeface="Arial Unicode MS"/>
                <a:ea typeface="Arial Unicode MS"/>
                <a:cs typeface="Arial Unicode MS"/>
              </a:rPr>
              <a:t>。右邊是每一格的例子：路線、速度、交通、無雨乾燥，取自第二週講義的「校園接駁車」範例；照度那一格取自第二週學習單 D 組（駁二）；人的角色取自第一週河內的例子。
</a:t>
            </a:r>
          </a:p>
          <a:p>
            <a:pPr algn="l">
              <a:spcBef>
                <a:spcPts val="0"/>
              </a:spcBef>
              <a:spcAft>
                <a:spcPts val="225"/>
              </a:spcAft>
            </a:pPr>
            <a:r>
              <a:rPr sz="1350" lang="zh-TW" dirty="0">
                <a:solidFill>
                  <a:srgbClr val="000000"/>
                </a:solidFill>
                <a:latin typeface="Arial Unicode MS"/>
                <a:ea typeface="Arial Unicode MS"/>
                <a:cs typeface="Arial Unicode MS"/>
              </a:rPr>
              <a:t>讀 ODD 條件，有三個陷阱，第二週學習單很多人掉進去：
</a:t>
            </a:r>
          </a:p>
          <a:p>
            <a:pPr algn="l">
              <a:spcBef>
                <a:spcPts val="0"/>
              </a:spcBef>
              <a:spcAft>
                <a:spcPts val="225"/>
              </a:spcAft>
            </a:pPr>
            <a:r>
              <a:rPr sz="1350" lang="zh-TW" dirty="0">
                <a:solidFill>
                  <a:srgbClr val="000000"/>
                </a:solidFill>
                <a:latin typeface="Arial Unicode MS"/>
                <a:ea typeface="Arial Unicode MS"/>
                <a:cs typeface="Arial Unicode MS"/>
              </a:rPr>
              <a:t>第一，</a:t>
            </a:r>
            <a:r>
              <a:rPr sz="1350" b="1" lang="zh-TW" dirty="0">
                <a:solidFill>
                  <a:srgbClr val="000000"/>
                </a:solidFill>
                <a:latin typeface="Arial Unicode MS"/>
                <a:ea typeface="Arial Unicode MS"/>
                <a:cs typeface="Arial Unicode MS"/>
              </a:rPr>
              <a:t>「至少」是下限</a:t>
            </a:r>
            <a:r>
              <a:rPr sz="1350" lang="zh-TW" dirty="0">
                <a:solidFill>
                  <a:srgbClr val="000000"/>
                </a:solidFill>
                <a:latin typeface="Arial Unicode MS"/>
                <a:ea typeface="Arial Unicode MS"/>
                <a:cs typeface="Arial Unicode MS"/>
              </a:rPr>
              <a:t>。照度至少 20 lx，現場量到 5 lx，比下限低，就是出了 ODD。很多人寫成「5 小於 20，沒有超過，所以符合」，方向看反了。
</a:t>
            </a:r>
          </a:p>
          <a:p>
            <a:pPr algn="l">
              <a:spcBef>
                <a:spcPts val="0"/>
              </a:spcBef>
              <a:spcAft>
                <a:spcPts val="225"/>
              </a:spcAft>
            </a:pPr>
            <a:r>
              <a:rPr sz="1350" lang="zh-TW" dirty="0">
                <a:solidFill>
                  <a:srgbClr val="000000"/>
                </a:solidFill>
                <a:latin typeface="Arial Unicode MS"/>
                <a:ea typeface="Arial Unicode MS"/>
                <a:cs typeface="Arial Unicode MS"/>
              </a:rPr>
              <a:t>第二，</a:t>
            </a:r>
            <a:r>
              <a:rPr sz="1350" b="1" lang="zh-TW" dirty="0">
                <a:solidFill>
                  <a:srgbClr val="000000"/>
                </a:solidFill>
                <a:latin typeface="Arial Unicode MS"/>
                <a:ea typeface="Arial Unicode MS"/>
                <a:cs typeface="Arial Unicode MS"/>
              </a:rPr>
              <a:t>單位要看清楚</a:t>
            </a:r>
            <a:r>
              <a:rPr sz="1350" lang="zh-TW" dirty="0">
                <a:solidFill>
                  <a:srgbClr val="000000"/>
                </a:solidFill>
                <a:latin typeface="Arial Unicode MS"/>
                <a:ea typeface="Arial Unicode MS"/>
                <a:cs typeface="Arial Unicode MS"/>
              </a:rPr>
              <a:t>。mm/h 是雨下得多大，不是積水多深；能見度不等於感測器的量程。
</a:t>
            </a:r>
          </a:p>
          <a:p>
            <a:pPr algn="l">
              <a:spcBef>
                <a:spcPts val="0"/>
              </a:spcBef>
              <a:spcAft>
                <a:spcPts val="225"/>
              </a:spcAft>
            </a:pPr>
            <a:r>
              <a:rPr sz="1350" b="1" lang="zh-TW" dirty="0">
                <a:solidFill>
                  <a:srgbClr val="000000"/>
                </a:solidFill>
                <a:latin typeface="Arial Unicode MS"/>
                <a:ea typeface="Arial Unicode MS"/>
                <a:cs typeface="Arial Unicode MS"/>
              </a:rPr>
              <a:t>lx 是什麼？</a:t>
            </a:r>
            <a:r>
              <a:rPr sz="1350" lang="zh-TW" dirty="0">
                <a:solidFill>
                  <a:srgbClr val="000000"/>
                </a:solidFill>
                <a:latin typeface="Arial Unicode MS"/>
                <a:ea typeface="Arial Unicode MS"/>
                <a:cs typeface="Arial Unicode MS"/>
              </a:rPr>
              <a:t>lx 是 lux 的縮寫，中文叫「勒克斯」，是</a:t>
            </a:r>
            <a:r>
              <a:rPr sz="1350" b="1" lang="zh-TW" dirty="0">
                <a:solidFill>
                  <a:srgbClr val="000000"/>
                </a:solidFill>
                <a:latin typeface="Arial Unicode MS"/>
                <a:ea typeface="Arial Unicode MS"/>
                <a:cs typeface="Arial Unicode MS"/>
              </a:rPr>
              <a:t>照度</a:t>
            </a:r>
            <a:r>
              <a:rPr sz="1350" lang="zh-TW" dirty="0">
                <a:solidFill>
                  <a:srgbClr val="000000"/>
                </a:solidFill>
                <a:latin typeface="Arial Unicode MS"/>
                <a:ea typeface="Arial Unicode MS"/>
                <a:cs typeface="Arial Unicode MS"/>
              </a:rPr>
              <a:t>的單位，量的是「照在這個地方的光有多少」，數字愈大愈亮。給大家幾個大約的數字：正午的太陽直射大約三萬到十萬 lx，第五週光達規格表上那個「100 klx 陽光」就是這個；陰天白天大約一千；辦公室大約三百到五百；周圍很暗的公共區域照明大約二十到五十；黃昏快結束、天快全黑的時候大約三點四；滿月的晚上只有零點幾。所以「至少 20 lx」大概是「有開燈的暗處」；現場只有 5 lx，就是天快黑、路燈又不夠亮。
</a:t>
            </a:r>
          </a:p>
          <a:p>
            <a:pPr algn="l">
              <a:spcBef>
                <a:spcPts val="0"/>
              </a:spcBef>
              <a:spcAft>
                <a:spcPts val="225"/>
              </a:spcAft>
            </a:pPr>
            <a:r>
              <a:rPr sz="1350" lang="zh-TW" dirty="0">
                <a:solidFill>
                  <a:srgbClr val="000000"/>
                </a:solidFill>
                <a:latin typeface="Arial Unicode MS"/>
                <a:ea typeface="Arial Unicode MS"/>
                <a:cs typeface="Arial Unicode MS"/>
              </a:rPr>
              <a:t>第三，</a:t>
            </a:r>
            <a:r>
              <a:rPr sz="1350" b="1" lang="zh-TW" dirty="0">
                <a:solidFill>
                  <a:srgbClr val="000000"/>
                </a:solidFill>
                <a:latin typeface="Arial Unicode MS"/>
                <a:ea typeface="Arial Unicode MS"/>
                <a:cs typeface="Arial Unicode MS"/>
              </a:rPr>
              <a:t>開慢一點不會讓它變回符合。</a:t>
            </a:r>
            <a:r>
              <a:rPr sz="1350" lang="zh-TW" dirty="0">
                <a:solidFill>
                  <a:srgbClr val="000000"/>
                </a:solidFill>
                <a:latin typeface="Arial Unicode MS"/>
                <a:ea typeface="Arial Unicode MS"/>
                <a:cs typeface="Arial Unicode MS"/>
              </a:rPr>
              <a:t>條件就是條件，不符合就是不符合。
</a:t>
            </a:r>
          </a:p>
          <a:p>
            <a:pPr algn="l">
              <a:spcBef>
                <a:spcPts val="0"/>
              </a:spcBef>
              <a:spcAft>
                <a:spcPts val="225"/>
              </a:spcAft>
            </a:pPr>
            <a:r>
              <a:rPr sz="1350" lang="zh-TW" dirty="0">
                <a:solidFill>
                  <a:srgbClr val="000000"/>
                </a:solidFill>
                <a:latin typeface="Arial Unicode MS"/>
                <a:ea typeface="Arial Unicode MS"/>
                <a:cs typeface="Arial Unicode MS"/>
              </a:rPr>
              <a:t>還有一點：沒有寫出來的條件，要標「尚未提供」，不能當成不受限制。</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這一張的目的：</a:t>
            </a:r>
            <a:r>
              <a:rPr sz="950" lang="zh-TW" dirty="0">
                <a:solidFill>
                  <a:srgbClr val="000000"/>
                </a:solidFill>
                <a:latin typeface="Arial Unicode MS"/>
                <a:ea typeface="Arial Unicode MS"/>
                <a:cs typeface="Arial Unicode MS"/>
              </a:rPr>
              <a:t>讓大家記得每一種感測器「直接量到的是什麼」，其他都是算出來的；並且知道算出來的東西多了假設和步驟，比較容易錯。
</a:t>
            </a:r>
          </a:p>
          <a:p>
            <a:pPr algn="l">
              <a:spcBef>
                <a:spcPts val="0"/>
              </a:spcBef>
              <a:spcAft>
                <a:spcPts val="158"/>
              </a:spcAft>
            </a:pPr>
            <a:r>
              <a:rPr sz="950" lang="zh-TW" dirty="0">
                <a:solidFill>
                  <a:srgbClr val="000000"/>
                </a:solidFill>
                <a:latin typeface="Arial Unicode MS"/>
                <a:ea typeface="Arial Unicode MS"/>
                <a:cs typeface="Arial Unicode MS"/>
              </a:rPr>
              <a:t>第三週的主線三句話：每種感測器只量得到一種東西，其他都是算出來的；量得到距離，不等於知道那是什麼；規格都有前提。
</a:t>
            </a:r>
          </a:p>
          <a:p>
            <a:pPr algn="l">
              <a:spcBef>
                <a:spcPts val="0"/>
              </a:spcBef>
              <a:spcAft>
                <a:spcPts val="158"/>
              </a:spcAft>
            </a:pPr>
            <a:r>
              <a:rPr sz="950" b="1" lang="zh-TW" dirty="0">
                <a:solidFill>
                  <a:srgbClr val="000000"/>
                </a:solidFill>
                <a:latin typeface="Arial Unicode MS"/>
                <a:ea typeface="Arial Unicode MS"/>
                <a:cs typeface="Arial Unicode MS"/>
              </a:rPr>
              <a:t>第一句「其他都是算出來的」是什麼意思？</a:t>
            </a:r>
            <a:r>
              <a:rPr sz="950" lang="zh-TW" dirty="0">
                <a:solidFill>
                  <a:srgbClr val="000000"/>
                </a:solidFill>
                <a:latin typeface="Arial Unicode MS"/>
                <a:ea typeface="Arial Unicode MS"/>
                <a:cs typeface="Arial Unicode MS"/>
              </a:rPr>
              <a:t>「直接量到」，是感測器的硬體本身感受到的那個量，量一次就拿到。「算出來」，是拿量到的東西再去計算，而且通常要加上一些</a:t>
            </a:r>
            <a:r>
              <a:rPr sz="950" b="1" lang="zh-TW" dirty="0">
                <a:solidFill>
                  <a:srgbClr val="000000"/>
                </a:solidFill>
                <a:latin typeface="Arial Unicode MS"/>
                <a:ea typeface="Arial Unicode MS"/>
                <a:cs typeface="Arial Unicode MS"/>
              </a:rPr>
              <a:t>假設</a:t>
            </a:r>
            <a:r>
              <a:rPr sz="950" lang="zh-TW" dirty="0">
                <a:solidFill>
                  <a:srgbClr val="000000"/>
                </a:solidFill>
                <a:latin typeface="Arial Unicode MS"/>
                <a:ea typeface="Arial Unicode MS"/>
                <a:cs typeface="Arial Unicode MS"/>
              </a:rPr>
              <a:t>；假設不成立，算出來的就錯。舉個例子：機車的時速表，其實沒有量「速度」，它量的是輪子轉多快，再乘上輪胎一圈多長，算出時速。換一個比較小的輪胎，時速表就會不準，因為「輪胎一圈多長」這個假設變了。
</a:t>
            </a:r>
          </a:p>
          <a:p>
            <a:pPr algn="l">
              <a:spcBef>
                <a:spcPts val="0"/>
              </a:spcBef>
              <a:spcAft>
                <a:spcPts val="158"/>
              </a:spcAft>
            </a:pPr>
            <a:r>
              <a:rPr sz="950" b="1" lang="zh-TW" dirty="0">
                <a:solidFill>
                  <a:srgbClr val="000000"/>
                </a:solidFill>
                <a:latin typeface="Arial Unicode MS"/>
                <a:ea typeface="Arial Unicode MS"/>
                <a:cs typeface="Arial Unicode MS"/>
              </a:rPr>
              <a:t>看表，一列一列講量到什麼、什麼是算的。</a:t>
            </a:r>
            <a:r>
              <a:rPr sz="950" lang="zh-TW" dirty="0">
                <a:solidFill>
                  <a:srgbClr val="000000"/>
                </a:solidFill>
                <a:latin typeface="Arial Unicode MS"/>
                <a:ea typeface="Arial Unicode MS"/>
                <a:cs typeface="Arial Unicode MS"/>
              </a:rPr>
              <a:t>
</a:t>
            </a:r>
          </a:p>
          <a:p>
            <a:pPr algn="l">
              <a:spcBef>
                <a:spcPts val="0"/>
              </a:spcBef>
              <a:spcAft>
                <a:spcPts val="158"/>
              </a:spcAft>
            </a:pPr>
            <a:r>
              <a:rPr sz="950" b="1" lang="zh-TW" dirty="0">
                <a:solidFill>
                  <a:srgbClr val="000000"/>
                </a:solidFill>
                <a:latin typeface="Arial Unicode MS"/>
                <a:ea typeface="Arial Unicode MS"/>
                <a:cs typeface="Arial Unicode MS"/>
              </a:rPr>
              <a:t>相機</a:t>
            </a:r>
            <a:r>
              <a:rPr sz="950" lang="zh-TW" dirty="0">
                <a:solidFill>
                  <a:srgbClr val="000000"/>
                </a:solidFill>
                <a:latin typeface="Arial Unicode MS"/>
                <a:ea typeface="Arial Unicode MS"/>
                <a:cs typeface="Arial Unicode MS"/>
              </a:rPr>
              <a:t>：每個像素量到的是</a:t>
            </a:r>
            <a:r>
              <a:rPr sz="950" b="1" lang="zh-TW" dirty="0">
                <a:solidFill>
                  <a:srgbClr val="000000"/>
                </a:solidFill>
                <a:latin typeface="Arial Unicode MS"/>
                <a:ea typeface="Arial Unicode MS"/>
                <a:cs typeface="Arial Unicode MS"/>
              </a:rPr>
              <a:t>亮度</a:t>
            </a:r>
            <a:r>
              <a:rPr sz="950" lang="zh-TW" dirty="0">
                <a:solidFill>
                  <a:srgbClr val="000000"/>
                </a:solidFill>
                <a:latin typeface="Arial Unicode MS"/>
                <a:ea typeface="Arial Unicode MS"/>
                <a:cs typeface="Arial Unicode MS"/>
              </a:rPr>
              <a:t>，貼了濾色片就是紅、綠、藍各多亮；像素在畫面的哪一格，代表光從哪個</a:t>
            </a:r>
            <a:r>
              <a:rPr sz="950" b="1" lang="zh-TW" dirty="0">
                <a:solidFill>
                  <a:srgbClr val="000000"/>
                </a:solidFill>
                <a:latin typeface="Arial Unicode MS"/>
                <a:ea typeface="Arial Unicode MS"/>
                <a:cs typeface="Arial Unicode MS"/>
              </a:rPr>
              <a:t>角度</a:t>
            </a:r>
            <a:r>
              <a:rPr sz="950" lang="zh-TW" dirty="0">
                <a:solidFill>
                  <a:srgbClr val="000000"/>
                </a:solidFill>
                <a:latin typeface="Arial Unicode MS"/>
                <a:ea typeface="Arial Unicode MS"/>
                <a:cs typeface="Arial Unicode MS"/>
              </a:rPr>
              <a:t>進來。距離是用「腳踩地的那一點在第幾列」算的，假設</a:t>
            </a:r>
            <a:r>
              <a:rPr sz="950" b="1" lang="zh-TW" dirty="0">
                <a:solidFill>
                  <a:srgbClr val="000000"/>
                </a:solidFill>
                <a:latin typeface="Arial Unicode MS"/>
                <a:ea typeface="Arial Unicode MS"/>
                <a:cs typeface="Arial Unicode MS"/>
              </a:rPr>
              <a:t>路面是平的</a:t>
            </a:r>
            <a:r>
              <a:rPr sz="950" lang="zh-TW" dirty="0">
                <a:solidFill>
                  <a:srgbClr val="000000"/>
                </a:solidFill>
                <a:latin typeface="Arial Unicode MS"/>
                <a:ea typeface="Arial Unicode MS"/>
                <a:cs typeface="Arial Unicode MS"/>
              </a:rPr>
              <a:t>、知道相機裝多高，遇到上坡下坡就算錯。「那是一個人」也是程式從亮度算出來的，就是第八週的偵測模型。相機也是</a:t>
            </a:r>
            <a:r>
              <a:rPr sz="950" b="1" lang="zh-TW" dirty="0">
                <a:solidFill>
                  <a:srgbClr val="000000"/>
                </a:solidFill>
                <a:latin typeface="Arial Unicode MS"/>
                <a:ea typeface="Arial Unicode MS"/>
                <a:cs typeface="Arial Unicode MS"/>
              </a:rPr>
              <a:t>唯一讀得出顏色和文字的</a:t>
            </a:r>
            <a:r>
              <a:rPr sz="950" lang="zh-TW" dirty="0">
                <a:solidFill>
                  <a:srgbClr val="000000"/>
                </a:solidFill>
                <a:latin typeface="Arial Unicode MS"/>
                <a:ea typeface="Arial Unicode MS"/>
                <a:cs typeface="Arial Unicode MS"/>
              </a:rPr>
              <a:t>，紅綠燈、路牌都靠它。
</a:t>
            </a:r>
          </a:p>
          <a:p>
            <a:pPr algn="l">
              <a:spcBef>
                <a:spcPts val="0"/>
              </a:spcBef>
              <a:spcAft>
                <a:spcPts val="158"/>
              </a:spcAft>
            </a:pPr>
            <a:r>
              <a:rPr sz="950" b="1" lang="zh-TW" dirty="0">
                <a:solidFill>
                  <a:srgbClr val="000000"/>
                </a:solidFill>
                <a:latin typeface="Arial Unicode MS"/>
                <a:ea typeface="Arial Unicode MS"/>
                <a:cs typeface="Arial Unicode MS"/>
              </a:rPr>
              <a:t>光達</a:t>
            </a:r>
            <a:r>
              <a:rPr sz="950" lang="zh-TW" dirty="0">
                <a:solidFill>
                  <a:srgbClr val="000000"/>
                </a:solidFill>
                <a:latin typeface="Arial Unicode MS"/>
                <a:ea typeface="Arial Unicode MS"/>
                <a:cs typeface="Arial Unicode MS"/>
              </a:rPr>
              <a:t>：量的是雷射</a:t>
            </a:r>
            <a:r>
              <a:rPr sz="950" b="1" lang="zh-TW" dirty="0">
                <a:solidFill>
                  <a:srgbClr val="000000"/>
                </a:solidFill>
                <a:latin typeface="Arial Unicode MS"/>
                <a:ea typeface="Arial Unicode MS"/>
                <a:cs typeface="Arial Unicode MS"/>
              </a:rPr>
              <a:t>來回的時間</a:t>
            </a:r>
            <a:r>
              <a:rPr sz="950" lang="zh-TW" dirty="0">
                <a:solidFill>
                  <a:srgbClr val="000000"/>
                </a:solidFill>
                <a:latin typeface="Arial Unicode MS"/>
                <a:ea typeface="Arial Unicode MS"/>
                <a:cs typeface="Arial Unicode MS"/>
              </a:rPr>
              <a:t>。距離＝光速×來回時間÷2，除以 2 是因為光走了一去一回；光速是固定的，所以距離幾乎等於直接量到，來回 100 奈秒就是 15 公尺。可是那一團點是什麼，它開多快，都要再算。
</a:t>
            </a:r>
          </a:p>
          <a:p>
            <a:pPr algn="l">
              <a:spcBef>
                <a:spcPts val="0"/>
              </a:spcBef>
              <a:spcAft>
                <a:spcPts val="158"/>
              </a:spcAft>
            </a:pPr>
            <a:r>
              <a:rPr sz="950" b="1" lang="zh-TW" dirty="0">
                <a:solidFill>
                  <a:srgbClr val="000000"/>
                </a:solidFill>
                <a:latin typeface="Arial Unicode MS"/>
                <a:ea typeface="Arial Unicode MS"/>
                <a:cs typeface="Arial Unicode MS"/>
              </a:rPr>
              <a:t>雷達</a:t>
            </a:r>
            <a:r>
              <a:rPr sz="950" lang="zh-TW" dirty="0">
                <a:solidFill>
                  <a:srgbClr val="000000"/>
                </a:solidFill>
                <a:latin typeface="Arial Unicode MS"/>
                <a:ea typeface="Arial Unicode MS"/>
                <a:cs typeface="Arial Unicode MS"/>
              </a:rPr>
              <a:t>是例外，一次量兩樣：比較發出去和收回來的</a:t>
            </a:r>
            <a:r>
              <a:rPr sz="950" b="1" lang="zh-TW" dirty="0">
                <a:solidFill>
                  <a:srgbClr val="000000"/>
                </a:solidFill>
                <a:latin typeface="Arial Unicode MS"/>
                <a:ea typeface="Arial Unicode MS"/>
                <a:cs typeface="Arial Unicode MS"/>
              </a:rPr>
              <a:t>頻率差</a:t>
            </a:r>
            <a:r>
              <a:rPr sz="950" lang="zh-TW" dirty="0">
                <a:solidFill>
                  <a:srgbClr val="000000"/>
                </a:solidFill>
                <a:latin typeface="Arial Unicode MS"/>
                <a:ea typeface="Arial Unicode MS"/>
                <a:cs typeface="Arial Unicode MS"/>
              </a:rPr>
              <a:t>得到距離，用</a:t>
            </a:r>
            <a:r>
              <a:rPr sz="950" b="1" lang="zh-TW" dirty="0">
                <a:solidFill>
                  <a:srgbClr val="000000"/>
                </a:solidFill>
                <a:latin typeface="Arial Unicode MS"/>
                <a:ea typeface="Arial Unicode MS"/>
                <a:cs typeface="Arial Unicode MS"/>
              </a:rPr>
              <a:t>都卜勒</a:t>
            </a:r>
            <a:r>
              <a:rPr sz="950" lang="zh-TW" dirty="0">
                <a:solidFill>
                  <a:srgbClr val="000000"/>
                </a:solidFill>
                <a:latin typeface="Arial Unicode MS"/>
                <a:ea typeface="Arial Unicode MS"/>
                <a:cs typeface="Arial Unicode MS"/>
              </a:rPr>
              <a:t>得到朝自己的速度，就像救護車開過來鳴笛變尖、開走變低。只有朝自己的那一段量得到，橫著開的車會量到接近 0，橫向的速度還是要算。
</a:t>
            </a:r>
          </a:p>
          <a:p>
            <a:pPr algn="l">
              <a:spcBef>
                <a:spcPts val="0"/>
              </a:spcBef>
              <a:spcAft>
                <a:spcPts val="158"/>
              </a:spcAft>
            </a:pPr>
            <a:r>
              <a:rPr sz="950" b="1" lang="zh-TW" dirty="0">
                <a:solidFill>
                  <a:srgbClr val="000000"/>
                </a:solidFill>
                <a:latin typeface="Arial Unicode MS"/>
                <a:ea typeface="Arial Unicode MS"/>
                <a:cs typeface="Arial Unicode MS"/>
              </a:rPr>
              <a:t>超音波</a:t>
            </a:r>
            <a:r>
              <a:rPr sz="950" lang="zh-TW" dirty="0">
                <a:solidFill>
                  <a:srgbClr val="000000"/>
                </a:solidFill>
                <a:latin typeface="Arial Unicode MS"/>
                <a:ea typeface="Arial Unicode MS"/>
                <a:cs typeface="Arial Unicode MS"/>
              </a:rPr>
              <a:t>：量聲音來回的時間，聲速每秒約 340 公尺，算出距離。</a:t>
            </a:r>
            <a:r>
              <a:rPr sz="950" b="1" lang="zh-TW" dirty="0">
                <a:solidFill>
                  <a:srgbClr val="000000"/>
                </a:solidFill>
                <a:latin typeface="Arial Unicode MS"/>
                <a:ea typeface="Arial Unicode MS"/>
                <a:cs typeface="Arial Unicode MS"/>
              </a:rPr>
              <a:t>衛星定位</a:t>
            </a:r>
            <a:r>
              <a:rPr sz="950" lang="zh-TW" dirty="0">
                <a:solidFill>
                  <a:srgbClr val="000000"/>
                </a:solidFill>
                <a:latin typeface="Arial Unicode MS"/>
                <a:ea typeface="Arial Unicode MS"/>
                <a:cs typeface="Arial Unicode MS"/>
              </a:rPr>
              <a:t>：量的是每顆衛星的訊號走了多久，乘上光速得到距離，再用四顆衛星算出自己的位置。</a:t>
            </a:r>
            <a:r>
              <a:rPr sz="950" b="1" lang="zh-TW" dirty="0">
                <a:solidFill>
                  <a:srgbClr val="000000"/>
                </a:solidFill>
                <a:latin typeface="Arial Unicode MS"/>
                <a:ea typeface="Arial Unicode MS"/>
                <a:cs typeface="Arial Unicode MS"/>
              </a:rPr>
              <a:t>熱像</a:t>
            </a:r>
            <a:r>
              <a:rPr sz="950" lang="zh-TW" dirty="0">
                <a:solidFill>
                  <a:srgbClr val="000000"/>
                </a:solidFill>
                <a:latin typeface="Arial Unicode MS"/>
                <a:ea typeface="Arial Unicode MS"/>
                <a:cs typeface="Arial Unicode MS"/>
              </a:rPr>
              <a:t>：量溫度差，那是人還是動物要再判斷。
</a:t>
            </a:r>
          </a:p>
          <a:p>
            <a:pPr algn="l">
              <a:spcBef>
                <a:spcPts val="0"/>
              </a:spcBef>
              <a:spcAft>
                <a:spcPts val="158"/>
              </a:spcAft>
            </a:pPr>
            <a:r>
              <a:rPr sz="950" b="1" lang="zh-TW" dirty="0">
                <a:solidFill>
                  <a:srgbClr val="000000"/>
                </a:solidFill>
                <a:latin typeface="Arial Unicode MS"/>
                <a:ea typeface="Arial Unicode MS"/>
                <a:cs typeface="Arial Unicode MS"/>
              </a:rPr>
              <a:t>IMU</a:t>
            </a:r>
            <a:r>
              <a:rPr sz="950" lang="zh-TW" dirty="0">
                <a:solidFill>
                  <a:srgbClr val="000000"/>
                </a:solidFill>
                <a:latin typeface="Arial Unicode MS"/>
                <a:ea typeface="Arial Unicode MS"/>
                <a:cs typeface="Arial Unicode MS"/>
              </a:rPr>
              <a:t> 是第六週加的：裡面有加速度計和陀螺儀，量的是</a:t>
            </a:r>
            <a:r>
              <a:rPr sz="950" b="1" lang="zh-TW" dirty="0">
                <a:solidFill>
                  <a:srgbClr val="000000"/>
                </a:solidFill>
                <a:latin typeface="Arial Unicode MS"/>
                <a:ea typeface="Arial Unicode MS"/>
                <a:cs typeface="Arial Unicode MS"/>
              </a:rPr>
              <a:t>自己</a:t>
            </a:r>
            <a:r>
              <a:rPr sz="950" lang="zh-TW" dirty="0">
                <a:solidFill>
                  <a:srgbClr val="000000"/>
                </a:solidFill>
                <a:latin typeface="Arial Unicode MS"/>
                <a:ea typeface="Arial Unicode MS"/>
                <a:cs typeface="Arial Unicode MS"/>
              </a:rPr>
              <a:t>加速多少、轉得多快；位置要把這些一路加起來才算得到，小小的誤差一直累加，就是</a:t>
            </a:r>
            <a:r>
              <a:rPr sz="950" b="1" lang="zh-TW" dirty="0">
                <a:solidFill>
                  <a:srgbClr val="000000"/>
                </a:solidFill>
                <a:latin typeface="Arial Unicode MS"/>
                <a:ea typeface="Arial Unicode MS"/>
                <a:cs typeface="Arial Unicode MS"/>
              </a:rPr>
              <a:t>漂移</a:t>
            </a:r>
            <a:r>
              <a:rPr sz="950" lang="zh-TW" dirty="0">
                <a:solidFill>
                  <a:srgbClr val="000000"/>
                </a:solidFill>
                <a:latin typeface="Arial Unicode MS"/>
                <a:ea typeface="Arial Unicode MS"/>
                <a:cs typeface="Arial Unicode MS"/>
              </a:rPr>
              <a:t>，橫向誤差跟時間的平方成正比，所以 IMU 只能補衛星定位短短的空檔。表上有兩種量的是「自己」，不是外面的東西：</a:t>
            </a:r>
            <a:r>
              <a:rPr sz="950" b="1" lang="zh-TW" dirty="0">
                <a:solidFill>
                  <a:srgbClr val="000000"/>
                </a:solidFill>
                <a:latin typeface="Arial Unicode MS"/>
                <a:ea typeface="Arial Unicode MS"/>
                <a:cs typeface="Arial Unicode MS"/>
              </a:rPr>
              <a:t>衛星定位和 IMU</a:t>
            </a:r>
            <a:r>
              <a:rPr sz="950" lang="zh-TW" dirty="0">
                <a:solidFill>
                  <a:srgbClr val="000000"/>
                </a:solidFill>
                <a:latin typeface="Arial Unicode MS"/>
                <a:ea typeface="Arial Unicode MS"/>
                <a:cs typeface="Arial Unicode MS"/>
              </a:rPr>
              <a:t>。
</a:t>
            </a:r>
          </a:p>
          <a:p>
            <a:pPr algn="l">
              <a:spcBef>
                <a:spcPts val="0"/>
              </a:spcBef>
              <a:spcAft>
                <a:spcPts val="158"/>
              </a:spcAft>
            </a:pPr>
            <a:r>
              <a:rPr sz="950" b="1" lang="zh-TW" dirty="0">
                <a:solidFill>
                  <a:srgbClr val="000000"/>
                </a:solidFill>
                <a:latin typeface="Arial Unicode MS"/>
                <a:ea typeface="Arial Unicode MS"/>
                <a:cs typeface="Arial Unicode MS"/>
              </a:rPr>
              <a:t>為什麼要分得這麼清楚？</a:t>
            </a:r>
            <a:r>
              <a:rPr sz="950" lang="zh-TW" dirty="0">
                <a:solidFill>
                  <a:srgbClr val="000000"/>
                </a:solidFill>
                <a:latin typeface="Arial Unicode MS"/>
                <a:ea typeface="Arial Unicode MS"/>
                <a:cs typeface="Arial Unicode MS"/>
              </a:rPr>
              <a:t>因為算出來的，比量出來的多了三個弱點：</a:t>
            </a:r>
            <a:r>
              <a:rPr sz="950" b="1" lang="zh-TW" dirty="0">
                <a:solidFill>
                  <a:srgbClr val="000000"/>
                </a:solidFill>
                <a:latin typeface="Arial Unicode MS"/>
                <a:ea typeface="Arial Unicode MS"/>
                <a:cs typeface="Arial Unicode MS"/>
              </a:rPr>
              <a:t>假設可能不成立</a:t>
            </a:r>
            <a:r>
              <a:rPr sz="950" lang="zh-TW" dirty="0">
                <a:solidFill>
                  <a:srgbClr val="000000"/>
                </a:solidFill>
                <a:latin typeface="Arial Unicode MS"/>
                <a:ea typeface="Arial Unicode MS"/>
                <a:cs typeface="Arial Unicode MS"/>
              </a:rPr>
              <a:t>，像相機遇到上坡；</a:t>
            </a:r>
            <a:r>
              <a:rPr sz="950" b="1" lang="zh-TW" dirty="0">
                <a:solidFill>
                  <a:srgbClr val="000000"/>
                </a:solidFill>
                <a:latin typeface="Arial Unicode MS"/>
                <a:ea typeface="Arial Unicode MS"/>
                <a:cs typeface="Arial Unicode MS"/>
              </a:rPr>
              <a:t>會比較慢才得到結果</a:t>
            </a:r>
            <a:r>
              <a:rPr sz="950" lang="zh-TW" dirty="0">
                <a:solidFill>
                  <a:srgbClr val="000000"/>
                </a:solidFill>
                <a:latin typeface="Arial Unicode MS"/>
                <a:ea typeface="Arial Unicode MS"/>
                <a:cs typeface="Arial Unicode MS"/>
              </a:rPr>
              <a:t>，速度要連續看兩次、位置相減、再除以時間，只有雷達一次就量到；</a:t>
            </a:r>
            <a:r>
              <a:rPr sz="950" b="1" lang="zh-TW" dirty="0">
                <a:solidFill>
                  <a:srgbClr val="000000"/>
                </a:solidFill>
                <a:latin typeface="Arial Unicode MS"/>
                <a:ea typeface="Arial Unicode MS"/>
                <a:cs typeface="Arial Unicode MS"/>
              </a:rPr>
              <a:t>誤差會累積</a:t>
            </a:r>
            <a:r>
              <a:rPr sz="950" lang="zh-TW" dirty="0">
                <a:solidFill>
                  <a:srgbClr val="000000"/>
                </a:solidFill>
                <a:latin typeface="Arial Unicode MS"/>
                <a:ea typeface="Arial Unicode MS"/>
                <a:cs typeface="Arial Unicode MS"/>
              </a:rPr>
              <a:t>，像 IMU 的漂移。所以看到一個數字，先問：它是量的還是算的？是算的，再問：靠什麼假設？
</a:t>
            </a:r>
          </a:p>
          <a:p>
            <a:pPr algn="l">
              <a:spcBef>
                <a:spcPts val="0"/>
              </a:spcBef>
              <a:spcAft>
                <a:spcPts val="158"/>
              </a:spcAft>
            </a:pPr>
            <a:r>
              <a:rPr sz="950" lang="zh-TW" dirty="0">
                <a:solidFill>
                  <a:srgbClr val="000000"/>
                </a:solidFill>
                <a:latin typeface="Arial Unicode MS"/>
                <a:ea typeface="Arial Unicode MS"/>
                <a:cs typeface="Arial Unicode MS"/>
              </a:rPr>
              <a:t>有效距離那一欄是第三週課堂上設定的晴天值，不是某一顆產品的規格。
</a:t>
            </a:r>
          </a:p>
          <a:p>
            <a:pPr algn="l">
              <a:spcBef>
                <a:spcPts val="0"/>
              </a:spcBef>
              <a:spcAft>
                <a:spcPts val="158"/>
              </a:spcAft>
            </a:pPr>
            <a:r>
              <a:rPr sz="950" lang="zh-TW" dirty="0">
                <a:solidFill>
                  <a:srgbClr val="000000"/>
                </a:solidFill>
                <a:latin typeface="Arial Unicode MS"/>
                <a:ea typeface="Arial Unicode MS"/>
                <a:cs typeface="Arial Unicode MS"/>
              </a:rPr>
              <a:t>第三週還有兩個常考的數字：</a:t>
            </a:r>
            <a:r>
              <a:rPr sz="950" b="1" lang="zh-TW" dirty="0">
                <a:solidFill>
                  <a:srgbClr val="000000"/>
                </a:solidFill>
                <a:latin typeface="Arial Unicode MS"/>
                <a:ea typeface="Arial Unicode MS"/>
                <a:cs typeface="Arial Unicode MS"/>
              </a:rPr>
              <a:t>相機估距誤差跟距離平方成正比</a:t>
            </a:r>
            <a:r>
              <a:rPr sz="950" lang="zh-TW" dirty="0">
                <a:solidFill>
                  <a:srgbClr val="000000"/>
                </a:solidFill>
                <a:latin typeface="Arial Unicode MS"/>
                <a:ea typeface="Arial Unicode MS"/>
                <a:cs typeface="Arial Unicode MS"/>
              </a:rPr>
              <a:t>，距離兩倍，誤差四倍；</a:t>
            </a:r>
            <a:r>
              <a:rPr sz="950" b="1" lang="zh-TW" dirty="0">
                <a:solidFill>
                  <a:srgbClr val="000000"/>
                </a:solidFill>
                <a:latin typeface="Arial Unicode MS"/>
                <a:ea typeface="Arial Unicode MS"/>
                <a:cs typeface="Arial Unicode MS"/>
              </a:rPr>
              <a:t>光達打在行人身上的點，距離兩倍，點數剩四分之一</a:t>
            </a:r>
            <a:r>
              <a:rPr sz="950" lang="zh-TW" dirty="0">
                <a:solidFill>
                  <a:srgbClr val="000000"/>
                </a:solidFill>
                <a:latin typeface="Arial Unicode MS"/>
                <a:ea typeface="Arial Unicode MS"/>
                <a:cs typeface="Arial Unicode MS"/>
              </a:rPr>
              <a:t>，十公尺 308 點、二十公尺 77 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這一張的目的：</a:t>
            </a:r>
            <a:r>
              <a:rPr sz="850" lang="zh-TW" dirty="0">
                <a:solidFill>
                  <a:srgbClr val="000000"/>
                </a:solidFill>
                <a:latin typeface="Arial Unicode MS"/>
                <a:ea typeface="Arial Unicode MS"/>
                <a:cs typeface="Arial Unicode MS"/>
              </a:rPr>
              <a:t>讓大家會讀煞停距離表，記得「感測器看到障礙物的距離，如果比煞停距離還短，就一定會撞上」。
</a:t>
            </a:r>
          </a:p>
          <a:p>
            <a:pPr algn="l">
              <a:spcBef>
                <a:spcPts val="0"/>
              </a:spcBef>
              <a:spcAft>
                <a:spcPts val="142"/>
              </a:spcAft>
            </a:pPr>
            <a:r>
              <a:rPr sz="850" lang="zh-TW" dirty="0">
                <a:solidFill>
                  <a:srgbClr val="000000"/>
                </a:solidFill>
                <a:latin typeface="Arial Unicode MS"/>
                <a:ea typeface="Arial Unicode MS"/>
                <a:cs typeface="Arial Unicode MS"/>
              </a:rPr>
              <a:t>第四週的公式：煞停距離等於 v 乘 0.3，加上 v 平方除以 12，v 用每秒幾公尺。前面那段是反應的 0.3 秒走的路，後面那段是煞車煞到停。
</a:t>
            </a:r>
          </a:p>
          <a:p>
            <a:pPr algn="l">
              <a:spcBef>
                <a:spcPts val="0"/>
              </a:spcBef>
              <a:spcAft>
                <a:spcPts val="142"/>
              </a:spcAft>
            </a:pPr>
            <a:r>
              <a:rPr sz="850" lang="zh-TW" dirty="0">
                <a:solidFill>
                  <a:srgbClr val="000000"/>
                </a:solidFill>
                <a:latin typeface="Arial Unicode MS"/>
                <a:ea typeface="Arial Unicode MS"/>
                <a:cs typeface="Arial Unicode MS"/>
              </a:rPr>
              <a:t>時速 50，每秒 13.9 公尺：反應 4.2 公尺，煞車 16.1 公尺，加起來 20.3 公尺。射線至少要 25 公尺，乘了 1.25 的餘裕，這是本課取的，不是法規。
</a:t>
            </a:r>
          </a:p>
          <a:p>
            <a:pPr algn="l">
              <a:spcBef>
                <a:spcPts val="0"/>
              </a:spcBef>
              <a:spcAft>
                <a:spcPts val="142"/>
              </a:spcAft>
            </a:pPr>
            <a:r>
              <a:rPr sz="850" lang="zh-TW" dirty="0">
                <a:solidFill>
                  <a:srgbClr val="000000"/>
                </a:solidFill>
                <a:latin typeface="Arial Unicode MS"/>
                <a:ea typeface="Arial Unicode MS"/>
                <a:cs typeface="Arial Unicode MS"/>
              </a:rPr>
              <a:t>注意，第一週講過一個「時速 50 煞停約 30 公尺」，那是用人的反應時間 1 秒算的。兩個都對，只是假設不同：人反應慢，電腦反應快。考試題目會寫清楚用哪一個假設。
</a:t>
            </a:r>
          </a:p>
          <a:p>
            <a:pPr algn="l">
              <a:spcBef>
                <a:spcPts val="0"/>
              </a:spcBef>
              <a:spcAft>
                <a:spcPts val="142"/>
              </a:spcAft>
            </a:pPr>
            <a:r>
              <a:rPr sz="850" lang="zh-TW" dirty="0">
                <a:solidFill>
                  <a:srgbClr val="000000"/>
                </a:solidFill>
                <a:latin typeface="Arial Unicode MS"/>
                <a:ea typeface="Arial Unicode MS"/>
                <a:cs typeface="Arial Unicode MS"/>
              </a:rPr>
              <a:t>第四週第三節的</a:t>
            </a:r>
            <a:r>
              <a:rPr sz="850" b="1" lang="zh-TW" dirty="0">
                <a:solidFill>
                  <a:srgbClr val="000000"/>
                </a:solidFill>
                <a:latin typeface="Arial Unicode MS"/>
                <a:ea typeface="Arial Unicode MS"/>
                <a:cs typeface="Arial Unicode MS"/>
              </a:rPr>
              <a:t>雨天陷阱題</a:t>
            </a:r>
            <a:r>
              <a:rPr sz="850" lang="zh-TW" dirty="0">
                <a:solidFill>
                  <a:srgbClr val="000000"/>
                </a:solidFill>
                <a:latin typeface="Arial Unicode MS"/>
                <a:ea typeface="Arial Unicode MS"/>
                <a:cs typeface="Arial Unicode MS"/>
              </a:rPr>
              <a:t>也要會算：模擬器打開雨天，射線的有效長度變成 </a:t>
            </a:r>
            <a:r>
              <a:rPr sz="850" b="1" lang="zh-TW" dirty="0">
                <a:solidFill>
                  <a:srgbClr val="000000"/>
                </a:solidFill>
                <a:latin typeface="Arial Unicode MS"/>
                <a:ea typeface="Arial Unicode MS"/>
                <a:cs typeface="Arial Unicode MS"/>
              </a:rPr>
              <a:t>0.55 倍</a:t>
            </a:r>
            <a:r>
              <a:rPr sz="850" lang="zh-TW" dirty="0">
                <a:solidFill>
                  <a:srgbClr val="000000"/>
                </a:solidFill>
                <a:latin typeface="Arial Unicode MS"/>
                <a:ea typeface="Arial Unicode MS"/>
                <a:cs typeface="Arial Unicode MS"/>
              </a:rPr>
              <a:t>。舉一個例子：射線 35 公尺、時速 50。晴天 35 公尺，比 25 公尺還長，夠；下雨變成 35 乘 0.55，19.25 公尺，比煞停距離 20 公尺還短，</a:t>
            </a:r>
            <a:r>
              <a:rPr sz="850" b="1" lang="zh-TW" dirty="0">
                <a:solidFill>
                  <a:srgbClr val="000000"/>
                </a:solidFill>
                <a:latin typeface="Arial Unicode MS"/>
                <a:ea typeface="Arial Unicode MS"/>
                <a:cs typeface="Arial Unicode MS"/>
              </a:rPr>
              <a:t>就不夠了</a:t>
            </a:r>
            <a:r>
              <a:rPr sz="850" lang="zh-TW" dirty="0">
                <a:solidFill>
                  <a:srgbClr val="000000"/>
                </a:solidFill>
                <a:latin typeface="Arial Unicode MS"/>
                <a:ea typeface="Arial Unicode MS"/>
                <a:cs typeface="Arial Unicode MS"/>
              </a:rPr>
              <a:t>。射線變短了，煞停距離不會跟著變短。解法有兩個：降低車速，或把射線長度補回來。順便提醒：真的路面濕了，煞車那一段也會變長，濕柏油時速 50 要 36.4 公尺，這是另一件事。
</a:t>
            </a:r>
          </a:p>
          <a:p>
            <a:pPr algn="l">
              <a:spcBef>
                <a:spcPts val="0"/>
              </a:spcBef>
              <a:spcAft>
                <a:spcPts val="142"/>
              </a:spcAft>
            </a:pPr>
            <a:r>
              <a:rPr sz="850" lang="zh-TW" dirty="0">
                <a:solidFill>
                  <a:srgbClr val="000000"/>
                </a:solidFill>
                <a:latin typeface="Arial Unicode MS"/>
                <a:ea typeface="Arial Unicode MS"/>
                <a:cs typeface="Arial Unicode MS"/>
              </a:rPr>
              <a:t>第四週還有四件事，一件一件講。
</a:t>
            </a:r>
          </a:p>
          <a:p>
            <a:pPr algn="l">
              <a:spcBef>
                <a:spcPts val="0"/>
              </a:spcBef>
              <a:spcAft>
                <a:spcPts val="142"/>
              </a:spcAft>
            </a:pPr>
            <a:r>
              <a:rPr sz="850" b="1" lang="zh-TW" dirty="0">
                <a:solidFill>
                  <a:srgbClr val="000000"/>
                </a:solidFill>
                <a:latin typeface="Arial Unicode MS"/>
                <a:ea typeface="Arial Unicode MS"/>
                <a:cs typeface="Arial Unicode MS"/>
              </a:rPr>
              <a:t>一、模擬和現實有三種落差。</a:t>
            </a:r>
            <a:r>
              <a:rPr sz="850" lang="zh-TW" dirty="0">
                <a:solidFill>
                  <a:srgbClr val="000000"/>
                </a:solidFill>
                <a:latin typeface="Arial Unicode MS"/>
                <a:ea typeface="Arial Unicode MS"/>
                <a:cs typeface="Arial Unicode MS"/>
              </a:rPr>
              <a:t>模擬裡不撞，不代表真車不撞，差在三個地方。</a:t>
            </a:r>
            <a:r>
              <a:rPr sz="850" b="1" lang="zh-TW" dirty="0">
                <a:solidFill>
                  <a:srgbClr val="000000"/>
                </a:solidFill>
                <a:latin typeface="Arial Unicode MS"/>
                <a:ea typeface="Arial Unicode MS"/>
                <a:cs typeface="Arial Unicode MS"/>
              </a:rPr>
              <a:t>外觀</a:t>
            </a:r>
            <a:r>
              <a:rPr sz="850" lang="zh-TW" dirty="0">
                <a:solidFill>
                  <a:srgbClr val="000000"/>
                </a:solidFill>
                <a:latin typeface="Arial Unicode MS"/>
                <a:ea typeface="Arial Unicode MS"/>
                <a:cs typeface="Arial Unicode MS"/>
              </a:rPr>
              <a:t>：模擬裡的紅色車是乾淨、均勻的紅；真相機拍到的紅色車有灰塵、有反光、有招牌的倒影。用乾淨的紅教電腦認車，上路遇到髒的紅就認不出來。解法叫</a:t>
            </a:r>
            <a:r>
              <a:rPr sz="850" b="1" lang="zh-TW" dirty="0">
                <a:solidFill>
                  <a:srgbClr val="000000"/>
                </a:solidFill>
                <a:latin typeface="Arial Unicode MS"/>
                <a:ea typeface="Arial Unicode MS"/>
                <a:cs typeface="Arial Unicode MS"/>
              </a:rPr>
              <a:t>域隨機化</a:t>
            </a:r>
            <a:r>
              <a:rPr sz="850" lang="zh-TW" dirty="0">
                <a:solidFill>
                  <a:srgbClr val="000000"/>
                </a:solidFill>
                <a:latin typeface="Arial Unicode MS"/>
                <a:ea typeface="Arial Unicode MS"/>
                <a:cs typeface="Arial Unicode MS"/>
              </a:rPr>
              <a:t>：在模擬裡故意把顏色、光線、地面一直亂改，電腦不能再靠顏色，只好學形狀，而形狀在真實世界不會變。</a:t>
            </a:r>
            <a:r>
              <a:rPr sz="850" b="1" lang="zh-TW" dirty="0">
                <a:solidFill>
                  <a:srgbClr val="000000"/>
                </a:solidFill>
                <a:latin typeface="Arial Unicode MS"/>
                <a:ea typeface="Arial Unicode MS"/>
                <a:cs typeface="Arial Unicode MS"/>
              </a:rPr>
              <a:t>行為</a:t>
            </a:r>
            <a:r>
              <a:rPr sz="850" lang="zh-TW" dirty="0">
                <a:solidFill>
                  <a:srgbClr val="000000"/>
                </a:solidFill>
                <a:latin typeface="Arial Unicode MS"/>
                <a:ea typeface="Arial Unicode MS"/>
                <a:cs typeface="Arial Unicode MS"/>
              </a:rPr>
              <a:t>：模擬裡的車都照規則走，待在車道中間、變道先打方向燈；真實的機車會鑽縫、紅燈前擠到最前面、路口靠眼神決定誰先走。解法是把真實道路錄到的軌跡放回模擬裡，可是河內的軌跡沒有人有，要自己去收。</a:t>
            </a:r>
            <a:r>
              <a:rPr sz="850" b="1" lang="zh-TW" dirty="0">
                <a:solidFill>
                  <a:srgbClr val="000000"/>
                </a:solidFill>
                <a:latin typeface="Arial Unicode MS"/>
                <a:ea typeface="Arial Unicode MS"/>
                <a:cs typeface="Arial Unicode MS"/>
              </a:rPr>
              <a:t>物理</a:t>
            </a:r>
            <a:r>
              <a:rPr sz="850" lang="zh-TW" dirty="0">
                <a:solidFill>
                  <a:srgbClr val="000000"/>
                </a:solidFill>
                <a:latin typeface="Arial Unicode MS"/>
                <a:ea typeface="Arial Unicode MS"/>
                <a:cs typeface="Arial Unicode MS"/>
              </a:rPr>
              <a:t>：輪胎、煞車在模擬裡都是估的。我們的模擬器減速度固定是 6，濕柏油大約只剩 3，時速 50 的煞停距離就從 20.3 公尺變成 36.4 公尺；反應那一段 4.2 公尺不變，變長的是煞車那一段。所以模擬是一道篩子：過不了的先淘汰，過了只是拿到上真車測試的門票。
</a:t>
            </a:r>
          </a:p>
          <a:p>
            <a:pPr algn="l">
              <a:spcBef>
                <a:spcPts val="0"/>
              </a:spcBef>
              <a:spcAft>
                <a:spcPts val="142"/>
              </a:spcAft>
            </a:pPr>
            <a:r>
              <a:rPr sz="850" b="1" lang="zh-TW" dirty="0">
                <a:solidFill>
                  <a:srgbClr val="000000"/>
                </a:solidFill>
                <a:latin typeface="Arial Unicode MS"/>
                <a:ea typeface="Arial Unicode MS"/>
                <a:cs typeface="Arial Unicode MS"/>
              </a:rPr>
              <a:t>二、里程不是好的測試單位，場景才是。</a:t>
            </a:r>
            <a:r>
              <a:rPr sz="850" lang="zh-TW" dirty="0">
                <a:solidFill>
                  <a:srgbClr val="000000"/>
                </a:solidFill>
                <a:latin typeface="Arial Unicode MS"/>
                <a:ea typeface="Arial Unicode MS"/>
                <a:cs typeface="Arial Unicode MS"/>
              </a:rPr>
              <a:t>一台車在高速公路上直直跑一萬公里沒出事，只證明它很會走直線。決定安全的是很少發生的那幾秒：小孩從車陣衝出來、前車急煞、機車從死角鑽上來。一直跑，不保證遇得到。RAND 在 2016 年估計，要用里程證明自駕車比人安全兩成，要跑 110 億英里，一百台車全年無休要跑五百年。所以要問的不是「跑了幾公里」，而是「遇過哪些狀況」，這些狀況就叫</a:t>
            </a:r>
            <a:r>
              <a:rPr sz="850" b="1" lang="zh-TW" dirty="0">
                <a:solidFill>
                  <a:srgbClr val="000000"/>
                </a:solidFill>
                <a:latin typeface="Arial Unicode MS"/>
                <a:ea typeface="Arial Unicode MS"/>
                <a:cs typeface="Arial Unicode MS"/>
              </a:rPr>
              <a:t>場景</a:t>
            </a:r>
            <a:r>
              <a:rPr sz="850" lang="zh-TW" dirty="0">
                <a:solidFill>
                  <a:srgbClr val="000000"/>
                </a:solidFill>
                <a:latin typeface="Arial Unicode MS"/>
                <a:ea typeface="Arial Unicode MS"/>
                <a:cs typeface="Arial Unicode MS"/>
              </a:rPr>
              <a:t>。場景一定有一個動作，像「急煞」「切入」；靜止的一張畫面叫「場面」，不是場景。
</a:t>
            </a:r>
          </a:p>
          <a:p>
            <a:pPr algn="l">
              <a:spcBef>
                <a:spcPts val="0"/>
              </a:spcBef>
              <a:spcAft>
                <a:spcPts val="142"/>
              </a:spcAft>
            </a:pPr>
            <a:r>
              <a:rPr sz="850" b="1" lang="zh-TW" dirty="0">
                <a:solidFill>
                  <a:srgbClr val="000000"/>
                </a:solidFill>
                <a:latin typeface="Arial Unicode MS"/>
                <a:ea typeface="Arial Unicode MS"/>
                <a:cs typeface="Arial Unicode MS"/>
              </a:rPr>
              <a:t>三、場景分三層，從模糊到精確，每加一層就多一點數字。</a:t>
            </a:r>
            <a:r>
              <a:rPr sz="850" lang="zh-TW" dirty="0">
                <a:solidFill>
                  <a:srgbClr val="000000"/>
                </a:solidFill>
                <a:latin typeface="Arial Unicode MS"/>
                <a:ea typeface="Arial Unicode MS"/>
                <a:cs typeface="Arial Unicode MS"/>
              </a:rPr>
              <a:t>就像訂便當：「我要一個便當」是第一層；「八十到一百元、要有肉」是第二層；「排骨便當、九十元」是第三層。用第四週講義的例子：</a:t>
            </a:r>
            <a:r>
              <a:rPr sz="850" b="1" lang="zh-TW" dirty="0">
                <a:solidFill>
                  <a:srgbClr val="000000"/>
                </a:solidFill>
                <a:latin typeface="Arial Unicode MS"/>
                <a:ea typeface="Arial Unicode MS"/>
                <a:cs typeface="Arial Unicode MS"/>
              </a:rPr>
              <a:t>功能場景</a:t>
            </a:r>
            <a:r>
              <a:rPr sz="850" lang="zh-TW" dirty="0">
                <a:solidFill>
                  <a:srgbClr val="000000"/>
                </a:solidFill>
                <a:latin typeface="Arial Unicode MS"/>
                <a:ea typeface="Arial Unicode MS"/>
                <a:cs typeface="Arial Unicode MS"/>
              </a:rPr>
              <a:t>一個數字都沒有，只寫「前車急煞」。</a:t>
            </a:r>
            <a:r>
              <a:rPr sz="850" b="1" lang="zh-TW" dirty="0">
                <a:solidFill>
                  <a:srgbClr val="000000"/>
                </a:solidFill>
                <a:latin typeface="Arial Unicode MS"/>
                <a:ea typeface="Arial Unicode MS"/>
                <a:cs typeface="Arial Unicode MS"/>
              </a:rPr>
              <a:t>邏輯場景</a:t>
            </a:r>
            <a:r>
              <a:rPr sz="850" lang="zh-TW" dirty="0">
                <a:solidFill>
                  <a:srgbClr val="000000"/>
                </a:solidFill>
                <a:latin typeface="Arial Unicode MS"/>
                <a:ea typeface="Arial Unicode MS"/>
                <a:cs typeface="Arial Unicode MS"/>
              </a:rPr>
              <a:t>每個參數給一個範圍：前車在 20 到 60 公尺，減速度每秒平方 3 到 8 公尺，自車時速 40 到 70。</a:t>
            </a:r>
            <a:r>
              <a:rPr sz="850" b="1" lang="zh-TW" dirty="0">
                <a:solidFill>
                  <a:srgbClr val="000000"/>
                </a:solidFill>
                <a:latin typeface="Arial Unicode MS"/>
                <a:ea typeface="Arial Unicode MS"/>
                <a:cs typeface="Arial Unicode MS"/>
              </a:rPr>
              <a:t>具體場景</a:t>
            </a:r>
            <a:r>
              <a:rPr sz="850" lang="zh-TW" dirty="0">
                <a:solidFill>
                  <a:srgbClr val="000000"/>
                </a:solidFill>
                <a:latin typeface="Arial Unicode MS"/>
                <a:ea typeface="Arial Unicode MS"/>
                <a:cs typeface="Arial Unicode MS"/>
              </a:rPr>
              <a:t>每個參數只有一個值：前車剛好 35 公尺、減速度剛好 6、自車剛好時速 50，這樣才跑得起來，跑一次得到一個結果，撞了或沒撞。最重要的是邏輯場景，因為電腦可以把它展開：距離每 1 公尺一個是 41 個，減速度每 0.5 一個是 11 個，時速每 5 公里一個是 7 個，41 乘 11 乘 7，等於 3157 個具體場景。全部跑一遍，就量得出「多近、多急」會開始撞，這才是模擬的用法，不是拚里程。而這只是一個功能場景展開出來的。
</a:t>
            </a:r>
          </a:p>
          <a:p>
            <a:pPr algn="l">
              <a:spcBef>
                <a:spcPts val="0"/>
              </a:spcBef>
              <a:spcAft>
                <a:spcPts val="142"/>
              </a:spcAft>
            </a:pPr>
            <a:r>
              <a:rPr sz="850" b="1" lang="zh-TW" dirty="0">
                <a:solidFill>
                  <a:srgbClr val="000000"/>
                </a:solidFill>
                <a:latin typeface="Arial Unicode MS"/>
                <a:ea typeface="Arial Unicode MS"/>
                <a:cs typeface="Arial Unicode MS"/>
              </a:rPr>
              <a:t>四、射線不是愈長、張角不是愈大就愈好。</a:t>
            </a:r>
            <a:r>
              <a:rPr sz="850" b="1" lang="zh-TW" dirty="0">
                <a:solidFill>
                  <a:srgbClr val="000000"/>
                </a:solidFill>
                <a:latin typeface="Arial Unicode MS"/>
                <a:ea typeface="Arial Unicode MS"/>
                <a:cs typeface="Arial Unicode MS"/>
              </a:rPr>
              <a:t>長度超過需要的門檻以後，再加長就沒有用</a:t>
            </a:r>
            <a:r>
              <a:rPr sz="850" lang="zh-TW" dirty="0">
                <a:solidFill>
                  <a:srgbClr val="000000"/>
                </a:solidFill>
                <a:latin typeface="Arial Unicode MS"/>
                <a:ea typeface="Arial Unicode MS"/>
                <a:cs typeface="Arial Unicode MS"/>
              </a:rPr>
              <a:t>：時速 40 的煞停距離是 13.6 公尺，射線 25 公尺就夠了；第四週用十六個種子實測，射線 45 公尺和 120 公尺，撐的秒數一秒不差，多出來的長度根本用不到。</a:t>
            </a:r>
            <a:r>
              <a:rPr sz="850" b="1" lang="zh-TW" dirty="0">
                <a:solidFill>
                  <a:srgbClr val="000000"/>
                </a:solidFill>
                <a:latin typeface="Arial Unicode MS"/>
                <a:ea typeface="Arial Unicode MS"/>
                <a:cs typeface="Arial Unicode MS"/>
              </a:rPr>
              <a:t>張角開太大，射線反而會被攤得太稀</a:t>
            </a:r>
            <a:r>
              <a:rPr sz="850" lang="zh-TW" dirty="0">
                <a:solidFill>
                  <a:srgbClr val="000000"/>
                </a:solidFill>
                <a:latin typeface="Arial Unicode MS"/>
                <a:ea typeface="Arial Unicode MS"/>
                <a:cs typeface="Arial Unicode MS"/>
              </a:rPr>
              <a:t>：射線的條數不變，張角開得愈大，相鄰兩條射線之間的縫就愈寬。河內那一組預設九條射線、張角 120 度，每兩條差 15 度，25 公尺外的縫大約 6.5 公尺寬，一台機車才 0.8 公尺寬，整台掉進縫裡，電腦看不到它。就像張開手指去摸桌子，手指張得愈開，摸到的範圍愈大，但指縫之間漏掉的地方也愈大。實測張角開到 180 度，撐的時間從 17.5 秒掉到 15.9 秒，反而更糟。所以規格要的是</a:t>
            </a:r>
            <a:r>
              <a:rPr sz="850" b="1" lang="zh-TW" dirty="0">
                <a:solidFill>
                  <a:srgbClr val="000000"/>
                </a:solidFill>
                <a:latin typeface="Arial Unicode MS"/>
                <a:ea typeface="Arial Unicode MS"/>
                <a:cs typeface="Arial Unicode MS"/>
              </a:rPr>
              <a:t>剛好跨過門檻</a:t>
            </a:r>
            <a:r>
              <a:rPr sz="850" lang="zh-TW" dirty="0">
                <a:solidFill>
                  <a:srgbClr val="000000"/>
                </a:solidFill>
                <a:latin typeface="Arial Unicode MS"/>
                <a:ea typeface="Arial Unicode MS"/>
                <a:cs typeface="Arial Unicode MS"/>
              </a:rPr>
              <a:t>：先算煞停距離，射線長度夠就好，張角收在需要的範圍。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92"/>
              </a:spcAft>
            </a:pPr>
            <a:r>
              <a:rPr sz="1150" b="1" lang="zh-TW" dirty="0">
                <a:solidFill>
                  <a:srgbClr val="000000"/>
                </a:solidFill>
                <a:latin typeface="Arial Unicode MS"/>
                <a:ea typeface="Arial Unicode MS"/>
                <a:cs typeface="Arial Unicode MS"/>
              </a:rPr>
              <a:t>這一張的目的：</a:t>
            </a:r>
            <a:r>
              <a:rPr sz="1150" lang="zh-TW" dirty="0">
                <a:solidFill>
                  <a:srgbClr val="000000"/>
                </a:solidFill>
                <a:latin typeface="Arial Unicode MS"/>
                <a:ea typeface="Arial Unicode MS"/>
                <a:cs typeface="Arial Unicode MS"/>
              </a:rPr>
              <a:t>讓大家記得第五、六週規格表上最常考的七個數字，以及每個數字背後的前提。
</a:t>
            </a:r>
          </a:p>
          <a:p>
            <a:pPr algn="l">
              <a:spcBef>
                <a:spcPts val="0"/>
              </a:spcBef>
              <a:spcAft>
                <a:spcPts val="192"/>
              </a:spcAft>
            </a:pPr>
            <a:r>
              <a:rPr sz="1150" lang="zh-TW" dirty="0">
                <a:solidFill>
                  <a:srgbClr val="000000"/>
                </a:solidFill>
                <a:latin typeface="Arial Unicode MS"/>
                <a:ea typeface="Arial Unicode MS"/>
                <a:cs typeface="Arial Unicode MS"/>
              </a:rPr>
              <a:t>第五、六週讀了好多規格表，最常考的是這七個數字。每一個都要記得它的意思，更要記得它的前提。
</a:t>
            </a:r>
          </a:p>
          <a:p>
            <a:pPr algn="l">
              <a:spcBef>
                <a:spcPts val="0"/>
              </a:spcBef>
              <a:spcAft>
                <a:spcPts val="192"/>
              </a:spcAft>
            </a:pPr>
            <a:r>
              <a:rPr sz="1150" b="1" lang="zh-TW" dirty="0">
                <a:solidFill>
                  <a:srgbClr val="000000"/>
                </a:solidFill>
                <a:latin typeface="Arial Unicode MS"/>
                <a:ea typeface="Arial Unicode MS"/>
                <a:cs typeface="Arial Unicode MS"/>
              </a:rPr>
              <a:t>OS1 測距 170 和 90</a:t>
            </a:r>
            <a:r>
              <a:rPr sz="1150" lang="zh-TW" dirty="0">
                <a:solidFill>
                  <a:srgbClr val="000000"/>
                </a:solidFill>
                <a:latin typeface="Arial Unicode MS"/>
                <a:ea typeface="Arial Unicode MS"/>
                <a:cs typeface="Arial Unicode MS"/>
              </a:rPr>
              <a:t>：對 80% 反射率的白色目標 170 公尺，對 10% 的黑色目標只有 90 公尺。路上有黑車、深色衣服，設計要用 90。
</a:t>
            </a:r>
          </a:p>
          <a:p>
            <a:pPr algn="l">
              <a:spcBef>
                <a:spcPts val="0"/>
              </a:spcBef>
              <a:spcAft>
                <a:spcPts val="192"/>
              </a:spcAft>
            </a:pPr>
            <a:r>
              <a:rPr sz="1150" b="1" lang="zh-TW" dirty="0">
                <a:solidFill>
                  <a:srgbClr val="000000"/>
                </a:solidFill>
                <a:latin typeface="Arial Unicode MS"/>
                <a:ea typeface="Arial Unicode MS"/>
                <a:cs typeface="Arial Unicode MS"/>
              </a:rPr>
              <a:t>相機和光達的外參差 1 度，50 公尺外就會偏 0.87 公尺</a:t>
            </a:r>
            <a:r>
              <a:rPr sz="1150" lang="zh-TW" dirty="0">
                <a:solidFill>
                  <a:srgbClr val="000000"/>
                </a:solidFill>
                <a:latin typeface="Arial Unicode MS"/>
                <a:ea typeface="Arial Unicode MS"/>
                <a:cs typeface="Arial Unicode MS"/>
              </a:rPr>
              <a:t>，而且是橫向的偏移，快要半個車道。
</a:t>
            </a:r>
          </a:p>
          <a:p>
            <a:pPr algn="l">
              <a:spcBef>
                <a:spcPts val="0"/>
              </a:spcBef>
              <a:spcAft>
                <a:spcPts val="192"/>
              </a:spcAft>
            </a:pPr>
            <a:r>
              <a:rPr sz="1150" b="1" lang="zh-TW" dirty="0">
                <a:solidFill>
                  <a:srgbClr val="000000"/>
                </a:solidFill>
                <a:latin typeface="Arial Unicode MS"/>
                <a:ea typeface="Arial Unicode MS"/>
                <a:cs typeface="Arial Unicode MS"/>
              </a:rPr>
              <a:t>同一塊影像感測器，鏡頭 3.6 mm 視野 81 度，8 mm 是 42 度。</a:t>
            </a:r>
            <a:r>
              <a:rPr sz="1150" lang="zh-TW" dirty="0">
                <a:solidFill>
                  <a:srgbClr val="000000"/>
                </a:solidFill>
                <a:latin typeface="Arial Unicode MS"/>
                <a:ea typeface="Arial Unicode MS"/>
                <a:cs typeface="Arial Unicode MS"/>
              </a:rPr>
              <a:t>規則是</a:t>
            </a:r>
            <a:r>
              <a:rPr sz="1150" b="1" lang="zh-TW" dirty="0">
                <a:solidFill>
                  <a:srgbClr val="000000"/>
                </a:solidFill>
                <a:latin typeface="Arial Unicode MS"/>
                <a:ea typeface="Arial Unicode MS"/>
                <a:cs typeface="Arial Unicode MS"/>
              </a:rPr>
              <a:t>焦距愈長，視野愈窄</a:t>
            </a:r>
            <a:r>
              <a:rPr sz="1150" lang="zh-TW" dirty="0">
                <a:solidFill>
                  <a:srgbClr val="000000"/>
                </a:solidFill>
                <a:latin typeface="Arial Unicode MS"/>
                <a:ea typeface="Arial Unicode MS"/>
                <a:cs typeface="Arial Unicode MS"/>
              </a:rPr>
              <a:t>，就像手機相機拉近（變焦），看得遠，可是看到的範圍變小。視野不寫在影像感測器的規格表上，是鏡頭決定的。
</a:t>
            </a:r>
          </a:p>
          <a:p>
            <a:pPr algn="l">
              <a:spcBef>
                <a:spcPts val="0"/>
              </a:spcBef>
              <a:spcAft>
                <a:spcPts val="192"/>
              </a:spcAft>
            </a:pPr>
            <a:r>
              <a:rPr sz="1150" b="1" lang="zh-TW" dirty="0">
                <a:solidFill>
                  <a:srgbClr val="000000"/>
                </a:solidFill>
                <a:latin typeface="Arial Unicode MS"/>
                <a:ea typeface="Arial Unicode MS"/>
                <a:cs typeface="Arial Unicode MS"/>
              </a:rPr>
              <a:t>雷達角解析度 1.6 度</a:t>
            </a:r>
            <a:r>
              <a:rPr sz="1150" lang="zh-TW" dirty="0">
                <a:solidFill>
                  <a:srgbClr val="000000"/>
                </a:solidFill>
                <a:latin typeface="Arial Unicode MS"/>
                <a:ea typeface="Arial Unicode MS"/>
                <a:cs typeface="Arial Unicode MS"/>
              </a:rPr>
              <a:t>：角度固定，離得愈遠，攤開的寬度愈大。40 公尺外是 1.1 公尺，兩個東西靠得比一束還近，雷達就可能把它們當成一個目標；150 公尺外是 4.2 公尺，比車道 3.5 公尺還寬：看得到目標，但分不出在哪一道。所以跟車的雷達要配相機。
</a:t>
            </a:r>
          </a:p>
          <a:p>
            <a:pPr algn="l">
              <a:spcBef>
                <a:spcPts val="0"/>
              </a:spcBef>
              <a:spcAft>
                <a:spcPts val="192"/>
              </a:spcAft>
            </a:pPr>
            <a:r>
              <a:rPr sz="1150" b="1" lang="zh-TW" dirty="0">
                <a:solidFill>
                  <a:srgbClr val="000000"/>
                </a:solidFill>
                <a:latin typeface="Arial Unicode MS"/>
                <a:ea typeface="Arial Unicode MS"/>
                <a:cs typeface="Arial Unicode MS"/>
              </a:rPr>
              <a:t>超音波 USS6 只量得到 5.5 公尺。</a:t>
            </a:r>
            <a:r>
              <a:rPr sz="1150" lang="zh-TW" dirty="0">
                <a:solidFill>
                  <a:srgbClr val="000000"/>
                </a:solidFill>
                <a:latin typeface="Arial Unicode MS"/>
                <a:ea typeface="Arial Unicode MS"/>
                <a:cs typeface="Arial Unicode MS"/>
              </a:rPr>
              <a:t>時速 20 的煞停距離約 4.2 公尺，再加 5 公尺的安全距離，要 9.2 公尺，超音波不夠，所以它只在停車場過關，是停車、倒車用的。注意：第三週那張表寫超音波 4.5 公尺，那是課堂設定的值；5.5 公尺是第六週那一顆產品的規格，兩個數字來源不同。
</a:t>
            </a:r>
          </a:p>
          <a:p>
            <a:pPr algn="l">
              <a:spcBef>
                <a:spcPts val="0"/>
              </a:spcBef>
              <a:spcAft>
                <a:spcPts val="192"/>
              </a:spcAft>
            </a:pPr>
            <a:r>
              <a:rPr sz="1150" b="1" lang="zh-TW" dirty="0">
                <a:solidFill>
                  <a:srgbClr val="000000"/>
                </a:solidFill>
                <a:latin typeface="Arial Unicode MS"/>
                <a:ea typeface="Arial Unicode MS"/>
                <a:cs typeface="Arial Unicode MS"/>
              </a:rPr>
              <a:t>衛星定位 2.5 m CEP</a:t>
            </a:r>
            <a:r>
              <a:rPr sz="1150" lang="zh-TW" dirty="0">
                <a:solidFill>
                  <a:srgbClr val="000000"/>
                </a:solidFill>
                <a:latin typeface="Arial Unicode MS"/>
                <a:ea typeface="Arial Unicode MS"/>
                <a:cs typeface="Arial Unicode MS"/>
              </a:rPr>
              <a:t>：CEP 是 Circular Error Probable 的縮寫，中文叫「圓概率誤差」。以真正的位置為圓心畫一個圓，定位點有一半落在圈內，這個圓的半徑就是 CEP。所以 2.5 m CEP 是一半的時間在 2.5 公尺內，另一半更差，不是「最多 2.5 公尺」。就像射飛鏢，說「一半的鏢在半徑 2.5 公分的圈內」，另一半就在圈外。
</a:t>
            </a:r>
          </a:p>
          <a:p>
            <a:pPr algn="l">
              <a:spcBef>
                <a:spcPts val="0"/>
              </a:spcBef>
              <a:spcAft>
                <a:spcPts val="192"/>
              </a:spcAft>
            </a:pPr>
            <a:r>
              <a:rPr sz="1150" b="1" lang="zh-TW" dirty="0">
                <a:solidFill>
                  <a:srgbClr val="000000"/>
                </a:solidFill>
                <a:latin typeface="Arial Unicode MS"/>
                <a:ea typeface="Arial Unicode MS"/>
                <a:cs typeface="Arial Unicode MS"/>
              </a:rPr>
              <a:t>IMU 的誤差跟時間平方成正比</a:t>
            </a:r>
            <a:r>
              <a:rPr sz="1150" lang="zh-TW" dirty="0">
                <a:solidFill>
                  <a:srgbClr val="000000"/>
                </a:solidFill>
                <a:latin typeface="Arial Unicode MS"/>
                <a:ea typeface="Arial Unicode MS"/>
                <a:cs typeface="Arial Unicode MS"/>
              </a:rPr>
              <a:t>：時速 80、容許 0.5 公尺，工業級大約撐 34 秒，雪山隧道要 580 秒，撐不住。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讓大家會讀失效對照表：橫著看，是看在某一種條件下，哪些感測器會失效；直著看，是看某一種感測器怕哪些條件。
</a:t>
            </a:r>
          </a:p>
          <a:p>
            <a:pPr algn="l">
              <a:spcBef>
                <a:spcPts val="0"/>
              </a:spcBef>
              <a:spcAft>
                <a:spcPts val="267"/>
              </a:spcAft>
            </a:pPr>
            <a:r>
              <a:rPr sz="1600" lang="zh-TW" dirty="0">
                <a:solidFill>
                  <a:srgbClr val="000000"/>
                </a:solidFill>
                <a:latin typeface="Arial Unicode MS"/>
                <a:ea typeface="Arial Unicode MS"/>
                <a:cs typeface="Arial Unicode MS"/>
              </a:rPr>
              <a:t>這張是第七週第一節的表，圖表判讀很適合考它。兩種讀法。
</a:t>
            </a:r>
          </a:p>
          <a:p>
            <a:pPr algn="l">
              <a:spcBef>
                <a:spcPts val="0"/>
              </a:spcBef>
              <a:spcAft>
                <a:spcPts val="267"/>
              </a:spcAft>
            </a:pPr>
            <a:r>
              <a:rPr sz="1600" b="1" lang="zh-TW" dirty="0">
                <a:solidFill>
                  <a:srgbClr val="000000"/>
                </a:solidFill>
                <a:latin typeface="Arial Unicode MS"/>
                <a:ea typeface="Arial Unicode MS"/>
                <a:cs typeface="Arial Unicode MS"/>
              </a:rPr>
              <a:t>橫著讀</a:t>
            </a:r>
            <a:r>
              <a:rPr sz="1600" lang="zh-TW" dirty="0">
                <a:solidFill>
                  <a:srgbClr val="000000"/>
                </a:solidFill>
                <a:latin typeface="Arial Unicode MS"/>
                <a:ea typeface="Arial Unicode MS"/>
                <a:cs typeface="Arial Unicode MS"/>
              </a:rPr>
              <a:t>，看在某一種條件下，哪些感測器會失效：大雨濃霧，相機失靈、光達變差，雷達照常。夜間，只有相機變差。隧道，衛星定位失靈、IMU 變差。
</a:t>
            </a:r>
          </a:p>
          <a:p>
            <a:pPr algn="l">
              <a:spcBef>
                <a:spcPts val="0"/>
              </a:spcBef>
              <a:spcAft>
                <a:spcPts val="267"/>
              </a:spcAft>
            </a:pPr>
            <a:r>
              <a:rPr sz="1600" b="1" lang="zh-TW" dirty="0">
                <a:solidFill>
                  <a:srgbClr val="000000"/>
                </a:solidFill>
                <a:latin typeface="Arial Unicode MS"/>
                <a:ea typeface="Arial Unicode MS"/>
                <a:cs typeface="Arial Unicode MS"/>
              </a:rPr>
              <a:t>直著讀</a:t>
            </a:r>
            <a:r>
              <a:rPr sz="1600" lang="zh-TW" dirty="0">
                <a:solidFill>
                  <a:srgbClr val="000000"/>
                </a:solidFill>
                <a:latin typeface="Arial Unicode MS"/>
                <a:ea typeface="Arial Unicode MS"/>
                <a:cs typeface="Arial Unicode MS"/>
              </a:rPr>
              <a:t>，看某一種感測器怕哪些條件：雷達這一欄幾乎全是 ✓，可是「遠處的行人、機車」是 ✗，靜止物是 ▲。相機怕雨、怕逆光、怕被蓋住。
</a:t>
            </a:r>
          </a:p>
          <a:p>
            <a:pPr algn="l">
              <a:spcBef>
                <a:spcPts val="0"/>
              </a:spcBef>
              <a:spcAft>
                <a:spcPts val="267"/>
              </a:spcAft>
            </a:pPr>
            <a:r>
              <a:rPr sz="1600" lang="zh-TW" dirty="0">
                <a:solidFill>
                  <a:srgbClr val="000000"/>
                </a:solidFill>
                <a:latin typeface="Arial Unicode MS"/>
                <a:ea typeface="Arial Unicode MS"/>
                <a:cs typeface="Arial Unicode MS"/>
              </a:rPr>
              <a:t>結論只有一句：</a:t>
            </a:r>
            <a:r>
              <a:rPr sz="1600" b="1" lang="zh-TW" dirty="0">
                <a:solidFill>
                  <a:srgbClr val="000000"/>
                </a:solidFill>
                <a:latin typeface="Arial Unicode MS"/>
                <a:ea typeface="Arial Unicode MS"/>
                <a:cs typeface="Arial Unicode MS"/>
              </a:rPr>
              <a:t>沒有一欄全是 ✓</a:t>
            </a:r>
            <a:r>
              <a:rPr sz="1600" lang="zh-TW" dirty="0">
                <a:solidFill>
                  <a:srgbClr val="000000"/>
                </a:solidFill>
                <a:latin typeface="Arial Unicode MS"/>
                <a:ea typeface="Arial Unicode MS"/>
                <a:cs typeface="Arial Unicode MS"/>
              </a:rPr>
              <a:t>，所以要融合。
</a:t>
            </a:r>
          </a:p>
          <a:p>
            <a:pPr algn="l">
              <a:spcBef>
                <a:spcPts val="0"/>
              </a:spcBef>
              <a:spcAft>
                <a:spcPts val="267"/>
              </a:spcAft>
            </a:pPr>
            <a:r>
              <a:rPr sz="1600" lang="zh-TW" dirty="0">
                <a:solidFill>
                  <a:srgbClr val="000000"/>
                </a:solidFill>
                <a:latin typeface="Arial Unicode MS"/>
                <a:ea typeface="Arial Unicode MS"/>
                <a:cs typeface="Arial Unicode MS"/>
              </a:rPr>
              <a:t>第七週另外還有三件事。第一，感測器失效有三種方式：看不到、看錯，還有看不到卻回報說沒事，第三種最危險。第二，融合有兩個好處：互補和備援。第三，融合有兩個前提：空間要標定，時間要同步。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讓大家用五句話記住第七週第二節的融合。
</a:t>
            </a:r>
          </a:p>
          <a:p>
            <a:pPr algn="l">
              <a:spcBef>
                <a:spcPts val="0"/>
              </a:spcBef>
              <a:spcAft>
                <a:spcPts val="267"/>
              </a:spcAft>
            </a:pPr>
            <a:r>
              <a:rPr sz="1600" b="1" lang="zh-TW" dirty="0">
                <a:solidFill>
                  <a:srgbClr val="000000"/>
                </a:solidFill>
                <a:latin typeface="Arial Unicode MS"/>
                <a:ea typeface="Arial Unicode MS"/>
                <a:cs typeface="Arial Unicode MS"/>
              </a:rPr>
              <a:t>兩個好處</a:t>
            </a:r>
            <a:r>
              <a:rPr sz="1600" lang="zh-TW" dirty="0">
                <a:solidFill>
                  <a:srgbClr val="000000"/>
                </a:solidFill>
                <a:latin typeface="Arial Unicode MS"/>
                <a:ea typeface="Arial Unicode MS"/>
                <a:cs typeface="Arial Unicode MS"/>
              </a:rPr>
              <a:t>：互補，每一顆給不同的資訊，相機說是什麼、光達說多遠、雷達說多快；備援，其中一顆感測器壞了，車子還能繼續開。
</a:t>
            </a:r>
          </a:p>
          <a:p>
            <a:pPr algn="l">
              <a:spcBef>
                <a:spcPts val="0"/>
              </a:spcBef>
              <a:spcAft>
                <a:spcPts val="267"/>
              </a:spcAft>
            </a:pPr>
            <a:r>
              <a:rPr sz="1600" b="1" lang="zh-TW" dirty="0">
                <a:solidFill>
                  <a:srgbClr val="000000"/>
                </a:solidFill>
                <a:latin typeface="Arial Unicode MS"/>
                <a:ea typeface="Arial Unicode MS"/>
                <a:cs typeface="Arial Unicode MS"/>
              </a:rPr>
              <a:t>兩個前提</a:t>
            </a:r>
            <a:r>
              <a:rPr sz="1600" lang="zh-TW" dirty="0">
                <a:solidFill>
                  <a:srgbClr val="000000"/>
                </a:solidFill>
                <a:latin typeface="Arial Unicode MS"/>
                <a:ea typeface="Arial Unicode MS"/>
                <a:cs typeface="Arial Unicode MS"/>
              </a:rPr>
              <a:t>：空間要對齊，就是標定，包含內參和外參；時間要對齊，就是同步。
</a:t>
            </a:r>
          </a:p>
          <a:p>
            <a:pPr algn="l">
              <a:spcBef>
                <a:spcPts val="0"/>
              </a:spcBef>
              <a:spcAft>
                <a:spcPts val="267"/>
              </a:spcAft>
            </a:pPr>
            <a:r>
              <a:rPr sz="1600" b="1" lang="zh-TW" dirty="0">
                <a:solidFill>
                  <a:srgbClr val="000000"/>
                </a:solidFill>
                <a:latin typeface="Arial Unicode MS"/>
                <a:ea typeface="Arial Unicode MS"/>
                <a:cs typeface="Arial Unicode MS"/>
              </a:rPr>
              <a:t>前期、中期、後期</a:t>
            </a:r>
            <a:r>
              <a:rPr sz="1600" lang="zh-TW" dirty="0">
                <a:solidFill>
                  <a:srgbClr val="000000"/>
                </a:solidFill>
                <a:latin typeface="Arial Unicode MS"/>
                <a:ea typeface="Arial Unicode MS"/>
                <a:cs typeface="Arial Unicode MS"/>
              </a:rPr>
              <a:t>：愈早把資料合起來，保留下來的資訊愈多，但是兩個感測器的資料也要對得愈準。前期融合是把每一個點對起來，中期融合是把鳥瞰圖上的每一格對起來，後期融合是把各自找出來的物體對起來。後期融合要做「對應」：雷達的目標配相機的框。
</a:t>
            </a:r>
          </a:p>
          <a:p>
            <a:pPr algn="l">
              <a:spcBef>
                <a:spcPts val="0"/>
              </a:spcBef>
              <a:spcAft>
                <a:spcPts val="267"/>
              </a:spcAft>
            </a:pPr>
            <a:r>
              <a:rPr sz="1600" b="1" lang="zh-TW" dirty="0">
                <a:solidFill>
                  <a:srgbClr val="000000"/>
                </a:solidFill>
                <a:latin typeface="Arial Unicode MS"/>
                <a:ea typeface="Arial Unicode MS"/>
                <a:cs typeface="Arial Unicode MS"/>
              </a:rPr>
              <a:t>要相信誰</a:t>
            </a:r>
            <a:r>
              <a:rPr sz="1600" lang="zh-TW" dirty="0">
                <a:solidFill>
                  <a:srgbClr val="000000"/>
                </a:solidFill>
                <a:latin typeface="Arial Unicode MS"/>
                <a:ea typeface="Arial Unicode MS"/>
                <a:cs typeface="Arial Unicode MS"/>
              </a:rPr>
              <a:t>：比較準的那一個，要多相信一點。IMU 說 120（誤差 1），GPS 說 118（誤差 3）。誤差差 3 倍，信任差 9 倍：9 乘 120 加 1 乘 118，除以 10，得 119.8 公尺。這一題很適合考計算。
</a:t>
            </a:r>
          </a:p>
          <a:p>
            <a:pPr algn="l">
              <a:spcBef>
                <a:spcPts val="0"/>
              </a:spcBef>
              <a:spcAft>
                <a:spcPts val="267"/>
              </a:spcAft>
            </a:pPr>
            <a:r>
              <a:rPr sz="1600" b="1" lang="zh-TW" dirty="0">
                <a:solidFill>
                  <a:srgbClr val="000000"/>
                </a:solidFill>
                <a:latin typeface="Arial Unicode MS"/>
                <a:ea typeface="Arial Unicode MS"/>
                <a:cs typeface="Arial Unicode MS"/>
              </a:rPr>
              <a:t>降級</a:t>
            </a:r>
            <a:r>
              <a:rPr sz="1600" lang="zh-TW" dirty="0">
                <a:solidFill>
                  <a:srgbClr val="000000"/>
                </a:solidFill>
                <a:latin typeface="Arial Unicode MS"/>
                <a:ea typeface="Arial Unicode MS"/>
                <a:cs typeface="Arial Unicode MS"/>
              </a:rPr>
              <a:t>：L2 駕駛馬上接手；L3 請駕駛接手，等幾秒，沒人接就在車道內停下；L4 沒有駕駛，自己靠邊停，叫最小風險狀態。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17"/>
              </a:spcAft>
            </a:pPr>
            <a:r>
              <a:rPr sz="1300" b="1" lang="zh-TW" dirty="0">
                <a:solidFill>
                  <a:srgbClr val="000000"/>
                </a:solidFill>
                <a:latin typeface="Arial Unicode MS"/>
                <a:ea typeface="Arial Unicode MS"/>
                <a:cs typeface="Arial Unicode MS"/>
              </a:rPr>
              <a:t>這一張的目的：</a:t>
            </a:r>
            <a:r>
              <a:rPr sz="1300" lang="zh-TW" dirty="0">
                <a:solidFill>
                  <a:srgbClr val="000000"/>
                </a:solidFill>
                <a:latin typeface="Arial Unicode MS"/>
                <a:ea typeface="Arial Unicode MS"/>
                <a:cs typeface="Arial Unicode MS"/>
              </a:rPr>
              <a:t>讓大家用六列，把今天第一節和第二節要考的東西記起來。
</a:t>
            </a:r>
          </a:p>
          <a:p>
            <a:pPr algn="l">
              <a:spcBef>
                <a:spcPts val="0"/>
              </a:spcBef>
              <a:spcAft>
                <a:spcPts val="217"/>
              </a:spcAft>
            </a:pPr>
            <a:r>
              <a:rPr sz="1300" b="1" lang="zh-TW" dirty="0">
                <a:solidFill>
                  <a:srgbClr val="000000"/>
                </a:solidFill>
                <a:latin typeface="Arial Unicode MS"/>
                <a:ea typeface="Arial Unicode MS"/>
                <a:cs typeface="Arial Unicode MS"/>
              </a:rPr>
              <a:t>照片是數字。</a:t>
            </a:r>
            <a:r>
              <a:rPr sz="1300" lang="zh-TW" dirty="0">
                <a:solidFill>
                  <a:srgbClr val="000000"/>
                </a:solidFill>
                <a:latin typeface="Arial Unicode MS"/>
                <a:ea typeface="Arial Unicode MS"/>
                <a:cs typeface="Arial Unicode MS"/>
              </a:rPr>
              <a:t>每一個像素有三個數字，紅、綠、藍，每個從 0 到 255。三種光可以混出別的顏色：紅加綠是黃，三個都是 255 是白，三個都是 0 是黑。就像舞台上的三盞彩色燈，打在同一個地方會混出別的顏色。
</a:t>
            </a:r>
          </a:p>
          <a:p>
            <a:pPr algn="l">
              <a:spcBef>
                <a:spcPts val="0"/>
              </a:spcBef>
              <a:spcAft>
                <a:spcPts val="217"/>
              </a:spcAft>
            </a:pPr>
            <a:r>
              <a:rPr sz="1300" b="1" lang="zh-TW" dirty="0">
                <a:solidFill>
                  <a:srgbClr val="000000"/>
                </a:solidFill>
                <a:latin typeface="Arial Unicode MS"/>
                <a:ea typeface="Arial Unicode MS"/>
                <a:cs typeface="Arial Unicode MS"/>
              </a:rPr>
              <a:t>「學」是什麼。</a:t>
            </a:r>
            <a:r>
              <a:rPr sz="1300" lang="zh-TW" dirty="0">
                <a:solidFill>
                  <a:srgbClr val="000000"/>
                </a:solidFill>
                <a:latin typeface="Arial Unicode MS"/>
                <a:ea typeface="Arial Unicode MS"/>
                <a:cs typeface="Arial Unicode MS"/>
              </a:rPr>
              <a:t>電腦看很多有標準答案的例子，猜一次、對答案、改一點點，重複很多次。為什麼只改一點點？就像大霧裡下山，只摸得到腳下往哪邊斜，一次跳太遠，會跳過山谷，落到對面的山坡上；第一節那個動畫，步伐 2.5 的那一格就是一直跳來跳去。
</a:t>
            </a:r>
          </a:p>
          <a:p>
            <a:pPr algn="l">
              <a:spcBef>
                <a:spcPts val="0"/>
              </a:spcBef>
              <a:spcAft>
                <a:spcPts val="217"/>
              </a:spcAft>
            </a:pPr>
            <a:r>
              <a:rPr sz="1300" b="1" lang="zh-TW" dirty="0">
                <a:solidFill>
                  <a:srgbClr val="000000"/>
                </a:solidFill>
                <a:latin typeface="Arial Unicode MS"/>
                <a:ea typeface="Arial Unicode MS"/>
                <a:cs typeface="Arial Unicode MS"/>
              </a:rPr>
              <a:t>機器學習和深度學習。</a:t>
            </a:r>
            <a:r>
              <a:rPr sz="1300" lang="zh-TW" dirty="0">
                <a:solidFill>
                  <a:srgbClr val="000000"/>
                </a:solidFill>
                <a:latin typeface="Arial Unicode MS"/>
                <a:ea typeface="Arial Unicode MS"/>
                <a:cs typeface="Arial Unicode MS"/>
              </a:rPr>
              <a:t>差別在「看什麼」是誰決定的。機器學習是人決定看什麼，例如第一節我選了「框的高除以寬」，電腦只學門檻 1.03；深度學習連看什麼都自己學，YOLOX 裡面大約九百萬個數字全部自己學。兩種都要有答案的資料，深度學習要的更多，YOLOX 用了 COCO 大約十二萬張標好的照片。
</a:t>
            </a:r>
          </a:p>
          <a:p>
            <a:pPr algn="l">
              <a:spcBef>
                <a:spcPts val="0"/>
              </a:spcBef>
              <a:spcAft>
                <a:spcPts val="217"/>
              </a:spcAft>
            </a:pPr>
            <a:r>
              <a:rPr sz="1300" b="1" lang="zh-TW" dirty="0">
                <a:solidFill>
                  <a:srgbClr val="000000"/>
                </a:solidFill>
                <a:latin typeface="Arial Unicode MS"/>
                <a:ea typeface="Arial Unicode MS"/>
                <a:cs typeface="Arial Unicode MS"/>
              </a:rPr>
              <a:t>偵測給什麼。</a:t>
            </a:r>
            <a:r>
              <a:rPr sz="1300" lang="zh-TW" dirty="0">
                <a:solidFill>
                  <a:srgbClr val="000000"/>
                </a:solidFill>
                <a:latin typeface="Arial Unicode MS"/>
                <a:ea typeface="Arial Unicode MS"/>
                <a:cs typeface="Arial Unicode MS"/>
              </a:rPr>
              <a:t>每個東西給三樣：框、類別、分數。分數用來設門檻：門檻低，抓得多，可是亂報的也多；門檻高，亂報的少，可是漏掉的也多。
</a:t>
            </a:r>
          </a:p>
          <a:p>
            <a:pPr algn="l">
              <a:spcBef>
                <a:spcPts val="0"/>
              </a:spcBef>
              <a:spcAft>
                <a:spcPts val="217"/>
              </a:spcAft>
            </a:pPr>
            <a:r>
              <a:rPr sz="1300" b="1" lang="zh-TW" dirty="0">
                <a:solidFill>
                  <a:srgbClr val="000000"/>
                </a:solidFill>
                <a:latin typeface="Arial Unicode MS"/>
                <a:ea typeface="Arial Unicode MS"/>
                <a:cs typeface="Arial Unicode MS"/>
              </a:rPr>
              <a:t>東西離得愈遠、光線愈暗，模型就愈容易漏掉。</a:t>
            </a:r>
            <a:r>
              <a:rPr sz="1300" lang="zh-TW" dirty="0">
                <a:solidFill>
                  <a:srgbClr val="000000"/>
                </a:solidFill>
                <a:latin typeface="Arial Unicode MS"/>
                <a:ea typeface="Arial Unicode MS"/>
                <a:cs typeface="Arial Unicode MS"/>
              </a:rPr>
              <a:t>白天的行人，十公尺內抓到 82%，四十到五十公尺剩 3%。十到二十公尺的行人，白天 66%，晚上 49%。
</a:t>
            </a:r>
          </a:p>
          <a:p>
            <a:pPr algn="l">
              <a:spcBef>
                <a:spcPts val="0"/>
              </a:spcBef>
              <a:spcAft>
                <a:spcPts val="217"/>
              </a:spcAft>
            </a:pPr>
            <a:r>
              <a:rPr sz="1300" b="1" lang="zh-TW" dirty="0">
                <a:solidFill>
                  <a:srgbClr val="000000"/>
                </a:solidFill>
                <a:latin typeface="Arial Unicode MS"/>
                <a:ea typeface="Arial Unicode MS"/>
                <a:cs typeface="Arial Unicode MS"/>
              </a:rPr>
              <a:t>標註和 IoU。</a:t>
            </a:r>
            <a:r>
              <a:rPr sz="1300" lang="zh-TW" dirty="0">
                <a:solidFill>
                  <a:srgbClr val="000000"/>
                </a:solidFill>
                <a:latin typeface="Arial Unicode MS"/>
                <a:ea typeface="Arial Unicode MS"/>
                <a:cs typeface="Arial Unicode MS"/>
              </a:rPr>
              <a:t>第二節大家自己標過：nuScenes 的規則是框要貼、手腳包進去、騎士跟車同一個框，旁邊站的人另外框。IoU 是兩個框</a:t>
            </a:r>
            <a:r>
              <a:rPr sz="1300" b="1" lang="zh-TW" dirty="0">
                <a:solidFill>
                  <a:srgbClr val="000000"/>
                </a:solidFill>
                <a:latin typeface="Arial Unicode MS"/>
                <a:ea typeface="Arial Unicode MS"/>
                <a:cs typeface="Arial Unicode MS"/>
              </a:rPr>
              <a:t>重疊的面積除以合起來的面積</a:t>
            </a:r>
            <a:r>
              <a:rPr sz="1300" lang="zh-TW" dirty="0">
                <a:solidFill>
                  <a:srgbClr val="000000"/>
                </a:solidFill>
                <a:latin typeface="Arial Unicode MS"/>
                <a:ea typeface="Arial Unicode MS"/>
                <a:cs typeface="Arial Unicode MS"/>
              </a:rPr>
              <a:t>，量兩個框有多像：1 是完全一樣，0 是完全沒碰到。算一次：兩個框各 50，重疊 20，合起來是 50 加 50 減 20，等於 80，IoU 是 20 除以 80，等於 0.25。合起來那一步要</a:t>
            </a:r>
            <a:r>
              <a:rPr sz="1300" b="1" lang="zh-TW" dirty="0">
                <a:solidFill>
                  <a:srgbClr val="000000"/>
                </a:solidFill>
                <a:latin typeface="Arial Unicode MS"/>
                <a:ea typeface="Arial Unicode MS"/>
                <a:cs typeface="Arial Unicode MS"/>
              </a:rPr>
              <a:t>減掉重疊</a:t>
            </a:r>
            <a:r>
              <a:rPr sz="1300" lang="zh-TW" dirty="0">
                <a:solidFill>
                  <a:srgbClr val="000000"/>
                </a:solidFill>
                <a:latin typeface="Arial Unicode MS"/>
                <a:ea typeface="Arial Unicode MS"/>
                <a:cs typeface="Arial Unicode MS"/>
              </a:rPr>
              <a:t>，不然重疊的部分算了兩次，這是最常錯的地方。今天練習台用 IoU 至少 0.3、而且類別對，算框到。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這一張的目的：</a:t>
            </a:r>
            <a:r>
              <a:rPr sz="850" lang="zh-TW" dirty="0">
                <a:solidFill>
                  <a:srgbClr val="000000"/>
                </a:solidFill>
                <a:latin typeface="Arial Unicode MS"/>
                <a:ea typeface="Arial Unicode MS"/>
                <a:cs typeface="Arial Unicode MS"/>
              </a:rPr>
              <a:t>讓大家把最容易講錯的八句話記下來，知道每一句錯在哪裡、正確的說法是什麼，考試看到這種選項時認得出來。
</a:t>
            </a:r>
          </a:p>
          <a:p>
            <a:pPr algn="l">
              <a:spcBef>
                <a:spcPts val="0"/>
              </a:spcBef>
              <a:spcAft>
                <a:spcPts val="142"/>
              </a:spcAft>
            </a:pPr>
            <a:r>
              <a:rPr sz="850" lang="zh-TW" dirty="0">
                <a:solidFill>
                  <a:srgbClr val="000000"/>
                </a:solidFill>
                <a:latin typeface="Arial Unicode MS"/>
                <a:ea typeface="Arial Unicode MS"/>
                <a:cs typeface="Arial Unicode MS"/>
              </a:rPr>
              <a:t>這八句話，都是各週教材裡特別提醒過、很多人會講錯的。請大家先把右邊遮住，自己說說看左邊那一句哪裡錯，再聽我講。
</a:t>
            </a:r>
          </a:p>
          <a:p>
            <a:pPr algn="l">
              <a:spcBef>
                <a:spcPts val="0"/>
              </a:spcBef>
              <a:spcAft>
                <a:spcPts val="142"/>
              </a:spcAft>
            </a:pPr>
            <a:r>
              <a:rPr sz="850" b="1" lang="zh-TW" dirty="0">
                <a:solidFill>
                  <a:srgbClr val="000000"/>
                </a:solidFill>
                <a:latin typeface="Arial Unicode MS"/>
                <a:ea typeface="Arial Unicode MS"/>
                <a:cs typeface="Arial Unicode MS"/>
              </a:rPr>
              <a:t>一、AEB 不是 L1，是 L0。</a:t>
            </a:r>
            <a:r>
              <a:rPr sz="850" lang="zh-TW" dirty="0">
                <a:solidFill>
                  <a:srgbClr val="000000"/>
                </a:solidFill>
                <a:latin typeface="Arial Unicode MS"/>
                <a:ea typeface="Arial Unicode MS"/>
                <a:cs typeface="Arial Unicode MS"/>
              </a:rPr>
              <a:t>AEB 是自動緊急煞車，快要撞上的時候，車子自己踩煞車。它的技術很厲害，可是它只在最後那一瞬間出手，平常完全不管開車。第一週的判斷三步驟，第一步就是問：系統是「瞬間介入」，還是「持續控制」？瞬間介入的，不管技術多厲害，都還是 L0。L1 要能持續控制一項，例如 ACC 自動跟車，一路幫你控制速度。等級看的是分工，不是看技術厲不厲害。
</a:t>
            </a:r>
          </a:p>
          <a:p>
            <a:pPr algn="l">
              <a:spcBef>
                <a:spcPts val="0"/>
              </a:spcBef>
              <a:spcAft>
                <a:spcPts val="142"/>
              </a:spcAft>
            </a:pPr>
            <a:r>
              <a:rPr sz="850" b="1" lang="zh-TW" dirty="0">
                <a:solidFill>
                  <a:srgbClr val="000000"/>
                </a:solidFill>
                <a:latin typeface="Arial Unicode MS"/>
                <a:ea typeface="Arial Unicode MS"/>
                <a:cs typeface="Arial Unicode MS"/>
              </a:rPr>
              <a:t>二、沒有方向盤，不等於 L5。</a:t>
            </a:r>
            <a:r>
              <a:rPr sz="850" lang="zh-TW" dirty="0">
                <a:solidFill>
                  <a:srgbClr val="000000"/>
                </a:solidFill>
                <a:latin typeface="Arial Unicode MS"/>
                <a:ea typeface="Arial Unicode MS"/>
                <a:cs typeface="Arial Unicode MS"/>
              </a:rPr>
              <a:t>L5 的意思是沒有 ODD 限制：任何路、任何天氣、任何地方都能自己開。目前世界上沒有這種車。有些無人接駁車、無人計程車，車上真的沒有方向盤，可是它只能在劃好的區域裡開，出了那個區域就不行，所以還是 L4。等級描述的是人和系統怎麼分工、在什麼範圍內分工，不是看車子長什麼樣子。
</a:t>
            </a:r>
          </a:p>
          <a:p>
            <a:pPr algn="l">
              <a:spcBef>
                <a:spcPts val="0"/>
              </a:spcBef>
              <a:spcAft>
                <a:spcPts val="142"/>
              </a:spcAft>
            </a:pPr>
            <a:r>
              <a:rPr sz="850" b="1" lang="zh-TW" dirty="0">
                <a:solidFill>
                  <a:srgbClr val="000000"/>
                </a:solidFill>
                <a:latin typeface="Arial Unicode MS"/>
                <a:ea typeface="Arial Unicode MS"/>
                <a:cs typeface="Arial Unicode MS"/>
              </a:rPr>
              <a:t>三、「94% 的車禍是人為錯誤」，不代表換掉人就少 94% 的車禍。</a:t>
            </a:r>
            <a:r>
              <a:rPr sz="850" lang="zh-TW" dirty="0">
                <a:solidFill>
                  <a:srgbClr val="000000"/>
                </a:solidFill>
                <a:latin typeface="Arial Unicode MS"/>
                <a:ea typeface="Arial Unicode MS"/>
                <a:cs typeface="Arial Unicode MS"/>
              </a:rPr>
              <a:t>這個數字來自美國 NHTSA 2015 年的報告。報告說的是：94% 事故的「關鍵原因」歸給駕駛人，而且報告自己寫明，關鍵原因不等於事故的成因，也不代表誰要負責。一場車禍通常是一串事情接在一起：例如下雨路滑、路口視線被擋、對方車速太快，最後駕駛來不及煞車。報告把最後那一環記成關鍵原因，可是前面每一環都有份。IIHS 2020 年用同一份資料重新分析：如果自駕車只是看得比較清楚、反應比較快，其他判斷都跟人一樣，大約只能避免三分之一的事故。2022 年 NHTSA 也把這個數字從宣導材料裡拿掉了。
</a:t>
            </a:r>
          </a:p>
          <a:p>
            <a:pPr algn="l">
              <a:spcBef>
                <a:spcPts val="0"/>
              </a:spcBef>
              <a:spcAft>
                <a:spcPts val="142"/>
              </a:spcAft>
            </a:pPr>
            <a:r>
              <a:rPr sz="850" b="1" lang="zh-TW" dirty="0">
                <a:solidFill>
                  <a:srgbClr val="000000"/>
                </a:solidFill>
                <a:latin typeface="Arial Unicode MS"/>
                <a:ea typeface="Arial Unicode MS"/>
                <a:cs typeface="Arial Unicode MS"/>
              </a:rPr>
              <a:t>四、規格表寫「測距 200 公尺」，不代表 200 公尺內的東西都看得到。</a:t>
            </a:r>
            <a:r>
              <a:rPr sz="850" lang="zh-TW" dirty="0">
                <a:solidFill>
                  <a:srgbClr val="000000"/>
                </a:solidFill>
                <a:latin typeface="Arial Unicode MS"/>
                <a:ea typeface="Arial Unicode MS"/>
                <a:cs typeface="Arial Unicode MS"/>
              </a:rPr>
              <a:t>第五週看過 OS1 光達的規格表：對反射率 80% 的白色目標，測距 170 公尺；對反射率 10% 的黑色目標，只有 90 公尺。而且這一行還綁著條件，例如偵測機率要大於九成、陽光強度多少。就像手電筒照白牆和照黑布，看得到的距離差很多。路上有黑色的車、穿深色衣服的人，所以設計時要用比較差的那個數字。看到測距，一定要追問：對多少反射率？偵測機率多少？
</a:t>
            </a:r>
          </a:p>
          <a:p>
            <a:pPr algn="l">
              <a:spcBef>
                <a:spcPts val="0"/>
              </a:spcBef>
              <a:spcAft>
                <a:spcPts val="142"/>
              </a:spcAft>
            </a:pPr>
            <a:r>
              <a:rPr sz="850" b="1" lang="zh-TW" dirty="0">
                <a:solidFill>
                  <a:srgbClr val="000000"/>
                </a:solidFill>
                <a:latin typeface="Arial Unicode MS"/>
                <a:ea typeface="Arial Unicode MS"/>
                <a:cs typeface="Arial Unicode MS"/>
              </a:rPr>
              <a:t>五、光達會受天氣影響，比較不怕雨霧的是雷達。</a:t>
            </a:r>
            <a:r>
              <a:rPr sz="850" lang="zh-TW" dirty="0">
                <a:solidFill>
                  <a:srgbClr val="000000"/>
                </a:solidFill>
                <a:latin typeface="Arial Unicode MS"/>
                <a:ea typeface="Arial Unicode MS"/>
                <a:cs typeface="Arial Unicode MS"/>
              </a:rPr>
              <a:t>第七週的失效對照表，「大雨、濃霧」那一列：相機是叉叉，光達是三角形，雷達是勾。光達的雷射會打到半空中的雨滴、霧滴，提早彈回來，點雲上多出一堆雜點，看得到的距離也變短。雷達的波長大約四公釐，比一公釐的雨滴大，可以繞過去，所以雨霧對它的影響比較小。
</a:t>
            </a:r>
          </a:p>
          <a:p>
            <a:pPr algn="l">
              <a:spcBef>
                <a:spcPts val="0"/>
              </a:spcBef>
              <a:spcAft>
                <a:spcPts val="142"/>
              </a:spcAft>
            </a:pPr>
            <a:r>
              <a:rPr sz="850" b="1" lang="zh-TW" dirty="0">
                <a:solidFill>
                  <a:srgbClr val="000000"/>
                </a:solidFill>
                <a:latin typeface="Arial Unicode MS"/>
                <a:ea typeface="Arial Unicode MS"/>
                <a:cs typeface="Arial Unicode MS"/>
              </a:rPr>
              <a:t>六、雷達不是看不到人，是看得到但抓不穩，所以不能單獨用來找人。</a:t>
            </a:r>
            <a:r>
              <a:rPr sz="850" lang="zh-TW" dirty="0">
                <a:solidFill>
                  <a:srgbClr val="000000"/>
                </a:solidFill>
                <a:latin typeface="Arial Unicode MS"/>
                <a:ea typeface="Arial Unicode MS"/>
                <a:cs typeface="Arial Unicode MS"/>
              </a:rPr>
              <a:t>人和機車比較小，又不是金屬，雷達波打到身上，反射回來很弱。第七週看過 nuScenes 的真實資料：十公尺內的車子，將近七成框裡有雷達點；十公尺內的行人，只有兩成多有雷達點，三十公尺外不到一成。所以雷達有時候抓得到人、有時候抓不到。要找人，主要還是靠相機和光達，雷達是補充。
</a:t>
            </a:r>
          </a:p>
          <a:p>
            <a:pPr algn="l">
              <a:spcBef>
                <a:spcPts val="0"/>
              </a:spcBef>
              <a:spcAft>
                <a:spcPts val="142"/>
              </a:spcAft>
            </a:pPr>
            <a:r>
              <a:rPr sz="850" b="1" lang="zh-TW" dirty="0">
                <a:solidFill>
                  <a:srgbClr val="000000"/>
                </a:solidFill>
                <a:latin typeface="Arial Unicode MS"/>
                <a:ea typeface="Arial Unicode MS"/>
                <a:cs typeface="Arial Unicode MS"/>
              </a:rPr>
              <a:t>七、兩顆好的感測器合起來，結果不一定好。</a:t>
            </a:r>
            <a:r>
              <a:rPr sz="850" lang="zh-TW" dirty="0">
                <a:solidFill>
                  <a:srgbClr val="000000"/>
                </a:solidFill>
                <a:latin typeface="Arial Unicode MS"/>
                <a:ea typeface="Arial Unicode MS"/>
                <a:cs typeface="Arial Unicode MS"/>
              </a:rPr>
              <a:t>合起來之前，要先對齊空間，叫標定；也要對齊時間，叫同步。空間方面，第五週算過：相機和光達的安裝角度差 1 度，50 公尺外就偏 0.87 公尺，快半個車道。時間方面，第七週看過真實的例子：光達改用早 0.2 秒的那一圈，時速 37 的車子已經往前走了 2 公尺，車頭上就沒有光達點了。就像兩個人拍同一台開過去的車，一個人晚半秒按快門，兩張照片疊起來，車子變成兩台。每一顆感測器各自都是好的，但沒有標定、沒有同步，合起來一樣會錯。
</a:t>
            </a:r>
          </a:p>
          <a:p>
            <a:pPr algn="l">
              <a:spcBef>
                <a:spcPts val="0"/>
              </a:spcBef>
              <a:spcAft>
                <a:spcPts val="142"/>
              </a:spcAft>
            </a:pPr>
            <a:r>
              <a:rPr sz="850" b="1" lang="zh-TW" dirty="0">
                <a:solidFill>
                  <a:srgbClr val="000000"/>
                </a:solidFill>
                <a:latin typeface="Arial Unicode MS"/>
                <a:ea typeface="Arial Unicode MS"/>
                <a:cs typeface="Arial Unicode MS"/>
              </a:rPr>
              <a:t>八、分數 0.91 不是「百分之九十一一定對」。</a:t>
            </a:r>
            <a:r>
              <a:rPr sz="850" lang="zh-TW" dirty="0">
                <a:solidFill>
                  <a:srgbClr val="000000"/>
                </a:solidFill>
                <a:latin typeface="Arial Unicode MS"/>
                <a:ea typeface="Arial Unicode MS"/>
                <a:cs typeface="Arial Unicode MS"/>
              </a:rPr>
              <a:t>分數比較像考試時，你在答案旁邊寫「我有幾分把握」，寫九分的人也會答錯。第八週第 1 節的例子：遠處那台模型說是「卡車 0.52」，其實是公車。分數真正的用途，是拿來排序，以及設一個門檻，低於門檻的框就丟掉。門檻設在哪裡影響很大：nuScenes 404 張照片，門檻從 0.3 調到 0.7，對不到標註的框從 284 個降到 35 個，可是行人抓到的比例也從 53% 掉到 30%。
</a:t>
            </a:r>
          </a:p>
          <a:p>
            <a:pPr algn="l">
              <a:spcBef>
                <a:spcPts val="0"/>
              </a:spcBef>
              <a:spcAft>
                <a:spcPts val="142"/>
              </a:spcAft>
            </a:pPr>
            <a:r>
              <a:rPr sz="850" lang="zh-TW" dirty="0">
                <a:solidFill>
                  <a:srgbClr val="000000"/>
                </a:solidFill>
                <a:latin typeface="Arial Unicode MS"/>
                <a:ea typeface="Arial Unicode MS"/>
                <a:cs typeface="Arial Unicode MS"/>
              </a:rPr>
              <a:t>考試看到選項裡有「一定」「全部」「只要……就……」這種說法，要特別小心，這八句錯的說法，幾乎都是把有條件的事情講成沒有條件。</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50"/>
              </a:spcAft>
            </a:pPr>
            <a:r>
              <a:rPr sz="1500" b="1" lang="zh-TW" dirty="0">
                <a:solidFill>
                  <a:srgbClr val="000000"/>
                </a:solidFill>
                <a:latin typeface="Arial Unicode MS"/>
                <a:ea typeface="Arial Unicode MS"/>
                <a:cs typeface="Arial Unicode MS"/>
              </a:rPr>
              <a:t>這一張的目的：</a:t>
            </a:r>
            <a:r>
              <a:rPr sz="1500" lang="zh-TW" dirty="0">
                <a:solidFill>
                  <a:srgbClr val="000000"/>
                </a:solidFill>
                <a:latin typeface="Arial Unicode MS"/>
                <a:ea typeface="Arial Unicode MS"/>
                <a:cs typeface="Arial Unicode MS"/>
              </a:rPr>
              <a:t>讓大家有一套讀圖、讀表的固定步驟，考試碰到沒看過的圖也知道從哪裡下手。
</a:t>
            </a:r>
          </a:p>
          <a:p>
            <a:pPr algn="l">
              <a:spcBef>
                <a:spcPts val="0"/>
              </a:spcBef>
              <a:spcAft>
                <a:spcPts val="250"/>
              </a:spcAft>
            </a:pPr>
            <a:r>
              <a:rPr sz="1500" lang="zh-TW" dirty="0">
                <a:solidFill>
                  <a:srgbClr val="000000"/>
                </a:solidFill>
                <a:latin typeface="Arial Unicode MS"/>
                <a:ea typeface="Arial Unicode MS"/>
                <a:cs typeface="Arial Unicode MS"/>
              </a:rPr>
              <a:t>圖表判讀題，最怕一看到圖就急著找答案。給大家四個步驟，像看電費單一樣：先看單位和期間，再比多少。
</a:t>
            </a:r>
          </a:p>
          <a:p>
            <a:pPr algn="l">
              <a:spcBef>
                <a:spcPts val="0"/>
              </a:spcBef>
              <a:spcAft>
                <a:spcPts val="250"/>
              </a:spcAft>
            </a:pPr>
            <a:r>
              <a:rPr sz="1500" b="1" lang="zh-TW" dirty="0">
                <a:solidFill>
                  <a:srgbClr val="000000"/>
                </a:solidFill>
                <a:latin typeface="Arial Unicode MS"/>
                <a:ea typeface="Arial Unicode MS"/>
                <a:cs typeface="Arial Unicode MS"/>
              </a:rPr>
              <a:t>第一步，看標題和單位。</a:t>
            </a:r>
            <a:r>
              <a:rPr sz="1500" lang="zh-TW" dirty="0">
                <a:solidFill>
                  <a:srgbClr val="000000"/>
                </a:solidFill>
                <a:latin typeface="Arial Unicode MS"/>
                <a:ea typeface="Arial Unicode MS"/>
                <a:cs typeface="Arial Unicode MS"/>
              </a:rPr>
              <a:t>這張圖講的是「抓到的比例」，單位是百分比。
</a:t>
            </a:r>
          </a:p>
          <a:p>
            <a:pPr algn="l">
              <a:spcBef>
                <a:spcPts val="0"/>
              </a:spcBef>
              <a:spcAft>
                <a:spcPts val="250"/>
              </a:spcAft>
            </a:pPr>
            <a:r>
              <a:rPr sz="1500" b="1" lang="zh-TW" dirty="0">
                <a:solidFill>
                  <a:srgbClr val="000000"/>
                </a:solidFill>
                <a:latin typeface="Arial Unicode MS"/>
                <a:ea typeface="Arial Unicode MS"/>
                <a:cs typeface="Arial Unicode MS"/>
              </a:rPr>
              <a:t>第二步，看軸。</a:t>
            </a:r>
            <a:r>
              <a:rPr sz="1500" lang="zh-TW" dirty="0">
                <a:solidFill>
                  <a:srgbClr val="000000"/>
                </a:solidFill>
                <a:latin typeface="Arial Unicode MS"/>
                <a:ea typeface="Arial Unicode MS"/>
                <a:cs typeface="Arial Unicode MS"/>
              </a:rPr>
              <a:t>橫軸是距離，每十公尺一組；縱軸是抓到的百分比。三種顏色是三種物體。
</a:t>
            </a:r>
          </a:p>
          <a:p>
            <a:pPr algn="l">
              <a:spcBef>
                <a:spcPts val="0"/>
              </a:spcBef>
              <a:spcAft>
                <a:spcPts val="250"/>
              </a:spcAft>
            </a:pPr>
            <a:r>
              <a:rPr sz="1500" b="1" lang="zh-TW" dirty="0">
                <a:solidFill>
                  <a:srgbClr val="000000"/>
                </a:solidFill>
                <a:latin typeface="Arial Unicode MS"/>
                <a:ea typeface="Arial Unicode MS"/>
                <a:cs typeface="Arial Unicode MS"/>
              </a:rPr>
              <a:t>第三步，找前提條件。</a:t>
            </a:r>
            <a:r>
              <a:rPr sz="1500" lang="zh-TW" dirty="0">
                <a:solidFill>
                  <a:srgbClr val="000000"/>
                </a:solidFill>
                <a:latin typeface="Arial Unicode MS"/>
                <a:ea typeface="Arial Unicode MS"/>
                <a:cs typeface="Arial Unicode MS"/>
              </a:rPr>
              <a:t>圖下面那行小字：白天、看得到六成以上、門檻 0.3。換一個條件，數字就不一樣，例如晚上會更低。很多題目的陷阱就藏在條件裡，就像第五週的「對 10% 反射率」。
</a:t>
            </a:r>
          </a:p>
          <a:p>
            <a:pPr algn="l">
              <a:spcBef>
                <a:spcPts val="0"/>
              </a:spcBef>
              <a:spcAft>
                <a:spcPts val="250"/>
              </a:spcAft>
            </a:pPr>
            <a:r>
              <a:rPr sz="1500" b="1" lang="zh-TW" dirty="0">
                <a:solidFill>
                  <a:srgbClr val="000000"/>
                </a:solidFill>
                <a:latin typeface="Arial Unicode MS"/>
                <a:ea typeface="Arial Unicode MS"/>
                <a:cs typeface="Arial Unicode MS"/>
              </a:rPr>
              <a:t>第四步，再比較。</a:t>
            </a:r>
            <a:r>
              <a:rPr sz="1500" lang="zh-TW" dirty="0">
                <a:solidFill>
                  <a:srgbClr val="000000"/>
                </a:solidFill>
                <a:latin typeface="Arial Unicode MS"/>
                <a:ea typeface="Arial Unicode MS"/>
                <a:cs typeface="Arial Unicode MS"/>
              </a:rPr>
              <a:t>綠色的車，十公尺以外都在八成以上，幾乎不掉；紅色的行人，從 82% 掉到 3%；橘色的機車、腳踏車掉得更快，二十到三十公尺就只剩 21%，四十到五十公尺是 0%。
</a:t>
            </a:r>
          </a:p>
          <a:p>
            <a:pPr algn="l">
              <a:spcBef>
                <a:spcPts val="0"/>
              </a:spcBef>
              <a:spcAft>
                <a:spcPts val="250"/>
              </a:spcAft>
            </a:pPr>
            <a:r>
              <a:rPr sz="1500" lang="zh-TW" dirty="0">
                <a:solidFill>
                  <a:srgbClr val="000000"/>
                </a:solidFill>
                <a:latin typeface="Arial Unicode MS"/>
                <a:ea typeface="Arial Unicode MS"/>
                <a:cs typeface="Arial Unicode MS"/>
              </a:rPr>
              <a:t>比較的時候也要看例外：車在零到十公尺只有 64%，比遠處還低，不是因為看不到，而是很近的車常常被畫面邊緣切掉一半。看到怪怪的數字，先回頭找原因。
</a:t>
            </a:r>
          </a:p>
          <a:p>
            <a:pPr algn="l">
              <a:spcBef>
                <a:spcPts val="0"/>
              </a:spcBef>
              <a:spcAft>
                <a:spcPts val="250"/>
              </a:spcAft>
            </a:pPr>
            <a:r>
              <a:rPr sz="1500" lang="zh-TW" dirty="0">
                <a:solidFill>
                  <a:srgbClr val="000000"/>
                </a:solidFill>
                <a:latin typeface="Arial Unicode MS"/>
                <a:ea typeface="Arial Unicode MS"/>
                <a:cs typeface="Arial Unicode MS"/>
              </a:rPr>
              <a:t>這四步，失效對照表、煞停距離表、規格表，全部適用。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讓大家打開模擬考，知道怎麼做、做完看什麼。
</a:t>
            </a:r>
          </a:p>
          <a:p>
            <a:pPr algn="l">
              <a:spcBef>
                <a:spcPts val="0"/>
              </a:spcBef>
              <a:spcAft>
                <a:spcPts val="267"/>
              </a:spcAft>
            </a:pPr>
            <a:r>
              <a:rPr sz="1600" lang="zh-TW" dirty="0">
                <a:solidFill>
                  <a:srgbClr val="000000"/>
                </a:solidFill>
                <a:latin typeface="Arial Unicode MS"/>
                <a:ea typeface="Arial Unicode MS"/>
                <a:cs typeface="Arial Unicode MS"/>
              </a:rPr>
              <a:t>請掃這個 QR，打開期中模擬考。
</a:t>
            </a:r>
          </a:p>
          <a:p>
            <a:pPr algn="l">
              <a:spcBef>
                <a:spcPts val="0"/>
              </a:spcBef>
              <a:spcAft>
                <a:spcPts val="267"/>
              </a:spcAft>
            </a:pPr>
            <a:r>
              <a:rPr sz="1600" lang="zh-TW" dirty="0">
                <a:solidFill>
                  <a:srgbClr val="000000"/>
                </a:solidFill>
                <a:latin typeface="Arial Unicode MS"/>
                <a:ea typeface="Arial Unicode MS"/>
                <a:cs typeface="Arial Unicode MS"/>
              </a:rPr>
              <a:t>二十八題，第一週到第八週都有。每一題上面是越南文，下面是中文對照，跟期中考一樣。右上角有一個「English」按鈕，可以再打開英文，平常不用開。
</a:t>
            </a:r>
          </a:p>
          <a:p>
            <a:pPr algn="l">
              <a:spcBef>
                <a:spcPts val="0"/>
              </a:spcBef>
              <a:spcAft>
                <a:spcPts val="267"/>
              </a:spcAft>
            </a:pPr>
            <a:r>
              <a:rPr sz="1600" lang="zh-TW" dirty="0">
                <a:solidFill>
                  <a:srgbClr val="000000"/>
                </a:solidFill>
                <a:latin typeface="Arial Unicode MS"/>
                <a:ea typeface="Arial Unicode MS"/>
                <a:cs typeface="Arial Unicode MS"/>
              </a:rPr>
              <a:t>全部做完，按最下面「交卷、看答案」。每一題會告訴你對錯，綠色是正確答案，下面有說明。最下面會列出每一週答對幾題，</a:t>
            </a:r>
            <a:r>
              <a:rPr sz="1600" b="1" lang="zh-TW" dirty="0">
                <a:solidFill>
                  <a:srgbClr val="000000"/>
                </a:solidFill>
                <a:latin typeface="Arial Unicode MS"/>
                <a:ea typeface="Arial Unicode MS"/>
                <a:cs typeface="Arial Unicode MS"/>
              </a:rPr>
              <a:t>有錯題的週次會變紅框</a:t>
            </a:r>
            <a:r>
              <a:rPr sz="1600" lang="zh-TW" dirty="0">
                <a:solidFill>
                  <a:srgbClr val="000000"/>
                </a:solidFill>
                <a:latin typeface="Arial Unicode MS"/>
                <a:ea typeface="Arial Unicode MS"/>
                <a:cs typeface="Arial Unicode MS"/>
              </a:rPr>
              <a:t>，那一週的講義回去再翻一次。
</a:t>
            </a:r>
          </a:p>
          <a:p>
            <a:pPr algn="l">
              <a:spcBef>
                <a:spcPts val="0"/>
              </a:spcBef>
              <a:spcAft>
                <a:spcPts val="267"/>
              </a:spcAft>
            </a:pPr>
            <a:r>
              <a:rPr sz="1600" lang="zh-TW" dirty="0">
                <a:solidFill>
                  <a:srgbClr val="000000"/>
                </a:solidFill>
                <a:latin typeface="Arial Unicode MS"/>
                <a:ea typeface="Arial Unicode MS"/>
                <a:cs typeface="Arial Unicode MS"/>
              </a:rPr>
              <a:t>每一題的右上角還有一個「解釋說明」按鈕。按下去，交卷前就能看到這一題的說明。說明裡會直接講出答案，所以今天在課堂上先不要按，當成真的考試來做。回家複習的時候，答不出來的題目就可以按開來看。交卷前看過說明的題目，成績那一塊會列出題號，所以老師看截圖也知道哪幾題是看了說明才答的。
</a:t>
            </a:r>
          </a:p>
          <a:p>
            <a:pPr algn="l">
              <a:spcBef>
                <a:spcPts val="0"/>
              </a:spcBef>
              <a:spcAft>
                <a:spcPts val="267"/>
              </a:spcAft>
            </a:pPr>
            <a:r>
              <a:rPr sz="1600" lang="zh-TW" dirty="0">
                <a:solidFill>
                  <a:srgbClr val="000000"/>
                </a:solidFill>
                <a:latin typeface="Arial Unicode MS"/>
                <a:ea typeface="Arial Unicode MS"/>
                <a:cs typeface="Arial Unicode MS"/>
              </a:rPr>
              <a:t>截圖最下面那一塊，傳到 LINE。考前在家可以再做一次，按「重做」就會清掉答案。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讓大家實際做一次模擬考，找出自己最弱的那一週。
</a:t>
            </a:r>
          </a:p>
          <a:p>
            <a:pPr algn="l">
              <a:spcBef>
                <a:spcPts val="0"/>
              </a:spcBef>
              <a:spcAft>
                <a:spcPts val="267"/>
              </a:spcAft>
            </a:pPr>
            <a:r>
              <a:rPr sz="1600" lang="zh-TW" dirty="0">
                <a:solidFill>
                  <a:srgbClr val="000000"/>
                </a:solidFill>
                <a:latin typeface="Arial Unicode MS"/>
                <a:ea typeface="Arial Unicode MS"/>
                <a:cs typeface="Arial Unicode MS"/>
              </a:rPr>
              <a:t>（停在這一張，讓大家做大約九分鐘，最後三分鐘講題。）
</a:t>
            </a:r>
          </a:p>
          <a:p>
            <a:pPr algn="l">
              <a:spcBef>
                <a:spcPts val="0"/>
              </a:spcBef>
              <a:spcAft>
                <a:spcPts val="267"/>
              </a:spcAft>
            </a:pPr>
            <a:r>
              <a:rPr sz="1600" lang="zh-TW" dirty="0">
                <a:solidFill>
                  <a:srgbClr val="000000"/>
                </a:solidFill>
                <a:latin typeface="Arial Unicode MS"/>
                <a:ea typeface="Arial Unicode MS"/>
                <a:cs typeface="Arial Unicode MS"/>
              </a:rPr>
              <a:t>做的時候，先不要翻講義，也先不要按「解釋說明」，當成真的考試。沒有把握的題目，自己記一下，交卷後特別看那幾題的說明。
</a:t>
            </a:r>
          </a:p>
          <a:p>
            <a:pPr algn="l">
              <a:spcBef>
                <a:spcPts val="0"/>
              </a:spcBef>
              <a:spcAft>
                <a:spcPts val="267"/>
              </a:spcAft>
            </a:pPr>
            <a:r>
              <a:rPr sz="1600" lang="zh-TW" dirty="0">
                <a:solidFill>
                  <a:srgbClr val="000000"/>
                </a:solidFill>
                <a:latin typeface="Arial Unicode MS"/>
                <a:ea typeface="Arial Unicode MS"/>
                <a:cs typeface="Arial Unicode MS"/>
              </a:rPr>
              <a:t>（巡堂：看大家錯在哪幾題。最後三分鐘，挑全班錯最多的兩三題講。根據各週教材，最容易錯的是：第 1 題 AEB 是 L0、第 6 題「至少」是下限、第 19 題 CEP 是 50%、第 23 題 119.8 怎麼算。）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這一節的目的回顧：</a:t>
            </a:r>
            <a:r>
              <a:rPr sz="1600" lang="zh-TW" dirty="0">
                <a:solidFill>
                  <a:srgbClr val="000000"/>
                </a:solidFill>
                <a:latin typeface="Arial Unicode MS"/>
                <a:ea typeface="Arial Unicode MS"/>
                <a:cs typeface="Arial Unicode MS"/>
              </a:rPr>
              <a:t>考前三件事。
</a:t>
            </a:r>
          </a:p>
          <a:p>
            <a:pPr algn="l">
              <a:spcBef>
                <a:spcPts val="0"/>
              </a:spcBef>
              <a:spcAft>
                <a:spcPts val="267"/>
              </a:spcAft>
            </a:pPr>
            <a:r>
              <a:rPr sz="1600" lang="zh-TW" dirty="0">
                <a:solidFill>
                  <a:srgbClr val="000000"/>
                </a:solidFill>
                <a:latin typeface="Arial Unicode MS"/>
                <a:ea typeface="Arial Unicode MS"/>
                <a:cs typeface="Arial Unicode MS"/>
              </a:rPr>
              <a:t>第一，</a:t>
            </a:r>
            <a:r>
              <a:rPr sz="1600" b="1" lang="zh-TW" dirty="0">
                <a:solidFill>
                  <a:srgbClr val="000000"/>
                </a:solidFill>
                <a:latin typeface="Arial Unicode MS"/>
                <a:ea typeface="Arial Unicode MS"/>
                <a:cs typeface="Arial Unicode MS"/>
              </a:rPr>
              <a:t>把「八週地圖」看一遍</a:t>
            </a:r>
            <a:r>
              <a:rPr sz="1600" lang="zh-TW" dirty="0">
                <a:solidFill>
                  <a:srgbClr val="000000"/>
                </a:solidFill>
                <a:latin typeface="Arial Unicode MS"/>
                <a:ea typeface="Arial Unicode MS"/>
                <a:cs typeface="Arial Unicode MS"/>
              </a:rPr>
              <a:t>，每週一句話，八句都說得出來。
</a:t>
            </a:r>
          </a:p>
          <a:p>
            <a:pPr algn="l">
              <a:spcBef>
                <a:spcPts val="0"/>
              </a:spcBef>
              <a:spcAft>
                <a:spcPts val="267"/>
              </a:spcAft>
            </a:pPr>
            <a:r>
              <a:rPr sz="1600" lang="zh-TW" dirty="0">
                <a:solidFill>
                  <a:srgbClr val="000000"/>
                </a:solidFill>
                <a:latin typeface="Arial Unicode MS"/>
                <a:ea typeface="Arial Unicode MS"/>
                <a:cs typeface="Arial Unicode MS"/>
              </a:rPr>
              <a:t>第二，</a:t>
            </a:r>
            <a:r>
              <a:rPr sz="1600" b="1" lang="zh-TW" dirty="0">
                <a:solidFill>
                  <a:srgbClr val="000000"/>
                </a:solidFill>
                <a:latin typeface="Arial Unicode MS"/>
                <a:ea typeface="Arial Unicode MS"/>
                <a:cs typeface="Arial Unicode MS"/>
              </a:rPr>
              <a:t>模擬考紅框的那幾週</a:t>
            </a:r>
            <a:r>
              <a:rPr sz="1600" lang="zh-TW" dirty="0">
                <a:solidFill>
                  <a:srgbClr val="000000"/>
                </a:solidFill>
                <a:latin typeface="Arial Unicode MS"/>
                <a:ea typeface="Arial Unicode MS"/>
                <a:cs typeface="Arial Unicode MS"/>
              </a:rPr>
              <a:t>，講義再讀一次。模擬考可以在家再做，題目不會變，可是不要背答案，要看懂說明。在家做的時候，答不出來的題目可以按那一題右上角的「解釋說明」，看完再回去翻那一週的講義。
</a:t>
            </a:r>
          </a:p>
          <a:p>
            <a:pPr algn="l">
              <a:spcBef>
                <a:spcPts val="0"/>
              </a:spcBef>
              <a:spcAft>
                <a:spcPts val="267"/>
              </a:spcAft>
            </a:pPr>
            <a:r>
              <a:rPr sz="1600" lang="zh-TW" dirty="0">
                <a:solidFill>
                  <a:srgbClr val="000000"/>
                </a:solidFill>
                <a:latin typeface="Arial Unicode MS"/>
                <a:ea typeface="Arial Unicode MS"/>
                <a:cs typeface="Arial Unicode MS"/>
              </a:rPr>
              <a:t>第三，</a:t>
            </a:r>
            <a:r>
              <a:rPr sz="1600" b="1" lang="zh-TW" dirty="0">
                <a:solidFill>
                  <a:srgbClr val="000000"/>
                </a:solidFill>
                <a:latin typeface="Arial Unicode MS"/>
                <a:ea typeface="Arial Unicode MS"/>
                <a:cs typeface="Arial Unicode MS"/>
              </a:rPr>
              <a:t>圖和表照四步驟讀</a:t>
            </a:r>
            <a:r>
              <a:rPr sz="1600" lang="zh-TW" dirty="0">
                <a:solidFill>
                  <a:srgbClr val="000000"/>
                </a:solidFill>
                <a:latin typeface="Arial Unicode MS"/>
                <a:ea typeface="Arial Unicode MS"/>
                <a:cs typeface="Arial Unicode MS"/>
              </a:rPr>
              <a:t>：標題和單位、軸、前提條件，最後才比較。
</a:t>
            </a:r>
          </a:p>
          <a:p>
            <a:pPr algn="l">
              <a:spcBef>
                <a:spcPts val="0"/>
              </a:spcBef>
              <a:spcAft>
                <a:spcPts val="267"/>
              </a:spcAft>
            </a:pPr>
            <a:r>
              <a:rPr sz="1600" lang="zh-TW" dirty="0">
                <a:solidFill>
                  <a:srgbClr val="000000"/>
                </a:solidFill>
                <a:latin typeface="Arial Unicode MS"/>
                <a:ea typeface="Arial Unicode MS"/>
                <a:cs typeface="Arial Unicode MS"/>
              </a:rPr>
              <a:t>下週四，十一月五日，上課時間考試。祝大家考試順利。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8</a:t>
            </a:r>
            <a:endParaRPr lang="en-US" sz="1250" dirty="0"/>
          </a:p>
        </p:txBody>
      </p:sp>
      <p:sp>
        <p:nvSpPr>
          <p:cNvPr id="5" name="Text 3"/>
          <p:cNvSpPr txBox="1"/>
          <p:nvPr/>
        </p:nvSpPr>
        <p:spPr>
          <a:xfrm>
            <a:off x="516938" y="1567350"/>
            <a:ext cx="7472250" cy="1519988"/>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Ôn tập giữa kỳ: tám tuần trong năm mươi phút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期中複習：八週，五十分鐘</a:t>
            </a:r>
            <a:endParaRPr lang="en-US" sz="3390" dirty="0"/>
          </a:p>
        </p:txBody>
      </p:sp>
      <p:sp>
        <p:nvSpPr>
          <p:cNvPr id="6" name="Shape 4"/>
          <p:cNvSpPr/>
          <p:nvPr/>
        </p:nvSpPr>
        <p:spPr>
          <a:xfrm>
            <a:off x="516938" y="3233138"/>
            <a:ext cx="1366875" cy="41006"/>
          </a:xfrm>
          <a:prstGeom prst="rect">
            <a:avLst/>
          </a:prstGeom>
          <a:solidFill>
            <a:srgbClr val="FFB020"/>
          </a:solidFill>
          <a:ln/>
        </p:spPr>
      </p:sp>
      <p:sp>
        <p:nvSpPr>
          <p:cNvPr id="7" name="Text 5"/>
          <p:cNvSpPr txBox="1"/>
          <p:nvPr/>
        </p:nvSpPr>
        <p:spPr>
          <a:xfrm>
            <a:off x="516938" y="3433613"/>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Mỗi tuần vài câu và một bảng — rồi làm đề thi thử</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每週幾句話、一張表，最後做一份模擬考</a:t>
            </a:r>
            <a:endParaRPr lang="en-US" sz="1450" dirty="0"/>
          </a:p>
        </p:txBody>
      </p:sp>
      <p:sp>
        <p:nvSpPr>
          <p:cNvPr id="8" name="Text 6"/>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第八週 第 3 節　2026/10/29（四）11:10–12:00　CH Tseng</a:t>
            </a:r>
            <a:endParaRPr lang="en-US" sz="1150" dirty="0"/>
          </a:p>
        </p:txBody>
      </p:sp>
      <p:sp>
        <p:nvSpPr>
          <p:cNvPr id="10" name="Shape 7"/>
          <p:cNvSpPr/>
          <p:nvPr/>
        </p:nvSpPr>
        <p:spPr>
          <a:xfrm>
            <a:off x="371138" y="309825"/>
            <a:ext cx="2205225" cy="747225"/>
          </a:xfrm>
          <a:prstGeom prst="roundRect">
            <a:avLst>
              <a:gd name="adj" fmla="val 9756"/>
            </a:avLst>
          </a:prstGeom>
          <a:solidFill>
            <a:srgbClr val="FFFFFF"/>
          </a:solidFill>
          <a:ln/>
        </p:spPr>
      </p:sp>
      <p:pic>
        <p:nvPicPr>
          <p:cNvPr id="11" name="Image 0" descr="/Users/tsengchenghsun/Class/carClass/Claude outputs/第八週(10-29)/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Thi giữa kỳ: những điều cần biết</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期中考：要知道的四件事</a:t>
            </a:r>
            <a:endParaRPr lang="en-US" sz="2200" dirty="0"/>
          </a:p>
        </p:txBody>
      </p:sp>
      <p:sp>
        <p:nvSpPr>
          <p:cNvPr id="3" name="Shape 1"/>
          <p:cNvSpPr/>
          <p:nvPr/>
        </p:nvSpPr>
        <p:spPr>
          <a:xfrm>
            <a:off x="502920"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Text 2"/>
          <p:cNvSpPr txBox="1"/>
          <p:nvPr/>
        </p:nvSpPr>
        <p:spPr>
          <a:xfrm>
            <a:off x="667512"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11/5</a:t>
            </a:r>
            <a:endParaRPr lang="en-US" sz="2500" dirty="0"/>
          </a:p>
        </p:txBody>
      </p:sp>
      <p:sp>
        <p:nvSpPr>
          <p:cNvPr id="5" name="Text 3"/>
          <p:cNvSpPr txBox="1"/>
          <p:nvPr/>
        </p:nvSpPr>
        <p:spPr>
          <a:xfrm>
            <a:off x="667512"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thứ Năm, trong giờ học</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（四）上課時間</a:t>
            </a:r>
            <a:endParaRPr lang="en-US" sz="1250" dirty="0"/>
          </a:p>
        </p:txBody>
      </p:sp>
      <p:sp>
        <p:nvSpPr>
          <p:cNvPr id="6" name="Text 4"/>
          <p:cNvSpPr txBox="1"/>
          <p:nvPr/>
        </p:nvSpPr>
        <p:spPr>
          <a:xfrm>
            <a:off x="667512"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Tuần 9. 19/11 nghỉ lễ trường.</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第九週。11/19 校慶停課。</a:t>
            </a:r>
            <a:endParaRPr lang="en-US" sz="1100" dirty="0"/>
          </a:p>
        </p:txBody>
      </p:sp>
      <p:sp>
        <p:nvSpPr>
          <p:cNvPr id="7" name="Shape 5"/>
          <p:cNvSpPr/>
          <p:nvPr/>
        </p:nvSpPr>
        <p:spPr>
          <a:xfrm>
            <a:off x="2592324"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8" name="Text 6"/>
          <p:cNvSpPr txBox="1"/>
          <p:nvPr/>
        </p:nvSpPr>
        <p:spPr>
          <a:xfrm>
            <a:off x="2756916"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15%</a:t>
            </a:r>
            <a:endParaRPr lang="en-US" sz="2500" dirty="0"/>
          </a:p>
        </p:txBody>
      </p:sp>
      <p:sp>
        <p:nvSpPr>
          <p:cNvPr id="9" name="Text 7"/>
          <p:cNvSpPr txBox="1"/>
          <p:nvPr/>
        </p:nvSpPr>
        <p:spPr>
          <a:xfrm>
            <a:off x="2756916"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tổng điểm</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總成績</a:t>
            </a:r>
            <a:endParaRPr lang="en-US" sz="1250" dirty="0"/>
          </a:p>
        </p:txBody>
      </p:sp>
      <p:sp>
        <p:nvSpPr>
          <p:cNvPr id="10" name="Text 8"/>
          <p:cNvSpPr txBox="1"/>
          <p:nvPr/>
        </p:nvSpPr>
        <p:spPr>
          <a:xfrm>
            <a:off x="2756916"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Giữa kỳ, cuối kỳ mỗi kỳ 15%.</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期中、期末各 15%。</a:t>
            </a:r>
            <a:endParaRPr lang="en-US" sz="1100" dirty="0"/>
          </a:p>
        </p:txBody>
      </p:sp>
      <p:sp>
        <p:nvSpPr>
          <p:cNvPr id="11" name="Shape 9"/>
          <p:cNvSpPr/>
          <p:nvPr/>
        </p:nvSpPr>
        <p:spPr>
          <a:xfrm>
            <a:off x="4681728"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2" name="Text 10"/>
          <p:cNvSpPr txBox="1"/>
          <p:nvPr/>
        </p:nvSpPr>
        <p:spPr>
          <a:xfrm>
            <a:off x="4846320"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2</a:t>
            </a:r>
            <a:endParaRPr lang="en-US" sz="2500" dirty="0"/>
          </a:p>
        </p:txBody>
      </p:sp>
      <p:sp>
        <p:nvSpPr>
          <p:cNvPr id="13" name="Text 11"/>
          <p:cNvSpPr txBox="1"/>
          <p:nvPr/>
        </p:nvSpPr>
        <p:spPr>
          <a:xfrm>
            <a:off x="4846320"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loại câu hỏi</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種題型</a:t>
            </a:r>
            <a:endParaRPr lang="en-US" sz="1250" dirty="0"/>
          </a:p>
        </p:txBody>
      </p:sp>
      <p:sp>
        <p:nvSpPr>
          <p:cNvPr id="14" name="Text 12"/>
          <p:cNvSpPr txBox="1"/>
          <p:nvPr/>
        </p:nvSpPr>
        <p:spPr>
          <a:xfrm>
            <a:off x="4846320"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Khái niệm, và đọc biểu đồ / bảng.</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概念題，和圖表判讀。</a:t>
            </a:r>
            <a:endParaRPr lang="en-US" sz="1100" dirty="0"/>
          </a:p>
        </p:txBody>
      </p:sp>
      <p:sp>
        <p:nvSpPr>
          <p:cNvPr id="15" name="Shape 13"/>
          <p:cNvSpPr/>
          <p:nvPr/>
        </p:nvSpPr>
        <p:spPr>
          <a:xfrm>
            <a:off x="6771132"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Text 14"/>
          <p:cNvSpPr txBox="1"/>
          <p:nvPr/>
        </p:nvSpPr>
        <p:spPr>
          <a:xfrm>
            <a:off x="6935724"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VI / 中</a:t>
            </a:r>
            <a:endParaRPr lang="en-US" sz="2500" dirty="0"/>
          </a:p>
        </p:txBody>
      </p:sp>
      <p:sp>
        <p:nvSpPr>
          <p:cNvPr id="17" name="Text 15"/>
          <p:cNvSpPr txBox="1"/>
          <p:nvPr/>
        </p:nvSpPr>
        <p:spPr>
          <a:xfrm>
            <a:off x="6935724"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tiếng Việt là chính</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越南文為主、中文對照</a:t>
            </a:r>
            <a:endParaRPr lang="en-US" sz="1250" dirty="0"/>
          </a:p>
        </p:txBody>
      </p:sp>
      <p:sp>
        <p:nvSpPr>
          <p:cNvPr id="18" name="Text 16"/>
          <p:cNvSpPr txBox="1"/>
          <p:nvPr/>
        </p:nvSpPr>
        <p:spPr>
          <a:xfrm>
            <a:off x="6935724"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Mỗi câu có tiếng Trung đối chiếu.</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每一題都附中文對照。</a:t>
            </a:r>
            <a:endParaRPr lang="en-US" sz="1100" dirty="0"/>
          </a:p>
        </p:txBody>
      </p:sp>
      <p:sp>
        <p:nvSpPr>
          <p:cNvPr id="19" name="Text 17"/>
          <p:cNvSpPr txBox="1"/>
          <p:nvPr/>
        </p:nvSpPr>
        <p:spPr>
          <a:xfrm>
            <a:off x="502920" y="3950208"/>
            <a:ext cx="8138160" cy="548640"/>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Phạm vi: tuần 1 đến tiết 2 hôm nay (gán nhãn, IoU).</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範圍：第一週到今天第 2 節（標註、IoU）。</a:t>
            </a:r>
            <a:endParaRPr lang="en-US" sz="1250" dirty="0"/>
          </a:p>
        </p:txBody>
      </p:sp>
      <p:pic>
        <p:nvPicPr>
          <p:cNvPr id="21"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22"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17</a:t>
            </a:r>
            <a:endParaRPr lang="en-US" sz="900" dirty="0"/>
          </a:p>
        </p:txBody>
      </p:sp>
      <p:sp>
        <p:nvSpPr>
          <p:cNvPr id="23"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tuần, mỗi tuần một câu (1): tuần 1–4</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八週地圖（一）：第一到四週，每週一句話</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685800"/>
                <a:gridCol w="2103120"/>
                <a:gridCol w="534924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Tuần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Một câu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一句話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Cấp SAE, ODD</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分級、ODD</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Cấp độ nói về cách người và hệ thống chia việc, không nói xe thông minh đến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等級看的是人和系統怎麼分工，不是看車子有多聰明。</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ODD, nguyên lý cảm biến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ODD、感測器原理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«Ít nhất 20» là mức thấp nhất, thấp hơn 20 là ra khỏi ODD. Lidar tính khoảng cách từ thời gian ánh sáng đi và về. Radar chỉ đo được tốc độ vật lại gần hoặc ra xa mình.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「至少 20」是最低標準，低於 20 就出了 ODD。光達用光一去一回的時間算距離。雷達只量得到東西靠近或離開自己的速度。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Sáu loại cảm biến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六種感測器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biết vật cách bao xa nhưng không biết đó là gì. Xa gấp đôi thì sai số ước lượng khoảng cách của camera gấp bốn.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光達知道東西有多遠，但不知道那是什麼。距離變成兩倍，相機估距離的誤差會變成四倍。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4</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Mô phỏng, kịch bản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模擬器、場景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Ở 50 km/h cần khoảng 20 m mới dừng được, nên phải thấy xa ít nhất 25 m. Mô phỏng loại bớt thiết kế kém, nhưng không chứng minh được xe thật an toàn.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 要大約 20 m 才停得住，所以至少要看到 25 m 遠。模擬可以先淘汰不好的設計，但不能證明真車安全。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tuần, mỗi tuần một câu (2): tuần 5–8</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八週地圖（二）：第五到八週，每週一句話</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685800"/>
                <a:gridCol w="2103120"/>
                <a:gridCol w="534924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Tuần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Một câu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一句話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Thông số camera, lidar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相機、光達規格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Tầm đo trên bảng thông số phải hỏi là đo với độ phản xạ bao nhiêu; vật màu tối sẽ thấy gần hơn. Camera và lidar lắp lệch 1° thì ở 50 m lệch 0,87 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規格表上的測距，要問是對多少反射率量的，黑色的東西會看得比較近。相機和光達裝歪 1 度，50 m 外就偏 0.87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siêu âm, GNSS,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雷達、超音波、衛星、IMU</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năm tình huống, không loại cảm biến nào tốt nhất ở mọi tình huống, nên xe phải lắp nhiều loại.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在五個情境裡，沒有一種感測器每個情境都做得最好，所以車上要裝好幾種。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Hỏng và hợp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失效與融合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Loại cảm biến nào cũng có lúc hỏng. Khi ghép chúng lại, cái nào chuẩn hơn thì tin nhiều hơn.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每一種感測器都會失效。把它們合起來用的時候，比較準的那一個要多相信一點。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Máy tính nhìn thấy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電腦怎麼看見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Mô hình học từ các ví dụ có đáp án. Nó cho ra khung, loại và điểm tin cậy. Vật càng xa, ánh sáng càng tối thì càng dễ bị sót.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模型從有標準答案的例子學。它會給出框、類別和分數。東西離得愈遠、光線愈暗，就愈容易漏掉。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389746" y="0"/>
          <a:ext cx="1" cy="1"/>
          <a:chOff x="0" y="0"/>
          <a:chExt cx="0" cy="0"/>
        </a:xfrm>
      </p:grpSpPr>
      <p:sp>
        <p:nvSpPr>
          <p:cNvPr id="2" name="Text 0"/>
          <p:cNvSpPr txBox="1"/>
          <p:nvPr/>
        </p:nvSpPr>
        <p:spPr>
          <a:xfrm>
            <a:off x="849794" y="267664"/>
            <a:ext cx="7444411" cy="769535"/>
          </a:xfrm>
          <a:prstGeom prst="rect">
            <a:avLst/>
          </a:prstGeom>
          <a:noFill/>
          <a:ln/>
        </p:spPr>
        <p:txBody>
          <a:bodyPr wrap="square" lIns="0" tIns="0" rIns="0" bIns="0" rtlCol="0" anchor="t"/>
          <a:lstStyle/>
          <a:p>
            <a:pPr indent="0" marL="0">
              <a:lnSpc>
                <a:spcPct val="116000"/>
              </a:lnSpc>
              <a:buNone/>
            </a:pPr>
            <a:r>
              <a:rPr lang="en-US" sz="2010" b="1" dirty="0">
                <a:solidFill>
                  <a:srgbClr val="0B1F3A"/>
                </a:solidFill>
                <a:latin typeface="Arial" pitchFamily="34" charset="0"/>
                <a:ea typeface="Arial" pitchFamily="34" charset="-122"/>
                <a:cs typeface="Arial" pitchFamily="34" charset="-120"/>
              </a:rPr>
              <a:t>Tuần 1–2: sáu cấp SAE — ai làm gì</a:t>
            </a:r>
            <a:endParaRPr lang="en-US" sz="2010" dirty="0"/>
          </a:p>
          <a:p>
            <a:pPr indent="0" marL="0">
              <a:lnSpc>
                <a:spcPct val="116000"/>
              </a:lnSpc>
              <a:buNone/>
            </a:pPr>
            <a:r>
              <a:rPr lang="en-US" sz="1230" dirty="0">
                <a:solidFill>
                  <a:srgbClr val="5F7183"/>
                </a:solidFill>
                <a:latin typeface="微軟正黑體" pitchFamily="34" charset="0"/>
                <a:ea typeface="微軟正黑體" pitchFamily="34" charset="-122"/>
                <a:cs typeface="微軟正黑體" pitchFamily="34" charset="-120"/>
              </a:rPr>
              <a:t>第一、二週：六個等級，誰做什麼</a:t>
            </a:r>
            <a:endParaRPr lang="en-US" sz="201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49794" y="1037199"/>
          <a:ext cx="7444411" cy="836451"/>
        </p:xfrm>
        <a:graphic>
          <a:graphicData uri="http://schemas.openxmlformats.org/drawingml/2006/table">
            <a:tbl>
              <a:tblPr/>
              <a:tblGrid>
                <a:gridCol w="669161"/>
                <a:gridCol w="2509352"/>
                <a:gridCol w="2342062"/>
                <a:gridCol w="1923837"/>
              </a:tblGrid>
              <a:tr h="301122">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Cấp</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等級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Hệ thống làm</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系統做什麼</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Ai nhìn đường / tiếp quản</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誰看路、誰接手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Ví dụ</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例子</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L0</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Cảnh báo, can thiệp tức thời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警告、瞬間介入</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AEB (phanh khẩn cấp)</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AEB 自動緊急煞車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L1</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Liên tục một việc: hướng HOẶC tốc độ</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持續做一項：方向或速度</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ACC (bám xe)</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ACC 跟車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L2</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Cả hướng VÀ tốc độ</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方向和速度都做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 phải nhìn đường</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人要一直看路</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Giữ làn + bám xe</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置中＋跟車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L3</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Lái hết trong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ODD 內全部自己開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 không cần nhìn, nhưng phải tiếp quản khi được yêu cầu</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人可以不看路，被要求時要接手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Kẹt xe trên cao tốc</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高速公路塞車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L4</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Lái hết và tự xử lý khi có sự cố, trong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ODD 內連接手都自己做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Không cần 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不需要人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Robotaxi trong khu vực</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區域內的無人計程車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L5</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Mọi nơi, không giới hạn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哪裡都能開，沒有 ODD 限制</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Không cần 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不需要人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Chưa tồn tại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目前不存在</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849794" y="4210925"/>
            <a:ext cx="7444411" cy="418225"/>
          </a:xfrm>
          <a:prstGeom prst="rect">
            <a:avLst/>
          </a:prstGeom>
          <a:noFill/>
          <a:ln/>
        </p:spPr>
        <p:txBody>
          <a:bodyPr wrap="square" lIns="0" tIns="0" rIns="0" bIns="0" rtlCol="0" anchor="t"/>
          <a:lstStyle/>
          <a:p>
            <a:pPr indent="0" marL="0">
              <a:lnSpc>
                <a:spcPct val="116000"/>
              </a:lnSpc>
              <a:buNone/>
            </a:pPr>
            <a:r>
              <a:rPr lang="en-US" sz="1100" b="1" dirty="0">
                <a:solidFill>
                  <a:srgbClr val="007F72"/>
                </a:solidFill>
                <a:latin typeface="Arial" pitchFamily="34" charset="0"/>
                <a:ea typeface="Arial" pitchFamily="34" charset="-122"/>
                <a:cs typeface="Arial" pitchFamily="34" charset="-120"/>
              </a:rPr>
              <a:t>Ba bước: tức thời hay liên tục? Một việc hay hai? Ai nhìn đường, ai tiếp quản?</a:t>
            </a:r>
            <a:endParaRPr lang="en-US" sz="1100" dirty="0"/>
          </a:p>
          <a:p>
            <a:pPr indent="0" marL="0">
              <a:lnSpc>
                <a:spcPct val="116000"/>
              </a:lnSpc>
              <a:buNone/>
            </a:pPr>
            <a:r>
              <a:rPr lang="en-US" sz="1010" dirty="0">
                <a:solidFill>
                  <a:srgbClr val="007F72"/>
                </a:solidFill>
                <a:latin typeface="微軟正黑體" pitchFamily="34" charset="0"/>
                <a:ea typeface="微軟正黑體" pitchFamily="34" charset="-122"/>
                <a:cs typeface="微軟正黑體" pitchFamily="34" charset="-120"/>
              </a:rPr>
              <a:t>判斷三步驟：瞬間還是持續？管一項還是兩項？誰看路、誰接手？</a:t>
            </a:r>
            <a:endParaRPr lang="en-US" sz="11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490121" y="117103"/>
            <a:ext cx="752806" cy="234206"/>
          </a:xfrm>
          <a:prstGeom prst="rect">
            <a:avLst/>
          </a:prstGeom>
          <a:noFill/>
          <a:ln/>
        </p:spPr>
        <p:txBody>
          <a:bodyPr wrap="square" lIns="0" tIns="0" rIns="0" bIns="0" rtlCol="0" anchor="ctr"/>
          <a:lstStyle/>
          <a:p>
            <a:pPr indent="0" marL="0">
              <a:buNone/>
            </a:pPr>
            <a:r>
              <a:rPr lang="en-US" sz="820" dirty="0">
                <a:solidFill>
                  <a:srgbClr val="5F7183"/>
                </a:solidFill>
                <a:latin typeface="Arial" pitchFamily="34" charset="0"/>
                <a:ea typeface="Arial" pitchFamily="34" charset="-122"/>
                <a:cs typeface="Arial" pitchFamily="34" charset="-120"/>
              </a:rPr>
              <a:t>5 / 17</a:t>
            </a:r>
            <a:endParaRPr lang="en-US" sz="820" dirty="0"/>
          </a:p>
        </p:txBody>
      </p:sp>
      <p:sp>
        <p:nvSpPr>
          <p:cNvPr id="8" name="Text 3"/>
          <p:cNvSpPr txBox="1"/>
          <p:nvPr/>
        </p:nvSpPr>
        <p:spPr>
          <a:xfrm>
            <a:off x="1268020" y="117103"/>
            <a:ext cx="1840192" cy="234206"/>
          </a:xfrm>
          <a:prstGeom prst="rect">
            <a:avLst/>
          </a:prstGeom>
          <a:noFill/>
          <a:ln/>
        </p:spPr>
        <p:txBody>
          <a:bodyPr wrap="square" lIns="0" tIns="0" rIns="0" bIns="0" rtlCol="0" anchor="ctr"/>
          <a:lstStyle/>
          <a:p>
            <a:pPr indent="0" marL="0">
              <a:buNone/>
            </a:pPr>
            <a:r>
              <a:rPr lang="en-US" sz="820" dirty="0">
                <a:solidFill>
                  <a:srgbClr val="5F7183"/>
                </a:solidFill>
                <a:latin typeface="Arial" pitchFamily="34" charset="0"/>
                <a:ea typeface="Arial" pitchFamily="34" charset="-122"/>
                <a:cs typeface="Arial" pitchFamily="34" charset="-120"/>
              </a:rPr>
              <a:t>Tiết 3 · 第 3 節</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76726" y="0"/>
          <a:ext cx="1" cy="1"/>
          <a:chOff x="0" y="0"/>
          <a:chExt cx="0" cy="0"/>
        </a:xfrm>
      </p:grpSpPr>
      <p:sp>
        <p:nvSpPr>
          <p:cNvPr id="2" name="Text 0"/>
          <p:cNvSpPr txBox="1"/>
          <p:nvPr/>
        </p:nvSpPr>
        <p:spPr>
          <a:xfrm>
            <a:off x="571206" y="287698"/>
            <a:ext cx="8001588" cy="827130"/>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Tuần 1–2: sáu ô ODD và cách đọc điều kiện</a:t>
            </a:r>
            <a:endParaRPr lang="en-US" sz="2160" dirty="0"/>
          </a:p>
          <a:p>
            <a:pPr indent="0" marL="0">
              <a:lnSpc>
                <a:spcPct val="116000"/>
              </a:lnSpc>
              <a:buNone/>
            </a:pPr>
            <a:r>
              <a:rPr lang="en-US" sz="1330" dirty="0">
                <a:solidFill>
                  <a:srgbClr val="5F7183"/>
                </a:solidFill>
                <a:latin typeface="微軟正黑體" pitchFamily="34" charset="0"/>
                <a:ea typeface="微軟正黑體" pitchFamily="34" charset="-122"/>
                <a:cs typeface="微軟正黑體" pitchFamily="34" charset="-120"/>
              </a:rPr>
              <a:t>第一、二週：ODD 六格，和怎麼讀條件</a:t>
            </a:r>
            <a:endParaRPr lang="en-US" sz="216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71206" y="1114828"/>
          <a:ext cx="8001588" cy="899055"/>
        </p:xfrm>
        <a:graphic>
          <a:graphicData uri="http://schemas.openxmlformats.org/drawingml/2006/table">
            <a:tbl>
              <a:tblPr/>
              <a:tblGrid>
                <a:gridCol w="2337542"/>
                <a:gridCol w="5664045"/>
              </a:tblGrid>
              <a:tr h="323660">
                <a:tc>
                  <a:txBody>
                    <a:bodyPr/>
                    <a:lstStyle/>
                    <a:p>
                      <a:pPr algn="l" indent="0" marL="0">
                        <a:buNone/>
                      </a:pPr>
                      <a:r>
                        <a:rPr lang="en-US" sz="1030" b="1" dirty="0">
                          <a:solidFill>
                            <a:srgbClr val="FFFFFF"/>
                          </a:solidFill>
                          <a:latin typeface="Arial" pitchFamily="34" charset="0"/>
                          <a:ea typeface="Arial" pitchFamily="34" charset="-122"/>
                          <a:cs typeface="Arial" pitchFamily="34" charset="-120"/>
                        </a:rPr>
                        <a:t>Ô ODD</a:t>
                      </a:r>
                      <a:endParaRPr lang="en-US" sz="1180" dirty="0"/>
                    </a:p>
                    <a:p>
                      <a:pPr algn="l" indent="0" marL="0">
                        <a:buNone/>
                      </a:pPr>
                      <a:r>
                        <a:rPr lang="en-US" sz="880" dirty="0">
                          <a:solidFill>
                            <a:srgbClr val="CFE0EC"/>
                          </a:solidFill>
                          <a:latin typeface="微軟正黑體" pitchFamily="34" charset="0"/>
                          <a:ea typeface="微軟正黑體" pitchFamily="34" charset="-122"/>
                          <a:cs typeface="微軟正黑體" pitchFamily="34" charset="-120"/>
                        </a:rPr>
                        <a:t>ODD 這一格</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30" b="1" dirty="0">
                          <a:solidFill>
                            <a:srgbClr val="FFFFFF"/>
                          </a:solidFill>
                          <a:latin typeface="Arial" pitchFamily="34" charset="0"/>
                          <a:ea typeface="Arial" pitchFamily="34" charset="-122"/>
                          <a:cs typeface="Arial" pitchFamily="34" charset="-120"/>
                        </a:rPr>
                        <a:t>Ví dụ điều kiện</a:t>
                      </a:r>
                      <a:endParaRPr lang="en-US" sz="1180" dirty="0"/>
                    </a:p>
                    <a:p>
                      <a:pPr algn="l" indent="0" marL="0">
                        <a:buNone/>
                      </a:pPr>
                      <a:r>
                        <a:rPr lang="en-US" sz="880" dirty="0">
                          <a:solidFill>
                            <a:srgbClr val="CFE0EC"/>
                          </a:solidFill>
                          <a:latin typeface="微軟正黑體" pitchFamily="34" charset="0"/>
                          <a:ea typeface="微軟正黑體" pitchFamily="34" charset="-122"/>
                          <a:cs typeface="微軟正黑體" pitchFamily="34" charset="-120"/>
                        </a:rPr>
                        <a:t>條件的例子</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Loại đường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道路類型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Tuyến A từ cổng trường đến ký túc xá</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校門到宿舍的路線 A</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Dải tốc độ</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速度域</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0–20 km/h</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0–20 km/h</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Tình trạng giao thông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交通狀況</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Có người đi bộ, xe đạp và xe máy</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包含行人、自行車與機車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Thời tiết và ánh sáng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天候與光照</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Không mưa, mặt đường khô; độ rọi ít nhất 20 lx (lux)</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無雨、路面乾燥；照度至少 20 lx（勒克斯）</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Phạm vi địa lý</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地理範圍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Trong khuôn viên trường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校園內</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Vai trò của người</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人的角色</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Có nhân viên an toàn ngồi trên xe</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車上有安全員</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71206" y="4179623"/>
            <a:ext cx="8001588" cy="449527"/>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«Ít nhất 20 lx» là giới hạn dưới: đo được 5 lx → ra khỏi ODD. Chạy chậm lại cũng không vào lại được.</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「至少 20 lx」是下限：現場 5 lx → 出了 ODD。開慢一點也不會變回符合。</a:t>
            </a:r>
            <a:endParaRPr lang="en-US" sz="118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84613" y="125868"/>
            <a:ext cx="809149" cy="251735"/>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6 / 17</a:t>
            </a:r>
            <a:endParaRPr lang="en-US" sz="880" dirty="0"/>
          </a:p>
        </p:txBody>
      </p:sp>
      <p:sp>
        <p:nvSpPr>
          <p:cNvPr id="8" name="Text 3"/>
          <p:cNvSpPr txBox="1"/>
          <p:nvPr/>
        </p:nvSpPr>
        <p:spPr>
          <a:xfrm>
            <a:off x="1020734" y="125868"/>
            <a:ext cx="1977921" cy="251735"/>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3 · 第 3 節</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607982" y="0"/>
          <a:ext cx="1" cy="1"/>
          <a:chOff x="0" y="0"/>
          <a:chExt cx="0" cy="0"/>
        </a:xfrm>
      </p:grpSpPr>
      <p:sp>
        <p:nvSpPr>
          <p:cNvPr id="2" name="Text 0"/>
          <p:cNvSpPr txBox="1"/>
          <p:nvPr/>
        </p:nvSpPr>
        <p:spPr>
          <a:xfrm>
            <a:off x="1044024" y="253697"/>
            <a:ext cx="7055952" cy="729379"/>
          </a:xfrm>
          <a:prstGeom prst="rect">
            <a:avLst/>
          </a:prstGeom>
          <a:noFill/>
          <a:ln/>
        </p:spPr>
        <p:txBody>
          <a:bodyPr wrap="square" lIns="0" tIns="0" rIns="0" bIns="0" rtlCol="0" anchor="t"/>
          <a:lstStyle/>
          <a:p>
            <a:pPr indent="0" marL="0">
              <a:lnSpc>
                <a:spcPct val="116000"/>
              </a:lnSpc>
              <a:buNone/>
            </a:pPr>
            <a:r>
              <a:rPr lang="en-US" sz="1910" b="1" dirty="0">
                <a:solidFill>
                  <a:srgbClr val="0B1F3A"/>
                </a:solidFill>
                <a:latin typeface="Arial" pitchFamily="34" charset="0"/>
                <a:ea typeface="Arial" pitchFamily="34" charset="-122"/>
                <a:cs typeface="Arial" pitchFamily="34" charset="-120"/>
              </a:rPr>
              <a:t>Tuần 2, 3, 6: mỗi cảm biến đo trực tiếp cái gì</a:t>
            </a:r>
            <a:endParaRPr lang="en-US" sz="1910" dirty="0"/>
          </a:p>
          <a:p>
            <a:pPr indent="0" marL="0">
              <a:lnSpc>
                <a:spcPct val="116000"/>
              </a:lnSpc>
              <a:buNone/>
            </a:pPr>
            <a:r>
              <a:rPr lang="en-US" sz="1170" dirty="0">
                <a:solidFill>
                  <a:srgbClr val="5F7183"/>
                </a:solidFill>
                <a:latin typeface="微軟正黑體" pitchFamily="34" charset="0"/>
                <a:ea typeface="微軟正黑體" pitchFamily="34" charset="-122"/>
                <a:cs typeface="微軟正黑體" pitchFamily="34" charset="-120"/>
              </a:rPr>
              <a:t>第二、三、六週：每種感測器直接量到什麼</a:t>
            </a:r>
            <a:endParaRPr lang="en-US" sz="191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44024" y="983076"/>
          <a:ext cx="7055952" cy="792804"/>
        </p:xfrm>
        <a:graphic>
          <a:graphicData uri="http://schemas.openxmlformats.org/drawingml/2006/table">
            <a:tbl>
              <a:tblPr/>
              <a:tblGrid>
                <a:gridCol w="1268486"/>
                <a:gridCol w="2061289"/>
                <a:gridCol w="1664887"/>
                <a:gridCol w="2061289"/>
              </a:tblGrid>
              <a:tr h="261625">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Cảm biến</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感測器</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Đo trực tiếp</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直接量到</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Tầm (trời nắng, giá trị lớp học)</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有效距離（晴天，課堂設定）</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Điểm yếu</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弱點</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Camera</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相機</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Góc, độ sáng, màu</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角度、亮度、顏色</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80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là đoán; sợ tối, mưa</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距離是算的；怕暗、怕雨</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Lidar</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光達</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(thời gian bay)</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距離（飛行時間）</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100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Xa thì thưa; không biết «là gì»</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一遠就稀；不知道是什麼</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Radar</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雷達</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 tốc độ hướng tâm</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距離＋朝自己的速度</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250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Góc thô; ít bắt người, xe máy</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角度粗；抓不太到人、機車</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Siêu âm</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超音波</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4.5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Chỉ gần</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只看近處</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GNSS</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衛星定位</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Toạ độ của chính mình</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自己的座標</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±2.5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Không biết phía trước có gì; hầm thì mất</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不知道前面有什麼；隧道沒訊號</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Camera nhiệt</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熱像</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Chênh lệch nhiệt độ</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溫度差</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150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Độ phân giải thấp</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解析度低</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IMU (tuần 6)</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IMU（第六週）</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Gia tốc, tốc độ quay của chính xe</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自己的加速度、轉多快</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Trôi: sai số tăng theo t²</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會漂移：誤差跟 t² 變大</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044024" y="4232748"/>
            <a:ext cx="7055952" cy="396402"/>
          </a:xfrm>
          <a:prstGeom prst="rect">
            <a:avLst/>
          </a:prstGeom>
          <a:noFill/>
          <a:ln/>
        </p:spPr>
        <p:txBody>
          <a:bodyPr wrap="square" lIns="0" tIns="0" rIns="0" bIns="0" rtlCol="0" anchor="t"/>
          <a:lstStyle/>
          <a:p>
            <a:pPr indent="0" marL="0">
              <a:lnSpc>
                <a:spcPct val="116000"/>
              </a:lnSpc>
              <a:buNone/>
            </a:pPr>
            <a:r>
              <a:rPr lang="en-US" sz="1040" b="1" dirty="0">
                <a:solidFill>
                  <a:srgbClr val="007F72"/>
                </a:solidFill>
                <a:latin typeface="Arial" pitchFamily="34" charset="0"/>
                <a:ea typeface="Arial" pitchFamily="34" charset="-122"/>
                <a:cs typeface="Arial" pitchFamily="34" charset="-120"/>
              </a:rPr>
              <a:t>Đo được khoảng cách ≠ biết là gì. Chỉ camera đọc được màu đèn giao thông.</a:t>
            </a:r>
            <a:endParaRPr lang="en-US" sz="1040" dirty="0"/>
          </a:p>
          <a:p>
            <a:pPr indent="0" marL="0">
              <a:lnSpc>
                <a:spcPct val="116000"/>
              </a:lnSpc>
              <a:buNone/>
            </a:pPr>
            <a:r>
              <a:rPr lang="en-US" sz="950" dirty="0">
                <a:solidFill>
                  <a:srgbClr val="007F72"/>
                </a:solidFill>
                <a:latin typeface="微軟正黑體" pitchFamily="34" charset="0"/>
                <a:ea typeface="微軟正黑體" pitchFamily="34" charset="-122"/>
                <a:cs typeface="微軟正黑體" pitchFamily="34" charset="-120"/>
              </a:rPr>
              <a:t>量得到距離≠知道是什麼。只有相機讀得出紅綠燈的顏色。</a:t>
            </a:r>
            <a:endParaRPr lang="en-US" sz="104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703119" y="110992"/>
            <a:ext cx="713523" cy="221985"/>
          </a:xfrm>
          <a:prstGeom prst="rect">
            <a:avLst/>
          </a:prstGeom>
          <a:noFill/>
          <a:ln/>
        </p:spPr>
        <p:txBody>
          <a:bodyPr wrap="square" lIns="0" tIns="0" rIns="0" bIns="0" rtlCol="0" anchor="ctr"/>
          <a:lstStyle/>
          <a:p>
            <a:pPr indent="0" marL="0">
              <a:buNone/>
            </a:pPr>
            <a:r>
              <a:rPr lang="en-US" sz="780" dirty="0">
                <a:solidFill>
                  <a:srgbClr val="5F7183"/>
                </a:solidFill>
                <a:latin typeface="Arial" pitchFamily="34" charset="0"/>
                <a:ea typeface="Arial" pitchFamily="34" charset="-122"/>
                <a:cs typeface="Arial" pitchFamily="34" charset="-120"/>
              </a:rPr>
              <a:t>7 / 17</a:t>
            </a:r>
            <a:endParaRPr lang="en-US" sz="780" dirty="0"/>
          </a:p>
        </p:txBody>
      </p:sp>
      <p:sp>
        <p:nvSpPr>
          <p:cNvPr id="8" name="Text 3"/>
          <p:cNvSpPr txBox="1"/>
          <p:nvPr/>
        </p:nvSpPr>
        <p:spPr>
          <a:xfrm>
            <a:off x="1440426" y="110992"/>
            <a:ext cx="1744168" cy="221985"/>
          </a:xfrm>
          <a:prstGeom prst="rect">
            <a:avLst/>
          </a:prstGeom>
          <a:noFill/>
          <a:ln/>
        </p:spPr>
        <p:txBody>
          <a:bodyPr wrap="square" lIns="0" tIns="0" rIns="0" bIns="0" rtlCol="0" anchor="ctr"/>
          <a:lstStyle/>
          <a:p>
            <a:pPr indent="0" marL="0">
              <a:buNone/>
            </a:pPr>
            <a:r>
              <a:rPr lang="en-US" sz="780" dirty="0">
                <a:solidFill>
                  <a:srgbClr val="5F7183"/>
                </a:solidFill>
                <a:latin typeface="Arial" pitchFamily="34" charset="0"/>
                <a:ea typeface="Arial" pitchFamily="34" charset="-122"/>
                <a:cs typeface="Arial" pitchFamily="34" charset="-120"/>
              </a:rPr>
              <a:t>Tiết 3 · 第 3 節</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Tuần 4: quãng dừng và tầm nhìn tối thiểu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第四週：煞停距離和射線至少多長</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103120"/>
                <a:gridCol w="1005840"/>
                <a:gridCol w="1005840"/>
                <a:gridCol w="1005840"/>
                <a:gridCol w="1005840"/>
                <a:gridCol w="1005840"/>
                <a:gridCol w="1005840"/>
              </a:tblGrid>
              <a:tr h="347472">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km/h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時速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Quãng dừng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13.6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73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Tia ít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17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90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2582800"/>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Quãng dừng = v×0,3 + v²÷12 (v tính m/s; phản ứng 0,3 s, giảm tốc 6 m/s²). Mưa: tia chỉ còn 0,55 lần chiều dài.</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煞停距離＝v×0.3＋v²÷12（v 用 m/s；反應 0.3 秒、減速度 6）。雨天射線只剩 0.55 倍長。</a:t>
            </a:r>
            <a:endParaRPr lang="en-US" sz="12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17</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342104" y="0"/>
          <a:ext cx="1" cy="1"/>
          <a:chOff x="0" y="0"/>
          <a:chExt cx="0" cy="0"/>
        </a:xfrm>
      </p:grpSpPr>
      <p:sp>
        <p:nvSpPr>
          <p:cNvPr id="2" name="Text 0"/>
          <p:cNvSpPr txBox="1"/>
          <p:nvPr/>
        </p:nvSpPr>
        <p:spPr>
          <a:xfrm>
            <a:off x="807393" y="270713"/>
            <a:ext cx="7529214" cy="778301"/>
          </a:xfrm>
          <a:prstGeom prst="rect">
            <a:avLst/>
          </a:prstGeom>
          <a:noFill/>
          <a:ln/>
        </p:spPr>
        <p:txBody>
          <a:bodyPr wrap="square" lIns="0" tIns="0" rIns="0" bIns="0" rtlCol="0" anchor="t"/>
          <a:lstStyle/>
          <a:p>
            <a:pPr indent="0" marL="0">
              <a:lnSpc>
                <a:spcPct val="116000"/>
              </a:lnSpc>
              <a:buNone/>
            </a:pPr>
            <a:r>
              <a:rPr lang="en-US" sz="2040" b="1" dirty="0">
                <a:solidFill>
                  <a:srgbClr val="0B1F3A"/>
                </a:solidFill>
                <a:latin typeface="Arial" pitchFamily="34" charset="0"/>
                <a:ea typeface="Arial" pitchFamily="34" charset="-122"/>
                <a:cs typeface="Arial" pitchFamily="34" charset="-120"/>
              </a:rPr>
              <a:t>Tuần 5–6: bảy con số hay thi khi đọc bảng thông số</a:t>
            </a:r>
            <a:endParaRPr lang="en-US" sz="204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第五、六週：讀規格表最常考的七個數字</a:t>
            </a:r>
            <a:endParaRPr lang="en-US" sz="204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07393" y="1049014"/>
          <a:ext cx="7529214" cy="845979"/>
        </p:xfrm>
        <a:graphic>
          <a:graphicData uri="http://schemas.openxmlformats.org/drawingml/2006/table">
            <a:tbl>
              <a:tblPr/>
              <a:tblGrid>
                <a:gridCol w="2791731"/>
                <a:gridCol w="4737483"/>
              </a:tblGrid>
              <a:tr h="279173">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Con số</a:t>
                      </a:r>
                      <a:endParaRPr lang="en-US" sz="1110" dirty="0"/>
                    </a:p>
                    <a:p>
                      <a:pPr algn="l" indent="0" marL="0">
                        <a:buNone/>
                      </a:pPr>
                      <a:r>
                        <a:rPr lang="en-US" sz="790" dirty="0">
                          <a:solidFill>
                            <a:srgbClr val="CFE0EC"/>
                          </a:solidFill>
                          <a:latin typeface="微軟正黑體" pitchFamily="34" charset="0"/>
                          <a:ea typeface="微軟正黑體" pitchFamily="34" charset="-122"/>
                          <a:cs typeface="微軟正黑體" pitchFamily="34" charset="-120"/>
                        </a:rPr>
                        <a:t>數字</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Ý nghĩa</a:t>
                      </a:r>
                      <a:endParaRPr lang="en-US" sz="1110" dirty="0"/>
                    </a:p>
                    <a:p>
                      <a:pPr algn="l" indent="0" marL="0">
                        <a:buNone/>
                      </a:pPr>
                      <a:r>
                        <a:rPr lang="en-US" sz="790" dirty="0">
                          <a:solidFill>
                            <a:srgbClr val="CFE0EC"/>
                          </a:solidFill>
                          <a:latin typeface="微軟正黑體" pitchFamily="34" charset="0"/>
                          <a:ea typeface="微軟正黑體" pitchFamily="34" charset="-122"/>
                          <a:cs typeface="微軟正黑體" pitchFamily="34" charset="-120"/>
                        </a:rPr>
                        <a:t>意思</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OS1: 170 m (80%) / 90 m (10%)</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OS1：170 m（80%）／90 m（10%）</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Tầm đo phụ thuộc độ phản xạ; thiết kế dùng 90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測距看反射率；設計用 90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Lệch 1° → 0,87 m ở 50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差 1° → 50 m 外差 0.87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Tham số ngoài phải rất chuẩn</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外參要很準</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Ống kính 3,6 mm 81°, 8 mm 42°</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鏡頭 3.6 mm 81°、8 mm 42°</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Tiêu cự càng dài, góc nhìn càng hẹp; do ống kính quyết định</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焦距愈長，視野愈窄；由鏡頭決定</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Radar 1,6° → 1,1 m ở 40 m; 4,2 m ở 150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雷達 1.6° → 40 m 外 1.1 m；150 m 外 4.2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Rộng hơn làn 3,5 m: không biết ở làn nào</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比車道 3.5 m 寬：分不出哪一道</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Siêu âm 5,5 m; 20 km/h cần 9,2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超音波 5.5 m；時速 20 要 9.2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Không đủ khi chạy; chỉ dùng khi đỗ xe</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開車時不夠用；只在停車場夠用</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GNSS 2,5 m CEP</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衛星 2.5 m CEP</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50% thời gian trong 2,5 m, không phải tối đa</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一半時間在 2.5 m 內，不是最多 2.5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IMU: sai số ∝ t²</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IMU：誤差跟 t² 成正比</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Công nghiệp chịu ~34 s ở 80 km/h; hầm 580 s không đủ</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工業級時速 80 撐約 34 秒；隧道 580 秒撐不住</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807393" y="4206160"/>
            <a:ext cx="7529214" cy="422990"/>
          </a:xfrm>
          <a:prstGeom prst="rect">
            <a:avLst/>
          </a:prstGeom>
          <a:noFill/>
          <a:ln/>
        </p:spPr>
        <p:txBody>
          <a:bodyPr wrap="square" lIns="0" tIns="0" rIns="0" bIns="0" rtlCol="0" anchor="t"/>
          <a:lstStyle/>
          <a:p>
            <a:pPr indent="0" marL="0">
              <a:lnSpc>
                <a:spcPct val="116000"/>
              </a:lnSpc>
              <a:buNone/>
            </a:pPr>
            <a:r>
              <a:rPr lang="en-US" sz="1110" b="1" dirty="0">
                <a:solidFill>
                  <a:srgbClr val="007F72"/>
                </a:solidFill>
                <a:latin typeface="Arial" pitchFamily="34" charset="0"/>
                <a:ea typeface="Arial" pitchFamily="34" charset="-122"/>
                <a:cs typeface="Arial" pitchFamily="34" charset="-120"/>
              </a:rPr>
              <a:t>Mỗi con số đều có điều kiện kèm theo. Đọc bảng: hỏi «với điều kiện gì?»</a:t>
            </a:r>
            <a:endParaRPr lang="en-US" sz="1110" dirty="0"/>
          </a:p>
          <a:p>
            <a:pPr indent="0" marL="0">
              <a:lnSpc>
                <a:spcPct val="116000"/>
              </a:lnSpc>
              <a:buNone/>
            </a:pPr>
            <a:r>
              <a:rPr lang="en-US" sz="1020" dirty="0">
                <a:solidFill>
                  <a:srgbClr val="007F72"/>
                </a:solidFill>
                <a:latin typeface="微軟正黑體" pitchFamily="34" charset="0"/>
                <a:ea typeface="微軟正黑體" pitchFamily="34" charset="-122"/>
                <a:cs typeface="微軟正黑體" pitchFamily="34" charset="-120"/>
              </a:rPr>
              <a:t>每個數字都綁著前提。讀規格表，先問「在什麼條件下？」</a:t>
            </a:r>
            <a:endParaRPr lang="en-US" sz="111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443622" y="118437"/>
            <a:ext cx="761381" cy="236874"/>
          </a:xfrm>
          <a:prstGeom prst="rect">
            <a:avLst/>
          </a:prstGeom>
          <a:noFill/>
          <a:ln/>
        </p:spPr>
        <p:txBody>
          <a:bodyPr wrap="square" lIns="0" tIns="0" rIns="0" bIns="0" rtlCol="0" anchor="ctr"/>
          <a:lstStyle/>
          <a:p>
            <a:pPr indent="0" marL="0">
              <a:buNone/>
            </a:pPr>
            <a:r>
              <a:rPr lang="en-US" sz="830" dirty="0">
                <a:solidFill>
                  <a:srgbClr val="5F7183"/>
                </a:solidFill>
                <a:latin typeface="Arial" pitchFamily="34" charset="0"/>
                <a:ea typeface="Arial" pitchFamily="34" charset="-122"/>
                <a:cs typeface="Arial" pitchFamily="34" charset="-120"/>
              </a:rPr>
              <a:t>9 / 17</a:t>
            </a:r>
            <a:endParaRPr lang="en-US" sz="830" dirty="0"/>
          </a:p>
        </p:txBody>
      </p:sp>
      <p:sp>
        <p:nvSpPr>
          <p:cNvPr id="8" name="Text 3"/>
          <p:cNvSpPr txBox="1"/>
          <p:nvPr/>
        </p:nvSpPr>
        <p:spPr>
          <a:xfrm>
            <a:off x="1230382" y="118437"/>
            <a:ext cx="1861154" cy="236874"/>
          </a:xfrm>
          <a:prstGeom prst="rect">
            <a:avLst/>
          </a:prstGeom>
          <a:noFill/>
          <a:ln/>
        </p:spPr>
        <p:txBody>
          <a:bodyPr wrap="square" lIns="0" tIns="0" rIns="0" bIns="0" rtlCol="0" anchor="ctr"/>
          <a:lstStyle/>
          <a:p>
            <a:pPr indent="0" marL="0">
              <a:buNone/>
            </a:pPr>
            <a:r>
              <a:rPr lang="en-US" sz="830" dirty="0">
                <a:solidFill>
                  <a:srgbClr val="5F7183"/>
                </a:solidFill>
                <a:latin typeface="Arial" pitchFamily="34" charset="0"/>
                <a:ea typeface="Arial" pitchFamily="34" charset="-122"/>
                <a:cs typeface="Arial" pitchFamily="34" charset="-120"/>
              </a:rPr>
              <a:t>Tiết 3 · 第 3 節</a:t>
            </a:r>
            <a:endParaRPr lang="en-US" sz="8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552439" y="0"/>
          <a:ext cx="1" cy="1"/>
          <a:chOff x="0" y="0"/>
          <a:chExt cx="0" cy="0"/>
        </a:xfrm>
      </p:grpSpPr>
      <p:sp>
        <p:nvSpPr>
          <p:cNvPr id="2" name="Text 0"/>
          <p:cNvSpPr txBox="1"/>
          <p:nvPr/>
        </p:nvSpPr>
        <p:spPr>
          <a:xfrm>
            <a:off x="994590" y="257252"/>
            <a:ext cx="7154819" cy="739599"/>
          </a:xfrm>
          <a:prstGeom prst="rect">
            <a:avLst/>
          </a:prstGeom>
          <a:noFill/>
          <a:ln/>
        </p:spPr>
        <p:txBody>
          <a:bodyPr wrap="square" lIns="0" tIns="0" rIns="0" bIns="0" rtlCol="0" anchor="t"/>
          <a:lstStyle/>
          <a:p>
            <a:pPr indent="0" marL="0">
              <a:lnSpc>
                <a:spcPct val="116000"/>
              </a:lnSpc>
              <a:buNone/>
            </a:pPr>
            <a:r>
              <a:rPr lang="en-US" sz="1930" b="1" dirty="0">
                <a:solidFill>
                  <a:srgbClr val="0B1F3A"/>
                </a:solidFill>
                <a:latin typeface="Arial" pitchFamily="34" charset="0"/>
                <a:ea typeface="Arial" pitchFamily="34" charset="-122"/>
                <a:cs typeface="Arial" pitchFamily="34" charset="-120"/>
              </a:rPr>
              <a:t>Tuần 7: bảng điều kiện hỏng</a:t>
            </a:r>
            <a:endParaRPr lang="en-US" sz="1930" dirty="0"/>
          </a:p>
          <a:p>
            <a:pPr indent="0" marL="0">
              <a:lnSpc>
                <a:spcPct val="116000"/>
              </a:lnSpc>
              <a:buNone/>
            </a:pPr>
            <a:r>
              <a:rPr lang="en-US" sz="1190" dirty="0">
                <a:solidFill>
                  <a:srgbClr val="5F7183"/>
                </a:solidFill>
                <a:latin typeface="微軟正黑體" pitchFamily="34" charset="0"/>
                <a:ea typeface="微軟正黑體" pitchFamily="34" charset="-122"/>
                <a:cs typeface="微軟正黑體" pitchFamily="34" charset="-120"/>
              </a:rPr>
              <a:t>第七週：失效對照表</a:t>
            </a:r>
            <a:endParaRPr lang="en-US" sz="193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94590" y="996851"/>
          <a:ext cx="7154819" cy="803912"/>
        </p:xfrm>
        <a:graphic>
          <a:graphicData uri="http://schemas.openxmlformats.org/drawingml/2006/table">
            <a:tbl>
              <a:tblPr/>
              <a:tblGrid>
                <a:gridCol w="2492128"/>
                <a:gridCol w="763717"/>
                <a:gridCol w="763717"/>
                <a:gridCol w="763717"/>
                <a:gridCol w="763717"/>
                <a:gridCol w="763717"/>
                <a:gridCol w="763717"/>
              </a:tblGrid>
              <a:tr h="241174">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Điều kiện</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條件</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Camera</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相機</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Lidar</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光達</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Radar</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雷達</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Siêu âm</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超音波</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GNSS</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衛星定位</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IMU</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IMU</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Mưa to, sương mù</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大雨、濃霧</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Ban đêm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夜間</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Ngược sáng, cửa hầm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逆光、隧道出口</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Xe đen, kính, gương</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黑車、玻璃、鏡面</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Vật đứng yên, cầu trên đầu</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靜止物、頭頂的橋</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Người đi bộ, xe máy ở xa</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遠處的行人、機車</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Bị bùn, băng tuyết che</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被泥巴、冰雪蓋住</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Phố hẹp nhà cao; đường hầm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高樓窄巷；隧道</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994590" y="4227194"/>
            <a:ext cx="7154819" cy="401956"/>
          </a:xfrm>
          <a:prstGeom prst="rect">
            <a:avLst/>
          </a:prstGeom>
          <a:noFill/>
          <a:ln/>
        </p:spPr>
        <p:txBody>
          <a:bodyPr wrap="square" lIns="0" tIns="0" rIns="0" bIns="0" rtlCol="0" anchor="t"/>
          <a:lstStyle/>
          <a:p>
            <a:pPr indent="0" marL="0">
              <a:lnSpc>
                <a:spcPct val="116000"/>
              </a:lnSpc>
              <a:buNone/>
            </a:pPr>
            <a:r>
              <a:rPr lang="en-US" sz="1060" b="1" dirty="0">
                <a:solidFill>
                  <a:srgbClr val="007F72"/>
                </a:solidFill>
                <a:latin typeface="Arial" pitchFamily="34" charset="0"/>
                <a:ea typeface="Arial" pitchFamily="34" charset="-122"/>
                <a:cs typeface="Arial" pitchFamily="34" charset="-120"/>
              </a:rPr>
              <a:t>✓ bình thường　▲ kém đi　✗ hỏng　— không liên quan. Không cột nào toàn ✓.</a:t>
            </a:r>
            <a:endParaRPr lang="en-US" sz="1060" dirty="0"/>
          </a:p>
          <a:p>
            <a:pPr indent="0" marL="0">
              <a:lnSpc>
                <a:spcPct val="116000"/>
              </a:lnSpc>
              <a:buNone/>
            </a:pPr>
            <a:r>
              <a:rPr lang="en-US" sz="970" dirty="0">
                <a:solidFill>
                  <a:srgbClr val="007F72"/>
                </a:solidFill>
                <a:latin typeface="微軟正黑體" pitchFamily="34" charset="0"/>
                <a:ea typeface="微軟正黑體" pitchFamily="34" charset="-122"/>
                <a:cs typeface="微軟正黑體" pitchFamily="34" charset="-120"/>
              </a:rPr>
              <a:t>✓ 照常　▲ 變差　✗ 失靈　— 不相關。沒有一欄全是 ✓。</a:t>
            </a:r>
            <a:endParaRPr lang="en-US" sz="106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648908" y="112548"/>
            <a:ext cx="723521" cy="225095"/>
          </a:xfrm>
          <a:prstGeom prst="rect">
            <a:avLst/>
          </a:prstGeom>
          <a:noFill/>
          <a:ln/>
        </p:spPr>
        <p:txBody>
          <a:bodyPr wrap="square" lIns="0" tIns="0" rIns="0" bIns="0" rtlCol="0" anchor="ctr"/>
          <a:lstStyle/>
          <a:p>
            <a:pPr indent="0" marL="0">
              <a:buNone/>
            </a:pPr>
            <a:r>
              <a:rPr lang="en-US" sz="790" dirty="0">
                <a:solidFill>
                  <a:srgbClr val="5F7183"/>
                </a:solidFill>
                <a:latin typeface="Arial" pitchFamily="34" charset="0"/>
                <a:ea typeface="Arial" pitchFamily="34" charset="-122"/>
                <a:cs typeface="Arial" pitchFamily="34" charset="-120"/>
              </a:rPr>
              <a:t>10 / 17</a:t>
            </a:r>
            <a:endParaRPr lang="en-US" sz="790" dirty="0"/>
          </a:p>
        </p:txBody>
      </p:sp>
      <p:sp>
        <p:nvSpPr>
          <p:cNvPr id="8" name="Text 3"/>
          <p:cNvSpPr txBox="1"/>
          <p:nvPr/>
        </p:nvSpPr>
        <p:spPr>
          <a:xfrm>
            <a:off x="1396547" y="112548"/>
            <a:ext cx="1768607" cy="225095"/>
          </a:xfrm>
          <a:prstGeom prst="rect">
            <a:avLst/>
          </a:prstGeom>
          <a:noFill/>
          <a:ln/>
        </p:spPr>
        <p:txBody>
          <a:bodyPr wrap="square" lIns="0" tIns="0" rIns="0" bIns="0" rtlCol="0" anchor="ctr"/>
          <a:lstStyle/>
          <a:p>
            <a:pPr indent="0" marL="0">
              <a:buNone/>
            </a:pPr>
            <a:r>
              <a:rPr lang="en-US" sz="790" dirty="0">
                <a:solidFill>
                  <a:srgbClr val="5F7183"/>
                </a:solidFill>
                <a:latin typeface="Arial" pitchFamily="34" charset="0"/>
                <a:ea typeface="Arial" pitchFamily="34" charset="-122"/>
                <a:cs typeface="Arial" pitchFamily="34" charset="-120"/>
              </a:rPr>
              <a:t>Tiết 3 · 第 3 節</a:t>
            </a:r>
            <a:endParaRPr lang="en-US" sz="7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Tuần 7: hợp nhất cảm biến trong năm dòng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第七週：融合，五句話</a:t>
            </a:r>
            <a:endParaRPr lang="en-US" sz="2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103120"/>
                <a:gridCol w="6035040"/>
              </a:tblGrid>
              <a:tr h="329184">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Cần nhớ</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要記住的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Hai lợi ích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兩個好處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Bổ sung (mỗi cái một thông tin) và dự phòng (hỏng một cái vẫn chạy)</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互補（各給一塊資訊）、備援（壞一顆還開得下去）</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Hai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兩個前提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Căn không gian (hiệu chuẩn = tham số trong + ngoài) và thời gian (đồng bộ)</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空間對齊（標定＝內參＋外參）、時間對齊（同步）</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Sớm / giữa / muộn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前期／中期／後期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Ghép càng sớm, giữ càng nhiều thông tin, càng phải căn chuẩn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愈早合，留下的資訊愈多，對齊要愈準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Nghe ai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聽誰的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IMU 120 (±1), GPS 118 (±3) → (9×120+1×118)÷10 = 119,8 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IMU 120（±1）、GPS 118（±3）→ (9×120＋1×118)÷10＝119.8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Giảm cấp</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降級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L2: người tiếp quản ngay. L3: nhờ người, không ai thì dừng trong làn. L4: tự tấp vào lề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L2：駕駛馬上接手。L3：請駕駛接手，沒人接就在車道內停。L4：自己靠邊停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821335"/>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Ghép muộn: ghép mục tiêu radar với khung camera (vật với vật).</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後期融合：雷達的目標配相機的框（物體對物體）。</a:t>
            </a:r>
            <a:endParaRPr lang="en-US" sz="12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17</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275781" y="0"/>
          <a:ext cx="1" cy="1"/>
          <a:chOff x="0" y="0"/>
          <a:chExt cx="0" cy="0"/>
        </a:xfrm>
      </p:grpSpPr>
      <p:sp>
        <p:nvSpPr>
          <p:cNvPr id="2" name="Text 0"/>
          <p:cNvSpPr txBox="1"/>
          <p:nvPr/>
        </p:nvSpPr>
        <p:spPr>
          <a:xfrm>
            <a:off x="748365" y="274958"/>
            <a:ext cx="7647270" cy="790504"/>
          </a:xfrm>
          <a:prstGeom prst="rect">
            <a:avLst/>
          </a:prstGeom>
          <a:noFill/>
          <a:ln/>
        </p:spPr>
        <p:txBody>
          <a:bodyPr wrap="square" lIns="0" tIns="0" rIns="0" bIns="0" rtlCol="0" anchor="t"/>
          <a:lstStyle/>
          <a:p>
            <a:pPr indent="0" marL="0">
              <a:lnSpc>
                <a:spcPct val="116000"/>
              </a:lnSpc>
              <a:buNone/>
            </a:pPr>
            <a:r>
              <a:rPr lang="en-US" sz="2070" b="1" dirty="0">
                <a:solidFill>
                  <a:srgbClr val="0B1F3A"/>
                </a:solidFill>
                <a:latin typeface="Arial" pitchFamily="34" charset="0"/>
                <a:ea typeface="Arial" pitchFamily="34" charset="-122"/>
                <a:cs typeface="Arial" pitchFamily="34" charset="-120"/>
              </a:rPr>
              <a:t>Tuần 8: máy tính nhìn thấy, và gán nhãn</a:t>
            </a:r>
            <a:endParaRPr lang="en-US" sz="2070" dirty="0"/>
          </a:p>
          <a:p>
            <a:pPr indent="0" marL="0">
              <a:lnSpc>
                <a:spcPct val="116000"/>
              </a:lnSpc>
              <a:buNone/>
            </a:pPr>
            <a:r>
              <a:rPr lang="en-US" sz="1270" dirty="0">
                <a:solidFill>
                  <a:srgbClr val="5F7183"/>
                </a:solidFill>
                <a:latin typeface="微軟正黑體" pitchFamily="34" charset="0"/>
                <a:ea typeface="微軟正黑體" pitchFamily="34" charset="-122"/>
                <a:cs typeface="微軟正黑體" pitchFamily="34" charset="-120"/>
              </a:rPr>
              <a:t>第八週：電腦怎麼看見，和資料標註</a:t>
            </a:r>
            <a:endParaRPr lang="en-US" sz="207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8365" y="1065462"/>
          <a:ext cx="7647270" cy="859244"/>
        </p:xfrm>
        <a:graphic>
          <a:graphicData uri="http://schemas.openxmlformats.org/drawingml/2006/table">
            <a:tbl>
              <a:tblPr/>
              <a:tblGrid>
                <a:gridCol w="1976261"/>
                <a:gridCol w="5671009"/>
              </a:tblGrid>
              <a:tr h="292143">
                <a:tc>
                  <a:txBody>
                    <a:bodyPr/>
                    <a:lstStyle/>
                    <a:p>
                      <a:pPr algn="l" indent="0" marL="0">
                        <a:buNone/>
                      </a:pPr>
                      <a:r>
                        <a:rPr lang="en-US" sz="940" b="1" dirty="0">
                          <a:solidFill>
                            <a:srgbClr val="FFFFFF"/>
                          </a:solidFill>
                          <a:latin typeface="Arial" pitchFamily="34" charset="0"/>
                          <a:ea typeface="Arial" pitchFamily="34" charset="-122"/>
                          <a:cs typeface="Arial" pitchFamily="34" charset="-120"/>
                        </a:rPr>
                        <a:t>Chủ đề</a:t>
                      </a:r>
                      <a:endParaRPr lang="en-US" sz="1130" dirty="0"/>
                    </a:p>
                    <a:p>
                      <a:pPr algn="l" indent="0" marL="0">
                        <a:buNone/>
                      </a:pPr>
                      <a:r>
                        <a:rPr lang="en-US" sz="800" dirty="0">
                          <a:solidFill>
                            <a:srgbClr val="CFE0EC"/>
                          </a:solidFill>
                          <a:latin typeface="微軟正黑體" pitchFamily="34" charset="0"/>
                          <a:ea typeface="微軟正黑體" pitchFamily="34" charset="-122"/>
                          <a:cs typeface="微軟正黑體" pitchFamily="34" charset="-120"/>
                        </a:rPr>
                        <a:t>主題</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40" b="1" dirty="0">
                          <a:solidFill>
                            <a:srgbClr val="FFFFFF"/>
                          </a:solidFill>
                          <a:latin typeface="Arial" pitchFamily="34" charset="0"/>
                          <a:ea typeface="Arial" pitchFamily="34" charset="-122"/>
                          <a:cs typeface="Arial" pitchFamily="34" charset="-120"/>
                        </a:rPr>
                        <a:t>Cần nhớ</a:t>
                      </a:r>
                      <a:endParaRPr lang="en-US" sz="1130" dirty="0"/>
                    </a:p>
                    <a:p>
                      <a:pPr algn="l" indent="0" marL="0">
                        <a:buNone/>
                      </a:pPr>
                      <a:r>
                        <a:rPr lang="en-US" sz="800" dirty="0">
                          <a:solidFill>
                            <a:srgbClr val="CFE0EC"/>
                          </a:solidFill>
                          <a:latin typeface="微軟正黑體" pitchFamily="34" charset="0"/>
                          <a:ea typeface="微軟正黑體" pitchFamily="34" charset="-122"/>
                          <a:cs typeface="微軟正黑體" pitchFamily="34" charset="-120"/>
                        </a:rPr>
                        <a:t>要記住的</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Ảnh là con số</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照片是數字</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Mỗi điểm ảnh 3 số R, G, B, mỗi số 0–255; đỏ + xanh lá = vàng; cả ba 255 là trắng</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每個像素三個數字 R、G、B，各 0–255；紅＋綠＝黃，三個都 255 是白</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«Học» là gì</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「學」是什麼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Đoán, so đáp án, sửa một chút — lặp lại rất nhiều lần; bước quá lớn thì nhảy loạn</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猜、對答案、改一點點，重複很多次；步伐太大會跳過頭</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Học máy / học sâu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機器學習／深度學習</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Học máy: người chọn «nhìn cái gì». Học sâu: máy tự học cả cái đó. Cả hai đều cần dữ liệu có đáp án</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機器學習：人決定看什麼；深度學習：連看什麼都自己學。兩種都要有答案的資料</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Phát hiện cho ra gì</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偵測給什麼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Khung + loại + điểm. Ngưỡng thấp: báo nhiều; ngưỡng cao: sót nhiều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框＋類別＋分數。門檻低就多報，門檻高就漏掉</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Xa, tối thì sót</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一遠、一暗就漏</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Người 0–10 m 82%, 40–50 m 3%; người 10–20 m: ngày 66%, đêm 49%</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行人 0–10 m 82%、40–50 m 3%；10–20 m 的行人：白天 66%、晚上 49%</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Gán nhãn, IoU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標註、IoU</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Khung sát, gồm tay chân, người lái chung khung với xe. IoU = chồng lên ÷ gộp lại: 1 là trùng khít, 0 là không chạm</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框要貼、手腳包進去、騎士跟車同一個框。IoU＝重疊÷合起來：1 是完全一樣，0 是沒碰到</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748365" y="4199528"/>
            <a:ext cx="7647270" cy="429622"/>
          </a:xfrm>
          <a:prstGeom prst="rect">
            <a:avLst/>
          </a:prstGeom>
          <a:noFill/>
          <a:ln/>
        </p:spPr>
        <p:txBody>
          <a:bodyPr wrap="square" lIns="0" tIns="0" rIns="0" bIns="0" rtlCol="0" anchor="t"/>
          <a:lstStyle/>
          <a:p>
            <a:pPr indent="0" marL="0">
              <a:lnSpc>
                <a:spcPct val="116000"/>
              </a:lnSpc>
              <a:buNone/>
            </a:pPr>
            <a:r>
              <a:rPr lang="en-US" sz="1130" b="1" dirty="0">
                <a:solidFill>
                  <a:srgbClr val="007F72"/>
                </a:solidFill>
                <a:latin typeface="Arial" pitchFamily="34" charset="0"/>
                <a:ea typeface="Arial" pitchFamily="34" charset="-122"/>
                <a:cs typeface="Arial" pitchFamily="34" charset="-120"/>
              </a:rPr>
              <a:t>Dữ liệu gán nhãn là sách giáo khoa của mô hình: thiếu, sai thì mô hình học sai.</a:t>
            </a:r>
            <a:endParaRPr lang="en-US" sz="1130" dirty="0"/>
          </a:p>
          <a:p>
            <a:pPr indent="0" marL="0">
              <a:lnSpc>
                <a:spcPct val="116000"/>
              </a:lnSpc>
              <a:buNone/>
            </a:pPr>
            <a:r>
              <a:rPr lang="en-US" sz="1030" dirty="0">
                <a:solidFill>
                  <a:srgbClr val="007F72"/>
                </a:solidFill>
                <a:latin typeface="微軟正黑體" pitchFamily="34" charset="0"/>
                <a:ea typeface="微軟正黑體" pitchFamily="34" charset="-122"/>
                <a:cs typeface="微軟正黑體" pitchFamily="34" charset="-120"/>
              </a:rPr>
              <a:t>標註資料是模型的課本：漏標、標錯，模型就學錯。</a:t>
            </a:r>
            <a:endParaRPr lang="en-US" sz="113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378890" y="120294"/>
            <a:ext cx="773319" cy="240588"/>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12 / 17</a:t>
            </a:r>
            <a:endParaRPr lang="en-US" sz="850" dirty="0"/>
          </a:p>
        </p:txBody>
      </p:sp>
      <p:sp>
        <p:nvSpPr>
          <p:cNvPr id="8" name="Text 3"/>
          <p:cNvSpPr txBox="1"/>
          <p:nvPr/>
        </p:nvSpPr>
        <p:spPr>
          <a:xfrm>
            <a:off x="1177987" y="120294"/>
            <a:ext cx="1890336" cy="240588"/>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Tiết 3 · 第 3 節</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câu hay nói sai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最常講錯的八句話</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3291840"/>
                <a:gridCol w="484632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Câu sai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錯的說法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Đúng là</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正確的是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AEB là L1</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AEB 是 L1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L0: chỉ can thiệp tức thời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L0：只是瞬間介入</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Không có vô lăng là L5</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沒有方向盤就是 L5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L5 là không giới hạn ODD; hiện chưa có</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L5 是沒有 ODD 限制；目前不存在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94% tai nạn hết nếu thay người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換掉人就少 94% 車禍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Đó là mắt xích cuối, không phải nguyên nhân duy nhất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那是事故鏈最後一環，不是唯一原因</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Tầm 200 m là thấy hết trong 200 m</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測距 200 m 就是 200 m 內都看得到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Phải hỏi độ phản xạ, xác suất phát hiện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要問對多少反射率、偵測機率多少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Lidar không sợ thời tiết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光達不怕天氣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Mưa, sương làm lidar kém; radar mới ít sợ</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雨霧會讓光達變差；比較不怕的是雷達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Radar không dùng để thấy người được</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雷達不能用來看人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Thấy được nhưng không ổn định; không dùng một mình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看得到但抓不穩；不能單獨用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Hai cảm biến tốt ghép lại chắc chắn tốt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兩顆好的合起來一定好</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căn chỉnh, không đồng bộ thì vẫn sai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沒標定、沒同步，一樣錯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Điểm 0,91 là đúng 91%</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分數 0.91 就是 91% 一定對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Điểm dùng để xếp hạng và cắt ngưỡng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分數是拿來排序、設門檻的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Đọc biểu đồ · 圖表判讀</a:t>
            </a:r>
            <a:endParaRPr lang="en-US" sz="1250" dirty="0"/>
          </a:p>
        </p:txBody>
      </p:sp>
      <p:sp>
        <p:nvSpPr>
          <p:cNvPr id="3" name="Shape 1"/>
          <p:cNvSpPr/>
          <p:nvPr/>
        </p:nvSpPr>
        <p:spPr>
          <a:xfrm>
            <a:off x="502920" y="1412748"/>
            <a:ext cx="429991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八週(10-29)/src/img/w8_recall.png">    </p:cNvPr>
          <p:cNvPicPr>
            <a:picLocks noChangeAspect="1"/>
          </p:cNvPicPr>
          <p:nvPr/>
        </p:nvPicPr>
        <p:blipFill>
          <a:blip r:embed="rId1"/>
          <a:stretch>
            <a:fillRect/>
          </a:stretch>
        </p:blipFill>
        <p:spPr>
          <a:xfrm>
            <a:off x="576072" y="1514246"/>
            <a:ext cx="4153606" cy="2128723"/>
          </a:xfrm>
          <a:prstGeom prst="rect">
            <a:avLst/>
          </a:prstGeom>
        </p:spPr>
      </p:pic>
      <p:sp>
        <p:nvSpPr>
          <p:cNvPr id="5" name="Text 2"/>
          <p:cNvSpPr txBox="1"/>
          <p:nvPr/>
        </p:nvSpPr>
        <p:spPr>
          <a:xfrm>
            <a:off x="576072" y="3707892"/>
            <a:ext cx="415360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第八週第 1 節：nuScenes mini 白天、YOLOX-s、門檻 0.3</a:t>
            </a:r>
            <a:endParaRPr lang="en-US" sz="700" dirty="0"/>
          </a:p>
        </p:txBody>
      </p:sp>
      <p:sp>
        <p:nvSpPr>
          <p:cNvPr id="6" name="Text 3"/>
          <p:cNvSpPr txBox="1"/>
          <p:nvPr/>
        </p:nvSpPr>
        <p:spPr>
          <a:xfrm>
            <a:off x="5113726" y="914400"/>
            <a:ext cx="3527354" cy="3511296"/>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bước: tiêu đề và đơn vị → trục → điều kiện → so sánh</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四步驟：標題和單位 → 軸 → 前提條件 → 再比較</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Biểu đồ này: % bắt được theo khoảng cách. Điều kiện: ban ngày, ngưỡng 0,3. Xe giảm ít nhất; người và xe 2 bánh ở xa gần như mất hết.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這張圖：抓到的比例對距離。條件：白天、門檻 0.3。車掉最少；行人、機車一遠就幾乎掉光。</a:t>
            </a:r>
            <a:endParaRPr lang="en-US" sz="2300" dirty="0"/>
          </a:p>
        </p:txBody>
      </p:sp>
      <p:sp>
        <p:nvSpPr>
          <p:cNvPr id="7" name="Shape 4"/>
          <p:cNvSpPr/>
          <p:nvPr/>
        </p:nvSpPr>
        <p:spPr>
          <a:xfrm>
            <a:off x="5342185" y="365760"/>
            <a:ext cx="3298895" cy="310896"/>
          </a:xfrm>
          <a:prstGeom prst="roundRect">
            <a:avLst>
              <a:gd name="adj" fmla="val 20588"/>
            </a:avLst>
          </a:prstGeom>
          <a:solidFill>
            <a:srgbClr val="EAF6F4"/>
          </a:solidFill>
          <a:ln w="9525">
            <a:solidFill>
              <a:srgbClr val="9FD6CE"/>
            </a:solidFill>
            <a:prstDash val="solid"/>
          </a:ln>
        </p:spPr>
      </p:sp>
      <p:sp>
        <p:nvSpPr>
          <p:cNvPr id="8" name="Text 5"/>
          <p:cNvSpPr txBox="1"/>
          <p:nvPr/>
        </p:nvSpPr>
        <p:spPr>
          <a:xfrm>
            <a:off x="5470201" y="384048"/>
            <a:ext cx="3116015"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đọc hoá đơn tiền điện: đơn vị, kỳ, rồi mới so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看電費單：先看單位、期間，再比多少</a:t>
            </a:r>
            <a:endParaRPr lang="en-US" sz="950" dirty="0"/>
          </a:p>
        </p:txBody>
      </p:sp>
      <p:pic>
        <p:nvPicPr>
          <p:cNvPr id="10" name="Image 1" descr="/Users/tsengchenghsun/Class/carClass/Claude outputs/第八週(10-29)/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17</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đề thi thử giữa kỳ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打開期中模擬考</a:t>
            </a:r>
            <a:endParaRPr lang="en-US" sz="2200" dirty="0"/>
          </a:p>
        </p:txBody>
      </p:sp>
      <p:sp>
        <p:nvSpPr>
          <p:cNvPr id="3" name="Shape 1"/>
          <p:cNvSpPr/>
          <p:nvPr/>
        </p:nvSpPr>
        <p:spPr>
          <a:xfrm>
            <a:off x="6236208"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八週(10-29)/src/img/w8_qr_review.png">    </p:cNvPr>
          <p:cNvPicPr>
            <a:picLocks noChangeAspect="1"/>
          </p:cNvPicPr>
          <p:nvPr/>
        </p:nvPicPr>
        <p:blipFill>
          <a:blip r:embed="rId1"/>
          <a:stretch>
            <a:fillRect/>
          </a:stretch>
        </p:blipFill>
        <p:spPr>
          <a:xfrm>
            <a:off x="6364224" y="1243584"/>
            <a:ext cx="2148840" cy="2148840"/>
          </a:xfrm>
          <a:prstGeom prst="rect">
            <a:avLst/>
          </a:prstGeom>
        </p:spPr>
      </p:pic>
      <p:sp>
        <p:nvSpPr>
          <p:cNvPr id="5" name="Text 2"/>
          <p:cNvSpPr txBox="1"/>
          <p:nvPr/>
        </p:nvSpPr>
        <p:spPr>
          <a:xfrm>
            <a:off x="6236208" y="3429000"/>
            <a:ext cx="2404872"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để mở</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掃 QR 打開</a:t>
            </a:r>
            <a:endParaRPr lang="en-US" sz="1050" dirty="0"/>
          </a:p>
        </p:txBody>
      </p:sp>
      <p:sp>
        <p:nvSpPr>
          <p:cNvPr id="6" name="Shape 3"/>
          <p:cNvSpPr/>
          <p:nvPr/>
        </p:nvSpPr>
        <p:spPr>
          <a:xfrm>
            <a:off x="502920" y="1133856"/>
            <a:ext cx="5422392" cy="841248"/>
          </a:xfrm>
          <a:prstGeom prst="roundRect">
            <a:avLst>
              <a:gd name="adj" fmla="val 9783"/>
            </a:avLst>
          </a:prstGeom>
          <a:solidFill>
            <a:srgbClr val="0B1F3A"/>
          </a:solidFill>
          <a:ln/>
        </p:spPr>
      </p:sp>
      <p:sp>
        <p:nvSpPr>
          <p:cNvPr id="7" name="Text 4"/>
          <p:cNvSpPr txBox="1"/>
          <p:nvPr/>
        </p:nvSpPr>
        <p:spPr>
          <a:xfrm>
            <a:off x="649224" y="1225296"/>
            <a:ext cx="5129784"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week8/review/</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28 câu, tuần 1–8. Tiếng Việt là chính, có tiếng Trung đối chiếu (giống đề thi thật)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28 題，第一到八週。越南文為主、中文對照（跟期中考一樣）</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Làm hết rồi bấm «Nộp bài, xem đáp án»</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全部做完，按「交卷、看答案」</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Xem tuần nào có khung đỏ; chụp màn hình gửi LINE</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看哪一週是紅框；截圖傳 LINE</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Làm ở nhà thêm lần nữa trước ngày thi; bấm «Làm lại» để xoá đáp án.</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考前在家再做一次；按「重做」清掉答案。</a:t>
            </a:r>
            <a:endParaRPr lang="en-US" sz="1200" dirty="0"/>
          </a:p>
        </p:txBody>
      </p:sp>
      <p:pic>
        <p:nvPicPr>
          <p:cNvPr id="20" name="Image 1" descr="/Users/tsengchenghsun/Class/carClass/Claude outputs/第八週(10-29)/src/logo.png">    </p:cNvPr>
          <p:cNvPicPr>
            <a:picLocks noChangeAspect="1"/>
          </p:cNvPicPr>
          <p:nvPr/>
        </p:nvPicPr>
        <p:blipFill>
          <a:blip r:embed="rId2"/>
          <a:stretch>
            <a:fillRect/>
          </a:stretch>
        </p:blipFill>
        <p:spPr>
          <a:xfrm>
            <a:off x="7882128" y="109728"/>
            <a:ext cx="1097280" cy="242439"/>
          </a:xfrm>
          <a:prstGeom prst="rect">
            <a:avLst/>
          </a:prstGeom>
        </p:spPr>
      </p:pic>
      <p:sp>
        <p:nvSpPr>
          <p:cNvPr id="21"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17</a:t>
            </a:r>
            <a:endParaRPr lang="en-US" sz="900" dirty="0"/>
          </a:p>
        </p:txBody>
      </p:sp>
      <p:sp>
        <p:nvSpPr>
          <p:cNvPr id="22"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Thi thử · 模擬考</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28 câu trong 12 phút: tuần nào bạn sai nhiều nhất?</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12 分鐘 28 題：你哪一週錯得最多？</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Làm hết trước, không tra tài liệu. Câu nào không chắc thì đánh dấu trong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先全部做完，不翻講義。沒把握的題目自己記一下。</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Nộp bài, đọc giải thích của từng câu sai. Ghi lại tuần có khung đỏ.</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交卷後，每一題錯的都看說明。記下哪幾週是紅框。</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Chụp phần kết quả cuối trang, gửi LINE.</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截圖最下面的成績，傳 LINE。</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Câu đọc biểu đồ: dùng bốn bước vừa học.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圖表題：用剛剛那四個步驟。</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17</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Tóm tắt · 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Trước ngày thi, làm ba việc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考前做三件事</a:t>
            </a:r>
            <a:endParaRPr lang="en-US" sz="2500" dirty="0"/>
          </a:p>
        </p:txBody>
      </p:sp>
      <p:sp>
        <p:nvSpPr>
          <p:cNvPr id="6" name="Shape 4"/>
          <p:cNvSpPr/>
          <p:nvPr/>
        </p:nvSpPr>
        <p:spPr>
          <a:xfrm>
            <a:off x="502920" y="1773936"/>
            <a:ext cx="45720" cy="512064"/>
          </a:xfrm>
          <a:prstGeom prst="rect">
            <a:avLst/>
          </a:prstGeom>
          <a:solidFill>
            <a:srgbClr val="00A896"/>
          </a:solidFill>
          <a:ln/>
        </p:spPr>
      </p:sp>
      <p:sp>
        <p:nvSpPr>
          <p:cNvPr id="7" name="Text 5"/>
          <p:cNvSpPr txBox="1"/>
          <p:nvPr/>
        </p:nvSpPr>
        <p:spPr>
          <a:xfrm>
            <a:off x="722376" y="1737360"/>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Đọc lại bảng «tám tuần, mỗi tuần một câu»; nói được tám câu đó.</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看一遍「八週地圖」，八句話都說得出來。</a:t>
            </a:r>
            <a:endParaRPr lang="en-US" sz="1350" dirty="0"/>
          </a:p>
        </p:txBody>
      </p:sp>
      <p:sp>
        <p:nvSpPr>
          <p:cNvPr id="8" name="Shape 6"/>
          <p:cNvSpPr/>
          <p:nvPr/>
        </p:nvSpPr>
        <p:spPr>
          <a:xfrm>
            <a:off x="502920" y="2487168"/>
            <a:ext cx="45720" cy="512064"/>
          </a:xfrm>
          <a:prstGeom prst="rect">
            <a:avLst/>
          </a:prstGeom>
          <a:solidFill>
            <a:srgbClr val="FFB020"/>
          </a:solidFill>
          <a:ln/>
        </p:spPr>
      </p:sp>
      <p:sp>
        <p:nvSpPr>
          <p:cNvPr id="9" name="Text 7"/>
          <p:cNvSpPr txBox="1"/>
          <p:nvPr/>
        </p:nvSpPr>
        <p:spPr>
          <a:xfrm>
            <a:off x="722376" y="2450592"/>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Tuần nào bị khung đỏ trong đề thử thì đọc lại tài liệu tuần đó.</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模擬考紅框的那幾週，講義再讀一次。</a:t>
            </a:r>
            <a:endParaRPr lang="en-US" sz="1350" dirty="0"/>
          </a:p>
        </p:txBody>
      </p:sp>
      <p:sp>
        <p:nvSpPr>
          <p:cNvPr id="10" name="Shape 8"/>
          <p:cNvSpPr/>
          <p:nvPr/>
        </p:nvSpPr>
        <p:spPr>
          <a:xfrm>
            <a:off x="502920" y="3200400"/>
            <a:ext cx="45720" cy="512064"/>
          </a:xfrm>
          <a:prstGeom prst="rect">
            <a:avLst/>
          </a:prstGeom>
          <a:solidFill>
            <a:srgbClr val="00A896"/>
          </a:solidFill>
          <a:ln/>
        </p:spPr>
      </p:sp>
      <p:sp>
        <p:nvSpPr>
          <p:cNvPr id="11" name="Text 9"/>
          <p:cNvSpPr txBox="1"/>
          <p:nvPr/>
        </p:nvSpPr>
        <p:spPr>
          <a:xfrm>
            <a:off x="722376" y="3163824"/>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Biểu đồ, bảng: tiêu đề và đơn vị → trục → điều kiện → so sánh.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圖和表：標題和單位 → 軸 → 前提條件 → 再比較。</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17</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2026-10-27T09:36:31Z</dcterms:created>
  <dcterms:modified xsi:type="dcterms:W3CDTF">2026-10-27T09:36:31Z</dcterms:modified>
</cp:coreProperties>
</file>