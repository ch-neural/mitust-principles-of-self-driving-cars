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讓大家把第一週到今天的重點走一遍，知道期中考會考哪些觀念和圖表，再用一份模擬考檢查自己哪一週要補。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下週四，十一月五日，期中考，就在上課時間考。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分兩段。前半段，我們一週一週走過去，每一週只講最重要的幾句話和一張表。後半段，大家打開一份模擬考，二十八題，題目跟期中考一樣是越南文為主、中文對照。做完按交卷，網頁會告訴你哪一週錯得最多，那一週的講義回去再翻一次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（老師補充：考試可不可以帶計算機、要帶什麼，請在這裡宣布。）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讓大家清楚知道期中考的日期、比重、題型和範圍。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四件事。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日期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：十一月五日，星期四，上課時間，第九週。順便再提醒一次，十一月十九日第十一週，校慶停課。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比重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：總成績的百分之十五。第一週講過成績組成：實作與上機 40%，期末專題 25%，期中、期末各 15%，課堂參與 5%。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題型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：兩種。概念題，例如「AEB 是第幾級」；還有圖表判讀，會給你一張表或一張圖，要讀出數字、說出意思。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語言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：題目以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越南文為主，旁邊附中文對照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。今天的模擬考就是這個樣子，大家可以順便練習：越南文看懂了，再對一下中文的關鍵字，例如「門檻」「煞停距離」「外參」，這些中文名詞上課一直在用。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範圍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：第一週到今天第一節，就是電腦怎麼看見車和人那一節。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讓大家先看到整個地圖：八週，每週一句話；每一句都說得出意思、舉得出例子、記得住那一週的關鍵數字，期中考就有一半的把握。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第一週：等級講的是分工，不是能力。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SAE 的 L0 到 L5，問的不是「這台車多聰明」，而是「開車這件事，人和系統怎麼分工」：方向和速度誰在控制、誰負責看路、出狀況誰接手。舉個例子：自動緊急煞車（AEB）的技術很厲害，快撞上的時候自己煞得住，可是它只在最後那一瞬間出手，平常完全不管開車，所以是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L0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 L1。反過來，一台車可以自己置中、跟車，聽起來很先進，但只要人必須一直看路，就是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L2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；車主買的 Tesla FSD（Supervised）就是 L2。判斷三步驟：瞬間還是持續？管一項還是兩項？誰看路、誰接手？最常見的誤會是「等級愈高愈好」「L2+ 是正式等級」，都不對。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第二週：「至少」是下限；光達用來回時間算距離；雷達只量朝自己的那一段速度。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這一週講兩件事：怎麼讀 ODD 條件，和三種感測器怎麼量東西。先講 ODD。「照度至少 20 lx」是下限，低於 20 就出了 ODD；現場 5 lx，不能說「5 比 20 小，沒超過，所以符合」，方向看反了，開慢一點也不會變回符合。單位也要看清楚：mm/h 是雨下多大，不是積水多深；lx 是亮不亮。再講感測器原理。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給的是顏色、文字、外觀，畫面上的框是程式加上去的，不是相機量的。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像對著山谷喊一聲、等回音：雷射打出去，等它彈回來，距離＝光速×來回時間÷2，要除以 2 是因為光走了一去一回；來回 100 奈秒就是 15 公尺。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有兩個本事：比較發出去和收回來的頻率差，算出距離；再用都卜勒效應量速度，就像救護車開過來時鳴笛聲變尖、開走時變低。可是它只量得到東西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朝自己靠近或遠離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的那一段速度：一台車從正前方橫著開過去，雷達量到的接近 0。上週觀察台那台黑色轎車，其實時速約 22，朝我們的那一段只有約 5，雷達量到 ≈0，就是這個原因。還有一個數字：77 GHz 雷達的波長約 3.9 毫米，是光達的四千多倍，所以霧對雷達的影響比較小。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第三週：量得到距離，不等於知道是什麼；距離兩倍，相機誤差四倍。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打出去的點，每一個都知道多遠，可是光達不知道那一團點是人、是垃圾桶，還是一根柱子，它給的永遠是「未分類的障礙物」。反過來，相機認得出那是人，可是距離是用照片「算」出來的，不是量的。所以第二個數字很重要：相機估距離的誤差，跟距離的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平方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成正比。二十公尺誤差 ±0.15 公尺，四十公尺就變 ±0.58 公尺，大約四倍。光達也有類似的規則：距離兩倍，打在人身上的點剩四分之一，十公尺 308 點、二十公尺 77 點。就像看遠處的人：愈遠，愈難估他到底離你多遠。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第四週：時速 50 煞停 20 公尺，至少要看到 25 公尺；模擬是一道篩子。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煞停距離分兩段：反應那 0.3 秒走的路，加上踩煞車到停下來的路。時速 50 是每秒 13.9 公尺，反應 4.2 公尺、煞車 16.1 公尺，合起來大約 20 公尺。感測器至少要看到它的 1.25 倍，25 公尺，這個 1.25 是本課取的餘裕。看到的距離比煞停距離短，就是一定撞。「模擬是篩子」：在模擬器裡過不了的設計，可以先淘汰；可是模擬裡不撞，不代表真車不撞，因為模擬和現實有三種落差：外觀、行為、物理。通過模擬，只是拿到上真車測試的門票。還有，證明安全的單位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場景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，不是跑了多少公里。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第五週：測距要問對多少反射率；差 1 度，50 公尺外差 0.87 公尺。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規格表寫「測距 170 公尺」，一定要追問：對什麼東西？OS1 對反射率 80% 的白色目標是 170 公尺，對 10% 的黑色目標只有 90 公尺。路上有黑車、穿深色衣服的人，所以設計要用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90 公尺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。就像手電筒照白牆和照黑布，看得到的距離差很多。第二個數字講標定：相機和光達的安裝角度差 1 度，50 公尺外就偏 0.87 公尺，快半個車道，而且是橫著偏。所以標定要很準，還要定期重標；nuScenes 收資料的時候，大約每週重標兩次。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第六週：沒有一種感測器五個情境都贏。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這是第六週作業 22 格的結論。我們把雷達、超音波、衛星定位、IMU 放進五個情境（校園、河內、國道、停車場、隧道）一格一格判斷：雷達 ARS 408 到了國道，150 公尺外一束有 4.2 公尺寬，比車道還寬，分不出前車在哪一道；超音波只有 5.5 公尺，只在停車場夠用；衛星定位只有開 RTK 的那一顆在校園夠準，進隧道就完全沒訊號；IMU 會漂移，最好的那一顆在隧道也只撐 34 秒，雪山隧道要 580 秒。每一種都有它贏的地方，也都有它輸的地方，所以一台車要裝好幾種。這句話就是第七週融合的起點。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第七週：每一種都會壞；合起來的時候，比較準的多相信一點。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失效對照表上，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沒有一欄全是勾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：雨害相機，遠處的行人害雷達，隧道害衛星定位。壞法有三種，最危險的是「看不到卻說沒事」，就像油表壞了卻一直顯示滿格。既然每一種都會壞，就要合起來，叫融合。合的時候不是平均，而是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比較準的多相信一點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：IMU 說 120 公尺（誤差 1），GPS 說 118 公尺（誤差 3），誤差差 3 倍，信任差 9 倍，合起來是 119.8 公尺。就像問路，問到兩個人，一個是住在附近的、一個是剛來的觀光客，你會比較相信住在附近的那個，但也不會完全不聽觀光客的。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第八週：模型從例子學；給框、類別、分數；一遠、一暗就漏。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電腦認車、認人，不是靠人寫規則，是看很多有標準答案的照片學出來的：猜、對答案、改一點點，重複很多次。所以標準答案，也就是標註，非常重要。學好的偵測模型，對每個東西給三樣：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框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（在照片的哪裡）、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類別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（是什麼）、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分數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（多有把握）。分數拿來設門檻：門檻低就多報，門檻高就漏掉。而且它一遠、一暗就漏：行人在十公尺內抓到 82%，四十到五十公尺只剩 3%；晚上十到二十公尺的行人，從白天的 66% 掉到 49%。這跟前幾週的感測器一樣，沒有一種是完美的。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這八句話如果都說得出來，而且說得出例子和數字，期中考就有一半的把握了。接下來一週一週看細節。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讓大家能用三個問題，判斷一台車是第幾級。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第一、二週最重要的就是這張表。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L0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：系統只會警告，或在快撞的時候瞬間介入。</a:t>
            </a: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AEB 自動緊急煞車是 L0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，這一題最多人錯，以為它會自己煞車就是 L1。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L1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：持續做一項，方向</a:t>
            </a: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或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速度。ACC 跟車是 L1。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L2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：方向</a:t>
            </a: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和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速度都做，可是人要一直看路，所以車子會一直提醒你手放方向盤。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L3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：在 ODD 裡面全部自己開，人可以不看路，但系統要求的時候，人要接手。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L4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：在 ODD 裡面，連接手都自己做，不需要人。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L5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：沒有 ODD 限制，到哪裡都能開，</a:t>
            </a: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目前不存在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判斷的時候，問三個問題：一、瞬間還是持續？瞬間就是 L0。二、管一項還是兩項？一項是 L1。三、誰看路、誰接手？人看路是 L2；人可以不看但要接手是 L3；連接手都不用是 L4。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另外兩個常考的：L2 和 L3 的差別，是</a:t>
            </a: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出事的時候誰負責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；L4 和 L5 的差別，是</a:t>
            </a: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有沒有 ODD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。沒有方向盤，不能證明是 L5。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（老師備註：河內園區巴士、車上有安全員那一題，第一週講義答「接近 L3」，第二週和投影片答 L4，教材有兩種說法，模擬考已避開，期中考出題也請避開或先統一說法。）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讓大家記得 ODD 六格，並且會讀條件裡的單位和「至少」「不超過」。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ODD 六格，本課的定版：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道路類型、速度域、交通狀況、天候與光照、地理範圍、人的角色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。右邊是每一格的例子，大部分是第二週學習單上的。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讀 ODD 條件，有三個陷阱，第二週學習單很多人掉進去：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「至少」是下限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。照度至少 20 lx，現場量到 5 lx，比下限低，就是出了 ODD。很多人寫成「5 小於 20，沒有超過，所以符合」，方向看反了。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單位要看清楚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。mm/h 是雨下得多大，不是積水多深；能見度不等於感測器的量程。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lx 是什麼？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lx 是 lux 的縮寫，中文叫「勒克斯」，是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照度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的單位，量的是「照在這個地方的光有多少」，數字愈大愈亮。給大家幾個大約的數字：正午的太陽直射大約三萬到十萬 lx，第五週光達規格表上那個「100 klx 陽光」就是這個；陰天白天大約一千；辦公室大約三百到五百；周圍很暗的公共區域照明大約二十到五十；黃昏快結束、天快全黑的時候大約三點四；滿月的晚上只有零點幾。所以「至少 20 lx」大概是「有開燈的暗處」；現場只有 5 lx，就是天快黑、路燈又不夠亮。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第三，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開慢一點不會讓它變回符合。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條件就是條件，不符合就是不符合。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還有一點：沒有寫出來的條件，要標「尚未提供」，不能當成不受限制。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讓大家記得每一種感測器「直接量到的是什麼」，其他都是算出來的。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第三週的主線三句話：每種感測器只量得到一種東西，其他都是算出來的；量得到距離，不等於知道那是什麼；規格都有前提。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看表。前六列是第三週那張表。相機直接量的是角度和亮度，</a:t>
            </a: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它是唯一讀得出顏色和文字的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，紅綠燈、路牌都靠它；距離是算出來的。光達直接量距離，可是不知道那是什麼。雷達量距離和朝自己的速度。超音波只看近處。衛星定位量的是自己的座標，不知道前面有什麼。熱像量溫度差。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最後一列 </a:t>
            </a: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IMU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是第六週加的：它裡面有加速度計和陀螺儀，直接量的是</a:t>
            </a: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自己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加速多少、轉得多快，把這些一路加起來，推算自己走到哪裡。它最大的弱點是</a:t>
            </a: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漂移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：小小的誤差一直累加，橫向誤差跟時間的平方成正比，所以 IMU 只能補衛星定位短短的空檔，不能單獨用。注意表上有兩種感測器量的是「自己」，不是外面的東西：</a:t>
            </a: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衛星定位和 IMU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「怎麼量的」是第二週教的，要會算：</a:t>
            </a: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距離＝光速×來回時間÷2，除以 2 是因為光走了一去一回，來回 100 奈秒就是 15 公尺。</a:t>
            </a: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比較發出去和收回來的頻率差算距離，再用都卜勒量速度，但只量得到朝自己靠近或遠離的那一段，橫著開的車會量到接近 0。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有效距離那一欄是第三週課堂上設定的晴天值，不是某一顆產品的規格。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第三週還有兩個常考的數字：</a:t>
            </a: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相機估距誤差跟距離平方成正比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，距離兩倍，誤差四倍；</a:t>
            </a: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光達打在行人身上的點，距離兩倍，點數剩四分之一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，十公尺 308 點、二十公尺 77 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讓大家會讀煞停距離表，記得「比煞停距離晚看到，就一定撞」。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第四週的公式：煞停距離等於 v 乘 0.3，加上 v 平方除以 12，v 用每秒幾公尺。前面那段是反應的 0.3 秒走的路，後面那段是煞車煞到停。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時速 50，每秒 13.9 公尺：反應 4.2 公尺，煞車 16.1 公尺，加起來 20.3 公尺。射線至少要 25 公尺，乘了 1.25 的餘裕，這是本課取的，不是法規。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注意，第一週講過一個「時速 50 煞停約 30 公尺」，那是用人的反應時間 1 秒算的。兩個都對，只是假設不同：人反應慢，電腦反應快。考試題目會寫清楚用哪一個假設。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週還有幾件事：模擬和現實有三種落差，外觀、行為、物理；里程不是好的測試單位，場景才是；場景分三層：功能場景沒有數字，邏輯場景給範圍，具體場景給一個值。射線長度過了門檻就沒用，張角開太大反而攤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讓大家記得第五、六週規格表上最常考的六個數字，以及每個數字背後的前提。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第五、六週讀了好多規格表，最常考的是這六個數字。每一個都要記得它的意思，更要記得它的前提。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OS1 測距 170 和 90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：對 80% 反射率的白色目標 170 公尺，對 10% 的黑色目標只有 90 公尺。路上有黑車、深色衣服，設計要用 90。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外參差 1 度，50 公尺外差 0.87 公尺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，而且是橫向的，快半個車道。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同一塊影像感測器，鏡頭 8 mm 視野 42 度，3.6 mm 是 81 度。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視野不寫在感測器的規格表上，是鏡頭決定的。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雷達角解析度 1.6 度，150 公尺外一束 4.2 公尺寬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，比車道還寬：看得到目標，但分不出在哪一道。所以跟車的雷達要配相機。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衛星定位 2.5 m CEP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：CEP 是 50%，一半的時間在 2.5 公尺內，另一半更差，不是「最多 2.5 公尺」。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IMU 的誤差跟時間平方成正比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：時速 80、容許 0.5 公尺，工業級大約撐 34 秒，雪山隧道要 580 秒，撐不住。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讓大家會讀失效對照表：橫著看一種條件誰會壞，直著看一種感測器怕什麼。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這張是第七週第一節的表，圖表判讀很適合考它。兩種讀法。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橫著讀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，一種條件下誰會壞：大雨濃霧，相機失靈、光達變差，雷達照常。夜間，只有相機變差。隧道，衛星定位失靈、IMU 變差。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直著讀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，一種感測器怕什麼：雷達這一欄幾乎全是 ✓，可是「遠處的行人、機車」是 ✗，靜止物是 ▲。相機怕雨、怕逆光、怕被蓋住。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結論只有一句：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沒有一欄全是 ✓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，所以要融合。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第七週另外三件事：三種壞法，看不到、看錯、看不到卻說沒事，第三種最危險；融合的兩個好處，互補和備援；兩個前提，空間要標定、時間要同步。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讓大家用五句話記住第七週第二節的融合。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兩個好處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：互補，每一顆給不同的資訊，相機說是什麼、光達說多遠、雷達說多快；備援，壞了一顆還開得下去。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兩個前提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：空間要對齊，就是標定，包含內參和外參；時間要對齊，就是同步。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前期、中期、後期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：愈早合，留下的資訊愈多，但對齊要愈準。前期對到點、中期對到格、後期對到物體。後期融合要做「對應」：雷達的目標配相機的框。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聽誰的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：比較準的多相信一點。IMU 說 120（誤差 1），GPS 說 118（誤差 3）。誤差差 3 倍，信任差 9 倍：9 乘 120 加 1 乘 118，除以 10，得 119.8 公尺。這一題很適合考計算。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降級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：L2 駕駛馬上接手；L3 請駕駛接手，等幾秒，沒人接就在車道內停下；L4 沒有駕駛，自己靠邊停，叫最小風險狀態。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讓大家把最容易講錯的八句話記下來，考試看到這種選項要小心。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這八句話，都是各週教材裡特別提醒過、很多人會講錯的。可以先把右邊遮住，自己說說看哪裡錯。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一、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AEB 不是 L1，是 L0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，它只是瞬間介入。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二、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沒有方向盤不等於 L5。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L5 的意思是沒有 ODD 限制，目前不存在。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三、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94% 是事故鏈的最後一環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，不是換掉人就少 94%。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四、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測距 200 公尺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，要追問對多少反射率、偵測機率多少，不是 200 公尺內都看得到。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五、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光達會受天氣影響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，比較不怕的是雷達。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六、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雷達不是不能看人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，是看得到但抓不穩，不能單獨用。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七、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兩顆好的合起來不一定好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，沒標定、沒同步，一樣錯。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八、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分數 0.91 不是百分之九十一一定對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，是拿來排序、設門檻的。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讓大家有一套讀圖、讀表的固定步驟，考試碰到沒看過的圖也知道從哪裡下手。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圖表判讀題，最怕一看到圖就急著找答案。給大家四個步驟，像看電費單一樣：先看單位和期間，再比多少。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第一步，看標題和單位。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這張圖講的是「抓到的比例」，單位是百分比。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第二步，看軸。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橫軸是距離，每十公尺一組；縱軸是抓到的百分比。三種顏色是三種物體。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第三步，找前提條件。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圖下面那行小字：白天、看得到六成以上、門檻 0.3。換一個條件，數字就不一樣，例如晚上會更低。很多題目的陷阱就藏在條件裡，就像第五週的「對 10% 反射率」。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第四步，再比較。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綠色的車，從近到遠幾乎不掉；紅色的行人，從 82% 掉到 3%；黃色的機車更快掉。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這四步，失效對照表、煞停距離表、規格表，全部適用。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讓大家打開模擬考，知道怎麼做、做完看什麼。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請掃這個 QR，打開期中模擬考。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二十八題，第一週到第八週都有。每一題上面是越南文，下面是中文對照，跟期中考一樣。右上角有一個「English」按鈕，可以再打開英文，平常不用開。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全部做完，按最下面「交卷、看答案」。每一題會告訴你對錯，綠色是正確答案，下面有說明。最下面會列出每一週答對幾題，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有錯題的週次會變紅框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，那一週的講義回去再翻一次。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截圖最下面那一塊，傳到 LINE。考前在家可以再做一次，按「重做」就會清掉答案。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讓大家實際做一次模擬考，找出自己最弱的那一週。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（停在這一張，讓大家做大約十分鐘。）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做的時候，先不要翻講義，當成真的考試。沒有把握的題目，自己記一下，交卷後特別看那幾題的說明。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（巡堂：看大家錯在哪幾題。最後三到五分鐘，挑全班錯最多的兩三題講。根據各週教材，最容易錯的是：第 1 題 AEB 是 L0、第 6 題「至少」是下限、第 19 題 CEP 是 50%、第 23 題 119.8 的算法。）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這一節的目的回顧：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考前三件事。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把「八週地圖」看一遍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，每週一句話，八句都說得出來。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模擬考紅框的那幾週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，講義再讀一次。模擬考可以在家再做，題目不會變，可是不要背答案，要看懂說明。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圖和表照四步驟讀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：標題和單位、軸、前提條件，最後才比較。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下週四，十一月五日，上課時間考試。祝大家考試順利。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575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59000" y="-1366875"/>
            <a:ext cx="4191750" cy="419175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5875" y="2095875"/>
            <a:ext cx="2369250" cy="236925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6938" y="1202850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8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16938" y="1567350"/>
            <a:ext cx="7472250" cy="1519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3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Ôn tập giữa kỳ: tám tuần trong năm mươi phút</a:t>
            </a:r>
            <a:endParaRPr lang="en-US" sz="339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9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期中複習：八週，五十分鐘</a:t>
            </a:r>
            <a:endParaRPr lang="en-US" sz="3390" dirty="0"/>
          </a:p>
        </p:txBody>
      </p:sp>
      <p:sp>
        <p:nvSpPr>
          <p:cNvPr id="6" name="Shape 4"/>
          <p:cNvSpPr/>
          <p:nvPr/>
        </p:nvSpPr>
        <p:spPr>
          <a:xfrm>
            <a:off x="516938" y="3233138"/>
            <a:ext cx="1366875" cy="4100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6938" y="3433613"/>
            <a:ext cx="7107750" cy="610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tuần vài câu và một bảng — rồi làm đề thi thử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每週幾句話、一張表，最後做一份模擬考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16938" y="4355775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第八週 第 3 節　2026/10/29（四）11:10–12:00　CH Tseng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1138" y="309825"/>
            <a:ext cx="2205225" cy="74722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1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 giữa kỳ: những điều cần biết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期中考：要知道的四件事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7512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11/5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thứ Năm, trong giờ học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（四）上課時間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9. 19/11 nghỉ lễ trường.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第九週。11/19 校慶停課。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92324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56916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2756916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điểm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總成績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756916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Giữa kỳ, cuối kỳ mỗi kỳ 15%.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期中、期末各 15%。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1728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46320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câu hỏi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種題型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Khái niệm, và đọc biểu đồ / bảng.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概念題，和圖表判讀。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1132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35724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/ 中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6935724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 Việt là chính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越南文為主、中文對照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935724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câu có tiếng Trung đối chiếu.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每一題都附中文對照。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9502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vi: tuần 1 đến tiết 1 hôm nay.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範圍：第一週到今天第 1 節。</a:t>
            </a:r>
            <a:endParaRPr lang="en-US" sz="1250" dirty="0"/>
          </a:p>
        </p:txBody>
      </p:sp>
      <p:pic>
        <p:nvPicPr>
          <p:cNvPr id="21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Tám tuần, mỗi tuần một câu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八週地圖：每週一句話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103120"/>
                <a:gridCol w="5349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Tuần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週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Chủ đề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Một câu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一句話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Cấp SAE, ODD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分級、ODD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Cấp nói về phân công người–máy, không nói về năng lực.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等級講的是分工，不是能力。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ODD, nguyên lý cảm biến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ODD、感測器原理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«Ít nhất» là giới hạn dưới; lidar: c × thời gian đi–về ÷ 2; radar chỉ đo tốc độ hướng tâm.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「至少」是下限；光達：光速×來回時間÷2；雷達只量朝自己的速度。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Sáu loại cảm biến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六種感測器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Đo được khoảng cách ≠ biết là gì; xa gấp đôi, sai số camera gấp bốn.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量得到距離≠知道是什麼；距離兩倍，相機誤差四倍。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Mô phỏng, kịch bản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模擬器、場景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km/h dừng mất 20 m, phải thấy ≥ 25 m. Mô phỏng là cái sàng.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時速 50 煞停 20 m，至少看 25 m。模擬是篩子。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Thông số camera, lidar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相機、光達規格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Tầm đo phải hỏi độ phản xạ; lệch 1°, ở 50 m lệch 0,87 m.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測距要問反射率；差 1 度，50 m 外差 0.87 m。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Radar, siêu âm, GNSS, IMU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雷達、超音波、衛星、IMU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loại nào thắng cả năm tình huống.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沒有一種感測器五個情境都贏。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Hỏng và hợp nhất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失效與融合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 nào cũng có lúc hỏng; ghép lại, cái chuẩn hơn được tin nhiều hơn.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每一種都會壞；合起來，比較準的多相信一點。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Máy tính nhìn thấy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電腦怎麼看見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Học từ ví dụ; khung + loại + điểm; xa và tối thì sót.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從例子學；框＋類別＋分數；一遠、一暗就漏。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389746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9794" y="267664"/>
            <a:ext cx="7444411" cy="769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01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1–2: sáu cấp SAE — ai làm gì</a:t>
            </a:r>
            <a:endParaRPr lang="en-US" sz="201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3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第一、二週：六個等級，誰做什麼</a:t>
            </a:r>
            <a:endParaRPr lang="en-US" sz="201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9794" y="1037199"/>
          <a:ext cx="7444411" cy="836451"/>
        </p:xfrm>
        <a:graphic>
          <a:graphicData uri="http://schemas.openxmlformats.org/drawingml/2006/table">
            <a:tbl>
              <a:tblPr/>
              <a:tblGrid>
                <a:gridCol w="669161"/>
                <a:gridCol w="2509352"/>
                <a:gridCol w="2342062"/>
                <a:gridCol w="1923837"/>
              </a:tblGrid>
              <a:tr h="301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Cấp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等級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Hệ thống làm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系統做什麼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nhìn đường / tiếp quản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誰看路、誰接手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Ví dụ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例子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01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L0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Cảnh báo, can thiệp tức thời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警告、瞬間介入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AEB (phanh khẩn cấp)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AEB 自動緊急煞車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Liên tục một việc: hướng HOẶC tốc độ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持續做一項：方向或速度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 (bám xe)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ACC 跟車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Cả hướng VÀ tốc độ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方向和速度都做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phải nhìn đường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人要一直看路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Giữ làn + bám xe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置中＋跟車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Lái hết trong ODD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ODD 內全部自己開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không cần nhìn, nhưng phải tiếp quản khi được yêu cầu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人可以不看路，被要求時要接手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Kẹt xe trên cao tốc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高速公路塞車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Lái hết và tự xử lý khi có sự cố, trong ODD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ODD 內連接手都自己做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cần người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不需要人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Robotaxi trong khu vực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區域內的無人計程車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Mọi nơi, không giới hạn ODD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哪裡都能開，沒有 ODD 限制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cần người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不需要人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tồn tại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8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目前不存在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49794" y="4210925"/>
            <a:ext cx="7444411" cy="41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bước: tức thời hay liên tục? Một việc hay hai? Ai nhìn đường, ai tiếp quản?</a:t>
            </a:r>
            <a:endParaRPr lang="en-US" sz="1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1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判斷三步驟：瞬間還是持續？管一項還是兩項？誰看路、誰接手？</a:t>
            </a:r>
            <a:endParaRPr lang="en-US" sz="1100" dirty="0"/>
          </a:p>
        </p:txBody>
      </p:sp>
      <p:pic>
        <p:nvPicPr>
          <p:cNvPr id="6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90121" y="117103"/>
            <a:ext cx="752806" cy="234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820" dirty="0"/>
          </a:p>
        </p:txBody>
      </p:sp>
      <p:sp>
        <p:nvSpPr>
          <p:cNvPr id="8" name="Text 3"/>
          <p:cNvSpPr txBox="1"/>
          <p:nvPr/>
        </p:nvSpPr>
        <p:spPr>
          <a:xfrm>
            <a:off x="1268020" y="117103"/>
            <a:ext cx="1840192" cy="234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76726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206" y="287698"/>
            <a:ext cx="8001588" cy="82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1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1–2: sáu ô ODD và cách đọc điều kiện</a:t>
            </a:r>
            <a:endParaRPr lang="en-US" sz="216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3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第一、二週：ODD 六格，和怎麼讀條件</a:t>
            </a:r>
            <a:endParaRPr lang="en-US" sz="216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206" y="1114828"/>
          <a:ext cx="8001588" cy="899055"/>
        </p:xfrm>
        <a:graphic>
          <a:graphicData uri="http://schemas.openxmlformats.org/drawingml/2006/table">
            <a:tbl>
              <a:tblPr/>
              <a:tblGrid>
                <a:gridCol w="2337542"/>
                <a:gridCol w="5664045"/>
              </a:tblGrid>
              <a:tr h="323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Ô ODD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ODD 這一格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Ví dụ điều kiện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條件的例子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3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 đường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道路類型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Tuyến A từ cổng trường đến ký túc xá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校門到宿舍的路線 A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Dải tốc độ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速度域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0–20 km/h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0–20 km/h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Tình trạng giao thông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交通狀況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có xe máy chạy ngược chiều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沒有逆向的機車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Thời tiết và ánh sáng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天候與光照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mưa, mặt đường khô; độ rọi ít nhất 20 lx (lux)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無雨、路面乾燥；照度至少 20 lx（勒克斯）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Phạm vi địa lý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地理範圍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Trong khuôn viên trường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校園內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Vai trò của người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人的角色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 nhân viên an toàn ngồi trên xe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車上有安全員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206" y="4179623"/>
            <a:ext cx="8001588" cy="449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«Ít nhất 20 lx» là giới hạn dưới: đo được 5 lx → ra khỏi ODD. Chạy chậm lại cũng không vào lại được.</a:t>
            </a:r>
            <a:endParaRPr lang="en-US" sz="118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「至少 20 lx」是下限：現場 5 lx → 出了 ODD。開慢一點也不會變回符合。</a:t>
            </a:r>
            <a:endParaRPr lang="en-US" sz="1180" dirty="0"/>
          </a:p>
        </p:txBody>
      </p:sp>
      <p:pic>
        <p:nvPicPr>
          <p:cNvPr id="6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84613" y="125868"/>
            <a:ext cx="809149" cy="251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880" dirty="0"/>
          </a:p>
        </p:txBody>
      </p:sp>
      <p:sp>
        <p:nvSpPr>
          <p:cNvPr id="8" name="Text 3"/>
          <p:cNvSpPr txBox="1"/>
          <p:nvPr/>
        </p:nvSpPr>
        <p:spPr>
          <a:xfrm>
            <a:off x="1020734" y="125868"/>
            <a:ext cx="1977921" cy="251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607982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4024" y="253697"/>
            <a:ext cx="7055952" cy="729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91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2, 3, 6: mỗi cảm biến đo trực tiếp cái gì</a:t>
            </a:r>
            <a:endParaRPr lang="en-US" sz="191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7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第二、三、六週：每種感測器直接量到什麼</a:t>
            </a:r>
            <a:endParaRPr lang="en-US" sz="191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4024" y="983076"/>
          <a:ext cx="7055952" cy="792804"/>
        </p:xfrm>
        <a:graphic>
          <a:graphicData uri="http://schemas.openxmlformats.org/drawingml/2006/table">
            <a:tbl>
              <a:tblPr/>
              <a:tblGrid>
                <a:gridCol w="1268486"/>
                <a:gridCol w="2061289"/>
                <a:gridCol w="1664887"/>
                <a:gridCol w="2061289"/>
              </a:tblGrid>
              <a:tr h="261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Cảm biến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感測器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Đo trực tiếp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直接量到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Tầm (trời nắng, giá trị lớp học)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有效距離（晴天，課堂設定）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Điểm yếu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弱點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61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相機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Góc, độ sáng, màu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角度、亮度、顏色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m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Khoảng cách là đoán; sợ tối, mưa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距離是算的；怕暗、怕雨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光達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Khoảng cách (thời gian bay)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距離（飛行時間）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Xa thì thưa; không biết «là gì»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一遠就稀；不知道是什麼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雷達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Khoảng cách + tốc độ hướng tâm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距離＋朝自己的速度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 m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Góc thô; ít bắt người, xe máy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角度粗；抓不太到人、機車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Siêu âm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超音波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Khoảng cách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距離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 m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Chỉ gần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只看近處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GNSS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衛星定位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Toạ độ của chính mình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自己的座標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±2.5 m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biết phía trước có gì; hầm thì mất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不知道前面有什麼；隧道沒訊號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 nhiệt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熱像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Chênh lệch nhiệt độ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溫度差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 m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Độ phân giải thấp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解析度低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IMU (tuần 6)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IMU（第六週）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 tốc, tốc độ quay của chính xe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自己的加速度、轉多快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Trôi: sai số tăng theo t²</a:t>
                      </a:r>
                      <a:endParaRPr lang="en-US" sz="1040" dirty="0"/>
                    </a:p>
                    <a:p>
                      <a:pPr algn="l" indent="0" marL="0">
                        <a:buNone/>
                      </a:pPr>
                      <a:r>
                        <a:rPr lang="en-US" sz="74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會漂移：誤差跟 t² 變大</a:t>
                      </a:r>
                      <a:endParaRPr lang="en-US" sz="104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044024" y="4232748"/>
            <a:ext cx="7055952" cy="39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4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được khoảng cách ≠ biết là gì. Chỉ camera đọc được màu đèn giao thông.</a:t>
            </a:r>
            <a:endParaRPr lang="en-US" sz="104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量得到距離≠知道是什麼。只有相機讀得出紅綠燈的顏色。</a:t>
            </a:r>
            <a:endParaRPr lang="en-US" sz="1040" dirty="0"/>
          </a:p>
        </p:txBody>
      </p:sp>
      <p:pic>
        <p:nvPicPr>
          <p:cNvPr id="6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03119" y="110992"/>
            <a:ext cx="713523" cy="221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780" dirty="0"/>
          </a:p>
        </p:txBody>
      </p:sp>
      <p:sp>
        <p:nvSpPr>
          <p:cNvPr id="8" name="Text 3"/>
          <p:cNvSpPr txBox="1"/>
          <p:nvPr/>
        </p:nvSpPr>
        <p:spPr>
          <a:xfrm>
            <a:off x="1440426" y="110992"/>
            <a:ext cx="1744168" cy="221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4: quãng dừng và tầm nhìn tối thiểu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第四週：煞停距離和射線至少多長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km/h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時速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Quãng dừng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煞停距離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13.6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Tia ít nhất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射線至少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2582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Quãng dừng = v×0,3 + v²÷12 (v tính m/s; phản ứng 0,3 s, giảm tốc 6 m/s²). Đường ướt: 50 km/h cần 36,4 m.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煞停距離＝v×0.3＋v²÷12（v 用 m/s；反應 0.3 秒、減速度 6）。濕路面：時速 50 要 36.4 m。</a:t>
            </a:r>
            <a:endParaRPr lang="en-US" sz="1200" dirty="0"/>
          </a:p>
        </p:txBody>
      </p:sp>
      <p:pic>
        <p:nvPicPr>
          <p:cNvPr id="6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76726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206" y="287698"/>
            <a:ext cx="8001588" cy="82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1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5–6: sáu con số hay thi khi đọc bảng thông số</a:t>
            </a:r>
            <a:endParaRPr lang="en-US" sz="216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3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第五、六週：讀規格表最常考的六個數字</a:t>
            </a:r>
            <a:endParaRPr lang="en-US" sz="216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206" y="1114828"/>
          <a:ext cx="8001588" cy="899055"/>
        </p:xfrm>
        <a:graphic>
          <a:graphicData uri="http://schemas.openxmlformats.org/drawingml/2006/table">
            <a:tbl>
              <a:tblPr/>
              <a:tblGrid>
                <a:gridCol w="2966881"/>
                <a:gridCol w="5034707"/>
              </a:tblGrid>
              <a:tr h="323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số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數字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Ý nghĩa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意思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3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OS1: 170 m (80%) / 90 m (10%)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OS1：170 m（80%）／90 m（10%）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Tầm đo phụ thuộc độ phản xạ; thiết kế dùng 90 m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測距看反射率；設計用 90 m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Lệch 1° → 0,87 m ở 50 m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差 1° → 50 m 外差 0.87 m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Tham số ngoài phải rất chuẩn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外參要很準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Ống kính 8 mm 42°, 3,6 mm 81°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鏡頭 8 mm 42°、3.6 mm 81°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Góc nhìn do ống kính quyết định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視野由鏡頭決定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 1,6° → 4,2 m ở 150 m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雷達 1.6° → 150 m 外 4.2 m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Rộng hơn làn 3,5 m: không biết ở làn nào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比車道 3.5 m 寬：分不出哪一道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GNSS 2,5 m CEP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衛星 2.5 m CEP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 thời gian trong 2,5 m, không phải tối đa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一半時間在 2.5 m 內，不是最多 2.5 m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IMU: sai số ∝ t²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IMU：誤差跟 t² 成正比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Công nghiệp chịu ~34 s ở 80 km/h; hầm 580 s không đủ</a:t>
                      </a:r>
                      <a:endParaRPr lang="en-US" sz="1180" dirty="0"/>
                    </a:p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工業級時速 80 撐約 34 秒；隧道 580 秒撐不住</a:t>
                      </a:r>
                      <a:endParaRPr lang="en-US" sz="118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206" y="4179623"/>
            <a:ext cx="8001588" cy="449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8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con số đều có điều kiện kèm theo. Đọc bảng: hỏi «với điều kiện gì?»</a:t>
            </a:r>
            <a:endParaRPr lang="en-US" sz="118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8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每個數字都綁著前提。讀規格表，先問「在什麼條件下？」</a:t>
            </a:r>
            <a:endParaRPr lang="en-US" sz="1180" dirty="0"/>
          </a:p>
        </p:txBody>
      </p:sp>
      <p:pic>
        <p:nvPicPr>
          <p:cNvPr id="6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84613" y="125868"/>
            <a:ext cx="809149" cy="251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880" dirty="0"/>
          </a:p>
        </p:txBody>
      </p:sp>
      <p:sp>
        <p:nvSpPr>
          <p:cNvPr id="8" name="Text 3"/>
          <p:cNvSpPr txBox="1"/>
          <p:nvPr/>
        </p:nvSpPr>
        <p:spPr>
          <a:xfrm>
            <a:off x="1020734" y="125868"/>
            <a:ext cx="1977921" cy="251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552439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4590" y="257252"/>
            <a:ext cx="7154819" cy="73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93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7: bảng điều kiện hỏng</a:t>
            </a:r>
            <a:endParaRPr lang="en-US" sz="193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9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第七週：失效對照表</a:t>
            </a:r>
            <a:endParaRPr lang="en-US" sz="193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4590" y="996851"/>
          <a:ext cx="7154819" cy="803912"/>
        </p:xfrm>
        <a:graphic>
          <a:graphicData uri="http://schemas.openxmlformats.org/drawingml/2006/table">
            <a:tbl>
              <a:tblPr/>
              <a:tblGrid>
                <a:gridCol w="2492128"/>
                <a:gridCol w="763717"/>
                <a:gridCol w="763717"/>
                <a:gridCol w="763717"/>
                <a:gridCol w="763717"/>
                <a:gridCol w="763717"/>
                <a:gridCol w="763717"/>
              </a:tblGrid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Điều kiện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條件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相機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光達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雷達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Siêu âm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超音波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GNSS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衛星定位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IMU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IMU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Mưa to, sương mù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大雨、濃霧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 đêm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夜間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Ngược sáng, cửa hầm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逆光、隧道出口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 đen, kính, gương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黑車、玻璃、鏡面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Vật đứng yên, cầu trên đầu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靜止物、頭頂的橋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đi bộ, xe máy ở xa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遠處的行人、機車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Bị bùn, băng tuyết che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被泥巴、冰雪蓋住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Phố hẹp nhà cao; đường hầm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高樓窄巷；隧道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994590" y="4227194"/>
            <a:ext cx="7154819" cy="40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6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bình thường　▲ kém đi　✗ hỏng　— không liên quan. Không cột nào toàn ✓.</a:t>
            </a:r>
            <a:endParaRPr lang="en-US" sz="106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7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照常　▲ 變差　✗ 失靈　— 不相關。沒有一欄全是 ✓。</a:t>
            </a:r>
            <a:endParaRPr lang="en-US" sz="1060" dirty="0"/>
          </a:p>
        </p:txBody>
      </p:sp>
      <p:pic>
        <p:nvPicPr>
          <p:cNvPr id="6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48908" y="112548"/>
            <a:ext cx="723521" cy="225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790" dirty="0"/>
          </a:p>
        </p:txBody>
      </p:sp>
      <p:sp>
        <p:nvSpPr>
          <p:cNvPr id="8" name="Text 3"/>
          <p:cNvSpPr txBox="1"/>
          <p:nvPr/>
        </p:nvSpPr>
        <p:spPr>
          <a:xfrm>
            <a:off x="1396547" y="112548"/>
            <a:ext cx="1768607" cy="225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7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7: hợp nhất cảm biến trong năm dòng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第七週：融合，五句話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035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Chủ đề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Cần nhớ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要記住的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 lợi ích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兩個好處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Bổ sung (mỗi cái một thông tin) và dự phòng (hỏng một cái vẫn chạy)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互補（各給一塊資訊）、備援（壞一顆還開得下去）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 điều kiện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兩個前提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Căn không gian (hiệu chuẩn = tham số trong + ngoài) và thời gian (đồng bộ)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空間對齊（標定＝內參＋外參）、時間對齊（同步）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Sớm / giữa / muộn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前期／中期／後期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Ghép càng sớm, giữ càng nhiều thông tin, càng phải căn chuẩn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愈早合，留下的資訊愈多，對齊要愈準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Nghe ai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聽誰的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IMU 120 (±1), GPS 118 (±3) → (9×120+1×118)÷10 = 119,8 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IMU 120（±1）、GPS 118（±3）→ (9×120＋1×118)÷10＝119.8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Giảm cấp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降級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L2: người tiếp quản ngay. L3: nhờ người, không ai thì dừng trong làn. L4: tự tấp vào lề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L2：駕駛馬上接手。L3：請駕駛接手，沒人接就在車道內停。L4：自己靠邊停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821335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muộn: ghép mục tiêu radar với khung camera (vật với vật).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後期融合：雷達的目標配相機的框（物體對物體）。</a:t>
            </a:r>
            <a:endParaRPr lang="en-US" sz="1200" dirty="0"/>
          </a:p>
        </p:txBody>
      </p:sp>
      <p:pic>
        <p:nvPicPr>
          <p:cNvPr id="6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Tám câu hay nói sai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最常講錯的八句話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8463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Câu sai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錯的說法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Đúng là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正確的是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AEB là L1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AEB 是 L1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L0: chỉ can thiệp tức thời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L0：只是瞬間介入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có vô lăng là L5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沒有方向盤就是 L5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 là không giới hạn ODD; hiện chưa có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L5 是沒有 ODD 限制；目前不存在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 tai nạn hết nếu thay người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換掉人就少 94% 車禍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Đó là mắt xích cuối, không phải nguyên nhân duy nhất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那是事故鏈最後一環，不是唯一原因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Tầm 200 m là thấy hết trong 200 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測距 200 m 就是 200 m 內都看得到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Phải hỏi độ phản xạ, xác suất phát hiện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要問對多少反射率、偵測機率多少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không sợ thời tiết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光達不怕天氣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Mưa, sương làm lidar kém; radar mới ít sợ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雨霧會讓光達變差；比較不怕的是雷達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 không dùng để thấy người được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雷達不能用來看人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Thấy được nhưng không ổn định; không dùng một mình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看得到但抓不穩；不能單獨用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 cảm biến tốt ghép lại chắc chắn tốt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兩顆好的合起來一定好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căn chỉnh, không đồng bộ thì vẫn sai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沒標定、沒同步，一樣錯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Điểm 0,91 là đúng 91%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分數 0.91 就是 91% 一定對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Điểm dùng để xếp hạng và cắt ngưỡng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分數是拿來排序、設門檻的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biểu đồ · 圖表判讀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2748"/>
            <a:ext cx="429991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八週(10-29)/src/img/w8_rec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514246"/>
            <a:ext cx="4153606" cy="21287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707892"/>
            <a:ext cx="41536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第八週第 1 節：nuScenes mini 白天、YOLOX-s、門檻 0.3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5113726" y="914400"/>
            <a:ext cx="352735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bước: tiêu đề và đơn vị → trục → điều kiện → so sánh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四步驟：標題和單位 → 軸 → 前提條件 → 再比較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đồ này: % bắt được theo khoảng cách. Điều kiện: ban ngày, ngưỡng 0,3. Xe giảm ít nhất, người giảm nhiều nhất.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這張圖：抓到的比例對距離。條件：白天、門檻 0.3。車掉最少，行人掉最多。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342185" y="365760"/>
            <a:ext cx="3298895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70201" y="384048"/>
            <a:ext cx="3116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hoá đơn tiền điện: đơn vị, kỳ, rồi mới so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看電費單：先看單位、期間，再比多少</a:t>
            </a:r>
            <a:endParaRPr lang="en-US" sz="950" dirty="0"/>
          </a:p>
        </p:txBody>
      </p:sp>
      <p:pic>
        <p:nvPicPr>
          <p:cNvPr id="10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đề thi thử giữa kỳ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打開期中模擬考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236208" y="1133856"/>
            <a:ext cx="2404872" cy="2624328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八週(10-29)/src/img/w8_qr_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4" y="1243584"/>
            <a:ext cx="2148840" cy="2148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36208" y="3429000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mã để mở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掃 QR 打開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2920" y="1133856"/>
            <a:ext cx="5422392" cy="841248"/>
          </a:xfrm>
          <a:prstGeom prst="roundRect">
            <a:avLst>
              <a:gd name="adj" fmla="val 9783"/>
            </a:avLst>
          </a:prstGeom>
          <a:solidFill>
            <a:srgbClr val="0B1F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9224" y="1225296"/>
            <a:ext cx="5129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https://ch-neural.github.io/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MITUST-Principles-of-Self-Driving-Cars/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week8/review/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39496" y="2157984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9496" y="216712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41832" y="2121408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câu, tuần 1–8. Tiếng Việt là chính, có tiếng Trung đối chiếu (giống đề thi thật)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28 題，第一到八週。越南文為主、中文對照（跟期中考一樣）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" y="2745371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9496" y="2754515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41832" y="2708795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hết rồi bấm «Nộp bài, xem đáp án»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全部做完，按「交卷、看答案」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39496" y="3239147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9496" y="3248291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41832" y="3202571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tuần nào có khung đỏ; chụp màn hình gửi LINE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看哪一週是紅框；截圖傳 LINE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ở nhà thêm lần nữa trước ngày thi; bấm «Làm lại» để xoá đáp án.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考前在家再做一次；按「重做」清掉答案。</a:t>
            </a:r>
            <a:endParaRPr lang="en-US" sz="1200" dirty="0"/>
          </a:p>
        </p:txBody>
      </p:sp>
      <p:pic>
        <p:nvPicPr>
          <p:cNvPr id="20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 thử · 模擬考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câu trong 12 phút: tuần nào bạn sai nhiều nhất?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 分鐘 28 題：你哪一週錯得最多？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88366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9110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783080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hết trước, không tra tài liệu. Câu nào không chắc thì đánh dấu trong đầu.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先全部做完，不翻講義。沒把握的題目自己記一下。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59689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6243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496312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Nộp bài, đọc giải thích của từng câu sai. Ghi lại tuần có khung đỏ.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交卷後，每一題錯的都看說明。記下哪幾週是紅框。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16382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31012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3375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20954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Chụp phần kết quả cuối trang, gửi LINE.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截圖最下面的成績，傳 LINE。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913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đọc biểu đồ: dùng bốn bước vừa học.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圖表題：用剛剛那四個步驟。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· 小結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Trước ngày thi, làm ba việc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考前做三件事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73736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lại bảng «tám tuần, mỗi tuần một câu»; nói được tám câu đó.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看一遍「八週地圖」，八句話都說得出來。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45059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nào bị khung đỏ trong đề thử thì đọc lại tài liệu tuần đó.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模擬考紅框的那幾週，講義再讀一次。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163824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đồ, bảng: tiêu đề và đơn vị → trục → điều kiện → so sánh.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圖和表：標題和單位 → 軸 → 前提條件 → 再比較。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2026-10-23T12:34:18Z</dcterms:created>
  <dcterms:modified xsi:type="dcterms:W3CDTF">2026-10-23T12:34:18Z</dcterms:modified>
</cp:coreProperties>
</file>