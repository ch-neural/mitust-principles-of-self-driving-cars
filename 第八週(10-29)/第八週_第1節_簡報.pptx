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讓大家知道，電腦「看見」車和人，靠的是從大量例子學出來的模型；它的輸出是框、類別和分數；而且東西離得愈遠、光線愈暗，模型就愈容易漏掉，沒有把它框出來。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各位早，第八週。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前面三週，我們一直在講感測器：相機拍照片、光達打出點、雷達量速度。上週還打開了一份真的自駕車資料，看同一個瞬間每一顆各看到什麼。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可是有一件事我們一直跳過：照片拍到了，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電腦怎麼知道照片裡哪裡是車、哪裡是人？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上週觀察台上那些框，是人一個一個標上去的。真的車上路，沒有人幫它標，它要自己找出來。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今天第一節就講這件事。第二節，各位自己動手當一次「標註員」，幫電腦準備標準答案。第三節是期中複習，下週四期中考。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今天的圖，一樣全部是真的資料：照片來自上週那份 nuScenes，框是我拿一個公開的物件偵測模型，真的跑出來的結果，不是畫的。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讓大家知道這一週三節在做什麼，以及它跟前面幾週怎麼接起來。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先看這一週的安排。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前面幾週，我們把感測器一顆一顆讀完，上週看了每一種感測器在什麼情況下會失效，以及怎麼把幾種感測器的資料合起來用。感測器給的，其實只是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原料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：一張照片、一堆點、一串速度。這一週開始問：電腦拿到這些原料，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怎麼看懂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 節，就是現在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：電腦怎麼從一張照片，找出車和人。模型會給出什麼樣的答案，以及在什麼情況下，照片裡明明有車或人，模型卻沒有找到。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2 節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：電腦是從例子學的，例子要有標準答案。標準答案從哪來？是人一個一個標的。各位會用一個網頁，在真的照片上自己標一次，再跟官方的答案比。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3 節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：期中複習。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下星期四，十一月五日，期中考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，就在上課時間考。第三節我們把第一週到今天第一節的重點整理一遍，再做一份模擬考。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第十週，十一月十二日，會接著用標好的資料訓練模型。第十一週十一月十九日校慶停課，別記錯。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讓大家知道，照片對電腦來說只是一張很大的數字表，「哪裡是人」這件事，數字裡沒有直接寫。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我們看照片，一眼就知道：這裡有五個人在過馬路，右邊有一台白車。可是電腦看到的不是這樣。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左邊這張是上週看過的波士頓斑馬線，前方相機拍的。請看那個黃色的小框，很小，在一個人的肩膀附近。右邊，是把那個小框放大，裡面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八乘八，六十四個像素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。每一格寫了三個數字：R 是紅、G 是綠、B 是藍，每個都是零到兩百五十五。數字大就亮，數字小就暗；紅的數字比藍的大，那一格就偏紅棕色。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整張照片有多少個這種數字？橫的一千六百個像素，直的九百個，每個像素三個數字：一千六乘九百乘三，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四百三十二萬個數字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各位可以想成一張超大的 Excel 表，每一格都是數字。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沒有任何一格寫著「這是人」、「這是車」。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電腦要從這四百多萬個數字裡，自己找出「哪一塊數字，排起來像一個人」。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接下來兩張，先弄清楚這些數字是什麼、怎麼來的，跟顏色是什麼關係；弄清楚了，再來回答今天的問題：電腦怎麼從數字裡找出人。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在講之前，先看一支影片。這些數字是相機裡面那一塊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影像感測器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量出來的，影片會讓大家看到它的構造：每一個像素是一個很小的感光格子，光照進來變成電，電再被換成一個數字。下一張我再用中文，一步一步講一次。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影片（Branch Education，英文，可開自動翻譯字幕）：從 7:47 播到 11:18。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這一段講手機相機裡面的影像感測器。8:05 他說，相機的最後面是一大片很小的感光方格，每一格就是一個像素；8:20 說一台 1600 萬像素的相機，大約就有 1600 萬個這種格子。8:37 說每一格上面放了一個微透鏡和一片濾色片：微透鏡把光聚進來，濾色片把這一格指定成紅、綠或藍，只讓那一種顏色的光通過。8:53 說真正感光的部分叫做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光電二極體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，9:00 說它的作用很像太陽能板：吸收光，變成電。9:12 到 9:46 講原理：光子打進去，把原子裡的電子打出來，打出來的電子累積起來，就可以量得到。10:22 說要把一千六百萬格的值全部讀出來，還需要很多電路；10:35 說最常見的讀法是一列一列讀，每次只把一列送進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類比數位轉換器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；10:54 說它把累積的電子換成一個 0 到 4095 的數字，11:02 說這個數字存成 12 個位元。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請注意這裡和我們的數字不一樣：12 個位元可以記 2 的 12 次方，4096 種，所以感測器量到的原始值是 0 到 4095；存成 JPEG 的時候，才壓成每種顏色 8 個位元，0 到 255，下一張會講。影片說明欄有寫，旁白在這裡把 4095 唸成了 4096，正確的是 4095。中間 10:05 到 10:18 他比較人眼和老鷹的感光細胞數量，跟今天的主題無關，可以不用解釋。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讓大家知道照片上的數字是怎麼量出來的：光照進來先變成電，電再換算成數字；顏色是靠濾色片把紅、綠、藍分開來量，缺的顏色再用旁邊的格子補起來。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上一張那些數字，是怎麼來的？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相機裡面有一塊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影像感測器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，第五週讀過它的規格表。nuScenes 用的是 1/1.8 吋的 CMOS 感測器，照片是 1600 乘 900 個像素。可以把它想成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一大片排得整整齊齊的小水桶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，每個像素一個。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按下快門，也就是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曝光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的那一小段時間，光照進來，就像下雨，每個小水桶接光。光愈多，桶子裡接到的電就愈多；曝光結束，晶片把每一桶的電量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換算成一個數字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。光多，數字大，就是亮；光少，數字小，就是暗。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可是請注意，小水桶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只分得出接到多少光，分不出是什麼顏色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。所以如果只有這樣，拍出來就是左邊第一格：只有亮暗，像黑白照片。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那顏色怎麼來？在每一個小水桶上面，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貼一片很小的濾色片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：紅的、綠的、藍的，排成固定的花樣，最常見的是兩乘兩一組，一個紅、兩個綠、一個藍。貼了紅色濾色片的那一格，就只量得到紅光有多少。這就是中間那一格：每個像素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只有一種顏色的數字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為什麼綠色要兩個？因為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人的眼睛對綠光最敏感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，我們看到的「亮暗和細節」，大部分來自綠色。把一張彩色照片換成黑白時，常用的公式裡綠色就佔了將近六成（紅 0.30、綠 0.59、藍 0.11），左邊第一格就是這樣算的，算完四捨五入到整數。所以多放一倍的綠，照片的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清晰度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比較好、雜訊比較少。代價是紅和藍各只佔四分之一，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顏色的細節比較粗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很細的條紋邊緣可能出現假顏色；遠處很小的紅燈、煞車燈，落在上面的紅色格子比較少。車用相機有時會換成別的排列，例如把綠色換成不加濾色片的「透明格」，晚上收得到更多光，但顏色就分得沒那麼準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可是一個像素只量到一種顏色，另外兩種怎麼辦？相機的晶片會看旁邊的格子，把缺的兩個顏色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估出來補上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。補完，每個像素都有紅、綠、藍三個數字，就是右邊這一格，也就是上一張那六十四格。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最後存成 JPEG 檔的時候，每種顏色用 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 個位元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來記。8 個位元可以記 2 的 8 次方，256 種，所以數字是 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 到 255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兩件事順便記一下。第一，nuScenes 的相機是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自動曝光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：太暗就讓水桶多接一點時間，太亮就少接一點。所以同一條白線，在不同照片裡數字不一定一樣。第二，桶子有大小，光太強就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滿出來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，數字頂到 255，那一塊就變成一片白，什麼細節都沒有了，這就是過曝。第五週講的「動態範圍」，就是一張照片裡，最亮和最暗能同時量得清楚的範圍。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（說明：左邊和中間兩格是用這張照片的數字算出來的示意；中間的顏色有加亮，方便大家看清楚。）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第一支影片（CreativeLive，攝影老師 John Greengo，英文，可開自動翻譯字幕）：從 0:13 播到 1:27。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他用的就是我們剛剛的比喻：把每一個像素想成一個接雨水的水桶。0:23 他說，桶子整個接滿，相機就知道這一格是白的；0:37 說只接到一半，就是灰的；0:51 說只接到一點點，就是暗的。1:04 他說，如果把相機直接對著太陽，光多到水桶滿出來，多出來的光不會被記下來，他用的詞是 clipped，也就是我們講的過曝，數字頂到 255，那一塊只剩一片白。這一段他先不管顏色，只講從黑到白。1:27 以後他接著講 ISO 和雜訊，今天不播。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第二支影片（Computerphile，英文，可開自動翻譯字幕）：從 0:17 播到 3:25。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諾丁漢大學的老師在紙上畫：感光元件只知道「有多少光照到」，不放濾色片就只能得到黑白照片（0:40）；所以每一格前面放一片紅、綠或藍的濾色片（0:51）；2:08 有一張紅綠相間的格子動畫，就是這種排列；2:08 到 3:00 他講為什麼綠色是兩倍：眼睛對綠色最敏感，亮暗大部分從綠色來，照片看起來比較清楚。片中說的「Biofilter」是口音，指的就是 Bayer filter。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讓大家知道「用旁邊的格子補齊」實際上怎麼算：最簡單的做法就是拿旁邊同顏色的格子取平均。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上一張說，每個格子只量到一種顏色，缺的兩種用旁邊的格子補。怎麼補？最簡單的方法叫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鄰居平均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：缺什麼顏色，就找旁邊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同一種顏色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的格子，取平均。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看第一格，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紅格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。中間那一格貼的是紅色濾色片，自己量到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R 40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，這個直接用。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它缺綠色。看看周圍：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上下左右四個都是綠格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，41、45、48、36。四個加起來除以 4，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42.5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，這就是它的 G。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它也缺藍色。藍格在哪裡？在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四個斜角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：48、33、50、37，平均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42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，這就是它的 B。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所以這一格是 R 40、G 42、B 42。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第二格，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綠格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，而且它在有紅色的那一列。自己量到 G 36。紅色在它的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左右兩邊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：40 和 60，平均 50；藍色在它的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上下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：33 和 37，平均 35。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第三格，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藍格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，跟紅格剛好相反：綠色一樣是上下左右四個，紅色在四個斜角。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這樣一格一格做完，一百四十四萬個格子，每一格都有三個數字了。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照片最外面那一圈的格子，怎麼補？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有同學可能會問：如果這一格在照片的最左邊或最上面，旁邊根本沒有格子，要怎麼平均？先說明，圖上這 8 乘 8 是從照片中間切出來的，最外面那一圈在照片上其實都還有鄰居，只是沒有畫出來；所以我示範的三格都挑在裡面，周圍八格都看得到。真的碰到照片的邊，有四種做法。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第一種最直覺：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缺的格子不算，用剩下的平均。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例如照片最左上角的紅格，上面和左邊都沒有格子，綠色就只用右邊和下面那兩個綠格平均；藍色本來要用四個斜角，現在只剩右下角一個，就直接用它。第二種是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照鏡子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假裝照片外面還有一圈格子，數字照抄裡面對稱位置的那一格，例如左邊外面那一格，就抄右邊那一格。濾色片的排列是每兩格重複一次，所以照過來的顏色剛好對得上，程式就不必分「邊上」和「中間」兩種算的方式。在角落那一格，照鏡子算出來的結果和第一種完全一樣；在邊上其他格子，因為裡面那一格被算了兩次，結果會有一點點不同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第三種是真的相機常用的：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感光晶片本來就做得比照片大一圈。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晶片四周多做幾排像素，用來幫忙補顏色，存檔的照片不包含它們，所以照片最外面那一格，在晶片上旁邊其實還有鄰居。規格表上常會同時寫「總像素」和「有效像素」，兩個數字不一樣，有一部分就是這一圈。第四種最簡單：把最外面一兩圈切掉不要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不管用哪一種，受影響的只有最外面一兩圈。一千六乘九百的照片，最外面一圈大約五千個格子，只佔全部的千分之三點五左右，而且照片的邊上常常是車身或天空，對找車、找人幾乎沒有影響。nuScenes 的相機用的是哪一種做法，論文沒有寫。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最下面兩行，請比一比「算出」和「相機存的」：差了幾個數。原因有兩個。第一，這張圖每格那一個顏色的數字，是我從已經存好的 JPEG 拿回來的，只是示範，不是相機真正量到的原始值。第二，真的相機不會用這麼簡單的平均：它會先看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上下差得多、還是左右差得多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，順著變化比較小的方向去平均，以免把邊緣兩邊的顏色混在一起；補完以後，還要調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白平衡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（讓白色看起來是白的）、調顏色、調亮度曲線，最後壓縮成 JPEG。每一家相機的做法都不一樣，而且多半不公開。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最簡單的平均有一個毛病：碰到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邊緣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，例如白色斑馬線旁邊就是黑色柏油，平均的時候會把兩邊混在一起，邊緣就冒出一圈原本沒有的顏色，叫做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假色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。這就是上一張講的，紅和藍格子比較少的代價。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影片（同一支 Computerphile）：從 3:02 播到 5:46。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3:02 他說缺的顏色就看旁邊同顏色的格子取中間值，跟這張的鄰居平均一樣；3:25 說這一步叫 demosaicing（去馬賽克）；4:22 開始在紙上寫四個鄰居 200、200、200、50，問中間那格該是多少：直接平均，還是看出那是一條邊、應該是 200，這就是我說的「真的相機會看邊的方向」；5:20 給兩張黑白放射狀的圖，示範補錯時會出現的怪紋路。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讓大家會從三個數字讀出顏色，並且知道同一個東西在不同光線下，數字差很多。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三個數字怎麼變成一個顏色？想像三支手電筒，紅、綠、藍，照在同一面白牆上。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看上排。只開紅的，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R 255、G 0、B 0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，牆就是紅色。只開綠的就是綠，只開藍的就是藍。紅和綠一起開，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黃色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。三支都開到最亮，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白色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。三支一樣亮、但都只開一半，128，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灰色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。三支都關掉，全部是 0，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黑色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所以讀數字只要問兩件事：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數字大不大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，大就亮、小就暗；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哪一個最大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，就偏哪個顏色；三個差不多，就是灰、白或黑。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補充：如果拿顏料來調，為什麼結果跟光不一樣？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有同學可能會問：小時候畫畫，紅色加綠色調出來是咖啡色，不是黃色；所有顏料混在一起是黑色，不是白色。為什麼跟手電筒不一樣？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因為光和顏料做的事情剛好相反。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手電筒自己會發光。每多開一支，牆上就多一份光，所以光是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愈混愈亮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，三支都開就是白色。這叫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加法混色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顏料自己不會發光。我們看得到顏料的顏色，是因為白光照到它。白光裡面紅、綠、藍都有，顏料把其中一部分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吃掉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，把剩下的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反射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到我們的眼睛裡。黃色的顏料把藍光吃掉，反射紅光和綠光，紅加綠，看起來就是黃色。青色的顏料，就是偏藍的綠色，它把紅光吃掉，反射綠光和藍光。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把黃色和青色的顏料混在一起，兩種顏料都在吃：黃色吃掉藍光，青色吃掉紅光，最後只剩下綠光沒有被吃掉，所以調出來是綠色。每多加一種顏料，被吃掉的顏色就多一些，反射回來的光就愈少，所以顏料是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愈混愈暗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。全部混在一起，幾乎所有的光都被吃掉，就變成很深的咖啡色，接近黑色。這叫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減法混色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（下面這一段用數字算一次，時間不夠可以跳過。）假設黃色顏料會留下 90% 的紅光、90% 的綠光、10% 的藍光；青色顏料會留下 10% 的紅光、90% 的綠光、90% 的藍光。這些比例是為了好算而假設的。兩種顏料混在一起，光要兩種顏料都通過才回得來，所以要相乘：紅光剩下 90% 乘 10%，等於 9%；綠光剩下 90% 乘 90%，等於 81%；藍光剩下 10% 乘 90%，等於 9%。只有綠光留下比較多，所以是綠色。光是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相加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，愈加愈多；顏料比較像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相乘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，每一層只留下一部分，乘下去只會愈來愈少。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生活中兩種做法都看得到。印表機的墨水不是紅、綠、藍，而是青、洋紅、黃三種顏色，再加一個黑色。因為紙本身不會發光，印表機只能用墨水把光吃掉；三種顏色的墨水混起來，只會變成深咖啡色，不是真正的黑色，所以要另外放一個黑色，也比較省墨水。手機螢幕和相機的感光元件，處理的都是光：螢幕是發出多少光，感光元件是收到多少光，所以都用紅、綠、藍，都是加法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最後接回第 4 張。濾色片其實也是減法：紅色的濾色片不是把紅色加上去，而是把綠光和藍光擋掉，只讓紅光通過。如果把一片紅色的濾色片和一片綠色的濾色片疊在一起，紅色那片擋掉綠光和藍光，綠色那片擋掉紅光，最後什麼光都過不去，就是一片黑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再看下排，全部是照片上真的點，五乘五個像素取平均。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1，紅褲子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：R 123，G 80，B 67。紅的最大，所以看起來偏紅；可是三個都不小，所以是暗暗的紅棕色，不是鮮紅。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2，白色斑馬線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：138、135、128，三個差不多，所以是灰白色。可是只有 138，不是 255！因為那天陰天，相機的自動曝光把整張調暗了。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3，柏油路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：74 左右，三個一樣，灰色，比斑馬線暗。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4，陰影裡的衣服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：只有 20 上下，幾乎是黑的。這個人的衣服在影子裡，跟背景的數字很接近，電腦要找出他就比較難。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5，晚上的路面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：86、86、63，藍色那個特別小，所以偏黃。不是路面是黃的，是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路燈的光是黃的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6，晚上的路燈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：220 以上，接近 255，快要滿出來了。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這一張最重要的一句話：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同一種東西，換一個光線，數字就差很多。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白線可以是 138，也可以是 255；衣服可以是 120，在影子裡就剩 20。所以電腦不能用「多少到多少是人」這種規則去找，下一張就講這件事。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讓大家知道，「車長什麼樣子」寫不成規則，所以現在的做法是用很多例子讓電腦自己學。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第一個想法：那就寫規則吧。「車子就是四個輪子、一塊長方形的車身」。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看上排這六台車，全部是 nuScenes 裡真的裁下來的。第一台從後面看，看不到四個輪子。第三台是晚上，只剩兩個車燈。第四台被前面的東西擋掉一半，標註上寫它只看得到四到六成。第五台在四十公尺外，很小。每加一種情況，規則就要多寫一條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永遠寫不完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下排是人。有的正面、有的側面；有的撐傘；有的被擋一半；三十三公尺那個人，整個人在照片上只有幾十個像素。「人有兩隻手兩隻腳」這條規則，一半以上的照片都用不上。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那小朋友是怎麼學會認車的？爸媽不會給他一本規則手冊。是走在路上，指給他看：「這是車」「那也是車」「那是機車，不是車」。看了幾百台以後，他自己就會認了，連沒看過的車款也認得出來。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現在的電腦就是這樣學的：給它很多張照片，每張都告訴它答案，讓它自己找出規律。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這種做法統稱「機器學習」。可是「讓電腦自己學」，到底讓它學多少？這裡分成兩種，一種叫傳統的機器學習，一種叫深度學習。下一張把三種做法排在一起比。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讓大家分清楚寫規則、機器學習、深度學習三種做法，最關鍵的差別是「看什麼」由誰決定。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這張表要直著讀，一欄一種做法。但最重要的是先橫著讀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第一列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要認出一個東西，其實有兩個問題。第一個問題：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看什麼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？也就是要觀察照片的哪一種性質，專業的說法叫「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特徵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」。例如框是瘦高還是矮寬、顏色偏紅還是偏綠、邊緣是直的還是彎的。第二個問題：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怎麼判斷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？看完以後，多少以上算人、多少以下不算。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寫規則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：兩個問題都由人回答。人決定看「高除以寬」，人也決定「大於 1 就是人」。電腦只是照做，完全不用資料。好處是容易看懂，出錯的時候也容易查出是哪一條規則有問題；壞處就是上一張講的，情況一多，規則寫不完。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傳統的機器學習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：第一個問題「看什麼」還是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人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決定，第二個問題「怎麼判斷」交給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電腦從例子學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。例如人說「看高除以寬」，電腦拿幾百個標好答案的例子，自己算出門檻應該放在 1.03。下一張就用真的資料做一次。很有名的例子是 2005 年的行人偵測：人設計一種特徵，統計照片裡每一小塊的邊緣朝哪個方向（叫 HOG），再讓電腦學怎麼用這些統計分出人。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深度學習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：連第一個問題「看什麼」都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交給電腦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。給它的就是原始的像素，四百多萬個數字，它自己從例子裡學出要看什麼。這一節後面會一直用到一個深度學習的模型，叫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YOLOX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。它是專門找物體的模型，2021 年由一家中國的 AI 公司（曠視，Megvii）公開，任何人都可以免費下載使用。我把它下載下來，在上週那份 nuScenes 資料的四百零四張前方照片上全部跑過一次，後面投影片上的框、分數和統計，都是它真的跑出來的。YOLOX 裡面大約有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九百萬個數字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，全部是學出來的，沒有一個是人填的。它是用一套叫 COCO 的照片集訓練的，大約十二萬張、八十種東西，每一張都有人標好框。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所以三者的差別，一句話：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寫規則，人決定看什麼也決定怎麼判斷；機器學習，人決定看什麼，電腦學怎麼判斷；深度學習，看什麼和怎麼判斷，兩個都是電腦自己學。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代價也跟著變：愈往右邊的做法，需要的資料愈多，電腦的運算能力也要愈強；而且愈往右，人愈難知道模型為什麼會這樣判斷。今天自駕車看照片、看點雲，主流都是深度學習。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用真的資料做一次傳統機器學習，讓大家看到「人選特徵、電腦學門檻」是什麼意思，以及這種做法的限制在哪裡。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我們來當一次傳統機器學習的工程師。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第一步，人選特徵。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我決定只看一個東西：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框的高度除以寬度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。人站著是瘦高的，這個數字應該大；汽車是矮寬的，這個數字應該小。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第二步，讓電腦從例子學門檻。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我從 nuScenes 拿出標好答案的框，大人和汽車，都是看得清楚、沒有被切到的。左邊這張圖，橫軸就是高除以寬，綠色是汽車，大多在 0.3 到 0.9；紅色是大人，大多在 1.5 到 2.5。電腦把門檻從 0.5 試到 3，看放在哪裡分得最準，結果放在 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1.03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，就是那條虛線。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第三步，考試。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我故意只拿一半的場景給它學，627 個例子；另一半的 407 個它沒看過，拿來考。結果 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407 個全部分對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看起來很厲害。可是看右邊。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同一條門檻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，碰到別的東西：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機車和腳踏車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，有人騎的時候也是瘦高的，橘色那一堆一半在虛線右邊，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51% 被當成人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被畫面邊切掉一半的汽車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，只剩車頭或車尾，框也變瘦高了，灰色那一堆有 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44% 被當成人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問題出在哪？不是電腦學錯，門檻已經是最好的了。問題在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人選的特徵不夠用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：光看高除以寬，本來就分不出機車和人。那就要再想更多特徵：顏色、輪子的形狀、邊緣的方向……可是人想得到的特徵永遠有限，而且每多一種東西要分，就要再想新的。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這就是深度學習要解決的事：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特徵也讓電腦自己學。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「學」是什麼意思：模型先猜一個答案，再拿去對標準答案，然後把裡面的數字改一點點，這樣重複很多次。機器學習和深度學習都是這樣學的，差別只在第三步要改的數字有幾個；而對答案用的標準答案，要先有人標好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那「讓電腦自己學」，到底怎麼學？先講清楚一件事：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這一張講的學法，機器學習和深度學習都一樣。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兩種做法都是四個步驟，跟各位準備考試很像。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第一步，猜。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模型先猜一個答案。用第 9 張的機器學習來說，給它一個框，它算出高除以寬，猜這個框是人還是車。用深度學習的 YOLOX 來說，丟一整張照片進去，它猜「這裡有一個人，框在這裡」。一開始模型什麼都不會，猜得亂七八糟。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第二步，對答案。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答案事先已經有人標好了：這個框是人還是車、照片裡人在哪裡、車在哪裡。拿模型猜的去比標準答案，看差多少：類別錯了沒有、框偏了多少、有沒有漏掉。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第三步，改一點點。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兩種做法不一樣的地方，就在這一步：要改的數字有幾個。第 9 張的機器學習，要改的數字只有一個，就是門檻；「看高除以寬」是人選好的，電腦不會去改它。深度學習的 YOLOX，裡面有大約九百萬個數字，可以想成九百萬個小旋鈕，第 12 張要看的那些濾鏡也在裡面，所以連「看什麼」都會一起被改。電腦會算出每個旋鈕往哪邊轉一點點，下次的錯就會少一點。注意是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一點點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，不是一次改到對。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這裡要說明一下第 9 張。第 9 張的門檻 1.03，其實不是用這四步一點一點改出來的：那時候我讓電腦把門檻從 0.5 一路試到 3，每一個都試過，挑分得最準的那一個。門檻只有一個數字，全部試一遍很快。可是 YOLOX 有九百萬個數字，不可能把每一種組合都試一遍，只能用這四步一點一點改。下一張，我用同一批例子、同一個門檻，改用一點一點改的方法再學一次，結果停在 1.17，一樣全部分對。為什麼每次只改一點點，下一張用動畫示範。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第四步，重複。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換下一個例子，再猜、再對、再改。幾萬個例子，一輪又一輪。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就像寫考古題：寫完對答案，錯的地方記一下，下一份再寫。寫夠多份，碰到沒看過的題目也會寫。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這裡有一個關鍵：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第二步的標準答案，從哪裡來？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是人標的。上週觀察台上那些框，nuScenes 請人一個一個標了一百四十萬個。沒有標準答案，就沒辦法對答案，模型就學不起來。第二節各位自己當一次標註員。訓練的細節，第十週再講。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讓大家知道為什麼每次只改一點點：電腦算得出往哪個方向改比較好，但是算不出要改多少；一次改太多，會越過最好的位置，而且會把從別的照片學到的東西弄壞。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上一張說「改一點點」，為什麼不一次改到對？有兩個理由。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第一個理由：電腦只知道方向，不知道距離。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想像大霧裡下山，看不到山谷在哪裡，只摸得到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腳下是往哪邊斜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最安全的做法是：往下坡的方向走一小步，停下來再摸一次，再走一小步。如果你一看到往下，就往那個方向大跳一百公尺，很可能直接跳過山谷，落在對面的山坡上。電腦學東西就是這樣。對完答案，它算得出「門檻往小一點，錯會變少」，這是方向；可是它不知道要往小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多少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。每次走多大一步，是人事先設定的，這個數字叫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學習率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看這個動畫，數字是真的。我拿第 9 張那 627 個例子算了一條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山谷曲線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：橫軸是門檻放在哪裡；縱軸是門檻放在那裡的時候，模型「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錯得有多嚴重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」的分數。這個分數不是數分錯幾個：分錯的例子扣很多分，分對了但是沒什麼把握的例子也扣一點分。分數愈低愈好，谷底就是最好的門檻。中間那條淺綠色的帶，是分得對的範圍：汽車最高到 1.02，大人最低 1.25，門檻放在中間就全部分對。黃色的球是電腦目前的門檻，從 2.6 出發，每一次修改，就往下坡走「步伐乘以斜度」那麼遠。前八步會放慢：每一步跳之前，球腳下先出現一小段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黃色斜線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，那就是電腦算出來的斜度；下面再出現一個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箭頭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，標出這一步要跳多遠。三格只差在步伐，也就是學習率。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中間，步伐剛好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：第一步從 2.6 跳到 1.99，第二步 1.60，第三步 1.41，第四步 1.31……請看下面的箭頭，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一次比一次短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。因為愈靠近谷底，坡愈平，斜度愈小，「步伐乘以斜度」自然就愈小，球會自己放慢。第六步走進淺綠帶，最後停在 1.17，全部分對。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左邊，步伐太小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：方向是對的，球一小步一小步往下滾，改了 30 次才到 1.32，還差一點才進淺綠帶。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右邊，步伐太大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：第一步就從 2.6 跳到負 2.5。方向是對的，可是一步跳太遠，跳過谷底，落到對面的山坡上，分數反而從 1.67 變成 5.42，比出發點高很多；下一步又跳回 2，再跳到負 1……一直在山谷兩邊跳來跳去，改了 30 次只分對一半。就像洗澡調水溫：太冷，水龍頭一下轉到底，變太燙；再一下轉回去，又太冷。慢慢轉一點點，等一下，再轉一點點，才調得到剛好。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這裡學出來是 1.17，第 9 張是 1.03，為什麼不一樣？在淺綠帶裡面，門檻放在哪裡都是分錯 0 個。第 9 張是數「分錯幾個」，整條淺綠帶都一樣好，第 9 張的做法挑到的是 1.03。這一張看的是「錯得有多嚴重」的分數，它在淺綠帶裡面還有高低：1.03 是 0.128，1.17 是 0.114，最低。因為 1.17 在淺綠帶的中間，離汽車最高的 1.02 和大人最低的 1.25 都最遠，最保險。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第二個理由：每次只看到一部分照片。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的訓練深度學習，照片有好幾萬張，電腦沒辦法每改一次就看完全部，通常一次只看幾張到幾十張。如果每看幾張就大改，模型會變成「只記得剛剛那幾張」，前面從其他照片學到的就被蓋掉了。就像準備考試，不能因為剛剛那一題錯了，就把整本筆記改掉；每一題錯了，筆記只修一點點，寫夠多題，筆記才會對所有題目都好用。YOLOX 有九百萬個小旋鈕，每個都要這樣一點一點調，所以訓練要跑很多輪、要很強的電腦。第十週訓練模型的時候，各位會親眼看到學習率這個設定。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這一張講的東西，都有正式的名字。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第十週訓練模型的時候會一直碰到，先記下來。第一個，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損失函數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，英文是 loss function。它是一條計算規則：給它一個門檻，它算出一個分數，表示模型「錯得有多嚴重」，分數愈小愈好。把門檻從負 3 到 4 一個一個代進去，把算出來的分數連起來，畫出來的就是動畫裡那條山谷曲線。所以山谷曲線是損失函數畫出來的樣子，谷底就是錯得最少的地方。損失函數為什麼不直接數「分錯幾個」？用射飛鏢來想。如果只記「有沒有射中紅心」，差一點點和差很多都算沒中，射手不知道要往哪邊修正；如果量「離紅心幾公分」，每一鏢都告訴他偏了多少、往哪邊偏，他就可以一點一點修。剛剛說的淺綠帶也是這樣：分錯的個數一直是 0，只數分錯幾個，球就摸不到斜坡。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第二個，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梯度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，英文是 gradient。就是球腳下那一段黃色斜線：曲線在這一點有多斜、往哪一邊斜。電腦對完答案以後算出來的，就是梯度。有同學可能會想：曲線畫在平面上，反正一定是往下走，為什麼還要算梯度？因為電腦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看不到這張圖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。這張圖是我把三百個門檻一個一個代進去算出來的；YOLOX 有九百萬個數字，根本畫不出來。電腦只摸得到自己腳下，梯度告訴它下坡在哪一邊：球在 2.6 的時候，斜度是正 2.03，右邊高、左邊低，所以往左走；如果球在 0，斜度是負 1.57，左邊高、右邊低，就要往右走；走到 1.17，斜度幾乎是 0，就停下來。影片如果多播到 7:46，他會說「負梯度是函數下降最快的方向」，意思是這樣：梯度指的是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往上最陡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的方向，前面加一個負號倒過來，就是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往下最陡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的方向。就像下雨的時候，雨水會自己沿著最陡的路往下流。只有一個門檻的時候，只能往左或往右，看不出「最快」的意思；有兩個以上的數字，可以走的方向有很多個，這句話才有意義。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（下面這一段用數字算一次，時間不夠可以跳過。）假設有兩個旋鈕，A 的斜度是 4，B 的斜度是 8，這一步總共只能走 0.1 那麼遠：只轉 A，分數降 0.39；只轉 B，降 0.76；照斜度的比例，讓 B 轉得比 A 多一倍，降 0.86，降得最多。這個方向就是負梯度。YOLOX 的負梯度，就是一張九百萬個數字的清單，告訴每一個旋鈕往哪邊轉、轉多少。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第三個，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梯度下降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，英文是 gradient descent，就是整個動畫在做的事：照著梯度往下坡走一小步，再算一次梯度，再走一小步，一直走到谷底。所以把這一張換成正式的說法，就是：電腦用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梯度下降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，照著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梯度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一步一步走，讓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損失函數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愈來愈小；每一步走多大，由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學習率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決定。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影片（3Blue1Brown，英文，可開自動翻譯字幕）：從 5:12 播到 6:54。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5:51 他說，看你站的地方斜率是正還是負，就往下坡那邊走一步；6:19 用的就是球滾下山的比喻；6:23 提醒，從不同的地方出發，可能停在不同的谷；6:42 說步伐跟斜率成正比，快到谷底的時候，步伐會自己變小。時間夠的話，可以多播到 8:53：6:55 他換成兩個輸入的立體地形，8:27 說同樣的做法可以用在一萬三千個數字上。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讓大家知道深度學習自己學出來的第一層長什麼樣子，以及為什麼它們看起來不像車：它們是最小的「筆畫」，不是車的零件。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上一張說，深度學習連「看什麼」都自己學。學出來的東西長什麼樣子？這張是真的，從 YOLOX 的模型檔案裡直接拿出來的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32 個小濾鏡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，每一個是一組 6 乘 6 的數字，畫成一個小方塊。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各位第一眼一定會想：這些看起來一點都不像車，也不像人。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對，它們本來就不是。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用寫中文字來想。「車」這個字，是由橫、豎、點、折這些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筆畫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組成的。筆畫本身一點都不像車，可是把幾個筆畫照固定的方式拼起來，就變成「車」；同樣的筆畫換一種拼法，又變成「人」、「路」。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 32 個濾鏡，就是照片的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筆畫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。看它們長什麼樣子：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有的是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一整塊顏色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，例如第 18 個，一塊紅；第 26 個，一塊綠。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有的是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亮暗交界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，例如第 21 個，左邊暗、右邊亮，這是一條直的邊；第 10 個，上面暗、下面亮，這是一條橫的邊。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有的是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中間一個小點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，例如第 5 個、第 27 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車子是什麼？是好幾條直邊、橫邊，加上一塊一塊的顏色，照固定的方式拼在一起；人也是。所以第一層只負責找這些最小的筆畫，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後面的層再把筆畫拼成零件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（輪子、車窗、腿），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再拼成整台車、整個人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，第 14 張會看到。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而且，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 32 個筆畫沒有一個是人畫的。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一開始全部是亂數，在「猜、對答案、改一點點」的過程中，慢慢被調成這個樣子。電腦自己發現：要認車、認人，先找顏色、找邊，是有用的。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這些濾鏡到底怎麼用？黃框圈起來的三個，下一張實際放到照片上給大家看。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讓大家看懂濾鏡的用途：它在照片上每一個位置問同一個小問題，答案畫出來，就是一張「哪裡有這種筆畫」的地圖。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濾鏡怎麼用？很像拿一張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小小的透明卡片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，在照片上從左到右、從上到下，一格一格移過去。每移到一個地方，就比一比：「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這一小塊，像不像我？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」像，那個位置就亮；不像，就暗。整張照片比完，就得到一張新的圖。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看三個真的例子，同一張斑馬線照片。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左邊，第 18 個，紅色濾鏡。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它問：「這一小塊紅不紅？」下面是它真的算出來的結果：最右邊那個人的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紅褲子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最亮，其他偏紅、偏橘的地方也亮一點；灰色的路、天空，都是暗的。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中間，第 21 個，直邊濾鏡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，左邊暗、右邊亮。它問：「這裡是不是左暗右亮？」結果：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人的腿、路燈桿、建築物的直線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亮起來，因為那些地方剛好是一邊暗一邊亮。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右邊，第 10 個，橫邊濾鏡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，上面暗、下面亮。結果：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斑馬線的橫線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、人行道的邊亮起來。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所以一個濾鏡，就是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一個很小的問題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；三十二個濾鏡，就是在照片上同時問三十二個小問題，得到三十二張「哪裡有這種筆畫」的地圖。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些地圖本身還不知道哪裡是人。可是請想一下：「這裡有兩條直的邊、下面有橫的邊、中間有一塊紅」，把這些答案再交給下一層去組合，就可能是「一條穿紅褲子的腿」。下一層再組合，就變成「一個人」。這就是下一張要看的：一層一層組起來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（說明：這三個是我從 32 個裡挑的，挑法是看它們的反應和照片的「紅的程度」「往右變亮」「往下變亮」最一致，相關係數分別是 0.83、0.89、0.84。其他濾鏡也各問各的問題。）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讓大家看到模型真的是一層一層組起來的：前面的層看邊；後面的層把前一層的結果組起來，看到的範圍愈來愈大，最後才認得出人。這一張後面兩張圖，是我刻意挑出來看「人」的。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前兩張看的是第一層的濾鏡，和它們各自的反應。這一張把斑馬線那張照片送進去，看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再往後的層真的算出來的結果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。亮的地方，就是那一層「有反應」的地方。YOLOX 從照片走到最後的答案，最多要經過五十五層。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最左邊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是原本的照片。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 層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：整張照片變成線條。斑馬線、人行道的邊、建築物的輪廓都亮起來。這就是第 13 張那種「找邊」的濾鏡算出來的。第 1 層看的是照片的像素。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那後面的層看什麼？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從第 2 層開始，看的就不是照片了，而是前一層交出來的那一疊地圖。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 層有 32 個濾鏡，就交出 32 張「哪裡有這種筆畫」的地圖。第 2 層的每一個濾鏡，同時看這 32 張地圖的同一小塊，問的是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組合題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：例如「這裡有直的邊，右邊又有橫的邊嗎？」兩個都有，就是一個角。很多直邊和橫邊重複排在一起，就是格子紋。就像寫字，先有筆畫，筆畫組成部首，部首再組成字。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而且每隔幾層，地圖就縮小一半，所以每一格管的範圍愈來愈大。第 1 層的一格，大約是原來照片的五乘五個像素；第 6 層的一格，大約是十乘十個像素；第 49 層的一格，大約是四十乘四十個像素，一格就蓋住半個人。所以愈後面的層，看到的範圍愈大，才回答得了「這裡是不是一個人」這種大問題。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6 層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邊組成了紋理和輪廓。請看左邊牆上的格子、建築物、路面，還有人的輪廓都亮起來。要注意，這一張雖然是我用「在人身上最亮」的標準挑出來的，可是它對車子、牆壁的反應一樣強，牆上有些地方甚至比人還亮。也就是說，到第 6 層，模型還分不出人和其他東西。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49 層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：畫面變成一格一格的大方塊。可是請看，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斑馬線上那幾個行人的位置亮起來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，其他地方幾乎全暗。我量過：人身上最亮的地方大約是 3.5 到 4，右邊那台車只有 0.5，背景最亮也不到 1。這一層已經不是在看邊了，它在看「這裡是不是一個人」。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所以「一層一層」不是比喻，是真的：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前面的層看簡單的東西，後面的層把前面的結果組起來，看愈來愈完整的東西。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49 層的結果再交給偵測的部分，就變成下一張的框、類別和分數。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要說明一下怎麼挑的：每一層有幾十到一百多個通道，每個通道各看一種東西，不可能全部放上來。第 1 層，我從 32 個通道裡挑變化最大的一個；第 6 層和第 49 層，我分別從 64 個和 128 個通道裡，挑「在行人身上比背景亮最多」的那一個。所以這一頁是刻意挑出來看「人」的。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「只有人亮」不是因為我設定模型只找人。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這個模型是用一套叫 COCO 的照片集訓練的，學了八十種東西，跑一張照片就同時找全部八十種，下一張就會看到，同一張照片裡也框出了車和卡車。只有人亮，是因為我從 128 個通道裡，挑了專門對人有反應的那一個；換一個通道，畫面就完全不一樣。這個看人的通道也不是人設定的，是訓練的時候，在「猜、對答案、改一點點」的過程中自己長出來的：COCO 的照片裡，人是最常出現的東西，有一個專門對人有反應的通道，最能讓錯誤變少。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其他通道在看什麼？每個通道各自看不同的東西。我也試著找一個只對車亮的通道，在這張照片裡沒有找到：對車反應最強的通道，對人或背景也差不多亮。模型最後確實把那台車框出來了，可是它在中間的層怎麼表示「車」，從單一個通道看不出來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影片（3Blue1Brown 第一集，英文）：從 5:32 播到 8:39。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他用手寫數字當例子講「我們希望中間的層在做什麼」：9 是上面一個圈加右邊一條線（5:49）；圈又可以拆成好幾小段邊（6:53）；所以希望第二層找小段的邊、第三層把邊組成圈和直線、最後一層組成數字（7:15）。要誠實補充一句：他在第二集 14:01 說，那個很簡單的網路實際學出來的並不像邊，看起來幾乎是亂的；而我們用的 YOLOX 是專門看圖的「卷積網路」，第 12 張那 32 個濾鏡就真的學出了顏色和邊。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讓大家會讀物件偵測的輸出：每個框有三樣東西，框、類別、分數。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上一張最後一層之後，再接上偵測的那一層，就得到這張：YOLOX 在斑馬線那張照片上真的跑出來的結果。這種工作叫</a:t>
            </a: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物件偵測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，它對每一個找到的東西，給三樣資訊。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第一，框。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一個長方形，告訴你東西在照片的哪裡。注意，這是照片上的框，只知道在照片的左邊還是右邊、上面還是下面，</a:t>
            </a: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不知道它離車子幾公尺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。這一點等一下會再回來。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第二，類別。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是人、是車、是卡車。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第三，分數。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零到一之間。「人 0.91」，意思是模型對「這裡有一個人」很有把握。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看遠處那台「卡車 0.52」，它其實是一台公車，官方標註寫的是公車。類別錯了，分數也比較低。模型沒把握的時候，分數就低。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有一個常見的誤會：</a:t>
            </a: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0.91 不等於「百分之九十一一定對」。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它比較像考試的時候，答案旁邊自己寫「我有幾分把握」，有人寫九分的也會錯。這個分數真正的用途，是拿來排序、拿來切一刀：低於某個分數的框就不要了。這一刀叫</a:t>
            </a: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門檻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，下下張會看到，門檻切在哪裡，影響非常大。
</a:t>
            </a:r>
          </a:p>
          <a:p>
            <a:pPr algn="l">
              <a:spcBef>
                <a:spcPts val="0"/>
              </a:spcBef>
              <a:spcAft>
                <a:spcPts val="217"/>
              </a:spcAft>
            </a:pPr>
            <a:r>
              <a:rPr sz="13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影片（TED，YOLO 的作者 Joseph Redmon，英文，可開字幕）：從 0:12 播到 4:30。</a:t>
            </a:r>
            <a:r>
              <a:rPr sz="13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他先用分類：電腦說得出照片裡是哪一種狗（1:02）；可是一張照片有貓有狗，只給一個答案就不夠了（1:13）；所以要用物件偵測，把每個東西框起來（1:48），他說自駕車、機器人要的就是這種資訊（2:09）。2:22 到 3:36 示範速度：一張要 2 秒的偵測器跟不上，每秒 5 張也不夠，他筆電上即時跑的版本可以一路跟著他移動。4:11 到 4:30 解釋名字：整張照片只看一次（You Only Look Once），所以叫 YOLO。我們用的 YOLOX，就是後來從 YOLO 這一家延伸出來的版本。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讓大家分得清三種常見的視覺工作：分類、偵測、分割，各自回答什麼問題。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剛剛那種「框出來」的工作叫偵測。其實電腦看照片，常見的有三種工作，差在問的問題不一樣。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分類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：問「這張照片裡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有沒有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人？」整張照片只給一個答案。車上可以用它判斷：現在是不是在下雨、是白天還是晚上。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物件偵測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：問「人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在哪裡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、有幾個？」答案就是剛剛那種，一個東西一個框，加上類別和分數。車、人、機車、紅綠燈，都是用它找。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分割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：問得最細，「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每一個像素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是什麼？」這個像素是路、那個像素是人行道、那個是車道線。車上用它找出「哪裡是可以開的路面」。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三種愈往右愈細，要算的也愈多，要標的標準答案也愈費工：分類只要寫一個字，偵測要畫框，分割要一個像素一個像素塗顏色。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今天專講中間這種，物件偵測，因為它是避免撞到東西最主要的那一塊。第二節各位標的，也是偵測用的框。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影片（NVIDIA DRIVE Labs 第 14 集，英文，1 分 27 秒，整支播）：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這就是第三種工作「分割」的真實樣子。上半部的畫面裡，車子塗成藍色、行人塗成紅色、可以開的路面塗成綠色（0:13）；下半部再把每一個人、每一台車分開編號（0:24）。0:40 說它連公車的後照鏡、形狀奇怪的卡車、拖車的形狀都描得出來；被樹擋住一半的車，還是被當成同一台（0:45）；0:52 在三角錐旁邊也描出了可以開的路面。比起一個框，這種做法對形狀奇怪、互相擋住的東西更清楚。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讓大家知道，門檻要設在哪裡，是一種取捨：門檻設得低，模型會多報出一些其實不存在的東西；門檻設得高，又會漏掉一些真的存在的車和人；沒有一個門檻可以讓這兩種錯誤同時變少。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同一張照片，新加坡，晚上剛下過雨。兩邊只差一件事：門檻。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左邊，門檻 0.3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：分數 0.3 以上的框全部留下。路口那幾個行人都抓到了，右邊路口等紅燈的人也抓到了。可是請看右上角，商場玻璃門裡面那兩個「人 0.44」：真的是人，但他們在商場裡面，不在路上，官方也沒有標。對開車來說，這種框是多餘的。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右邊，門檻 0.7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：只留分數 0.7 以上的。畫面很乾淨，可是請看那些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白色虛線框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：那是官方標註裡有、這個門檻下沒被抓到的行人。路口中間、離車子最近的那群人，只剩一個框。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用火災警報器來想。太敏感，炒個菜就響，大家就把它拔掉了；太遲鈍，真的失火了也不響。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放到車上：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多報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，車子會為了不存在的東西煞車，就是上週講的幽靈煞車；</a:t>
            </a: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漏掉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，前面明明有人，車子不煞。哪一種比較嚴重？漏掉人當然比較嚴重，所以行人通常門檻會設得比較低，多出來的框，再靠光達、雷達、追蹤去確認。這就是上週講的融合派上用場的地方。
</a:t>
            </a:r>
          </a:p>
          <a:p>
            <a:pPr algn="l">
              <a:spcBef>
                <a:spcPts val="0"/>
              </a:spcBef>
              <a:spcAft>
                <a:spcPts val="225"/>
              </a:spcAft>
            </a:pPr>
            <a:r>
              <a:rPr sz="13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影片（同一支 TED）：從 5:10 播到 5:48。</a:t>
            </a:r>
            <a:r>
              <a:rPr sz="13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他把鏡頭對著觀眾，說「我們把偵測的門檻調低一點，就可以找到更多人」（5:22），畫面上框一下子多了很多，連觀眾手上的停車標誌、背包都框出來了。這就是左邊那張門檻 0.3：框變多了，找到的東西也變多了。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讓大家用真的數字看見門檻的取捨：門檻拉高，多報的框變少了，可是漏掉沒抓到的車和人就變多了；這兩欄的數字會一起變化。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上一張是一張照片，這一張是全部四百零四張前方照片加起來，白天、晚上都有。我把門檻從 0.1 一路拉到 0.9，每一列算一次。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先看第三欄，「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對不到任何標註的框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」，就是框框住的地方，官方標註裡什麼都沒有。門檻 0.1 有七百八十一個；0.3 剩兩百八十四；0.7 剩三十五；0.9 一個都沒有。門檻愈高，多報愈少。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再看後面三欄，「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抓到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」的比例：官方標註的車、人、二輪，有多少被框到了。門檻 0.1，車 87%、行人 63%；門檻 0.9，車剩 18%，行人剩 2%，行人幾乎全部都沒抓到。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兩件事一起看：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想讓多報的框變少，就要接受漏掉的車和人變多；想讓漏掉的變少，就要接受多報的框變多。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沒有一列是兩邊都好的。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另外兩個細節。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第一，「對不到標註」不一定都是錯的。上一張商場裡的人就是例子：真的有人，只是官方沒標。所以這一欄的意思是「多報的框，最多有這麼多個」。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第二，同一個門檻，行人比車差很多，機車、腳踏車更差：門檻 0.3，車 82%、行人 53%、二輪只有 27%。因為人和機車在照片上比車小；下一張會看到，距離愈遠，這個差別愈明顯。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讓大家知道，用相機照片做偵測，也是距離愈遠就愈容易漏掉；而且距離拉遠的時候，人和機車被抓到的比例，比車下降得快很多。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這張是白天的照片，只算看得到六成以上的物體，門檻 0.3。橫軸是距離，每十公尺一組；柱子是抓到的比例。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綠色是車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：十到二十公尺 94%，到四十到五十公尺還有 83%，掉得很少。最左邊十公尺內只有 64%，我一台一台查過，沒抓到的那十台，全部都是太近、有一部分跑出畫面外面，被邊框切掉的。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紅色是行人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：十公尺內 82%，然後一路往下：66%、60%、37%，到四十到五十公尺，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只剩 3%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，三十九個人只抓到一個。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黃色是機車和腳踏車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，比行人還差：二十到三十公尺就只剩 21%。黃色最左邊那一格只有一條橫線，不是 0%，是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沒有資料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：白天的前方照片裡，十公尺內一台機車、腳踏車都沒有。我查過整份 mini 資料，車子四周十公尺內的機車和腳踏車有四十幾個框，幾乎都在左右兩邊或後面；前方相機拍得到的範圍裡只有一台，而且是晚上。一組不到五個，我們就不算比例，因為只有一台的時候，抓到就是 100%，沒抓到就是 0%，這個數字沒有意義。這也跟資料的來源有關：nuScenes 是在波士頓和新加坡收的，機車本來就少，第 2 節會看到機車的框只有汽車的十六分之一。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為什麼？算一下。一個一點七公尺高的人，用這台相機拍，十公尺外在照片上大約兩百多個像素高；四十五公尺外，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只剩四十七個像素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。而且這個模型為了算得快，會先把照片縮成六百四十個像素寬，大約變成原來的四成，四十七個像素就只剩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十九個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。十九個像素，大概就是一個小指甲那麼大，要認出是人很難。車子大得多，同樣距離還有好幾十個像素，所以還認得出來。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就像看遠處的招牌：字愈小，愈難認。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跟上週比一下：上週看到，雷達和光達打在物體上的點，距離愈遠就愈稀疏；今天看到，相機的偵測也一樣。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每一種感測器都是距離愈遠，表現就愈差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，只是變差的方式不一樣。這也是第五週為什麼要算「四十公尺外的機車有幾個點」。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讓大家知道，同一個模型，到了晚上，漏掉沒抓到的行人就比較多；這跟上週失效對照表「相機夜間變差」是同一件事。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這一張是晚上，新加坡，剛下過雨。框是模型抓到的，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白色虛線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是官方標註有、但模型沒抓到的。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把全部的夜間照片加起來，十到二十公尺的行人，白天抓到 66%，晚上只有 49%。也就是說，每六個行人，晚上大約就多漏掉一個。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原因不難想。照片就是那四百多萬個數字。晚上，人身上的數字大多很小、很暗，跟背景差不多；只有被路燈、車燈照到的部分才亮。模型在白天學到的「人的樣子」，到晚上很多都對不上了。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上週那張失效對照表，「夜間」那一列，相機是三角形，變差。今天是用真的偵測結果，把那個三角形量出來。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那晚上怎麼辦？上週講過：光達自己帶光源，晚上點數不會變少。所以晚上更需要把光達的點和相機的框合起來看，就是下一張。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影片（NVIDIA DRIVE Labs 第 19 集，英文，1 分 51 秒，整支播）：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主題剛好是「晚上偵測行人」。0:16 到 0:47 的熱度圖，是幾個模型對「這裡有沒有人」意見不一致的地方，紅色最不確定，例如撐傘的人；他們把這些最沒把握的畫面挑出來，請人標好，再加進訓練資料，這叫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主動學習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。0:48 之後左右對照：左邊是人工挑資料訓練的模型，右邊是主動學習訓練的；鏡頭上一滴雨，左邊撐傘的人就不見了，右邊還在（0:58）；左邊把一張卡通人像當成行人，右邊沒有（1:13）；最後一段，右邊在很暗的地方同時抓到機車和騎士（1:26）。要注意，主動學習不是另一種學法。模型還是用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監督式學習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在學，也就是第 10 張講的，從有標準答案的例子學：猜、對答案、改一點點。主動學習管的是前面那一步：標註很花錢、很花時間，所以讓模型自己指出它最沒把握的照片，優先請人標，不要一直標它已經會的。就像準備考試，挑自己最不會的題目來寫，比一直寫已經會的題目有效。這也接到第二節：要標哪些照片，也是一門學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讓大家知道，照片上的框只告訴我們東西在哪個方向，不告訴我們它有多遠；把光達的點放進框裡，才知道它有多遠。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剛剛說過，偵測器給的框，是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照片上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的框。它知道人在照片的左邊、右邊，可是不知道人離車子三公尺還是三十公尺。開車最需要的，偏偏是距離。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上週講融合的時候，第二堂第四張，把光達的點投到照片上。今天把兩件事接起來：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照片負責說「這是人」，光達負責說「多遠」。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看這張圖。框是模型抓的，黃色的點是光達的點，投到照片上。每個框裡都有一些黃點，每一個點都知道自己多遠。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可是框裡的點，不一定全部打在那個人身上。框是長方形，人不是，框的角落會有背後的路面、遠處的建築。所以我的做法是：框裡的點，找出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最密的那一公尺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，取它的中間值。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結果：五個人分別是 8.9、7.9、10.0、10.1、9.3 公尺；官方標註這幾個人在 8.0 到 10.2 公尺之間，差不到一公尺。後面那台車，算出來 21.4 公尺，官方 22.0。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這就是上週講的相機加光達：相機認得出是什麼，光達量得出多遠。合起來，才是開車用得上的資訊。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讓大家分清楚平面的框和立體的框，自駕車做決定要的是立體框。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這張是同一個路口，畫的是 nuScenes 官方標註的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立體框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，投到照片上看。每個人被一個長方體包起來。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上週第三節講過，官方每個框記了七個數字：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位置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三個，前後、左右、高低；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大小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三個，長、寬、高；還有一個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朝向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，車頭朝哪邊。圖上白色那一面，就是物體的正面。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為什麼自駕車要立體框？因為它要做的決定都是在真的路上：那個人離我幾公尺、他往哪個方向走、我要不要讓。平面框只能說「在照片右下角」，回答不了這些。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那立體框怎麼來？兩種做法。第一種就是上一張：照片的框加上光達的點，把它「撐」成立體的。第二種是直接拿光達的點雲去找，光達的點本來就是立體的，有現成的模型專門做這件事，例如 nuScenes 那家公司自己做的 PointPillars，把點雲切成一根一根柱子來看。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下一張，我們把這些立體框從上往下看。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讓大家知道為什麼自駕車喜歡「從上往下看」，以及佔據網格在做什麼：不用認出是什麼，也知道哪裡不能開。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左邊是鳥瞰圖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，波士頓的一條街。自己的車在正中間，車頭朝上，前後左右各三十公尺。灰色的點是光達，綠色長方形是車，紅色小方塊是人。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為什麼要從上往下看？三個原因。第一，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不會互相擋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：照片上，前面的車會擋住後面的車；從上面看，每台車各佔一塊地。第二，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距離不會變形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：照片上近的東西大、遠的東西小；鳥瞰圖上，一公尺就是一公尺。第三，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開車本來就是在地面上做決定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：往左還是往右、停在哪裡，都是平面上的事。上週講的中期融合，就是把相機、光達都先畫成同一張鳥瞰圖。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右邊是佔據網格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，用同一格光達算的。把地面切成一格一格，每格半公尺。每一格只問一件事：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紅色，有東西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：這一格有高出地面的點。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白色，空的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：雷射從光達打出去，一路經過這些格子都沒碰到東西，所以是空的。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灰色，不知道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：雷射根本沒打到那裡，例如被牆、被車擋住的後面。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就像教室的座位表：有人坐、空位、被柱子擋住看不到。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佔據網格最大的好處是：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不用知道那是什麼。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路上掉了一箱貨、一個沒看過的路障，偵測器可能認不出來，因為它沒學過這種東西；可是佔據網格只問「這一格有沒有東西」，一樣會標紅，車子一樣會避開。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還有灰色那一塊要特別小心：「不知道」不等於「空的」。被大卡車擋住的後面，可能就站著一個人。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影片（波昂大學 Cyrill Stachniss 教授，英文）：從 0:04 播到 2:21。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他說佔據網格就像存在電腦裡的地圖（0:08）：把地面切成小格子，每一格記「有東西」還是「空的」，畫出來就像一張黑白圖片（0:58），黑色是有東西、白色是空的（1:12）。我們的圖用紅色表示有東西，意思一樣。1:40 他講到重點：感測器有雜訊，其實不能百分之百確定，所以每一格記的是一個機率，1 是一定有東西，0 是一定空的（2:02）。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這一節的目的回顧：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三句話帶走。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照片對電腦只是數字。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模型不是靠規則認車，是從很多很多有標準答案的例子學出來的：猜、對答案、改一點點，重複幾百萬次。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物件偵測給三樣東西：框、類別、分數。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分數拿來切門檻：門檻設得低，模型會多報出不存在的東西，車子就會為了它們亂煞車；門檻設得高，模型會漏掉真的人和車，車子就可能撞上去。沒有一個門檻兩邊都好。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東西離得愈遠、光線愈暗，模型就愈容易漏掉；而且人和機車比車更早開始漏掉。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行人四十公尺外幾乎抓不到；晚上，十到二十公尺的行人從 66% 掉到 49%。照片的框不知道多遠，要加上光達的點；做決定的時候，要把它們放到從上往下看的地圖上。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這一節一直提到「標準答案」。標準答案從哪裡來？下一節，各位自己來標。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B7Dopv6kzJA?t=467" TargetMode="External"/><Relationship Id="rId1" Type="http://schemas.openxmlformats.org/officeDocument/2006/relationships/image" Target="../media/image-3-1.jp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BsXIQkhsxEM?t=13" TargetMode="External"/><Relationship Id="rId3" Type="http://schemas.openxmlformats.org/officeDocument/2006/relationships/hyperlink" Target="https://youtu.be/LWxu4rkZBLw?t=17" TargetMode="External"/><Relationship Id="rId1" Type="http://schemas.openxmlformats.org/officeDocument/2006/relationships/image" Target="../media/image-4-1.jpg"/><Relationship Id="rId4" Type="http://schemas.openxmlformats.org/officeDocument/2006/relationships/image" Target="../media/image-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LWxu4rkZBLw?t=182" TargetMode="External"/><Relationship Id="rId1" Type="http://schemas.openxmlformats.org/officeDocument/2006/relationships/image" Target="../media/image-5-1.jp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IHZwWFHWa-w?t=312" TargetMode="External"/><Relationship Id="rId1" Type="http://schemas.openxmlformats.org/officeDocument/2006/relationships/image" Target="../media/image-11-1.gif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aircAruvnKk?t=332" TargetMode="External"/><Relationship Id="rId1" Type="http://schemas.openxmlformats.org/officeDocument/2006/relationships/image" Target="../media/image-14-1.jp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Cgxsv1riJhI?t=12" TargetMode="External"/><Relationship Id="rId1" Type="http://schemas.openxmlformats.org/officeDocument/2006/relationships/image" Target="../media/image-15-1.jpg"/><Relationship Id="rId3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HS1wV9NMLr8" TargetMode="External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Cgxsv1riJhI?t=310" TargetMode="External"/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4" Type="http://schemas.openxmlformats.org/officeDocument/2006/relationships/image" Target="../media/image-1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4aq13pB9s7c" TargetMode="External"/><Relationship Id="rId1" Type="http://schemas.openxmlformats.org/officeDocument/2006/relationships/image" Target="../media/image-20-1.jpg"/><Relationship Id="rId3" Type="http://schemas.openxmlformats.org/officeDocument/2006/relationships/image" Target="../media/image-2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8ckhPViqneg?t=4" TargetMode="External"/><Relationship Id="rId1" Type="http://schemas.openxmlformats.org/officeDocument/2006/relationships/image" Target="../media/image-23-1.jpg"/><Relationship Id="rId3" Type="http://schemas.openxmlformats.org/officeDocument/2006/relationships/image" Target="../media/image-2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8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1519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thức (1): máy tính «nhìn thấy» xe và người thế nào</a:t>
            </a:r>
            <a:endParaRPr lang="en-US" sz="33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感知（一）：電腦怎麼「看見」車和人</a:t>
            </a:r>
            <a:endParaRPr lang="en-US" sz="3390" dirty="0"/>
          </a:p>
        </p:txBody>
      </p:sp>
      <p:sp>
        <p:nvSpPr>
          <p:cNvPr id="6" name="Shape 4"/>
          <p:cNvSpPr/>
          <p:nvPr/>
        </p:nvSpPr>
        <p:spPr>
          <a:xfrm>
            <a:off x="516938" y="3233138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3433613"/>
            <a:ext cx="7107750" cy="610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chỉ là một đống số — mô hình học từ ví dụ — khung, loại, điểm tin cậy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照片只是一堆數字、模型從例子學、框＋類別＋分數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第八週 第 1 節　2026/10/29（四）09:10–10:00　CH Tseng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1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126158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201" y="284534"/>
            <a:ext cx="7913598" cy="818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14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trước: cảm biến cho nguyên liệu. Tuần này: máy tính hiểu nguyên liệu</a:t>
            </a:r>
            <a:endParaRPr lang="en-US" sz="214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1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上週：感測器給原料。這週：電腦看懂原料</a:t>
            </a:r>
            <a:endParaRPr lang="en-US" sz="2140" dirty="0"/>
          </a:p>
        </p:txBody>
      </p:sp>
      <p:sp>
        <p:nvSpPr>
          <p:cNvPr id="3" name="Shape 1"/>
          <p:cNvSpPr/>
          <p:nvPr/>
        </p:nvSpPr>
        <p:spPr>
          <a:xfrm>
            <a:off x="615201" y="1285877"/>
            <a:ext cx="2460032" cy="264972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14033" y="1463711"/>
            <a:ext cx="462368" cy="46236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14033" y="1561519"/>
            <a:ext cx="462368" cy="266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60" dirty="0"/>
          </a:p>
        </p:txBody>
      </p:sp>
      <p:sp>
        <p:nvSpPr>
          <p:cNvPr id="6" name="Text 4"/>
          <p:cNvSpPr txBox="1"/>
          <p:nvPr/>
        </p:nvSpPr>
        <p:spPr>
          <a:xfrm>
            <a:off x="739684" y="2014995"/>
            <a:ext cx="2211065" cy="64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máy tính nhìn thấy</a:t>
            </a:r>
            <a:endParaRPr lang="en-US" sz="136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17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節・電腦怎麼看見</a:t>
            </a:r>
            <a:endParaRPr lang="en-US" sz="1360" dirty="0"/>
          </a:p>
        </p:txBody>
      </p:sp>
      <p:sp>
        <p:nvSpPr>
          <p:cNvPr id="7" name="Text 5"/>
          <p:cNvSpPr txBox="1"/>
          <p:nvPr/>
        </p:nvSpPr>
        <p:spPr>
          <a:xfrm>
            <a:off x="739684" y="2690763"/>
            <a:ext cx="2211065" cy="113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→ khung, loại, điểm tin cậy. Khi nào bỏ sót.</a:t>
            </a:r>
            <a:endParaRPr lang="en-US" sz="112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2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照片 → 框、類別、分數。什麼時候會漏。</a:t>
            </a:r>
            <a:endParaRPr lang="en-US" sz="1120" dirty="0"/>
          </a:p>
        </p:txBody>
      </p:sp>
      <p:sp>
        <p:nvSpPr>
          <p:cNvPr id="8" name="Text 6"/>
          <p:cNvSpPr txBox="1"/>
          <p:nvPr/>
        </p:nvSpPr>
        <p:spPr>
          <a:xfrm>
            <a:off x="3075233" y="2175045"/>
            <a:ext cx="266751" cy="35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3341984" y="1285877"/>
            <a:ext cx="2460032" cy="264972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0816" y="1463711"/>
            <a:ext cx="462368" cy="4623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0816" y="1561519"/>
            <a:ext cx="462368" cy="266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60" dirty="0"/>
          </a:p>
        </p:txBody>
      </p:sp>
      <p:sp>
        <p:nvSpPr>
          <p:cNvPr id="12" name="Text 10"/>
          <p:cNvSpPr txBox="1"/>
          <p:nvPr/>
        </p:nvSpPr>
        <p:spPr>
          <a:xfrm>
            <a:off x="3466467" y="2014995"/>
            <a:ext cx="2211065" cy="64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gán nhãn</a:t>
            </a:r>
            <a:endParaRPr lang="en-US" sz="136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17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2 節・資料標註</a:t>
            </a:r>
            <a:endParaRPr lang="en-US" sz="1360" dirty="0"/>
          </a:p>
        </p:txBody>
      </p:sp>
      <p:sp>
        <p:nvSpPr>
          <p:cNvPr id="13" name="Text 11"/>
          <p:cNvSpPr txBox="1"/>
          <p:nvPr/>
        </p:nvSpPr>
        <p:spPr>
          <a:xfrm>
            <a:off x="3466467" y="2690763"/>
            <a:ext cx="2211065" cy="113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Đáp án chuẩn từ đâu ra? Tự tay gán nhãn trên ảnh thật.</a:t>
            </a:r>
            <a:endParaRPr lang="en-US" sz="112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2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標準答案從哪來？自己在真的照片上標。</a:t>
            </a:r>
            <a:endParaRPr lang="en-US" sz="1120" dirty="0"/>
          </a:p>
        </p:txBody>
      </p:sp>
      <p:sp>
        <p:nvSpPr>
          <p:cNvPr id="14" name="Text 12"/>
          <p:cNvSpPr txBox="1"/>
          <p:nvPr/>
        </p:nvSpPr>
        <p:spPr>
          <a:xfrm>
            <a:off x="5802016" y="2175045"/>
            <a:ext cx="266751" cy="35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068767" y="1285877"/>
            <a:ext cx="2460032" cy="264972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67599" y="1463711"/>
            <a:ext cx="462368" cy="46236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67599" y="1561519"/>
            <a:ext cx="462368" cy="266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60" dirty="0"/>
          </a:p>
        </p:txBody>
      </p:sp>
      <p:sp>
        <p:nvSpPr>
          <p:cNvPr id="18" name="Text 16"/>
          <p:cNvSpPr txBox="1"/>
          <p:nvPr/>
        </p:nvSpPr>
        <p:spPr>
          <a:xfrm>
            <a:off x="6193250" y="2014995"/>
            <a:ext cx="2211065" cy="64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ôn giữa kỳ</a:t>
            </a:r>
            <a:endParaRPr lang="en-US" sz="136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17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節・期中複習</a:t>
            </a:r>
            <a:endParaRPr lang="en-US" sz="1360" dirty="0"/>
          </a:p>
        </p:txBody>
      </p:sp>
      <p:sp>
        <p:nvSpPr>
          <p:cNvPr id="19" name="Text 17"/>
          <p:cNvSpPr txBox="1"/>
          <p:nvPr/>
        </p:nvSpPr>
        <p:spPr>
          <a:xfrm>
            <a:off x="6193250" y="2690763"/>
            <a:ext cx="2211065" cy="113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 đến tiết 1 hôm nay. Thi thứ Năm tuần sau, 5/11.</a:t>
            </a:r>
            <a:endParaRPr lang="en-US" sz="112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2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第一週到今天第 1 節。下週四 11/5 期中考。</a:t>
            </a:r>
            <a:endParaRPr lang="en-US" sz="1120" dirty="0"/>
          </a:p>
        </p:txBody>
      </p:sp>
      <p:sp>
        <p:nvSpPr>
          <p:cNvPr id="20" name="Text 18"/>
          <p:cNvSpPr txBox="1"/>
          <p:nvPr/>
        </p:nvSpPr>
        <p:spPr>
          <a:xfrm>
            <a:off x="615201" y="4077866"/>
            <a:ext cx="7913598" cy="55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10 (12/11) học tiếp: dùng dữ liệu tự gán nhãn để huấn luyện mô hình.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第十週（11/12）接著上：拿自己標的資料訓練模型。</a:t>
            </a:r>
            <a:endParaRPr lang="en-US" sz="1220" dirty="0"/>
          </a:p>
        </p:txBody>
      </p:sp>
      <p:pic>
        <p:nvPicPr>
          <p:cNvPr id="22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32859" y="124484"/>
            <a:ext cx="800252" cy="248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24</a:t>
            </a:r>
            <a:endParaRPr lang="en-US" sz="880" dirty="0"/>
          </a:p>
        </p:txBody>
      </p:sp>
      <p:sp>
        <p:nvSpPr>
          <p:cNvPr id="24" name="Text 20"/>
          <p:cNvSpPr txBox="1"/>
          <p:nvPr/>
        </p:nvSpPr>
        <p:spPr>
          <a:xfrm>
            <a:off x="1059785" y="124484"/>
            <a:ext cx="1956170" cy="248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là gì · 照片對電腦是什麼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máy tính, ảnh chỉ là 4,32 triệu con số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對電腦來說，照片只是 432 萬個數字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83690" y="1371600"/>
            <a:ext cx="5576621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八週(10-29)/src/img/w8_pixe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978" y="1389888"/>
            <a:ext cx="5540045" cy="2596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0233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scene-0553（波士頓）· CC BY-NC-SA 4.0 · 右：左圖黃框那 8×8 個像素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9496" y="4288536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" y="43159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4261104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cảm biến ảnh (Branch Education) · </a:t>
            </a:r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影片：影像感測器把光變成數字（Branch Education）　7:47–11:18　</a:t>
            </a:r>
            <a:pPr indent="0" marL="0">
              <a:lnSpc>
                <a:spcPct val="100000"/>
              </a:lnSpc>
              <a:buNone/>
            </a:pPr>
            <a:r>
              <a:rPr lang="en-US" sz="90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youtu.be/B7Dopv6kzJA?t=467</a:t>
            </a:r>
            <a:endParaRPr lang="en-US" sz="900" dirty="0"/>
          </a:p>
        </p:txBody>
      </p:sp>
      <p:pic>
        <p:nvPicPr>
          <p:cNvPr id="11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24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từ đâu ra · 數字怎麼來的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Ánh sáng → điện → con số. Mỗi ô đo một màu, rồi bù từ ô bên cạnh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 → 電 → 數字。每格量一種顏色，再用旁邊的補齊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175636" y="1371600"/>
            <a:ext cx="679272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八週(10-29)/src/img/w8_bay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924" y="1389888"/>
            <a:ext cx="6756152" cy="2596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0233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的相機：1/1.8 吋 CMOS、1600×900、自動曝光、存成 JPEG（每種顏色 8 位元，0–255）· 同一塊 8×8 像素，①② 為示意 · scene-0553 · CC BY-NC-SA 4.0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9496" y="4306824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" y="433425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4261104"/>
            <a:ext cx="3625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điểm ảnh như cái xô (CreativeLive)　0:13–1:27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影片：像素像水桶（CreativeLive）　</a:t>
            </a:r>
            <a:pPr indent="0" marL="0">
              <a:lnSpc>
                <a:spcPct val="100000"/>
              </a:lnSpc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youtu.be/BsXIQkhsxEM?t=13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22876" y="4306824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722876" y="433425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5015484" y="4261104"/>
            <a:ext cx="3625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bộ lọc Bayer (Computerphile)　0:17–3:25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影片：Bayer 濾色片（Computerphile）　</a:t>
            </a:r>
            <a:pPr indent="0" marL="0">
              <a:lnSpc>
                <a:spcPct val="100000"/>
              </a:lnSpc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youtu.be/LWxu4rkZBLw?t=17</a:t>
            </a:r>
            <a:endParaRPr lang="en-US" sz="850" dirty="0"/>
          </a:p>
        </p:txBody>
      </p:sp>
      <p:pic>
        <p:nvPicPr>
          <p:cNvPr id="14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24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Bù màu thế nào · 補齊怎麼算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Màu còn thiếu = trung bình của các ô hàng xóm cùng màu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缺的顏色＝旁邊同顏色格子的平均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073343" y="1371600"/>
            <a:ext cx="4997313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八週(10-29)/src/img/w8_demosa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631" y="1389888"/>
            <a:ext cx="4960737" cy="2596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0233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同一塊 8×8 像素裡的三格 · 每格只有一種顏色的數字取自 JPEG（示意）· 最簡單的「鄰居平均」做法 · nuScenes scene-0553 · CC BY-NC-SA 4.0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9496" y="4288536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" y="43159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4261104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bù màu từ ô bên cạnh (Computerphile) · </a:t>
            </a:r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影片：用旁邊的格子補齊（Computerphile）　3:02–5:46　</a:t>
            </a:r>
            <a:pPr indent="0" marL="0">
              <a:lnSpc>
                <a:spcPct val="100000"/>
              </a:lnSpc>
              <a:buNone/>
            </a:pPr>
            <a:r>
              <a:rPr lang="en-US" sz="90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youtu.be/LWxu4rkZBLw?t=182</a:t>
            </a:r>
            <a:endParaRPr lang="en-US" sz="900" dirty="0"/>
          </a:p>
        </p:txBody>
      </p:sp>
      <p:pic>
        <p:nvPicPr>
          <p:cNvPr id="11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24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Màu và số · 顏色和數字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lớn thì sáng; số nào lớn nhất thì nghiêng về màu đó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數字大就亮；哪一個數字最大，就偏哪個顏色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03984" y="1371600"/>
            <a:ext cx="533603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八週(10-29)/src/img/w8_rg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2272" y="1389888"/>
            <a:ext cx="5299456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上排：基本顏色；下排：nuScenes scene-0553（白天）、scene-1100（晚上）照片上真的點，5×5 個像素平均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56848" y="365760"/>
            <a:ext cx="3584232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84864" y="384048"/>
            <a:ext cx="3401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đèn pin cộng thêm ánh sáng, màu vẽ ăn bớt ánh sáng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手電筒是加光，顏料是吃掉光</a:t>
            </a:r>
            <a:endParaRPr lang="en-US" sz="950" dirty="0"/>
          </a:p>
        </p:txBody>
      </p:sp>
      <p:pic>
        <p:nvPicPr>
          <p:cNvPr id="10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24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luật? · 寫規則行不通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49377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varie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69729"/>
            <a:ext cx="4791456" cy="181775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707892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mini 真實裁切 · CC BY-NC-SA 4.0 · 「看得到」是官方標註的可見度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5751576" y="914400"/>
            <a:ext cx="288950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«Xe = bốn bánh»? Luật viết không hết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「車＝四個輪子」？規則寫不完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là xe, cùng là người: góc nhìn, ngày đêm, bị che, xa gần đều khác. Nên dạy bằng ví dụ, không bằng luật.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同樣是車、是人：角度、白天晚上、被擋住、遠近都不一樣。所以改用例子教，不寫規則。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768871" y="365760"/>
            <a:ext cx="1872209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96887" y="384048"/>
            <a:ext cx="1689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dạy em bé nhận ra xe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教小朋友認車</a:t>
            </a:r>
            <a:endParaRPr lang="en-US" sz="950" dirty="0"/>
          </a:p>
        </p:txBody>
      </p:sp>
      <p:pic>
        <p:nvPicPr>
          <p:cNvPr id="10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24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43094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6456" y="265028"/>
            <a:ext cx="7371087" cy="76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99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cách: viết luật, học máy, học sâu</a:t>
            </a:r>
            <a:endParaRPr lang="en-US" sz="199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2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三種做法比一比：寫規則、機器學習、深度學習</a:t>
            </a:r>
            <a:endParaRPr lang="en-US" sz="199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6456" y="1026983"/>
          <a:ext cx="7371087" cy="828212"/>
        </p:xfrm>
        <a:graphic>
          <a:graphicData uri="http://schemas.openxmlformats.org/drawingml/2006/table">
            <a:tbl>
              <a:tblPr/>
              <a:tblGrid>
                <a:gridCol w="1449371"/>
                <a:gridCol w="1946298"/>
                <a:gridCol w="1987709"/>
                <a:gridCol w="1987709"/>
              </a:tblGrid>
              <a:tr h="273310"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Viết luật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寫規則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Học máy (truyền thống)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機器學習（傳統）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Học sâu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深度學習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733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chọn «nhìn cái gì»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誰決定「看什麼」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Máy tự học từ điểm ảnh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電腦自己從像素學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3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chọn «phán thế nào»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誰決定「怎麼判斷」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viết ngưỡng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人寫門檻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Máy học từ ví dụ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電腦從例子學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Máy học từ ví dụ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電腦從例子學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3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Ví dụ tìm người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找行人的例子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«Cao ÷ rộng &gt; 1 là người» (người tự đặt)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「高÷寬 &gt; 1 就是人」（人自己定）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chọn «cao ÷ rộng», máy học ra 1,03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人選「高÷寬」，電腦學出 1.03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YOLOX: khoảng 9 triệu con số, tự học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YOLOX：約 900 萬個數字，全部自己學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3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Dữ liệu có đáp án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要多少有答案的資料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cần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不用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Vài trăm đến vài nghìn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幾百到幾千個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Hàng chục nghìn trở lên (COCO ~12 vạn ảnh)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幾萬以上（COCO 約 12 萬張）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3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Ưu điểm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好處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Dễ hiểu, dễ kiểm tra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好懂、好檢查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Cần ít dữ liệu, ít tính toán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資料少、算得快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Chính xác nhất, học được cả thứ người không nghĩ ra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最準，人想不到的也學得到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3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Nhược điểm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壞處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Tình huống nhiều thì viết không hết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情況一多就寫不完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chọn sai đặc trưng thì học không tốt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人選錯特徵就學不好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Cần rất nhiều dữ liệu, máy mạnh; khó biết nó đang «nghĩ» gì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要大量資料和強的電腦；看不懂它在想什麼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86456" y="4215044"/>
            <a:ext cx="7371087" cy="414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9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 biệt lớn nhất: ai quyết định «nhìn cái gì» — người, hay máy tự học.</a:t>
            </a:r>
            <a:endParaRPr lang="en-US" sz="109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最大的差別在第一列：「看什麼」是人決定，還是電腦自己學。</a:t>
            </a:r>
            <a:endParaRPr lang="en-US" sz="1090" dirty="0"/>
          </a:p>
        </p:txBody>
      </p:sp>
      <p:pic>
        <p:nvPicPr>
          <p:cNvPr id="6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30325" y="115950"/>
            <a:ext cx="745391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24</a:t>
            </a:r>
            <a:endParaRPr lang="en-US" sz="820" dirty="0"/>
          </a:p>
        </p:txBody>
      </p:sp>
      <p:sp>
        <p:nvSpPr>
          <p:cNvPr id="8" name="Text 3"/>
          <p:cNvSpPr txBox="1"/>
          <p:nvPr/>
        </p:nvSpPr>
        <p:spPr>
          <a:xfrm>
            <a:off x="1300563" y="115950"/>
            <a:ext cx="1822066" cy="231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máy · 機器學習：人選特徵，電腦學門檻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chọn «cao ÷ rộng», máy học ngưỡng 1,03: gặp xe máy thì sai một nửa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人選「高÷寬」，電腦學出 1.03：人和汽車全對，機車錯一半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80741" y="1371600"/>
            <a:ext cx="558251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八週(10-29)/src/img/w8_ml_rat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9029" y="1389888"/>
            <a:ext cx="5545942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mini 官方標註框（40 m 內、≥ 30 像素高）· 一半場景學門檻、另一半測試 · src/tools_w8_imgs.py</a:t>
            </a:r>
            <a:endParaRPr lang="en-US" sz="850" dirty="0"/>
          </a:p>
        </p:txBody>
      </p:sp>
      <p:pic>
        <p:nvPicPr>
          <p:cNvPr id="8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24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126158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5201" y="284534"/>
            <a:ext cx="7913598" cy="818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14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máy và học sâu đều học như nhau: đoán, so đáp án, sửa một chút — lặp lại nhiều lần</a:t>
            </a:r>
            <a:endParaRPr lang="en-US" sz="214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1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機器學習和深度學習都這樣學：猜、對答案、改一點點，重複很多次</a:t>
            </a:r>
            <a:endParaRPr lang="en-US" sz="2140" dirty="0"/>
          </a:p>
        </p:txBody>
      </p:sp>
      <p:sp>
        <p:nvSpPr>
          <p:cNvPr id="3" name="Shape 1"/>
          <p:cNvSpPr/>
          <p:nvPr/>
        </p:nvSpPr>
        <p:spPr>
          <a:xfrm>
            <a:off x="615201" y="1285877"/>
            <a:ext cx="1778337" cy="264972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73185" y="1463711"/>
            <a:ext cx="462368" cy="46236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73185" y="1561519"/>
            <a:ext cx="462368" cy="266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60" dirty="0"/>
          </a:p>
        </p:txBody>
      </p:sp>
      <p:sp>
        <p:nvSpPr>
          <p:cNvPr id="6" name="Text 4"/>
          <p:cNvSpPr txBox="1"/>
          <p:nvPr/>
        </p:nvSpPr>
        <p:spPr>
          <a:xfrm>
            <a:off x="739684" y="2014995"/>
            <a:ext cx="1529370" cy="64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Đoán</a:t>
            </a:r>
            <a:endParaRPr lang="en-US" sz="136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17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猜</a:t>
            </a:r>
            <a:endParaRPr lang="en-US" sz="1360" dirty="0"/>
          </a:p>
        </p:txBody>
      </p:sp>
      <p:sp>
        <p:nvSpPr>
          <p:cNvPr id="7" name="Text 5"/>
          <p:cNvSpPr txBox="1"/>
          <p:nvPr/>
        </p:nvSpPr>
        <p:spPr>
          <a:xfrm>
            <a:off x="739684" y="2690763"/>
            <a:ext cx="1529370" cy="113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đoán trước một đáp án: khung này là người hay xe? Trong ảnh, người ở đâu?</a:t>
            </a:r>
            <a:endParaRPr lang="en-US" sz="102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2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模型先猜一個答案：這個框是人還是車？照片裡哪裡有人？</a:t>
            </a:r>
            <a:endParaRPr lang="en-US" sz="1020" dirty="0"/>
          </a:p>
        </p:txBody>
      </p:sp>
      <p:sp>
        <p:nvSpPr>
          <p:cNvPr id="8" name="Text 6"/>
          <p:cNvSpPr txBox="1"/>
          <p:nvPr/>
        </p:nvSpPr>
        <p:spPr>
          <a:xfrm>
            <a:off x="2393538" y="2175045"/>
            <a:ext cx="266751" cy="35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2660288" y="1285877"/>
            <a:ext cx="1778337" cy="264972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8273" y="1463711"/>
            <a:ext cx="462368" cy="4623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18273" y="1561519"/>
            <a:ext cx="462368" cy="266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60" dirty="0"/>
          </a:p>
        </p:txBody>
      </p:sp>
      <p:sp>
        <p:nvSpPr>
          <p:cNvPr id="12" name="Text 10"/>
          <p:cNvSpPr txBox="1"/>
          <p:nvPr/>
        </p:nvSpPr>
        <p:spPr>
          <a:xfrm>
            <a:off x="2784772" y="2014995"/>
            <a:ext cx="1529370" cy="64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đáp án</a:t>
            </a:r>
            <a:endParaRPr lang="en-US" sz="136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17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對答案</a:t>
            </a:r>
            <a:endParaRPr lang="en-US" sz="1360" dirty="0"/>
          </a:p>
        </p:txBody>
      </p:sp>
      <p:sp>
        <p:nvSpPr>
          <p:cNvPr id="13" name="Text 11"/>
          <p:cNvSpPr txBox="1"/>
          <p:nvPr/>
        </p:nvSpPr>
        <p:spPr>
          <a:xfrm>
            <a:off x="2784772" y="2690763"/>
            <a:ext cx="1529370" cy="113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đáp án con người gán nhãn: lệch bao nhiêu?</a:t>
            </a:r>
            <a:endParaRPr lang="en-US" sz="102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2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跟人標好的標準答案比：差多少？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4438625" y="2175045"/>
            <a:ext cx="266751" cy="35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4705375" y="1285877"/>
            <a:ext cx="1778337" cy="264972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63360" y="1463711"/>
            <a:ext cx="462368" cy="46236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63360" y="1561519"/>
            <a:ext cx="462368" cy="266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60" dirty="0"/>
          </a:p>
        </p:txBody>
      </p:sp>
      <p:sp>
        <p:nvSpPr>
          <p:cNvPr id="18" name="Text 16"/>
          <p:cNvSpPr txBox="1"/>
          <p:nvPr/>
        </p:nvSpPr>
        <p:spPr>
          <a:xfrm>
            <a:off x="4829859" y="2014995"/>
            <a:ext cx="1529370" cy="64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Sửa một chút</a:t>
            </a:r>
            <a:endParaRPr lang="en-US" sz="136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17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改一點點</a:t>
            </a:r>
            <a:endParaRPr lang="en-US" sz="1360" dirty="0"/>
          </a:p>
        </p:txBody>
      </p:sp>
      <p:sp>
        <p:nvSpPr>
          <p:cNvPr id="19" name="Text 17"/>
          <p:cNvSpPr txBox="1"/>
          <p:nvPr/>
        </p:nvSpPr>
        <p:spPr>
          <a:xfrm>
            <a:off x="4829859" y="2690763"/>
            <a:ext cx="1529370" cy="113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máy: chỉ ngưỡng, 1 số. YOLOX: ~9 triệu số, cả bộ lọc.</a:t>
            </a:r>
            <a:endParaRPr lang="en-US" sz="102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2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機器學習：只改門檻，1 個。YOLOX：約 900 萬個，連濾鏡一起改。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6483712" y="2175045"/>
            <a:ext cx="266751" cy="355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6750462" y="1285877"/>
            <a:ext cx="1778337" cy="264972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08447" y="1463711"/>
            <a:ext cx="462368" cy="4623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08447" y="1561519"/>
            <a:ext cx="462368" cy="266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60" dirty="0"/>
          </a:p>
        </p:txBody>
      </p:sp>
      <p:sp>
        <p:nvSpPr>
          <p:cNvPr id="24" name="Text 22"/>
          <p:cNvSpPr txBox="1"/>
          <p:nvPr/>
        </p:nvSpPr>
        <p:spPr>
          <a:xfrm>
            <a:off x="6874946" y="2014995"/>
            <a:ext cx="1529370" cy="64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36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Lặp lại</a:t>
            </a:r>
            <a:endParaRPr lang="en-US" sz="136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17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重複</a:t>
            </a:r>
            <a:endParaRPr lang="en-US" sz="1360" dirty="0"/>
          </a:p>
        </p:txBody>
      </p:sp>
      <p:sp>
        <p:nvSpPr>
          <p:cNvPr id="25" name="Text 23"/>
          <p:cNvSpPr txBox="1"/>
          <p:nvPr/>
        </p:nvSpPr>
        <p:spPr>
          <a:xfrm>
            <a:off x="6874946" y="2690763"/>
            <a:ext cx="1529370" cy="1138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chục nghìn ví dụ, lặp nhiều vòng.</a:t>
            </a:r>
            <a:endParaRPr lang="en-US" sz="102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2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幾萬個例子，一輪又一輪。</a:t>
            </a:r>
            <a:endParaRPr lang="en-US" sz="1020" dirty="0"/>
          </a:p>
        </p:txBody>
      </p:sp>
      <p:sp>
        <p:nvSpPr>
          <p:cNvPr id="26" name="Text 24"/>
          <p:cNvSpPr txBox="1"/>
          <p:nvPr/>
        </p:nvSpPr>
        <p:spPr>
          <a:xfrm>
            <a:off x="615201" y="4077866"/>
            <a:ext cx="7913598" cy="55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2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Đáp án chuẩn = dữ liệu gán nhãn. Không có nhãn thì không học được — tiết 2 tự làm.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標準答案＝標註資料。沒有標註就學不了——第 2 節自己做。</a:t>
            </a:r>
            <a:endParaRPr lang="en-US" sz="1220" dirty="0"/>
          </a:p>
        </p:txBody>
      </p:sp>
      <p:pic>
        <p:nvPicPr>
          <p:cNvPr id="28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232859" y="124484"/>
            <a:ext cx="800252" cy="248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24</a:t>
            </a:r>
            <a:endParaRPr lang="en-US" sz="880" dirty="0"/>
          </a:p>
        </p:txBody>
      </p:sp>
      <p:sp>
        <p:nvSpPr>
          <p:cNvPr id="30" name="Text 26"/>
          <p:cNvSpPr txBox="1"/>
          <p:nvPr/>
        </p:nvSpPr>
        <p:spPr>
          <a:xfrm>
            <a:off x="1059785" y="124484"/>
            <a:ext cx="1956170" cy="248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chỉ sửa một chút · 為什麼只改一點點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quá lớn thì nhảy loạn, quá nhỏ thì đi chậm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電腦只知道往哪邊改：步伐太大就亂跳，太小就走得慢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471793" y="1371600"/>
            <a:ext cx="6200415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八週(10-29)/src/img/w8_l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081" y="1389888"/>
            <a:ext cx="6163839" cy="2596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0233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動畫：第 9 張同一批 627 個例子（大人＋汽車）· 白線＝門檻放在哪裡時錯多少 · 球從 2.6 出發，三種步伐（學習率）各走 30 步 · 放映時會動，PDF 只顯示走完的結果 · src/tools_make_lr_gif.py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9496" y="4288536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" y="43159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4261104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gradient descent (3Blue1Brown) · </a:t>
            </a:r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影片：梯度下降，球滾下山（3Blue1Brown）　5:12–6:54　</a:t>
            </a:r>
            <a:pPr indent="0" marL="0">
              <a:lnSpc>
                <a:spcPct val="100000"/>
              </a:lnSpc>
              <a:buNone/>
            </a:pPr>
            <a:r>
              <a:rPr lang="en-US" sz="90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youtu.be/IHZwWFHWa-w?t=312</a:t>
            </a:r>
            <a:endParaRPr lang="en-US" sz="900" dirty="0"/>
          </a:p>
        </p:txBody>
      </p:sp>
      <p:pic>
        <p:nvPicPr>
          <p:cNvPr id="11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24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sâu · 深度學習：連「看什麼」都自己學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kính lọc lớp đầu: không phải mảnh xe, mà là «nét chữ»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第一層 32 個濾鏡：不是車的零件，是最小的「筆畫」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656846" y="1371600"/>
            <a:ext cx="583030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八週(10-29)/src/img/w8_fil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134" y="1389888"/>
            <a:ext cx="5793732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YOLOX-s（Megvii，Apache-2.0）第一個卷積層的 32 個濾鏡，每個看原圖 6×6 個像素；各自把數字拉到 0–255 顯示；黃框＝下一張示範的三個 · src/tools_w8_imgs.py</a:t>
            </a:r>
            <a:endParaRPr lang="en-US" sz="850" dirty="0"/>
          </a:p>
        </p:txBody>
      </p:sp>
      <p:pic>
        <p:nvPicPr>
          <p:cNvPr id="8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24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Kính lọc dùng thế nào · 濾鏡怎麼用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Trượt kính lọc khắp ảnh: chỗ nào giống thì sáng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拿濾鏡在照片上一格一格比：像就亮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28167" y="1371600"/>
            <a:ext cx="7687666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八週(10-29)/src/img/w8_filter_dem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455" y="1389888"/>
            <a:ext cx="7651090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YOLOX-s 第一個卷積層真的輸出（只取正的部分）疊在變暗的照片上 · 這三個是 32 個裡面，反應和「紅的程度／往右變亮／往下變亮」最一致的 · nuScenes scene-0553 · src/tools_w8_imgs.py</a:t>
            </a:r>
            <a:endParaRPr lang="en-US" sz="850" dirty="0"/>
          </a:p>
        </p:txBody>
      </p:sp>
      <p:pic>
        <p:nvPicPr>
          <p:cNvPr id="8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24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Từng lớp · 一層一層看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cạnh, đến hoa văn, đến cả người: mỗi lớp ghép kết quả lớp trước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從邊、到紋理、到整個人：每一層把上一層的結果再組起來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84632" y="1926460"/>
            <a:ext cx="8174736" cy="152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八週(10-29)/src/img/w8_featmap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44748"/>
            <a:ext cx="8138160" cy="1487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0233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YOLOX-s 真的中間結果（亮＝反應強）· 第 1 層從 32 個通道挑變化最大的一個；第 6、49 層從 64、128 個通道挑「在人身上比背景亮最多」的一個 · 層數＝從輸入算起經過幾層卷積（最深 55 層）· nuScenes scene-0553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9496" y="4288536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" y="431596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4261104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neural network, layer by layer (3Blue1Brown) · </a:t>
            </a:r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影片：神經網路一層一層（3Blue1Brown）　5:32–8:39　</a:t>
            </a:r>
            <a:pPr indent="0" marL="0">
              <a:lnSpc>
                <a:spcPct val="100000"/>
              </a:lnSpc>
              <a:buNone/>
            </a:pPr>
            <a:r>
              <a:rPr lang="en-US" sz="90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youtu.be/aircAruvnKk?t=332</a:t>
            </a:r>
            <a:endParaRPr lang="en-US" sz="900" dirty="0"/>
          </a:p>
        </p:txBody>
      </p:sp>
      <p:pic>
        <p:nvPicPr>
          <p:cNvPr id="11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24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 · 偵測器給什麼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229868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det_d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529105"/>
            <a:ext cx="4974336" cy="17332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525012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YOLOX-s 偵測結果（分數 ≥ 0.5）· nuScenes scene-0553 · CC BY-NC-SA 4.0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5934456" y="914400"/>
            <a:ext cx="27066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thứ: khung (ở đâu), loại (là gì), điểm (chắc bao nhiêu)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三樣東西：框（在哪）、類別（是什麼）、分數（多有把握）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0,91 không phải «91% chắc chắn đúng»; nó chỉ để xếp hạng và cắt ngưỡng.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分數 0.91 不是「91% 一定對」，它是拿來排序、拿來設門檻的。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39496" y="3845052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" y="38724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3799332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YOLO, object detection in real time (TED, Joseph Redmon)　0:12–4:30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影片：YOLO 即時物件偵測（TED，YOLO 作者）　</a:t>
            </a:r>
            <a:pPr indent="0" marL="0">
              <a:lnSpc>
                <a:spcPct val="100000"/>
              </a:lnSpc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youtu.be/Cgxsv1riJhI?t=12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141129" y="365760"/>
            <a:ext cx="2499951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9145" y="384048"/>
            <a:ext cx="23170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chấm bài: đáp án kèm mức tự tin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考卷寫答案，旁邊再寫有幾分把握</a:t>
            </a:r>
            <a:endParaRPr lang="en-US" sz="950" dirty="0"/>
          </a:p>
        </p:txBody>
      </p:sp>
      <p:pic>
        <p:nvPicPr>
          <p:cNvPr id="13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24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việc thường gặp: phân loại, phát hiện, phân vùng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三種常見的工作：分類、偵測、分割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Phân loại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分類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Phát hiện vật thể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物件偵測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Phân vùng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分割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Câu hỏi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問的問題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Ảnh có người không?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照片裡有沒有人？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ở đâu, mấy người?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人在哪裡、有幾個？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Mỗi điểm ảnh là gì?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每個像素是什麼？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Đầu ra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給的答案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Một nhãn cho cả ảnh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整張照片一個答案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Khung + loại + điểm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框＋類別＋分數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Mỗi điểm ảnh một loại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每個像素一個類別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Trên xe tự lái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自駕車上的例子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Trời mưa hay nắng? Ngày hay đêm?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現在下雨嗎？白天還晚上？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Xe, người, xe máy, đèn giao thông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車、人、機車、紅綠燈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Mặt đường chạy được, vạch kẻ đường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可以開的路面、車道線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213787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Hôm nay tập trung vào phát hiện vật thể: đó là việc chính để tránh va chạm.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今天專講物件偵測：它是避免碰撞最主要的那一塊。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39496" y="3653122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9496" y="368055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832104" y="3625690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phân vùng từng điểm ảnh (NVIDIA DRIVE Labs) · </a:t>
            </a:r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影片：一個像素一個像素地分割（NVIDIA DRIVE Labs）　1:27　</a:t>
            </a:r>
            <a:pPr indent="0" marL="0">
              <a:lnSpc>
                <a:spcPct val="100000"/>
              </a:lnSpc>
              <a:buNone/>
            </a:pPr>
            <a:r>
              <a:rPr lang="en-US" sz="90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youtu.be/HS1wV9NMLr8</a:t>
            </a:r>
            <a:endParaRPr lang="en-US" sz="900" dirty="0"/>
          </a:p>
        </p:txBody>
      </p:sp>
      <p:pic>
        <p:nvPicPr>
          <p:cNvPr id="9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24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Ngưỡng · 門檻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Ngưỡng thấp: báo thêm. Ngưỡng cao: bỏ sót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門檻低：多報。門檻高：漏掉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76451" y="1310492"/>
            <a:ext cx="3558389" cy="216422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7891" y="1401932"/>
            <a:ext cx="3375509" cy="472857"/>
          </a:xfrm>
          <a:prstGeom prst="roundRect">
            <a:avLst>
              <a:gd name="adj" fmla="val 966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41043" y="1429364"/>
            <a:ext cx="3229205" cy="43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Ngưỡng 0,3: bắt được nhiều người hơn, cả người trong trung tâm thương mại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門檻 0.3：抓到更多人，連商場裡的人也算</a:t>
            </a:r>
            <a:endParaRPr lang="en-US" sz="950" dirty="0"/>
          </a:p>
        </p:txBody>
      </p:sp>
      <p:pic>
        <p:nvPicPr>
          <p:cNvPr id="7" name="Image 0" descr="/Users/tsengchenghsun/Class/carClass/Claude outputs/第八週(10-29)/src/img/w8_thr_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91" y="1929653"/>
            <a:ext cx="3375509" cy="123417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7891" y="3182112"/>
            <a:ext cx="33755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scene-1094（新加坡，夜間雨後）· YOLOX-s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709160" y="1310492"/>
            <a:ext cx="3558389" cy="216422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401932"/>
            <a:ext cx="3375509" cy="472857"/>
          </a:xfrm>
          <a:prstGeom prst="roundRect">
            <a:avLst>
              <a:gd name="adj" fmla="val 9669"/>
            </a:avLst>
          </a:prstGeom>
          <a:solidFill>
            <a:srgbClr val="007F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73752" y="1429364"/>
            <a:ext cx="3229205" cy="43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Ngưỡng 0,7: gọn, nhưng bỏ sót người gần (nét đứt trắng)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門檻 0.7：很乾淨，但近處的人漏了（白色虛線）</a:t>
            </a:r>
            <a:endParaRPr lang="en-US" sz="950" dirty="0"/>
          </a:p>
        </p:txBody>
      </p:sp>
      <p:pic>
        <p:nvPicPr>
          <p:cNvPr id="12" name="Image 1" descr="/Users/tsengchenghsun/Class/carClass/Claude outputs/第八週(10-29)/src/img/w8_thr_hig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29653"/>
            <a:ext cx="3375509" cy="123417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00600" y="3182112"/>
            <a:ext cx="33755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白色虛線＝官方標註有、這個門檻下沒抓到的行人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539496" y="3575304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39496" y="360273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832104" y="3547872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hạ ngưỡng để thấy thêm người (TED, Joseph Redmon) · </a:t>
            </a:r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影片：調低門檻，找到更多人（TED）　5:10–5:48　</a:t>
            </a:r>
            <a:pPr indent="0" marL="0">
              <a:lnSpc>
                <a:spcPct val="100000"/>
              </a:lnSpc>
              <a:buNone/>
            </a:pPr>
            <a:r>
              <a:rPr lang="en-US" sz="90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youtu.be/Cgxsv1riJhI?t=310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thêm → phanh nhầm (tuần 7: phanh ma). Bỏ sót → đâm vào. Phải chọn đánh đổi.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多報→亂煞車（上週的幽靈煞車）。漏掉→會撞上。門檻是在兩者之間取捨。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885646" y="365760"/>
            <a:ext cx="3755434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13662" y="384048"/>
            <a:ext cx="35725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chuông báo cháy: nhạy quá kêu hoài, kém quá không kêu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火災警報器：太敏感一直響，太遲鈍不響</a:t>
            </a:r>
            <a:endParaRPr lang="en-US" sz="950" dirty="0"/>
          </a:p>
        </p:txBody>
      </p:sp>
      <p:pic>
        <p:nvPicPr>
          <p:cNvPr id="22" name="Image 2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24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ảnh camera trước: kéo ngưỡng từ 0,1 đến 0,9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404 張前方照片：門檻從 0.1 拉到 0.9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828800"/>
                <a:gridCol w="1325880"/>
                <a:gridCol w="132588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Ngưỡng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門檻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Số khung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框的數量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Khung không khớp nhãn nào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對不到任何標註的框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Xe: bắt được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車：抓到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Người: bắt được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行人：抓到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 2 bánh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機車・腳踏車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4584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922827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Vật thấy được ≥ 60%, trong 50 m. «Không khớp» có khi là vật thật chưa gán nhãn.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只算看得到 60% 以上、50 公尺內。「對不到」有些是真的東西但沒被標。</a:t>
            </a:r>
            <a:endParaRPr lang="en-US" sz="1200" dirty="0"/>
          </a:p>
        </p:txBody>
      </p:sp>
      <p:pic>
        <p:nvPicPr>
          <p:cNvPr id="6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24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Càng xa càng sót · 一遠就漏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429991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rec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514246"/>
            <a:ext cx="4153606" cy="21287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707892"/>
            <a:ext cx="41536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mini 白天 283 張前方照片 · YOLOX-s · 門檻 0.3 · 看得到 60% 以上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5113726" y="914400"/>
            <a:ext cx="352735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đi bộ: trong 10 m bắt được 82%, ở 40–50 m chỉ 3%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行人：10 公尺內抓到 82%，40–50 公尺只剩 3%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cao 1,7 m ở 45 m chỉ còn khoảng 47 điểm ảnh; mô hình thu ảnh về 640 ngang, còn khoảng 19.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1.7 公尺高的人，在 45 公尺外只有約 47 個像素高；模型把照片縮到 640 寬，只剩約 19 個。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483534" y="365760"/>
            <a:ext cx="2157546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11550" y="384048"/>
            <a:ext cx="1974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chữ càng nhỏ càng khó đọc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字愈小愈難認</a:t>
            </a:r>
            <a:endParaRPr lang="en-US" sz="950" dirty="0"/>
          </a:p>
        </p:txBody>
      </p:sp>
      <p:pic>
        <p:nvPicPr>
          <p:cNvPr id="10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24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đêm · 晚上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229868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n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86357"/>
            <a:ext cx="4974336" cy="18187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525012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scene-1094（新加坡，夜間雨後）· YOLOX-s 門檻 0.3 · 白色虛線＝標註有、沒抓到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5934456" y="914400"/>
            <a:ext cx="27066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10–20 m: ban ngày bắt được 66%, ban đêm 49%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10–20 公尺的行人：白天抓到 66%，晚上 49%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mô hình, cùng khoảng cách: tối thì số điểm ảnh «giống người» ít đi. Đúng như bảng hỏng tuần 7: camera ban đêm ▲.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同一個模型、同樣的距離：天一黑，照片上「像人的數字」就少了。跟上週失效表一樣：相機夜間 ▲。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39496" y="3845052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" y="38724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3799332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phát hiện người đi bộ ban đêm (NVIDIA DRIVE Labs)　1:51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影片：夜間行人偵測與主動學習（NVIDIA DRIVE Labs）　</a:t>
            </a:r>
            <a:pPr indent="0" marL="0">
              <a:lnSpc>
                <a:spcPct val="100000"/>
              </a:lnSpc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youtu.be/4aq13pB9s7c</a:t>
            </a:r>
            <a:endParaRPr lang="en-US" sz="850" dirty="0"/>
          </a:p>
        </p:txBody>
      </p:sp>
      <p:pic>
        <p:nvPicPr>
          <p:cNvPr id="11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24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+ lidar · 框＋光達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box_d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11985"/>
            <a:ext cx="4974336" cy="17332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707892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scene-0553 · YOLOX-s 框 ＋ 光達點（黃）· 距離＝框裡點最密那 1 公尺的中位數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5934456" y="914400"/>
            <a:ext cx="27066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trên ảnh không biết bao xa. Thêm điểm lidar thì biết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照片上的框不知道多遠。加上光達的點就知道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8,9 m (nhãn chính thức 9,0 m), xe 21,4 m (22,0 m). Đây là cặp camera + lidar của tuần 7.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8.9 公尺（官方標註 9.0），車 21.4 公尺（官方 22.0）。這就是上週的相機＋光達搭檔。</a:t>
            </a:r>
            <a:endParaRPr lang="en-US" sz="2300" dirty="0"/>
          </a:p>
        </p:txBody>
      </p:sp>
      <p:pic>
        <p:nvPicPr>
          <p:cNvPr id="8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24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2D, khung 3D · 平面框、立體框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box3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11985"/>
            <a:ext cx="4974336" cy="17332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707892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scene-0553 官方 3D 標註框投到照片上 · CC BY-NC-SA 4.0 · 白色那一面＝物體正面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5934456" y="914400"/>
            <a:ext cx="27066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tự lái cần khung 3D: vị trí, kích thước, hướng — 7 con số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自駕車要的是立體框：位置、大小、朝向——7 個數字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2D chỉ nói «ở đâu trên ảnh». Khung 3D nói «ở đâu ngoài đường, to bao nhiêu, quay về đâu».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平面框只說「在照片的哪裡」。立體框說「在路上的哪裡、多大、朝哪邊」。</a:t>
            </a:r>
            <a:endParaRPr lang="en-US" sz="2300" dirty="0"/>
          </a:p>
        </p:txBody>
      </p:sp>
      <p:pic>
        <p:nvPicPr>
          <p:cNvPr id="8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24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Nhìn từ trên · 鳥瞰圖、佔據網格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918972"/>
            <a:ext cx="390656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bev_oc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024245"/>
            <a:ext cx="3760262" cy="21211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214116"/>
            <a:ext cx="37602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scene-0103（波士頓）同一格光達 · 前後左右 30 m · 右圖一格 0.5 m · src/tools_w8_imgs.py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720382" y="914400"/>
            <a:ext cx="392069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Nhìn từ trên: không che nhau, khoảng cách không méo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從上往下看：不會互相擋，距離不會變形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39496" y="3534156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" y="356158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3488436"/>
            <a:ext cx="35773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Occupancy Grid — 5 Minutes with Cyrill　0:04–2:21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影片：佔據網格五分鐘（波昂大學 Cyrill Stachniss）　</a:t>
            </a:r>
            <a:pPr indent="0" marL="0">
              <a:lnSpc>
                <a:spcPct val="100000"/>
              </a:lnSpc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youtu.be/8ckhPViqneg?t=4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Lưới chiếm chỗ không cần biết «là gì»: thùng hàng rơi, cọc tiêu lạ vẫn né được.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佔據網格不用知道「是什麼」：掉在路上的貨、沒看過的路障，一樣避得開。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942713" y="365760"/>
            <a:ext cx="3698367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0729" y="384048"/>
            <a:ext cx="3515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chỗ ngồi: ghế có người, ghế trống, ghế bị che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教室座位表：有人、空位、被擋住看不到</a:t>
            </a:r>
            <a:endParaRPr lang="en-US" sz="950" dirty="0"/>
          </a:p>
        </p:txBody>
      </p:sp>
      <p:pic>
        <p:nvPicPr>
          <p:cNvPr id="15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24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· 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câu cần nhớ của tiết này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這一節要記住的三句話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chỉ là số; mô hình học từ rất nhiều ví dụ có đáp án: đoán, so đáp án, sửa một chút.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照片只是數字；模型從很多有標準答案的例子學：猜、對答案、改一點點。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4505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hiện vật thể cho khung, loại, điểm. Ngưỡng thấp báo thêm, ngưỡng cao bỏ sót.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物件偵測給框、類別、分數。門檻低就多報，門檻高就漏掉。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163824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 và tối thì sót nhiều, người và xe máy sót trước xe. Ghép thêm lidar để biết bao xa; nhìn từ trên để lái.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一遠、一暗就漏，人和機車比車先漏。加上光達才知道多遠；從上往下看才好開車。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2026-10-28T14:34:23Z</dcterms:created>
  <dcterms:modified xsi:type="dcterms:W3CDTF">2026-10-28T14:34:23Z</dcterms:modified>
</cp:coreProperties>
</file>