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讓大家知道，電腦「看見」車和人，靠的是從大量例子學出來的模型；它的輸出是框、類別和分數，而且一遠、一暗就會漏。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各位早，第八週。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前面三週，我們一直在講感測器：相機拍照片、光達打出點、雷達量速度。上週還打開了一份真的自駕車資料，看同一個瞬間每一顆各看到什麼。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可是有一件事我們一直跳過：照片拍到了，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電腦怎麼知道照片裡哪裡是車、哪裡是人？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上週觀察台上那些框，是人一個一個標上去的。真的車上路，沒有人幫它標，它要自己找出來。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今天第一節就講這件事。第二節，各位自己動手當一次「標註員」，幫電腦準備標準答案。第三節是期中複習，下週四期中考。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今天的圖，一樣全部是真的資料：照片來自上週那份 nuScenes，框是我拿一個公開的物件偵測模型，真的跑出來的結果，不是畫的。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讓大家知道這一週三節在做什麼，以及它跟前面幾週怎麼接起來。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先看這一週的安排。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前面幾週，我們把感測器一顆一顆讀完，上週看了它們什麼時候會壞、怎麼合起來。感測器給的，其實只是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原料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：一張照片、一堆點、一串速度。這一週開始問：電腦拿到這些原料，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怎麼看懂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 節，就是現在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：電腦怎麼從一張照片，找出車和人。它會給什麼答案，什麼時候會漏掉。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2 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：電腦是從例子學的，例子要有標準答案。標準答案從哪來？是人一個一個標的。各位會用一個網頁，在真的照片上自己標一次，再跟官方的答案比。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3 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：期中複習。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下星期四，十一月五日，期中考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，就在上課時間考。第三節我們把第一週到今天第一節的重點整理一遍，再做一份模擬考。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第十週，十一月十二日，會接著用標好的資料訓練模型。第十一週十一月十九日校慶停課，別記錯。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讓大家知道，照片對電腦來說只是一張很大的數字表，「哪裡是人」這件事，數字裡沒有直接寫。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我們看照片，一眼就知道：這裡有五個人在過馬路，右邊有一台白車。可是電腦看到的不是這樣。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左邊這張是上週看過的波士頓斑馬線，前方相機拍的。請看那個黃色的小框，很小，在一個人的肩膀附近。右邊，是把那個小框放大，裡面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八乘八，六十四個像素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。每一格寫了三個數字：R 是紅、G 是綠、B 是藍，每個都是零到兩百五十五。數字大就亮，數字小就暗；紅的數字比藍的大，那一格就偏紅棕色。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整張照片有多少個這種數字？橫的一千六百個像素，直的九百個，每個像素三個數字：一千六乘九百乘三，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四百三十二萬個數字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各位可以想成一張超大的 Excel 表，每一格都是數字。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沒有任何一格寫著「這是人」、「這是車」。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電腦要從這四百多萬個數字裡，自己找出「哪一塊數字，排起來像一個人」。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這就是今天要回答的問題：它怎麼做到的？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讓大家知道，「車長什麼樣子」寫不成規則，所以現在的做法是用很多例子讓電腦自己學。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第一個想法：那就寫規則吧。「車子就是四個輪子、一塊長方形的車身」。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看上排這六台車，全部是 nuScenes 裡真的裁下來的。第一台從後面看，看不到四個輪子。第三台是晚上，只剩兩個車燈。第四台被前面的東西擋掉一半，標註上寫它只看得到四到六成。第五台在四十公尺外，很小。每加一種情況，規則就要多寫一條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永遠寫不完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下排是人。有的正面、有的側面；有的撐傘；有的被擋一半；三十三公尺那個人，整個人在照片上只有幾十個像素。「人有兩隻手兩隻腳」這條規則，一半以上的照片都用不上。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那小朋友是怎麼學會認車的？爸媽不會給他一本規則手冊。是走在路上，指給他看：「這是車」「那也是車」「那是機車，不是車」。看了幾百台以後，他自己就會認了，連沒看過的車款也認得出來。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現在的電腦就是這樣學的：給它很多很多張照片，每張都告訴它答案，讓它自己找出規律。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這種做法叫「機器學習」，用的模型一層疊一層很深，所以叫「深度學習」。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讓大家知道「學」是什麼意思：猜、對答案、改一點點，重複很多次；而標準答案要先有人標好。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那「讓電腦自己學」，到底怎麼學？四個步驟，跟各位準備考試很像。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第一步，猜。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丟一張照片進去，模型就猜：「這裡有一個人，框在這裡。」一開始它什麼都不會，猜得亂七八糟。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第二步，對答案。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這張照片，事先已經有人標好了：人在哪裡、車在哪裡。拿模型猜的去比標準答案，看差多少：框偏了多少、類別錯了沒有、有沒有漏掉。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第三步，改一點點。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模型裡面有幾百萬個數字，可以想成幾百萬個小旋鈕。電腦會算出：每個旋鈕往哪邊轉一點點，下次就會差少一點。注意是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一點點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，不是一次改到對。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第四步，重複。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換下一張照片，再猜、再對、再改。幾萬張照片，一輪又一輪。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就像寫考古題：寫完對答案，錯的地方記一下，下一份再寫。寫夠多份，碰到沒看過的題目也會寫。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這裡有一個關鍵：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第二步的標準答案，從哪裡來？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是人標的。上週觀察台上那些框，nuScenes 請人一個一個標了一百四十萬個。沒有標準答案，就沒辦法對答案，模型就學不起來。第二節各位自己當一次標註員。訓練的細節，第十週再講。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讓大家有一個畫面：模型是一層一層看的，從簡單的邊，慢慢組成複雜的東西。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模型裡面是一層一層的。每一層把上一層的結果再整理一次。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前幾層，找很簡單的東西：邊和顏色。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，是同一張照片只留下「邊」：顏色突然變化的地方畫成黑線。斑馬線、人的輪廓、路燈桿，全部變成線條。要說清楚，左圖是我用一個很簡單的邊緣運算畫的，用來示意第一層大概在做什麼，不是模型裡面真的拿出來的圖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中間幾層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，把邊組起來：幾條弧線組成一個圓，可能是輪子；兩條直直的長邊，可能是腿；一塊方方的亮區，可能是車窗。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最後一層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，把這些零件組起來，給出答案：右邊這張，就是模型最後的輸出。五個人、兩台車、一台卡車，每一個都有一個框。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最重要的一點：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沒有人告訴它「哪些邊組起來是腿」。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這些全部是它在第二步「對答案、改一點點」的過程中，自己調出來的。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右邊這張是真的跑出來的。我用一個公開的物件偵測模型，叫 YOLOX，在上週那份資料的四百零四張前方照片上全部跑過一次。接下來幾張的數字，都是從這四百零四張算的。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讓大家會讀物件偵測的輸出：每個框有三樣東西，框、類別、分數。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把右邊那張放大來看。這種工作叫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物件偵測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，它對每一個找到的東西，給三樣資訊。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第一，框。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一個長方形，告訴你東西在照片的哪裡。注意，這是照片上的框，只知道在照片的左邊還是右邊、上面還是下面，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不知道它離車子幾公尺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。這一點等一下會再回來。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第二，類別。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是人、是車、是卡車。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第三，分數。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零到一之間。「人 0.91」，意思是模型對「這裡有一個人」很有把握。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看遠處那台「卡車 0.52」，它其實是一台公車，官方標註寫的是公車。類別錯了，分數也比較低。模型沒把握的時候，分數就低。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有一個常見的誤會：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0.91 不等於「百分之九十一一定對」。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它比較像考試的時候，答案旁邊自己寫「我有幾分把握」，有人寫九分的也會錯。這個分數真正的用途，是拿來排序、拿來切一刀：低於某個分數的框就不要了。這一刀叫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門檻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，下下張會看到，門檻切在哪裡，影響非常大。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讓大家分得清三種常見的視覺工作：分類、偵測、分割，各自回答什麼問題。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剛剛那種「框出來」的工作叫偵測。其實電腦看照片，常見的有三種工作，差在問的問題不一樣。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分類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：問「這張照片裡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人？」整張照片只給一個答案。車上可以用它判斷：現在是不是在下雨、是白天還是晚上。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物件偵測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：問「人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在哪裡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、有幾個？」答案就是剛剛那種，一個東西一個框，加上類別和分數。車、人、機車、紅綠燈，都是用它找。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分割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：問得最細，「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每一個像素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是什麼？」這個像素是路、那個像素是人行道、那個是車道線。車上用它找出「哪裡是可以開的路面」。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三種愈往右愈細，要算的也愈多，要標的標準答案也愈費工：分類只要寫一個字，偵測要畫框，分割要一個像素一個像素塗顏色。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今天專講中間這種，物件偵測，因為它是避免撞到東西最主要的那一塊。第二節各位標的，也是偵測用的框。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讓大家知道，門檻切在哪裡是一種取捨：低了多報，高了漏掉，沒有一個門檻兩邊都好。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同一張照片，新加坡，晚上剛下過雨。兩邊只差一件事：門檻。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左邊，門檻 0.3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：分數 0.3 以上的框全部留下。路口那幾個行人都抓到了，右邊路口等紅燈的人也抓到了。可是請看右上角，商場玻璃門裡面那兩個「人 0.44」：真的是人，但他們在商場裡面，不在路上，官方也沒有標。對開車來說，這種框是多餘的。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右邊，門檻 0.7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：只留分數 0.7 以上的。畫面很乾淨，可是請看那些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白色虛線框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：那是官方標註裡有、這個門檻下沒被抓到的行人。路口中間、離車子最近的那群人，只剩一個框。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用火災警報器來想。太敏感，炒個菜就響，大家就把它拔掉了；太遲鈍，真的失火了也不響。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放到車上：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多報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，車子會為了不存在的東西煞車，就是上週講的幽靈煞車；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漏掉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，前面明明有人，車子不煞。哪一種比較嚴重？漏掉人當然比較嚴重，所以行人通常門檻會設得比較低，多出來的框，再靠光達、雷達、追蹤去確認。這就是上週講的融合派上用場的地方。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讓大家用真的數字看見門檻的取捨：多報少了，漏掉的就多了，兩欄一起動。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上一張是一張照片，這一張是全部四百零四張前方照片加起來，白天、晚上都有。我把門檻從 0.1 一路拉到 0.9，每一列算一次。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先看第三欄，「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對不到任何標註的框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」，就是框框住的地方，官方標註裡什麼都沒有。門檻 0.1 有七百八十一個；0.3 剩兩百八十四；0.7 剩三十五；0.9 一個都沒有。門檻愈高，多報愈少。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再看後面三欄，「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抓到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」的比例：官方標註的車、人、二輪，有多少被框到了。門檻 0.1，車 87%、行人 63%；門檻 0.9，車剩 18%，行人剩 2%，幾乎全部漏光。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兩件事一起看：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要多報少，就要接受漏得多；要漏得少，就要接受多報。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沒有一列兩邊都好。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另外兩個細節。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第一，「對不到標註」不一定都是錯的。上一張商場裡的人就是例子：真的有人，只是官方沒標。所以這一欄是「最多有這麼多個多報」。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第二，同一個門檻，行人比車差很多，機車、腳踏車更差：門檻 0.3，車 82%、行人 53%、二輪只有 27%。人和機車比車小，下一張會看到，一遠就更明顯。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讓大家知道，相機的偵測也是一遠就漏，而且人和機車比車掉得快很多。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這張是白天的照片，只算看得到六成以上的物體，門檻 0.3。橫軸是距離，每十公尺一組；柱子是抓到的比例。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綠色是車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：十到二十公尺 94%，到四十到五十公尺還有 83%，掉得很少。最左邊十公尺內只有 64%，我一台一台查過，沒抓到的那十台，全部都是太近、有一部分跑出畫面外面，被邊框切掉的。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紅色是行人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：十公尺內 82%，然後一路往下：66%、60%、37%，到四十到五十公尺，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只剩 3%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，三十九個人只抓到一個。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黃色是機車和腳踏車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，比行人還差：二十到三十公尺就只剩 21%。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為什麼？算一下。一個一點七公尺高的人，用這台相機拍，十公尺外在照片上大約兩百多個像素高；四十五公尺外，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只剩四十七個像素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。而且這個模型為了算得快，會先把照片縮成六百四十個像素寬，大約變成原來的四成，四十七個像素就只剩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十九個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。十九個像素，大概就是一個小指甲那麼大，要認出是人很難。車子大得多，同樣距離還有好幾十個像素，所以還認得出來。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就像看遠處的招牌：字愈小，愈難認。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跟上週比一下：上週看的是雷達和光達一遠就稀，今天看到相機的偵測也一樣。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每一種都是一遠就變差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，只是差的方式不一樣。這也是第五週為什麼要算「四十公尺外的機車有幾個點」。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讓大家知道，同一個模型，晚上就會漏得比較多；這跟上週失效對照表「相機夜間變差」是同一件事。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這一張是晚上，新加坡，剛下過雨。框是模型抓到的，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白色虛線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是官方標註有、但模型沒抓到的。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把全部的夜間照片加起來，十到二十公尺的行人，白天抓到 66%，晚上只有 49%，三個人裡少抓了半個。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原因不難想。照片就是那四百多萬個數字。晚上，人身上的數字大多很小、很暗，跟背景差不多；只有被路燈、車燈照到的部分才亮。模型在白天學到的「人的樣子」，到晚上很多都對不上了。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上週那張失效對照表，「夜間」那一列，相機是三角形，變差。今天是用真的偵測結果，把那個三角形量出來。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那晚上怎麼辦？上週講過：光達自己帶光源，晚上點數不會變少。所以晚上更需要把光達的點和相機的框合起來看，就是下一張。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讓大家知道，照片上的框只知道方向、不知道距離；把光達的點放進框裡，才知道它有多遠。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剛剛說過，偵測器給的框，是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照片上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的框。它知道人在照片的左邊、右邊，可是不知道人離車子三公尺還是三十公尺。開車最需要的，偏偏是距離。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上週講融合的時候，第二堂第四張，把光達的點投到照片上。今天把兩件事接起來：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照片負責說「這是人」，光達負責說「多遠」。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看這張圖。框是模型抓的，黃色的點是光達的點，投到照片上。每個框裡都有一些黃點，每一個點都知道自己多遠。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可是框裡的點，不一定全部打在那個人身上。框是長方形，人不是，框的角落會有背後的路面、遠處的建築。所以我的算法是：框裡的點，找出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最密的那一公尺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，取它的中間值。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結果：五個人分別是 8.9、7.9、10.0、10.1、9.3 公尺；官方標註這幾個人在 8.0 到 10.2 公尺之間，差不到一公尺。後面那台車，算出來 21.4 公尺，官方 22.0。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這就是上週講的相機加光達：相機認得出是什麼，光達量得出多遠。合起來，才是開車用得上的資訊。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讓大家分清楚平面的框和立體的框，自駕車做決定要的是立體框。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這張是同一個路口，畫的是 nuScenes 官方標註的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立體框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，投到照片上看。每個人被一個長方體包起來。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上週第三節講過，官方每個框記了七個數字：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位置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三個，前後、左右、高低；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大小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三個，長、寬、高；還有一個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朝向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，車頭朝哪邊。圖上白色那一面，就是物體的正面。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為什麼自駕車要立體框？因為它要做的決定都是在真的路上：那個人離我幾公尺、他往哪個方向走、我要不要讓。平面框只能說「在照片右下角」，回答不了這些。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那立體框怎麼來？兩種做法。第一種就是上一張：照片的框加上光達的點，把它「撐」成立體的。第二種是直接拿光達的點雲去找，光達的點本來就是立體的，有現成的模型專門做這件事，例如 nuScenes 那家公司自己做的 PointPillars，把點雲切成一根一根柱子來看。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下一張，我們把這些立體框從上往下看。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讓大家知道為什麼自駕車喜歡「從上往下看」，以及佔據網格在做什麼：不用認出是什麼，也知道哪裡不能開。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左邊是鳥瞰圖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，波士頓的一條街。自己的車在正中間，車頭朝上，前後左右各三十公尺。灰色的點是光達，綠色長方形是車，紅色小方塊是人。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為什麼要從上往下看？三個原因。第一，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不會互相擋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：照片上，前面的車會擋住後面的車；從上面看，每台車各佔一塊地。第二，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距離不會變形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：照片上近的東西大、遠的東西小；鳥瞰圖上，一公尺就是一公尺。第三，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開車本來就是在地面上做決定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：往左還是往右、停在哪裡，都是平面上的事。上週講的中期融合，就是把相機、光達都先畫成同一張鳥瞰圖。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右邊是佔據網格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，用同一格光達算的。把地面切成一格一格，每格半公尺。每一格只問一件事：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紅色，有東西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：這一格有高出地面的點。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白色，空的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：雷射從光達打出去，一路經過這些格子都沒碰到東西，所以是空的。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灰色，不知道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：雷射根本沒打到那裡，例如被牆、被車擋住的後面。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就像教室的座位表：有人坐、空位、被柱子擋住看不到。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佔據網格最大的好處是：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不用知道那是什麼。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路上掉了一箱貨、一個沒看過的路障，偵測器可能認不出來，因為它沒學過這種東西；可是佔據網格只問「這一格有沒有東西」，一樣會標紅，車子一樣會避開。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還有灰色那一塊要特別小心：「不知道」不等於「空的」。被大卡車擋住的後面，可能就站著一個人。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這一節的目的回顧：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三句話帶走。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照片對電腦只是數字。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模型不是靠規則認車，是從很多很多有標準答案的例子學出來的：猜、對答案、改一點點，重複幾百萬次。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物件偵測給三樣東西：框、類別、分數。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分數拿來切門檻：門檻低，多報，車子亂煞；門檻高，漏掉，車子會撞。沒有一個門檻兩邊都好。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一遠、一暗就漏，人和機車比車先漏。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行人四十公尺外幾乎抓不到；晚上，十到二十公尺的行人從 66% 掉到 49%。照片的框不知道多遠，要加上光達的點；做決定的時候，要把它們放到從上往下看的地圖上。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這一節一直提到「標準答案」。標準答案從哪裡來？下一節，各位自己來標。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8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519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Nhận thức (1): máy tính «nhìn thấy» xe và người thế nào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感知（一）：電腦怎麼「看見」車和人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3233138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433613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chỉ là một đống số — mô hình học từ ví dụ — khung, loại, điểm tin cậy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照片只是一堆數字、模型從例子學、框＋類別＋分數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第八週 第 1 節　2026/10/29（四）09:10–10:00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126158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5201" y="284534"/>
            <a:ext cx="7913598" cy="818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4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trước: cảm biến cho nguyên liệu. Tuần này: máy tính hiểu nguyên liệu</a:t>
            </a:r>
            <a:endParaRPr lang="en-US" sz="214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上週：感測器給原料。這週：電腦看懂原料</a:t>
            </a:r>
            <a:endParaRPr lang="en-US" sz="2140" dirty="0"/>
          </a:p>
        </p:txBody>
      </p:sp>
      <p:sp>
        <p:nvSpPr>
          <p:cNvPr id="3" name="Shape 1"/>
          <p:cNvSpPr/>
          <p:nvPr/>
        </p:nvSpPr>
        <p:spPr>
          <a:xfrm>
            <a:off x="615201" y="1285877"/>
            <a:ext cx="2460032" cy="264972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614033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614033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60" dirty="0"/>
          </a:p>
        </p:txBody>
      </p:sp>
      <p:sp>
        <p:nvSpPr>
          <p:cNvPr id="6" name="Text 4"/>
          <p:cNvSpPr txBox="1"/>
          <p:nvPr/>
        </p:nvSpPr>
        <p:spPr>
          <a:xfrm>
            <a:off x="739684" y="2014995"/>
            <a:ext cx="2211065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máy tính nhìn thấy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 節・電腦怎麼看見</a:t>
            </a:r>
            <a:endParaRPr lang="en-US" sz="1360" dirty="0"/>
          </a:p>
        </p:txBody>
      </p:sp>
      <p:sp>
        <p:nvSpPr>
          <p:cNvPr id="7" name="Text 5"/>
          <p:cNvSpPr txBox="1"/>
          <p:nvPr/>
        </p:nvSpPr>
        <p:spPr>
          <a:xfrm>
            <a:off x="739684" y="2690763"/>
            <a:ext cx="2211065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→ khung, loại, điểm tin cậy. Khi nào bỏ sót.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照片 → 框、類別、分數。什麼時候會漏。</a:t>
            </a:r>
            <a:endParaRPr lang="en-US" sz="1120" dirty="0"/>
          </a:p>
        </p:txBody>
      </p:sp>
      <p:sp>
        <p:nvSpPr>
          <p:cNvPr id="8" name="Text 6"/>
          <p:cNvSpPr txBox="1"/>
          <p:nvPr/>
        </p:nvSpPr>
        <p:spPr>
          <a:xfrm>
            <a:off x="3075233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9" name="Shape 7"/>
          <p:cNvSpPr/>
          <p:nvPr/>
        </p:nvSpPr>
        <p:spPr>
          <a:xfrm>
            <a:off x="3341984" y="1285877"/>
            <a:ext cx="2460032" cy="264972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0816" y="1463711"/>
            <a:ext cx="462368" cy="46236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340816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60" dirty="0"/>
          </a:p>
        </p:txBody>
      </p:sp>
      <p:sp>
        <p:nvSpPr>
          <p:cNvPr id="12" name="Text 10"/>
          <p:cNvSpPr txBox="1"/>
          <p:nvPr/>
        </p:nvSpPr>
        <p:spPr>
          <a:xfrm>
            <a:off x="3466467" y="2014995"/>
            <a:ext cx="2211065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gán nhãn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2 節・資料標註</a:t>
            </a:r>
            <a:endParaRPr lang="en-US" sz="1360" dirty="0"/>
          </a:p>
        </p:txBody>
      </p:sp>
      <p:sp>
        <p:nvSpPr>
          <p:cNvPr id="13" name="Text 11"/>
          <p:cNvSpPr txBox="1"/>
          <p:nvPr/>
        </p:nvSpPr>
        <p:spPr>
          <a:xfrm>
            <a:off x="3466467" y="2690763"/>
            <a:ext cx="2211065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chuẩn từ đâu ra? Tự tay gán nhãn trên ảnh thật.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標準答案從哪來？自己在真的照片上標。</a:t>
            </a:r>
            <a:endParaRPr lang="en-US" sz="1120" dirty="0"/>
          </a:p>
        </p:txBody>
      </p:sp>
      <p:sp>
        <p:nvSpPr>
          <p:cNvPr id="14" name="Text 12"/>
          <p:cNvSpPr txBox="1"/>
          <p:nvPr/>
        </p:nvSpPr>
        <p:spPr>
          <a:xfrm>
            <a:off x="5802016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15" name="Shape 13"/>
          <p:cNvSpPr/>
          <p:nvPr/>
        </p:nvSpPr>
        <p:spPr>
          <a:xfrm>
            <a:off x="6068767" y="1285877"/>
            <a:ext cx="2460032" cy="264972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067599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067599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60" dirty="0"/>
          </a:p>
        </p:txBody>
      </p:sp>
      <p:sp>
        <p:nvSpPr>
          <p:cNvPr id="18" name="Text 16"/>
          <p:cNvSpPr txBox="1"/>
          <p:nvPr/>
        </p:nvSpPr>
        <p:spPr>
          <a:xfrm>
            <a:off x="6193250" y="2014995"/>
            <a:ext cx="2211065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ôn giữa kỳ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3 節・期中複習</a:t>
            </a:r>
            <a:endParaRPr lang="en-US" sz="1360" dirty="0"/>
          </a:p>
        </p:txBody>
      </p:sp>
      <p:sp>
        <p:nvSpPr>
          <p:cNvPr id="19" name="Text 17"/>
          <p:cNvSpPr txBox="1"/>
          <p:nvPr/>
        </p:nvSpPr>
        <p:spPr>
          <a:xfrm>
            <a:off x="6193250" y="2690763"/>
            <a:ext cx="2211065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1 đến tiết 1 hôm nay. Thi thứ Năm tuần sau, 5/11.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第一週到今天第 1 節。下週四 11/5 期中考。</a:t>
            </a:r>
            <a:endParaRPr lang="en-US" sz="1120" dirty="0"/>
          </a:p>
        </p:txBody>
      </p:sp>
      <p:sp>
        <p:nvSpPr>
          <p:cNvPr id="20" name="Text 18"/>
          <p:cNvSpPr txBox="1"/>
          <p:nvPr/>
        </p:nvSpPr>
        <p:spPr>
          <a:xfrm>
            <a:off x="615201" y="4077866"/>
            <a:ext cx="7913598" cy="551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2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10 (12/11) học tiếp: dùng dữ liệu tự gán nhãn để huấn luyện mô hình.</a:t>
            </a:r>
            <a:endParaRPr lang="en-US" sz="122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2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第十週（11/12）接著上：拿自己標的資料訓練模型。</a:t>
            </a:r>
            <a:endParaRPr lang="en-US" sz="1220" dirty="0"/>
          </a:p>
        </p:txBody>
      </p:sp>
      <p:pic>
        <p:nvPicPr>
          <p:cNvPr id="22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232859" y="124484"/>
            <a:ext cx="800252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16</a:t>
            </a:r>
            <a:endParaRPr lang="en-US" sz="880" dirty="0"/>
          </a:p>
        </p:txBody>
      </p:sp>
      <p:sp>
        <p:nvSpPr>
          <p:cNvPr id="24" name="Text 20"/>
          <p:cNvSpPr txBox="1"/>
          <p:nvPr/>
        </p:nvSpPr>
        <p:spPr>
          <a:xfrm>
            <a:off x="1059785" y="124484"/>
            <a:ext cx="1956170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8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là gì · 照片對電腦是什麼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4701235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pixel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511046"/>
            <a:ext cx="4554931" cy="213512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55493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scene-0553（波士頓）· CC BY-NC-SA 4.0 · 右：左圖黃框那 8×8 個像素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515051" y="914400"/>
            <a:ext cx="3126029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Với máy tính, ảnh chỉ là 4,32 triệu con số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對電腦來說，照片只是 432 萬個數字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điểm ảnh 3 số: đỏ, xanh lá, xanh dương (0–255). Không có số nào ghi «đây là người».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每個像素三個數字：紅、綠、藍（0 到 255）。沒有一個數字寫著「這是人」。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6426467" y="365760"/>
            <a:ext cx="2214613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554483" y="384048"/>
            <a:ext cx="20317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bảng Excel chỉ toàn số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一張只有數字的 Excel 表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16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luật? · 寫規則行不通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493776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variet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669729"/>
            <a:ext cx="4791456" cy="181775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791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mini 真實裁切 · CC BY-NC-SA 4.0 · 「看得到」是官方標註的可見度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751576" y="914400"/>
            <a:ext cx="288950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«Xe = bốn bánh»? Luật viết không hết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「車＝四個輪子」？規則寫不完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xe, cùng là người: góc nhìn, ngày đêm, bị che, xa gần đều khác. Nên dạy bằng ví dụ, không bằng luật.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同樣是車、是人：角度、白天晚上、被擋住、遠近都不一樣。所以改用例子教，不寫規則。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6768871" y="365760"/>
            <a:ext cx="1872209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96887" y="384048"/>
            <a:ext cx="16893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dạy em bé nhận ra xe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教小朋友認車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16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126158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5201" y="284534"/>
            <a:ext cx="7913598" cy="818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4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Học sâu: đoán, so đáp án, sửa một chút — lặp lại hàng triệu lần</a:t>
            </a:r>
            <a:endParaRPr lang="en-US" sz="214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深度學習：猜、對答案、改一點點——重複幾百萬次</a:t>
            </a:r>
            <a:endParaRPr lang="en-US" sz="2140" dirty="0"/>
          </a:p>
        </p:txBody>
      </p:sp>
      <p:sp>
        <p:nvSpPr>
          <p:cNvPr id="3" name="Shape 1"/>
          <p:cNvSpPr/>
          <p:nvPr/>
        </p:nvSpPr>
        <p:spPr>
          <a:xfrm>
            <a:off x="615201" y="1285877"/>
            <a:ext cx="1778337" cy="264972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273185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273185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60" dirty="0"/>
          </a:p>
        </p:txBody>
      </p:sp>
      <p:sp>
        <p:nvSpPr>
          <p:cNvPr id="6" name="Text 4"/>
          <p:cNvSpPr txBox="1"/>
          <p:nvPr/>
        </p:nvSpPr>
        <p:spPr>
          <a:xfrm>
            <a:off x="739684" y="2014995"/>
            <a:ext cx="1529370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Đoán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猜</a:t>
            </a:r>
            <a:endParaRPr lang="en-US" sz="1360" dirty="0"/>
          </a:p>
        </p:txBody>
      </p:sp>
      <p:sp>
        <p:nvSpPr>
          <p:cNvPr id="7" name="Text 5"/>
          <p:cNvSpPr txBox="1"/>
          <p:nvPr/>
        </p:nvSpPr>
        <p:spPr>
          <a:xfrm>
            <a:off x="739684" y="2690763"/>
            <a:ext cx="1529370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Đưa một ảnh vào, mô hình đoán: ở đây có người, khung này.</a:t>
            </a:r>
            <a:endParaRPr lang="en-US" sz="10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丟一張照片進去，模型猜：這裡有一個人，框在這裡。</a:t>
            </a:r>
            <a:endParaRPr lang="en-US" sz="1020" dirty="0"/>
          </a:p>
        </p:txBody>
      </p:sp>
      <p:sp>
        <p:nvSpPr>
          <p:cNvPr id="8" name="Text 6"/>
          <p:cNvSpPr txBox="1"/>
          <p:nvPr/>
        </p:nvSpPr>
        <p:spPr>
          <a:xfrm>
            <a:off x="2393538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9" name="Shape 7"/>
          <p:cNvSpPr/>
          <p:nvPr/>
        </p:nvSpPr>
        <p:spPr>
          <a:xfrm>
            <a:off x="2660288" y="1285877"/>
            <a:ext cx="1778337" cy="264972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318273" y="1463711"/>
            <a:ext cx="462368" cy="46236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318273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60" dirty="0"/>
          </a:p>
        </p:txBody>
      </p:sp>
      <p:sp>
        <p:nvSpPr>
          <p:cNvPr id="12" name="Text 10"/>
          <p:cNvSpPr txBox="1"/>
          <p:nvPr/>
        </p:nvSpPr>
        <p:spPr>
          <a:xfrm>
            <a:off x="2784772" y="2014995"/>
            <a:ext cx="1529370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đáp án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對答案</a:t>
            </a:r>
            <a:endParaRPr lang="en-US" sz="1360" dirty="0"/>
          </a:p>
        </p:txBody>
      </p:sp>
      <p:sp>
        <p:nvSpPr>
          <p:cNvPr id="13" name="Text 11"/>
          <p:cNvSpPr txBox="1"/>
          <p:nvPr/>
        </p:nvSpPr>
        <p:spPr>
          <a:xfrm>
            <a:off x="2784772" y="2690763"/>
            <a:ext cx="1529370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với đáp án con người gán nhãn: lệch bao nhiêu?</a:t>
            </a:r>
            <a:endParaRPr lang="en-US" sz="10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跟人標好的標準答案比：差多少？</a:t>
            </a:r>
            <a:endParaRPr lang="en-US" sz="1020" dirty="0"/>
          </a:p>
        </p:txBody>
      </p:sp>
      <p:sp>
        <p:nvSpPr>
          <p:cNvPr id="14" name="Text 12"/>
          <p:cNvSpPr txBox="1"/>
          <p:nvPr/>
        </p:nvSpPr>
        <p:spPr>
          <a:xfrm>
            <a:off x="4438625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15" name="Shape 13"/>
          <p:cNvSpPr/>
          <p:nvPr/>
        </p:nvSpPr>
        <p:spPr>
          <a:xfrm>
            <a:off x="4705375" y="1285877"/>
            <a:ext cx="1778337" cy="264972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63360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63360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60" dirty="0"/>
          </a:p>
        </p:txBody>
      </p:sp>
      <p:sp>
        <p:nvSpPr>
          <p:cNvPr id="18" name="Text 16"/>
          <p:cNvSpPr txBox="1"/>
          <p:nvPr/>
        </p:nvSpPr>
        <p:spPr>
          <a:xfrm>
            <a:off x="4829859" y="2014995"/>
            <a:ext cx="1529370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Sửa một chút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改一點點</a:t>
            </a:r>
            <a:endParaRPr lang="en-US" sz="1360" dirty="0"/>
          </a:p>
        </p:txBody>
      </p:sp>
      <p:sp>
        <p:nvSpPr>
          <p:cNvPr id="19" name="Text 17"/>
          <p:cNvSpPr txBox="1"/>
          <p:nvPr/>
        </p:nvSpPr>
        <p:spPr>
          <a:xfrm>
            <a:off x="4829859" y="2690763"/>
            <a:ext cx="1529370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Chỉnh hàng triệu con số bên trong để lần sau lệch ít hơn.</a:t>
            </a:r>
            <a:endParaRPr lang="en-US" sz="10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調整裡面幾百萬個數字，讓下次差少一點。</a:t>
            </a:r>
            <a:endParaRPr lang="en-US" sz="1020" dirty="0"/>
          </a:p>
        </p:txBody>
      </p:sp>
      <p:sp>
        <p:nvSpPr>
          <p:cNvPr id="20" name="Text 18"/>
          <p:cNvSpPr txBox="1"/>
          <p:nvPr/>
        </p:nvSpPr>
        <p:spPr>
          <a:xfrm>
            <a:off x="6483712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21" name="Shape 19"/>
          <p:cNvSpPr/>
          <p:nvPr/>
        </p:nvSpPr>
        <p:spPr>
          <a:xfrm>
            <a:off x="6750462" y="1285877"/>
            <a:ext cx="1778337" cy="264972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08447" y="1463711"/>
            <a:ext cx="462368" cy="46236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08447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60" dirty="0"/>
          </a:p>
        </p:txBody>
      </p:sp>
      <p:sp>
        <p:nvSpPr>
          <p:cNvPr id="24" name="Text 22"/>
          <p:cNvSpPr txBox="1"/>
          <p:nvPr/>
        </p:nvSpPr>
        <p:spPr>
          <a:xfrm>
            <a:off x="6874946" y="2014995"/>
            <a:ext cx="1529370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Lặp lại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重複</a:t>
            </a:r>
            <a:endParaRPr lang="en-US" sz="1360" dirty="0"/>
          </a:p>
        </p:txBody>
      </p:sp>
      <p:sp>
        <p:nvSpPr>
          <p:cNvPr id="25" name="Text 23"/>
          <p:cNvSpPr txBox="1"/>
          <p:nvPr/>
        </p:nvSpPr>
        <p:spPr>
          <a:xfrm>
            <a:off x="6874946" y="2690763"/>
            <a:ext cx="1529370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chục nghìn ảnh, lặp nhiều vòng.</a:t>
            </a:r>
            <a:endParaRPr lang="en-US" sz="10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幾萬張照片，一輪又一輪。</a:t>
            </a:r>
            <a:endParaRPr lang="en-US" sz="1020" dirty="0"/>
          </a:p>
        </p:txBody>
      </p:sp>
      <p:sp>
        <p:nvSpPr>
          <p:cNvPr id="26" name="Text 24"/>
          <p:cNvSpPr txBox="1"/>
          <p:nvPr/>
        </p:nvSpPr>
        <p:spPr>
          <a:xfrm>
            <a:off x="615201" y="4077866"/>
            <a:ext cx="7913598" cy="551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2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chuẩn = dữ liệu gán nhãn. Không có nhãn thì không học được — tiết 2 tự làm.</a:t>
            </a:r>
            <a:endParaRPr lang="en-US" sz="122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2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標準答案＝標註資料。沒有標註就學不了——第 2 節自己做。</a:t>
            </a:r>
            <a:endParaRPr lang="en-US" sz="1220" dirty="0"/>
          </a:p>
        </p:txBody>
      </p:sp>
      <p:pic>
        <p:nvPicPr>
          <p:cNvPr id="28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232859" y="124484"/>
            <a:ext cx="800252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16</a:t>
            </a:r>
            <a:endParaRPr lang="en-US" sz="880" dirty="0"/>
          </a:p>
        </p:txBody>
      </p:sp>
      <p:sp>
        <p:nvSpPr>
          <p:cNvPr id="30" name="Text 26"/>
          <p:cNvSpPr txBox="1"/>
          <p:nvPr/>
        </p:nvSpPr>
        <p:spPr>
          <a:xfrm>
            <a:off x="1059785" y="124484"/>
            <a:ext cx="1956170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8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Từng lớp · 一層一層看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831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Lớp đầu tìm cạnh; lớp giữa ghép thành bánh xe, chân; lớp cuối nói «đây là người»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前幾層找邊，中間組成輪子、腿，最後一層說「這是人」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580904"/>
            <a:ext cx="3931920" cy="2110919"/>
          </a:xfrm>
          <a:prstGeom prst="roundRect">
            <a:avLst>
              <a:gd name="adj" fmla="val 433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672344"/>
            <a:ext cx="3749040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" y="1699776"/>
            <a:ext cx="3602736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Giống lớp đầu: chỉ còn các cạnh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像第一層做的事：只剩邊</a:t>
            </a:r>
            <a:endParaRPr lang="en-US" sz="950" dirty="0"/>
          </a:p>
        </p:txBody>
      </p:sp>
      <p:pic>
        <p:nvPicPr>
          <p:cNvPr id="7" name="Image 0" descr="/Users/tsengchenghsun/Class/carClass/Claude outputs/第八週(10-29)/src/img/w8_edg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2074621"/>
            <a:ext cx="3749040" cy="130630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94360" y="3399215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同一張照片用簡單的邊緣運算（Canny）畫出，示意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709160" y="1580904"/>
            <a:ext cx="3931920" cy="2110919"/>
          </a:xfrm>
          <a:prstGeom prst="roundRect">
            <a:avLst>
              <a:gd name="adj" fmla="val 433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00600" y="1672344"/>
            <a:ext cx="3749040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73752" y="1699776"/>
            <a:ext cx="3602736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Lớp cuối: khung, loại, điểm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最後一層：框、類別、分數</a:t>
            </a:r>
            <a:endParaRPr lang="en-US" sz="950" dirty="0"/>
          </a:p>
        </p:txBody>
      </p:sp>
      <p:pic>
        <p:nvPicPr>
          <p:cNvPr id="12" name="Image 1" descr="/Users/tsengchenghsun/Class/carClass/Claude outputs/第八週(10-29)/src/img/w8_det_day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2074621"/>
            <a:ext cx="3749040" cy="130630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800600" y="3399215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YOLOX-s（Apache-2.0）真的跑出來的結果 · nuScenes scene-0553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838127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902135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ai viết «cạnh nào là chân»: mô hình tự học từ ví dụ.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沒有人寫「哪些邊是腿」：模型自己從例子學出來的。</a:t>
            </a:r>
            <a:endParaRPr lang="en-US" sz="1200" dirty="0"/>
          </a:p>
        </p:txBody>
      </p:sp>
      <p:pic>
        <p:nvPicPr>
          <p:cNvPr id="17" name="Image 2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16</a:t>
            </a:r>
            <a:endParaRPr lang="en-US" sz="900" dirty="0"/>
          </a:p>
        </p:txBody>
      </p:sp>
      <p:sp>
        <p:nvSpPr>
          <p:cNvPr id="19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Đầu ra · 偵測器給什麼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det_da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711985"/>
            <a:ext cx="4974336" cy="17332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YOLOX-s 偵測結果（分數 ≥ 0.5）· nuScenes scene-0553 · CC BY-NC-SA 4.0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thứ: khung (ở đâu), loại (là gì), điểm (chắc bao nhiêu)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三樣東西：框（在哪）、類別（是什麼）、分數（多有把握）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0,91 không phải «91% chắc chắn đúng»; nó chỉ để xếp hạng và cắt ngưỡng.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分數 0.91 不是「91% 一定對」，它是拿來排序、拿來設門檻的。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6141129" y="365760"/>
            <a:ext cx="2499951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269145" y="384048"/>
            <a:ext cx="23170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chấm bài: đáp án kèm mức tự tin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考卷寫答案，旁邊再寫有幾分把握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16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việc thường gặp: phân loại, phát hiện, phân vùng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三種常見的工作：分類、偵測、分割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194560"/>
                <a:gridCol w="2194560"/>
                <a:gridCol w="2194560"/>
              </a:tblGrid>
              <a:tr h="384048">
                <a:tc>
                  <a:txBody>
                    <a:bodyPr/>
                    <a:lstStyle/>
                    <a:p>
                      <a:endParaRPr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loại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分類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Phát hiện vật thể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物件偵測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vùng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分割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Câu hỏi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問的問題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Ảnh có người không?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照片裡有沒有人？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ở đâu, mấy người?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人在哪裡、有幾個？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Mỗi điểm ảnh là gì?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每個像素是什麼？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Đầu 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給的答案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nhãn cho cả ảnh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整張照片一個答案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Khung + loại + điểm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框＋類別＋分數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Mỗi điểm ảnh một loại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每個像素一個類別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Trên xe tự lái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自駕車上的例子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Trời mưa hay nắng? Ngày hay đêm?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現在下雨嗎？白天還晚上？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Xe, người, xe máy, đèn giao thông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車、人、機車、紅綠燈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Mặt đường chạy được, vạch kẻ đường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可以開的路面、車道線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213787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Hôm nay tập trung vào phát hiện vật thể: đó là việc chính để tránh va chạm.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今天專講物件偵測：它是避免碰撞最主要的那一塊。</a:t>
            </a:r>
            <a:endParaRPr lang="en-US" sz="120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16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· 門檻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thấp: báo thêm. Ngưỡng cao: bỏ sót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門檻低：多報。門檻高：漏掉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310492"/>
            <a:ext cx="3931920" cy="2300800"/>
          </a:xfrm>
          <a:prstGeom prst="roundRect">
            <a:avLst>
              <a:gd name="adj" fmla="val 397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01932"/>
            <a:ext cx="3749040" cy="472857"/>
          </a:xfrm>
          <a:prstGeom prst="roundRect">
            <a:avLst>
              <a:gd name="adj" fmla="val 9669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" y="1429364"/>
            <a:ext cx="3602736" cy="436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0,3: bắt được nhiều người hơn, cả người trong trung tâm thương mại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門檻 0.3：抓到更多人，連商場裡的人也算</a:t>
            </a:r>
            <a:endParaRPr lang="en-US" sz="950" dirty="0"/>
          </a:p>
        </p:txBody>
      </p:sp>
      <p:pic>
        <p:nvPicPr>
          <p:cNvPr id="7" name="Image 0" descr="/Users/tsengchenghsun/Class/carClass/Claude outputs/第八週(10-29)/src/img/w8_thr_lo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929653"/>
            <a:ext cx="3749040" cy="1370743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94360" y="3318684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scene-1094（新加坡，夜間雨後）· YOLOX-s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709160" y="1310492"/>
            <a:ext cx="3931920" cy="2300800"/>
          </a:xfrm>
          <a:prstGeom prst="roundRect">
            <a:avLst>
              <a:gd name="adj" fmla="val 397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00600" y="1401932"/>
            <a:ext cx="3749040" cy="472857"/>
          </a:xfrm>
          <a:prstGeom prst="roundRect">
            <a:avLst>
              <a:gd name="adj" fmla="val 9669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73752" y="1429364"/>
            <a:ext cx="3602736" cy="436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0,7: gọn, nhưng bỏ sót người gần (nét đứt trắng)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門檻 0.7：很乾淨，但近處的人漏了（白色虛線）</a:t>
            </a:r>
            <a:endParaRPr lang="en-US" sz="950" dirty="0"/>
          </a:p>
        </p:txBody>
      </p:sp>
      <p:pic>
        <p:nvPicPr>
          <p:cNvPr id="12" name="Image 1" descr="/Users/tsengchenghsun/Class/carClass/Claude outputs/第八週(10-29)/src/img/w8_thr_high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929653"/>
            <a:ext cx="3749040" cy="137074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800600" y="3318684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白色虛線＝官方標註有、這個門檻下沒抓到的行人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757596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82160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Báo thêm → phanh nhầm (tuần 7: phanh ma). Bỏ sót → đâm vào. Phải chọn đánh đổi.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多報→亂煞車（上週的幽靈煞車）。漏掉→會撞上。門檻是在兩者之間取捨。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4885646" y="365760"/>
            <a:ext cx="3755434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013662" y="384048"/>
            <a:ext cx="35725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chuông báo cháy: nhạy quá kêu hoài, kém quá không kêu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火災警報器：太敏感一直響，太遲鈍不響</a:t>
            </a:r>
            <a:endParaRPr lang="en-US" sz="950" dirty="0"/>
          </a:p>
        </p:txBody>
      </p:sp>
      <p:pic>
        <p:nvPicPr>
          <p:cNvPr id="19" name="Image 2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16</a:t>
            </a:r>
            <a:endParaRPr lang="en-US" sz="900" dirty="0"/>
          </a:p>
        </p:txBody>
      </p:sp>
      <p:sp>
        <p:nvSpPr>
          <p:cNvPr id="21" name="Text 1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404 ảnh camera trước: kéo ngưỡng từ 0,1 đến 0,9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404 張前方照片：門檻從 0.1 拉到 0.9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188720"/>
                <a:gridCol w="1828800"/>
                <a:gridCol w="1325880"/>
                <a:gridCol w="1325880"/>
                <a:gridCol w="14630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門檻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Số khung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框的數量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Khung không khớp nhãn nào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對不到任何標註的框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Xe: bắt được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車：抓到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Người: bắt được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行人：抓到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 2 bánh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機車・腳踏車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4584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2756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922827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thấy được ≥ 60%, trong 50 m. «Không khớp» có khi là vật thật chưa gán nhãn.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只算看得到 60% 以上、50 公尺內。「對不到」有些是真的東西但沒被標。</a:t>
            </a:r>
            <a:endParaRPr lang="en-US" sz="120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16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Càng xa càng sót · 一遠就漏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429991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rec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514246"/>
            <a:ext cx="4153606" cy="212872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1536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mini 白天 283 張前方照片 · YOLOX-s · 門檻 0.3 · 看得到 60% 以上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113726" y="914400"/>
            <a:ext cx="352735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đi bộ: trong 10 m bắt được 82%, ở 40–50 m chỉ 3%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行人：10 公尺內抓到 82%，40–50 公尺只剩 3%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cao 1,7 m ở 45 m chỉ còn khoảng 47 điểm ảnh; mô hình thu ảnh về 640 ngang, còn khoảng 19.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1.7 公尺高的人，在 45 公尺外只有約 47 個像素高；模型把照片縮到 640 寬，只剩約 19 個。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6483534" y="365760"/>
            <a:ext cx="2157546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611550" y="384048"/>
            <a:ext cx="19746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chữ càng nhỏ càng khó đọc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字愈小愈難認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16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đêm · 晚上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nig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669237"/>
            <a:ext cx="4974336" cy="181874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scene-1094（新加坡，夜間雨後）· YOLOX-s 門檻 0.3 · 白色虛線＝標註有、沒抓到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10–20 m: ban ngày bắt được 66%, ban đêm 49%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10–20 公尺的行人：白天抓到 66%，晚上 49%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mô hình, cùng khoảng cách: tối thì số điểm ảnh «giống người» ít đi. Đúng như bảng hỏng tuần 7: camera ban đêm ▲.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同一個模型、同樣的距離：天一黑，照片上「像人的數字」就少了。跟上週失效表一樣：相機夜間 ▲。</a:t>
            </a:r>
            <a:endParaRPr lang="en-US" sz="230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16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+ lidar · 框＋光達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box_di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711985"/>
            <a:ext cx="4974336" cy="17332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 · YOLOX-s 框 ＋ 光達點（黃）· 距離＝框裡點最密那 1 公尺的中位數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trên ảnh không biết bao xa. Thêm điểm lidar thì biết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照片上的框不知道多遠。加上光達的點就知道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8,9 m (nhãn chính thức 9,0 m), xe 21,4 m (22,0 m). Đây là cặp camera + lidar của tuần 7.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人 8.9 公尺（官方標註 9.0），車 21.4 公尺（官方 22.0）。這就是上週的相機＋光達搭檔。</a:t>
            </a:r>
            <a:endParaRPr lang="en-US" sz="230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16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2D, khung 3D · 平面框、立體框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box3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711985"/>
            <a:ext cx="4974336" cy="17332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 官方 3D 標註框投到照片上 · CC BY-NC-SA 4.0 · 白色那一面＝物體正面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tự lái cần khung 3D: vị trí, kích thước, hướng — 7 con số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自駕車要的是立體框：位置、大小、朝向——7 個數字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2D chỉ nói «ở đâu trên ảnh». Khung 3D nói «ở đâu ngoài đường, to bao nhiêu, quay về đâu».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平面框只說「在照片的哪裡」。立體框說「在路上的哪裡、多大、朝哪邊」。</a:t>
            </a:r>
            <a:endParaRPr lang="en-US" sz="230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16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từ trên · 鳥瞰圖、佔據網格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90656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bev_oc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07125"/>
            <a:ext cx="3760262" cy="212117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76026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scene-0103（波士頓）同一格光達 · 前後左右 30 m · 右圖一格 0.5 m · src/tools_w8_imgs.py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720382" y="914400"/>
            <a:ext cx="392069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từ trên: không che nhau, khoảng cách không méo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從上往下看：不會互相擋，距離不會變形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Lưới chiếm chỗ không cần biết «là gì»: thùng hàng rơi, cọc tiêu lạ vẫn né được.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佔據網格不用知道「是什麼」：掉在路上的貨、沒看過的路障，一樣避得開。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942713" y="365760"/>
            <a:ext cx="3698367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70729" y="384048"/>
            <a:ext cx="35154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 đồ chỗ ngồi: ghế có người, ghế trống, ghế bị che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教室座位表：有人、空位、被擋住看不到</a:t>
            </a:r>
            <a:endParaRPr lang="en-US" sz="950" dirty="0"/>
          </a:p>
        </p:txBody>
      </p:sp>
      <p:pic>
        <p:nvPicPr>
          <p:cNvPr id="12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16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Tóm tắt · 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cần nhớ của tiết này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這一節要記住的三句話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chỉ là số; mô hình học từ rất nhiều ví dụ có đáp án: đoán, so đáp án, sửa một chút.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照片只是數字；模型從很多有標準答案的例子學：猜、對答案、改一點點。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Phát hiện vật thể cho khung, loại, điểm. Ngưỡng thấp báo thêm, ngưỡng cao bỏ sót.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物件偵測給框、類別、分數。門檻低就多報，門檻高就漏掉。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 và tối thì sót nhiều, người và xe máy sót trước xe. Ghép thêm lidar để biết bao xa; nhìn từ trên để lái.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一遠、一暗就漏，人和機車比車先漏。加上光達才知道多遠；從上往下看才好開車。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16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2026-10-22T05:14:55Z</dcterms:created>
  <dcterms:modified xsi:type="dcterms:W3CDTF">2026-10-22T05:14:55Z</dcterms:modified>
</cp:coreProperties>
</file>