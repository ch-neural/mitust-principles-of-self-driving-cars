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/>
  <p:notesSz cx="7560000" cy="106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5" name="備忘稿版面配置區 4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42958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▍這一張要做什麼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第三節開場。整節上機，四個型號乘三個情境，每人交一張。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▍畫面上圈這裡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圈主標「替一台指定的車選感測器」。說明今天交的是自己的判斷，不是抄答案。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▍以下照著唸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第三節，整節都在電腦上。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今天上午我們讀了兩頁規格表。這一節要把它用出來。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規則很簡單：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我給你一台車要在哪裡跑，你告訴我哪一顆感測器可以用、哪一顆不行，而且要講得出卡在哪一行。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四個型號，三個情境，總共十二格。各位不用全部算，我會指定。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這一節是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個人作業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，每個人交一份。不用紙——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在判讀台上作答，做完截圖上傳 LINE 群組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，下課前交。
</a:t>
            </a:r>
          </a:p>
          <a:p>
            <a:pPr algn="l">
              <a:spcBef>
                <a:spcPts val="0"/>
              </a:spcBef>
              <a:spcAft>
                <a:spcPts val="192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先把規格判讀台打開，然後看下一頁的四個步驟。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▍這一張要做什麼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整節都要用這個工具。先確定每個人都打開得了，而且知道答案要填在「作業」分頁。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▍畫面上圈這裡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等全班舉手說打開了再往下。打不開的人先兩人共用一台，不要卡住。順便圈右上角的語言鈕和「只看英文原文」。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▍以下照著唸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這一節整節都在用這個網頁，所以先花兩分鐘，確定每個人都打開得了。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上一節下課前各位應該都還開著。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分頁還留著的人直接切回去，不要重開。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關掉的人兩個方法：手機相機對準右邊這個 QR，或者照左邊那串網址打。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網址和第一節的完全一樣，沒有換過。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我等全班。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打開了的人舉手讓我看一下。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……還沒開的，先跟旁邊的同學共用一台，不要卡在這裡，等一下我再過去看。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打開之後先確認三件事。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，右上角那個語言鈕——要看越南文的現在就切。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，「只看英文原文」這個按鈕，這一節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要按下去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：今天是要各位讀真的規格表，不是讀翻譯。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，往最後拉，有一個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「作業」分頁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，今天的答案全部填在那裡，不是寫在紙上。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請各位現在就點進「作業」分頁看一眼：裡面有姓名、學號，還有三個情境的欄位。等一下每做完一題就回來填。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姓名學號現在先填好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，不然等一下截圖我認不出是誰。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最後講一句：這個網頁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下課以後還會在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，網址抄起來，回家可以再練。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▍這一張要做什麼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交代四個步驟與每一步要抄下來的數字。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▍畫面上圈這裡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圈「每一步都有要抄下來的數字」。強調沒抄數字就等於沒做。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▍以下照著唸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四個步驟，我一個一個說。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第一步，選情境。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看畫面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最上面那一條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，一直釘在那裡，捲到哪都看得到。三個按鈕：校園接駁、時速二十；河內尖峰、時速四十；國道、時速一百。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一題只要選一次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——選好了就不要再動它，等一下四顆型號都用同一個情境。旁邊會跟著印出這個情境的煞停距離和門檻，那就是等一下判定在比的數字。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第二步，選型號。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判定那一塊的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上面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有一排四顆按鈕，你要算哪一顆就按哪一顆，不用跑回左邊。情境固定、型號輪四顆——這就是今天每一題要做的事。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第三步，找四個數字、看判定。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四題還是上午那四個：垂直視野、對百分之十反射率的測距、解析度、更新率，選完按檢查。這裡我要請各位做一件事：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把「只看英文原文」按下去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。上午我讓對照開著，因為大家第一次讀；現在請各位試試看純原文，真的規格表上不會有中文。看不懂的單字可以問我，或者按回「原文＋對照」確認一下，但是先自己試。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第四步，寫結論。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判讀台上有第四個分頁，叫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作業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，整份就在那裡填。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我要看到的不是「夠」或「不夠」兩個字，是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卡在哪一行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結論句是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四選一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，不用自己打字。但是選項裡有陷阱：裡面有一句只寫「OS1 不好用」，也有一句把卡住的地方講錯——說它卡在測距，其實測距九十公尺是夠的，卡住的是點數。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要選的是那句把『卡在哪一行』講對的。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我提醒四件事。第一，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先把姓名和學號填上去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，不然截圖我認不出是誰。第二，答案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存在你自己的手機裡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，切去別的分頁查規格、再切回來，填過的都還在。第三，十二格不用手抄——在試算那一頁按「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記進作業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」就會自動填進去，按鈕下面還會告訴各位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十二格已經記了幾格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，填錯還是可以自己改。第四，全部做完按「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產生作答單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」，它會整理成一張乾淨的卡片，截那一張就好。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四個步驟講完了。第一題在下一張。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▍這一張要做什麼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第一題：校園接駁，時速 20。四個型號都試一次，先建立基準。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▍畫面上圈這裡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圈情境條件裡的時速與目標大小。這一題多數型號都會過，重點是熟悉流程。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▍以下照著唸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第一題，十分鐘。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情境是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校園接駁小巴，時速二十，要在四十公尺外認出行人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請把四個型號都按一次。每按完一個，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判定底下有一顆「記進作業」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，按下去那一格就填好了，不用自己切到作業分頁去抄。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我先講你們會看到什麼，這樣卡住的時候心裡有底。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時速二十的煞停距離是四點二公尺，加五公尺餘裕，所以感測器只要看得到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九公尺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就夠了。這個門檻很低，四顆的測距全部都過。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所以卡住的不會是測距，而是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點數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AT128P 在四十公尺的行人身上有八十四個點，過。相機的估距誤差在四十公尺是正負零點五八公尺，也過。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OS1 只有六個點，不夠。LD-16 只有一個點，更不夠。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現在我要各位想一題：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為什麼相機在這個情境反而夠用？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因為相機的誤差是隨距離平方長的，四十公尺還算近，誤差只有半公尺多。而且校園裡車速慢，半公尺的誤差不會害你來不及煞車。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所以這一題的結論是：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在慢速、近距離的場合，便宜的相機就很夠用。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不是愈貴愈好，是看你要在哪裡跑。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十分鐘，開始。卡住的舉手。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▍這一張要做什麼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第二題：河內尖峰，時速 40。這一題會出現翻盤，是今天的亮點。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▍畫面上圈這裡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圈 OS1 那一列的點數判定。等他們卡住之後，再提示規格表上那行「可設定」。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▍以下照著唸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第二題，十分鐘。換情境，河內尖峰，時速四十，要在四十公尺外認出機車。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一樣四個型號跑一次。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這一題有一格特別重要，我先講。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OS1 在這個情境下，是「不夠」，而且只差一點點。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四十公尺的機車身上九個點，門檻是十個。差一個點。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現在請各位做一件事。在試算結果的上方，有一列小小的選單，寫著「這一顆的兩個數字在規格表上是可以設定的」。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請把左邊那個從 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1024 點／圈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 改成 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2048 點／圈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改完之後看點數。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九個點變成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十八個點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，判定從「不夠」變成「夠」。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這裡講清楚一件事，免得各位找錯地方：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右邊的小工具②也可以把每圈點數拉到 2048，也會看到九個點變十八個——可是那一區只是示範，不會改判定。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作業第二題要的是判定，所以一定要在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試算這一邊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改。改完之後，判定底下那顆按鈕會自己變成「記進作業第二題」，按下去就填好了；十二格那一題不會被動到，因為那一題問的是預設模式。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大家停一下想想這件事。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同一顆光達，沒有多花一毛錢，只是換了一個設定，結論就翻過來了。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這就是上午我講「configurable 這個字很重要」的意思。規格表上有些數字是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模式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，不是固定值。你如果只看廠商標在封面上的那一組數字，就會把一顆其實夠用的感測器排除掉。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不過天下沒有白吃的午餐，所以作業分頁第二題還要你寫：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換這個模式要付什麼代價？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想一想：每一圈的點數加倍，那每一秒送回來的資料量也加倍。車上那台電腦要算得完才行。而且如果你同時想提高轉速，點數又會被分掉。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十分鐘，開始。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▍這一張要做什麼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第三題：國道，時速 100，150 公尺外要看到車。測距夠不等於看得清。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▍畫面上圈這裡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圈測距那一欄與點數那一欄，讓他們看到一個過、一個不過。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▍以下照著唸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第三題，十分鐘，最後一題。國道，時速一百，要在一百五十公尺外看到車。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先看煞停距離。工具會算給你：時速一百的煞停距離是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七十三公尺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，加五公尺餘裕，所以感測器至少要看到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七十八公尺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七十三公尺是什麼概念？大概是二十層樓那麼高、橫著放。這就是為什麼高速公路上不能跟車太近。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現在四個型號跑一次，各位會看到很有意思的結果。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LD-16 卡在測距。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它只有四十公尺，連門檻的七十八都到不了，直接出局。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OS1 也卡在測距。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九十公尺，看起來有過門檻，可是一百五十公尺外的車它根本看不到——目標比它的測距還遠。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相機卡在別的地方。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它的問題不是看不到，是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看不準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。一百五十公尺處的估距誤差是正負五點三七公尺。五公尺是什麼概念？大概一台車的長度。你不知道前面那台車是在一百四十五還是一百五十五公尺，這樣沒辦法決定要不要煞車。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AT128P 過了。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測距兩百一十公尺，綽綽有餘。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可是請各位看它的點數：一百五十公尺外那台車身上，只剩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十二個點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十二個點。剛好在門檻上。一台車那麼大的東西，一百五十公尺外只剩十二個點，勉強看得出「那裡有個東西、大概多寬」，要認出是轎車還是貨車就很難了。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所以這一題的結論是：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到了高速，「測得到遠」和「看得清楚」完全變成兩件事。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測距過關不代表能用。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這句話請填在作業分頁的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結論句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那一格，這是今天最重要的一句。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十分鐘，做完按「產生作答單」，截圖傳到 LINE 群組。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▍這一張要做什麼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把十二格合成一張表，得出結論：沒有一顆三個情境都贏。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▍畫面上圈這裡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把三個情境各自的贏家圈起來，指出它們不是同一顆。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▍以下照著唸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十分鐘到，先別急著傳，我們一起把十二格看成一張表。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AT128P 三個情境都過。相機是校園和河內過、國道不過。OS1 校園不過、河內換模式之後過、國道不過。LD-16 一個都沒過。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所以結論很明顯，每一台車都裝 AT128P 就好了，對不對？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大家想三秒鐘。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不對，而且理由有三個。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第一，錢。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這一顆的價錢大概是一般相機的幾十倍。一台校園接駁車時速二十，裝這個是浪費。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第二，它只看前面一百二十度。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河內的路口，機車是從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兩側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鑽出來的。AT128P 看不到兩側。所以就算你裝了它，還是得再裝別的東西補兩邊——這就回到第三週那張「每一種的弱點，由哪一種來補」的表。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第三，裝不裝得下、電夠不夠。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規格表上寫功耗十三點五瓦、重九百四十公克、尺寸十三公分乘十一公分。一台小車的前保險桿有沒有那個空間？電力系統撐不撐得住？這些在規格表的最後幾行，今天我們沒細講，但真的做車的時候會卡在這裡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所以今天的結論是：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選感測器不是選最好的那一顆，是選一組剛好夠用的。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而「剛好夠用」要對著什麼講？對著你的 </a:t>
            </a:r>
            <a:r>
              <a:rPr sz="8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ODD</a:t>
            </a: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——第二週學的那六格，你要在什麼速度、什麼路、什麼天氣下營運。
</a:t>
            </a:r>
          </a:p>
          <a:p>
            <a:pPr algn="l">
              <a:spcBef>
                <a:spcPts val="0"/>
              </a:spcBef>
              <a:spcAft>
                <a:spcPts val="133"/>
              </a:spcAft>
            </a:pPr>
            <a:r>
              <a:rPr sz="8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這句話從第二週講到現在，今天終於可以用真的規格表、真的數字把它算出來。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▍這一張要做什麼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四句是非題，當作本章總複習。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▍畫面上圈這裡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一句一句圈，每句給一分鐘先表態。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▍以下照著唸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最後四分鐘，四句是非題。四人一組討論，每題一分鐘。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四句我先唸一次，唸完再開始討論。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第一句：規格表寫「測距 200 公尺」，就表示 200 公尺內的東西都看得到。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第二句：同一顆影像感測器，視野是固定的。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第三句：每秒點數愈大，遠處的人就看得愈清楚。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第四句：兩顆感測器各自都好，合起來就一定好。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我給四個提示詞，分別是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反射率、鏡頭、換算成角度、標定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7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一分鐘後我公布答案。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▍這一張要做什麼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公布答案並解釋每一句錯在哪。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▍畫面上圈這裡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四句依序圈，每一句都回到今天自己抄下來的數字，不要只講道理。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▍以下照著唸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答案：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四句都錯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，而且每一句錯的方式不一樣。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第一句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錯在沒問條件。測距一定要追問是對百分之幾反射率量的。OS1 對白色的東西一百七十公尺，對黑色只剩九十。上午講過，廣告會寫大的那個。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第二句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錯在把視野當成晶片的規格。視野是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鏡頭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決定的。同一塊晶片，八公釐的鏡頭看四十二度，三點六公釐的看八十一度。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第三句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錯在拿兩顆不同的光達直接比點數。OS1 每秒兩百六十萬點，AT128P 只有一百五十萬，可是四十公尺的目標上，OS1 只有九個點、AT128P 有一百二十一個——因為 OS1 把點灑滿三百六十度。每秒點數要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先換算成角度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，再換算成你關心的那個距離上的間距。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這裡要跟第一節第十二張分清楚：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同一顆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光達從 1024 切到 2048，點數加倍、確實看得比較清楚，那是對的。錯的是拿</a:t>
            </a: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兩顆不同的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光達比點數大小。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第四句</a:t>
            </a: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錯在以為感測器是各自獨立的。還有標定和同步兩關：差一度，五十公尺外就差將近一公尺。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這四句話，就是今天三節課的總複習。
</a:t>
            </a:r>
          </a:p>
          <a:p>
            <a:pPr algn="l">
              <a:spcBef>
                <a:spcPts val="0"/>
              </a:spcBef>
              <a:spcAft>
                <a:spcPts val="150"/>
              </a:spcAft>
            </a:pPr>
            <a:r>
              <a:rPr sz="9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作答單都傳上來了嗎？還沒傳的現在傳。記得先確認姓名有填到。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▍這一張要做什麼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下週預告：雷達、超音波、GNSS 與 IMU 的規格判讀。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▍畫面上圈這裡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圈下週的四種感測器，說明同一支工具會再加型號。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▍以下照著唸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下週第六週，十月十五日，繼續第三章。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我們把剩下三種感測器的規格表讀完：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毫米波雷達、超音波、還有衛星定位加慣性感測器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我先給各位一個預告，讓大家有心理準備：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雷達的規格表跟今天看的完全不一樣。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它上面沒有「像素」，也沒有「線束數」。它有的是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頻寬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、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都卜勒速度解析度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、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天線數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。第三週我們講過雷達可以直接量速度，那個能力在規格表上就寫成一行數字。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兩件事要準備。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第一，把今天那張作答單的截圖留著。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下週我們會在同一張表上加一欄雷達，直接比較。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第二，上課前把講義 3.4 到 3.6 讀一遍。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那幾節就是雷達和超音波的原理，先看過，上課會輕鬆很多。
</a:t>
            </a:r>
          </a:p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今天就到這裡。下課。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spcBef>
                <a:spcPts val="0"/>
              </a:spcBef>
              <a:spcAft>
                <a:spcPts val="167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1575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59000" y="-1366875"/>
            <a:ext cx="4191750" cy="419175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25875" y="2095875"/>
            <a:ext cx="2369250" cy="236925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16938" y="1202850"/>
            <a:ext cx="6925500" cy="27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MITUST · Nguyên lý xe tự lái · Tuần 5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16938" y="1567350"/>
            <a:ext cx="7472250" cy="1390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39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cảm biến cho một chiếc xe cụ thể</a:t>
            </a:r>
            <a:endParaRPr lang="en-US" sz="339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90" dirty="0">
                <a:solidFill>
                  <a:srgbClr val="C8D6E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替一台指定的車選感測器</a:t>
            </a:r>
            <a:endParaRPr lang="en-US" sz="3390" dirty="0"/>
          </a:p>
        </p:txBody>
      </p:sp>
      <p:sp>
        <p:nvSpPr>
          <p:cNvPr id="6" name="Shape 4"/>
          <p:cNvSpPr/>
          <p:nvPr/>
        </p:nvSpPr>
        <p:spPr>
          <a:xfrm>
            <a:off x="516938" y="2998115"/>
            <a:ext cx="1366875" cy="41006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16938" y="3198590"/>
            <a:ext cx="7107750" cy="610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8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Bốn model, ba tình huống, mỗi người nộp một tờ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四個型號、三個情境，每個人交一張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16938" y="3881925"/>
            <a:ext cx="5923125" cy="382725"/>
          </a:xfrm>
          <a:prstGeom prst="roundRect">
            <a:avLst>
              <a:gd name="adj" fmla="val 16667"/>
            </a:avLst>
          </a:prstGeom>
          <a:solidFill>
            <a:srgbClr val="1331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4513" y="3927488"/>
            <a:ext cx="5667975" cy="29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FD6C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工具｜Công cụ： ch-neural.github.io/MITUST-Principles-of-Self-Driving-Cars/week5/spec/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16938" y="4355775"/>
            <a:ext cx="6925500" cy="27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第五週 第 3 節　2026/10/08（四）11:10–12:00　CH Tseng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71138" y="309825"/>
            <a:ext cx="2205225" cy="747225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pic>
        <p:nvPicPr>
          <p:cNvPr id="13" name="Image 0" descr="/Users/tsengchenghsun/Class/carClass/Claude outputs/第五週(10-8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75488"/>
            <a:ext cx="1920240" cy="4242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lại bàn đọc thông số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再打開一次規格判讀台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364224" y="1133856"/>
            <a:ext cx="2404872" cy="2624328"/>
          </a:xfrm>
          <a:prstGeom prst="roundRect">
            <a:avLst>
              <a:gd name="adj" fmla="val 3802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五週(10-8)/src/img/w5_qr_spe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243584"/>
            <a:ext cx="2148840" cy="2148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0" y="34290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Quét mã QR bằng camera điện thoại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用手機相機掃這個 QR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02920" y="1133856"/>
            <a:ext cx="5678424" cy="841248"/>
          </a:xfrm>
          <a:prstGeom prst="roundRect">
            <a:avLst>
              <a:gd name="adj" fmla="val 9783"/>
            </a:avLst>
          </a:prstGeom>
          <a:solidFill>
            <a:srgbClr val="0B1F3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9224" y="1225296"/>
            <a:ext cx="5385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https://ch-neural.github.io/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MITUST-Principles-of-Self-Driving-Cars/week5/spec/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39496" y="2157984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39496" y="216712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41832" y="21214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Vẫn là trang tiết 1 đã mở, địa chỉ không đổi — còn tab thì chuyển thẳng qua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就是第一節開過的那一個，網址沒變——分頁還在的人直接切回去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39496" y="2745371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39496" y="2754515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41832" y="2708795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Góc trên bên phải đổi được sang tiếng Việt; tiết này phải bật «chỉ tiếng Anh»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右上角可以切越南文；「只看英文原文」這一節要按下去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39496" y="3332758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39496" y="3341902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41832" y="329618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Đáp án điền ở tab «Bài nộp» cuối cùng, không viết ra giấy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答案填在最後那個「作業」分頁，不是寫在紙上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2920" y="3913632"/>
            <a:ext cx="8138160" cy="603504"/>
          </a:xfrm>
          <a:prstGeom prst="roundRect">
            <a:avLst>
              <a:gd name="adj" fmla="val 1363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977640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không mở được thì giơ tay — tạm hai người dùng chung một máy, đừng kẹt ở đây.</a:t>
            </a: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打不開的人舉手——先兩個人共用一台，不要卡在這裡。</a:t>
            </a:r>
            <a:endParaRPr lang="en-US" sz="1200" dirty="0"/>
          </a:p>
        </p:txBody>
      </p:sp>
      <p:pic>
        <p:nvPicPr>
          <p:cNvPr id="20" name="Image 1" descr="/Users/tsengchenghsun/Class/carClass/Claude outputs/第五週(10-8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10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Bốn bước, mỗi bước đều có con số phải chép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四個步驟，每一步都有要抄下來的數字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1133856"/>
            <a:ext cx="1828800" cy="272491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79576" y="1316736"/>
            <a:ext cx="475488" cy="47548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79576" y="141732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0936" y="1883664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tình huống</a:t>
            </a:r>
            <a:endParaRPr lang="en-US" sz="14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選情境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30936" y="2578608"/>
            <a:ext cx="1572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Ở thanh trên cùng</a:t>
            </a:r>
            <a:endParaRPr lang="en-US" sz="10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câu chỉ chọn một lần</a:t>
            </a:r>
            <a:endParaRPr lang="en-US" sz="10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在最上面那一條</a:t>
            </a:r>
            <a:endParaRPr lang="en-US" sz="10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一題只要選一次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20482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2606040" y="1133856"/>
            <a:ext cx="1828800" cy="272491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82696" y="1316736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282696" y="141732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734056" y="1883664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model</a:t>
            </a:r>
            <a:endParaRPr lang="en-US" sz="14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選型號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34056" y="2578608"/>
            <a:ext cx="1572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Hàng nút trên kết luận</a:t>
            </a:r>
            <a:endParaRPr lang="en-US" sz="10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lần lượt bốn cái</a:t>
            </a:r>
            <a:endParaRPr lang="en-US" sz="10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判定上方那一排</a:t>
            </a:r>
            <a:endParaRPr lang="en-US" sz="10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四顆輪一遍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20482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4709160" y="1133856"/>
            <a:ext cx="1828800" cy="272491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385816" y="1316736"/>
            <a:ext cx="475488" cy="475488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85816" y="141732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837176" y="1883664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Tìm bốn số</a:t>
            </a:r>
            <a:endParaRPr lang="en-US" sz="14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找四個數字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37176" y="2578608"/>
            <a:ext cx="1572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bảng, tắt phần dịch</a:t>
            </a:r>
            <a:endParaRPr lang="en-US" sz="10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Góc nhìn · tầm đo · phân giải · tốc độ</a:t>
            </a:r>
            <a:endParaRPr lang="en-US" sz="10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讀規格表，把對照關掉</a:t>
            </a:r>
            <a:endParaRPr lang="en-US" sz="10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視野・測距・解析度・更新率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20482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6812280" y="1133856"/>
            <a:ext cx="1828800" cy="2724912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  <a:effectLst>
            <a:outerShdw sx="100000" sy="100000" kx="0" ky="0" algn="bl" rotWithShape="0" blurRad="76200" dist="12700" dir="5400000">
              <a:srgbClr val="9AAAB8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88936" y="1316736"/>
            <a:ext cx="475488" cy="47548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88936" y="1417320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940296" y="1883664"/>
            <a:ext cx="157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Viết &amp; nộp</a:t>
            </a:r>
            <a:endParaRPr lang="en-US" sz="1400" dirty="0"/>
          </a:p>
          <a:p>
            <a:pPr algn="ctr"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作答與上傳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40296" y="2578608"/>
            <a:ext cx="157276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Điền ở tab «Bài nộp»</a:t>
            </a:r>
            <a:endParaRPr lang="en-US" sz="10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 phiếu → chụp → LINE</a:t>
            </a:r>
            <a:endParaRPr lang="en-US" sz="10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填在「作業」分頁</a:t>
            </a:r>
            <a:endParaRPr lang="en-US" sz="1050" dirty="0"/>
          </a:p>
          <a:p>
            <a:pPr algn="ctr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產生作答單→截圖→LINE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4005072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4 mới là phần chấm điểm: «không đủ» mà không nói được tắc ở đâu thì không tính.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4 步才是計分的地方：只寫「不夠」卻說不出卡在哪，不算。</a:t>
            </a:r>
            <a:endParaRPr lang="en-US" sz="1250" dirty="0"/>
          </a:p>
        </p:txBody>
      </p:sp>
      <p:pic>
        <p:nvPicPr>
          <p:cNvPr id="28" name="Image 0" descr="/Users/tsengchenghsun/Class/carClass/Claude outputs/第五週(10-8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10</a:t>
            </a:r>
            <a:endParaRPr lang="en-US" sz="900" dirty="0"/>
          </a:p>
        </p:txBody>
      </p:sp>
      <p:sp>
        <p:nvSpPr>
          <p:cNvPr id="30" name="Text 26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Nhiệm vụ 1 · 第一題（10 分鐘）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 buýt nhỏ trong trường, 20 km/h. Thử cả bốn model.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校園接駁小巴，時速 20。四個型號都試一次。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883664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191109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783080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Chép lại: model nào «đủ», model nào «không đủ»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抄下來：哪幾顆判定「夠」，哪幾顆「不夠」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450592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596896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62432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496312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Với model không đủ, chép nguyên dòng màu đỏ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不夠的那幾顆，把紅色那一行整句抄下來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163824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331012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333756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3209544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hỏi: tại sao camera lại đủ ở tình huống này?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想一題：為什麼相機在這個情境反而夠用？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39136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Trong trường chạy chậm, nhìn gần — bài toán dễ nhất trong ba tình huống.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校園裡車速慢、看得近——三個情境裡最好過的一個。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10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Nhiệm vụ 2 · 第二題（10 分鐘）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Đổi sang giờ cao điểm Hà Nội, 40 km/h. Bốn model lại làm một lượt.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換成河內尖峰，時速 40。四個型號再做一次。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880384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02668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205412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926104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OS1 chỉ thiếu một chút. Mở dòng «configurable» ra xem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OS1 只差一點點。把那一行寫著「可設定」的打開看看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593616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73992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7673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639336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Đổi 1024 → 2048 điểm mỗi vòng, chép lại số điểm mới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把每圈 1024 點改成 2048，抄下新的點數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306848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3453152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348058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3352568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Viết một câu: đổi chế độ có phải trả giá gì không?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寫一句：換模式要付什麼代價？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05665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Cùng một phần cứng, chỉ đổi chế độ, kết luận lật ngược. Đây là chỗ quan trọng nhất hôm nay.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同一個硬體，只換模式，結論就翻過來。這是今天最重要的一格。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10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Nhiệm vụ 3 · 第三題（10 分鐘）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Cao tốc, 100 km/h, phải thấy xe ở 150 m. Model nào còn sống sót?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國道，時速 100，要在 150 公尺外看到車。哪一顆還活著？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880384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02668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205412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926104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Chép quãng đường phanh mà công cụ tính ra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抄下工具算出來的煞停距離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593616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73992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7673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639336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tắc ở đâu? LD-16 tắc ở đâu? Hai chỗ khác nhau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相機卡在哪？LD-16 卡在哪？兩個卡的地方不一樣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306848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3453152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348058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3352568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AT128P qua được, nhưng chỉ còn mấy điểm trên chiếc xe ở 150 m?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AT128P 過了，可是 150 公尺外那台車身上只剩幾個點？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05665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Ở tốc độ cao, «đo được xa» và «nhìn được rõ» tách hẳn ra làm hai chuyện.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到了高速，「測得到遠」和「看得清楚」就完全變成兩件事了。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10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có model nào thắng cả ba tình huống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沒有一顆感測器三個情境都贏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1316736"/>
            <a:ext cx="3566160" cy="2249424"/>
          </a:xfrm>
          <a:prstGeom prst="roundRect">
            <a:avLst>
              <a:gd name="adj" fmla="val 4065"/>
            </a:avLst>
          </a:prstGeom>
          <a:solidFill>
            <a:srgbClr val="0B1F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7512" y="1444752"/>
            <a:ext cx="3236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Cái ta vừa làm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我們剛剛做的事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847088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× 3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2450592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bốn model, ba tình huống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四個型號、三個情境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3017520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7E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AT128P qua cả ba · camera hai · OS1 một · LD-16 không cái nào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7E93A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AT128P 三個都過・相機兩個・OS1 一個・LD-16 都沒過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87952" y="2295144"/>
            <a:ext cx="768096" cy="292608"/>
          </a:xfrm>
          <a:prstGeom prst="rightArrow">
            <a:avLst/>
          </a:prstGeom>
          <a:solidFill>
            <a:srgbClr val="C4CFD9"/>
          </a:solidFill>
          <a:ln/>
        </p:spPr>
      </p:sp>
      <p:sp>
        <p:nvSpPr>
          <p:cNvPr id="9" name="Shape 7"/>
          <p:cNvSpPr/>
          <p:nvPr/>
        </p:nvSpPr>
        <p:spPr>
          <a:xfrm flipH="1">
            <a:off x="4370832" y="2240280"/>
            <a:ext cx="402336" cy="402336"/>
          </a:xfrm>
          <a:prstGeom prst="line">
            <a:avLst/>
          </a:prstGeom>
          <a:noFill/>
          <a:ln w="44450">
            <a:solidFill>
              <a:srgbClr val="D946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2240280"/>
            <a:ext cx="402336" cy="402336"/>
          </a:xfrm>
          <a:prstGeom prst="line">
            <a:avLst/>
          </a:prstGeom>
          <a:noFill/>
          <a:ln w="44450">
            <a:solidFill>
              <a:srgbClr val="D946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74920" y="1316736"/>
            <a:ext cx="3566160" cy="2249424"/>
          </a:xfrm>
          <a:prstGeom prst="roundRect">
            <a:avLst>
              <a:gd name="adj" fmla="val 4065"/>
            </a:avLst>
          </a:prstGeom>
          <a:solidFill>
            <a:srgbClr val="FDECEC"/>
          </a:solidFill>
          <a:ln w="15875">
            <a:solidFill>
              <a:srgbClr val="D946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39512" y="1444752"/>
            <a:ext cx="3236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Nhưng câu hỏi thật là…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9463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但真正的問題是……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71566" y="2337984"/>
            <a:ext cx="370332" cy="170353"/>
          </a:xfrm>
          <a:prstGeom prst="roundRect">
            <a:avLst>
              <a:gd name="adj" fmla="val 22000"/>
            </a:avLst>
          </a:prstGeom>
          <a:solidFill>
            <a:srgbClr val="5F7183"/>
          </a:solidFill>
          <a:ln/>
        </p:spPr>
      </p:sp>
      <p:sp>
        <p:nvSpPr>
          <p:cNvPr id="14" name="Shape 12"/>
          <p:cNvSpPr/>
          <p:nvPr/>
        </p:nvSpPr>
        <p:spPr>
          <a:xfrm>
            <a:off x="5812292" y="2372054"/>
            <a:ext cx="125913" cy="102212"/>
          </a:xfrm>
          <a:prstGeom prst="roundRect">
            <a:avLst>
              <a:gd name="adj" fmla="val 23333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238077" y="2506937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16" name="Shape 14"/>
          <p:cNvSpPr/>
          <p:nvPr/>
        </p:nvSpPr>
        <p:spPr>
          <a:xfrm>
            <a:off x="6115533" y="2683992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17" name="Shape 15"/>
          <p:cNvSpPr/>
          <p:nvPr/>
        </p:nvSpPr>
        <p:spPr>
          <a:xfrm>
            <a:off x="5912068" y="2781602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18" name="Shape 16"/>
          <p:cNvSpPr/>
          <p:nvPr/>
        </p:nvSpPr>
        <p:spPr>
          <a:xfrm>
            <a:off x="5682198" y="2773612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19" name="Shape 17"/>
          <p:cNvSpPr/>
          <p:nvPr/>
        </p:nvSpPr>
        <p:spPr>
          <a:xfrm>
            <a:off x="5487518" y="2662163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20" name="Shape 18"/>
          <p:cNvSpPr/>
          <p:nvPr/>
        </p:nvSpPr>
        <p:spPr>
          <a:xfrm>
            <a:off x="5380191" y="2477118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21" name="Shape 19"/>
          <p:cNvSpPr/>
          <p:nvPr/>
        </p:nvSpPr>
        <p:spPr>
          <a:xfrm>
            <a:off x="5388977" y="2268060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22" name="Shape 20"/>
          <p:cNvSpPr/>
          <p:nvPr/>
        </p:nvSpPr>
        <p:spPr>
          <a:xfrm>
            <a:off x="5511520" y="2091005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23" name="Shape 21"/>
          <p:cNvSpPr/>
          <p:nvPr/>
        </p:nvSpPr>
        <p:spPr>
          <a:xfrm>
            <a:off x="5714986" y="1993395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4855" y="2001385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25" name="Shape 23"/>
          <p:cNvSpPr/>
          <p:nvPr/>
        </p:nvSpPr>
        <p:spPr>
          <a:xfrm>
            <a:off x="6139536" y="2112834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26" name="Shape 24"/>
          <p:cNvSpPr/>
          <p:nvPr/>
        </p:nvSpPr>
        <p:spPr>
          <a:xfrm>
            <a:off x="6246862" y="2297879"/>
            <a:ext cx="86411" cy="71323"/>
          </a:xfrm>
          <a:prstGeom prst="roundRect">
            <a:avLst>
              <a:gd name="adj" fmla="val 25962"/>
            </a:avLst>
          </a:prstGeom>
          <a:solidFill>
            <a:srgbClr val="D9463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73368" y="1883664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A32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Vậy cứ mua AT128P cho mọi xe là xong?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32C2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那每台車都買 AT128P 就好了？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239512" y="3017520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A32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Giá, điện, chỗ lắp — và nó chỉ thấy 120° phía trước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A32C2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價錢、功耗、裝不裝得下——而且它只看前面 120 度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3913632"/>
            <a:ext cx="8138160" cy="603504"/>
          </a:xfrm>
          <a:prstGeom prst="roundRect">
            <a:avLst>
              <a:gd name="adj" fmla="val 1363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3977640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Chọn cảm biến không phải chọn cái tốt nhất, mà là chọn tổ hợp vừa đủ cho ODD của mình.</a:t>
            </a: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選感測器不是選最好的那一顆，是選一組剛好夠用的——夠用於你自己的 ODD。</a:t>
            </a:r>
            <a:endParaRPr lang="en-US" sz="1200" dirty="0"/>
          </a:p>
        </p:txBody>
      </p:sp>
      <p:pic>
        <p:nvPicPr>
          <p:cNvPr id="32" name="Image 0" descr="/Users/tsengchenghsun/Class/carClass/Claude outputs/第五週(10-8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2128" y="109728"/>
            <a:ext cx="1097280" cy="242439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10</a:t>
            </a:r>
            <a:endParaRPr lang="en-US" sz="900" dirty="0"/>
          </a:p>
        </p:txBody>
      </p:sp>
      <p:sp>
        <p:nvSpPr>
          <p:cNvPr id="34" name="Text 30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 · 這句話對不對（每題 1 分鐘）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Bốn câu sau: chọn đúng hay sai, rồi chọn một lý do.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下面四句話。選對或錯，再選一個理由。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1883664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191109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783080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Datasheet ghi «tầm 200 m» thì nghĩa là cái gì ở 200 m cũng thấy.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規格表寫「測距 200 公尺」，就表示 200 公尺內的東西都看得到。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450592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596896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62432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496312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Cùng một cảm biến ảnh thì góc nhìn là cố định.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同一顆影像感測器，視野是固定的。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163824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331012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333756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3209544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So hai lidar: con nào số điểm mỗi giây lớn hơn thì chắc chắn nhìn người ở xa rõ hơn.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兩顆光達比每秒點數，點數大的那顆，遠處的人一定看得比較清楚。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39136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Hai cảm biến đều tốt thì ghép lại chắc chắn tốt.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兩顆感測器各自都好，合起來就一定好。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10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Đáp án · 答案：四句都錯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80467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Bốn câu đều sai</a:t>
            </a:r>
            <a:endParaRPr lang="en-US" sz="2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四句都錯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773936"/>
            <a:ext cx="45720" cy="5120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2376" y="1737360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Hỏi: phản xạ bao nhiêu? OS1: trắng 170 m, đen 90 m.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要追問：對什麼反射率？OS1 對白色 170 公尺，對黑色 90。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45720" cy="5120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2376" y="2450592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Góc nhìn do ống kính: 8 mm → 42°, 3,6 mm → 81°.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視野是鏡頭決定的：同一塊晶片，8 mm 是 42 度，3.6 mm 是 81 度。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200400"/>
            <a:ext cx="45720" cy="5120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2376" y="3163824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OS1 nhiều điểm/giây hơn AT128P, nhưng ở 40 m lại ít điểm hơn hẳn.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OS1 每秒點數比 AT128P 多，40 公尺的目標上卻少很多。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913632"/>
            <a:ext cx="45720" cy="5120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2376" y="3877056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Còn hiệu chuẩn và đồng bộ: 1° ở 50 m là gần 1 m.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還有標定和同步：差 1 度，50 公尺外差將近 1 公尺。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10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0" y="2103120"/>
            <a:ext cx="2377440" cy="237744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sau · 下週預告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80467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Tuần 6, 15/10: radar, siêu âm, GNSS và IMU</a:t>
            </a:r>
            <a:endParaRPr lang="en-US" sz="2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6 週，10 月 15 日：雷達、超音波、GNSS 與 IMU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773936"/>
            <a:ext cx="45720" cy="5120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2376" y="1737360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Vẫn là đọc datasheet — nhưng ba loại này có những dòng hoàn toàn khác.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一樣是讀規格表——但這三種的規格行完全不一樣。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487168"/>
            <a:ext cx="45720" cy="5120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2376" y="2450592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 theo: tờ hôm nay. Tuần sau sẽ thêm cột radar vào cùng bảng đó.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作答單的截圖留著。下週會在同一張表上加一欄雷達。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200400"/>
            <a:ext cx="45720" cy="5120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2376" y="3163824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Làm: đọc 3.4–3.6 trong giáo trình trước khi lên lớp.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要做：上課前先讀講義 3.4–3.6。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109728" y="12801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1280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3 · 第 3 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otes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自動駕駛原理</dc:creator>
  <cp:lastModifiedBy>自動駕駛原理</cp:lastModifiedBy>
  <cp:revision>1</cp:revision>
  <dcterms:created xsi:type="dcterms:W3CDTF">2026-10-06T05:49:48Z</dcterms:created>
  <dcterms:modified xsi:type="dcterms:W3CDTF">2026-10-06T05:49:48Z</dcterms:modified>
</cp:coreProperties>
</file>