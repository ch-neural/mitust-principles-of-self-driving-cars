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標定：告訴車子每一隻眼睛裝在哪、朝哪看。內參外參是一條鏈不是兩件並排的事，外參是對車身不是對另一顆。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三格不是三件並列的事：①②是一條鏈（像素→射線→車身座標），③是②沒做好的後果，要講清楚。中間切出去播兩支短片（內參 19 秒、外參 14 秒），網址在口白裡，先開好分頁。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——「那個人在三十公尺外」——車子得先知道這兩隻眼睛各自裝在哪、朝哪看。這就是標定。
</a:t>
            </a:r>
          </a:p>
          <a:p>
            <a:pPr algn="l">
              <a:spcBef>
                <a:spcPts val="0"/>
              </a:spcBef>
              <a:spcAft>
                <a:spcPts val="133"/>
              </a:spcAft>
            </a:pPr>
            <a:r>
              <a:rPr sz="800" lang="zh-TW" dirty="0">
                <a:solidFill>
                  <a:srgbClr val="000000"/>
                </a:solidFill>
                <a:latin typeface="Arial Unicode MS"/>
                <a:ea typeface="Arial Unicode MS"/>
                <a:cs typeface="Arial Unicode MS"/>
              </a:rPr>
              <a:t>分成兩種，可是</a:t>
            </a:r>
            <a:r>
              <a:rPr sz="800" b="1" lang="zh-TW" dirty="0">
                <a:solidFill>
                  <a:srgbClr val="000000"/>
                </a:solidFill>
                <a:latin typeface="Arial Unicode MS"/>
                <a:ea typeface="Arial Unicode MS"/>
                <a:cs typeface="Arial Unicode MS"/>
              </a:rPr>
              <a:t>它們不是並排的兩件事，是一條鏈</a:t>
            </a:r>
            <a:r>
              <a:rPr sz="800" lang="zh-TW" dirty="0">
                <a:solidFill>
                  <a:srgbClr val="000000"/>
                </a:solidFill>
                <a:latin typeface="Arial Unicode MS"/>
                <a:ea typeface="Arial Unicode MS"/>
                <a:cs typeface="Arial Unicode MS"/>
              </a:rPr>
              <a:t>。各位跟我走三步：畫面上的</a:t>
            </a:r>
            <a:r>
              <a:rPr sz="800" b="1" lang="zh-TW" dirty="0">
                <a:solidFill>
                  <a:srgbClr val="000000"/>
                </a:solidFill>
                <a:latin typeface="Arial Unicode MS"/>
                <a:ea typeface="Arial Unicode MS"/>
                <a:cs typeface="Arial Unicode MS"/>
              </a:rPr>
              <a:t>一個像素</a:t>
            </a:r>
            <a:r>
              <a:rPr sz="800" lang="zh-TW" dirty="0">
                <a:solidFill>
                  <a:srgbClr val="000000"/>
                </a:solidFill>
                <a:latin typeface="Arial Unicode MS"/>
                <a:ea typeface="Arial Unicode MS"/>
                <a:cs typeface="Arial Unicode MS"/>
              </a:rPr>
              <a:t> →（用</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 還原成相機前面的</a:t>
            </a:r>
            <a:r>
              <a:rPr sz="800" b="1" lang="zh-TW" dirty="0">
                <a:solidFill>
                  <a:srgbClr val="000000"/>
                </a:solidFill>
                <a:latin typeface="Arial Unicode MS"/>
                <a:ea typeface="Arial Unicode MS"/>
                <a:cs typeface="Arial Unicode MS"/>
              </a:rPr>
              <a:t>一條射線</a:t>
            </a:r>
            <a:r>
              <a:rPr sz="800" lang="zh-TW" dirty="0">
                <a:solidFill>
                  <a:srgbClr val="000000"/>
                </a:solidFill>
                <a:latin typeface="Arial Unicode MS"/>
                <a:ea typeface="Arial Unicode MS"/>
                <a:cs typeface="Arial Unicode MS"/>
              </a:rPr>
              <a:t> →（用</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 換算到</a:t>
            </a:r>
            <a:r>
              <a:rPr sz="800" b="1" lang="zh-TW" dirty="0">
                <a:solidFill>
                  <a:srgbClr val="000000"/>
                </a:solidFill>
                <a:latin typeface="Arial Unicode MS"/>
                <a:ea typeface="Arial Unicode MS"/>
                <a:cs typeface="Arial Unicode MS"/>
              </a:rPr>
              <a:t>車身座標系</a:t>
            </a:r>
            <a:r>
              <a:rPr sz="800" lang="zh-TW" dirty="0">
                <a:solidFill>
                  <a:srgbClr val="000000"/>
                </a:solidFill>
                <a:latin typeface="Arial Unicode MS"/>
                <a:ea typeface="Arial Unicode MS"/>
                <a:cs typeface="Arial Unicode MS"/>
              </a:rPr>
              <a:t>。少掉任何一段，剛剛那句話就合不起來。而且順序不能反：</a:t>
            </a:r>
            <a:r>
              <a:rPr sz="800" b="1" lang="zh-TW" dirty="0">
                <a:solidFill>
                  <a:srgbClr val="000000"/>
                </a:solidFill>
                <a:latin typeface="Arial Unicode MS"/>
                <a:ea typeface="Arial Unicode MS"/>
                <a:cs typeface="Arial Unicode MS"/>
              </a:rPr>
              <a:t>內參要先標</a:t>
            </a:r>
            <a:r>
              <a:rPr sz="800" lang="zh-TW" dirty="0">
                <a:solidFill>
                  <a:srgbClr val="000000"/>
                </a:solidFill>
                <a:latin typeface="Arial Unicode MS"/>
                <a:ea typeface="Arial Unicode MS"/>
                <a:cs typeface="Arial Unicode MS"/>
              </a:rPr>
              <a:t>，因為外參是拿影像上的點去解的，鏡頭的扭曲沒先修掉，解出來的外參一定是歪的。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（切出去播 youtu.be/J7hdrMn2RII）</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a:t>
            </a:r>
            <a:r>
              <a:rPr sz="800" b="1" lang="zh-TW" dirty="0">
                <a:solidFill>
                  <a:srgbClr val="000000"/>
                </a:solidFill>
                <a:latin typeface="Arial Unicode MS"/>
                <a:ea typeface="Arial Unicode MS"/>
                <a:cs typeface="Arial Unicode MS"/>
              </a:rPr>
              <a:t>而且不是只有相機有內參</a:t>
            </a:r>
            <a:r>
              <a:rPr sz="800" lang="zh-TW" dirty="0">
                <a:solidFill>
                  <a:srgbClr val="000000"/>
                </a:solidFill>
                <a:latin typeface="Arial Unicode MS"/>
                <a:ea typeface="Arial Unicode MS"/>
                <a:cs typeface="Arial Unicode MS"/>
              </a:rPr>
              <a:t>——第一節那張 OS1 的規格上寫著 Queryable intrinsic calibration，光達的內參就是</a:t>
            </a:r>
            <a:r>
              <a:rPr sz="800" b="1" lang="zh-TW" dirty="0">
                <a:solidFill>
                  <a:srgbClr val="000000"/>
                </a:solidFill>
                <a:latin typeface="Arial Unicode MS"/>
                <a:ea typeface="Arial Unicode MS"/>
                <a:cs typeface="Arial Unicode MS"/>
              </a:rPr>
              <a:t>每條線束實際的垂直角度</a:t>
            </a:r>
            <a:r>
              <a:rPr sz="800" lang="zh-TW" dirty="0">
                <a:solidFill>
                  <a:srgbClr val="000000"/>
                </a:solidFill>
                <a:latin typeface="Arial Unicode MS"/>
                <a:ea typeface="Arial Unicode MS"/>
                <a:cs typeface="Arial Unicode MS"/>
              </a:rPr>
              <a:t>，出廠量過，可以直接跟它要。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它回答的是：</a:t>
            </a:r>
            <a:r>
              <a:rPr sz="800" b="1" lang="zh-TW" dirty="0">
                <a:solidFill>
                  <a:srgbClr val="000000"/>
                </a:solidFill>
                <a:latin typeface="Arial Unicode MS"/>
                <a:ea typeface="Arial Unicode MS"/>
                <a:cs typeface="Arial Unicode MS"/>
              </a:rPr>
              <a:t>這隻眼睛裝在車身的哪裡、朝哪個方向看。</a:t>
            </a:r>
            <a:r>
              <a:rPr sz="800" lang="zh-TW" dirty="0">
                <a:solidFill>
                  <a:srgbClr val="000000"/>
                </a:solidFill>
                <a:latin typeface="Arial Unicode MS"/>
                <a:ea typeface="Arial Unicode MS"/>
                <a:cs typeface="Arial Unicode MS"/>
              </a:rPr>
              <a:t>請注意是</a:t>
            </a:r>
            <a:r>
              <a:rPr sz="800" b="1" lang="zh-TW" dirty="0">
                <a:solidFill>
                  <a:srgbClr val="000000"/>
                </a:solidFill>
                <a:latin typeface="Arial Unicode MS"/>
                <a:ea typeface="Arial Unicode MS"/>
                <a:cs typeface="Arial Unicode MS"/>
              </a:rPr>
              <a:t>對車身</a:t>
            </a:r>
            <a:r>
              <a:rPr sz="800" lang="zh-TW" dirty="0">
                <a:solidFill>
                  <a:srgbClr val="000000"/>
                </a:solidFill>
                <a:latin typeface="Arial Unicode MS"/>
                <a:ea typeface="Arial Unicode MS"/>
                <a:cs typeface="Arial Unicode MS"/>
              </a:rPr>
              <a:t>，不是對另一顆感測器——所以</a:t>
            </a:r>
            <a:r>
              <a:rPr sz="800" b="1" lang="zh-TW" dirty="0">
                <a:solidFill>
                  <a:srgbClr val="000000"/>
                </a:solidFill>
                <a:latin typeface="Arial Unicode MS"/>
                <a:ea typeface="Arial Unicode MS"/>
                <a:cs typeface="Arial Unicode MS"/>
              </a:rPr>
              <a:t>只有一顆相機的車也有外參，也要標</a:t>
            </a:r>
            <a:r>
              <a:rPr sz="800" lang="zh-TW" dirty="0">
                <a:solidFill>
                  <a:srgbClr val="000000"/>
                </a:solidFill>
                <a:latin typeface="Arial Unicode MS"/>
                <a:ea typeface="Arial Unicode MS"/>
                <a:cs typeface="Arial Unicode MS"/>
              </a:rPr>
              <a:t>，下一張那支影片整台車就只有一顆相機。那兩顆要怎麼對上？相機對車身量好了、光達對車身也量好了，</a:t>
            </a:r>
            <a:r>
              <a:rPr sz="800" b="1" lang="zh-TW" dirty="0">
                <a:solidFill>
                  <a:srgbClr val="000000"/>
                </a:solidFill>
                <a:latin typeface="Arial Unicode MS"/>
                <a:ea typeface="Arial Unicode MS"/>
                <a:cs typeface="Arial Unicode MS"/>
              </a:rPr>
              <a:t>相機和光達的關係就推得出來</a:t>
            </a:r>
            <a:r>
              <a:rPr sz="800" lang="zh-TW" dirty="0">
                <a:solidFill>
                  <a:srgbClr val="000000"/>
                </a:solidFill>
                <a:latin typeface="Arial Unicode MS"/>
                <a:ea typeface="Arial Unicode MS"/>
                <a:cs typeface="Arial Unicode MS"/>
              </a:rPr>
              <a:t>。光達裝在車頂、相機裝在擋風玻璃後面，兩者相距六十公分、角度差三度——這六十公分和三度，就是這樣來的。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（切出去播 youtu.be/yqRNU7EsHJY）</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a:t>
            </a:r>
            <a:r>
              <a:rPr sz="800" b="1" lang="zh-TW" dirty="0">
                <a:solidFill>
                  <a:srgbClr val="000000"/>
                </a:solidFill>
                <a:latin typeface="Arial Unicode MS"/>
                <a:ea typeface="Arial Unicode MS"/>
                <a:cs typeface="Arial Unicode MS"/>
              </a:rPr>
              <a:t>第三格不是第三種標定，是第二格沒做好的後果。</a:t>
            </a:r>
            <a:r>
              <a:rPr sz="800" lang="zh-TW" dirty="0">
                <a:solidFill>
                  <a:srgbClr val="000000"/>
                </a:solidFill>
                <a:latin typeface="Arial Unicode MS"/>
                <a:ea typeface="Arial Unicode MS"/>
                <a:cs typeface="Arial Unicode MS"/>
              </a:rPr>
              <a:t>假設角度差了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——只要實際的角度和車子記在檔案裡的那組數字差一度，結果都一樣。我們就拿最常見的那個情況：擋風玻璃換過一次，相機裝回去的時候差了一度。一度聽起來很小對不對？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把標定從理論拉回現場：修車廠每天在做這件事，而且換完擋風玻璃是原廠規定要做的。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這是 Safelite 的廣告，品牌的段落跳過。跳著播三段：0:20–0:35、1:25–2:00、2:02–2:33。播完問「你家的車換過擋風玻璃嗎？店家有沒有說要重新標定？」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剛剛講的都是原理，現在看真的。這支是 </a:t>
            </a:r>
            <a:r>
              <a:rPr sz="850" b="1" lang="zh-TW" dirty="0">
                <a:solidFill>
                  <a:srgbClr val="000000"/>
                </a:solidFill>
                <a:latin typeface="Arial Unicode MS"/>
                <a:ea typeface="Arial Unicode MS"/>
                <a:cs typeface="Arial Unicode MS"/>
              </a:rPr>
              <a:t>Safelite</a:t>
            </a:r>
            <a:r>
              <a:rPr sz="850" lang="zh-TW" dirty="0">
                <a:solidFill>
                  <a:srgbClr val="000000"/>
                </a:solidFill>
                <a:latin typeface="Arial Unicode MS"/>
                <a:ea typeface="Arial Unicode MS"/>
                <a:cs typeface="Arial Unicode MS"/>
              </a:rPr>
              <a:t> 拍的，美國最大的擋風玻璃商。</a:t>
            </a:r>
            <a:r>
              <a:rPr sz="850" b="1" lang="zh-TW" dirty="0">
                <a:solidFill>
                  <a:srgbClr val="000000"/>
                </a:solidFill>
                <a:latin typeface="Arial Unicode MS"/>
                <a:ea typeface="Arial Unicode MS"/>
                <a:cs typeface="Arial Unicode MS"/>
              </a:rPr>
              <a:t>它是廣告，品牌的段落我們跳過，只看技師在做什麼。</a:t>
            </a:r>
            <a:r>
              <a:rPr sz="850" lang="zh-TW" dirty="0">
                <a:solidFill>
                  <a:srgbClr val="000000"/>
                </a:solidFill>
                <a:latin typeface="Arial Unicode MS"/>
                <a:ea typeface="Arial Unicode MS"/>
                <a:cs typeface="Arial Unicode MS"/>
              </a:rPr>
              <a:t>我會跳著播三段。
</a:t>
            </a:r>
          </a:p>
          <a:p>
            <a:pPr algn="l">
              <a:spcBef>
                <a:spcPts val="0"/>
              </a:spcBef>
              <a:spcAft>
                <a:spcPts val="142"/>
              </a:spcAft>
            </a:pPr>
            <a:r>
              <a:rPr sz="850" b="1" lang="zh-TW" dirty="0">
                <a:solidFill>
                  <a:srgbClr val="000000"/>
                </a:solidFill>
                <a:latin typeface="Arial Unicode MS"/>
                <a:ea typeface="Arial Unicode MS"/>
                <a:cs typeface="Arial Unicode MS"/>
              </a:rPr>
              <a:t>第一段，0:20。</a:t>
            </a:r>
            <a:r>
              <a:rPr sz="850" lang="zh-TW" dirty="0">
                <a:solidFill>
                  <a:srgbClr val="000000"/>
                </a:solidFill>
                <a:latin typeface="Arial Unicode MS"/>
                <a:ea typeface="Arial Unicode MS"/>
                <a:cs typeface="Arial Unicode MS"/>
              </a:rPr>
              <a:t>他說：</a:t>
            </a:r>
            <a:r>
              <a:rPr sz="850" b="1" lang="zh-TW" dirty="0">
                <a:solidFill>
                  <a:srgbClr val="000000"/>
                </a:solidFill>
                <a:latin typeface="Arial Unicode MS"/>
                <a:ea typeface="Arial Unicode MS"/>
                <a:cs typeface="Arial Unicode MS"/>
              </a:rPr>
              <a:t>所有車廠都規定，擋風玻璃換過之後，這些安全系統一定要重新標定。</a:t>
            </a:r>
            <a:r>
              <a:rPr sz="8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42"/>
              </a:spcAft>
            </a:pPr>
            <a:r>
              <a:rPr sz="850" b="1" lang="zh-TW" dirty="0">
                <a:solidFill>
                  <a:srgbClr val="000000"/>
                </a:solidFill>
                <a:latin typeface="Arial Unicode MS"/>
                <a:ea typeface="Arial Unicode MS"/>
                <a:cs typeface="Arial Unicode MS"/>
              </a:rPr>
              <a:t>第二段，1:25。</a:t>
            </a:r>
            <a:r>
              <a:rPr sz="850" lang="zh-TW" dirty="0">
                <a:solidFill>
                  <a:srgbClr val="000000"/>
                </a:solidFill>
                <a:latin typeface="Arial Unicode MS"/>
                <a:ea typeface="Arial Unicode MS"/>
                <a:cs typeface="Arial Unicode MS"/>
              </a:rPr>
              <a:t>技師先用</a:t>
            </a:r>
            <a:r>
              <a:rPr sz="850" b="1" lang="zh-TW" dirty="0">
                <a:solidFill>
                  <a:srgbClr val="000000"/>
                </a:solidFill>
                <a:latin typeface="Arial Unicode MS"/>
                <a:ea typeface="Arial Unicode MS"/>
                <a:cs typeface="Arial Unicode MS"/>
              </a:rPr>
              <a:t>雷射</a:t>
            </a:r>
            <a:r>
              <a:rPr sz="850" lang="zh-TW" dirty="0">
                <a:solidFill>
                  <a:srgbClr val="000000"/>
                </a:solidFill>
                <a:latin typeface="Arial Unicode MS"/>
                <a:ea typeface="Arial Unicode MS"/>
                <a:cs typeface="Arial Unicode MS"/>
              </a:rPr>
              <a:t>把車對正，平板上跑的是「Static Camera Aiming，第 2 步，共 15 步」。然後看他搬出來那塊</a:t>
            </a:r>
            <a:r>
              <a:rPr sz="850" b="1" lang="zh-TW" dirty="0">
                <a:solidFill>
                  <a:srgbClr val="000000"/>
                </a:solidFill>
                <a:latin typeface="Arial Unicode MS"/>
                <a:ea typeface="Arial Unicode MS"/>
                <a:cs typeface="Arial Unicode MS"/>
              </a:rPr>
              <a:t>黑白格子板</a:t>
            </a:r>
            <a:r>
              <a:rPr sz="850" lang="zh-TW" dirty="0">
                <a:solidFill>
                  <a:srgbClr val="000000"/>
                </a:solidFill>
                <a:latin typeface="Arial Unicode MS"/>
                <a:ea typeface="Arial Unicode MS"/>
                <a:cs typeface="Arial Unicode MS"/>
              </a:rPr>
              <a:t>——那就是標定板。相機對著那塊板子，演算法才知道「正前方」到底是畫面上哪一個像素。</a:t>
            </a:r>
            <a:r>
              <a:rPr sz="850" b="1" lang="zh-TW" dirty="0">
                <a:solidFill>
                  <a:srgbClr val="000000"/>
                </a:solidFill>
                <a:latin typeface="Arial Unicode MS"/>
                <a:ea typeface="Arial Unicode MS"/>
                <a:cs typeface="Arial Unicode MS"/>
              </a:rPr>
              <a:t>每一款車用的板子都不一樣</a:t>
            </a:r>
            <a:r>
              <a:rPr sz="8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42"/>
              </a:spcAft>
            </a:pPr>
            <a:r>
              <a:rPr sz="850" b="1" lang="zh-TW" dirty="0">
                <a:solidFill>
                  <a:srgbClr val="000000"/>
                </a:solidFill>
                <a:latin typeface="Arial Unicode MS"/>
                <a:ea typeface="Arial Unicode MS"/>
                <a:cs typeface="Arial Unicode MS"/>
              </a:rPr>
              <a:t>第三段，2:02。</a:t>
            </a:r>
            <a:r>
              <a:rPr sz="850" lang="zh-TW" dirty="0">
                <a:solidFill>
                  <a:srgbClr val="000000"/>
                </a:solidFill>
                <a:latin typeface="Arial Unicode MS"/>
                <a:ea typeface="Arial Unicode MS"/>
                <a:cs typeface="Arial Unicode MS"/>
              </a:rPr>
              <a:t>有些車不靠板子，靠開的。技師把車開上</a:t>
            </a:r>
            <a:r>
              <a:rPr sz="850" b="1" lang="zh-TW" dirty="0">
                <a:solidFill>
                  <a:srgbClr val="000000"/>
                </a:solidFill>
                <a:latin typeface="Arial Unicode MS"/>
                <a:ea typeface="Arial Unicode MS"/>
                <a:cs typeface="Arial Unicode MS"/>
              </a:rPr>
              <a:t>有清楚標線的路</a:t>
            </a:r>
            <a:r>
              <a:rPr sz="850" lang="zh-TW" dirty="0">
                <a:solidFill>
                  <a:srgbClr val="000000"/>
                </a:solidFill>
                <a:latin typeface="Arial Unicode MS"/>
                <a:ea typeface="Arial Unicode MS"/>
                <a:cs typeface="Arial Unicode MS"/>
              </a:rPr>
              <a:t>，跑到指定速度，車子自己用車道線把相機校回來——這叫</a:t>
            </a:r>
            <a:r>
              <a:rPr sz="850" b="1" lang="zh-TW" dirty="0">
                <a:solidFill>
                  <a:srgbClr val="000000"/>
                </a:solidFill>
                <a:latin typeface="Arial Unicode MS"/>
                <a:ea typeface="Arial Unicode MS"/>
                <a:cs typeface="Arial Unicode MS"/>
              </a:rPr>
              <a:t>動態標定</a:t>
            </a:r>
            <a:r>
              <a:rPr sz="850" lang="zh-TW" dirty="0">
                <a:solidFill>
                  <a:srgbClr val="000000"/>
                </a:solidFill>
                <a:latin typeface="Arial Unicode MS"/>
                <a:ea typeface="Arial Unicode MS"/>
                <a:cs typeface="Arial Unicode MS"/>
              </a:rPr>
              <a:t>，最久要跑一個小時。
</a:t>
            </a:r>
          </a:p>
          <a:p>
            <a:pPr algn="l">
              <a:spcBef>
                <a:spcPts val="0"/>
              </a:spcBef>
              <a:spcAft>
                <a:spcPts val="142"/>
              </a:spcAft>
            </a:pPr>
            <a:r>
              <a:rPr sz="8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850" b="1" lang="zh-TW" dirty="0">
                <a:solidFill>
                  <a:srgbClr val="000000"/>
                </a:solidFill>
                <a:latin typeface="Arial Unicode MS"/>
                <a:ea typeface="Arial Unicode MS"/>
                <a:cs typeface="Arial Unicode MS"/>
              </a:rPr>
              <a:t>玻璃本身沒貴多少，貴的是後面這段。</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還有一件事上一張沒講完：</a:t>
            </a:r>
            <a:r>
              <a:rPr sz="850" b="1" lang="zh-TW" dirty="0">
                <a:solidFill>
                  <a:srgbClr val="000000"/>
                </a:solidFill>
                <a:latin typeface="Arial Unicode MS"/>
                <a:ea typeface="Arial Unicode MS"/>
                <a:cs typeface="Arial Unicode MS"/>
              </a:rPr>
              <a:t>標定會跑掉。</a:t>
            </a:r>
            <a:r>
              <a:rPr sz="8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50" b="1" lang="zh-TW" dirty="0">
                <a:solidFill>
                  <a:srgbClr val="000000"/>
                </a:solidFill>
                <a:latin typeface="Arial Unicode MS"/>
                <a:ea typeface="Arial Unicode MS"/>
                <a:cs typeface="Arial Unicode MS"/>
              </a:rPr>
              <a:t>定期重新標定</a:t>
            </a:r>
            <a:r>
              <a:rPr sz="850" lang="zh-TW" dirty="0">
                <a:solidFill>
                  <a:srgbClr val="000000"/>
                </a:solidFill>
                <a:latin typeface="Arial Unicode MS"/>
                <a:ea typeface="Arial Unicode MS"/>
                <a:cs typeface="Arial Unicode MS"/>
              </a:rPr>
              <a:t>，有些車還會自己在行駛中偷偷校正。
</a:t>
            </a:r>
          </a:p>
          <a:p>
            <a:pPr algn="l">
              <a:spcBef>
                <a:spcPts val="0"/>
              </a:spcBef>
              <a:spcAft>
                <a:spcPts val="142"/>
              </a:spcAft>
            </a:pPr>
            <a:r>
              <a:rPr sz="850" lang="zh-TW" dirty="0">
                <a:solidFill>
                  <a:srgbClr val="000000"/>
                </a:solidFill>
                <a:latin typeface="Arial Unicode MS"/>
                <a:ea typeface="Arial Unicode MS"/>
                <a:cs typeface="Arial Unicode MS"/>
              </a:rPr>
              <a:t>問各位一句：</a:t>
            </a:r>
            <a:r>
              <a:rPr sz="850" b="1" lang="zh-TW" dirty="0">
                <a:solidFill>
                  <a:srgbClr val="000000"/>
                </a:solidFill>
                <a:latin typeface="Arial Unicode MS"/>
                <a:ea typeface="Arial Unicode MS"/>
                <a:cs typeface="Arial Unicode MS"/>
              </a:rPr>
              <a:t>你家的車，換過擋風玻璃嗎？</a:t>
            </a:r>
            <a:r>
              <a:rPr sz="8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42"/>
              </a:spcAft>
            </a:pPr>
            <a:r>
              <a:rPr sz="8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tâm ảnh ở đâu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Lidar cũng có: góc từng tia</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鏡頭扭曲多少、畫面中心在哪</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光達也有：每條線束的角度</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Gắn ở đâu trên thân xe</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nhìn hướng nào</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裝在車身的哪裡</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朝哪個方向看</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 lệch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2026-10-06T02:24:22Z</dcterms:created>
  <dcterms:modified xsi:type="dcterms:W3CDTF">2026-10-06T02:24:22Z</dcterms:modified>
</cp:coreProperties>
</file>