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第二節開始。
</a:t>
            </a:r>
          </a:p>
          <a:p>
            <a:pPr algn="l">
              <a:lnSpc>
                <a:spcPct val="115000"/>
              </a:lnSpc>
              <a:spcAft>
                <a:spcPts val="600"/>
              </a:spcAft>
            </a:pPr>
            <a:r>
              <a:rPr sz="1200" lang="zh-TW" dirty="0">
                <a:solidFill>
                  <a:srgbClr val="000000"/>
                </a:solidFill>
                <a:latin typeface="Arial Unicode MS"/>
                <a:ea typeface="Arial Unicode MS"/>
                <a:cs typeface="Arial Unicode MS"/>
              </a:rPr>
              <a:t>上一節我們找的四個數字，是規格表的</a:t>
            </a:r>
            <a:r>
              <a:rPr sz="1200" b="1" lang="zh-TW" dirty="0">
                <a:solidFill>
                  <a:srgbClr val="000000"/>
                </a:solidFill>
                <a:latin typeface="Arial Unicode MS"/>
                <a:ea typeface="Arial Unicode MS"/>
                <a:cs typeface="Arial Unicode MS"/>
              </a:rPr>
              <a:t>第一頁</a:t>
            </a:r>
            <a:r>
              <a:rPr sz="1200" lang="zh-TW" dirty="0">
                <a:solidFill>
                  <a:srgbClr val="000000"/>
                </a:solidFill>
                <a:latin typeface="Arial Unicode MS"/>
                <a:ea typeface="Arial Unicode MS"/>
                <a:cs typeface="Arial Unicode MS"/>
              </a:rPr>
              <a:t>——解析度、視野、測距、更新率。那四個是所有人都會看的。
</a:t>
            </a:r>
          </a:p>
          <a:p>
            <a:pPr algn="l">
              <a:lnSpc>
                <a:spcPct val="115000"/>
              </a:lnSpc>
              <a:spcAft>
                <a:spcPts val="600"/>
              </a:spcAft>
            </a:pPr>
            <a:r>
              <a:rPr sz="1200" lang="zh-TW" dirty="0">
                <a:solidFill>
                  <a:srgbClr val="000000"/>
                </a:solidFill>
                <a:latin typeface="Arial Unicode MS"/>
                <a:ea typeface="Arial Unicode MS"/>
                <a:cs typeface="Arial Unicode MS"/>
              </a:rPr>
              <a:t>這一節我要帶各位往下翻。第二頁上還有一堆數字，大部分的人不看，可是</a:t>
            </a:r>
            <a:r>
              <a:rPr sz="1200" b="1" lang="zh-TW" dirty="0">
                <a:solidFill>
                  <a:srgbClr val="000000"/>
                </a:solidFill>
                <a:latin typeface="Arial Unicode MS"/>
                <a:ea typeface="Arial Unicode MS"/>
                <a:cs typeface="Arial Unicode MS"/>
              </a:rPr>
              <a:t>真的出事的時候，常常是出在那幾行</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我挑三組最重要的。
</a:t>
            </a:r>
          </a:p>
          <a:p>
            <a:pPr algn="l">
              <a:lnSpc>
                <a:spcPct val="115000"/>
              </a:lnSpc>
              <a:spcAft>
                <a:spcPts val="600"/>
              </a:spcAft>
            </a:pPr>
            <a:r>
              <a:rPr sz="1200" lang="zh-TW" dirty="0">
                <a:solidFill>
                  <a:srgbClr val="000000"/>
                </a:solidFill>
                <a:latin typeface="Arial Unicode MS"/>
                <a:ea typeface="Arial Unicode MS"/>
                <a:cs typeface="Arial Unicode MS"/>
              </a:rPr>
              <a:t>第一組是相機的：</a:t>
            </a:r>
            <a:r>
              <a:rPr sz="1200" b="1" lang="zh-TW" dirty="0">
                <a:solidFill>
                  <a:srgbClr val="000000"/>
                </a:solidFill>
                <a:latin typeface="Arial Unicode MS"/>
                <a:ea typeface="Arial Unicode MS"/>
                <a:cs typeface="Arial Unicode MS"/>
              </a:rPr>
              <a:t>快門怎麼掃、動態範圍多少、LED 閃爍怎麼處理</a:t>
            </a:r>
            <a:r>
              <a:rPr sz="1200" lang="zh-TW" dirty="0">
                <a:solidFill>
                  <a:srgbClr val="000000"/>
                </a:solidFill>
                <a:latin typeface="Arial Unicode MS"/>
                <a:ea typeface="Arial Unicode MS"/>
                <a:cs typeface="Arial Unicode MS"/>
              </a:rPr>
              <a:t>。這三行決定了你的相機在隧道口和紅綠燈前面會不會瞎掉。
</a:t>
            </a:r>
          </a:p>
          <a:p>
            <a:pPr algn="l">
              <a:lnSpc>
                <a:spcPct val="115000"/>
              </a:lnSpc>
              <a:spcAft>
                <a:spcPts val="600"/>
              </a:spcAft>
            </a:pPr>
            <a:r>
              <a:rPr sz="1200" lang="zh-TW" dirty="0">
                <a:solidFill>
                  <a:srgbClr val="000000"/>
                </a:solidFill>
                <a:latin typeface="Arial Unicode MS"/>
                <a:ea typeface="Arial Unicode MS"/>
                <a:cs typeface="Arial Unicode MS"/>
              </a:rPr>
              <a:t>第二組是光達的：</a:t>
            </a:r>
            <a:r>
              <a:rPr sz="1200" b="1" lang="zh-TW" dirty="0">
                <a:solidFill>
                  <a:srgbClr val="000000"/>
                </a:solidFill>
                <a:latin typeface="Arial Unicode MS"/>
                <a:ea typeface="Arial Unicode MS"/>
                <a:cs typeface="Arial Unicode MS"/>
              </a:rPr>
              <a:t>波長、眼睛安全等級、幾次回波</a:t>
            </a:r>
            <a:r>
              <a:rPr sz="1200" lang="zh-TW" dirty="0">
                <a:solidFill>
                  <a:srgbClr val="000000"/>
                </a:solidFill>
                <a:latin typeface="Arial Unicode MS"/>
                <a:ea typeface="Arial Unicode MS"/>
                <a:cs typeface="Arial Unicode MS"/>
              </a:rPr>
              <a:t>。這三行決定了它在雨裡、在灰塵裡表現怎麼樣，還有它合不合法。
</a:t>
            </a:r>
          </a:p>
          <a:p>
            <a:pPr algn="l">
              <a:lnSpc>
                <a:spcPct val="115000"/>
              </a:lnSpc>
              <a:spcAft>
                <a:spcPts val="600"/>
              </a:spcAft>
            </a:pPr>
            <a:r>
              <a:rPr sz="1200" lang="zh-TW" dirty="0">
                <a:solidFill>
                  <a:srgbClr val="000000"/>
                </a:solidFill>
                <a:latin typeface="Arial Unicode MS"/>
                <a:ea typeface="Arial Unicode MS"/>
                <a:cs typeface="Arial Unicode MS"/>
              </a:rPr>
              <a:t>第三組是兩種都有的，而且是最多人忽略的：</a:t>
            </a:r>
            <a:r>
              <a:rPr sz="1200" b="1" lang="zh-TW" dirty="0">
                <a:solidFill>
                  <a:srgbClr val="000000"/>
                </a:solidFill>
                <a:latin typeface="Arial Unicode MS"/>
                <a:ea typeface="Arial Unicode MS"/>
                <a:cs typeface="Arial Unicode MS"/>
              </a:rPr>
              <a:t>標定和時間同步</a:t>
            </a:r>
            <a:r>
              <a:rPr sz="1200" lang="zh-TW" dirty="0">
                <a:solidFill>
                  <a:srgbClr val="000000"/>
                </a:solidFill>
                <a:latin typeface="Arial Unicode MS"/>
                <a:ea typeface="Arial Unicode MS"/>
                <a:cs typeface="Arial Unicode MS"/>
              </a:rPr>
              <a:t>。兩顆感測器如果沒有對準、沒有對時，它們各自都是好的，合起來卻是錯的。
</a:t>
            </a:r>
          </a:p>
          <a:p>
            <a:pPr algn="l">
              <a:lnSpc>
                <a:spcPct val="115000"/>
              </a:lnSpc>
              <a:spcAft>
                <a:spcPts val="600"/>
              </a:spcAft>
            </a:pPr>
            <a:r>
              <a:rPr sz="120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第一組，相機的三行。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先講第一行，</a:t>
            </a:r>
            <a:r>
              <a:rPr sz="1000" b="1" lang="zh-TW" dirty="0">
                <a:solidFill>
                  <a:srgbClr val="000000"/>
                </a:solidFill>
                <a:latin typeface="Arial Unicode MS"/>
                <a:ea typeface="Arial Unicode MS"/>
                <a:cs typeface="Arial Unicode MS"/>
              </a:rPr>
              <a:t>快門方式</a:t>
            </a:r>
            <a:r>
              <a:rPr sz="1000" lang="zh-TW" dirty="0">
                <a:solidFill>
                  <a:srgbClr val="000000"/>
                </a:solidFill>
                <a:latin typeface="Arial Unicode MS"/>
                <a:ea typeface="Arial Unicode MS"/>
                <a:cs typeface="Arial Unicode MS"/>
              </a:rPr>
              <a:t>。規格表上寫 rolling shutter 或者 global shutter。
</a:t>
            </a:r>
          </a:p>
          <a:p>
            <a:pPr algn="l">
              <a:lnSpc>
                <a:spcPct val="115000"/>
              </a:lnSpc>
              <a:spcAft>
                <a:spcPts val="500"/>
              </a:spcAft>
            </a:pPr>
            <a:r>
              <a:rPr sz="1000" lang="zh-TW" dirty="0">
                <a:solidFill>
                  <a:srgbClr val="000000"/>
                </a:solidFill>
                <a:latin typeface="Arial Unicode MS"/>
                <a:ea typeface="Arial Unicode MS"/>
                <a:cs typeface="Arial Unicode MS"/>
              </a:rPr>
              <a:t>大部分的人以為，相機按一下就是一整張照片同時拍好。</a:t>
            </a:r>
            <a:r>
              <a:rPr sz="1000" b="1" lang="zh-TW" dirty="0">
                <a:solidFill>
                  <a:srgbClr val="000000"/>
                </a:solidFill>
                <a:latin typeface="Arial Unicode MS"/>
                <a:ea typeface="Arial Unicode MS"/>
                <a:cs typeface="Arial Unicode MS"/>
              </a:rPr>
              <a:t>大部分的車用相機不是這樣。</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它叫</a:t>
            </a:r>
            <a:r>
              <a:rPr sz="1000" b="1" lang="zh-TW" dirty="0">
                <a:solidFill>
                  <a:srgbClr val="000000"/>
                </a:solidFill>
                <a:latin typeface="Arial Unicode MS"/>
                <a:ea typeface="Arial Unicode MS"/>
                <a:cs typeface="Arial Unicode MS"/>
              </a:rPr>
              <a:t>捲簾快門</a:t>
            </a:r>
            <a:r>
              <a:rPr sz="1000" lang="zh-TW" dirty="0">
                <a:solidFill>
                  <a:srgbClr val="000000"/>
                </a:solidFill>
                <a:latin typeface="Arial Unicode MS"/>
                <a:ea typeface="Arial Unicode MS"/>
                <a:cs typeface="Arial Unicode MS"/>
              </a:rPr>
              <a:t>，rolling shutter。感光元件是</a:t>
            </a:r>
            <a:r>
              <a:rPr sz="1000" b="1" lang="zh-TW" dirty="0">
                <a:solidFill>
                  <a:srgbClr val="000000"/>
                </a:solidFill>
                <a:latin typeface="Arial Unicode MS"/>
                <a:ea typeface="Arial Unicode MS"/>
                <a:cs typeface="Arial Unicode MS"/>
              </a:rPr>
              <a:t>一列一列</a:t>
            </a:r>
            <a:r>
              <a:rPr sz="1000" lang="zh-TW" dirty="0">
                <a:solidFill>
                  <a:srgbClr val="000000"/>
                </a:solidFill>
                <a:latin typeface="Arial Unicode MS"/>
                <a:ea typeface="Arial Unicode MS"/>
                <a:cs typeface="Arial Unicode MS"/>
              </a:rPr>
              <a:t>讀出來的：先讀第一列，再讀第二列，一路讀到最後一列。整張讀完要幾十毫秒。
</a:t>
            </a:r>
          </a:p>
          <a:p>
            <a:pPr algn="l">
              <a:lnSpc>
                <a:spcPct val="115000"/>
              </a:lnSpc>
              <a:spcAft>
                <a:spcPts val="500"/>
              </a:spcAft>
            </a:pPr>
            <a:r>
              <a:rPr sz="1000" lang="zh-TW" dirty="0">
                <a:solidFill>
                  <a:srgbClr val="000000"/>
                </a:solidFill>
                <a:latin typeface="Arial Unicode MS"/>
                <a:ea typeface="Arial Unicode MS"/>
                <a:cs typeface="Arial Unicode MS"/>
              </a:rPr>
              <a:t>所以同一張照片裡面，最上面那一列和最下面那一列，</a:t>
            </a:r>
            <a:r>
              <a:rPr sz="1000" b="1" lang="zh-TW" dirty="0">
                <a:solidFill>
                  <a:srgbClr val="000000"/>
                </a:solidFill>
                <a:latin typeface="Arial Unicode MS"/>
                <a:ea typeface="Arial Unicode MS"/>
                <a:cs typeface="Arial Unicode MS"/>
              </a:rPr>
              <a:t>不是同一個時間拍的</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lnSpc>
                <a:spcPct val="115000"/>
              </a:lnSpc>
              <a:spcAft>
                <a:spcPts val="500"/>
              </a:spcAft>
            </a:pPr>
            <a:r>
              <a:rPr sz="1000" lang="zh-TW" dirty="0">
                <a:solidFill>
                  <a:srgbClr val="000000"/>
                </a:solidFill>
                <a:latin typeface="Arial Unicode MS"/>
                <a:ea typeface="Arial Unicode MS"/>
                <a:cs typeface="Arial Unicode MS"/>
              </a:rPr>
              <a:t>我在白板上把一張照片畫成三條，標上第零毫秒、第十五毫秒、第三十毫秒——同一張照片，三個不同的時間。
</a:t>
            </a:r>
          </a:p>
          <a:p>
            <a:pPr algn="l">
              <a:lnSpc>
                <a:spcPct val="115000"/>
              </a:lnSpc>
              <a:spcAft>
                <a:spcPts val="500"/>
              </a:spcAft>
            </a:pPr>
            <a:r>
              <a:rPr sz="1000" lang="zh-TW" dirty="0">
                <a:solidFill>
                  <a:srgbClr val="000000"/>
                </a:solidFill>
                <a:latin typeface="Arial Unicode MS"/>
                <a:ea typeface="Arial Unicode MS"/>
                <a:cs typeface="Arial Unicode MS"/>
              </a:rPr>
              <a:t>對自駕車來說，這件事的嚴重性在哪裡？
</a:t>
            </a:r>
          </a:p>
          <a:p>
            <a:pPr algn="l">
              <a:lnSpc>
                <a:spcPct val="115000"/>
              </a:lnSpc>
              <a:spcAft>
                <a:spcPts val="500"/>
              </a:spcAft>
            </a:pPr>
            <a:r>
              <a:rPr sz="10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1000" b="1" lang="zh-TW" dirty="0">
                <a:solidFill>
                  <a:srgbClr val="000000"/>
                </a:solidFill>
                <a:latin typeface="Arial Unicode MS"/>
                <a:ea typeface="Arial Unicode MS"/>
                <a:cs typeface="Arial Unicode MS"/>
              </a:rPr>
              <a:t>被扭曲的形狀</a:t>
            </a:r>
            <a:r>
              <a:rPr sz="1000" lang="zh-TW" dirty="0">
                <a:solidFill>
                  <a:srgbClr val="000000"/>
                </a:solidFill>
                <a:latin typeface="Arial Unicode MS"/>
                <a:ea typeface="Arial Unicode MS"/>
                <a:cs typeface="Arial Unicode MS"/>
              </a:rPr>
              <a:t>，而且它不知道那是扭曲的，它以為那就是真的。
</a:t>
            </a:r>
          </a:p>
          <a:p>
            <a:pPr algn="l">
              <a:lnSpc>
                <a:spcPct val="115000"/>
              </a:lnSpc>
              <a:spcAft>
                <a:spcPts val="500"/>
              </a:spcAft>
            </a:pPr>
            <a:r>
              <a:rPr sz="10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lnSpc>
                <a:spcPct val="115000"/>
              </a:lnSpc>
              <a:spcAft>
                <a:spcPts val="500"/>
              </a:spcAft>
            </a:pPr>
            <a:r>
              <a:rPr sz="1000" lang="zh-TW" dirty="0">
                <a:solidFill>
                  <a:srgbClr val="000000"/>
                </a:solidFill>
                <a:latin typeface="Arial Unicode MS"/>
                <a:ea typeface="Arial Unicode MS"/>
                <a:cs typeface="Arial Unicode MS"/>
              </a:rPr>
              <a:t>所以規格表上這一行不是文字遊戲，它決定了你的感知演算法要不要另外寫一段程式去補償。
</a:t>
            </a:r>
          </a:p>
          <a:p>
            <a:pPr algn="l">
              <a:lnSpc>
                <a:spcPct val="115000"/>
              </a:lnSpc>
              <a:spcAft>
                <a:spcPts val="500"/>
              </a:spcAft>
            </a:pPr>
            <a:r>
              <a:rPr sz="1000" lang="zh-TW" dirty="0">
                <a:solidFill>
                  <a:srgbClr val="000000"/>
                </a:solidFill>
                <a:latin typeface="Arial Unicode MS"/>
                <a:ea typeface="Arial Unicode MS"/>
                <a:cs typeface="Arial Unicode MS"/>
              </a:rPr>
              <a:t>大部分的車用感測器還是用捲簾，因為便宜。它的補救方式是</a:t>
            </a:r>
            <a:r>
              <a:rPr sz="1000" b="1" lang="zh-TW" dirty="0">
                <a:solidFill>
                  <a:srgbClr val="000000"/>
                </a:solidFill>
                <a:latin typeface="Arial Unicode MS"/>
                <a:ea typeface="Arial Unicode MS"/>
                <a:cs typeface="Arial Unicode MS"/>
              </a:rPr>
              <a:t>讀得很快</a:t>
            </a:r>
            <a:r>
              <a:rPr sz="1000" lang="zh-TW" dirty="0">
                <a:solidFill>
                  <a:srgbClr val="000000"/>
                </a:solidFill>
                <a:latin typeface="Arial Unicode MS"/>
                <a:ea typeface="Arial Unicode MS"/>
                <a:cs typeface="Arial Unicode MS"/>
              </a:rPr>
              <a:t>——像我們昨天看的 AR0233AT，一秒六十張，讀一張只要十六毫秒左右，扭曲就小一點。
</a:t>
            </a:r>
          </a:p>
          <a:p>
            <a:pPr algn="l">
              <a:lnSpc>
                <a:spcPct val="115000"/>
              </a:lnSpc>
              <a:spcAft>
                <a:spcPts val="500"/>
              </a:spcAft>
            </a:pPr>
            <a:r>
              <a:rPr sz="1000" lang="zh-TW" dirty="0">
                <a:solidFill>
                  <a:srgbClr val="000000"/>
                </a:solidFill>
                <a:latin typeface="Arial Unicode MS"/>
                <a:ea typeface="Arial Unicode MS"/>
                <a:cs typeface="Arial Unicode MS"/>
              </a:rPr>
              <a:t>所以「更新率 60 fps」這一行，除了講即時性，它其實也在講</a:t>
            </a:r>
            <a:r>
              <a:rPr sz="1000" b="1" lang="zh-TW" dirty="0">
                <a:solidFill>
                  <a:srgbClr val="000000"/>
                </a:solidFill>
                <a:latin typeface="Arial Unicode MS"/>
                <a:ea typeface="Arial Unicode MS"/>
                <a:cs typeface="Arial Unicode MS"/>
              </a:rPr>
              <a:t>扭曲有多嚴重</a:t>
            </a:r>
            <a:r>
              <a:rPr sz="10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第二行是</a:t>
            </a:r>
            <a:r>
              <a:rPr sz="1000" b="1" lang="zh-TW" dirty="0">
                <a:solidFill>
                  <a:srgbClr val="000000"/>
                </a:solidFill>
                <a:latin typeface="Arial Unicode MS"/>
                <a:ea typeface="Arial Unicode MS"/>
                <a:cs typeface="Arial Unicode MS"/>
              </a:rPr>
              <a:t>動態範圍</a:t>
            </a:r>
            <a:r>
              <a:rPr sz="1000" lang="zh-TW" dirty="0">
                <a:solidFill>
                  <a:srgbClr val="000000"/>
                </a:solidFill>
                <a:latin typeface="Arial Unicode MS"/>
                <a:ea typeface="Arial Unicode MS"/>
                <a:cs typeface="Arial Unicode MS"/>
              </a:rPr>
              <a:t>，Dynamic Range，單位是 dB。
</a:t>
            </a:r>
          </a:p>
          <a:p>
            <a:pPr algn="l">
              <a:lnSpc>
                <a:spcPct val="115000"/>
              </a:lnSpc>
              <a:spcAft>
                <a:spcPts val="500"/>
              </a:spcAft>
            </a:pPr>
            <a:r>
              <a:rPr sz="1000" lang="zh-TW" dirty="0">
                <a:solidFill>
                  <a:srgbClr val="000000"/>
                </a:solidFill>
                <a:latin typeface="Arial Unicode MS"/>
                <a:ea typeface="Arial Unicode MS"/>
                <a:cs typeface="Arial Unicode MS"/>
              </a:rPr>
              <a:t>這一行在講：同一張畫面裡，它能同時處理多亮和多暗。
</a:t>
            </a:r>
          </a:p>
          <a:p>
            <a:pPr algn="l">
              <a:lnSpc>
                <a:spcPct val="115000"/>
              </a:lnSpc>
              <a:spcAft>
                <a:spcPts val="500"/>
              </a:spcAft>
            </a:pPr>
            <a:r>
              <a:rPr sz="10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lnSpc>
                <a:spcPct val="115000"/>
              </a:lnSpc>
              <a:spcAft>
                <a:spcPts val="500"/>
              </a:spcAft>
            </a:pPr>
            <a:r>
              <a:rPr sz="1000" lang="zh-TW" dirty="0">
                <a:solidFill>
                  <a:srgbClr val="000000"/>
                </a:solidFill>
                <a:latin typeface="Arial Unicode MS"/>
                <a:ea typeface="Arial Unicode MS"/>
                <a:cs typeface="Arial Unicode MS"/>
              </a:rPr>
              <a:t>刺眼，然後看不清楚，要過一兩秒才適應。
</a:t>
            </a:r>
          </a:p>
          <a:p>
            <a:pPr algn="l">
              <a:lnSpc>
                <a:spcPct val="115000"/>
              </a:lnSpc>
              <a:spcAft>
                <a:spcPts val="500"/>
              </a:spcAft>
            </a:pPr>
            <a:r>
              <a:rPr sz="1000" lang="zh-TW" dirty="0">
                <a:solidFill>
                  <a:srgbClr val="000000"/>
                </a:solidFill>
                <a:latin typeface="Arial Unicode MS"/>
                <a:ea typeface="Arial Unicode MS"/>
                <a:cs typeface="Arial Unicode MS"/>
              </a:rPr>
              <a:t>相機也一樣，而且它沒有兩秒可以適應。隧道裡面很暗，出口外面很亮，這兩個亮度差可能是好幾萬倍。如果相機的動態範圍不夠，它只能選一邊：</a:t>
            </a:r>
            <a:r>
              <a:rPr sz="1000" b="1" lang="zh-TW" dirty="0">
                <a:solidFill>
                  <a:srgbClr val="000000"/>
                </a:solidFill>
                <a:latin typeface="Arial Unicode MS"/>
                <a:ea typeface="Arial Unicode MS"/>
                <a:cs typeface="Arial Unicode MS"/>
              </a:rPr>
              <a:t>要嘛把裡面拍清楚，外面整片白；要嘛把外面拍清楚，裡面整片黑。</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那個整片白或整片黑的地方，如果剛好有一台停在路邊的車，你就看不到它。
</a:t>
            </a:r>
          </a:p>
          <a:p>
            <a:pPr algn="l">
              <a:lnSpc>
                <a:spcPct val="115000"/>
              </a:lnSpc>
              <a:spcAft>
                <a:spcPts val="500"/>
              </a:spcAft>
            </a:pPr>
            <a:r>
              <a:rPr sz="1000" lang="zh-TW" dirty="0">
                <a:solidFill>
                  <a:srgbClr val="000000"/>
                </a:solidFill>
                <a:latin typeface="Arial Unicode MS"/>
                <a:ea typeface="Arial Unicode MS"/>
                <a:cs typeface="Arial Unicode MS"/>
              </a:rPr>
              <a:t>這是真實事故的成因之一，各位記一下。
</a:t>
            </a:r>
          </a:p>
          <a:p>
            <a:pPr algn="l">
              <a:lnSpc>
                <a:spcPct val="115000"/>
              </a:lnSpc>
              <a:spcAft>
                <a:spcPts val="500"/>
              </a:spcAft>
            </a:pPr>
            <a:r>
              <a:rPr sz="1000" lang="zh-TW" dirty="0">
                <a:solidFill>
                  <a:srgbClr val="000000"/>
                </a:solidFill>
                <a:latin typeface="Arial Unicode MS"/>
                <a:ea typeface="Arial Unicode MS"/>
                <a:cs typeface="Arial Unicode MS"/>
              </a:rPr>
              <a:t>人的眼睛大概可以處理 120 dB 左右。我們昨天那顆 AR0233AT，規格表上寫 </a:t>
            </a:r>
            <a:r>
              <a:rPr sz="1000" b="1" lang="zh-TW" dirty="0">
                <a:solidFill>
                  <a:srgbClr val="000000"/>
                </a:solidFill>
                <a:latin typeface="Arial Unicode MS"/>
                <a:ea typeface="Arial Unicode MS"/>
                <a:cs typeface="Arial Unicode MS"/>
              </a:rPr>
              <a:t>140 dB 以上</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dB 是對數的單位，每 20 dB 差十倍。140 減 120 是 20，所以它比人眼還多十倍的餘裕。這就是為什麼一顆車用的感測器可以賣得比手機的貴。
</a:t>
            </a:r>
          </a:p>
          <a:p>
            <a:pPr algn="l">
              <a:lnSpc>
                <a:spcPct val="115000"/>
              </a:lnSpc>
              <a:spcAft>
                <a:spcPts val="500"/>
              </a:spcAft>
            </a:pPr>
            <a:r>
              <a:rPr sz="1000" lang="zh-TW" dirty="0">
                <a:solidFill>
                  <a:srgbClr val="000000"/>
                </a:solidFill>
                <a:latin typeface="Arial Unicode MS"/>
                <a:ea typeface="Arial Unicode MS"/>
                <a:cs typeface="Arial Unicode MS"/>
              </a:rPr>
              <a:t>所以以後看到規格表上寫 120 dB 和寫 140 dB，那不是差百分之十七，是</a:t>
            </a:r>
            <a:r>
              <a:rPr sz="1000" b="1" lang="zh-TW" dirty="0">
                <a:solidFill>
                  <a:srgbClr val="000000"/>
                </a:solidFill>
                <a:latin typeface="Arial Unicode MS"/>
                <a:ea typeface="Arial Unicode MS"/>
                <a:cs typeface="Arial Unicode MS"/>
              </a:rPr>
              <a:t>差十倍</a:t>
            </a:r>
            <a:r>
              <a:rPr sz="1000" lang="zh-TW" dirty="0">
                <a:solidFill>
                  <a:srgbClr val="000000"/>
                </a:solidFill>
                <a:latin typeface="Arial Unicode MS"/>
                <a:ea typeface="Arial Unicode MS"/>
                <a:cs typeface="Arial Unicode MS"/>
              </a:rPr>
              <a:t>。這一行是最容易被數字騙的一行。
</a:t>
            </a:r>
          </a:p>
          <a:p>
            <a:pPr algn="l">
              <a:lnSpc>
                <a:spcPct val="115000"/>
              </a:lnSpc>
              <a:spcAft>
                <a:spcPts val="500"/>
              </a:spcAft>
            </a:pPr>
            <a:r>
              <a:rPr sz="1000" lang="zh-TW" dirty="0">
                <a:solidFill>
                  <a:srgbClr val="000000"/>
                </a:solidFill>
                <a:latin typeface="Arial Unicode MS"/>
                <a:ea typeface="Arial Unicode MS"/>
                <a:cs typeface="Arial Unicode MS"/>
              </a:rPr>
              <a:t>第三週我們在工具上按「逆光眩光」，相機的有效距離從八十公尺掉到十八公尺。那一顆的動態範圍就是不夠。動態範圍愈高的相機，那個按鈕對它的傷害就愈小。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第三行是</a:t>
            </a:r>
            <a:r>
              <a:rPr sz="1000" b="1" lang="zh-TW" dirty="0">
                <a:solidFill>
                  <a:srgbClr val="000000"/>
                </a:solidFill>
                <a:latin typeface="Arial Unicode MS"/>
                <a:ea typeface="Arial Unicode MS"/>
                <a:cs typeface="Arial Unicode MS"/>
              </a:rPr>
              <a:t>LED 閃爍抑制</a:t>
            </a:r>
            <a:r>
              <a:rPr sz="1000" lang="zh-TW" dirty="0">
                <a:solidFill>
                  <a:srgbClr val="000000"/>
                </a:solidFill>
                <a:latin typeface="Arial Unicode MS"/>
                <a:ea typeface="Arial Unicode MS"/>
                <a:cs typeface="Arial Unicode MS"/>
              </a:rPr>
              <a:t>，規格表上寫 LFM，LED Flicker Mitigation。
</a:t>
            </a:r>
          </a:p>
          <a:p>
            <a:pPr algn="l">
              <a:lnSpc>
                <a:spcPct val="115000"/>
              </a:lnSpc>
              <a:spcAft>
                <a:spcPts val="500"/>
              </a:spcAft>
            </a:pPr>
            <a:r>
              <a:rPr sz="1000" lang="zh-TW" dirty="0">
                <a:solidFill>
                  <a:srgbClr val="000000"/>
                </a:solidFill>
                <a:latin typeface="Arial Unicode MS"/>
                <a:ea typeface="Arial Unicode MS"/>
                <a:cs typeface="Arial Unicode MS"/>
              </a:rPr>
              <a:t>這一行大部分的人看不懂在幹嘛，可是它非常重要。
</a:t>
            </a:r>
          </a:p>
          <a:p>
            <a:pPr algn="l">
              <a:lnSpc>
                <a:spcPct val="115000"/>
              </a:lnSpc>
              <a:spcAft>
                <a:spcPts val="500"/>
              </a:spcAft>
            </a:pPr>
            <a:r>
              <a:rPr sz="1000" lang="zh-TW" dirty="0">
                <a:solidFill>
                  <a:srgbClr val="000000"/>
                </a:solidFill>
                <a:latin typeface="Arial Unicode MS"/>
                <a:ea typeface="Arial Unicode MS"/>
                <a:cs typeface="Arial Unicode MS"/>
              </a:rPr>
              <a:t>現在路上的紅綠燈、車子的尾燈，幾乎全部換成 LED 了。LED 不是一直亮著的，它是</a:t>
            </a:r>
            <a:r>
              <a:rPr sz="1000" b="1" lang="zh-TW" dirty="0">
                <a:solidFill>
                  <a:srgbClr val="000000"/>
                </a:solidFill>
                <a:latin typeface="Arial Unicode MS"/>
                <a:ea typeface="Arial Unicode MS"/>
                <a:cs typeface="Arial Unicode MS"/>
              </a:rPr>
              <a:t>用很快的速度在閃</a:t>
            </a:r>
            <a:r>
              <a:rPr sz="1000" lang="zh-TW" dirty="0">
                <a:solidFill>
                  <a:srgbClr val="000000"/>
                </a:solidFill>
                <a:latin typeface="Arial Unicode MS"/>
                <a:ea typeface="Arial Unicode MS"/>
                <a:cs typeface="Arial Unicode MS"/>
              </a:rPr>
              <a:t>，一秒鐘閃好幾百次。因為閃得太快，人的眼睛看起來就是連續亮著。
</a:t>
            </a:r>
          </a:p>
          <a:p>
            <a:pPr algn="l">
              <a:lnSpc>
                <a:spcPct val="115000"/>
              </a:lnSpc>
              <a:spcAft>
                <a:spcPts val="500"/>
              </a:spcAft>
            </a:pPr>
            <a:r>
              <a:rPr sz="10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lnSpc>
                <a:spcPct val="115000"/>
              </a:lnSpc>
              <a:spcAft>
                <a:spcPts val="500"/>
              </a:spcAft>
            </a:pPr>
            <a:r>
              <a:rPr sz="1000" b="1" lang="zh-TW" dirty="0">
                <a:solidFill>
                  <a:srgbClr val="000000"/>
                </a:solidFill>
                <a:latin typeface="Arial Unicode MS"/>
                <a:ea typeface="Arial Unicode MS"/>
                <a:cs typeface="Arial Unicode MS"/>
              </a:rPr>
              <a:t>你就拍到一個沒有亮的紅燈。</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大家想一下這件事有多可怕。
</a:t>
            </a:r>
          </a:p>
          <a:p>
            <a:pPr algn="l">
              <a:lnSpc>
                <a:spcPct val="115000"/>
              </a:lnSpc>
              <a:spcAft>
                <a:spcPts val="500"/>
              </a:spcAft>
            </a:pPr>
            <a:r>
              <a:rPr sz="1000" lang="zh-TW" dirty="0">
                <a:solidFill>
                  <a:srgbClr val="000000"/>
                </a:solidFill>
                <a:latin typeface="Arial Unicode MS"/>
                <a:ea typeface="Arial Unicode MS"/>
                <a:cs typeface="Arial Unicode MS"/>
              </a:rPr>
              <a:t>一台自駕車，前面是紅燈，相機拍回來的畫面上那個燈是暗的。演算法會怎麼判斷？它可能認為那個號誌壞掉了，或者根本沒看到號誌。
</a:t>
            </a:r>
          </a:p>
          <a:p>
            <a:pPr algn="l">
              <a:lnSpc>
                <a:spcPct val="115000"/>
              </a:lnSpc>
              <a:spcAft>
                <a:spcPts val="500"/>
              </a:spcAft>
            </a:pPr>
            <a:r>
              <a:rPr sz="10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lnSpc>
                <a:spcPct val="115000"/>
              </a:lnSpc>
              <a:spcAft>
                <a:spcPts val="500"/>
              </a:spcAft>
            </a:pPr>
            <a:r>
              <a:rPr sz="1000" lang="zh-TW" dirty="0">
                <a:solidFill>
                  <a:srgbClr val="000000"/>
                </a:solidFill>
                <a:latin typeface="Arial Unicode MS"/>
                <a:ea typeface="Arial Unicode MS"/>
                <a:cs typeface="Arial Unicode MS"/>
              </a:rPr>
              <a:t>所以車用的影像感測器要特別處理這件事，作法是</a:t>
            </a:r>
            <a:r>
              <a:rPr sz="1000" b="1" lang="zh-TW" dirty="0">
                <a:solidFill>
                  <a:srgbClr val="000000"/>
                </a:solidFill>
                <a:latin typeface="Arial Unicode MS"/>
                <a:ea typeface="Arial Unicode MS"/>
                <a:cs typeface="Arial Unicode MS"/>
              </a:rPr>
              <a:t>把曝光拆成好幾段</a:t>
            </a:r>
            <a:r>
              <a:rPr sz="1000" lang="zh-TW" dirty="0">
                <a:solidFill>
                  <a:srgbClr val="000000"/>
                </a:solidFill>
                <a:latin typeface="Arial Unicode MS"/>
                <a:ea typeface="Arial Unicode MS"/>
                <a:cs typeface="Arial Unicode MS"/>
              </a:rPr>
              <a:t>，讓每一張畫面一定會涵蓋到 LED 亮著的時候。
</a:t>
            </a:r>
          </a:p>
          <a:p>
            <a:pPr algn="l">
              <a:lnSpc>
                <a:spcPct val="115000"/>
              </a:lnSpc>
              <a:spcAft>
                <a:spcPts val="500"/>
              </a:spcAft>
            </a:pPr>
            <a:r>
              <a:rPr sz="10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1000" b="1" lang="zh-TW" dirty="0">
                <a:solidFill>
                  <a:srgbClr val="000000"/>
                </a:solidFill>
                <a:latin typeface="Arial Unicode MS"/>
                <a:ea typeface="Arial Unicode MS"/>
                <a:cs typeface="Arial Unicode MS"/>
              </a:rPr>
              <a:t>及格線</a:t>
            </a:r>
            <a:r>
              <a:rPr sz="1000" lang="zh-TW" dirty="0">
                <a:solidFill>
                  <a:srgbClr val="000000"/>
                </a:solidFill>
                <a:latin typeface="Arial Unicode MS"/>
                <a:ea typeface="Arial Unicode MS"/>
                <a:cs typeface="Arial Unicode MS"/>
              </a:rPr>
              <a:t>——沒有它，紅綠燈就讀不穩。
</a:t>
            </a:r>
          </a:p>
          <a:p>
            <a:pPr algn="l">
              <a:lnSpc>
                <a:spcPct val="115000"/>
              </a:lnSpc>
              <a:spcAft>
                <a:spcPts val="500"/>
              </a:spcAft>
            </a:pPr>
            <a:r>
              <a:rPr sz="10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第二組，光達的三行。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光達的第一行講的是</a:t>
            </a:r>
            <a:r>
              <a:rPr sz="1000" b="1" lang="zh-TW" dirty="0">
                <a:solidFill>
                  <a:srgbClr val="000000"/>
                </a:solidFill>
                <a:latin typeface="Arial Unicode MS"/>
                <a:ea typeface="Arial Unicode MS"/>
                <a:cs typeface="Arial Unicode MS"/>
              </a:rPr>
              <a:t>波長</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規格表上會寫一個數字，單位是奈米。路上最常見的是 </a:t>
            </a:r>
            <a:r>
              <a:rPr sz="1000" b="1" lang="zh-TW" dirty="0">
                <a:solidFill>
                  <a:srgbClr val="000000"/>
                </a:solidFill>
                <a:latin typeface="Arial Unicode MS"/>
                <a:ea typeface="Arial Unicode MS"/>
                <a:cs typeface="Arial Unicode MS"/>
              </a:rPr>
              <a:t>905 奈米</a:t>
            </a:r>
            <a:r>
              <a:rPr sz="1000" lang="zh-TW" dirty="0">
                <a:solidFill>
                  <a:srgbClr val="000000"/>
                </a:solidFill>
                <a:latin typeface="Arial Unicode MS"/>
                <a:ea typeface="Arial Unicode MS"/>
                <a:cs typeface="Arial Unicode MS"/>
              </a:rPr>
              <a:t>，我們看的 OS1 寫的是 </a:t>
            </a:r>
            <a:r>
              <a:rPr sz="1000" b="1" lang="zh-TW" dirty="0">
                <a:solidFill>
                  <a:srgbClr val="000000"/>
                </a:solidFill>
                <a:latin typeface="Arial Unicode MS"/>
                <a:ea typeface="Arial Unicode MS"/>
                <a:cs typeface="Arial Unicode MS"/>
              </a:rPr>
              <a:t>865</a:t>
            </a:r>
            <a:r>
              <a:rPr sz="1000" lang="zh-TW" dirty="0">
                <a:solidFill>
                  <a:srgbClr val="000000"/>
                </a:solidFill>
                <a:latin typeface="Arial Unicode MS"/>
                <a:ea typeface="Arial Unicode MS"/>
                <a:cs typeface="Arial Unicode MS"/>
              </a:rPr>
              <a:t>，還有一種比較貴的是 </a:t>
            </a:r>
            <a:r>
              <a:rPr sz="1000" b="1" lang="zh-TW" dirty="0">
                <a:solidFill>
                  <a:srgbClr val="000000"/>
                </a:solidFill>
                <a:latin typeface="Arial Unicode MS"/>
                <a:ea typeface="Arial Unicode MS"/>
                <a:cs typeface="Arial Unicode MS"/>
              </a:rPr>
              <a:t>1550 奈米</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為什麼要分這些？這裡有一個很有意思的物理。
</a:t>
            </a:r>
          </a:p>
          <a:p>
            <a:pPr algn="l">
              <a:lnSpc>
                <a:spcPct val="115000"/>
              </a:lnSpc>
              <a:spcAft>
                <a:spcPts val="500"/>
              </a:spcAft>
            </a:pPr>
            <a:r>
              <a:rPr sz="1000" lang="zh-TW" dirty="0">
                <a:solidFill>
                  <a:srgbClr val="000000"/>
                </a:solidFill>
                <a:latin typeface="Arial Unicode MS"/>
                <a:ea typeface="Arial Unicode MS"/>
                <a:cs typeface="Arial Unicode MS"/>
              </a:rPr>
              <a:t>各位還記得第三週講的：光達打的是紅外線雷射，人眼看不到。看不到的東西打到眼睛裡，人不會眨眼、也不會閃避，所以</a:t>
            </a:r>
            <a:r>
              <a:rPr sz="1000" b="1" lang="zh-TW" dirty="0">
                <a:solidFill>
                  <a:srgbClr val="000000"/>
                </a:solidFill>
                <a:latin typeface="Arial Unicode MS"/>
                <a:ea typeface="Arial Unicode MS"/>
                <a:cs typeface="Arial Unicode MS"/>
              </a:rPr>
              <a:t>法規對雷射的功率管得很嚴</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功率愈大，看得愈遠。可是法規不准你亂加。
</a:t>
            </a:r>
          </a:p>
          <a:p>
            <a:pPr algn="l">
              <a:lnSpc>
                <a:spcPct val="115000"/>
              </a:lnSpc>
              <a:spcAft>
                <a:spcPts val="500"/>
              </a:spcAft>
            </a:pPr>
            <a:r>
              <a:rPr sz="1000" lang="zh-TW" dirty="0">
                <a:solidFill>
                  <a:srgbClr val="000000"/>
                </a:solidFill>
                <a:latin typeface="Arial Unicode MS"/>
                <a:ea typeface="Arial Unicode MS"/>
                <a:cs typeface="Arial Unicode MS"/>
              </a:rPr>
              <a:t>關鍵在這裡：</a:t>
            </a:r>
            <a:r>
              <a:rPr sz="1000" b="1" lang="zh-TW" dirty="0">
                <a:solidFill>
                  <a:srgbClr val="000000"/>
                </a:solidFill>
                <a:latin typeface="Arial Unicode MS"/>
                <a:ea typeface="Arial Unicode MS"/>
                <a:cs typeface="Arial Unicode MS"/>
              </a:rPr>
              <a:t>905 奈米的光會穿過眼睛的水晶體，直接打到視網膜上。</a:t>
            </a:r>
            <a:r>
              <a:rPr sz="1000" lang="zh-TW" dirty="0">
                <a:solidFill>
                  <a:srgbClr val="000000"/>
                </a:solidFill>
                <a:latin typeface="Arial Unicode MS"/>
                <a:ea typeface="Arial Unicode MS"/>
                <a:cs typeface="Arial Unicode MS"/>
              </a:rPr>
              <a:t>視網膜燒到就回不來了，所以 905 的功率上限被壓得很低。
</a:t>
            </a:r>
          </a:p>
          <a:p>
            <a:pPr algn="l">
              <a:lnSpc>
                <a:spcPct val="115000"/>
              </a:lnSpc>
              <a:spcAft>
                <a:spcPts val="500"/>
              </a:spcAft>
            </a:pPr>
            <a:r>
              <a:rPr sz="1000" lang="zh-TW" dirty="0">
                <a:solidFill>
                  <a:srgbClr val="000000"/>
                </a:solidFill>
                <a:latin typeface="Arial Unicode MS"/>
                <a:ea typeface="Arial Unicode MS"/>
                <a:cs typeface="Arial Unicode MS"/>
              </a:rPr>
              <a:t>1550 奈米不一樣。這個波長會</a:t>
            </a:r>
            <a:r>
              <a:rPr sz="1000" b="1" lang="zh-TW" dirty="0">
                <a:solidFill>
                  <a:srgbClr val="000000"/>
                </a:solidFill>
                <a:latin typeface="Arial Unicode MS"/>
                <a:ea typeface="Arial Unicode MS"/>
                <a:cs typeface="Arial Unicode MS"/>
              </a:rPr>
              <a:t>先被眼睛裡面的水吸收掉</a:t>
            </a:r>
            <a:r>
              <a:rPr sz="1000" lang="zh-TW" dirty="0">
                <a:solidFill>
                  <a:srgbClr val="000000"/>
                </a:solidFill>
                <a:latin typeface="Arial Unicode MS"/>
                <a:ea typeface="Arial Unicode MS"/>
                <a:cs typeface="Arial Unicode MS"/>
              </a:rPr>
              <a:t>，還沒到視網膜就被擋住了。所以在同樣的安全等級下，1550 可以打</a:t>
            </a:r>
            <a:r>
              <a:rPr sz="1000" b="1" lang="zh-TW" dirty="0">
                <a:solidFill>
                  <a:srgbClr val="000000"/>
                </a:solidFill>
                <a:latin typeface="Arial Unicode MS"/>
                <a:ea typeface="Arial Unicode MS"/>
                <a:cs typeface="Arial Unicode MS"/>
              </a:rPr>
              <a:t>強幾十倍</a:t>
            </a:r>
            <a:r>
              <a:rPr sz="1000" lang="zh-TW" dirty="0">
                <a:solidFill>
                  <a:srgbClr val="000000"/>
                </a:solidFill>
                <a:latin typeface="Arial Unicode MS"/>
                <a:ea typeface="Arial Unicode MS"/>
                <a:cs typeface="Arial Unicode MS"/>
              </a:rPr>
              <a:t>的功率。
</a:t>
            </a:r>
          </a:p>
          <a:p>
            <a:pPr algn="l">
              <a:lnSpc>
                <a:spcPct val="115000"/>
              </a:lnSpc>
              <a:spcAft>
                <a:spcPts val="500"/>
              </a:spcAft>
            </a:pPr>
            <a:r>
              <a:rPr sz="1000" lang="zh-TW" dirty="0">
                <a:solidFill>
                  <a:srgbClr val="000000"/>
                </a:solidFill>
                <a:latin typeface="Arial Unicode MS"/>
                <a:ea typeface="Arial Unicode MS"/>
                <a:cs typeface="Arial Unicode MS"/>
              </a:rPr>
              <a:t>打得強，就看得遠。這就是為什麼高階的長距光達用 1550。
</a:t>
            </a:r>
          </a:p>
          <a:p>
            <a:pPr algn="l">
              <a:lnSpc>
                <a:spcPct val="115000"/>
              </a:lnSpc>
              <a:spcAft>
                <a:spcPts val="500"/>
              </a:spcAft>
            </a:pPr>
            <a:r>
              <a:rPr sz="1000" lang="zh-TW" dirty="0">
                <a:solidFill>
                  <a:srgbClr val="000000"/>
                </a:solidFill>
                <a:latin typeface="Arial Unicode MS"/>
                <a:ea typeface="Arial Unicode MS"/>
                <a:cs typeface="Arial Unicode MS"/>
              </a:rPr>
              <a:t>那為什麼不是每一家都用？因為</a:t>
            </a:r>
            <a:r>
              <a:rPr sz="1000" b="1" lang="zh-TW" dirty="0">
                <a:solidFill>
                  <a:srgbClr val="000000"/>
                </a:solidFill>
                <a:latin typeface="Arial Unicode MS"/>
                <a:ea typeface="Arial Unicode MS"/>
                <a:cs typeface="Arial Unicode MS"/>
              </a:rPr>
              <a:t>貴</a:t>
            </a:r>
            <a:r>
              <a:rPr sz="1000" lang="zh-TW" dirty="0">
                <a:solidFill>
                  <a:srgbClr val="000000"/>
                </a:solidFill>
                <a:latin typeface="Arial Unicode MS"/>
                <a:ea typeface="Arial Unicode MS"/>
                <a:cs typeface="Arial Unicode MS"/>
              </a:rPr>
              <a:t>。905 可以用便宜的矽做接收器，1550 要用銦鎵砷，一顆貴好幾倍。
</a:t>
            </a:r>
          </a:p>
          <a:p>
            <a:pPr algn="l">
              <a:lnSpc>
                <a:spcPct val="115000"/>
              </a:lnSpc>
              <a:spcAft>
                <a:spcPts val="500"/>
              </a:spcAft>
            </a:pPr>
            <a:r>
              <a:rPr sz="1000" lang="zh-TW" dirty="0">
                <a:solidFill>
                  <a:srgbClr val="000000"/>
                </a:solidFill>
                <a:latin typeface="Arial Unicode MS"/>
                <a:ea typeface="Arial Unicode MS"/>
                <a:cs typeface="Arial Unicode MS"/>
              </a:rPr>
              <a:t>所以規格表上這一行，看起來只是一個數字，背後是</a:t>
            </a:r>
            <a:r>
              <a:rPr sz="1000" b="1" lang="zh-TW" dirty="0">
                <a:solidFill>
                  <a:srgbClr val="000000"/>
                </a:solidFill>
                <a:latin typeface="Arial Unicode MS"/>
                <a:ea typeface="Arial Unicode MS"/>
                <a:cs typeface="Arial Unicode MS"/>
              </a:rPr>
              <a:t>安全法規、看多遠、多少錢</a:t>
            </a:r>
            <a:r>
              <a:rPr sz="1000" lang="zh-TW" dirty="0">
                <a:solidFill>
                  <a:srgbClr val="000000"/>
                </a:solidFill>
                <a:latin typeface="Arial Unicode MS"/>
                <a:ea typeface="Arial Unicode MS"/>
                <a:cs typeface="Arial Unicode MS"/>
              </a:rPr>
              <a:t>三件事的取捨。
</a:t>
            </a:r>
          </a:p>
          <a:p>
            <a:pPr algn="l">
              <a:lnSpc>
                <a:spcPct val="115000"/>
              </a:lnSpc>
              <a:spcAft>
                <a:spcPts val="500"/>
              </a:spcAft>
            </a:pPr>
            <a:r>
              <a:rPr sz="1000" lang="zh-TW" dirty="0">
                <a:solidFill>
                  <a:srgbClr val="000000"/>
                </a:solidFill>
                <a:latin typeface="Arial Unicode MS"/>
                <a:ea typeface="Arial Unicode MS"/>
                <a:cs typeface="Arial Unicode MS"/>
              </a:rPr>
              <a:t>還有一件事：波長也影響雨霧。第三週我們用那張波長圖講過——光達的波長比霧滴小，所以會被散射。865 和 1550 在這件事上差別不大，因為兩個都遠小於霧滴。</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緊接著上一行的是</a:t>
            </a:r>
            <a:r>
              <a:rPr sz="1200" b="1" lang="zh-TW" dirty="0">
                <a:solidFill>
                  <a:srgbClr val="000000"/>
                </a:solidFill>
                <a:latin typeface="Arial Unicode MS"/>
                <a:ea typeface="Arial Unicode MS"/>
                <a:cs typeface="Arial Unicode MS"/>
              </a:rPr>
              <a:t>眼睛安全等級</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OS1 的規格表上寫：</a:t>
            </a:r>
            <a:r>
              <a:rPr sz="1200" b="1" lang="zh-TW" dirty="0">
                <a:solidFill>
                  <a:srgbClr val="000000"/>
                </a:solidFill>
                <a:latin typeface="Arial Unicode MS"/>
                <a:ea typeface="Arial Unicode MS"/>
                <a:cs typeface="Arial Unicode MS"/>
              </a:rPr>
              <a:t>Class 1 eye-safe per IEC/EN 60825-1: 2014</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1200" b="1" lang="zh-TW" dirty="0">
                <a:solidFill>
                  <a:srgbClr val="000000"/>
                </a:solidFill>
                <a:latin typeface="Arial Unicode MS"/>
                <a:ea typeface="Arial Unicode MS"/>
                <a:cs typeface="Arial Unicode MS"/>
              </a:rPr>
              <a:t>在正常使用的情況下，就算有人直直盯著它看，也不會傷到眼睛。</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為什麼這件事重要到要寫在規格表的第一頁？
</a:t>
            </a:r>
          </a:p>
          <a:p>
            <a:pPr algn="l">
              <a:lnSpc>
                <a:spcPct val="115000"/>
              </a:lnSpc>
              <a:spcAft>
                <a:spcPts val="600"/>
              </a:spcAft>
            </a:pPr>
            <a:r>
              <a:rPr sz="1200" lang="zh-TW" dirty="0">
                <a:solidFill>
                  <a:srgbClr val="000000"/>
                </a:solidFill>
                <a:latin typeface="Arial Unicode MS"/>
                <a:ea typeface="Arial Unicode MS"/>
                <a:cs typeface="Arial Unicode MS"/>
              </a:rPr>
              <a:t>因為光達是裝在</a:t>
            </a:r>
            <a:r>
              <a:rPr sz="1200" b="1" lang="zh-TW" dirty="0">
                <a:solidFill>
                  <a:srgbClr val="000000"/>
                </a:solidFill>
                <a:latin typeface="Arial Unicode MS"/>
                <a:ea typeface="Arial Unicode MS"/>
                <a:cs typeface="Arial Unicode MS"/>
              </a:rPr>
              <a:t>馬路上跑的車</a:t>
            </a:r>
            <a:r>
              <a:rPr sz="120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lnSpc>
                <a:spcPct val="115000"/>
              </a:lnSpc>
              <a:spcAft>
                <a:spcPts val="600"/>
              </a:spcAft>
            </a:pPr>
            <a:r>
              <a:rPr sz="1200" lang="zh-TW" dirty="0">
                <a:solidFill>
                  <a:srgbClr val="000000"/>
                </a:solidFill>
                <a:latin typeface="Arial Unicode MS"/>
                <a:ea typeface="Arial Unicode MS"/>
                <a:cs typeface="Arial Unicode MS"/>
              </a:rPr>
              <a:t>所以這一行不是加分項，是</a:t>
            </a:r>
            <a:r>
              <a:rPr sz="1200" b="1" lang="zh-TW" dirty="0">
                <a:solidFill>
                  <a:srgbClr val="000000"/>
                </a:solidFill>
                <a:latin typeface="Arial Unicode MS"/>
                <a:ea typeface="Arial Unicode MS"/>
                <a:cs typeface="Arial Unicode MS"/>
              </a:rPr>
              <a:t>門檻</a:t>
            </a:r>
            <a:r>
              <a:rPr sz="1200" lang="zh-TW" dirty="0">
                <a:solidFill>
                  <a:srgbClr val="000000"/>
                </a:solidFill>
                <a:latin typeface="Arial Unicode MS"/>
                <a:ea typeface="Arial Unicode MS"/>
                <a:cs typeface="Arial Unicode MS"/>
              </a:rPr>
              <a:t>。沒有這一行的產品，不管規格多漂亮，你都不能考慮。
</a:t>
            </a:r>
          </a:p>
          <a:p>
            <a:pPr algn="l">
              <a:lnSpc>
                <a:spcPct val="115000"/>
              </a:lnSpc>
              <a:spcAft>
                <a:spcPts val="600"/>
              </a:spcAft>
            </a:pPr>
            <a:r>
              <a:rPr sz="1200" lang="zh-TW" dirty="0">
                <a:solidFill>
                  <a:srgbClr val="000000"/>
                </a:solidFill>
                <a:latin typeface="Arial Unicode MS"/>
                <a:ea typeface="Arial Unicode MS"/>
                <a:cs typeface="Arial Unicode MS"/>
              </a:rPr>
              <a:t>這裡也牽涉到剛剛講的波長。1550 奈米之所以可以打比較強，就是因為在同樣的 Class 1 限制下，它的功率上限高很多。
</a:t>
            </a:r>
          </a:p>
          <a:p>
            <a:pPr algn="l">
              <a:lnSpc>
                <a:spcPct val="115000"/>
              </a:lnSpc>
              <a:spcAft>
                <a:spcPts val="600"/>
              </a:spcAft>
            </a:pPr>
            <a:r>
              <a:rPr sz="120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25"/>
              </a:spcAft>
            </a:pPr>
            <a:r>
              <a:rPr sz="1050" lang="zh-TW" dirty="0">
                <a:solidFill>
                  <a:srgbClr val="000000"/>
                </a:solidFill>
                <a:latin typeface="Arial Unicode MS"/>
                <a:ea typeface="Arial Unicode MS"/>
                <a:cs typeface="Arial Unicode MS"/>
              </a:rPr>
              <a:t>光達的第三行講的是</a:t>
            </a:r>
            <a:r>
              <a:rPr sz="1050" b="1" lang="zh-TW" dirty="0">
                <a:solidFill>
                  <a:srgbClr val="000000"/>
                </a:solidFill>
                <a:latin typeface="Arial Unicode MS"/>
                <a:ea typeface="Arial Unicode MS"/>
                <a:cs typeface="Arial Unicode MS"/>
              </a:rPr>
              <a:t>回波次數</a:t>
            </a:r>
            <a:r>
              <a:rPr sz="1050" lang="zh-TW" dirty="0">
                <a:solidFill>
                  <a:srgbClr val="000000"/>
                </a:solidFill>
                <a:latin typeface="Arial Unicode MS"/>
                <a:ea typeface="Arial Unicode MS"/>
                <a:cs typeface="Arial Unicode MS"/>
              </a:rPr>
              <a:t>。OS1 的規格表上寫 </a:t>
            </a:r>
            <a:r>
              <a:rPr sz="1050" b="1" lang="zh-TW" dirty="0">
                <a:solidFill>
                  <a:srgbClr val="000000"/>
                </a:solidFill>
                <a:latin typeface="Arial Unicode MS"/>
                <a:ea typeface="Arial Unicode MS"/>
                <a:cs typeface="Arial Unicode MS"/>
              </a:rPr>
              <a:t>number of returns: up to 2</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這一行在講什麼？
</a:t>
            </a:r>
          </a:p>
          <a:p>
            <a:pPr algn="l">
              <a:lnSpc>
                <a:spcPct val="115000"/>
              </a:lnSpc>
              <a:spcAft>
                <a:spcPts val="525"/>
              </a:spcAft>
            </a:pPr>
            <a:r>
              <a:rPr sz="1050" lang="zh-TW" dirty="0">
                <a:solidFill>
                  <a:srgbClr val="000000"/>
                </a:solidFill>
                <a:latin typeface="Arial Unicode MS"/>
                <a:ea typeface="Arial Unicode MS"/>
                <a:cs typeface="Arial Unicode MS"/>
              </a:rPr>
              <a:t>一道雷射射出去，碰到東西會彈回來。可是如果路上有雨、有霧、有灰塵呢？
</a:t>
            </a:r>
          </a:p>
          <a:p>
            <a:pPr algn="l">
              <a:lnSpc>
                <a:spcPct val="115000"/>
              </a:lnSpc>
              <a:spcAft>
                <a:spcPts val="525"/>
              </a:spcAft>
            </a:pPr>
            <a:r>
              <a:rPr sz="1050" lang="zh-TW" dirty="0">
                <a:solidFill>
                  <a:srgbClr val="000000"/>
                </a:solidFill>
                <a:latin typeface="Arial Unicode MS"/>
                <a:ea typeface="Arial Unicode MS"/>
                <a:cs typeface="Arial Unicode MS"/>
              </a:rPr>
              <a:t>那道雷射可能</a:t>
            </a:r>
            <a:r>
              <a:rPr sz="1050" b="1" lang="zh-TW" dirty="0">
                <a:solidFill>
                  <a:srgbClr val="000000"/>
                </a:solidFill>
                <a:latin typeface="Arial Unicode MS"/>
                <a:ea typeface="Arial Unicode MS"/>
                <a:cs typeface="Arial Unicode MS"/>
              </a:rPr>
              <a:t>先打到一顆雨滴，彈回來一次</a:t>
            </a:r>
            <a:r>
              <a:rPr sz="1050" lang="zh-TW" dirty="0">
                <a:solidFill>
                  <a:srgbClr val="000000"/>
                </a:solidFill>
                <a:latin typeface="Arial Unicode MS"/>
                <a:ea typeface="Arial Unicode MS"/>
                <a:cs typeface="Arial Unicode MS"/>
              </a:rPr>
              <a:t>；穿過去之後，</a:t>
            </a:r>
            <a:r>
              <a:rPr sz="1050" b="1" lang="zh-TW" dirty="0">
                <a:solidFill>
                  <a:srgbClr val="000000"/>
                </a:solidFill>
                <a:latin typeface="Arial Unicode MS"/>
                <a:ea typeface="Arial Unicode MS"/>
                <a:cs typeface="Arial Unicode MS"/>
              </a:rPr>
              <a:t>再打到真正的車，又彈回來一次</a:t>
            </a:r>
            <a:r>
              <a:rPr sz="1050" lang="zh-TW" dirty="0">
                <a:solidFill>
                  <a:srgbClr val="000000"/>
                </a:solidFill>
                <a:latin typeface="Arial Unicode MS"/>
                <a:ea typeface="Arial Unicode MS"/>
                <a:cs typeface="Arial Unicode MS"/>
              </a:rPr>
              <a:t>。同一道雷射，兩次回波。
</a:t>
            </a:r>
          </a:p>
          <a:p>
            <a:pPr algn="l">
              <a:lnSpc>
                <a:spcPct val="115000"/>
              </a:lnSpc>
              <a:spcAft>
                <a:spcPts val="525"/>
              </a:spcAft>
            </a:pPr>
            <a:r>
              <a:rPr sz="1050" lang="zh-TW" dirty="0">
                <a:solidFill>
                  <a:srgbClr val="000000"/>
                </a:solidFill>
                <a:latin typeface="Arial Unicode MS"/>
                <a:ea typeface="Arial Unicode MS"/>
                <a:cs typeface="Arial Unicode MS"/>
              </a:rPr>
              <a:t>如果這顆光達只收</a:t>
            </a:r>
            <a:r>
              <a:rPr sz="1050" b="1" lang="zh-TW" dirty="0">
                <a:solidFill>
                  <a:srgbClr val="000000"/>
                </a:solidFill>
                <a:latin typeface="Arial Unicode MS"/>
                <a:ea typeface="Arial Unicode MS"/>
                <a:cs typeface="Arial Unicode MS"/>
              </a:rPr>
              <a:t>第一次</a:t>
            </a:r>
            <a:r>
              <a:rPr sz="1050" lang="zh-TW" dirty="0">
                <a:solidFill>
                  <a:srgbClr val="000000"/>
                </a:solidFill>
                <a:latin typeface="Arial Unicode MS"/>
                <a:ea typeface="Arial Unicode MS"/>
                <a:cs typeface="Arial Unicode MS"/>
              </a:rPr>
              <a:t>回波，它會怎麼判斷？它會說：前面兩公尺有東西。可是那只是一顆雨滴。
</a:t>
            </a:r>
          </a:p>
          <a:p>
            <a:pPr algn="l">
              <a:lnSpc>
                <a:spcPct val="115000"/>
              </a:lnSpc>
              <a:spcAft>
                <a:spcPts val="525"/>
              </a:spcAft>
            </a:pPr>
            <a:r>
              <a:rPr sz="1050" lang="zh-TW" dirty="0">
                <a:solidFill>
                  <a:srgbClr val="000000"/>
                </a:solidFill>
                <a:latin typeface="Arial Unicode MS"/>
                <a:ea typeface="Arial Unicode MS"/>
                <a:cs typeface="Arial Unicode MS"/>
              </a:rPr>
              <a:t>這就是第三週我們講下雪那一輪的時候，我說的那件事：</a:t>
            </a:r>
            <a:r>
              <a:rPr sz="1050" b="1" lang="zh-TW" dirty="0">
                <a:solidFill>
                  <a:srgbClr val="000000"/>
                </a:solidFill>
                <a:latin typeface="Arial Unicode MS"/>
                <a:ea typeface="Arial Unicode MS"/>
                <a:cs typeface="Arial Unicode MS"/>
              </a:rPr>
              <a:t>飄在空中的雪花本身就會反射雷射</a:t>
            </a:r>
            <a:r>
              <a:rPr sz="1050" lang="zh-TW" dirty="0">
                <a:solidFill>
                  <a:srgbClr val="000000"/>
                </a:solidFill>
                <a:latin typeface="Arial Unicode MS"/>
                <a:ea typeface="Arial Unicode MS"/>
                <a:cs typeface="Arial Unicode MS"/>
              </a:rPr>
              <a:t>，車子會看到一堆根本不存在的點。
</a:t>
            </a:r>
          </a:p>
          <a:p>
            <a:pPr algn="l">
              <a:lnSpc>
                <a:spcPct val="115000"/>
              </a:lnSpc>
              <a:spcAft>
                <a:spcPts val="525"/>
              </a:spcAft>
            </a:pPr>
            <a:r>
              <a:rPr sz="1050" lang="zh-TW" dirty="0">
                <a:solidFill>
                  <a:srgbClr val="000000"/>
                </a:solidFill>
                <a:latin typeface="Arial Unicode MS"/>
                <a:ea typeface="Arial Unicode MS"/>
                <a:cs typeface="Arial Unicode MS"/>
              </a:rPr>
              <a:t>處理的方法就是收</a:t>
            </a:r>
            <a:r>
              <a:rPr sz="1050" b="1" lang="zh-TW" dirty="0">
                <a:solidFill>
                  <a:srgbClr val="000000"/>
                </a:solidFill>
                <a:latin typeface="Arial Unicode MS"/>
                <a:ea typeface="Arial Unicode MS"/>
                <a:cs typeface="Arial Unicode MS"/>
              </a:rPr>
              <a:t>多次回波</a:t>
            </a:r>
            <a:r>
              <a:rPr sz="10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lnSpc>
                <a:spcPct val="115000"/>
              </a:lnSpc>
              <a:spcAft>
                <a:spcPts val="525"/>
              </a:spcAft>
            </a:pPr>
            <a:r>
              <a:rPr sz="1050" lang="zh-TW" dirty="0">
                <a:solidFill>
                  <a:srgbClr val="000000"/>
                </a:solidFill>
                <a:latin typeface="Arial Unicode MS"/>
                <a:ea typeface="Arial Unicode MS"/>
                <a:cs typeface="Arial Unicode MS"/>
              </a:rPr>
              <a:t>規格表上還會寫 </a:t>
            </a:r>
            <a:r>
              <a:rPr sz="1050" b="1" lang="zh-TW" dirty="0">
                <a:solidFill>
                  <a:srgbClr val="000000"/>
                </a:solidFill>
                <a:latin typeface="Arial Unicode MS"/>
                <a:ea typeface="Arial Unicode MS"/>
                <a:cs typeface="Arial Unicode MS"/>
              </a:rPr>
              <a:t>Return Order</a:t>
            </a:r>
            <a:r>
              <a:rPr sz="1050" lang="zh-TW" dirty="0">
                <a:solidFill>
                  <a:srgbClr val="000000"/>
                </a:solidFill>
                <a:latin typeface="Arial Unicode MS"/>
                <a:ea typeface="Arial Unicode MS"/>
                <a:cs typeface="Arial Unicode MS"/>
              </a:rPr>
              <a:t>，回波的順序怎麼排——最強的先、最遠的先、還是最近的先。這是給寫演算法的人選的。
</a:t>
            </a:r>
          </a:p>
          <a:p>
            <a:pPr algn="l">
              <a:lnSpc>
                <a:spcPct val="115000"/>
              </a:lnSpc>
              <a:spcAft>
                <a:spcPts val="525"/>
              </a:spcAft>
            </a:pPr>
            <a:r>
              <a:rPr sz="1050" lang="zh-TW" dirty="0">
                <a:solidFill>
                  <a:srgbClr val="000000"/>
                </a:solidFill>
                <a:latin typeface="Arial Unicode MS"/>
                <a:ea typeface="Arial Unicode MS"/>
                <a:cs typeface="Arial Unicode MS"/>
              </a:rPr>
              <a:t>所以「up to 2 returns」這一行，其實就是在回答：</a:t>
            </a:r>
            <a:r>
              <a:rPr sz="1050" b="1" lang="zh-TW" dirty="0">
                <a:solidFill>
                  <a:srgbClr val="000000"/>
                </a:solidFill>
                <a:latin typeface="Arial Unicode MS"/>
                <a:ea typeface="Arial Unicode MS"/>
                <a:cs typeface="Arial Unicode MS"/>
              </a:rPr>
              <a:t>這顆光達在雨天和灰塵裡好不好用。</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這裡停三分鐘，讓大家動手算一次。
</a:t>
            </a:r>
          </a:p>
          <a:p>
            <a:pPr algn="l">
              <a:lnSpc>
                <a:spcPct val="115000"/>
              </a:lnSpc>
              <a:spcAft>
                <a:spcPts val="500"/>
              </a:spcAft>
            </a:pPr>
            <a:r>
              <a:rPr sz="1000" lang="zh-TW" dirty="0">
                <a:solidFill>
                  <a:srgbClr val="000000"/>
                </a:solidFill>
                <a:latin typeface="Arial Unicode MS"/>
                <a:ea typeface="Arial Unicode MS"/>
                <a:cs typeface="Arial Unicode MS"/>
              </a:rPr>
              <a:t>請打開工具，看右邊第二個小工具，「每秒點數 ↔ 角解析度」。
</a:t>
            </a:r>
          </a:p>
          <a:p>
            <a:pPr algn="l">
              <a:lnSpc>
                <a:spcPct val="115000"/>
              </a:lnSpc>
              <a:spcAft>
                <a:spcPts val="500"/>
              </a:spcAft>
            </a:pPr>
            <a:r>
              <a:rPr sz="1000" lang="zh-TW" dirty="0">
                <a:solidFill>
                  <a:srgbClr val="000000"/>
                </a:solidFill>
                <a:latin typeface="Arial Unicode MS"/>
                <a:ea typeface="Arial Unicode MS"/>
                <a:cs typeface="Arial Unicode MS"/>
              </a:rPr>
              <a:t>請把三個滑桿設成：</a:t>
            </a:r>
            <a:r>
              <a:rPr sz="1000" b="1" lang="zh-TW" dirty="0">
                <a:solidFill>
                  <a:srgbClr val="000000"/>
                </a:solidFill>
                <a:latin typeface="Arial Unicode MS"/>
                <a:ea typeface="Arial Unicode MS"/>
                <a:cs typeface="Arial Unicode MS"/>
              </a:rPr>
              <a:t>64 線、每圈 1024 點、10 赫茲</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現在看它算出來的每秒點數。六十四乘一千零二十四乘十，等於</a:t>
            </a:r>
            <a:r>
              <a:rPr sz="1000" b="1" lang="zh-TW" dirty="0">
                <a:solidFill>
                  <a:srgbClr val="000000"/>
                </a:solidFill>
                <a:latin typeface="Arial Unicode MS"/>
                <a:ea typeface="Arial Unicode MS"/>
                <a:cs typeface="Arial Unicode MS"/>
              </a:rPr>
              <a:t>六十五萬五千三百六十</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規格表上的廠商最喜歡寫這個數字，因為它看起來很大、很厲害。可是這個數字</a:t>
            </a:r>
            <a:r>
              <a:rPr sz="1000" b="1" lang="zh-TW" dirty="0">
                <a:solidFill>
                  <a:srgbClr val="000000"/>
                </a:solidFill>
                <a:latin typeface="Arial Unicode MS"/>
                <a:ea typeface="Arial Unicode MS"/>
                <a:cs typeface="Arial Unicode MS"/>
              </a:rPr>
              <a:t>不能直接拿來用</a:t>
            </a:r>
            <a:r>
              <a:rPr sz="1000" lang="zh-TW" dirty="0">
                <a:solidFill>
                  <a:srgbClr val="000000"/>
                </a:solidFill>
                <a:latin typeface="Arial Unicode MS"/>
                <a:ea typeface="Arial Unicode MS"/>
                <a:cs typeface="Arial Unicode MS"/>
              </a:rPr>
              <a:t>，它沒有辦法告訴你「四十公尺外的人身上有幾個點」。
</a:t>
            </a:r>
          </a:p>
          <a:p>
            <a:pPr algn="l">
              <a:lnSpc>
                <a:spcPct val="115000"/>
              </a:lnSpc>
              <a:spcAft>
                <a:spcPts val="500"/>
              </a:spcAft>
            </a:pPr>
            <a:r>
              <a:rPr sz="1000" lang="zh-TW" dirty="0">
                <a:solidFill>
                  <a:srgbClr val="000000"/>
                </a:solidFill>
                <a:latin typeface="Arial Unicode MS"/>
                <a:ea typeface="Arial Unicode MS"/>
                <a:cs typeface="Arial Unicode MS"/>
              </a:rPr>
              <a:t>要回答那個問題，必須先換成角度。三百六十度除以每圈一千零二十四個點，等於</a:t>
            </a:r>
            <a:r>
              <a:rPr sz="1000" b="1" lang="zh-TW" dirty="0">
                <a:solidFill>
                  <a:srgbClr val="000000"/>
                </a:solidFill>
                <a:latin typeface="Arial Unicode MS"/>
                <a:ea typeface="Arial Unicode MS"/>
                <a:cs typeface="Arial Unicode MS"/>
              </a:rPr>
              <a:t>零點三五度</a:t>
            </a:r>
            <a:r>
              <a:rPr sz="1000" lang="zh-TW" dirty="0">
                <a:solidFill>
                  <a:srgbClr val="000000"/>
                </a:solidFill>
                <a:latin typeface="Arial Unicode MS"/>
                <a:ea typeface="Arial Unicode MS"/>
                <a:cs typeface="Arial Unicode MS"/>
              </a:rPr>
              <a:t>。工具上就寫著這個數字。
</a:t>
            </a:r>
          </a:p>
          <a:p>
            <a:pPr algn="l">
              <a:lnSpc>
                <a:spcPct val="115000"/>
              </a:lnSpc>
              <a:spcAft>
                <a:spcPts val="500"/>
              </a:spcAft>
            </a:pPr>
            <a:r>
              <a:rPr sz="1000" lang="zh-TW" dirty="0">
                <a:solidFill>
                  <a:srgbClr val="000000"/>
                </a:solidFill>
                <a:latin typeface="Arial Unicode MS"/>
                <a:ea typeface="Arial Unicode MS"/>
                <a:cs typeface="Arial Unicode MS"/>
              </a:rPr>
              <a:t>再往下一行：零點三五度在四十公尺處，張開</a:t>
            </a:r>
            <a:r>
              <a:rPr sz="1000" b="1" lang="zh-TW" dirty="0">
                <a:solidFill>
                  <a:srgbClr val="000000"/>
                </a:solidFill>
                <a:latin typeface="Arial Unicode MS"/>
                <a:ea typeface="Arial Unicode MS"/>
                <a:cs typeface="Arial Unicode MS"/>
              </a:rPr>
              <a:t>零點二五公尺</a:t>
            </a:r>
            <a:r>
              <a:rPr sz="10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lnSpc>
                <a:spcPct val="115000"/>
              </a:lnSpc>
              <a:spcAft>
                <a:spcPts val="500"/>
              </a:spcAft>
            </a:pPr>
            <a:r>
              <a:rPr sz="1000" lang="zh-TW" dirty="0">
                <a:solidFill>
                  <a:srgbClr val="000000"/>
                </a:solidFill>
                <a:latin typeface="Arial Unicode MS"/>
                <a:ea typeface="Arial Unicode MS"/>
                <a:cs typeface="Arial Unicode MS"/>
              </a:rPr>
              <a:t>現在請大家把每圈點數改成 </a:t>
            </a:r>
            <a:r>
              <a:rPr sz="1000" b="1" lang="zh-TW" dirty="0">
                <a:solidFill>
                  <a:srgbClr val="000000"/>
                </a:solidFill>
                <a:latin typeface="Arial Unicode MS"/>
                <a:ea typeface="Arial Unicode MS"/>
                <a:cs typeface="Arial Unicode MS"/>
              </a:rPr>
              <a:t>2048</a:t>
            </a:r>
            <a:r>
              <a:rPr sz="1000" lang="zh-TW" dirty="0">
                <a:solidFill>
                  <a:srgbClr val="000000"/>
                </a:solidFill>
                <a:latin typeface="Arial Unicode MS"/>
                <a:ea typeface="Arial Unicode MS"/>
                <a:cs typeface="Arial Unicode MS"/>
              </a:rPr>
              <a:t>，看兩個數字怎麼變。
</a:t>
            </a:r>
          </a:p>
          <a:p>
            <a:pPr algn="l">
              <a:lnSpc>
                <a:spcPct val="115000"/>
              </a:lnSpc>
              <a:spcAft>
                <a:spcPts val="500"/>
              </a:spcAft>
            </a:pPr>
            <a:r>
              <a:rPr sz="1000" lang="zh-TW" dirty="0">
                <a:solidFill>
                  <a:srgbClr val="000000"/>
                </a:solidFill>
                <a:latin typeface="Arial Unicode MS"/>
                <a:ea typeface="Arial Unicode MS"/>
                <a:cs typeface="Arial Unicode MS"/>
              </a:rPr>
              <a:t>角度變成一半，零點一七六度；四十公尺處的間距也變成一半，十二公分。所以同一個人身上的點數就加倍了。
</a:t>
            </a:r>
          </a:p>
          <a:p>
            <a:pPr algn="l">
              <a:lnSpc>
                <a:spcPct val="115000"/>
              </a:lnSpc>
              <a:spcAft>
                <a:spcPts val="500"/>
              </a:spcAft>
            </a:pPr>
            <a:r>
              <a:rPr sz="1000" lang="zh-TW" dirty="0">
                <a:solidFill>
                  <a:srgbClr val="000000"/>
                </a:solidFill>
                <a:latin typeface="Arial Unicode MS"/>
                <a:ea typeface="Arial Unicode MS"/>
                <a:cs typeface="Arial Unicode MS"/>
              </a:rPr>
              <a:t>這就是我要各位記住的動作：</a:t>
            </a:r>
            <a:r>
              <a:rPr sz="1000" b="1" lang="zh-TW" dirty="0">
                <a:solidFill>
                  <a:srgbClr val="000000"/>
                </a:solidFill>
                <a:latin typeface="Arial Unicode MS"/>
                <a:ea typeface="Arial Unicode MS"/>
                <a:cs typeface="Arial Unicode MS"/>
              </a:rPr>
              <a:t>看到「每秒幾百萬點」，先把它換算成角度，再換算成你關心的那個距離上的公分數。</a:t>
            </a:r>
            <a:r>
              <a:rPr sz="1000" lang="zh-TW" dirty="0">
                <a:solidFill>
                  <a:srgbClr val="000000"/>
                </a:solidFill>
                <a:latin typeface="Arial Unicode MS"/>
                <a:ea typeface="Arial Unicode MS"/>
                <a:cs typeface="Arial Unicode MS"/>
              </a:rPr>
              <a:t>沒換算之前，那個數字只是廣告。
</a:t>
            </a:r>
          </a:p>
          <a:p>
            <a:pPr algn="l">
              <a:lnSpc>
                <a:spcPct val="115000"/>
              </a:lnSpc>
              <a:spcAft>
                <a:spcPts val="500"/>
              </a:spcAft>
            </a:pPr>
            <a:r>
              <a:rPr sz="10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第三組，這一組規格表上常常找不到，但它決定了你的系統能不能用。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現在講一件規格表上</a:t>
            </a:r>
            <a:r>
              <a:rPr sz="1000" b="1" lang="zh-TW" dirty="0">
                <a:solidFill>
                  <a:srgbClr val="000000"/>
                </a:solidFill>
                <a:latin typeface="Arial Unicode MS"/>
                <a:ea typeface="Arial Unicode MS"/>
                <a:cs typeface="Arial Unicode MS"/>
              </a:rPr>
              <a:t>常常找不到</a:t>
            </a:r>
            <a:r>
              <a:rPr sz="1000" lang="zh-TW" dirty="0">
                <a:solidFill>
                  <a:srgbClr val="000000"/>
                </a:solidFill>
                <a:latin typeface="Arial Unicode MS"/>
                <a:ea typeface="Arial Unicode MS"/>
                <a:cs typeface="Arial Unicode MS"/>
              </a:rPr>
              <a:t>，但是害人最慘的事：</a:t>
            </a:r>
            <a:r>
              <a:rPr sz="1000" b="1" lang="zh-TW" dirty="0">
                <a:solidFill>
                  <a:srgbClr val="000000"/>
                </a:solidFill>
                <a:latin typeface="Arial Unicode MS"/>
                <a:ea typeface="Arial Unicode MS"/>
                <a:cs typeface="Arial Unicode MS"/>
              </a:rPr>
              <a:t>標定</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1000" b="1" lang="zh-TW" dirty="0">
                <a:solidFill>
                  <a:srgbClr val="000000"/>
                </a:solidFill>
                <a:latin typeface="Arial Unicode MS"/>
                <a:ea typeface="Arial Unicode MS"/>
                <a:cs typeface="Arial Unicode MS"/>
              </a:rPr>
              <a:t>合成一句</a:t>
            </a:r>
            <a:r>
              <a:rPr sz="1000" lang="zh-TW" dirty="0">
                <a:solidFill>
                  <a:srgbClr val="000000"/>
                </a:solidFill>
                <a:latin typeface="Arial Unicode MS"/>
                <a:ea typeface="Arial Unicode MS"/>
                <a:cs typeface="Arial Unicode MS"/>
              </a:rPr>
              <a:t>——「那個人在三十公尺外」——車子必須知道一件事：
</a:t>
            </a:r>
          </a:p>
          <a:p>
            <a:pPr algn="l">
              <a:lnSpc>
                <a:spcPct val="115000"/>
              </a:lnSpc>
              <a:spcAft>
                <a:spcPts val="500"/>
              </a:spcAft>
            </a:pPr>
            <a:r>
              <a:rPr sz="1000" b="1" lang="zh-TW" dirty="0">
                <a:solidFill>
                  <a:srgbClr val="000000"/>
                </a:solidFill>
                <a:latin typeface="Arial Unicode MS"/>
                <a:ea typeface="Arial Unicode MS"/>
                <a:cs typeface="Arial Unicode MS"/>
              </a:rPr>
              <a:t>相機和光達，到底差多遠、差幾度？</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這就是標定。分成兩種。
</a:t>
            </a:r>
          </a:p>
          <a:p>
            <a:pPr algn="l">
              <a:lnSpc>
                <a:spcPct val="115000"/>
              </a:lnSpc>
              <a:spcAft>
                <a:spcPts val="500"/>
              </a:spcAft>
            </a:pPr>
            <a:r>
              <a:rPr sz="1000" b="1" lang="zh-TW" dirty="0">
                <a:solidFill>
                  <a:srgbClr val="000000"/>
                </a:solidFill>
                <a:latin typeface="Arial Unicode MS"/>
                <a:ea typeface="Arial Unicode MS"/>
                <a:cs typeface="Arial Unicode MS"/>
              </a:rPr>
              <a:t>第一種叫內參，intrinsic。</a:t>
            </a:r>
            <a:r>
              <a:rPr sz="10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lnSpc>
                <a:spcPct val="115000"/>
              </a:lnSpc>
              <a:spcAft>
                <a:spcPts val="500"/>
              </a:spcAft>
            </a:pPr>
            <a:r>
              <a:rPr sz="1000" b="1" lang="zh-TW" dirty="0">
                <a:solidFill>
                  <a:srgbClr val="000000"/>
                </a:solidFill>
                <a:latin typeface="Arial Unicode MS"/>
                <a:ea typeface="Arial Unicode MS"/>
                <a:cs typeface="Arial Unicode MS"/>
              </a:rPr>
              <a:t>第二種叫外參，extrinsic。</a:t>
            </a:r>
            <a:r>
              <a:rPr sz="10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lnSpc>
                <a:spcPct val="115000"/>
              </a:lnSpc>
              <a:spcAft>
                <a:spcPts val="500"/>
              </a:spcAft>
            </a:pPr>
            <a:r>
              <a:rPr sz="1000" lang="zh-TW" dirty="0">
                <a:solidFill>
                  <a:srgbClr val="000000"/>
                </a:solidFill>
                <a:latin typeface="Arial Unicode MS"/>
                <a:ea typeface="Arial Unicode MS"/>
                <a:cs typeface="Arial Unicode MS"/>
              </a:rPr>
              <a:t>那不準會怎樣？我們算一下。
</a:t>
            </a:r>
          </a:p>
          <a:p>
            <a:pPr algn="l">
              <a:lnSpc>
                <a:spcPct val="115000"/>
              </a:lnSpc>
              <a:spcAft>
                <a:spcPts val="500"/>
              </a:spcAft>
            </a:pPr>
            <a:r>
              <a:rPr sz="1000" lang="zh-TW" dirty="0">
                <a:solidFill>
                  <a:srgbClr val="000000"/>
                </a:solidFill>
                <a:latin typeface="Arial Unicode MS"/>
                <a:ea typeface="Arial Unicode MS"/>
                <a:cs typeface="Arial Unicode MS"/>
              </a:rPr>
              <a:t>假設角度只差了</a:t>
            </a:r>
            <a:r>
              <a:rPr sz="1000" b="1" lang="zh-TW" dirty="0">
                <a:solidFill>
                  <a:srgbClr val="000000"/>
                </a:solidFill>
                <a:latin typeface="Arial Unicode MS"/>
                <a:ea typeface="Arial Unicode MS"/>
                <a:cs typeface="Arial Unicode MS"/>
              </a:rPr>
              <a:t>一度</a:t>
            </a:r>
            <a:r>
              <a:rPr sz="1000" lang="zh-TW" dirty="0">
                <a:solidFill>
                  <a:srgbClr val="000000"/>
                </a:solidFill>
                <a:latin typeface="Arial Unicode MS"/>
                <a:ea typeface="Arial Unicode MS"/>
                <a:cs typeface="Arial Unicode MS"/>
              </a:rPr>
              <a:t>。一度聽起來很小對不對？
</a:t>
            </a:r>
          </a:p>
          <a:p>
            <a:pPr algn="l">
              <a:lnSpc>
                <a:spcPct val="115000"/>
              </a:lnSpc>
              <a:spcAft>
                <a:spcPts val="500"/>
              </a:spcAft>
            </a:pPr>
            <a:r>
              <a:rPr sz="1000" lang="zh-TW" dirty="0">
                <a:solidFill>
                  <a:srgbClr val="000000"/>
                </a:solidFill>
                <a:latin typeface="Arial Unicode MS"/>
                <a:ea typeface="Arial Unicode MS"/>
                <a:cs typeface="Arial Unicode MS"/>
              </a:rPr>
              <a:t>在五十公尺外，一度張開的距離是：五十乘以一度的弧度，大約</a:t>
            </a:r>
            <a:r>
              <a:rPr sz="1000" b="1" lang="zh-TW" dirty="0">
                <a:solidFill>
                  <a:srgbClr val="000000"/>
                </a:solidFill>
                <a:latin typeface="Arial Unicode MS"/>
                <a:ea typeface="Arial Unicode MS"/>
                <a:cs typeface="Arial Unicode MS"/>
              </a:rPr>
              <a:t>零點八七公尺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我把這個數字寫在白板上：</a:t>
            </a:r>
            <a:r>
              <a:rPr sz="1000" b="1" lang="zh-TW" dirty="0">
                <a:solidFill>
                  <a:srgbClr val="000000"/>
                </a:solidFill>
                <a:latin typeface="Arial Unicode MS"/>
                <a:ea typeface="Arial Unicode MS"/>
                <a:cs typeface="Arial Unicode MS"/>
              </a:rPr>
              <a:t>差一度，五十公尺外就差了將近一公尺。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lnSpc>
                <a:spcPct val="115000"/>
              </a:lnSpc>
              <a:spcAft>
                <a:spcPts val="500"/>
              </a:spcAft>
            </a:pPr>
            <a:r>
              <a:rPr sz="1000" lang="zh-TW" dirty="0">
                <a:solidFill>
                  <a:srgbClr val="000000"/>
                </a:solidFill>
                <a:latin typeface="Arial Unicode MS"/>
                <a:ea typeface="Arial Unicode MS"/>
                <a:cs typeface="Arial Unicode MS"/>
              </a:rPr>
              <a:t>更麻煩的是：標定</a:t>
            </a:r>
            <a:r>
              <a:rPr sz="1000" b="1" lang="zh-TW" dirty="0">
                <a:solidFill>
                  <a:srgbClr val="000000"/>
                </a:solidFill>
                <a:latin typeface="Arial Unicode MS"/>
                <a:ea typeface="Arial Unicode MS"/>
                <a:cs typeface="Arial Unicode MS"/>
              </a:rPr>
              <a:t>會跑掉</a:t>
            </a:r>
            <a:r>
              <a:rPr sz="10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1000" b="1" lang="zh-TW" dirty="0">
                <a:solidFill>
                  <a:srgbClr val="000000"/>
                </a:solidFill>
                <a:latin typeface="Arial Unicode MS"/>
                <a:ea typeface="Arial Unicode MS"/>
                <a:cs typeface="Arial Unicode MS"/>
              </a:rPr>
              <a:t>定期重新標定</a:t>
            </a:r>
            <a:r>
              <a:rPr sz="1000" lang="zh-TW" dirty="0">
                <a:solidFill>
                  <a:srgbClr val="000000"/>
                </a:solidFill>
                <a:latin typeface="Arial Unicode MS"/>
                <a:ea typeface="Arial Unicode MS"/>
                <a:cs typeface="Arial Unicode MS"/>
              </a:rPr>
              <a:t>，有些車還會自己在行駛中偷偷校正。
</a:t>
            </a:r>
          </a:p>
          <a:p>
            <a:pPr algn="l">
              <a:lnSpc>
                <a:spcPct val="115000"/>
              </a:lnSpc>
              <a:spcAft>
                <a:spcPts val="500"/>
              </a:spcAft>
            </a:pPr>
            <a:r>
              <a:rPr sz="10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25"/>
              </a:spcAft>
            </a:pPr>
            <a:r>
              <a:rPr sz="1050" lang="zh-TW" dirty="0">
                <a:solidFill>
                  <a:srgbClr val="000000"/>
                </a:solidFill>
                <a:latin typeface="Arial Unicode MS"/>
                <a:ea typeface="Arial Unicode MS"/>
                <a:cs typeface="Arial Unicode MS"/>
              </a:rPr>
              <a:t>最後一件事是</a:t>
            </a:r>
            <a:r>
              <a:rPr sz="1050" b="1" lang="zh-TW" dirty="0">
                <a:solidFill>
                  <a:srgbClr val="000000"/>
                </a:solidFill>
                <a:latin typeface="Arial Unicode MS"/>
                <a:ea typeface="Arial Unicode MS"/>
                <a:cs typeface="Arial Unicode MS"/>
              </a:rPr>
              <a:t>時間同步</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剛剛講的標定是「空間」上要對準。這一件是「時間」上要對準。
</a:t>
            </a:r>
          </a:p>
          <a:p>
            <a:pPr algn="l">
              <a:lnSpc>
                <a:spcPct val="115000"/>
              </a:lnSpc>
              <a:spcAft>
                <a:spcPts val="525"/>
              </a:spcAft>
            </a:pPr>
            <a:r>
              <a:rPr sz="1050" lang="zh-TW" dirty="0">
                <a:solidFill>
                  <a:srgbClr val="000000"/>
                </a:solidFill>
                <a:latin typeface="Arial Unicode MS"/>
                <a:ea typeface="Arial Unicode MS"/>
                <a:cs typeface="Arial Unicode MS"/>
              </a:rPr>
              <a:t>想想看：光達一秒轉十圈，相機一秒拍六十張。這兩個東西的節奏完全不一樣。
</a:t>
            </a:r>
          </a:p>
          <a:p>
            <a:pPr algn="l">
              <a:lnSpc>
                <a:spcPct val="115000"/>
              </a:lnSpc>
              <a:spcAft>
                <a:spcPts val="525"/>
              </a:spcAft>
            </a:pPr>
            <a:r>
              <a:rPr sz="1050" lang="zh-TW" dirty="0">
                <a:solidFill>
                  <a:srgbClr val="000000"/>
                </a:solidFill>
                <a:latin typeface="Arial Unicode MS"/>
                <a:ea typeface="Arial Unicode MS"/>
                <a:cs typeface="Arial Unicode MS"/>
              </a:rPr>
              <a:t>假設車子現在收到一張相機的畫面，還有一圈光達的點雲，要把它們合起來。問題是——</a:t>
            </a:r>
            <a:r>
              <a:rPr sz="1050" b="1" lang="zh-TW" dirty="0">
                <a:solidFill>
                  <a:srgbClr val="000000"/>
                </a:solidFill>
                <a:latin typeface="Arial Unicode MS"/>
                <a:ea typeface="Arial Unicode MS"/>
                <a:cs typeface="Arial Unicode MS"/>
              </a:rPr>
              <a:t>這兩份資料是同一個瞬間的嗎？</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如果沒有處理，它們可能差到五十毫秒。時速四十的時候，五十毫秒車子走了</a:t>
            </a:r>
            <a:r>
              <a:rPr sz="1050" b="1" lang="zh-TW" dirty="0">
                <a:solidFill>
                  <a:srgbClr val="000000"/>
                </a:solidFill>
                <a:latin typeface="Arial Unicode MS"/>
                <a:ea typeface="Arial Unicode MS"/>
                <a:cs typeface="Arial Unicode MS"/>
              </a:rPr>
              <a:t>零點五六公尺</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所以你會把相機在 A 點看到的人，跟光達在 B 點量到的距離配在一起，得到一個</a:t>
            </a:r>
            <a:r>
              <a:rPr sz="1050" b="1" lang="zh-TW" dirty="0">
                <a:solidFill>
                  <a:srgbClr val="000000"/>
                </a:solidFill>
                <a:latin typeface="Arial Unicode MS"/>
                <a:ea typeface="Arial Unicode MS"/>
                <a:cs typeface="Arial Unicode MS"/>
              </a:rPr>
              <a:t>根本不存在的位置</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而且這個誤差會跟剛剛的標定誤差疊加，兩個加起來就很可觀。
</a:t>
            </a:r>
          </a:p>
          <a:p>
            <a:pPr algn="l">
              <a:lnSpc>
                <a:spcPct val="115000"/>
              </a:lnSpc>
              <a:spcAft>
                <a:spcPts val="525"/>
              </a:spcAft>
            </a:pPr>
            <a:r>
              <a:rPr sz="1050" lang="zh-TW" dirty="0">
                <a:solidFill>
                  <a:srgbClr val="000000"/>
                </a:solidFill>
                <a:latin typeface="Arial Unicode MS"/>
                <a:ea typeface="Arial Unicode MS"/>
                <a:cs typeface="Arial Unicode MS"/>
              </a:rPr>
              <a:t>解法是讓每一顆感測器都在資料上蓋一個</a:t>
            </a:r>
            <a:r>
              <a:rPr sz="1050" b="1" lang="zh-TW" dirty="0">
                <a:solidFill>
                  <a:srgbClr val="000000"/>
                </a:solidFill>
                <a:latin typeface="Arial Unicode MS"/>
                <a:ea typeface="Arial Unicode MS"/>
                <a:cs typeface="Arial Unicode MS"/>
              </a:rPr>
              <a:t>時間戳</a:t>
            </a:r>
            <a:r>
              <a:rPr sz="1050" lang="zh-TW" dirty="0">
                <a:solidFill>
                  <a:srgbClr val="000000"/>
                </a:solidFill>
                <a:latin typeface="Arial Unicode MS"/>
                <a:ea typeface="Arial Unicode MS"/>
                <a:cs typeface="Arial Unicode MS"/>
              </a:rPr>
              <a:t>，而且全車用同一個時鐘。高階一點的做法是讓光達的轉動跟相機的快門</a:t>
            </a:r>
            <a:r>
              <a:rPr sz="1050" b="1" lang="zh-TW" dirty="0">
                <a:solidFill>
                  <a:srgbClr val="000000"/>
                </a:solidFill>
                <a:latin typeface="Arial Unicode MS"/>
                <a:ea typeface="Arial Unicode MS"/>
                <a:cs typeface="Arial Unicode MS"/>
              </a:rPr>
              <a:t>對齊</a:t>
            </a:r>
            <a:r>
              <a:rPr sz="1050" lang="zh-TW" dirty="0">
                <a:solidFill>
                  <a:srgbClr val="000000"/>
                </a:solidFill>
                <a:latin typeface="Arial Unicode MS"/>
                <a:ea typeface="Arial Unicode MS"/>
                <a:cs typeface="Arial Unicode MS"/>
              </a:rPr>
              <a:t>——OS1 規格表上那行 multi-sensor phase lock，講的就是這件事。
</a:t>
            </a:r>
          </a:p>
          <a:p>
            <a:pPr algn="l">
              <a:lnSpc>
                <a:spcPct val="115000"/>
              </a:lnSpc>
              <a:spcAft>
                <a:spcPts val="525"/>
              </a:spcAft>
            </a:pPr>
            <a:r>
              <a:rPr sz="1050" lang="zh-TW" dirty="0">
                <a:solidFill>
                  <a:srgbClr val="000000"/>
                </a:solidFill>
                <a:latin typeface="Arial Unicode MS"/>
                <a:ea typeface="Arial Unicode MS"/>
                <a:cs typeface="Arial Unicode MS"/>
              </a:rPr>
              <a:t>所以請各位記住：</a:t>
            </a:r>
            <a:r>
              <a:rPr sz="1050" b="1" lang="zh-TW" dirty="0">
                <a:solidFill>
                  <a:srgbClr val="000000"/>
                </a:solidFill>
                <a:latin typeface="Arial Unicode MS"/>
                <a:ea typeface="Arial Unicode MS"/>
                <a:cs typeface="Arial Unicode MS"/>
              </a:rPr>
              <a:t>兩顆感測器各自都是好的，不代表合起來是對的。</a:t>
            </a:r>
            <a:r>
              <a:rPr sz="1050" lang="zh-TW" dirty="0">
                <a:solidFill>
                  <a:srgbClr val="000000"/>
                </a:solidFill>
                <a:latin typeface="Arial Unicode MS"/>
                <a:ea typeface="Arial Unicode MS"/>
                <a:cs typeface="Arial Unicode MS"/>
              </a:rPr>
              <a:t>中間還有標定和同步這兩關。
</a:t>
            </a:r>
          </a:p>
          <a:p>
            <a:pPr algn="l">
              <a:lnSpc>
                <a:spcPct val="115000"/>
              </a:lnSpc>
              <a:spcAft>
                <a:spcPts val="525"/>
              </a:spcAft>
            </a:pPr>
            <a:r>
              <a:rPr sz="105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lnSpc>
                <a:spcPct val="115000"/>
              </a:lnSpc>
              <a:spcAft>
                <a:spcPts val="525"/>
              </a:spcAft>
            </a:pPr>
            <a:r>
              <a:rPr sz="1050" lang="zh-TW" dirty="0">
                <a:solidFill>
                  <a:srgbClr val="000000"/>
                </a:solidFill>
                <a:latin typeface="Arial Unicode MS"/>
                <a:ea typeface="Arial Unicode MS"/>
                <a:cs typeface="Arial Unicode MS"/>
              </a:rPr>
              <a:t>下一節我們回到工具上，把今天和上一節講的東西，全部用在一件事上：</a:t>
            </a:r>
            <a:r>
              <a:rPr sz="1050" b="1" lang="zh-TW" dirty="0">
                <a:solidFill>
                  <a:srgbClr val="000000"/>
                </a:solidFill>
                <a:latin typeface="Arial Unicode MS"/>
                <a:ea typeface="Arial Unicode MS"/>
                <a:cs typeface="Arial Unicode MS"/>
              </a:rPr>
              <a:t>幫一個指定的情境選一顆感測器</a:t>
            </a:r>
            <a:r>
              <a:rPr sz="105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第二節收起來，三句話。
</a:t>
            </a:r>
          </a:p>
          <a:p>
            <a:pPr algn="l">
              <a:lnSpc>
                <a:spcPct val="115000"/>
              </a:lnSpc>
              <a:spcAft>
                <a:spcPts val="600"/>
              </a:spcAft>
            </a:pPr>
            <a:r>
              <a:rPr sz="1200" b="1" lang="zh-TW" dirty="0">
                <a:solidFill>
                  <a:srgbClr val="000000"/>
                </a:solidFill>
                <a:latin typeface="Arial Unicode MS"/>
                <a:ea typeface="Arial Unicode MS"/>
                <a:cs typeface="Arial Unicode MS"/>
              </a:rPr>
              <a:t>第一句，相機的三行。</a:t>
            </a:r>
            <a:r>
              <a:rPr sz="12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lnSpc>
                <a:spcPct val="115000"/>
              </a:lnSpc>
              <a:spcAft>
                <a:spcPts val="600"/>
              </a:spcAft>
            </a:pPr>
            <a:r>
              <a:rPr sz="1200" b="1" lang="zh-TW" dirty="0">
                <a:solidFill>
                  <a:srgbClr val="000000"/>
                </a:solidFill>
                <a:latin typeface="Arial Unicode MS"/>
                <a:ea typeface="Arial Unicode MS"/>
                <a:cs typeface="Arial Unicode MS"/>
              </a:rPr>
              <a:t>第二句，光達的三行。</a:t>
            </a:r>
            <a:r>
              <a:rPr sz="12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lnSpc>
                <a:spcPct val="115000"/>
              </a:lnSpc>
              <a:spcAft>
                <a:spcPts val="600"/>
              </a:spcAft>
            </a:pPr>
            <a:r>
              <a:rPr sz="1200" b="1" lang="zh-TW" dirty="0">
                <a:solidFill>
                  <a:srgbClr val="000000"/>
                </a:solidFill>
                <a:latin typeface="Arial Unicode MS"/>
                <a:ea typeface="Arial Unicode MS"/>
                <a:cs typeface="Arial Unicode MS"/>
              </a:rPr>
              <a:t>第三句，兩顆好的感測器合起來不一定對。</a:t>
            </a:r>
            <a:r>
              <a:rPr sz="12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lnSpc>
                <a:spcPct val="115000"/>
              </a:lnSpc>
              <a:spcAft>
                <a:spcPts val="600"/>
              </a:spcAft>
            </a:pPr>
            <a:r>
              <a:rPr sz="12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200" b="1" lang="zh-TW" dirty="0">
                <a:solidFill>
                  <a:srgbClr val="000000"/>
                </a:solidFill>
                <a:latin typeface="Arial Unicode MS"/>
                <a:ea typeface="Arial Unicode MS"/>
                <a:cs typeface="Arial Unicode MS"/>
              </a:rPr>
              <a:t>卡在哪一行</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這份東西第三節結束前要交，是個人作業。
</a:t>
            </a:r>
          </a:p>
          <a:p>
            <a:pPr algn="l">
              <a:lnSpc>
                <a:spcPct val="115000"/>
              </a:lnSpc>
              <a:spcAft>
                <a:spcPts val="600"/>
              </a:spcAft>
            </a:pPr>
            <a:r>
              <a:rPr sz="12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130753" y="-947729"/>
            <a:ext cx="2987610" cy="2987610"/>
          </a:xfrm>
          <a:prstGeom prst="ellipse">
            <a:avLst/>
          </a:prstGeom>
          <a:solidFill>
            <a:srgbClr val="13314F"/>
          </a:solidFill>
          <a:ln w="12700">
            <a:solidFill>
              <a:srgbClr val="13314F"/>
            </a:solidFill>
            <a:prstDash val="solid"/>
          </a:ln>
        </p:spPr>
      </p:sp>
      <p:sp>
        <p:nvSpPr>
          <p:cNvPr id="3" name="Shape 1"/>
          <p:cNvSpPr/>
          <p:nvPr/>
        </p:nvSpPr>
        <p:spPr>
          <a:xfrm>
            <a:off x="7104973" y="1520297"/>
            <a:ext cx="1688649" cy="1688649"/>
          </a:xfrm>
          <a:prstGeom prst="ellipse">
            <a:avLst/>
          </a:prstGeom>
          <a:solidFill>
            <a:srgbClr val="007F72">
              <a:alpha val="28000"/>
            </a:srgbClr>
          </a:solidFill>
          <a:ln/>
        </p:spPr>
      </p:sp>
      <p:sp>
        <p:nvSpPr>
          <p:cNvPr id="4" name="Text 2"/>
          <p:cNvSpPr txBox="1"/>
          <p:nvPr/>
        </p:nvSpPr>
        <p:spPr>
          <a:xfrm>
            <a:off x="1681812" y="883806"/>
            <a:ext cx="4936051" cy="194844"/>
          </a:xfrm>
          <a:prstGeom prst="rect">
            <a:avLst/>
          </a:prstGeom>
          <a:noFill/>
          <a:ln/>
        </p:spPr>
        <p:txBody>
          <a:bodyPr wrap="square" lIns="0" tIns="0" rIns="0" bIns="0" rtlCol="0" anchor="ctr"/>
          <a:lstStyle/>
          <a:p>
            <a:pPr indent="0" marL="0">
              <a:buNone/>
            </a:pPr>
            <a:r>
              <a:rPr lang="en-US" sz="890" b="1" dirty="0">
                <a:solidFill>
                  <a:srgbClr val="00A896"/>
                </a:solidFill>
                <a:latin typeface="Arial" pitchFamily="34" charset="0"/>
                <a:ea typeface="Arial" pitchFamily="34" charset="-122"/>
                <a:cs typeface="Arial" pitchFamily="34" charset="-120"/>
              </a:rPr>
              <a:t>MITUST · Nguyên lý xe tự lái · Tuần 5</a:t>
            </a:r>
            <a:endParaRPr lang="en-US" sz="890" dirty="0"/>
          </a:p>
        </p:txBody>
      </p:sp>
      <p:sp>
        <p:nvSpPr>
          <p:cNvPr id="5" name="Text 3"/>
          <p:cNvSpPr txBox="1"/>
          <p:nvPr/>
        </p:nvSpPr>
        <p:spPr>
          <a:xfrm>
            <a:off x="1681812" y="1143598"/>
            <a:ext cx="5325739" cy="628953"/>
          </a:xfrm>
          <a:prstGeom prst="rect">
            <a:avLst/>
          </a:prstGeom>
          <a:noFill/>
          <a:ln/>
        </p:spPr>
        <p:txBody>
          <a:bodyPr wrap="square" lIns="0" tIns="0" rIns="0" bIns="0" rtlCol="0" anchor="t"/>
          <a:lstStyle/>
          <a:p>
            <a:pPr indent="0" marL="0">
              <a:lnSpc>
                <a:spcPct val="118000"/>
              </a:lnSpc>
              <a:buNone/>
            </a:pPr>
            <a:r>
              <a:rPr lang="en-US" sz="2410" b="1" dirty="0">
                <a:solidFill>
                  <a:srgbClr val="FFFFFF"/>
                </a:solidFill>
                <a:latin typeface="Arial" pitchFamily="34" charset="0"/>
                <a:ea typeface="Arial" pitchFamily="34" charset="-122"/>
                <a:cs typeface="Arial" pitchFamily="34" charset="-120"/>
              </a:rPr>
              <a:t>Trang thứ hai của datasheet</a:t>
            </a:r>
            <a:endParaRPr lang="en-US" sz="2410" dirty="0"/>
          </a:p>
          <a:p>
            <a:pPr indent="0" marL="0">
              <a:lnSpc>
                <a:spcPct val="118000"/>
              </a:lnSpc>
              <a:buNone/>
            </a:pPr>
            <a:r>
              <a:rPr lang="en-US" sz="1350" dirty="0">
                <a:solidFill>
                  <a:srgbClr val="C8D6E2"/>
                </a:solidFill>
                <a:latin typeface="微軟正黑體" pitchFamily="34" charset="0"/>
                <a:ea typeface="微軟正黑體" pitchFamily="34" charset="-122"/>
                <a:cs typeface="微軟正黑體" pitchFamily="34" charset="-120"/>
              </a:rPr>
              <a:t>規格表的第二頁</a:t>
            </a:r>
            <a:endParaRPr lang="en-US" sz="2410" dirty="0"/>
          </a:p>
        </p:txBody>
      </p:sp>
      <p:sp>
        <p:nvSpPr>
          <p:cNvPr id="6" name="Shape 4"/>
          <p:cNvSpPr/>
          <p:nvPr/>
        </p:nvSpPr>
        <p:spPr>
          <a:xfrm>
            <a:off x="1681812" y="2163355"/>
            <a:ext cx="974221" cy="29227"/>
          </a:xfrm>
          <a:prstGeom prst="rect">
            <a:avLst/>
          </a:prstGeom>
          <a:solidFill>
            <a:srgbClr val="FFB020"/>
          </a:solidFill>
          <a:ln/>
        </p:spPr>
      </p:sp>
      <p:sp>
        <p:nvSpPr>
          <p:cNvPr id="7" name="Text 5"/>
          <p:cNvSpPr txBox="1"/>
          <p:nvPr/>
        </p:nvSpPr>
        <p:spPr>
          <a:xfrm>
            <a:off x="1681812" y="2306241"/>
            <a:ext cx="5065947" cy="435079"/>
          </a:xfrm>
          <a:prstGeom prst="rect">
            <a:avLst/>
          </a:prstGeom>
          <a:noFill/>
          <a:ln/>
        </p:spPr>
        <p:txBody>
          <a:bodyPr wrap="square" lIns="0" tIns="0" rIns="0" bIns="0" rtlCol="0" anchor="t"/>
          <a:lstStyle/>
          <a:p>
            <a:pPr indent="0" marL="0">
              <a:lnSpc>
                <a:spcPct val="120000"/>
              </a:lnSpc>
              <a:buNone/>
            </a:pPr>
            <a:r>
              <a:rPr lang="en-US" sz="1030" dirty="0">
                <a:solidFill>
                  <a:srgbClr val="C8D6E2"/>
                </a:solidFill>
                <a:latin typeface="Arial" pitchFamily="34" charset="0"/>
                <a:ea typeface="Arial" pitchFamily="34" charset="-122"/>
                <a:cs typeface="Arial" pitchFamily="34" charset="-120"/>
              </a:rPr>
              <a:t>Ba dòng ít ai đọc, nhưng hỏng là hỏng ở đó</a:t>
            </a:r>
            <a:endParaRPr lang="en-US" sz="1030" dirty="0"/>
          </a:p>
          <a:p>
            <a:pPr indent="0" marL="0">
              <a:lnSpc>
                <a:spcPct val="120000"/>
              </a:lnSpc>
              <a:buNone/>
            </a:pPr>
            <a:r>
              <a:rPr lang="en-US" sz="89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030" dirty="0"/>
          </a:p>
        </p:txBody>
      </p:sp>
      <p:sp>
        <p:nvSpPr>
          <p:cNvPr id="8" name="Shape 6"/>
          <p:cNvSpPr/>
          <p:nvPr/>
        </p:nvSpPr>
        <p:spPr>
          <a:xfrm>
            <a:off x="1681812" y="2793278"/>
            <a:ext cx="4221622" cy="272782"/>
          </a:xfrm>
          <a:prstGeom prst="roundRect">
            <a:avLst>
              <a:gd name="adj" fmla="val 16667"/>
            </a:avLst>
          </a:prstGeom>
          <a:solidFill>
            <a:srgbClr val="13314F"/>
          </a:solidFill>
          <a:ln/>
        </p:spPr>
      </p:sp>
      <p:sp>
        <p:nvSpPr>
          <p:cNvPr id="9" name="Text 7"/>
          <p:cNvSpPr txBox="1"/>
          <p:nvPr/>
        </p:nvSpPr>
        <p:spPr>
          <a:xfrm>
            <a:off x="1772740" y="2825752"/>
            <a:ext cx="4039768" cy="207834"/>
          </a:xfrm>
          <a:prstGeom prst="rect">
            <a:avLst/>
          </a:prstGeom>
          <a:noFill/>
          <a:ln/>
        </p:spPr>
        <p:txBody>
          <a:bodyPr wrap="square" lIns="0" tIns="0" rIns="0" bIns="0" rtlCol="0" anchor="ctr"/>
          <a:lstStyle/>
          <a:p>
            <a:pPr indent="0" marL="0">
              <a:buNone/>
            </a:pPr>
            <a:r>
              <a:rPr lang="en-US" sz="7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750" dirty="0"/>
          </a:p>
        </p:txBody>
      </p:sp>
      <p:sp>
        <p:nvSpPr>
          <p:cNvPr id="10" name="Text 8"/>
          <p:cNvSpPr txBox="1"/>
          <p:nvPr/>
        </p:nvSpPr>
        <p:spPr>
          <a:xfrm>
            <a:off x="1681812" y="3131008"/>
            <a:ext cx="4936051" cy="194844"/>
          </a:xfrm>
          <a:prstGeom prst="rect">
            <a:avLst/>
          </a:prstGeom>
          <a:noFill/>
          <a:ln/>
        </p:spPr>
        <p:txBody>
          <a:bodyPr wrap="square" lIns="0" tIns="0" rIns="0" bIns="0" rtlCol="0" anchor="ctr"/>
          <a:lstStyle/>
          <a:p>
            <a:pPr indent="0" marL="0">
              <a:buNone/>
            </a:pPr>
            <a:r>
              <a:rPr lang="en-US" sz="82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820" dirty="0"/>
          </a:p>
        </p:txBody>
      </p:sp>
      <p:sp>
        <p:nvSpPr>
          <p:cNvPr id="12" name="Shape 9"/>
          <p:cNvSpPr/>
          <p:nvPr/>
        </p:nvSpPr>
        <p:spPr>
          <a:xfrm>
            <a:off x="1577895" y="247315"/>
            <a:ext cx="1571743" cy="532574"/>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1681812" y="364222"/>
            <a:ext cx="1363909" cy="3013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130753" y="-947729"/>
            <a:ext cx="2987610" cy="2987610"/>
          </a:xfrm>
          <a:prstGeom prst="ellipse">
            <a:avLst/>
          </a:prstGeom>
          <a:solidFill>
            <a:srgbClr val="13314F"/>
          </a:solidFill>
          <a:ln w="12700">
            <a:solidFill>
              <a:srgbClr val="13314F"/>
            </a:solidFill>
            <a:prstDash val="solid"/>
          </a:ln>
        </p:spPr>
      </p:sp>
      <p:sp>
        <p:nvSpPr>
          <p:cNvPr id="3" name="Shape 1"/>
          <p:cNvSpPr/>
          <p:nvPr/>
        </p:nvSpPr>
        <p:spPr>
          <a:xfrm>
            <a:off x="7104973" y="1520297"/>
            <a:ext cx="1688649" cy="1688649"/>
          </a:xfrm>
          <a:prstGeom prst="ellipse">
            <a:avLst/>
          </a:prstGeom>
          <a:solidFill>
            <a:srgbClr val="007F72">
              <a:alpha val="28000"/>
            </a:srgbClr>
          </a:solidFill>
          <a:ln/>
        </p:spPr>
      </p:sp>
      <p:sp>
        <p:nvSpPr>
          <p:cNvPr id="4" name="Text 2"/>
          <p:cNvSpPr txBox="1"/>
          <p:nvPr/>
        </p:nvSpPr>
        <p:spPr>
          <a:xfrm>
            <a:off x="1681812" y="1228031"/>
            <a:ext cx="3247402" cy="22082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Phần 1 / 3</a:t>
            </a:r>
            <a:endParaRPr lang="en-US" sz="960" dirty="0"/>
          </a:p>
        </p:txBody>
      </p:sp>
      <p:sp>
        <p:nvSpPr>
          <p:cNvPr id="5" name="Text 3"/>
          <p:cNvSpPr txBox="1"/>
          <p:nvPr/>
        </p:nvSpPr>
        <p:spPr>
          <a:xfrm>
            <a:off x="1681812" y="1481328"/>
            <a:ext cx="5195843" cy="844324"/>
          </a:xfrm>
          <a:prstGeom prst="rect">
            <a:avLst/>
          </a:prstGeom>
          <a:noFill/>
          <a:ln/>
        </p:spPr>
        <p:txBody>
          <a:bodyPr wrap="square" lIns="0" tIns="0" rIns="0" bIns="0" rtlCol="0" anchor="t"/>
          <a:lstStyle/>
          <a:p>
            <a:pPr indent="0" marL="0">
              <a:lnSpc>
                <a:spcPct val="118000"/>
              </a:lnSpc>
              <a:buNone/>
            </a:pPr>
            <a:r>
              <a:rPr lang="en-US" sz="2060" b="1" dirty="0">
                <a:solidFill>
                  <a:srgbClr val="FFFFFF"/>
                </a:solidFill>
                <a:latin typeface="Arial" pitchFamily="34" charset="0"/>
                <a:ea typeface="Arial" pitchFamily="34" charset="-122"/>
                <a:cs typeface="Arial" pitchFamily="34" charset="-120"/>
              </a:rPr>
              <a:t>Camera: ba dòng quyết định lúc chói sáng và lúc vào hầm</a:t>
            </a:r>
            <a:endParaRPr lang="en-US" sz="2060" dirty="0"/>
          </a:p>
          <a:p>
            <a:pPr indent="0" marL="0">
              <a:lnSpc>
                <a:spcPct val="118000"/>
              </a:lnSpc>
              <a:buNone/>
            </a:pPr>
            <a:r>
              <a:rPr lang="en-US" sz="1210" dirty="0">
                <a:solidFill>
                  <a:srgbClr val="AFC3D4"/>
                </a:solidFill>
                <a:latin typeface="微軟正黑體" pitchFamily="34" charset="0"/>
                <a:ea typeface="微軟正黑體" pitchFamily="34" charset="-122"/>
                <a:cs typeface="微軟正黑體" pitchFamily="34" charset="-120"/>
              </a:rPr>
              <a:t>相機：決定逆光與進隧道的那三行</a:t>
            </a:r>
            <a:endParaRPr lang="en-US" sz="2060" dirty="0"/>
          </a:p>
        </p:txBody>
      </p:sp>
      <p:sp>
        <p:nvSpPr>
          <p:cNvPr id="6" name="Text 4"/>
          <p:cNvSpPr txBox="1"/>
          <p:nvPr/>
        </p:nvSpPr>
        <p:spPr>
          <a:xfrm>
            <a:off x="1681812" y="2403590"/>
            <a:ext cx="5195843" cy="454636"/>
          </a:xfrm>
          <a:prstGeom prst="rect">
            <a:avLst/>
          </a:prstGeom>
          <a:noFill/>
          <a:ln/>
        </p:spPr>
        <p:txBody>
          <a:bodyPr wrap="square" lIns="0" tIns="0" rIns="0" bIns="0" rtlCol="0" anchor="t"/>
          <a:lstStyle/>
          <a:p>
            <a:pPr indent="0" marL="0">
              <a:lnSpc>
                <a:spcPct val="120000"/>
              </a:lnSpc>
              <a:buNone/>
            </a:pPr>
            <a:r>
              <a:rPr lang="en-US" sz="960" dirty="0">
                <a:solidFill>
                  <a:srgbClr val="AFC3D4"/>
                </a:solidFill>
                <a:latin typeface="Arial" pitchFamily="34" charset="0"/>
                <a:ea typeface="Arial" pitchFamily="34" charset="-122"/>
                <a:cs typeface="Arial" pitchFamily="34" charset="-120"/>
              </a:rPr>
              <a:t>Kiểu màn trập · dải tương phản · nháy đèn LED</a:t>
            </a:r>
            <a:endParaRPr lang="en-US" sz="960" dirty="0"/>
          </a:p>
          <a:p>
            <a:pPr indent="0" marL="0">
              <a:lnSpc>
                <a:spcPct val="120000"/>
              </a:lnSpc>
              <a:buNone/>
            </a:pPr>
            <a:r>
              <a:rPr lang="en-US" sz="85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960" dirty="0"/>
          </a:p>
        </p:txBody>
      </p:sp>
      <p:sp>
        <p:nvSpPr>
          <p:cNvPr id="8" name="Text 5"/>
          <p:cNvSpPr txBox="1"/>
          <p:nvPr/>
        </p:nvSpPr>
        <p:spPr>
          <a:xfrm>
            <a:off x="1402536" y="3390800"/>
            <a:ext cx="584532" cy="181855"/>
          </a:xfrm>
          <a:prstGeom prst="rect">
            <a:avLst/>
          </a:prstGeom>
          <a:noFill/>
          <a:ln/>
        </p:spPr>
        <p:txBody>
          <a:bodyPr wrap="square" lIns="0" tIns="0" rIns="0" bIns="0" rtlCol="0" anchor="ctr"/>
          <a:lstStyle/>
          <a:p>
            <a:pPr indent="0" marL="0">
              <a:buNone/>
            </a:pPr>
            <a:r>
              <a:rPr lang="en-US" sz="640" dirty="0">
                <a:solidFill>
                  <a:srgbClr val="9FB3C8"/>
                </a:solidFill>
                <a:latin typeface="Arial" pitchFamily="34" charset="0"/>
                <a:ea typeface="Arial" pitchFamily="34" charset="-122"/>
                <a:cs typeface="Arial" pitchFamily="34" charset="-120"/>
              </a:rPr>
              <a:t>2 / 14</a:t>
            </a:r>
            <a:endParaRPr lang="en-US" sz="640" dirty="0"/>
          </a:p>
        </p:txBody>
      </p:sp>
      <p:sp>
        <p:nvSpPr>
          <p:cNvPr id="9" name="Text 6"/>
          <p:cNvSpPr txBox="1"/>
          <p:nvPr/>
        </p:nvSpPr>
        <p:spPr>
          <a:xfrm>
            <a:off x="2006553" y="3390800"/>
            <a:ext cx="1428857" cy="181855"/>
          </a:xfrm>
          <a:prstGeom prst="rect">
            <a:avLst/>
          </a:prstGeom>
          <a:noFill/>
          <a:ln/>
        </p:spPr>
        <p:txBody>
          <a:bodyPr wrap="square" lIns="0" tIns="0" rIns="0" bIns="0" rtlCol="0" anchor="ctr"/>
          <a:lstStyle/>
          <a:p>
            <a:pPr indent="0" marL="0">
              <a:buNone/>
            </a:pPr>
            <a:r>
              <a:rPr lang="en-US" sz="640" dirty="0">
                <a:solidFill>
                  <a:srgbClr val="9FB3C8"/>
                </a:solidFill>
                <a:latin typeface="Arial" pitchFamily="34" charset="0"/>
                <a:ea typeface="Arial" pitchFamily="34" charset="-122"/>
                <a:cs typeface="Arial" pitchFamily="34" charset="-120"/>
              </a:rPr>
              <a:t>Tiết 2 · 第 2 節</a:t>
            </a:r>
            <a:endParaRPr lang="en-US" sz="6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1681812" y="325253"/>
            <a:ext cx="5780375" cy="194844"/>
          </a:xfrm>
          <a:prstGeom prst="rect">
            <a:avLst/>
          </a:prstGeom>
          <a:noFill/>
          <a:ln/>
        </p:spPr>
        <p:txBody>
          <a:bodyPr wrap="square" lIns="0" tIns="0" rIns="0" bIns="0" rtlCol="0" anchor="ctr"/>
          <a:lstStyle/>
          <a:p>
            <a:pPr indent="0" marL="0">
              <a:buNone/>
            </a:pPr>
            <a:r>
              <a:rPr lang="en-US" sz="890" b="1" dirty="0">
                <a:solidFill>
                  <a:srgbClr val="007F72"/>
                </a:solidFill>
                <a:latin typeface="Arial" pitchFamily="34" charset="0"/>
                <a:ea typeface="Arial" pitchFamily="34" charset="-122"/>
                <a:cs typeface="Arial" pitchFamily="34" charset="-120"/>
              </a:rPr>
              <a:t>1 / 3　Rolling shutter</a:t>
            </a:r>
            <a:endParaRPr lang="en-US" sz="890" dirty="0"/>
          </a:p>
        </p:txBody>
      </p:sp>
      <p:sp>
        <p:nvSpPr>
          <p:cNvPr id="3" name="Shape 1"/>
          <p:cNvSpPr/>
          <p:nvPr/>
        </p:nvSpPr>
        <p:spPr>
          <a:xfrm>
            <a:off x="1681812" y="809116"/>
            <a:ext cx="1753597" cy="1786071"/>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961349" y="1449633"/>
            <a:ext cx="1194524" cy="0"/>
          </a:xfrm>
          <a:prstGeom prst="line">
            <a:avLst/>
          </a:prstGeom>
          <a:noFill/>
          <a:ln w="12700">
            <a:solidFill>
              <a:srgbClr val="9AA6B0"/>
            </a:solidFill>
            <a:prstDash val="dash"/>
          </a:ln>
        </p:spPr>
      </p:sp>
      <p:sp>
        <p:nvSpPr>
          <p:cNvPr id="5" name="Shape 3"/>
          <p:cNvSpPr/>
          <p:nvPr/>
        </p:nvSpPr>
        <p:spPr>
          <a:xfrm>
            <a:off x="1961349" y="1639022"/>
            <a:ext cx="1194524" cy="0"/>
          </a:xfrm>
          <a:prstGeom prst="line">
            <a:avLst/>
          </a:prstGeom>
          <a:noFill/>
          <a:ln w="12700">
            <a:solidFill>
              <a:srgbClr val="9AA6B0"/>
            </a:solidFill>
            <a:prstDash val="dash"/>
          </a:ln>
        </p:spPr>
      </p:sp>
      <p:sp>
        <p:nvSpPr>
          <p:cNvPr id="6" name="Shape 4"/>
          <p:cNvSpPr/>
          <p:nvPr/>
        </p:nvSpPr>
        <p:spPr>
          <a:xfrm>
            <a:off x="1961349" y="1544328"/>
            <a:ext cx="1100220" cy="0"/>
          </a:xfrm>
          <a:prstGeom prst="line">
            <a:avLst/>
          </a:prstGeom>
          <a:noFill/>
          <a:ln w="25400">
            <a:solidFill>
              <a:srgbClr val="1F4E79"/>
            </a:solidFill>
            <a:prstDash val="solid"/>
            <a:tailEnd type="triangle"/>
          </a:ln>
        </p:spPr>
      </p:sp>
      <p:sp>
        <p:nvSpPr>
          <p:cNvPr id="7" name="Shape 5"/>
          <p:cNvSpPr/>
          <p:nvPr/>
        </p:nvSpPr>
        <p:spPr>
          <a:xfrm>
            <a:off x="1961349" y="2049364"/>
            <a:ext cx="1194524" cy="0"/>
          </a:xfrm>
          <a:prstGeom prst="line">
            <a:avLst/>
          </a:prstGeom>
          <a:noFill/>
          <a:ln w="12700">
            <a:solidFill>
              <a:srgbClr val="9AA6B0"/>
            </a:solidFill>
            <a:prstDash val="dash"/>
          </a:ln>
        </p:spPr>
      </p:sp>
      <p:sp>
        <p:nvSpPr>
          <p:cNvPr id="8" name="Shape 6"/>
          <p:cNvSpPr/>
          <p:nvPr/>
        </p:nvSpPr>
        <p:spPr>
          <a:xfrm>
            <a:off x="1961349" y="2238752"/>
            <a:ext cx="1194524" cy="0"/>
          </a:xfrm>
          <a:prstGeom prst="line">
            <a:avLst/>
          </a:prstGeom>
          <a:noFill/>
          <a:ln w="12700">
            <a:solidFill>
              <a:srgbClr val="9AA6B0"/>
            </a:solidFill>
            <a:prstDash val="dash"/>
          </a:ln>
        </p:spPr>
      </p:sp>
      <p:sp>
        <p:nvSpPr>
          <p:cNvPr id="9" name="Shape 7"/>
          <p:cNvSpPr/>
          <p:nvPr/>
        </p:nvSpPr>
        <p:spPr>
          <a:xfrm flipV="1">
            <a:off x="1961349" y="2080928"/>
            <a:ext cx="298631" cy="126259"/>
          </a:xfrm>
          <a:prstGeom prst="line">
            <a:avLst/>
          </a:prstGeom>
          <a:noFill/>
          <a:ln w="25400">
            <a:solidFill>
              <a:srgbClr val="D9463E"/>
            </a:solidFill>
            <a:prstDash val="solid"/>
          </a:ln>
        </p:spPr>
      </p:sp>
      <p:sp>
        <p:nvSpPr>
          <p:cNvPr id="10" name="Shape 8"/>
          <p:cNvSpPr/>
          <p:nvPr/>
        </p:nvSpPr>
        <p:spPr>
          <a:xfrm>
            <a:off x="2259980" y="2080928"/>
            <a:ext cx="298631" cy="142041"/>
          </a:xfrm>
          <a:prstGeom prst="line">
            <a:avLst/>
          </a:prstGeom>
          <a:noFill/>
          <a:ln w="25400">
            <a:solidFill>
              <a:srgbClr val="D9463E"/>
            </a:solidFill>
            <a:prstDash val="solid"/>
          </a:ln>
        </p:spPr>
      </p:sp>
      <p:sp>
        <p:nvSpPr>
          <p:cNvPr id="11" name="Shape 9"/>
          <p:cNvSpPr/>
          <p:nvPr/>
        </p:nvSpPr>
        <p:spPr>
          <a:xfrm flipV="1">
            <a:off x="2558611" y="2017799"/>
            <a:ext cx="298631" cy="205171"/>
          </a:xfrm>
          <a:prstGeom prst="line">
            <a:avLst/>
          </a:prstGeom>
          <a:noFill/>
          <a:ln w="25400">
            <a:solidFill>
              <a:srgbClr val="D9463E"/>
            </a:solidFill>
            <a:prstDash val="solid"/>
          </a:ln>
        </p:spPr>
      </p:sp>
      <p:sp>
        <p:nvSpPr>
          <p:cNvPr id="12" name="Shape 10"/>
          <p:cNvSpPr/>
          <p:nvPr/>
        </p:nvSpPr>
        <p:spPr>
          <a:xfrm>
            <a:off x="2857242" y="2017799"/>
            <a:ext cx="204327" cy="126259"/>
          </a:xfrm>
          <a:prstGeom prst="line">
            <a:avLst/>
          </a:prstGeom>
          <a:noFill/>
          <a:ln w="25400">
            <a:solidFill>
              <a:srgbClr val="D9463E"/>
            </a:solidFill>
            <a:prstDash val="solid"/>
            <a:tailEnd type="triangle"/>
          </a:ln>
        </p:spPr>
      </p:sp>
      <p:sp>
        <p:nvSpPr>
          <p:cNvPr id="13" name="Text 11"/>
          <p:cNvSpPr txBox="1"/>
          <p:nvPr/>
        </p:nvSpPr>
        <p:spPr>
          <a:xfrm>
            <a:off x="3760150" y="838903"/>
            <a:ext cx="3702038" cy="963171"/>
          </a:xfrm>
          <a:prstGeom prst="rect">
            <a:avLst/>
          </a:prstGeom>
          <a:noFill/>
          <a:ln/>
        </p:spPr>
        <p:txBody>
          <a:bodyPr wrap="square" lIns="0" tIns="0" rIns="0" bIns="0" rtlCol="0" anchor="t"/>
          <a:lstStyle/>
          <a:p>
            <a:pPr indent="0" marL="0">
              <a:lnSpc>
                <a:spcPct val="120000"/>
              </a:lnSpc>
              <a:buNone/>
            </a:pPr>
            <a:r>
              <a:rPr lang="en-US" sz="163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1630" dirty="0"/>
          </a:p>
          <a:p>
            <a:pPr indent="0" marL="0">
              <a:lnSpc>
                <a:spcPct val="120000"/>
              </a:lnSpc>
              <a:buNone/>
            </a:pPr>
            <a:r>
              <a:rPr lang="en-US" sz="990"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1630" dirty="0"/>
          </a:p>
        </p:txBody>
      </p:sp>
      <p:sp>
        <p:nvSpPr>
          <p:cNvPr id="14" name="Text 12"/>
          <p:cNvSpPr txBox="1"/>
          <p:nvPr/>
        </p:nvSpPr>
        <p:spPr>
          <a:xfrm>
            <a:off x="3760150" y="1867022"/>
            <a:ext cx="3702038" cy="763326"/>
          </a:xfrm>
          <a:prstGeom prst="rect">
            <a:avLst/>
          </a:prstGeom>
          <a:noFill/>
          <a:ln/>
        </p:spPr>
        <p:txBody>
          <a:bodyPr wrap="square" lIns="0" tIns="0" rIns="0" bIns="0" rtlCol="0" anchor="t"/>
          <a:lstStyle/>
          <a:p>
            <a:pPr indent="0" marL="0">
              <a:lnSpc>
                <a:spcPct val="128000"/>
              </a:lnSpc>
              <a:buNone/>
            </a:pPr>
            <a:r>
              <a:rPr lang="en-US" sz="89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890" dirty="0"/>
          </a:p>
          <a:p>
            <a:pPr indent="0" marL="0">
              <a:lnSpc>
                <a:spcPct val="128000"/>
              </a:lnSpc>
              <a:buNone/>
            </a:pPr>
            <a:r>
              <a:rPr lang="en-US" sz="82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890" dirty="0"/>
          </a:p>
        </p:txBody>
      </p:sp>
      <p:sp>
        <p:nvSpPr>
          <p:cNvPr id="15" name="Shape 13"/>
          <p:cNvSpPr/>
          <p:nvPr/>
        </p:nvSpPr>
        <p:spPr>
          <a:xfrm>
            <a:off x="1681812" y="2806268"/>
            <a:ext cx="5780375" cy="441647"/>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1811708" y="2858226"/>
            <a:ext cx="5520583" cy="350719"/>
          </a:xfrm>
          <a:prstGeom prst="rect">
            <a:avLst/>
          </a:prstGeom>
          <a:noFill/>
          <a:ln/>
        </p:spPr>
        <p:txBody>
          <a:bodyPr wrap="square" lIns="0" tIns="0" rIns="0" bIns="0" rtlCol="0" anchor="t"/>
          <a:lstStyle/>
          <a:p>
            <a:pPr indent="0" marL="0">
              <a:lnSpc>
                <a:spcPct val="116000"/>
              </a:lnSpc>
              <a:buNone/>
            </a:pPr>
            <a:r>
              <a:rPr lang="en-US" sz="89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89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890" dirty="0"/>
          </a:p>
        </p:txBody>
      </p:sp>
      <p:pic>
        <p:nvPicPr>
          <p:cNvPr id="18" name="Image 0" descr="/Users/tsengchenghsun/Class/carClass/Claude outputs/第五週(10-8)/src/logo.png">    </p:cNvPr>
          <p:cNvPicPr>
            <a:picLocks noChangeAspect="1"/>
          </p:cNvPicPr>
          <p:nvPr/>
        </p:nvPicPr>
        <p:blipFill>
          <a:blip r:embed="rId1"/>
          <a:stretch>
            <a:fillRect/>
          </a:stretch>
        </p:blipFill>
        <p:spPr>
          <a:xfrm>
            <a:off x="6663327" y="3338842"/>
            <a:ext cx="779376" cy="172200"/>
          </a:xfrm>
          <a:prstGeom prst="rect">
            <a:avLst/>
          </a:prstGeom>
        </p:spPr>
      </p:pic>
      <p:sp>
        <p:nvSpPr>
          <p:cNvPr id="19" name="Text 15"/>
          <p:cNvSpPr txBox="1"/>
          <p:nvPr/>
        </p:nvSpPr>
        <p:spPr>
          <a:xfrm>
            <a:off x="1402536" y="3390800"/>
            <a:ext cx="584532"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3 / 14</a:t>
            </a:r>
            <a:endParaRPr lang="en-US" sz="640" dirty="0"/>
          </a:p>
        </p:txBody>
      </p:sp>
      <p:sp>
        <p:nvSpPr>
          <p:cNvPr id="20" name="Text 16"/>
          <p:cNvSpPr txBox="1"/>
          <p:nvPr/>
        </p:nvSpPr>
        <p:spPr>
          <a:xfrm>
            <a:off x="2006553" y="3390800"/>
            <a:ext cx="1428857"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Tiết 2 · 第 2 節</a:t>
            </a:r>
            <a:endParaRPr lang="en-US" sz="6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1681812" y="325253"/>
            <a:ext cx="5780375" cy="194844"/>
          </a:xfrm>
          <a:prstGeom prst="rect">
            <a:avLst/>
          </a:prstGeom>
          <a:noFill/>
          <a:ln/>
        </p:spPr>
        <p:txBody>
          <a:bodyPr wrap="square" lIns="0" tIns="0" rIns="0" bIns="0" rtlCol="0" anchor="ctr"/>
          <a:lstStyle/>
          <a:p>
            <a:pPr indent="0" marL="0">
              <a:buNone/>
            </a:pPr>
            <a:r>
              <a:rPr lang="en-US" sz="890" b="1" dirty="0">
                <a:solidFill>
                  <a:srgbClr val="007F72"/>
                </a:solidFill>
                <a:latin typeface="Arial" pitchFamily="34" charset="0"/>
                <a:ea typeface="Arial" pitchFamily="34" charset="-122"/>
                <a:cs typeface="Arial" pitchFamily="34" charset="-120"/>
              </a:rPr>
              <a:t>2 / 3　Dynamic range</a:t>
            </a:r>
            <a:endParaRPr lang="en-US" sz="890" dirty="0"/>
          </a:p>
        </p:txBody>
      </p:sp>
      <p:sp>
        <p:nvSpPr>
          <p:cNvPr id="3" name="Shape 1"/>
          <p:cNvSpPr/>
          <p:nvPr/>
        </p:nvSpPr>
        <p:spPr>
          <a:xfrm>
            <a:off x="1681812" y="809116"/>
            <a:ext cx="1753597" cy="1786071"/>
          </a:xfrm>
          <a:prstGeom prst="roundRect">
            <a:avLst>
              <a:gd name="adj" fmla="val 4444"/>
            </a:avLst>
          </a:prstGeom>
          <a:solidFill>
            <a:srgbClr val="F4F7FA"/>
          </a:solidFill>
          <a:ln w="12700">
            <a:solidFill>
              <a:srgbClr val="DBE3EA"/>
            </a:solidFill>
            <a:prstDash val="solid"/>
          </a:ln>
        </p:spPr>
      </p:sp>
      <p:sp>
        <p:nvSpPr>
          <p:cNvPr id="4" name="Text 2"/>
          <p:cNvSpPr txBox="1"/>
          <p:nvPr/>
        </p:nvSpPr>
        <p:spPr>
          <a:xfrm>
            <a:off x="1898479" y="1165551"/>
            <a:ext cx="471523" cy="220953"/>
          </a:xfrm>
          <a:prstGeom prst="rect">
            <a:avLst/>
          </a:prstGeom>
          <a:noFill/>
          <a:ln/>
        </p:spPr>
        <p:txBody>
          <a:bodyPr wrap="square" lIns="0" tIns="0" rIns="0" bIns="0" rtlCol="0" anchor="ctr"/>
          <a:lstStyle/>
          <a:p>
            <a:pPr algn="l" indent="0" marL="0">
              <a:buNone/>
            </a:pPr>
            <a:r>
              <a:rPr lang="en-US" sz="640" b="1" dirty="0">
                <a:solidFill>
                  <a:srgbClr val="6FA8DC"/>
                </a:solidFill>
                <a:latin typeface="Arial" pitchFamily="34" charset="0"/>
                <a:ea typeface="Arial" pitchFamily="34" charset="-122"/>
                <a:cs typeface="Arial" pitchFamily="34" charset="-120"/>
              </a:rPr>
              <a:t>khô  乾</a:t>
            </a:r>
            <a:endParaRPr lang="en-US" sz="640" dirty="0"/>
          </a:p>
        </p:txBody>
      </p:sp>
      <p:sp>
        <p:nvSpPr>
          <p:cNvPr id="5" name="Shape 3"/>
          <p:cNvSpPr/>
          <p:nvPr/>
        </p:nvSpPr>
        <p:spPr>
          <a:xfrm>
            <a:off x="1898479" y="1447693"/>
            <a:ext cx="282914" cy="130140"/>
          </a:xfrm>
          <a:prstGeom prst="roundRect">
            <a:avLst>
              <a:gd name="adj" fmla="val 22000"/>
            </a:avLst>
          </a:prstGeom>
          <a:solidFill>
            <a:srgbClr val="8FA3B5"/>
          </a:solidFill>
          <a:ln/>
        </p:spPr>
      </p:sp>
      <p:sp>
        <p:nvSpPr>
          <p:cNvPr id="6" name="Shape 4"/>
          <p:cNvSpPr/>
          <p:nvPr/>
        </p:nvSpPr>
        <p:spPr>
          <a:xfrm>
            <a:off x="2005986" y="1473721"/>
            <a:ext cx="96191" cy="78084"/>
          </a:xfrm>
          <a:prstGeom prst="roundRect">
            <a:avLst>
              <a:gd name="adj" fmla="val 23333"/>
            </a:avLst>
          </a:prstGeom>
          <a:solidFill>
            <a:srgbClr val="FFFFFF"/>
          </a:solidFill>
          <a:ln/>
        </p:spPr>
      </p:sp>
      <p:sp>
        <p:nvSpPr>
          <p:cNvPr id="7" name="Shape 5"/>
          <p:cNvSpPr/>
          <p:nvPr/>
        </p:nvSpPr>
        <p:spPr>
          <a:xfrm>
            <a:off x="2212827" y="1512763"/>
            <a:ext cx="597262" cy="0"/>
          </a:xfrm>
          <a:prstGeom prst="line">
            <a:avLst/>
          </a:prstGeom>
          <a:noFill/>
          <a:ln w="63500">
            <a:solidFill>
              <a:srgbClr val="6FA8DC"/>
            </a:solidFill>
            <a:prstDash val="solid"/>
          </a:ln>
        </p:spPr>
      </p:sp>
      <p:sp>
        <p:nvSpPr>
          <p:cNvPr id="8" name="Shape 6"/>
          <p:cNvSpPr/>
          <p:nvPr/>
        </p:nvSpPr>
        <p:spPr>
          <a:xfrm>
            <a:off x="2810090" y="1370721"/>
            <a:ext cx="55011" cy="284083"/>
          </a:xfrm>
          <a:prstGeom prst="roundRect">
            <a:avLst>
              <a:gd name="adj" fmla="val 34286"/>
            </a:avLst>
          </a:prstGeom>
          <a:solidFill>
            <a:srgbClr val="3A4650"/>
          </a:solidFill>
          <a:ln/>
        </p:spPr>
      </p:sp>
      <p:sp>
        <p:nvSpPr>
          <p:cNvPr id="9" name="Text 7"/>
          <p:cNvSpPr txBox="1"/>
          <p:nvPr/>
        </p:nvSpPr>
        <p:spPr>
          <a:xfrm>
            <a:off x="1898479" y="1733716"/>
            <a:ext cx="471523" cy="220953"/>
          </a:xfrm>
          <a:prstGeom prst="rect">
            <a:avLst/>
          </a:prstGeom>
          <a:noFill/>
          <a:ln/>
        </p:spPr>
        <p:txBody>
          <a:bodyPr wrap="square" lIns="0" tIns="0" rIns="0" bIns="0" rtlCol="0" anchor="ctr"/>
          <a:lstStyle/>
          <a:p>
            <a:pPr algn="l" indent="0" marL="0">
              <a:buNone/>
            </a:pPr>
            <a:r>
              <a:rPr lang="en-US" sz="640" b="1" dirty="0">
                <a:solidFill>
                  <a:srgbClr val="D9463E"/>
                </a:solidFill>
                <a:latin typeface="Arial" pitchFamily="34" charset="0"/>
                <a:ea typeface="Arial" pitchFamily="34" charset="-122"/>
                <a:cs typeface="Arial" pitchFamily="34" charset="-120"/>
              </a:rPr>
              <a:t>ướt  濕</a:t>
            </a:r>
            <a:endParaRPr lang="en-US" sz="640" dirty="0"/>
          </a:p>
        </p:txBody>
      </p:sp>
      <p:sp>
        <p:nvSpPr>
          <p:cNvPr id="10" name="Shape 8"/>
          <p:cNvSpPr/>
          <p:nvPr/>
        </p:nvSpPr>
        <p:spPr>
          <a:xfrm>
            <a:off x="1898479" y="2015858"/>
            <a:ext cx="282914" cy="130140"/>
          </a:xfrm>
          <a:prstGeom prst="roundRect">
            <a:avLst>
              <a:gd name="adj" fmla="val 22000"/>
            </a:avLst>
          </a:prstGeom>
          <a:solidFill>
            <a:srgbClr val="8FA3B5"/>
          </a:solidFill>
          <a:ln/>
        </p:spPr>
      </p:sp>
      <p:sp>
        <p:nvSpPr>
          <p:cNvPr id="11" name="Shape 9"/>
          <p:cNvSpPr/>
          <p:nvPr/>
        </p:nvSpPr>
        <p:spPr>
          <a:xfrm>
            <a:off x="2005986" y="2041886"/>
            <a:ext cx="96191" cy="78084"/>
          </a:xfrm>
          <a:prstGeom prst="roundRect">
            <a:avLst>
              <a:gd name="adj" fmla="val 23333"/>
            </a:avLst>
          </a:prstGeom>
          <a:solidFill>
            <a:srgbClr val="FFFFFF"/>
          </a:solidFill>
          <a:ln/>
        </p:spPr>
      </p:sp>
      <p:sp>
        <p:nvSpPr>
          <p:cNvPr id="12" name="Shape 10"/>
          <p:cNvSpPr/>
          <p:nvPr/>
        </p:nvSpPr>
        <p:spPr>
          <a:xfrm>
            <a:off x="2212827" y="2080928"/>
            <a:ext cx="974480" cy="0"/>
          </a:xfrm>
          <a:prstGeom prst="line">
            <a:avLst/>
          </a:prstGeom>
          <a:noFill/>
          <a:ln w="63500">
            <a:solidFill>
              <a:srgbClr val="D9463E"/>
            </a:solidFill>
            <a:prstDash val="solid"/>
          </a:ln>
        </p:spPr>
      </p:sp>
      <p:sp>
        <p:nvSpPr>
          <p:cNvPr id="13" name="Shape 11"/>
          <p:cNvSpPr/>
          <p:nvPr/>
        </p:nvSpPr>
        <p:spPr>
          <a:xfrm>
            <a:off x="3187308" y="1938887"/>
            <a:ext cx="55011" cy="284083"/>
          </a:xfrm>
          <a:prstGeom prst="roundRect">
            <a:avLst>
              <a:gd name="adj" fmla="val 34286"/>
            </a:avLst>
          </a:prstGeom>
          <a:solidFill>
            <a:srgbClr val="3A4650"/>
          </a:solidFill>
          <a:ln/>
        </p:spPr>
      </p:sp>
      <p:sp>
        <p:nvSpPr>
          <p:cNvPr id="14" name="Text 12"/>
          <p:cNvSpPr txBox="1"/>
          <p:nvPr/>
        </p:nvSpPr>
        <p:spPr>
          <a:xfrm>
            <a:off x="3760150" y="963355"/>
            <a:ext cx="3702038" cy="714266"/>
          </a:xfrm>
          <a:prstGeom prst="rect">
            <a:avLst/>
          </a:prstGeom>
          <a:noFill/>
          <a:ln/>
        </p:spPr>
        <p:txBody>
          <a:bodyPr wrap="square" lIns="0" tIns="0" rIns="0" bIns="0" rtlCol="0" anchor="t"/>
          <a:lstStyle/>
          <a:p>
            <a:pPr indent="0" marL="0">
              <a:lnSpc>
                <a:spcPct val="120000"/>
              </a:lnSpc>
              <a:buNone/>
            </a:pPr>
            <a:r>
              <a:rPr lang="en-US" sz="163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1630" dirty="0"/>
          </a:p>
          <a:p>
            <a:pPr indent="0" marL="0">
              <a:lnSpc>
                <a:spcPct val="120000"/>
              </a:lnSpc>
              <a:buNone/>
            </a:pPr>
            <a:r>
              <a:rPr lang="en-US" sz="990"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1630" dirty="0"/>
          </a:p>
        </p:txBody>
      </p:sp>
      <p:sp>
        <p:nvSpPr>
          <p:cNvPr id="15" name="Text 13"/>
          <p:cNvSpPr txBox="1"/>
          <p:nvPr/>
        </p:nvSpPr>
        <p:spPr>
          <a:xfrm>
            <a:off x="3760150" y="1742570"/>
            <a:ext cx="3702038" cy="763326"/>
          </a:xfrm>
          <a:prstGeom prst="rect">
            <a:avLst/>
          </a:prstGeom>
          <a:noFill/>
          <a:ln/>
        </p:spPr>
        <p:txBody>
          <a:bodyPr wrap="square" lIns="0" tIns="0" rIns="0" bIns="0" rtlCol="0" anchor="t"/>
          <a:lstStyle/>
          <a:p>
            <a:pPr indent="0" marL="0">
              <a:lnSpc>
                <a:spcPct val="128000"/>
              </a:lnSpc>
              <a:buNone/>
            </a:pPr>
            <a:r>
              <a:rPr lang="en-US" sz="89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890" dirty="0"/>
          </a:p>
          <a:p>
            <a:pPr indent="0" marL="0">
              <a:lnSpc>
                <a:spcPct val="128000"/>
              </a:lnSpc>
              <a:buNone/>
            </a:pPr>
            <a:r>
              <a:rPr lang="en-US" sz="82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890" dirty="0"/>
          </a:p>
        </p:txBody>
      </p:sp>
      <p:sp>
        <p:nvSpPr>
          <p:cNvPr id="16" name="Shape 14"/>
          <p:cNvSpPr/>
          <p:nvPr/>
        </p:nvSpPr>
        <p:spPr>
          <a:xfrm>
            <a:off x="1681812" y="2806268"/>
            <a:ext cx="5780375" cy="441647"/>
          </a:xfrm>
          <a:prstGeom prst="roundRect">
            <a:avLst>
              <a:gd name="adj" fmla="val 13235"/>
            </a:avLst>
          </a:prstGeom>
          <a:solidFill>
            <a:srgbClr val="FFF6E3"/>
          </a:solidFill>
          <a:ln w="12700">
            <a:solidFill>
              <a:srgbClr val="FFB020"/>
            </a:solidFill>
            <a:prstDash val="solid"/>
          </a:ln>
        </p:spPr>
      </p:sp>
      <p:sp>
        <p:nvSpPr>
          <p:cNvPr id="17" name="Text 15"/>
          <p:cNvSpPr txBox="1"/>
          <p:nvPr/>
        </p:nvSpPr>
        <p:spPr>
          <a:xfrm>
            <a:off x="1811708" y="2858226"/>
            <a:ext cx="5520583" cy="350719"/>
          </a:xfrm>
          <a:prstGeom prst="rect">
            <a:avLst/>
          </a:prstGeom>
          <a:noFill/>
          <a:ln/>
        </p:spPr>
        <p:txBody>
          <a:bodyPr wrap="square" lIns="0" tIns="0" rIns="0" bIns="0" rtlCol="0" anchor="t"/>
          <a:lstStyle/>
          <a:p>
            <a:pPr indent="0" marL="0">
              <a:lnSpc>
                <a:spcPct val="116000"/>
              </a:lnSpc>
              <a:buNone/>
            </a:pPr>
            <a:r>
              <a:rPr lang="en-US" sz="89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89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890" dirty="0"/>
          </a:p>
        </p:txBody>
      </p:sp>
      <p:pic>
        <p:nvPicPr>
          <p:cNvPr id="19" name="Image 0" descr="/Users/tsengchenghsun/Class/carClass/Claude outputs/第五週(10-8)/src/logo.png">    </p:cNvPr>
          <p:cNvPicPr>
            <a:picLocks noChangeAspect="1"/>
          </p:cNvPicPr>
          <p:nvPr/>
        </p:nvPicPr>
        <p:blipFill>
          <a:blip r:embed="rId1"/>
          <a:stretch>
            <a:fillRect/>
          </a:stretch>
        </p:blipFill>
        <p:spPr>
          <a:xfrm>
            <a:off x="6663327" y="3338842"/>
            <a:ext cx="779376" cy="172200"/>
          </a:xfrm>
          <a:prstGeom prst="rect">
            <a:avLst/>
          </a:prstGeom>
        </p:spPr>
      </p:pic>
      <p:sp>
        <p:nvSpPr>
          <p:cNvPr id="20" name="Text 16"/>
          <p:cNvSpPr txBox="1"/>
          <p:nvPr/>
        </p:nvSpPr>
        <p:spPr>
          <a:xfrm>
            <a:off x="1402536" y="3390800"/>
            <a:ext cx="584532"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4 / 14</a:t>
            </a:r>
            <a:endParaRPr lang="en-US" sz="640" dirty="0"/>
          </a:p>
        </p:txBody>
      </p:sp>
      <p:sp>
        <p:nvSpPr>
          <p:cNvPr id="21" name="Text 17"/>
          <p:cNvSpPr txBox="1"/>
          <p:nvPr/>
        </p:nvSpPr>
        <p:spPr>
          <a:xfrm>
            <a:off x="2006553" y="3390800"/>
            <a:ext cx="1428857"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Tiết 2 · 第 2 節</a:t>
            </a:r>
            <a:endParaRPr lang="en-US" sz="6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1681812" y="325253"/>
            <a:ext cx="5780375" cy="194844"/>
          </a:xfrm>
          <a:prstGeom prst="rect">
            <a:avLst/>
          </a:prstGeom>
          <a:noFill/>
          <a:ln/>
        </p:spPr>
        <p:txBody>
          <a:bodyPr wrap="square" lIns="0" tIns="0" rIns="0" bIns="0" rtlCol="0" anchor="ctr"/>
          <a:lstStyle/>
          <a:p>
            <a:pPr indent="0" marL="0">
              <a:buNone/>
            </a:pPr>
            <a:r>
              <a:rPr lang="en-US" sz="890" b="1" dirty="0">
                <a:solidFill>
                  <a:srgbClr val="007F72"/>
                </a:solidFill>
                <a:latin typeface="Arial" pitchFamily="34" charset="0"/>
                <a:ea typeface="Arial" pitchFamily="34" charset="-122"/>
                <a:cs typeface="Arial" pitchFamily="34" charset="-120"/>
              </a:rPr>
              <a:t>3 / 3　LED flicker</a:t>
            </a:r>
            <a:endParaRPr lang="en-US" sz="890" dirty="0"/>
          </a:p>
        </p:txBody>
      </p:sp>
      <p:sp>
        <p:nvSpPr>
          <p:cNvPr id="3" name="Shape 1"/>
          <p:cNvSpPr/>
          <p:nvPr/>
        </p:nvSpPr>
        <p:spPr>
          <a:xfrm>
            <a:off x="1681812" y="809116"/>
            <a:ext cx="1753597" cy="1786071"/>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2385719" y="1591675"/>
            <a:ext cx="660132" cy="536601"/>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2275697" y="1481198"/>
            <a:ext cx="660132" cy="536601"/>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2165675" y="1370721"/>
            <a:ext cx="660132" cy="536601"/>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2055653" y="1260245"/>
            <a:ext cx="660132" cy="536601"/>
          </a:xfrm>
          <a:prstGeom prst="roundRect">
            <a:avLst>
              <a:gd name="adj" fmla="val 6052"/>
            </a:avLst>
          </a:prstGeom>
          <a:solidFill>
            <a:srgbClr val="A3382F"/>
          </a:solidFill>
          <a:ln w="15240">
            <a:solidFill>
              <a:srgbClr val="F4F7FA"/>
            </a:solidFill>
            <a:prstDash val="solid"/>
          </a:ln>
        </p:spPr>
      </p:sp>
      <p:sp>
        <p:nvSpPr>
          <p:cNvPr id="8" name="Text 6"/>
          <p:cNvSpPr txBox="1"/>
          <p:nvPr/>
        </p:nvSpPr>
        <p:spPr>
          <a:xfrm>
            <a:off x="1772740" y="2080928"/>
            <a:ext cx="1571743" cy="284083"/>
          </a:xfrm>
          <a:prstGeom prst="rect">
            <a:avLst/>
          </a:prstGeom>
          <a:noFill/>
          <a:ln/>
        </p:spPr>
        <p:txBody>
          <a:bodyPr wrap="square" lIns="0" tIns="0" rIns="0" bIns="0" rtlCol="0" anchor="ctr"/>
          <a:lstStyle/>
          <a:p>
            <a:pPr algn="ctr" indent="0" marL="0">
              <a:buNone/>
            </a:pPr>
            <a:r>
              <a:rPr lang="en-US" sz="780" b="1" dirty="0">
                <a:solidFill>
                  <a:srgbClr val="A3382F"/>
                </a:solidFill>
                <a:latin typeface="Arial" pitchFamily="34" charset="0"/>
                <a:ea typeface="Arial" pitchFamily="34" charset="-122"/>
                <a:cs typeface="Arial" pitchFamily="34" charset="-120"/>
              </a:rPr>
              <a:t>× 10 000</a:t>
            </a:r>
            <a:endParaRPr lang="en-US" sz="780" dirty="0"/>
          </a:p>
        </p:txBody>
      </p:sp>
      <p:sp>
        <p:nvSpPr>
          <p:cNvPr id="9" name="Text 7"/>
          <p:cNvSpPr txBox="1"/>
          <p:nvPr/>
        </p:nvSpPr>
        <p:spPr>
          <a:xfrm>
            <a:off x="3760150" y="963355"/>
            <a:ext cx="3702038" cy="714266"/>
          </a:xfrm>
          <a:prstGeom prst="rect">
            <a:avLst/>
          </a:prstGeom>
          <a:noFill/>
          <a:ln/>
        </p:spPr>
        <p:txBody>
          <a:bodyPr wrap="square" lIns="0" tIns="0" rIns="0" bIns="0" rtlCol="0" anchor="t"/>
          <a:lstStyle/>
          <a:p>
            <a:pPr indent="0" marL="0">
              <a:lnSpc>
                <a:spcPct val="120000"/>
              </a:lnSpc>
              <a:buNone/>
            </a:pPr>
            <a:r>
              <a:rPr lang="en-US" sz="163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1630" dirty="0"/>
          </a:p>
          <a:p>
            <a:pPr indent="0" marL="0">
              <a:lnSpc>
                <a:spcPct val="120000"/>
              </a:lnSpc>
              <a:buNone/>
            </a:pPr>
            <a:r>
              <a:rPr lang="en-US" sz="990"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1630" dirty="0"/>
          </a:p>
        </p:txBody>
      </p:sp>
      <p:sp>
        <p:nvSpPr>
          <p:cNvPr id="10" name="Text 8"/>
          <p:cNvSpPr txBox="1"/>
          <p:nvPr/>
        </p:nvSpPr>
        <p:spPr>
          <a:xfrm>
            <a:off x="3760150" y="1742570"/>
            <a:ext cx="3702038" cy="763326"/>
          </a:xfrm>
          <a:prstGeom prst="rect">
            <a:avLst/>
          </a:prstGeom>
          <a:noFill/>
          <a:ln/>
        </p:spPr>
        <p:txBody>
          <a:bodyPr wrap="square" lIns="0" tIns="0" rIns="0" bIns="0" rtlCol="0" anchor="t"/>
          <a:lstStyle/>
          <a:p>
            <a:pPr indent="0" marL="0">
              <a:lnSpc>
                <a:spcPct val="128000"/>
              </a:lnSpc>
              <a:buNone/>
            </a:pPr>
            <a:r>
              <a:rPr lang="en-US" sz="890" dirty="0">
                <a:solidFill>
                  <a:srgbClr val="5F7183"/>
                </a:solidFill>
                <a:latin typeface="Arial" pitchFamily="34" charset="0"/>
                <a:ea typeface="Arial" pitchFamily="34" charset="-122"/>
                <a:cs typeface="Arial" pitchFamily="34" charset="-120"/>
              </a:rPr>
              <a:t>Đèn tín hiệu và đèn hậu LED nháy mấy trăm lần mỗi giây. Nếu khung hình rơi đúng lúc đèn tắt, camera chụp được một cái đèn đỏ đang «tắt».</a:t>
            </a:r>
            <a:endParaRPr lang="en-US" sz="890" dirty="0"/>
          </a:p>
          <a:p>
            <a:pPr indent="0" marL="0">
              <a:lnSpc>
                <a:spcPct val="128000"/>
              </a:lnSpc>
              <a:buNone/>
            </a:pPr>
            <a:r>
              <a:rPr lang="en-US" sz="820" dirty="0">
                <a:solidFill>
                  <a:srgbClr val="5F7183"/>
                </a:solidFill>
                <a:latin typeface="微軟正黑體" pitchFamily="34" charset="0"/>
                <a:ea typeface="微軟正黑體" pitchFamily="34" charset="-122"/>
                <a:cs typeface="微軟正黑體" pitchFamily="34" charset="-120"/>
              </a:rPr>
              <a:t>紅綠燈和 LED 尾燈每秒閃好幾百次。如果剛好在燈暗的那一瞬間拍，相機就拍到一個「沒亮」的紅燈。</a:t>
            </a:r>
            <a:endParaRPr lang="en-US" sz="890" dirty="0"/>
          </a:p>
        </p:txBody>
      </p:sp>
      <p:sp>
        <p:nvSpPr>
          <p:cNvPr id="11" name="Shape 9"/>
          <p:cNvSpPr/>
          <p:nvPr/>
        </p:nvSpPr>
        <p:spPr>
          <a:xfrm>
            <a:off x="1681812" y="2806268"/>
            <a:ext cx="5780375" cy="441647"/>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1811708" y="2858226"/>
            <a:ext cx="5520583" cy="350719"/>
          </a:xfrm>
          <a:prstGeom prst="rect">
            <a:avLst/>
          </a:prstGeom>
          <a:noFill/>
          <a:ln/>
        </p:spPr>
        <p:txBody>
          <a:bodyPr wrap="square" lIns="0" tIns="0" rIns="0" bIns="0" rtlCol="0" anchor="t"/>
          <a:lstStyle/>
          <a:p>
            <a:pPr indent="0" marL="0">
              <a:lnSpc>
                <a:spcPct val="116000"/>
              </a:lnSpc>
              <a:buNone/>
            </a:pPr>
            <a:r>
              <a:rPr lang="en-US" sz="89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89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890" dirty="0"/>
          </a:p>
        </p:txBody>
      </p:sp>
      <p:pic>
        <p:nvPicPr>
          <p:cNvPr id="14" name="Image 0" descr="/Users/tsengchenghsun/Class/carClass/Claude outputs/第五週(10-8)/src/logo.png">    </p:cNvPr>
          <p:cNvPicPr>
            <a:picLocks noChangeAspect="1"/>
          </p:cNvPicPr>
          <p:nvPr/>
        </p:nvPicPr>
        <p:blipFill>
          <a:blip r:embed="rId1"/>
          <a:stretch>
            <a:fillRect/>
          </a:stretch>
        </p:blipFill>
        <p:spPr>
          <a:xfrm>
            <a:off x="6663327" y="3338842"/>
            <a:ext cx="779376" cy="172200"/>
          </a:xfrm>
          <a:prstGeom prst="rect">
            <a:avLst/>
          </a:prstGeom>
        </p:spPr>
      </p:pic>
      <p:sp>
        <p:nvSpPr>
          <p:cNvPr id="15" name="Text 11"/>
          <p:cNvSpPr txBox="1"/>
          <p:nvPr/>
        </p:nvSpPr>
        <p:spPr>
          <a:xfrm>
            <a:off x="1402536" y="3390800"/>
            <a:ext cx="584532"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5 / 14</a:t>
            </a:r>
            <a:endParaRPr lang="en-US" sz="640" dirty="0"/>
          </a:p>
        </p:txBody>
      </p:sp>
      <p:sp>
        <p:nvSpPr>
          <p:cNvPr id="16" name="Text 12"/>
          <p:cNvSpPr txBox="1"/>
          <p:nvPr/>
        </p:nvSpPr>
        <p:spPr>
          <a:xfrm>
            <a:off x="2006553" y="3390800"/>
            <a:ext cx="1428857"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Tiết 2 · 第 2 節</a:t>
            </a:r>
            <a:endParaRPr lang="en-US" sz="64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130753" y="-947729"/>
            <a:ext cx="2987610" cy="2987610"/>
          </a:xfrm>
          <a:prstGeom prst="ellipse">
            <a:avLst/>
          </a:prstGeom>
          <a:solidFill>
            <a:srgbClr val="13314F"/>
          </a:solidFill>
          <a:ln w="12700">
            <a:solidFill>
              <a:srgbClr val="13314F"/>
            </a:solidFill>
            <a:prstDash val="solid"/>
          </a:ln>
        </p:spPr>
      </p:sp>
      <p:sp>
        <p:nvSpPr>
          <p:cNvPr id="3" name="Shape 1"/>
          <p:cNvSpPr/>
          <p:nvPr/>
        </p:nvSpPr>
        <p:spPr>
          <a:xfrm>
            <a:off x="7104973" y="1520297"/>
            <a:ext cx="1688649" cy="1688649"/>
          </a:xfrm>
          <a:prstGeom prst="ellipse">
            <a:avLst/>
          </a:prstGeom>
          <a:solidFill>
            <a:srgbClr val="007F72">
              <a:alpha val="28000"/>
            </a:srgbClr>
          </a:solidFill>
          <a:ln/>
        </p:spPr>
      </p:sp>
      <p:sp>
        <p:nvSpPr>
          <p:cNvPr id="4" name="Text 2"/>
          <p:cNvSpPr txBox="1"/>
          <p:nvPr/>
        </p:nvSpPr>
        <p:spPr>
          <a:xfrm>
            <a:off x="1681812" y="1228031"/>
            <a:ext cx="3247402" cy="22082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Phần 2 / 3</a:t>
            </a:r>
            <a:endParaRPr lang="en-US" sz="960" dirty="0"/>
          </a:p>
        </p:txBody>
      </p:sp>
      <p:sp>
        <p:nvSpPr>
          <p:cNvPr id="5" name="Text 3"/>
          <p:cNvSpPr txBox="1"/>
          <p:nvPr/>
        </p:nvSpPr>
        <p:spPr>
          <a:xfrm>
            <a:off x="1681812" y="1481328"/>
            <a:ext cx="5195843" cy="844324"/>
          </a:xfrm>
          <a:prstGeom prst="rect">
            <a:avLst/>
          </a:prstGeom>
          <a:noFill/>
          <a:ln/>
        </p:spPr>
        <p:txBody>
          <a:bodyPr wrap="square" lIns="0" tIns="0" rIns="0" bIns="0" rtlCol="0" anchor="t"/>
          <a:lstStyle/>
          <a:p>
            <a:pPr indent="0" marL="0">
              <a:lnSpc>
                <a:spcPct val="118000"/>
              </a:lnSpc>
              <a:buNone/>
            </a:pPr>
            <a:r>
              <a:rPr lang="en-US" sz="2060" b="1" dirty="0">
                <a:solidFill>
                  <a:srgbClr val="FFFFFF"/>
                </a:solidFill>
                <a:latin typeface="Arial" pitchFamily="34" charset="0"/>
                <a:ea typeface="Arial" pitchFamily="34" charset="-122"/>
                <a:cs typeface="Arial" pitchFamily="34" charset="-120"/>
              </a:rPr>
              <a:t>Lidar: bước sóng, an toàn mắt, và mấy lần phản hồi</a:t>
            </a:r>
            <a:endParaRPr lang="en-US" sz="2060" dirty="0"/>
          </a:p>
          <a:p>
            <a:pPr indent="0" marL="0">
              <a:lnSpc>
                <a:spcPct val="118000"/>
              </a:lnSpc>
              <a:buNone/>
            </a:pPr>
            <a:r>
              <a:rPr lang="en-US" sz="1210" dirty="0">
                <a:solidFill>
                  <a:srgbClr val="AFC3D4"/>
                </a:solidFill>
                <a:latin typeface="微軟正黑體" pitchFamily="34" charset="0"/>
                <a:ea typeface="微軟正黑體" pitchFamily="34" charset="-122"/>
                <a:cs typeface="微軟正黑體" pitchFamily="34" charset="-120"/>
              </a:rPr>
              <a:t>光達：波長、眼睛安全，還有幾次回波</a:t>
            </a:r>
            <a:endParaRPr lang="en-US" sz="2060" dirty="0"/>
          </a:p>
        </p:txBody>
      </p:sp>
      <p:sp>
        <p:nvSpPr>
          <p:cNvPr id="6" name="Text 4"/>
          <p:cNvSpPr txBox="1"/>
          <p:nvPr/>
        </p:nvSpPr>
        <p:spPr>
          <a:xfrm>
            <a:off x="1681812" y="2403590"/>
            <a:ext cx="5195843" cy="454636"/>
          </a:xfrm>
          <a:prstGeom prst="rect">
            <a:avLst/>
          </a:prstGeom>
          <a:noFill/>
          <a:ln/>
        </p:spPr>
        <p:txBody>
          <a:bodyPr wrap="square" lIns="0" tIns="0" rIns="0" bIns="0" rtlCol="0" anchor="t"/>
          <a:lstStyle/>
          <a:p>
            <a:pPr indent="0" marL="0">
              <a:lnSpc>
                <a:spcPct val="120000"/>
              </a:lnSpc>
              <a:buNone/>
            </a:pPr>
            <a:r>
              <a:rPr lang="en-US" sz="960" dirty="0">
                <a:solidFill>
                  <a:srgbClr val="AFC3D4"/>
                </a:solidFill>
                <a:latin typeface="Arial" pitchFamily="34" charset="0"/>
                <a:ea typeface="Arial" pitchFamily="34" charset="-122"/>
                <a:cs typeface="Arial" pitchFamily="34" charset="-120"/>
              </a:rPr>
              <a:t>Ba dòng nữa, ít người đọc</a:t>
            </a:r>
            <a:endParaRPr lang="en-US" sz="960" dirty="0"/>
          </a:p>
          <a:p>
            <a:pPr indent="0" marL="0">
              <a:lnSpc>
                <a:spcPct val="120000"/>
              </a:lnSpc>
              <a:buNone/>
            </a:pPr>
            <a:r>
              <a:rPr lang="en-US" sz="850" dirty="0">
                <a:solidFill>
                  <a:srgbClr val="8AA0B4"/>
                </a:solidFill>
                <a:latin typeface="微軟正黑體" pitchFamily="34" charset="0"/>
                <a:ea typeface="微軟正黑體" pitchFamily="34" charset="-122"/>
                <a:cs typeface="微軟正黑體" pitchFamily="34" charset="-120"/>
              </a:rPr>
              <a:t>另外三行，一樣很少人讀</a:t>
            </a:r>
            <a:endParaRPr lang="en-US" sz="960" dirty="0"/>
          </a:p>
        </p:txBody>
      </p:sp>
      <p:sp>
        <p:nvSpPr>
          <p:cNvPr id="8" name="Text 5"/>
          <p:cNvSpPr txBox="1"/>
          <p:nvPr/>
        </p:nvSpPr>
        <p:spPr>
          <a:xfrm>
            <a:off x="1402536" y="3390800"/>
            <a:ext cx="584532" cy="181855"/>
          </a:xfrm>
          <a:prstGeom prst="rect">
            <a:avLst/>
          </a:prstGeom>
          <a:noFill/>
          <a:ln/>
        </p:spPr>
        <p:txBody>
          <a:bodyPr wrap="square" lIns="0" tIns="0" rIns="0" bIns="0" rtlCol="0" anchor="ctr"/>
          <a:lstStyle/>
          <a:p>
            <a:pPr indent="0" marL="0">
              <a:buNone/>
            </a:pPr>
            <a:r>
              <a:rPr lang="en-US" sz="640" dirty="0">
                <a:solidFill>
                  <a:srgbClr val="9FB3C8"/>
                </a:solidFill>
                <a:latin typeface="Arial" pitchFamily="34" charset="0"/>
                <a:ea typeface="Arial" pitchFamily="34" charset="-122"/>
                <a:cs typeface="Arial" pitchFamily="34" charset="-120"/>
              </a:rPr>
              <a:t>6 / 14</a:t>
            </a:r>
            <a:endParaRPr lang="en-US" sz="640" dirty="0"/>
          </a:p>
        </p:txBody>
      </p:sp>
      <p:sp>
        <p:nvSpPr>
          <p:cNvPr id="9" name="Text 6"/>
          <p:cNvSpPr txBox="1"/>
          <p:nvPr/>
        </p:nvSpPr>
        <p:spPr>
          <a:xfrm>
            <a:off x="2006553" y="3390800"/>
            <a:ext cx="1428857" cy="181855"/>
          </a:xfrm>
          <a:prstGeom prst="rect">
            <a:avLst/>
          </a:prstGeom>
          <a:noFill/>
          <a:ln/>
        </p:spPr>
        <p:txBody>
          <a:bodyPr wrap="square" lIns="0" tIns="0" rIns="0" bIns="0" rtlCol="0" anchor="ctr"/>
          <a:lstStyle/>
          <a:p>
            <a:pPr indent="0" marL="0">
              <a:buNone/>
            </a:pPr>
            <a:r>
              <a:rPr lang="en-US" sz="640" dirty="0">
                <a:solidFill>
                  <a:srgbClr val="9FB3C8"/>
                </a:solidFill>
                <a:latin typeface="Arial" pitchFamily="34" charset="0"/>
                <a:ea typeface="Arial" pitchFamily="34" charset="-122"/>
                <a:cs typeface="Arial" pitchFamily="34" charset="-120"/>
              </a:rPr>
              <a:t>Tiết 2 · 第 2 節</a:t>
            </a:r>
            <a:endParaRPr lang="en-US" sz="64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1681812" y="234326"/>
            <a:ext cx="5780375" cy="597522"/>
          </a:xfrm>
          <a:prstGeom prst="rect">
            <a:avLst/>
          </a:prstGeom>
          <a:noFill/>
          <a:ln/>
        </p:spPr>
        <p:txBody>
          <a:bodyPr wrap="square" lIns="0" tIns="0" rIns="0" bIns="0" rtlCol="0" anchor="t"/>
          <a:lstStyle/>
          <a:p>
            <a:pPr indent="0" marL="0">
              <a:lnSpc>
                <a:spcPct val="116000"/>
              </a:lnSpc>
              <a:buNone/>
            </a:pPr>
            <a:r>
              <a:rPr lang="en-US" sz="15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1560" dirty="0"/>
          </a:p>
          <a:p>
            <a:pPr indent="0" marL="0">
              <a:lnSpc>
                <a:spcPct val="116000"/>
              </a:lnSpc>
              <a:buNone/>
            </a:pPr>
            <a:r>
              <a:rPr lang="en-US" sz="96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1560" dirty="0"/>
          </a:p>
        </p:txBody>
      </p:sp>
      <p:sp>
        <p:nvSpPr>
          <p:cNvPr id="3" name="Shape 1"/>
          <p:cNvSpPr/>
          <p:nvPr/>
        </p:nvSpPr>
        <p:spPr>
          <a:xfrm>
            <a:off x="1681812" y="831848"/>
            <a:ext cx="5780375" cy="506595"/>
          </a:xfrm>
          <a:prstGeom prst="roundRect">
            <a:avLst>
              <a:gd name="adj" fmla="val 10256"/>
            </a:avLst>
          </a:prstGeom>
          <a:solidFill>
            <a:srgbClr val="EAF6F4"/>
          </a:solidFill>
          <a:ln/>
        </p:spPr>
      </p:sp>
      <p:sp>
        <p:nvSpPr>
          <p:cNvPr id="4" name="Text 2"/>
          <p:cNvSpPr txBox="1"/>
          <p:nvPr/>
        </p:nvSpPr>
        <p:spPr>
          <a:xfrm>
            <a:off x="1785729" y="883806"/>
            <a:ext cx="5572542" cy="402678"/>
          </a:xfrm>
          <a:prstGeom prst="rect">
            <a:avLst/>
          </a:prstGeom>
          <a:noFill/>
          <a:ln/>
        </p:spPr>
        <p:txBody>
          <a:bodyPr wrap="square" lIns="0" tIns="0" rIns="0" bIns="0" rtlCol="0" anchor="t"/>
          <a:lstStyle/>
          <a:p>
            <a:pPr indent="0" marL="0">
              <a:lnSpc>
                <a:spcPct val="110000"/>
              </a:lnSpc>
              <a:buNone/>
            </a:pPr>
            <a:r>
              <a:rPr lang="en-US" sz="82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820" dirty="0"/>
          </a:p>
          <a:p>
            <a:pPr indent="0" marL="0">
              <a:lnSpc>
                <a:spcPct val="110000"/>
              </a:lnSpc>
              <a:buNone/>
            </a:pPr>
            <a:r>
              <a:rPr lang="en-US" sz="71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82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1681812" y="1416380"/>
          <a:ext cx="5780375" cy="914400"/>
        </p:xfrm>
        <a:graphic>
          <a:graphicData uri="http://schemas.openxmlformats.org/drawingml/2006/table">
            <a:tbl>
              <a:tblPr/>
              <a:tblGrid>
                <a:gridCol w="1445094"/>
                <a:gridCol w="1445094"/>
                <a:gridCol w="1445094"/>
                <a:gridCol w="1445094"/>
              </a:tblGrid>
              <a:tr h="384048">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Bước sóng</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波長</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Ai dùng</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誰在用</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Được lợi gì</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好處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Trả giá gì</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代價</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84048">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905 nm</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905 奈米</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Phổ biến nhất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最常見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Cảm biến silic, rẻ</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用矽做接收器，便宜</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Tới thẳng võng mạc nên công suất bị siết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會直達視網膜，功率被法規壓住</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84048">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865 nm</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865 奈米</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Ouster OS1</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Ouster OS1</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Cùng họ với 905</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跟 905 同一類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Giống trên</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同上</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84048">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1550 nm</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1550 奈米</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Lidar tầm xa cao cấp</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高階長距光達</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Cảm biến InGaAs, đắt hơn nhiều</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1681812" y="3065999"/>
            <a:ext cx="5780375" cy="324740"/>
          </a:xfrm>
          <a:prstGeom prst="rect">
            <a:avLst/>
          </a:prstGeom>
          <a:noFill/>
          <a:ln/>
        </p:spPr>
        <p:txBody>
          <a:bodyPr wrap="square" lIns="0" tIns="0" rIns="0" bIns="0" rtlCol="0" anchor="t"/>
          <a:lstStyle/>
          <a:p>
            <a:pPr indent="0" marL="0">
              <a:lnSpc>
                <a:spcPct val="116000"/>
              </a:lnSpc>
              <a:buNone/>
            </a:pPr>
            <a:r>
              <a:rPr lang="en-US" sz="850" b="1" dirty="0">
                <a:solidFill>
                  <a:srgbClr val="007F72"/>
                </a:solidFill>
                <a:latin typeface="Arial" pitchFamily="34" charset="0"/>
                <a:ea typeface="Arial" pitchFamily="34" charset="-122"/>
                <a:cs typeface="Arial" pitchFamily="34" charset="-120"/>
              </a:rPr>
              <a:t>Một dòng số, ba chuyện: an toàn, nhìn xa, và giá.</a:t>
            </a:r>
            <a:endParaRPr lang="en-US" sz="850" dirty="0"/>
          </a:p>
          <a:p>
            <a:pPr indent="0" marL="0">
              <a:lnSpc>
                <a:spcPct val="116000"/>
              </a:lnSpc>
              <a:buNone/>
            </a:pPr>
            <a:r>
              <a:rPr lang="en-US" sz="7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85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6663327" y="3338842"/>
            <a:ext cx="779376" cy="172200"/>
          </a:xfrm>
          <a:prstGeom prst="rect">
            <a:avLst/>
          </a:prstGeom>
        </p:spPr>
      </p:pic>
      <p:sp>
        <p:nvSpPr>
          <p:cNvPr id="9" name="Text 4"/>
          <p:cNvSpPr txBox="1"/>
          <p:nvPr/>
        </p:nvSpPr>
        <p:spPr>
          <a:xfrm>
            <a:off x="1402536" y="3390800"/>
            <a:ext cx="584532"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7 / 14</a:t>
            </a:r>
            <a:endParaRPr lang="en-US" sz="640" dirty="0"/>
          </a:p>
        </p:txBody>
      </p:sp>
      <p:sp>
        <p:nvSpPr>
          <p:cNvPr id="10" name="Text 5"/>
          <p:cNvSpPr txBox="1"/>
          <p:nvPr/>
        </p:nvSpPr>
        <p:spPr>
          <a:xfrm>
            <a:off x="2006553" y="3390800"/>
            <a:ext cx="1428857"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Tiết 2 · 第 2 節</a:t>
            </a:r>
            <a:endParaRPr lang="en-US" sz="64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1681812" y="325253"/>
            <a:ext cx="5780375" cy="194844"/>
          </a:xfrm>
          <a:prstGeom prst="rect">
            <a:avLst/>
          </a:prstGeom>
          <a:noFill/>
          <a:ln/>
        </p:spPr>
        <p:txBody>
          <a:bodyPr wrap="square" lIns="0" tIns="0" rIns="0" bIns="0" rtlCol="0" anchor="ctr"/>
          <a:lstStyle/>
          <a:p>
            <a:pPr indent="0" marL="0">
              <a:buNone/>
            </a:pPr>
            <a:r>
              <a:rPr lang="en-US" sz="890" b="1" dirty="0">
                <a:solidFill>
                  <a:srgbClr val="007F72"/>
                </a:solidFill>
                <a:latin typeface="Arial" pitchFamily="34" charset="0"/>
                <a:ea typeface="Arial" pitchFamily="34" charset="-122"/>
                <a:cs typeface="Arial" pitchFamily="34" charset="-120"/>
              </a:rPr>
              <a:t>An toàn mắt · 眼睛安全</a:t>
            </a:r>
            <a:endParaRPr lang="en-US" sz="890" dirty="0"/>
          </a:p>
        </p:txBody>
      </p:sp>
      <p:sp>
        <p:nvSpPr>
          <p:cNvPr id="3" name="Shape 1"/>
          <p:cNvSpPr/>
          <p:nvPr/>
        </p:nvSpPr>
        <p:spPr>
          <a:xfrm>
            <a:off x="1681812" y="809116"/>
            <a:ext cx="1753597" cy="1786071"/>
          </a:xfrm>
          <a:prstGeom prst="roundRect">
            <a:avLst>
              <a:gd name="adj" fmla="val 4444"/>
            </a:avLst>
          </a:prstGeom>
          <a:solidFill>
            <a:srgbClr val="F4F7FA"/>
          </a:solidFill>
          <a:ln w="12700">
            <a:solidFill>
              <a:srgbClr val="DBE3EA"/>
            </a:solidFill>
            <a:prstDash val="solid"/>
          </a:ln>
        </p:spPr>
      </p:sp>
      <p:sp>
        <p:nvSpPr>
          <p:cNvPr id="4" name="Shape 2"/>
          <p:cNvSpPr/>
          <p:nvPr/>
        </p:nvSpPr>
        <p:spPr>
          <a:xfrm flipV="1">
            <a:off x="2024218" y="923893"/>
            <a:ext cx="864344" cy="778259"/>
          </a:xfrm>
          <a:prstGeom prst="line">
            <a:avLst/>
          </a:prstGeom>
          <a:noFill/>
          <a:ln w="17780">
            <a:solidFill>
              <a:srgbClr val="2E6E4E"/>
            </a:solidFill>
            <a:prstDash val="solid"/>
          </a:ln>
        </p:spPr>
      </p:sp>
      <p:sp>
        <p:nvSpPr>
          <p:cNvPr id="5" name="Shape 3"/>
          <p:cNvSpPr/>
          <p:nvPr/>
        </p:nvSpPr>
        <p:spPr>
          <a:xfrm flipV="1">
            <a:off x="2024218" y="1156114"/>
            <a:ext cx="1026947" cy="546037"/>
          </a:xfrm>
          <a:prstGeom prst="line">
            <a:avLst/>
          </a:prstGeom>
          <a:noFill/>
          <a:ln w="17780">
            <a:solidFill>
              <a:srgbClr val="2E6E4E"/>
            </a:solidFill>
            <a:prstDash val="solid"/>
          </a:ln>
        </p:spPr>
      </p:sp>
      <p:sp>
        <p:nvSpPr>
          <p:cNvPr id="6" name="Shape 4"/>
          <p:cNvSpPr/>
          <p:nvPr/>
        </p:nvSpPr>
        <p:spPr>
          <a:xfrm flipV="1">
            <a:off x="2024218" y="1420775"/>
            <a:ext cx="1128541" cy="281377"/>
          </a:xfrm>
          <a:prstGeom prst="line">
            <a:avLst/>
          </a:prstGeom>
          <a:noFill/>
          <a:ln w="17780">
            <a:solidFill>
              <a:srgbClr val="2E6E4E"/>
            </a:solidFill>
            <a:prstDash val="solid"/>
          </a:ln>
        </p:spPr>
      </p:sp>
      <p:sp>
        <p:nvSpPr>
          <p:cNvPr id="7" name="Shape 5"/>
          <p:cNvSpPr/>
          <p:nvPr/>
        </p:nvSpPr>
        <p:spPr>
          <a:xfrm>
            <a:off x="2024218" y="1702151"/>
            <a:ext cx="1163089" cy="0"/>
          </a:xfrm>
          <a:prstGeom prst="line">
            <a:avLst/>
          </a:prstGeom>
          <a:noFill/>
          <a:ln w="17780">
            <a:solidFill>
              <a:srgbClr val="2E6E4E"/>
            </a:solidFill>
            <a:prstDash val="solid"/>
          </a:ln>
        </p:spPr>
      </p:sp>
      <p:sp>
        <p:nvSpPr>
          <p:cNvPr id="8" name="Shape 6"/>
          <p:cNvSpPr/>
          <p:nvPr/>
        </p:nvSpPr>
        <p:spPr>
          <a:xfrm>
            <a:off x="2024218" y="1702151"/>
            <a:ext cx="1026947" cy="546037"/>
          </a:xfrm>
          <a:prstGeom prst="line">
            <a:avLst/>
          </a:prstGeom>
          <a:noFill/>
          <a:ln w="17780">
            <a:solidFill>
              <a:srgbClr val="2E6E4E"/>
            </a:solidFill>
            <a:prstDash val="solid"/>
          </a:ln>
        </p:spPr>
      </p:sp>
      <p:sp>
        <p:nvSpPr>
          <p:cNvPr id="9" name="Shape 7"/>
          <p:cNvSpPr/>
          <p:nvPr/>
        </p:nvSpPr>
        <p:spPr>
          <a:xfrm>
            <a:off x="2024218" y="1702151"/>
            <a:ext cx="864344" cy="778259"/>
          </a:xfrm>
          <a:prstGeom prst="line">
            <a:avLst/>
          </a:prstGeom>
          <a:noFill/>
          <a:ln w="17780">
            <a:solidFill>
              <a:srgbClr val="2E6E4E"/>
            </a:solidFill>
            <a:prstDash val="solid"/>
          </a:ln>
        </p:spPr>
      </p:sp>
      <p:sp>
        <p:nvSpPr>
          <p:cNvPr id="10" name="Shape 8"/>
          <p:cNvSpPr/>
          <p:nvPr/>
        </p:nvSpPr>
        <p:spPr>
          <a:xfrm>
            <a:off x="1969207" y="1647140"/>
            <a:ext cx="110022" cy="110022"/>
          </a:xfrm>
          <a:prstGeom prst="ellipse">
            <a:avLst/>
          </a:prstGeom>
          <a:solidFill>
            <a:srgbClr val="2E6E4E"/>
          </a:solidFill>
          <a:ln/>
        </p:spPr>
      </p:sp>
      <p:sp>
        <p:nvSpPr>
          <p:cNvPr id="11" name="Shape 9"/>
          <p:cNvSpPr/>
          <p:nvPr/>
        </p:nvSpPr>
        <p:spPr>
          <a:xfrm>
            <a:off x="2758181" y="1826156"/>
            <a:ext cx="157174" cy="157174"/>
          </a:xfrm>
          <a:prstGeom prst="roundRect">
            <a:avLst>
              <a:gd name="adj" fmla="val 20000"/>
            </a:avLst>
          </a:prstGeom>
          <a:solidFill>
            <a:srgbClr val="D9463E"/>
          </a:solidFill>
          <a:ln/>
        </p:spPr>
      </p:sp>
      <p:sp>
        <p:nvSpPr>
          <p:cNvPr id="12" name="Text 10"/>
          <p:cNvSpPr txBox="1"/>
          <p:nvPr/>
        </p:nvSpPr>
        <p:spPr>
          <a:xfrm>
            <a:off x="3760150" y="963355"/>
            <a:ext cx="3702038" cy="714266"/>
          </a:xfrm>
          <a:prstGeom prst="rect">
            <a:avLst/>
          </a:prstGeom>
          <a:noFill/>
          <a:ln/>
        </p:spPr>
        <p:txBody>
          <a:bodyPr wrap="square" lIns="0" tIns="0" rIns="0" bIns="0" rtlCol="0" anchor="t"/>
          <a:lstStyle/>
          <a:p>
            <a:pPr indent="0" marL="0">
              <a:lnSpc>
                <a:spcPct val="120000"/>
              </a:lnSpc>
              <a:buNone/>
            </a:pPr>
            <a:r>
              <a:rPr lang="en-US" sz="163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630" dirty="0"/>
          </a:p>
          <a:p>
            <a:pPr indent="0" marL="0">
              <a:lnSpc>
                <a:spcPct val="120000"/>
              </a:lnSpc>
              <a:buNone/>
            </a:pPr>
            <a:r>
              <a:rPr lang="en-US" sz="990"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630" dirty="0"/>
          </a:p>
        </p:txBody>
      </p:sp>
      <p:sp>
        <p:nvSpPr>
          <p:cNvPr id="13" name="Text 11"/>
          <p:cNvSpPr txBox="1"/>
          <p:nvPr/>
        </p:nvSpPr>
        <p:spPr>
          <a:xfrm>
            <a:off x="3760150" y="1742570"/>
            <a:ext cx="3702038" cy="763326"/>
          </a:xfrm>
          <a:prstGeom prst="rect">
            <a:avLst/>
          </a:prstGeom>
          <a:noFill/>
          <a:ln/>
        </p:spPr>
        <p:txBody>
          <a:bodyPr wrap="square" lIns="0" tIns="0" rIns="0" bIns="0" rtlCol="0" anchor="t"/>
          <a:lstStyle/>
          <a:p>
            <a:pPr indent="0" marL="0">
              <a:lnSpc>
                <a:spcPct val="128000"/>
              </a:lnSpc>
              <a:buNone/>
            </a:pPr>
            <a:r>
              <a:rPr lang="en-US" sz="890" dirty="0">
                <a:solidFill>
                  <a:srgbClr val="5F7183"/>
                </a:solidFill>
                <a:latin typeface="Arial" pitchFamily="34" charset="0"/>
                <a:ea typeface="Arial" pitchFamily="34" charset="-122"/>
                <a:cs typeface="Arial" pitchFamily="34" charset="-120"/>
              </a:rPr>
              <a:t>OS1 ghi «Class 1 eye-safe per IEC/EN 60825-1». Nghĩa là trong mọi điều kiện sử dụng bình thường, nhìn thẳng vào nó cũng không hại mắt.</a:t>
            </a:r>
            <a:endParaRPr lang="en-US" sz="890" dirty="0"/>
          </a:p>
          <a:p>
            <a:pPr indent="0" marL="0">
              <a:lnSpc>
                <a:spcPct val="128000"/>
              </a:lnSpc>
              <a:buNone/>
            </a:pPr>
            <a:r>
              <a:rPr lang="en-US" sz="820" dirty="0">
                <a:solidFill>
                  <a:srgbClr val="5F7183"/>
                </a:solidFill>
                <a:latin typeface="微軟正黑體" pitchFamily="34" charset="0"/>
                <a:ea typeface="微軟正黑體" pitchFamily="34" charset="-122"/>
                <a:cs typeface="微軟正黑體" pitchFamily="34" charset="-120"/>
              </a:rPr>
              <a:t>OS1 寫「Class 1 eye-safe per IEC/EN 60825-1」。意思是在正常使用的情況下，就算直視它也不會傷到眼睛。</a:t>
            </a:r>
            <a:endParaRPr lang="en-US" sz="890" dirty="0"/>
          </a:p>
        </p:txBody>
      </p:sp>
      <p:sp>
        <p:nvSpPr>
          <p:cNvPr id="14" name="Shape 12"/>
          <p:cNvSpPr/>
          <p:nvPr/>
        </p:nvSpPr>
        <p:spPr>
          <a:xfrm>
            <a:off x="1681812" y="2806268"/>
            <a:ext cx="5780375" cy="441647"/>
          </a:xfrm>
          <a:prstGeom prst="roundRect">
            <a:avLst>
              <a:gd name="adj" fmla="val 13235"/>
            </a:avLst>
          </a:prstGeom>
          <a:solidFill>
            <a:srgbClr val="FFF6E3"/>
          </a:solidFill>
          <a:ln w="12700">
            <a:solidFill>
              <a:srgbClr val="FFB020"/>
            </a:solidFill>
            <a:prstDash val="solid"/>
          </a:ln>
        </p:spPr>
      </p:sp>
      <p:sp>
        <p:nvSpPr>
          <p:cNvPr id="15" name="Text 13"/>
          <p:cNvSpPr txBox="1"/>
          <p:nvPr/>
        </p:nvSpPr>
        <p:spPr>
          <a:xfrm>
            <a:off x="1811708" y="2858226"/>
            <a:ext cx="5520583" cy="350719"/>
          </a:xfrm>
          <a:prstGeom prst="rect">
            <a:avLst/>
          </a:prstGeom>
          <a:noFill/>
          <a:ln/>
        </p:spPr>
        <p:txBody>
          <a:bodyPr wrap="square" lIns="0" tIns="0" rIns="0" bIns="0" rtlCol="0" anchor="t"/>
          <a:lstStyle/>
          <a:p>
            <a:pPr indent="0" marL="0">
              <a:lnSpc>
                <a:spcPct val="116000"/>
              </a:lnSpc>
              <a:buNone/>
            </a:pPr>
            <a:r>
              <a:rPr lang="en-US" sz="89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89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890" dirty="0"/>
          </a:p>
        </p:txBody>
      </p:sp>
      <p:pic>
        <p:nvPicPr>
          <p:cNvPr id="17" name="Image 0" descr="/Users/tsengchenghsun/Class/carClass/Claude outputs/第五週(10-8)/src/logo.png">    </p:cNvPr>
          <p:cNvPicPr>
            <a:picLocks noChangeAspect="1"/>
          </p:cNvPicPr>
          <p:nvPr/>
        </p:nvPicPr>
        <p:blipFill>
          <a:blip r:embed="rId1"/>
          <a:stretch>
            <a:fillRect/>
          </a:stretch>
        </p:blipFill>
        <p:spPr>
          <a:xfrm>
            <a:off x="6663327" y="3338842"/>
            <a:ext cx="779376" cy="172200"/>
          </a:xfrm>
          <a:prstGeom prst="rect">
            <a:avLst/>
          </a:prstGeom>
        </p:spPr>
      </p:pic>
      <p:sp>
        <p:nvSpPr>
          <p:cNvPr id="18" name="Text 14"/>
          <p:cNvSpPr txBox="1"/>
          <p:nvPr/>
        </p:nvSpPr>
        <p:spPr>
          <a:xfrm>
            <a:off x="1402536" y="3390800"/>
            <a:ext cx="584532"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8 / 14</a:t>
            </a:r>
            <a:endParaRPr lang="en-US" sz="640" dirty="0"/>
          </a:p>
        </p:txBody>
      </p:sp>
      <p:sp>
        <p:nvSpPr>
          <p:cNvPr id="19" name="Text 15"/>
          <p:cNvSpPr txBox="1"/>
          <p:nvPr/>
        </p:nvSpPr>
        <p:spPr>
          <a:xfrm>
            <a:off x="2006553" y="3390800"/>
            <a:ext cx="1428857"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Tiết 2 · 第 2 節</a:t>
            </a:r>
            <a:endParaRPr lang="en-US" sz="64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1681812" y="325253"/>
            <a:ext cx="5780375" cy="194844"/>
          </a:xfrm>
          <a:prstGeom prst="rect">
            <a:avLst/>
          </a:prstGeom>
          <a:noFill/>
          <a:ln/>
        </p:spPr>
        <p:txBody>
          <a:bodyPr wrap="square" lIns="0" tIns="0" rIns="0" bIns="0" rtlCol="0" anchor="ctr"/>
          <a:lstStyle/>
          <a:p>
            <a:pPr indent="0" marL="0">
              <a:buNone/>
            </a:pPr>
            <a:r>
              <a:rPr lang="en-US" sz="890" b="1" dirty="0">
                <a:solidFill>
                  <a:srgbClr val="007F72"/>
                </a:solidFill>
                <a:latin typeface="Arial" pitchFamily="34" charset="0"/>
                <a:ea typeface="Arial" pitchFamily="34" charset="-122"/>
                <a:cs typeface="Arial" pitchFamily="34" charset="-120"/>
              </a:rPr>
              <a:t>Số lần phản hồi · 回波次數</a:t>
            </a:r>
            <a:endParaRPr lang="en-US" sz="890" dirty="0"/>
          </a:p>
        </p:txBody>
      </p:sp>
      <p:sp>
        <p:nvSpPr>
          <p:cNvPr id="3" name="Shape 1"/>
          <p:cNvSpPr/>
          <p:nvPr/>
        </p:nvSpPr>
        <p:spPr>
          <a:xfrm>
            <a:off x="1681812" y="809116"/>
            <a:ext cx="1753597" cy="1786071"/>
          </a:xfrm>
          <a:prstGeom prst="roundRect">
            <a:avLst>
              <a:gd name="adj" fmla="val 4444"/>
            </a:avLst>
          </a:prstGeom>
          <a:solidFill>
            <a:srgbClr val="F4F7FA"/>
          </a:solidFill>
          <a:ln w="12700">
            <a:solidFill>
              <a:srgbClr val="DBE3EA"/>
            </a:solidFill>
            <a:prstDash val="solid"/>
          </a:ln>
        </p:spPr>
      </p:sp>
      <p:sp>
        <p:nvSpPr>
          <p:cNvPr id="4" name="Shape 2"/>
          <p:cNvSpPr/>
          <p:nvPr/>
        </p:nvSpPr>
        <p:spPr>
          <a:xfrm flipH="1" flipV="1">
            <a:off x="2258548" y="941642"/>
            <a:ext cx="300063" cy="444862"/>
          </a:xfrm>
          <a:prstGeom prst="line">
            <a:avLst/>
          </a:prstGeom>
          <a:noFill/>
          <a:ln w="15240">
            <a:solidFill>
              <a:srgbClr val="1F6F5C"/>
            </a:solidFill>
            <a:prstDash val="solid"/>
          </a:ln>
        </p:spPr>
      </p:sp>
      <p:sp>
        <p:nvSpPr>
          <p:cNvPr id="5" name="Shape 3"/>
          <p:cNvSpPr/>
          <p:nvPr/>
        </p:nvSpPr>
        <p:spPr>
          <a:xfrm flipH="1" flipV="1">
            <a:off x="2401724" y="873350"/>
            <a:ext cx="156887" cy="513154"/>
          </a:xfrm>
          <a:prstGeom prst="line">
            <a:avLst/>
          </a:prstGeom>
          <a:noFill/>
          <a:ln w="15240">
            <a:solidFill>
              <a:srgbClr val="1F6F5C"/>
            </a:solidFill>
            <a:prstDash val="solid"/>
          </a:ln>
        </p:spPr>
      </p:sp>
      <p:sp>
        <p:nvSpPr>
          <p:cNvPr id="6" name="Shape 4"/>
          <p:cNvSpPr/>
          <p:nvPr/>
        </p:nvSpPr>
        <p:spPr>
          <a:xfrm flipV="1">
            <a:off x="2558611" y="849903"/>
            <a:ext cx="0" cy="536601"/>
          </a:xfrm>
          <a:prstGeom prst="line">
            <a:avLst/>
          </a:prstGeom>
          <a:noFill/>
          <a:ln w="15240">
            <a:solidFill>
              <a:srgbClr val="1F6F5C"/>
            </a:solidFill>
            <a:prstDash val="solid"/>
          </a:ln>
        </p:spPr>
      </p:sp>
      <p:sp>
        <p:nvSpPr>
          <p:cNvPr id="7" name="Shape 5"/>
          <p:cNvSpPr/>
          <p:nvPr/>
        </p:nvSpPr>
        <p:spPr>
          <a:xfrm flipV="1">
            <a:off x="2558611" y="873350"/>
            <a:ext cx="156887" cy="513154"/>
          </a:xfrm>
          <a:prstGeom prst="line">
            <a:avLst/>
          </a:prstGeom>
          <a:noFill/>
          <a:ln w="15240">
            <a:solidFill>
              <a:srgbClr val="1F6F5C"/>
            </a:solidFill>
            <a:prstDash val="solid"/>
          </a:ln>
        </p:spPr>
      </p:sp>
      <p:sp>
        <p:nvSpPr>
          <p:cNvPr id="8" name="Shape 6"/>
          <p:cNvSpPr/>
          <p:nvPr/>
        </p:nvSpPr>
        <p:spPr>
          <a:xfrm flipV="1">
            <a:off x="2558611" y="941642"/>
            <a:ext cx="300063" cy="444862"/>
          </a:xfrm>
          <a:prstGeom prst="line">
            <a:avLst/>
          </a:prstGeom>
          <a:noFill/>
          <a:ln w="15240">
            <a:solidFill>
              <a:srgbClr val="1F6F5C"/>
            </a:solidFill>
            <a:prstDash val="solid"/>
          </a:ln>
        </p:spPr>
      </p:sp>
      <p:sp>
        <p:nvSpPr>
          <p:cNvPr id="9" name="Shape 7"/>
          <p:cNvSpPr/>
          <p:nvPr/>
        </p:nvSpPr>
        <p:spPr>
          <a:xfrm>
            <a:off x="2514602" y="1342495"/>
            <a:ext cx="88018" cy="88018"/>
          </a:xfrm>
          <a:prstGeom prst="ellipse">
            <a:avLst/>
          </a:prstGeom>
          <a:solidFill>
            <a:srgbClr val="1F6F5C"/>
          </a:solidFill>
          <a:ln/>
        </p:spPr>
      </p:sp>
      <p:sp>
        <p:nvSpPr>
          <p:cNvPr id="10" name="Shape 8"/>
          <p:cNvSpPr/>
          <p:nvPr/>
        </p:nvSpPr>
        <p:spPr>
          <a:xfrm flipH="1" flipV="1">
            <a:off x="2033736" y="2032492"/>
            <a:ext cx="524875" cy="111566"/>
          </a:xfrm>
          <a:prstGeom prst="line">
            <a:avLst/>
          </a:prstGeom>
          <a:noFill/>
          <a:ln w="15240">
            <a:solidFill>
              <a:srgbClr val="1F6F5C"/>
            </a:solidFill>
            <a:prstDash val="solid"/>
          </a:ln>
        </p:spPr>
      </p:sp>
      <p:sp>
        <p:nvSpPr>
          <p:cNvPr id="11" name="Shape 9"/>
          <p:cNvSpPr/>
          <p:nvPr/>
        </p:nvSpPr>
        <p:spPr>
          <a:xfrm flipH="1" flipV="1">
            <a:off x="2220917" y="1727041"/>
            <a:ext cx="337694" cy="417017"/>
          </a:xfrm>
          <a:prstGeom prst="line">
            <a:avLst/>
          </a:prstGeom>
          <a:noFill/>
          <a:ln w="15240">
            <a:solidFill>
              <a:srgbClr val="1F6F5C"/>
            </a:solidFill>
            <a:prstDash val="solid"/>
          </a:ln>
        </p:spPr>
      </p:sp>
      <p:sp>
        <p:nvSpPr>
          <p:cNvPr id="12" name="Shape 10"/>
          <p:cNvSpPr/>
          <p:nvPr/>
        </p:nvSpPr>
        <p:spPr>
          <a:xfrm flipV="1">
            <a:off x="2558611" y="1607457"/>
            <a:ext cx="0" cy="536601"/>
          </a:xfrm>
          <a:prstGeom prst="line">
            <a:avLst/>
          </a:prstGeom>
          <a:noFill/>
          <a:ln w="15240">
            <a:solidFill>
              <a:srgbClr val="1F6F5C"/>
            </a:solidFill>
            <a:prstDash val="solid"/>
          </a:ln>
        </p:spPr>
      </p:sp>
      <p:sp>
        <p:nvSpPr>
          <p:cNvPr id="13" name="Shape 11"/>
          <p:cNvSpPr/>
          <p:nvPr/>
        </p:nvSpPr>
        <p:spPr>
          <a:xfrm flipV="1">
            <a:off x="2558611" y="1727041"/>
            <a:ext cx="337694" cy="417017"/>
          </a:xfrm>
          <a:prstGeom prst="line">
            <a:avLst/>
          </a:prstGeom>
          <a:noFill/>
          <a:ln w="15240">
            <a:solidFill>
              <a:srgbClr val="1F6F5C"/>
            </a:solidFill>
            <a:prstDash val="solid"/>
          </a:ln>
        </p:spPr>
      </p:sp>
      <p:sp>
        <p:nvSpPr>
          <p:cNvPr id="14" name="Shape 12"/>
          <p:cNvSpPr/>
          <p:nvPr/>
        </p:nvSpPr>
        <p:spPr>
          <a:xfrm flipV="1">
            <a:off x="2558611" y="2032492"/>
            <a:ext cx="524875" cy="111566"/>
          </a:xfrm>
          <a:prstGeom prst="line">
            <a:avLst/>
          </a:prstGeom>
          <a:noFill/>
          <a:ln w="15240">
            <a:solidFill>
              <a:srgbClr val="1F6F5C"/>
            </a:solidFill>
            <a:prstDash val="solid"/>
          </a:ln>
        </p:spPr>
      </p:sp>
      <p:sp>
        <p:nvSpPr>
          <p:cNvPr id="15" name="Shape 13"/>
          <p:cNvSpPr/>
          <p:nvPr/>
        </p:nvSpPr>
        <p:spPr>
          <a:xfrm>
            <a:off x="2514602" y="2100049"/>
            <a:ext cx="88018" cy="88018"/>
          </a:xfrm>
          <a:prstGeom prst="ellipse">
            <a:avLst/>
          </a:prstGeom>
          <a:solidFill>
            <a:srgbClr val="1F6F5C"/>
          </a:solidFill>
          <a:ln/>
        </p:spPr>
      </p:sp>
      <p:sp>
        <p:nvSpPr>
          <p:cNvPr id="16" name="Text 14"/>
          <p:cNvSpPr txBox="1"/>
          <p:nvPr/>
        </p:nvSpPr>
        <p:spPr>
          <a:xfrm>
            <a:off x="3760150" y="963355"/>
            <a:ext cx="3702038" cy="714266"/>
          </a:xfrm>
          <a:prstGeom prst="rect">
            <a:avLst/>
          </a:prstGeom>
          <a:noFill/>
          <a:ln/>
        </p:spPr>
        <p:txBody>
          <a:bodyPr wrap="square" lIns="0" tIns="0" rIns="0" bIns="0" rtlCol="0" anchor="t"/>
          <a:lstStyle/>
          <a:p>
            <a:pPr indent="0" marL="0">
              <a:lnSpc>
                <a:spcPct val="120000"/>
              </a:lnSpc>
              <a:buNone/>
            </a:pPr>
            <a:r>
              <a:rPr lang="en-US" sz="163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630" dirty="0"/>
          </a:p>
          <a:p>
            <a:pPr indent="0" marL="0">
              <a:lnSpc>
                <a:spcPct val="120000"/>
              </a:lnSpc>
              <a:buNone/>
            </a:pPr>
            <a:r>
              <a:rPr lang="en-US" sz="990"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630" dirty="0"/>
          </a:p>
        </p:txBody>
      </p:sp>
      <p:sp>
        <p:nvSpPr>
          <p:cNvPr id="17" name="Text 15"/>
          <p:cNvSpPr txBox="1"/>
          <p:nvPr/>
        </p:nvSpPr>
        <p:spPr>
          <a:xfrm>
            <a:off x="3760150" y="1742570"/>
            <a:ext cx="3702038" cy="763326"/>
          </a:xfrm>
          <a:prstGeom prst="rect">
            <a:avLst/>
          </a:prstGeom>
          <a:noFill/>
          <a:ln/>
        </p:spPr>
        <p:txBody>
          <a:bodyPr wrap="square" lIns="0" tIns="0" rIns="0" bIns="0" rtlCol="0" anchor="t"/>
          <a:lstStyle/>
          <a:p>
            <a:pPr indent="0" marL="0">
              <a:lnSpc>
                <a:spcPct val="128000"/>
              </a:lnSpc>
              <a:buNone/>
            </a:pPr>
            <a:r>
              <a:rPr lang="en-US" sz="890" dirty="0">
                <a:solidFill>
                  <a:srgbClr val="5F7183"/>
                </a:solidFill>
                <a:latin typeface="Arial" pitchFamily="34" charset="0"/>
                <a:ea typeface="Arial" pitchFamily="34" charset="-122"/>
                <a:cs typeface="Arial" pitchFamily="34" charset="-120"/>
              </a:rPr>
              <a:t>Tia xuyên qua màn mưa, qua lá cây, qua khói bụi rồi mới chạm vật thật. Nếu cảm biến chỉ nhận một lần vọng, nó có thể coi hạt mưa là vật cản.</a:t>
            </a:r>
            <a:endParaRPr lang="en-US" sz="890" dirty="0"/>
          </a:p>
          <a:p>
            <a:pPr indent="0" marL="0">
              <a:lnSpc>
                <a:spcPct val="128000"/>
              </a:lnSpc>
              <a:buNone/>
            </a:pPr>
            <a:r>
              <a:rPr lang="en-US" sz="820" dirty="0">
                <a:solidFill>
                  <a:srgbClr val="5F7183"/>
                </a:solidFill>
                <a:latin typeface="微軟正黑體" pitchFamily="34" charset="0"/>
                <a:ea typeface="微軟正黑體" pitchFamily="34" charset="-122"/>
                <a:cs typeface="微軟正黑體" pitchFamily="34" charset="-120"/>
              </a:rPr>
              <a:t>雷射穿過雨幕、樹葉、煙塵，才打到真正的東西。如果感測器只收第一次回波，它可能把雨滴當成障礙物。</a:t>
            </a:r>
            <a:endParaRPr lang="en-US" sz="890" dirty="0"/>
          </a:p>
        </p:txBody>
      </p:sp>
      <p:sp>
        <p:nvSpPr>
          <p:cNvPr id="18" name="Shape 16"/>
          <p:cNvSpPr/>
          <p:nvPr/>
        </p:nvSpPr>
        <p:spPr>
          <a:xfrm>
            <a:off x="1681812" y="2806268"/>
            <a:ext cx="5780375" cy="441647"/>
          </a:xfrm>
          <a:prstGeom prst="roundRect">
            <a:avLst>
              <a:gd name="adj" fmla="val 13235"/>
            </a:avLst>
          </a:prstGeom>
          <a:solidFill>
            <a:srgbClr val="FFF6E3"/>
          </a:solidFill>
          <a:ln w="12700">
            <a:solidFill>
              <a:srgbClr val="FFB020"/>
            </a:solidFill>
            <a:prstDash val="solid"/>
          </a:ln>
        </p:spPr>
      </p:sp>
      <p:sp>
        <p:nvSpPr>
          <p:cNvPr id="19" name="Text 17"/>
          <p:cNvSpPr txBox="1"/>
          <p:nvPr/>
        </p:nvSpPr>
        <p:spPr>
          <a:xfrm>
            <a:off x="1811708" y="2858226"/>
            <a:ext cx="5520583" cy="350719"/>
          </a:xfrm>
          <a:prstGeom prst="rect">
            <a:avLst/>
          </a:prstGeom>
          <a:noFill/>
          <a:ln/>
        </p:spPr>
        <p:txBody>
          <a:bodyPr wrap="square" lIns="0" tIns="0" rIns="0" bIns="0" rtlCol="0" anchor="t"/>
          <a:lstStyle/>
          <a:p>
            <a:pPr indent="0" marL="0">
              <a:lnSpc>
                <a:spcPct val="116000"/>
              </a:lnSpc>
              <a:buNone/>
            </a:pPr>
            <a:r>
              <a:rPr lang="en-US" sz="89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89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890" dirty="0"/>
          </a:p>
        </p:txBody>
      </p:sp>
      <p:pic>
        <p:nvPicPr>
          <p:cNvPr id="21" name="Image 0" descr="/Users/tsengchenghsun/Class/carClass/Claude outputs/第五週(10-8)/src/logo.png">    </p:cNvPr>
          <p:cNvPicPr>
            <a:picLocks noChangeAspect="1"/>
          </p:cNvPicPr>
          <p:nvPr/>
        </p:nvPicPr>
        <p:blipFill>
          <a:blip r:embed="rId1"/>
          <a:stretch>
            <a:fillRect/>
          </a:stretch>
        </p:blipFill>
        <p:spPr>
          <a:xfrm>
            <a:off x="6663327" y="3338842"/>
            <a:ext cx="779376" cy="172200"/>
          </a:xfrm>
          <a:prstGeom prst="rect">
            <a:avLst/>
          </a:prstGeom>
        </p:spPr>
      </p:pic>
      <p:sp>
        <p:nvSpPr>
          <p:cNvPr id="22" name="Text 18"/>
          <p:cNvSpPr txBox="1"/>
          <p:nvPr/>
        </p:nvSpPr>
        <p:spPr>
          <a:xfrm>
            <a:off x="1402536" y="3390800"/>
            <a:ext cx="584532"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9 / 14</a:t>
            </a:r>
            <a:endParaRPr lang="en-US" sz="640" dirty="0"/>
          </a:p>
        </p:txBody>
      </p:sp>
      <p:sp>
        <p:nvSpPr>
          <p:cNvPr id="23" name="Text 19"/>
          <p:cNvSpPr txBox="1"/>
          <p:nvPr/>
        </p:nvSpPr>
        <p:spPr>
          <a:xfrm>
            <a:off x="2006553" y="3390800"/>
            <a:ext cx="1428857"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Tiết 2 · 第 2 節</a:t>
            </a:r>
            <a:endParaRPr lang="en-US" sz="64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130753" y="-947729"/>
            <a:ext cx="2987610" cy="2987610"/>
          </a:xfrm>
          <a:prstGeom prst="ellipse">
            <a:avLst/>
          </a:prstGeom>
          <a:solidFill>
            <a:srgbClr val="13314F"/>
          </a:solidFill>
          <a:ln w="12700">
            <a:solidFill>
              <a:srgbClr val="13314F"/>
            </a:solidFill>
            <a:prstDash val="solid"/>
          </a:ln>
        </p:spPr>
      </p:sp>
      <p:sp>
        <p:nvSpPr>
          <p:cNvPr id="3" name="Shape 1"/>
          <p:cNvSpPr/>
          <p:nvPr/>
        </p:nvSpPr>
        <p:spPr>
          <a:xfrm>
            <a:off x="7104973" y="1520297"/>
            <a:ext cx="1688649" cy="1688649"/>
          </a:xfrm>
          <a:prstGeom prst="ellipse">
            <a:avLst/>
          </a:prstGeom>
          <a:solidFill>
            <a:srgbClr val="007F72">
              <a:alpha val="28000"/>
            </a:srgbClr>
          </a:solidFill>
          <a:ln/>
        </p:spPr>
      </p:sp>
      <p:sp>
        <p:nvSpPr>
          <p:cNvPr id="4" name="Text 2"/>
          <p:cNvSpPr txBox="1"/>
          <p:nvPr/>
        </p:nvSpPr>
        <p:spPr>
          <a:xfrm>
            <a:off x="1681812" y="364222"/>
            <a:ext cx="4806155" cy="194844"/>
          </a:xfrm>
          <a:prstGeom prst="rect">
            <a:avLst/>
          </a:prstGeom>
          <a:noFill/>
          <a:ln/>
        </p:spPr>
        <p:txBody>
          <a:bodyPr wrap="square" lIns="0" tIns="0" rIns="0" bIns="0" rtlCol="0" anchor="ctr"/>
          <a:lstStyle/>
          <a:p>
            <a:pPr indent="0" marL="0">
              <a:buNone/>
            </a:pPr>
            <a:r>
              <a:rPr lang="en-US" sz="890" b="1" dirty="0">
                <a:solidFill>
                  <a:srgbClr val="FFB020"/>
                </a:solidFill>
                <a:latin typeface="Arial" pitchFamily="34" charset="0"/>
                <a:ea typeface="Arial" pitchFamily="34" charset="-122"/>
                <a:cs typeface="Arial" pitchFamily="34" charset="-120"/>
              </a:rPr>
              <a:t>Thử nhanh · 小練習（3 分鐘動手）</a:t>
            </a:r>
            <a:endParaRPr lang="en-US" sz="890" dirty="0"/>
          </a:p>
        </p:txBody>
      </p:sp>
      <p:sp>
        <p:nvSpPr>
          <p:cNvPr id="5" name="Text 3"/>
          <p:cNvSpPr txBox="1"/>
          <p:nvPr/>
        </p:nvSpPr>
        <p:spPr>
          <a:xfrm>
            <a:off x="1681812" y="585045"/>
            <a:ext cx="5715427" cy="870304"/>
          </a:xfrm>
          <a:prstGeom prst="rect">
            <a:avLst/>
          </a:prstGeom>
          <a:noFill/>
          <a:ln/>
        </p:spPr>
        <p:txBody>
          <a:bodyPr wrap="square" lIns="0" tIns="0" rIns="0" bIns="0" rtlCol="0" anchor="t"/>
          <a:lstStyle/>
          <a:p>
            <a:pPr indent="0" marL="0">
              <a:lnSpc>
                <a:spcPct val="120000"/>
              </a:lnSpc>
              <a:buNone/>
            </a:pPr>
            <a:r>
              <a:rPr lang="en-US" sz="163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1630" dirty="0"/>
          </a:p>
          <a:p>
            <a:pPr indent="0" marL="0">
              <a:lnSpc>
                <a:spcPct val="120000"/>
              </a:lnSpc>
              <a:buNone/>
            </a:pPr>
            <a:r>
              <a:rPr lang="en-US" sz="107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1630" dirty="0"/>
          </a:p>
        </p:txBody>
      </p:sp>
      <p:sp>
        <p:nvSpPr>
          <p:cNvPr id="6" name="Shape 4"/>
          <p:cNvSpPr/>
          <p:nvPr/>
        </p:nvSpPr>
        <p:spPr>
          <a:xfrm>
            <a:off x="1681812" y="1362092"/>
            <a:ext cx="5780375" cy="441647"/>
          </a:xfrm>
          <a:prstGeom prst="roundRect">
            <a:avLst>
              <a:gd name="adj" fmla="val 11765"/>
            </a:avLst>
          </a:prstGeom>
          <a:solidFill>
            <a:srgbClr val="13314F"/>
          </a:solidFill>
          <a:ln/>
        </p:spPr>
      </p:sp>
      <p:sp>
        <p:nvSpPr>
          <p:cNvPr id="7" name="Shape 5"/>
          <p:cNvSpPr/>
          <p:nvPr/>
        </p:nvSpPr>
        <p:spPr>
          <a:xfrm>
            <a:off x="1798719" y="1466008"/>
            <a:ext cx="233813" cy="233813"/>
          </a:xfrm>
          <a:prstGeom prst="ellipse">
            <a:avLst/>
          </a:prstGeom>
          <a:solidFill>
            <a:srgbClr val="00A896"/>
          </a:solidFill>
          <a:ln/>
        </p:spPr>
      </p:sp>
      <p:sp>
        <p:nvSpPr>
          <p:cNvPr id="8" name="Text 6"/>
          <p:cNvSpPr txBox="1"/>
          <p:nvPr/>
        </p:nvSpPr>
        <p:spPr>
          <a:xfrm>
            <a:off x="1798719" y="1485493"/>
            <a:ext cx="233813" cy="194844"/>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1</a:t>
            </a:r>
            <a:endParaRPr lang="en-US" sz="850" dirty="0"/>
          </a:p>
        </p:txBody>
      </p:sp>
      <p:sp>
        <p:nvSpPr>
          <p:cNvPr id="9" name="Text 7"/>
          <p:cNvSpPr txBox="1"/>
          <p:nvPr/>
        </p:nvSpPr>
        <p:spPr>
          <a:xfrm>
            <a:off x="2149438" y="1394566"/>
            <a:ext cx="5182853" cy="389688"/>
          </a:xfrm>
          <a:prstGeom prst="rect">
            <a:avLst/>
          </a:prstGeom>
          <a:noFill/>
          <a:ln/>
        </p:spPr>
        <p:txBody>
          <a:bodyPr wrap="square" lIns="0" tIns="0" rIns="0" bIns="0" rtlCol="0" anchor="t"/>
          <a:lstStyle/>
          <a:p>
            <a:pPr indent="0" marL="0">
              <a:lnSpc>
                <a:spcPct val="114000"/>
              </a:lnSpc>
              <a:buNone/>
            </a:pPr>
            <a:r>
              <a:rPr lang="en-US" sz="89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890" dirty="0"/>
          </a:p>
          <a:p>
            <a:pPr indent="0" marL="0">
              <a:lnSpc>
                <a:spcPct val="114000"/>
              </a:lnSpc>
              <a:buNone/>
            </a:pPr>
            <a:r>
              <a:rPr lang="en-US" sz="82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890" dirty="0"/>
          </a:p>
        </p:txBody>
      </p:sp>
      <p:sp>
        <p:nvSpPr>
          <p:cNvPr id="10" name="Shape 8"/>
          <p:cNvSpPr/>
          <p:nvPr/>
        </p:nvSpPr>
        <p:spPr>
          <a:xfrm>
            <a:off x="1681812" y="1868686"/>
            <a:ext cx="5780375" cy="441647"/>
          </a:xfrm>
          <a:prstGeom prst="roundRect">
            <a:avLst>
              <a:gd name="adj" fmla="val 11765"/>
            </a:avLst>
          </a:prstGeom>
          <a:solidFill>
            <a:srgbClr val="13314F"/>
          </a:solidFill>
          <a:ln/>
        </p:spPr>
      </p:sp>
      <p:sp>
        <p:nvSpPr>
          <p:cNvPr id="11" name="Shape 9"/>
          <p:cNvSpPr/>
          <p:nvPr/>
        </p:nvSpPr>
        <p:spPr>
          <a:xfrm>
            <a:off x="1798719" y="1972603"/>
            <a:ext cx="233813" cy="233813"/>
          </a:xfrm>
          <a:prstGeom prst="ellipse">
            <a:avLst/>
          </a:prstGeom>
          <a:solidFill>
            <a:srgbClr val="00A896"/>
          </a:solidFill>
          <a:ln/>
        </p:spPr>
      </p:sp>
      <p:sp>
        <p:nvSpPr>
          <p:cNvPr id="12" name="Text 10"/>
          <p:cNvSpPr txBox="1"/>
          <p:nvPr/>
        </p:nvSpPr>
        <p:spPr>
          <a:xfrm>
            <a:off x="1798719" y="1992087"/>
            <a:ext cx="233813" cy="194844"/>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2</a:t>
            </a:r>
            <a:endParaRPr lang="en-US" sz="850" dirty="0"/>
          </a:p>
        </p:txBody>
      </p:sp>
      <p:sp>
        <p:nvSpPr>
          <p:cNvPr id="13" name="Text 11"/>
          <p:cNvSpPr txBox="1"/>
          <p:nvPr/>
        </p:nvSpPr>
        <p:spPr>
          <a:xfrm>
            <a:off x="2149438" y="1901160"/>
            <a:ext cx="5182853" cy="389688"/>
          </a:xfrm>
          <a:prstGeom prst="rect">
            <a:avLst/>
          </a:prstGeom>
          <a:noFill/>
          <a:ln/>
        </p:spPr>
        <p:txBody>
          <a:bodyPr wrap="square" lIns="0" tIns="0" rIns="0" bIns="0" rtlCol="0" anchor="t"/>
          <a:lstStyle/>
          <a:p>
            <a:pPr indent="0" marL="0">
              <a:lnSpc>
                <a:spcPct val="114000"/>
              </a:lnSpc>
              <a:buNone/>
            </a:pPr>
            <a:r>
              <a:rPr lang="en-US" sz="89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890" dirty="0"/>
          </a:p>
          <a:p>
            <a:pPr indent="0" marL="0">
              <a:lnSpc>
                <a:spcPct val="114000"/>
              </a:lnSpc>
              <a:buNone/>
            </a:pPr>
            <a:r>
              <a:rPr lang="en-US" sz="82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890" dirty="0"/>
          </a:p>
        </p:txBody>
      </p:sp>
      <p:sp>
        <p:nvSpPr>
          <p:cNvPr id="14" name="Shape 12"/>
          <p:cNvSpPr/>
          <p:nvPr/>
        </p:nvSpPr>
        <p:spPr>
          <a:xfrm>
            <a:off x="1681812" y="2375281"/>
            <a:ext cx="5780375" cy="441647"/>
          </a:xfrm>
          <a:prstGeom prst="roundRect">
            <a:avLst>
              <a:gd name="adj" fmla="val 11765"/>
            </a:avLst>
          </a:prstGeom>
          <a:solidFill>
            <a:srgbClr val="13314F"/>
          </a:solidFill>
          <a:ln/>
        </p:spPr>
      </p:sp>
      <p:sp>
        <p:nvSpPr>
          <p:cNvPr id="15" name="Shape 13"/>
          <p:cNvSpPr/>
          <p:nvPr/>
        </p:nvSpPr>
        <p:spPr>
          <a:xfrm>
            <a:off x="1798719" y="2479198"/>
            <a:ext cx="233813" cy="233813"/>
          </a:xfrm>
          <a:prstGeom prst="ellipse">
            <a:avLst/>
          </a:prstGeom>
          <a:solidFill>
            <a:srgbClr val="00A896"/>
          </a:solidFill>
          <a:ln/>
        </p:spPr>
      </p:sp>
      <p:sp>
        <p:nvSpPr>
          <p:cNvPr id="16" name="Text 14"/>
          <p:cNvSpPr txBox="1"/>
          <p:nvPr/>
        </p:nvSpPr>
        <p:spPr>
          <a:xfrm>
            <a:off x="1798719" y="2498682"/>
            <a:ext cx="233813" cy="194844"/>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3</a:t>
            </a:r>
            <a:endParaRPr lang="en-US" sz="850" dirty="0"/>
          </a:p>
        </p:txBody>
      </p:sp>
      <p:sp>
        <p:nvSpPr>
          <p:cNvPr id="17" name="Text 15"/>
          <p:cNvSpPr txBox="1"/>
          <p:nvPr/>
        </p:nvSpPr>
        <p:spPr>
          <a:xfrm>
            <a:off x="2149438" y="2407755"/>
            <a:ext cx="5182853" cy="389688"/>
          </a:xfrm>
          <a:prstGeom prst="rect">
            <a:avLst/>
          </a:prstGeom>
          <a:noFill/>
          <a:ln/>
        </p:spPr>
        <p:txBody>
          <a:bodyPr wrap="square" lIns="0" tIns="0" rIns="0" bIns="0" rtlCol="0" anchor="t"/>
          <a:lstStyle/>
          <a:p>
            <a:pPr indent="0" marL="0">
              <a:lnSpc>
                <a:spcPct val="114000"/>
              </a:lnSpc>
              <a:buNone/>
            </a:pPr>
            <a:r>
              <a:rPr lang="en-US" sz="89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890" dirty="0"/>
          </a:p>
          <a:p>
            <a:pPr indent="0" marL="0">
              <a:lnSpc>
                <a:spcPct val="114000"/>
              </a:lnSpc>
              <a:buNone/>
            </a:pPr>
            <a:r>
              <a:rPr lang="en-US" sz="82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890" dirty="0"/>
          </a:p>
        </p:txBody>
      </p:sp>
      <p:sp>
        <p:nvSpPr>
          <p:cNvPr id="18" name="Text 16"/>
          <p:cNvSpPr txBox="1"/>
          <p:nvPr/>
        </p:nvSpPr>
        <p:spPr>
          <a:xfrm>
            <a:off x="1681812" y="2907855"/>
            <a:ext cx="5715427" cy="324740"/>
          </a:xfrm>
          <a:prstGeom prst="rect">
            <a:avLst/>
          </a:prstGeom>
          <a:noFill/>
          <a:ln/>
        </p:spPr>
        <p:txBody>
          <a:bodyPr wrap="square" lIns="0" tIns="0" rIns="0" bIns="0" rtlCol="0" anchor="t"/>
          <a:lstStyle/>
          <a:p>
            <a:pPr indent="0" marL="0">
              <a:lnSpc>
                <a:spcPct val="116000"/>
              </a:lnSpc>
              <a:buNone/>
            </a:pPr>
            <a:r>
              <a:rPr lang="en-US" sz="89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890" dirty="0"/>
          </a:p>
          <a:p>
            <a:pPr indent="0" marL="0">
              <a:lnSpc>
                <a:spcPct val="116000"/>
              </a:lnSpc>
              <a:buNone/>
            </a:pPr>
            <a:r>
              <a:rPr lang="en-US" sz="82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890" dirty="0"/>
          </a:p>
        </p:txBody>
      </p:sp>
      <p:sp>
        <p:nvSpPr>
          <p:cNvPr id="20" name="Text 17"/>
          <p:cNvSpPr txBox="1"/>
          <p:nvPr/>
        </p:nvSpPr>
        <p:spPr>
          <a:xfrm>
            <a:off x="1402536" y="3390800"/>
            <a:ext cx="584532" cy="181855"/>
          </a:xfrm>
          <a:prstGeom prst="rect">
            <a:avLst/>
          </a:prstGeom>
          <a:noFill/>
          <a:ln/>
        </p:spPr>
        <p:txBody>
          <a:bodyPr wrap="square" lIns="0" tIns="0" rIns="0" bIns="0" rtlCol="0" anchor="ctr"/>
          <a:lstStyle/>
          <a:p>
            <a:pPr indent="0" marL="0">
              <a:buNone/>
            </a:pPr>
            <a:r>
              <a:rPr lang="en-US" sz="640" dirty="0">
                <a:solidFill>
                  <a:srgbClr val="9FB3C8"/>
                </a:solidFill>
                <a:latin typeface="Arial" pitchFamily="34" charset="0"/>
                <a:ea typeface="Arial" pitchFamily="34" charset="-122"/>
                <a:cs typeface="Arial" pitchFamily="34" charset="-120"/>
              </a:rPr>
              <a:t>10 / 14</a:t>
            </a:r>
            <a:endParaRPr lang="en-US" sz="640" dirty="0"/>
          </a:p>
        </p:txBody>
      </p:sp>
      <p:sp>
        <p:nvSpPr>
          <p:cNvPr id="21" name="Text 18"/>
          <p:cNvSpPr txBox="1"/>
          <p:nvPr/>
        </p:nvSpPr>
        <p:spPr>
          <a:xfrm>
            <a:off x="2006553" y="3390800"/>
            <a:ext cx="1428857" cy="181855"/>
          </a:xfrm>
          <a:prstGeom prst="rect">
            <a:avLst/>
          </a:prstGeom>
          <a:noFill/>
          <a:ln/>
        </p:spPr>
        <p:txBody>
          <a:bodyPr wrap="square" lIns="0" tIns="0" rIns="0" bIns="0" rtlCol="0" anchor="ctr"/>
          <a:lstStyle/>
          <a:p>
            <a:pPr indent="0" marL="0">
              <a:buNone/>
            </a:pPr>
            <a:r>
              <a:rPr lang="en-US" sz="640" dirty="0">
                <a:solidFill>
                  <a:srgbClr val="9FB3C8"/>
                </a:solidFill>
                <a:latin typeface="Arial" pitchFamily="34" charset="0"/>
                <a:ea typeface="Arial" pitchFamily="34" charset="-122"/>
                <a:cs typeface="Arial" pitchFamily="34" charset="-120"/>
              </a:rPr>
              <a:t>Tiết 2 · 第 2 節</a:t>
            </a:r>
            <a:endParaRPr lang="en-US" sz="64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130753" y="-947729"/>
            <a:ext cx="2987610" cy="2987610"/>
          </a:xfrm>
          <a:prstGeom prst="ellipse">
            <a:avLst/>
          </a:prstGeom>
          <a:solidFill>
            <a:srgbClr val="13314F"/>
          </a:solidFill>
          <a:ln w="12700">
            <a:solidFill>
              <a:srgbClr val="13314F"/>
            </a:solidFill>
            <a:prstDash val="solid"/>
          </a:ln>
        </p:spPr>
      </p:sp>
      <p:sp>
        <p:nvSpPr>
          <p:cNvPr id="3" name="Shape 1"/>
          <p:cNvSpPr/>
          <p:nvPr/>
        </p:nvSpPr>
        <p:spPr>
          <a:xfrm>
            <a:off x="7104973" y="1520297"/>
            <a:ext cx="1688649" cy="1688649"/>
          </a:xfrm>
          <a:prstGeom prst="ellipse">
            <a:avLst/>
          </a:prstGeom>
          <a:solidFill>
            <a:srgbClr val="007F72">
              <a:alpha val="28000"/>
            </a:srgbClr>
          </a:solidFill>
          <a:ln/>
        </p:spPr>
      </p:sp>
      <p:sp>
        <p:nvSpPr>
          <p:cNvPr id="4" name="Text 2"/>
          <p:cNvSpPr txBox="1"/>
          <p:nvPr/>
        </p:nvSpPr>
        <p:spPr>
          <a:xfrm>
            <a:off x="1681812" y="1228031"/>
            <a:ext cx="3247402" cy="22082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Phần 3 / 3</a:t>
            </a:r>
            <a:endParaRPr lang="en-US" sz="960" dirty="0"/>
          </a:p>
        </p:txBody>
      </p:sp>
      <p:sp>
        <p:nvSpPr>
          <p:cNvPr id="5" name="Text 3"/>
          <p:cNvSpPr txBox="1"/>
          <p:nvPr/>
        </p:nvSpPr>
        <p:spPr>
          <a:xfrm>
            <a:off x="1681812" y="1481328"/>
            <a:ext cx="5195843" cy="844324"/>
          </a:xfrm>
          <a:prstGeom prst="rect">
            <a:avLst/>
          </a:prstGeom>
          <a:noFill/>
          <a:ln/>
        </p:spPr>
        <p:txBody>
          <a:bodyPr wrap="square" lIns="0" tIns="0" rIns="0" bIns="0" rtlCol="0" anchor="t"/>
          <a:lstStyle/>
          <a:p>
            <a:pPr indent="0" marL="0">
              <a:lnSpc>
                <a:spcPct val="118000"/>
              </a:lnSpc>
              <a:buNone/>
            </a:pPr>
            <a:r>
              <a:rPr lang="en-US" sz="2060" b="1" dirty="0">
                <a:solidFill>
                  <a:srgbClr val="FFFFFF"/>
                </a:solidFill>
                <a:latin typeface="Arial" pitchFamily="34" charset="0"/>
                <a:ea typeface="Arial" pitchFamily="34" charset="-122"/>
                <a:cs typeface="Arial" pitchFamily="34" charset="-120"/>
              </a:rPr>
              <a:t>Hai cảm biến tốt, ghép lại vẫn sai</a:t>
            </a:r>
            <a:endParaRPr lang="en-US" sz="2060" dirty="0"/>
          </a:p>
          <a:p>
            <a:pPr indent="0" marL="0">
              <a:lnSpc>
                <a:spcPct val="118000"/>
              </a:lnSpc>
              <a:buNone/>
            </a:pPr>
            <a:r>
              <a:rPr lang="en-US" sz="121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060" dirty="0"/>
          </a:p>
        </p:txBody>
      </p:sp>
      <p:sp>
        <p:nvSpPr>
          <p:cNvPr id="6" name="Text 4"/>
          <p:cNvSpPr txBox="1"/>
          <p:nvPr/>
        </p:nvSpPr>
        <p:spPr>
          <a:xfrm>
            <a:off x="1681812" y="2403590"/>
            <a:ext cx="5195843" cy="454636"/>
          </a:xfrm>
          <a:prstGeom prst="rect">
            <a:avLst/>
          </a:prstGeom>
          <a:noFill/>
          <a:ln/>
        </p:spPr>
        <p:txBody>
          <a:bodyPr wrap="square" lIns="0" tIns="0" rIns="0" bIns="0" rtlCol="0" anchor="t"/>
          <a:lstStyle/>
          <a:p>
            <a:pPr indent="0" marL="0">
              <a:lnSpc>
                <a:spcPct val="120000"/>
              </a:lnSpc>
              <a:buNone/>
            </a:pPr>
            <a:r>
              <a:rPr lang="en-US" sz="960" dirty="0">
                <a:solidFill>
                  <a:srgbClr val="AFC3D4"/>
                </a:solidFill>
                <a:latin typeface="Arial" pitchFamily="34" charset="0"/>
                <a:ea typeface="Arial" pitchFamily="34" charset="-122"/>
                <a:cs typeface="Arial" pitchFamily="34" charset="-120"/>
              </a:rPr>
              <a:t>Hiệu chuẩn và đồng bộ thời gian</a:t>
            </a:r>
            <a:endParaRPr lang="en-US" sz="960" dirty="0"/>
          </a:p>
          <a:p>
            <a:pPr indent="0" marL="0">
              <a:lnSpc>
                <a:spcPct val="120000"/>
              </a:lnSpc>
              <a:buNone/>
            </a:pPr>
            <a:r>
              <a:rPr lang="en-US" sz="850" dirty="0">
                <a:solidFill>
                  <a:srgbClr val="8AA0B4"/>
                </a:solidFill>
                <a:latin typeface="微軟正黑體" pitchFamily="34" charset="0"/>
                <a:ea typeface="微軟正黑體" pitchFamily="34" charset="-122"/>
                <a:cs typeface="微軟正黑體" pitchFamily="34" charset="-120"/>
              </a:rPr>
              <a:t>標定與時間同步</a:t>
            </a:r>
            <a:endParaRPr lang="en-US" sz="960" dirty="0"/>
          </a:p>
        </p:txBody>
      </p:sp>
      <p:sp>
        <p:nvSpPr>
          <p:cNvPr id="8" name="Text 5"/>
          <p:cNvSpPr txBox="1"/>
          <p:nvPr/>
        </p:nvSpPr>
        <p:spPr>
          <a:xfrm>
            <a:off x="1402536" y="3390800"/>
            <a:ext cx="584532" cy="181855"/>
          </a:xfrm>
          <a:prstGeom prst="rect">
            <a:avLst/>
          </a:prstGeom>
          <a:noFill/>
          <a:ln/>
        </p:spPr>
        <p:txBody>
          <a:bodyPr wrap="square" lIns="0" tIns="0" rIns="0" bIns="0" rtlCol="0" anchor="ctr"/>
          <a:lstStyle/>
          <a:p>
            <a:pPr indent="0" marL="0">
              <a:buNone/>
            </a:pPr>
            <a:r>
              <a:rPr lang="en-US" sz="640" dirty="0">
                <a:solidFill>
                  <a:srgbClr val="9FB3C8"/>
                </a:solidFill>
                <a:latin typeface="Arial" pitchFamily="34" charset="0"/>
                <a:ea typeface="Arial" pitchFamily="34" charset="-122"/>
                <a:cs typeface="Arial" pitchFamily="34" charset="-120"/>
              </a:rPr>
              <a:t>11 / 14</a:t>
            </a:r>
            <a:endParaRPr lang="en-US" sz="640" dirty="0"/>
          </a:p>
        </p:txBody>
      </p:sp>
      <p:sp>
        <p:nvSpPr>
          <p:cNvPr id="9" name="Text 6"/>
          <p:cNvSpPr txBox="1"/>
          <p:nvPr/>
        </p:nvSpPr>
        <p:spPr>
          <a:xfrm>
            <a:off x="2006553" y="3390800"/>
            <a:ext cx="1428857" cy="181855"/>
          </a:xfrm>
          <a:prstGeom prst="rect">
            <a:avLst/>
          </a:prstGeom>
          <a:noFill/>
          <a:ln/>
        </p:spPr>
        <p:txBody>
          <a:bodyPr wrap="square" lIns="0" tIns="0" rIns="0" bIns="0" rtlCol="0" anchor="ctr"/>
          <a:lstStyle/>
          <a:p>
            <a:pPr indent="0" marL="0">
              <a:buNone/>
            </a:pPr>
            <a:r>
              <a:rPr lang="en-US" sz="640" dirty="0">
                <a:solidFill>
                  <a:srgbClr val="9FB3C8"/>
                </a:solidFill>
                <a:latin typeface="Arial" pitchFamily="34" charset="0"/>
                <a:ea typeface="Arial" pitchFamily="34" charset="-122"/>
                <a:cs typeface="Arial" pitchFamily="34" charset="-120"/>
              </a:rPr>
              <a:t>Tiết 2 · 第 2 節</a:t>
            </a:r>
            <a:endParaRPr lang="en-US" sz="64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1681812" y="234326"/>
            <a:ext cx="5780375" cy="597522"/>
          </a:xfrm>
          <a:prstGeom prst="rect">
            <a:avLst/>
          </a:prstGeom>
          <a:noFill/>
          <a:ln/>
        </p:spPr>
        <p:txBody>
          <a:bodyPr wrap="square" lIns="0" tIns="0" rIns="0" bIns="0" rtlCol="0" anchor="t"/>
          <a:lstStyle/>
          <a:p>
            <a:pPr indent="0" marL="0">
              <a:lnSpc>
                <a:spcPct val="116000"/>
              </a:lnSpc>
              <a:buNone/>
            </a:pPr>
            <a:r>
              <a:rPr lang="en-US" sz="156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1560" dirty="0"/>
          </a:p>
          <a:p>
            <a:pPr indent="0" marL="0">
              <a:lnSpc>
                <a:spcPct val="116000"/>
              </a:lnSpc>
              <a:buNone/>
            </a:pPr>
            <a:r>
              <a:rPr lang="en-US" sz="96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1560" dirty="0"/>
          </a:p>
        </p:txBody>
      </p:sp>
      <p:sp>
        <p:nvSpPr>
          <p:cNvPr id="3" name="Shape 1"/>
          <p:cNvSpPr/>
          <p:nvPr/>
        </p:nvSpPr>
        <p:spPr>
          <a:xfrm>
            <a:off x="1681812" y="965743"/>
            <a:ext cx="1796896" cy="193545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2411395" y="1095639"/>
            <a:ext cx="337730" cy="337730"/>
          </a:xfrm>
          <a:prstGeom prst="ellipse">
            <a:avLst/>
          </a:prstGeom>
          <a:solidFill>
            <a:srgbClr val="0B1F3A"/>
          </a:solidFill>
          <a:ln/>
        </p:spPr>
      </p:sp>
      <p:sp>
        <p:nvSpPr>
          <p:cNvPr id="5" name="Text 3"/>
          <p:cNvSpPr txBox="1"/>
          <p:nvPr/>
        </p:nvSpPr>
        <p:spPr>
          <a:xfrm>
            <a:off x="2411395" y="1167082"/>
            <a:ext cx="337730" cy="194844"/>
          </a:xfrm>
          <a:prstGeom prst="rect">
            <a:avLst/>
          </a:prstGeom>
          <a:noFill/>
          <a:ln/>
        </p:spPr>
        <p:txBody>
          <a:bodyPr wrap="square" lIns="0" tIns="0" rIns="0" bIns="0" rtlCol="0" anchor="ctr"/>
          <a:lstStyle/>
          <a:p>
            <a:pPr algn="ctr" indent="0" marL="0">
              <a:buNone/>
            </a:pPr>
            <a:r>
              <a:rPr lang="en-US" sz="1070" b="1" dirty="0">
                <a:solidFill>
                  <a:srgbClr val="FFFFFF"/>
                </a:solidFill>
                <a:latin typeface="Arial" pitchFamily="34" charset="0"/>
                <a:ea typeface="Arial" pitchFamily="34" charset="-122"/>
                <a:cs typeface="Arial" pitchFamily="34" charset="-120"/>
              </a:rPr>
              <a:t>1</a:t>
            </a:r>
            <a:endParaRPr lang="en-US" sz="1070" dirty="0"/>
          </a:p>
        </p:txBody>
      </p:sp>
      <p:sp>
        <p:nvSpPr>
          <p:cNvPr id="6" name="Text 4"/>
          <p:cNvSpPr txBox="1"/>
          <p:nvPr/>
        </p:nvSpPr>
        <p:spPr>
          <a:xfrm>
            <a:off x="1772740" y="1498317"/>
            <a:ext cx="1615041" cy="467626"/>
          </a:xfrm>
          <a:prstGeom prst="rect">
            <a:avLst/>
          </a:prstGeom>
          <a:noFill/>
          <a:ln/>
        </p:spPr>
        <p:txBody>
          <a:bodyPr wrap="square" lIns="0" tIns="0" rIns="0" bIns="0" rtlCol="0" anchor="t"/>
          <a:lstStyle/>
          <a:p>
            <a:pPr algn="ctr" indent="0" marL="0">
              <a:lnSpc>
                <a:spcPct val="116000"/>
              </a:lnSpc>
              <a:buNone/>
            </a:pPr>
            <a:r>
              <a:rPr lang="en-US" sz="990" b="1" dirty="0">
                <a:solidFill>
                  <a:srgbClr val="0B1F3A"/>
                </a:solidFill>
                <a:latin typeface="Arial" pitchFamily="34" charset="0"/>
                <a:ea typeface="Arial" pitchFamily="34" charset="-122"/>
                <a:cs typeface="Arial" pitchFamily="34" charset="-120"/>
              </a:rPr>
              <a:t>Tham số trong</a:t>
            </a:r>
            <a:endParaRPr lang="en-US" sz="990" dirty="0"/>
          </a:p>
          <a:p>
            <a:pPr algn="ctr" indent="0" marL="0">
              <a:lnSpc>
                <a:spcPct val="116000"/>
              </a:lnSpc>
              <a:buNone/>
            </a:pPr>
            <a:r>
              <a:rPr lang="en-US" sz="850" dirty="0">
                <a:solidFill>
                  <a:srgbClr val="007F72"/>
                </a:solidFill>
                <a:latin typeface="微軟正黑體" pitchFamily="34" charset="0"/>
                <a:ea typeface="微軟正黑體" pitchFamily="34" charset="-122"/>
                <a:cs typeface="微軟正黑體" pitchFamily="34" charset="-120"/>
              </a:rPr>
              <a:t>內參</a:t>
            </a:r>
            <a:endParaRPr lang="en-US" sz="990" dirty="0"/>
          </a:p>
        </p:txBody>
      </p:sp>
      <p:sp>
        <p:nvSpPr>
          <p:cNvPr id="7" name="Text 5"/>
          <p:cNvSpPr txBox="1"/>
          <p:nvPr/>
        </p:nvSpPr>
        <p:spPr>
          <a:xfrm>
            <a:off x="1772740" y="1991922"/>
            <a:ext cx="1615041" cy="831335"/>
          </a:xfrm>
          <a:prstGeom prst="rect">
            <a:avLst/>
          </a:prstGeom>
          <a:noFill/>
          <a:ln/>
        </p:spPr>
        <p:txBody>
          <a:bodyPr wrap="square" lIns="0" tIns="0" rIns="0" bIns="0" rtlCol="0" anchor="t"/>
          <a:lstStyle/>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Ống kính méo bao nhiêu</a:t>
            </a:r>
            <a:endParaRPr lang="en-US" sz="820" dirty="0"/>
          </a:p>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Tâm ảnh ở đâu</a:t>
            </a:r>
            <a:endParaRPr lang="en-US" sz="820" dirty="0"/>
          </a:p>
          <a:p>
            <a:pPr algn="ctr" indent="0" marL="0">
              <a:lnSpc>
                <a:spcPct val="126000"/>
              </a:lnSpc>
              <a:buNone/>
            </a:pPr>
            <a:r>
              <a:rPr lang="en-US" sz="750" dirty="0">
                <a:solidFill>
                  <a:srgbClr val="5F7183"/>
                </a:solidFill>
                <a:latin typeface="微軟正黑體" pitchFamily="34" charset="0"/>
                <a:ea typeface="微軟正黑體" pitchFamily="34" charset="-122"/>
                <a:cs typeface="微軟正黑體" pitchFamily="34" charset="-120"/>
              </a:rPr>
              <a:t>鏡頭扭曲多少</a:t>
            </a:r>
            <a:endParaRPr lang="en-US" sz="820" dirty="0"/>
          </a:p>
          <a:p>
            <a:pPr algn="ctr" indent="0" marL="0">
              <a:lnSpc>
                <a:spcPct val="126000"/>
              </a:lnSpc>
              <a:buNone/>
            </a:pPr>
            <a:r>
              <a:rPr lang="en-US" sz="750" dirty="0">
                <a:solidFill>
                  <a:srgbClr val="5F7183"/>
                </a:solidFill>
                <a:latin typeface="微軟正黑體" pitchFamily="34" charset="0"/>
                <a:ea typeface="微軟正黑體" pitchFamily="34" charset="-122"/>
                <a:cs typeface="微軟正黑體" pitchFamily="34" charset="-120"/>
              </a:rPr>
              <a:t>畫面中心在哪</a:t>
            </a:r>
            <a:endParaRPr lang="en-US" sz="820" dirty="0"/>
          </a:p>
        </p:txBody>
      </p:sp>
      <p:sp>
        <p:nvSpPr>
          <p:cNvPr id="8" name="Text 6"/>
          <p:cNvSpPr txBox="1"/>
          <p:nvPr/>
        </p:nvSpPr>
        <p:spPr>
          <a:xfrm>
            <a:off x="3478708" y="1615223"/>
            <a:ext cx="194844" cy="259792"/>
          </a:xfrm>
          <a:prstGeom prst="rect">
            <a:avLst/>
          </a:prstGeom>
          <a:noFill/>
          <a:ln/>
        </p:spPr>
        <p:txBody>
          <a:bodyPr wrap="square" lIns="0" tIns="0" rIns="0" bIns="0" rtlCol="0" anchor="ctr"/>
          <a:lstStyle/>
          <a:p>
            <a:pPr algn="ctr" indent="0" marL="0">
              <a:buNone/>
            </a:pPr>
            <a:r>
              <a:rPr lang="en-US" sz="1350" b="1" dirty="0">
                <a:solidFill>
                  <a:srgbClr val="00A896"/>
                </a:solidFill>
                <a:latin typeface="微軟正黑體" pitchFamily="34" charset="0"/>
                <a:ea typeface="微軟正黑體" pitchFamily="34" charset="-122"/>
                <a:cs typeface="微軟正黑體" pitchFamily="34" charset="-120"/>
              </a:rPr>
              <a:t>→</a:t>
            </a:r>
            <a:endParaRPr lang="en-US" sz="1350" dirty="0"/>
          </a:p>
        </p:txBody>
      </p:sp>
      <p:sp>
        <p:nvSpPr>
          <p:cNvPr id="9" name="Shape 7"/>
          <p:cNvSpPr/>
          <p:nvPr/>
        </p:nvSpPr>
        <p:spPr>
          <a:xfrm>
            <a:off x="3673552" y="965743"/>
            <a:ext cx="1796896" cy="193545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403135" y="1095639"/>
            <a:ext cx="337730" cy="337730"/>
          </a:xfrm>
          <a:prstGeom prst="ellipse">
            <a:avLst/>
          </a:prstGeom>
          <a:solidFill>
            <a:srgbClr val="00A896"/>
          </a:solidFill>
          <a:ln/>
        </p:spPr>
      </p:sp>
      <p:sp>
        <p:nvSpPr>
          <p:cNvPr id="11" name="Text 9"/>
          <p:cNvSpPr txBox="1"/>
          <p:nvPr/>
        </p:nvSpPr>
        <p:spPr>
          <a:xfrm>
            <a:off x="4403135" y="1167082"/>
            <a:ext cx="337730" cy="194844"/>
          </a:xfrm>
          <a:prstGeom prst="rect">
            <a:avLst/>
          </a:prstGeom>
          <a:noFill/>
          <a:ln/>
        </p:spPr>
        <p:txBody>
          <a:bodyPr wrap="square" lIns="0" tIns="0" rIns="0" bIns="0" rtlCol="0" anchor="ctr"/>
          <a:lstStyle/>
          <a:p>
            <a:pPr algn="ctr" indent="0" marL="0">
              <a:buNone/>
            </a:pPr>
            <a:r>
              <a:rPr lang="en-US" sz="1070" b="1" dirty="0">
                <a:solidFill>
                  <a:srgbClr val="FFFFFF"/>
                </a:solidFill>
                <a:latin typeface="Arial" pitchFamily="34" charset="0"/>
                <a:ea typeface="Arial" pitchFamily="34" charset="-122"/>
                <a:cs typeface="Arial" pitchFamily="34" charset="-120"/>
              </a:rPr>
              <a:t>2</a:t>
            </a:r>
            <a:endParaRPr lang="en-US" sz="1070" dirty="0"/>
          </a:p>
        </p:txBody>
      </p:sp>
      <p:sp>
        <p:nvSpPr>
          <p:cNvPr id="12" name="Text 10"/>
          <p:cNvSpPr txBox="1"/>
          <p:nvPr/>
        </p:nvSpPr>
        <p:spPr>
          <a:xfrm>
            <a:off x="3764479" y="1498317"/>
            <a:ext cx="1615041" cy="467626"/>
          </a:xfrm>
          <a:prstGeom prst="rect">
            <a:avLst/>
          </a:prstGeom>
          <a:noFill/>
          <a:ln/>
        </p:spPr>
        <p:txBody>
          <a:bodyPr wrap="square" lIns="0" tIns="0" rIns="0" bIns="0" rtlCol="0" anchor="t"/>
          <a:lstStyle/>
          <a:p>
            <a:pPr algn="ctr" indent="0" marL="0">
              <a:lnSpc>
                <a:spcPct val="116000"/>
              </a:lnSpc>
              <a:buNone/>
            </a:pPr>
            <a:r>
              <a:rPr lang="en-US" sz="990" b="1" dirty="0">
                <a:solidFill>
                  <a:srgbClr val="0B1F3A"/>
                </a:solidFill>
                <a:latin typeface="Arial" pitchFamily="34" charset="0"/>
                <a:ea typeface="Arial" pitchFamily="34" charset="-122"/>
                <a:cs typeface="Arial" pitchFamily="34" charset="-120"/>
              </a:rPr>
              <a:t>Tham số ngoài</a:t>
            </a:r>
            <a:endParaRPr lang="en-US" sz="990" dirty="0"/>
          </a:p>
          <a:p>
            <a:pPr algn="ctr" indent="0" marL="0">
              <a:lnSpc>
                <a:spcPct val="116000"/>
              </a:lnSpc>
              <a:buNone/>
            </a:pPr>
            <a:r>
              <a:rPr lang="en-US" sz="850" dirty="0">
                <a:solidFill>
                  <a:srgbClr val="007F72"/>
                </a:solidFill>
                <a:latin typeface="微軟正黑體" pitchFamily="34" charset="0"/>
                <a:ea typeface="微軟正黑體" pitchFamily="34" charset="-122"/>
                <a:cs typeface="微軟正黑體" pitchFamily="34" charset="-120"/>
              </a:rPr>
              <a:t>外參</a:t>
            </a:r>
            <a:endParaRPr lang="en-US" sz="990" dirty="0"/>
          </a:p>
        </p:txBody>
      </p:sp>
      <p:sp>
        <p:nvSpPr>
          <p:cNvPr id="13" name="Text 11"/>
          <p:cNvSpPr txBox="1"/>
          <p:nvPr/>
        </p:nvSpPr>
        <p:spPr>
          <a:xfrm>
            <a:off x="3764479" y="1991922"/>
            <a:ext cx="1615041" cy="831335"/>
          </a:xfrm>
          <a:prstGeom prst="rect">
            <a:avLst/>
          </a:prstGeom>
          <a:noFill/>
          <a:ln/>
        </p:spPr>
        <p:txBody>
          <a:bodyPr wrap="square" lIns="0" tIns="0" rIns="0" bIns="0" rtlCol="0" anchor="t"/>
          <a:lstStyle/>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Camera và lidar</a:t>
            </a:r>
            <a:endParaRPr lang="en-US" sz="820" dirty="0"/>
          </a:p>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cách nhau bao xa, lệch mấy độ</a:t>
            </a:r>
            <a:endParaRPr lang="en-US" sz="820" dirty="0"/>
          </a:p>
          <a:p>
            <a:pPr algn="ctr" indent="0" marL="0">
              <a:lnSpc>
                <a:spcPct val="126000"/>
              </a:lnSpc>
              <a:buNone/>
            </a:pPr>
            <a:r>
              <a:rPr lang="en-US" sz="750" dirty="0">
                <a:solidFill>
                  <a:srgbClr val="5F7183"/>
                </a:solidFill>
                <a:latin typeface="微軟正黑體" pitchFamily="34" charset="0"/>
                <a:ea typeface="微軟正黑體" pitchFamily="34" charset="-122"/>
                <a:cs typeface="微軟正黑體" pitchFamily="34" charset="-120"/>
              </a:rPr>
              <a:t>相機和光達</a:t>
            </a:r>
            <a:endParaRPr lang="en-US" sz="820" dirty="0"/>
          </a:p>
          <a:p>
            <a:pPr algn="ctr" indent="0" marL="0">
              <a:lnSpc>
                <a:spcPct val="126000"/>
              </a:lnSpc>
              <a:buNone/>
            </a:pPr>
            <a:r>
              <a:rPr lang="en-US" sz="750" dirty="0">
                <a:solidFill>
                  <a:srgbClr val="5F7183"/>
                </a:solidFill>
                <a:latin typeface="微軟正黑體" pitchFamily="34" charset="0"/>
                <a:ea typeface="微軟正黑體" pitchFamily="34" charset="-122"/>
                <a:cs typeface="微軟正黑體" pitchFamily="34" charset="-120"/>
              </a:rPr>
              <a:t>相距多遠、差幾度</a:t>
            </a:r>
            <a:endParaRPr lang="en-US" sz="820" dirty="0"/>
          </a:p>
        </p:txBody>
      </p:sp>
      <p:sp>
        <p:nvSpPr>
          <p:cNvPr id="14" name="Text 12"/>
          <p:cNvSpPr txBox="1"/>
          <p:nvPr/>
        </p:nvSpPr>
        <p:spPr>
          <a:xfrm>
            <a:off x="5470448" y="1615223"/>
            <a:ext cx="194844" cy="259792"/>
          </a:xfrm>
          <a:prstGeom prst="rect">
            <a:avLst/>
          </a:prstGeom>
          <a:noFill/>
          <a:ln/>
        </p:spPr>
        <p:txBody>
          <a:bodyPr wrap="square" lIns="0" tIns="0" rIns="0" bIns="0" rtlCol="0" anchor="ctr"/>
          <a:lstStyle/>
          <a:p>
            <a:pPr algn="ctr" indent="0" marL="0">
              <a:buNone/>
            </a:pPr>
            <a:r>
              <a:rPr lang="en-US" sz="1350" b="1" dirty="0">
                <a:solidFill>
                  <a:srgbClr val="00A896"/>
                </a:solidFill>
                <a:latin typeface="微軟正黑體" pitchFamily="34" charset="0"/>
                <a:ea typeface="微軟正黑體" pitchFamily="34" charset="-122"/>
                <a:cs typeface="微軟正黑體" pitchFamily="34" charset="-120"/>
              </a:rPr>
              <a:t>→</a:t>
            </a:r>
            <a:endParaRPr lang="en-US" sz="1350" dirty="0"/>
          </a:p>
        </p:txBody>
      </p:sp>
      <p:sp>
        <p:nvSpPr>
          <p:cNvPr id="15" name="Shape 13"/>
          <p:cNvSpPr/>
          <p:nvPr/>
        </p:nvSpPr>
        <p:spPr>
          <a:xfrm>
            <a:off x="5665292" y="965743"/>
            <a:ext cx="1796896" cy="193545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6394875" y="1095639"/>
            <a:ext cx="337730" cy="337730"/>
          </a:xfrm>
          <a:prstGeom prst="ellipse">
            <a:avLst/>
          </a:prstGeom>
          <a:solidFill>
            <a:srgbClr val="0B1F3A"/>
          </a:solidFill>
          <a:ln/>
        </p:spPr>
      </p:sp>
      <p:sp>
        <p:nvSpPr>
          <p:cNvPr id="17" name="Text 15"/>
          <p:cNvSpPr txBox="1"/>
          <p:nvPr/>
        </p:nvSpPr>
        <p:spPr>
          <a:xfrm>
            <a:off x="6394875" y="1167082"/>
            <a:ext cx="337730" cy="194844"/>
          </a:xfrm>
          <a:prstGeom prst="rect">
            <a:avLst/>
          </a:prstGeom>
          <a:noFill/>
          <a:ln/>
        </p:spPr>
        <p:txBody>
          <a:bodyPr wrap="square" lIns="0" tIns="0" rIns="0" bIns="0" rtlCol="0" anchor="ctr"/>
          <a:lstStyle/>
          <a:p>
            <a:pPr algn="ctr" indent="0" marL="0">
              <a:buNone/>
            </a:pPr>
            <a:r>
              <a:rPr lang="en-US" sz="1070" b="1" dirty="0">
                <a:solidFill>
                  <a:srgbClr val="FFFFFF"/>
                </a:solidFill>
                <a:latin typeface="Arial" pitchFamily="34" charset="0"/>
                <a:ea typeface="Arial" pitchFamily="34" charset="-122"/>
                <a:cs typeface="Arial" pitchFamily="34" charset="-120"/>
              </a:rPr>
              <a:t>3</a:t>
            </a:r>
            <a:endParaRPr lang="en-US" sz="1070" dirty="0"/>
          </a:p>
        </p:txBody>
      </p:sp>
      <p:sp>
        <p:nvSpPr>
          <p:cNvPr id="18" name="Text 16"/>
          <p:cNvSpPr txBox="1"/>
          <p:nvPr/>
        </p:nvSpPr>
        <p:spPr>
          <a:xfrm>
            <a:off x="5756219" y="1498317"/>
            <a:ext cx="1615041" cy="467626"/>
          </a:xfrm>
          <a:prstGeom prst="rect">
            <a:avLst/>
          </a:prstGeom>
          <a:noFill/>
          <a:ln/>
        </p:spPr>
        <p:txBody>
          <a:bodyPr wrap="square" lIns="0" tIns="0" rIns="0" bIns="0" rtlCol="0" anchor="t"/>
          <a:lstStyle/>
          <a:p>
            <a:pPr algn="ctr" indent="0" marL="0">
              <a:lnSpc>
                <a:spcPct val="116000"/>
              </a:lnSpc>
              <a:buNone/>
            </a:pPr>
            <a:r>
              <a:rPr lang="en-US" sz="990" b="1" dirty="0">
                <a:solidFill>
                  <a:srgbClr val="0B1F3A"/>
                </a:solidFill>
                <a:latin typeface="Arial" pitchFamily="34" charset="0"/>
                <a:ea typeface="Arial" pitchFamily="34" charset="-122"/>
                <a:cs typeface="Arial" pitchFamily="34" charset="-120"/>
              </a:rPr>
              <a:t>Sai 1°</a:t>
            </a:r>
            <a:endParaRPr lang="en-US" sz="990" dirty="0"/>
          </a:p>
          <a:p>
            <a:pPr algn="ctr" indent="0" marL="0">
              <a:lnSpc>
                <a:spcPct val="116000"/>
              </a:lnSpc>
              <a:buNone/>
            </a:pPr>
            <a:r>
              <a:rPr lang="en-US" sz="850" dirty="0">
                <a:solidFill>
                  <a:srgbClr val="007F72"/>
                </a:solidFill>
                <a:latin typeface="微軟正黑體" pitchFamily="34" charset="0"/>
                <a:ea typeface="微軟正黑體" pitchFamily="34" charset="-122"/>
                <a:cs typeface="微軟正黑體" pitchFamily="34" charset="-120"/>
              </a:rPr>
              <a:t>差 1 度</a:t>
            </a:r>
            <a:endParaRPr lang="en-US" sz="990" dirty="0"/>
          </a:p>
        </p:txBody>
      </p:sp>
      <p:sp>
        <p:nvSpPr>
          <p:cNvPr id="19" name="Text 17"/>
          <p:cNvSpPr txBox="1"/>
          <p:nvPr/>
        </p:nvSpPr>
        <p:spPr>
          <a:xfrm>
            <a:off x="5756219" y="1991922"/>
            <a:ext cx="1615041" cy="831335"/>
          </a:xfrm>
          <a:prstGeom prst="rect">
            <a:avLst/>
          </a:prstGeom>
          <a:noFill/>
          <a:ln/>
        </p:spPr>
        <p:txBody>
          <a:bodyPr wrap="square" lIns="0" tIns="0" rIns="0" bIns="0" rtlCol="0" anchor="t"/>
          <a:lstStyle/>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Ở 50 m lệch gần 0,9 m</a:t>
            </a:r>
            <a:endParaRPr lang="en-US" sz="820" dirty="0"/>
          </a:p>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Đủ để nhầm làn</a:t>
            </a:r>
            <a:endParaRPr lang="en-US" sz="820" dirty="0"/>
          </a:p>
          <a:p>
            <a:pPr algn="ctr" indent="0" marL="0">
              <a:lnSpc>
                <a:spcPct val="126000"/>
              </a:lnSpc>
              <a:buNone/>
            </a:pPr>
            <a:r>
              <a:rPr lang="en-US" sz="750" dirty="0">
                <a:solidFill>
                  <a:srgbClr val="5F7183"/>
                </a:solidFill>
                <a:latin typeface="微軟正黑體" pitchFamily="34" charset="0"/>
                <a:ea typeface="微軟正黑體" pitchFamily="34" charset="-122"/>
                <a:cs typeface="微軟正黑體" pitchFamily="34" charset="-120"/>
              </a:rPr>
              <a:t>50 公尺處差 0.9 公尺</a:t>
            </a:r>
            <a:endParaRPr lang="en-US" sz="820" dirty="0"/>
          </a:p>
          <a:p>
            <a:pPr algn="ctr" indent="0" marL="0">
              <a:lnSpc>
                <a:spcPct val="126000"/>
              </a:lnSpc>
              <a:buNone/>
            </a:pPr>
            <a:r>
              <a:rPr lang="en-US" sz="750" dirty="0">
                <a:solidFill>
                  <a:srgbClr val="5F7183"/>
                </a:solidFill>
                <a:latin typeface="微軟正黑體" pitchFamily="34" charset="0"/>
                <a:ea typeface="微軟正黑體" pitchFamily="34" charset="-122"/>
                <a:cs typeface="微軟正黑體" pitchFamily="34" charset="-120"/>
              </a:rPr>
              <a:t>足以搞錯車道</a:t>
            </a:r>
            <a:endParaRPr lang="en-US" sz="820" dirty="0"/>
          </a:p>
        </p:txBody>
      </p:sp>
      <p:sp>
        <p:nvSpPr>
          <p:cNvPr id="20" name="Text 18"/>
          <p:cNvSpPr txBox="1"/>
          <p:nvPr/>
        </p:nvSpPr>
        <p:spPr>
          <a:xfrm>
            <a:off x="1681812" y="3005111"/>
            <a:ext cx="5780375" cy="402678"/>
          </a:xfrm>
          <a:prstGeom prst="rect">
            <a:avLst/>
          </a:prstGeom>
          <a:noFill/>
          <a:ln/>
        </p:spPr>
        <p:txBody>
          <a:bodyPr wrap="square" lIns="0" tIns="0" rIns="0" bIns="0" rtlCol="0" anchor="t"/>
          <a:lstStyle/>
          <a:p>
            <a:pPr indent="0" marL="0">
              <a:lnSpc>
                <a:spcPct val="118000"/>
              </a:lnSpc>
              <a:buNone/>
            </a:pPr>
            <a:r>
              <a:rPr lang="en-US" sz="89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890" dirty="0"/>
          </a:p>
          <a:p>
            <a:pPr indent="0" marL="0">
              <a:lnSpc>
                <a:spcPct val="118000"/>
              </a:lnSpc>
              <a:buNone/>
            </a:pPr>
            <a:r>
              <a:rPr lang="en-US" sz="8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89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6663327" y="3338842"/>
            <a:ext cx="779376" cy="172200"/>
          </a:xfrm>
          <a:prstGeom prst="rect">
            <a:avLst/>
          </a:prstGeom>
        </p:spPr>
      </p:pic>
      <p:sp>
        <p:nvSpPr>
          <p:cNvPr id="23" name="Text 19"/>
          <p:cNvSpPr txBox="1"/>
          <p:nvPr/>
        </p:nvSpPr>
        <p:spPr>
          <a:xfrm>
            <a:off x="1402536" y="3390800"/>
            <a:ext cx="584532"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12 / 14</a:t>
            </a:r>
            <a:endParaRPr lang="en-US" sz="640" dirty="0"/>
          </a:p>
        </p:txBody>
      </p:sp>
      <p:sp>
        <p:nvSpPr>
          <p:cNvPr id="24" name="Text 20"/>
          <p:cNvSpPr txBox="1"/>
          <p:nvPr/>
        </p:nvSpPr>
        <p:spPr>
          <a:xfrm>
            <a:off x="2006553" y="3390800"/>
            <a:ext cx="1428857"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Tiết 2 · 第 2 節</a:t>
            </a:r>
            <a:endParaRPr lang="en-US" sz="64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1681812" y="325253"/>
            <a:ext cx="5780375" cy="194844"/>
          </a:xfrm>
          <a:prstGeom prst="rect">
            <a:avLst/>
          </a:prstGeom>
          <a:noFill/>
          <a:ln/>
        </p:spPr>
        <p:txBody>
          <a:bodyPr wrap="square" lIns="0" tIns="0" rIns="0" bIns="0" rtlCol="0" anchor="ctr"/>
          <a:lstStyle/>
          <a:p>
            <a:pPr indent="0" marL="0">
              <a:buNone/>
            </a:pPr>
            <a:r>
              <a:rPr lang="en-US" sz="890" b="1" dirty="0">
                <a:solidFill>
                  <a:srgbClr val="007F72"/>
                </a:solidFill>
                <a:latin typeface="Arial" pitchFamily="34" charset="0"/>
                <a:ea typeface="Arial" pitchFamily="34" charset="-122"/>
                <a:cs typeface="Arial" pitchFamily="34" charset="-120"/>
              </a:rPr>
              <a:t>Đồng bộ · 時間同步</a:t>
            </a:r>
            <a:endParaRPr lang="en-US" sz="890" dirty="0"/>
          </a:p>
        </p:txBody>
      </p:sp>
      <p:sp>
        <p:nvSpPr>
          <p:cNvPr id="3" name="Shape 1"/>
          <p:cNvSpPr/>
          <p:nvPr/>
        </p:nvSpPr>
        <p:spPr>
          <a:xfrm>
            <a:off x="1681812" y="809116"/>
            <a:ext cx="1753597" cy="1786071"/>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2385719" y="1591675"/>
            <a:ext cx="660132" cy="536601"/>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2275697" y="1481198"/>
            <a:ext cx="660132" cy="536601"/>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2165675" y="1370721"/>
            <a:ext cx="660132" cy="536601"/>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2055653" y="1260245"/>
            <a:ext cx="660132" cy="536601"/>
          </a:xfrm>
          <a:prstGeom prst="roundRect">
            <a:avLst>
              <a:gd name="adj" fmla="val 6052"/>
            </a:avLst>
          </a:prstGeom>
          <a:solidFill>
            <a:srgbClr val="8A5A00"/>
          </a:solidFill>
          <a:ln w="15240">
            <a:solidFill>
              <a:srgbClr val="F4F7FA"/>
            </a:solidFill>
            <a:prstDash val="solid"/>
          </a:ln>
        </p:spPr>
      </p:sp>
      <p:sp>
        <p:nvSpPr>
          <p:cNvPr id="8" name="Text 6"/>
          <p:cNvSpPr txBox="1"/>
          <p:nvPr/>
        </p:nvSpPr>
        <p:spPr>
          <a:xfrm>
            <a:off x="1772740" y="2080928"/>
            <a:ext cx="1571743" cy="284083"/>
          </a:xfrm>
          <a:prstGeom prst="rect">
            <a:avLst/>
          </a:prstGeom>
          <a:noFill/>
          <a:ln/>
        </p:spPr>
        <p:txBody>
          <a:bodyPr wrap="square" lIns="0" tIns="0" rIns="0" bIns="0" rtlCol="0" anchor="ctr"/>
          <a:lstStyle/>
          <a:p>
            <a:pPr algn="ctr" indent="0" marL="0">
              <a:buNone/>
            </a:pPr>
            <a:r>
              <a:rPr lang="en-US" sz="780" b="1" dirty="0">
                <a:solidFill>
                  <a:srgbClr val="8A5A00"/>
                </a:solidFill>
                <a:latin typeface="Arial" pitchFamily="34" charset="0"/>
                <a:ea typeface="Arial" pitchFamily="34" charset="-122"/>
                <a:cs typeface="Arial" pitchFamily="34" charset="-120"/>
              </a:rPr>
              <a:t>× 10 000</a:t>
            </a:r>
            <a:endParaRPr lang="en-US" sz="780" dirty="0"/>
          </a:p>
        </p:txBody>
      </p:sp>
      <p:sp>
        <p:nvSpPr>
          <p:cNvPr id="9" name="Text 7"/>
          <p:cNvSpPr txBox="1"/>
          <p:nvPr/>
        </p:nvSpPr>
        <p:spPr>
          <a:xfrm>
            <a:off x="3760150" y="963355"/>
            <a:ext cx="3702038" cy="714266"/>
          </a:xfrm>
          <a:prstGeom prst="rect">
            <a:avLst/>
          </a:prstGeom>
          <a:noFill/>
          <a:ln/>
        </p:spPr>
        <p:txBody>
          <a:bodyPr wrap="square" lIns="0" tIns="0" rIns="0" bIns="0" rtlCol="0" anchor="t"/>
          <a:lstStyle/>
          <a:p>
            <a:pPr indent="0" marL="0">
              <a:lnSpc>
                <a:spcPct val="120000"/>
              </a:lnSpc>
              <a:buNone/>
            </a:pPr>
            <a:r>
              <a:rPr lang="en-US" sz="163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630" dirty="0"/>
          </a:p>
          <a:p>
            <a:pPr indent="0" marL="0">
              <a:lnSpc>
                <a:spcPct val="120000"/>
              </a:lnSpc>
              <a:buNone/>
            </a:pPr>
            <a:r>
              <a:rPr lang="en-US" sz="990"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630" dirty="0"/>
          </a:p>
        </p:txBody>
      </p:sp>
      <p:sp>
        <p:nvSpPr>
          <p:cNvPr id="10" name="Text 8"/>
          <p:cNvSpPr txBox="1"/>
          <p:nvPr/>
        </p:nvSpPr>
        <p:spPr>
          <a:xfrm>
            <a:off x="3760150" y="1742570"/>
            <a:ext cx="3702038" cy="763326"/>
          </a:xfrm>
          <a:prstGeom prst="rect">
            <a:avLst/>
          </a:prstGeom>
          <a:noFill/>
          <a:ln/>
        </p:spPr>
        <p:txBody>
          <a:bodyPr wrap="square" lIns="0" tIns="0" rIns="0" bIns="0" rtlCol="0" anchor="t"/>
          <a:lstStyle/>
          <a:p>
            <a:pPr indent="0" marL="0">
              <a:lnSpc>
                <a:spcPct val="128000"/>
              </a:lnSpc>
              <a:buNone/>
            </a:pPr>
            <a:r>
              <a:rPr lang="en-US" sz="890" dirty="0">
                <a:solidFill>
                  <a:srgbClr val="5F7183"/>
                </a:solidFill>
                <a:latin typeface="Arial" pitchFamily="34" charset="0"/>
                <a:ea typeface="Arial" pitchFamily="34" charset="-122"/>
                <a:cs typeface="Arial" pitchFamily="34" charset="-120"/>
              </a:rPr>
              <a:t>Lidar 10 Hz, camera 60 fps. Nếu không đóng dấu thời gian chung, khung ảnh và vòng quét có thể lệch nhau tới 50 ms — ở 40 km/h là hơn nửa mét.</a:t>
            </a:r>
            <a:endParaRPr lang="en-US" sz="890" dirty="0"/>
          </a:p>
          <a:p>
            <a:pPr indent="0" marL="0">
              <a:lnSpc>
                <a:spcPct val="128000"/>
              </a:lnSpc>
              <a:buNone/>
            </a:pPr>
            <a:r>
              <a:rPr lang="en-US" sz="820" dirty="0">
                <a:solidFill>
                  <a:srgbClr val="5F7183"/>
                </a:solidFill>
                <a:latin typeface="微軟正黑體" pitchFamily="34" charset="0"/>
                <a:ea typeface="微軟正黑體" pitchFamily="34" charset="-122"/>
                <a:cs typeface="微軟正黑體" pitchFamily="34" charset="-120"/>
              </a:rPr>
              <a:t>光達 10 Hz、相機 60 fps。如果沒有共同的時間戳，一張畫面和一圈掃描可能差到 50 毫秒——時速 40 就是超過半公尺。</a:t>
            </a:r>
            <a:endParaRPr lang="en-US" sz="890" dirty="0"/>
          </a:p>
        </p:txBody>
      </p:sp>
      <p:sp>
        <p:nvSpPr>
          <p:cNvPr id="11" name="Shape 9"/>
          <p:cNvSpPr/>
          <p:nvPr/>
        </p:nvSpPr>
        <p:spPr>
          <a:xfrm>
            <a:off x="1681812" y="2806268"/>
            <a:ext cx="5780375" cy="441647"/>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1811708" y="2858226"/>
            <a:ext cx="5520583" cy="350719"/>
          </a:xfrm>
          <a:prstGeom prst="rect">
            <a:avLst/>
          </a:prstGeom>
          <a:noFill/>
          <a:ln/>
        </p:spPr>
        <p:txBody>
          <a:bodyPr wrap="square" lIns="0" tIns="0" rIns="0" bIns="0" rtlCol="0" anchor="t"/>
          <a:lstStyle/>
          <a:p>
            <a:pPr indent="0" marL="0">
              <a:lnSpc>
                <a:spcPct val="116000"/>
              </a:lnSpc>
              <a:buNone/>
            </a:pPr>
            <a:r>
              <a:rPr lang="en-US" sz="89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89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890" dirty="0"/>
          </a:p>
        </p:txBody>
      </p:sp>
      <p:pic>
        <p:nvPicPr>
          <p:cNvPr id="14" name="Image 0" descr="/Users/tsengchenghsun/Class/carClass/Claude outputs/第五週(10-8)/src/logo.png">    </p:cNvPr>
          <p:cNvPicPr>
            <a:picLocks noChangeAspect="1"/>
          </p:cNvPicPr>
          <p:nvPr/>
        </p:nvPicPr>
        <p:blipFill>
          <a:blip r:embed="rId1"/>
          <a:stretch>
            <a:fillRect/>
          </a:stretch>
        </p:blipFill>
        <p:spPr>
          <a:xfrm>
            <a:off x="6663327" y="3338842"/>
            <a:ext cx="779376" cy="172200"/>
          </a:xfrm>
          <a:prstGeom prst="rect">
            <a:avLst/>
          </a:prstGeom>
        </p:spPr>
      </p:pic>
      <p:sp>
        <p:nvSpPr>
          <p:cNvPr id="15" name="Text 11"/>
          <p:cNvSpPr txBox="1"/>
          <p:nvPr/>
        </p:nvSpPr>
        <p:spPr>
          <a:xfrm>
            <a:off x="1402536" y="3390800"/>
            <a:ext cx="584532"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13 / 14</a:t>
            </a:r>
            <a:endParaRPr lang="en-US" sz="640" dirty="0"/>
          </a:p>
        </p:txBody>
      </p:sp>
      <p:sp>
        <p:nvSpPr>
          <p:cNvPr id="16" name="Text 12"/>
          <p:cNvSpPr txBox="1"/>
          <p:nvPr/>
        </p:nvSpPr>
        <p:spPr>
          <a:xfrm>
            <a:off x="2006553" y="3390800"/>
            <a:ext cx="1428857"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Tiết 2 · 第 2 節</a:t>
            </a:r>
            <a:endParaRPr lang="en-US" sz="64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130753" y="-947729"/>
            <a:ext cx="2987610" cy="2987610"/>
          </a:xfrm>
          <a:prstGeom prst="ellipse">
            <a:avLst/>
          </a:prstGeom>
          <a:solidFill>
            <a:srgbClr val="13314F"/>
          </a:solidFill>
          <a:ln w="12700">
            <a:solidFill>
              <a:srgbClr val="13314F"/>
            </a:solidFill>
            <a:prstDash val="solid"/>
          </a:ln>
        </p:spPr>
      </p:sp>
      <p:sp>
        <p:nvSpPr>
          <p:cNvPr id="3" name="Shape 1"/>
          <p:cNvSpPr/>
          <p:nvPr/>
        </p:nvSpPr>
        <p:spPr>
          <a:xfrm>
            <a:off x="7104973" y="1520297"/>
            <a:ext cx="1688649" cy="1688649"/>
          </a:xfrm>
          <a:prstGeom prst="ellipse">
            <a:avLst/>
          </a:prstGeom>
          <a:solidFill>
            <a:srgbClr val="007F72">
              <a:alpha val="28000"/>
            </a:srgbClr>
          </a:solidFill>
          <a:ln/>
        </p:spPr>
      </p:sp>
      <p:sp>
        <p:nvSpPr>
          <p:cNvPr id="4" name="Text 2"/>
          <p:cNvSpPr txBox="1"/>
          <p:nvPr/>
        </p:nvSpPr>
        <p:spPr>
          <a:xfrm>
            <a:off x="1681812" y="364222"/>
            <a:ext cx="4806155" cy="194844"/>
          </a:xfrm>
          <a:prstGeom prst="rect">
            <a:avLst/>
          </a:prstGeom>
          <a:noFill/>
          <a:ln/>
        </p:spPr>
        <p:txBody>
          <a:bodyPr wrap="square" lIns="0" tIns="0" rIns="0" bIns="0" rtlCol="0" anchor="ctr"/>
          <a:lstStyle/>
          <a:p>
            <a:pPr indent="0" marL="0">
              <a:buNone/>
            </a:pPr>
            <a:r>
              <a:rPr lang="en-US" sz="890" b="1" dirty="0">
                <a:solidFill>
                  <a:srgbClr val="FFB020"/>
                </a:solidFill>
                <a:latin typeface="Arial" pitchFamily="34" charset="0"/>
                <a:ea typeface="Arial" pitchFamily="34" charset="-122"/>
                <a:cs typeface="Arial" pitchFamily="34" charset="-120"/>
              </a:rPr>
              <a:t>Tiết 2 · 第二節小結</a:t>
            </a:r>
            <a:endParaRPr lang="en-US" sz="890" dirty="0"/>
          </a:p>
        </p:txBody>
      </p:sp>
      <p:sp>
        <p:nvSpPr>
          <p:cNvPr id="5" name="Text 3"/>
          <p:cNvSpPr txBox="1"/>
          <p:nvPr/>
        </p:nvSpPr>
        <p:spPr>
          <a:xfrm>
            <a:off x="1681812" y="611024"/>
            <a:ext cx="5715427" cy="753397"/>
          </a:xfrm>
          <a:prstGeom prst="rect">
            <a:avLst/>
          </a:prstGeom>
          <a:noFill/>
          <a:ln/>
        </p:spPr>
        <p:txBody>
          <a:bodyPr wrap="square" lIns="0" tIns="0" rIns="0" bIns="0" rtlCol="0" anchor="t"/>
          <a:lstStyle/>
          <a:p>
            <a:pPr indent="0" marL="0">
              <a:lnSpc>
                <a:spcPct val="120000"/>
              </a:lnSpc>
              <a:buNone/>
            </a:pPr>
            <a:r>
              <a:rPr lang="en-US" sz="1780" b="1" dirty="0">
                <a:solidFill>
                  <a:srgbClr val="FFFFFF"/>
                </a:solidFill>
                <a:latin typeface="Arial" pitchFamily="34" charset="0"/>
                <a:ea typeface="Arial" pitchFamily="34" charset="-122"/>
                <a:cs typeface="Arial" pitchFamily="34" charset="-120"/>
              </a:rPr>
              <a:t>Mang ba câu này lên máy</a:t>
            </a:r>
            <a:endParaRPr lang="en-US" sz="1780" dirty="0"/>
          </a:p>
          <a:p>
            <a:pPr indent="0" marL="0">
              <a:lnSpc>
                <a:spcPct val="120000"/>
              </a:lnSpc>
              <a:buNone/>
            </a:pPr>
            <a:r>
              <a:rPr lang="en-US" sz="1070" dirty="0">
                <a:solidFill>
                  <a:srgbClr val="AFC3D4"/>
                </a:solidFill>
                <a:latin typeface="微軟正黑體" pitchFamily="34" charset="0"/>
                <a:ea typeface="微軟正黑體" pitchFamily="34" charset="-122"/>
                <a:cs typeface="微軟正黑體" pitchFamily="34" charset="-120"/>
              </a:rPr>
              <a:t>帶三句話上機</a:t>
            </a:r>
            <a:endParaRPr lang="en-US" sz="1780" dirty="0"/>
          </a:p>
        </p:txBody>
      </p:sp>
      <p:sp>
        <p:nvSpPr>
          <p:cNvPr id="6" name="Shape 4"/>
          <p:cNvSpPr/>
          <p:nvPr/>
        </p:nvSpPr>
        <p:spPr>
          <a:xfrm>
            <a:off x="1681812" y="1286484"/>
            <a:ext cx="32474" cy="477815"/>
          </a:xfrm>
          <a:prstGeom prst="rect">
            <a:avLst/>
          </a:prstGeom>
          <a:solidFill>
            <a:srgbClr val="00A896"/>
          </a:solidFill>
          <a:ln/>
        </p:spPr>
      </p:sp>
      <p:sp>
        <p:nvSpPr>
          <p:cNvPr id="7" name="Text 5"/>
          <p:cNvSpPr txBox="1"/>
          <p:nvPr/>
        </p:nvSpPr>
        <p:spPr>
          <a:xfrm>
            <a:off x="1837688" y="1260505"/>
            <a:ext cx="5585531" cy="555752"/>
          </a:xfrm>
          <a:prstGeom prst="rect">
            <a:avLst/>
          </a:prstGeom>
          <a:noFill/>
          <a:ln/>
        </p:spPr>
        <p:txBody>
          <a:bodyPr wrap="square" lIns="0" tIns="0" rIns="0" bIns="0" rtlCol="0" anchor="t"/>
          <a:lstStyle/>
          <a:p>
            <a:pPr indent="0" marL="0">
              <a:lnSpc>
                <a:spcPct val="118000"/>
              </a:lnSpc>
              <a:buNone/>
            </a:pPr>
            <a:r>
              <a:rPr lang="en-US" sz="96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960" dirty="0"/>
          </a:p>
          <a:p>
            <a:pPr indent="0" marL="0">
              <a:lnSpc>
                <a:spcPct val="118000"/>
              </a:lnSpc>
              <a:buNone/>
            </a:pPr>
            <a:r>
              <a:rPr lang="en-US" sz="85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960" dirty="0"/>
          </a:p>
        </p:txBody>
      </p:sp>
      <p:sp>
        <p:nvSpPr>
          <p:cNvPr id="8" name="Shape 6"/>
          <p:cNvSpPr/>
          <p:nvPr/>
        </p:nvSpPr>
        <p:spPr>
          <a:xfrm>
            <a:off x="1681812" y="1907184"/>
            <a:ext cx="32474" cy="477815"/>
          </a:xfrm>
          <a:prstGeom prst="rect">
            <a:avLst/>
          </a:prstGeom>
          <a:solidFill>
            <a:srgbClr val="FFB020"/>
          </a:solidFill>
          <a:ln/>
        </p:spPr>
      </p:sp>
      <p:sp>
        <p:nvSpPr>
          <p:cNvPr id="9" name="Text 7"/>
          <p:cNvSpPr txBox="1"/>
          <p:nvPr/>
        </p:nvSpPr>
        <p:spPr>
          <a:xfrm>
            <a:off x="1837688" y="1881205"/>
            <a:ext cx="5585531" cy="555752"/>
          </a:xfrm>
          <a:prstGeom prst="rect">
            <a:avLst/>
          </a:prstGeom>
          <a:noFill/>
          <a:ln/>
        </p:spPr>
        <p:txBody>
          <a:bodyPr wrap="square" lIns="0" tIns="0" rIns="0" bIns="0" rtlCol="0" anchor="t"/>
          <a:lstStyle/>
          <a:p>
            <a:pPr indent="0" marL="0">
              <a:lnSpc>
                <a:spcPct val="118000"/>
              </a:lnSpc>
              <a:buNone/>
            </a:pPr>
            <a:r>
              <a:rPr lang="en-US" sz="96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960" dirty="0"/>
          </a:p>
          <a:p>
            <a:pPr indent="0" marL="0">
              <a:lnSpc>
                <a:spcPct val="118000"/>
              </a:lnSpc>
              <a:buNone/>
            </a:pPr>
            <a:r>
              <a:rPr lang="en-US" sz="85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960" dirty="0"/>
          </a:p>
        </p:txBody>
      </p:sp>
      <p:sp>
        <p:nvSpPr>
          <p:cNvPr id="10" name="Shape 8"/>
          <p:cNvSpPr/>
          <p:nvPr/>
        </p:nvSpPr>
        <p:spPr>
          <a:xfrm>
            <a:off x="1681812" y="2527885"/>
            <a:ext cx="32474" cy="477815"/>
          </a:xfrm>
          <a:prstGeom prst="rect">
            <a:avLst/>
          </a:prstGeom>
          <a:solidFill>
            <a:srgbClr val="00A896"/>
          </a:solidFill>
          <a:ln/>
        </p:spPr>
      </p:sp>
      <p:sp>
        <p:nvSpPr>
          <p:cNvPr id="11" name="Text 9"/>
          <p:cNvSpPr txBox="1"/>
          <p:nvPr/>
        </p:nvSpPr>
        <p:spPr>
          <a:xfrm>
            <a:off x="1837688" y="2501905"/>
            <a:ext cx="5585531" cy="555752"/>
          </a:xfrm>
          <a:prstGeom prst="rect">
            <a:avLst/>
          </a:prstGeom>
          <a:noFill/>
          <a:ln/>
        </p:spPr>
        <p:txBody>
          <a:bodyPr wrap="square" lIns="0" tIns="0" rIns="0" bIns="0" rtlCol="0" anchor="t"/>
          <a:lstStyle/>
          <a:p>
            <a:pPr indent="0" marL="0">
              <a:lnSpc>
                <a:spcPct val="118000"/>
              </a:lnSpc>
              <a:buNone/>
            </a:pPr>
            <a:r>
              <a:rPr lang="en-US" sz="96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960" dirty="0"/>
          </a:p>
          <a:p>
            <a:pPr indent="0" marL="0">
              <a:lnSpc>
                <a:spcPct val="118000"/>
              </a:lnSpc>
              <a:buNone/>
            </a:pPr>
            <a:r>
              <a:rPr lang="en-US" sz="85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960" dirty="0"/>
          </a:p>
        </p:txBody>
      </p:sp>
      <p:sp>
        <p:nvSpPr>
          <p:cNvPr id="13" name="Text 10"/>
          <p:cNvSpPr txBox="1"/>
          <p:nvPr/>
        </p:nvSpPr>
        <p:spPr>
          <a:xfrm>
            <a:off x="1402536" y="3390800"/>
            <a:ext cx="584532" cy="181855"/>
          </a:xfrm>
          <a:prstGeom prst="rect">
            <a:avLst/>
          </a:prstGeom>
          <a:noFill/>
          <a:ln/>
        </p:spPr>
        <p:txBody>
          <a:bodyPr wrap="square" lIns="0" tIns="0" rIns="0" bIns="0" rtlCol="0" anchor="ctr"/>
          <a:lstStyle/>
          <a:p>
            <a:pPr indent="0" marL="0">
              <a:buNone/>
            </a:pPr>
            <a:r>
              <a:rPr lang="en-US" sz="640" dirty="0">
                <a:solidFill>
                  <a:srgbClr val="9FB3C8"/>
                </a:solidFill>
                <a:latin typeface="Arial" pitchFamily="34" charset="0"/>
                <a:ea typeface="Arial" pitchFamily="34" charset="-122"/>
                <a:cs typeface="Arial" pitchFamily="34" charset="-120"/>
              </a:rPr>
              <a:t>14 / 14</a:t>
            </a:r>
            <a:endParaRPr lang="en-US" sz="640" dirty="0"/>
          </a:p>
        </p:txBody>
      </p:sp>
      <p:sp>
        <p:nvSpPr>
          <p:cNvPr id="14" name="Text 11"/>
          <p:cNvSpPr txBox="1"/>
          <p:nvPr/>
        </p:nvSpPr>
        <p:spPr>
          <a:xfrm>
            <a:off x="2006553" y="3390800"/>
            <a:ext cx="1428857" cy="181855"/>
          </a:xfrm>
          <a:prstGeom prst="rect">
            <a:avLst/>
          </a:prstGeom>
          <a:noFill/>
          <a:ln/>
        </p:spPr>
        <p:txBody>
          <a:bodyPr wrap="square" lIns="0" tIns="0" rIns="0" bIns="0" rtlCol="0" anchor="ctr"/>
          <a:lstStyle/>
          <a:p>
            <a:pPr indent="0" marL="0">
              <a:buNone/>
            </a:pPr>
            <a:r>
              <a:rPr lang="en-US" sz="640" dirty="0">
                <a:solidFill>
                  <a:srgbClr val="9FB3C8"/>
                </a:solidFill>
                <a:latin typeface="Arial" pitchFamily="34" charset="0"/>
                <a:ea typeface="Arial" pitchFamily="34" charset="-122"/>
                <a:cs typeface="Arial" pitchFamily="34" charset="-120"/>
              </a:rPr>
              <a:t>Tiết 2 · 第 2 節</a:t>
            </a:r>
            <a:endParaRPr lang="en-US" sz="64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2026-09-24T08:12:45Z</dcterms:created>
  <dcterms:modified xsi:type="dcterms:W3CDTF">2026-09-24T08:12:45Z</dcterms:modified>
</cp:coreProperties>
</file>