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段落分隔。宣告接下來三件事決定逆光與進隧道會發生什麼事；順便講明快門方式不在那份兩頁的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a:t>
            </a:r>
            <a:r>
              <a:rPr sz="1200" b="1" lang="zh-TW" dirty="0">
                <a:solidFill>
                  <a:srgbClr val="000000"/>
                </a:solidFill>
                <a:latin typeface="Arial Unicode MS"/>
                <a:ea typeface="Arial Unicode MS"/>
                <a:cs typeface="Arial Unicode MS"/>
              </a:rPr>
              <a:t>波長、眼睛安全、回波次數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左邊這一塊，是 OS1 datasheet 上 LASER 那一段。</a:t>
            </a:r>
            <a:r>
              <a:rPr sz="950" b="1" lang="zh-TW" dirty="0">
                <a:solidFill>
                  <a:srgbClr val="000000"/>
                </a:solidFill>
                <a:latin typeface="Arial Unicode MS"/>
                <a:ea typeface="Arial Unicode MS"/>
                <a:cs typeface="Arial Unicode MS"/>
              </a:rPr>
              <a:t>第一行就是眼睛安全等級</a:t>
            </a:r>
            <a:r>
              <a:rPr sz="950" lang="zh-TW" dirty="0">
                <a:solidFill>
                  <a:srgbClr val="000000"/>
                </a:solidFill>
                <a:latin typeface="Arial Unicode MS"/>
                <a:ea typeface="Arial Unicode MS"/>
                <a:cs typeface="Arial Unicode MS"/>
              </a:rPr>
              <a:t>，剛剛講的波長排在它下面。
</a:t>
            </a:r>
          </a:p>
          <a:p>
            <a:pPr algn="l">
              <a:spcBef>
                <a:spcPts val="0"/>
              </a:spcBef>
              <a:spcAft>
                <a:spcPts val="158"/>
              </a:spcAft>
            </a:pPr>
            <a:r>
              <a:rPr sz="950" lang="zh-TW" dirty="0">
                <a:solidFill>
                  <a:srgbClr val="000000"/>
                </a:solidFill>
                <a:latin typeface="Arial Unicode MS"/>
                <a:ea typeface="Arial Unicode MS"/>
                <a:cs typeface="Arial Unicode MS"/>
              </a:rPr>
              <a:t>上面寫的是：</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為什麼這件事重要到要單獨列一行？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所以這一行不是拿來加分的，是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剛剛那一行「最多兩次回波」，我說是為了雨和灰塵。其實它最常救的，是另一種東西——</a:t>
            </a:r>
            <a:r>
              <a:rPr sz="850" b="1" lang="zh-TW" dirty="0">
                <a:solidFill>
                  <a:srgbClr val="000000"/>
                </a:solidFill>
                <a:latin typeface="Arial Unicode MS"/>
                <a:ea typeface="Arial Unicode MS"/>
                <a:cs typeface="Arial Unicode MS"/>
              </a:rPr>
              <a:t>鏡面</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光達的前提很簡單：打出去的光，會從對面散一點回來。上一節我們講反射率，80% 和 10% 都是在講「散回來多少」。可是鏡面不散，它把</a:t>
            </a:r>
            <a:r>
              <a:rPr sz="850" b="1" lang="zh-TW" dirty="0">
                <a:solidFill>
                  <a:srgbClr val="000000"/>
                </a:solidFill>
                <a:latin typeface="Arial Unicode MS"/>
                <a:ea typeface="Arial Unicode MS"/>
                <a:cs typeface="Arial Unicode MS"/>
              </a:rPr>
              <a:t>整束光反射到別的地方去</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所以第一種狀況是：</a:t>
            </a:r>
            <a:r>
              <a:rPr sz="850" b="1" lang="zh-TW" dirty="0">
                <a:solidFill>
                  <a:srgbClr val="000000"/>
                </a:solidFill>
                <a:latin typeface="Arial Unicode MS"/>
                <a:ea typeface="Arial Unicode MS"/>
                <a:cs typeface="Arial Unicode MS"/>
              </a:rPr>
              <a:t>什麼都收不到。</a:t>
            </a:r>
            <a:r>
              <a:rPr sz="850" lang="zh-TW" dirty="0">
                <a:solidFill>
                  <a:srgbClr val="000000"/>
                </a:solidFill>
                <a:latin typeface="Arial Unicode MS"/>
                <a:ea typeface="Arial Unicode MS"/>
                <a:cs typeface="Arial Unicode MS"/>
              </a:rPr>
              <a:t>雷射斜斜打到玻璃帷幕、打到鍍鉻的保險桿，整束彈走，那一塊在點雲上就是一個洞。
</a:t>
            </a:r>
          </a:p>
          <a:p>
            <a:pPr algn="l">
              <a:spcBef>
                <a:spcPts val="0"/>
              </a:spcBef>
              <a:spcAft>
                <a:spcPts val="142"/>
              </a:spcAft>
            </a:pPr>
            <a:r>
              <a:rPr sz="850" lang="zh-TW" dirty="0">
                <a:solidFill>
                  <a:srgbClr val="000000"/>
                </a:solidFill>
                <a:latin typeface="Arial Unicode MS"/>
                <a:ea typeface="Arial Unicode MS"/>
                <a:cs typeface="Arial Unicode MS"/>
              </a:rPr>
              <a:t>這裡我要各位特別想一件事：</a:t>
            </a:r>
            <a:r>
              <a:rPr sz="850" b="1" lang="zh-TW" dirty="0">
                <a:solidFill>
                  <a:srgbClr val="000000"/>
                </a:solidFill>
                <a:latin typeface="Arial Unicode MS"/>
                <a:ea typeface="Arial Unicode MS"/>
                <a:cs typeface="Arial Unicode MS"/>
              </a:rPr>
              <a:t>下雨的晚上，路面是什麼？</a:t>
            </a:r>
            <a:r>
              <a:rPr sz="850" lang="zh-TW" dirty="0">
                <a:solidFill>
                  <a:srgbClr val="000000"/>
                </a:solidFill>
                <a:latin typeface="Arial Unicode MS"/>
                <a:ea typeface="Arial Unicode MS"/>
                <a:cs typeface="Arial Unicode MS"/>
              </a:rPr>
              <a:t>水膜會把粗糙的柏油變成一面鏡子。所以雨夜的路面在點雲上常常是破的，連車道邊界都量不到。這不是感測器壞了，是物理。
</a:t>
            </a:r>
          </a:p>
          <a:p>
            <a:pPr algn="l">
              <a:spcBef>
                <a:spcPts val="0"/>
              </a:spcBef>
              <a:spcAft>
                <a:spcPts val="142"/>
              </a:spcAft>
            </a:pPr>
            <a:r>
              <a:rPr sz="850" lang="zh-TW" dirty="0">
                <a:solidFill>
                  <a:srgbClr val="000000"/>
                </a:solidFill>
                <a:latin typeface="Arial Unicode MS"/>
                <a:ea typeface="Arial Unicode MS"/>
                <a:cs typeface="Arial Unicode MS"/>
              </a:rPr>
              <a:t>第二種更麻煩：光束打到鏡面，</a:t>
            </a:r>
            <a:r>
              <a:rPr sz="850" b="1" lang="zh-TW" dirty="0">
                <a:solidFill>
                  <a:srgbClr val="000000"/>
                </a:solidFill>
                <a:latin typeface="Arial Unicode MS"/>
                <a:ea typeface="Arial Unicode MS"/>
                <a:cs typeface="Arial Unicode MS"/>
              </a:rPr>
              <a:t>彈到旁邊的真東西，再原路回來</a:t>
            </a:r>
            <a:r>
              <a:rPr sz="85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。光達只知道來回飛了多久，於是把那個東西標在鏡子後面。玻璃帷幕大樓旁邊，點雲上會憑空長出一整排不存在的車。這個叫</a:t>
            </a:r>
            <a:r>
              <a:rPr sz="850" b="1" lang="zh-TW" dirty="0">
                <a:solidFill>
                  <a:srgbClr val="000000"/>
                </a:solidFill>
                <a:latin typeface="Arial Unicode MS"/>
                <a:ea typeface="Arial Unicode MS"/>
                <a:cs typeface="Arial Unicode MS"/>
              </a:rPr>
              <a:t>鬼點</a:t>
            </a:r>
            <a:r>
              <a:rPr sz="85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42"/>
              </a:spcAft>
            </a:pPr>
            <a:r>
              <a:rPr sz="850" lang="zh-TW" dirty="0">
                <a:solidFill>
                  <a:srgbClr val="000000"/>
                </a:solidFill>
                <a:latin typeface="Arial Unicode MS"/>
                <a:ea typeface="Arial Unicode MS"/>
                <a:cs typeface="Arial Unicode MS"/>
              </a:rPr>
              <a:t>第三種各位上一節聽過：</a:t>
            </a:r>
            <a:r>
              <a:rPr sz="850" b="1" lang="zh-TW" dirty="0">
                <a:solidFill>
                  <a:srgbClr val="000000"/>
                </a:solidFill>
                <a:latin typeface="Arial Unicode MS"/>
                <a:ea typeface="Arial Unicode MS"/>
                <a:cs typeface="Arial Unicode MS"/>
              </a:rPr>
              <a:t>回歸反射</a:t>
            </a:r>
            <a:r>
              <a:rPr sz="850" lang="zh-TW" dirty="0">
                <a:solidFill>
                  <a:srgbClr val="000000"/>
                </a:solidFill>
                <a:latin typeface="Arial Unicode MS"/>
                <a:ea typeface="Arial Unicode MS"/>
                <a:cs typeface="Arial Unicode MS"/>
              </a:rPr>
              <a:t>。反光背心和路牌會把光原路送回來，亮到爆表，在點雲上糊成一團光暈。所以上一節我才把反光背心從 80% 那一格拿掉——它根本不是同一類。
</a:t>
            </a:r>
          </a:p>
          <a:p>
            <a:pPr algn="l">
              <a:spcBef>
                <a:spcPts val="0"/>
              </a:spcBef>
              <a:spcAft>
                <a:spcPts val="142"/>
              </a:spcAft>
            </a:pPr>
            <a:r>
              <a:rPr sz="850" lang="zh-TW" dirty="0">
                <a:solidFill>
                  <a:srgbClr val="000000"/>
                </a:solidFill>
                <a:latin typeface="Arial Unicode MS"/>
                <a:ea typeface="Arial Unicode MS"/>
                <a:cs typeface="Arial Unicode MS"/>
              </a:rPr>
              <a:t>那怎麼辦？請看最右邊那一欄。</a:t>
            </a:r>
            <a:r>
              <a:rPr sz="850" b="1" lang="zh-TW" dirty="0">
                <a:solidFill>
                  <a:srgbClr val="000000"/>
                </a:solidFill>
                <a:latin typeface="Arial Unicode MS"/>
                <a:ea typeface="Arial Unicode MS"/>
                <a:cs typeface="Arial Unicode MS"/>
              </a:rPr>
              <a:t>沒有一招擋得住全部</a:t>
            </a:r>
            <a:r>
              <a:rPr sz="850" lang="zh-TW" dirty="0">
                <a:solidFill>
                  <a:srgbClr val="000000"/>
                </a:solidFill>
                <a:latin typeface="Arial Unicode MS"/>
                <a:ea typeface="Arial Unicode MS"/>
                <a:cs typeface="Arial Unicode MS"/>
              </a:rPr>
              <a:t>，現在是四層疊起來：多次回波把玻璃和玻璃後面的東西都收回來；看反射強度，太弱和太強都是警訊；高精地圖把已知的玻璃帷幕路段標成風險區；最後也是最重要的——</a:t>
            </a:r>
            <a:r>
              <a:rPr sz="850" b="1" lang="zh-TW" dirty="0">
                <a:solidFill>
                  <a:srgbClr val="000000"/>
                </a:solidFill>
                <a:latin typeface="Arial Unicode MS"/>
                <a:ea typeface="Arial Unicode MS"/>
                <a:cs typeface="Arial Unicode MS"/>
              </a:rPr>
              <a:t>雷達</a:t>
            </a:r>
            <a:r>
              <a:rPr sz="850" lang="zh-TW" dirty="0">
                <a:solidFill>
                  <a:srgbClr val="000000"/>
                </a:solidFill>
                <a:latin typeface="Arial Unicode MS"/>
                <a:ea typeface="Arial Unicode MS"/>
                <a:cs typeface="Arial Unicode MS"/>
              </a:rPr>
              <a:t>。毫米波碰到鏡面的行為跟雷射完全不一樣。
</a:t>
            </a:r>
          </a:p>
          <a:p>
            <a:pPr algn="l">
              <a:spcBef>
                <a:spcPts val="0"/>
              </a:spcBef>
              <a:spcAft>
                <a:spcPts val="142"/>
              </a:spcAft>
            </a:pPr>
            <a:r>
              <a:rPr sz="850" lang="zh-TW" dirty="0">
                <a:solidFill>
                  <a:srgbClr val="000000"/>
                </a:solidFill>
                <a:latin typeface="Arial Unicode MS"/>
                <a:ea typeface="Arial Unicode MS"/>
                <a:cs typeface="Arial Unicode MS"/>
              </a:rPr>
              <a:t>所以這張的結論，其實就是下一段要講的事：</a:t>
            </a:r>
            <a:r>
              <a:rPr sz="85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相機：決定逆光與進隧道的那三件事</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thứ khó nhất với lidar</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鏡面：光達最難處理的一種表面</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Gương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鏡面做了什麼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49065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2026-10-03T14:27:10Z</dcterms:created>
  <dcterms:modified xsi:type="dcterms:W3CDTF">2026-10-03T14:27:10Z</dcterms:modified>
</cp:coreProperties>
</file>