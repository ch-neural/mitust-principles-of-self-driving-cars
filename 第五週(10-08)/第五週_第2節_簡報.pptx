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第二節開始。
</a:t>
            </a:r>
          </a:p>
          <a:p>
            <a:pPr algn="l">
              <a:lnSpc>
                <a:spcPct val="115000"/>
              </a:lnSpc>
              <a:spcAft>
                <a:spcPts val="600"/>
              </a:spcAft>
            </a:pPr>
            <a:r>
              <a:rPr sz="1200" lang="zh-TW" dirty="0">
                <a:solidFill>
                  <a:srgbClr val="000000"/>
                </a:solidFill>
                <a:latin typeface="Arial Unicode MS"/>
                <a:ea typeface="Arial Unicode MS"/>
                <a:cs typeface="Arial Unicode MS"/>
              </a:rPr>
              <a:t>上一節我們找的四個數字，是規格表的</a:t>
            </a:r>
            <a:r>
              <a:rPr sz="1200" b="1" lang="zh-TW" dirty="0">
                <a:solidFill>
                  <a:srgbClr val="000000"/>
                </a:solidFill>
                <a:latin typeface="Arial Unicode MS"/>
                <a:ea typeface="Arial Unicode MS"/>
                <a:cs typeface="Arial Unicode MS"/>
              </a:rPr>
              <a:t>第一頁</a:t>
            </a:r>
            <a:r>
              <a:rPr sz="12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600"/>
              </a:spcAft>
            </a:pPr>
            <a:r>
              <a:rPr sz="1200" lang="zh-TW" dirty="0">
                <a:solidFill>
                  <a:srgbClr val="000000"/>
                </a:solidFill>
                <a:latin typeface="Arial Unicode MS"/>
                <a:ea typeface="Arial Unicode MS"/>
                <a:cs typeface="Arial Unicode MS"/>
              </a:rPr>
              <a:t>這一節我要帶各位往下翻。第二頁上還有一堆數字，大部分的人不看，可是</a:t>
            </a:r>
            <a:r>
              <a:rPr sz="1200" b="1" lang="zh-TW" dirty="0">
                <a:solidFill>
                  <a:srgbClr val="000000"/>
                </a:solidFill>
                <a:latin typeface="Arial Unicode MS"/>
                <a:ea typeface="Arial Unicode MS"/>
                <a:cs typeface="Arial Unicode MS"/>
              </a:rPr>
              <a:t>真的出事的時候，常常是出在那幾行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我挑三組最重要的。
</a:t>
            </a:r>
          </a:p>
          <a:p>
            <a:pPr algn="l">
              <a:lnSpc>
                <a:spcPct val="115000"/>
              </a:lnSpc>
              <a:spcAft>
                <a:spcPts val="600"/>
              </a:spcAft>
            </a:pPr>
            <a:r>
              <a:rPr sz="1200" lang="zh-TW" dirty="0">
                <a:solidFill>
                  <a:srgbClr val="000000"/>
                </a:solidFill>
                <a:latin typeface="Arial Unicode MS"/>
                <a:ea typeface="Arial Unicode MS"/>
                <a:cs typeface="Arial Unicode MS"/>
              </a:rPr>
              <a:t>第一組是相機的：</a:t>
            </a:r>
            <a:r>
              <a:rPr sz="1200" b="1" lang="zh-TW" dirty="0">
                <a:solidFill>
                  <a:srgbClr val="000000"/>
                </a:solidFill>
                <a:latin typeface="Arial Unicode MS"/>
                <a:ea typeface="Arial Unicode MS"/>
                <a:cs typeface="Arial Unicode MS"/>
              </a:rPr>
              <a:t>快門怎麼掃、動態範圍多少、LED 閃爍怎麼處理</a:t>
            </a:r>
            <a:r>
              <a:rPr sz="12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600"/>
              </a:spcAft>
            </a:pPr>
            <a:r>
              <a:rPr sz="1200" lang="zh-TW" dirty="0">
                <a:solidFill>
                  <a:srgbClr val="000000"/>
                </a:solidFill>
                <a:latin typeface="Arial Unicode MS"/>
                <a:ea typeface="Arial Unicode MS"/>
                <a:cs typeface="Arial Unicode MS"/>
              </a:rPr>
              <a:t>第二組是光達的：</a:t>
            </a:r>
            <a:r>
              <a:rPr sz="1200" b="1" lang="zh-TW" dirty="0">
                <a:solidFill>
                  <a:srgbClr val="000000"/>
                </a:solidFill>
                <a:latin typeface="Arial Unicode MS"/>
                <a:ea typeface="Arial Unicode MS"/>
                <a:cs typeface="Arial Unicode MS"/>
              </a:rPr>
              <a:t>波長、眼睛安全等級、幾次回波</a:t>
            </a:r>
            <a:r>
              <a:rPr sz="12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600"/>
              </a:spcAft>
            </a:pPr>
            <a:r>
              <a:rPr sz="1200" lang="zh-TW" dirty="0">
                <a:solidFill>
                  <a:srgbClr val="000000"/>
                </a:solidFill>
                <a:latin typeface="Arial Unicode MS"/>
                <a:ea typeface="Arial Unicode MS"/>
                <a:cs typeface="Arial Unicode MS"/>
              </a:rPr>
              <a:t>第三組是兩種都有的，而且是最多人忽略的：</a:t>
            </a:r>
            <a:r>
              <a:rPr sz="1200" b="1" lang="zh-TW" dirty="0">
                <a:solidFill>
                  <a:srgbClr val="000000"/>
                </a:solidFill>
                <a:latin typeface="Arial Unicode MS"/>
                <a:ea typeface="Arial Unicode MS"/>
                <a:cs typeface="Arial Unicode MS"/>
              </a:rPr>
              <a:t>標定和時間同步</a:t>
            </a:r>
            <a:r>
              <a:rPr sz="12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600"/>
              </a:spcAft>
            </a:pPr>
            <a:r>
              <a:rPr sz="12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緊接著上一行的是</a:t>
            </a:r>
            <a:r>
              <a:rPr sz="1200" b="1" lang="zh-TW" dirty="0">
                <a:solidFill>
                  <a:srgbClr val="000000"/>
                </a:solidFill>
                <a:latin typeface="Arial Unicode MS"/>
                <a:ea typeface="Arial Unicode MS"/>
                <a:cs typeface="Arial Unicode MS"/>
              </a:rPr>
              <a:t>眼睛安全等級</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OS1 的規格表上寫：</a:t>
            </a:r>
            <a:r>
              <a:rPr sz="1200" b="1" lang="zh-TW" dirty="0">
                <a:solidFill>
                  <a:srgbClr val="000000"/>
                </a:solidFill>
                <a:latin typeface="Arial Unicode MS"/>
                <a:ea typeface="Arial Unicode MS"/>
                <a:cs typeface="Arial Unicode MS"/>
              </a:rPr>
              <a:t>Class 1 eye-safe per IEC/EN 60825-1: 2014</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200" b="1" lang="zh-TW" dirty="0">
                <a:solidFill>
                  <a:srgbClr val="000000"/>
                </a:solidFill>
                <a:latin typeface="Arial Unicode MS"/>
                <a:ea typeface="Arial Unicode MS"/>
                <a:cs typeface="Arial Unicode MS"/>
              </a:rPr>
              <a:t>在正常使用的情況下，就算有人直直盯著它看，也不會傷到眼睛。</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600"/>
              </a:spcAft>
            </a:pPr>
            <a:r>
              <a:rPr sz="1200" lang="zh-TW" dirty="0">
                <a:solidFill>
                  <a:srgbClr val="000000"/>
                </a:solidFill>
                <a:latin typeface="Arial Unicode MS"/>
                <a:ea typeface="Arial Unicode MS"/>
                <a:cs typeface="Arial Unicode MS"/>
              </a:rPr>
              <a:t>因為光達是裝在</a:t>
            </a:r>
            <a:r>
              <a:rPr sz="1200" b="1" lang="zh-TW" dirty="0">
                <a:solidFill>
                  <a:srgbClr val="000000"/>
                </a:solidFill>
                <a:latin typeface="Arial Unicode MS"/>
                <a:ea typeface="Arial Unicode MS"/>
                <a:cs typeface="Arial Unicode MS"/>
              </a:rPr>
              <a:t>馬路上跑的車</a:t>
            </a:r>
            <a:r>
              <a:rPr sz="12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600"/>
              </a:spcAft>
            </a:pPr>
            <a:r>
              <a:rPr sz="1200" lang="zh-TW" dirty="0">
                <a:solidFill>
                  <a:srgbClr val="000000"/>
                </a:solidFill>
                <a:latin typeface="Arial Unicode MS"/>
                <a:ea typeface="Arial Unicode MS"/>
                <a:cs typeface="Arial Unicode MS"/>
              </a:rPr>
              <a:t>所以這一行不是加分項，是</a:t>
            </a:r>
            <a:r>
              <a:rPr sz="1200" b="1" lang="zh-TW" dirty="0">
                <a:solidFill>
                  <a:srgbClr val="000000"/>
                </a:solidFill>
                <a:latin typeface="Arial Unicode MS"/>
                <a:ea typeface="Arial Unicode MS"/>
                <a:cs typeface="Arial Unicode MS"/>
              </a:rPr>
              <a:t>門檻</a:t>
            </a:r>
            <a:r>
              <a:rPr sz="12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600"/>
              </a:spcAft>
            </a:pPr>
            <a:r>
              <a:rPr sz="12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600"/>
              </a:spcAft>
            </a:pPr>
            <a:r>
              <a:rPr sz="12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光達的第三行講的是</a:t>
            </a:r>
            <a:r>
              <a:rPr sz="1050" b="1" lang="zh-TW" dirty="0">
                <a:solidFill>
                  <a:srgbClr val="000000"/>
                </a:solidFill>
                <a:latin typeface="Arial Unicode MS"/>
                <a:ea typeface="Arial Unicode MS"/>
                <a:cs typeface="Arial Unicode MS"/>
              </a:rPr>
              <a:t>回波次數</a:t>
            </a:r>
            <a:r>
              <a:rPr sz="1050" lang="zh-TW" dirty="0">
                <a:solidFill>
                  <a:srgbClr val="000000"/>
                </a:solidFill>
                <a:latin typeface="Arial Unicode MS"/>
                <a:ea typeface="Arial Unicode MS"/>
                <a:cs typeface="Arial Unicode MS"/>
              </a:rPr>
              <a:t>。OS1 的規格表上寫 </a:t>
            </a:r>
            <a:r>
              <a:rPr sz="1050" b="1" lang="zh-TW" dirty="0">
                <a:solidFill>
                  <a:srgbClr val="000000"/>
                </a:solidFill>
                <a:latin typeface="Arial Unicode MS"/>
                <a:ea typeface="Arial Unicode MS"/>
                <a:cs typeface="Arial Unicode MS"/>
              </a:rPr>
              <a:t>number of returns: up to 2</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這一行在講什麼？
</a:t>
            </a:r>
          </a:p>
          <a:p>
            <a:pPr algn="l">
              <a:lnSpc>
                <a:spcPct val="115000"/>
              </a:lnSpc>
              <a:spcAft>
                <a:spcPts val="525"/>
              </a:spcAft>
            </a:pPr>
            <a:r>
              <a:rPr sz="105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25"/>
              </a:spcAft>
            </a:pPr>
            <a:r>
              <a:rPr sz="1050" lang="zh-TW" dirty="0">
                <a:solidFill>
                  <a:srgbClr val="000000"/>
                </a:solidFill>
                <a:latin typeface="Arial Unicode MS"/>
                <a:ea typeface="Arial Unicode MS"/>
                <a:cs typeface="Arial Unicode MS"/>
              </a:rPr>
              <a:t>那道雷射可能</a:t>
            </a:r>
            <a:r>
              <a:rPr sz="1050" b="1" lang="zh-TW" dirty="0">
                <a:solidFill>
                  <a:srgbClr val="000000"/>
                </a:solidFill>
                <a:latin typeface="Arial Unicode MS"/>
                <a:ea typeface="Arial Unicode MS"/>
                <a:cs typeface="Arial Unicode MS"/>
              </a:rPr>
              <a:t>先打到一顆雨滴，彈回來一次</a:t>
            </a:r>
            <a:r>
              <a:rPr sz="1050" lang="zh-TW" dirty="0">
                <a:solidFill>
                  <a:srgbClr val="000000"/>
                </a:solidFill>
                <a:latin typeface="Arial Unicode MS"/>
                <a:ea typeface="Arial Unicode MS"/>
                <a:cs typeface="Arial Unicode MS"/>
              </a:rPr>
              <a:t>；穿過去之後，</a:t>
            </a:r>
            <a:r>
              <a:rPr sz="1050" b="1" lang="zh-TW" dirty="0">
                <a:solidFill>
                  <a:srgbClr val="000000"/>
                </a:solidFill>
                <a:latin typeface="Arial Unicode MS"/>
                <a:ea typeface="Arial Unicode MS"/>
                <a:cs typeface="Arial Unicode MS"/>
              </a:rPr>
              <a:t>再打到真正的車，又彈回來一次</a:t>
            </a:r>
            <a:r>
              <a:rPr sz="1050" lang="zh-TW" dirty="0">
                <a:solidFill>
                  <a:srgbClr val="000000"/>
                </a:solidFill>
                <a:latin typeface="Arial Unicode MS"/>
                <a:ea typeface="Arial Unicode MS"/>
                <a:cs typeface="Arial Unicode MS"/>
              </a:rPr>
              <a:t>。同一道雷射，兩次回波。
</a:t>
            </a:r>
          </a:p>
          <a:p>
            <a:pPr algn="l">
              <a:lnSpc>
                <a:spcPct val="115000"/>
              </a:lnSpc>
              <a:spcAft>
                <a:spcPts val="525"/>
              </a:spcAft>
            </a:pPr>
            <a:r>
              <a:rPr sz="1050" lang="zh-TW" dirty="0">
                <a:solidFill>
                  <a:srgbClr val="000000"/>
                </a:solidFill>
                <a:latin typeface="Arial Unicode MS"/>
                <a:ea typeface="Arial Unicode MS"/>
                <a:cs typeface="Arial Unicode MS"/>
              </a:rPr>
              <a:t>如果這顆光達只收</a:t>
            </a:r>
            <a:r>
              <a:rPr sz="1050" b="1" lang="zh-TW" dirty="0">
                <a:solidFill>
                  <a:srgbClr val="000000"/>
                </a:solidFill>
                <a:latin typeface="Arial Unicode MS"/>
                <a:ea typeface="Arial Unicode MS"/>
                <a:cs typeface="Arial Unicode MS"/>
              </a:rPr>
              <a:t>第一次</a:t>
            </a:r>
            <a:r>
              <a:rPr sz="105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25"/>
              </a:spcAft>
            </a:pPr>
            <a:r>
              <a:rPr sz="1050" lang="zh-TW" dirty="0">
                <a:solidFill>
                  <a:srgbClr val="000000"/>
                </a:solidFill>
                <a:latin typeface="Arial Unicode MS"/>
                <a:ea typeface="Arial Unicode MS"/>
                <a:cs typeface="Arial Unicode MS"/>
              </a:rPr>
              <a:t>這就是第三週我們講下雪那一輪的時候，我說的那件事：</a:t>
            </a:r>
            <a:r>
              <a:rPr sz="1050" b="1" lang="zh-TW" dirty="0">
                <a:solidFill>
                  <a:srgbClr val="000000"/>
                </a:solidFill>
                <a:latin typeface="Arial Unicode MS"/>
                <a:ea typeface="Arial Unicode MS"/>
                <a:cs typeface="Arial Unicode MS"/>
              </a:rPr>
              <a:t>飄在空中的雪花本身就會反射雷射</a:t>
            </a:r>
            <a:r>
              <a:rPr sz="1050" lang="zh-TW" dirty="0">
                <a:solidFill>
                  <a:srgbClr val="000000"/>
                </a:solidFill>
                <a:latin typeface="Arial Unicode MS"/>
                <a:ea typeface="Arial Unicode MS"/>
                <a:cs typeface="Arial Unicode MS"/>
              </a:rPr>
              <a:t>，車子會看到一堆根本不存在的點。
</a:t>
            </a:r>
          </a:p>
          <a:p>
            <a:pPr algn="l">
              <a:lnSpc>
                <a:spcPct val="115000"/>
              </a:lnSpc>
              <a:spcAft>
                <a:spcPts val="525"/>
              </a:spcAft>
            </a:pPr>
            <a:r>
              <a:rPr sz="1050" lang="zh-TW" dirty="0">
                <a:solidFill>
                  <a:srgbClr val="000000"/>
                </a:solidFill>
                <a:latin typeface="Arial Unicode MS"/>
                <a:ea typeface="Arial Unicode MS"/>
                <a:cs typeface="Arial Unicode MS"/>
              </a:rPr>
              <a:t>處理的方法就是收</a:t>
            </a:r>
            <a:r>
              <a:rPr sz="1050" b="1" lang="zh-TW" dirty="0">
                <a:solidFill>
                  <a:srgbClr val="000000"/>
                </a:solidFill>
                <a:latin typeface="Arial Unicode MS"/>
                <a:ea typeface="Arial Unicode MS"/>
                <a:cs typeface="Arial Unicode MS"/>
              </a:rPr>
              <a:t>多次回波</a:t>
            </a:r>
            <a:r>
              <a:rPr sz="10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25"/>
              </a:spcAft>
            </a:pPr>
            <a:r>
              <a:rPr sz="1050" lang="zh-TW" dirty="0">
                <a:solidFill>
                  <a:srgbClr val="000000"/>
                </a:solidFill>
                <a:latin typeface="Arial Unicode MS"/>
                <a:ea typeface="Arial Unicode MS"/>
                <a:cs typeface="Arial Unicode MS"/>
              </a:rPr>
              <a:t>規格表上還會寫 </a:t>
            </a:r>
            <a:r>
              <a:rPr sz="1050" b="1" lang="zh-TW" dirty="0">
                <a:solidFill>
                  <a:srgbClr val="000000"/>
                </a:solidFill>
                <a:latin typeface="Arial Unicode MS"/>
                <a:ea typeface="Arial Unicode MS"/>
                <a:cs typeface="Arial Unicode MS"/>
              </a:rPr>
              <a:t>Return Order</a:t>
            </a:r>
            <a:r>
              <a:rPr sz="105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25"/>
              </a:spcAft>
            </a:pPr>
            <a:r>
              <a:rPr sz="1050" lang="zh-TW" dirty="0">
                <a:solidFill>
                  <a:srgbClr val="000000"/>
                </a:solidFill>
                <a:latin typeface="Arial Unicode MS"/>
                <a:ea typeface="Arial Unicode MS"/>
                <a:cs typeface="Arial Unicode MS"/>
              </a:rPr>
              <a:t>所以「up to 2 returns」這一行，其實就是在回答：</a:t>
            </a:r>
            <a:r>
              <a:rPr sz="1050" b="1" lang="zh-TW" dirty="0">
                <a:solidFill>
                  <a:srgbClr val="000000"/>
                </a:solidFill>
                <a:latin typeface="Arial Unicode MS"/>
                <a:ea typeface="Arial Unicode MS"/>
                <a:cs typeface="Arial Unicode MS"/>
              </a:rPr>
              <a:t>這顆光達在雨天和灰塵裡好不好用。</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最後一件事是</a:t>
            </a:r>
            <a:r>
              <a:rPr sz="1050" b="1" lang="zh-TW" dirty="0">
                <a:solidFill>
                  <a:srgbClr val="000000"/>
                </a:solidFill>
                <a:latin typeface="Arial Unicode MS"/>
                <a:ea typeface="Arial Unicode MS"/>
                <a:cs typeface="Arial Unicode MS"/>
              </a:rPr>
              <a:t>時間同步</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25"/>
              </a:spcAft>
            </a:pPr>
            <a:r>
              <a:rPr sz="105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25"/>
              </a:spcAft>
            </a:pPr>
            <a:r>
              <a:rPr sz="1050" lang="zh-TW" dirty="0">
                <a:solidFill>
                  <a:srgbClr val="000000"/>
                </a:solidFill>
                <a:latin typeface="Arial Unicode MS"/>
                <a:ea typeface="Arial Unicode MS"/>
                <a:cs typeface="Arial Unicode MS"/>
              </a:rPr>
              <a:t>假設車子現在收到一張相機的畫面，還有一圈光達的點雲，要把它們合起來。問題是——</a:t>
            </a:r>
            <a:r>
              <a:rPr sz="1050" b="1" lang="zh-TW" dirty="0">
                <a:solidFill>
                  <a:srgbClr val="000000"/>
                </a:solidFill>
                <a:latin typeface="Arial Unicode MS"/>
                <a:ea typeface="Arial Unicode MS"/>
                <a:cs typeface="Arial Unicode MS"/>
              </a:rPr>
              <a:t>這兩份資料是同一個瞬間的嗎？</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如果沒有處理，它們可能差到五十毫秒。時速四十的時候，五十毫秒車子走了</a:t>
            </a:r>
            <a:r>
              <a:rPr sz="1050" b="1" lang="zh-TW" dirty="0">
                <a:solidFill>
                  <a:srgbClr val="000000"/>
                </a:solidFill>
                <a:latin typeface="Arial Unicode MS"/>
                <a:ea typeface="Arial Unicode MS"/>
                <a:cs typeface="Arial Unicode MS"/>
              </a:rPr>
              <a:t>零點五六公尺</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所以你會把相機在 A 點看到的人，跟光達在 B 點量到的距離配在一起，得到一個</a:t>
            </a:r>
            <a:r>
              <a:rPr sz="1050" b="1" lang="zh-TW" dirty="0">
                <a:solidFill>
                  <a:srgbClr val="000000"/>
                </a:solidFill>
                <a:latin typeface="Arial Unicode MS"/>
                <a:ea typeface="Arial Unicode MS"/>
                <a:cs typeface="Arial Unicode MS"/>
              </a:rPr>
              <a:t>根本不存在的位置</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25"/>
              </a:spcAft>
            </a:pPr>
            <a:r>
              <a:rPr sz="1050" lang="zh-TW" dirty="0">
                <a:solidFill>
                  <a:srgbClr val="000000"/>
                </a:solidFill>
                <a:latin typeface="Arial Unicode MS"/>
                <a:ea typeface="Arial Unicode MS"/>
                <a:cs typeface="Arial Unicode MS"/>
              </a:rPr>
              <a:t>解法是讓每一顆感測器都在資料上蓋一個</a:t>
            </a:r>
            <a:r>
              <a:rPr sz="1050" b="1" lang="zh-TW" dirty="0">
                <a:solidFill>
                  <a:srgbClr val="000000"/>
                </a:solidFill>
                <a:latin typeface="Arial Unicode MS"/>
                <a:ea typeface="Arial Unicode MS"/>
                <a:cs typeface="Arial Unicode MS"/>
              </a:rPr>
              <a:t>時間戳</a:t>
            </a:r>
            <a:r>
              <a:rPr sz="1050" lang="zh-TW" dirty="0">
                <a:solidFill>
                  <a:srgbClr val="000000"/>
                </a:solidFill>
                <a:latin typeface="Arial Unicode MS"/>
                <a:ea typeface="Arial Unicode MS"/>
                <a:cs typeface="Arial Unicode MS"/>
              </a:rPr>
              <a:t>，而且全車用同一個時鐘。高階一點的做法是讓光達的轉動跟相機的快門</a:t>
            </a:r>
            <a:r>
              <a:rPr sz="1050" b="1" lang="zh-TW" dirty="0">
                <a:solidFill>
                  <a:srgbClr val="000000"/>
                </a:solidFill>
                <a:latin typeface="Arial Unicode MS"/>
                <a:ea typeface="Arial Unicode MS"/>
                <a:cs typeface="Arial Unicode MS"/>
              </a:rPr>
              <a:t>對齊</a:t>
            </a:r>
            <a:r>
              <a:rPr sz="105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25"/>
              </a:spcAft>
            </a:pPr>
            <a:r>
              <a:rPr sz="1050" lang="zh-TW" dirty="0">
                <a:solidFill>
                  <a:srgbClr val="000000"/>
                </a:solidFill>
                <a:latin typeface="Arial Unicode MS"/>
                <a:ea typeface="Arial Unicode MS"/>
                <a:cs typeface="Arial Unicode MS"/>
              </a:rPr>
              <a:t>所以請各位記住：</a:t>
            </a:r>
            <a:r>
              <a:rPr sz="1050" b="1" lang="zh-TW" dirty="0">
                <a:solidFill>
                  <a:srgbClr val="000000"/>
                </a:solidFill>
                <a:latin typeface="Arial Unicode MS"/>
                <a:ea typeface="Arial Unicode MS"/>
                <a:cs typeface="Arial Unicode MS"/>
              </a:rPr>
              <a:t>兩顆感測器各自都是好的，不代表合起來是對的。</a:t>
            </a:r>
            <a:r>
              <a:rPr sz="1050" lang="zh-TW" dirty="0">
                <a:solidFill>
                  <a:srgbClr val="000000"/>
                </a:solidFill>
                <a:latin typeface="Arial Unicode MS"/>
                <a:ea typeface="Arial Unicode MS"/>
                <a:cs typeface="Arial Unicode MS"/>
              </a:rPr>
              <a:t>中間還有標定和同步這兩關。
</a:t>
            </a:r>
          </a:p>
          <a:p>
            <a:pPr algn="l">
              <a:lnSpc>
                <a:spcPct val="115000"/>
              </a:lnSpc>
              <a:spcAft>
                <a:spcPts val="525"/>
              </a:spcAft>
            </a:pPr>
            <a:r>
              <a:rPr sz="10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25"/>
              </a:spcAft>
            </a:pPr>
            <a:r>
              <a:rPr sz="1050" lang="zh-TW" dirty="0">
                <a:solidFill>
                  <a:srgbClr val="000000"/>
                </a:solidFill>
                <a:latin typeface="Arial Unicode MS"/>
                <a:ea typeface="Arial Unicode MS"/>
                <a:cs typeface="Arial Unicode MS"/>
              </a:rPr>
              <a:t>下一節我們回到工具上，把今天和上一節講的東西，全部用在一件事上：</a:t>
            </a:r>
            <a:r>
              <a:rPr sz="1050" b="1" lang="zh-TW" dirty="0">
                <a:solidFill>
                  <a:srgbClr val="000000"/>
                </a:solidFill>
                <a:latin typeface="Arial Unicode MS"/>
                <a:ea typeface="Arial Unicode MS"/>
                <a:cs typeface="Arial Unicode MS"/>
              </a:rPr>
              <a:t>幫一個指定的情境選一顆感測器</a:t>
            </a:r>
            <a:r>
              <a:rPr sz="10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第二節收起來，三句話。
</a:t>
            </a:r>
          </a:p>
          <a:p>
            <a:pPr algn="l">
              <a:lnSpc>
                <a:spcPct val="115000"/>
              </a:lnSpc>
              <a:spcAft>
                <a:spcPts val="600"/>
              </a:spcAft>
            </a:pPr>
            <a:r>
              <a:rPr sz="1200" b="1" lang="zh-TW" dirty="0">
                <a:solidFill>
                  <a:srgbClr val="000000"/>
                </a:solidFill>
                <a:latin typeface="Arial Unicode MS"/>
                <a:ea typeface="Arial Unicode MS"/>
                <a:cs typeface="Arial Unicode MS"/>
              </a:rPr>
              <a:t>第一句，相機的三行。</a:t>
            </a:r>
            <a:r>
              <a:rPr sz="12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600"/>
              </a:spcAft>
            </a:pPr>
            <a:r>
              <a:rPr sz="1200" b="1" lang="zh-TW" dirty="0">
                <a:solidFill>
                  <a:srgbClr val="000000"/>
                </a:solidFill>
                <a:latin typeface="Arial Unicode MS"/>
                <a:ea typeface="Arial Unicode MS"/>
                <a:cs typeface="Arial Unicode MS"/>
              </a:rPr>
              <a:t>第二句，光達的三行。</a:t>
            </a:r>
            <a:r>
              <a:rPr sz="12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600"/>
              </a:spcAft>
            </a:pPr>
            <a:r>
              <a:rPr sz="1200" b="1" lang="zh-TW" dirty="0">
                <a:solidFill>
                  <a:srgbClr val="000000"/>
                </a:solidFill>
                <a:latin typeface="Arial Unicode MS"/>
                <a:ea typeface="Arial Unicode MS"/>
                <a:cs typeface="Arial Unicode MS"/>
              </a:rPr>
              <a:t>第三句，兩顆好的感測器合起來不一定對。</a:t>
            </a:r>
            <a:r>
              <a:rPr sz="12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600"/>
              </a:spcAft>
            </a:pPr>
            <a:r>
              <a:rPr sz="12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200" b="1" lang="zh-TW" dirty="0">
                <a:solidFill>
                  <a:srgbClr val="000000"/>
                </a:solidFill>
                <a:latin typeface="Arial Unicode MS"/>
                <a:ea typeface="Arial Unicode MS"/>
                <a:cs typeface="Arial Unicode MS"/>
              </a:rPr>
              <a:t>卡在哪一行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6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5</a:t>
            </a:r>
            <a:endParaRPr lang="en-US" sz="970" dirty="0"/>
          </a:p>
        </p:txBody>
      </p:sp>
      <p:sp>
        <p:nvSpPr>
          <p:cNvPr id="5" name="Text 3"/>
          <p:cNvSpPr txBox="1"/>
          <p:nvPr/>
        </p:nvSpPr>
        <p:spPr>
          <a:xfrm>
            <a:off x="1418063" y="1219050"/>
            <a:ext cx="5811750" cy="686349"/>
          </a:xfrm>
          <a:prstGeom prst="rect">
            <a:avLst/>
          </a:prstGeom>
          <a:noFill/>
          <a:ln/>
        </p:spPr>
        <p:txBody>
          <a:bodyPr wrap="square" lIns="0" tIns="0" rIns="0" bIns="0" rtlCol="0" anchor="t"/>
          <a:lstStyle/>
          <a:p>
            <a:pPr indent="0" marL="0">
              <a:lnSpc>
                <a:spcPct val="118000"/>
              </a:lnSpc>
              <a:buNone/>
            </a:pPr>
            <a:r>
              <a:rPr lang="en-US" sz="2640" b="1" dirty="0">
                <a:solidFill>
                  <a:srgbClr val="FFFFFF"/>
                </a:solidFill>
                <a:latin typeface="Arial" pitchFamily="34" charset="0"/>
                <a:ea typeface="Arial" pitchFamily="34" charset="-122"/>
                <a:cs typeface="Arial" pitchFamily="34" charset="-120"/>
              </a:rPr>
              <a:t>Trang thứ hai của datasheet</a:t>
            </a:r>
            <a:endParaRPr lang="en-US" sz="2640" dirty="0"/>
          </a:p>
          <a:p>
            <a:pPr indent="0" marL="0">
              <a:lnSpc>
                <a:spcPct val="118000"/>
              </a:lnSpc>
              <a:buNone/>
            </a:pPr>
            <a:r>
              <a:rPr lang="en-US" sz="1470" dirty="0">
                <a:solidFill>
                  <a:srgbClr val="C8D6E2"/>
                </a:solidFill>
                <a:latin typeface="微軟正黑體" pitchFamily="34" charset="0"/>
                <a:ea typeface="微軟正黑體" pitchFamily="34" charset="-122"/>
                <a:cs typeface="微軟正黑體" pitchFamily="34" charset="-120"/>
              </a:rPr>
              <a:t>規格表的第二頁</a:t>
            </a:r>
            <a:endParaRPr lang="en-US" sz="264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Ba dòng ít ai đọc, nhưng hỏng là hỏng ở đó</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1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Kiểu màn trập · dải tương phản · nháy đèn LED</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1 / 3　Rolling shutter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99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3 / 14</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2 / 3　Dynamic range</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1583917" y="1273079"/>
            <a:ext cx="527001" cy="246950"/>
          </a:xfrm>
          <a:prstGeom prst="rect">
            <a:avLst/>
          </a:prstGeom>
          <a:noFill/>
          <a:ln/>
        </p:spPr>
        <p:txBody>
          <a:bodyPr wrap="square" lIns="0" tIns="0" rIns="0" bIns="0" rtlCol="0" anchor="ctr"/>
          <a:lstStyle/>
          <a:p>
            <a:pPr algn="l" indent="0" marL="0">
              <a:buNone/>
            </a:pPr>
            <a:r>
              <a:rPr lang="en-US" sz="710" b="1" dirty="0">
                <a:solidFill>
                  <a:srgbClr val="6FA8DC"/>
                </a:solidFill>
                <a:latin typeface="Arial" pitchFamily="34" charset="0"/>
                <a:ea typeface="Arial" pitchFamily="34" charset="-122"/>
                <a:cs typeface="Arial" pitchFamily="34" charset="-120"/>
              </a:rPr>
              <a:t>khô  乾</a:t>
            </a:r>
            <a:endParaRPr lang="en-US" sz="710" dirty="0"/>
          </a:p>
        </p:txBody>
      </p:sp>
      <p:sp>
        <p:nvSpPr>
          <p:cNvPr id="5" name="Shape 3"/>
          <p:cNvSpPr/>
          <p:nvPr/>
        </p:nvSpPr>
        <p:spPr>
          <a:xfrm>
            <a:off x="1583917" y="1588417"/>
            <a:ext cx="316201" cy="145453"/>
          </a:xfrm>
          <a:prstGeom prst="roundRect">
            <a:avLst>
              <a:gd name="adj" fmla="val 22000"/>
            </a:avLst>
          </a:prstGeom>
          <a:solidFill>
            <a:srgbClr val="8FA3B5"/>
          </a:solidFill>
          <a:ln/>
        </p:spPr>
      </p:sp>
      <p:sp>
        <p:nvSpPr>
          <p:cNvPr id="6" name="Shape 4"/>
          <p:cNvSpPr/>
          <p:nvPr/>
        </p:nvSpPr>
        <p:spPr>
          <a:xfrm>
            <a:off x="1704073" y="1617508"/>
            <a:ext cx="107508" cy="87271"/>
          </a:xfrm>
          <a:prstGeom prst="roundRect">
            <a:avLst>
              <a:gd name="adj" fmla="val 23333"/>
            </a:avLst>
          </a:prstGeom>
          <a:solidFill>
            <a:srgbClr val="FFFFFF"/>
          </a:solidFill>
          <a:ln/>
        </p:spPr>
      </p:sp>
      <p:sp>
        <p:nvSpPr>
          <p:cNvPr id="7" name="Shape 5"/>
          <p:cNvSpPr/>
          <p:nvPr/>
        </p:nvSpPr>
        <p:spPr>
          <a:xfrm>
            <a:off x="1935251" y="1661143"/>
            <a:ext cx="667535" cy="1"/>
          </a:xfrm>
          <a:prstGeom prst="line">
            <a:avLst/>
          </a:prstGeom>
          <a:noFill/>
          <a:ln w="63500">
            <a:solidFill>
              <a:srgbClr val="6FA8DC"/>
            </a:solidFill>
            <a:prstDash val="solid"/>
          </a:ln>
        </p:spPr>
      </p:sp>
      <p:sp>
        <p:nvSpPr>
          <p:cNvPr id="8" name="Shape 6"/>
          <p:cNvSpPr/>
          <p:nvPr/>
        </p:nvSpPr>
        <p:spPr>
          <a:xfrm>
            <a:off x="2602786" y="1502390"/>
            <a:ext cx="61484" cy="317508"/>
          </a:xfrm>
          <a:prstGeom prst="roundRect">
            <a:avLst>
              <a:gd name="adj" fmla="val 34286"/>
            </a:avLst>
          </a:prstGeom>
          <a:solidFill>
            <a:srgbClr val="3A4650"/>
          </a:solidFill>
          <a:ln/>
        </p:spPr>
      </p:sp>
      <p:sp>
        <p:nvSpPr>
          <p:cNvPr id="9" name="Text 7"/>
          <p:cNvSpPr txBox="1"/>
          <p:nvPr/>
        </p:nvSpPr>
        <p:spPr>
          <a:xfrm>
            <a:off x="1583917" y="1908093"/>
            <a:ext cx="527001" cy="246950"/>
          </a:xfrm>
          <a:prstGeom prst="rect">
            <a:avLst/>
          </a:prstGeom>
          <a:noFill/>
          <a:ln/>
        </p:spPr>
        <p:txBody>
          <a:bodyPr wrap="square" lIns="0" tIns="0" rIns="0" bIns="0" rtlCol="0" anchor="ctr"/>
          <a:lstStyle/>
          <a:p>
            <a:pPr algn="l" indent="0" marL="0">
              <a:buNone/>
            </a:pPr>
            <a:r>
              <a:rPr lang="en-US" sz="710" b="1" dirty="0">
                <a:solidFill>
                  <a:srgbClr val="D9463E"/>
                </a:solidFill>
                <a:latin typeface="Arial" pitchFamily="34" charset="0"/>
                <a:ea typeface="Arial" pitchFamily="34" charset="-122"/>
                <a:cs typeface="Arial" pitchFamily="34" charset="-120"/>
              </a:rPr>
              <a:t>ướt  濕</a:t>
            </a:r>
            <a:endParaRPr lang="en-US" sz="710" dirty="0"/>
          </a:p>
        </p:txBody>
      </p:sp>
      <p:sp>
        <p:nvSpPr>
          <p:cNvPr id="10" name="Shape 8"/>
          <p:cNvSpPr/>
          <p:nvPr/>
        </p:nvSpPr>
        <p:spPr>
          <a:xfrm>
            <a:off x="1583917" y="2223432"/>
            <a:ext cx="316201" cy="145453"/>
          </a:xfrm>
          <a:prstGeom prst="roundRect">
            <a:avLst>
              <a:gd name="adj" fmla="val 22000"/>
            </a:avLst>
          </a:prstGeom>
          <a:solidFill>
            <a:srgbClr val="8FA3B5"/>
          </a:solidFill>
          <a:ln/>
        </p:spPr>
      </p:sp>
      <p:sp>
        <p:nvSpPr>
          <p:cNvPr id="11" name="Shape 9"/>
          <p:cNvSpPr/>
          <p:nvPr/>
        </p:nvSpPr>
        <p:spPr>
          <a:xfrm>
            <a:off x="1704073" y="2252522"/>
            <a:ext cx="107508" cy="87271"/>
          </a:xfrm>
          <a:prstGeom prst="roundRect">
            <a:avLst>
              <a:gd name="adj" fmla="val 23333"/>
            </a:avLst>
          </a:prstGeom>
          <a:solidFill>
            <a:srgbClr val="FFFFFF"/>
          </a:solidFill>
          <a:ln/>
        </p:spPr>
      </p:sp>
      <p:sp>
        <p:nvSpPr>
          <p:cNvPr id="12" name="Shape 10"/>
          <p:cNvSpPr/>
          <p:nvPr/>
        </p:nvSpPr>
        <p:spPr>
          <a:xfrm>
            <a:off x="1935251" y="2296158"/>
            <a:ext cx="1089136" cy="1"/>
          </a:xfrm>
          <a:prstGeom prst="line">
            <a:avLst/>
          </a:prstGeom>
          <a:noFill/>
          <a:ln w="63500">
            <a:solidFill>
              <a:srgbClr val="D9463E"/>
            </a:solidFill>
            <a:prstDash val="solid"/>
          </a:ln>
        </p:spPr>
      </p:sp>
      <p:sp>
        <p:nvSpPr>
          <p:cNvPr id="13" name="Shape 11"/>
          <p:cNvSpPr/>
          <p:nvPr/>
        </p:nvSpPr>
        <p:spPr>
          <a:xfrm>
            <a:off x="3024387" y="2137404"/>
            <a:ext cx="61484" cy="317508"/>
          </a:xfrm>
          <a:prstGeom prst="roundRect">
            <a:avLst>
              <a:gd name="adj" fmla="val 34286"/>
            </a:avLst>
          </a:prstGeom>
          <a:solidFill>
            <a:srgbClr val="3A4650"/>
          </a:solidFill>
          <a:ln/>
        </p:spPr>
      </p:sp>
      <p:sp>
        <p:nvSpPr>
          <p:cNvPr id="14" name="Text 12"/>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1830" dirty="0"/>
          </a:p>
        </p:txBody>
      </p:sp>
      <p:sp>
        <p:nvSpPr>
          <p:cNvPr id="15" name="Text 13"/>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990" dirty="0"/>
          </a:p>
        </p:txBody>
      </p:sp>
      <p:sp>
        <p:nvSpPr>
          <p:cNvPr id="16" name="Shape 14"/>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99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4 / 14</a:t>
            </a:r>
            <a:endParaRPr lang="en-US" sz="710" dirty="0"/>
          </a:p>
        </p:txBody>
      </p:sp>
      <p:sp>
        <p:nvSpPr>
          <p:cNvPr id="21" name="Text 17"/>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3 / 3　LED flicker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A3382F"/>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5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2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dòng nữa, ít người đọc</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另外三行，一樣很少人讀</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6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1096600" y="0"/>
          <a:ext cx="1" cy="1"/>
          <a:chOff x="0" y="0"/>
          <a:chExt cx="0" cy="0"/>
        </a:xfrm>
      </p:grpSpPr>
      <p:sp>
        <p:nvSpPr>
          <p:cNvPr id="2" name="Text 0"/>
          <p:cNvSpPr txBox="1"/>
          <p:nvPr/>
        </p:nvSpPr>
        <p:spPr>
          <a:xfrm>
            <a:off x="1478894" y="222426"/>
            <a:ext cx="6186212" cy="639474"/>
          </a:xfrm>
          <a:prstGeom prst="rect">
            <a:avLst/>
          </a:prstGeom>
          <a:noFill/>
          <a:ln/>
        </p:spPr>
        <p:txBody>
          <a:bodyPr wrap="square" lIns="0" tIns="0" rIns="0" bIns="0" rtlCol="0" anchor="t"/>
          <a:lstStyle/>
          <a:p>
            <a:pPr indent="0" marL="0">
              <a:lnSpc>
                <a:spcPct val="116000"/>
              </a:lnSpc>
              <a:buNone/>
            </a:pPr>
            <a:r>
              <a:rPr lang="en-US" sz="167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1670" dirty="0"/>
          </a:p>
          <a:p>
            <a:pPr indent="0" marL="0">
              <a:lnSpc>
                <a:spcPct val="116000"/>
              </a:lnSpc>
              <a:buNone/>
            </a:pPr>
            <a:r>
              <a:rPr lang="en-US" sz="103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1670" dirty="0"/>
          </a:p>
        </p:txBody>
      </p:sp>
      <p:sp>
        <p:nvSpPr>
          <p:cNvPr id="3" name="Shape 1"/>
          <p:cNvSpPr/>
          <p:nvPr/>
        </p:nvSpPr>
        <p:spPr>
          <a:xfrm>
            <a:off x="1478894" y="861899"/>
            <a:ext cx="6186212" cy="542162"/>
          </a:xfrm>
          <a:prstGeom prst="roundRect">
            <a:avLst>
              <a:gd name="adj" fmla="val 10256"/>
            </a:avLst>
          </a:prstGeom>
          <a:solidFill>
            <a:srgbClr val="EAF6F4"/>
          </a:solidFill>
          <a:ln/>
        </p:spPr>
      </p:sp>
      <p:sp>
        <p:nvSpPr>
          <p:cNvPr id="4" name="Text 2"/>
          <p:cNvSpPr txBox="1"/>
          <p:nvPr/>
        </p:nvSpPr>
        <p:spPr>
          <a:xfrm>
            <a:off x="1590107" y="917506"/>
            <a:ext cx="5963787" cy="430950"/>
          </a:xfrm>
          <a:prstGeom prst="rect">
            <a:avLst/>
          </a:prstGeom>
          <a:noFill/>
          <a:ln/>
        </p:spPr>
        <p:txBody>
          <a:bodyPr wrap="square" lIns="0" tIns="0" rIns="0" bIns="0" rtlCol="0" anchor="t"/>
          <a:lstStyle/>
          <a:p>
            <a:pPr indent="0" marL="0">
              <a:lnSpc>
                <a:spcPct val="110000"/>
              </a:lnSpc>
              <a:buNone/>
            </a:pPr>
            <a:r>
              <a:rPr lang="en-US" sz="87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870" dirty="0"/>
          </a:p>
          <a:p>
            <a:pPr indent="0" marL="0">
              <a:lnSpc>
                <a:spcPct val="110000"/>
              </a:lnSpc>
              <a:buNone/>
            </a:pPr>
            <a:r>
              <a:rPr lang="en-US" sz="76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87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478894" y="1487471"/>
          <a:ext cx="6186212" cy="695080"/>
        </p:xfrm>
        <a:graphic>
          <a:graphicData uri="http://schemas.openxmlformats.org/drawingml/2006/table">
            <a:tbl>
              <a:tblPr/>
              <a:tblGrid>
                <a:gridCol w="2034540"/>
                <a:gridCol w="2034540"/>
                <a:gridCol w="2034540"/>
                <a:gridCol w="2034540"/>
              </a:tblGrid>
              <a:tr h="384048">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Bước sóng</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波長</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Ai dùng</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誰在用</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Được lợi gì</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好處</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Trả giá gì</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代價</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905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905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Phổ biến nhất</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最常見</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Cảm biến silic, rẻ</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用矽做接收器，便宜</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Tới thẳng võng mạc nên công suất bị siết</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會直達視網膜，功率被法規壓住</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865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865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Ouster OS1</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Ouster OS1</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Cùng họ với 905</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跟 905 同一類</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Giống trên</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同上</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1550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1550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Lidar tầm xa cao cấp</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高階長距光達</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Cảm biến InGaAs, đắt hơn nhiều</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478894" y="3252910"/>
            <a:ext cx="6186212" cy="347540"/>
          </a:xfrm>
          <a:prstGeom prst="rect">
            <a:avLst/>
          </a:prstGeom>
          <a:noFill/>
          <a:ln/>
        </p:spPr>
        <p:txBody>
          <a:bodyPr wrap="square" lIns="0" tIns="0" rIns="0" bIns="0" rtlCol="0" anchor="t"/>
          <a:lstStyle/>
          <a:p>
            <a:pPr indent="0" marL="0">
              <a:lnSpc>
                <a:spcPct val="116000"/>
              </a:lnSpc>
              <a:buNone/>
            </a:pPr>
            <a:r>
              <a:rPr lang="en-US" sz="910" b="1" dirty="0">
                <a:solidFill>
                  <a:srgbClr val="007F72"/>
                </a:solidFill>
                <a:latin typeface="Arial" pitchFamily="34" charset="0"/>
                <a:ea typeface="Arial" pitchFamily="34" charset="-122"/>
                <a:cs typeface="Arial" pitchFamily="34" charset="-120"/>
              </a:rPr>
              <a:t>Một dòng số, ba chuyện: an toàn, nhìn xa, và giá.</a:t>
            </a:r>
            <a:endParaRPr lang="en-US" sz="910" dirty="0"/>
          </a:p>
          <a:p>
            <a:pPr indent="0" marL="0">
              <a:lnSpc>
                <a:spcPct val="116000"/>
              </a:lnSpc>
              <a:buNone/>
            </a:pPr>
            <a:r>
              <a:rPr lang="en-US" sz="84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91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180009" y="97311"/>
            <a:ext cx="625572" cy="194622"/>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7 / 14</a:t>
            </a:r>
            <a:endParaRPr lang="en-US" sz="680" dirty="0"/>
          </a:p>
        </p:txBody>
      </p:sp>
      <p:sp>
        <p:nvSpPr>
          <p:cNvPr id="10" name="Text 5"/>
          <p:cNvSpPr txBox="1"/>
          <p:nvPr/>
        </p:nvSpPr>
        <p:spPr>
          <a:xfrm>
            <a:off x="1826434" y="97311"/>
            <a:ext cx="1529176" cy="194622"/>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2 · 第 2 節</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An toàn mắt · 眼睛安全</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1724451" y="1002988"/>
            <a:ext cx="966041" cy="869827"/>
          </a:xfrm>
          <a:prstGeom prst="line">
            <a:avLst/>
          </a:prstGeom>
          <a:noFill/>
          <a:ln w="17780">
            <a:solidFill>
              <a:srgbClr val="2E6E4E"/>
            </a:solidFill>
            <a:prstDash val="solid"/>
          </a:ln>
        </p:spPr>
      </p:sp>
      <p:sp>
        <p:nvSpPr>
          <p:cNvPr id="5" name="Shape 3"/>
          <p:cNvSpPr/>
          <p:nvPr/>
        </p:nvSpPr>
        <p:spPr>
          <a:xfrm flipV="1">
            <a:off x="1724451" y="1262532"/>
            <a:ext cx="1147776" cy="610283"/>
          </a:xfrm>
          <a:prstGeom prst="line">
            <a:avLst/>
          </a:prstGeom>
          <a:noFill/>
          <a:ln w="17780">
            <a:solidFill>
              <a:srgbClr val="2E6E4E"/>
            </a:solidFill>
            <a:prstDash val="solid"/>
          </a:ln>
        </p:spPr>
      </p:sp>
      <p:sp>
        <p:nvSpPr>
          <p:cNvPr id="6" name="Shape 4"/>
          <p:cNvSpPr/>
          <p:nvPr/>
        </p:nvSpPr>
        <p:spPr>
          <a:xfrm flipV="1">
            <a:off x="1724451" y="1558332"/>
            <a:ext cx="1261323" cy="314483"/>
          </a:xfrm>
          <a:prstGeom prst="line">
            <a:avLst/>
          </a:prstGeom>
          <a:noFill/>
          <a:ln w="17780">
            <a:solidFill>
              <a:srgbClr val="2E6E4E"/>
            </a:solidFill>
            <a:prstDash val="solid"/>
          </a:ln>
        </p:spPr>
      </p:sp>
      <p:sp>
        <p:nvSpPr>
          <p:cNvPr id="7" name="Shape 5"/>
          <p:cNvSpPr/>
          <p:nvPr/>
        </p:nvSpPr>
        <p:spPr>
          <a:xfrm>
            <a:off x="1724451" y="1872815"/>
            <a:ext cx="1299937" cy="1"/>
          </a:xfrm>
          <a:prstGeom prst="line">
            <a:avLst/>
          </a:prstGeom>
          <a:noFill/>
          <a:ln w="17780">
            <a:solidFill>
              <a:srgbClr val="2E6E4E"/>
            </a:solidFill>
            <a:prstDash val="solid"/>
          </a:ln>
        </p:spPr>
      </p:sp>
      <p:sp>
        <p:nvSpPr>
          <p:cNvPr id="8" name="Shape 6"/>
          <p:cNvSpPr/>
          <p:nvPr/>
        </p:nvSpPr>
        <p:spPr>
          <a:xfrm>
            <a:off x="1724451" y="1872815"/>
            <a:ext cx="1147776" cy="610283"/>
          </a:xfrm>
          <a:prstGeom prst="line">
            <a:avLst/>
          </a:prstGeom>
          <a:noFill/>
          <a:ln w="17780">
            <a:solidFill>
              <a:srgbClr val="2E6E4E"/>
            </a:solidFill>
            <a:prstDash val="solid"/>
          </a:ln>
        </p:spPr>
      </p:sp>
      <p:sp>
        <p:nvSpPr>
          <p:cNvPr id="9" name="Shape 7"/>
          <p:cNvSpPr/>
          <p:nvPr/>
        </p:nvSpPr>
        <p:spPr>
          <a:xfrm>
            <a:off x="1724451" y="1872815"/>
            <a:ext cx="966041" cy="869827"/>
          </a:xfrm>
          <a:prstGeom prst="line">
            <a:avLst/>
          </a:prstGeom>
          <a:noFill/>
          <a:ln w="17780">
            <a:solidFill>
              <a:srgbClr val="2E6E4E"/>
            </a:solidFill>
            <a:prstDash val="solid"/>
          </a:ln>
        </p:spPr>
      </p:sp>
      <p:sp>
        <p:nvSpPr>
          <p:cNvPr id="10" name="Shape 8"/>
          <p:cNvSpPr/>
          <p:nvPr/>
        </p:nvSpPr>
        <p:spPr>
          <a:xfrm>
            <a:off x="1662967" y="1811331"/>
            <a:ext cx="122967" cy="122967"/>
          </a:xfrm>
          <a:prstGeom prst="ellipse">
            <a:avLst/>
          </a:prstGeom>
          <a:solidFill>
            <a:srgbClr val="2E6E4E"/>
          </a:solidFill>
          <a:ln/>
        </p:spPr>
      </p:sp>
      <p:sp>
        <p:nvSpPr>
          <p:cNvPr id="11" name="Shape 9"/>
          <p:cNvSpPr/>
          <p:nvPr/>
        </p:nvSpPr>
        <p:spPr>
          <a:xfrm>
            <a:off x="2544769" y="2011409"/>
            <a:ext cx="175667" cy="175667"/>
          </a:xfrm>
          <a:prstGeom prst="roundRect">
            <a:avLst>
              <a:gd name="adj" fmla="val 20000"/>
            </a:avLst>
          </a:prstGeom>
          <a:solidFill>
            <a:srgbClr val="D9463E"/>
          </a:solidFill>
          <a:ln/>
        </p:spPr>
      </p:sp>
      <p:sp>
        <p:nvSpPr>
          <p:cNvPr id="12" name="Text 10"/>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830" dirty="0"/>
          </a:p>
        </p:txBody>
      </p:sp>
      <p:sp>
        <p:nvSpPr>
          <p:cNvPr id="13" name="Text 11"/>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990" dirty="0"/>
          </a:p>
        </p:txBody>
      </p:sp>
      <p:sp>
        <p:nvSpPr>
          <p:cNvPr id="14" name="Shape 12"/>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99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8" name="Text 14"/>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8 / 14</a:t>
            </a:r>
            <a:endParaRPr lang="en-US" sz="710" dirty="0"/>
          </a:p>
        </p:txBody>
      </p:sp>
      <p:sp>
        <p:nvSpPr>
          <p:cNvPr id="19" name="Text 15"/>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Số lần phản hồi · 回波次數</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986350" y="1022825"/>
            <a:ext cx="335369" cy="497204"/>
          </a:xfrm>
          <a:prstGeom prst="line">
            <a:avLst/>
          </a:prstGeom>
          <a:noFill/>
          <a:ln w="15240">
            <a:solidFill>
              <a:srgbClr val="1F6F5C"/>
            </a:solidFill>
            <a:prstDash val="solid"/>
          </a:ln>
        </p:spPr>
      </p:sp>
      <p:sp>
        <p:nvSpPr>
          <p:cNvPr id="5" name="Shape 3"/>
          <p:cNvSpPr/>
          <p:nvPr/>
        </p:nvSpPr>
        <p:spPr>
          <a:xfrm flipH="1" flipV="1">
            <a:off x="2146373" y="946498"/>
            <a:ext cx="175346" cy="573531"/>
          </a:xfrm>
          <a:prstGeom prst="line">
            <a:avLst/>
          </a:prstGeom>
          <a:noFill/>
          <a:ln w="15240">
            <a:solidFill>
              <a:srgbClr val="1F6F5C"/>
            </a:solidFill>
            <a:prstDash val="solid"/>
          </a:ln>
        </p:spPr>
      </p:sp>
      <p:sp>
        <p:nvSpPr>
          <p:cNvPr id="6" name="Shape 4"/>
          <p:cNvSpPr/>
          <p:nvPr/>
        </p:nvSpPr>
        <p:spPr>
          <a:xfrm flipV="1">
            <a:off x="2321719" y="920292"/>
            <a:ext cx="1" cy="599736"/>
          </a:xfrm>
          <a:prstGeom prst="line">
            <a:avLst/>
          </a:prstGeom>
          <a:noFill/>
          <a:ln w="15240">
            <a:solidFill>
              <a:srgbClr val="1F6F5C"/>
            </a:solidFill>
            <a:prstDash val="solid"/>
          </a:ln>
        </p:spPr>
      </p:sp>
      <p:sp>
        <p:nvSpPr>
          <p:cNvPr id="7" name="Shape 5"/>
          <p:cNvSpPr/>
          <p:nvPr/>
        </p:nvSpPr>
        <p:spPr>
          <a:xfrm flipV="1">
            <a:off x="2321719" y="946498"/>
            <a:ext cx="175346" cy="573531"/>
          </a:xfrm>
          <a:prstGeom prst="line">
            <a:avLst/>
          </a:prstGeom>
          <a:noFill/>
          <a:ln w="15240">
            <a:solidFill>
              <a:srgbClr val="1F6F5C"/>
            </a:solidFill>
            <a:prstDash val="solid"/>
          </a:ln>
        </p:spPr>
      </p:sp>
      <p:sp>
        <p:nvSpPr>
          <p:cNvPr id="8" name="Shape 6"/>
          <p:cNvSpPr/>
          <p:nvPr/>
        </p:nvSpPr>
        <p:spPr>
          <a:xfrm flipV="1">
            <a:off x="2321719" y="1022825"/>
            <a:ext cx="335369" cy="497204"/>
          </a:xfrm>
          <a:prstGeom prst="line">
            <a:avLst/>
          </a:prstGeom>
          <a:noFill/>
          <a:ln w="15240">
            <a:solidFill>
              <a:srgbClr val="1F6F5C"/>
            </a:solidFill>
            <a:prstDash val="solid"/>
          </a:ln>
        </p:spPr>
      </p:sp>
      <p:sp>
        <p:nvSpPr>
          <p:cNvPr id="9" name="Shape 7"/>
          <p:cNvSpPr/>
          <p:nvPr/>
        </p:nvSpPr>
        <p:spPr>
          <a:xfrm>
            <a:off x="2272532" y="1470842"/>
            <a:ext cx="98373" cy="98373"/>
          </a:xfrm>
          <a:prstGeom prst="ellipse">
            <a:avLst/>
          </a:prstGeom>
          <a:solidFill>
            <a:srgbClr val="1F6F5C"/>
          </a:solidFill>
          <a:ln/>
        </p:spPr>
      </p:sp>
      <p:sp>
        <p:nvSpPr>
          <p:cNvPr id="10" name="Shape 8"/>
          <p:cNvSpPr/>
          <p:nvPr/>
        </p:nvSpPr>
        <p:spPr>
          <a:xfrm flipH="1" flipV="1">
            <a:off x="1735088" y="2242023"/>
            <a:ext cx="586630" cy="124693"/>
          </a:xfrm>
          <a:prstGeom prst="line">
            <a:avLst/>
          </a:prstGeom>
          <a:noFill/>
          <a:ln w="15240">
            <a:solidFill>
              <a:srgbClr val="1F6F5C"/>
            </a:solidFill>
            <a:prstDash val="solid"/>
          </a:ln>
        </p:spPr>
      </p:sp>
      <p:sp>
        <p:nvSpPr>
          <p:cNvPr id="11" name="Shape 9"/>
          <p:cNvSpPr/>
          <p:nvPr/>
        </p:nvSpPr>
        <p:spPr>
          <a:xfrm flipH="1" flipV="1">
            <a:off x="1944293" y="1900633"/>
            <a:ext cx="377426" cy="466083"/>
          </a:xfrm>
          <a:prstGeom prst="line">
            <a:avLst/>
          </a:prstGeom>
          <a:noFill/>
          <a:ln w="15240">
            <a:solidFill>
              <a:srgbClr val="1F6F5C"/>
            </a:solidFill>
            <a:prstDash val="solid"/>
          </a:ln>
        </p:spPr>
      </p:sp>
      <p:sp>
        <p:nvSpPr>
          <p:cNvPr id="12" name="Shape 10"/>
          <p:cNvSpPr/>
          <p:nvPr/>
        </p:nvSpPr>
        <p:spPr>
          <a:xfrm flipV="1">
            <a:off x="2321719" y="1766979"/>
            <a:ext cx="1" cy="599736"/>
          </a:xfrm>
          <a:prstGeom prst="line">
            <a:avLst/>
          </a:prstGeom>
          <a:noFill/>
          <a:ln w="15240">
            <a:solidFill>
              <a:srgbClr val="1F6F5C"/>
            </a:solidFill>
            <a:prstDash val="solid"/>
          </a:ln>
        </p:spPr>
      </p:sp>
      <p:sp>
        <p:nvSpPr>
          <p:cNvPr id="13" name="Shape 11"/>
          <p:cNvSpPr/>
          <p:nvPr/>
        </p:nvSpPr>
        <p:spPr>
          <a:xfrm flipV="1">
            <a:off x="2321719" y="1900633"/>
            <a:ext cx="377426" cy="466083"/>
          </a:xfrm>
          <a:prstGeom prst="line">
            <a:avLst/>
          </a:prstGeom>
          <a:noFill/>
          <a:ln w="15240">
            <a:solidFill>
              <a:srgbClr val="1F6F5C"/>
            </a:solidFill>
            <a:prstDash val="solid"/>
          </a:ln>
        </p:spPr>
      </p:sp>
      <p:sp>
        <p:nvSpPr>
          <p:cNvPr id="14" name="Shape 12"/>
          <p:cNvSpPr/>
          <p:nvPr/>
        </p:nvSpPr>
        <p:spPr>
          <a:xfrm flipV="1">
            <a:off x="2321719" y="2242023"/>
            <a:ext cx="586630" cy="124693"/>
          </a:xfrm>
          <a:prstGeom prst="line">
            <a:avLst/>
          </a:prstGeom>
          <a:noFill/>
          <a:ln w="15240">
            <a:solidFill>
              <a:srgbClr val="1F6F5C"/>
            </a:solidFill>
            <a:prstDash val="solid"/>
          </a:ln>
        </p:spPr>
      </p:sp>
      <p:sp>
        <p:nvSpPr>
          <p:cNvPr id="15" name="Shape 13"/>
          <p:cNvSpPr/>
          <p:nvPr/>
        </p:nvSpPr>
        <p:spPr>
          <a:xfrm>
            <a:off x="2272532" y="2317528"/>
            <a:ext cx="98373" cy="98373"/>
          </a:xfrm>
          <a:prstGeom prst="ellipse">
            <a:avLst/>
          </a:prstGeom>
          <a:solidFill>
            <a:srgbClr val="1F6F5C"/>
          </a:solidFill>
          <a:ln/>
        </p:spPr>
      </p:sp>
      <p:sp>
        <p:nvSpPr>
          <p:cNvPr id="16" name="Text 14"/>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830" dirty="0"/>
          </a:p>
        </p:txBody>
      </p:sp>
      <p:sp>
        <p:nvSpPr>
          <p:cNvPr id="17" name="Text 15"/>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990" dirty="0"/>
          </a:p>
        </p:txBody>
      </p:sp>
      <p:sp>
        <p:nvSpPr>
          <p:cNvPr id="18" name="Shape 16"/>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99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9 / 14</a:t>
            </a:r>
            <a:endParaRPr lang="en-US" sz="710" dirty="0"/>
          </a:p>
        </p:txBody>
      </p:sp>
      <p:sp>
        <p:nvSpPr>
          <p:cNvPr id="23" name="Text 19"/>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Thử nhanh · 小練習（3 分鐘動手）</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10 / 14</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3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Hai cảm biến tốt, ghép lại vẫn sai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Hiệu chuẩn và đồng bộ thời gian</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標定與時間同步</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114123" y="0"/>
          <a:ext cx="1" cy="1"/>
          <a:chOff x="0" y="0"/>
          <a:chExt cx="0" cy="0"/>
        </a:xfrm>
      </p:grpSpPr>
      <p:sp>
        <p:nvSpPr>
          <p:cNvPr id="2" name="Text 0"/>
          <p:cNvSpPr txBox="1"/>
          <p:nvPr/>
        </p:nvSpPr>
        <p:spPr>
          <a:xfrm>
            <a:off x="1494490" y="221304"/>
            <a:ext cx="6155021" cy="636249"/>
          </a:xfrm>
          <a:prstGeom prst="rect">
            <a:avLst/>
          </a:prstGeom>
          <a:noFill/>
          <a:ln/>
        </p:spPr>
        <p:txBody>
          <a:bodyPr wrap="square" lIns="0" tIns="0" rIns="0" bIns="0" rtlCol="0" anchor="t"/>
          <a:lstStyle/>
          <a:p>
            <a:pPr indent="0" marL="0">
              <a:lnSpc>
                <a:spcPct val="116000"/>
              </a:lnSpc>
              <a:buNone/>
            </a:pPr>
            <a:r>
              <a:rPr lang="en-US" sz="166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1660" dirty="0"/>
          </a:p>
          <a:p>
            <a:pPr indent="0" marL="0">
              <a:lnSpc>
                <a:spcPct val="116000"/>
              </a:lnSpc>
              <a:buNone/>
            </a:pPr>
            <a:r>
              <a:rPr lang="en-US" sz="102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1660" dirty="0"/>
          </a:p>
        </p:txBody>
      </p:sp>
      <p:sp>
        <p:nvSpPr>
          <p:cNvPr id="3" name="Shape 1"/>
          <p:cNvSpPr/>
          <p:nvPr/>
        </p:nvSpPr>
        <p:spPr>
          <a:xfrm>
            <a:off x="1494490"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271359" y="1138442"/>
            <a:ext cx="359619" cy="359619"/>
          </a:xfrm>
          <a:prstGeom prst="ellipse">
            <a:avLst/>
          </a:prstGeom>
          <a:solidFill>
            <a:srgbClr val="0B1F3A"/>
          </a:solidFill>
          <a:ln/>
        </p:spPr>
      </p:sp>
      <p:sp>
        <p:nvSpPr>
          <p:cNvPr id="5" name="Text 3"/>
          <p:cNvSpPr txBox="1"/>
          <p:nvPr/>
        </p:nvSpPr>
        <p:spPr>
          <a:xfrm>
            <a:off x="2271359"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1</a:t>
            </a:r>
            <a:endParaRPr lang="en-US" sz="1130" dirty="0"/>
          </a:p>
        </p:txBody>
      </p:sp>
      <p:sp>
        <p:nvSpPr>
          <p:cNvPr id="6" name="Text 4"/>
          <p:cNvSpPr txBox="1"/>
          <p:nvPr/>
        </p:nvSpPr>
        <p:spPr>
          <a:xfrm>
            <a:off x="1591310"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trong</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內參</a:t>
            </a:r>
            <a:endParaRPr lang="en-US" sz="1060" dirty="0"/>
          </a:p>
        </p:txBody>
      </p:sp>
      <p:sp>
        <p:nvSpPr>
          <p:cNvPr id="7" name="Text 5"/>
          <p:cNvSpPr txBox="1"/>
          <p:nvPr/>
        </p:nvSpPr>
        <p:spPr>
          <a:xfrm>
            <a:off x="1591310"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Ống kính méo bao nhiêu</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Tâm ảnh ở đâu</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鏡頭扭曲多少</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畫面中心在哪</a:t>
            </a:r>
            <a:endParaRPr lang="en-US" sz="870" dirty="0"/>
          </a:p>
        </p:txBody>
      </p:sp>
      <p:sp>
        <p:nvSpPr>
          <p:cNvPr id="8" name="Text 6"/>
          <p:cNvSpPr txBox="1"/>
          <p:nvPr/>
        </p:nvSpPr>
        <p:spPr>
          <a:xfrm>
            <a:off x="3407848"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9" name="Shape 7"/>
          <p:cNvSpPr/>
          <p:nvPr/>
        </p:nvSpPr>
        <p:spPr>
          <a:xfrm>
            <a:off x="3615321"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92190" y="1138442"/>
            <a:ext cx="359619" cy="359619"/>
          </a:xfrm>
          <a:prstGeom prst="ellipse">
            <a:avLst/>
          </a:prstGeom>
          <a:solidFill>
            <a:srgbClr val="00A896"/>
          </a:solidFill>
          <a:ln/>
        </p:spPr>
      </p:sp>
      <p:sp>
        <p:nvSpPr>
          <p:cNvPr id="11" name="Text 9"/>
          <p:cNvSpPr txBox="1"/>
          <p:nvPr/>
        </p:nvSpPr>
        <p:spPr>
          <a:xfrm>
            <a:off x="4392190"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2</a:t>
            </a:r>
            <a:endParaRPr lang="en-US" sz="1130" dirty="0"/>
          </a:p>
        </p:txBody>
      </p:sp>
      <p:sp>
        <p:nvSpPr>
          <p:cNvPr id="12" name="Text 10"/>
          <p:cNvSpPr txBox="1"/>
          <p:nvPr/>
        </p:nvSpPr>
        <p:spPr>
          <a:xfrm>
            <a:off x="3712141"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ngoài</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外參</a:t>
            </a:r>
            <a:endParaRPr lang="en-US" sz="1060" dirty="0"/>
          </a:p>
        </p:txBody>
      </p:sp>
      <p:sp>
        <p:nvSpPr>
          <p:cNvPr id="13" name="Text 11"/>
          <p:cNvSpPr txBox="1"/>
          <p:nvPr/>
        </p:nvSpPr>
        <p:spPr>
          <a:xfrm>
            <a:off x="3712141"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Camera và lidar</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cách nhau bao xa, lệch mấy độ</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相機和光達</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相距多遠、差幾度</a:t>
            </a:r>
            <a:endParaRPr lang="en-US" sz="870" dirty="0"/>
          </a:p>
        </p:txBody>
      </p:sp>
      <p:sp>
        <p:nvSpPr>
          <p:cNvPr id="14" name="Text 12"/>
          <p:cNvSpPr txBox="1"/>
          <p:nvPr/>
        </p:nvSpPr>
        <p:spPr>
          <a:xfrm>
            <a:off x="5528679"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15" name="Shape 13"/>
          <p:cNvSpPr/>
          <p:nvPr/>
        </p:nvSpPr>
        <p:spPr>
          <a:xfrm>
            <a:off x="5736152"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13022" y="1138442"/>
            <a:ext cx="359619" cy="359619"/>
          </a:xfrm>
          <a:prstGeom prst="ellipse">
            <a:avLst/>
          </a:prstGeom>
          <a:solidFill>
            <a:srgbClr val="0B1F3A"/>
          </a:solidFill>
          <a:ln/>
        </p:spPr>
      </p:sp>
      <p:sp>
        <p:nvSpPr>
          <p:cNvPr id="17" name="Text 15"/>
          <p:cNvSpPr txBox="1"/>
          <p:nvPr/>
        </p:nvSpPr>
        <p:spPr>
          <a:xfrm>
            <a:off x="6513022"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3</a:t>
            </a:r>
            <a:endParaRPr lang="en-US" sz="1130" dirty="0"/>
          </a:p>
        </p:txBody>
      </p:sp>
      <p:sp>
        <p:nvSpPr>
          <p:cNvPr id="18" name="Text 16"/>
          <p:cNvSpPr txBox="1"/>
          <p:nvPr/>
        </p:nvSpPr>
        <p:spPr>
          <a:xfrm>
            <a:off x="5832972"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Sai 1°</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差 1 度</a:t>
            </a:r>
            <a:endParaRPr lang="en-US" sz="1060" dirty="0"/>
          </a:p>
        </p:txBody>
      </p:sp>
      <p:sp>
        <p:nvSpPr>
          <p:cNvPr id="19" name="Text 17"/>
          <p:cNvSpPr txBox="1"/>
          <p:nvPr/>
        </p:nvSpPr>
        <p:spPr>
          <a:xfrm>
            <a:off x="5832972"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Ở 50 m lệch gần 0,9 m</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Đủ để nhầm làn</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50 公尺處差 0.9 公尺</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足以搞錯車道</a:t>
            </a:r>
            <a:endParaRPr lang="en-US" sz="870" dirty="0"/>
          </a:p>
        </p:txBody>
      </p:sp>
      <p:sp>
        <p:nvSpPr>
          <p:cNvPr id="20" name="Text 18"/>
          <p:cNvSpPr txBox="1"/>
          <p:nvPr/>
        </p:nvSpPr>
        <p:spPr>
          <a:xfrm>
            <a:off x="1494490" y="3171673"/>
            <a:ext cx="6155021" cy="428777"/>
          </a:xfrm>
          <a:prstGeom prst="rect">
            <a:avLst/>
          </a:prstGeom>
          <a:noFill/>
          <a:ln/>
        </p:spPr>
        <p:txBody>
          <a:bodyPr wrap="square" lIns="0" tIns="0" rIns="0" bIns="0" rtlCol="0" anchor="t"/>
          <a:lstStyle/>
          <a:p>
            <a:pPr indent="0" marL="0">
              <a:lnSpc>
                <a:spcPct val="118000"/>
              </a:lnSpc>
              <a:buNone/>
            </a:pPr>
            <a:r>
              <a:rPr lang="en-US" sz="95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950" dirty="0"/>
          </a:p>
          <a:p>
            <a:pPr indent="0" marL="0">
              <a:lnSpc>
                <a:spcPct val="118000"/>
              </a:lnSpc>
              <a:buNone/>
            </a:pPr>
            <a:r>
              <a:rPr lang="en-US" sz="87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95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197112" y="96821"/>
            <a:ext cx="622418"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12 / 14</a:t>
            </a:r>
            <a:endParaRPr lang="en-US" sz="680" dirty="0"/>
          </a:p>
        </p:txBody>
      </p:sp>
      <p:sp>
        <p:nvSpPr>
          <p:cNvPr id="24" name="Text 20"/>
          <p:cNvSpPr txBox="1"/>
          <p:nvPr/>
        </p:nvSpPr>
        <p:spPr>
          <a:xfrm>
            <a:off x="1840277" y="96821"/>
            <a:ext cx="1521466"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2 · 第 2 節</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Đồng bộ · 時間同步</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8A5A00"/>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2 · 第二節小結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lên máy</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帶三句話上機</a:t>
            </a:r>
            <a:endParaRPr lang="en-US" sz="2010" dirty="0"/>
          </a:p>
        </p:txBody>
      </p:sp>
      <p:sp>
        <p:nvSpPr>
          <p:cNvPr id="6" name="Shape 4"/>
          <p:cNvSpPr/>
          <p:nvPr/>
        </p:nvSpPr>
        <p:spPr>
          <a:xfrm>
            <a:off x="1302204" y="1425484"/>
            <a:ext cx="36739" cy="540573"/>
          </a:xfrm>
          <a:prstGeom prst="rect">
            <a:avLst/>
          </a:prstGeom>
          <a:solidFill>
            <a:srgbClr val="00A896"/>
          </a:solidFill>
          <a:ln/>
        </p:spPr>
      </p:sp>
      <p:sp>
        <p:nvSpPr>
          <p:cNvPr id="7" name="Text 5"/>
          <p:cNvSpPr txBox="1"/>
          <p:nvPr/>
        </p:nvSpPr>
        <p:spPr>
          <a:xfrm>
            <a:off x="1478552" y="1396093"/>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080" dirty="0"/>
          </a:p>
        </p:txBody>
      </p:sp>
      <p:sp>
        <p:nvSpPr>
          <p:cNvPr id="8" name="Shape 6"/>
          <p:cNvSpPr/>
          <p:nvPr/>
        </p:nvSpPr>
        <p:spPr>
          <a:xfrm>
            <a:off x="1302204" y="2127710"/>
            <a:ext cx="36739" cy="540573"/>
          </a:xfrm>
          <a:prstGeom prst="rect">
            <a:avLst/>
          </a:prstGeom>
          <a:solidFill>
            <a:srgbClr val="FFB020"/>
          </a:solidFill>
          <a:ln/>
        </p:spPr>
      </p:sp>
      <p:sp>
        <p:nvSpPr>
          <p:cNvPr id="9" name="Text 7"/>
          <p:cNvSpPr txBox="1"/>
          <p:nvPr/>
        </p:nvSpPr>
        <p:spPr>
          <a:xfrm>
            <a:off x="1478552" y="2098319"/>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080" dirty="0"/>
          </a:p>
        </p:txBody>
      </p:sp>
      <p:sp>
        <p:nvSpPr>
          <p:cNvPr id="10" name="Shape 8"/>
          <p:cNvSpPr/>
          <p:nvPr/>
        </p:nvSpPr>
        <p:spPr>
          <a:xfrm>
            <a:off x="1302204" y="2829936"/>
            <a:ext cx="36739" cy="540573"/>
          </a:xfrm>
          <a:prstGeom prst="rect">
            <a:avLst/>
          </a:prstGeom>
          <a:solidFill>
            <a:srgbClr val="00A896"/>
          </a:solidFill>
          <a:ln/>
        </p:spPr>
      </p:sp>
      <p:sp>
        <p:nvSpPr>
          <p:cNvPr id="11" name="Text 9"/>
          <p:cNvSpPr txBox="1"/>
          <p:nvPr/>
        </p:nvSpPr>
        <p:spPr>
          <a:xfrm>
            <a:off x="1478552" y="2800544"/>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14 / 14</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2026-09-24T08:18:50Z</dcterms:created>
  <dcterms:modified xsi:type="dcterms:W3CDTF">2026-09-24T08:18:50Z</dcterms:modified>
</cp:coreProperties>
</file>