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圈主標「第二層」，講明那是我分的層次、不是 PDF 的頁碼，這些是上一節沒碰到的規格行。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第二節開始。
</a:t>
            </a:r>
          </a:p>
          <a:p>
            <a:pPr algn="l">
              <a:spcBef>
                <a:spcPts val="0"/>
              </a:spcBef>
              <a:spcAft>
                <a:spcPts val="150"/>
              </a:spcAft>
            </a:pPr>
            <a:r>
              <a:rPr sz="900" lang="zh-TW" dirty="0">
                <a:solidFill>
                  <a:srgbClr val="000000"/>
                </a:solidFill>
                <a:latin typeface="Arial Unicode MS"/>
                <a:ea typeface="Arial Unicode MS"/>
                <a:cs typeface="Arial Unicode MS"/>
              </a:rPr>
              <a:t>上一節我們找的四個數字，我叫它</a:t>
            </a:r>
            <a:r>
              <a:rPr sz="900" b="1" lang="zh-TW" dirty="0">
                <a:solidFill>
                  <a:srgbClr val="000000"/>
                </a:solidFill>
                <a:latin typeface="Arial Unicode MS"/>
                <a:ea typeface="Arial Unicode MS"/>
                <a:cs typeface="Arial Unicode MS"/>
              </a:rPr>
              <a:t>第一層</a:t>
            </a:r>
            <a:r>
              <a:rPr sz="90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0"/>
              </a:spcAft>
            </a:pPr>
            <a:r>
              <a:rPr sz="900" lang="zh-TW" dirty="0">
                <a:solidFill>
                  <a:srgbClr val="000000"/>
                </a:solidFill>
                <a:latin typeface="Arial Unicode MS"/>
                <a:ea typeface="Arial Unicode MS"/>
                <a:cs typeface="Arial Unicode MS"/>
              </a:rPr>
              <a:t>這一節我要帶各位往下翻。</a:t>
            </a:r>
            <a:r>
              <a:rPr sz="900" b="1" lang="zh-TW" dirty="0">
                <a:solidFill>
                  <a:srgbClr val="000000"/>
                </a:solidFill>
                <a:latin typeface="Arial Unicode MS"/>
                <a:ea typeface="Arial Unicode MS"/>
                <a:cs typeface="Arial Unicode MS"/>
              </a:rPr>
              <a:t>第二層</a:t>
            </a:r>
            <a:r>
              <a:rPr sz="900" lang="zh-TW" dirty="0">
                <a:solidFill>
                  <a:srgbClr val="000000"/>
                </a:solidFill>
                <a:latin typeface="Arial Unicode MS"/>
                <a:ea typeface="Arial Unicode MS"/>
                <a:cs typeface="Arial Unicode MS"/>
              </a:rPr>
              <a:t>還有一堆數字，大部分的人不看，可是</a:t>
            </a:r>
            <a:r>
              <a:rPr sz="900" b="1" lang="zh-TW" dirty="0">
                <a:solidFill>
                  <a:srgbClr val="000000"/>
                </a:solidFill>
                <a:latin typeface="Arial Unicode MS"/>
                <a:ea typeface="Arial Unicode MS"/>
                <a:cs typeface="Arial Unicode MS"/>
              </a:rPr>
              <a:t>真的出事的時候，常常是出在那幾行</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先講清楚，免得各位拿著 PDF 對不上：</a:t>
            </a:r>
            <a:r>
              <a:rPr sz="900" b="1" lang="zh-TW" dirty="0">
                <a:solidFill>
                  <a:srgbClr val="000000"/>
                </a:solidFill>
                <a:latin typeface="Arial Unicode MS"/>
                <a:ea typeface="Arial Unicode MS"/>
                <a:cs typeface="Arial Unicode MS"/>
              </a:rPr>
              <a:t>第一層、第二層是我分的，不是文件的頁碼。</a:t>
            </a:r>
            <a:r>
              <a:rPr sz="900" lang="zh-TW" dirty="0">
                <a:solidFill>
                  <a:srgbClr val="000000"/>
                </a:solidFill>
                <a:latin typeface="Arial Unicode MS"/>
                <a:ea typeface="Arial Unicode MS"/>
                <a:cs typeface="Arial Unicode MS"/>
              </a:rPr>
              <a:t>這六行在真的文件上是散在好幾頁的——等一下會看到，OS1 的雷射那一段在官方 PDF 的第二頁，相機那三行則全擠在 AR0233AT 兩頁文件的第一頁。
</a:t>
            </a:r>
          </a:p>
          <a:p>
            <a:pPr algn="l">
              <a:spcBef>
                <a:spcPts val="0"/>
              </a:spcBef>
              <a:spcAft>
                <a:spcPts val="150"/>
              </a:spcAft>
            </a:pPr>
            <a:r>
              <a:rPr sz="900" lang="zh-TW" dirty="0">
                <a:solidFill>
                  <a:srgbClr val="000000"/>
                </a:solidFill>
                <a:latin typeface="Arial Unicode MS"/>
                <a:ea typeface="Arial Unicode MS"/>
                <a:cs typeface="Arial Unicode MS"/>
              </a:rPr>
              <a:t>我挑三組最重要的。
</a:t>
            </a:r>
          </a:p>
          <a:p>
            <a:pPr algn="l">
              <a:spcBef>
                <a:spcPts val="0"/>
              </a:spcBef>
              <a:spcAft>
                <a:spcPts val="150"/>
              </a:spcAft>
            </a:pPr>
            <a:r>
              <a:rPr sz="900" lang="zh-TW" dirty="0">
                <a:solidFill>
                  <a:srgbClr val="000000"/>
                </a:solidFill>
                <a:latin typeface="Arial Unicode MS"/>
                <a:ea typeface="Arial Unicode MS"/>
                <a:cs typeface="Arial Unicode MS"/>
              </a:rPr>
              <a:t>第一組是相機的：</a:t>
            </a:r>
            <a:r>
              <a:rPr sz="900" b="1" lang="zh-TW" dirty="0">
                <a:solidFill>
                  <a:srgbClr val="000000"/>
                </a:solidFill>
                <a:latin typeface="Arial Unicode MS"/>
                <a:ea typeface="Arial Unicode MS"/>
                <a:cs typeface="Arial Unicode MS"/>
              </a:rPr>
              <a:t>快門怎麼掃、動態範圍多少、LED 閃爍怎麼處理</a:t>
            </a:r>
            <a:r>
              <a:rPr sz="90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0"/>
              </a:spcAft>
            </a:pPr>
            <a:r>
              <a:rPr sz="900" lang="zh-TW" dirty="0">
                <a:solidFill>
                  <a:srgbClr val="000000"/>
                </a:solidFill>
                <a:latin typeface="Arial Unicode MS"/>
                <a:ea typeface="Arial Unicode MS"/>
                <a:cs typeface="Arial Unicode MS"/>
              </a:rPr>
              <a:t>第二組是光達的：</a:t>
            </a:r>
            <a:r>
              <a:rPr sz="900" b="1" lang="zh-TW" dirty="0">
                <a:solidFill>
                  <a:srgbClr val="000000"/>
                </a:solidFill>
                <a:latin typeface="Arial Unicode MS"/>
                <a:ea typeface="Arial Unicode MS"/>
                <a:cs typeface="Arial Unicode MS"/>
              </a:rPr>
              <a:t>波長、眼睛安全等級、幾次回波</a:t>
            </a:r>
            <a:r>
              <a:rPr sz="90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0"/>
              </a:spcAft>
            </a:pPr>
            <a:r>
              <a:rPr sz="900" lang="zh-TW" dirty="0">
                <a:solidFill>
                  <a:srgbClr val="000000"/>
                </a:solidFill>
                <a:latin typeface="Arial Unicode MS"/>
                <a:ea typeface="Arial Unicode MS"/>
                <a:cs typeface="Arial Unicode MS"/>
              </a:rPr>
              <a:t>第三組是兩種都有的，而且是最多人忽略的：</a:t>
            </a:r>
            <a:r>
              <a:rPr sz="900" b="1" lang="zh-TW" dirty="0">
                <a:solidFill>
                  <a:srgbClr val="000000"/>
                </a:solidFill>
                <a:latin typeface="Arial Unicode MS"/>
                <a:ea typeface="Arial Unicode MS"/>
                <a:cs typeface="Arial Unicode MS"/>
              </a:rPr>
              <a:t>標定和時間同步</a:t>
            </a:r>
            <a:r>
              <a:rPr sz="90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0"/>
              </a:spcAft>
            </a:pPr>
            <a:r>
              <a:rPr sz="90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段落分隔。標題寫三種會壞掉的樣子，副標才是三個術語；順便講明快門方式不在那份兩頁的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等動圖掃完，指著那根斜掉的電線桿和下面那個箭頭說「它本來是直的」。再放 Sony 那支 32 秒的對照影片（youtu.be/YmEH8z1JWgc），叫他們只看主旋翼。最後圈結論條。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。規格表上那一行的欄位名叫 </a:t>
            </a:r>
            <a:r>
              <a:rPr sz="800" b="1" lang="zh-TW" dirty="0">
                <a:solidFill>
                  <a:srgbClr val="000000"/>
                </a:solidFill>
                <a:latin typeface="Arial Unicode MS"/>
                <a:ea typeface="Arial Unicode MS"/>
                <a:cs typeface="Arial Unicode MS"/>
              </a:rPr>
              <a:t>Shutter Type</a:t>
            </a:r>
            <a:r>
              <a:rPr sz="800" lang="zh-TW" dirty="0">
                <a:solidFill>
                  <a:srgbClr val="000000"/>
                </a:solidFill>
                <a:latin typeface="Arial Unicode MS"/>
                <a:ea typeface="Arial Unicode MS"/>
                <a:cs typeface="Arial Unicode MS"/>
              </a:rPr>
              <a:t>，有的廠商只寫 Shutter；上面填的不是 rolling shutter 就是 global shutter。AR0233AT 填的是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這裡要提醒一次：</a:t>
            </a:r>
            <a:r>
              <a:rPr sz="800" b="1" lang="zh-TW" dirty="0">
                <a:solidFill>
                  <a:srgbClr val="000000"/>
                </a:solidFill>
                <a:latin typeface="Arial Unicode MS"/>
                <a:ea typeface="Arial Unicode MS"/>
                <a:cs typeface="Arial Unicode MS"/>
              </a:rPr>
              <a:t>第二張說過，這一行不在那份兩頁的 Product Preview 上</a:t>
            </a:r>
            <a:r>
              <a:rPr sz="800" lang="zh-TW" dirty="0">
                <a:solidFill>
                  <a:srgbClr val="000000"/>
                </a:solidFill>
                <a:latin typeface="Arial Unicode MS"/>
                <a:ea typeface="Arial Unicode MS"/>
                <a:cs typeface="Arial Unicode MS"/>
              </a:rPr>
              <a:t>——各位翻到最後的附錄去找也找不到。要看它得去 onsemi 的產品頁；判讀台上我已經幫各位把那一行補進去了，現在就可以切過去看。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我放一段三十二秒的影片，Sony 官方拍的，網址是 </a:t>
            </a:r>
            <a:r>
              <a:rPr sz="800" b="1" lang="zh-TW" dirty="0">
                <a:solidFill>
                  <a:srgbClr val="000000"/>
                </a:solidFill>
                <a:latin typeface="Arial Unicode MS"/>
                <a:ea typeface="Arial Unicode MS"/>
                <a:cs typeface="Arial Unicode MS"/>
              </a:rPr>
              <a:t>youtu.be/YmEH8z1JWgc</a:t>
            </a:r>
            <a:r>
              <a:rPr sz="800" lang="zh-TW" dirty="0">
                <a:solidFill>
                  <a:srgbClr val="000000"/>
                </a:solidFill>
                <a:latin typeface="Arial Unicode MS"/>
                <a:ea typeface="Arial Unicode MS"/>
                <a:cs typeface="Arial Unicode MS"/>
              </a:rPr>
              <a:t>。畫面分上下兩半，</a:t>
            </a:r>
            <a:r>
              <a:rPr sz="800" b="1" lang="zh-TW" dirty="0">
                <a:solidFill>
                  <a:srgbClr val="000000"/>
                </a:solidFill>
                <a:latin typeface="Arial Unicode MS"/>
                <a:ea typeface="Arial Unicode MS"/>
                <a:cs typeface="Arial Unicode MS"/>
              </a:rPr>
              <a:t>上面標 Global Shutter、下面標 Rolling Shutter</a:t>
            </a:r>
            <a:r>
              <a:rPr sz="800" lang="zh-TW" dirty="0">
                <a:solidFill>
                  <a:srgbClr val="000000"/>
                </a:solidFill>
                <a:latin typeface="Arial Unicode MS"/>
                <a:ea typeface="Arial Unicode MS"/>
                <a:cs typeface="Arial Unicode MS"/>
              </a:rPr>
              <a:t>——同一架直升機、同一個時間，兩種快門拍出來的樣子。各位只要看一件事：</a:t>
            </a:r>
            <a:r>
              <a:rPr sz="800" b="1" lang="zh-TW" dirty="0">
                <a:solidFill>
                  <a:srgbClr val="000000"/>
                </a:solidFill>
                <a:latin typeface="Arial Unicode MS"/>
                <a:ea typeface="Arial Unicode MS"/>
                <a:cs typeface="Arial Unicode MS"/>
              </a:rPr>
              <a:t>主旋翼那兩片葉子</a:t>
            </a:r>
            <a:r>
              <a:rPr sz="800" lang="zh-TW" dirty="0">
                <a:solidFill>
                  <a:srgbClr val="000000"/>
                </a:solidFill>
                <a:latin typeface="Arial Unicode MS"/>
                <a:ea typeface="Arial Unicode MS"/>
                <a:cs typeface="Arial Unicode MS"/>
              </a:rPr>
              <a:t>。上面那格是直的，下面那格彎成香蕉形，尾旋翼更誇張，整個扭掉。這就是剛剛那張動圖演的事情發生在真東西上的樣子。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a:t>
            </a:r>
            <a:r>
              <a:rPr sz="800" b="1" lang="zh-TW" dirty="0">
                <a:solidFill>
                  <a:srgbClr val="000000"/>
                </a:solidFill>
                <a:latin typeface="Arial Unicode MS"/>
                <a:ea typeface="Arial Unicode MS"/>
                <a:cs typeface="Arial Unicode MS"/>
              </a:rPr>
              <a:t>global shutter</a:t>
            </a:r>
            <a:r>
              <a:rPr sz="800" lang="zh-TW" dirty="0">
                <a:solidFill>
                  <a:srgbClr val="000000"/>
                </a:solidFill>
                <a:latin typeface="Arial Unicode MS"/>
                <a:ea typeface="Arial Unicode MS"/>
                <a:cs typeface="Arial Unicode MS"/>
              </a:rPr>
              <a:t>——中文叫</a:t>
            </a:r>
            <a:r>
              <a:rPr sz="800" b="1" lang="zh-TW" dirty="0">
                <a:solidFill>
                  <a:srgbClr val="000000"/>
                </a:solidFill>
                <a:latin typeface="Arial Unicode MS"/>
                <a:ea typeface="Arial Unicode MS"/>
                <a:cs typeface="Arial Unicode MS"/>
              </a:rPr>
              <a:t>全域快門</a:t>
            </a:r>
            <a:r>
              <a:rPr sz="800" lang="zh-TW" dirty="0">
                <a:solidFill>
                  <a:srgbClr val="000000"/>
                </a:solidFill>
                <a:latin typeface="Arial Unicode MS"/>
                <a:ea typeface="Arial Unicode MS"/>
                <a:cs typeface="Arial Unicode MS"/>
              </a:rPr>
              <a:t>——呢？整張同時曝光，沒有這個問題，但是貴很多，而且同樣的價錢下感光度比較差。所以快門方式這一行不是文字遊戲，它決定了你的感知演算法要不要另外寫一段程式去補償。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讀得快一點</a:t>
            </a:r>
            <a:r>
              <a:rPr sz="800" lang="zh-TW" dirty="0">
                <a:solidFill>
                  <a:srgbClr val="000000"/>
                </a:solidFill>
                <a:latin typeface="Arial Unicode MS"/>
                <a:ea typeface="Arial Unicode MS"/>
                <a:cs typeface="Arial Unicode MS"/>
              </a:rPr>
              <a:t>——像上一節看的 AR0233AT，一秒六十張，等於整張一定要在</a:t>
            </a:r>
            <a:r>
              <a:rPr sz="800" b="1" lang="zh-TW" dirty="0">
                <a:solidFill>
                  <a:srgbClr val="000000"/>
                </a:solidFill>
                <a:latin typeface="Arial Unicode MS"/>
                <a:ea typeface="Arial Unicode MS"/>
                <a:cs typeface="Arial Unicode MS"/>
              </a:rPr>
              <a:t>十六點七毫秒</a:t>
            </a:r>
            <a:r>
              <a:rPr sz="800" lang="zh-TW" dirty="0">
                <a:solidFill>
                  <a:srgbClr val="000000"/>
                </a:solidFill>
                <a:latin typeface="Arial Unicode MS"/>
                <a:ea typeface="Arial Unicode MS"/>
                <a:cs typeface="Arial Unicode MS"/>
              </a:rPr>
              <a:t>之內讀完。一秒三十張是三十三毫秒，差一倍；同一台車經過，歪掉的程度也差不多少一半。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fps」這一行，除了講即時性，也順便給了</a:t>
            </a:r>
            <a:r>
              <a:rPr sz="800" b="1" lang="zh-TW" dirty="0">
                <a:solidFill>
                  <a:srgbClr val="000000"/>
                </a:solidFill>
                <a:latin typeface="Arial Unicode MS"/>
                <a:ea typeface="Arial Unicode MS"/>
                <a:cs typeface="Arial Unicode MS"/>
              </a:rPr>
              <a:t>扭曲的上限</a:t>
            </a:r>
            <a:r>
              <a:rPr sz="800" lang="zh-TW" dirty="0">
                <a:solidFill>
                  <a:srgbClr val="000000"/>
                </a:solidFill>
                <a:latin typeface="Arial Unicode MS"/>
                <a:ea typeface="Arial Unicode MS"/>
                <a:cs typeface="Arial Unicode MS"/>
              </a:rPr>
              <a:t>：fps 愈高，從第一列到最後一列的時間差一定愈短。要講精確一點：真正決定扭曲的是</a:t>
            </a:r>
            <a:r>
              <a:rPr sz="800" b="1" lang="zh-TW" dirty="0">
                <a:solidFill>
                  <a:srgbClr val="000000"/>
                </a:solidFill>
                <a:latin typeface="Arial Unicode MS"/>
                <a:ea typeface="Arial Unicode MS"/>
                <a:cs typeface="Arial Unicode MS"/>
              </a:rPr>
              <a:t>整張讀完要多久</a:t>
            </a:r>
            <a:r>
              <a:rPr sz="800" lang="zh-TW" dirty="0">
                <a:solidFill>
                  <a:srgbClr val="000000"/>
                </a:solidFill>
                <a:latin typeface="Arial Unicode MS"/>
                <a:ea typeface="Arial Unicode MS"/>
                <a:cs typeface="Arial Unicode MS"/>
              </a:rPr>
              <a:t>，英文叫 readout time。fps 給的是它的上限——一秒六十張，讀完不可能超過十六點七毫秒，但也可能只花五毫秒、剩下的時間在等。有些規格書會另外印 line time 或 readout time，那一行才是直接的答案。</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相機也一樣，而且它沒有兩秒可以適應。隧道裡面很暗，出口外面很亮，這兩個亮度差一萬倍以上。如果相機的動態範圍不夠，它只能選一邊：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。這一行是最容易被數字誤導的一行。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段落分隔。切到光達的三行：Laser Wavelength、Laser Product Class、# of Returns。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相機那三行講完了，換光達。一樣三行，一樣很少人讀：</a:t>
            </a:r>
            <a:r>
              <a:rPr sz="1200" b="1" lang="zh-TW" dirty="0">
                <a:solidFill>
                  <a:srgbClr val="000000"/>
                </a:solidFill>
                <a:latin typeface="Arial Unicode MS"/>
                <a:ea typeface="Arial Unicode MS"/>
                <a:cs typeface="Arial Unicode MS"/>
              </a:rPr>
              <a:t>波長、雷射安全等級、回波次數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一列一列圈，每圈一列念一次它的代價。學生會拿第三週的竹竿來問「波長愈長不是愈會穿透嗎」——繞射和吸收是兩回事，口白裡有。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這裡要擋一個誤會。第三週我們用竹竿講過：</a:t>
            </a:r>
            <a:r>
              <a:rPr sz="800" b="1" lang="zh-TW" dirty="0">
                <a:solidFill>
                  <a:srgbClr val="000000"/>
                </a:solidFill>
                <a:latin typeface="Arial Unicode MS"/>
                <a:ea typeface="Arial Unicode MS"/>
                <a:cs typeface="Arial Unicode MS"/>
              </a:rPr>
              <a:t>波長比障礙物大就繞過去，比障礙物小就被擋住。</a:t>
            </a:r>
            <a:r>
              <a:rPr sz="800" lang="zh-TW" dirty="0">
                <a:solidFill>
                  <a:srgbClr val="000000"/>
                </a:solidFill>
                <a:latin typeface="Arial Unicode MS"/>
                <a:ea typeface="Arial Unicode MS"/>
                <a:cs typeface="Arial Unicode MS"/>
              </a:rPr>
              <a:t>那條規則講的是「會不會被擋住、被散開」，比的是波長和</a:t>
            </a:r>
            <a:r>
              <a:rPr sz="800" b="1" lang="zh-TW" dirty="0">
                <a:solidFill>
                  <a:srgbClr val="000000"/>
                </a:solidFill>
                <a:latin typeface="Arial Unicode MS"/>
                <a:ea typeface="Arial Unicode MS"/>
                <a:cs typeface="Arial Unicode MS"/>
              </a:rPr>
              <a:t>障礙物的大小</a:t>
            </a:r>
            <a:r>
              <a:rPr sz="800" lang="zh-TW" dirty="0">
                <a:solidFill>
                  <a:srgbClr val="000000"/>
                </a:solidFill>
                <a:latin typeface="Arial Unicode MS"/>
                <a:ea typeface="Arial Unicode MS"/>
                <a:cs typeface="Arial Unicode MS"/>
              </a:rPr>
              <a:t>。今天講的是另一件事——</a:t>
            </a:r>
            <a:r>
              <a:rPr sz="800" b="1" lang="zh-TW" dirty="0">
                <a:solidFill>
                  <a:srgbClr val="000000"/>
                </a:solidFill>
                <a:latin typeface="Arial Unicode MS"/>
                <a:ea typeface="Arial Unicode MS"/>
                <a:cs typeface="Arial Unicode MS"/>
              </a:rPr>
              <a:t>材料會不會把光吃掉</a:t>
            </a:r>
            <a:r>
              <a:rPr sz="800" lang="zh-TW" dirty="0">
                <a:solidFill>
                  <a:srgbClr val="000000"/>
                </a:solidFill>
                <a:latin typeface="Arial Unicode MS"/>
                <a:ea typeface="Arial Unicode MS"/>
                <a:cs typeface="Arial Unicode MS"/>
              </a:rPr>
              <a:t>，那跟大小沒關係，跟水分子吃哪些波長有關。而且水吸光的曲線不是斜線，是</a:t>
            </a:r>
            <a:r>
              <a:rPr sz="800" b="1" lang="zh-TW" dirty="0">
                <a:solidFill>
                  <a:srgbClr val="000000"/>
                </a:solidFill>
                <a:latin typeface="Arial Unicode MS"/>
                <a:ea typeface="Arial Unicode MS"/>
                <a:cs typeface="Arial Unicode MS"/>
              </a:rPr>
              <a:t>高高低低的</a:t>
            </a:r>
            <a:r>
              <a:rPr sz="800" lang="zh-TW" dirty="0">
                <a:solidFill>
                  <a:srgbClr val="000000"/>
                </a:solidFill>
                <a:latin typeface="Arial Unicode MS"/>
                <a:ea typeface="Arial Unicode MS"/>
                <a:cs typeface="Arial Unicode MS"/>
              </a:rPr>
              <a:t>：九百奈米附近幾乎不吸，到一千五百五就很會吸。所以 1550 </a:t>
            </a:r>
            <a:r>
              <a:rPr sz="800" b="1" lang="zh-TW" dirty="0">
                <a:solidFill>
                  <a:srgbClr val="000000"/>
                </a:solidFill>
                <a:latin typeface="Arial Unicode MS"/>
                <a:ea typeface="Arial Unicode MS"/>
                <a:cs typeface="Arial Unicode MS"/>
              </a:rPr>
              <a:t>不是比較會穿透，是剛好踩在水的吸收帶上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而且 1550 還多一個好處，第一節第十三張那個 100 klx 的條件就是在講這件事：</a:t>
            </a:r>
            <a:r>
              <a:rPr sz="800" b="1" lang="zh-TW" dirty="0">
                <a:solidFill>
                  <a:srgbClr val="000000"/>
                </a:solidFill>
                <a:latin typeface="Arial Unicode MS"/>
                <a:ea typeface="Arial Unicode MS"/>
                <a:cs typeface="Arial Unicode MS"/>
              </a:rPr>
              <a:t>太陽在 1550 這個波長的輻射本來就比較弱</a:t>
            </a:r>
            <a:r>
              <a:rPr sz="800" lang="zh-TW" dirty="0">
                <a:solidFill>
                  <a:srgbClr val="000000"/>
                </a:solidFill>
                <a:latin typeface="Arial Unicode MS"/>
                <a:ea typeface="Arial Unicode MS"/>
                <a:cs typeface="Arial Unicode MS"/>
              </a:rPr>
              <a:t>，所以它要對付的背景噪音比 905 少。打得強、背景又少，這就是為什麼高階的長距光達用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接收端要換材料</a:t>
            </a:r>
            <a:r>
              <a:rPr sz="800" lang="zh-TW" dirty="0">
                <a:solidFill>
                  <a:srgbClr val="000000"/>
                </a:solidFill>
                <a:latin typeface="Arial Unicode MS"/>
                <a:ea typeface="Arial Unicode MS"/>
                <a:cs typeface="Arial Unicode MS"/>
              </a:rPr>
              <a:t>，而那個材料很貴。
</a:t>
            </a:r>
          </a:p>
          <a:p>
            <a:pPr algn="l">
              <a:spcBef>
                <a:spcPts val="0"/>
              </a:spcBef>
              <a:spcAft>
                <a:spcPts val="133"/>
              </a:spcAft>
            </a:pPr>
            <a:r>
              <a:rPr sz="800" lang="zh-TW" dirty="0">
                <a:solidFill>
                  <a:srgbClr val="000000"/>
                </a:solidFill>
                <a:latin typeface="Arial Unicode MS"/>
                <a:ea typeface="Arial Unicode MS"/>
                <a:cs typeface="Arial Unicode MS"/>
              </a:rPr>
              <a:t>先講光達怎麼「收到」光。光打在半導體上，光子的能量夠大就撞出一個電子，變成電流——那就是訊號。能量夠不夠有一個門檻，叫</a:t>
            </a:r>
            <a:r>
              <a:rPr sz="800" b="1" lang="zh-TW" dirty="0">
                <a:solidFill>
                  <a:srgbClr val="000000"/>
                </a:solidFill>
                <a:latin typeface="Arial Unicode MS"/>
                <a:ea typeface="Arial Unicode MS"/>
                <a:cs typeface="Arial Unicode MS"/>
              </a:rPr>
              <a:t>能隙</a:t>
            </a:r>
            <a:r>
              <a:rPr sz="800" lang="zh-TW" dirty="0">
                <a:solidFill>
                  <a:srgbClr val="000000"/>
                </a:solidFill>
                <a:latin typeface="Arial Unicode MS"/>
                <a:ea typeface="Arial Unicode MS"/>
                <a:cs typeface="Arial Unicode MS"/>
              </a:rPr>
              <a:t>，每種材料不一樣；波長愈長，光子的能量愈小。</a:t>
            </a:r>
            <a:r>
              <a:rPr sz="800" b="1" lang="zh-TW" dirty="0">
                <a:solidFill>
                  <a:srgbClr val="000000"/>
                </a:solidFill>
                <a:latin typeface="Arial Unicode MS"/>
                <a:ea typeface="Arial Unicode MS"/>
                <a:cs typeface="Arial Unicode MS"/>
              </a:rPr>
              <a:t>矽的門檻剛好卡在一千一百奈米</a:t>
            </a:r>
            <a:r>
              <a:rPr sz="800" lang="zh-TW" dirty="0">
                <a:solidFill>
                  <a:srgbClr val="000000"/>
                </a:solidFill>
                <a:latin typeface="Arial Unicode MS"/>
                <a:ea typeface="Arial Unicode MS"/>
                <a:cs typeface="Arial Unicode MS"/>
              </a:rPr>
              <a:t>：905、865 過得了，1550 過不了。所以</a:t>
            </a:r>
            <a:r>
              <a:rPr sz="800" b="1" lang="zh-TW" dirty="0">
                <a:solidFill>
                  <a:srgbClr val="000000"/>
                </a:solidFill>
                <a:latin typeface="Arial Unicode MS"/>
                <a:ea typeface="Arial Unicode MS"/>
                <a:cs typeface="Arial Unicode MS"/>
              </a:rPr>
              <a:t>矽對 1550 等於全盲</a:t>
            </a:r>
            <a:r>
              <a:rPr sz="800" lang="zh-TW" dirty="0">
                <a:solidFill>
                  <a:srgbClr val="000000"/>
                </a:solidFill>
                <a:latin typeface="Arial Unicode MS"/>
                <a:ea typeface="Arial Unicode MS"/>
                <a:cs typeface="Arial Unicode MS"/>
              </a:rPr>
              <a:t>，不是看不清楚，是一點訊號都沒有。
</a:t>
            </a:r>
          </a:p>
          <a:p>
            <a:pPr algn="l">
              <a:spcBef>
                <a:spcPts val="0"/>
              </a:spcBef>
              <a:spcAft>
                <a:spcPts val="133"/>
              </a:spcAft>
            </a:pPr>
            <a:r>
              <a:rPr sz="800" lang="zh-TW" dirty="0">
                <a:solidFill>
                  <a:srgbClr val="000000"/>
                </a:solidFill>
                <a:latin typeface="Arial Unicode MS"/>
                <a:ea typeface="Arial Unicode MS"/>
                <a:cs typeface="Arial Unicode MS"/>
              </a:rPr>
              <a:t>所以 1550 只能換</a:t>
            </a:r>
            <a:r>
              <a:rPr sz="800" b="1" lang="zh-TW" dirty="0">
                <a:solidFill>
                  <a:srgbClr val="000000"/>
                </a:solidFill>
                <a:latin typeface="Arial Unicode MS"/>
                <a:ea typeface="Arial Unicode MS"/>
                <a:cs typeface="Arial Unicode MS"/>
              </a:rPr>
              <a:t>銦鎵砷</a:t>
            </a:r>
            <a:r>
              <a:rPr sz="800" lang="zh-TW" dirty="0">
                <a:solidFill>
                  <a:srgbClr val="000000"/>
                </a:solidFill>
                <a:latin typeface="Arial Unicode MS"/>
                <a:ea typeface="Arial Unicode MS"/>
                <a:cs typeface="Arial Unicode MS"/>
              </a:rPr>
              <a:t>，唸起來像「因、家、申」——銦、鎵、砷三種元素做的半導體。規格表上寫的是英文 </a:t>
            </a:r>
            <a:r>
              <a:rPr sz="800" b="1" lang="zh-TW" dirty="0">
                <a:solidFill>
                  <a:srgbClr val="000000"/>
                </a:solidFill>
                <a:latin typeface="Arial Unicode MS"/>
                <a:ea typeface="Arial Unicode MS"/>
                <a:cs typeface="Arial Unicode MS"/>
              </a:rPr>
              <a:t>InGaAs</a:t>
            </a:r>
            <a:r>
              <a:rPr sz="800" lang="zh-TW" dirty="0">
                <a:solidFill>
                  <a:srgbClr val="000000"/>
                </a:solidFill>
                <a:latin typeface="Arial Unicode MS"/>
                <a:ea typeface="Arial Unicode MS"/>
                <a:cs typeface="Arial Unicode MS"/>
              </a:rPr>
              <a:t>，業界直接唸「in-gas」，各位記這個就好。它的門檻低到一千七百奈米都看得見。貴在哪？矽是全世界最成熟最便宜的材料，整個晶片工業都在做它；銦鎵砷的晶圓小、材料稀有，而且感光的部分和讀取電路是</a:t>
            </a:r>
            <a:r>
              <a:rPr sz="800" b="1" lang="zh-TW" dirty="0">
                <a:solidFill>
                  <a:srgbClr val="000000"/>
                </a:solidFill>
                <a:latin typeface="Arial Unicode MS"/>
                <a:ea typeface="Arial Unicode MS"/>
                <a:cs typeface="Arial Unicode MS"/>
              </a:rPr>
              <a:t>兩顆晶片，要一顆一顆對準黏起來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那竹竿那條規則在今天還算不算數？算，但它把 905 和 1550 歸在</a:t>
            </a:r>
            <a:r>
              <a:rPr sz="800" b="1" lang="zh-TW" dirty="0">
                <a:solidFill>
                  <a:srgbClr val="000000"/>
                </a:solidFill>
                <a:latin typeface="Arial Unicode MS"/>
                <a:ea typeface="Arial Unicode MS"/>
                <a:cs typeface="Arial Unicode MS"/>
              </a:rPr>
              <a:t>同一類</a:t>
            </a:r>
            <a:r>
              <a:rPr sz="800" lang="zh-TW" dirty="0">
                <a:solidFill>
                  <a:srgbClr val="000000"/>
                </a:solidFill>
                <a:latin typeface="Arial Unicode MS"/>
                <a:ea typeface="Arial Unicode MS"/>
                <a:cs typeface="Arial Unicode MS"/>
              </a:rPr>
              <a:t>：兩個只差一點七倍，都比霧滴小一千倍左右，所以一樣會被雨霧散射，誰也沒有比較會繞過去。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先圈 Class 1 與 IEC/EN 60825-1，語氣要重；再圈 865 nm。最後圈 Beam Divergence 0.18°，在白板上算一次 100 m → 31 cm。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左邊這一塊，是 OS1 datasheet 上 LASER 那一段。</a:t>
            </a:r>
            <a:r>
              <a:rPr sz="800" b="1" lang="zh-TW" dirty="0">
                <a:solidFill>
                  <a:srgbClr val="000000"/>
                </a:solidFill>
                <a:latin typeface="Arial Unicode MS"/>
                <a:ea typeface="Arial Unicode MS"/>
                <a:cs typeface="Arial Unicode MS"/>
              </a:rPr>
              <a:t>第一行就是眼睛安全等級</a:t>
            </a:r>
            <a:r>
              <a:rPr sz="800" lang="zh-TW" dirty="0">
                <a:solidFill>
                  <a:srgbClr val="000000"/>
                </a:solidFill>
                <a:latin typeface="Arial Unicode MS"/>
                <a:ea typeface="Arial Unicode MS"/>
                <a:cs typeface="Arial Unicode MS"/>
              </a:rPr>
              <a:t>，剛剛講的波長排在它下面。
</a:t>
            </a:r>
          </a:p>
          <a:p>
            <a:pPr algn="l">
              <a:spcBef>
                <a:spcPts val="0"/>
              </a:spcBef>
              <a:spcAft>
                <a:spcPts val="133"/>
              </a:spcAft>
            </a:pPr>
            <a:r>
              <a:rPr sz="800" lang="zh-TW" dirty="0">
                <a:solidFill>
                  <a:srgbClr val="000000"/>
                </a:solidFill>
                <a:latin typeface="Arial Unicode MS"/>
                <a:ea typeface="Arial Unicode MS"/>
                <a:cs typeface="Arial Unicode MS"/>
              </a:rPr>
              <a:t>上面寫的是：</a:t>
            </a:r>
            <a:r>
              <a:rPr sz="800" b="1" lang="zh-TW" dirty="0">
                <a:solidFill>
                  <a:srgbClr val="000000"/>
                </a:solidFill>
                <a:latin typeface="Arial Unicode MS"/>
                <a:ea typeface="Arial Unicode MS"/>
                <a:cs typeface="Arial Unicode MS"/>
              </a:rPr>
              <a:t>Class 1 eye-safe per IEC/EN 60825-1: 2014</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800" b="1" lang="zh-TW" dirty="0">
                <a:solidFill>
                  <a:srgbClr val="000000"/>
                </a:solidFill>
                <a:latin typeface="Arial Unicode MS"/>
                <a:ea typeface="Arial Unicode MS"/>
                <a:cs typeface="Arial Unicode MS"/>
              </a:rPr>
              <a:t>在正常使用的情況下，就算有人直直盯著它看，也不會傷到眼睛。</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為什麼這件事重要到要單獨列一行？
</a:t>
            </a:r>
          </a:p>
          <a:p>
            <a:pPr algn="l">
              <a:spcBef>
                <a:spcPts val="0"/>
              </a:spcBef>
              <a:spcAft>
                <a:spcPts val="133"/>
              </a:spcAft>
            </a:pPr>
            <a:r>
              <a:rPr sz="800" lang="zh-TW" dirty="0">
                <a:solidFill>
                  <a:srgbClr val="000000"/>
                </a:solidFill>
                <a:latin typeface="Arial Unicode MS"/>
                <a:ea typeface="Arial Unicode MS"/>
                <a:cs typeface="Arial Unicode MS"/>
              </a:rPr>
              <a:t>因為光達是裝在</a:t>
            </a:r>
            <a:r>
              <a:rPr sz="800" b="1" lang="zh-TW" dirty="0">
                <a:solidFill>
                  <a:srgbClr val="000000"/>
                </a:solidFill>
                <a:latin typeface="Arial Unicode MS"/>
                <a:ea typeface="Arial Unicode MS"/>
                <a:cs typeface="Arial Unicode MS"/>
              </a:rPr>
              <a:t>馬路上跑的車</a:t>
            </a:r>
            <a:r>
              <a:rPr sz="8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33"/>
              </a:spcAft>
            </a:pPr>
            <a:r>
              <a:rPr sz="800" lang="zh-TW" dirty="0">
                <a:solidFill>
                  <a:srgbClr val="000000"/>
                </a:solidFill>
                <a:latin typeface="Arial Unicode MS"/>
                <a:ea typeface="Arial Unicode MS"/>
                <a:cs typeface="Arial Unicode MS"/>
              </a:rPr>
              <a:t>所以這一行不是拿來加分的，是</a:t>
            </a:r>
            <a:r>
              <a:rPr sz="800" b="1" lang="zh-TW" dirty="0">
                <a:solidFill>
                  <a:srgbClr val="000000"/>
                </a:solidFill>
                <a:latin typeface="Arial Unicode MS"/>
                <a:ea typeface="Arial Unicode MS"/>
                <a:cs typeface="Arial Unicode MS"/>
              </a:rPr>
              <a:t>門檻</a:t>
            </a:r>
            <a:r>
              <a:rPr sz="80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33"/>
              </a:spcAft>
            </a:pPr>
            <a:r>
              <a:rPr sz="800" lang="zh-TW" dirty="0">
                <a:solidFill>
                  <a:srgbClr val="000000"/>
                </a:solidFill>
                <a:latin typeface="Arial Unicode MS"/>
                <a:ea typeface="Arial Unicode MS"/>
                <a:cs typeface="Arial Unicode MS"/>
              </a:rPr>
              <a:t>這裡也牽涉到剛剛講的波長。</a:t>
            </a:r>
            <a:r>
              <a:rPr sz="800" b="1" lang="zh-TW" dirty="0">
                <a:solidFill>
                  <a:srgbClr val="000000"/>
                </a:solidFill>
                <a:latin typeface="Arial Unicode MS"/>
                <a:ea typeface="Arial Unicode MS"/>
                <a:cs typeface="Arial Unicode MS"/>
              </a:rPr>
              <a:t>第二行 Laser Wavelength，865 奈米</a:t>
            </a:r>
            <a:r>
              <a:rPr sz="800" lang="zh-TW" dirty="0">
                <a:solidFill>
                  <a:srgbClr val="000000"/>
                </a:solidFill>
                <a:latin typeface="Arial Unicode MS"/>
                <a:ea typeface="Arial Unicode MS"/>
                <a:cs typeface="Arial Unicode MS"/>
              </a:rPr>
              <a:t>，就是上一張講的那個數字。1550 之所以可以打比較強，就是因為在同樣的 Class 1 限制下，它的功率上限高很多。
</a:t>
            </a:r>
          </a:p>
          <a:p>
            <a:pPr algn="l">
              <a:spcBef>
                <a:spcPts val="0"/>
              </a:spcBef>
              <a:spcAft>
                <a:spcPts val="133"/>
              </a:spcAft>
            </a:pPr>
            <a:r>
              <a:rPr sz="800" lang="zh-TW" dirty="0">
                <a:solidFill>
                  <a:srgbClr val="000000"/>
                </a:solidFill>
                <a:latin typeface="Arial Unicode MS"/>
                <a:ea typeface="Arial Unicode MS"/>
                <a:cs typeface="Arial Unicode MS"/>
              </a:rPr>
              <a:t>下面兩行順便看一下，它們其實也在講同一件事。</a:t>
            </a:r>
            <a:r>
              <a:rPr sz="800" b="1" lang="zh-TW" dirty="0">
                <a:solidFill>
                  <a:srgbClr val="000000"/>
                </a:solidFill>
                <a:latin typeface="Arial Unicode MS"/>
                <a:ea typeface="Arial Unicode MS"/>
                <a:cs typeface="Arial Unicode MS"/>
              </a:rPr>
              <a:t>Beam Diameter Exiting Sensor，9.5 公釐</a:t>
            </a:r>
            <a:r>
              <a:rPr sz="800" lang="zh-TW" dirty="0">
                <a:solidFill>
                  <a:srgbClr val="000000"/>
                </a:solidFill>
                <a:latin typeface="Arial Unicode MS"/>
                <a:ea typeface="Arial Unicode MS"/>
                <a:cs typeface="Arial Unicode MS"/>
              </a:rPr>
              <a:t>——雷射離開感測器的時候，光束有 9.5 公釐寬。為什麼要列這個？因為同樣的功率，</a:t>
            </a:r>
            <a:r>
              <a:rPr sz="800" b="1" lang="zh-TW" dirty="0">
                <a:solidFill>
                  <a:srgbClr val="000000"/>
                </a:solidFill>
                <a:latin typeface="Arial Unicode MS"/>
                <a:ea typeface="Arial Unicode MS"/>
                <a:cs typeface="Arial Unicode MS"/>
              </a:rPr>
              <a:t>光束愈寬，攤在眼睛上的能量密度就愈低</a:t>
            </a:r>
            <a:r>
              <a:rPr sz="800" lang="zh-TW" dirty="0">
                <a:solidFill>
                  <a:srgbClr val="000000"/>
                </a:solidFill>
                <a:latin typeface="Arial Unicode MS"/>
                <a:ea typeface="Arial Unicode MS"/>
                <a:cs typeface="Arial Unicode MS"/>
              </a:rPr>
              <a:t>。把光束做寬，本來就是達到 Class 1 的手段之一。
</a:t>
            </a:r>
          </a:p>
          <a:p>
            <a:pPr algn="l">
              <a:spcBef>
                <a:spcPts val="0"/>
              </a:spcBef>
              <a:spcAft>
                <a:spcPts val="133"/>
              </a:spcAft>
            </a:pPr>
            <a:r>
              <a:rPr sz="800" b="1" lang="zh-TW" dirty="0">
                <a:solidFill>
                  <a:srgbClr val="000000"/>
                </a:solidFill>
                <a:latin typeface="Arial Unicode MS"/>
                <a:ea typeface="Arial Unicode MS"/>
                <a:cs typeface="Arial Unicode MS"/>
              </a:rPr>
              <a:t>Beam Divergence，0.18 度</a:t>
            </a:r>
            <a:r>
              <a:rPr sz="800" lang="zh-TW" dirty="0">
                <a:solidFill>
                  <a:srgbClr val="000000"/>
                </a:solidFill>
                <a:latin typeface="Arial Unicode MS"/>
                <a:ea typeface="Arial Unicode MS"/>
                <a:cs typeface="Arial Unicode MS"/>
              </a:rPr>
              <a:t>——光束飛出去會愈來愈寬。括號裡的 FWHM 是量法：從最亮的地方往兩邊量到剩一半亮度的寬度。各位算一下：0.18 度，到一百公尺外，光點大概 </a:t>
            </a:r>
            <a:r>
              <a:rPr sz="800" b="1" lang="zh-TW" dirty="0">
                <a:solidFill>
                  <a:srgbClr val="000000"/>
                </a:solidFill>
                <a:latin typeface="Arial Unicode MS"/>
                <a:ea typeface="Arial Unicode MS"/>
                <a:cs typeface="Arial Unicode MS"/>
              </a:rPr>
              <a:t>31 公分寬</a:t>
            </a:r>
            <a:r>
              <a:rPr sz="800" lang="zh-TW" dirty="0">
                <a:solidFill>
                  <a:srgbClr val="000000"/>
                </a:solidFill>
                <a:latin typeface="Arial Unicode MS"/>
                <a:ea typeface="Arial Unicode MS"/>
                <a:cs typeface="Arial Unicode MS"/>
              </a:rPr>
              <a:t>；四十公尺外大概 12 公分。
</a:t>
            </a:r>
          </a:p>
          <a:p>
            <a:pPr algn="l">
              <a:spcBef>
                <a:spcPts val="0"/>
              </a:spcBef>
              <a:spcAft>
                <a:spcPts val="133"/>
              </a:spcAft>
            </a:pPr>
            <a:r>
              <a:rPr sz="800" lang="zh-TW" dirty="0">
                <a:solidFill>
                  <a:srgbClr val="000000"/>
                </a:solidFill>
                <a:latin typeface="Arial Unicode MS"/>
                <a:ea typeface="Arial Unicode MS"/>
                <a:cs typeface="Arial Unicode MS"/>
              </a:rPr>
              <a:t>所以請記住一件事：</a:t>
            </a:r>
            <a:r>
              <a:rPr sz="800" b="1" lang="zh-TW" dirty="0">
                <a:solidFill>
                  <a:srgbClr val="000000"/>
                </a:solidFill>
                <a:latin typeface="Arial Unicode MS"/>
                <a:ea typeface="Arial Unicode MS"/>
                <a:cs typeface="Arial Unicode MS"/>
              </a:rPr>
              <a:t>光達的「一個點」，在遠處根本不是一個點。</a:t>
            </a:r>
            <a:r>
              <a:rPr sz="800" lang="zh-TW" dirty="0">
                <a:solidFill>
                  <a:srgbClr val="000000"/>
                </a:solidFill>
                <a:latin typeface="Arial Unicode MS"/>
                <a:ea typeface="Arial Unicode MS"/>
                <a:cs typeface="Arial Unicode MS"/>
              </a:rPr>
              <a:t>遠處那個點量到的，是那三十公分範圍裡的東西。下一張講「一道雷射可以彈回來兩次」，就是因為這道光夠寬，寬到可以同時打到兩個東西。
</a:t>
            </a:r>
          </a:p>
          <a:p>
            <a:pPr algn="l">
              <a:spcBef>
                <a:spcPts val="0"/>
              </a:spcBef>
              <a:spcAft>
                <a:spcPts val="133"/>
              </a:spcAft>
            </a:pPr>
            <a:r>
              <a:rPr sz="8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一列一列圈。第一列特別停一下，問他們「下雨的晚上，路面是什麼？」第三列圈「反光背心」，把上一節那個例子收回來。最後四層要在白板上編號一到四，學生要數得出來。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剛剛那一行「最多兩次回波」，我說是為了雨和灰塵。其實它最常救的，是另一種東西——</a:t>
            </a:r>
            <a:r>
              <a:rPr sz="800" b="1" lang="zh-TW" dirty="0">
                <a:solidFill>
                  <a:srgbClr val="000000"/>
                </a:solidFill>
                <a:latin typeface="Arial Unicode MS"/>
                <a:ea typeface="Arial Unicode MS"/>
                <a:cs typeface="Arial Unicode MS"/>
              </a:rPr>
              <a:t>鏡面</a:t>
            </a:r>
            <a:r>
              <a:rPr sz="800" lang="zh-TW" dirty="0">
                <a:solidFill>
                  <a:srgbClr val="000000"/>
                </a:solidFill>
                <a:latin typeface="Arial Unicode MS"/>
                <a:ea typeface="Arial Unicode MS"/>
                <a:cs typeface="Arial Unicode MS"/>
              </a:rPr>
              <a:t>。光達的前提很簡單：打出去的光，會從對面</a:t>
            </a:r>
            <a:r>
              <a:rPr sz="800" b="1" lang="zh-TW" dirty="0">
                <a:solidFill>
                  <a:srgbClr val="000000"/>
                </a:solidFill>
                <a:latin typeface="Arial Unicode MS"/>
                <a:ea typeface="Arial Unicode MS"/>
                <a:cs typeface="Arial Unicode MS"/>
              </a:rPr>
              <a:t>散一點</a:t>
            </a:r>
            <a:r>
              <a:rPr sz="800" lang="zh-TW" dirty="0">
                <a:solidFill>
                  <a:srgbClr val="000000"/>
                </a:solidFill>
                <a:latin typeface="Arial Unicode MS"/>
                <a:ea typeface="Arial Unicode MS"/>
                <a:cs typeface="Arial Unicode MS"/>
              </a:rPr>
              <a:t>回來。上一節講的 80% 和 10%，都是在講「散回來多少」。表上這三列的共同點，就是</a:t>
            </a:r>
            <a:r>
              <a:rPr sz="800" b="1" lang="zh-TW" dirty="0">
                <a:solidFill>
                  <a:srgbClr val="000000"/>
                </a:solidFill>
                <a:latin typeface="Arial Unicode MS"/>
                <a:ea typeface="Arial Unicode MS"/>
                <a:cs typeface="Arial Unicode MS"/>
              </a:rPr>
              <a:t>這個前提不成立</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但三列不是三種鏡面。</a:t>
            </a:r>
            <a:r>
              <a:rPr sz="800" b="1" lang="zh-TW" dirty="0">
                <a:solidFill>
                  <a:srgbClr val="000000"/>
                </a:solidFill>
                <a:latin typeface="Arial Unicode MS"/>
                <a:ea typeface="Arial Unicode MS"/>
                <a:cs typeface="Arial Unicode MS"/>
              </a:rPr>
              <a:t>前兩列是同一種表面——鏡面，差在幾何</a:t>
            </a:r>
            <a:r>
              <a:rPr sz="800" lang="zh-TW" dirty="0">
                <a:solidFill>
                  <a:srgbClr val="000000"/>
                </a:solidFill>
                <a:latin typeface="Arial Unicode MS"/>
                <a:ea typeface="Arial Unicode MS"/>
                <a:cs typeface="Arial Unicode MS"/>
              </a:rPr>
              <a:t>：彈出去的方向什麼都沒有就什麼都收不到，那個方向剛好有東西就收到一個鬼點。</a:t>
            </a:r>
            <a:r>
              <a:rPr sz="800" b="1" lang="zh-TW" dirty="0">
                <a:solidFill>
                  <a:srgbClr val="000000"/>
                </a:solidFill>
                <a:latin typeface="Arial Unicode MS"/>
                <a:ea typeface="Arial Unicode MS"/>
                <a:cs typeface="Arial Unicode MS"/>
              </a:rPr>
              <a:t>第三列根本不是鏡面</a:t>
            </a:r>
            <a:r>
              <a:rPr sz="800" lang="zh-TW" dirty="0">
                <a:solidFill>
                  <a:srgbClr val="000000"/>
                </a:solidFill>
                <a:latin typeface="Arial Unicode MS"/>
                <a:ea typeface="Arial Unicode MS"/>
                <a:cs typeface="Arial Unicode MS"/>
              </a:rPr>
              <a:t>，是</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——鏡面守「入射角等於反射角」，回歸反射不守，不管從哪個角度打都原路送回去。
</a:t>
            </a:r>
          </a:p>
          <a:p>
            <a:pPr algn="l">
              <a:spcBef>
                <a:spcPts val="0"/>
              </a:spcBef>
              <a:spcAft>
                <a:spcPts val="133"/>
              </a:spcAft>
            </a:pPr>
            <a:r>
              <a:rPr sz="800" lang="zh-TW" dirty="0">
                <a:solidFill>
                  <a:srgbClr val="000000"/>
                </a:solidFill>
                <a:latin typeface="Arial Unicode MS"/>
                <a:ea typeface="Arial Unicode MS"/>
                <a:cs typeface="Arial Unicode MS"/>
              </a:rPr>
              <a:t>所以第一種狀況是：</a:t>
            </a:r>
            <a:r>
              <a:rPr sz="800" b="1" lang="zh-TW" dirty="0">
                <a:solidFill>
                  <a:srgbClr val="000000"/>
                </a:solidFill>
                <a:latin typeface="Arial Unicode MS"/>
                <a:ea typeface="Arial Unicode MS"/>
                <a:cs typeface="Arial Unicode MS"/>
              </a:rPr>
              <a:t>什麼都收不到。</a:t>
            </a:r>
            <a:r>
              <a:rPr sz="800" lang="zh-TW" dirty="0">
                <a:solidFill>
                  <a:srgbClr val="000000"/>
                </a:solidFill>
                <a:latin typeface="Arial Unicode MS"/>
                <a:ea typeface="Arial Unicode MS"/>
                <a:cs typeface="Arial Unicode MS"/>
              </a:rPr>
              <a:t>雷射斜斜打到玻璃帷幕、打到鍍鉻保險桿，整束彈走，那一塊在點雲上就是一個洞。</a:t>
            </a:r>
            <a:r>
              <a:rPr sz="800" b="1" lang="zh-TW" dirty="0">
                <a:solidFill>
                  <a:srgbClr val="000000"/>
                </a:solidFill>
                <a:latin typeface="Arial Unicode MS"/>
                <a:ea typeface="Arial Unicode MS"/>
                <a:cs typeface="Arial Unicode MS"/>
              </a:rPr>
              <a:t>對車子來說，洞就等於「那裡是空的」</a:t>
            </a:r>
            <a:r>
              <a:rPr sz="800" lang="zh-TW" dirty="0">
                <a:solidFill>
                  <a:srgbClr val="000000"/>
                </a:solidFill>
                <a:latin typeface="Arial Unicode MS"/>
                <a:ea typeface="Arial Unicode MS"/>
                <a:cs typeface="Arial Unicode MS"/>
              </a:rPr>
              <a:t>，規劃路徑時可能把它當成可以走的空間。
</a:t>
            </a:r>
          </a:p>
          <a:p>
            <a:pPr algn="l">
              <a:spcBef>
                <a:spcPts val="0"/>
              </a:spcBef>
              <a:spcAft>
                <a:spcPts val="133"/>
              </a:spcAft>
            </a:pPr>
            <a:r>
              <a:rPr sz="800" lang="zh-TW" dirty="0">
                <a:solidFill>
                  <a:srgbClr val="000000"/>
                </a:solidFill>
                <a:latin typeface="Arial Unicode MS"/>
                <a:ea typeface="Arial Unicode MS"/>
                <a:cs typeface="Arial Unicode MS"/>
              </a:rPr>
              <a:t>這裡特別想一件事：</a:t>
            </a:r>
            <a:r>
              <a:rPr sz="800" b="1" lang="zh-TW" dirty="0">
                <a:solidFill>
                  <a:srgbClr val="000000"/>
                </a:solidFill>
                <a:latin typeface="Arial Unicode MS"/>
                <a:ea typeface="Arial Unicode MS"/>
                <a:cs typeface="Arial Unicode MS"/>
              </a:rPr>
              <a:t>下雨的晚上，路面是什麼？</a:t>
            </a:r>
            <a:r>
              <a:rPr sz="800" lang="zh-TW" dirty="0">
                <a:solidFill>
                  <a:srgbClr val="000000"/>
                </a:solidFill>
                <a:latin typeface="Arial Unicode MS"/>
                <a:ea typeface="Arial Unicode MS"/>
                <a:cs typeface="Arial Unicode MS"/>
              </a:rPr>
              <a:t>水膜把粗糙的柏油變成一面鏡子，所以雨夜的路面在點雲上常常是破的，連車道邊界都量不到。這不是感測器壞了，是物理。</a:t>
            </a:r>
            <a:r>
              <a:rPr sz="800" b="1" lang="zh-TW" dirty="0">
                <a:solidFill>
                  <a:srgbClr val="000000"/>
                </a:solidFill>
                <a:latin typeface="Arial Unicode MS"/>
                <a:ea typeface="Arial Unicode MS"/>
                <a:cs typeface="Arial Unicode MS"/>
              </a:rPr>
              <a:t>邊界量不到，循跡就只能靠相機</a:t>
            </a:r>
            <a:r>
              <a:rPr sz="800" lang="zh-TW" dirty="0">
                <a:solidFill>
                  <a:srgbClr val="000000"/>
                </a:solidFill>
                <a:latin typeface="Arial Unicode MS"/>
                <a:ea typeface="Arial Unicode MS"/>
                <a:cs typeface="Arial Unicode MS"/>
              </a:rPr>
              <a:t>——可是雨夜正好也是相機最弱的時候。
</a:t>
            </a:r>
          </a:p>
          <a:p>
            <a:pPr algn="l">
              <a:spcBef>
                <a:spcPts val="0"/>
              </a:spcBef>
              <a:spcAft>
                <a:spcPts val="133"/>
              </a:spcAft>
            </a:pPr>
            <a:r>
              <a:rPr sz="800" lang="zh-TW" dirty="0">
                <a:solidFill>
                  <a:srgbClr val="000000"/>
                </a:solidFill>
                <a:latin typeface="Arial Unicode MS"/>
                <a:ea typeface="Arial Unicode MS"/>
                <a:cs typeface="Arial Unicode MS"/>
              </a:rPr>
              <a:t>第二種更麻煩：光束打到鏡面，</a:t>
            </a:r>
            <a:r>
              <a:rPr sz="800" b="1" lang="zh-TW" dirty="0">
                <a:solidFill>
                  <a:srgbClr val="000000"/>
                </a:solidFill>
                <a:latin typeface="Arial Unicode MS"/>
                <a:ea typeface="Arial Unicode MS"/>
                <a:cs typeface="Arial Unicode MS"/>
              </a:rPr>
              <a:t>彈到旁邊的真東西，再原路回來</a:t>
            </a:r>
            <a:r>
              <a:rPr sz="80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。光達只知道來回飛了多久，於是把那個東西標在鏡子後面。玻璃帷幕大樓旁邊，點雲上會憑空長出一整排不存在的車，這叫</a:t>
            </a:r>
            <a:r>
              <a:rPr sz="800" b="1" lang="zh-TW" dirty="0">
                <a:solidFill>
                  <a:srgbClr val="000000"/>
                </a:solidFill>
                <a:latin typeface="Arial Unicode MS"/>
                <a:ea typeface="Arial Unicode MS"/>
                <a:cs typeface="Arial Unicode MS"/>
              </a:rPr>
              <a:t>鬼點</a:t>
            </a:r>
            <a:r>
              <a:rPr sz="80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33"/>
              </a:spcAft>
            </a:pPr>
            <a:r>
              <a:rPr sz="800" lang="zh-TW" dirty="0">
                <a:solidFill>
                  <a:srgbClr val="000000"/>
                </a:solidFill>
                <a:latin typeface="Arial Unicode MS"/>
                <a:ea typeface="Arial Unicode MS"/>
                <a:cs typeface="Arial Unicode MS"/>
              </a:rPr>
              <a:t>第三種各位上一節聽過：</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。反光背心和路牌把光原路送回來，亮到爆表，在點雲上糊成一團光暈。</a:t>
            </a:r>
            <a:r>
              <a:rPr sz="800" b="1" lang="zh-TW" dirty="0">
                <a:solidFill>
                  <a:srgbClr val="000000"/>
                </a:solidFill>
                <a:latin typeface="Arial Unicode MS"/>
                <a:ea typeface="Arial Unicode MS"/>
                <a:cs typeface="Arial Unicode MS"/>
              </a:rPr>
              <a:t>對車子來說那是一個形狀不明的東西</a:t>
            </a:r>
            <a:r>
              <a:rPr sz="800" lang="zh-TW" dirty="0">
                <a:solidFill>
                  <a:srgbClr val="000000"/>
                </a:solidFill>
                <a:latin typeface="Arial Unicode MS"/>
                <a:ea typeface="Arial Unicode MS"/>
                <a:cs typeface="Arial Unicode MS"/>
              </a:rPr>
              <a:t>——穿反光背心的交管人員可能糊成一塊亮斑，演算法認不出那是人。所以上一節我才把反光背心從 80% 那一格拿掉。
</a:t>
            </a:r>
          </a:p>
          <a:p>
            <a:pPr algn="l">
              <a:spcBef>
                <a:spcPts val="0"/>
              </a:spcBef>
              <a:spcAft>
                <a:spcPts val="133"/>
              </a:spcAft>
            </a:pPr>
            <a:r>
              <a:rPr sz="800" lang="zh-TW" dirty="0">
                <a:solidFill>
                  <a:srgbClr val="000000"/>
                </a:solidFill>
                <a:latin typeface="Arial Unicode MS"/>
                <a:ea typeface="Arial Unicode MS"/>
                <a:cs typeface="Arial Unicode MS"/>
              </a:rPr>
              <a:t>那怎麼辦？請看最右邊那一欄。</a:t>
            </a:r>
            <a:r>
              <a:rPr sz="800" b="1" lang="zh-TW" dirty="0">
                <a:solidFill>
                  <a:srgbClr val="000000"/>
                </a:solidFill>
                <a:latin typeface="Arial Unicode MS"/>
                <a:ea typeface="Arial Unicode MS"/>
                <a:cs typeface="Arial Unicode MS"/>
              </a:rPr>
              <a:t>沒有一招擋得住全部，而且每一招救的是不同的那一種。</a:t>
            </a:r>
            <a:r>
              <a:rPr sz="800" lang="zh-TW" dirty="0">
                <a:solidFill>
                  <a:srgbClr val="000000"/>
                </a:solidFill>
                <a:latin typeface="Arial Unicode MS"/>
                <a:ea typeface="Arial Unicode MS"/>
                <a:cs typeface="Arial Unicode MS"/>
              </a:rPr>
              <a:t>四層，各位數一下，順便對照表上同一列。
</a:t>
            </a:r>
          </a:p>
          <a:p>
            <a:pPr algn="l">
              <a:spcBef>
                <a:spcPts val="0"/>
              </a:spcBef>
              <a:spcAft>
                <a:spcPts val="133"/>
              </a:spcAft>
            </a:pPr>
            <a:r>
              <a:rPr sz="800" b="1" lang="zh-TW" dirty="0">
                <a:solidFill>
                  <a:srgbClr val="000000"/>
                </a:solidFill>
                <a:latin typeface="Arial Unicode MS"/>
                <a:ea typeface="Arial Unicode MS"/>
                <a:cs typeface="Arial Unicode MS"/>
              </a:rPr>
              <a:t>第一層，多次回波。</a:t>
            </a:r>
            <a:r>
              <a:rPr sz="800" lang="zh-TW" dirty="0">
                <a:solidFill>
                  <a:srgbClr val="000000"/>
                </a:solidFill>
                <a:latin typeface="Arial Unicode MS"/>
                <a:ea typeface="Arial Unicode MS"/>
                <a:cs typeface="Arial Unicode MS"/>
              </a:rPr>
              <a:t>救的是</a:t>
            </a:r>
            <a:r>
              <a:rPr sz="800" b="1" lang="zh-TW" dirty="0">
                <a:solidFill>
                  <a:srgbClr val="000000"/>
                </a:solidFill>
                <a:latin typeface="Arial Unicode MS"/>
                <a:ea typeface="Arial Unicode MS"/>
                <a:cs typeface="Arial Unicode MS"/>
              </a:rPr>
              <a:t>第二種，鬼點</a:t>
            </a:r>
            <a:r>
              <a:rPr sz="800" lang="zh-TW" dirty="0">
                <a:solidFill>
                  <a:srgbClr val="000000"/>
                </a:solidFill>
                <a:latin typeface="Arial Unicode MS"/>
                <a:ea typeface="Arial Unicode MS"/>
                <a:cs typeface="Arial Unicode MS"/>
              </a:rPr>
              <a:t>：玻璃本身回來一點點，被彈到旁邊再回來的是另一個，兩個都收下來，再比對前後幾張，不會穩定移動的就是鬼點。注意，</a:t>
            </a:r>
            <a:r>
              <a:rPr sz="800" b="1" lang="zh-TW" dirty="0">
                <a:solidFill>
                  <a:srgbClr val="000000"/>
                </a:solidFill>
                <a:latin typeface="Arial Unicode MS"/>
                <a:ea typeface="Arial Unicode MS"/>
                <a:cs typeface="Arial Unicode MS"/>
              </a:rPr>
              <a:t>多次回波對第一種沒有用</a:t>
            </a:r>
            <a:r>
              <a:rPr sz="800" lang="zh-TW" dirty="0">
                <a:solidFill>
                  <a:srgbClr val="000000"/>
                </a:solidFill>
                <a:latin typeface="Arial Unicode MS"/>
                <a:ea typeface="Arial Unicode MS"/>
                <a:cs typeface="Arial Unicode MS"/>
              </a:rPr>
              <a:t>——那一種根本沒有光回來，要收什麼？
</a:t>
            </a:r>
          </a:p>
          <a:p>
            <a:pPr algn="l">
              <a:spcBef>
                <a:spcPts val="0"/>
              </a:spcBef>
              <a:spcAft>
                <a:spcPts val="133"/>
              </a:spcAft>
            </a:pPr>
            <a:r>
              <a:rPr sz="800" b="1" lang="zh-TW" dirty="0">
                <a:solidFill>
                  <a:srgbClr val="000000"/>
                </a:solidFill>
                <a:latin typeface="Arial Unicode MS"/>
                <a:ea typeface="Arial Unicode MS"/>
                <a:cs typeface="Arial Unicode MS"/>
              </a:rPr>
              <a:t>第二層，看反射強度。</a:t>
            </a:r>
            <a:r>
              <a:rPr sz="800" lang="zh-TW" dirty="0">
                <a:solidFill>
                  <a:srgbClr val="000000"/>
                </a:solidFill>
                <a:latin typeface="Arial Unicode MS"/>
                <a:ea typeface="Arial Unicode MS"/>
                <a:cs typeface="Arial Unicode MS"/>
              </a:rPr>
              <a:t>它救的是</a:t>
            </a:r>
            <a:r>
              <a:rPr sz="800" b="1" lang="zh-TW" dirty="0">
                <a:solidFill>
                  <a:srgbClr val="000000"/>
                </a:solidFill>
                <a:latin typeface="Arial Unicode MS"/>
                <a:ea typeface="Arial Unicode MS"/>
                <a:cs typeface="Arial Unicode MS"/>
              </a:rPr>
              <a:t>第三種，回歸反射</a:t>
            </a:r>
            <a:r>
              <a:rPr sz="800" lang="zh-TW" dirty="0">
                <a:solidFill>
                  <a:srgbClr val="000000"/>
                </a:solidFill>
                <a:latin typeface="Arial Unicode MS"/>
                <a:ea typeface="Arial Unicode MS"/>
                <a:cs typeface="Arial Unicode MS"/>
              </a:rPr>
              <a:t>。反光背心那種亮到爆表的，用強度一看就知道和漫反射不是同一類。順帶一提，強度異常地弱也是警訊。
</a:t>
            </a:r>
          </a:p>
          <a:p>
            <a:pPr algn="l">
              <a:spcBef>
                <a:spcPts val="0"/>
              </a:spcBef>
              <a:spcAft>
                <a:spcPts val="133"/>
              </a:spcAft>
            </a:pPr>
            <a:r>
              <a:rPr sz="800" b="1" lang="zh-TW" dirty="0">
                <a:solidFill>
                  <a:srgbClr val="000000"/>
                </a:solidFill>
                <a:latin typeface="Arial Unicode MS"/>
                <a:ea typeface="Arial Unicode MS"/>
                <a:cs typeface="Arial Unicode MS"/>
              </a:rPr>
              <a:t>第三層，高精地圖。</a:t>
            </a:r>
            <a:r>
              <a:rPr sz="800" lang="zh-TW" dirty="0">
                <a:solidFill>
                  <a:srgbClr val="000000"/>
                </a:solidFill>
                <a:latin typeface="Arial Unicode MS"/>
                <a:ea typeface="Arial Unicode MS"/>
                <a:cs typeface="Arial Unicode MS"/>
              </a:rPr>
              <a:t>哪裡有玻璃帷幕、哪個路口容易積水，事先標成風險區，開到那裡就把光達的權重調低。這一層</a:t>
            </a:r>
            <a:r>
              <a:rPr sz="800" b="1" lang="zh-TW" dirty="0">
                <a:solidFill>
                  <a:srgbClr val="000000"/>
                </a:solidFill>
                <a:latin typeface="Arial Unicode MS"/>
                <a:ea typeface="Arial Unicode MS"/>
                <a:cs typeface="Arial Unicode MS"/>
              </a:rPr>
              <a:t>三種都幫得上</a:t>
            </a:r>
            <a:r>
              <a:rPr sz="800" lang="zh-TW" dirty="0">
                <a:solidFill>
                  <a:srgbClr val="000000"/>
                </a:solidFill>
                <a:latin typeface="Arial Unicode MS"/>
                <a:ea typeface="Arial Unicode MS"/>
                <a:cs typeface="Arial Unicode MS"/>
              </a:rPr>
              <a:t>，因為它做的是「事先知道這裡危險」。
</a:t>
            </a:r>
          </a:p>
          <a:p>
            <a:pPr algn="l">
              <a:spcBef>
                <a:spcPts val="0"/>
              </a:spcBef>
              <a:spcAft>
                <a:spcPts val="133"/>
              </a:spcAft>
            </a:pPr>
            <a:r>
              <a:rPr sz="800" b="1" lang="zh-TW" dirty="0">
                <a:solidFill>
                  <a:srgbClr val="000000"/>
                </a:solidFill>
                <a:latin typeface="Arial Unicode MS"/>
                <a:ea typeface="Arial Unicode MS"/>
                <a:cs typeface="Arial Unicode MS"/>
              </a:rPr>
              <a:t>第四層，也是最重要的——雷達。</a:t>
            </a:r>
            <a:r>
              <a:rPr sz="800" lang="zh-TW" dirty="0">
                <a:solidFill>
                  <a:srgbClr val="000000"/>
                </a:solidFill>
                <a:latin typeface="Arial Unicode MS"/>
                <a:ea typeface="Arial Unicode MS"/>
                <a:cs typeface="Arial Unicode MS"/>
              </a:rPr>
              <a:t>它救的正是</a:t>
            </a:r>
            <a:r>
              <a:rPr sz="800" b="1" lang="zh-TW" dirty="0">
                <a:solidFill>
                  <a:srgbClr val="000000"/>
                </a:solidFill>
                <a:latin typeface="Arial Unicode MS"/>
                <a:ea typeface="Arial Unicode MS"/>
                <a:cs typeface="Arial Unicode MS"/>
              </a:rPr>
              <a:t>第一種：什麼都收不到</a:t>
            </a:r>
            <a:r>
              <a:rPr sz="800" lang="zh-TW" dirty="0">
                <a:solidFill>
                  <a:srgbClr val="000000"/>
                </a:solidFill>
                <a:latin typeface="Arial Unicode MS"/>
                <a:ea typeface="Arial Unicode MS"/>
                <a:cs typeface="Arial Unicode MS"/>
              </a:rPr>
              <a:t>。毫米波碰到鏡面的行為跟雷射完全不一樣，光達是洞的那一塊，雷達常常還看得到。
</a:t>
            </a:r>
          </a:p>
          <a:p>
            <a:pPr algn="l">
              <a:spcBef>
                <a:spcPts val="0"/>
              </a:spcBef>
              <a:spcAft>
                <a:spcPts val="133"/>
              </a:spcAft>
            </a:pPr>
            <a:r>
              <a:rPr sz="800" lang="zh-TW" dirty="0">
                <a:solidFill>
                  <a:srgbClr val="000000"/>
                </a:solidFill>
                <a:latin typeface="Arial Unicode MS"/>
                <a:ea typeface="Arial Unicode MS"/>
                <a:cs typeface="Arial Unicode MS"/>
              </a:rPr>
              <a:t>所以這張的結論，其實就是下一段要講的事：</a:t>
            </a:r>
            <a:r>
              <a:rPr sz="80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那一欄的九。第一節說過本課的門檻是</a:t>
            </a:r>
            <a:r>
              <a:rPr sz="800" b="1" lang="zh-TW" dirty="0">
                <a:solidFill>
                  <a:srgbClr val="000000"/>
                </a:solidFill>
                <a:latin typeface="Arial Unicode MS"/>
                <a:ea typeface="Arial Unicode MS"/>
                <a:cs typeface="Arial Unicode MS"/>
              </a:rPr>
              <a:t>十個點</a:t>
            </a:r>
            <a:r>
              <a:rPr sz="800" lang="zh-TW" dirty="0">
                <a:solidFill>
                  <a:srgbClr val="000000"/>
                </a:solidFill>
                <a:latin typeface="Arial Unicode MS"/>
                <a:ea typeface="Arial Unicode MS"/>
                <a:cs typeface="Arial Unicode MS"/>
              </a:rPr>
              <a:t>，所以九個點是差一個不及格。各位看那九個點的分布，就知道為什麼光靠它認不出那是一台機車。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假設它們之間的角度差了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。有人會問：是相機歪了還是光達歪了？</a:t>
            </a:r>
            <a:r>
              <a:rPr sz="800" b="1" lang="zh-TW" dirty="0">
                <a:solidFill>
                  <a:srgbClr val="000000"/>
                </a:solidFill>
                <a:latin typeface="Arial Unicode MS"/>
                <a:ea typeface="Arial Unicode MS"/>
                <a:cs typeface="Arial Unicode MS"/>
              </a:rPr>
              <a:t>都可以，而且不重要</a:t>
            </a:r>
            <a:r>
              <a:rPr sz="800" lang="zh-TW" dirty="0">
                <a:solidFill>
                  <a:srgbClr val="000000"/>
                </a:solidFill>
                <a:latin typeface="Arial Unicode MS"/>
                <a:ea typeface="Arial Unicode MS"/>
                <a:cs typeface="Arial Unicode MS"/>
              </a:rPr>
              <a:t>——外參講的是</a:t>
            </a:r>
            <a:r>
              <a:rPr sz="800" b="1" lang="zh-TW" dirty="0">
                <a:solidFill>
                  <a:srgbClr val="000000"/>
                </a:solidFill>
                <a:latin typeface="Arial Unicode MS"/>
                <a:ea typeface="Arial Unicode MS"/>
                <a:cs typeface="Arial Unicode MS"/>
              </a:rPr>
              <a:t>兩者之間的關係</a:t>
            </a:r>
            <a:r>
              <a:rPr sz="800" lang="zh-TW" dirty="0">
                <a:solidFill>
                  <a:srgbClr val="000000"/>
                </a:solidFill>
                <a:latin typeface="Arial Unicode MS"/>
                <a:ea typeface="Arial Unicode MS"/>
                <a:cs typeface="Arial Unicode MS"/>
              </a:rPr>
              <a:t>，只要這個關係和車子記在檔案裡的那組數字差一度，結果都一樣。我們就拿最常見的那個情況：擋風玻璃換過一次，相機裝回去的時候差了一度。一度聽起來很小對不對？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在五十公尺外，差一度會差多少？</a:t>
            </a:r>
            <a:r>
              <a:rPr sz="800" b="1" lang="zh-TW" dirty="0">
                <a:solidFill>
                  <a:srgbClr val="000000"/>
                </a:solidFill>
                <a:latin typeface="Arial Unicode MS"/>
                <a:ea typeface="Arial Unicode MS"/>
                <a:cs typeface="Arial Unicode MS"/>
              </a:rPr>
              <a:t>五十公尺 × tan(一度) ＝ 零點八七公尺</a:t>
            </a:r>
            <a:r>
              <a:rPr sz="800" lang="zh-TW" dirty="0">
                <a:solidFill>
                  <a:srgbClr val="000000"/>
                </a:solidFill>
                <a:latin typeface="Arial Unicode MS"/>
                <a:ea typeface="Arial Unicode MS"/>
                <a:cs typeface="Arial Unicode MS"/>
              </a:rPr>
              <a:t>，將近一公尺。
</a:t>
            </a:r>
          </a:p>
          <a:p>
            <a:pPr algn="l">
              <a:spcBef>
                <a:spcPts val="0"/>
              </a:spcBef>
              <a:spcAft>
                <a:spcPts val="133"/>
              </a:spcAft>
            </a:pPr>
            <a:r>
              <a:rPr sz="800" lang="zh-TW" dirty="0">
                <a:solidFill>
                  <a:srgbClr val="000000"/>
                </a:solidFill>
                <a:latin typeface="Arial Unicode MS"/>
                <a:ea typeface="Arial Unicode MS"/>
                <a:cs typeface="Arial Unicode MS"/>
              </a:rPr>
              <a:t>這一公尺是</a:t>
            </a:r>
            <a:r>
              <a:rPr sz="800" b="1" lang="zh-TW" dirty="0">
                <a:solidFill>
                  <a:srgbClr val="000000"/>
                </a:solidFill>
                <a:latin typeface="Arial Unicode MS"/>
                <a:ea typeface="Arial Unicode MS"/>
                <a:cs typeface="Arial Unicode MS"/>
              </a:rPr>
              <a:t>橫向的</a:t>
            </a:r>
            <a:r>
              <a:rPr sz="800" lang="zh-TW" dirty="0">
                <a:solidFill>
                  <a:srgbClr val="000000"/>
                </a:solidFill>
                <a:latin typeface="Arial Unicode MS"/>
                <a:ea typeface="Arial Unicode MS"/>
                <a:cs typeface="Arial Unicode MS"/>
              </a:rPr>
              <a:t>，各位不要想成「線變斜了」。意思是：</a:t>
            </a:r>
            <a:r>
              <a:rPr sz="800" b="1" lang="zh-TW" dirty="0">
                <a:solidFill>
                  <a:srgbClr val="000000"/>
                </a:solidFill>
                <a:latin typeface="Arial Unicode MS"/>
                <a:ea typeface="Arial Unicode MS"/>
                <a:cs typeface="Arial Unicode MS"/>
              </a:rPr>
              <a:t>光達說那個人在這裡，相機說他在旁邊零點八七公尺的地方。</a:t>
            </a:r>
            <a:r>
              <a:rPr sz="800" lang="zh-TW" dirty="0">
                <a:solidFill>
                  <a:srgbClr val="000000"/>
                </a:solidFill>
                <a:latin typeface="Arial Unicode MS"/>
                <a:ea typeface="Arial Unicode MS"/>
                <a:cs typeface="Arial Unicode MS"/>
              </a:rPr>
              <a:t>兩隻眼睛各自都沒有看錯，錯的是車子以為它們朝同一個方向看——其實差了一度。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 50 毫秒與半公尺，再指圖裡的 Multi-sensor phase lock——七行裡只有這行在講同步，要講明。其餘六行快速點過，每一行都回扣今天講過的一張。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最後一件事是</a:t>
            </a:r>
            <a:r>
              <a:rPr sz="800" b="1" lang="zh-TW" dirty="0">
                <a:solidFill>
                  <a:srgbClr val="000000"/>
                </a:solidFill>
                <a:latin typeface="Arial Unicode MS"/>
                <a:ea typeface="Arial Unicode MS"/>
                <a:cs typeface="Arial Unicode MS"/>
              </a:rPr>
              <a:t>時間同步</a:t>
            </a:r>
            <a:r>
              <a:rPr sz="80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33"/>
              </a:spcAft>
            </a:pPr>
            <a:r>
              <a:rPr sz="800" lang="zh-TW" dirty="0">
                <a:solidFill>
                  <a:srgbClr val="000000"/>
                </a:solidFill>
                <a:latin typeface="Arial Unicode MS"/>
                <a:ea typeface="Arial Unicode MS"/>
                <a:cs typeface="Arial Unicode MS"/>
              </a:rPr>
              <a:t>想想看：光達一秒轉十圈，相機一秒拍六十張，兩個的節奏完全不一樣。假設車子現在收到一張相機的畫面，還有一圈光達的點雲，要把它們合起來。問題是——</a:t>
            </a:r>
            <a:r>
              <a:rPr sz="800" b="1" lang="zh-TW" dirty="0">
                <a:solidFill>
                  <a:srgbClr val="000000"/>
                </a:solidFill>
                <a:latin typeface="Arial Unicode MS"/>
                <a:ea typeface="Arial Unicode MS"/>
                <a:cs typeface="Arial Unicode MS"/>
              </a:rPr>
              <a:t>這兩份資料是同一個瞬間的嗎？</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如果沒有處理，它們可能差到五十毫秒。時速四十的時候，五十毫秒車子走了</a:t>
            </a:r>
            <a:r>
              <a:rPr sz="800" b="1" lang="zh-TW" dirty="0">
                <a:solidFill>
                  <a:srgbClr val="000000"/>
                </a:solidFill>
                <a:latin typeface="Arial Unicode MS"/>
                <a:ea typeface="Arial Unicode MS"/>
                <a:cs typeface="Arial Unicode MS"/>
              </a:rPr>
              <a:t>零點五六公尺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所以你會把相機在 A 點看到的人，跟光達在 B 點量到的距離配在一起，得到一個</a:t>
            </a:r>
            <a:r>
              <a:rPr sz="800" b="1" lang="zh-TW" dirty="0">
                <a:solidFill>
                  <a:srgbClr val="000000"/>
                </a:solidFill>
                <a:latin typeface="Arial Unicode MS"/>
                <a:ea typeface="Arial Unicode MS"/>
                <a:cs typeface="Arial Unicode MS"/>
              </a:rPr>
              <a:t>根本不存在的位置</a:t>
            </a:r>
            <a:r>
              <a:rPr sz="800" lang="zh-TW" dirty="0">
                <a:solidFill>
                  <a:srgbClr val="000000"/>
                </a:solidFill>
                <a:latin typeface="Arial Unicode MS"/>
                <a:ea typeface="Arial Unicode MS"/>
                <a:cs typeface="Arial Unicode MS"/>
              </a:rPr>
              <a:t>。而且這個誤差會跟剛剛的標定誤差疊加。
</a:t>
            </a:r>
          </a:p>
          <a:p>
            <a:pPr algn="l">
              <a:spcBef>
                <a:spcPts val="0"/>
              </a:spcBef>
              <a:spcAft>
                <a:spcPts val="133"/>
              </a:spcAft>
            </a:pPr>
            <a:r>
              <a:rPr sz="800" lang="zh-TW" dirty="0">
                <a:solidFill>
                  <a:srgbClr val="000000"/>
                </a:solidFill>
                <a:latin typeface="Arial Unicode MS"/>
                <a:ea typeface="Arial Unicode MS"/>
                <a:cs typeface="Arial Unicode MS"/>
              </a:rPr>
              <a:t>解法有兩層。</a:t>
            </a:r>
            <a:r>
              <a:rPr sz="800" b="1" lang="zh-TW" dirty="0">
                <a:solidFill>
                  <a:srgbClr val="000000"/>
                </a:solidFill>
                <a:latin typeface="Arial Unicode MS"/>
                <a:ea typeface="Arial Unicode MS"/>
                <a:cs typeface="Arial Unicode MS"/>
              </a:rPr>
              <a:t>第一層是共同時鐘</a:t>
            </a:r>
            <a:r>
              <a:rPr sz="800" lang="zh-TW" dirty="0">
                <a:solidFill>
                  <a:srgbClr val="000000"/>
                </a:solidFill>
                <a:latin typeface="Arial Unicode MS"/>
                <a:ea typeface="Arial Unicode MS"/>
                <a:cs typeface="Arial Unicode MS"/>
              </a:rPr>
              <a:t>：每一顆感測器都在自己的資料上蓋</a:t>
            </a:r>
            <a:r>
              <a:rPr sz="800" b="1" lang="zh-TW" dirty="0">
                <a:solidFill>
                  <a:srgbClr val="000000"/>
                </a:solidFill>
                <a:latin typeface="Arial Unicode MS"/>
                <a:ea typeface="Arial Unicode MS"/>
                <a:cs typeface="Arial Unicode MS"/>
              </a:rPr>
              <a:t>時間戳</a:t>
            </a:r>
            <a:r>
              <a:rPr sz="800" lang="zh-TW" dirty="0">
                <a:solidFill>
                  <a:srgbClr val="000000"/>
                </a:solidFill>
                <a:latin typeface="Arial Unicode MS"/>
                <a:ea typeface="Arial Unicode MS"/>
                <a:cs typeface="Arial Unicode MS"/>
              </a:rPr>
              <a:t>，全車用同一個時鐘——車上通常用 PTP，一種跑在網路線上的對時協定。但這一層只讓你知道「各自是幾點拍的」，還沒有讓它們同時拍。
</a:t>
            </a:r>
          </a:p>
          <a:p>
            <a:pPr algn="l">
              <a:spcBef>
                <a:spcPts val="0"/>
              </a:spcBef>
              <a:spcAft>
                <a:spcPts val="133"/>
              </a:spcAft>
            </a:pPr>
            <a:r>
              <a:rPr sz="800" b="1" lang="zh-TW" dirty="0">
                <a:solidFill>
                  <a:srgbClr val="000000"/>
                </a:solidFill>
                <a:latin typeface="Arial Unicode MS"/>
                <a:ea typeface="Arial Unicode MS"/>
                <a:cs typeface="Arial Unicode MS"/>
              </a:rPr>
              <a:t>第二層就是圖上那一行：multi-sensor phase lock。</a:t>
            </a:r>
            <a:r>
              <a:rPr sz="800" lang="zh-TW" dirty="0">
                <a:solidFill>
                  <a:srgbClr val="000000"/>
                </a:solidFill>
                <a:latin typeface="Arial Unicode MS"/>
                <a:ea typeface="Arial Unicode MS"/>
                <a:cs typeface="Arial Unicode MS"/>
              </a:rPr>
              <a:t>光達是一直在轉的，一秒十圈，所以每一百毫秒經過正前方一次——</a:t>
            </a:r>
            <a:r>
              <a:rPr sz="800" b="1" lang="zh-TW" dirty="0">
                <a:solidFill>
                  <a:srgbClr val="000000"/>
                </a:solidFill>
                <a:latin typeface="Arial Unicode MS"/>
                <a:ea typeface="Arial Unicode MS"/>
                <a:cs typeface="Arial Unicode MS"/>
              </a:rPr>
              <a:t>可是經過的那個時刻是隨機的</a:t>
            </a:r>
            <a:r>
              <a:rPr sz="800" lang="zh-TW" dirty="0">
                <a:solidFill>
                  <a:srgbClr val="000000"/>
                </a:solidFill>
                <a:latin typeface="Arial Unicode MS"/>
                <a:ea typeface="Arial Unicode MS"/>
                <a:cs typeface="Arial Unicode MS"/>
              </a:rPr>
              <a:t>，開機的時候轉子從哪裡起步就決定了。Phase lock 做的事是：先對好時，再</a:t>
            </a:r>
            <a:r>
              <a:rPr sz="800" b="1" lang="zh-TW" dirty="0">
                <a:solidFill>
                  <a:srgbClr val="000000"/>
                </a:solidFill>
                <a:latin typeface="Arial Unicode MS"/>
                <a:ea typeface="Arial Unicode MS"/>
                <a:cs typeface="Arial Unicode MS"/>
              </a:rPr>
              <a:t>把轉子的相位鎖住</a:t>
            </a:r>
            <a:r>
              <a:rPr sz="800" lang="zh-TW" dirty="0">
                <a:solidFill>
                  <a:srgbClr val="000000"/>
                </a:solidFill>
                <a:latin typeface="Arial Unicode MS"/>
                <a:ea typeface="Arial Unicode MS"/>
                <a:cs typeface="Arial Unicode MS"/>
              </a:rPr>
              <a:t>，讓它在每一個整十分之一秒的那個瞬間，剛好轉到你指定的角度。
</a:t>
            </a:r>
          </a:p>
          <a:p>
            <a:pPr algn="l">
              <a:spcBef>
                <a:spcPts val="0"/>
              </a:spcBef>
              <a:spcAft>
                <a:spcPts val="133"/>
              </a:spcAft>
            </a:pPr>
            <a:r>
              <a:rPr sz="800" lang="zh-TW" dirty="0">
                <a:solidFill>
                  <a:srgbClr val="000000"/>
                </a:solidFill>
                <a:latin typeface="Arial Unicode MS"/>
                <a:ea typeface="Arial Unicode MS"/>
                <a:cs typeface="Arial Unicode MS"/>
              </a:rPr>
              <a:t>所以你可以設成「每個十分之一秒的整點，光達剛好指著正前方」，再把相機的快門排在同一個時刻——</a:t>
            </a:r>
            <a:r>
              <a:rPr sz="800" b="1" lang="zh-TW" dirty="0">
                <a:solidFill>
                  <a:srgbClr val="000000"/>
                </a:solidFill>
                <a:latin typeface="Arial Unicode MS"/>
                <a:ea typeface="Arial Unicode MS"/>
                <a:cs typeface="Arial Unicode MS"/>
              </a:rPr>
              <a:t>兩隻眼睛看的就是同一個瞬間的同一塊</a:t>
            </a:r>
            <a:r>
              <a:rPr sz="800" lang="zh-TW" dirty="0">
                <a:solidFill>
                  <a:srgbClr val="000000"/>
                </a:solidFill>
                <a:latin typeface="Arial Unicode MS"/>
                <a:ea typeface="Arial Unicode MS"/>
                <a:cs typeface="Arial Unicode MS"/>
              </a:rPr>
              <a:t>。兩顆光達也一樣，鎖住相位就知道誰什麼時候掃到重疊區。這一行有一個前提要記住：</a:t>
            </a:r>
            <a:r>
              <a:rPr sz="800" b="1" lang="zh-TW" dirty="0">
                <a:solidFill>
                  <a:srgbClr val="000000"/>
                </a:solidFill>
                <a:latin typeface="Arial Unicode MS"/>
                <a:ea typeface="Arial Unicode MS"/>
                <a:cs typeface="Arial Unicode MS"/>
              </a:rPr>
              <a:t>要先有外部時間來源</a:t>
            </a:r>
            <a:r>
              <a:rPr sz="800" lang="zh-TW" dirty="0">
                <a:solidFill>
                  <a:srgbClr val="000000"/>
                </a:solidFill>
                <a:latin typeface="Arial Unicode MS"/>
                <a:ea typeface="Arial Unicode MS"/>
                <a:cs typeface="Arial Unicode MS"/>
              </a:rPr>
              <a:t>（PTP 或同步脈衝），沒有對時就鎖不住相位。
</a:t>
            </a:r>
          </a:p>
          <a:p>
            <a:pPr algn="l">
              <a:spcBef>
                <a:spcPts val="0"/>
              </a:spcBef>
              <a:spcAft>
                <a:spcPts val="133"/>
              </a:spcAft>
            </a:pPr>
            <a:r>
              <a:rPr sz="800" lang="zh-TW" dirty="0">
                <a:solidFill>
                  <a:srgbClr val="000000"/>
                </a:solidFill>
                <a:latin typeface="Arial Unicode MS"/>
                <a:ea typeface="Arial Unicode MS"/>
                <a:cs typeface="Arial Unicode MS"/>
              </a:rPr>
              <a:t>各位會問：這一格其他幾行跟同步有什麼關係？</a:t>
            </a:r>
            <a:r>
              <a:rPr sz="800" b="1" lang="zh-TW" dirty="0">
                <a:solidFill>
                  <a:srgbClr val="000000"/>
                </a:solidFill>
                <a:latin typeface="Arial Unicode MS"/>
                <a:ea typeface="Arial Unicode MS"/>
                <a:cs typeface="Arial Unicode MS"/>
              </a:rPr>
              <a:t>沒有關係。</a:t>
            </a:r>
            <a:r>
              <a:rPr sz="800" lang="zh-TW" dirty="0">
                <a:solidFill>
                  <a:srgbClr val="000000"/>
                </a:solidFill>
                <a:latin typeface="Arial Unicode MS"/>
                <a:ea typeface="Arial Unicode MS"/>
                <a:cs typeface="Arial Unicode MS"/>
              </a:rPr>
              <a:t>這一格的標題是 Additional Programmability——「其他可以設定的項目」，</a:t>
            </a:r>
            <a:r>
              <a:rPr sz="800" b="1" lang="zh-TW" dirty="0">
                <a:solidFill>
                  <a:srgbClr val="000000"/>
                </a:solidFill>
                <a:latin typeface="Arial Unicode MS"/>
                <a:ea typeface="Arial Unicode MS"/>
                <a:cs typeface="Arial Unicode MS"/>
              </a:rPr>
              <a:t>七行裡只有第一行在講同步</a:t>
            </a:r>
            <a:r>
              <a:rPr sz="800" lang="zh-TW" dirty="0">
                <a:solidFill>
                  <a:srgbClr val="000000"/>
                </a:solidFill>
                <a:latin typeface="Arial Unicode MS"/>
                <a:ea typeface="Arial Unicode MS"/>
                <a:cs typeface="Arial Unicode MS"/>
              </a:rPr>
              <a:t>，其他是剛好印在同一格。這件事本身要學起來：</a:t>
            </a:r>
            <a:r>
              <a:rPr sz="800" b="1" lang="zh-TW" dirty="0">
                <a:solidFill>
                  <a:srgbClr val="000000"/>
                </a:solidFill>
                <a:latin typeface="Arial Unicode MS"/>
                <a:ea typeface="Arial Unicode MS"/>
                <a:cs typeface="Arial Unicode MS"/>
              </a:rPr>
              <a:t>規格表上同一個框裡的東西，不一定是同一個主題。</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其他幾行快速帶過，各位會發現每一行都是今天講過的。</a:t>
            </a:r>
            <a:r>
              <a:rPr sz="800" b="1" lang="zh-TW" dirty="0">
                <a:solidFill>
                  <a:srgbClr val="000000"/>
                </a:solidFill>
                <a:latin typeface="Arial Unicode MS"/>
                <a:ea typeface="Arial Unicode MS"/>
                <a:cs typeface="Arial Unicode MS"/>
              </a:rPr>
              <a:t>Queryable intrinsic calibration information</a:t>
            </a:r>
            <a:r>
              <a:rPr sz="800" lang="zh-TW" dirty="0">
                <a:solidFill>
                  <a:srgbClr val="000000"/>
                </a:solidFill>
                <a:latin typeface="Arial Unicode MS"/>
                <a:ea typeface="Arial Unicode MS"/>
                <a:cs typeface="Arial Unicode MS"/>
              </a:rPr>
              <a:t>：可以直接問這顆光達要它自己的</a:t>
            </a:r>
            <a:r>
              <a:rPr sz="800" b="1" lang="zh-TW" dirty="0">
                <a:solidFill>
                  <a:srgbClr val="000000"/>
                </a:solidFill>
                <a:latin typeface="Arial Unicode MS"/>
                <a:ea typeface="Arial Unicode MS"/>
                <a:cs typeface="Arial Unicode MS"/>
              </a:rPr>
              <a:t>內參</a:t>
            </a:r>
            <a:r>
              <a:rPr sz="800" lang="zh-TW" dirty="0">
                <a:solidFill>
                  <a:srgbClr val="000000"/>
                </a:solidFill>
                <a:latin typeface="Arial Unicode MS"/>
                <a:ea typeface="Arial Unicode MS"/>
                <a:cs typeface="Arial Unicode MS"/>
              </a:rPr>
              <a:t>——底下的 </a:t>
            </a:r>
            <a:r>
              <a:rPr sz="800" b="1" lang="zh-TW" dirty="0">
                <a:solidFill>
                  <a:srgbClr val="000000"/>
                </a:solidFill>
                <a:latin typeface="Arial Unicode MS"/>
                <a:ea typeface="Arial Unicode MS"/>
                <a:cs typeface="Arial Unicode MS"/>
              </a:rPr>
              <a:t>Beam angles</a:t>
            </a:r>
            <a:r>
              <a:rPr sz="800" lang="zh-TW" dirty="0">
                <a:solidFill>
                  <a:srgbClr val="000000"/>
                </a:solidFill>
                <a:latin typeface="Arial Unicode MS"/>
                <a:ea typeface="Arial Unicode MS"/>
                <a:cs typeface="Arial Unicode MS"/>
              </a:rPr>
              <a:t> 是每條線束實際的垂直角度（出廠量過，不是真的平均分布），</a:t>
            </a:r>
            <a:r>
              <a:rPr sz="800" b="1" lang="zh-TW" dirty="0">
                <a:solidFill>
                  <a:srgbClr val="000000"/>
                </a:solidFill>
                <a:latin typeface="Arial Unicode MS"/>
                <a:ea typeface="Arial Unicode MS"/>
                <a:cs typeface="Arial Unicode MS"/>
              </a:rPr>
              <a:t>IMU pose correction matrix</a:t>
            </a:r>
            <a:r>
              <a:rPr sz="800" lang="zh-TW" dirty="0">
                <a:solidFill>
                  <a:srgbClr val="000000"/>
                </a:solidFill>
                <a:latin typeface="Arial Unicode MS"/>
                <a:ea typeface="Arial Unicode MS"/>
                <a:cs typeface="Arial Unicode MS"/>
              </a:rPr>
              <a:t> 是機內那顆慣性感測器和光達本體的關係，等於原廠標好的</a:t>
            </a:r>
            <a:r>
              <a:rPr sz="800" b="1" lang="zh-TW" dirty="0">
                <a:solidFill>
                  <a:srgbClr val="000000"/>
                </a:solidFill>
                <a:latin typeface="Arial Unicode MS"/>
                <a:ea typeface="Arial Unicode MS"/>
                <a:cs typeface="Arial Unicode MS"/>
              </a:rPr>
              <a:t>外參</a:t>
            </a:r>
            <a:r>
              <a:rPr sz="800" lang="zh-TW" dirty="0">
                <a:solidFill>
                  <a:srgbClr val="000000"/>
                </a:solidFill>
                <a:latin typeface="Arial Unicode MS"/>
                <a:ea typeface="Arial Unicode MS"/>
                <a:cs typeface="Arial Unicode MS"/>
              </a:rPr>
              <a:t>。</a:t>
            </a:r>
            <a:r>
              <a:rPr sz="800" b="1" lang="zh-TW" dirty="0">
                <a:solidFill>
                  <a:srgbClr val="000000"/>
                </a:solidFill>
                <a:latin typeface="Arial Unicode MS"/>
                <a:ea typeface="Arial Unicode MS"/>
                <a:cs typeface="Arial Unicode MS"/>
              </a:rPr>
              <a:t>Return ordering</a:t>
            </a:r>
            <a:r>
              <a:rPr sz="800" lang="zh-TW" dirty="0">
                <a:solidFill>
                  <a:srgbClr val="000000"/>
                </a:solidFill>
                <a:latin typeface="Arial Unicode MS"/>
                <a:ea typeface="Arial Unicode MS"/>
                <a:cs typeface="Arial Unicode MS"/>
              </a:rPr>
              <a:t> 就是第九張的兩次回波，可以選先給最強、最遠還是最近。</a:t>
            </a:r>
            <a:r>
              <a:rPr sz="800" b="1" lang="zh-TW" dirty="0">
                <a:solidFill>
                  <a:srgbClr val="000000"/>
                </a:solidFill>
                <a:latin typeface="Arial Unicode MS"/>
                <a:ea typeface="Arial Unicode MS"/>
                <a:cs typeface="Arial Unicode MS"/>
              </a:rPr>
              <a:t>Minimum range</a:t>
            </a:r>
            <a:r>
              <a:rPr sz="800" lang="zh-TW" dirty="0">
                <a:solidFill>
                  <a:srgbClr val="000000"/>
                </a:solidFill>
                <a:latin typeface="Arial Unicode MS"/>
                <a:ea typeface="Arial Unicode MS"/>
                <a:cs typeface="Arial Unicode MS"/>
              </a:rPr>
              <a:t> 設 0、30 或 50 公分，比這個近的不回報。</a:t>
            </a:r>
            <a:r>
              <a:rPr sz="800" b="1" lang="zh-TW" dirty="0">
                <a:solidFill>
                  <a:srgbClr val="000000"/>
                </a:solidFill>
                <a:latin typeface="Arial Unicode MS"/>
                <a:ea typeface="Arial Unicode MS"/>
                <a:cs typeface="Arial Unicode MS"/>
              </a:rPr>
              <a:t>Azimuth masking</a:t>
            </a:r>
            <a:r>
              <a:rPr sz="800" lang="zh-TW" dirty="0">
                <a:solidFill>
                  <a:srgbClr val="000000"/>
                </a:solidFill>
                <a:latin typeface="Arial Unicode MS"/>
                <a:ea typeface="Arial Unicode MS"/>
                <a:cs typeface="Arial Unicode MS"/>
              </a:rPr>
              <a:t> 把不要的那一段角度關掉——這一行和第一行是同一套東西，都在設「這一圈從哪裡開始、到哪裡結束」。</a:t>
            </a:r>
            <a:r>
              <a:rPr sz="800" b="1" lang="zh-TW" dirty="0">
                <a:solidFill>
                  <a:srgbClr val="000000"/>
                </a:solidFill>
                <a:latin typeface="Arial Unicode MS"/>
                <a:ea typeface="Arial Unicode MS"/>
                <a:cs typeface="Arial Unicode MS"/>
              </a:rPr>
              <a:t>Low-power standby mode</a:t>
            </a:r>
            <a:r>
              <a:rPr sz="800" lang="zh-TW" dirty="0">
                <a:solidFill>
                  <a:srgbClr val="000000"/>
                </a:solidFill>
                <a:latin typeface="Arial Unicode MS"/>
                <a:ea typeface="Arial Unicode MS"/>
                <a:cs typeface="Arial Unicode MS"/>
              </a:rPr>
              <a:t> 停車省電。第一節第十二張我說過「可設定」是模式不是數字——</a:t>
            </a:r>
            <a:r>
              <a:rPr sz="800" b="1" lang="zh-TW" dirty="0">
                <a:solidFill>
                  <a:srgbClr val="000000"/>
                </a:solidFill>
                <a:latin typeface="Arial Unicode MS"/>
                <a:ea typeface="Arial Unicode MS"/>
                <a:cs typeface="Arial Unicode MS"/>
              </a:rPr>
              <a:t>這一整格就是最好的例子。</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所以請各位記住：</a:t>
            </a:r>
            <a:r>
              <a:rPr sz="800" b="1" lang="zh-TW" dirty="0">
                <a:solidFill>
                  <a:srgbClr val="000000"/>
                </a:solidFill>
                <a:latin typeface="Arial Unicode MS"/>
                <a:ea typeface="Arial Unicode MS"/>
                <a:cs typeface="Arial Unicode MS"/>
              </a:rPr>
              <a:t>兩顆感測器各自都是好的，不代表合起來是對的。</a:t>
            </a:r>
            <a:r>
              <a:rPr sz="800" lang="zh-TW" dirty="0">
                <a:solidFill>
                  <a:srgbClr val="000000"/>
                </a:solidFill>
                <a:latin typeface="Arial Unicode MS"/>
                <a:ea typeface="Arial Unicode MS"/>
                <a:cs typeface="Arial Unicode MS"/>
              </a:rPr>
              <a:t>中間還有標定和同步這兩關，而它們在規格表上常常只有一兩行、甚至完全沒有，可是實際做系統的時候吃掉的時間比選型還多。
</a:t>
            </a:r>
          </a:p>
          <a:p>
            <a:pPr algn="l">
              <a:spcBef>
                <a:spcPts val="0"/>
              </a:spcBef>
              <a:spcAft>
                <a:spcPts val="133"/>
              </a:spcAft>
            </a:pPr>
            <a:r>
              <a:rPr sz="800" lang="zh-TW" dirty="0">
                <a:solidFill>
                  <a:srgbClr val="000000"/>
                </a:solidFill>
                <a:latin typeface="Arial Unicode MS"/>
                <a:ea typeface="Arial Unicode MS"/>
                <a:cs typeface="Arial Unicode MS"/>
              </a:rPr>
              <a:t>下一節我們回到工具上，把今天和上一節講的東西，全部用在一件事上：</a:t>
            </a:r>
            <a:r>
              <a:rPr sz="800" b="1" lang="zh-TW" dirty="0">
                <a:solidFill>
                  <a:srgbClr val="000000"/>
                </a:solidFill>
                <a:latin typeface="Arial Unicode MS"/>
                <a:ea typeface="Arial Unicode MS"/>
                <a:cs typeface="Arial Unicode MS"/>
              </a:rPr>
              <a:t>幫一個指定的情境選一顆感測器</a:t>
            </a:r>
            <a:r>
              <a:rPr sz="80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附錄：光達那份規格書的完整原頁（規格那三頁），備查用。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上課不唸。學生問「你圈的那一行在哪」的時候翻到這裡，或放映時放大看。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這一張不唸，是附錄。
</a:t>
            </a:r>
          </a:p>
          <a:p>
            <a:pPr algn="l">
              <a:spcBef>
                <a:spcPts val="0"/>
              </a:spcBef>
              <a:spcAft>
                <a:spcPts val="200"/>
              </a:spcAft>
            </a:pPr>
            <a:r>
              <a:rPr sz="1200" lang="zh-TW" dirty="0">
                <a:solidFill>
                  <a:srgbClr val="000000"/>
                </a:solidFill>
                <a:latin typeface="Arial Unicode MS"/>
                <a:ea typeface="Arial Unicode MS"/>
                <a:cs typeface="Arial Unicode MS"/>
              </a:rPr>
              <a:t>今天圈過的光達那幾行，全部都在這三頁上：PDF 第 1 頁是 HIGHLIGHTS 和 OPTICAL PERFORMANCE——測距、視野、通道數、每圈點數都在那裡；第 2 頁有 LASER 那一段，Class 1、865 奈米、光束寬度和發散角；第 3 頁有 Additional Programmability，multi-sensor phase lock 那一行。
</a:t>
            </a:r>
          </a:p>
          <a:p>
            <a:pPr algn="l">
              <a:spcBef>
                <a:spcPts val="0"/>
              </a:spcBef>
              <a:spcAft>
                <a:spcPts val="200"/>
              </a:spcAft>
            </a:pPr>
            <a:r>
              <a:rPr sz="1200" lang="zh-TW" dirty="0">
                <a:solidFill>
                  <a:srgbClr val="000000"/>
                </a:solidFill>
                <a:latin typeface="Arial Unicode MS"/>
                <a:ea typeface="Arial Unicode MS"/>
                <a:cs typeface="Arial Unicode MS"/>
              </a:rPr>
              <a:t>原始 PDF 總共八頁，後面五頁是外觀尺寸、配件和接線圖，和今天要讀的規格沒有關係，所以沒有放進來。
</a:t>
            </a:r>
          </a:p>
          <a:p>
            <a:pPr algn="l">
              <a:spcBef>
                <a:spcPts val="0"/>
              </a:spcBef>
              <a:spcAft>
                <a:spcPts val="200"/>
              </a:spcAft>
            </a:pPr>
            <a:r>
              <a:rPr sz="1200" lang="zh-TW" dirty="0">
                <a:solidFill>
                  <a:srgbClr val="000000"/>
                </a:solidFill>
                <a:latin typeface="Arial Unicode MS"/>
                <a:ea typeface="Arial Unicode MS"/>
                <a:cs typeface="Arial Unicode MS"/>
              </a:rPr>
              <a:t>放映的時候可以放大看；要看完整的八頁，到 Ouster 官網下載。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附錄：AT128P 使用手冊的規格那兩頁，備查用。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上課不唸。第 1 節第 5 張圈的 Far-field 與 (10 Hz)，原文就在左邊那一頁。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這一張也不唸，是附錄。
</a:t>
            </a:r>
          </a:p>
          <a:p>
            <a:pPr algn="l">
              <a:spcBef>
                <a:spcPts val="0"/>
              </a:spcBef>
              <a:spcAft>
                <a:spcPts val="200"/>
              </a:spcAft>
            </a:pPr>
            <a:r>
              <a:rPr sz="1200" lang="zh-TW" dirty="0">
                <a:solidFill>
                  <a:srgbClr val="000000"/>
                </a:solidFill>
                <a:latin typeface="Arial Unicode MS"/>
                <a:ea typeface="Arial Unicode MS"/>
                <a:cs typeface="Arial Unicode MS"/>
              </a:rPr>
              <a:t>左邊那一頁是 §1.5 Specifications，第 1 節第 5 張圈過的東西都在上面：Number of channels 128、Horizontal FOV 120 度、Vertical FOV 25.4 度，還有那兩行寫著 Far-field 和 Near-field 的解析度。
</a:t>
            </a:r>
          </a:p>
          <a:p>
            <a:pPr algn="l">
              <a:spcBef>
                <a:spcPts val="0"/>
              </a:spcBef>
              <a:spcAft>
                <a:spcPts val="200"/>
              </a:spcAft>
            </a:pPr>
            <a:r>
              <a:rPr sz="1200" lang="zh-TW" dirty="0">
                <a:solidFill>
                  <a:srgbClr val="000000"/>
                </a:solidFill>
                <a:latin typeface="Arial Unicode MS"/>
                <a:ea typeface="Arial Unicode MS"/>
                <a:cs typeface="Arial Unicode MS"/>
              </a:rPr>
              <a:t>右邊那一頁是同一節的註解。註②就是遠近場的定義——遠場超過 7.2 公尺、近場 0.5 到 7.2 公尺；註①說量測範圍是由分配給每一條通道的飛行時間決定的；註⑥還把每秒點數怎麼算整個列出來，1200 乘 128 乘 10 等於一百五十三萬六千。
</a:t>
            </a:r>
          </a:p>
          <a:p>
            <a:pPr algn="l">
              <a:spcBef>
                <a:spcPts val="0"/>
              </a:spcBef>
              <a:spcAft>
                <a:spcPts val="200"/>
              </a:spcAft>
            </a:pPr>
            <a:r>
              <a:rPr sz="1200" lang="zh-TW" dirty="0">
                <a:solidFill>
                  <a:srgbClr val="000000"/>
                </a:solidFill>
                <a:latin typeface="Arial Unicode MS"/>
                <a:ea typeface="Arial Unicode MS"/>
                <a:cs typeface="Arial Unicode MS"/>
              </a:rPr>
              <a:t>各位如果對「那個 0.1 度為什麼有兩個條件」還有疑問，答案就在右邊那一頁。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附錄：相機那份規格書的完整原頁，備查用。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上課不唸。學生問「你圈的那一行在哪」的時候翻到這裡，或放映時放大看。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這一張也不唸，是附錄。
</a:t>
            </a:r>
          </a:p>
          <a:p>
            <a:pPr algn="l">
              <a:spcBef>
                <a:spcPts val="0"/>
              </a:spcBef>
              <a:spcAft>
                <a:spcPts val="200"/>
              </a:spcAft>
            </a:pPr>
            <a:r>
              <a:rPr sz="1200" lang="zh-TW" dirty="0">
                <a:solidFill>
                  <a:srgbClr val="000000"/>
                </a:solidFill>
                <a:latin typeface="Arial Unicode MS"/>
                <a:ea typeface="Arial Unicode MS"/>
                <a:cs typeface="Arial Unicode MS"/>
              </a:rPr>
              <a:t>今天圈過的那幾行——有效像素、像素尺寸、動態範圍、LED 閃爍抑制——全部都在左邊那一頁的 Specifications 那一欄上。右邊第二頁是封裝尺寸，整頁寫 TBD，那是因為這份是 </a:t>
            </a:r>
            <a:r>
              <a:rPr sz="1200" b="1" lang="zh-TW" dirty="0">
                <a:solidFill>
                  <a:srgbClr val="000000"/>
                </a:solidFill>
                <a:latin typeface="Arial Unicode MS"/>
                <a:ea typeface="Arial Unicode MS"/>
                <a:cs typeface="Arial Unicode MS"/>
              </a:rPr>
              <a:t>Product Preview</a:t>
            </a:r>
            <a:r>
              <a:rPr sz="1200" lang="zh-TW" dirty="0">
                <a:solidFill>
                  <a:srgbClr val="000000"/>
                </a:solidFill>
                <a:latin typeface="Arial Unicode MS"/>
                <a:ea typeface="Arial Unicode MS"/>
                <a:cs typeface="Arial Unicode MS"/>
              </a:rPr>
              <a:t>，還不是正式規格書。
</a:t>
            </a:r>
          </a:p>
          <a:p>
            <a:pPr algn="l">
              <a:spcBef>
                <a:spcPts val="0"/>
              </a:spcBef>
              <a:spcAft>
                <a:spcPts val="200"/>
              </a:spcAft>
            </a:pPr>
            <a:r>
              <a:rPr sz="1200" lang="zh-TW" dirty="0">
                <a:solidFill>
                  <a:srgbClr val="000000"/>
                </a:solidFill>
                <a:latin typeface="Arial Unicode MS"/>
                <a:ea typeface="Arial Unicode MS"/>
                <a:cs typeface="Arial Unicode MS"/>
              </a:rPr>
              <a:t>各位記得第 1 節第 2 張說過的：</a:t>
            </a:r>
            <a:r>
              <a:rPr sz="1200" b="1" lang="zh-TW" dirty="0">
                <a:solidFill>
                  <a:srgbClr val="000000"/>
                </a:solidFill>
                <a:latin typeface="Arial Unicode MS"/>
                <a:ea typeface="Arial Unicode MS"/>
                <a:cs typeface="Arial Unicode MS"/>
              </a:rPr>
              <a:t>快門方式這一行，這兩頁上都沒有。</a:t>
            </a:r>
            <a:r>
              <a:rPr sz="1200" lang="zh-TW" dirty="0">
                <a:solidFill>
                  <a:srgbClr val="000000"/>
                </a:solidFill>
                <a:latin typeface="Arial Unicode MS"/>
                <a:ea typeface="Arial Unicode MS"/>
                <a:cs typeface="Arial Unicode MS"/>
              </a:rPr>
              <a:t>現在可以自己確認一次。要看快門方式，得去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放映的時候可以放大看；發下去的 PDF 也印得出來。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規格表的第二層</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ảnh bị méo, bị đen hoặc trắng xoá, đèn đỏ thành tắt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相機：畫面會歪、會黑掉或白掉、紅燈會拍成沒亮</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18</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18</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18</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18</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Bước sóng · cấp an toàn laser · số lần phản hồi</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波長・雷射安全等級・回波次數</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18</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18</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18</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18</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và vật phản quang: không về, về sai chỗ, hoặc quá chói</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鏡面與反光材質：光回不來、回錯地方、或太亮</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Bề mặt này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這個表面做了什麼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7916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18</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18</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18</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ngang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公尺處橫向差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18</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18</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18</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Ouster OS1 — toàn bộ datasheet gốc (3 trang thông số)</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Ouster OS1 — 廠商規格書原頁（規格那三頁）</a:t>
            </a:r>
            <a:endParaRPr lang="en-US" sz="1700" dirty="0"/>
          </a:p>
        </p:txBody>
      </p:sp>
      <p:sp>
        <p:nvSpPr>
          <p:cNvPr id="4" name="Shape 2"/>
          <p:cNvSpPr/>
          <p:nvPr/>
        </p:nvSpPr>
        <p:spPr>
          <a:xfrm>
            <a:off x="970511"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os1_p1.png">    </p:cNvPr>
          <p:cNvPicPr>
            <a:picLocks noChangeAspect="1"/>
          </p:cNvPicPr>
          <p:nvPr/>
        </p:nvPicPr>
        <p:blipFill>
          <a:blip r:embed="rId1"/>
          <a:stretch>
            <a:fillRect/>
          </a:stretch>
        </p:blipFill>
        <p:spPr>
          <a:xfrm>
            <a:off x="988799" y="1389888"/>
            <a:ext cx="2303457" cy="2980944"/>
          </a:xfrm>
          <a:prstGeom prst="rect">
            <a:avLst/>
          </a:prstGeom>
        </p:spPr>
      </p:pic>
      <p:sp>
        <p:nvSpPr>
          <p:cNvPr id="6" name="Shape 3"/>
          <p:cNvSpPr/>
          <p:nvPr/>
        </p:nvSpPr>
        <p:spPr>
          <a:xfrm>
            <a:off x="3401984"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os1_p2.png">    </p:cNvPr>
          <p:cNvPicPr>
            <a:picLocks noChangeAspect="1"/>
          </p:cNvPicPr>
          <p:nvPr/>
        </p:nvPicPr>
        <p:blipFill>
          <a:blip r:embed="rId2"/>
          <a:stretch>
            <a:fillRect/>
          </a:stretch>
        </p:blipFill>
        <p:spPr>
          <a:xfrm>
            <a:off x="3420272" y="1389888"/>
            <a:ext cx="2303457" cy="2980944"/>
          </a:xfrm>
          <a:prstGeom prst="rect">
            <a:avLst/>
          </a:prstGeom>
        </p:spPr>
      </p:pic>
      <p:sp>
        <p:nvSpPr>
          <p:cNvPr id="8" name="Shape 4"/>
          <p:cNvSpPr/>
          <p:nvPr/>
        </p:nvSpPr>
        <p:spPr>
          <a:xfrm>
            <a:off x="5833456" y="1371600"/>
            <a:ext cx="2340033" cy="3017520"/>
          </a:xfrm>
          <a:prstGeom prst="rect">
            <a:avLst/>
          </a:prstGeom>
          <a:solidFill>
            <a:srgbClr val="FFFFFF"/>
          </a:solidFill>
          <a:ln w="12700">
            <a:solidFill>
              <a:srgbClr val="DBE3EA"/>
            </a:solidFill>
            <a:prstDash val="solid"/>
          </a:ln>
        </p:spPr>
      </p:sp>
      <p:pic>
        <p:nvPicPr>
          <p:cNvPr id="9" name="Image 2" descr="/Users/tsengchenghsun/Class/carClass/Claude outputs/第五週(10-8)/src/img/w5_ds_os1_p3.png">    </p:cNvPr>
          <p:cNvPicPr>
            <a:picLocks noChangeAspect="1"/>
          </p:cNvPicPr>
          <p:nvPr/>
        </p:nvPicPr>
        <p:blipFill>
          <a:blip r:embed="rId3"/>
          <a:stretch>
            <a:fillRect/>
          </a:stretch>
        </p:blipFill>
        <p:spPr>
          <a:xfrm>
            <a:off x="5851744" y="1389888"/>
            <a:ext cx="2303457"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Ouster OS1 datasheet, hardware Rev7 / firmware 3.2 · 官方 PDF 第 1–3 頁原頁全文 · 讀取 2026/10/02 · 版權歸 Ouster，課堂引用</a:t>
            </a:r>
            <a:endParaRPr lang="en-US" sz="850" dirty="0"/>
          </a:p>
        </p:txBody>
      </p:sp>
      <p:pic>
        <p:nvPicPr>
          <p:cNvPr id="12" name="Image 3" descr="/Users/tsengchenghsun/Class/carClass/Claude outputs/第五週(10-8)/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16 / 18</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Hesai AT128P — nguyên trang sổ tay (phần thông số)</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Hesai AT128P — 使用手冊原頁（規格那兩頁）</a:t>
            </a:r>
            <a:endParaRPr lang="en-US" sz="1700" dirty="0"/>
          </a:p>
        </p:txBody>
      </p:sp>
      <p:sp>
        <p:nvSpPr>
          <p:cNvPr id="4" name="Shape 2"/>
          <p:cNvSpPr/>
          <p:nvPr/>
        </p:nvSpPr>
        <p:spPr>
          <a:xfrm>
            <a:off x="484632" y="1445999"/>
            <a:ext cx="4041648" cy="2868722"/>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at128p_p13.png">    </p:cNvPr>
          <p:cNvPicPr>
            <a:picLocks noChangeAspect="1"/>
          </p:cNvPicPr>
          <p:nvPr/>
        </p:nvPicPr>
        <p:blipFill>
          <a:blip r:embed="rId1"/>
          <a:stretch>
            <a:fillRect/>
          </a:stretch>
        </p:blipFill>
        <p:spPr>
          <a:xfrm>
            <a:off x="502920" y="1464287"/>
            <a:ext cx="4005072" cy="2832146"/>
          </a:xfrm>
          <a:prstGeom prst="rect">
            <a:avLst/>
          </a:prstGeom>
        </p:spPr>
      </p:pic>
      <p:sp>
        <p:nvSpPr>
          <p:cNvPr id="6" name="Shape 3"/>
          <p:cNvSpPr/>
          <p:nvPr/>
        </p:nvSpPr>
        <p:spPr>
          <a:xfrm>
            <a:off x="4617720" y="1445999"/>
            <a:ext cx="4041648" cy="2868722"/>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at128p_p15.png">    </p:cNvPr>
          <p:cNvPicPr>
            <a:picLocks noChangeAspect="1"/>
          </p:cNvPicPr>
          <p:nvPr/>
        </p:nvPicPr>
        <p:blipFill>
          <a:blip r:embed="rId2"/>
          <a:stretch>
            <a:fillRect/>
          </a:stretch>
        </p:blipFill>
        <p:spPr>
          <a:xfrm>
            <a:off x="4636008" y="1464287"/>
            <a:ext cx="4005072" cy="2832146"/>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Hesai AT128P User Manual A02（en-250410）· §1.5 Specifications 第 13 頁與註解第 15 頁原頁全文 · 讀取 2026/10/02 · 版權歸 Hesai，課堂引用</a:t>
            </a:r>
            <a:endParaRPr lang="en-US" sz="850" dirty="0"/>
          </a:p>
        </p:txBody>
      </p:sp>
      <p:pic>
        <p:nvPicPr>
          <p:cNvPr id="10" name="Image 2"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17 / 18</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onsemi AR0233AT — toàn bộ datasheet gốc (2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onsemi AR0233AT — 廠商規格書原頁（全兩頁）</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ar0233at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ar0233at_p2.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onsemi, AR0233AT Product Preview, Rev. P2, 11/2017（Publication Order Number AR0233AT/D）· 原頁全文 · 讀取 2026/10/02 · 版權歸 onsemi，課堂引用</a:t>
            </a:r>
            <a:endParaRPr lang="en-US" sz="850" dirty="0"/>
          </a:p>
        </p:txBody>
      </p:sp>
      <p:pic>
        <p:nvPicPr>
          <p:cNvPr id="10" name="Image 2"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18</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2026-10-05T15:03:48Z</dcterms:created>
  <dcterms:modified xsi:type="dcterms:W3CDTF">2026-10-05T15:03:48Z</dcterms:modified>
</cp:coreProperties>
</file>