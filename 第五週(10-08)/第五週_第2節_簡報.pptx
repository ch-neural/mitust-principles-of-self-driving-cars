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圈主標「第二層」，講明那是我分的層次、不是 PDF 的頁碼，這些是上一節沒碰到的規格行。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第二節開始。
</a:t>
            </a:r>
          </a:p>
          <a:p>
            <a:pPr algn="l">
              <a:spcBef>
                <a:spcPts val="0"/>
              </a:spcBef>
              <a:spcAft>
                <a:spcPts val="150"/>
              </a:spcAft>
            </a:pPr>
            <a:r>
              <a:rPr sz="900" lang="zh-TW" dirty="0">
                <a:solidFill>
                  <a:srgbClr val="000000"/>
                </a:solidFill>
                <a:latin typeface="Arial Unicode MS"/>
                <a:ea typeface="Arial Unicode MS"/>
                <a:cs typeface="Arial Unicode MS"/>
              </a:rPr>
              <a:t>上一節我們找的四個數字，我叫它</a:t>
            </a:r>
            <a:r>
              <a:rPr sz="900" b="1" lang="zh-TW" dirty="0">
                <a:solidFill>
                  <a:srgbClr val="000000"/>
                </a:solidFill>
                <a:latin typeface="Arial Unicode MS"/>
                <a:ea typeface="Arial Unicode MS"/>
                <a:cs typeface="Arial Unicode MS"/>
              </a:rPr>
              <a:t>第一層</a:t>
            </a:r>
            <a:r>
              <a:rPr sz="90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0"/>
              </a:spcAft>
            </a:pPr>
            <a:r>
              <a:rPr sz="900" lang="zh-TW" dirty="0">
                <a:solidFill>
                  <a:srgbClr val="000000"/>
                </a:solidFill>
                <a:latin typeface="Arial Unicode MS"/>
                <a:ea typeface="Arial Unicode MS"/>
                <a:cs typeface="Arial Unicode MS"/>
              </a:rPr>
              <a:t>這一節我要帶各位往下翻。</a:t>
            </a:r>
            <a:r>
              <a:rPr sz="900" b="1" lang="zh-TW" dirty="0">
                <a:solidFill>
                  <a:srgbClr val="000000"/>
                </a:solidFill>
                <a:latin typeface="Arial Unicode MS"/>
                <a:ea typeface="Arial Unicode MS"/>
                <a:cs typeface="Arial Unicode MS"/>
              </a:rPr>
              <a:t>第二層</a:t>
            </a:r>
            <a:r>
              <a:rPr sz="900" lang="zh-TW" dirty="0">
                <a:solidFill>
                  <a:srgbClr val="000000"/>
                </a:solidFill>
                <a:latin typeface="Arial Unicode MS"/>
                <a:ea typeface="Arial Unicode MS"/>
                <a:cs typeface="Arial Unicode MS"/>
              </a:rPr>
              <a:t>還有一堆數字，大部分的人不看，可是</a:t>
            </a:r>
            <a:r>
              <a:rPr sz="900" b="1" lang="zh-TW" dirty="0">
                <a:solidFill>
                  <a:srgbClr val="000000"/>
                </a:solidFill>
                <a:latin typeface="Arial Unicode MS"/>
                <a:ea typeface="Arial Unicode MS"/>
                <a:cs typeface="Arial Unicode MS"/>
              </a:rPr>
              <a:t>真的出事的時候，常常是出在那幾行</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先講清楚，免得各位拿著 PDF 對不上：</a:t>
            </a:r>
            <a:r>
              <a:rPr sz="900" b="1" lang="zh-TW" dirty="0">
                <a:solidFill>
                  <a:srgbClr val="000000"/>
                </a:solidFill>
                <a:latin typeface="Arial Unicode MS"/>
                <a:ea typeface="Arial Unicode MS"/>
                <a:cs typeface="Arial Unicode MS"/>
              </a:rPr>
              <a:t>第一層、第二層是我分的，不是文件的頁碼。</a:t>
            </a:r>
            <a:r>
              <a:rPr sz="900" lang="zh-TW" dirty="0">
                <a:solidFill>
                  <a:srgbClr val="000000"/>
                </a:solidFill>
                <a:latin typeface="Arial Unicode MS"/>
                <a:ea typeface="Arial Unicode MS"/>
                <a:cs typeface="Arial Unicode MS"/>
              </a:rPr>
              <a:t>這六行在真的文件上是散在好幾頁的——等一下會看到，OS1 的雷射那一段在官方 PDF 的第二頁，相機那三行則全擠在 AR0233AT 兩頁文件的第一頁。
</a:t>
            </a:r>
          </a:p>
          <a:p>
            <a:pPr algn="l">
              <a:spcBef>
                <a:spcPts val="0"/>
              </a:spcBef>
              <a:spcAft>
                <a:spcPts val="150"/>
              </a:spcAft>
            </a:pPr>
            <a:r>
              <a:rPr sz="900" lang="zh-TW" dirty="0">
                <a:solidFill>
                  <a:srgbClr val="000000"/>
                </a:solidFill>
                <a:latin typeface="Arial Unicode MS"/>
                <a:ea typeface="Arial Unicode MS"/>
                <a:cs typeface="Arial Unicode MS"/>
              </a:rPr>
              <a:t>我挑三組最重要的。
</a:t>
            </a:r>
          </a:p>
          <a:p>
            <a:pPr algn="l">
              <a:spcBef>
                <a:spcPts val="0"/>
              </a:spcBef>
              <a:spcAft>
                <a:spcPts val="150"/>
              </a:spcAft>
            </a:pPr>
            <a:r>
              <a:rPr sz="900" lang="zh-TW" dirty="0">
                <a:solidFill>
                  <a:srgbClr val="000000"/>
                </a:solidFill>
                <a:latin typeface="Arial Unicode MS"/>
                <a:ea typeface="Arial Unicode MS"/>
                <a:cs typeface="Arial Unicode MS"/>
              </a:rPr>
              <a:t>第一組是相機的：</a:t>
            </a:r>
            <a:r>
              <a:rPr sz="900" b="1" lang="zh-TW" dirty="0">
                <a:solidFill>
                  <a:srgbClr val="000000"/>
                </a:solidFill>
                <a:latin typeface="Arial Unicode MS"/>
                <a:ea typeface="Arial Unicode MS"/>
                <a:cs typeface="Arial Unicode MS"/>
              </a:rPr>
              <a:t>快門怎麼掃、動態範圍多少、LED 閃爍怎麼處理</a:t>
            </a:r>
            <a:r>
              <a:rPr sz="90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0"/>
              </a:spcAft>
            </a:pPr>
            <a:r>
              <a:rPr sz="900" lang="zh-TW" dirty="0">
                <a:solidFill>
                  <a:srgbClr val="000000"/>
                </a:solidFill>
                <a:latin typeface="Arial Unicode MS"/>
                <a:ea typeface="Arial Unicode MS"/>
                <a:cs typeface="Arial Unicode MS"/>
              </a:rPr>
              <a:t>第二組是光達的：</a:t>
            </a:r>
            <a:r>
              <a:rPr sz="900" b="1" lang="zh-TW" dirty="0">
                <a:solidFill>
                  <a:srgbClr val="000000"/>
                </a:solidFill>
                <a:latin typeface="Arial Unicode MS"/>
                <a:ea typeface="Arial Unicode MS"/>
                <a:cs typeface="Arial Unicode MS"/>
              </a:rPr>
              <a:t>波長、眼睛安全等級、幾次回波</a:t>
            </a:r>
            <a:r>
              <a:rPr sz="90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0"/>
              </a:spcAft>
            </a:pPr>
            <a:r>
              <a:rPr sz="900" lang="zh-TW" dirty="0">
                <a:solidFill>
                  <a:srgbClr val="000000"/>
                </a:solidFill>
                <a:latin typeface="Arial Unicode MS"/>
                <a:ea typeface="Arial Unicode MS"/>
                <a:cs typeface="Arial Unicode MS"/>
              </a:rPr>
              <a:t>第三組是兩種都有的，而且是最多人忽略的：</a:t>
            </a:r>
            <a:r>
              <a:rPr sz="900" b="1" lang="zh-TW" dirty="0">
                <a:solidFill>
                  <a:srgbClr val="000000"/>
                </a:solidFill>
                <a:latin typeface="Arial Unicode MS"/>
                <a:ea typeface="Arial Unicode MS"/>
                <a:cs typeface="Arial Unicode MS"/>
              </a:rPr>
              <a:t>標定和時間同步</a:t>
            </a:r>
            <a:r>
              <a:rPr sz="90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0"/>
              </a:spcAft>
            </a:pPr>
            <a:r>
              <a:rPr sz="90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等動圖掃完，指著那根斜掉的電線桿和下面那個箭頭說「它本來是直的」，再圈結論條。真東西的例子留到下一張的影片。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。規格表上那一行的欄位名叫 </a:t>
            </a:r>
            <a:r>
              <a:rPr sz="800" b="1" lang="zh-TW" dirty="0">
                <a:solidFill>
                  <a:srgbClr val="000000"/>
                </a:solidFill>
                <a:latin typeface="Arial Unicode MS"/>
                <a:ea typeface="Arial Unicode MS"/>
                <a:cs typeface="Arial Unicode MS"/>
              </a:rPr>
              <a:t>Shutter Type</a:t>
            </a:r>
            <a:r>
              <a:rPr sz="800" lang="zh-TW" dirty="0">
                <a:solidFill>
                  <a:srgbClr val="000000"/>
                </a:solidFill>
                <a:latin typeface="Arial Unicode MS"/>
                <a:ea typeface="Arial Unicode MS"/>
                <a:cs typeface="Arial Unicode MS"/>
              </a:rPr>
              <a:t>，有的廠商只寫 Shutter；上面填的不是 rolling shutter 就是 global shutter。AR0233AT 填的是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這裡要提醒一次：</a:t>
            </a:r>
            <a:r>
              <a:rPr sz="800" b="1" lang="zh-TW" dirty="0">
                <a:solidFill>
                  <a:srgbClr val="000000"/>
                </a:solidFill>
                <a:latin typeface="Arial Unicode MS"/>
                <a:ea typeface="Arial Unicode MS"/>
                <a:cs typeface="Arial Unicode MS"/>
              </a:rPr>
              <a:t>第二張說過，這一行不在那份兩頁的 Product Preview 上</a:t>
            </a:r>
            <a:r>
              <a:rPr sz="800" lang="zh-TW" dirty="0">
                <a:solidFill>
                  <a:srgbClr val="000000"/>
                </a:solidFill>
                <a:latin typeface="Arial Unicode MS"/>
                <a:ea typeface="Arial Unicode MS"/>
                <a:cs typeface="Arial Unicode MS"/>
              </a:rPr>
              <a:t>——各位翻到最後的附錄去找也找不到。要看它得去 onsemi 的產品頁；判讀台上我已經幫各位把那一行補進去了，現在就可以切過去看。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a:t>
            </a:r>
            <a:r>
              <a:rPr sz="800" b="1" lang="zh-TW" dirty="0">
                <a:solidFill>
                  <a:srgbClr val="000000"/>
                </a:solidFill>
                <a:latin typeface="Arial Unicode MS"/>
                <a:ea typeface="Arial Unicode MS"/>
                <a:cs typeface="Arial Unicode MS"/>
              </a:rPr>
              <a:t>global shutter</a:t>
            </a:r>
            <a:r>
              <a:rPr sz="800" lang="zh-TW" dirty="0">
                <a:solidFill>
                  <a:srgbClr val="000000"/>
                </a:solidFill>
                <a:latin typeface="Arial Unicode MS"/>
                <a:ea typeface="Arial Unicode MS"/>
                <a:cs typeface="Arial Unicode MS"/>
              </a:rPr>
              <a:t>——中文叫</a:t>
            </a:r>
            <a:r>
              <a:rPr sz="800" b="1" lang="zh-TW" dirty="0">
                <a:solidFill>
                  <a:srgbClr val="000000"/>
                </a:solidFill>
                <a:latin typeface="Arial Unicode MS"/>
                <a:ea typeface="Arial Unicode MS"/>
                <a:cs typeface="Arial Unicode MS"/>
              </a:rPr>
              <a:t>全域快門</a:t>
            </a:r>
            <a:r>
              <a:rPr sz="800" lang="zh-TW" dirty="0">
                <a:solidFill>
                  <a:srgbClr val="000000"/>
                </a:solidFill>
                <a:latin typeface="Arial Unicode MS"/>
                <a:ea typeface="Arial Unicode MS"/>
                <a:cs typeface="Arial Unicode MS"/>
              </a:rPr>
              <a:t>——呢？整張同時曝光，沒有這個問題，但是貴很多，而且同樣的價錢下感光度比較差。所以快門方式這一行不是文字遊戲，它決定了你的感知演算法要不要另外寫一段程式去補償。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讀得快一點</a:t>
            </a:r>
            <a:r>
              <a:rPr sz="800" lang="zh-TW" dirty="0">
                <a:solidFill>
                  <a:srgbClr val="000000"/>
                </a:solidFill>
                <a:latin typeface="Arial Unicode MS"/>
                <a:ea typeface="Arial Unicode MS"/>
                <a:cs typeface="Arial Unicode MS"/>
              </a:rPr>
              <a:t>——像上一節看的 AR0233AT，一秒六十張，等於整張一定要在</a:t>
            </a:r>
            <a:r>
              <a:rPr sz="800" b="1" lang="zh-TW" dirty="0">
                <a:solidFill>
                  <a:srgbClr val="000000"/>
                </a:solidFill>
                <a:latin typeface="Arial Unicode MS"/>
                <a:ea typeface="Arial Unicode MS"/>
                <a:cs typeface="Arial Unicode MS"/>
              </a:rPr>
              <a:t>十六點七毫秒</a:t>
            </a:r>
            <a:r>
              <a:rPr sz="800" lang="zh-TW" dirty="0">
                <a:solidFill>
                  <a:srgbClr val="000000"/>
                </a:solidFill>
                <a:latin typeface="Arial Unicode MS"/>
                <a:ea typeface="Arial Unicode MS"/>
                <a:cs typeface="Arial Unicode MS"/>
              </a:rPr>
              <a:t>之內讀完。一秒三十張是三十三毫秒，差一倍；同一台車經過，歪掉的程度也差不多少一半。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fps」這一行，除了講即時性，也順便給了</a:t>
            </a:r>
            <a:r>
              <a:rPr sz="800" b="1" lang="zh-TW" dirty="0">
                <a:solidFill>
                  <a:srgbClr val="000000"/>
                </a:solidFill>
                <a:latin typeface="Arial Unicode MS"/>
                <a:ea typeface="Arial Unicode MS"/>
                <a:cs typeface="Arial Unicode MS"/>
              </a:rPr>
              <a:t>扭曲的上限</a:t>
            </a:r>
            <a:r>
              <a:rPr sz="800" lang="zh-TW" dirty="0">
                <a:solidFill>
                  <a:srgbClr val="000000"/>
                </a:solidFill>
                <a:latin typeface="Arial Unicode MS"/>
                <a:ea typeface="Arial Unicode MS"/>
                <a:cs typeface="Arial Unicode MS"/>
              </a:rPr>
              <a:t>：fps 愈高，從第一列到最後一列的時間差一定愈短。要講精確一點：真正決定扭曲的是</a:t>
            </a:r>
            <a:r>
              <a:rPr sz="800" b="1" lang="zh-TW" dirty="0">
                <a:solidFill>
                  <a:srgbClr val="000000"/>
                </a:solidFill>
                <a:latin typeface="Arial Unicode MS"/>
                <a:ea typeface="Arial Unicode MS"/>
                <a:cs typeface="Arial Unicode MS"/>
              </a:rPr>
              <a:t>整張讀完要多久</a:t>
            </a:r>
            <a:r>
              <a:rPr sz="800" lang="zh-TW" dirty="0">
                <a:solidFill>
                  <a:srgbClr val="000000"/>
                </a:solidFill>
                <a:latin typeface="Arial Unicode MS"/>
                <a:ea typeface="Arial Unicode MS"/>
                <a:cs typeface="Arial Unicode MS"/>
              </a:rPr>
              <a:t>，英文叫 readout time。fps 給的是它的上限——一秒六十張，讀完不可能超過十六點七毫秒，但也可能只花五毫秒、剩下的時間在等。有些規格書會另外印 line time 或 readout time，那一行才是直接的答案。</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讓學生親眼看到捲簾快門發生在真東西上的樣子，順便一次看懂全域快門的差別。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播兩次。第一次只叫他們看主旋翼；第二次看尾旋翼和機身。影片只有 32 秒，播完記得按暫停，不要讓它自動跳下一支。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剛剛那張動圖是我畫的示意圖，現在看真的。
</a:t>
            </a:r>
          </a:p>
          <a:p>
            <a:pPr algn="l">
              <a:spcBef>
                <a:spcPts val="0"/>
              </a:spcBef>
              <a:spcAft>
                <a:spcPts val="150"/>
              </a:spcAft>
            </a:pPr>
            <a:r>
              <a:rPr sz="900" lang="zh-TW" dirty="0">
                <a:solidFill>
                  <a:srgbClr val="000000"/>
                </a:solidFill>
                <a:latin typeface="Arial Unicode MS"/>
                <a:ea typeface="Arial Unicode MS"/>
                <a:cs typeface="Arial Unicode MS"/>
              </a:rPr>
              <a:t>這支是 Sony 原廠拍的，三十二秒。畫面分上下兩半：</a:t>
            </a:r>
            <a:r>
              <a:rPr sz="900" b="1" lang="zh-TW" dirty="0">
                <a:solidFill>
                  <a:srgbClr val="000000"/>
                </a:solidFill>
                <a:latin typeface="Arial Unicode MS"/>
                <a:ea typeface="Arial Unicode MS"/>
                <a:cs typeface="Arial Unicode MS"/>
              </a:rPr>
              <a:t>上面標 Global Shutter，下面標 Rolling Shutter</a:t>
            </a:r>
            <a:r>
              <a:rPr sz="900" lang="zh-TW" dirty="0">
                <a:solidFill>
                  <a:srgbClr val="000000"/>
                </a:solidFill>
                <a:latin typeface="Arial Unicode MS"/>
                <a:ea typeface="Arial Unicode MS"/>
                <a:cs typeface="Arial Unicode MS"/>
              </a:rPr>
              <a:t>。同一架直升機、同一個時間、同一個場景，差別只有快門方式。
</a:t>
            </a:r>
          </a:p>
          <a:p>
            <a:pPr algn="l">
              <a:spcBef>
                <a:spcPts val="0"/>
              </a:spcBef>
              <a:spcAft>
                <a:spcPts val="150"/>
              </a:spcAft>
            </a:pPr>
            <a:r>
              <a:rPr sz="900" b="1" lang="zh-TW" dirty="0">
                <a:solidFill>
                  <a:srgbClr val="000000"/>
                </a:solidFill>
                <a:latin typeface="Arial Unicode MS"/>
                <a:ea typeface="Arial Unicode MS"/>
                <a:cs typeface="Arial Unicode MS"/>
              </a:rPr>
              <a:t>第一次播，各位只看一件事：主旋翼那兩片葉子。</a:t>
            </a:r>
            <a:r>
              <a:rPr sz="900" lang="zh-TW" dirty="0">
                <a:solidFill>
                  <a:srgbClr val="000000"/>
                </a:solidFill>
                <a:latin typeface="Arial Unicode MS"/>
                <a:ea typeface="Arial Unicode MS"/>
                <a:cs typeface="Arial Unicode MS"/>
              </a:rPr>
              <a:t>上面那格，葉片是一條直線。下面那格，葉片</a:t>
            </a:r>
            <a:r>
              <a:rPr sz="900" b="1" lang="zh-TW" dirty="0">
                <a:solidFill>
                  <a:srgbClr val="000000"/>
                </a:solidFill>
                <a:latin typeface="Arial Unicode MS"/>
                <a:ea typeface="Arial Unicode MS"/>
                <a:cs typeface="Arial Unicode MS"/>
              </a:rPr>
              <a:t>彎成香蕉形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這就是我們剛剛算出來的那件事：旋翼轉得很快，感測器一列一列讀下來的那幾十毫秒裡，葉片已經轉過去了，所以每一列拍到的葉片都在不同的角度，拼起來就是一條彎的。
</a:t>
            </a:r>
          </a:p>
          <a:p>
            <a:pPr algn="l">
              <a:spcBef>
                <a:spcPts val="0"/>
              </a:spcBef>
              <a:spcAft>
                <a:spcPts val="150"/>
              </a:spcAft>
            </a:pPr>
            <a:r>
              <a:rPr sz="900" b="1" lang="zh-TW" dirty="0">
                <a:solidFill>
                  <a:srgbClr val="000000"/>
                </a:solidFill>
                <a:latin typeface="Arial Unicode MS"/>
                <a:ea typeface="Arial Unicode MS"/>
                <a:cs typeface="Arial Unicode MS"/>
              </a:rPr>
              <a:t>第二次播，看尾旋翼和機身。</a:t>
            </a:r>
            <a:r>
              <a:rPr sz="900" lang="zh-TW" dirty="0">
                <a:solidFill>
                  <a:srgbClr val="000000"/>
                </a:solidFill>
                <a:latin typeface="Arial Unicode MS"/>
                <a:ea typeface="Arial Unicode MS"/>
                <a:cs typeface="Arial Unicode MS"/>
              </a:rPr>
              <a:t>尾旋翼在下面那格整個扭掉，形狀完全不對；上面那格還是正常的十字。機身因為沒有在轉，所以兩邊看起來差不多——</a:t>
            </a:r>
            <a:r>
              <a:rPr sz="900" b="1" lang="zh-TW" dirty="0">
                <a:solidFill>
                  <a:srgbClr val="000000"/>
                </a:solidFill>
                <a:latin typeface="Arial Unicode MS"/>
                <a:ea typeface="Arial Unicode MS"/>
                <a:cs typeface="Arial Unicode MS"/>
              </a:rPr>
              <a:t>會歪的是在動的東西</a:t>
            </a:r>
            <a:r>
              <a:rPr sz="900" lang="zh-TW" dirty="0">
                <a:solidFill>
                  <a:srgbClr val="000000"/>
                </a:solidFill>
                <a:latin typeface="Arial Unicode MS"/>
                <a:ea typeface="Arial Unicode MS"/>
                <a:cs typeface="Arial Unicode MS"/>
              </a:rPr>
              <a:t>，這一點很重要。
</a:t>
            </a:r>
          </a:p>
          <a:p>
            <a:pPr algn="l">
              <a:spcBef>
                <a:spcPts val="0"/>
              </a:spcBef>
              <a:spcAft>
                <a:spcPts val="150"/>
              </a:spcAft>
            </a:pPr>
            <a:r>
              <a:rPr sz="900" lang="zh-TW" dirty="0">
                <a:solidFill>
                  <a:srgbClr val="000000"/>
                </a:solidFill>
                <a:latin typeface="Arial Unicode MS"/>
                <a:ea typeface="Arial Unicode MS"/>
                <a:cs typeface="Arial Unicode MS"/>
              </a:rPr>
              <a:t>現在把這件事接回自駕車。直升機的旋翼各位看得出來是歪的，因為我們知道旋翼本來是直的。可是</a:t>
            </a:r>
            <a:r>
              <a:rPr sz="900" b="1" lang="zh-TW" dirty="0">
                <a:solidFill>
                  <a:srgbClr val="000000"/>
                </a:solidFill>
                <a:latin typeface="Arial Unicode MS"/>
                <a:ea typeface="Arial Unicode MS"/>
                <a:cs typeface="Arial Unicode MS"/>
              </a:rPr>
              <a:t>路上那台從旁邊切過來的機車，被扭成什麼形狀，演算法並不知道</a:t>
            </a:r>
            <a:r>
              <a:rPr sz="900" lang="zh-TW" dirty="0">
                <a:solidFill>
                  <a:srgbClr val="000000"/>
                </a:solidFill>
                <a:latin typeface="Arial Unicode MS"/>
                <a:ea typeface="Arial Unicode MS"/>
                <a:cs typeface="Arial Unicode MS"/>
              </a:rPr>
              <a:t>——它沒有「本來的樣子」可以比對，它只會以為那就是真的。
</a:t>
            </a:r>
          </a:p>
          <a:p>
            <a:pPr algn="l">
              <a:spcBef>
                <a:spcPts val="0"/>
              </a:spcBef>
              <a:spcAft>
                <a:spcPts val="150"/>
              </a:spcAft>
            </a:pPr>
            <a:r>
              <a:rPr sz="900" lang="zh-TW" dirty="0">
                <a:solidFill>
                  <a:srgbClr val="000000"/>
                </a:solidFill>
                <a:latin typeface="Arial Unicode MS"/>
                <a:ea typeface="Arial Unicode MS"/>
                <a:cs typeface="Arial Unicode MS"/>
              </a:rPr>
              <a:t>所以規格表上 Shutter Type 那一行，決定的不是照片好不好看，是</a:t>
            </a:r>
            <a:r>
              <a:rPr sz="900" b="1" lang="zh-TW" dirty="0">
                <a:solidFill>
                  <a:srgbClr val="000000"/>
                </a:solidFill>
                <a:latin typeface="Arial Unicode MS"/>
                <a:ea typeface="Arial Unicode MS"/>
                <a:cs typeface="Arial Unicode MS"/>
              </a:rPr>
              <a:t>你的感知演算法會不會被餵進一個變形的東西</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播完請按暫停，不要讓它自動跳到下一支。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。這一行是最容易被數字誤導的一行。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讓學生看到 140 dB 的相機在真的隧道口是什麼樣子，把左邊的示意圖接到真實畫面上。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只播 0:14 到 0:40。0:30 出隧道口那一刻按暫停，讓他們指出哪裡是暗的、哪裡是亮的。影片沒有對照組，『不夠會怎樣』要指回左邊那張動圖。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剛剛那張動圖是我畫的示意圖，現在看真的。
</a:t>
            </a:r>
          </a:p>
          <a:p>
            <a:pPr algn="l">
              <a:spcBef>
                <a:spcPts val="0"/>
              </a:spcBef>
              <a:spcAft>
                <a:spcPts val="142"/>
              </a:spcAft>
            </a:pPr>
            <a:r>
              <a:rPr sz="85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42"/>
              </a:spcAft>
            </a:pPr>
            <a:r>
              <a:rPr sz="850" lang="zh-TW" dirty="0">
                <a:solidFill>
                  <a:srgbClr val="000000"/>
                </a:solidFill>
                <a:latin typeface="Arial Unicode MS"/>
                <a:ea typeface="Arial Unicode MS"/>
                <a:cs typeface="Arial Unicode MS"/>
              </a:rPr>
              <a:t>刺眼，然後看不清楚，要過一兩秒才適應。相機也一樣，而且它沒有兩秒可以適應。隧道裡面很暗，出口外面很亮，這兩個亮度差一萬倍以上。動態範圍不夠的話，它只能選一邊：</a:t>
            </a:r>
            <a:r>
              <a:rPr sz="850" b="1" lang="zh-TW" dirty="0">
                <a:solidFill>
                  <a:srgbClr val="000000"/>
                </a:solidFill>
                <a:latin typeface="Arial Unicode MS"/>
                <a:ea typeface="Arial Unicode MS"/>
                <a:cs typeface="Arial Unicode MS"/>
              </a:rPr>
              <a:t>保住外面，裡面就全黑；保住裡面，外面就全白。</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這支是 e-con Systems 拿他們的車用相機實際開上路拍的，整支六十秒，</a:t>
            </a:r>
            <a:r>
              <a:rPr sz="850" b="1" lang="zh-TW" dirty="0">
                <a:solidFill>
                  <a:srgbClr val="000000"/>
                </a:solidFill>
                <a:latin typeface="Arial Unicode MS"/>
                <a:ea typeface="Arial Unicode MS"/>
                <a:cs typeface="Arial Unicode MS"/>
              </a:rPr>
              <a:t>我們只看 0:14 到 0:40 這一段</a:t>
            </a:r>
            <a:r>
              <a:rPr sz="850" lang="zh-TW" dirty="0">
                <a:solidFill>
                  <a:srgbClr val="000000"/>
                </a:solidFill>
                <a:latin typeface="Arial Unicode MS"/>
                <a:ea typeface="Arial Unicode MS"/>
                <a:cs typeface="Arial Unicode MS"/>
              </a:rPr>
              <a:t>，前面是片頭。0:14 車子進隧道，各位看牆面、看頂上那排燈，都還是看得清楚的，沒有糊成一片黑。
</a:t>
            </a:r>
          </a:p>
          <a:p>
            <a:pPr algn="l">
              <a:spcBef>
                <a:spcPts val="0"/>
              </a:spcBef>
              <a:spcAft>
                <a:spcPts val="142"/>
              </a:spcAft>
            </a:pPr>
            <a:r>
              <a:rPr sz="850" b="1" lang="zh-TW" dirty="0">
                <a:solidFill>
                  <a:srgbClr val="000000"/>
                </a:solidFill>
                <a:latin typeface="Arial Unicode MS"/>
                <a:ea typeface="Arial Unicode MS"/>
                <a:cs typeface="Arial Unicode MS"/>
              </a:rPr>
              <a:t>真正的重點在 0:30。</a:t>
            </a:r>
            <a:r>
              <a:rPr sz="850" lang="zh-TW" dirty="0">
                <a:solidFill>
                  <a:srgbClr val="000000"/>
                </a:solidFill>
                <a:latin typeface="Arial Unicode MS"/>
                <a:ea typeface="Arial Unicode MS"/>
                <a:cs typeface="Arial Unicode MS"/>
              </a:rPr>
              <a:t>車子出隧道口——這一秒畫面裡同時有兩個極端：兩邊還是隧道的暗牆，正前方已經是外面的大太陽、樹、房子。</a:t>
            </a:r>
            <a:r>
              <a:rPr sz="850" b="1" lang="zh-TW" dirty="0">
                <a:solidFill>
                  <a:srgbClr val="000000"/>
                </a:solidFill>
                <a:latin typeface="Arial Unicode MS"/>
                <a:ea typeface="Arial Unicode MS"/>
                <a:cs typeface="Arial Unicode MS"/>
              </a:rPr>
              <a:t>兩邊都看得到。</a:t>
            </a:r>
            <a:r>
              <a:rPr sz="850" lang="zh-TW" dirty="0">
                <a:solidFill>
                  <a:srgbClr val="000000"/>
                </a:solidFill>
                <a:latin typeface="Arial Unicode MS"/>
                <a:ea typeface="Arial Unicode MS"/>
                <a:cs typeface="Arial Unicode MS"/>
              </a:rPr>
              <a:t>我會在這裡按暫停，請各位指給我看哪一塊是暗的、哪一塊是亮的。
</a:t>
            </a:r>
          </a:p>
          <a:p>
            <a:pPr algn="l">
              <a:spcBef>
                <a:spcPts val="0"/>
              </a:spcBef>
              <a:spcAft>
                <a:spcPts val="142"/>
              </a:spcAft>
            </a:pPr>
            <a:r>
              <a:rPr sz="850" lang="zh-TW" dirty="0">
                <a:solidFill>
                  <a:srgbClr val="000000"/>
                </a:solidFill>
                <a:latin typeface="Arial Unicode MS"/>
                <a:ea typeface="Arial Unicode MS"/>
                <a:cs typeface="Arial Unicode MS"/>
              </a:rPr>
              <a:t>畫面上那行小字寫的是 </a:t>
            </a:r>
            <a:r>
              <a:rPr sz="850" b="1" lang="zh-TW" dirty="0">
                <a:solidFill>
                  <a:srgbClr val="000000"/>
                </a:solidFill>
                <a:latin typeface="Arial Unicode MS"/>
                <a:ea typeface="Arial Unicode MS"/>
                <a:cs typeface="Arial Unicode MS"/>
              </a:rPr>
              <a:t>140dB HDR</a:t>
            </a:r>
            <a:r>
              <a:rPr sz="850" lang="zh-TW" dirty="0">
                <a:solidFill>
                  <a:srgbClr val="000000"/>
                </a:solidFill>
                <a:latin typeface="Arial Unicode MS"/>
                <a:ea typeface="Arial Unicode MS"/>
                <a:cs typeface="Arial Unicode MS"/>
              </a:rPr>
              <a:t>——跟我們上一節看的那顆 AR0233AT 是同一個數字。規格表上那一行，講的就是各位現在眼睛看到的這件事。
</a:t>
            </a:r>
          </a:p>
          <a:p>
            <a:pPr algn="l">
              <a:spcBef>
                <a:spcPts val="0"/>
              </a:spcBef>
              <a:spcAft>
                <a:spcPts val="142"/>
              </a:spcAft>
            </a:pPr>
            <a:r>
              <a:rPr sz="850" lang="zh-TW" dirty="0">
                <a:solidFill>
                  <a:srgbClr val="000000"/>
                </a:solidFill>
                <a:latin typeface="Arial Unicode MS"/>
                <a:ea typeface="Arial Unicode MS"/>
                <a:cs typeface="Arial Unicode MS"/>
              </a:rPr>
              <a:t>有一點要先講清楚：這支只有</a:t>
            </a:r>
            <a:r>
              <a:rPr sz="850" b="1" lang="zh-TW" dirty="0">
                <a:solidFill>
                  <a:srgbClr val="000000"/>
                </a:solidFill>
                <a:latin typeface="Arial Unicode MS"/>
                <a:ea typeface="Arial Unicode MS"/>
                <a:cs typeface="Arial Unicode MS"/>
              </a:rPr>
              <a:t>一台</a:t>
            </a:r>
            <a:r>
              <a:rPr sz="850" lang="zh-TW" dirty="0">
                <a:solidFill>
                  <a:srgbClr val="000000"/>
                </a:solidFill>
                <a:latin typeface="Arial Unicode MS"/>
                <a:ea typeface="Arial Unicode MS"/>
                <a:cs typeface="Arial Unicode MS"/>
              </a:rPr>
              <a:t>相機在拍，旁邊沒有放一台動態範圍不夠的來對照。所以「不夠會怎樣」要看回左邊那張動圖，兩個合起來才是完整的。
</a:t>
            </a:r>
          </a:p>
          <a:p>
            <a:pPr algn="l">
              <a:spcBef>
                <a:spcPts val="0"/>
              </a:spcBef>
              <a:spcAft>
                <a:spcPts val="142"/>
              </a:spcAft>
            </a:pPr>
            <a:r>
              <a:rPr sz="850" lang="zh-TW" dirty="0">
                <a:solidFill>
                  <a:srgbClr val="000000"/>
                </a:solidFill>
                <a:latin typeface="Arial Unicode MS"/>
                <a:ea typeface="Arial Unicode MS"/>
                <a:cs typeface="Arial Unicode MS"/>
              </a:rPr>
              <a:t>播完請按暫停，不要讓它自動跳下一支。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而且 1550 還多一個好處，第一節第十三張那個 100 klx 的條件就是在講這件事：</a:t>
            </a:r>
            <a:r>
              <a:rPr sz="800" b="1" lang="zh-TW" dirty="0">
                <a:solidFill>
                  <a:srgbClr val="000000"/>
                </a:solidFill>
                <a:latin typeface="Arial Unicode MS"/>
                <a:ea typeface="Arial Unicode MS"/>
                <a:cs typeface="Arial Unicode MS"/>
              </a:rPr>
              <a:t>太陽在 1550 這個波長的輻射本來就比較弱</a:t>
            </a:r>
            <a:r>
              <a:rPr sz="800" lang="zh-TW" dirty="0">
                <a:solidFill>
                  <a:srgbClr val="000000"/>
                </a:solidFill>
                <a:latin typeface="Arial Unicode MS"/>
                <a:ea typeface="Arial Unicode MS"/>
                <a:cs typeface="Arial Unicode MS"/>
              </a:rPr>
              <a:t>，所以它要對付的背景噪音比 905 少。打得強、背景又少，這就是為什麼高階的長距光達用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左邊那張動圖會自己循環播。先讓他們看藍色那個①是雨、綠色那個②才是車，最後一格停在「只收一次回波」。再去圈底下規格表的 up to 2 和 Return Order。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光達的第三件事是</a:t>
            </a:r>
            <a:r>
              <a:rPr sz="800" b="1" lang="zh-TW" dirty="0">
                <a:solidFill>
                  <a:srgbClr val="000000"/>
                </a:solidFill>
                <a:latin typeface="Arial Unicode MS"/>
                <a:ea typeface="Arial Unicode MS"/>
                <a:cs typeface="Arial Unicode MS"/>
              </a:rPr>
              <a:t>回波次數</a:t>
            </a:r>
            <a:r>
              <a:rPr sz="800" lang="zh-TW" dirty="0">
                <a:solidFill>
                  <a:srgbClr val="000000"/>
                </a:solidFill>
                <a:latin typeface="Arial Unicode MS"/>
                <a:ea typeface="Arial Unicode MS"/>
                <a:cs typeface="Arial Unicode MS"/>
              </a:rPr>
              <a:t>。OS1 的規格表上這一行叫 </a:t>
            </a:r>
            <a:r>
              <a:rPr sz="800" b="1" lang="zh-TW" dirty="0">
                <a:solidFill>
                  <a:srgbClr val="000000"/>
                </a:solidFill>
                <a:latin typeface="Arial Unicode MS"/>
                <a:ea typeface="Arial Unicode MS"/>
                <a:cs typeface="Arial Unicode MS"/>
              </a:rPr>
              <a:t># of Returns</a:t>
            </a:r>
            <a:r>
              <a:rPr sz="800" lang="zh-TW" dirty="0">
                <a:solidFill>
                  <a:srgbClr val="000000"/>
                </a:solidFill>
                <a:latin typeface="Arial Unicode MS"/>
                <a:ea typeface="Arial Unicode MS"/>
                <a:cs typeface="Arial Unicode MS"/>
              </a:rPr>
              <a:t>，寫著 </a:t>
            </a:r>
            <a:r>
              <a:rPr sz="800" b="1" lang="zh-TW" dirty="0">
                <a:solidFill>
                  <a:srgbClr val="000000"/>
                </a:solidFill>
                <a:latin typeface="Arial Unicode MS"/>
                <a:ea typeface="Arial Unicode MS"/>
                <a:cs typeface="Arial Unicode MS"/>
              </a:rPr>
              <a:t>up to 2</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
</a:t>
            </a:r>
          </a:p>
          <a:p>
            <a:pPr algn="l">
              <a:spcBef>
                <a:spcPts val="0"/>
              </a:spcBef>
              <a:spcAft>
                <a:spcPts val="133"/>
              </a:spcAft>
            </a:pPr>
            <a:r>
              <a:rPr sz="80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33"/>
              </a:spcAft>
            </a:pPr>
            <a:r>
              <a:rPr sz="800" lang="zh-TW" dirty="0">
                <a:solidFill>
                  <a:srgbClr val="000000"/>
                </a:solidFill>
                <a:latin typeface="Arial Unicode MS"/>
                <a:ea typeface="Arial Unicode MS"/>
                <a:cs typeface="Arial Unicode MS"/>
              </a:rPr>
              <a:t>那道雷射可能</a:t>
            </a:r>
            <a:r>
              <a:rPr sz="800" b="1" lang="zh-TW" dirty="0">
                <a:solidFill>
                  <a:srgbClr val="000000"/>
                </a:solidFill>
                <a:latin typeface="Arial Unicode MS"/>
                <a:ea typeface="Arial Unicode MS"/>
                <a:cs typeface="Arial Unicode MS"/>
              </a:rPr>
              <a:t>先打到一顆雨滴，彈回來一次</a:t>
            </a:r>
            <a:r>
              <a:rPr sz="800" lang="zh-TW" dirty="0">
                <a:solidFill>
                  <a:srgbClr val="000000"/>
                </a:solidFill>
                <a:latin typeface="Arial Unicode MS"/>
                <a:ea typeface="Arial Unicode MS"/>
                <a:cs typeface="Arial Unicode MS"/>
              </a:rPr>
              <a:t>；穿過去之後，</a:t>
            </a:r>
            <a:r>
              <a:rPr sz="800" b="1" lang="zh-TW" dirty="0">
                <a:solidFill>
                  <a:srgbClr val="000000"/>
                </a:solidFill>
                <a:latin typeface="Arial Unicode MS"/>
                <a:ea typeface="Arial Unicode MS"/>
                <a:cs typeface="Arial Unicode MS"/>
              </a:rPr>
              <a:t>再打到真正的車，又彈回來一次</a:t>
            </a:r>
            <a:r>
              <a:rPr sz="800" lang="zh-TW" dirty="0">
                <a:solidFill>
                  <a:srgbClr val="000000"/>
                </a:solidFill>
                <a:latin typeface="Arial Unicode MS"/>
                <a:ea typeface="Arial Unicode MS"/>
                <a:cs typeface="Arial Unicode MS"/>
              </a:rPr>
              <a:t>。同一道雷射，兩次回波。
</a:t>
            </a:r>
          </a:p>
          <a:p>
            <a:pPr algn="l">
              <a:spcBef>
                <a:spcPts val="0"/>
              </a:spcBef>
              <a:spcAft>
                <a:spcPts val="133"/>
              </a:spcAft>
            </a:pPr>
            <a:r>
              <a:rPr sz="800" lang="zh-TW" dirty="0">
                <a:solidFill>
                  <a:srgbClr val="000000"/>
                </a:solidFill>
                <a:latin typeface="Arial Unicode MS"/>
                <a:ea typeface="Arial Unicode MS"/>
                <a:cs typeface="Arial Unicode MS"/>
              </a:rPr>
              <a:t>左邊那張動圖在演的就是這個順序，它會一直循環播。黃色那顆是射出去的光，走到八公尺處的雨，</a:t>
            </a:r>
            <a:r>
              <a:rPr sz="800" b="1" lang="zh-TW" dirty="0">
                <a:solidFill>
                  <a:srgbClr val="000000"/>
                </a:solidFill>
                <a:latin typeface="Arial Unicode MS"/>
                <a:ea typeface="Arial Unicode MS"/>
                <a:cs typeface="Arial Unicode MS"/>
              </a:rPr>
              <a:t>藍色的①彈回來</a:t>
            </a:r>
            <a:r>
              <a:rPr sz="800" lang="zh-TW" dirty="0">
                <a:solidFill>
                  <a:srgbClr val="000000"/>
                </a:solidFill>
                <a:latin typeface="Arial Unicode MS"/>
                <a:ea typeface="Arial Unicode MS"/>
                <a:cs typeface="Arial Unicode MS"/>
              </a:rPr>
              <a:t>；剩下的光繼續往前，走到四十公尺處的車，</a:t>
            </a:r>
            <a:r>
              <a:rPr sz="800" b="1" lang="zh-TW" dirty="0">
                <a:solidFill>
                  <a:srgbClr val="000000"/>
                </a:solidFill>
                <a:latin typeface="Arial Unicode MS"/>
                <a:ea typeface="Arial Unicode MS"/>
                <a:cs typeface="Arial Unicode MS"/>
              </a:rPr>
              <a:t>綠色的②才彈回來</a:t>
            </a:r>
            <a:r>
              <a:rPr sz="800" lang="zh-TW" dirty="0">
                <a:solidFill>
                  <a:srgbClr val="000000"/>
                </a:solidFill>
                <a:latin typeface="Arial Unicode MS"/>
                <a:ea typeface="Arial Unicode MS"/>
                <a:cs typeface="Arial Unicode MS"/>
              </a:rPr>
              <a:t>。下面那條是回波強度對距離，兩個峰的位置就是那兩個數字。
</a:t>
            </a:r>
          </a:p>
          <a:p>
            <a:pPr algn="l">
              <a:spcBef>
                <a:spcPts val="0"/>
              </a:spcBef>
              <a:spcAft>
                <a:spcPts val="133"/>
              </a:spcAft>
            </a:pPr>
            <a:r>
              <a:rPr sz="800" lang="zh-TW" dirty="0">
                <a:solidFill>
                  <a:srgbClr val="000000"/>
                </a:solidFill>
                <a:latin typeface="Arial Unicode MS"/>
                <a:ea typeface="Arial Unicode MS"/>
                <a:cs typeface="Arial Unicode MS"/>
              </a:rPr>
              <a:t>如果這顆光達只收</a:t>
            </a:r>
            <a:r>
              <a:rPr sz="800" b="1" lang="zh-TW" dirty="0">
                <a:solidFill>
                  <a:srgbClr val="000000"/>
                </a:solidFill>
                <a:latin typeface="Arial Unicode MS"/>
                <a:ea typeface="Arial Unicode MS"/>
                <a:cs typeface="Arial Unicode MS"/>
              </a:rPr>
              <a:t>第一次</a:t>
            </a:r>
            <a:r>
              <a:rPr sz="800" lang="zh-TW" dirty="0">
                <a:solidFill>
                  <a:srgbClr val="000000"/>
                </a:solidFill>
                <a:latin typeface="Arial Unicode MS"/>
                <a:ea typeface="Arial Unicode MS"/>
                <a:cs typeface="Arial Unicode MS"/>
              </a:rPr>
              <a:t>回波，它會怎麼判斷？它會說：前面八公尺有東西。可是那只是一片雨幕。動圖最後那一格就是在演這件事——四十公尺那台車被框起來寫「等於不存在」。
</a:t>
            </a:r>
          </a:p>
          <a:p>
            <a:pPr algn="l">
              <a:spcBef>
                <a:spcPts val="0"/>
              </a:spcBef>
              <a:spcAft>
                <a:spcPts val="133"/>
              </a:spcAft>
            </a:pPr>
            <a:r>
              <a:rPr sz="800" lang="zh-TW" dirty="0">
                <a:solidFill>
                  <a:srgbClr val="000000"/>
                </a:solidFill>
                <a:latin typeface="Arial Unicode MS"/>
                <a:ea typeface="Arial Unicode MS"/>
                <a:cs typeface="Arial Unicode MS"/>
              </a:rPr>
              <a:t>這就是第三週我們講下雪那一輪的時候，我說的那件事：</a:t>
            </a:r>
            <a:r>
              <a:rPr sz="800" b="1" lang="zh-TW" dirty="0">
                <a:solidFill>
                  <a:srgbClr val="000000"/>
                </a:solidFill>
                <a:latin typeface="Arial Unicode MS"/>
                <a:ea typeface="Arial Unicode MS"/>
                <a:cs typeface="Arial Unicode MS"/>
              </a:rPr>
              <a:t>飄在空中的雪花本身就會反射雷射</a:t>
            </a:r>
            <a:r>
              <a:rPr sz="800" lang="zh-TW" dirty="0">
                <a:solidFill>
                  <a:srgbClr val="000000"/>
                </a:solidFill>
                <a:latin typeface="Arial Unicode MS"/>
                <a:ea typeface="Arial Unicode MS"/>
                <a:cs typeface="Arial Unicode MS"/>
              </a:rPr>
              <a:t>，車子會看到一堆根本不存在的點。
</a:t>
            </a:r>
          </a:p>
          <a:p>
            <a:pPr algn="l">
              <a:spcBef>
                <a:spcPts val="0"/>
              </a:spcBef>
              <a:spcAft>
                <a:spcPts val="133"/>
              </a:spcAft>
            </a:pPr>
            <a:r>
              <a:rPr sz="800" lang="zh-TW" dirty="0">
                <a:solidFill>
                  <a:srgbClr val="000000"/>
                </a:solidFill>
                <a:latin typeface="Arial Unicode MS"/>
                <a:ea typeface="Arial Unicode MS"/>
                <a:cs typeface="Arial Unicode MS"/>
              </a:rPr>
              <a:t>處理的方法就是收</a:t>
            </a:r>
            <a:r>
              <a:rPr sz="800" b="1" lang="zh-TW" dirty="0">
                <a:solidFill>
                  <a:srgbClr val="000000"/>
                </a:solidFill>
                <a:latin typeface="Arial Unicode MS"/>
                <a:ea typeface="Arial Unicode MS"/>
                <a:cs typeface="Arial Unicode MS"/>
              </a:rPr>
              <a:t>多次回波</a:t>
            </a:r>
            <a:r>
              <a:rPr sz="80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33"/>
              </a:spcAft>
            </a:pPr>
            <a:r>
              <a:rPr sz="800" lang="zh-TW" dirty="0">
                <a:solidFill>
                  <a:srgbClr val="000000"/>
                </a:solidFill>
                <a:latin typeface="Arial Unicode MS"/>
                <a:ea typeface="Arial Unicode MS"/>
                <a:cs typeface="Arial Unicode MS"/>
              </a:rPr>
              <a:t>下面那一行叫 </a:t>
            </a:r>
            <a:r>
              <a:rPr sz="800" b="1" lang="zh-TW" dirty="0">
                <a:solidFill>
                  <a:srgbClr val="000000"/>
                </a:solidFill>
                <a:latin typeface="Arial Unicode MS"/>
                <a:ea typeface="Arial Unicode MS"/>
                <a:cs typeface="Arial Unicode MS"/>
              </a:rPr>
              <a:t>Return Order</a:t>
            </a:r>
            <a:r>
              <a:rPr sz="80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33"/>
              </a:spcAft>
            </a:pPr>
            <a:r>
              <a:rPr sz="800" lang="zh-TW" dirty="0">
                <a:solidFill>
                  <a:srgbClr val="000000"/>
                </a:solidFill>
                <a:latin typeface="Arial Unicode MS"/>
                <a:ea typeface="Arial Unicode MS"/>
                <a:cs typeface="Arial Unicode MS"/>
              </a:rPr>
              <a:t>所以「up to 2 returns」這一行，其實就是在回答：</a:t>
            </a:r>
            <a:r>
              <a:rPr sz="800" b="1" lang="zh-TW" dirty="0">
                <a:solidFill>
                  <a:srgbClr val="000000"/>
                </a:solidFill>
                <a:latin typeface="Arial Unicode MS"/>
                <a:ea typeface="Arial Unicode MS"/>
                <a:cs typeface="Arial Unicode MS"/>
              </a:rPr>
              <a:t>這顆光達在雨天和灰塵裡好不好用。</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先把三種狀況各演一次：光回不來、光回錯地方、光太亮。下一張才講怎麼處理。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動圖循環播三格，上面那排①②③會跟著亮。每一格停一下，問他們「這一格點雲上看到什麼」。①②要強調是同一面玻璃。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剛剛那一行「最多兩次回波」，我說是為了雨和灰塵。其實它最常救的，是另一種東西——</a:t>
            </a:r>
            <a:r>
              <a:rPr sz="900" b="1" lang="zh-TW" dirty="0">
                <a:solidFill>
                  <a:srgbClr val="000000"/>
                </a:solidFill>
                <a:latin typeface="Arial Unicode MS"/>
                <a:ea typeface="Arial Unicode MS"/>
                <a:cs typeface="Arial Unicode MS"/>
              </a:rPr>
              <a:t>鏡面</a:t>
            </a:r>
            <a:r>
              <a:rPr sz="900" lang="zh-TW" dirty="0">
                <a:solidFill>
                  <a:srgbClr val="000000"/>
                </a:solidFill>
                <a:latin typeface="Arial Unicode MS"/>
                <a:ea typeface="Arial Unicode MS"/>
                <a:cs typeface="Arial Unicode MS"/>
              </a:rPr>
              <a:t>。光達的前提很簡單：打出去的光，會從對面</a:t>
            </a:r>
            <a:r>
              <a:rPr sz="900" b="1" lang="zh-TW" dirty="0">
                <a:solidFill>
                  <a:srgbClr val="000000"/>
                </a:solidFill>
                <a:latin typeface="Arial Unicode MS"/>
                <a:ea typeface="Arial Unicode MS"/>
                <a:cs typeface="Arial Unicode MS"/>
              </a:rPr>
              <a:t>散一點</a:t>
            </a:r>
            <a:r>
              <a:rPr sz="900" lang="zh-TW" dirty="0">
                <a:solidFill>
                  <a:srgbClr val="000000"/>
                </a:solidFill>
                <a:latin typeface="Arial Unicode MS"/>
                <a:ea typeface="Arial Unicode MS"/>
                <a:cs typeface="Arial Unicode MS"/>
              </a:rPr>
              <a:t>回來。上一節講的 80% 和 10%，都是在講「散回來多少」。等一下那張表上三列的共同點，就是</a:t>
            </a:r>
            <a:r>
              <a:rPr sz="900" b="1" lang="zh-TW" dirty="0">
                <a:solidFill>
                  <a:srgbClr val="000000"/>
                </a:solidFill>
                <a:latin typeface="Arial Unicode MS"/>
                <a:ea typeface="Arial Unicode MS"/>
                <a:cs typeface="Arial Unicode MS"/>
              </a:rPr>
              <a:t>這個前提不成立</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左邊這張動圖會循環播三格，上面那排①②③會跟著亮，等一下那張表就是這三列。
</a:t>
            </a:r>
          </a:p>
          <a:p>
            <a:pPr algn="l">
              <a:spcBef>
                <a:spcPts val="0"/>
              </a:spcBef>
              <a:spcAft>
                <a:spcPts val="150"/>
              </a:spcAft>
            </a:pPr>
            <a:r>
              <a:rPr sz="900" b="1" lang="zh-TW" dirty="0">
                <a:solidFill>
                  <a:srgbClr val="000000"/>
                </a:solidFill>
                <a:latin typeface="Arial Unicode MS"/>
                <a:ea typeface="Arial Unicode MS"/>
                <a:cs typeface="Arial Unicode MS"/>
              </a:rPr>
              <a:t>①整束彈走。</a:t>
            </a:r>
            <a:r>
              <a:rPr sz="900" lang="zh-TW" dirty="0">
                <a:solidFill>
                  <a:srgbClr val="000000"/>
                </a:solidFill>
                <a:latin typeface="Arial Unicode MS"/>
                <a:ea typeface="Arial Unicode MS"/>
                <a:cs typeface="Arial Unicode MS"/>
              </a:rPr>
              <a:t>雷射斜斜打到玻璃帷幕，整束往下彈走，什麼都收不到。各位看牆上——水泥那兩段都有黃點，中間玻璃那一段</a:t>
            </a:r>
            <a:r>
              <a:rPr sz="900" b="1" lang="zh-TW" dirty="0">
                <a:solidFill>
                  <a:srgbClr val="000000"/>
                </a:solidFill>
                <a:latin typeface="Arial Unicode MS"/>
                <a:ea typeface="Arial Unicode MS"/>
                <a:cs typeface="Arial Unicode MS"/>
              </a:rPr>
              <a:t>一個點都沒有</a:t>
            </a:r>
            <a:r>
              <a:rPr sz="900" lang="zh-TW" dirty="0">
                <a:solidFill>
                  <a:srgbClr val="000000"/>
                </a:solidFill>
                <a:latin typeface="Arial Unicode MS"/>
                <a:ea typeface="Arial Unicode MS"/>
                <a:cs typeface="Arial Unicode MS"/>
              </a:rPr>
              <a:t>。</a:t>
            </a:r>
            <a:r>
              <a:rPr sz="900" b="1" lang="zh-TW" dirty="0">
                <a:solidFill>
                  <a:srgbClr val="000000"/>
                </a:solidFill>
                <a:latin typeface="Arial Unicode MS"/>
                <a:ea typeface="Arial Unicode MS"/>
                <a:cs typeface="Arial Unicode MS"/>
              </a:rPr>
              <a:t>對車子來說，洞就等於「那裡是空的」</a:t>
            </a:r>
            <a:r>
              <a:rPr sz="900" lang="zh-TW" dirty="0">
                <a:solidFill>
                  <a:srgbClr val="000000"/>
                </a:solidFill>
                <a:latin typeface="Arial Unicode MS"/>
                <a:ea typeface="Arial Unicode MS"/>
                <a:cs typeface="Arial Unicode MS"/>
              </a:rPr>
              <a:t>，規劃路徑的時候可能把它當成可以走的空間。
</a:t>
            </a:r>
          </a:p>
          <a:p>
            <a:pPr algn="l">
              <a:spcBef>
                <a:spcPts val="0"/>
              </a:spcBef>
              <a:spcAft>
                <a:spcPts val="150"/>
              </a:spcAft>
            </a:pPr>
            <a:r>
              <a:rPr sz="900" lang="zh-TW" dirty="0">
                <a:solidFill>
                  <a:srgbClr val="000000"/>
                </a:solidFill>
                <a:latin typeface="Arial Unicode MS"/>
                <a:ea typeface="Arial Unicode MS"/>
                <a:cs typeface="Arial Unicode MS"/>
              </a:rPr>
              <a:t>這裡特別想一件事：</a:t>
            </a:r>
            <a:r>
              <a:rPr sz="900" b="1" lang="zh-TW" dirty="0">
                <a:solidFill>
                  <a:srgbClr val="000000"/>
                </a:solidFill>
                <a:latin typeface="Arial Unicode MS"/>
                <a:ea typeface="Arial Unicode MS"/>
                <a:cs typeface="Arial Unicode MS"/>
              </a:rPr>
              <a:t>下雨的晚上，路面是什麼？</a:t>
            </a:r>
            <a:r>
              <a:rPr sz="900" lang="zh-TW" dirty="0">
                <a:solidFill>
                  <a:srgbClr val="000000"/>
                </a:solidFill>
                <a:latin typeface="Arial Unicode MS"/>
                <a:ea typeface="Arial Unicode MS"/>
                <a:cs typeface="Arial Unicode MS"/>
              </a:rPr>
              <a:t>水膜把粗糙的柏油變成一面鏡子，所以雨夜的路面在點雲上常常是破的，連車道邊界都量不到。這不是感測器壞了，是物理。</a:t>
            </a:r>
            <a:r>
              <a:rPr sz="900" b="1" lang="zh-TW" dirty="0">
                <a:solidFill>
                  <a:srgbClr val="000000"/>
                </a:solidFill>
                <a:latin typeface="Arial Unicode MS"/>
                <a:ea typeface="Arial Unicode MS"/>
                <a:cs typeface="Arial Unicode MS"/>
              </a:rPr>
              <a:t>邊界量不到，循跡就只能靠相機</a:t>
            </a:r>
            <a:r>
              <a:rPr sz="900" lang="zh-TW" dirty="0">
                <a:solidFill>
                  <a:srgbClr val="000000"/>
                </a:solidFill>
                <a:latin typeface="Arial Unicode MS"/>
                <a:ea typeface="Arial Unicode MS"/>
                <a:cs typeface="Arial Unicode MS"/>
              </a:rPr>
              <a:t>——可是雨夜正好也是相機最弱的時候。
</a:t>
            </a:r>
          </a:p>
          <a:p>
            <a:pPr algn="l">
              <a:spcBef>
                <a:spcPts val="0"/>
              </a:spcBef>
              <a:spcAft>
                <a:spcPts val="150"/>
              </a:spcAft>
            </a:pPr>
            <a:r>
              <a:rPr sz="900" b="1" lang="zh-TW" dirty="0">
                <a:solidFill>
                  <a:srgbClr val="000000"/>
                </a:solidFill>
                <a:latin typeface="Arial Unicode MS"/>
                <a:ea typeface="Arial Unicode MS"/>
                <a:cs typeface="Arial Unicode MS"/>
              </a:rPr>
              <a:t>②彈到旁邊。</a:t>
            </a:r>
            <a:r>
              <a:rPr sz="900" lang="zh-TW" dirty="0">
                <a:solidFill>
                  <a:srgbClr val="000000"/>
                </a:solidFill>
                <a:latin typeface="Arial Unicode MS"/>
                <a:ea typeface="Arial Unicode MS"/>
                <a:cs typeface="Arial Unicode MS"/>
              </a:rPr>
              <a:t>同一面玻璃、同一個角度，只是這次彈過去的方向剛好停著一台真的車。光打到它，再原路回來。光達只知道</a:t>
            </a:r>
            <a:r>
              <a:rPr sz="900" b="1" lang="zh-TW" dirty="0">
                <a:solidFill>
                  <a:srgbClr val="000000"/>
                </a:solidFill>
                <a:latin typeface="Arial Unicode MS"/>
                <a:ea typeface="Arial Unicode MS"/>
                <a:cs typeface="Arial Unicode MS"/>
              </a:rPr>
              <a:t>來回飛了多久</a:t>
            </a:r>
            <a:r>
              <a:rPr sz="900" lang="zh-TW" dirty="0">
                <a:solidFill>
                  <a:srgbClr val="000000"/>
                </a:solidFill>
                <a:latin typeface="Arial Unicode MS"/>
                <a:ea typeface="Arial Unicode MS"/>
                <a:cs typeface="Arial Unicode MS"/>
              </a:rPr>
              <a:t>，於是把那台車標在玻璃</a:t>
            </a:r>
            <a:r>
              <a:rPr sz="900" b="1" lang="zh-TW" dirty="0">
                <a:solidFill>
                  <a:srgbClr val="000000"/>
                </a:solidFill>
                <a:latin typeface="Arial Unicode MS"/>
                <a:ea typeface="Arial Unicode MS"/>
                <a:cs typeface="Arial Unicode MS"/>
              </a:rPr>
              <a:t>後面</a:t>
            </a:r>
            <a:r>
              <a:rPr sz="900" lang="zh-TW" dirty="0">
                <a:solidFill>
                  <a:srgbClr val="000000"/>
                </a:solidFill>
                <a:latin typeface="Arial Unicode MS"/>
                <a:ea typeface="Arial Unicode MS"/>
                <a:cs typeface="Arial Unicode MS"/>
              </a:rPr>
              <a:t>——動圖上那個紅色虛線框，那裡其實什麼都沒有，這叫</a:t>
            </a:r>
            <a:r>
              <a:rPr sz="900" b="1" lang="zh-TW" dirty="0">
                <a:solidFill>
                  <a:srgbClr val="000000"/>
                </a:solidFill>
                <a:latin typeface="Arial Unicode MS"/>
                <a:ea typeface="Arial Unicode MS"/>
                <a:cs typeface="Arial Unicode MS"/>
              </a:rPr>
              <a:t>鬼點</a:t>
            </a:r>
            <a:r>
              <a:rPr sz="9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50"/>
              </a:spcAft>
            </a:pPr>
            <a:r>
              <a:rPr sz="900" b="1" lang="zh-TW" dirty="0">
                <a:solidFill>
                  <a:srgbClr val="000000"/>
                </a:solidFill>
                <a:latin typeface="Arial Unicode MS"/>
                <a:ea typeface="Arial Unicode MS"/>
                <a:cs typeface="Arial Unicode MS"/>
              </a:rPr>
              <a:t>③回歸反射。</a:t>
            </a:r>
            <a:r>
              <a:rPr sz="900" lang="zh-TW" dirty="0">
                <a:solidFill>
                  <a:srgbClr val="000000"/>
                </a:solidFill>
                <a:latin typeface="Arial Unicode MS"/>
                <a:ea typeface="Arial Unicode MS"/>
                <a:cs typeface="Arial Unicode MS"/>
              </a:rPr>
              <a:t>這一種各位上一節聽過，而且它</a:t>
            </a:r>
            <a:r>
              <a:rPr sz="900" b="1" lang="zh-TW" dirty="0">
                <a:solidFill>
                  <a:srgbClr val="000000"/>
                </a:solidFill>
                <a:latin typeface="Arial Unicode MS"/>
                <a:ea typeface="Arial Unicode MS"/>
                <a:cs typeface="Arial Unicode MS"/>
              </a:rPr>
              <a:t>根本不是鏡面</a:t>
            </a:r>
            <a:r>
              <a:rPr sz="900" lang="zh-TW" dirty="0">
                <a:solidFill>
                  <a:srgbClr val="000000"/>
                </a:solidFill>
                <a:latin typeface="Arial Unicode MS"/>
                <a:ea typeface="Arial Unicode MS"/>
                <a:cs typeface="Arial Unicode MS"/>
              </a:rPr>
              <a:t>——鏡面守「入射角等於反射角」，回歸反射不守，不管從哪個角度打都原路送回去。反光背心和路牌把光全部送回來，亮到爆表，在點雲上糊成一團光暈。</a:t>
            </a:r>
            <a:r>
              <a:rPr sz="900" b="1" lang="zh-TW" dirty="0">
                <a:solidFill>
                  <a:srgbClr val="000000"/>
                </a:solidFill>
                <a:latin typeface="Arial Unicode MS"/>
                <a:ea typeface="Arial Unicode MS"/>
                <a:cs typeface="Arial Unicode MS"/>
              </a:rPr>
              <a:t>對車子來說那是一個形狀不明的東西</a:t>
            </a:r>
            <a:r>
              <a:rPr sz="900" lang="zh-TW" dirty="0">
                <a:solidFill>
                  <a:srgbClr val="000000"/>
                </a:solidFill>
                <a:latin typeface="Arial Unicode MS"/>
                <a:ea typeface="Arial Unicode MS"/>
                <a:cs typeface="Arial Unicode MS"/>
              </a:rPr>
              <a:t>——穿反光背心的交管人員可能糊成一塊亮斑，演算法認不出那是人。所以上一節我才把反光背心從 80% 那一格拿掉。
</a:t>
            </a:r>
          </a:p>
          <a:p>
            <a:pPr algn="l">
              <a:spcBef>
                <a:spcPts val="0"/>
              </a:spcBef>
              <a:spcAft>
                <a:spcPts val="150"/>
              </a:spcAft>
            </a:pPr>
            <a:r>
              <a:rPr sz="900" lang="zh-TW" dirty="0">
                <a:solidFill>
                  <a:srgbClr val="000000"/>
                </a:solidFill>
                <a:latin typeface="Arial Unicode MS"/>
                <a:ea typeface="Arial Unicode MS"/>
                <a:cs typeface="Arial Unicode MS"/>
              </a:rPr>
              <a:t>三種看完了，翻下一張：這三種各自怎麼處理。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三種狀況上一張演過了，這一張只看最右邊那一欄：目前各自怎麼處理。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從最右邊那一欄開始講，不要再重講左邊兩欄。四層要在白板上編號一到四，學生要數得出來，而且每一層對應到表上哪一列也要說清楚。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三種狀況上一張演過了。這一張的左邊兩欄就是剛剛那三格，各位對一下：第一列是整束彈走，第二列是彈到旁邊長出鬼點，第三列是回歸反射糊成光暈。
</a:t>
            </a:r>
          </a:p>
          <a:p>
            <a:pPr algn="l">
              <a:spcBef>
                <a:spcPts val="0"/>
              </a:spcBef>
              <a:spcAft>
                <a:spcPts val="150"/>
              </a:spcAft>
            </a:pPr>
            <a:r>
              <a:rPr sz="900" b="1" lang="zh-TW" dirty="0">
                <a:solidFill>
                  <a:srgbClr val="000000"/>
                </a:solidFill>
                <a:latin typeface="Arial Unicode MS"/>
                <a:ea typeface="Arial Unicode MS"/>
                <a:cs typeface="Arial Unicode MS"/>
              </a:rPr>
              <a:t>今天真正要讀的是最右邊那一欄。</a:t>
            </a:r>
            <a:r>
              <a:rPr sz="900" b="1" lang="zh-TW" dirty="0">
                <a:solidFill>
                  <a:srgbClr val="000000"/>
                </a:solidFill>
                <a:latin typeface="Arial Unicode MS"/>
                <a:ea typeface="Arial Unicode MS"/>
                <a:cs typeface="Arial Unicode MS"/>
              </a:rPr>
              <a:t>沒有一招擋得住全部，而且每一招救的是不同的那一種。</a:t>
            </a:r>
            <a:r>
              <a:rPr sz="900" lang="zh-TW" dirty="0">
                <a:solidFill>
                  <a:srgbClr val="000000"/>
                </a:solidFill>
                <a:latin typeface="Arial Unicode MS"/>
                <a:ea typeface="Arial Unicode MS"/>
                <a:cs typeface="Arial Unicode MS"/>
              </a:rPr>
              <a:t>四層，各位數一下，順便對照表上同一列。
</a:t>
            </a:r>
          </a:p>
          <a:p>
            <a:pPr algn="l">
              <a:spcBef>
                <a:spcPts val="0"/>
              </a:spcBef>
              <a:spcAft>
                <a:spcPts val="150"/>
              </a:spcAft>
            </a:pPr>
            <a:r>
              <a:rPr sz="900" b="1" lang="zh-TW" dirty="0">
                <a:solidFill>
                  <a:srgbClr val="000000"/>
                </a:solidFill>
                <a:latin typeface="Arial Unicode MS"/>
                <a:ea typeface="Arial Unicode MS"/>
                <a:cs typeface="Arial Unicode MS"/>
              </a:rPr>
              <a:t>第一層，多次回波。</a:t>
            </a:r>
            <a:r>
              <a:rPr sz="900" lang="zh-TW" dirty="0">
                <a:solidFill>
                  <a:srgbClr val="000000"/>
                </a:solidFill>
                <a:latin typeface="Arial Unicode MS"/>
                <a:ea typeface="Arial Unicode MS"/>
                <a:cs typeface="Arial Unicode MS"/>
              </a:rPr>
              <a:t>救的是</a:t>
            </a:r>
            <a:r>
              <a:rPr sz="900" b="1" lang="zh-TW" dirty="0">
                <a:solidFill>
                  <a:srgbClr val="000000"/>
                </a:solidFill>
                <a:latin typeface="Arial Unicode MS"/>
                <a:ea typeface="Arial Unicode MS"/>
                <a:cs typeface="Arial Unicode MS"/>
              </a:rPr>
              <a:t>第二種，鬼點</a:t>
            </a:r>
            <a:r>
              <a:rPr sz="900" lang="zh-TW" dirty="0">
                <a:solidFill>
                  <a:srgbClr val="000000"/>
                </a:solidFill>
                <a:latin typeface="Arial Unicode MS"/>
                <a:ea typeface="Arial Unicode MS"/>
                <a:cs typeface="Arial Unicode MS"/>
              </a:rPr>
              <a:t>：玻璃本身回來一點點，被彈到旁邊再回來的是另一個，兩個都收下來，再比對前後幾張，不會穩定移動的就是鬼點。注意，</a:t>
            </a:r>
            <a:r>
              <a:rPr sz="900" b="1" lang="zh-TW" dirty="0">
                <a:solidFill>
                  <a:srgbClr val="000000"/>
                </a:solidFill>
                <a:latin typeface="Arial Unicode MS"/>
                <a:ea typeface="Arial Unicode MS"/>
                <a:cs typeface="Arial Unicode MS"/>
              </a:rPr>
              <a:t>多次回波對第一種沒有用</a:t>
            </a:r>
            <a:r>
              <a:rPr sz="900" lang="zh-TW" dirty="0">
                <a:solidFill>
                  <a:srgbClr val="000000"/>
                </a:solidFill>
                <a:latin typeface="Arial Unicode MS"/>
                <a:ea typeface="Arial Unicode MS"/>
                <a:cs typeface="Arial Unicode MS"/>
              </a:rPr>
              <a:t>——那一種根本沒有光回來，要收什麼？
</a:t>
            </a:r>
          </a:p>
          <a:p>
            <a:pPr algn="l">
              <a:spcBef>
                <a:spcPts val="0"/>
              </a:spcBef>
              <a:spcAft>
                <a:spcPts val="150"/>
              </a:spcAft>
            </a:pPr>
            <a:r>
              <a:rPr sz="900" b="1" lang="zh-TW" dirty="0">
                <a:solidFill>
                  <a:srgbClr val="000000"/>
                </a:solidFill>
                <a:latin typeface="Arial Unicode MS"/>
                <a:ea typeface="Arial Unicode MS"/>
                <a:cs typeface="Arial Unicode MS"/>
              </a:rPr>
              <a:t>第二層，看反射強度。</a:t>
            </a:r>
            <a:r>
              <a:rPr sz="900" lang="zh-TW" dirty="0">
                <a:solidFill>
                  <a:srgbClr val="000000"/>
                </a:solidFill>
                <a:latin typeface="Arial Unicode MS"/>
                <a:ea typeface="Arial Unicode MS"/>
                <a:cs typeface="Arial Unicode MS"/>
              </a:rPr>
              <a:t>它救的是</a:t>
            </a:r>
            <a:r>
              <a:rPr sz="900" b="1" lang="zh-TW" dirty="0">
                <a:solidFill>
                  <a:srgbClr val="000000"/>
                </a:solidFill>
                <a:latin typeface="Arial Unicode MS"/>
                <a:ea typeface="Arial Unicode MS"/>
                <a:cs typeface="Arial Unicode MS"/>
              </a:rPr>
              <a:t>第三種，回歸反射</a:t>
            </a:r>
            <a:r>
              <a:rPr sz="9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150"/>
              </a:spcAft>
            </a:pPr>
            <a:r>
              <a:rPr sz="900" b="1" lang="zh-TW" dirty="0">
                <a:solidFill>
                  <a:srgbClr val="000000"/>
                </a:solidFill>
                <a:latin typeface="Arial Unicode MS"/>
                <a:ea typeface="Arial Unicode MS"/>
                <a:cs typeface="Arial Unicode MS"/>
              </a:rPr>
              <a:t>第三層，高精地圖。</a:t>
            </a:r>
            <a:r>
              <a:rPr sz="900" lang="zh-TW" dirty="0">
                <a:solidFill>
                  <a:srgbClr val="000000"/>
                </a:solidFill>
                <a:latin typeface="Arial Unicode MS"/>
                <a:ea typeface="Arial Unicode MS"/>
                <a:cs typeface="Arial Unicode MS"/>
              </a:rPr>
              <a:t>哪裡有玻璃帷幕、哪個路口容易積水，事先標成風險區，開到那裡就把光達的權重調低。這一層</a:t>
            </a:r>
            <a:r>
              <a:rPr sz="900" b="1" lang="zh-TW" dirty="0">
                <a:solidFill>
                  <a:srgbClr val="000000"/>
                </a:solidFill>
                <a:latin typeface="Arial Unicode MS"/>
                <a:ea typeface="Arial Unicode MS"/>
                <a:cs typeface="Arial Unicode MS"/>
              </a:rPr>
              <a:t>三種都幫得上</a:t>
            </a:r>
            <a:r>
              <a:rPr sz="900" lang="zh-TW" dirty="0">
                <a:solidFill>
                  <a:srgbClr val="000000"/>
                </a:solidFill>
                <a:latin typeface="Arial Unicode MS"/>
                <a:ea typeface="Arial Unicode MS"/>
                <a:cs typeface="Arial Unicode MS"/>
              </a:rPr>
              <a:t>，因為它做的是「事先知道這裡危險」。
</a:t>
            </a:r>
          </a:p>
          <a:p>
            <a:pPr algn="l">
              <a:spcBef>
                <a:spcPts val="0"/>
              </a:spcBef>
              <a:spcAft>
                <a:spcPts val="150"/>
              </a:spcAft>
            </a:pPr>
            <a:r>
              <a:rPr sz="900" b="1" lang="zh-TW" dirty="0">
                <a:solidFill>
                  <a:srgbClr val="000000"/>
                </a:solidFill>
                <a:latin typeface="Arial Unicode MS"/>
                <a:ea typeface="Arial Unicode MS"/>
                <a:cs typeface="Arial Unicode MS"/>
              </a:rPr>
              <a:t>第四層，也是最重要的——雷達。</a:t>
            </a:r>
            <a:r>
              <a:rPr sz="900" lang="zh-TW" dirty="0">
                <a:solidFill>
                  <a:srgbClr val="000000"/>
                </a:solidFill>
                <a:latin typeface="Arial Unicode MS"/>
                <a:ea typeface="Arial Unicode MS"/>
                <a:cs typeface="Arial Unicode MS"/>
              </a:rPr>
              <a:t>它救的正是</a:t>
            </a:r>
            <a:r>
              <a:rPr sz="900" b="1" lang="zh-TW" dirty="0">
                <a:solidFill>
                  <a:srgbClr val="000000"/>
                </a:solidFill>
                <a:latin typeface="Arial Unicode MS"/>
                <a:ea typeface="Arial Unicode MS"/>
                <a:cs typeface="Arial Unicode MS"/>
              </a:rPr>
              <a:t>第一種：什麼都收不到</a:t>
            </a:r>
            <a:r>
              <a:rPr sz="9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150"/>
              </a:spcAft>
            </a:pPr>
            <a:r>
              <a:rPr sz="900" lang="zh-TW" dirty="0">
                <a:solidFill>
                  <a:srgbClr val="000000"/>
                </a:solidFill>
                <a:latin typeface="Arial Unicode MS"/>
                <a:ea typeface="Arial Unicode MS"/>
                <a:cs typeface="Arial Unicode MS"/>
              </a:rPr>
              <a:t>所以這張的結論，其實就是下一段要講的事：</a:t>
            </a:r>
            <a:r>
              <a:rPr sz="9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那一欄的九。第一節說過本課的門檻是</a:t>
            </a:r>
            <a:r>
              <a:rPr sz="800" b="1" lang="zh-TW" dirty="0">
                <a:solidFill>
                  <a:srgbClr val="000000"/>
                </a:solidFill>
                <a:latin typeface="Arial Unicode MS"/>
                <a:ea typeface="Arial Unicode MS"/>
                <a:cs typeface="Arial Unicode MS"/>
              </a:rPr>
              <a:t>十個點</a:t>
            </a:r>
            <a:r>
              <a:rPr sz="800" lang="zh-TW" dirty="0">
                <a:solidFill>
                  <a:srgbClr val="000000"/>
                </a:solidFill>
                <a:latin typeface="Arial Unicode MS"/>
                <a:ea typeface="Arial Unicode MS"/>
                <a:cs typeface="Arial Unicode MS"/>
              </a:rPr>
              <a:t>，所以九個點是差一個不及格。各位看那九個點的分布，就知道為什麼光靠它認不出那是一台機車。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標定：告訴車子每一隻眼睛裝在哪、朝哪看。內參外參是一條鏈不是兩件並排的事，外參是對車身不是對另一顆。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三格不是三件並列的事：①②是兩個有先後的問題（這個位置是哪個方向／相機自己朝哪），③是②沒做好的後果，要講清楚。中間切出去播兩支短片（內參 19 秒、外參 14 秒），網址在口白裡，先開好分頁。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現在講一件規格表上常常找不到、可是出事的時候最要命的事：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。先講問題。車上有相機，也有光達。相機說：前面有一個人。光達說：前面三十公尺，有一團東西。車子要把這兩句話變成一句——</a:t>
            </a:r>
            <a:r>
              <a:rPr sz="800" b="1" lang="zh-TW" dirty="0">
                <a:solidFill>
                  <a:srgbClr val="000000"/>
                </a:solidFill>
                <a:latin typeface="Arial Unicode MS"/>
                <a:ea typeface="Arial Unicode MS"/>
                <a:cs typeface="Arial Unicode MS"/>
              </a:rPr>
              <a:t>那個人在三十公尺外</a:t>
            </a:r>
            <a:r>
              <a:rPr sz="800" lang="zh-TW" dirty="0">
                <a:solidFill>
                  <a:srgbClr val="000000"/>
                </a:solidFill>
                <a:latin typeface="Arial Unicode MS"/>
                <a:ea typeface="Arial Unicode MS"/>
                <a:cs typeface="Arial Unicode MS"/>
              </a:rPr>
              <a:t>。它憑什麼知道那是同一個人？因為它</a:t>
            </a:r>
            <a:r>
              <a:rPr sz="800" b="1" lang="zh-TW" dirty="0">
                <a:solidFill>
                  <a:srgbClr val="000000"/>
                </a:solidFill>
                <a:latin typeface="Arial Unicode MS"/>
                <a:ea typeface="Arial Unicode MS"/>
                <a:cs typeface="Arial Unicode MS"/>
              </a:rPr>
              <a:t>事先量好了這兩隻眼睛各自裝在哪、朝哪看</a:t>
            </a:r>
            <a:r>
              <a:rPr sz="800" lang="zh-TW" dirty="0">
                <a:solidFill>
                  <a:srgbClr val="000000"/>
                </a:solidFill>
                <a:latin typeface="Arial Unicode MS"/>
                <a:ea typeface="Arial Unicode MS"/>
                <a:cs typeface="Arial Unicode MS"/>
              </a:rPr>
              <a:t>。這就是標定。
</a:t>
            </a:r>
          </a:p>
          <a:p>
            <a:pPr algn="l">
              <a:spcBef>
                <a:spcPts val="0"/>
              </a:spcBef>
              <a:spcAft>
                <a:spcPts val="133"/>
              </a:spcAft>
            </a:pPr>
            <a:r>
              <a:rPr sz="800" lang="zh-TW" dirty="0">
                <a:solidFill>
                  <a:srgbClr val="000000"/>
                </a:solidFill>
                <a:latin typeface="Arial Unicode MS"/>
                <a:ea typeface="Arial Unicode MS"/>
                <a:cs typeface="Arial Unicode MS"/>
              </a:rPr>
              <a:t>它分兩種，而且</a:t>
            </a:r>
            <a:r>
              <a:rPr sz="800" b="1" lang="zh-TW" dirty="0">
                <a:solidFill>
                  <a:srgbClr val="000000"/>
                </a:solidFill>
                <a:latin typeface="Arial Unicode MS"/>
                <a:ea typeface="Arial Unicode MS"/>
                <a:cs typeface="Arial Unicode MS"/>
              </a:rPr>
              <a:t>有先後</a:t>
            </a:r>
            <a:r>
              <a:rPr sz="800" lang="zh-TW" dirty="0">
                <a:solidFill>
                  <a:srgbClr val="000000"/>
                </a:solidFill>
                <a:latin typeface="Arial Unicode MS"/>
                <a:ea typeface="Arial Unicode MS"/>
                <a:cs typeface="Arial Unicode MS"/>
              </a:rPr>
              <a:t>。相機拍到一個人，在畫面的右邊。車子要問兩個問題。</a:t>
            </a:r>
            <a:r>
              <a:rPr sz="800" b="1" lang="zh-TW" dirty="0">
                <a:solidFill>
                  <a:srgbClr val="000000"/>
                </a:solidFill>
                <a:latin typeface="Arial Unicode MS"/>
                <a:ea typeface="Arial Unicode MS"/>
                <a:cs typeface="Arial Unicode MS"/>
              </a:rPr>
              <a:t>第一個問題——畫面上這個位置，是相機前面的哪一個方向？</a:t>
            </a:r>
            <a:r>
              <a:rPr sz="800" lang="zh-TW" dirty="0">
                <a:solidFill>
                  <a:srgbClr val="000000"/>
                </a:solidFill>
                <a:latin typeface="Arial Unicode MS"/>
                <a:ea typeface="Arial Unicode MS"/>
                <a:cs typeface="Arial Unicode MS"/>
              </a:rPr>
              <a:t>答這一題，靠</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a:t>
            </a:r>
            <a:r>
              <a:rPr sz="800" b="1" lang="zh-TW" dirty="0">
                <a:solidFill>
                  <a:srgbClr val="000000"/>
                </a:solidFill>
                <a:latin typeface="Arial Unicode MS"/>
                <a:ea typeface="Arial Unicode MS"/>
                <a:cs typeface="Arial Unicode MS"/>
              </a:rPr>
              <a:t>第二個問題——那相機自己，又是朝哪個方向裝上去的？</a:t>
            </a:r>
            <a:r>
              <a:rPr sz="800" lang="zh-TW" dirty="0">
                <a:solidFill>
                  <a:srgbClr val="000000"/>
                </a:solidFill>
                <a:latin typeface="Arial Unicode MS"/>
                <a:ea typeface="Arial Unicode MS"/>
                <a:cs typeface="Arial Unicode MS"/>
              </a:rPr>
              <a:t>答這一題，靠</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。兩題都答出來，才知道那個人在</a:t>
            </a:r>
            <a:r>
              <a:rPr sz="800" b="1" lang="zh-TW" dirty="0">
                <a:solidFill>
                  <a:srgbClr val="000000"/>
                </a:solidFill>
                <a:latin typeface="Arial Unicode MS"/>
                <a:ea typeface="Arial Unicode MS"/>
                <a:cs typeface="Arial Unicode MS"/>
              </a:rPr>
              <a:t>車子</a:t>
            </a:r>
            <a:r>
              <a:rPr sz="800" lang="zh-TW" dirty="0">
                <a:solidFill>
                  <a:srgbClr val="000000"/>
                </a:solidFill>
                <a:latin typeface="Arial Unicode MS"/>
                <a:ea typeface="Arial Unicode MS"/>
                <a:cs typeface="Arial Unicode MS"/>
              </a:rPr>
              <a:t>的哪個方向。順序不能換：</a:t>
            </a:r>
            <a:r>
              <a:rPr sz="800" b="1" lang="zh-TW" dirty="0">
                <a:solidFill>
                  <a:srgbClr val="000000"/>
                </a:solidFill>
                <a:latin typeface="Arial Unicode MS"/>
                <a:ea typeface="Arial Unicode MS"/>
                <a:cs typeface="Arial Unicode MS"/>
              </a:rPr>
              <a:t>第一題答錯，第二題一定跟著錯。</a:t>
            </a:r>
            <a:r>
              <a:rPr sz="800" lang="zh-TW" dirty="0">
                <a:solidFill>
                  <a:srgbClr val="000000"/>
                </a:solidFill>
                <a:latin typeface="Arial Unicode MS"/>
                <a:ea typeface="Arial Unicode MS"/>
                <a:cs typeface="Arial Unicode MS"/>
              </a:rPr>
              <a:t>因為量外參的時候，用的就是相機拍的畫面。畫面本身是歪的，量出來的角度就跟著歪。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
</a:t>
            </a:r>
          </a:p>
          <a:p>
            <a:pPr algn="l">
              <a:spcBef>
                <a:spcPts val="0"/>
              </a:spcBef>
              <a:spcAft>
                <a:spcPts val="133"/>
              </a:spcAft>
            </a:pPr>
            <a:r>
              <a:rPr sz="800" lang="zh-TW" dirty="0">
                <a:solidFill>
                  <a:srgbClr val="000000"/>
                </a:solidFill>
                <a:latin typeface="Arial Unicode MS"/>
                <a:ea typeface="Arial Unicode MS"/>
                <a:cs typeface="Arial Unicode MS"/>
              </a:rPr>
              <a:t>我放十九秒給各位看。</a:t>
            </a:r>
            <a:r>
              <a:rPr sz="800" b="1" lang="zh-TW" dirty="0">
                <a:solidFill>
                  <a:srgbClr val="000000"/>
                </a:solidFill>
                <a:latin typeface="Arial Unicode MS"/>
                <a:ea typeface="Arial Unicode MS"/>
                <a:cs typeface="Arial Unicode MS"/>
              </a:rPr>
              <a:t>（切出去播 youtu.be/J7hdrMn2RII）</a:t>
            </a:r>
            <a:r>
              <a:rPr sz="800" lang="zh-TW" dirty="0">
                <a:solidFill>
                  <a:srgbClr val="000000"/>
                </a:solidFill>
                <a:latin typeface="Arial Unicode MS"/>
                <a:ea typeface="Arial Unicode MS"/>
                <a:cs typeface="Arial Unicode MS"/>
              </a:rPr>
              <a:t>畫面上疊了一層格子線——各位看那些格子，</a:t>
            </a:r>
            <a:r>
              <a:rPr sz="800" b="1" lang="zh-TW" dirty="0">
                <a:solidFill>
                  <a:srgbClr val="000000"/>
                </a:solidFill>
                <a:latin typeface="Arial Unicode MS"/>
                <a:ea typeface="Arial Unicode MS"/>
                <a:cs typeface="Arial Unicode MS"/>
              </a:rPr>
              <a:t>本來應該是直的，現在是彎的</a:t>
            </a:r>
            <a:r>
              <a:rPr sz="800" lang="zh-TW" dirty="0">
                <a:solidFill>
                  <a:srgbClr val="000000"/>
                </a:solidFill>
                <a:latin typeface="Arial Unicode MS"/>
                <a:ea typeface="Arial Unicode MS"/>
                <a:cs typeface="Arial Unicode MS"/>
              </a:rPr>
              <a:t>。接著它套上修正，格子一條一條變直。</a:t>
            </a:r>
            <a:r>
              <a:rPr sz="800" b="1" lang="zh-TW" dirty="0">
                <a:solidFill>
                  <a:srgbClr val="000000"/>
                </a:solidFill>
                <a:latin typeface="Arial Unicode MS"/>
                <a:ea typeface="Arial Unicode MS"/>
                <a:cs typeface="Arial Unicode MS"/>
              </a:rPr>
              <a:t>內參要算的就是這個彎</a:t>
            </a:r>
            <a:r>
              <a:rPr sz="800" lang="zh-TW" dirty="0">
                <a:solidFill>
                  <a:srgbClr val="000000"/>
                </a:solidFill>
                <a:latin typeface="Arial Unicode MS"/>
                <a:ea typeface="Arial Unicode MS"/>
                <a:cs typeface="Arial Unicode MS"/>
              </a:rPr>
              <a:t>，算出來以後每一張照片都先修掉，後面的計算才會對。</a:t>
            </a:r>
            <a:r>
              <a:rPr sz="800" b="1" lang="zh-TW" dirty="0">
                <a:solidFill>
                  <a:srgbClr val="000000"/>
                </a:solidFill>
                <a:latin typeface="Arial Unicode MS"/>
                <a:ea typeface="Arial Unicode MS"/>
                <a:cs typeface="Arial Unicode MS"/>
              </a:rPr>
              <a:t>而且不是只有相機有內參</a:t>
            </a:r>
            <a:r>
              <a:rPr sz="800" lang="zh-TW" dirty="0">
                <a:solidFill>
                  <a:srgbClr val="000000"/>
                </a:solidFill>
                <a:latin typeface="Arial Unicode MS"/>
                <a:ea typeface="Arial Unicode MS"/>
                <a:cs typeface="Arial Unicode MS"/>
              </a:rPr>
              <a:t>——第一節那張 OS1 的規格上寫著 Queryable intrinsic calibration，光達的內參就是</a:t>
            </a:r>
            <a:r>
              <a:rPr sz="800" b="1" lang="zh-TW" dirty="0">
                <a:solidFill>
                  <a:srgbClr val="000000"/>
                </a:solidFill>
                <a:latin typeface="Arial Unicode MS"/>
                <a:ea typeface="Arial Unicode MS"/>
                <a:cs typeface="Arial Unicode MS"/>
              </a:rPr>
              <a:t>每條線束實際的垂直角度</a:t>
            </a:r>
            <a:r>
              <a:rPr sz="800" lang="zh-TW" dirty="0">
                <a:solidFill>
                  <a:srgbClr val="000000"/>
                </a:solidFill>
                <a:latin typeface="Arial Unicode MS"/>
                <a:ea typeface="Arial Unicode MS"/>
                <a:cs typeface="Arial Unicode MS"/>
              </a:rPr>
              <a:t>，出廠量過，可以直接跟它要。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它回答的是：</a:t>
            </a:r>
            <a:r>
              <a:rPr sz="800" b="1" lang="zh-TW" dirty="0">
                <a:solidFill>
                  <a:srgbClr val="000000"/>
                </a:solidFill>
                <a:latin typeface="Arial Unicode MS"/>
                <a:ea typeface="Arial Unicode MS"/>
                <a:cs typeface="Arial Unicode MS"/>
              </a:rPr>
              <a:t>這隻眼睛裝在車身的哪裡、朝哪個方向看。</a:t>
            </a:r>
            <a:r>
              <a:rPr sz="800" lang="zh-TW" dirty="0">
                <a:solidFill>
                  <a:srgbClr val="000000"/>
                </a:solidFill>
                <a:latin typeface="Arial Unicode MS"/>
                <a:ea typeface="Arial Unicode MS"/>
                <a:cs typeface="Arial Unicode MS"/>
              </a:rPr>
              <a:t>請注意是</a:t>
            </a:r>
            <a:r>
              <a:rPr sz="800" b="1" lang="zh-TW" dirty="0">
                <a:solidFill>
                  <a:srgbClr val="000000"/>
                </a:solidFill>
                <a:latin typeface="Arial Unicode MS"/>
                <a:ea typeface="Arial Unicode MS"/>
                <a:cs typeface="Arial Unicode MS"/>
              </a:rPr>
              <a:t>對車身</a:t>
            </a:r>
            <a:r>
              <a:rPr sz="800" lang="zh-TW" dirty="0">
                <a:solidFill>
                  <a:srgbClr val="000000"/>
                </a:solidFill>
                <a:latin typeface="Arial Unicode MS"/>
                <a:ea typeface="Arial Unicode MS"/>
                <a:cs typeface="Arial Unicode MS"/>
              </a:rPr>
              <a:t>，不是對另一顆感測器——所以</a:t>
            </a:r>
            <a:r>
              <a:rPr sz="800" b="1" lang="zh-TW" dirty="0">
                <a:solidFill>
                  <a:srgbClr val="000000"/>
                </a:solidFill>
                <a:latin typeface="Arial Unicode MS"/>
                <a:ea typeface="Arial Unicode MS"/>
                <a:cs typeface="Arial Unicode MS"/>
              </a:rPr>
              <a:t>只有一顆相機的車也有外參，也要標</a:t>
            </a:r>
            <a:r>
              <a:rPr sz="800" lang="zh-TW" dirty="0">
                <a:solidFill>
                  <a:srgbClr val="000000"/>
                </a:solidFill>
                <a:latin typeface="Arial Unicode MS"/>
                <a:ea typeface="Arial Unicode MS"/>
                <a:cs typeface="Arial Unicode MS"/>
              </a:rPr>
              <a:t>，下一張那支影片整台車就只有一顆相機。那兩顆要怎麼對上？相機對車身量好了、光達對車身也量好了，</a:t>
            </a:r>
            <a:r>
              <a:rPr sz="800" b="1" lang="zh-TW" dirty="0">
                <a:solidFill>
                  <a:srgbClr val="000000"/>
                </a:solidFill>
                <a:latin typeface="Arial Unicode MS"/>
                <a:ea typeface="Arial Unicode MS"/>
                <a:cs typeface="Arial Unicode MS"/>
              </a:rPr>
              <a:t>相機和光達的關係就推得出來</a:t>
            </a:r>
            <a:r>
              <a:rPr sz="800" lang="zh-TW" dirty="0">
                <a:solidFill>
                  <a:srgbClr val="000000"/>
                </a:solidFill>
                <a:latin typeface="Arial Unicode MS"/>
                <a:ea typeface="Arial Unicode MS"/>
                <a:cs typeface="Arial Unicode MS"/>
              </a:rPr>
              <a:t>。光達裝在車頂、相機裝在擋風玻璃後面，兩者相距六十公分、角度差三度——這六十公分和三度，就是這樣來的。
</a:t>
            </a:r>
          </a:p>
          <a:p>
            <a:pPr algn="l">
              <a:spcBef>
                <a:spcPts val="0"/>
              </a:spcBef>
              <a:spcAft>
                <a:spcPts val="133"/>
              </a:spcAft>
            </a:pPr>
            <a:r>
              <a:rPr sz="800" lang="zh-TW" dirty="0">
                <a:solidFill>
                  <a:srgbClr val="000000"/>
                </a:solidFill>
                <a:latin typeface="Arial Unicode MS"/>
                <a:ea typeface="Arial Unicode MS"/>
                <a:cs typeface="Arial Unicode MS"/>
              </a:rPr>
              <a:t>外參對的時候長什麼樣？再給各位看十四秒。</a:t>
            </a:r>
            <a:r>
              <a:rPr sz="800" b="1" lang="zh-TW" dirty="0">
                <a:solidFill>
                  <a:srgbClr val="000000"/>
                </a:solidFill>
                <a:latin typeface="Arial Unicode MS"/>
                <a:ea typeface="Arial Unicode MS"/>
                <a:cs typeface="Arial Unicode MS"/>
              </a:rPr>
              <a:t>（切出去播 youtu.be/yqRNU7EsHJY）</a:t>
            </a:r>
            <a:r>
              <a:rPr sz="800" lang="zh-TW" dirty="0">
                <a:solidFill>
                  <a:srgbClr val="000000"/>
                </a:solidFill>
                <a:latin typeface="Arial Unicode MS"/>
                <a:ea typeface="Arial Unicode MS"/>
                <a:cs typeface="Arial Unicode MS"/>
              </a:rPr>
              <a:t>畫面是相機拍的街景，上面那些彩色的點是光達的點雲疊上去的。各位看那根路燈桿、那塊黃色的行人標誌、前面那台車——</a:t>
            </a:r>
            <a:r>
              <a:rPr sz="800" b="1" lang="zh-TW" dirty="0">
                <a:solidFill>
                  <a:srgbClr val="000000"/>
                </a:solidFill>
                <a:latin typeface="Arial Unicode MS"/>
                <a:ea typeface="Arial Unicode MS"/>
                <a:cs typeface="Arial Unicode MS"/>
              </a:rPr>
              <a:t>點準準地長在它們身上，沒有飄開。</a:t>
            </a:r>
            <a:r>
              <a:rPr sz="800" lang="zh-TW" dirty="0">
                <a:solidFill>
                  <a:srgbClr val="000000"/>
                </a:solidFill>
                <a:latin typeface="Arial Unicode MS"/>
                <a:ea typeface="Arial Unicode MS"/>
                <a:cs typeface="Arial Unicode MS"/>
              </a:rPr>
              <a:t>這就是外參對了。要是差一度，那些點會整片往旁邊偏。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a:t>
            </a:r>
            <a:r>
              <a:rPr sz="800" b="1" lang="zh-TW" dirty="0">
                <a:solidFill>
                  <a:srgbClr val="000000"/>
                </a:solidFill>
                <a:latin typeface="Arial Unicode MS"/>
                <a:ea typeface="Arial Unicode MS"/>
                <a:cs typeface="Arial Unicode MS"/>
              </a:rPr>
              <a:t>第三格不是第三種標定，是第二格沒做好的後果。</a:t>
            </a:r>
            <a:r>
              <a:rPr sz="800" lang="zh-TW" dirty="0">
                <a:solidFill>
                  <a:srgbClr val="000000"/>
                </a:solidFill>
                <a:latin typeface="Arial Unicode MS"/>
                <a:ea typeface="Arial Unicode MS"/>
                <a:cs typeface="Arial Unicode MS"/>
              </a:rPr>
              <a:t>假設角度差了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。有人會問：是相機歪了還是光達歪了？</a:t>
            </a:r>
            <a:r>
              <a:rPr sz="800" b="1" lang="zh-TW" dirty="0">
                <a:solidFill>
                  <a:srgbClr val="000000"/>
                </a:solidFill>
                <a:latin typeface="Arial Unicode MS"/>
                <a:ea typeface="Arial Unicode MS"/>
                <a:cs typeface="Arial Unicode MS"/>
              </a:rPr>
              <a:t>都可以，而且不重要</a:t>
            </a:r>
            <a:r>
              <a:rPr sz="800" lang="zh-TW" dirty="0">
                <a:solidFill>
                  <a:srgbClr val="000000"/>
                </a:solidFill>
                <a:latin typeface="Arial Unicode MS"/>
                <a:ea typeface="Arial Unicode MS"/>
                <a:cs typeface="Arial Unicode MS"/>
              </a:rPr>
              <a:t>——只要實際的角度和車子記在檔案裡的那組數字差一度，結果都一樣。我們就拿最常見的那個情況：擋風玻璃換過一次，相機裝回去的時候差了一度。一度聽起來很小對不對？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在五十公尺外，差一度會差多少？</a:t>
            </a:r>
            <a:r>
              <a:rPr sz="800" b="1" lang="zh-TW" dirty="0">
                <a:solidFill>
                  <a:srgbClr val="000000"/>
                </a:solidFill>
                <a:latin typeface="Arial Unicode MS"/>
                <a:ea typeface="Arial Unicode MS"/>
                <a:cs typeface="Arial Unicode MS"/>
              </a:rPr>
              <a:t>五十公尺 × tan(一度) ＝ 零點八七公尺</a:t>
            </a:r>
            <a:r>
              <a:rPr sz="800" lang="zh-TW" dirty="0">
                <a:solidFill>
                  <a:srgbClr val="000000"/>
                </a:solidFill>
                <a:latin typeface="Arial Unicode MS"/>
                <a:ea typeface="Arial Unicode MS"/>
                <a:cs typeface="Arial Unicode MS"/>
              </a:rPr>
              <a:t>，將近一公尺。這一公尺是</a:t>
            </a:r>
            <a:r>
              <a:rPr sz="800" b="1" lang="zh-TW" dirty="0">
                <a:solidFill>
                  <a:srgbClr val="000000"/>
                </a:solidFill>
                <a:latin typeface="Arial Unicode MS"/>
                <a:ea typeface="Arial Unicode MS"/>
                <a:cs typeface="Arial Unicode MS"/>
              </a:rPr>
              <a:t>橫向的</a:t>
            </a:r>
            <a:r>
              <a:rPr sz="800" lang="zh-TW" dirty="0">
                <a:solidFill>
                  <a:srgbClr val="000000"/>
                </a:solidFill>
                <a:latin typeface="Arial Unicode MS"/>
                <a:ea typeface="Arial Unicode MS"/>
                <a:cs typeface="Arial Unicode MS"/>
              </a:rPr>
              <a:t>，各位不要想成「線變斜了」。意思是：</a:t>
            </a:r>
            <a:r>
              <a:rPr sz="800" b="1" lang="zh-TW" dirty="0">
                <a:solidFill>
                  <a:srgbClr val="000000"/>
                </a:solidFill>
                <a:latin typeface="Arial Unicode MS"/>
                <a:ea typeface="Arial Unicode MS"/>
                <a:cs typeface="Arial Unicode MS"/>
              </a:rPr>
              <a:t>光達說那個人在這裡，相機說他在旁邊零點八七公尺的地方。</a:t>
            </a:r>
            <a:r>
              <a:rPr sz="800" lang="zh-TW" dirty="0">
                <a:solidFill>
                  <a:srgbClr val="000000"/>
                </a:solidFill>
                <a:latin typeface="Arial Unicode MS"/>
                <a:ea typeface="Arial Unicode MS"/>
                <a:cs typeface="Arial Unicode MS"/>
              </a:rPr>
              <a:t>兩隻眼睛各自都沒有看錯，錯的是車子以為它們朝同一個方向看——其實差了一度。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這也是為什麼期末專題如果各位要做感測器融合，第一個卡住你們的一定是標定，不是演算法。剛剛講的都是原理，下一張我們看真的——</a:t>
            </a:r>
            <a:r>
              <a:rPr sz="800" b="1" lang="zh-TW" dirty="0">
                <a:solidFill>
                  <a:srgbClr val="000000"/>
                </a:solidFill>
                <a:latin typeface="Arial Unicode MS"/>
                <a:ea typeface="Arial Unicode MS"/>
                <a:cs typeface="Arial Unicode MS"/>
              </a:rPr>
              <a:t>修車廠裡面，技師怎麼做標定。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把標定從理論拉回現場：修車廠每天在做這件事，而且換完擋風玻璃是原廠規定要做的。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這是 Safelite 的廣告，品牌的段落跳過。跳著播三段：0:20–0:35、1:25–2:00、2:02–2:33。播完問「你家的車換過擋風玻璃嗎？店家有沒有說要重新標定？」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剛剛講的都是原理，現在看真的。這支是 </a:t>
            </a:r>
            <a:r>
              <a:rPr sz="850" b="1" lang="zh-TW" dirty="0">
                <a:solidFill>
                  <a:srgbClr val="000000"/>
                </a:solidFill>
                <a:latin typeface="Arial Unicode MS"/>
                <a:ea typeface="Arial Unicode MS"/>
                <a:cs typeface="Arial Unicode MS"/>
              </a:rPr>
              <a:t>Safelite</a:t>
            </a:r>
            <a:r>
              <a:rPr sz="850" lang="zh-TW" dirty="0">
                <a:solidFill>
                  <a:srgbClr val="000000"/>
                </a:solidFill>
                <a:latin typeface="Arial Unicode MS"/>
                <a:ea typeface="Arial Unicode MS"/>
                <a:cs typeface="Arial Unicode MS"/>
              </a:rPr>
              <a:t> 拍的，美國最大的擋風玻璃商。</a:t>
            </a:r>
            <a:r>
              <a:rPr sz="850" b="1" lang="zh-TW" dirty="0">
                <a:solidFill>
                  <a:srgbClr val="000000"/>
                </a:solidFill>
                <a:latin typeface="Arial Unicode MS"/>
                <a:ea typeface="Arial Unicode MS"/>
                <a:cs typeface="Arial Unicode MS"/>
              </a:rPr>
              <a:t>它是廣告，品牌的段落我們跳過，只看技師在做什麼。</a:t>
            </a:r>
            <a:r>
              <a:rPr sz="850" lang="zh-TW" dirty="0">
                <a:solidFill>
                  <a:srgbClr val="000000"/>
                </a:solidFill>
                <a:latin typeface="Arial Unicode MS"/>
                <a:ea typeface="Arial Unicode MS"/>
                <a:cs typeface="Arial Unicode MS"/>
              </a:rPr>
              <a:t>我會跳著播三段。
</a:t>
            </a:r>
          </a:p>
          <a:p>
            <a:pPr algn="l">
              <a:spcBef>
                <a:spcPts val="0"/>
              </a:spcBef>
              <a:spcAft>
                <a:spcPts val="142"/>
              </a:spcAft>
            </a:pPr>
            <a:r>
              <a:rPr sz="850" b="1" lang="zh-TW" dirty="0">
                <a:solidFill>
                  <a:srgbClr val="000000"/>
                </a:solidFill>
                <a:latin typeface="Arial Unicode MS"/>
                <a:ea typeface="Arial Unicode MS"/>
                <a:cs typeface="Arial Unicode MS"/>
              </a:rPr>
              <a:t>第一段，0:20。</a:t>
            </a:r>
            <a:r>
              <a:rPr sz="850" lang="zh-TW" dirty="0">
                <a:solidFill>
                  <a:srgbClr val="000000"/>
                </a:solidFill>
                <a:latin typeface="Arial Unicode MS"/>
                <a:ea typeface="Arial Unicode MS"/>
                <a:cs typeface="Arial Unicode MS"/>
              </a:rPr>
              <a:t>他說：</a:t>
            </a:r>
            <a:r>
              <a:rPr sz="850" b="1" lang="zh-TW" dirty="0">
                <a:solidFill>
                  <a:srgbClr val="000000"/>
                </a:solidFill>
                <a:latin typeface="Arial Unicode MS"/>
                <a:ea typeface="Arial Unicode MS"/>
                <a:cs typeface="Arial Unicode MS"/>
              </a:rPr>
              <a:t>所有車廠都規定，擋風玻璃換過之後，這些安全系統一定要重新標定。</a:t>
            </a:r>
            <a:r>
              <a:rPr sz="850" lang="zh-TW" dirty="0">
                <a:solidFill>
                  <a:srgbClr val="000000"/>
                </a:solidFill>
                <a:latin typeface="Arial Unicode MS"/>
                <a:ea typeface="Arial Unicode MS"/>
                <a:cs typeface="Arial Unicode MS"/>
              </a:rPr>
              <a:t>各位注意，這不是建議，是規定。我們剛剛算出來那零點八七公尺，就是為什麼。
</a:t>
            </a:r>
          </a:p>
          <a:p>
            <a:pPr algn="l">
              <a:spcBef>
                <a:spcPts val="0"/>
              </a:spcBef>
              <a:spcAft>
                <a:spcPts val="142"/>
              </a:spcAft>
            </a:pPr>
            <a:r>
              <a:rPr sz="850" b="1" lang="zh-TW" dirty="0">
                <a:solidFill>
                  <a:srgbClr val="000000"/>
                </a:solidFill>
                <a:latin typeface="Arial Unicode MS"/>
                <a:ea typeface="Arial Unicode MS"/>
                <a:cs typeface="Arial Unicode MS"/>
              </a:rPr>
              <a:t>第二段，1:25。</a:t>
            </a:r>
            <a:r>
              <a:rPr sz="850" lang="zh-TW" dirty="0">
                <a:solidFill>
                  <a:srgbClr val="000000"/>
                </a:solidFill>
                <a:latin typeface="Arial Unicode MS"/>
                <a:ea typeface="Arial Unicode MS"/>
                <a:cs typeface="Arial Unicode MS"/>
              </a:rPr>
              <a:t>技師先用</a:t>
            </a:r>
            <a:r>
              <a:rPr sz="850" b="1" lang="zh-TW" dirty="0">
                <a:solidFill>
                  <a:srgbClr val="000000"/>
                </a:solidFill>
                <a:latin typeface="Arial Unicode MS"/>
                <a:ea typeface="Arial Unicode MS"/>
                <a:cs typeface="Arial Unicode MS"/>
              </a:rPr>
              <a:t>雷射</a:t>
            </a:r>
            <a:r>
              <a:rPr sz="850" lang="zh-TW" dirty="0">
                <a:solidFill>
                  <a:srgbClr val="000000"/>
                </a:solidFill>
                <a:latin typeface="Arial Unicode MS"/>
                <a:ea typeface="Arial Unicode MS"/>
                <a:cs typeface="Arial Unicode MS"/>
              </a:rPr>
              <a:t>把車對正，平板上跑的是「Static Camera Aiming，第 2 步，共 15 步」。然後看他搬出來那塊</a:t>
            </a:r>
            <a:r>
              <a:rPr sz="850" b="1" lang="zh-TW" dirty="0">
                <a:solidFill>
                  <a:srgbClr val="000000"/>
                </a:solidFill>
                <a:latin typeface="Arial Unicode MS"/>
                <a:ea typeface="Arial Unicode MS"/>
                <a:cs typeface="Arial Unicode MS"/>
              </a:rPr>
              <a:t>黑白格子板</a:t>
            </a:r>
            <a:r>
              <a:rPr sz="850" lang="zh-TW" dirty="0">
                <a:solidFill>
                  <a:srgbClr val="000000"/>
                </a:solidFill>
                <a:latin typeface="Arial Unicode MS"/>
                <a:ea typeface="Arial Unicode MS"/>
                <a:cs typeface="Arial Unicode MS"/>
              </a:rPr>
              <a:t>——那就是標定板。相機對著那塊板子，演算法才知道「正前方」到底是畫面上哪一個像素。</a:t>
            </a:r>
            <a:r>
              <a:rPr sz="850" b="1" lang="zh-TW" dirty="0">
                <a:solidFill>
                  <a:srgbClr val="000000"/>
                </a:solidFill>
                <a:latin typeface="Arial Unicode MS"/>
                <a:ea typeface="Arial Unicode MS"/>
                <a:cs typeface="Arial Unicode MS"/>
              </a:rPr>
              <a:t>每一款車用的板子都不一樣</a:t>
            </a:r>
            <a:r>
              <a:rPr sz="850" lang="zh-TW" dirty="0">
                <a:solidFill>
                  <a:srgbClr val="000000"/>
                </a:solidFill>
                <a:latin typeface="Arial Unicode MS"/>
                <a:ea typeface="Arial Unicode MS"/>
                <a:cs typeface="Arial Unicode MS"/>
              </a:rPr>
              <a:t>，所以這件事通常只能在原廠或特約廠做。
</a:t>
            </a:r>
          </a:p>
          <a:p>
            <a:pPr algn="l">
              <a:spcBef>
                <a:spcPts val="0"/>
              </a:spcBef>
              <a:spcAft>
                <a:spcPts val="142"/>
              </a:spcAft>
            </a:pPr>
            <a:r>
              <a:rPr sz="850" b="1" lang="zh-TW" dirty="0">
                <a:solidFill>
                  <a:srgbClr val="000000"/>
                </a:solidFill>
                <a:latin typeface="Arial Unicode MS"/>
                <a:ea typeface="Arial Unicode MS"/>
                <a:cs typeface="Arial Unicode MS"/>
              </a:rPr>
              <a:t>第三段，2:02。</a:t>
            </a:r>
            <a:r>
              <a:rPr sz="850" lang="zh-TW" dirty="0">
                <a:solidFill>
                  <a:srgbClr val="000000"/>
                </a:solidFill>
                <a:latin typeface="Arial Unicode MS"/>
                <a:ea typeface="Arial Unicode MS"/>
                <a:cs typeface="Arial Unicode MS"/>
              </a:rPr>
              <a:t>有些車不靠板子，靠開的。技師把車開上</a:t>
            </a:r>
            <a:r>
              <a:rPr sz="850" b="1" lang="zh-TW" dirty="0">
                <a:solidFill>
                  <a:srgbClr val="000000"/>
                </a:solidFill>
                <a:latin typeface="Arial Unicode MS"/>
                <a:ea typeface="Arial Unicode MS"/>
                <a:cs typeface="Arial Unicode MS"/>
              </a:rPr>
              <a:t>有清楚標線的路</a:t>
            </a:r>
            <a:r>
              <a:rPr sz="850" lang="zh-TW" dirty="0">
                <a:solidFill>
                  <a:srgbClr val="000000"/>
                </a:solidFill>
                <a:latin typeface="Arial Unicode MS"/>
                <a:ea typeface="Arial Unicode MS"/>
                <a:cs typeface="Arial Unicode MS"/>
              </a:rPr>
              <a:t>，跑到指定速度，車子自己用車道線把相機校回來——這叫</a:t>
            </a:r>
            <a:r>
              <a:rPr sz="850" b="1" lang="zh-TW" dirty="0">
                <a:solidFill>
                  <a:srgbClr val="000000"/>
                </a:solidFill>
                <a:latin typeface="Arial Unicode MS"/>
                <a:ea typeface="Arial Unicode MS"/>
                <a:cs typeface="Arial Unicode MS"/>
              </a:rPr>
              <a:t>動態標定</a:t>
            </a:r>
            <a:r>
              <a:rPr sz="850" lang="zh-TW" dirty="0">
                <a:solidFill>
                  <a:srgbClr val="000000"/>
                </a:solidFill>
                <a:latin typeface="Arial Unicode MS"/>
                <a:ea typeface="Arial Unicode MS"/>
                <a:cs typeface="Arial Unicode MS"/>
              </a:rPr>
              <a:t>，最久要跑一個小時。
</a:t>
            </a:r>
          </a:p>
          <a:p>
            <a:pPr algn="l">
              <a:spcBef>
                <a:spcPts val="0"/>
              </a:spcBef>
              <a:spcAft>
                <a:spcPts val="142"/>
              </a:spcAft>
            </a:pPr>
            <a:r>
              <a:rPr sz="850" lang="zh-TW" dirty="0">
                <a:solidFill>
                  <a:srgbClr val="000000"/>
                </a:solidFill>
                <a:latin typeface="Arial Unicode MS"/>
                <a:ea typeface="Arial Unicode MS"/>
                <a:cs typeface="Arial Unicode MS"/>
              </a:rPr>
              <a:t>所以標定要花多久？光是掃故障碼就十五分鐘，整套做完常常一兩個小時。這就是為什麼換一片擋風玻璃，現在比十年前貴那麼多——</a:t>
            </a:r>
            <a:r>
              <a:rPr sz="850" b="1" lang="zh-TW" dirty="0">
                <a:solidFill>
                  <a:srgbClr val="000000"/>
                </a:solidFill>
                <a:latin typeface="Arial Unicode MS"/>
                <a:ea typeface="Arial Unicode MS"/>
                <a:cs typeface="Arial Unicode MS"/>
              </a:rPr>
              <a:t>玻璃本身沒貴多少，貴的是後面這段。</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還有一件事上一張沒講完：</a:t>
            </a:r>
            <a:r>
              <a:rPr sz="850" b="1" lang="zh-TW" dirty="0">
                <a:solidFill>
                  <a:srgbClr val="000000"/>
                </a:solidFill>
                <a:latin typeface="Arial Unicode MS"/>
                <a:ea typeface="Arial Unicode MS"/>
                <a:cs typeface="Arial Unicode MS"/>
              </a:rPr>
              <a:t>標定會跑掉。</a:t>
            </a:r>
            <a:r>
              <a:rPr sz="85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50" b="1" lang="zh-TW" dirty="0">
                <a:solidFill>
                  <a:srgbClr val="000000"/>
                </a:solidFill>
                <a:latin typeface="Arial Unicode MS"/>
                <a:ea typeface="Arial Unicode MS"/>
                <a:cs typeface="Arial Unicode MS"/>
              </a:rPr>
              <a:t>定期重新標定</a:t>
            </a:r>
            <a:r>
              <a:rPr sz="850" lang="zh-TW" dirty="0">
                <a:solidFill>
                  <a:srgbClr val="000000"/>
                </a:solidFill>
                <a:latin typeface="Arial Unicode MS"/>
                <a:ea typeface="Arial Unicode MS"/>
                <a:cs typeface="Arial Unicode MS"/>
              </a:rPr>
              <a:t>，有些車還會自己在行駛中偷偷校正。
</a:t>
            </a:r>
          </a:p>
          <a:p>
            <a:pPr algn="l">
              <a:spcBef>
                <a:spcPts val="0"/>
              </a:spcBef>
              <a:spcAft>
                <a:spcPts val="142"/>
              </a:spcAft>
            </a:pPr>
            <a:r>
              <a:rPr sz="850" lang="zh-TW" dirty="0">
                <a:solidFill>
                  <a:srgbClr val="000000"/>
                </a:solidFill>
                <a:latin typeface="Arial Unicode MS"/>
                <a:ea typeface="Arial Unicode MS"/>
                <a:cs typeface="Arial Unicode MS"/>
              </a:rPr>
              <a:t>問各位一句：</a:t>
            </a:r>
            <a:r>
              <a:rPr sz="850" b="1" lang="zh-TW" dirty="0">
                <a:solidFill>
                  <a:srgbClr val="000000"/>
                </a:solidFill>
                <a:latin typeface="Arial Unicode MS"/>
                <a:ea typeface="Arial Unicode MS"/>
                <a:cs typeface="Arial Unicode MS"/>
              </a:rPr>
              <a:t>你家的車，換過擋風玻璃嗎？</a:t>
            </a:r>
            <a:r>
              <a:rPr sz="850" lang="zh-TW" dirty="0">
                <a:solidFill>
                  <a:srgbClr val="000000"/>
                </a:solidFill>
                <a:latin typeface="Arial Unicode MS"/>
                <a:ea typeface="Arial Unicode MS"/>
                <a:cs typeface="Arial Unicode MS"/>
              </a:rPr>
              <a:t>換的時候，店家有沒有跟你說還要重新標定？
</a:t>
            </a:r>
          </a:p>
          <a:p>
            <a:pPr algn="l">
              <a:spcBef>
                <a:spcPts val="0"/>
              </a:spcBef>
              <a:spcAft>
                <a:spcPts val="142"/>
              </a:spcAft>
            </a:pPr>
            <a:r>
              <a:rPr sz="850" lang="zh-TW" dirty="0">
                <a:solidFill>
                  <a:srgbClr val="000000"/>
                </a:solidFill>
                <a:latin typeface="Arial Unicode MS"/>
                <a:ea typeface="Arial Unicode MS"/>
                <a:cs typeface="Arial Unicode MS"/>
              </a:rPr>
              <a:t>播完請按暫停。</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50 毫秒與半公尺，再指圖裡的 Multi-sensor phase lock——七行裡只有這行在講同步，要講明。其餘六行快速點過，每一行都回扣今天講過的一張。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最後一件事是</a:t>
            </a:r>
            <a:r>
              <a:rPr sz="800" b="1" lang="zh-TW" dirty="0">
                <a:solidFill>
                  <a:srgbClr val="000000"/>
                </a:solidFill>
                <a:latin typeface="Arial Unicode MS"/>
                <a:ea typeface="Arial Unicode MS"/>
                <a:cs typeface="Arial Unicode MS"/>
              </a:rPr>
              <a:t>時間同步</a:t>
            </a:r>
            <a:r>
              <a:rPr sz="80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33"/>
              </a:spcAft>
            </a:pPr>
            <a:r>
              <a:rPr sz="800" lang="zh-TW" dirty="0">
                <a:solidFill>
                  <a:srgbClr val="000000"/>
                </a:solidFill>
                <a:latin typeface="Arial Unicode MS"/>
                <a:ea typeface="Arial Unicode MS"/>
                <a:cs typeface="Arial Unicode MS"/>
              </a:rPr>
              <a:t>想想看：光達一秒轉十圈，相機一秒拍六十張，兩個的節奏完全不一樣。假設車子現在收到一張相機的畫面，還有一圈光達的點雲，要把它們合起來。問題是——</a:t>
            </a:r>
            <a:r>
              <a:rPr sz="800" b="1" lang="zh-TW" dirty="0">
                <a:solidFill>
                  <a:srgbClr val="000000"/>
                </a:solidFill>
                <a:latin typeface="Arial Unicode MS"/>
                <a:ea typeface="Arial Unicode MS"/>
                <a:cs typeface="Arial Unicode MS"/>
              </a:rPr>
              <a:t>這兩份資料是同一個瞬間的嗎？</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如果沒有處理，它們可能差到五十毫秒。時速四十的時候，五十毫秒車子走了</a:t>
            </a:r>
            <a:r>
              <a:rPr sz="800" b="1" lang="zh-TW" dirty="0">
                <a:solidFill>
                  <a:srgbClr val="000000"/>
                </a:solidFill>
                <a:latin typeface="Arial Unicode MS"/>
                <a:ea typeface="Arial Unicode MS"/>
                <a:cs typeface="Arial Unicode MS"/>
              </a:rPr>
              <a:t>零點五六公尺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所以你會把相機在 A 點看到的人，跟光達在 B 點量到的距離配在一起，得到一個</a:t>
            </a:r>
            <a:r>
              <a:rPr sz="800" b="1" lang="zh-TW" dirty="0">
                <a:solidFill>
                  <a:srgbClr val="000000"/>
                </a:solidFill>
                <a:latin typeface="Arial Unicode MS"/>
                <a:ea typeface="Arial Unicode MS"/>
                <a:cs typeface="Arial Unicode MS"/>
              </a:rPr>
              <a:t>根本不存在的位置</a:t>
            </a:r>
            <a:r>
              <a:rPr sz="800" lang="zh-TW" dirty="0">
                <a:solidFill>
                  <a:srgbClr val="000000"/>
                </a:solidFill>
                <a:latin typeface="Arial Unicode MS"/>
                <a:ea typeface="Arial Unicode MS"/>
                <a:cs typeface="Arial Unicode MS"/>
              </a:rPr>
              <a:t>。而且這個誤差會跟剛剛的標定誤差疊加。
</a:t>
            </a:r>
          </a:p>
          <a:p>
            <a:pPr algn="l">
              <a:spcBef>
                <a:spcPts val="0"/>
              </a:spcBef>
              <a:spcAft>
                <a:spcPts val="133"/>
              </a:spcAft>
            </a:pPr>
            <a:r>
              <a:rPr sz="800" lang="zh-TW" dirty="0">
                <a:solidFill>
                  <a:srgbClr val="000000"/>
                </a:solidFill>
                <a:latin typeface="Arial Unicode MS"/>
                <a:ea typeface="Arial Unicode MS"/>
                <a:cs typeface="Arial Unicode MS"/>
              </a:rPr>
              <a:t>解法有兩層。</a:t>
            </a:r>
            <a:r>
              <a:rPr sz="800" b="1" lang="zh-TW" dirty="0">
                <a:solidFill>
                  <a:srgbClr val="000000"/>
                </a:solidFill>
                <a:latin typeface="Arial Unicode MS"/>
                <a:ea typeface="Arial Unicode MS"/>
                <a:cs typeface="Arial Unicode MS"/>
              </a:rPr>
              <a:t>第一層是共同時鐘</a:t>
            </a:r>
            <a:r>
              <a:rPr sz="800" lang="zh-TW" dirty="0">
                <a:solidFill>
                  <a:srgbClr val="000000"/>
                </a:solidFill>
                <a:latin typeface="Arial Unicode MS"/>
                <a:ea typeface="Arial Unicode MS"/>
                <a:cs typeface="Arial Unicode MS"/>
              </a:rPr>
              <a:t>：每一顆感測器都在自己的資料上蓋</a:t>
            </a:r>
            <a:r>
              <a:rPr sz="800" b="1" lang="zh-TW" dirty="0">
                <a:solidFill>
                  <a:srgbClr val="000000"/>
                </a:solidFill>
                <a:latin typeface="Arial Unicode MS"/>
                <a:ea typeface="Arial Unicode MS"/>
                <a:cs typeface="Arial Unicode MS"/>
              </a:rPr>
              <a:t>時間戳</a:t>
            </a:r>
            <a:r>
              <a:rPr sz="800" lang="zh-TW" dirty="0">
                <a:solidFill>
                  <a:srgbClr val="000000"/>
                </a:solidFill>
                <a:latin typeface="Arial Unicode MS"/>
                <a:ea typeface="Arial Unicode MS"/>
                <a:cs typeface="Arial Unicode MS"/>
              </a:rPr>
              <a:t>，全車用同一個時鐘——車上通常用 PTP，一種跑在網路線上的對時協定。但這一層只讓你知道「各自是幾點拍的」，還沒有讓它們同時拍。
</a:t>
            </a:r>
          </a:p>
          <a:p>
            <a:pPr algn="l">
              <a:spcBef>
                <a:spcPts val="0"/>
              </a:spcBef>
              <a:spcAft>
                <a:spcPts val="133"/>
              </a:spcAft>
            </a:pPr>
            <a:r>
              <a:rPr sz="800" b="1" lang="zh-TW" dirty="0">
                <a:solidFill>
                  <a:srgbClr val="000000"/>
                </a:solidFill>
                <a:latin typeface="Arial Unicode MS"/>
                <a:ea typeface="Arial Unicode MS"/>
                <a:cs typeface="Arial Unicode MS"/>
              </a:rPr>
              <a:t>第二層就是圖上那一行：multi-sensor phase lock。</a:t>
            </a:r>
            <a:r>
              <a:rPr sz="800" lang="zh-TW" dirty="0">
                <a:solidFill>
                  <a:srgbClr val="000000"/>
                </a:solidFill>
                <a:latin typeface="Arial Unicode MS"/>
                <a:ea typeface="Arial Unicode MS"/>
                <a:cs typeface="Arial Unicode MS"/>
              </a:rPr>
              <a:t>光達是一直在轉的，一秒十圈，所以每一百毫秒經過正前方一次——</a:t>
            </a:r>
            <a:r>
              <a:rPr sz="800" b="1" lang="zh-TW" dirty="0">
                <a:solidFill>
                  <a:srgbClr val="000000"/>
                </a:solidFill>
                <a:latin typeface="Arial Unicode MS"/>
                <a:ea typeface="Arial Unicode MS"/>
                <a:cs typeface="Arial Unicode MS"/>
              </a:rPr>
              <a:t>可是經過的那個時刻是隨機的</a:t>
            </a:r>
            <a:r>
              <a:rPr sz="800" lang="zh-TW" dirty="0">
                <a:solidFill>
                  <a:srgbClr val="000000"/>
                </a:solidFill>
                <a:latin typeface="Arial Unicode MS"/>
                <a:ea typeface="Arial Unicode MS"/>
                <a:cs typeface="Arial Unicode MS"/>
              </a:rPr>
              <a:t>，開機的時候轉子從哪裡起步就決定了。Phase lock 做的事是：先對好時，再</a:t>
            </a:r>
            <a:r>
              <a:rPr sz="800" b="1" lang="zh-TW" dirty="0">
                <a:solidFill>
                  <a:srgbClr val="000000"/>
                </a:solidFill>
                <a:latin typeface="Arial Unicode MS"/>
                <a:ea typeface="Arial Unicode MS"/>
                <a:cs typeface="Arial Unicode MS"/>
              </a:rPr>
              <a:t>把轉子的相位鎖住</a:t>
            </a:r>
            <a:r>
              <a:rPr sz="800" lang="zh-TW" dirty="0">
                <a:solidFill>
                  <a:srgbClr val="000000"/>
                </a:solidFill>
                <a:latin typeface="Arial Unicode MS"/>
                <a:ea typeface="Arial Unicode MS"/>
                <a:cs typeface="Arial Unicode MS"/>
              </a:rPr>
              <a:t>，讓它在每一個整十分之一秒的那個瞬間，剛好轉到你指定的角度。
</a:t>
            </a:r>
          </a:p>
          <a:p>
            <a:pPr algn="l">
              <a:spcBef>
                <a:spcPts val="0"/>
              </a:spcBef>
              <a:spcAft>
                <a:spcPts val="133"/>
              </a:spcAft>
            </a:pPr>
            <a:r>
              <a:rPr sz="800" lang="zh-TW" dirty="0">
                <a:solidFill>
                  <a:srgbClr val="000000"/>
                </a:solidFill>
                <a:latin typeface="Arial Unicode MS"/>
                <a:ea typeface="Arial Unicode MS"/>
                <a:cs typeface="Arial Unicode MS"/>
              </a:rPr>
              <a:t>所以你可以設成「每個十分之一秒的整點，光達剛好指著正前方」，再把相機的快門排在同一個時刻——</a:t>
            </a:r>
            <a:r>
              <a:rPr sz="800" b="1" lang="zh-TW" dirty="0">
                <a:solidFill>
                  <a:srgbClr val="000000"/>
                </a:solidFill>
                <a:latin typeface="Arial Unicode MS"/>
                <a:ea typeface="Arial Unicode MS"/>
                <a:cs typeface="Arial Unicode MS"/>
              </a:rPr>
              <a:t>兩隻眼睛看的就是同一個瞬間的同一塊</a:t>
            </a:r>
            <a:r>
              <a:rPr sz="800" lang="zh-TW" dirty="0">
                <a:solidFill>
                  <a:srgbClr val="000000"/>
                </a:solidFill>
                <a:latin typeface="Arial Unicode MS"/>
                <a:ea typeface="Arial Unicode MS"/>
                <a:cs typeface="Arial Unicode MS"/>
              </a:rPr>
              <a:t>。兩顆光達也一樣，鎖住相位就知道誰什麼時候掃到重疊區。這一行有一個前提要記住：</a:t>
            </a:r>
            <a:r>
              <a:rPr sz="800" b="1" lang="zh-TW" dirty="0">
                <a:solidFill>
                  <a:srgbClr val="000000"/>
                </a:solidFill>
                <a:latin typeface="Arial Unicode MS"/>
                <a:ea typeface="Arial Unicode MS"/>
                <a:cs typeface="Arial Unicode MS"/>
              </a:rPr>
              <a:t>要先有外部時間來源</a:t>
            </a:r>
            <a:r>
              <a:rPr sz="800" lang="zh-TW" dirty="0">
                <a:solidFill>
                  <a:srgbClr val="000000"/>
                </a:solidFill>
                <a:latin typeface="Arial Unicode MS"/>
                <a:ea typeface="Arial Unicode MS"/>
                <a:cs typeface="Arial Unicode MS"/>
              </a:rPr>
              <a:t>（PTP 或同步脈衝），沒有對時就鎖不住相位。
</a:t>
            </a:r>
          </a:p>
          <a:p>
            <a:pPr algn="l">
              <a:spcBef>
                <a:spcPts val="0"/>
              </a:spcBef>
              <a:spcAft>
                <a:spcPts val="133"/>
              </a:spcAft>
            </a:pPr>
            <a:r>
              <a:rPr sz="800" lang="zh-TW" dirty="0">
                <a:solidFill>
                  <a:srgbClr val="000000"/>
                </a:solidFill>
                <a:latin typeface="Arial Unicode MS"/>
                <a:ea typeface="Arial Unicode MS"/>
                <a:cs typeface="Arial Unicode MS"/>
              </a:rPr>
              <a:t>各位會問：這一格其他幾行跟同步有什麼關係？</a:t>
            </a:r>
            <a:r>
              <a:rPr sz="800" b="1" lang="zh-TW" dirty="0">
                <a:solidFill>
                  <a:srgbClr val="000000"/>
                </a:solidFill>
                <a:latin typeface="Arial Unicode MS"/>
                <a:ea typeface="Arial Unicode MS"/>
                <a:cs typeface="Arial Unicode MS"/>
              </a:rPr>
              <a:t>沒有關係。</a:t>
            </a:r>
            <a:r>
              <a:rPr sz="800" lang="zh-TW" dirty="0">
                <a:solidFill>
                  <a:srgbClr val="000000"/>
                </a:solidFill>
                <a:latin typeface="Arial Unicode MS"/>
                <a:ea typeface="Arial Unicode MS"/>
                <a:cs typeface="Arial Unicode MS"/>
              </a:rPr>
              <a:t>這一格的標題是 Additional Programmability——「其他可以設定的項目」，</a:t>
            </a:r>
            <a:r>
              <a:rPr sz="800" b="1" lang="zh-TW" dirty="0">
                <a:solidFill>
                  <a:srgbClr val="000000"/>
                </a:solidFill>
                <a:latin typeface="Arial Unicode MS"/>
                <a:ea typeface="Arial Unicode MS"/>
                <a:cs typeface="Arial Unicode MS"/>
              </a:rPr>
              <a:t>七行裡只有第一行在講同步</a:t>
            </a:r>
            <a:r>
              <a:rPr sz="800" lang="zh-TW" dirty="0">
                <a:solidFill>
                  <a:srgbClr val="000000"/>
                </a:solidFill>
                <a:latin typeface="Arial Unicode MS"/>
                <a:ea typeface="Arial Unicode MS"/>
                <a:cs typeface="Arial Unicode MS"/>
              </a:rPr>
              <a:t>，其他是剛好印在同一格。這件事本身要學起來：</a:t>
            </a:r>
            <a:r>
              <a:rPr sz="800" b="1" lang="zh-TW" dirty="0">
                <a:solidFill>
                  <a:srgbClr val="000000"/>
                </a:solidFill>
                <a:latin typeface="Arial Unicode MS"/>
                <a:ea typeface="Arial Unicode MS"/>
                <a:cs typeface="Arial Unicode MS"/>
              </a:rPr>
              <a:t>規格表上同一個框裡的東西，不一定是同一個主題。</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其他幾行快速帶過，各位會發現每一行都是今天講過的。</a:t>
            </a:r>
            <a:r>
              <a:rPr sz="800" b="1" lang="zh-TW" dirty="0">
                <a:solidFill>
                  <a:srgbClr val="000000"/>
                </a:solidFill>
                <a:latin typeface="Arial Unicode MS"/>
                <a:ea typeface="Arial Unicode MS"/>
                <a:cs typeface="Arial Unicode MS"/>
              </a:rPr>
              <a:t>Queryable intrinsic calibration information</a:t>
            </a:r>
            <a:r>
              <a:rPr sz="800" lang="zh-TW" dirty="0">
                <a:solidFill>
                  <a:srgbClr val="000000"/>
                </a:solidFill>
                <a:latin typeface="Arial Unicode MS"/>
                <a:ea typeface="Arial Unicode MS"/>
                <a:cs typeface="Arial Unicode MS"/>
              </a:rPr>
              <a:t>：可以直接問這顆光達要它自己的</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——底下的 </a:t>
            </a:r>
            <a:r>
              <a:rPr sz="800" b="1" lang="zh-TW" dirty="0">
                <a:solidFill>
                  <a:srgbClr val="000000"/>
                </a:solidFill>
                <a:latin typeface="Arial Unicode MS"/>
                <a:ea typeface="Arial Unicode MS"/>
                <a:cs typeface="Arial Unicode MS"/>
              </a:rPr>
              <a:t>Beam angles</a:t>
            </a:r>
            <a:r>
              <a:rPr sz="800" lang="zh-TW" dirty="0">
                <a:solidFill>
                  <a:srgbClr val="000000"/>
                </a:solidFill>
                <a:latin typeface="Arial Unicode MS"/>
                <a:ea typeface="Arial Unicode MS"/>
                <a:cs typeface="Arial Unicode MS"/>
              </a:rPr>
              <a:t> 是每條線束實際的垂直角度（出廠量過，不是真的平均分布），</a:t>
            </a:r>
            <a:r>
              <a:rPr sz="800" b="1" lang="zh-TW" dirty="0">
                <a:solidFill>
                  <a:srgbClr val="000000"/>
                </a:solidFill>
                <a:latin typeface="Arial Unicode MS"/>
                <a:ea typeface="Arial Unicode MS"/>
                <a:cs typeface="Arial Unicode MS"/>
              </a:rPr>
              <a:t>IMU pose correction matrix</a:t>
            </a:r>
            <a:r>
              <a:rPr sz="800" lang="zh-TW" dirty="0">
                <a:solidFill>
                  <a:srgbClr val="000000"/>
                </a:solidFill>
                <a:latin typeface="Arial Unicode MS"/>
                <a:ea typeface="Arial Unicode MS"/>
                <a:cs typeface="Arial Unicode MS"/>
              </a:rPr>
              <a:t> 是機內那顆慣性感測器和光達本體的關係，等於原廠標好的</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a:t>
            </a:r>
            <a:r>
              <a:rPr sz="800" b="1" lang="zh-TW" dirty="0">
                <a:solidFill>
                  <a:srgbClr val="000000"/>
                </a:solidFill>
                <a:latin typeface="Arial Unicode MS"/>
                <a:ea typeface="Arial Unicode MS"/>
                <a:cs typeface="Arial Unicode MS"/>
              </a:rPr>
              <a:t>Return ordering</a:t>
            </a:r>
            <a:r>
              <a:rPr sz="800" lang="zh-TW" dirty="0">
                <a:solidFill>
                  <a:srgbClr val="000000"/>
                </a:solidFill>
                <a:latin typeface="Arial Unicode MS"/>
                <a:ea typeface="Arial Unicode MS"/>
                <a:cs typeface="Arial Unicode MS"/>
              </a:rPr>
              <a:t> 就是第十一張的兩次回波，可以選先給最強、最遠還是最近。</a:t>
            </a:r>
            <a:r>
              <a:rPr sz="800" b="1" lang="zh-TW" dirty="0">
                <a:solidFill>
                  <a:srgbClr val="000000"/>
                </a:solidFill>
                <a:latin typeface="Arial Unicode MS"/>
                <a:ea typeface="Arial Unicode MS"/>
                <a:cs typeface="Arial Unicode MS"/>
              </a:rPr>
              <a:t>Minimum range</a:t>
            </a:r>
            <a:r>
              <a:rPr sz="800" lang="zh-TW" dirty="0">
                <a:solidFill>
                  <a:srgbClr val="000000"/>
                </a:solidFill>
                <a:latin typeface="Arial Unicode MS"/>
                <a:ea typeface="Arial Unicode MS"/>
                <a:cs typeface="Arial Unicode MS"/>
              </a:rPr>
              <a:t> 設 0、30 或 50 公分，比這個近的不回報。</a:t>
            </a:r>
            <a:r>
              <a:rPr sz="800" b="1" lang="zh-TW" dirty="0">
                <a:solidFill>
                  <a:srgbClr val="000000"/>
                </a:solidFill>
                <a:latin typeface="Arial Unicode MS"/>
                <a:ea typeface="Arial Unicode MS"/>
                <a:cs typeface="Arial Unicode MS"/>
              </a:rPr>
              <a:t>Azimuth masking</a:t>
            </a:r>
            <a:r>
              <a:rPr sz="800" lang="zh-TW" dirty="0">
                <a:solidFill>
                  <a:srgbClr val="000000"/>
                </a:solidFill>
                <a:latin typeface="Arial Unicode MS"/>
                <a:ea typeface="Arial Unicode MS"/>
                <a:cs typeface="Arial Unicode MS"/>
              </a:rPr>
              <a:t> 把不要的那一段角度關掉——這一行和第一行是同一套東西，都在設「這一圈從哪裡開始、到哪裡結束」。</a:t>
            </a:r>
            <a:r>
              <a:rPr sz="800" b="1" lang="zh-TW" dirty="0">
                <a:solidFill>
                  <a:srgbClr val="000000"/>
                </a:solidFill>
                <a:latin typeface="Arial Unicode MS"/>
                <a:ea typeface="Arial Unicode MS"/>
                <a:cs typeface="Arial Unicode MS"/>
              </a:rPr>
              <a:t>Low-power standby mode</a:t>
            </a:r>
            <a:r>
              <a:rPr sz="800" lang="zh-TW" dirty="0">
                <a:solidFill>
                  <a:srgbClr val="000000"/>
                </a:solidFill>
                <a:latin typeface="Arial Unicode MS"/>
                <a:ea typeface="Arial Unicode MS"/>
                <a:cs typeface="Arial Unicode MS"/>
              </a:rPr>
              <a:t> 停車省電。第一節第十二張我說過「可設定」是模式不是數字——</a:t>
            </a:r>
            <a:r>
              <a:rPr sz="800" b="1" lang="zh-TW" dirty="0">
                <a:solidFill>
                  <a:srgbClr val="000000"/>
                </a:solidFill>
                <a:latin typeface="Arial Unicode MS"/>
                <a:ea typeface="Arial Unicode MS"/>
                <a:cs typeface="Arial Unicode MS"/>
              </a:rPr>
              <a:t>這一整格就是最好的例子。</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所以請各位記住：</a:t>
            </a:r>
            <a:r>
              <a:rPr sz="800" b="1" lang="zh-TW" dirty="0">
                <a:solidFill>
                  <a:srgbClr val="000000"/>
                </a:solidFill>
                <a:latin typeface="Arial Unicode MS"/>
                <a:ea typeface="Arial Unicode MS"/>
                <a:cs typeface="Arial Unicode MS"/>
              </a:rPr>
              <a:t>兩顆感測器各自都是好的，不代表合起來是對的。</a:t>
            </a:r>
            <a:r>
              <a:rPr sz="800" lang="zh-TW" dirty="0">
                <a:solidFill>
                  <a:srgbClr val="000000"/>
                </a:solidFill>
                <a:latin typeface="Arial Unicode MS"/>
                <a:ea typeface="Arial Unicode MS"/>
                <a:cs typeface="Arial Unicode MS"/>
              </a:rPr>
              <a:t>中間還有標定和同步這兩關，而它們在規格表上常常只有一兩行、甚至完全沒有，可是實際做系統的時候吃掉的時間比選型還多。
</a:t>
            </a:r>
          </a:p>
          <a:p>
            <a:pPr algn="l">
              <a:spcBef>
                <a:spcPts val="0"/>
              </a:spcBef>
              <a:spcAft>
                <a:spcPts val="133"/>
              </a:spcAft>
            </a:pPr>
            <a:r>
              <a:rPr sz="800" lang="zh-TW" dirty="0">
                <a:solidFill>
                  <a:srgbClr val="000000"/>
                </a:solidFill>
                <a:latin typeface="Arial Unicode MS"/>
                <a:ea typeface="Arial Unicode MS"/>
                <a:cs typeface="Arial Unicode MS"/>
              </a:rPr>
              <a:t>下一節我們回到工具上，把今天和上一節講的東西，全部用在一件事上：</a:t>
            </a:r>
            <a:r>
              <a:rPr sz="800" b="1" lang="zh-TW" dirty="0">
                <a:solidFill>
                  <a:srgbClr val="000000"/>
                </a:solidFill>
                <a:latin typeface="Arial Unicode MS"/>
                <a:ea typeface="Arial Unicode MS"/>
                <a:cs typeface="Arial Unicode MS"/>
              </a:rPr>
              <a:t>幫一個指定的情境選一顆感測器</a:t>
            </a:r>
            <a:r>
              <a:rPr sz="8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附錄：光達那份規格書的完整原頁（規格那三頁），備查用。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今天圈過的光達那幾行，全部都在這三頁上：PDF 第 1 頁是 HIGHLIGHTS 和 OPTICAL PERFORMANCE——測距、視野、通道數、每圈點數都在那裡；第 2 頁有 LASER 那一段，Class 1、865 奈米、光束寬度和發散角；第 3 頁有 Additional Programmability，multi-sensor phase lock 那一行。
</a:t>
            </a:r>
          </a:p>
          <a:p>
            <a:pPr algn="l">
              <a:spcBef>
                <a:spcPts val="0"/>
              </a:spcBef>
              <a:spcAft>
                <a:spcPts val="200"/>
              </a:spcAft>
            </a:pPr>
            <a:r>
              <a:rPr sz="1200" lang="zh-TW" dirty="0">
                <a:solidFill>
                  <a:srgbClr val="000000"/>
                </a:solidFill>
                <a:latin typeface="Arial Unicode MS"/>
                <a:ea typeface="Arial Unicode MS"/>
                <a:cs typeface="Arial Unicode MS"/>
              </a:rPr>
              <a:t>原始 PDF 總共八頁，後面五頁是外觀尺寸、配件和接線圖，和今天要讀的規格沒有關係，所以沒有放進來。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放映的時候可以放大看；要看完整的八頁，到 Ouster 官網下載。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附錄：AT128P 使用手冊的規格那兩頁，備查用。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上課不唸。第 1 節第 5 張圈的 Far-field 與 (10 Hz)，原文就在左邊那一頁。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左邊那一頁是 §1.5 Specifications，第 1 節第 5 張圈過的東西都在上面：Number of channels 128、Horizontal FOV 120 度、Vertical FOV 25.4 度，還有那兩行寫著 Far-field 和 Near-field 的解析度。
</a:t>
            </a:r>
          </a:p>
          <a:p>
            <a:pPr algn="l">
              <a:spcBef>
                <a:spcPts val="0"/>
              </a:spcBef>
              <a:spcAft>
                <a:spcPts val="200"/>
              </a:spcAft>
            </a:pPr>
            <a:r>
              <a:rPr sz="1200" lang="zh-TW" dirty="0">
                <a:solidFill>
                  <a:srgbClr val="000000"/>
                </a:solidFill>
                <a:latin typeface="Arial Unicode MS"/>
                <a:ea typeface="Arial Unicode MS"/>
                <a:cs typeface="Arial Unicode MS"/>
              </a:rPr>
              <a:t>右邊那一頁是同一節的註解。註②就是遠近場的定義——遠場超過 7.2 公尺、近場 0.5 到 7.2 公尺；註①說量測範圍是由分配給每一條通道的飛行時間決定的；註⑥還把每秒點數怎麼算整個列出來，1200 乘 128 乘 10 等於一百五十三萬六千。
</a:t>
            </a:r>
          </a:p>
          <a:p>
            <a:pPr algn="l">
              <a:spcBef>
                <a:spcPts val="0"/>
              </a:spcBef>
              <a:spcAft>
                <a:spcPts val="200"/>
              </a:spcAft>
            </a:pPr>
            <a:r>
              <a:rPr sz="1200" lang="zh-TW" dirty="0">
                <a:solidFill>
                  <a:srgbClr val="000000"/>
                </a:solidFill>
                <a:latin typeface="Arial Unicode MS"/>
                <a:ea typeface="Arial Unicode MS"/>
                <a:cs typeface="Arial Unicode MS"/>
              </a:rPr>
              <a:t>各位如果對「那個 0.1 度為什麼有兩個條件」還有疑問，答案就在右邊那一頁。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附錄：相機那份規格書的完整原頁，備查用。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今天圈過的那幾行——有效像素、像素尺寸、動態範圍、LED 閃爍抑制——全部都在左邊那一頁的 Specifications 那一欄上。右邊第二頁是封裝尺寸，整頁寫 TBD，那是因為這份是 </a:t>
            </a:r>
            <a:r>
              <a:rPr sz="1200" b="1" lang="zh-TW" dirty="0">
                <a:solidFill>
                  <a:srgbClr val="000000"/>
                </a:solidFill>
                <a:latin typeface="Arial Unicode MS"/>
                <a:ea typeface="Arial Unicode MS"/>
                <a:cs typeface="Arial Unicode MS"/>
              </a:rPr>
              <a:t>Product Preview</a:t>
            </a:r>
            <a:r>
              <a:rPr sz="1200" lang="zh-TW" dirty="0">
                <a:solidFill>
                  <a:srgbClr val="000000"/>
                </a:solidFill>
                <a:latin typeface="Arial Unicode MS"/>
                <a:ea typeface="Arial Unicode MS"/>
                <a:cs typeface="Arial Unicode MS"/>
              </a:rPr>
              <a:t>，還不是正式規格書。
</a:t>
            </a:r>
          </a:p>
          <a:p>
            <a:pPr algn="l">
              <a:spcBef>
                <a:spcPts val="0"/>
              </a:spcBef>
              <a:spcAft>
                <a:spcPts val="200"/>
              </a:spcAft>
            </a:pPr>
            <a:r>
              <a:rPr sz="1200" lang="zh-TW" dirty="0">
                <a:solidFill>
                  <a:srgbClr val="000000"/>
                </a:solidFill>
                <a:latin typeface="Arial Unicode MS"/>
                <a:ea typeface="Arial Unicode MS"/>
                <a:cs typeface="Arial Unicode MS"/>
              </a:rPr>
              <a:t>各位記得第 1 節第 2 張說過的：</a:t>
            </a:r>
            <a:r>
              <a:rPr sz="1200" b="1" lang="zh-TW" dirty="0">
                <a:solidFill>
                  <a:srgbClr val="000000"/>
                </a:solidFill>
                <a:latin typeface="Arial Unicode MS"/>
                <a:ea typeface="Arial Unicode MS"/>
                <a:cs typeface="Arial Unicode MS"/>
              </a:rPr>
              <a:t>快門方式這一行，這兩頁上都沒有。</a:t>
            </a:r>
            <a:r>
              <a:rPr sz="1200" lang="zh-TW" dirty="0">
                <a:solidFill>
                  <a:srgbClr val="000000"/>
                </a:solidFill>
                <a:latin typeface="Arial Unicode MS"/>
                <a:ea typeface="Arial Unicode MS"/>
                <a:cs typeface="Arial Unicode MS"/>
              </a:rPr>
              <a:t>現在可以自己確認一次。要看快門方式，得去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放映的時候可以放大看；發下去的 PDF 也印得出來。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youtu.be/YmEH8z1JWgc" TargetMode="External"/><Relationship Id="rId1"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iAdlvfHqxPg" TargetMode="External"/><Relationship Id="rId1" Type="http://schemas.openxmlformats.org/officeDocument/2006/relationships/image" Target="../media/image-6-1.gif"/><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youtu.be/LDptg_z9aCk" TargetMode="External"/><Relationship Id="rId1" Type="http://schemas.openxmlformats.org/officeDocument/2006/relationships/image" Target="../media/image-17-1.png"/><Relationship Id="rId3" Type="http://schemas.openxmlformats.org/officeDocument/2006/relationships/image" Target="../media/image-17-2.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規格表的第二層</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Xem thử · 32 秒，一次看懂兩種快門</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Màn trập cuốn trên vật thật: cánh quạt cong như quả chuối</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捲簾快門發生在真東西上：螺旋槳彎成香蕉形</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五週(10-8)/src/img/w5_pic_ar0233at.png">    </p:cNvPr>
          <p:cNvPicPr>
            <a:picLocks noChangeAspect="1"/>
          </p:cNvPicPr>
          <p:nvPr/>
        </p:nvPicPr>
        <p:blipFill>
          <a:blip r:embed="rId1"/>
          <a:stretch>
            <a:fillRect/>
          </a:stretch>
        </p:blipFill>
        <p:spPr>
          <a:xfrm>
            <a:off x="848740" y="1301348"/>
            <a:ext cx="3212848"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圖：onsemi（AR0233AT Product Preview, Rev. P2）</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Global Shutter vs. Rolling Shutter</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Sony（原廠官方頻道）　·　0:32（上下對照，播兩次）</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https://youtu.be/YmEH8z1JWgc</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Trên: Global Shutter · Dưới: Rolling Shutter — cùng một chiếc trực thăng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上面 Global Shutter、下面 Rolling Shutter——同一架直升機</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Lần một: chỉ nhìn cánh quạt chính — trên thẳng, dưới cong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第一次只看主旋翼：上面直的，下面彎成香蕉形</a:t>
            </a:r>
            <a:endParaRPr lang="en-US" sz="950" dirty="0"/>
          </a:p>
        </p:txBody>
      </p:sp>
      <p:sp>
        <p:nvSpPr>
          <p:cNvPr id="17" name="Shape 14"/>
          <p:cNvSpPr/>
          <p:nvPr/>
        </p:nvSpPr>
        <p:spPr>
          <a:xfrm>
            <a:off x="4919472" y="3301642"/>
            <a:ext cx="36576" cy="237744"/>
          </a:xfrm>
          <a:prstGeom prst="rect">
            <a:avLst/>
          </a:prstGeom>
          <a:solidFill>
            <a:srgbClr val="00A896"/>
          </a:solidFill>
          <a:ln/>
        </p:spPr>
      </p:sp>
      <p:sp>
        <p:nvSpPr>
          <p:cNvPr id="18" name="Text 15"/>
          <p:cNvSpPr txBox="1"/>
          <p:nvPr/>
        </p:nvSpPr>
        <p:spPr>
          <a:xfrm>
            <a:off x="5047488" y="326506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Lần hai: cánh quạt đuôi méo hẳn, thân máy bay thì không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第二次看尾旋翼：整個扭掉；機身沒在動，就不歪</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Cùng một cảnh, chỉ khác kiểu màn trập. Dòng Shutter Type quyết định chuyện này.</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同一個場景，只差在快門方式。規格表上 Shutter Type 那一行決定的就是這件事。</a:t>
            </a:r>
            <a:endParaRPr lang="en-US" sz="1150" dirty="0"/>
          </a:p>
        </p:txBody>
      </p:sp>
      <p:pic>
        <p:nvPicPr>
          <p:cNvPr id="22" name="Image 1"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23"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22</a:t>
            </a:r>
            <a:endParaRPr lang="en-US" sz="900" dirty="0"/>
          </a:p>
        </p:txBody>
      </p:sp>
      <p:sp>
        <p:nvSpPr>
          <p:cNvPr id="24"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Xem thử · 真的隧道口，0:14–0:40</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Ngay lúc ra khỏi hầm: máy ảnh 140 dB nhìn thấy gì</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出隧道口那一瞬間：140 dB 的相機看到的畫面</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五週(10-8)/src/img/w5_s04_dynrange.gif">    </p:cNvPr>
          <p:cNvPicPr>
            <a:picLocks noChangeAspect="1"/>
          </p:cNvPicPr>
          <p:nvPr/>
        </p:nvPicPr>
        <p:blipFill>
          <a:blip r:embed="rId1"/>
          <a:stretch>
            <a:fillRect/>
          </a:stretch>
        </p:blipFill>
        <p:spPr>
          <a:xfrm>
            <a:off x="735981" y="1301348"/>
            <a:ext cx="3438366"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左：課程自製示意圖（src/tools_make_dr_gif.py）</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140dB HDR GMSL Camera Demo in Real-World Driving</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e-con Systems（原廠官方頻道）　·　1:00（只看 0:14–0:40）</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https://youtu.be/iAdlvfHqxPg</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0:14 trong hầm: tường và đèn trần vẫn nhìn rõ, không thành một mảng đen</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0:14 在隧道裡：牆面和頂上那排燈都還看得清楚</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0:30 ra khỏi hầm: tường tối hai bên và nắng ngoài cùng có mặt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0:30 出隧道口：兩邊的暗牆和外面的大太陽同時都在</a:t>
            </a:r>
            <a:endParaRPr lang="en-US" sz="950" dirty="0"/>
          </a:p>
        </p:txBody>
      </p:sp>
      <p:sp>
        <p:nvSpPr>
          <p:cNvPr id="17" name="Shape 14"/>
          <p:cNvSpPr/>
          <p:nvPr/>
        </p:nvSpPr>
        <p:spPr>
          <a:xfrm>
            <a:off x="4919472" y="3301642"/>
            <a:ext cx="36576" cy="237744"/>
          </a:xfrm>
          <a:prstGeom prst="rect">
            <a:avLst/>
          </a:prstGeom>
          <a:solidFill>
            <a:srgbClr val="00A896"/>
          </a:solidFill>
          <a:ln/>
        </p:spPr>
      </p:sp>
      <p:sp>
        <p:nvSpPr>
          <p:cNvPr id="18" name="Text 15"/>
          <p:cNvSpPr txBox="1"/>
          <p:nvPr/>
        </p:nvSpPr>
        <p:spPr>
          <a:xfrm>
            <a:off x="5047488" y="326506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Chữ trên màn hình: 140dB HDR — đúng con số của AR0233AT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畫面上標的是 140dB HDR，和 AR0233AT 同一個數字</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Trái là hình minh hoạ, phải là quay thật. Dòng Dynamic Range quyết định đúng chuyện này.</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左邊是示意圖，右邊是真的開上路拍的。規格表上 Dynamic Range 那一行，決定的就是這一秒。</a:t>
            </a:r>
            <a:endParaRPr lang="en-US" sz="1150" dirty="0"/>
          </a:p>
        </p:txBody>
      </p:sp>
      <p:pic>
        <p:nvPicPr>
          <p:cNvPr id="22" name="Image 1"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23"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22</a:t>
            </a:r>
            <a:endParaRPr lang="en-US" sz="900" dirty="0"/>
          </a:p>
        </p:txBody>
      </p:sp>
      <p:sp>
        <p:nvSpPr>
          <p:cNvPr id="24"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8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9 / 22</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Shape 1"/>
          <p:cNvSpPr/>
          <p:nvPr/>
        </p:nvSpPr>
        <p:spPr>
          <a:xfrm>
            <a:off x="502920" y="914400"/>
            <a:ext cx="2489079" cy="1970282"/>
          </a:xfrm>
          <a:prstGeom prst="roundRect">
            <a:avLst>
              <a:gd name="adj" fmla="val 5569"/>
            </a:avLst>
          </a:prstGeom>
          <a:solidFill>
            <a:srgbClr val="FFFFFF"/>
          </a:solidFill>
          <a:ln w="12700">
            <a:solidFill>
              <a:srgbClr val="DBE3EA"/>
            </a:solidFill>
            <a:prstDash val="solid"/>
          </a:ln>
        </p:spPr>
      </p:sp>
      <p:pic>
        <p:nvPicPr>
          <p:cNvPr id="4" name="Image 0" descr="/Users/tsengchenghsun/Class/carClass/Claude outputs/第五週(10-8)/src/img/w5_s11_echo.gif">    </p:cNvPr>
          <p:cNvPicPr>
            <a:picLocks noChangeAspect="1"/>
          </p:cNvPicPr>
          <p:nvPr/>
        </p:nvPicPr>
        <p:blipFill>
          <a:blip r:embed="rId1"/>
          <a:stretch>
            <a:fillRect/>
          </a:stretch>
        </p:blipFill>
        <p:spPr>
          <a:xfrm>
            <a:off x="576072" y="1027176"/>
            <a:ext cx="2342775" cy="1561850"/>
          </a:xfrm>
          <a:prstGeom prst="rect">
            <a:avLst/>
          </a:prstGeom>
        </p:spPr>
      </p:pic>
      <p:sp>
        <p:nvSpPr>
          <p:cNvPr id="5" name="Text 2"/>
          <p:cNvSpPr txBox="1"/>
          <p:nvPr/>
        </p:nvSpPr>
        <p:spPr>
          <a:xfrm>
            <a:off x="576072" y="2665226"/>
            <a:ext cx="2342775"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示意圖：課程自製（src/tools_make_echo_gif.py）</a:t>
            </a:r>
            <a:endParaRPr lang="en-US" sz="700" dirty="0"/>
          </a:p>
        </p:txBody>
      </p:sp>
      <p:sp>
        <p:nvSpPr>
          <p:cNvPr id="6" name="Text 3"/>
          <p:cNvSpPr txBox="1"/>
          <p:nvPr/>
        </p:nvSpPr>
        <p:spPr>
          <a:xfrm>
            <a:off x="3302895" y="914400"/>
            <a:ext cx="5338185"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7" name="Shape 4"/>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8" name="Image 1" descr="/Users/tsengchenghsun/Class/carClass/Claude outputs/第五週(10-8)/src/img/w5_os1_returns.png">    </p:cNvPr>
          <p:cNvPicPr>
            <a:picLocks noChangeAspect="1"/>
          </p:cNvPicPr>
          <p:nvPr/>
        </p:nvPicPr>
        <p:blipFill>
          <a:blip r:embed="rId2"/>
          <a:stretch>
            <a:fillRect/>
          </a:stretch>
        </p:blipFill>
        <p:spPr>
          <a:xfrm>
            <a:off x="576072" y="3104138"/>
            <a:ext cx="7991856" cy="516886"/>
          </a:xfrm>
          <a:prstGeom prst="rect">
            <a:avLst/>
          </a:prstGeom>
        </p:spPr>
      </p:pic>
      <p:sp>
        <p:nvSpPr>
          <p:cNvPr id="9" name="Text 5"/>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10" name="Shape 6"/>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7"/>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3"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4"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22</a:t>
            </a:r>
            <a:endParaRPr lang="en-US" sz="900" dirty="0"/>
          </a:p>
        </p:txBody>
      </p:sp>
      <p:sp>
        <p:nvSpPr>
          <p:cNvPr id="15"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Ba kiểu hỏng · 鏡面的三種壞法</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12_mirror.gif">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示意圖：課程自製（src/tools_make_mirror_gif.py）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Ba kiểu hỏng, hỏng theo ba cách khác nhau</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三種狀況，壞的方式完全不一樣</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giả định: ánh sáng bắn ra sẽ tán về một ít. Ba dòng này đều là lúc giả định đó không còn đúng.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光達的前提是：打出去的光會散一點回來。這三種狀況，就是這個前提不成立的時候。</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①② cùng một mặt kính, chỉ khác hướng bật ra. ③ không phải gương.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①②是同一面玻璃，只差彈出去的方向有沒有東西。③根本不是鏡面。</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và vật phản quang: không về, về sai chỗ, hoặc quá chói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鏡面與反光材質：光回不來、回錯地方、或太亮</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Bề mặt này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這個表面做了什麼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7916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22</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14 / 22</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tâm ảnh ở đâu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Lidar cũng có: góc từng tia</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鏡頭扭曲多少、畫面中心在哪</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光達也有：每條線束的角度</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Gắn ở đâu trên thân xe</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nhìn hướng nào</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裝在車身的哪裡</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朝哪個方向看</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 lệch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ngang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公尺處橫向差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16 / 22</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Xem thử · 2:55，跳著播三段</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Hiệu chuẩn ngoài tiệm: kỹ thuật viên thật sự làm gì</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標定在修車廠長什麼樣：技師實際在做什麼</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五週(10-8)/src/img/w5_s17_target.png">    </p:cNvPr>
          <p:cNvPicPr>
            <a:picLocks noChangeAspect="1"/>
          </p:cNvPicPr>
          <p:nvPr/>
        </p:nvPicPr>
        <p:blipFill>
          <a:blip r:embed="rId1"/>
          <a:stretch>
            <a:fillRect/>
          </a:stretch>
        </p:blipFill>
        <p:spPr>
          <a:xfrm>
            <a:off x="735981" y="1301348"/>
            <a:ext cx="3438366"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示意圖：課程自製（src/tools_make_target_png.py）</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Windshield camera recalibration: Static vs. Dynamic</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Safelite AutoGlass（美國最大的擋風玻璃商）　·　2:55（只看 0:20–0:35、1:25–2:00、2:02–2:33）</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https://youtu.be/LDptg_z9aCk</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0:20 Hãng quy định: thay kính chắn gió là phải hiệu chuẩn lại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0:20 原廠規定：擋風玻璃換過就一定要重新標定</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1:25 Laser canh xe → dựng bảng ô vuông đen trắng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1:25 雷射把車對正 → 搬出黑白格子標定板</a:t>
            </a:r>
            <a:endParaRPr lang="en-US" sz="950" dirty="0"/>
          </a:p>
        </p:txBody>
      </p:sp>
      <p:sp>
        <p:nvSpPr>
          <p:cNvPr id="17" name="Shape 14"/>
          <p:cNvSpPr/>
          <p:nvPr/>
        </p:nvSpPr>
        <p:spPr>
          <a:xfrm>
            <a:off x="4919472" y="3159311"/>
            <a:ext cx="36576" cy="237744"/>
          </a:xfrm>
          <a:prstGeom prst="rect">
            <a:avLst/>
          </a:prstGeom>
          <a:solidFill>
            <a:srgbClr val="00A896"/>
          </a:solidFill>
          <a:ln/>
        </p:spPr>
      </p:sp>
      <p:sp>
        <p:nvSpPr>
          <p:cNvPr id="18" name="Text 15"/>
          <p:cNvSpPr txBox="1"/>
          <p:nvPr/>
        </p:nvSpPr>
        <p:spPr>
          <a:xfrm>
            <a:off x="5047488" y="3122735"/>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2:02 Hiệu chuẩn động: chạy trên đường có vạch kẻ rõ</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2:02 動態標定：開上有清楚標線的路，跑到指定速度</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Kính không đắt hơn bao nhiêu — đắt là khúc hiệu chuẩn phía sau.</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玻璃本身沒貴多少，貴的是後面這段標定。</a:t>
            </a:r>
            <a:endParaRPr lang="en-US" sz="1150" dirty="0"/>
          </a:p>
        </p:txBody>
      </p:sp>
      <p:pic>
        <p:nvPicPr>
          <p:cNvPr id="22" name="Image 1"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23"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17 / 22</a:t>
            </a:r>
            <a:endParaRPr lang="en-US" sz="900" dirty="0"/>
          </a:p>
        </p:txBody>
      </p:sp>
      <p:sp>
        <p:nvSpPr>
          <p:cNvPr id="24"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19 / 22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Ouster OS1 — toàn bộ datasheet gốc (3 trang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Ouster OS1 — 廠商規格書原頁（規格那三頁）</a:t>
            </a:r>
            <a:endParaRPr lang="en-US" sz="1700" dirty="0"/>
          </a:p>
        </p:txBody>
      </p:sp>
      <p:sp>
        <p:nvSpPr>
          <p:cNvPr id="4" name="Shape 2"/>
          <p:cNvSpPr/>
          <p:nvPr/>
        </p:nvSpPr>
        <p:spPr>
          <a:xfrm>
            <a:off x="970511"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os1_p1.png">    </p:cNvPr>
          <p:cNvPicPr>
            <a:picLocks noChangeAspect="1"/>
          </p:cNvPicPr>
          <p:nvPr/>
        </p:nvPicPr>
        <p:blipFill>
          <a:blip r:embed="rId1"/>
          <a:stretch>
            <a:fillRect/>
          </a:stretch>
        </p:blipFill>
        <p:spPr>
          <a:xfrm>
            <a:off x="988799" y="1389888"/>
            <a:ext cx="2303457" cy="2980944"/>
          </a:xfrm>
          <a:prstGeom prst="rect">
            <a:avLst/>
          </a:prstGeom>
        </p:spPr>
      </p:pic>
      <p:sp>
        <p:nvSpPr>
          <p:cNvPr id="6" name="Shape 3"/>
          <p:cNvSpPr/>
          <p:nvPr/>
        </p:nvSpPr>
        <p:spPr>
          <a:xfrm>
            <a:off x="3401984"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os1_p2.png">    </p:cNvPr>
          <p:cNvPicPr>
            <a:picLocks noChangeAspect="1"/>
          </p:cNvPicPr>
          <p:nvPr/>
        </p:nvPicPr>
        <p:blipFill>
          <a:blip r:embed="rId2"/>
          <a:stretch>
            <a:fillRect/>
          </a:stretch>
        </p:blipFill>
        <p:spPr>
          <a:xfrm>
            <a:off x="3420272" y="1389888"/>
            <a:ext cx="2303457" cy="2980944"/>
          </a:xfrm>
          <a:prstGeom prst="rect">
            <a:avLst/>
          </a:prstGeom>
        </p:spPr>
      </p:pic>
      <p:sp>
        <p:nvSpPr>
          <p:cNvPr id="8" name="Shape 4"/>
          <p:cNvSpPr/>
          <p:nvPr/>
        </p:nvSpPr>
        <p:spPr>
          <a:xfrm>
            <a:off x="5833456" y="1371600"/>
            <a:ext cx="2340033" cy="3017520"/>
          </a:xfrm>
          <a:prstGeom prst="rect">
            <a:avLst/>
          </a:prstGeom>
          <a:solidFill>
            <a:srgbClr val="FFFFFF"/>
          </a:solidFill>
          <a:ln w="12700">
            <a:solidFill>
              <a:srgbClr val="DBE3EA"/>
            </a:solidFill>
            <a:prstDash val="solid"/>
          </a:ln>
        </p:spPr>
      </p:sp>
      <p:pic>
        <p:nvPicPr>
          <p:cNvPr id="9" name="Image 2" descr="/Users/tsengchenghsun/Class/carClass/Claude outputs/第五週(10-8)/src/img/w5_ds_os1_p3.png">    </p:cNvPr>
          <p:cNvPicPr>
            <a:picLocks noChangeAspect="1"/>
          </p:cNvPicPr>
          <p:nvPr/>
        </p:nvPicPr>
        <p:blipFill>
          <a:blip r:embed="rId3"/>
          <a:stretch>
            <a:fillRect/>
          </a:stretch>
        </p:blipFill>
        <p:spPr>
          <a:xfrm>
            <a:off x="5851744" y="1389888"/>
            <a:ext cx="2303457"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Ouster OS1 datasheet, hardware Rev7 / firmware 3.2 · 官方 PDF 第 1–3 頁原頁全文 · 讀取 2026/10/02 · 版權歸 Ouster，課堂引用</a:t>
            </a:r>
            <a:endParaRPr lang="en-US" sz="850" dirty="0"/>
          </a:p>
        </p:txBody>
      </p:sp>
      <p:pic>
        <p:nvPicPr>
          <p:cNvPr id="12" name="Image 3" descr="/Users/tsengchenghsun/Class/carClass/Claude outputs/第五週(10-8)/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22</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Hesai AT128P — nguyên trang sổ tay (phần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Hesai AT128P — 使用手冊原頁（規格那兩頁）</a:t>
            </a:r>
            <a:endParaRPr lang="en-US" sz="1700" dirty="0"/>
          </a:p>
        </p:txBody>
      </p:sp>
      <p:sp>
        <p:nvSpPr>
          <p:cNvPr id="4" name="Shape 2"/>
          <p:cNvSpPr/>
          <p:nvPr/>
        </p:nvSpPr>
        <p:spPr>
          <a:xfrm>
            <a:off x="484632" y="1445999"/>
            <a:ext cx="4041648" cy="2868722"/>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at128p_p13.png">    </p:cNvPr>
          <p:cNvPicPr>
            <a:picLocks noChangeAspect="1"/>
          </p:cNvPicPr>
          <p:nvPr/>
        </p:nvPicPr>
        <p:blipFill>
          <a:blip r:embed="rId1"/>
          <a:stretch>
            <a:fillRect/>
          </a:stretch>
        </p:blipFill>
        <p:spPr>
          <a:xfrm>
            <a:off x="502920" y="1464287"/>
            <a:ext cx="4005072" cy="2832146"/>
          </a:xfrm>
          <a:prstGeom prst="rect">
            <a:avLst/>
          </a:prstGeom>
        </p:spPr>
      </p:pic>
      <p:sp>
        <p:nvSpPr>
          <p:cNvPr id="6" name="Shape 3"/>
          <p:cNvSpPr/>
          <p:nvPr/>
        </p:nvSpPr>
        <p:spPr>
          <a:xfrm>
            <a:off x="4617720" y="1445999"/>
            <a:ext cx="4041648" cy="2868722"/>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at128p_p15.png">    </p:cNvPr>
          <p:cNvPicPr>
            <a:picLocks noChangeAspect="1"/>
          </p:cNvPicPr>
          <p:nvPr/>
        </p:nvPicPr>
        <p:blipFill>
          <a:blip r:embed="rId2"/>
          <a:stretch>
            <a:fillRect/>
          </a:stretch>
        </p:blipFill>
        <p:spPr>
          <a:xfrm>
            <a:off x="4636008" y="1464287"/>
            <a:ext cx="4005072" cy="2832146"/>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Hesai AT128P User Manual A02（en-250410）· §1.5 Specifications 第 13 頁與註解第 15 頁原頁全文 · 讀取 2026/10/02 · 版權歸 Hesai，課堂引用</a:t>
            </a:r>
            <a:endParaRPr lang="en-US" sz="850" dirty="0"/>
          </a:p>
        </p:txBody>
      </p:sp>
      <p:pic>
        <p:nvPicPr>
          <p:cNvPr id="10"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onsemi AR0233AT — toàn bộ datasheet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onsemi AR0233AT — 廠商規格書原頁（全兩頁）</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ar0233at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ar0233at_p2.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onsemi, AR0233AT Product Preview, Rev. P2, 11/2017（Publication Order Number AR0233AT/D）· 原頁全文 · 讀取 2026/10/02 · 版權歸 onsemi，課堂引用</a:t>
            </a:r>
            <a:endParaRPr lang="en-US" sz="850" dirty="0"/>
          </a:p>
        </p:txBody>
      </p:sp>
      <p:pic>
        <p:nvPicPr>
          <p:cNvPr id="10"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22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2026-10-06T02:34:03Z</dcterms:created>
  <dcterms:modified xsi:type="dcterms:W3CDTF">2026-10-06T02:34:03Z</dcterms:modified>
</cp:coreProperties>
</file>