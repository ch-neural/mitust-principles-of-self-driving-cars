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p:notesSz cx="7560000" cy="106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投影片影像版面配置區 3"/>
          <p:cNvSpPr>
            <a:spLocks noGrp="1" noRot="1" noChangeAspect="1"/>
          </p:cNvSpPr>
          <p:nvPr>
            <p:ph type="sldImg" idx="2"/>
          </p:nvPr>
        </p:nvSpPr>
        <p:spPr>
          <a:xfrm>
            <a:off x="540000" y="540000"/>
            <a:ext cx="6480000" cy="3645000"/>
          </a:xfrm>
          <a:prstGeom prst="rect">
            <a:avLst/>
          </a:prstGeom>
          <a:noFill/>
          <a:ln w="12700">
            <a:solidFill>
              <a:prstClr val="black"/>
            </a:solidFill>
          </a:ln>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
        <p:nvSpPr>
          <p:cNvPr id="5" name="備忘稿版面配置區 4"/>
          <p:cNvSpPr>
            <a:spLocks noGrp="1"/>
          </p:cNvSpPr>
          <p:nvPr>
            <p:ph type="body" idx="3"/>
          </p:nvPr>
        </p:nvSpPr>
        <p:spPr>
          <a:xfrm>
            <a:off x="540000" y="4440000"/>
            <a:ext cx="6480000" cy="5500000"/>
          </a:xfrm>
          <a:prstGeom prst="rect">
            <a:avLst/>
          </a:prstGeom>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
        <p:nvSpPr>
          <p:cNvPr id="7" name="投影片編號版面配置區 6"/>
          <p:cNvSpPr>
            <a:spLocks noGrp="1"/>
          </p:cNvSpPr>
          <p:nvPr>
            <p:ph type="sldNum" idx="5"/>
          </p:nvPr>
        </p:nvSpPr>
        <p:spPr>
          <a:xfrm>
            <a:off x="6500000" y="10200000"/>
            <a:ext cx="500000" cy="300000"/>
          </a:xfrm>
          <a:prstGeom prst="rect">
            <a:avLst/>
          </a:prstGeom>
        </p:spPr>
        <p:txBody>
          <a:bodyPr vert="horz" wrap="square" anchor="t" lIns="91440" rIns="91440" tIns="45720" bIns="45720"/>
          <a:lstStyle/>
          <a:p>
            <a:pPr algn="l">
              <a:lnSpc>
                <a:spcPct val="115000"/>
              </a:lnSpc>
              <a:spcAft>
                <a:spcPts val="600"/>
              </a:spcAft>
            </a:pPr>
            <a:r>
              <a:rPr sz="1200" lang="zh-TW" dirty="0">
                <a:solidFill>
                  <a:srgbClr val="000000"/>
                </a:solidFill>
                <a:latin typeface="Arial Unicode MS"/>
                <a:ea typeface="Arial Unicode MS"/>
                <a:cs typeface="Arial Unicode MS"/>
              </a:rPr>
              <a:t/>
            </a:r>
          </a:p>
        </p:txBody>
      </p:sp>
    </p:spTree>
    <p:extLst>
      <p:ext uri="{BB962C8B-B14F-4D97-AF65-F5344CB8AC3E}">
        <p14:creationId xmlns:p14="http://schemas.microsoft.com/office/powerpoint/2010/main" val="742958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Unicode MS"/>
        <a:ea typeface="Arial Unicode MS"/>
        <a:cs typeface="Arial Unicode MS"/>
      </a:defRPr>
    </a:lvl1pPr>
    <a:lvl2pPr marL="457200" algn="l" defTabSz="914400" rtl="0" eaLnBrk="1" latinLnBrk="0" hangingPunct="1">
      <a:defRPr sz="1200" kern="1200">
        <a:solidFill>
          <a:schemeClr val="tx1"/>
        </a:solidFill>
        <a:latin typeface="Arial Unicode MS"/>
        <a:ea typeface="Arial Unicode MS"/>
        <a:cs typeface="Arial Unicode MS"/>
      </a:defRPr>
    </a:lvl2pPr>
    <a:lvl3pPr marL="914400" algn="l" defTabSz="914400" rtl="0" eaLnBrk="1" latinLnBrk="0" hangingPunct="1">
      <a:defRPr sz="1200" kern="1200">
        <a:solidFill>
          <a:schemeClr val="tx1"/>
        </a:solidFill>
        <a:latin typeface="Arial Unicode MS"/>
        <a:ea typeface="Arial Unicode MS"/>
        <a:cs typeface="Arial Unicode MS"/>
      </a:defRPr>
    </a:lvl3pPr>
    <a:lvl4pPr marL="1371600" algn="l" defTabSz="914400" rtl="0" eaLnBrk="1" latinLnBrk="0" hangingPunct="1">
      <a:defRPr sz="1200" kern="1200">
        <a:solidFill>
          <a:schemeClr val="tx1"/>
        </a:solidFill>
        <a:latin typeface="Arial Unicode MS"/>
        <a:ea typeface="Arial Unicode MS"/>
        <a:cs typeface="Arial Unicode MS"/>
      </a:defRPr>
    </a:lvl4pPr>
    <a:lvl5pPr marL="1828800" algn="l" defTabSz="914400" rtl="0" eaLnBrk="1" latinLnBrk="0" hangingPunct="1">
      <a:defRPr sz="1200" kern="1200">
        <a:solidFill>
          <a:schemeClr val="tx1"/>
        </a:solidFill>
        <a:latin typeface="Arial Unicode MS"/>
        <a:ea typeface="Arial Unicode MS"/>
        <a:cs typeface="Arial Unicode MS"/>
      </a:defRPr>
    </a:lvl5pPr>
    <a:lvl6pPr marL="2286000" algn="l" defTabSz="914400" rtl="0" eaLnBrk="1" latinLnBrk="0" hangingPunct="1">
      <a:defRPr sz="1200" kern="1200">
        <a:solidFill>
          <a:schemeClr val="tx1"/>
        </a:solidFill>
        <a:latin typeface="Arial Unicode MS"/>
        <a:ea typeface="Arial Unicode MS"/>
        <a:cs typeface="Arial Unicode MS"/>
      </a:defRPr>
    </a:lvl6pPr>
    <a:lvl7pPr marL="2743200" algn="l" defTabSz="914400" rtl="0" eaLnBrk="1" latinLnBrk="0" hangingPunct="1">
      <a:defRPr sz="1200" kern="1200">
        <a:solidFill>
          <a:schemeClr val="tx1"/>
        </a:solidFill>
        <a:latin typeface="Arial Unicode MS"/>
        <a:ea typeface="Arial Unicode MS"/>
        <a:cs typeface="Arial Unicode MS"/>
      </a:defRPr>
    </a:lvl7pPr>
    <a:lvl8pPr marL="3200400" algn="l" defTabSz="914400" rtl="0" eaLnBrk="1" latinLnBrk="0" hangingPunct="1">
      <a:defRPr sz="1200" kern="1200">
        <a:solidFill>
          <a:schemeClr val="tx1"/>
        </a:solidFill>
        <a:latin typeface="Arial Unicode MS"/>
        <a:ea typeface="Arial Unicode MS"/>
        <a:cs typeface="Arial Unicode MS"/>
      </a:defRPr>
    </a:lvl8pPr>
    <a:lvl9pPr marL="3657600" algn="l" defTabSz="914400" rtl="0" eaLnBrk="1" latinLnBrk="0" hangingPunct="1">
      <a:defRPr sz="1200" kern="1200">
        <a:solidFill>
          <a:schemeClr val="tx1"/>
        </a:solidFill>
        <a:latin typeface="Arial Unicode MS"/>
        <a:ea typeface="Arial Unicode MS"/>
        <a:cs typeface="Arial Unicode M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58"/>
              </a:spcAft>
            </a:pPr>
            <a:r>
              <a:rPr sz="950" b="1" lang="zh-TW" dirty="0">
                <a:solidFill>
                  <a:srgbClr val="000000"/>
                </a:solidFill>
                <a:latin typeface="Arial Unicode MS"/>
                <a:ea typeface="Arial Unicode MS"/>
                <a:cs typeface="Arial Unicode MS"/>
              </a:rPr>
              <a:t>▍這一張要做什麼</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第二節開場。從「看得多遠多清楚」進到「看得準不準、合不合得起來」。
</a:t>
            </a:r>
          </a:p>
          <a:p>
            <a:pPr algn="l">
              <a:spcBef>
                <a:spcPts val="0"/>
              </a:spcBef>
              <a:spcAft>
                <a:spcPts val="158"/>
              </a:spcAft>
            </a:pPr>
            <a:r>
              <a:rPr sz="950" b="1" lang="zh-TW" dirty="0">
                <a:solidFill>
                  <a:srgbClr val="000000"/>
                </a:solidFill>
                <a:latin typeface="Arial Unicode MS"/>
                <a:ea typeface="Arial Unicode MS"/>
                <a:cs typeface="Arial Unicode MS"/>
              </a:rPr>
              <a:t>▍畫面上圈這裡</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圈主標「第二頁」，說明這些是上一節沒碰到的規格行。
</a:t>
            </a:r>
          </a:p>
          <a:p>
            <a:pPr algn="l">
              <a:spcBef>
                <a:spcPts val="0"/>
              </a:spcBef>
              <a:spcAft>
                <a:spcPts val="158"/>
              </a:spcAft>
            </a:pPr>
            <a:r>
              <a:rPr sz="950" b="1" lang="zh-TW" dirty="0">
                <a:solidFill>
                  <a:srgbClr val="000000"/>
                </a:solidFill>
                <a:latin typeface="Arial Unicode MS"/>
                <a:ea typeface="Arial Unicode MS"/>
                <a:cs typeface="Arial Unicode MS"/>
              </a:rPr>
              <a:t>▍以下照著唸</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第二節開始。
</a:t>
            </a:r>
          </a:p>
          <a:p>
            <a:pPr algn="l">
              <a:spcBef>
                <a:spcPts val="0"/>
              </a:spcBef>
              <a:spcAft>
                <a:spcPts val="158"/>
              </a:spcAft>
            </a:pPr>
            <a:r>
              <a:rPr sz="950" lang="zh-TW" dirty="0">
                <a:solidFill>
                  <a:srgbClr val="000000"/>
                </a:solidFill>
                <a:latin typeface="Arial Unicode MS"/>
                <a:ea typeface="Arial Unicode MS"/>
                <a:cs typeface="Arial Unicode MS"/>
              </a:rPr>
              <a:t>上一節我們找的四個數字，是規格表的</a:t>
            </a:r>
            <a:r>
              <a:rPr sz="950" b="1" lang="zh-TW" dirty="0">
                <a:solidFill>
                  <a:srgbClr val="000000"/>
                </a:solidFill>
                <a:latin typeface="Arial Unicode MS"/>
                <a:ea typeface="Arial Unicode MS"/>
                <a:cs typeface="Arial Unicode MS"/>
              </a:rPr>
              <a:t>第一頁</a:t>
            </a:r>
            <a:r>
              <a:rPr sz="950" lang="zh-TW" dirty="0">
                <a:solidFill>
                  <a:srgbClr val="000000"/>
                </a:solidFill>
                <a:latin typeface="Arial Unicode MS"/>
                <a:ea typeface="Arial Unicode MS"/>
                <a:cs typeface="Arial Unicode MS"/>
              </a:rPr>
              <a:t>——解析度、視野、測距、更新率。那四個是所有人都會看的。
</a:t>
            </a:r>
          </a:p>
          <a:p>
            <a:pPr algn="l">
              <a:spcBef>
                <a:spcPts val="0"/>
              </a:spcBef>
              <a:spcAft>
                <a:spcPts val="158"/>
              </a:spcAft>
            </a:pPr>
            <a:r>
              <a:rPr sz="950" lang="zh-TW" dirty="0">
                <a:solidFill>
                  <a:srgbClr val="000000"/>
                </a:solidFill>
                <a:latin typeface="Arial Unicode MS"/>
                <a:ea typeface="Arial Unicode MS"/>
                <a:cs typeface="Arial Unicode MS"/>
              </a:rPr>
              <a:t>這一節我要帶各位往下翻。第二頁上還有一堆數字，大部分的人不看，可是</a:t>
            </a:r>
            <a:r>
              <a:rPr sz="950" b="1" lang="zh-TW" dirty="0">
                <a:solidFill>
                  <a:srgbClr val="000000"/>
                </a:solidFill>
                <a:latin typeface="Arial Unicode MS"/>
                <a:ea typeface="Arial Unicode MS"/>
                <a:cs typeface="Arial Unicode MS"/>
              </a:rPr>
              <a:t>真的出事的時候，常常是出在那幾行</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我挑三組最重要的。
</a:t>
            </a:r>
          </a:p>
          <a:p>
            <a:pPr algn="l">
              <a:spcBef>
                <a:spcPts val="0"/>
              </a:spcBef>
              <a:spcAft>
                <a:spcPts val="158"/>
              </a:spcAft>
            </a:pPr>
            <a:r>
              <a:rPr sz="950" lang="zh-TW" dirty="0">
                <a:solidFill>
                  <a:srgbClr val="000000"/>
                </a:solidFill>
                <a:latin typeface="Arial Unicode MS"/>
                <a:ea typeface="Arial Unicode MS"/>
                <a:cs typeface="Arial Unicode MS"/>
              </a:rPr>
              <a:t>第一組是相機的：</a:t>
            </a:r>
            <a:r>
              <a:rPr sz="950" b="1" lang="zh-TW" dirty="0">
                <a:solidFill>
                  <a:srgbClr val="000000"/>
                </a:solidFill>
                <a:latin typeface="Arial Unicode MS"/>
                <a:ea typeface="Arial Unicode MS"/>
                <a:cs typeface="Arial Unicode MS"/>
              </a:rPr>
              <a:t>快門怎麼掃、動態範圍多少、LED 閃爍怎麼處理</a:t>
            </a:r>
            <a:r>
              <a:rPr sz="950" lang="zh-TW" dirty="0">
                <a:solidFill>
                  <a:srgbClr val="000000"/>
                </a:solidFill>
                <a:latin typeface="Arial Unicode MS"/>
                <a:ea typeface="Arial Unicode MS"/>
                <a:cs typeface="Arial Unicode MS"/>
              </a:rPr>
              <a:t>。這三件事決定了你的相機在隧道口和紅綠燈前面會不會瞎掉。
</a:t>
            </a:r>
          </a:p>
          <a:p>
            <a:pPr algn="l">
              <a:spcBef>
                <a:spcPts val="0"/>
              </a:spcBef>
              <a:spcAft>
                <a:spcPts val="158"/>
              </a:spcAft>
            </a:pPr>
            <a:r>
              <a:rPr sz="950" lang="zh-TW" dirty="0">
                <a:solidFill>
                  <a:srgbClr val="000000"/>
                </a:solidFill>
                <a:latin typeface="Arial Unicode MS"/>
                <a:ea typeface="Arial Unicode MS"/>
                <a:cs typeface="Arial Unicode MS"/>
              </a:rPr>
              <a:t>第二組是光達的：</a:t>
            </a:r>
            <a:r>
              <a:rPr sz="950" b="1" lang="zh-TW" dirty="0">
                <a:solidFill>
                  <a:srgbClr val="000000"/>
                </a:solidFill>
                <a:latin typeface="Arial Unicode MS"/>
                <a:ea typeface="Arial Unicode MS"/>
                <a:cs typeface="Arial Unicode MS"/>
              </a:rPr>
              <a:t>波長、眼睛安全等級、幾次回波</a:t>
            </a:r>
            <a:r>
              <a:rPr sz="950" lang="zh-TW" dirty="0">
                <a:solidFill>
                  <a:srgbClr val="000000"/>
                </a:solidFill>
                <a:latin typeface="Arial Unicode MS"/>
                <a:ea typeface="Arial Unicode MS"/>
                <a:cs typeface="Arial Unicode MS"/>
              </a:rPr>
              <a:t>。這三行決定了它在雨裡、在灰塵裡表現怎麼樣，還有它合不合法。
</a:t>
            </a:r>
          </a:p>
          <a:p>
            <a:pPr algn="l">
              <a:spcBef>
                <a:spcPts val="0"/>
              </a:spcBef>
              <a:spcAft>
                <a:spcPts val="158"/>
              </a:spcAft>
            </a:pPr>
            <a:r>
              <a:rPr sz="950" lang="zh-TW" dirty="0">
                <a:solidFill>
                  <a:srgbClr val="000000"/>
                </a:solidFill>
                <a:latin typeface="Arial Unicode MS"/>
                <a:ea typeface="Arial Unicode MS"/>
                <a:cs typeface="Arial Unicode MS"/>
              </a:rPr>
              <a:t>第三組是兩種都有的，而且是最多人忽略的：</a:t>
            </a:r>
            <a:r>
              <a:rPr sz="950" b="1" lang="zh-TW" dirty="0">
                <a:solidFill>
                  <a:srgbClr val="000000"/>
                </a:solidFill>
                <a:latin typeface="Arial Unicode MS"/>
                <a:ea typeface="Arial Unicode MS"/>
                <a:cs typeface="Arial Unicode MS"/>
              </a:rPr>
              <a:t>標定和時間同步</a:t>
            </a:r>
            <a:r>
              <a:rPr sz="950" lang="zh-TW" dirty="0">
                <a:solidFill>
                  <a:srgbClr val="000000"/>
                </a:solidFill>
                <a:latin typeface="Arial Unicode MS"/>
                <a:ea typeface="Arial Unicode MS"/>
                <a:cs typeface="Arial Unicode MS"/>
              </a:rPr>
              <a:t>。兩顆感測器如果沒有對準、沒有對時，它們各自都是好的，合起來卻是錯的。
</a:t>
            </a:r>
          </a:p>
          <a:p>
            <a:pPr algn="l">
              <a:spcBef>
                <a:spcPts val="0"/>
              </a:spcBef>
              <a:spcAft>
                <a:spcPts val="158"/>
              </a:spcAft>
            </a:pPr>
            <a:r>
              <a:rPr sz="950" lang="zh-TW" dirty="0">
                <a:solidFill>
                  <a:srgbClr val="000000"/>
                </a:solidFill>
                <a:latin typeface="Arial Unicode MS"/>
                <a:ea typeface="Arial Unicode MS"/>
                <a:cs typeface="Arial Unicode MS"/>
              </a:rPr>
              <a:t>這一節沒有上機，是講述。下一節再全部動手。</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a:t>
            </a: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b="1" lang="zh-TW" dirty="0">
                <a:solidFill>
                  <a:srgbClr val="000000"/>
                </a:solidFill>
                <a:latin typeface="Arial Unicode MS"/>
                <a:ea typeface="Arial Unicode MS"/>
                <a:cs typeface="Arial Unicode MS"/>
              </a:rPr>
              <a:t>▍這一張要做什麼</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段落分隔。宣告接下來三件事決定逆光與進隧道會發生什麼事；順便講明快門方式不在那份兩頁的 preview 上。
</a:t>
            </a:r>
          </a:p>
          <a:p>
            <a:pPr algn="l">
              <a:spcBef>
                <a:spcPts val="0"/>
              </a:spcBef>
              <a:spcAft>
                <a:spcPts val="200"/>
              </a:spcAft>
            </a:pPr>
            <a:r>
              <a:rPr sz="1200" b="1" lang="zh-TW" dirty="0">
                <a:solidFill>
                  <a:srgbClr val="000000"/>
                </a:solidFill>
                <a:latin typeface="Arial Unicode MS"/>
                <a:ea typeface="Arial Unicode MS"/>
                <a:cs typeface="Arial Unicode MS"/>
              </a:rPr>
              <a:t>▍畫面上圈這裡</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不用圈。
</a:t>
            </a:r>
          </a:p>
          <a:p>
            <a:pPr algn="l">
              <a:spcBef>
                <a:spcPts val="0"/>
              </a:spcBef>
              <a:spcAft>
                <a:spcPts val="200"/>
              </a:spcAft>
            </a:pPr>
            <a:r>
              <a:rPr sz="1200" b="1" lang="zh-TW" dirty="0">
                <a:solidFill>
                  <a:srgbClr val="000000"/>
                </a:solidFill>
                <a:latin typeface="Arial Unicode MS"/>
                <a:ea typeface="Arial Unicode MS"/>
                <a:cs typeface="Arial Unicode MS"/>
              </a:rPr>
              <a:t>▍以下照著唸</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第一組是相機，三件事：</a:t>
            </a:r>
            <a:r>
              <a:rPr sz="1200" b="1" lang="zh-TW" dirty="0">
                <a:solidFill>
                  <a:srgbClr val="000000"/>
                </a:solidFill>
                <a:latin typeface="Arial Unicode MS"/>
                <a:ea typeface="Arial Unicode MS"/>
                <a:cs typeface="Arial Unicode MS"/>
              </a:rPr>
              <a:t>快門方式、動態範圍、LED 閃爍抑制</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先說一件事，免得各位等一下找不到：動態範圍和 LED 閃爍，第一節第十張那張 AR0233AT 的表上都有。</a:t>
            </a:r>
            <a:r>
              <a:rPr sz="1200" b="1" lang="zh-TW" dirty="0">
                <a:solidFill>
                  <a:srgbClr val="000000"/>
                </a:solidFill>
                <a:latin typeface="Arial Unicode MS"/>
                <a:ea typeface="Arial Unicode MS"/>
                <a:cs typeface="Arial Unicode MS"/>
              </a:rPr>
              <a:t>快門方式沒有</a:t>
            </a:r>
            <a:r>
              <a:rPr sz="1200" lang="zh-TW" dirty="0">
                <a:solidFill>
                  <a:srgbClr val="000000"/>
                </a:solidFill>
                <a:latin typeface="Arial Unicode MS"/>
                <a:ea typeface="Arial Unicode MS"/>
                <a:cs typeface="Arial Unicode MS"/>
              </a:rPr>
              <a:t>——那份是兩頁的 product preview，短版文件會省東西。要看快門方式，得去 onsemi 的產品頁。
</a:t>
            </a:r>
          </a:p>
          <a:p>
            <a:pPr algn="l">
              <a:spcBef>
                <a:spcPts val="0"/>
              </a:spcBef>
              <a:spcAft>
                <a:spcPts val="200"/>
              </a:spcAft>
            </a:pPr>
            <a:r>
              <a:rPr sz="1200" lang="zh-TW" dirty="0">
                <a:solidFill>
                  <a:srgbClr val="000000"/>
                </a:solidFill>
                <a:latin typeface="Arial Unicode MS"/>
                <a:ea typeface="Arial Unicode MS"/>
                <a:cs typeface="Arial Unicode MS"/>
              </a:rPr>
              <a:t>判讀台上我幫各位把那一行補進去了，等一下可以對照。</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2</a:t>
            </a: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b="1" lang="zh-TW" dirty="0">
                <a:solidFill>
                  <a:srgbClr val="000000"/>
                </a:solidFill>
                <a:latin typeface="Arial Unicode MS"/>
                <a:ea typeface="Arial Unicode MS"/>
                <a:cs typeface="Arial Unicode MS"/>
              </a:rPr>
              <a:t>▍這一張要做什麼</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捲簾快門：一張照片不是同時拍的，是從上往下掃出來的。
</a:t>
            </a:r>
          </a:p>
          <a:p>
            <a:pPr algn="l">
              <a:spcBef>
                <a:spcPts val="0"/>
              </a:spcBef>
              <a:spcAft>
                <a:spcPts val="133"/>
              </a:spcAft>
            </a:pPr>
            <a:r>
              <a:rPr sz="800" b="1" lang="zh-TW" dirty="0">
                <a:solidFill>
                  <a:srgbClr val="000000"/>
                </a:solidFill>
                <a:latin typeface="Arial Unicode MS"/>
                <a:ea typeface="Arial Unicode MS"/>
                <a:cs typeface="Arial Unicode MS"/>
              </a:rPr>
              <a:t>▍畫面上圈這裡</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圈示意圖上時間差那個箭頭，再圈下方高速物體被拉歪的例子。
</a:t>
            </a:r>
          </a:p>
          <a:p>
            <a:pPr algn="l">
              <a:spcBef>
                <a:spcPts val="0"/>
              </a:spcBef>
              <a:spcAft>
                <a:spcPts val="133"/>
              </a:spcAft>
            </a:pPr>
            <a:r>
              <a:rPr sz="800" b="1" lang="zh-TW" dirty="0">
                <a:solidFill>
                  <a:srgbClr val="000000"/>
                </a:solidFill>
                <a:latin typeface="Arial Unicode MS"/>
                <a:ea typeface="Arial Unicode MS"/>
                <a:cs typeface="Arial Unicode MS"/>
              </a:rPr>
              <a:t>▍以下照著唸</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先講第一件，</a:t>
            </a:r>
            <a:r>
              <a:rPr sz="800" b="1" lang="zh-TW" dirty="0">
                <a:solidFill>
                  <a:srgbClr val="000000"/>
                </a:solidFill>
                <a:latin typeface="Arial Unicode MS"/>
                <a:ea typeface="Arial Unicode MS"/>
                <a:cs typeface="Arial Unicode MS"/>
              </a:rPr>
              <a:t>快門方式</a:t>
            </a:r>
            <a:r>
              <a:rPr sz="800" lang="zh-TW" dirty="0">
                <a:solidFill>
                  <a:srgbClr val="000000"/>
                </a:solidFill>
                <a:latin typeface="Arial Unicode MS"/>
                <a:ea typeface="Arial Unicode MS"/>
                <a:cs typeface="Arial Unicode MS"/>
              </a:rPr>
              <a:t>。規格表上會寫 rolling shutter 或者 global shutter——AR0233AT 是 </a:t>
            </a:r>
            <a:r>
              <a:rPr sz="800" b="1" lang="zh-TW" dirty="0">
                <a:solidFill>
                  <a:srgbClr val="000000"/>
                </a:solidFill>
                <a:latin typeface="Arial Unicode MS"/>
                <a:ea typeface="Arial Unicode MS"/>
                <a:cs typeface="Arial Unicode MS"/>
              </a:rPr>
              <a:t>electronic rolling shutter</a:t>
            </a:r>
            <a:r>
              <a:rPr sz="800" lang="zh-TW" dirty="0">
                <a:solidFill>
                  <a:srgbClr val="000000"/>
                </a:solidFill>
                <a:latin typeface="Arial Unicode MS"/>
                <a:ea typeface="Arial Unicode MS"/>
                <a:cs typeface="Arial Unicode MS"/>
              </a:rPr>
              <a:t>，電子捲簾。
</a:t>
            </a:r>
          </a:p>
          <a:p>
            <a:pPr algn="l">
              <a:spcBef>
                <a:spcPts val="0"/>
              </a:spcBef>
              <a:spcAft>
                <a:spcPts val="133"/>
              </a:spcAft>
            </a:pPr>
            <a:r>
              <a:rPr sz="800" lang="zh-TW" dirty="0">
                <a:solidFill>
                  <a:srgbClr val="000000"/>
                </a:solidFill>
                <a:latin typeface="Arial Unicode MS"/>
                <a:ea typeface="Arial Unicode MS"/>
                <a:cs typeface="Arial Unicode MS"/>
              </a:rPr>
              <a:t>大部分的人以為，相機按一下就是一整張照片同時拍好。</a:t>
            </a:r>
            <a:r>
              <a:rPr sz="800" b="1" lang="zh-TW" dirty="0">
                <a:solidFill>
                  <a:srgbClr val="000000"/>
                </a:solidFill>
                <a:latin typeface="Arial Unicode MS"/>
                <a:ea typeface="Arial Unicode MS"/>
                <a:cs typeface="Arial Unicode MS"/>
              </a:rPr>
              <a:t>大部分的車用相機不是這樣。</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它叫</a:t>
            </a:r>
            <a:r>
              <a:rPr sz="800" b="1" lang="zh-TW" dirty="0">
                <a:solidFill>
                  <a:srgbClr val="000000"/>
                </a:solidFill>
                <a:latin typeface="Arial Unicode MS"/>
                <a:ea typeface="Arial Unicode MS"/>
                <a:cs typeface="Arial Unicode MS"/>
              </a:rPr>
              <a:t>捲簾快門</a:t>
            </a:r>
            <a:r>
              <a:rPr sz="800" lang="zh-TW" dirty="0">
                <a:solidFill>
                  <a:srgbClr val="000000"/>
                </a:solidFill>
                <a:latin typeface="Arial Unicode MS"/>
                <a:ea typeface="Arial Unicode MS"/>
                <a:cs typeface="Arial Unicode MS"/>
              </a:rPr>
              <a:t>，rolling shutter。感光元件是</a:t>
            </a:r>
            <a:r>
              <a:rPr sz="800" b="1" lang="zh-TW" dirty="0">
                <a:solidFill>
                  <a:srgbClr val="000000"/>
                </a:solidFill>
                <a:latin typeface="Arial Unicode MS"/>
                <a:ea typeface="Arial Unicode MS"/>
                <a:cs typeface="Arial Unicode MS"/>
              </a:rPr>
              <a:t>一列一列</a:t>
            </a:r>
            <a:r>
              <a:rPr sz="800" lang="zh-TW" dirty="0">
                <a:solidFill>
                  <a:srgbClr val="000000"/>
                </a:solidFill>
                <a:latin typeface="Arial Unicode MS"/>
                <a:ea typeface="Arial Unicode MS"/>
                <a:cs typeface="Arial Unicode MS"/>
              </a:rPr>
              <a:t>讀出來的：先讀第一列，再讀第二列，一路讀到最後一列。整張讀完要幾十毫秒。
</a:t>
            </a:r>
          </a:p>
          <a:p>
            <a:pPr algn="l">
              <a:spcBef>
                <a:spcPts val="0"/>
              </a:spcBef>
              <a:spcAft>
                <a:spcPts val="133"/>
              </a:spcAft>
            </a:pPr>
            <a:r>
              <a:rPr sz="800" lang="zh-TW" dirty="0">
                <a:solidFill>
                  <a:srgbClr val="000000"/>
                </a:solidFill>
                <a:latin typeface="Arial Unicode MS"/>
                <a:ea typeface="Arial Unicode MS"/>
                <a:cs typeface="Arial Unicode MS"/>
              </a:rPr>
              <a:t>所以同一張照片裡面，最上面那一列和最下面那一列，</a:t>
            </a:r>
            <a:r>
              <a:rPr sz="800" b="1" lang="zh-TW" dirty="0">
                <a:solidFill>
                  <a:srgbClr val="000000"/>
                </a:solidFill>
                <a:latin typeface="Arial Unicode MS"/>
                <a:ea typeface="Arial Unicode MS"/>
                <a:cs typeface="Arial Unicode MS"/>
              </a:rPr>
              <a:t>不是同一個時間拍的</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這會怎樣？各位有沒有看過那種照片，車子開過去的時候路邊的電線桿是歪的？或者拍飛機的螺旋槳，葉片變成香蕉形？那就是捲簾快門。
</a:t>
            </a:r>
          </a:p>
          <a:p>
            <a:pPr algn="l">
              <a:spcBef>
                <a:spcPts val="0"/>
              </a:spcBef>
              <a:spcAft>
                <a:spcPts val="133"/>
              </a:spcAft>
            </a:pPr>
            <a:r>
              <a:rPr sz="800" lang="zh-TW" dirty="0">
                <a:solidFill>
                  <a:srgbClr val="000000"/>
                </a:solidFill>
                <a:latin typeface="Arial Unicode MS"/>
                <a:ea typeface="Arial Unicode MS"/>
                <a:cs typeface="Arial Unicode MS"/>
              </a:rPr>
              <a:t>我在白板上把一張照片畫成三條，標上第零毫秒、第十五毫秒、第三十毫秒——同一張照片，三個不同的時間。
</a:t>
            </a:r>
          </a:p>
          <a:p>
            <a:pPr algn="l">
              <a:spcBef>
                <a:spcPts val="0"/>
              </a:spcBef>
              <a:spcAft>
                <a:spcPts val="133"/>
              </a:spcAft>
            </a:pPr>
            <a:r>
              <a:rPr sz="800" lang="zh-TW" dirty="0">
                <a:solidFill>
                  <a:srgbClr val="000000"/>
                </a:solidFill>
                <a:latin typeface="Arial Unicode MS"/>
                <a:ea typeface="Arial Unicode MS"/>
                <a:cs typeface="Arial Unicode MS"/>
              </a:rPr>
              <a:t>對自駕車來說，這件事的嚴重性在哪裡？
</a:t>
            </a:r>
          </a:p>
          <a:p>
            <a:pPr algn="l">
              <a:spcBef>
                <a:spcPts val="0"/>
              </a:spcBef>
              <a:spcAft>
                <a:spcPts val="133"/>
              </a:spcAft>
            </a:pPr>
            <a:r>
              <a:rPr sz="800" lang="zh-TW" dirty="0">
                <a:solidFill>
                  <a:srgbClr val="000000"/>
                </a:solidFill>
                <a:latin typeface="Arial Unicode MS"/>
                <a:ea typeface="Arial Unicode MS"/>
                <a:cs typeface="Arial Unicode MS"/>
              </a:rPr>
              <a:t>假設你的車以時速六十在跑，旁邊有一台機車從右邊切過來。畫面上半部拍到他的時候他在 A 點，下半部拍到他的時候他已經到 B 點了。演算法看到的是一個</a:t>
            </a:r>
            <a:r>
              <a:rPr sz="800" b="1" lang="zh-TW" dirty="0">
                <a:solidFill>
                  <a:srgbClr val="000000"/>
                </a:solidFill>
                <a:latin typeface="Arial Unicode MS"/>
                <a:ea typeface="Arial Unicode MS"/>
                <a:cs typeface="Arial Unicode MS"/>
              </a:rPr>
              <a:t>被扭曲的形狀</a:t>
            </a:r>
            <a:r>
              <a:rPr sz="800" lang="zh-TW" dirty="0">
                <a:solidFill>
                  <a:srgbClr val="000000"/>
                </a:solidFill>
                <a:latin typeface="Arial Unicode MS"/>
                <a:ea typeface="Arial Unicode MS"/>
                <a:cs typeface="Arial Unicode MS"/>
              </a:rPr>
              <a:t>，而且它不知道那是扭曲的，它以為那就是真的。
</a:t>
            </a:r>
          </a:p>
          <a:p>
            <a:pPr algn="l">
              <a:spcBef>
                <a:spcPts val="0"/>
              </a:spcBef>
              <a:spcAft>
                <a:spcPts val="133"/>
              </a:spcAft>
            </a:pPr>
            <a:r>
              <a:rPr sz="800" lang="zh-TW" dirty="0">
                <a:solidFill>
                  <a:srgbClr val="000000"/>
                </a:solidFill>
                <a:latin typeface="Arial Unicode MS"/>
                <a:ea typeface="Arial Unicode MS"/>
                <a:cs typeface="Arial Unicode MS"/>
              </a:rPr>
              <a:t>那 global shutter 呢？整張同時曝光，沒有這個問題，但是貴很多，而且同樣的價錢下感光度比較差。
</a:t>
            </a:r>
          </a:p>
          <a:p>
            <a:pPr algn="l">
              <a:spcBef>
                <a:spcPts val="0"/>
              </a:spcBef>
              <a:spcAft>
                <a:spcPts val="133"/>
              </a:spcAft>
            </a:pPr>
            <a:r>
              <a:rPr sz="800" lang="zh-TW" dirty="0">
                <a:solidFill>
                  <a:srgbClr val="000000"/>
                </a:solidFill>
                <a:latin typeface="Arial Unicode MS"/>
                <a:ea typeface="Arial Unicode MS"/>
                <a:cs typeface="Arial Unicode MS"/>
              </a:rPr>
              <a:t>所以快門方式這一行不是文字遊戲，它決定了你的感知演算法要不要另外寫一段程式去補償。
</a:t>
            </a:r>
          </a:p>
          <a:p>
            <a:pPr algn="l">
              <a:spcBef>
                <a:spcPts val="0"/>
              </a:spcBef>
              <a:spcAft>
                <a:spcPts val="133"/>
              </a:spcAft>
            </a:pPr>
            <a:r>
              <a:rPr sz="800" lang="zh-TW" dirty="0">
                <a:solidFill>
                  <a:srgbClr val="000000"/>
                </a:solidFill>
                <a:latin typeface="Arial Unicode MS"/>
                <a:ea typeface="Arial Unicode MS"/>
                <a:cs typeface="Arial Unicode MS"/>
              </a:rPr>
              <a:t>大部分的車用感測器還是用捲簾，因為便宜。它的補救方式是</a:t>
            </a:r>
            <a:r>
              <a:rPr sz="800" b="1" lang="zh-TW" dirty="0">
                <a:solidFill>
                  <a:srgbClr val="000000"/>
                </a:solidFill>
                <a:latin typeface="Arial Unicode MS"/>
                <a:ea typeface="Arial Unicode MS"/>
                <a:cs typeface="Arial Unicode MS"/>
              </a:rPr>
              <a:t>讀得很快</a:t>
            </a:r>
            <a:r>
              <a:rPr sz="800" lang="zh-TW" dirty="0">
                <a:solidFill>
                  <a:srgbClr val="000000"/>
                </a:solidFill>
                <a:latin typeface="Arial Unicode MS"/>
                <a:ea typeface="Arial Unicode MS"/>
                <a:cs typeface="Arial Unicode MS"/>
              </a:rPr>
              <a:t>——像上一節看的 AR0233AT，一秒六十張，讀一張只要十六毫秒左右，扭曲就小一點。
</a:t>
            </a:r>
          </a:p>
          <a:p>
            <a:pPr algn="l">
              <a:spcBef>
                <a:spcPts val="0"/>
              </a:spcBef>
              <a:spcAft>
                <a:spcPts val="133"/>
              </a:spcAft>
            </a:pPr>
            <a:r>
              <a:rPr sz="800" lang="zh-TW" dirty="0">
                <a:solidFill>
                  <a:srgbClr val="000000"/>
                </a:solidFill>
                <a:latin typeface="Arial Unicode MS"/>
                <a:ea typeface="Arial Unicode MS"/>
                <a:cs typeface="Arial Unicode MS"/>
              </a:rPr>
              <a:t>所以「更新率 60 fps」這一行，除了講即時性，它其實也在講</a:t>
            </a:r>
            <a:r>
              <a:rPr sz="800" b="1" lang="zh-TW" dirty="0">
                <a:solidFill>
                  <a:srgbClr val="000000"/>
                </a:solidFill>
                <a:latin typeface="Arial Unicode MS"/>
                <a:ea typeface="Arial Unicode MS"/>
                <a:cs typeface="Arial Unicode MS"/>
              </a:rPr>
              <a:t>扭曲有多嚴重</a:t>
            </a:r>
            <a:r>
              <a:rPr sz="800" lang="zh-TW" dirty="0">
                <a:solidFill>
                  <a:srgbClr val="000000"/>
                </a:solidFill>
                <a:latin typeface="Arial Unicode MS"/>
                <a:ea typeface="Arial Unicode MS"/>
                <a:cs typeface="Arial Unicode MS"/>
              </a:rPr>
              <a:t>。一個數字，兩個意義。</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3</a:t>
            </a: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b="1" lang="zh-TW" dirty="0">
                <a:solidFill>
                  <a:srgbClr val="000000"/>
                </a:solidFill>
                <a:latin typeface="Arial Unicode MS"/>
                <a:ea typeface="Arial Unicode MS"/>
                <a:cs typeface="Arial Unicode MS"/>
              </a:rPr>
              <a:t>▍這一張要做什麼</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動態範圍：同一張畫面裡又有很暗又有很亮的地方。這條直接對應進隧道。
</a:t>
            </a:r>
          </a:p>
          <a:p>
            <a:pPr algn="l">
              <a:spcBef>
                <a:spcPts val="0"/>
              </a:spcBef>
              <a:spcAft>
                <a:spcPts val="133"/>
              </a:spcAft>
            </a:pPr>
            <a:r>
              <a:rPr sz="800" b="1" lang="zh-TW" dirty="0">
                <a:solidFill>
                  <a:srgbClr val="000000"/>
                </a:solidFill>
                <a:latin typeface="Arial Unicode MS"/>
                <a:ea typeface="Arial Unicode MS"/>
                <a:cs typeface="Arial Unicode MS"/>
              </a:rPr>
              <a:t>▍畫面上圈這裡</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先重播上一節那支影片的隧道段（youtu.be/OkV0Lj-uATE，約 0:28 起），只看下面那一格；再圈 dB 那個數字和隧道口的例子。
</a:t>
            </a:r>
          </a:p>
          <a:p>
            <a:pPr algn="l">
              <a:spcBef>
                <a:spcPts val="0"/>
              </a:spcBef>
              <a:spcAft>
                <a:spcPts val="133"/>
              </a:spcAft>
            </a:pPr>
            <a:r>
              <a:rPr sz="800" b="1" lang="zh-TW" dirty="0">
                <a:solidFill>
                  <a:srgbClr val="000000"/>
                </a:solidFill>
                <a:latin typeface="Arial Unicode MS"/>
                <a:ea typeface="Arial Unicode MS"/>
                <a:cs typeface="Arial Unicode MS"/>
              </a:rPr>
              <a:t>▍以下照著唸</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第二行是</a:t>
            </a:r>
            <a:r>
              <a:rPr sz="800" b="1" lang="zh-TW" dirty="0">
                <a:solidFill>
                  <a:srgbClr val="000000"/>
                </a:solidFill>
                <a:latin typeface="Arial Unicode MS"/>
                <a:ea typeface="Arial Unicode MS"/>
                <a:cs typeface="Arial Unicode MS"/>
              </a:rPr>
              <a:t>動態範圍</a:t>
            </a:r>
            <a:r>
              <a:rPr sz="800" lang="zh-TW" dirty="0">
                <a:solidFill>
                  <a:srgbClr val="000000"/>
                </a:solidFill>
                <a:latin typeface="Arial Unicode MS"/>
                <a:ea typeface="Arial Unicode MS"/>
                <a:cs typeface="Arial Unicode MS"/>
              </a:rPr>
              <a:t>，Dynamic Range，單位是 dB。
</a:t>
            </a:r>
          </a:p>
          <a:p>
            <a:pPr algn="l">
              <a:spcBef>
                <a:spcPts val="0"/>
              </a:spcBef>
              <a:spcAft>
                <a:spcPts val="133"/>
              </a:spcAft>
            </a:pPr>
            <a:r>
              <a:rPr sz="800" lang="zh-TW" dirty="0">
                <a:solidFill>
                  <a:srgbClr val="000000"/>
                </a:solidFill>
                <a:latin typeface="Arial Unicode MS"/>
                <a:ea typeface="Arial Unicode MS"/>
                <a:cs typeface="Arial Unicode MS"/>
              </a:rPr>
              <a:t>這一行在講：同一張畫面裡，它能同時處理多亮和多暗。
</a:t>
            </a:r>
          </a:p>
          <a:p>
            <a:pPr algn="l">
              <a:spcBef>
                <a:spcPts val="0"/>
              </a:spcBef>
              <a:spcAft>
                <a:spcPts val="133"/>
              </a:spcAft>
            </a:pPr>
            <a:r>
              <a:rPr sz="800" lang="zh-TW" dirty="0">
                <a:solidFill>
                  <a:srgbClr val="000000"/>
                </a:solidFill>
                <a:latin typeface="Arial Unicode MS"/>
                <a:ea typeface="Arial Unicode MS"/>
                <a:cs typeface="Arial Unicode MS"/>
              </a:rPr>
              <a:t>各位還記得上一節最後那支影片嗎？最後一個情境 Vehicle Exiting Tunnel——下面的相機，隧道出口一片死白，前面那幾台車完全看不到；上面的點雲卻清清楚楚。</a:t>
            </a:r>
            <a:r>
              <a:rPr sz="800" b="1" lang="zh-TW" dirty="0">
                <a:solidFill>
                  <a:srgbClr val="000000"/>
                </a:solidFill>
                <a:latin typeface="Arial Unicode MS"/>
                <a:ea typeface="Arial Unicode MS"/>
                <a:cs typeface="Arial Unicode MS"/>
              </a:rPr>
              <a:t>那就是動態範圍不夠的樣子。</a:t>
            </a:r>
            <a:r>
              <a:rPr sz="800" lang="zh-TW" dirty="0">
                <a:solidFill>
                  <a:srgbClr val="000000"/>
                </a:solidFill>
                <a:latin typeface="Arial Unicode MS"/>
                <a:ea typeface="Arial Unicode MS"/>
                <a:cs typeface="Arial Unicode MS"/>
              </a:rPr>
              <a:t>我現在把那十秒再播一次，這次各位只看下面那一格。
</a:t>
            </a:r>
          </a:p>
          <a:p>
            <a:pPr algn="l">
              <a:spcBef>
                <a:spcPts val="0"/>
              </a:spcBef>
              <a:spcAft>
                <a:spcPts val="133"/>
              </a:spcAft>
            </a:pPr>
            <a:r>
              <a:rPr sz="800" lang="zh-TW" dirty="0">
                <a:solidFill>
                  <a:srgbClr val="000000"/>
                </a:solidFill>
                <a:latin typeface="Arial Unicode MS"/>
                <a:ea typeface="Arial Unicode MS"/>
                <a:cs typeface="Arial Unicode MS"/>
              </a:rPr>
              <a:t>我舉一個各位一定有經驗的例子。中午開車出隧道口，那一瞬間你的眼睛會怎樣？
</a:t>
            </a:r>
          </a:p>
          <a:p>
            <a:pPr algn="l">
              <a:spcBef>
                <a:spcPts val="0"/>
              </a:spcBef>
              <a:spcAft>
                <a:spcPts val="133"/>
              </a:spcAft>
            </a:pPr>
            <a:r>
              <a:rPr sz="800" lang="zh-TW" dirty="0">
                <a:solidFill>
                  <a:srgbClr val="000000"/>
                </a:solidFill>
                <a:latin typeface="Arial Unicode MS"/>
                <a:ea typeface="Arial Unicode MS"/>
                <a:cs typeface="Arial Unicode MS"/>
              </a:rPr>
              <a:t>刺眼，然後看不清楚，要過一兩秒才適應。
</a:t>
            </a:r>
          </a:p>
          <a:p>
            <a:pPr algn="l">
              <a:spcBef>
                <a:spcPts val="0"/>
              </a:spcBef>
              <a:spcAft>
                <a:spcPts val="133"/>
              </a:spcAft>
            </a:pPr>
            <a:r>
              <a:rPr sz="800" lang="zh-TW" dirty="0">
                <a:solidFill>
                  <a:srgbClr val="000000"/>
                </a:solidFill>
                <a:latin typeface="Arial Unicode MS"/>
                <a:ea typeface="Arial Unicode MS"/>
                <a:cs typeface="Arial Unicode MS"/>
              </a:rPr>
              <a:t>相機也一樣，而且它沒有兩秒可以適應。隧道裡面很暗，出口外面很亮，這兩個亮度差可能是好幾萬倍。如果相機的動態範圍不夠，它只能選一邊：</a:t>
            </a:r>
            <a:r>
              <a:rPr sz="800" b="1" lang="zh-TW" dirty="0">
                <a:solidFill>
                  <a:srgbClr val="000000"/>
                </a:solidFill>
                <a:latin typeface="Arial Unicode MS"/>
                <a:ea typeface="Arial Unicode MS"/>
                <a:cs typeface="Arial Unicode MS"/>
              </a:rPr>
              <a:t>要嘛把裡面拍清楚，外面整片白；要嘛把外面拍清楚，裡面整片黑。</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那個整片白或整片黑的地方，如果剛好有一台停在路邊的車，你就看不到它。
</a:t>
            </a:r>
          </a:p>
          <a:p>
            <a:pPr algn="l">
              <a:spcBef>
                <a:spcPts val="0"/>
              </a:spcBef>
              <a:spcAft>
                <a:spcPts val="133"/>
              </a:spcAft>
            </a:pPr>
            <a:r>
              <a:rPr sz="800" lang="zh-TW" dirty="0">
                <a:solidFill>
                  <a:srgbClr val="000000"/>
                </a:solidFill>
                <a:latin typeface="Arial Unicode MS"/>
                <a:ea typeface="Arial Unicode MS"/>
                <a:cs typeface="Arial Unicode MS"/>
              </a:rPr>
              <a:t>這是真實事故的成因之一，各位記一下。
</a:t>
            </a:r>
          </a:p>
          <a:p>
            <a:pPr algn="l">
              <a:spcBef>
                <a:spcPts val="0"/>
              </a:spcBef>
              <a:spcAft>
                <a:spcPts val="133"/>
              </a:spcAft>
            </a:pPr>
            <a:r>
              <a:rPr sz="800" lang="zh-TW" dirty="0">
                <a:solidFill>
                  <a:srgbClr val="000000"/>
                </a:solidFill>
                <a:latin typeface="Arial Unicode MS"/>
                <a:ea typeface="Arial Unicode MS"/>
                <a:cs typeface="Arial Unicode MS"/>
              </a:rPr>
              <a:t>人的眼睛大概可以處理 120 dB 左右。上一節那顆 AR0233AT，規格表上寫 </a:t>
            </a:r>
            <a:r>
              <a:rPr sz="800" b="1" lang="zh-TW" dirty="0">
                <a:solidFill>
                  <a:srgbClr val="000000"/>
                </a:solidFill>
                <a:latin typeface="Arial Unicode MS"/>
                <a:ea typeface="Arial Unicode MS"/>
                <a:cs typeface="Arial Unicode MS"/>
              </a:rPr>
              <a:t>140 dB 以上</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dB 是對數的單位，每 20 dB 差十倍。140 減 120 是 20，所以它比人眼還多十倍的餘裕。這就是為什麼一顆車用的感測器可以賣得比手機的貴。
</a:t>
            </a:r>
          </a:p>
          <a:p>
            <a:pPr algn="l">
              <a:spcBef>
                <a:spcPts val="0"/>
              </a:spcBef>
              <a:spcAft>
                <a:spcPts val="133"/>
              </a:spcAft>
            </a:pPr>
            <a:r>
              <a:rPr sz="800" lang="zh-TW" dirty="0">
                <a:solidFill>
                  <a:srgbClr val="000000"/>
                </a:solidFill>
                <a:latin typeface="Arial Unicode MS"/>
                <a:ea typeface="Arial Unicode MS"/>
                <a:cs typeface="Arial Unicode MS"/>
              </a:rPr>
              <a:t>所以以後看到規格表上寫 120 dB 和寫 140 dB，那不是差百分之十七，是</a:t>
            </a:r>
            <a:r>
              <a:rPr sz="800" b="1" lang="zh-TW" dirty="0">
                <a:solidFill>
                  <a:srgbClr val="000000"/>
                </a:solidFill>
                <a:latin typeface="Arial Unicode MS"/>
                <a:ea typeface="Arial Unicode MS"/>
                <a:cs typeface="Arial Unicode MS"/>
              </a:rPr>
              <a:t>差十倍</a:t>
            </a:r>
            <a:r>
              <a:rPr sz="800" lang="zh-TW" dirty="0">
                <a:solidFill>
                  <a:srgbClr val="000000"/>
                </a:solidFill>
                <a:latin typeface="Arial Unicode MS"/>
                <a:ea typeface="Arial Unicode MS"/>
                <a:cs typeface="Arial Unicode MS"/>
              </a:rPr>
              <a:t>。這一行是最容易被數字騙的一行。
</a:t>
            </a:r>
          </a:p>
          <a:p>
            <a:pPr algn="l">
              <a:spcBef>
                <a:spcPts val="0"/>
              </a:spcBef>
              <a:spcAft>
                <a:spcPts val="133"/>
              </a:spcAft>
            </a:pPr>
            <a:r>
              <a:rPr sz="800" lang="zh-TW" dirty="0">
                <a:solidFill>
                  <a:srgbClr val="000000"/>
                </a:solidFill>
                <a:latin typeface="Arial Unicode MS"/>
                <a:ea typeface="Arial Unicode MS"/>
                <a:cs typeface="Arial Unicode MS"/>
              </a:rPr>
              <a:t>第三週我們在</a:t>
            </a:r>
            <a:r>
              <a:rPr sz="800" b="1" lang="zh-TW" dirty="0">
                <a:solidFill>
                  <a:srgbClr val="000000"/>
                </a:solidFill>
                <a:latin typeface="Arial Unicode MS"/>
                <a:ea typeface="Arial Unicode MS"/>
                <a:cs typeface="Arial Unicode MS"/>
              </a:rPr>
              <a:t>感測器實驗室</a:t>
            </a:r>
            <a:r>
              <a:rPr sz="800" lang="zh-TW" dirty="0">
                <a:solidFill>
                  <a:srgbClr val="000000"/>
                </a:solidFill>
                <a:latin typeface="Arial Unicode MS"/>
                <a:ea typeface="Arial Unicode MS"/>
                <a:cs typeface="Arial Unicode MS"/>
              </a:rPr>
              <a:t>上按「逆光眩光」——那是上上禮拜那支網頁，不是今天這支——相機的有效距離從八十公尺掉到十八公尺。那一顆的動態範圍就是不夠。動態範圍愈高的相機，那個按鈕對它的傷害就愈小。</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4</a:t>
            </a: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b="1" lang="zh-TW" dirty="0">
                <a:solidFill>
                  <a:srgbClr val="000000"/>
                </a:solidFill>
                <a:latin typeface="Arial Unicode MS"/>
                <a:ea typeface="Arial Unicode MS"/>
                <a:cs typeface="Arial Unicode MS"/>
              </a:rPr>
              <a:t>▍這一張要做什麼</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LED 閃爍：人眼看不出來，相機看得出來，結果號誌可能整個是黑的。
</a:t>
            </a:r>
          </a:p>
          <a:p>
            <a:pPr algn="l">
              <a:spcBef>
                <a:spcPts val="0"/>
              </a:spcBef>
              <a:spcAft>
                <a:spcPts val="133"/>
              </a:spcAft>
            </a:pPr>
            <a:r>
              <a:rPr sz="800" b="1" lang="zh-TW" dirty="0">
                <a:solidFill>
                  <a:srgbClr val="000000"/>
                </a:solidFill>
                <a:latin typeface="Arial Unicode MS"/>
                <a:ea typeface="Arial Unicode MS"/>
                <a:cs typeface="Arial Unicode MS"/>
              </a:rPr>
              <a:t>▍畫面上圈這裡</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圈「人眼看不出來」與「相機看得出來」，兩邊各指一次。
</a:t>
            </a:r>
          </a:p>
          <a:p>
            <a:pPr algn="l">
              <a:spcBef>
                <a:spcPts val="0"/>
              </a:spcBef>
              <a:spcAft>
                <a:spcPts val="133"/>
              </a:spcAft>
            </a:pPr>
            <a:r>
              <a:rPr sz="800" b="1" lang="zh-TW" dirty="0">
                <a:solidFill>
                  <a:srgbClr val="000000"/>
                </a:solidFill>
                <a:latin typeface="Arial Unicode MS"/>
                <a:ea typeface="Arial Unicode MS"/>
                <a:cs typeface="Arial Unicode MS"/>
              </a:rPr>
              <a:t>▍以下照著唸</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第三行是</a:t>
            </a:r>
            <a:r>
              <a:rPr sz="800" b="1" lang="zh-TW" dirty="0">
                <a:solidFill>
                  <a:srgbClr val="000000"/>
                </a:solidFill>
                <a:latin typeface="Arial Unicode MS"/>
                <a:ea typeface="Arial Unicode MS"/>
                <a:cs typeface="Arial Unicode MS"/>
              </a:rPr>
              <a:t>LED 閃爍抑制</a:t>
            </a:r>
            <a:r>
              <a:rPr sz="800" lang="zh-TW" dirty="0">
                <a:solidFill>
                  <a:srgbClr val="000000"/>
                </a:solidFill>
                <a:latin typeface="Arial Unicode MS"/>
                <a:ea typeface="Arial Unicode MS"/>
                <a:cs typeface="Arial Unicode MS"/>
              </a:rPr>
              <a:t>，規格表上寫 LFM，LED Flicker Mitigation。
</a:t>
            </a:r>
          </a:p>
          <a:p>
            <a:pPr algn="l">
              <a:spcBef>
                <a:spcPts val="0"/>
              </a:spcBef>
              <a:spcAft>
                <a:spcPts val="133"/>
              </a:spcAft>
            </a:pPr>
            <a:r>
              <a:rPr sz="800" lang="zh-TW" dirty="0">
                <a:solidFill>
                  <a:srgbClr val="000000"/>
                </a:solidFill>
                <a:latin typeface="Arial Unicode MS"/>
                <a:ea typeface="Arial Unicode MS"/>
                <a:cs typeface="Arial Unicode MS"/>
              </a:rPr>
              <a:t>這一行大部分的人看不懂在幹嘛，可是它非常重要。
</a:t>
            </a:r>
          </a:p>
          <a:p>
            <a:pPr algn="l">
              <a:spcBef>
                <a:spcPts val="0"/>
              </a:spcBef>
              <a:spcAft>
                <a:spcPts val="133"/>
              </a:spcAft>
            </a:pPr>
            <a:r>
              <a:rPr sz="800" lang="zh-TW" dirty="0">
                <a:solidFill>
                  <a:srgbClr val="000000"/>
                </a:solidFill>
                <a:latin typeface="Arial Unicode MS"/>
                <a:ea typeface="Arial Unicode MS"/>
                <a:cs typeface="Arial Unicode MS"/>
              </a:rPr>
              <a:t>現在路上的紅綠燈、車子的尾燈，幾乎全部換成 LED 了。LED 不是一直亮著的，它是</a:t>
            </a:r>
            <a:r>
              <a:rPr sz="800" b="1" lang="zh-TW" dirty="0">
                <a:solidFill>
                  <a:srgbClr val="000000"/>
                </a:solidFill>
                <a:latin typeface="Arial Unicode MS"/>
                <a:ea typeface="Arial Unicode MS"/>
                <a:cs typeface="Arial Unicode MS"/>
              </a:rPr>
              <a:t>用很快的速度在閃</a:t>
            </a:r>
            <a:r>
              <a:rPr sz="800" lang="zh-TW" dirty="0">
                <a:solidFill>
                  <a:srgbClr val="000000"/>
                </a:solidFill>
                <a:latin typeface="Arial Unicode MS"/>
                <a:ea typeface="Arial Unicode MS"/>
                <a:cs typeface="Arial Unicode MS"/>
              </a:rPr>
              <a:t>，一秒鐘閃好幾百次。因為閃得太快，人的眼睛看起來就是連續亮著。
</a:t>
            </a:r>
          </a:p>
          <a:p>
            <a:pPr algn="l">
              <a:spcBef>
                <a:spcPts val="0"/>
              </a:spcBef>
              <a:spcAft>
                <a:spcPts val="133"/>
              </a:spcAft>
            </a:pPr>
            <a:r>
              <a:rPr sz="800" lang="zh-TW" dirty="0">
                <a:solidFill>
                  <a:srgbClr val="000000"/>
                </a:solidFill>
                <a:latin typeface="Arial Unicode MS"/>
                <a:ea typeface="Arial Unicode MS"/>
                <a:cs typeface="Arial Unicode MS"/>
              </a:rPr>
              <a:t>可是相機不一樣。相機是一張一張拍的，如果快門剛好落在 LED 熄掉的那一瞬間呢？
</a:t>
            </a:r>
          </a:p>
          <a:p>
            <a:pPr algn="l">
              <a:spcBef>
                <a:spcPts val="0"/>
              </a:spcBef>
              <a:spcAft>
                <a:spcPts val="133"/>
              </a:spcAft>
            </a:pPr>
            <a:r>
              <a:rPr sz="800" b="1" lang="zh-TW" dirty="0">
                <a:solidFill>
                  <a:srgbClr val="000000"/>
                </a:solidFill>
                <a:latin typeface="Arial Unicode MS"/>
                <a:ea typeface="Arial Unicode MS"/>
                <a:cs typeface="Arial Unicode MS"/>
              </a:rPr>
              <a:t>你就拍到一個沒有亮的紅燈。</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大家想一下這件事有多可怕。
</a:t>
            </a:r>
          </a:p>
          <a:p>
            <a:pPr algn="l">
              <a:spcBef>
                <a:spcPts val="0"/>
              </a:spcBef>
              <a:spcAft>
                <a:spcPts val="133"/>
              </a:spcAft>
            </a:pPr>
            <a:r>
              <a:rPr sz="800" lang="zh-TW" dirty="0">
                <a:solidFill>
                  <a:srgbClr val="000000"/>
                </a:solidFill>
                <a:latin typeface="Arial Unicode MS"/>
                <a:ea typeface="Arial Unicode MS"/>
                <a:cs typeface="Arial Unicode MS"/>
              </a:rPr>
              <a:t>一台自駕車，前面是紅燈，相機拍回來的畫面上那個燈是暗的。演算法會怎麼判斷？它可能認為那個號誌壞掉了，或者根本沒看到號誌。
</a:t>
            </a:r>
          </a:p>
          <a:p>
            <a:pPr algn="l">
              <a:spcBef>
                <a:spcPts val="0"/>
              </a:spcBef>
              <a:spcAft>
                <a:spcPts val="133"/>
              </a:spcAft>
            </a:pPr>
            <a:r>
              <a:rPr sz="800" lang="zh-TW" dirty="0">
                <a:solidFill>
                  <a:srgbClr val="000000"/>
                </a:solidFill>
                <a:latin typeface="Arial Unicode MS"/>
                <a:ea typeface="Arial Unicode MS"/>
                <a:cs typeface="Arial Unicode MS"/>
              </a:rPr>
              <a:t>同樣的事也發生在前車的尾燈上。前面那台車在煞車，尾燈亮了，可是你拍到的那一張剛好是暗的。
</a:t>
            </a:r>
          </a:p>
          <a:p>
            <a:pPr algn="l">
              <a:spcBef>
                <a:spcPts val="0"/>
              </a:spcBef>
              <a:spcAft>
                <a:spcPts val="133"/>
              </a:spcAft>
            </a:pPr>
            <a:r>
              <a:rPr sz="800" lang="zh-TW" dirty="0">
                <a:solidFill>
                  <a:srgbClr val="000000"/>
                </a:solidFill>
                <a:latin typeface="Arial Unicode MS"/>
                <a:ea typeface="Arial Unicode MS"/>
                <a:cs typeface="Arial Unicode MS"/>
              </a:rPr>
              <a:t>所以車用的影像感測器要特別處理這件事，作法是</a:t>
            </a:r>
            <a:r>
              <a:rPr sz="800" b="1" lang="zh-TW" dirty="0">
                <a:solidFill>
                  <a:srgbClr val="000000"/>
                </a:solidFill>
                <a:latin typeface="Arial Unicode MS"/>
                <a:ea typeface="Arial Unicode MS"/>
                <a:cs typeface="Arial Unicode MS"/>
              </a:rPr>
              <a:t>把曝光拆成好幾段</a:t>
            </a:r>
            <a:r>
              <a:rPr sz="800" lang="zh-TW" dirty="0">
                <a:solidFill>
                  <a:srgbClr val="000000"/>
                </a:solidFill>
                <a:latin typeface="Arial Unicode MS"/>
                <a:ea typeface="Arial Unicode MS"/>
                <a:cs typeface="Arial Unicode MS"/>
              </a:rPr>
              <a:t>，讓每一張畫面一定會涵蓋到 LED 亮著的時候。
</a:t>
            </a:r>
          </a:p>
          <a:p>
            <a:pPr algn="l">
              <a:spcBef>
                <a:spcPts val="0"/>
              </a:spcBef>
              <a:spcAft>
                <a:spcPts val="133"/>
              </a:spcAft>
            </a:pPr>
            <a:r>
              <a:rPr sz="800" lang="zh-TW" dirty="0">
                <a:solidFill>
                  <a:srgbClr val="000000"/>
                </a:solidFill>
                <a:latin typeface="Arial Unicode MS"/>
                <a:ea typeface="Arial Unicode MS"/>
                <a:cs typeface="Arial Unicode MS"/>
              </a:rPr>
              <a:t>各位回去看 AR0233AT 的規格表，上面寫著「Full resolution LFM」，就是這個功能。這一行是一顆感測器能不能拿來做自駕的</a:t>
            </a:r>
            <a:r>
              <a:rPr sz="800" b="1" lang="zh-TW" dirty="0">
                <a:solidFill>
                  <a:srgbClr val="000000"/>
                </a:solidFill>
                <a:latin typeface="Arial Unicode MS"/>
                <a:ea typeface="Arial Unicode MS"/>
                <a:cs typeface="Arial Unicode MS"/>
              </a:rPr>
              <a:t>及格線</a:t>
            </a:r>
            <a:r>
              <a:rPr sz="800" lang="zh-TW" dirty="0">
                <a:solidFill>
                  <a:srgbClr val="000000"/>
                </a:solidFill>
                <a:latin typeface="Arial Unicode MS"/>
                <a:ea typeface="Arial Unicode MS"/>
                <a:cs typeface="Arial Unicode MS"/>
              </a:rPr>
              <a:t>——沒有它，紅綠燈就讀不穩。
</a:t>
            </a:r>
          </a:p>
          <a:p>
            <a:pPr algn="l">
              <a:spcBef>
                <a:spcPts val="0"/>
              </a:spcBef>
              <a:spcAft>
                <a:spcPts val="133"/>
              </a:spcAft>
            </a:pPr>
            <a:r>
              <a:rPr sz="800" lang="zh-TW" dirty="0">
                <a:solidFill>
                  <a:srgbClr val="000000"/>
                </a:solidFill>
                <a:latin typeface="Arial Unicode MS"/>
                <a:ea typeface="Arial Unicode MS"/>
                <a:cs typeface="Arial Unicode MS"/>
              </a:rPr>
              <a:t>這也回答了一個第三週有同學問過的問題：為什麼讀紅綠燈這麼難？光是「燈到底有沒有亮」這件事，就要靠一個特別設計的功能才做得對。</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5</a:t>
            </a: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b="1" lang="zh-TW" dirty="0">
                <a:solidFill>
                  <a:srgbClr val="000000"/>
                </a:solidFill>
                <a:latin typeface="Arial Unicode MS"/>
                <a:ea typeface="Arial Unicode MS"/>
                <a:cs typeface="Arial Unicode MS"/>
              </a:rPr>
              <a:t>▍這一張要做什麼</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段落分隔。切到光達的三行：波長、眼睛安全、回波次數。
</a:t>
            </a:r>
          </a:p>
          <a:p>
            <a:pPr algn="l">
              <a:spcBef>
                <a:spcPts val="0"/>
              </a:spcBef>
              <a:spcAft>
                <a:spcPts val="200"/>
              </a:spcAft>
            </a:pPr>
            <a:r>
              <a:rPr sz="1200" b="1" lang="zh-TW" dirty="0">
                <a:solidFill>
                  <a:srgbClr val="000000"/>
                </a:solidFill>
                <a:latin typeface="Arial Unicode MS"/>
                <a:ea typeface="Arial Unicode MS"/>
                <a:cs typeface="Arial Unicode MS"/>
              </a:rPr>
              <a:t>▍畫面上圈這裡</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不用圈。
</a:t>
            </a:r>
          </a:p>
          <a:p>
            <a:pPr algn="l">
              <a:spcBef>
                <a:spcPts val="0"/>
              </a:spcBef>
              <a:spcAft>
                <a:spcPts val="200"/>
              </a:spcAft>
            </a:pPr>
            <a:r>
              <a:rPr sz="1200" b="1" lang="zh-TW" dirty="0">
                <a:solidFill>
                  <a:srgbClr val="000000"/>
                </a:solidFill>
                <a:latin typeface="Arial Unicode MS"/>
                <a:ea typeface="Arial Unicode MS"/>
                <a:cs typeface="Arial Unicode MS"/>
              </a:rPr>
              <a:t>▍以下照著唸</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第二組，光達的三行。</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6</a:t>
            </a: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b="1" lang="zh-TW" dirty="0">
                <a:solidFill>
                  <a:srgbClr val="000000"/>
                </a:solidFill>
                <a:latin typeface="Arial Unicode MS"/>
                <a:ea typeface="Arial Unicode MS"/>
                <a:cs typeface="Arial Unicode MS"/>
              </a:rPr>
              <a:t>▍這一張要做什麼</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三種波長各有代價，選波長就是選代價。
</a:t>
            </a:r>
          </a:p>
          <a:p>
            <a:pPr algn="l">
              <a:spcBef>
                <a:spcPts val="0"/>
              </a:spcBef>
              <a:spcAft>
                <a:spcPts val="133"/>
              </a:spcAft>
            </a:pPr>
            <a:r>
              <a:rPr sz="800" b="1" lang="zh-TW" dirty="0">
                <a:solidFill>
                  <a:srgbClr val="000000"/>
                </a:solidFill>
                <a:latin typeface="Arial Unicode MS"/>
                <a:ea typeface="Arial Unicode MS"/>
                <a:cs typeface="Arial Unicode MS"/>
              </a:rPr>
              <a:t>▍畫面上圈這裡</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一列一列圈，每圈一列念一次它的代價。
</a:t>
            </a:r>
          </a:p>
          <a:p>
            <a:pPr algn="l">
              <a:spcBef>
                <a:spcPts val="0"/>
              </a:spcBef>
              <a:spcAft>
                <a:spcPts val="133"/>
              </a:spcAft>
            </a:pPr>
            <a:r>
              <a:rPr sz="800" b="1" lang="zh-TW" dirty="0">
                <a:solidFill>
                  <a:srgbClr val="000000"/>
                </a:solidFill>
                <a:latin typeface="Arial Unicode MS"/>
                <a:ea typeface="Arial Unicode MS"/>
                <a:cs typeface="Arial Unicode MS"/>
              </a:rPr>
              <a:t>▍以下照著唸</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光達的第一行講的是</a:t>
            </a:r>
            <a:r>
              <a:rPr sz="800" b="1" lang="zh-TW" dirty="0">
                <a:solidFill>
                  <a:srgbClr val="000000"/>
                </a:solidFill>
                <a:latin typeface="Arial Unicode MS"/>
                <a:ea typeface="Arial Unicode MS"/>
                <a:cs typeface="Arial Unicode MS"/>
              </a:rPr>
              <a:t>波長</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規格表上會寫一個數字，單位是奈米。路上最常見的是 </a:t>
            </a:r>
            <a:r>
              <a:rPr sz="800" b="1" lang="zh-TW" dirty="0">
                <a:solidFill>
                  <a:srgbClr val="000000"/>
                </a:solidFill>
                <a:latin typeface="Arial Unicode MS"/>
                <a:ea typeface="Arial Unicode MS"/>
                <a:cs typeface="Arial Unicode MS"/>
              </a:rPr>
              <a:t>905 奈米</a:t>
            </a:r>
            <a:r>
              <a:rPr sz="800" lang="zh-TW" dirty="0">
                <a:solidFill>
                  <a:srgbClr val="000000"/>
                </a:solidFill>
                <a:latin typeface="Arial Unicode MS"/>
                <a:ea typeface="Arial Unicode MS"/>
                <a:cs typeface="Arial Unicode MS"/>
              </a:rPr>
              <a:t>，我們看的 OS1 寫的是 </a:t>
            </a:r>
            <a:r>
              <a:rPr sz="800" b="1" lang="zh-TW" dirty="0">
                <a:solidFill>
                  <a:srgbClr val="000000"/>
                </a:solidFill>
                <a:latin typeface="Arial Unicode MS"/>
                <a:ea typeface="Arial Unicode MS"/>
                <a:cs typeface="Arial Unicode MS"/>
              </a:rPr>
              <a:t>865</a:t>
            </a:r>
            <a:r>
              <a:rPr sz="800" lang="zh-TW" dirty="0">
                <a:solidFill>
                  <a:srgbClr val="000000"/>
                </a:solidFill>
                <a:latin typeface="Arial Unicode MS"/>
                <a:ea typeface="Arial Unicode MS"/>
                <a:cs typeface="Arial Unicode MS"/>
              </a:rPr>
              <a:t>，還有一種比較貴的是 </a:t>
            </a:r>
            <a:r>
              <a:rPr sz="800" b="1" lang="zh-TW" dirty="0">
                <a:solidFill>
                  <a:srgbClr val="000000"/>
                </a:solidFill>
                <a:latin typeface="Arial Unicode MS"/>
                <a:ea typeface="Arial Unicode MS"/>
                <a:cs typeface="Arial Unicode MS"/>
              </a:rPr>
              <a:t>1550 奈米</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為什麼要分這些？這裡有一個很有意思的物理。
</a:t>
            </a:r>
          </a:p>
          <a:p>
            <a:pPr algn="l">
              <a:spcBef>
                <a:spcPts val="0"/>
              </a:spcBef>
              <a:spcAft>
                <a:spcPts val="133"/>
              </a:spcAft>
            </a:pPr>
            <a:r>
              <a:rPr sz="800" lang="zh-TW" dirty="0">
                <a:solidFill>
                  <a:srgbClr val="000000"/>
                </a:solidFill>
                <a:latin typeface="Arial Unicode MS"/>
                <a:ea typeface="Arial Unicode MS"/>
                <a:cs typeface="Arial Unicode MS"/>
              </a:rPr>
              <a:t>各位還記得第三週講的：光達打的是紅外線雷射，人眼看不到。看不到的東西打到眼睛裡，人不會眨眼、也不會閃避，所以</a:t>
            </a:r>
            <a:r>
              <a:rPr sz="800" b="1" lang="zh-TW" dirty="0">
                <a:solidFill>
                  <a:srgbClr val="000000"/>
                </a:solidFill>
                <a:latin typeface="Arial Unicode MS"/>
                <a:ea typeface="Arial Unicode MS"/>
                <a:cs typeface="Arial Unicode MS"/>
              </a:rPr>
              <a:t>法規對雷射的功率管得很嚴</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功率愈大，看得愈遠。可是法規不准你亂加。
</a:t>
            </a:r>
          </a:p>
          <a:p>
            <a:pPr algn="l">
              <a:spcBef>
                <a:spcPts val="0"/>
              </a:spcBef>
              <a:spcAft>
                <a:spcPts val="133"/>
              </a:spcAft>
            </a:pPr>
            <a:r>
              <a:rPr sz="800" lang="zh-TW" dirty="0">
                <a:solidFill>
                  <a:srgbClr val="000000"/>
                </a:solidFill>
                <a:latin typeface="Arial Unicode MS"/>
                <a:ea typeface="Arial Unicode MS"/>
                <a:cs typeface="Arial Unicode MS"/>
              </a:rPr>
              <a:t>關鍵在這裡：</a:t>
            </a:r>
            <a:r>
              <a:rPr sz="800" b="1" lang="zh-TW" dirty="0">
                <a:solidFill>
                  <a:srgbClr val="000000"/>
                </a:solidFill>
                <a:latin typeface="Arial Unicode MS"/>
                <a:ea typeface="Arial Unicode MS"/>
                <a:cs typeface="Arial Unicode MS"/>
              </a:rPr>
              <a:t>905 奈米的光會穿過眼睛的水晶體，直接打到視網膜上。</a:t>
            </a:r>
            <a:r>
              <a:rPr sz="800" lang="zh-TW" dirty="0">
                <a:solidFill>
                  <a:srgbClr val="000000"/>
                </a:solidFill>
                <a:latin typeface="Arial Unicode MS"/>
                <a:ea typeface="Arial Unicode MS"/>
                <a:cs typeface="Arial Unicode MS"/>
              </a:rPr>
              <a:t>視網膜燒到就回不來了，所以 905 的功率上限被壓得很低。
</a:t>
            </a:r>
          </a:p>
          <a:p>
            <a:pPr algn="l">
              <a:spcBef>
                <a:spcPts val="0"/>
              </a:spcBef>
              <a:spcAft>
                <a:spcPts val="133"/>
              </a:spcAft>
            </a:pPr>
            <a:r>
              <a:rPr sz="800" lang="zh-TW" dirty="0">
                <a:solidFill>
                  <a:srgbClr val="000000"/>
                </a:solidFill>
                <a:latin typeface="Arial Unicode MS"/>
                <a:ea typeface="Arial Unicode MS"/>
                <a:cs typeface="Arial Unicode MS"/>
              </a:rPr>
              <a:t>1550 奈米不一樣。這個波長會</a:t>
            </a:r>
            <a:r>
              <a:rPr sz="800" b="1" lang="zh-TW" dirty="0">
                <a:solidFill>
                  <a:srgbClr val="000000"/>
                </a:solidFill>
                <a:latin typeface="Arial Unicode MS"/>
                <a:ea typeface="Arial Unicode MS"/>
                <a:cs typeface="Arial Unicode MS"/>
              </a:rPr>
              <a:t>先被眼睛裡面的水吸收掉</a:t>
            </a:r>
            <a:r>
              <a:rPr sz="800" lang="zh-TW" dirty="0">
                <a:solidFill>
                  <a:srgbClr val="000000"/>
                </a:solidFill>
                <a:latin typeface="Arial Unicode MS"/>
                <a:ea typeface="Arial Unicode MS"/>
                <a:cs typeface="Arial Unicode MS"/>
              </a:rPr>
              <a:t>，還沒到視網膜就被擋住了。所以在同樣的安全等級下，1550 可以打</a:t>
            </a:r>
            <a:r>
              <a:rPr sz="800" b="1" lang="zh-TW" dirty="0">
                <a:solidFill>
                  <a:srgbClr val="000000"/>
                </a:solidFill>
                <a:latin typeface="Arial Unicode MS"/>
                <a:ea typeface="Arial Unicode MS"/>
                <a:cs typeface="Arial Unicode MS"/>
              </a:rPr>
              <a:t>強幾十倍</a:t>
            </a:r>
            <a:r>
              <a:rPr sz="800" lang="zh-TW" dirty="0">
                <a:solidFill>
                  <a:srgbClr val="000000"/>
                </a:solidFill>
                <a:latin typeface="Arial Unicode MS"/>
                <a:ea typeface="Arial Unicode MS"/>
                <a:cs typeface="Arial Unicode MS"/>
              </a:rPr>
              <a:t>的功率。
</a:t>
            </a:r>
          </a:p>
          <a:p>
            <a:pPr algn="l">
              <a:spcBef>
                <a:spcPts val="0"/>
              </a:spcBef>
              <a:spcAft>
                <a:spcPts val="133"/>
              </a:spcAft>
            </a:pPr>
            <a:r>
              <a:rPr sz="800" lang="zh-TW" dirty="0">
                <a:solidFill>
                  <a:srgbClr val="000000"/>
                </a:solidFill>
                <a:latin typeface="Arial Unicode MS"/>
                <a:ea typeface="Arial Unicode MS"/>
                <a:cs typeface="Arial Unicode MS"/>
              </a:rPr>
              <a:t>打得強，就看得遠。這就是為什麼高階的長距光達用 1550。
</a:t>
            </a:r>
          </a:p>
          <a:p>
            <a:pPr algn="l">
              <a:spcBef>
                <a:spcPts val="0"/>
              </a:spcBef>
              <a:spcAft>
                <a:spcPts val="133"/>
              </a:spcAft>
            </a:pPr>
            <a:r>
              <a:rPr sz="800" lang="zh-TW" dirty="0">
                <a:solidFill>
                  <a:srgbClr val="000000"/>
                </a:solidFill>
                <a:latin typeface="Arial Unicode MS"/>
                <a:ea typeface="Arial Unicode MS"/>
                <a:cs typeface="Arial Unicode MS"/>
              </a:rPr>
              <a:t>那為什麼不是每一家都用？因為</a:t>
            </a:r>
            <a:r>
              <a:rPr sz="800" b="1" lang="zh-TW" dirty="0">
                <a:solidFill>
                  <a:srgbClr val="000000"/>
                </a:solidFill>
                <a:latin typeface="Arial Unicode MS"/>
                <a:ea typeface="Arial Unicode MS"/>
                <a:cs typeface="Arial Unicode MS"/>
              </a:rPr>
              <a:t>貴</a:t>
            </a:r>
            <a:r>
              <a:rPr sz="800" lang="zh-TW" dirty="0">
                <a:solidFill>
                  <a:srgbClr val="000000"/>
                </a:solidFill>
                <a:latin typeface="Arial Unicode MS"/>
                <a:ea typeface="Arial Unicode MS"/>
                <a:cs typeface="Arial Unicode MS"/>
              </a:rPr>
              <a:t>。905 可以用便宜的矽做接收器，1550 要用銦鎵砷，一顆貴好幾倍。
</a:t>
            </a:r>
          </a:p>
          <a:p>
            <a:pPr algn="l">
              <a:spcBef>
                <a:spcPts val="0"/>
              </a:spcBef>
              <a:spcAft>
                <a:spcPts val="133"/>
              </a:spcAft>
            </a:pPr>
            <a:r>
              <a:rPr sz="800" lang="zh-TW" dirty="0">
                <a:solidFill>
                  <a:srgbClr val="000000"/>
                </a:solidFill>
                <a:latin typeface="Arial Unicode MS"/>
                <a:ea typeface="Arial Unicode MS"/>
                <a:cs typeface="Arial Unicode MS"/>
              </a:rPr>
              <a:t>所以規格表上這一行，看起來只是一個數字，背後是</a:t>
            </a:r>
            <a:r>
              <a:rPr sz="800" b="1" lang="zh-TW" dirty="0">
                <a:solidFill>
                  <a:srgbClr val="000000"/>
                </a:solidFill>
                <a:latin typeface="Arial Unicode MS"/>
                <a:ea typeface="Arial Unicode MS"/>
                <a:cs typeface="Arial Unicode MS"/>
              </a:rPr>
              <a:t>安全法規、看多遠、多少錢</a:t>
            </a:r>
            <a:r>
              <a:rPr sz="800" lang="zh-TW" dirty="0">
                <a:solidFill>
                  <a:srgbClr val="000000"/>
                </a:solidFill>
                <a:latin typeface="Arial Unicode MS"/>
                <a:ea typeface="Arial Unicode MS"/>
                <a:cs typeface="Arial Unicode MS"/>
              </a:rPr>
              <a:t>三件事的取捨。
</a:t>
            </a:r>
          </a:p>
          <a:p>
            <a:pPr algn="l">
              <a:spcBef>
                <a:spcPts val="0"/>
              </a:spcBef>
              <a:spcAft>
                <a:spcPts val="133"/>
              </a:spcAft>
            </a:pPr>
            <a:r>
              <a:rPr sz="800" lang="zh-TW" dirty="0">
                <a:solidFill>
                  <a:srgbClr val="000000"/>
                </a:solidFill>
                <a:latin typeface="Arial Unicode MS"/>
                <a:ea typeface="Arial Unicode MS"/>
                <a:cs typeface="Arial Unicode MS"/>
              </a:rPr>
              <a:t>還有一件事：波長也影響雨霧。第三週我們用那張波長圖講過——光達的波長比霧滴小，所以會被散射。865 和 1550 在這件事上差別不大，因為兩個都遠小於霧滴。</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7</a:t>
            </a: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58"/>
              </a:spcAft>
            </a:pPr>
            <a:r>
              <a:rPr sz="950" b="1" lang="zh-TW" dirty="0">
                <a:solidFill>
                  <a:srgbClr val="000000"/>
                </a:solidFill>
                <a:latin typeface="Arial Unicode MS"/>
                <a:ea typeface="Arial Unicode MS"/>
                <a:cs typeface="Arial Unicode MS"/>
              </a:rPr>
              <a:t>▍這一張要做什麼</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Class 1 眼睛安全：沒有這一行就不要裝上車。
</a:t>
            </a:r>
          </a:p>
          <a:p>
            <a:pPr algn="l">
              <a:spcBef>
                <a:spcPts val="0"/>
              </a:spcBef>
              <a:spcAft>
                <a:spcPts val="158"/>
              </a:spcAft>
            </a:pPr>
            <a:r>
              <a:rPr sz="950" b="1" lang="zh-TW" dirty="0">
                <a:solidFill>
                  <a:srgbClr val="000000"/>
                </a:solidFill>
                <a:latin typeface="Arial Unicode MS"/>
                <a:ea typeface="Arial Unicode MS"/>
                <a:cs typeface="Arial Unicode MS"/>
              </a:rPr>
              <a:t>▍畫面上圈這裡</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在圖上圈 Laser Product Class 那一行的 Class 1 與 IEC/EN 60825-1，再圈下一行的 865 nm。語氣要重。
</a:t>
            </a:r>
          </a:p>
          <a:p>
            <a:pPr algn="l">
              <a:spcBef>
                <a:spcPts val="0"/>
              </a:spcBef>
              <a:spcAft>
                <a:spcPts val="158"/>
              </a:spcAft>
            </a:pPr>
            <a:r>
              <a:rPr sz="950" b="1" lang="zh-TW" dirty="0">
                <a:solidFill>
                  <a:srgbClr val="000000"/>
                </a:solidFill>
                <a:latin typeface="Arial Unicode MS"/>
                <a:ea typeface="Arial Unicode MS"/>
                <a:cs typeface="Arial Unicode MS"/>
              </a:rPr>
              <a:t>▍以下照著唸</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左邊這一塊，是 OS1 datasheet 上 LASER 那一段。</a:t>
            </a:r>
            <a:r>
              <a:rPr sz="950" b="1" lang="zh-TW" dirty="0">
                <a:solidFill>
                  <a:srgbClr val="000000"/>
                </a:solidFill>
                <a:latin typeface="Arial Unicode MS"/>
                <a:ea typeface="Arial Unicode MS"/>
                <a:cs typeface="Arial Unicode MS"/>
              </a:rPr>
              <a:t>第一行就是眼睛安全等級</a:t>
            </a:r>
            <a:r>
              <a:rPr sz="950" lang="zh-TW" dirty="0">
                <a:solidFill>
                  <a:srgbClr val="000000"/>
                </a:solidFill>
                <a:latin typeface="Arial Unicode MS"/>
                <a:ea typeface="Arial Unicode MS"/>
                <a:cs typeface="Arial Unicode MS"/>
              </a:rPr>
              <a:t>，剛剛講的波長排在它下面。
</a:t>
            </a:r>
          </a:p>
          <a:p>
            <a:pPr algn="l">
              <a:spcBef>
                <a:spcPts val="0"/>
              </a:spcBef>
              <a:spcAft>
                <a:spcPts val="158"/>
              </a:spcAft>
            </a:pPr>
            <a:r>
              <a:rPr sz="950" lang="zh-TW" dirty="0">
                <a:solidFill>
                  <a:srgbClr val="000000"/>
                </a:solidFill>
                <a:latin typeface="Arial Unicode MS"/>
                <a:ea typeface="Arial Unicode MS"/>
                <a:cs typeface="Arial Unicode MS"/>
              </a:rPr>
              <a:t>上面寫的是：</a:t>
            </a:r>
            <a:r>
              <a:rPr sz="950" b="1" lang="zh-TW" dirty="0">
                <a:solidFill>
                  <a:srgbClr val="000000"/>
                </a:solidFill>
                <a:latin typeface="Arial Unicode MS"/>
                <a:ea typeface="Arial Unicode MS"/>
                <a:cs typeface="Arial Unicode MS"/>
              </a:rPr>
              <a:t>Class 1 eye-safe per IEC/EN 60825-1: 2014</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這一行在講什麼？IEC 60825 是雷射產品的國際安全標準，把雷射分成好幾級。Class 1 是最安全的那一級，意思是：</a:t>
            </a:r>
            <a:r>
              <a:rPr sz="950" b="1" lang="zh-TW" dirty="0">
                <a:solidFill>
                  <a:srgbClr val="000000"/>
                </a:solidFill>
                <a:latin typeface="Arial Unicode MS"/>
                <a:ea typeface="Arial Unicode MS"/>
                <a:cs typeface="Arial Unicode MS"/>
              </a:rPr>
              <a:t>在正常使用的情況下，就算有人直直盯著它看，也不會傷到眼睛。</a:t>
            </a:r>
            <a:r>
              <a:rPr sz="950" lang="zh-TW" dirty="0">
                <a:solidFill>
                  <a:srgbClr val="000000"/>
                </a:solidFill>
                <a:latin typeface="Arial Unicode MS"/>
                <a:ea typeface="Arial Unicode MS"/>
                <a:cs typeface="Arial Unicode MS"/>
              </a:rPr>
              <a:t>
</a:t>
            </a:r>
          </a:p>
          <a:p>
            <a:pPr algn="l">
              <a:spcBef>
                <a:spcPts val="0"/>
              </a:spcBef>
              <a:spcAft>
                <a:spcPts val="158"/>
              </a:spcAft>
            </a:pPr>
            <a:r>
              <a:rPr sz="950" lang="zh-TW" dirty="0">
                <a:solidFill>
                  <a:srgbClr val="000000"/>
                </a:solidFill>
                <a:latin typeface="Arial Unicode MS"/>
                <a:ea typeface="Arial Unicode MS"/>
                <a:cs typeface="Arial Unicode MS"/>
              </a:rPr>
              <a:t>為什麼這件事重要到要單獨列一行？
</a:t>
            </a:r>
          </a:p>
          <a:p>
            <a:pPr algn="l">
              <a:spcBef>
                <a:spcPts val="0"/>
              </a:spcBef>
              <a:spcAft>
                <a:spcPts val="158"/>
              </a:spcAft>
            </a:pPr>
            <a:r>
              <a:rPr sz="950" lang="zh-TW" dirty="0">
                <a:solidFill>
                  <a:srgbClr val="000000"/>
                </a:solidFill>
                <a:latin typeface="Arial Unicode MS"/>
                <a:ea typeface="Arial Unicode MS"/>
                <a:cs typeface="Arial Unicode MS"/>
              </a:rPr>
              <a:t>因為光達是裝在</a:t>
            </a:r>
            <a:r>
              <a:rPr sz="950" b="1" lang="zh-TW" dirty="0">
                <a:solidFill>
                  <a:srgbClr val="000000"/>
                </a:solidFill>
                <a:latin typeface="Arial Unicode MS"/>
                <a:ea typeface="Arial Unicode MS"/>
                <a:cs typeface="Arial Unicode MS"/>
              </a:rPr>
              <a:t>馬路上跑的車</a:t>
            </a:r>
            <a:r>
              <a:rPr sz="950" lang="zh-TW" dirty="0">
                <a:solidFill>
                  <a:srgbClr val="000000"/>
                </a:solidFill>
                <a:latin typeface="Arial Unicode MS"/>
                <a:ea typeface="Arial Unicode MS"/>
                <a:cs typeface="Arial Unicode MS"/>
              </a:rPr>
              <a:t>上面。路邊的行人、對向的駕駛、拿著手機拍照的小孩，都可能直視它。如果它不是 Class 1，這台車根本不能上路。
</a:t>
            </a:r>
          </a:p>
          <a:p>
            <a:pPr algn="l">
              <a:spcBef>
                <a:spcPts val="0"/>
              </a:spcBef>
              <a:spcAft>
                <a:spcPts val="158"/>
              </a:spcAft>
            </a:pPr>
            <a:r>
              <a:rPr sz="950" lang="zh-TW" dirty="0">
                <a:solidFill>
                  <a:srgbClr val="000000"/>
                </a:solidFill>
                <a:latin typeface="Arial Unicode MS"/>
                <a:ea typeface="Arial Unicode MS"/>
                <a:cs typeface="Arial Unicode MS"/>
              </a:rPr>
              <a:t>所以這一行不是拿來加分的，是</a:t>
            </a:r>
            <a:r>
              <a:rPr sz="950" b="1" lang="zh-TW" dirty="0">
                <a:solidFill>
                  <a:srgbClr val="000000"/>
                </a:solidFill>
                <a:latin typeface="Arial Unicode MS"/>
                <a:ea typeface="Arial Unicode MS"/>
                <a:cs typeface="Arial Unicode MS"/>
              </a:rPr>
              <a:t>門檻</a:t>
            </a:r>
            <a:r>
              <a:rPr sz="950" lang="zh-TW" dirty="0">
                <a:solidFill>
                  <a:srgbClr val="000000"/>
                </a:solidFill>
                <a:latin typeface="Arial Unicode MS"/>
                <a:ea typeface="Arial Unicode MS"/>
                <a:cs typeface="Arial Unicode MS"/>
              </a:rPr>
              <a:t>。沒有這一行的產品，不管規格寫得多漂亮，你都不能考慮。
</a:t>
            </a:r>
          </a:p>
          <a:p>
            <a:pPr algn="l">
              <a:spcBef>
                <a:spcPts val="0"/>
              </a:spcBef>
              <a:spcAft>
                <a:spcPts val="158"/>
              </a:spcAft>
            </a:pPr>
            <a:r>
              <a:rPr sz="950" lang="zh-TW" dirty="0">
                <a:solidFill>
                  <a:srgbClr val="000000"/>
                </a:solidFill>
                <a:latin typeface="Arial Unicode MS"/>
                <a:ea typeface="Arial Unicode MS"/>
                <a:cs typeface="Arial Unicode MS"/>
              </a:rPr>
              <a:t>這裡也牽涉到剛剛講的波長。1550 奈米之所以可以打比較強，就是因為在同樣的 Class 1 限制下，它的功率上限高很多。
</a:t>
            </a:r>
          </a:p>
          <a:p>
            <a:pPr algn="l">
              <a:spcBef>
                <a:spcPts val="0"/>
              </a:spcBef>
              <a:spcAft>
                <a:spcPts val="158"/>
              </a:spcAft>
            </a:pPr>
            <a:r>
              <a:rPr sz="950" lang="zh-TW" dirty="0">
                <a:solidFill>
                  <a:srgbClr val="000000"/>
                </a:solidFill>
                <a:latin typeface="Arial Unicode MS"/>
                <a:ea typeface="Arial Unicode MS"/>
                <a:cs typeface="Arial Unicode MS"/>
              </a:rPr>
              <a:t>各位以後如果在網路上看到很便宜的光達模組，規格寫得很漂亮，請一定要找這一行。找不到，就不要用在會有人的地方。</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8</a:t>
            </a: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42"/>
              </a:spcAft>
            </a:pPr>
            <a:r>
              <a:rPr sz="850" b="1" lang="zh-TW" dirty="0">
                <a:solidFill>
                  <a:srgbClr val="000000"/>
                </a:solidFill>
                <a:latin typeface="Arial Unicode MS"/>
                <a:ea typeface="Arial Unicode MS"/>
                <a:cs typeface="Arial Unicode MS"/>
              </a:rPr>
              <a:t>▍這一張要做什麼</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多次回波：一道雷射可能彈回兩次，這在下雨和玻璃前面很關鍵。
</a:t>
            </a:r>
          </a:p>
          <a:p>
            <a:pPr algn="l">
              <a:spcBef>
                <a:spcPts val="0"/>
              </a:spcBef>
              <a:spcAft>
                <a:spcPts val="142"/>
              </a:spcAft>
            </a:pPr>
            <a:r>
              <a:rPr sz="850" b="1" lang="zh-TW" dirty="0">
                <a:solidFill>
                  <a:srgbClr val="000000"/>
                </a:solidFill>
                <a:latin typeface="Arial Unicode MS"/>
                <a:ea typeface="Arial Unicode MS"/>
                <a:cs typeface="Arial Unicode MS"/>
              </a:rPr>
              <a:t>▍畫面上圈這裡</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在圖上圈 # of Returns 的 up to 2，再圈 Return Order 那一行。
</a:t>
            </a:r>
          </a:p>
          <a:p>
            <a:pPr algn="l">
              <a:spcBef>
                <a:spcPts val="0"/>
              </a:spcBef>
              <a:spcAft>
                <a:spcPts val="142"/>
              </a:spcAft>
            </a:pPr>
            <a:r>
              <a:rPr sz="850" b="1" lang="zh-TW" dirty="0">
                <a:solidFill>
                  <a:srgbClr val="000000"/>
                </a:solidFill>
                <a:latin typeface="Arial Unicode MS"/>
                <a:ea typeface="Arial Unicode MS"/>
                <a:cs typeface="Arial Unicode MS"/>
              </a:rPr>
              <a:t>▍以下照著唸</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光達的第三件事是</a:t>
            </a:r>
            <a:r>
              <a:rPr sz="850" b="1" lang="zh-TW" dirty="0">
                <a:solidFill>
                  <a:srgbClr val="000000"/>
                </a:solidFill>
                <a:latin typeface="Arial Unicode MS"/>
                <a:ea typeface="Arial Unicode MS"/>
                <a:cs typeface="Arial Unicode MS"/>
              </a:rPr>
              <a:t>回波次數</a:t>
            </a:r>
            <a:r>
              <a:rPr sz="850" lang="zh-TW" dirty="0">
                <a:solidFill>
                  <a:srgbClr val="000000"/>
                </a:solidFill>
                <a:latin typeface="Arial Unicode MS"/>
                <a:ea typeface="Arial Unicode MS"/>
                <a:cs typeface="Arial Unicode MS"/>
              </a:rPr>
              <a:t>。OS1 的規格表上這一行叫 </a:t>
            </a:r>
            <a:r>
              <a:rPr sz="850" b="1" lang="zh-TW" dirty="0">
                <a:solidFill>
                  <a:srgbClr val="000000"/>
                </a:solidFill>
                <a:latin typeface="Arial Unicode MS"/>
                <a:ea typeface="Arial Unicode MS"/>
                <a:cs typeface="Arial Unicode MS"/>
              </a:rPr>
              <a:t># of Returns</a:t>
            </a:r>
            <a:r>
              <a:rPr sz="850" lang="zh-TW" dirty="0">
                <a:solidFill>
                  <a:srgbClr val="000000"/>
                </a:solidFill>
                <a:latin typeface="Arial Unicode MS"/>
                <a:ea typeface="Arial Unicode MS"/>
                <a:cs typeface="Arial Unicode MS"/>
              </a:rPr>
              <a:t>，寫著 </a:t>
            </a:r>
            <a:r>
              <a:rPr sz="850" b="1" lang="zh-TW" dirty="0">
                <a:solidFill>
                  <a:srgbClr val="000000"/>
                </a:solidFill>
                <a:latin typeface="Arial Unicode MS"/>
                <a:ea typeface="Arial Unicode MS"/>
                <a:cs typeface="Arial Unicode MS"/>
              </a:rPr>
              <a:t>up to 2</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這一行在講什麼？
</a:t>
            </a:r>
          </a:p>
          <a:p>
            <a:pPr algn="l">
              <a:spcBef>
                <a:spcPts val="0"/>
              </a:spcBef>
              <a:spcAft>
                <a:spcPts val="142"/>
              </a:spcAft>
            </a:pPr>
            <a:r>
              <a:rPr sz="850" lang="zh-TW" dirty="0">
                <a:solidFill>
                  <a:srgbClr val="000000"/>
                </a:solidFill>
                <a:latin typeface="Arial Unicode MS"/>
                <a:ea typeface="Arial Unicode MS"/>
                <a:cs typeface="Arial Unicode MS"/>
              </a:rPr>
              <a:t>一道雷射射出去，碰到東西會彈回來。可是如果路上有雨、有霧、有灰塵呢？
</a:t>
            </a:r>
          </a:p>
          <a:p>
            <a:pPr algn="l">
              <a:spcBef>
                <a:spcPts val="0"/>
              </a:spcBef>
              <a:spcAft>
                <a:spcPts val="142"/>
              </a:spcAft>
            </a:pPr>
            <a:r>
              <a:rPr sz="850" lang="zh-TW" dirty="0">
                <a:solidFill>
                  <a:srgbClr val="000000"/>
                </a:solidFill>
                <a:latin typeface="Arial Unicode MS"/>
                <a:ea typeface="Arial Unicode MS"/>
                <a:cs typeface="Arial Unicode MS"/>
              </a:rPr>
              <a:t>那道雷射可能</a:t>
            </a:r>
            <a:r>
              <a:rPr sz="850" b="1" lang="zh-TW" dirty="0">
                <a:solidFill>
                  <a:srgbClr val="000000"/>
                </a:solidFill>
                <a:latin typeface="Arial Unicode MS"/>
                <a:ea typeface="Arial Unicode MS"/>
                <a:cs typeface="Arial Unicode MS"/>
              </a:rPr>
              <a:t>先打到一顆雨滴，彈回來一次</a:t>
            </a:r>
            <a:r>
              <a:rPr sz="850" lang="zh-TW" dirty="0">
                <a:solidFill>
                  <a:srgbClr val="000000"/>
                </a:solidFill>
                <a:latin typeface="Arial Unicode MS"/>
                <a:ea typeface="Arial Unicode MS"/>
                <a:cs typeface="Arial Unicode MS"/>
              </a:rPr>
              <a:t>；穿過去之後，</a:t>
            </a:r>
            <a:r>
              <a:rPr sz="850" b="1" lang="zh-TW" dirty="0">
                <a:solidFill>
                  <a:srgbClr val="000000"/>
                </a:solidFill>
                <a:latin typeface="Arial Unicode MS"/>
                <a:ea typeface="Arial Unicode MS"/>
                <a:cs typeface="Arial Unicode MS"/>
              </a:rPr>
              <a:t>再打到真正的車，又彈回來一次</a:t>
            </a:r>
            <a:r>
              <a:rPr sz="850" lang="zh-TW" dirty="0">
                <a:solidFill>
                  <a:srgbClr val="000000"/>
                </a:solidFill>
                <a:latin typeface="Arial Unicode MS"/>
                <a:ea typeface="Arial Unicode MS"/>
                <a:cs typeface="Arial Unicode MS"/>
              </a:rPr>
              <a:t>。同一道雷射，兩次回波。
</a:t>
            </a:r>
          </a:p>
          <a:p>
            <a:pPr algn="l">
              <a:spcBef>
                <a:spcPts val="0"/>
              </a:spcBef>
              <a:spcAft>
                <a:spcPts val="142"/>
              </a:spcAft>
            </a:pPr>
            <a:r>
              <a:rPr sz="850" lang="zh-TW" dirty="0">
                <a:solidFill>
                  <a:srgbClr val="000000"/>
                </a:solidFill>
                <a:latin typeface="Arial Unicode MS"/>
                <a:ea typeface="Arial Unicode MS"/>
                <a:cs typeface="Arial Unicode MS"/>
              </a:rPr>
              <a:t>如果這顆光達只收</a:t>
            </a:r>
            <a:r>
              <a:rPr sz="850" b="1" lang="zh-TW" dirty="0">
                <a:solidFill>
                  <a:srgbClr val="000000"/>
                </a:solidFill>
                <a:latin typeface="Arial Unicode MS"/>
                <a:ea typeface="Arial Unicode MS"/>
                <a:cs typeface="Arial Unicode MS"/>
              </a:rPr>
              <a:t>第一次</a:t>
            </a:r>
            <a:r>
              <a:rPr sz="850" lang="zh-TW" dirty="0">
                <a:solidFill>
                  <a:srgbClr val="000000"/>
                </a:solidFill>
                <a:latin typeface="Arial Unicode MS"/>
                <a:ea typeface="Arial Unicode MS"/>
                <a:cs typeface="Arial Unicode MS"/>
              </a:rPr>
              <a:t>回波，它會怎麼判斷？它會說：前面兩公尺有東西。可是那只是一顆雨滴。
</a:t>
            </a:r>
          </a:p>
          <a:p>
            <a:pPr algn="l">
              <a:spcBef>
                <a:spcPts val="0"/>
              </a:spcBef>
              <a:spcAft>
                <a:spcPts val="142"/>
              </a:spcAft>
            </a:pPr>
            <a:r>
              <a:rPr sz="850" lang="zh-TW" dirty="0">
                <a:solidFill>
                  <a:srgbClr val="000000"/>
                </a:solidFill>
                <a:latin typeface="Arial Unicode MS"/>
                <a:ea typeface="Arial Unicode MS"/>
                <a:cs typeface="Arial Unicode MS"/>
              </a:rPr>
              <a:t>這就是第三週我們講下雪那一輪的時候，我說的那件事：</a:t>
            </a:r>
            <a:r>
              <a:rPr sz="850" b="1" lang="zh-TW" dirty="0">
                <a:solidFill>
                  <a:srgbClr val="000000"/>
                </a:solidFill>
                <a:latin typeface="Arial Unicode MS"/>
                <a:ea typeface="Arial Unicode MS"/>
                <a:cs typeface="Arial Unicode MS"/>
              </a:rPr>
              <a:t>飄在空中的雪花本身就會反射雷射</a:t>
            </a:r>
            <a:r>
              <a:rPr sz="850" lang="zh-TW" dirty="0">
                <a:solidFill>
                  <a:srgbClr val="000000"/>
                </a:solidFill>
                <a:latin typeface="Arial Unicode MS"/>
                <a:ea typeface="Arial Unicode MS"/>
                <a:cs typeface="Arial Unicode MS"/>
              </a:rPr>
              <a:t>，車子會看到一堆根本不存在的點。
</a:t>
            </a:r>
          </a:p>
          <a:p>
            <a:pPr algn="l">
              <a:spcBef>
                <a:spcPts val="0"/>
              </a:spcBef>
              <a:spcAft>
                <a:spcPts val="142"/>
              </a:spcAft>
            </a:pPr>
            <a:r>
              <a:rPr sz="850" lang="zh-TW" dirty="0">
                <a:solidFill>
                  <a:srgbClr val="000000"/>
                </a:solidFill>
                <a:latin typeface="Arial Unicode MS"/>
                <a:ea typeface="Arial Unicode MS"/>
                <a:cs typeface="Arial Unicode MS"/>
              </a:rPr>
              <a:t>處理的方法就是收</a:t>
            </a:r>
            <a:r>
              <a:rPr sz="850" b="1" lang="zh-TW" dirty="0">
                <a:solidFill>
                  <a:srgbClr val="000000"/>
                </a:solidFill>
                <a:latin typeface="Arial Unicode MS"/>
                <a:ea typeface="Arial Unicode MS"/>
                <a:cs typeface="Arial Unicode MS"/>
              </a:rPr>
              <a:t>多次回波</a:t>
            </a:r>
            <a:r>
              <a:rPr sz="850" lang="zh-TW" dirty="0">
                <a:solidFill>
                  <a:srgbClr val="000000"/>
                </a:solidFill>
                <a:latin typeface="Arial Unicode MS"/>
                <a:ea typeface="Arial Unicode MS"/>
                <a:cs typeface="Arial Unicode MS"/>
              </a:rPr>
              <a:t>。好一點的光達會把兩次、甚至三次都送回來，再交給軟體判斷：哪一個是雨滴，哪一個是真的障礙物。
</a:t>
            </a:r>
          </a:p>
          <a:p>
            <a:pPr algn="l">
              <a:spcBef>
                <a:spcPts val="0"/>
              </a:spcBef>
              <a:spcAft>
                <a:spcPts val="142"/>
              </a:spcAft>
            </a:pPr>
            <a:r>
              <a:rPr sz="850" lang="zh-TW" dirty="0">
                <a:solidFill>
                  <a:srgbClr val="000000"/>
                </a:solidFill>
                <a:latin typeface="Arial Unicode MS"/>
                <a:ea typeface="Arial Unicode MS"/>
                <a:cs typeface="Arial Unicode MS"/>
              </a:rPr>
              <a:t>下面那一行叫 </a:t>
            </a:r>
            <a:r>
              <a:rPr sz="850" b="1" lang="zh-TW" dirty="0">
                <a:solidFill>
                  <a:srgbClr val="000000"/>
                </a:solidFill>
                <a:latin typeface="Arial Unicode MS"/>
                <a:ea typeface="Arial Unicode MS"/>
                <a:cs typeface="Arial Unicode MS"/>
              </a:rPr>
              <a:t>Return Order</a:t>
            </a:r>
            <a:r>
              <a:rPr sz="850" lang="zh-TW" dirty="0">
                <a:solidFill>
                  <a:srgbClr val="000000"/>
                </a:solidFill>
                <a:latin typeface="Arial Unicode MS"/>
                <a:ea typeface="Arial Unicode MS"/>
                <a:cs typeface="Arial Unicode MS"/>
              </a:rPr>
              <a:t>，講的是回波要照什麼順序排。OS1 給了三種排法：最強排到最弱、最遠排到最近、最近排到最遠。這是給寫演算法的人挑的。
</a:t>
            </a:r>
          </a:p>
          <a:p>
            <a:pPr algn="l">
              <a:spcBef>
                <a:spcPts val="0"/>
              </a:spcBef>
              <a:spcAft>
                <a:spcPts val="142"/>
              </a:spcAft>
            </a:pPr>
            <a:r>
              <a:rPr sz="850" lang="zh-TW" dirty="0">
                <a:solidFill>
                  <a:srgbClr val="000000"/>
                </a:solidFill>
                <a:latin typeface="Arial Unicode MS"/>
                <a:ea typeface="Arial Unicode MS"/>
                <a:cs typeface="Arial Unicode MS"/>
              </a:rPr>
              <a:t>所以「up to 2 returns」這一行，其實就是在回答：</a:t>
            </a:r>
            <a:r>
              <a:rPr sz="850" b="1" lang="zh-TW" dirty="0">
                <a:solidFill>
                  <a:srgbClr val="000000"/>
                </a:solidFill>
                <a:latin typeface="Arial Unicode MS"/>
                <a:ea typeface="Arial Unicode MS"/>
                <a:cs typeface="Arial Unicode MS"/>
              </a:rPr>
              <a:t>這顆光達在雨天和灰塵裡好不好用。</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各位下次比較兩顆光達的時候，除了比測距和線束，記得看一下這一行。只有一次回波的，雨天會比較辛苦。</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9</a:t>
            </a: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42"/>
              </a:spcAft>
            </a:pPr>
            <a:r>
              <a:rPr sz="850" b="1" lang="zh-TW" dirty="0">
                <a:solidFill>
                  <a:srgbClr val="000000"/>
                </a:solidFill>
                <a:latin typeface="Arial Unicode MS"/>
                <a:ea typeface="Arial Unicode MS"/>
                <a:cs typeface="Arial Unicode MS"/>
              </a:rPr>
              <a:t>▍這一張要做什麼</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剛剛那一行「最多兩次回波」最常救的不是雨滴，是鏡面。鏡面是光達最難處理的一種表面。
</a:t>
            </a:r>
          </a:p>
          <a:p>
            <a:pPr algn="l">
              <a:spcBef>
                <a:spcPts val="0"/>
              </a:spcBef>
              <a:spcAft>
                <a:spcPts val="142"/>
              </a:spcAft>
            </a:pPr>
            <a:r>
              <a:rPr sz="850" b="1" lang="zh-TW" dirty="0">
                <a:solidFill>
                  <a:srgbClr val="000000"/>
                </a:solidFill>
                <a:latin typeface="Arial Unicode MS"/>
                <a:ea typeface="Arial Unicode MS"/>
                <a:cs typeface="Arial Unicode MS"/>
              </a:rPr>
              <a:t>▍畫面上圈這裡</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一列一列圈。第一列特別停一下，問他們「下雨的晚上，路面是什麼？」第三列圈「反光背心」，把上一節那個例子收回來。
</a:t>
            </a:r>
          </a:p>
          <a:p>
            <a:pPr algn="l">
              <a:spcBef>
                <a:spcPts val="0"/>
              </a:spcBef>
              <a:spcAft>
                <a:spcPts val="142"/>
              </a:spcAft>
            </a:pPr>
            <a:r>
              <a:rPr sz="850" b="1" lang="zh-TW" dirty="0">
                <a:solidFill>
                  <a:srgbClr val="000000"/>
                </a:solidFill>
                <a:latin typeface="Arial Unicode MS"/>
                <a:ea typeface="Arial Unicode MS"/>
                <a:cs typeface="Arial Unicode MS"/>
              </a:rPr>
              <a:t>▍以下照著唸</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剛剛那一行「最多兩次回波」，我說是為了雨和灰塵。其實它最常救的，是另一種東西——</a:t>
            </a:r>
            <a:r>
              <a:rPr sz="850" b="1" lang="zh-TW" dirty="0">
                <a:solidFill>
                  <a:srgbClr val="000000"/>
                </a:solidFill>
                <a:latin typeface="Arial Unicode MS"/>
                <a:ea typeface="Arial Unicode MS"/>
                <a:cs typeface="Arial Unicode MS"/>
              </a:rPr>
              <a:t>鏡面</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光達的前提很簡單：打出去的光，會從對面散一點回來。上一節我們講反射率，80% 和 10% 都是在講「散回來多少」。可是鏡面不散，它把</a:t>
            </a:r>
            <a:r>
              <a:rPr sz="850" b="1" lang="zh-TW" dirty="0">
                <a:solidFill>
                  <a:srgbClr val="000000"/>
                </a:solidFill>
                <a:latin typeface="Arial Unicode MS"/>
                <a:ea typeface="Arial Unicode MS"/>
                <a:cs typeface="Arial Unicode MS"/>
              </a:rPr>
              <a:t>整束光反射到別的地方去</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所以第一種狀況是：</a:t>
            </a:r>
            <a:r>
              <a:rPr sz="850" b="1" lang="zh-TW" dirty="0">
                <a:solidFill>
                  <a:srgbClr val="000000"/>
                </a:solidFill>
                <a:latin typeface="Arial Unicode MS"/>
                <a:ea typeface="Arial Unicode MS"/>
                <a:cs typeface="Arial Unicode MS"/>
              </a:rPr>
              <a:t>什麼都收不到。</a:t>
            </a:r>
            <a:r>
              <a:rPr sz="850" lang="zh-TW" dirty="0">
                <a:solidFill>
                  <a:srgbClr val="000000"/>
                </a:solidFill>
                <a:latin typeface="Arial Unicode MS"/>
                <a:ea typeface="Arial Unicode MS"/>
                <a:cs typeface="Arial Unicode MS"/>
              </a:rPr>
              <a:t>雷射斜斜打到玻璃帷幕、打到鍍鉻的保險桿，整束彈走，那一塊在點雲上就是一個洞。
</a:t>
            </a:r>
          </a:p>
          <a:p>
            <a:pPr algn="l">
              <a:spcBef>
                <a:spcPts val="0"/>
              </a:spcBef>
              <a:spcAft>
                <a:spcPts val="142"/>
              </a:spcAft>
            </a:pPr>
            <a:r>
              <a:rPr sz="850" lang="zh-TW" dirty="0">
                <a:solidFill>
                  <a:srgbClr val="000000"/>
                </a:solidFill>
                <a:latin typeface="Arial Unicode MS"/>
                <a:ea typeface="Arial Unicode MS"/>
                <a:cs typeface="Arial Unicode MS"/>
              </a:rPr>
              <a:t>這裡我要各位特別想一件事：</a:t>
            </a:r>
            <a:r>
              <a:rPr sz="850" b="1" lang="zh-TW" dirty="0">
                <a:solidFill>
                  <a:srgbClr val="000000"/>
                </a:solidFill>
                <a:latin typeface="Arial Unicode MS"/>
                <a:ea typeface="Arial Unicode MS"/>
                <a:cs typeface="Arial Unicode MS"/>
              </a:rPr>
              <a:t>下雨的晚上，路面是什麼？</a:t>
            </a:r>
            <a:r>
              <a:rPr sz="850" lang="zh-TW" dirty="0">
                <a:solidFill>
                  <a:srgbClr val="000000"/>
                </a:solidFill>
                <a:latin typeface="Arial Unicode MS"/>
                <a:ea typeface="Arial Unicode MS"/>
                <a:cs typeface="Arial Unicode MS"/>
              </a:rPr>
              <a:t>水膜會把粗糙的柏油變成一面鏡子。所以雨夜的路面在點雲上常常是破的，連車道邊界都量不到。這不是感測器壞了，是物理。
</a:t>
            </a:r>
          </a:p>
          <a:p>
            <a:pPr algn="l">
              <a:spcBef>
                <a:spcPts val="0"/>
              </a:spcBef>
              <a:spcAft>
                <a:spcPts val="142"/>
              </a:spcAft>
            </a:pPr>
            <a:r>
              <a:rPr sz="850" lang="zh-TW" dirty="0">
                <a:solidFill>
                  <a:srgbClr val="000000"/>
                </a:solidFill>
                <a:latin typeface="Arial Unicode MS"/>
                <a:ea typeface="Arial Unicode MS"/>
                <a:cs typeface="Arial Unicode MS"/>
              </a:rPr>
              <a:t>第二種更麻煩：光束打到鏡面，</a:t>
            </a:r>
            <a:r>
              <a:rPr sz="850" b="1" lang="zh-TW" dirty="0">
                <a:solidFill>
                  <a:srgbClr val="000000"/>
                </a:solidFill>
                <a:latin typeface="Arial Unicode MS"/>
                <a:ea typeface="Arial Unicode MS"/>
                <a:cs typeface="Arial Unicode MS"/>
              </a:rPr>
              <a:t>彈到旁邊的真東西，再原路回來</a:t>
            </a:r>
            <a:r>
              <a:rPr sz="850" lang="zh-TW" dirty="0">
                <a:solidFill>
                  <a:srgbClr val="000000"/>
                </a:solidFill>
                <a:latin typeface="Arial Unicode MS"/>
                <a:ea typeface="Arial Unicode MS"/>
                <a:cs typeface="Arial Unicode MS"/>
              </a:rPr>
              <a:t>。光達只知道來回飛了多久，於是把那個東西標在鏡子後面。玻璃帷幕大樓旁邊，點雲上會憑空長出一整排不存在的車。這個叫</a:t>
            </a:r>
            <a:r>
              <a:rPr sz="850" b="1" lang="zh-TW" dirty="0">
                <a:solidFill>
                  <a:srgbClr val="000000"/>
                </a:solidFill>
                <a:latin typeface="Arial Unicode MS"/>
                <a:ea typeface="Arial Unicode MS"/>
                <a:cs typeface="Arial Unicode MS"/>
              </a:rPr>
              <a:t>鬼點</a:t>
            </a:r>
            <a:r>
              <a:rPr sz="850" lang="zh-TW" dirty="0">
                <a:solidFill>
                  <a:srgbClr val="000000"/>
                </a:solidFill>
                <a:latin typeface="Arial Unicode MS"/>
                <a:ea typeface="Arial Unicode MS"/>
                <a:cs typeface="Arial Unicode MS"/>
              </a:rPr>
              <a:t>。二〇二五年有研究把鏡子貼在三角錐上，就讓自駕車對著不存在的東西急煞。
</a:t>
            </a:r>
          </a:p>
          <a:p>
            <a:pPr algn="l">
              <a:spcBef>
                <a:spcPts val="0"/>
              </a:spcBef>
              <a:spcAft>
                <a:spcPts val="142"/>
              </a:spcAft>
            </a:pPr>
            <a:r>
              <a:rPr sz="850" lang="zh-TW" dirty="0">
                <a:solidFill>
                  <a:srgbClr val="000000"/>
                </a:solidFill>
                <a:latin typeface="Arial Unicode MS"/>
                <a:ea typeface="Arial Unicode MS"/>
                <a:cs typeface="Arial Unicode MS"/>
              </a:rPr>
              <a:t>第三種各位上一節聽過：</a:t>
            </a:r>
            <a:r>
              <a:rPr sz="850" b="1" lang="zh-TW" dirty="0">
                <a:solidFill>
                  <a:srgbClr val="000000"/>
                </a:solidFill>
                <a:latin typeface="Arial Unicode MS"/>
                <a:ea typeface="Arial Unicode MS"/>
                <a:cs typeface="Arial Unicode MS"/>
              </a:rPr>
              <a:t>回歸反射</a:t>
            </a:r>
            <a:r>
              <a:rPr sz="850" lang="zh-TW" dirty="0">
                <a:solidFill>
                  <a:srgbClr val="000000"/>
                </a:solidFill>
                <a:latin typeface="Arial Unicode MS"/>
                <a:ea typeface="Arial Unicode MS"/>
                <a:cs typeface="Arial Unicode MS"/>
              </a:rPr>
              <a:t>。反光背心和路牌會把光原路送回來，亮到爆表，在點雲上糊成一團光暈。所以上一節我才把反光背心從 80% 那一格拿掉——它根本不是同一類。
</a:t>
            </a:r>
          </a:p>
          <a:p>
            <a:pPr algn="l">
              <a:spcBef>
                <a:spcPts val="0"/>
              </a:spcBef>
              <a:spcAft>
                <a:spcPts val="142"/>
              </a:spcAft>
            </a:pPr>
            <a:r>
              <a:rPr sz="850" lang="zh-TW" dirty="0">
                <a:solidFill>
                  <a:srgbClr val="000000"/>
                </a:solidFill>
                <a:latin typeface="Arial Unicode MS"/>
                <a:ea typeface="Arial Unicode MS"/>
                <a:cs typeface="Arial Unicode MS"/>
              </a:rPr>
              <a:t>那怎麼辦？請看最右邊那一欄。</a:t>
            </a:r>
            <a:r>
              <a:rPr sz="850" b="1" lang="zh-TW" dirty="0">
                <a:solidFill>
                  <a:srgbClr val="000000"/>
                </a:solidFill>
                <a:latin typeface="Arial Unicode MS"/>
                <a:ea typeface="Arial Unicode MS"/>
                <a:cs typeface="Arial Unicode MS"/>
              </a:rPr>
              <a:t>沒有一招擋得住全部</a:t>
            </a:r>
            <a:r>
              <a:rPr sz="850" lang="zh-TW" dirty="0">
                <a:solidFill>
                  <a:srgbClr val="000000"/>
                </a:solidFill>
                <a:latin typeface="Arial Unicode MS"/>
                <a:ea typeface="Arial Unicode MS"/>
                <a:cs typeface="Arial Unicode MS"/>
              </a:rPr>
              <a:t>，現在是四層疊起來：多次回波把玻璃和玻璃後面的東西都收回來；看反射強度，太弱和太強都是警訊；高精地圖把已知的玻璃帷幕路段標成風險區；最後也是最重要的——</a:t>
            </a:r>
            <a:r>
              <a:rPr sz="850" b="1" lang="zh-TW" dirty="0">
                <a:solidFill>
                  <a:srgbClr val="000000"/>
                </a:solidFill>
                <a:latin typeface="Arial Unicode MS"/>
                <a:ea typeface="Arial Unicode MS"/>
                <a:cs typeface="Arial Unicode MS"/>
              </a:rPr>
              <a:t>雷達</a:t>
            </a:r>
            <a:r>
              <a:rPr sz="850" lang="zh-TW" dirty="0">
                <a:solidFill>
                  <a:srgbClr val="000000"/>
                </a:solidFill>
                <a:latin typeface="Arial Unicode MS"/>
                <a:ea typeface="Arial Unicode MS"/>
                <a:cs typeface="Arial Unicode MS"/>
              </a:rPr>
              <a:t>。毫米波碰到鏡面的行為跟雷射完全不一樣。
</a:t>
            </a:r>
          </a:p>
          <a:p>
            <a:pPr algn="l">
              <a:spcBef>
                <a:spcPts val="0"/>
              </a:spcBef>
              <a:spcAft>
                <a:spcPts val="142"/>
              </a:spcAft>
            </a:pPr>
            <a:r>
              <a:rPr sz="850" lang="zh-TW" dirty="0">
                <a:solidFill>
                  <a:srgbClr val="000000"/>
                </a:solidFill>
                <a:latin typeface="Arial Unicode MS"/>
                <a:ea typeface="Arial Unicode MS"/>
                <a:cs typeface="Arial Unicode MS"/>
              </a:rPr>
              <a:t>所以這張的結論，其實就是下一段要講的事：</a:t>
            </a:r>
            <a:r>
              <a:rPr sz="850" b="1" lang="zh-TW" dirty="0">
                <a:solidFill>
                  <a:srgbClr val="000000"/>
                </a:solidFill>
                <a:latin typeface="Arial Unicode MS"/>
                <a:ea typeface="Arial Unicode MS"/>
                <a:cs typeface="Arial Unicode MS"/>
              </a:rPr>
              <a:t>選感測器不是挑最強的那一顆，是湊一組弱點不一樣的。</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10</a:t>
            </a: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b="1" lang="zh-TW" dirty="0">
                <a:solidFill>
                  <a:srgbClr val="000000"/>
                </a:solidFill>
                <a:latin typeface="Arial Unicode MS"/>
                <a:ea typeface="Arial Unicode MS"/>
                <a:cs typeface="Arial Unicode MS"/>
              </a:rPr>
              <a:t>▍這一張要做什麼</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三分鐘的小練習，讓學生自己把每秒點數換算成角度。
</a:t>
            </a:r>
          </a:p>
          <a:p>
            <a:pPr algn="l">
              <a:spcBef>
                <a:spcPts val="0"/>
              </a:spcBef>
              <a:spcAft>
                <a:spcPts val="133"/>
              </a:spcAft>
            </a:pPr>
            <a:r>
              <a:rPr sz="800" b="1" lang="zh-TW" dirty="0">
                <a:solidFill>
                  <a:srgbClr val="000000"/>
                </a:solidFill>
                <a:latin typeface="Arial Unicode MS"/>
                <a:ea typeface="Arial Unicode MS"/>
                <a:cs typeface="Arial Unicode MS"/>
              </a:rPr>
              <a:t>▍畫面上圈這裡</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圈題目指定的第②個小工具。巡堂確認每個人都真的按過一次。
</a:t>
            </a:r>
          </a:p>
          <a:p>
            <a:pPr algn="l">
              <a:spcBef>
                <a:spcPts val="0"/>
              </a:spcBef>
              <a:spcAft>
                <a:spcPts val="133"/>
              </a:spcAft>
            </a:pPr>
            <a:r>
              <a:rPr sz="800" b="1" lang="zh-TW" dirty="0">
                <a:solidFill>
                  <a:srgbClr val="000000"/>
                </a:solidFill>
                <a:latin typeface="Arial Unicode MS"/>
                <a:ea typeface="Arial Unicode MS"/>
                <a:cs typeface="Arial Unicode MS"/>
              </a:rPr>
              <a:t>▍以下照著唸</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這裡停三分鐘，讓大家動手算一次。
</a:t>
            </a:r>
          </a:p>
          <a:p>
            <a:pPr algn="l">
              <a:spcBef>
                <a:spcPts val="0"/>
              </a:spcBef>
              <a:spcAft>
                <a:spcPts val="133"/>
              </a:spcAft>
            </a:pPr>
            <a:r>
              <a:rPr sz="800" lang="zh-TW" dirty="0">
                <a:solidFill>
                  <a:srgbClr val="000000"/>
                </a:solidFill>
                <a:latin typeface="Arial Unicode MS"/>
                <a:ea typeface="Arial Unicode MS"/>
                <a:cs typeface="Arial Unicode MS"/>
              </a:rPr>
              <a:t>請打開規格判讀台，找第二個小工具，「每秒點數 ↔ 角解析度」。
</a:t>
            </a:r>
          </a:p>
          <a:p>
            <a:pPr algn="l">
              <a:spcBef>
                <a:spcPts val="0"/>
              </a:spcBef>
              <a:spcAft>
                <a:spcPts val="133"/>
              </a:spcAft>
            </a:pPr>
            <a:r>
              <a:rPr sz="800" lang="zh-TW" dirty="0">
                <a:solidFill>
                  <a:srgbClr val="000000"/>
                </a:solidFill>
                <a:latin typeface="Arial Unicode MS"/>
                <a:ea typeface="Arial Unicode MS"/>
                <a:cs typeface="Arial Unicode MS"/>
              </a:rPr>
              <a:t>請把三個滑桿設成：</a:t>
            </a:r>
            <a:r>
              <a:rPr sz="800" b="1" lang="zh-TW" dirty="0">
                <a:solidFill>
                  <a:srgbClr val="000000"/>
                </a:solidFill>
                <a:latin typeface="Arial Unicode MS"/>
                <a:ea typeface="Arial Unicode MS"/>
                <a:cs typeface="Arial Unicode MS"/>
              </a:rPr>
              <a:t>64 線、每圈 1024 點、10 赫茲</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現在看它算出來的每秒點數。六十四乘一千零二十四乘十，等於</a:t>
            </a:r>
            <a:r>
              <a:rPr sz="800" b="1" lang="zh-TW" dirty="0">
                <a:solidFill>
                  <a:srgbClr val="000000"/>
                </a:solidFill>
                <a:latin typeface="Arial Unicode MS"/>
                <a:ea typeface="Arial Unicode MS"/>
                <a:cs typeface="Arial Unicode MS"/>
              </a:rPr>
              <a:t>六十五萬五千三百六十</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規格表上的廠商最喜歡寫這個數字，因為它看起來很大、很厲害。可是這個數字</a:t>
            </a:r>
            <a:r>
              <a:rPr sz="800" b="1" lang="zh-TW" dirty="0">
                <a:solidFill>
                  <a:srgbClr val="000000"/>
                </a:solidFill>
                <a:latin typeface="Arial Unicode MS"/>
                <a:ea typeface="Arial Unicode MS"/>
                <a:cs typeface="Arial Unicode MS"/>
              </a:rPr>
              <a:t>不能直接拿來用</a:t>
            </a:r>
            <a:r>
              <a:rPr sz="800" lang="zh-TW" dirty="0">
                <a:solidFill>
                  <a:srgbClr val="000000"/>
                </a:solidFill>
                <a:latin typeface="Arial Unicode MS"/>
                <a:ea typeface="Arial Unicode MS"/>
                <a:cs typeface="Arial Unicode MS"/>
              </a:rPr>
              <a:t>，它沒有辦法告訴你「四十公尺外的人身上有幾個點」。
</a:t>
            </a:r>
          </a:p>
          <a:p>
            <a:pPr algn="l">
              <a:spcBef>
                <a:spcPts val="0"/>
              </a:spcBef>
              <a:spcAft>
                <a:spcPts val="133"/>
              </a:spcAft>
            </a:pPr>
            <a:r>
              <a:rPr sz="800" lang="zh-TW" dirty="0">
                <a:solidFill>
                  <a:srgbClr val="000000"/>
                </a:solidFill>
                <a:latin typeface="Arial Unicode MS"/>
                <a:ea typeface="Arial Unicode MS"/>
                <a:cs typeface="Arial Unicode MS"/>
              </a:rPr>
              <a:t>要回答那個問題，必須先換成角度。三百六十度除以每圈一千零二十四個點，等於</a:t>
            </a:r>
            <a:r>
              <a:rPr sz="800" b="1" lang="zh-TW" dirty="0">
                <a:solidFill>
                  <a:srgbClr val="000000"/>
                </a:solidFill>
                <a:latin typeface="Arial Unicode MS"/>
                <a:ea typeface="Arial Unicode MS"/>
                <a:cs typeface="Arial Unicode MS"/>
              </a:rPr>
              <a:t>零點三五度</a:t>
            </a:r>
            <a:r>
              <a:rPr sz="800" lang="zh-TW" dirty="0">
                <a:solidFill>
                  <a:srgbClr val="000000"/>
                </a:solidFill>
                <a:latin typeface="Arial Unicode MS"/>
                <a:ea typeface="Arial Unicode MS"/>
                <a:cs typeface="Arial Unicode MS"/>
              </a:rPr>
              <a:t>。工具上就寫著這個數字。
</a:t>
            </a:r>
          </a:p>
          <a:p>
            <a:pPr algn="l">
              <a:spcBef>
                <a:spcPts val="0"/>
              </a:spcBef>
              <a:spcAft>
                <a:spcPts val="133"/>
              </a:spcAft>
            </a:pPr>
            <a:r>
              <a:rPr sz="800" lang="zh-TW" dirty="0">
                <a:solidFill>
                  <a:srgbClr val="000000"/>
                </a:solidFill>
                <a:latin typeface="Arial Unicode MS"/>
                <a:ea typeface="Arial Unicode MS"/>
                <a:cs typeface="Arial Unicode MS"/>
              </a:rPr>
              <a:t>再往下一行：零點三五度在四十公尺處，張開</a:t>
            </a:r>
            <a:r>
              <a:rPr sz="800" b="1" lang="zh-TW" dirty="0">
                <a:solidFill>
                  <a:srgbClr val="000000"/>
                </a:solidFill>
                <a:latin typeface="Arial Unicode MS"/>
                <a:ea typeface="Arial Unicode MS"/>
                <a:cs typeface="Arial Unicode MS"/>
              </a:rPr>
              <a:t>零點二五公尺</a:t>
            </a:r>
            <a:r>
              <a:rPr sz="800" lang="zh-TW" dirty="0">
                <a:solidFill>
                  <a:srgbClr val="000000"/>
                </a:solidFill>
                <a:latin typeface="Arial Unicode MS"/>
                <a:ea typeface="Arial Unicode MS"/>
                <a:cs typeface="Arial Unicode MS"/>
              </a:rPr>
              <a:t>，也就是二十五公分。一個人的肩膀大概五十公分寬，所以左右大概打得到兩個點。
</a:t>
            </a:r>
          </a:p>
          <a:p>
            <a:pPr algn="l">
              <a:spcBef>
                <a:spcPts val="0"/>
              </a:spcBef>
              <a:spcAft>
                <a:spcPts val="133"/>
              </a:spcAft>
            </a:pPr>
            <a:r>
              <a:rPr sz="800" lang="zh-TW" dirty="0">
                <a:solidFill>
                  <a:srgbClr val="000000"/>
                </a:solidFill>
                <a:latin typeface="Arial Unicode MS"/>
                <a:ea typeface="Arial Unicode MS"/>
                <a:cs typeface="Arial Unicode MS"/>
              </a:rPr>
              <a:t>滑桿下面還有一張圖：</a:t>
            </a:r>
            <a:r>
              <a:rPr sz="800" b="1" lang="zh-TW" dirty="0">
                <a:solidFill>
                  <a:srgbClr val="000000"/>
                </a:solidFill>
                <a:latin typeface="Arial Unicode MS"/>
                <a:ea typeface="Arial Unicode MS"/>
                <a:cs typeface="Arial Unicode MS"/>
              </a:rPr>
              <a:t>四十公尺外那台機車，落到幾個點</a:t>
            </a:r>
            <a:r>
              <a:rPr sz="800" lang="zh-TW" dirty="0">
                <a:solidFill>
                  <a:srgbClr val="000000"/>
                </a:solidFill>
                <a:latin typeface="Arial Unicode MS"/>
                <a:ea typeface="Arial Unicode MS"/>
                <a:cs typeface="Arial Unicode MS"/>
              </a:rPr>
              <a:t>。現在上面寫著 </a:t>
            </a:r>
            <a:r>
              <a:rPr sz="800" b="1" lang="zh-TW" dirty="0">
                <a:solidFill>
                  <a:srgbClr val="000000"/>
                </a:solidFill>
                <a:latin typeface="Arial Unicode MS"/>
                <a:ea typeface="Arial Unicode MS"/>
                <a:cs typeface="Arial Unicode MS"/>
              </a:rPr>
              <a:t>9 個點</a:t>
            </a:r>
            <a:r>
              <a:rPr sz="800" lang="zh-TW" dirty="0">
                <a:solidFill>
                  <a:srgbClr val="000000"/>
                </a:solidFill>
                <a:latin typeface="Arial Unicode MS"/>
                <a:ea typeface="Arial Unicode MS"/>
                <a:cs typeface="Arial Unicode MS"/>
              </a:rPr>
              <a:t>——這就是第一節第六張那張表裡，OS1 那一欄的九。各位看那九個點的分布，就知道為什麼光靠它認不出那是一台機車。
</a:t>
            </a:r>
          </a:p>
          <a:p>
            <a:pPr algn="l">
              <a:spcBef>
                <a:spcPts val="0"/>
              </a:spcBef>
              <a:spcAft>
                <a:spcPts val="133"/>
              </a:spcAft>
            </a:pPr>
            <a:r>
              <a:rPr sz="800" lang="zh-TW" dirty="0">
                <a:solidFill>
                  <a:srgbClr val="000000"/>
                </a:solidFill>
                <a:latin typeface="Arial Unicode MS"/>
                <a:ea typeface="Arial Unicode MS"/>
                <a:cs typeface="Arial Unicode MS"/>
              </a:rPr>
              <a:t>現在請大家把每圈點數改成 </a:t>
            </a:r>
            <a:r>
              <a:rPr sz="800" b="1" lang="zh-TW" dirty="0">
                <a:solidFill>
                  <a:srgbClr val="000000"/>
                </a:solidFill>
                <a:latin typeface="Arial Unicode MS"/>
                <a:ea typeface="Arial Unicode MS"/>
                <a:cs typeface="Arial Unicode MS"/>
              </a:rPr>
              <a:t>2048</a:t>
            </a:r>
            <a:r>
              <a:rPr sz="800" lang="zh-TW" dirty="0">
                <a:solidFill>
                  <a:srgbClr val="000000"/>
                </a:solidFill>
                <a:latin typeface="Arial Unicode MS"/>
                <a:ea typeface="Arial Unicode MS"/>
                <a:cs typeface="Arial Unicode MS"/>
              </a:rPr>
              <a:t>，看兩個數字怎麼變，順便看那張圖上的點數跳到多少。
</a:t>
            </a:r>
          </a:p>
          <a:p>
            <a:pPr algn="l">
              <a:spcBef>
                <a:spcPts val="0"/>
              </a:spcBef>
              <a:spcAft>
                <a:spcPts val="133"/>
              </a:spcAft>
            </a:pPr>
            <a:r>
              <a:rPr sz="800" lang="zh-TW" dirty="0">
                <a:solidFill>
                  <a:srgbClr val="000000"/>
                </a:solidFill>
                <a:latin typeface="Arial Unicode MS"/>
                <a:ea typeface="Arial Unicode MS"/>
                <a:cs typeface="Arial Unicode MS"/>
              </a:rPr>
              <a:t>角度變成一半，零點一七六度；四十公尺處的間距也變成一半，十二公分。圖上的點數從九個變成 </a:t>
            </a:r>
            <a:r>
              <a:rPr sz="800" b="1" lang="zh-TW" dirty="0">
                <a:solidFill>
                  <a:srgbClr val="000000"/>
                </a:solidFill>
                <a:latin typeface="Arial Unicode MS"/>
                <a:ea typeface="Arial Unicode MS"/>
                <a:cs typeface="Arial Unicode MS"/>
              </a:rPr>
              <a:t>18 個</a:t>
            </a:r>
            <a:r>
              <a:rPr sz="800" lang="zh-TW" dirty="0">
                <a:solidFill>
                  <a:srgbClr val="000000"/>
                </a:solidFill>
                <a:latin typeface="Arial Unicode MS"/>
                <a:ea typeface="Arial Unicode MS"/>
                <a:cs typeface="Arial Unicode MS"/>
              </a:rPr>
              <a:t>，同一台機車、同一個距離，只是換了一個模式。這一格第三節上機還會再碰到一次。
</a:t>
            </a:r>
          </a:p>
          <a:p>
            <a:pPr algn="l">
              <a:spcBef>
                <a:spcPts val="0"/>
              </a:spcBef>
              <a:spcAft>
                <a:spcPts val="133"/>
              </a:spcAft>
            </a:pPr>
            <a:r>
              <a:rPr sz="800" lang="zh-TW" dirty="0">
                <a:solidFill>
                  <a:srgbClr val="000000"/>
                </a:solidFill>
                <a:latin typeface="Arial Unicode MS"/>
                <a:ea typeface="Arial Unicode MS"/>
                <a:cs typeface="Arial Unicode MS"/>
              </a:rPr>
              <a:t>這就是我要各位記住的動作：</a:t>
            </a:r>
            <a:r>
              <a:rPr sz="800" b="1" lang="zh-TW" dirty="0">
                <a:solidFill>
                  <a:srgbClr val="000000"/>
                </a:solidFill>
                <a:latin typeface="Arial Unicode MS"/>
                <a:ea typeface="Arial Unicode MS"/>
                <a:cs typeface="Arial Unicode MS"/>
              </a:rPr>
              <a:t>看到「每秒幾百萬點」，先把它換算成角度，再換算成你關心的那個距離上的公分數。</a:t>
            </a:r>
            <a:r>
              <a:rPr sz="800" lang="zh-TW" dirty="0">
                <a:solidFill>
                  <a:srgbClr val="000000"/>
                </a:solidFill>
                <a:latin typeface="Arial Unicode MS"/>
                <a:ea typeface="Arial Unicode MS"/>
                <a:cs typeface="Arial Unicode MS"/>
              </a:rPr>
              <a:t>沒換算之前，那個數字只是廣告。
</a:t>
            </a:r>
          </a:p>
          <a:p>
            <a:pPr algn="l">
              <a:spcBef>
                <a:spcPts val="0"/>
              </a:spcBef>
              <a:spcAft>
                <a:spcPts val="133"/>
              </a:spcAft>
            </a:pPr>
            <a:r>
              <a:rPr sz="800" lang="zh-TW" dirty="0">
                <a:solidFill>
                  <a:srgbClr val="000000"/>
                </a:solidFill>
                <a:latin typeface="Arial Unicode MS"/>
                <a:ea typeface="Arial Unicode MS"/>
                <a:cs typeface="Arial Unicode MS"/>
              </a:rPr>
              <a:t>好，收。最後一段。</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11</a:t>
            </a: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200"/>
              </a:spcAft>
            </a:pPr>
            <a:r>
              <a:rPr sz="1200" b="1" lang="zh-TW" dirty="0">
                <a:solidFill>
                  <a:srgbClr val="000000"/>
                </a:solidFill>
                <a:latin typeface="Arial Unicode MS"/>
                <a:ea typeface="Arial Unicode MS"/>
                <a:cs typeface="Arial Unicode MS"/>
              </a:rPr>
              <a:t>▍這一張要做什麼</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段落分隔。丟出第二節的收尾問題：兩顆都好的感測器合起來可能還是錯的。
</a:t>
            </a:r>
          </a:p>
          <a:p>
            <a:pPr algn="l">
              <a:spcBef>
                <a:spcPts val="0"/>
              </a:spcBef>
              <a:spcAft>
                <a:spcPts val="200"/>
              </a:spcAft>
            </a:pPr>
            <a:r>
              <a:rPr sz="1200" b="1" lang="zh-TW" dirty="0">
                <a:solidFill>
                  <a:srgbClr val="000000"/>
                </a:solidFill>
                <a:latin typeface="Arial Unicode MS"/>
                <a:ea typeface="Arial Unicode MS"/>
                <a:cs typeface="Arial Unicode MS"/>
              </a:rPr>
              <a:t>▍畫面上圈這裡</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不用圈。這一句停兩秒再翻頁。
</a:t>
            </a:r>
          </a:p>
          <a:p>
            <a:pPr algn="l">
              <a:spcBef>
                <a:spcPts val="0"/>
              </a:spcBef>
              <a:spcAft>
                <a:spcPts val="200"/>
              </a:spcAft>
            </a:pPr>
            <a:r>
              <a:rPr sz="1200" b="1" lang="zh-TW" dirty="0">
                <a:solidFill>
                  <a:srgbClr val="000000"/>
                </a:solidFill>
                <a:latin typeface="Arial Unicode MS"/>
                <a:ea typeface="Arial Unicode MS"/>
                <a:cs typeface="Arial Unicode MS"/>
              </a:rPr>
              <a:t>▍以下照著唸</a:t>
            </a:r>
            <a:r>
              <a:rPr sz="1200" lang="zh-TW" dirty="0">
                <a:solidFill>
                  <a:srgbClr val="000000"/>
                </a:solidFill>
                <a:latin typeface="Arial Unicode MS"/>
                <a:ea typeface="Arial Unicode MS"/>
                <a:cs typeface="Arial Unicode MS"/>
              </a:rPr>
              <a:t>
</a:t>
            </a:r>
          </a:p>
          <a:p>
            <a:pPr algn="l">
              <a:spcBef>
                <a:spcPts val="0"/>
              </a:spcBef>
              <a:spcAft>
                <a:spcPts val="200"/>
              </a:spcAft>
            </a:pPr>
            <a:r>
              <a:rPr sz="1200" lang="zh-TW" dirty="0">
                <a:solidFill>
                  <a:srgbClr val="000000"/>
                </a:solidFill>
                <a:latin typeface="Arial Unicode MS"/>
                <a:ea typeface="Arial Unicode MS"/>
                <a:cs typeface="Arial Unicode MS"/>
              </a:rPr>
              <a:t>第三組，這一組規格表上常常找不到，但它決定了你的系統能不能用。</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12</a:t>
            </a: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33"/>
              </a:spcAft>
            </a:pPr>
            <a:r>
              <a:rPr sz="800" b="1" lang="zh-TW" dirty="0">
                <a:solidFill>
                  <a:srgbClr val="000000"/>
                </a:solidFill>
                <a:latin typeface="Arial Unicode MS"/>
                <a:ea typeface="Arial Unicode MS"/>
                <a:cs typeface="Arial Unicode MS"/>
              </a:rPr>
              <a:t>▍這一張要做什麼</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標定：告訴車子每一隻眼睛裝在哪、朝哪看。
</a:t>
            </a:r>
          </a:p>
          <a:p>
            <a:pPr algn="l">
              <a:spcBef>
                <a:spcPts val="0"/>
              </a:spcBef>
              <a:spcAft>
                <a:spcPts val="133"/>
              </a:spcAft>
            </a:pPr>
            <a:r>
              <a:rPr sz="800" b="1" lang="zh-TW" dirty="0">
                <a:solidFill>
                  <a:srgbClr val="000000"/>
                </a:solidFill>
                <a:latin typeface="Arial Unicode MS"/>
                <a:ea typeface="Arial Unicode MS"/>
                <a:cs typeface="Arial Unicode MS"/>
              </a:rPr>
              <a:t>▍畫面上圈這裡</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一步一步圈，最後圈偏差角度造成的位置誤差那個數字。
</a:t>
            </a:r>
          </a:p>
          <a:p>
            <a:pPr algn="l">
              <a:spcBef>
                <a:spcPts val="0"/>
              </a:spcBef>
              <a:spcAft>
                <a:spcPts val="133"/>
              </a:spcAft>
            </a:pPr>
            <a:r>
              <a:rPr sz="800" b="1" lang="zh-TW" dirty="0">
                <a:solidFill>
                  <a:srgbClr val="000000"/>
                </a:solidFill>
                <a:latin typeface="Arial Unicode MS"/>
                <a:ea typeface="Arial Unicode MS"/>
                <a:cs typeface="Arial Unicode MS"/>
              </a:rPr>
              <a:t>▍以下照著唸</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現在講一件規格表上</a:t>
            </a:r>
            <a:r>
              <a:rPr sz="800" b="1" lang="zh-TW" dirty="0">
                <a:solidFill>
                  <a:srgbClr val="000000"/>
                </a:solidFill>
                <a:latin typeface="Arial Unicode MS"/>
                <a:ea typeface="Arial Unicode MS"/>
                <a:cs typeface="Arial Unicode MS"/>
              </a:rPr>
              <a:t>常常找不到</a:t>
            </a:r>
            <a:r>
              <a:rPr sz="800" lang="zh-TW" dirty="0">
                <a:solidFill>
                  <a:srgbClr val="000000"/>
                </a:solidFill>
                <a:latin typeface="Arial Unicode MS"/>
                <a:ea typeface="Arial Unicode MS"/>
                <a:cs typeface="Arial Unicode MS"/>
              </a:rPr>
              <a:t>，但是害人最慘的事：</a:t>
            </a:r>
            <a:r>
              <a:rPr sz="800" b="1" lang="zh-TW" dirty="0">
                <a:solidFill>
                  <a:srgbClr val="000000"/>
                </a:solidFill>
                <a:latin typeface="Arial Unicode MS"/>
                <a:ea typeface="Arial Unicode MS"/>
                <a:cs typeface="Arial Unicode MS"/>
              </a:rPr>
              <a:t>標定</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先講問題。一台車上有相機、有光達。相機說「前面有一個人」，光達說「前面三十公尺有一團東西」。要把這兩句話</a:t>
            </a:r>
            <a:r>
              <a:rPr sz="800" b="1" lang="zh-TW" dirty="0">
                <a:solidFill>
                  <a:srgbClr val="000000"/>
                </a:solidFill>
                <a:latin typeface="Arial Unicode MS"/>
                <a:ea typeface="Arial Unicode MS"/>
                <a:cs typeface="Arial Unicode MS"/>
              </a:rPr>
              <a:t>合成一句</a:t>
            </a:r>
            <a:r>
              <a:rPr sz="800" lang="zh-TW" dirty="0">
                <a:solidFill>
                  <a:srgbClr val="000000"/>
                </a:solidFill>
                <a:latin typeface="Arial Unicode MS"/>
                <a:ea typeface="Arial Unicode MS"/>
                <a:cs typeface="Arial Unicode MS"/>
              </a:rPr>
              <a:t>——「那個人在三十公尺外」——車子必須知道一件事：
</a:t>
            </a:r>
          </a:p>
          <a:p>
            <a:pPr algn="l">
              <a:spcBef>
                <a:spcPts val="0"/>
              </a:spcBef>
              <a:spcAft>
                <a:spcPts val="133"/>
              </a:spcAft>
            </a:pPr>
            <a:r>
              <a:rPr sz="800" b="1" lang="zh-TW" dirty="0">
                <a:solidFill>
                  <a:srgbClr val="000000"/>
                </a:solidFill>
                <a:latin typeface="Arial Unicode MS"/>
                <a:ea typeface="Arial Unicode MS"/>
                <a:cs typeface="Arial Unicode MS"/>
              </a:rPr>
              <a:t>相機和光達，到底差多遠、差幾度？</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這就是標定。分成兩種。
</a:t>
            </a:r>
          </a:p>
          <a:p>
            <a:pPr algn="l">
              <a:spcBef>
                <a:spcPts val="0"/>
              </a:spcBef>
              <a:spcAft>
                <a:spcPts val="133"/>
              </a:spcAft>
            </a:pPr>
            <a:r>
              <a:rPr sz="800" b="1" lang="zh-TW" dirty="0">
                <a:solidFill>
                  <a:srgbClr val="000000"/>
                </a:solidFill>
                <a:latin typeface="Arial Unicode MS"/>
                <a:ea typeface="Arial Unicode MS"/>
                <a:cs typeface="Arial Unicode MS"/>
              </a:rPr>
              <a:t>第一種叫內參，intrinsic。</a:t>
            </a:r>
            <a:r>
              <a:rPr sz="800" lang="zh-TW" dirty="0">
                <a:solidFill>
                  <a:srgbClr val="000000"/>
                </a:solidFill>
                <a:latin typeface="Arial Unicode MS"/>
                <a:ea typeface="Arial Unicode MS"/>
                <a:cs typeface="Arial Unicode MS"/>
              </a:rPr>
              <a:t>講的是感測器自己內部的事：鏡頭有多扭曲、畫面的正中心到底在哪一個像素。各位拍照的時候有沒有發現，廣角鏡頭拍出來的直線會變成彎的？那個彎要先算出來、修掉，後面的計算才會對。
</a:t>
            </a:r>
          </a:p>
          <a:p>
            <a:pPr algn="l">
              <a:spcBef>
                <a:spcPts val="0"/>
              </a:spcBef>
              <a:spcAft>
                <a:spcPts val="133"/>
              </a:spcAft>
            </a:pPr>
            <a:r>
              <a:rPr sz="800" b="1" lang="zh-TW" dirty="0">
                <a:solidFill>
                  <a:srgbClr val="000000"/>
                </a:solidFill>
                <a:latin typeface="Arial Unicode MS"/>
                <a:ea typeface="Arial Unicode MS"/>
                <a:cs typeface="Arial Unicode MS"/>
              </a:rPr>
              <a:t>第二種叫外參，extrinsic。</a:t>
            </a:r>
            <a:r>
              <a:rPr sz="800" lang="zh-TW" dirty="0">
                <a:solidFill>
                  <a:srgbClr val="000000"/>
                </a:solidFill>
                <a:latin typeface="Arial Unicode MS"/>
                <a:ea typeface="Arial Unicode MS"/>
                <a:cs typeface="Arial Unicode MS"/>
              </a:rPr>
              <a:t>講的是感測器彼此之間的關係：光達裝在車頂，相機裝在擋風玻璃後面，兩者相距六十公分、角度差三度。這六十公分和三度，要量得很準。
</a:t>
            </a:r>
          </a:p>
          <a:p>
            <a:pPr algn="l">
              <a:spcBef>
                <a:spcPts val="0"/>
              </a:spcBef>
              <a:spcAft>
                <a:spcPts val="133"/>
              </a:spcAft>
            </a:pPr>
            <a:r>
              <a:rPr sz="800" lang="zh-TW" dirty="0">
                <a:solidFill>
                  <a:srgbClr val="000000"/>
                </a:solidFill>
                <a:latin typeface="Arial Unicode MS"/>
                <a:ea typeface="Arial Unicode MS"/>
                <a:cs typeface="Arial Unicode MS"/>
              </a:rPr>
              <a:t>那不準會怎樣？我們算一下。
</a:t>
            </a:r>
          </a:p>
          <a:p>
            <a:pPr algn="l">
              <a:spcBef>
                <a:spcPts val="0"/>
              </a:spcBef>
              <a:spcAft>
                <a:spcPts val="133"/>
              </a:spcAft>
            </a:pPr>
            <a:r>
              <a:rPr sz="800" lang="zh-TW" dirty="0">
                <a:solidFill>
                  <a:srgbClr val="000000"/>
                </a:solidFill>
                <a:latin typeface="Arial Unicode MS"/>
                <a:ea typeface="Arial Unicode MS"/>
                <a:cs typeface="Arial Unicode MS"/>
              </a:rPr>
              <a:t>假設角度只差了</a:t>
            </a:r>
            <a:r>
              <a:rPr sz="800" b="1" lang="zh-TW" dirty="0">
                <a:solidFill>
                  <a:srgbClr val="000000"/>
                </a:solidFill>
                <a:latin typeface="Arial Unicode MS"/>
                <a:ea typeface="Arial Unicode MS"/>
                <a:cs typeface="Arial Unicode MS"/>
              </a:rPr>
              <a:t>一度</a:t>
            </a:r>
            <a:r>
              <a:rPr sz="800" lang="zh-TW" dirty="0">
                <a:solidFill>
                  <a:srgbClr val="000000"/>
                </a:solidFill>
                <a:latin typeface="Arial Unicode MS"/>
                <a:ea typeface="Arial Unicode MS"/>
                <a:cs typeface="Arial Unicode MS"/>
              </a:rPr>
              <a:t>。一度聽起來很小對不對？
</a:t>
            </a:r>
          </a:p>
          <a:p>
            <a:pPr algn="l">
              <a:spcBef>
                <a:spcPts val="0"/>
              </a:spcBef>
              <a:spcAft>
                <a:spcPts val="133"/>
              </a:spcAft>
            </a:pPr>
            <a:r>
              <a:rPr sz="800" lang="zh-TW" dirty="0">
                <a:solidFill>
                  <a:srgbClr val="000000"/>
                </a:solidFill>
                <a:latin typeface="Arial Unicode MS"/>
                <a:ea typeface="Arial Unicode MS"/>
                <a:cs typeface="Arial Unicode MS"/>
              </a:rPr>
              <a:t>在五十公尺外，一度張開的距離是：五十乘以一度的弧度，大約</a:t>
            </a:r>
            <a:r>
              <a:rPr sz="800" b="1" lang="zh-TW" dirty="0">
                <a:solidFill>
                  <a:srgbClr val="000000"/>
                </a:solidFill>
                <a:latin typeface="Arial Unicode MS"/>
                <a:ea typeface="Arial Unicode MS"/>
                <a:cs typeface="Arial Unicode MS"/>
              </a:rPr>
              <a:t>零點八七公尺</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我把這個數字寫在白板上：</a:t>
            </a:r>
            <a:r>
              <a:rPr sz="800" b="1" lang="zh-TW" dirty="0">
                <a:solidFill>
                  <a:srgbClr val="000000"/>
                </a:solidFill>
                <a:latin typeface="Arial Unicode MS"/>
                <a:ea typeface="Arial Unicode MS"/>
                <a:cs typeface="Arial Unicode MS"/>
              </a:rPr>
              <a:t>差一度，五十公尺外就差了將近一公尺。</a:t>
            </a:r>
            <a:r>
              <a:rPr sz="800" lang="zh-TW" dirty="0">
                <a:solidFill>
                  <a:srgbClr val="000000"/>
                </a:solidFill>
                <a:latin typeface="Arial Unicode MS"/>
                <a:ea typeface="Arial Unicode MS"/>
                <a:cs typeface="Arial Unicode MS"/>
              </a:rPr>
              <a:t>
</a:t>
            </a:r>
          </a:p>
          <a:p>
            <a:pPr algn="l">
              <a:spcBef>
                <a:spcPts val="0"/>
              </a:spcBef>
              <a:spcAft>
                <a:spcPts val="133"/>
              </a:spcAft>
            </a:pPr>
            <a:r>
              <a:rPr sz="800" lang="zh-TW" dirty="0">
                <a:solidFill>
                  <a:srgbClr val="000000"/>
                </a:solidFill>
                <a:latin typeface="Arial Unicode MS"/>
                <a:ea typeface="Arial Unicode MS"/>
                <a:cs typeface="Arial Unicode MS"/>
              </a:rPr>
              <a:t>一公尺是什麼概念？車道寬三點五公尺。差一公尺，你可能就把隔壁車道的車，當成自己車道上的車，然後急煞。
</a:t>
            </a:r>
          </a:p>
          <a:p>
            <a:pPr algn="l">
              <a:spcBef>
                <a:spcPts val="0"/>
              </a:spcBef>
              <a:spcAft>
                <a:spcPts val="133"/>
              </a:spcAft>
            </a:pPr>
            <a:r>
              <a:rPr sz="800" lang="zh-TW" dirty="0">
                <a:solidFill>
                  <a:srgbClr val="000000"/>
                </a:solidFill>
                <a:latin typeface="Arial Unicode MS"/>
                <a:ea typeface="Arial Unicode MS"/>
                <a:cs typeface="Arial Unicode MS"/>
              </a:rPr>
              <a:t>更麻煩的是：標定</a:t>
            </a:r>
            <a:r>
              <a:rPr sz="800" b="1" lang="zh-TW" dirty="0">
                <a:solidFill>
                  <a:srgbClr val="000000"/>
                </a:solidFill>
                <a:latin typeface="Arial Unicode MS"/>
                <a:ea typeface="Arial Unicode MS"/>
                <a:cs typeface="Arial Unicode MS"/>
              </a:rPr>
              <a:t>會跑掉</a:t>
            </a:r>
            <a:r>
              <a:rPr sz="800" lang="zh-TW" dirty="0">
                <a:solidFill>
                  <a:srgbClr val="000000"/>
                </a:solidFill>
                <a:latin typeface="Arial Unicode MS"/>
                <a:ea typeface="Arial Unicode MS"/>
                <a:cs typeface="Arial Unicode MS"/>
              </a:rPr>
              <a:t>。車子每天在路上震動，過了一個坑洞，或者擋風玻璃換過一次，外參就變了。所以真正在營運的自駕車隊，要</a:t>
            </a:r>
            <a:r>
              <a:rPr sz="800" b="1" lang="zh-TW" dirty="0">
                <a:solidFill>
                  <a:srgbClr val="000000"/>
                </a:solidFill>
                <a:latin typeface="Arial Unicode MS"/>
                <a:ea typeface="Arial Unicode MS"/>
                <a:cs typeface="Arial Unicode MS"/>
              </a:rPr>
              <a:t>定期重新標定</a:t>
            </a:r>
            <a:r>
              <a:rPr sz="800" lang="zh-TW" dirty="0">
                <a:solidFill>
                  <a:srgbClr val="000000"/>
                </a:solidFill>
                <a:latin typeface="Arial Unicode MS"/>
                <a:ea typeface="Arial Unicode MS"/>
                <a:cs typeface="Arial Unicode MS"/>
              </a:rPr>
              <a:t>，有些車還會自己在行駛中偷偷校正。
</a:t>
            </a:r>
          </a:p>
          <a:p>
            <a:pPr algn="l">
              <a:spcBef>
                <a:spcPts val="0"/>
              </a:spcBef>
              <a:spcAft>
                <a:spcPts val="133"/>
              </a:spcAft>
            </a:pPr>
            <a:r>
              <a:rPr sz="800" lang="zh-TW" dirty="0">
                <a:solidFill>
                  <a:srgbClr val="000000"/>
                </a:solidFill>
                <a:latin typeface="Arial Unicode MS"/>
                <a:ea typeface="Arial Unicode MS"/>
                <a:cs typeface="Arial Unicode MS"/>
              </a:rPr>
              <a:t>這也是為什麼期末專題如果各位要做感測器融合，第一個卡住你們的一定是標定，不是演算法。</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13</a:t>
            </a: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42"/>
              </a:spcAft>
            </a:pPr>
            <a:r>
              <a:rPr sz="850" b="1" lang="zh-TW" dirty="0">
                <a:solidFill>
                  <a:srgbClr val="000000"/>
                </a:solidFill>
                <a:latin typeface="Arial Unicode MS"/>
                <a:ea typeface="Arial Unicode MS"/>
                <a:cs typeface="Arial Unicode MS"/>
              </a:rPr>
              <a:t>▍這一張要做什麼</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時間同步：兩隻眼睛要看的是同一個瞬間。
</a:t>
            </a:r>
          </a:p>
          <a:p>
            <a:pPr algn="l">
              <a:spcBef>
                <a:spcPts val="0"/>
              </a:spcBef>
              <a:spcAft>
                <a:spcPts val="142"/>
              </a:spcAft>
            </a:pPr>
            <a:r>
              <a:rPr sz="850" b="1" lang="zh-TW" dirty="0">
                <a:solidFill>
                  <a:srgbClr val="000000"/>
                </a:solidFill>
                <a:latin typeface="Arial Unicode MS"/>
                <a:ea typeface="Arial Unicode MS"/>
                <a:cs typeface="Arial Unicode MS"/>
              </a:rPr>
              <a:t>▍畫面上圈這裡</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圈上面算出來的 50 毫秒與半公尺，再指圖裡 Additional Programmability 的 Multi-sensor phase lock。
</a:t>
            </a:r>
          </a:p>
          <a:p>
            <a:pPr algn="l">
              <a:spcBef>
                <a:spcPts val="0"/>
              </a:spcBef>
              <a:spcAft>
                <a:spcPts val="142"/>
              </a:spcAft>
            </a:pPr>
            <a:r>
              <a:rPr sz="850" b="1" lang="zh-TW" dirty="0">
                <a:solidFill>
                  <a:srgbClr val="000000"/>
                </a:solidFill>
                <a:latin typeface="Arial Unicode MS"/>
                <a:ea typeface="Arial Unicode MS"/>
                <a:cs typeface="Arial Unicode MS"/>
              </a:rPr>
              <a:t>▍以下照著唸</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最後一件事是</a:t>
            </a:r>
            <a:r>
              <a:rPr sz="850" b="1" lang="zh-TW" dirty="0">
                <a:solidFill>
                  <a:srgbClr val="000000"/>
                </a:solidFill>
                <a:latin typeface="Arial Unicode MS"/>
                <a:ea typeface="Arial Unicode MS"/>
                <a:cs typeface="Arial Unicode MS"/>
              </a:rPr>
              <a:t>時間同步</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剛剛講的標定是「空間」上要對準。這一件是「時間」上要對準。
</a:t>
            </a:r>
          </a:p>
          <a:p>
            <a:pPr algn="l">
              <a:spcBef>
                <a:spcPts val="0"/>
              </a:spcBef>
              <a:spcAft>
                <a:spcPts val="142"/>
              </a:spcAft>
            </a:pPr>
            <a:r>
              <a:rPr sz="850" lang="zh-TW" dirty="0">
                <a:solidFill>
                  <a:srgbClr val="000000"/>
                </a:solidFill>
                <a:latin typeface="Arial Unicode MS"/>
                <a:ea typeface="Arial Unicode MS"/>
                <a:cs typeface="Arial Unicode MS"/>
              </a:rPr>
              <a:t>想想看：光達一秒轉十圈，相機一秒拍六十張。這兩個東西的節奏完全不一樣。
</a:t>
            </a:r>
          </a:p>
          <a:p>
            <a:pPr algn="l">
              <a:spcBef>
                <a:spcPts val="0"/>
              </a:spcBef>
              <a:spcAft>
                <a:spcPts val="142"/>
              </a:spcAft>
            </a:pPr>
            <a:r>
              <a:rPr sz="850" lang="zh-TW" dirty="0">
                <a:solidFill>
                  <a:srgbClr val="000000"/>
                </a:solidFill>
                <a:latin typeface="Arial Unicode MS"/>
                <a:ea typeface="Arial Unicode MS"/>
                <a:cs typeface="Arial Unicode MS"/>
              </a:rPr>
              <a:t>假設車子現在收到一張相機的畫面，還有一圈光達的點雲，要把它們合起來。問題是——</a:t>
            </a:r>
            <a:r>
              <a:rPr sz="850" b="1" lang="zh-TW" dirty="0">
                <a:solidFill>
                  <a:srgbClr val="000000"/>
                </a:solidFill>
                <a:latin typeface="Arial Unicode MS"/>
                <a:ea typeface="Arial Unicode MS"/>
                <a:cs typeface="Arial Unicode MS"/>
              </a:rPr>
              <a:t>這兩份資料是同一個瞬間的嗎？</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如果沒有處理，它們可能差到五十毫秒。時速四十的時候，五十毫秒車子走了</a:t>
            </a:r>
            <a:r>
              <a:rPr sz="850" b="1" lang="zh-TW" dirty="0">
                <a:solidFill>
                  <a:srgbClr val="000000"/>
                </a:solidFill>
                <a:latin typeface="Arial Unicode MS"/>
                <a:ea typeface="Arial Unicode MS"/>
                <a:cs typeface="Arial Unicode MS"/>
              </a:rPr>
              <a:t>零點五六公尺</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所以你會把相機在 A 點看到的人，跟光達在 B 點量到的距離配在一起，得到一個</a:t>
            </a:r>
            <a:r>
              <a:rPr sz="850" b="1" lang="zh-TW" dirty="0">
                <a:solidFill>
                  <a:srgbClr val="000000"/>
                </a:solidFill>
                <a:latin typeface="Arial Unicode MS"/>
                <a:ea typeface="Arial Unicode MS"/>
                <a:cs typeface="Arial Unicode MS"/>
              </a:rPr>
              <a:t>根本不存在的位置</a:t>
            </a:r>
            <a:r>
              <a:rPr sz="850" lang="zh-TW" dirty="0">
                <a:solidFill>
                  <a:srgbClr val="000000"/>
                </a:solidFill>
                <a:latin typeface="Arial Unicode MS"/>
                <a:ea typeface="Arial Unicode MS"/>
                <a:cs typeface="Arial Unicode MS"/>
              </a:rPr>
              <a:t>。
</a:t>
            </a:r>
          </a:p>
          <a:p>
            <a:pPr algn="l">
              <a:spcBef>
                <a:spcPts val="0"/>
              </a:spcBef>
              <a:spcAft>
                <a:spcPts val="142"/>
              </a:spcAft>
            </a:pPr>
            <a:r>
              <a:rPr sz="850" lang="zh-TW" dirty="0">
                <a:solidFill>
                  <a:srgbClr val="000000"/>
                </a:solidFill>
                <a:latin typeface="Arial Unicode MS"/>
                <a:ea typeface="Arial Unicode MS"/>
                <a:cs typeface="Arial Unicode MS"/>
              </a:rPr>
              <a:t>而且這個誤差會跟剛剛的標定誤差疊加，兩個加起來就很可觀。
</a:t>
            </a:r>
          </a:p>
          <a:p>
            <a:pPr algn="l">
              <a:spcBef>
                <a:spcPts val="0"/>
              </a:spcBef>
              <a:spcAft>
                <a:spcPts val="142"/>
              </a:spcAft>
            </a:pPr>
            <a:r>
              <a:rPr sz="850" lang="zh-TW" dirty="0">
                <a:solidFill>
                  <a:srgbClr val="000000"/>
                </a:solidFill>
                <a:latin typeface="Arial Unicode MS"/>
                <a:ea typeface="Arial Unicode MS"/>
                <a:cs typeface="Arial Unicode MS"/>
              </a:rPr>
              <a:t>解法是讓每一顆感測器都在資料上蓋一個</a:t>
            </a:r>
            <a:r>
              <a:rPr sz="850" b="1" lang="zh-TW" dirty="0">
                <a:solidFill>
                  <a:srgbClr val="000000"/>
                </a:solidFill>
                <a:latin typeface="Arial Unicode MS"/>
                <a:ea typeface="Arial Unicode MS"/>
                <a:cs typeface="Arial Unicode MS"/>
              </a:rPr>
              <a:t>時間戳</a:t>
            </a:r>
            <a:r>
              <a:rPr sz="850" lang="zh-TW" dirty="0">
                <a:solidFill>
                  <a:srgbClr val="000000"/>
                </a:solidFill>
                <a:latin typeface="Arial Unicode MS"/>
                <a:ea typeface="Arial Unicode MS"/>
                <a:cs typeface="Arial Unicode MS"/>
              </a:rPr>
              <a:t>，而且全車用同一個時鐘。高階一點的做法，是讓光達轉到某個角度的時候，剛好跟相機的快門</a:t>
            </a:r>
            <a:r>
              <a:rPr sz="850" b="1" lang="zh-TW" dirty="0">
                <a:solidFill>
                  <a:srgbClr val="000000"/>
                </a:solidFill>
                <a:latin typeface="Arial Unicode MS"/>
                <a:ea typeface="Arial Unicode MS"/>
                <a:cs typeface="Arial Unicode MS"/>
              </a:rPr>
              <a:t>對在一起</a:t>
            </a:r>
            <a:r>
              <a:rPr sz="850" lang="zh-TW" dirty="0">
                <a:solidFill>
                  <a:srgbClr val="000000"/>
                </a:solidFill>
                <a:latin typeface="Arial Unicode MS"/>
                <a:ea typeface="Arial Unicode MS"/>
                <a:cs typeface="Arial Unicode MS"/>
              </a:rPr>
              <a:t>。OS1 規格表上 Additional Programmability 的</a:t>
            </a:r>
            <a:r>
              <a:rPr sz="850" b="1" lang="zh-TW" dirty="0">
                <a:solidFill>
                  <a:srgbClr val="000000"/>
                </a:solidFill>
                <a:latin typeface="Arial Unicode MS"/>
                <a:ea typeface="Arial Unicode MS"/>
                <a:cs typeface="Arial Unicode MS"/>
              </a:rPr>
              <a:t>第一條</a:t>
            </a:r>
            <a:r>
              <a:rPr sz="850" lang="zh-TW" dirty="0">
                <a:solidFill>
                  <a:srgbClr val="000000"/>
                </a:solidFill>
                <a:latin typeface="Arial Unicode MS"/>
                <a:ea typeface="Arial Unicode MS"/>
                <a:cs typeface="Arial Unicode MS"/>
              </a:rPr>
              <a:t>，multi-sensor phase lock，講的就是這件事。
</a:t>
            </a:r>
          </a:p>
          <a:p>
            <a:pPr algn="l">
              <a:spcBef>
                <a:spcPts val="0"/>
              </a:spcBef>
              <a:spcAft>
                <a:spcPts val="142"/>
              </a:spcAft>
            </a:pPr>
            <a:r>
              <a:rPr sz="850" lang="zh-TW" dirty="0">
                <a:solidFill>
                  <a:srgbClr val="000000"/>
                </a:solidFill>
                <a:latin typeface="Arial Unicode MS"/>
                <a:ea typeface="Arial Unicode MS"/>
                <a:cs typeface="Arial Unicode MS"/>
              </a:rPr>
              <a:t>所以請各位記住：</a:t>
            </a:r>
            <a:r>
              <a:rPr sz="850" b="1" lang="zh-TW" dirty="0">
                <a:solidFill>
                  <a:srgbClr val="000000"/>
                </a:solidFill>
                <a:latin typeface="Arial Unicode MS"/>
                <a:ea typeface="Arial Unicode MS"/>
                <a:cs typeface="Arial Unicode MS"/>
              </a:rPr>
              <a:t>兩顆感測器各自都是好的，不代表合起來是對的。</a:t>
            </a:r>
            <a:r>
              <a:rPr sz="850" lang="zh-TW" dirty="0">
                <a:solidFill>
                  <a:srgbClr val="000000"/>
                </a:solidFill>
                <a:latin typeface="Arial Unicode MS"/>
                <a:ea typeface="Arial Unicode MS"/>
                <a:cs typeface="Arial Unicode MS"/>
              </a:rPr>
              <a:t>中間還有標定和同步這兩關。
</a:t>
            </a:r>
          </a:p>
          <a:p>
            <a:pPr algn="l">
              <a:spcBef>
                <a:spcPts val="0"/>
              </a:spcBef>
              <a:spcAft>
                <a:spcPts val="142"/>
              </a:spcAft>
            </a:pPr>
            <a:r>
              <a:rPr sz="850" lang="zh-TW" dirty="0">
                <a:solidFill>
                  <a:srgbClr val="000000"/>
                </a:solidFill>
                <a:latin typeface="Arial Unicode MS"/>
                <a:ea typeface="Arial Unicode MS"/>
                <a:cs typeface="Arial Unicode MS"/>
              </a:rPr>
              <a:t>這兩關在規格表上常常只有一兩行，甚至完全沒有，可是實際做系統的時候，它們吃掉的時間比選型還多。
</a:t>
            </a:r>
          </a:p>
          <a:p>
            <a:pPr algn="l">
              <a:spcBef>
                <a:spcPts val="0"/>
              </a:spcBef>
              <a:spcAft>
                <a:spcPts val="142"/>
              </a:spcAft>
            </a:pPr>
            <a:r>
              <a:rPr sz="850" lang="zh-TW" dirty="0">
                <a:solidFill>
                  <a:srgbClr val="000000"/>
                </a:solidFill>
                <a:latin typeface="Arial Unicode MS"/>
                <a:ea typeface="Arial Unicode MS"/>
                <a:cs typeface="Arial Unicode MS"/>
              </a:rPr>
              <a:t>下一節我們回到工具上，把今天和上一節講的東西，全部用在一件事上：</a:t>
            </a:r>
            <a:r>
              <a:rPr sz="850" b="1" lang="zh-TW" dirty="0">
                <a:solidFill>
                  <a:srgbClr val="000000"/>
                </a:solidFill>
                <a:latin typeface="Arial Unicode MS"/>
                <a:ea typeface="Arial Unicode MS"/>
                <a:cs typeface="Arial Unicode MS"/>
              </a:rPr>
              <a:t>幫一個指定的情境選一顆感測器</a:t>
            </a:r>
            <a:r>
              <a:rPr sz="850" lang="zh-TW" dirty="0">
                <a:solidFill>
                  <a:srgbClr val="000000"/>
                </a:solidFill>
                <a:latin typeface="Arial Unicode MS"/>
                <a:ea typeface="Arial Unicode MS"/>
                <a:cs typeface="Arial Unicode MS"/>
              </a:rPr>
              <a:t>，而且要說得出是卡在哪一行。</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14</a:t>
            </a: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2"/>
          </p:nvPr>
        </p:nvSpPr>
        <p:spPr>
          <a:xfrm>
            <a:off x="540000" y="540000"/>
            <a:ext cx="6480000" cy="3645000"/>
          </a:xfrm>
        </p:spPr>
      </p:sp>
      <p:sp>
        <p:nvSpPr>
          <p:cNvPr id="3" name="Notes Placeholder 2"/>
          <p:cNvSpPr>
            <a:spLocks noGrp="1"/>
          </p:cNvSpPr>
          <p:nvPr>
            <p:ph type="body" idx="3"/>
          </p:nvPr>
        </p:nvSpPr>
        <p:spPr>
          <a:xfrm>
            <a:off x="540000" y="4440000"/>
            <a:ext cx="6480000" cy="5500000"/>
          </a:xfrm>
        </p:spPr>
        <p:txBody>
          <a:bodyPr vert="horz" wrap="square" anchor="t" lIns="91440" rIns="91440" tIns="45720" bIns="45720"/>
          <a:lstStyle/>
          <a:p>
            <a:pPr algn="l">
              <a:spcBef>
                <a:spcPts val="0"/>
              </a:spcBef>
              <a:spcAft>
                <a:spcPts val="167"/>
              </a:spcAft>
            </a:pPr>
            <a:r>
              <a:rPr sz="1000" b="1" lang="zh-TW" dirty="0">
                <a:solidFill>
                  <a:srgbClr val="000000"/>
                </a:solidFill>
                <a:latin typeface="Arial Unicode MS"/>
                <a:ea typeface="Arial Unicode MS"/>
                <a:cs typeface="Arial Unicode MS"/>
              </a:rPr>
              <a:t>▍這一張要做什麼</a:t>
            </a:r>
            <a:r>
              <a:rPr sz="1000" lang="zh-TW" dirty="0">
                <a:solidFill>
                  <a:srgbClr val="000000"/>
                </a:solidFill>
                <a:latin typeface="Arial Unicode MS"/>
                <a:ea typeface="Arial Unicode MS"/>
                <a:cs typeface="Arial Unicode MS"/>
              </a:rPr>
              <a:t>
</a:t>
            </a:r>
          </a:p>
          <a:p>
            <a:pPr algn="l">
              <a:spcBef>
                <a:spcPts val="0"/>
              </a:spcBef>
              <a:spcAft>
                <a:spcPts val="167"/>
              </a:spcAft>
            </a:pPr>
            <a:r>
              <a:rPr sz="1000" lang="zh-TW" dirty="0">
                <a:solidFill>
                  <a:srgbClr val="000000"/>
                </a:solidFill>
                <a:latin typeface="Arial Unicode MS"/>
                <a:ea typeface="Arial Unicode MS"/>
                <a:cs typeface="Arial Unicode MS"/>
              </a:rPr>
              <a:t>第二節小結，三句話帶上機。
</a:t>
            </a:r>
          </a:p>
          <a:p>
            <a:pPr algn="l">
              <a:spcBef>
                <a:spcPts val="0"/>
              </a:spcBef>
              <a:spcAft>
                <a:spcPts val="167"/>
              </a:spcAft>
            </a:pPr>
            <a:r>
              <a:rPr sz="1000" b="1" lang="zh-TW" dirty="0">
                <a:solidFill>
                  <a:srgbClr val="000000"/>
                </a:solidFill>
                <a:latin typeface="Arial Unicode MS"/>
                <a:ea typeface="Arial Unicode MS"/>
                <a:cs typeface="Arial Unicode MS"/>
              </a:rPr>
              <a:t>▍畫面上圈這裡</a:t>
            </a:r>
            <a:r>
              <a:rPr sz="1000" lang="zh-TW" dirty="0">
                <a:solidFill>
                  <a:srgbClr val="000000"/>
                </a:solidFill>
                <a:latin typeface="Arial Unicode MS"/>
                <a:ea typeface="Arial Unicode MS"/>
                <a:cs typeface="Arial Unicode MS"/>
              </a:rPr>
              <a:t>
</a:t>
            </a:r>
          </a:p>
          <a:p>
            <a:pPr algn="l">
              <a:spcBef>
                <a:spcPts val="0"/>
              </a:spcBef>
              <a:spcAft>
                <a:spcPts val="167"/>
              </a:spcAft>
            </a:pPr>
            <a:r>
              <a:rPr sz="1000" lang="zh-TW" dirty="0">
                <a:solidFill>
                  <a:srgbClr val="000000"/>
                </a:solidFill>
                <a:latin typeface="Arial Unicode MS"/>
                <a:ea typeface="Arial Unicode MS"/>
                <a:cs typeface="Arial Unicode MS"/>
              </a:rPr>
              <a:t>三條一條一條圈。第三條「合起來不一定對」是明天做專題時最常忘的。
</a:t>
            </a:r>
          </a:p>
          <a:p>
            <a:pPr algn="l">
              <a:spcBef>
                <a:spcPts val="0"/>
              </a:spcBef>
              <a:spcAft>
                <a:spcPts val="167"/>
              </a:spcAft>
            </a:pPr>
            <a:r>
              <a:rPr sz="1000" b="1" lang="zh-TW" dirty="0">
                <a:solidFill>
                  <a:srgbClr val="000000"/>
                </a:solidFill>
                <a:latin typeface="Arial Unicode MS"/>
                <a:ea typeface="Arial Unicode MS"/>
                <a:cs typeface="Arial Unicode MS"/>
              </a:rPr>
              <a:t>▍以下照著唸</a:t>
            </a:r>
            <a:r>
              <a:rPr sz="1000" lang="zh-TW" dirty="0">
                <a:solidFill>
                  <a:srgbClr val="000000"/>
                </a:solidFill>
                <a:latin typeface="Arial Unicode MS"/>
                <a:ea typeface="Arial Unicode MS"/>
                <a:cs typeface="Arial Unicode MS"/>
              </a:rPr>
              <a:t>
</a:t>
            </a:r>
          </a:p>
          <a:p>
            <a:pPr algn="l">
              <a:spcBef>
                <a:spcPts val="0"/>
              </a:spcBef>
              <a:spcAft>
                <a:spcPts val="167"/>
              </a:spcAft>
            </a:pPr>
            <a:r>
              <a:rPr sz="1000" lang="zh-TW" dirty="0">
                <a:solidFill>
                  <a:srgbClr val="000000"/>
                </a:solidFill>
                <a:latin typeface="Arial Unicode MS"/>
                <a:ea typeface="Arial Unicode MS"/>
                <a:cs typeface="Arial Unicode MS"/>
              </a:rPr>
              <a:t>第二節收起來，三句話。
</a:t>
            </a:r>
          </a:p>
          <a:p>
            <a:pPr algn="l">
              <a:spcBef>
                <a:spcPts val="0"/>
              </a:spcBef>
              <a:spcAft>
                <a:spcPts val="167"/>
              </a:spcAft>
            </a:pPr>
            <a:r>
              <a:rPr sz="1000" b="1" lang="zh-TW" dirty="0">
                <a:solidFill>
                  <a:srgbClr val="000000"/>
                </a:solidFill>
                <a:latin typeface="Arial Unicode MS"/>
                <a:ea typeface="Arial Unicode MS"/>
                <a:cs typeface="Arial Unicode MS"/>
              </a:rPr>
              <a:t>第一句，相機的三件事。</a:t>
            </a:r>
            <a:r>
              <a:rPr sz="1000" lang="zh-TW" dirty="0">
                <a:solidFill>
                  <a:srgbClr val="000000"/>
                </a:solidFill>
                <a:latin typeface="Arial Unicode MS"/>
                <a:ea typeface="Arial Unicode MS"/>
                <a:cs typeface="Arial Unicode MS"/>
              </a:rPr>
              <a:t>捲簾快門會把移動中的東西扭掉；動態範圍不夠，隧道裡面黑掉或者外面白掉；沒有 LED 閃爍抑制，紅燈可能被拍成沒亮。
</a:t>
            </a:r>
          </a:p>
          <a:p>
            <a:pPr algn="l">
              <a:spcBef>
                <a:spcPts val="0"/>
              </a:spcBef>
              <a:spcAft>
                <a:spcPts val="167"/>
              </a:spcAft>
            </a:pPr>
            <a:r>
              <a:rPr sz="1000" b="1" lang="zh-TW" dirty="0">
                <a:solidFill>
                  <a:srgbClr val="000000"/>
                </a:solidFill>
                <a:latin typeface="Arial Unicode MS"/>
                <a:ea typeface="Arial Unicode MS"/>
                <a:cs typeface="Arial Unicode MS"/>
              </a:rPr>
              <a:t>第二句，光達的三行。</a:t>
            </a:r>
            <a:r>
              <a:rPr sz="1000" lang="zh-TW" dirty="0">
                <a:solidFill>
                  <a:srgbClr val="000000"/>
                </a:solidFill>
                <a:latin typeface="Arial Unicode MS"/>
                <a:ea typeface="Arial Unicode MS"/>
                <a:cs typeface="Arial Unicode MS"/>
              </a:rPr>
              <a:t>波長決定法規允許你打多強，也就決定看多遠；Class 1 對眼睛安全是門檻，不是加分；多次回波決定它在雨和灰塵裡好不好用。
</a:t>
            </a:r>
          </a:p>
          <a:p>
            <a:pPr algn="l">
              <a:spcBef>
                <a:spcPts val="0"/>
              </a:spcBef>
              <a:spcAft>
                <a:spcPts val="167"/>
              </a:spcAft>
            </a:pPr>
            <a:r>
              <a:rPr sz="1000" b="1" lang="zh-TW" dirty="0">
                <a:solidFill>
                  <a:srgbClr val="000000"/>
                </a:solidFill>
                <a:latin typeface="Arial Unicode MS"/>
                <a:ea typeface="Arial Unicode MS"/>
                <a:cs typeface="Arial Unicode MS"/>
              </a:rPr>
              <a:t>第三句，兩顆好的感測器合起來不一定對。</a:t>
            </a:r>
            <a:r>
              <a:rPr sz="1000" lang="zh-TW" dirty="0">
                <a:solidFill>
                  <a:srgbClr val="000000"/>
                </a:solidFill>
                <a:latin typeface="Arial Unicode MS"/>
                <a:ea typeface="Arial Unicode MS"/>
                <a:cs typeface="Arial Unicode MS"/>
              </a:rPr>
              <a:t>空間要標定，差一度在五十公尺外就差快一公尺；時間要同步，差五十毫秒在時速四十下就差半公尺以上。
</a:t>
            </a:r>
          </a:p>
          <a:p>
            <a:pPr algn="l">
              <a:spcBef>
                <a:spcPts val="0"/>
              </a:spcBef>
              <a:spcAft>
                <a:spcPts val="167"/>
              </a:spcAft>
            </a:pPr>
            <a:r>
              <a:rPr sz="1000" lang="zh-TW" dirty="0">
                <a:solidFill>
                  <a:srgbClr val="000000"/>
                </a:solidFill>
                <a:latin typeface="Arial Unicode MS"/>
                <a:ea typeface="Arial Unicode MS"/>
                <a:cs typeface="Arial Unicode MS"/>
              </a:rPr>
              <a:t>下一節整節都在電腦上。各位要做的事是：拿四個型號、三個情境，自己判斷哪一顆能用、哪一顆不行，而且要講得出</a:t>
            </a:r>
            <a:r>
              <a:rPr sz="1000" b="1" lang="zh-TW" dirty="0">
                <a:solidFill>
                  <a:srgbClr val="000000"/>
                </a:solidFill>
                <a:latin typeface="Arial Unicode MS"/>
                <a:ea typeface="Arial Unicode MS"/>
                <a:cs typeface="Arial Unicode MS"/>
              </a:rPr>
              <a:t>卡在哪一行</a:t>
            </a:r>
            <a:r>
              <a:rPr sz="1000" lang="zh-TW" dirty="0">
                <a:solidFill>
                  <a:srgbClr val="000000"/>
                </a:solidFill>
                <a:latin typeface="Arial Unicode MS"/>
                <a:ea typeface="Arial Unicode MS"/>
                <a:cs typeface="Arial Unicode MS"/>
              </a:rPr>
              <a:t>。
</a:t>
            </a:r>
          </a:p>
          <a:p>
            <a:pPr algn="l">
              <a:spcBef>
                <a:spcPts val="0"/>
              </a:spcBef>
              <a:spcAft>
                <a:spcPts val="167"/>
              </a:spcAft>
            </a:pPr>
            <a:r>
              <a:rPr sz="1000" lang="zh-TW" dirty="0">
                <a:solidFill>
                  <a:srgbClr val="000000"/>
                </a:solidFill>
                <a:latin typeface="Arial Unicode MS"/>
                <a:ea typeface="Arial Unicode MS"/>
                <a:cs typeface="Arial Unicode MS"/>
              </a:rPr>
              <a:t>這份東西第三節結束前要交，是個人作業。
</a:t>
            </a:r>
          </a:p>
          <a:p>
            <a:pPr algn="l">
              <a:spcBef>
                <a:spcPts val="0"/>
              </a:spcBef>
              <a:spcAft>
                <a:spcPts val="167"/>
              </a:spcAft>
            </a:pPr>
            <a:r>
              <a:rPr sz="1000" lang="zh-TW" dirty="0">
                <a:solidFill>
                  <a:srgbClr val="000000"/>
                </a:solidFill>
                <a:latin typeface="Arial Unicode MS"/>
                <a:ea typeface="Arial Unicode MS"/>
                <a:cs typeface="Arial Unicode MS"/>
              </a:rPr>
              <a:t>休息十分鐘。</a:t>
            </a:r>
          </a:p>
        </p:txBody>
      </p:sp>
      <p:sp>
        <p:nvSpPr>
          <p:cNvPr id="4" name="Slide Number Placeholder 3"/>
          <p:cNvSpPr>
            <a:spLocks noGrp="1"/>
          </p:cNvSpPr>
          <p:nvPr>
            <p:ph type="sldNum" idx="5"/>
          </p:nvPr>
        </p:nvSpPr>
        <p:spPr>
          <a:xfrm>
            <a:off x="6500000" y="10200000"/>
            <a:ext cx="500000" cy="300000"/>
          </a:xfrm>
        </p:spPr>
        <p:txBody>
          <a:bodyPr vert="horz" wrap="square" anchor="t" lIns="91440" rIns="91440" tIns="45720" bIns="45720"/>
          <a:lstStyle/>
          <a:p>
            <a:pPr algn="l">
              <a:spcBef>
                <a:spcPts val="0"/>
              </a:spcBef>
              <a:spcAft>
                <a:spcPts val="167"/>
              </a:spcAft>
            </a:pPr>
            <a:r>
              <a:rPr sz="1000" lang="zh-TW" dirty="0">
                <a:solidFill>
                  <a:srgbClr val="000000"/>
                </a:solidFill>
                <a:latin typeface="Arial Unicode MS"/>
                <a:ea typeface="Arial Unicode MS"/>
                <a:cs typeface="Arial Unicode MS"/>
              </a:rPr>
              <a:t>15</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15750" y="0"/>
          <a:ext cx="1" cy="1"/>
          <a:chOff x="0" y="0"/>
          <a:chExt cx="0" cy="0"/>
        </a:xfrm>
      </p:grpSpPr>
      <p:sp>
        <p:nvSpPr>
          <p:cNvPr id="2" name="Shape 0"/>
          <p:cNvSpPr/>
          <p:nvPr/>
        </p:nvSpPr>
        <p:spPr>
          <a:xfrm>
            <a:off x="6759000" y="-1366875"/>
            <a:ext cx="4191750" cy="4191750"/>
          </a:xfrm>
          <a:prstGeom prst="ellipse">
            <a:avLst/>
          </a:prstGeom>
          <a:solidFill>
            <a:srgbClr val="13314F"/>
          </a:solidFill>
          <a:ln w="12700">
            <a:solidFill>
              <a:srgbClr val="13314F"/>
            </a:solidFill>
            <a:prstDash val="solid"/>
          </a:ln>
        </p:spPr>
      </p:sp>
      <p:sp>
        <p:nvSpPr>
          <p:cNvPr id="3" name="Shape 1"/>
          <p:cNvSpPr/>
          <p:nvPr/>
        </p:nvSpPr>
        <p:spPr>
          <a:xfrm>
            <a:off x="8125875" y="2095875"/>
            <a:ext cx="2369250" cy="2369250"/>
          </a:xfrm>
          <a:prstGeom prst="ellipse">
            <a:avLst/>
          </a:prstGeom>
          <a:solidFill>
            <a:srgbClr val="007F72">
              <a:alpha val="28000"/>
            </a:srgbClr>
          </a:solidFill>
          <a:ln/>
        </p:spPr>
      </p:sp>
      <p:sp>
        <p:nvSpPr>
          <p:cNvPr id="4" name="Text 2"/>
          <p:cNvSpPr txBox="1"/>
          <p:nvPr/>
        </p:nvSpPr>
        <p:spPr>
          <a:xfrm>
            <a:off x="516938" y="1202850"/>
            <a:ext cx="6925500" cy="273375"/>
          </a:xfrm>
          <a:prstGeom prst="rect">
            <a:avLst/>
          </a:prstGeom>
          <a:noFill/>
          <a:ln/>
        </p:spPr>
        <p:txBody>
          <a:bodyPr wrap="square" lIns="0" tIns="0" rIns="0" bIns="0" rtlCol="0" anchor="ctr"/>
          <a:lstStyle/>
          <a:p>
            <a:pPr indent="0" marL="0">
              <a:buNone/>
            </a:pPr>
            <a:r>
              <a:rPr lang="en-US" sz="1250" b="1" dirty="0">
                <a:solidFill>
                  <a:srgbClr val="00A896"/>
                </a:solidFill>
                <a:latin typeface="Arial" pitchFamily="34" charset="0"/>
                <a:ea typeface="Arial" pitchFamily="34" charset="-122"/>
                <a:cs typeface="Arial" pitchFamily="34" charset="-120"/>
              </a:rPr>
              <a:t>MITUST · Nguyên lý xe tự lái · Tuần 5</a:t>
            </a:r>
            <a:endParaRPr lang="en-US" sz="1250" dirty="0"/>
          </a:p>
        </p:txBody>
      </p:sp>
      <p:sp>
        <p:nvSpPr>
          <p:cNvPr id="5" name="Text 3"/>
          <p:cNvSpPr txBox="1"/>
          <p:nvPr/>
        </p:nvSpPr>
        <p:spPr>
          <a:xfrm>
            <a:off x="516938" y="1567350"/>
            <a:ext cx="7472250" cy="882449"/>
          </a:xfrm>
          <a:prstGeom prst="rect">
            <a:avLst/>
          </a:prstGeom>
          <a:noFill/>
          <a:ln/>
        </p:spPr>
        <p:txBody>
          <a:bodyPr wrap="square" lIns="0" tIns="0" rIns="0" bIns="0" rtlCol="0" anchor="t"/>
          <a:lstStyle/>
          <a:p>
            <a:pPr indent="0" marL="0">
              <a:lnSpc>
                <a:spcPct val="118000"/>
              </a:lnSpc>
              <a:buNone/>
            </a:pPr>
            <a:r>
              <a:rPr lang="en-US" sz="3390" b="1" dirty="0">
                <a:solidFill>
                  <a:srgbClr val="FFFFFF"/>
                </a:solidFill>
                <a:latin typeface="Arial" pitchFamily="34" charset="0"/>
                <a:ea typeface="Arial" pitchFamily="34" charset="-122"/>
                <a:cs typeface="Arial" pitchFamily="34" charset="-120"/>
              </a:rPr>
              <a:t>Trang thứ hai của datasheet</a:t>
            </a:r>
            <a:endParaRPr lang="en-US" sz="3390" dirty="0"/>
          </a:p>
          <a:p>
            <a:pPr indent="0" marL="0">
              <a:lnSpc>
                <a:spcPct val="118000"/>
              </a:lnSpc>
              <a:buNone/>
            </a:pPr>
            <a:r>
              <a:rPr lang="en-US" sz="1890" dirty="0">
                <a:solidFill>
                  <a:srgbClr val="C8D6E2"/>
                </a:solidFill>
                <a:latin typeface="微軟正黑體" pitchFamily="34" charset="0"/>
                <a:ea typeface="微軟正黑體" pitchFamily="34" charset="-122"/>
                <a:cs typeface="微軟正黑體" pitchFamily="34" charset="-120"/>
              </a:rPr>
              <a:t>規格表的第二頁</a:t>
            </a:r>
            <a:endParaRPr lang="en-US" sz="3390" dirty="0"/>
          </a:p>
        </p:txBody>
      </p:sp>
      <p:sp>
        <p:nvSpPr>
          <p:cNvPr id="6" name="Shape 4"/>
          <p:cNvSpPr/>
          <p:nvPr/>
        </p:nvSpPr>
        <p:spPr>
          <a:xfrm>
            <a:off x="516938" y="2998115"/>
            <a:ext cx="1366875" cy="41006"/>
          </a:xfrm>
          <a:prstGeom prst="rect">
            <a:avLst/>
          </a:prstGeom>
          <a:solidFill>
            <a:srgbClr val="FFB020"/>
          </a:solidFill>
          <a:ln/>
        </p:spPr>
      </p:sp>
      <p:sp>
        <p:nvSpPr>
          <p:cNvPr id="7" name="Text 5"/>
          <p:cNvSpPr txBox="1"/>
          <p:nvPr/>
        </p:nvSpPr>
        <p:spPr>
          <a:xfrm>
            <a:off x="516938" y="3198590"/>
            <a:ext cx="7107750" cy="610435"/>
          </a:xfrm>
          <a:prstGeom prst="rect">
            <a:avLst/>
          </a:prstGeom>
          <a:noFill/>
          <a:ln/>
        </p:spPr>
        <p:txBody>
          <a:bodyPr wrap="square" lIns="0" tIns="0" rIns="0" bIns="0" rtlCol="0" anchor="t"/>
          <a:lstStyle/>
          <a:p>
            <a:pPr indent="0" marL="0">
              <a:lnSpc>
                <a:spcPct val="120000"/>
              </a:lnSpc>
              <a:buNone/>
            </a:pPr>
            <a:r>
              <a:rPr lang="en-US" sz="1450" dirty="0">
                <a:solidFill>
                  <a:srgbClr val="C8D6E2"/>
                </a:solidFill>
                <a:latin typeface="Arial" pitchFamily="34" charset="0"/>
                <a:ea typeface="Arial" pitchFamily="34" charset="-122"/>
                <a:cs typeface="Arial" pitchFamily="34" charset="-120"/>
              </a:rPr>
              <a:t>Ba dòng ít ai đọc, nhưng hỏng là hỏng ở đó</a:t>
            </a:r>
            <a:endParaRPr lang="en-US" sz="1450" dirty="0"/>
          </a:p>
          <a:p>
            <a:pPr indent="0" marL="0">
              <a:lnSpc>
                <a:spcPct val="120000"/>
              </a:lnSpc>
              <a:buNone/>
            </a:pPr>
            <a:r>
              <a:rPr lang="en-US" sz="1250" dirty="0">
                <a:solidFill>
                  <a:srgbClr val="8AA0B4"/>
                </a:solidFill>
                <a:latin typeface="微軟正黑體" pitchFamily="34" charset="0"/>
                <a:ea typeface="微軟正黑體" pitchFamily="34" charset="-122"/>
                <a:cs typeface="微軟正黑體" pitchFamily="34" charset="-120"/>
              </a:rPr>
              <a:t>三行很少人看，但出事都出在那裡</a:t>
            </a:r>
            <a:endParaRPr lang="en-US" sz="1450" dirty="0"/>
          </a:p>
        </p:txBody>
      </p:sp>
      <p:sp>
        <p:nvSpPr>
          <p:cNvPr id="8" name="Shape 6"/>
          <p:cNvSpPr/>
          <p:nvPr/>
        </p:nvSpPr>
        <p:spPr>
          <a:xfrm>
            <a:off x="516938" y="3881925"/>
            <a:ext cx="5923125" cy="382725"/>
          </a:xfrm>
          <a:prstGeom prst="roundRect">
            <a:avLst>
              <a:gd name="adj" fmla="val 16667"/>
            </a:avLst>
          </a:prstGeom>
          <a:solidFill>
            <a:srgbClr val="13314F"/>
          </a:solidFill>
          <a:ln/>
        </p:spPr>
      </p:sp>
      <p:sp>
        <p:nvSpPr>
          <p:cNvPr id="9" name="Text 7"/>
          <p:cNvSpPr txBox="1"/>
          <p:nvPr/>
        </p:nvSpPr>
        <p:spPr>
          <a:xfrm>
            <a:off x="644513" y="3927488"/>
            <a:ext cx="5667975" cy="291600"/>
          </a:xfrm>
          <a:prstGeom prst="rect">
            <a:avLst/>
          </a:prstGeom>
          <a:noFill/>
          <a:ln/>
        </p:spPr>
        <p:txBody>
          <a:bodyPr wrap="square" lIns="0" tIns="0" rIns="0" bIns="0" rtlCol="0" anchor="ctr"/>
          <a:lstStyle/>
          <a:p>
            <a:pPr indent="0" marL="0">
              <a:buNone/>
            </a:pPr>
            <a:r>
              <a:rPr lang="en-US" sz="1050" b="1" dirty="0">
                <a:solidFill>
                  <a:srgbClr val="9FD6CE"/>
                </a:solidFill>
                <a:latin typeface="Arial" pitchFamily="34" charset="0"/>
                <a:ea typeface="Arial" pitchFamily="34" charset="-122"/>
                <a:cs typeface="Arial" pitchFamily="34" charset="-120"/>
              </a:rPr>
              <a:t>工具｜Công cụ： ch-neural.github.io/MITUST-Principles-of-Self-Driving-Cars/week5/spec/</a:t>
            </a:r>
            <a:endParaRPr lang="en-US" sz="1050" dirty="0"/>
          </a:p>
        </p:txBody>
      </p:sp>
      <p:sp>
        <p:nvSpPr>
          <p:cNvPr id="10" name="Text 8"/>
          <p:cNvSpPr txBox="1"/>
          <p:nvPr/>
        </p:nvSpPr>
        <p:spPr>
          <a:xfrm>
            <a:off x="516938" y="4355775"/>
            <a:ext cx="6925500" cy="273375"/>
          </a:xfrm>
          <a:prstGeom prst="rect">
            <a:avLst/>
          </a:prstGeom>
          <a:noFill/>
          <a:ln/>
        </p:spPr>
        <p:txBody>
          <a:bodyPr wrap="square" lIns="0" tIns="0" rIns="0" bIns="0" rtlCol="0" anchor="ctr"/>
          <a:lstStyle/>
          <a:p>
            <a:pPr indent="0" marL="0">
              <a:buNone/>
            </a:pPr>
            <a:r>
              <a:rPr lang="en-US" sz="1150" dirty="0">
                <a:solidFill>
                  <a:srgbClr val="8AA0B4"/>
                </a:solidFill>
                <a:latin typeface="微軟正黑體" pitchFamily="34" charset="0"/>
                <a:ea typeface="微軟正黑體" pitchFamily="34" charset="-122"/>
                <a:cs typeface="微軟正黑體" pitchFamily="34" charset="-120"/>
              </a:rPr>
              <a:t>第五週 第 2 節　2026/10/08（四）10:10–11:00　CH Tseng</a:t>
            </a:r>
            <a:endParaRPr lang="en-US" sz="1150" dirty="0"/>
          </a:p>
        </p:txBody>
      </p:sp>
      <p:sp>
        <p:nvSpPr>
          <p:cNvPr id="12" name="Shape 9"/>
          <p:cNvSpPr/>
          <p:nvPr/>
        </p:nvSpPr>
        <p:spPr>
          <a:xfrm>
            <a:off x="371138" y="309825"/>
            <a:ext cx="2205225" cy="747225"/>
          </a:xfrm>
          <a:prstGeom prst="roundRect">
            <a:avLst>
              <a:gd name="adj" fmla="val 9756"/>
            </a:avLst>
          </a:prstGeom>
          <a:solidFill>
            <a:srgbClr val="FFFFFF"/>
          </a:solidFill>
          <a:ln/>
        </p:spPr>
      </p:sp>
      <p:pic>
        <p:nvPicPr>
          <p:cNvPr id="13" name="Image 0" descr="/Users/tsengchenghsun/Class/carClass/Claude outputs/第五週(10-8)/src/logo.png">    </p:cNvPr>
          <p:cNvPicPr>
            <a:picLocks noChangeAspect="1"/>
          </p:cNvPicPr>
          <p:nvPr/>
        </p:nvPicPr>
        <p:blipFill>
          <a:blip r:embed="rId1"/>
          <a:stretch>
            <a:fillRect/>
          </a:stretch>
        </p:blipFill>
        <p:spPr>
          <a:xfrm>
            <a:off x="502920" y="475488"/>
            <a:ext cx="1920240" cy="4242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1691640"/>
            <a:ext cx="4572000" cy="310896"/>
          </a:xfrm>
          <a:prstGeom prst="rect">
            <a:avLst/>
          </a:prstGeom>
          <a:noFill/>
          <a:ln/>
        </p:spPr>
        <p:txBody>
          <a:bodyPr wrap="square" lIns="0" tIns="0" rIns="0" bIns="0" rtlCol="0" anchor="ctr"/>
          <a:lstStyle/>
          <a:p>
            <a:pPr indent="0" marL="0">
              <a:buNone/>
            </a:pPr>
            <a:r>
              <a:rPr lang="en-US" sz="1350" b="1" dirty="0">
                <a:solidFill>
                  <a:srgbClr val="FFB020"/>
                </a:solidFill>
                <a:latin typeface="Arial" pitchFamily="34" charset="0"/>
                <a:ea typeface="Arial" pitchFamily="34" charset="-122"/>
                <a:cs typeface="Arial" pitchFamily="34" charset="-120"/>
              </a:rPr>
              <a:t>Phần 1 / 3</a:t>
            </a:r>
            <a:endParaRPr lang="en-US" sz="1350" dirty="0"/>
          </a:p>
        </p:txBody>
      </p:sp>
      <p:sp>
        <p:nvSpPr>
          <p:cNvPr id="5" name="Text 3"/>
          <p:cNvSpPr txBox="1"/>
          <p:nvPr/>
        </p:nvSpPr>
        <p:spPr>
          <a:xfrm>
            <a:off x="502920" y="2048256"/>
            <a:ext cx="7315200" cy="1188720"/>
          </a:xfrm>
          <a:prstGeom prst="rect">
            <a:avLst/>
          </a:prstGeom>
          <a:noFill/>
          <a:ln/>
        </p:spPr>
        <p:txBody>
          <a:bodyPr wrap="square" lIns="0" tIns="0" rIns="0" bIns="0" rtlCol="0" anchor="t"/>
          <a:lstStyle/>
          <a:p>
            <a:pPr indent="0" marL="0">
              <a:lnSpc>
                <a:spcPct val="118000"/>
              </a:lnSpc>
              <a:buNone/>
            </a:pPr>
            <a:r>
              <a:rPr lang="en-US" sz="2900" b="1" dirty="0">
                <a:solidFill>
                  <a:srgbClr val="FFFFFF"/>
                </a:solidFill>
                <a:latin typeface="Arial" pitchFamily="34" charset="0"/>
                <a:ea typeface="Arial" pitchFamily="34" charset="-122"/>
                <a:cs typeface="Arial" pitchFamily="34" charset="-120"/>
              </a:rPr>
              <a:t>Camera: ba dòng quyết định lúc chói sáng và lúc vào hầm</a:t>
            </a:r>
            <a:endParaRPr lang="en-US" sz="2900" dirty="0"/>
          </a:p>
          <a:p>
            <a:pPr indent="0" marL="0">
              <a:lnSpc>
                <a:spcPct val="118000"/>
              </a:lnSpc>
              <a:buNone/>
            </a:pPr>
            <a:r>
              <a:rPr lang="en-US" sz="1700" dirty="0">
                <a:solidFill>
                  <a:srgbClr val="AFC3D4"/>
                </a:solidFill>
                <a:latin typeface="微軟正黑體" pitchFamily="34" charset="0"/>
                <a:ea typeface="微軟正黑體" pitchFamily="34" charset="-122"/>
                <a:cs typeface="微軟正黑體" pitchFamily="34" charset="-120"/>
              </a:rPr>
              <a:t>相機：決定逆光與進隧道的那三件事</a:t>
            </a:r>
            <a:endParaRPr lang="en-US" sz="2900" dirty="0"/>
          </a:p>
        </p:txBody>
      </p:sp>
      <p:sp>
        <p:nvSpPr>
          <p:cNvPr id="6" name="Text 4"/>
          <p:cNvSpPr txBox="1"/>
          <p:nvPr/>
        </p:nvSpPr>
        <p:spPr>
          <a:xfrm>
            <a:off x="502920" y="3346704"/>
            <a:ext cx="7315200" cy="640080"/>
          </a:xfrm>
          <a:prstGeom prst="rect">
            <a:avLst/>
          </a:prstGeom>
          <a:noFill/>
          <a:ln/>
        </p:spPr>
        <p:txBody>
          <a:bodyPr wrap="square" lIns="0" tIns="0" rIns="0" bIns="0" rtlCol="0" anchor="t"/>
          <a:lstStyle/>
          <a:p>
            <a:pPr indent="0" marL="0">
              <a:lnSpc>
                <a:spcPct val="120000"/>
              </a:lnSpc>
              <a:buNone/>
            </a:pPr>
            <a:r>
              <a:rPr lang="en-US" sz="1350" dirty="0">
                <a:solidFill>
                  <a:srgbClr val="AFC3D4"/>
                </a:solidFill>
                <a:latin typeface="Arial" pitchFamily="34" charset="0"/>
                <a:ea typeface="Arial" pitchFamily="34" charset="-122"/>
                <a:cs typeface="Arial" pitchFamily="34" charset="-120"/>
              </a:rPr>
              <a:t>Kiểu màn trập · dải tương phản · nháy đèn LED</a:t>
            </a:r>
            <a:endParaRPr lang="en-US" sz="1350" dirty="0"/>
          </a:p>
          <a:p>
            <a:pPr indent="0" marL="0">
              <a:lnSpc>
                <a:spcPct val="120000"/>
              </a:lnSpc>
              <a:buNone/>
            </a:pPr>
            <a:r>
              <a:rPr lang="en-US" sz="1200" dirty="0">
                <a:solidFill>
                  <a:srgbClr val="8AA0B4"/>
                </a:solidFill>
                <a:latin typeface="微軟正黑體" pitchFamily="34" charset="0"/>
                <a:ea typeface="微軟正黑體" pitchFamily="34" charset="-122"/>
                <a:cs typeface="微軟正黑體" pitchFamily="34" charset="-120"/>
              </a:rPr>
              <a:t>快門方式・動態範圍・LED 閃爍</a:t>
            </a:r>
            <a:endParaRPr lang="en-US" sz="1350" dirty="0"/>
          </a:p>
        </p:txBody>
      </p:sp>
      <p:sp>
        <p:nvSpPr>
          <p:cNvPr id="8"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2 / 15</a:t>
            </a:r>
            <a:endParaRPr lang="en-US" sz="900" dirty="0"/>
          </a:p>
        </p:txBody>
      </p:sp>
      <p:sp>
        <p:nvSpPr>
          <p:cNvPr id="9"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1 / 3　Rolling shutter</a:t>
            </a:r>
            <a:endParaRPr lang="en-US" sz="1250" dirty="0"/>
          </a:p>
        </p:txBody>
      </p:sp>
      <p:sp>
        <p:nvSpPr>
          <p:cNvPr id="3" name="Shape 1"/>
          <p:cNvSpPr/>
          <p:nvPr/>
        </p:nvSpPr>
        <p:spPr>
          <a:xfrm>
            <a:off x="502920" y="1101852"/>
            <a:ext cx="2468880" cy="2514600"/>
          </a:xfrm>
          <a:prstGeom prst="roundRect">
            <a:avLst>
              <a:gd name="adj" fmla="val 4444"/>
            </a:avLst>
          </a:prstGeom>
          <a:solidFill>
            <a:srgbClr val="F4F7FA"/>
          </a:solidFill>
          <a:ln w="12700">
            <a:solidFill>
              <a:srgbClr val="DBE3EA"/>
            </a:solidFill>
            <a:prstDash val="solid"/>
          </a:ln>
        </p:spPr>
      </p:sp>
      <p:sp>
        <p:nvSpPr>
          <p:cNvPr id="4" name="Shape 2"/>
          <p:cNvSpPr/>
          <p:nvPr/>
        </p:nvSpPr>
        <p:spPr>
          <a:xfrm>
            <a:off x="896478" y="2003633"/>
            <a:ext cx="1681764" cy="1"/>
          </a:xfrm>
          <a:prstGeom prst="line">
            <a:avLst/>
          </a:prstGeom>
          <a:noFill/>
          <a:ln w="12700">
            <a:solidFill>
              <a:srgbClr val="9AA6B0"/>
            </a:solidFill>
            <a:prstDash val="dash"/>
          </a:ln>
        </p:spPr>
      </p:sp>
      <p:sp>
        <p:nvSpPr>
          <p:cNvPr id="5" name="Shape 3"/>
          <p:cNvSpPr/>
          <p:nvPr/>
        </p:nvSpPr>
        <p:spPr>
          <a:xfrm>
            <a:off x="896478" y="2270272"/>
            <a:ext cx="1681764" cy="1"/>
          </a:xfrm>
          <a:prstGeom prst="line">
            <a:avLst/>
          </a:prstGeom>
          <a:noFill/>
          <a:ln w="12700">
            <a:solidFill>
              <a:srgbClr val="9AA6B0"/>
            </a:solidFill>
            <a:prstDash val="dash"/>
          </a:ln>
        </p:spPr>
      </p:sp>
      <p:sp>
        <p:nvSpPr>
          <p:cNvPr id="6" name="Shape 4"/>
          <p:cNvSpPr/>
          <p:nvPr/>
        </p:nvSpPr>
        <p:spPr>
          <a:xfrm>
            <a:off x="896478" y="2136953"/>
            <a:ext cx="1548994" cy="1"/>
          </a:xfrm>
          <a:prstGeom prst="line">
            <a:avLst/>
          </a:prstGeom>
          <a:noFill/>
          <a:ln w="25400">
            <a:solidFill>
              <a:srgbClr val="1F4E79"/>
            </a:solidFill>
            <a:prstDash val="solid"/>
            <a:tailEnd type="triangle"/>
          </a:ln>
        </p:spPr>
      </p:sp>
      <p:sp>
        <p:nvSpPr>
          <p:cNvPr id="7" name="Shape 5"/>
          <p:cNvSpPr/>
          <p:nvPr/>
        </p:nvSpPr>
        <p:spPr>
          <a:xfrm>
            <a:off x="896478" y="2847990"/>
            <a:ext cx="1681764" cy="1"/>
          </a:xfrm>
          <a:prstGeom prst="line">
            <a:avLst/>
          </a:prstGeom>
          <a:noFill/>
          <a:ln w="12700">
            <a:solidFill>
              <a:srgbClr val="9AA6B0"/>
            </a:solidFill>
            <a:prstDash val="dash"/>
          </a:ln>
        </p:spPr>
      </p:sp>
      <p:sp>
        <p:nvSpPr>
          <p:cNvPr id="8" name="Shape 6"/>
          <p:cNvSpPr/>
          <p:nvPr/>
        </p:nvSpPr>
        <p:spPr>
          <a:xfrm>
            <a:off x="896478" y="3114629"/>
            <a:ext cx="1681764" cy="1"/>
          </a:xfrm>
          <a:prstGeom prst="line">
            <a:avLst/>
          </a:prstGeom>
          <a:noFill/>
          <a:ln w="12700">
            <a:solidFill>
              <a:srgbClr val="9AA6B0"/>
            </a:solidFill>
            <a:prstDash val="dash"/>
          </a:ln>
        </p:spPr>
      </p:sp>
      <p:sp>
        <p:nvSpPr>
          <p:cNvPr id="9" name="Shape 7"/>
          <p:cNvSpPr/>
          <p:nvPr/>
        </p:nvSpPr>
        <p:spPr>
          <a:xfrm flipV="1">
            <a:off x="896478" y="2892430"/>
            <a:ext cx="420441" cy="177759"/>
          </a:xfrm>
          <a:prstGeom prst="line">
            <a:avLst/>
          </a:prstGeom>
          <a:noFill/>
          <a:ln w="25400">
            <a:solidFill>
              <a:srgbClr val="D9463E"/>
            </a:solidFill>
            <a:prstDash val="solid"/>
          </a:ln>
        </p:spPr>
      </p:sp>
      <p:sp>
        <p:nvSpPr>
          <p:cNvPr id="10" name="Shape 8"/>
          <p:cNvSpPr/>
          <p:nvPr/>
        </p:nvSpPr>
        <p:spPr>
          <a:xfrm>
            <a:off x="1316919" y="2892430"/>
            <a:ext cx="420441" cy="199979"/>
          </a:xfrm>
          <a:prstGeom prst="line">
            <a:avLst/>
          </a:prstGeom>
          <a:noFill/>
          <a:ln w="25400">
            <a:solidFill>
              <a:srgbClr val="D9463E"/>
            </a:solidFill>
            <a:prstDash val="solid"/>
          </a:ln>
        </p:spPr>
      </p:sp>
      <p:sp>
        <p:nvSpPr>
          <p:cNvPr id="11" name="Shape 9"/>
          <p:cNvSpPr/>
          <p:nvPr/>
        </p:nvSpPr>
        <p:spPr>
          <a:xfrm flipV="1">
            <a:off x="1737360" y="2803550"/>
            <a:ext cx="420441" cy="288859"/>
          </a:xfrm>
          <a:prstGeom prst="line">
            <a:avLst/>
          </a:prstGeom>
          <a:noFill/>
          <a:ln w="25400">
            <a:solidFill>
              <a:srgbClr val="D9463E"/>
            </a:solidFill>
            <a:prstDash val="solid"/>
          </a:ln>
        </p:spPr>
      </p:sp>
      <p:sp>
        <p:nvSpPr>
          <p:cNvPr id="12" name="Shape 10"/>
          <p:cNvSpPr/>
          <p:nvPr/>
        </p:nvSpPr>
        <p:spPr>
          <a:xfrm>
            <a:off x="2157801" y="2803550"/>
            <a:ext cx="287670" cy="177759"/>
          </a:xfrm>
          <a:prstGeom prst="line">
            <a:avLst/>
          </a:prstGeom>
          <a:noFill/>
          <a:ln w="25400">
            <a:solidFill>
              <a:srgbClr val="D9463E"/>
            </a:solidFill>
            <a:prstDash val="solid"/>
            <a:tailEnd type="triangle"/>
          </a:ln>
        </p:spPr>
      </p:sp>
      <p:sp>
        <p:nvSpPr>
          <p:cNvPr id="13" name="Text 11"/>
          <p:cNvSpPr txBox="1"/>
          <p:nvPr/>
        </p:nvSpPr>
        <p:spPr>
          <a:xfrm>
            <a:off x="3429000" y="1143789"/>
            <a:ext cx="5212080" cy="1356044"/>
          </a:xfrm>
          <a:prstGeom prst="rect">
            <a:avLst/>
          </a:prstGeom>
          <a:noFill/>
          <a:ln/>
        </p:spPr>
        <p:txBody>
          <a:bodyPr wrap="square" lIns="0" tIns="0" rIns="0" bIns="0" rtlCol="0" anchor="t"/>
          <a:lstStyle/>
          <a:p>
            <a:pPr indent="0" marL="0">
              <a:lnSpc>
                <a:spcPct val="120000"/>
              </a:lnSpc>
              <a:buNone/>
            </a:pPr>
            <a:r>
              <a:rPr lang="en-US" sz="2300" b="1" dirty="0">
                <a:solidFill>
                  <a:srgbClr val="0B1F3A"/>
                </a:solidFill>
                <a:latin typeface="Arial" pitchFamily="34" charset="0"/>
                <a:ea typeface="Arial" pitchFamily="34" charset="-122"/>
                <a:cs typeface="Arial" pitchFamily="34" charset="-120"/>
              </a:rPr>
              <a:t>Màn trập cuốn: ảnh không phải chụp cùng một lúc, mà quét từ trên xuống</a:t>
            </a:r>
            <a:endParaRPr lang="en-US" sz="2300" dirty="0"/>
          </a:p>
          <a:p>
            <a:pPr indent="0" marL="0">
              <a:lnSpc>
                <a:spcPct val="120000"/>
              </a:lnSpc>
              <a:buNone/>
            </a:pPr>
            <a:r>
              <a:rPr lang="en-US" sz="1400" dirty="0">
                <a:solidFill>
                  <a:srgbClr val="007F72"/>
                </a:solidFill>
                <a:latin typeface="微軟正黑體" pitchFamily="34" charset="0"/>
                <a:ea typeface="微軟正黑體" pitchFamily="34" charset="-122"/>
                <a:cs typeface="微軟正黑體" pitchFamily="34" charset="-120"/>
              </a:rPr>
              <a:t>捲簾快門：一張照片不是同時拍的，是從上往下掃出來的</a:t>
            </a:r>
            <a:endParaRPr lang="en-US" sz="2300" dirty="0"/>
          </a:p>
        </p:txBody>
      </p:sp>
      <p:sp>
        <p:nvSpPr>
          <p:cNvPr id="14" name="Text 12"/>
          <p:cNvSpPr txBox="1"/>
          <p:nvPr/>
        </p:nvSpPr>
        <p:spPr>
          <a:xfrm>
            <a:off x="3429000" y="2591273"/>
            <a:ext cx="5212080" cy="1074682"/>
          </a:xfrm>
          <a:prstGeom prst="rect">
            <a:avLst/>
          </a:prstGeom>
          <a:noFill/>
          <a:ln/>
        </p:spPr>
        <p:txBody>
          <a:bodyPr wrap="square" lIns="0" tIns="0" rIns="0" bIns="0" rtlCol="0" anchor="t"/>
          <a:lstStyle/>
          <a:p>
            <a:pPr indent="0" marL="0">
              <a:lnSpc>
                <a:spcPct val="128000"/>
              </a:lnSpc>
              <a:buNone/>
            </a:pPr>
            <a:r>
              <a:rPr lang="en-US" sz="1250" dirty="0">
                <a:solidFill>
                  <a:srgbClr val="5F7183"/>
                </a:solidFill>
                <a:latin typeface="Arial" pitchFamily="34" charset="0"/>
                <a:ea typeface="Arial" pitchFamily="34" charset="-122"/>
                <a:cs typeface="Arial" pitchFamily="34" charset="-120"/>
              </a:rPr>
              <a:t>Cảm biến đọc từng hàng, hàng cuối chậm hơn hàng đầu vài chục mili giây. Trong khoảng đó xe và vật đều đã di chuyển, nên cột điện bị nghiêng, cánh quạt bị cong.</a:t>
            </a:r>
            <a:endParaRPr lang="en-US" sz="1250" dirty="0"/>
          </a:p>
          <a:p>
            <a:pPr indent="0" marL="0">
              <a:lnSpc>
                <a:spcPct val="128000"/>
              </a:lnSpc>
              <a:buNone/>
            </a:pPr>
            <a:r>
              <a:rPr lang="en-US" sz="1150" dirty="0">
                <a:solidFill>
                  <a:srgbClr val="5F7183"/>
                </a:solidFill>
                <a:latin typeface="微軟正黑體" pitchFamily="34" charset="0"/>
                <a:ea typeface="微軟正黑體" pitchFamily="34" charset="-122"/>
                <a:cs typeface="微軟正黑體" pitchFamily="34" charset="-120"/>
              </a:rPr>
              <a:t>感光元件是一列一列讀出來的，最後一列比第一列晚了幾十毫秒。這段時間裡車子和目標都在動，所以電線桿會歪、螺旋槳會彎。</a:t>
            </a:r>
            <a:endParaRPr lang="en-US" sz="1250" dirty="0"/>
          </a:p>
        </p:txBody>
      </p:sp>
      <p:sp>
        <p:nvSpPr>
          <p:cNvPr id="15" name="Shape 13"/>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16" name="Text 14"/>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Xe tự lái sợ nhất: vật ở rìa ảnh bị lệch chỗ, mà thuật toán lại tưởng nó thật.</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自駕車最怕的是：畫面邊緣的東西位置被扭掉，演算法卻以為那是真的。</a:t>
            </a:r>
            <a:endParaRPr lang="en-US" sz="1250" dirty="0"/>
          </a:p>
        </p:txBody>
      </p:sp>
      <p:pic>
        <p:nvPicPr>
          <p:cNvPr id="18" name="Image 0" descr="/Users/tsengchenghsun/Class/carClass/Claude outputs/第五週(10-8)/src/logo.png">    </p:cNvPr>
          <p:cNvPicPr>
            <a:picLocks noChangeAspect="1"/>
          </p:cNvPicPr>
          <p:nvPr/>
        </p:nvPicPr>
        <p:blipFill>
          <a:blip r:embed="rId1"/>
          <a:stretch>
            <a:fillRect/>
          </a:stretch>
        </p:blipFill>
        <p:spPr>
          <a:xfrm>
            <a:off x="7882128" y="109728"/>
            <a:ext cx="1097280" cy="242439"/>
          </a:xfrm>
          <a:prstGeom prst="rect">
            <a:avLst/>
          </a:prstGeom>
        </p:spPr>
      </p:pic>
      <p:sp>
        <p:nvSpPr>
          <p:cNvPr id="19" name="Text 1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3 / 15</a:t>
            </a:r>
            <a:endParaRPr lang="en-US" sz="900" dirty="0"/>
          </a:p>
        </p:txBody>
      </p:sp>
      <p:sp>
        <p:nvSpPr>
          <p:cNvPr id="20" name="Text 1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2 / 3　Dynamic range</a:t>
            </a:r>
            <a:endParaRPr lang="en-US" sz="1250" dirty="0"/>
          </a:p>
        </p:txBody>
      </p:sp>
      <p:sp>
        <p:nvSpPr>
          <p:cNvPr id="3" name="Shape 1"/>
          <p:cNvSpPr/>
          <p:nvPr/>
        </p:nvSpPr>
        <p:spPr>
          <a:xfrm>
            <a:off x="502920" y="1101852"/>
            <a:ext cx="2468880" cy="2514600"/>
          </a:xfrm>
          <a:prstGeom prst="roundRect">
            <a:avLst>
              <a:gd name="adj" fmla="val 4444"/>
            </a:avLst>
          </a:prstGeom>
          <a:solidFill>
            <a:srgbClr val="F4F7FA"/>
          </a:solidFill>
          <a:ln w="12700">
            <a:solidFill>
              <a:srgbClr val="DBE3EA"/>
            </a:solidFill>
            <a:prstDash val="solid"/>
          </a:ln>
        </p:spPr>
      </p:sp>
      <p:sp>
        <p:nvSpPr>
          <p:cNvPr id="4" name="Text 2"/>
          <p:cNvSpPr txBox="1"/>
          <p:nvPr/>
        </p:nvSpPr>
        <p:spPr>
          <a:xfrm>
            <a:off x="807964" y="1603675"/>
            <a:ext cx="663854" cy="311079"/>
          </a:xfrm>
          <a:prstGeom prst="rect">
            <a:avLst/>
          </a:prstGeom>
          <a:noFill/>
          <a:ln/>
        </p:spPr>
        <p:txBody>
          <a:bodyPr wrap="square" lIns="0" tIns="0" rIns="0" bIns="0" rtlCol="0" anchor="ctr"/>
          <a:lstStyle/>
          <a:p>
            <a:pPr algn="l" indent="0" marL="0">
              <a:buNone/>
            </a:pPr>
            <a:r>
              <a:rPr lang="en-US" sz="900" b="1" dirty="0">
                <a:solidFill>
                  <a:srgbClr val="6FA8DC"/>
                </a:solidFill>
                <a:latin typeface="Arial" pitchFamily="34" charset="0"/>
                <a:ea typeface="Arial" pitchFamily="34" charset="-122"/>
                <a:cs typeface="Arial" pitchFamily="34" charset="-120"/>
              </a:rPr>
              <a:t>khô  乾</a:t>
            </a:r>
            <a:endParaRPr lang="en-US" sz="900" dirty="0"/>
          </a:p>
        </p:txBody>
      </p:sp>
      <p:sp>
        <p:nvSpPr>
          <p:cNvPr id="5" name="Shape 3"/>
          <p:cNvSpPr/>
          <p:nvPr/>
        </p:nvSpPr>
        <p:spPr>
          <a:xfrm>
            <a:off x="807964" y="2000901"/>
            <a:ext cx="398313" cy="183224"/>
          </a:xfrm>
          <a:prstGeom prst="roundRect">
            <a:avLst>
              <a:gd name="adj" fmla="val 22000"/>
            </a:avLst>
          </a:prstGeom>
          <a:solidFill>
            <a:srgbClr val="8FA3B5"/>
          </a:solidFill>
          <a:ln/>
        </p:spPr>
      </p:sp>
      <p:sp>
        <p:nvSpPr>
          <p:cNvPr id="6" name="Shape 4"/>
          <p:cNvSpPr/>
          <p:nvPr/>
        </p:nvSpPr>
        <p:spPr>
          <a:xfrm>
            <a:off x="959323" y="2037546"/>
            <a:ext cx="135426" cy="109934"/>
          </a:xfrm>
          <a:prstGeom prst="roundRect">
            <a:avLst>
              <a:gd name="adj" fmla="val 23333"/>
            </a:avLst>
          </a:prstGeom>
          <a:solidFill>
            <a:srgbClr val="FFFFFF"/>
          </a:solidFill>
          <a:ln/>
        </p:spPr>
      </p:sp>
      <p:sp>
        <p:nvSpPr>
          <p:cNvPr id="7" name="Shape 5"/>
          <p:cNvSpPr/>
          <p:nvPr/>
        </p:nvSpPr>
        <p:spPr>
          <a:xfrm>
            <a:off x="1250533" y="2092513"/>
            <a:ext cx="840882" cy="1"/>
          </a:xfrm>
          <a:prstGeom prst="line">
            <a:avLst/>
          </a:prstGeom>
          <a:noFill/>
          <a:ln w="63500">
            <a:solidFill>
              <a:srgbClr val="6FA8DC"/>
            </a:solidFill>
            <a:prstDash val="solid"/>
          </a:ln>
        </p:spPr>
      </p:sp>
      <p:sp>
        <p:nvSpPr>
          <p:cNvPr id="8" name="Shape 6"/>
          <p:cNvSpPr/>
          <p:nvPr/>
        </p:nvSpPr>
        <p:spPr>
          <a:xfrm>
            <a:off x="2091416" y="1892534"/>
            <a:ext cx="77450" cy="399959"/>
          </a:xfrm>
          <a:prstGeom prst="roundRect">
            <a:avLst>
              <a:gd name="adj" fmla="val 34286"/>
            </a:avLst>
          </a:prstGeom>
          <a:solidFill>
            <a:srgbClr val="3A4650"/>
          </a:solidFill>
          <a:ln/>
        </p:spPr>
      </p:sp>
      <p:sp>
        <p:nvSpPr>
          <p:cNvPr id="9" name="Text 7"/>
          <p:cNvSpPr txBox="1"/>
          <p:nvPr/>
        </p:nvSpPr>
        <p:spPr>
          <a:xfrm>
            <a:off x="807964" y="2403592"/>
            <a:ext cx="663854" cy="311079"/>
          </a:xfrm>
          <a:prstGeom prst="rect">
            <a:avLst/>
          </a:prstGeom>
          <a:noFill/>
          <a:ln/>
        </p:spPr>
        <p:txBody>
          <a:bodyPr wrap="square" lIns="0" tIns="0" rIns="0" bIns="0" rtlCol="0" anchor="ctr"/>
          <a:lstStyle/>
          <a:p>
            <a:pPr algn="l" indent="0" marL="0">
              <a:buNone/>
            </a:pPr>
            <a:r>
              <a:rPr lang="en-US" sz="900" b="1" dirty="0">
                <a:solidFill>
                  <a:srgbClr val="D9463E"/>
                </a:solidFill>
                <a:latin typeface="Arial" pitchFamily="34" charset="0"/>
                <a:ea typeface="Arial" pitchFamily="34" charset="-122"/>
                <a:cs typeface="Arial" pitchFamily="34" charset="-120"/>
              </a:rPr>
              <a:t>ướt  濕</a:t>
            </a:r>
            <a:endParaRPr lang="en-US" sz="900" dirty="0"/>
          </a:p>
        </p:txBody>
      </p:sp>
      <p:sp>
        <p:nvSpPr>
          <p:cNvPr id="10" name="Shape 8"/>
          <p:cNvSpPr/>
          <p:nvPr/>
        </p:nvSpPr>
        <p:spPr>
          <a:xfrm>
            <a:off x="807964" y="2800818"/>
            <a:ext cx="398313" cy="183224"/>
          </a:xfrm>
          <a:prstGeom prst="roundRect">
            <a:avLst>
              <a:gd name="adj" fmla="val 22000"/>
            </a:avLst>
          </a:prstGeom>
          <a:solidFill>
            <a:srgbClr val="8FA3B5"/>
          </a:solidFill>
          <a:ln/>
        </p:spPr>
      </p:sp>
      <p:sp>
        <p:nvSpPr>
          <p:cNvPr id="11" name="Shape 9"/>
          <p:cNvSpPr/>
          <p:nvPr/>
        </p:nvSpPr>
        <p:spPr>
          <a:xfrm>
            <a:off x="959323" y="2837463"/>
            <a:ext cx="135426" cy="109934"/>
          </a:xfrm>
          <a:prstGeom prst="roundRect">
            <a:avLst>
              <a:gd name="adj" fmla="val 23333"/>
            </a:avLst>
          </a:prstGeom>
          <a:solidFill>
            <a:srgbClr val="FFFFFF"/>
          </a:solidFill>
          <a:ln/>
        </p:spPr>
      </p:sp>
      <p:sp>
        <p:nvSpPr>
          <p:cNvPr id="12" name="Shape 10"/>
          <p:cNvSpPr/>
          <p:nvPr/>
        </p:nvSpPr>
        <p:spPr>
          <a:xfrm>
            <a:off x="1250533" y="2892430"/>
            <a:ext cx="1371966" cy="1"/>
          </a:xfrm>
          <a:prstGeom prst="line">
            <a:avLst/>
          </a:prstGeom>
          <a:noFill/>
          <a:ln w="63500">
            <a:solidFill>
              <a:srgbClr val="D9463E"/>
            </a:solidFill>
            <a:prstDash val="solid"/>
          </a:ln>
        </p:spPr>
      </p:sp>
      <p:sp>
        <p:nvSpPr>
          <p:cNvPr id="13" name="Shape 11"/>
          <p:cNvSpPr/>
          <p:nvPr/>
        </p:nvSpPr>
        <p:spPr>
          <a:xfrm>
            <a:off x="2622499" y="2692451"/>
            <a:ext cx="77450" cy="399959"/>
          </a:xfrm>
          <a:prstGeom prst="roundRect">
            <a:avLst>
              <a:gd name="adj" fmla="val 34286"/>
            </a:avLst>
          </a:prstGeom>
          <a:solidFill>
            <a:srgbClr val="3A4650"/>
          </a:solidFill>
          <a:ln/>
        </p:spPr>
      </p:sp>
      <p:sp>
        <p:nvSpPr>
          <p:cNvPr id="14" name="Text 12"/>
          <p:cNvSpPr txBox="1"/>
          <p:nvPr/>
        </p:nvSpPr>
        <p:spPr>
          <a:xfrm>
            <a:off x="3429000" y="1319005"/>
            <a:ext cx="5212080" cy="1005611"/>
          </a:xfrm>
          <a:prstGeom prst="rect">
            <a:avLst/>
          </a:prstGeom>
          <a:noFill/>
          <a:ln/>
        </p:spPr>
        <p:txBody>
          <a:bodyPr wrap="square" lIns="0" tIns="0" rIns="0" bIns="0" rtlCol="0" anchor="t"/>
          <a:lstStyle/>
          <a:p>
            <a:pPr indent="0" marL="0">
              <a:lnSpc>
                <a:spcPct val="120000"/>
              </a:lnSpc>
              <a:buNone/>
            </a:pPr>
            <a:r>
              <a:rPr lang="en-US" sz="2300" b="1" dirty="0">
                <a:solidFill>
                  <a:srgbClr val="0B1F3A"/>
                </a:solidFill>
                <a:latin typeface="Arial" pitchFamily="34" charset="0"/>
                <a:ea typeface="Arial" pitchFamily="34" charset="-122"/>
                <a:cs typeface="Arial" pitchFamily="34" charset="-120"/>
              </a:rPr>
              <a:t>Dải tương phản động: cùng một khung vừa có chỗ tối vừa có chỗ chói</a:t>
            </a:r>
            <a:endParaRPr lang="en-US" sz="2300" dirty="0"/>
          </a:p>
          <a:p>
            <a:pPr indent="0" marL="0">
              <a:lnSpc>
                <a:spcPct val="120000"/>
              </a:lnSpc>
              <a:buNone/>
            </a:pPr>
            <a:r>
              <a:rPr lang="en-US" sz="1400" dirty="0">
                <a:solidFill>
                  <a:srgbClr val="007F72"/>
                </a:solidFill>
                <a:latin typeface="微軟正黑體" pitchFamily="34" charset="0"/>
                <a:ea typeface="微軟正黑體" pitchFamily="34" charset="-122"/>
                <a:cs typeface="微軟正黑體" pitchFamily="34" charset="-120"/>
              </a:rPr>
              <a:t>動態範圍：同一張畫面裡，又有很暗的地方又有很亮的地方</a:t>
            </a:r>
            <a:endParaRPr lang="en-US" sz="2300" dirty="0"/>
          </a:p>
        </p:txBody>
      </p:sp>
      <p:sp>
        <p:nvSpPr>
          <p:cNvPr id="15" name="Text 13"/>
          <p:cNvSpPr txBox="1"/>
          <p:nvPr/>
        </p:nvSpPr>
        <p:spPr>
          <a:xfrm>
            <a:off x="3429000" y="2416057"/>
            <a:ext cx="5212080" cy="1074682"/>
          </a:xfrm>
          <a:prstGeom prst="rect">
            <a:avLst/>
          </a:prstGeom>
          <a:noFill/>
          <a:ln/>
        </p:spPr>
        <p:txBody>
          <a:bodyPr wrap="square" lIns="0" tIns="0" rIns="0" bIns="0" rtlCol="0" anchor="t"/>
          <a:lstStyle/>
          <a:p>
            <a:pPr indent="0" marL="0">
              <a:lnSpc>
                <a:spcPct val="128000"/>
              </a:lnSpc>
              <a:buNone/>
            </a:pPr>
            <a:r>
              <a:rPr lang="en-US" sz="1250" dirty="0">
                <a:solidFill>
                  <a:srgbClr val="5F7183"/>
                </a:solidFill>
                <a:latin typeface="Arial" pitchFamily="34" charset="0"/>
                <a:ea typeface="Arial" pitchFamily="34" charset="-122"/>
                <a:cs typeface="Arial" pitchFamily="34" charset="-120"/>
              </a:rPr>
              <a:t>Ra khỏi đường hầm giữa trưa: trong hầm tối, ngoài hầm chói. Mắt người xử lý được khoảng 120 dB; AR0233AT ghi trên 140 dB, đó là lý do nó đắt.</a:t>
            </a:r>
            <a:endParaRPr lang="en-US" sz="1250" dirty="0"/>
          </a:p>
          <a:p>
            <a:pPr indent="0" marL="0">
              <a:lnSpc>
                <a:spcPct val="128000"/>
              </a:lnSpc>
              <a:buNone/>
            </a:pPr>
            <a:r>
              <a:rPr lang="en-US" sz="1150" dirty="0">
                <a:solidFill>
                  <a:srgbClr val="5F7183"/>
                </a:solidFill>
                <a:latin typeface="微軟正黑體" pitchFamily="34" charset="0"/>
                <a:ea typeface="微軟正黑體" pitchFamily="34" charset="-122"/>
                <a:cs typeface="微軟正黑體" pitchFamily="34" charset="-120"/>
              </a:rPr>
              <a:t>中午開出隧道口：裡面很暗，外面很亮。人眼大約能處理 120 dB；AR0233AT 寫的是 140 dB 以上，這就是它貴的原因。</a:t>
            </a:r>
            <a:endParaRPr lang="en-US" sz="1250" dirty="0"/>
          </a:p>
        </p:txBody>
      </p:sp>
      <p:sp>
        <p:nvSpPr>
          <p:cNvPr id="16" name="Shape 14"/>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17" name="Text 15"/>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Thiếu dải động thì hoặc là trong hầm đen kịt, hoặc là ngoài hầm trắng xoá — chọn một.</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動態範圍不夠的話，不是隧道裡一片黑，就是隧道外一片白——只能選一個。</a:t>
            </a:r>
            <a:endParaRPr lang="en-US" sz="1250" dirty="0"/>
          </a:p>
        </p:txBody>
      </p:sp>
      <p:pic>
        <p:nvPicPr>
          <p:cNvPr id="19" name="Image 0" descr="/Users/tsengchenghsun/Class/carClass/Claude outputs/第五週(10-8)/src/logo.png">    </p:cNvPr>
          <p:cNvPicPr>
            <a:picLocks noChangeAspect="1"/>
          </p:cNvPicPr>
          <p:nvPr/>
        </p:nvPicPr>
        <p:blipFill>
          <a:blip r:embed="rId1"/>
          <a:stretch>
            <a:fillRect/>
          </a:stretch>
        </p:blipFill>
        <p:spPr>
          <a:xfrm>
            <a:off x="7882128" y="109728"/>
            <a:ext cx="1097280" cy="242439"/>
          </a:xfrm>
          <a:prstGeom prst="rect">
            <a:avLst/>
          </a:prstGeom>
        </p:spPr>
      </p:pic>
      <p:sp>
        <p:nvSpPr>
          <p:cNvPr id="20" name="Text 16"/>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4 / 15</a:t>
            </a:r>
            <a:endParaRPr lang="en-US" sz="900" dirty="0"/>
          </a:p>
        </p:txBody>
      </p:sp>
      <p:sp>
        <p:nvSpPr>
          <p:cNvPr id="21" name="Text 17"/>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3 / 3　LED flicker</a:t>
            </a:r>
            <a:endParaRPr lang="en-US" sz="1250" dirty="0"/>
          </a:p>
        </p:txBody>
      </p:sp>
      <p:sp>
        <p:nvSpPr>
          <p:cNvPr id="3" name="Shape 1"/>
          <p:cNvSpPr/>
          <p:nvPr/>
        </p:nvSpPr>
        <p:spPr>
          <a:xfrm>
            <a:off x="502920" y="1101852"/>
            <a:ext cx="2468880" cy="2514600"/>
          </a:xfrm>
          <a:prstGeom prst="roundRect">
            <a:avLst>
              <a:gd name="adj" fmla="val 4444"/>
            </a:avLst>
          </a:prstGeom>
          <a:solidFill>
            <a:srgbClr val="F4F7FA"/>
          </a:solidFill>
          <a:ln w="12700">
            <a:solidFill>
              <a:srgbClr val="DBE3EA"/>
            </a:solidFill>
            <a:prstDash val="solid"/>
          </a:ln>
        </p:spPr>
      </p:sp>
      <p:sp>
        <p:nvSpPr>
          <p:cNvPr id="4" name="Shape 2"/>
          <p:cNvSpPr/>
          <p:nvPr/>
        </p:nvSpPr>
        <p:spPr>
          <a:xfrm>
            <a:off x="1493947" y="2203613"/>
            <a:ext cx="929396" cy="755477"/>
          </a:xfrm>
          <a:prstGeom prst="roundRect">
            <a:avLst>
              <a:gd name="adj" fmla="val 6052"/>
            </a:avLst>
          </a:prstGeom>
          <a:solidFill>
            <a:srgbClr val="C8D3DE"/>
          </a:solidFill>
          <a:ln w="15240">
            <a:solidFill>
              <a:srgbClr val="F4F7FA"/>
            </a:solidFill>
            <a:prstDash val="solid"/>
          </a:ln>
        </p:spPr>
      </p:sp>
      <p:sp>
        <p:nvSpPr>
          <p:cNvPr id="5" name="Shape 3"/>
          <p:cNvSpPr/>
          <p:nvPr/>
        </p:nvSpPr>
        <p:spPr>
          <a:xfrm>
            <a:off x="1339047" y="2048073"/>
            <a:ext cx="929396" cy="755477"/>
          </a:xfrm>
          <a:prstGeom prst="roundRect">
            <a:avLst>
              <a:gd name="adj" fmla="val 6052"/>
            </a:avLst>
          </a:prstGeom>
          <a:solidFill>
            <a:srgbClr val="C8D3DE"/>
          </a:solidFill>
          <a:ln w="15240">
            <a:solidFill>
              <a:srgbClr val="F4F7FA"/>
            </a:solidFill>
            <a:prstDash val="solid"/>
          </a:ln>
        </p:spPr>
      </p:sp>
      <p:sp>
        <p:nvSpPr>
          <p:cNvPr id="6" name="Shape 4"/>
          <p:cNvSpPr/>
          <p:nvPr/>
        </p:nvSpPr>
        <p:spPr>
          <a:xfrm>
            <a:off x="1184148" y="1892534"/>
            <a:ext cx="929396" cy="755477"/>
          </a:xfrm>
          <a:prstGeom prst="roundRect">
            <a:avLst>
              <a:gd name="adj" fmla="val 6052"/>
            </a:avLst>
          </a:prstGeom>
          <a:solidFill>
            <a:srgbClr val="C8D3DE"/>
          </a:solidFill>
          <a:ln w="15240">
            <a:solidFill>
              <a:srgbClr val="F4F7FA"/>
            </a:solidFill>
            <a:prstDash val="solid"/>
          </a:ln>
        </p:spPr>
      </p:sp>
      <p:sp>
        <p:nvSpPr>
          <p:cNvPr id="7" name="Shape 5"/>
          <p:cNvSpPr/>
          <p:nvPr/>
        </p:nvSpPr>
        <p:spPr>
          <a:xfrm>
            <a:off x="1029249" y="1736994"/>
            <a:ext cx="929396" cy="755477"/>
          </a:xfrm>
          <a:prstGeom prst="roundRect">
            <a:avLst>
              <a:gd name="adj" fmla="val 6052"/>
            </a:avLst>
          </a:prstGeom>
          <a:solidFill>
            <a:srgbClr val="A3382F"/>
          </a:solidFill>
          <a:ln w="15240">
            <a:solidFill>
              <a:srgbClr val="F4F7FA"/>
            </a:solidFill>
            <a:prstDash val="solid"/>
          </a:ln>
        </p:spPr>
      </p:sp>
      <p:sp>
        <p:nvSpPr>
          <p:cNvPr id="8" name="Text 6"/>
          <p:cNvSpPr txBox="1"/>
          <p:nvPr/>
        </p:nvSpPr>
        <p:spPr>
          <a:xfrm>
            <a:off x="630936" y="2892430"/>
            <a:ext cx="2212848" cy="399959"/>
          </a:xfrm>
          <a:prstGeom prst="rect">
            <a:avLst/>
          </a:prstGeom>
          <a:noFill/>
          <a:ln/>
        </p:spPr>
        <p:txBody>
          <a:bodyPr wrap="square" lIns="0" tIns="0" rIns="0" bIns="0" rtlCol="0" anchor="ctr"/>
          <a:lstStyle/>
          <a:p>
            <a:pPr algn="ctr" indent="0" marL="0">
              <a:buNone/>
            </a:pPr>
            <a:r>
              <a:rPr lang="en-US" sz="1100" b="1" dirty="0">
                <a:solidFill>
                  <a:srgbClr val="A3382F"/>
                </a:solidFill>
                <a:latin typeface="Arial" pitchFamily="34" charset="0"/>
                <a:ea typeface="Arial" pitchFamily="34" charset="-122"/>
                <a:cs typeface="Arial" pitchFamily="34" charset="-120"/>
              </a:rPr>
              <a:t>× 10 000</a:t>
            </a:r>
            <a:endParaRPr lang="en-US" sz="1100" dirty="0"/>
          </a:p>
        </p:txBody>
      </p:sp>
      <p:sp>
        <p:nvSpPr>
          <p:cNvPr id="9" name="Text 7"/>
          <p:cNvSpPr txBox="1"/>
          <p:nvPr/>
        </p:nvSpPr>
        <p:spPr>
          <a:xfrm>
            <a:off x="3429000" y="1319005"/>
            <a:ext cx="5212080" cy="1005611"/>
          </a:xfrm>
          <a:prstGeom prst="rect">
            <a:avLst/>
          </a:prstGeom>
          <a:noFill/>
          <a:ln/>
        </p:spPr>
        <p:txBody>
          <a:bodyPr wrap="square" lIns="0" tIns="0" rIns="0" bIns="0" rtlCol="0" anchor="t"/>
          <a:lstStyle/>
          <a:p>
            <a:pPr indent="0" marL="0">
              <a:lnSpc>
                <a:spcPct val="120000"/>
              </a:lnSpc>
              <a:buNone/>
            </a:pPr>
            <a:r>
              <a:rPr lang="en-US" sz="2300" b="1" dirty="0">
                <a:solidFill>
                  <a:srgbClr val="0B1F3A"/>
                </a:solidFill>
                <a:latin typeface="Arial" pitchFamily="34" charset="0"/>
                <a:ea typeface="Arial" pitchFamily="34" charset="-122"/>
                <a:cs typeface="Arial" pitchFamily="34" charset="-120"/>
              </a:rPr>
              <a:t>Đèn LED nhấp nháy: mắt người không thấy, camera thì thấy</a:t>
            </a:r>
            <a:endParaRPr lang="en-US" sz="2300" dirty="0"/>
          </a:p>
          <a:p>
            <a:pPr indent="0" marL="0">
              <a:lnSpc>
                <a:spcPct val="120000"/>
              </a:lnSpc>
              <a:buNone/>
            </a:pPr>
            <a:r>
              <a:rPr lang="en-US" sz="1400" dirty="0">
                <a:solidFill>
                  <a:srgbClr val="007F72"/>
                </a:solidFill>
                <a:latin typeface="微軟正黑體" pitchFamily="34" charset="0"/>
                <a:ea typeface="微軟正黑體" pitchFamily="34" charset="-122"/>
                <a:cs typeface="微軟正黑體" pitchFamily="34" charset="-120"/>
              </a:rPr>
              <a:t>LED 在閃：人眼看不出來，相機看得出來</a:t>
            </a:r>
            <a:endParaRPr lang="en-US" sz="2300" dirty="0"/>
          </a:p>
        </p:txBody>
      </p:sp>
      <p:sp>
        <p:nvSpPr>
          <p:cNvPr id="10" name="Text 8"/>
          <p:cNvSpPr txBox="1"/>
          <p:nvPr/>
        </p:nvSpPr>
        <p:spPr>
          <a:xfrm>
            <a:off x="3429000" y="2416057"/>
            <a:ext cx="5212080" cy="1074682"/>
          </a:xfrm>
          <a:prstGeom prst="rect">
            <a:avLst/>
          </a:prstGeom>
          <a:noFill/>
          <a:ln/>
        </p:spPr>
        <p:txBody>
          <a:bodyPr wrap="square" lIns="0" tIns="0" rIns="0" bIns="0" rtlCol="0" anchor="t"/>
          <a:lstStyle/>
          <a:p>
            <a:pPr indent="0" marL="0">
              <a:lnSpc>
                <a:spcPct val="128000"/>
              </a:lnSpc>
              <a:buNone/>
            </a:pPr>
            <a:r>
              <a:rPr lang="en-US" sz="1250" dirty="0">
                <a:solidFill>
                  <a:srgbClr val="5F7183"/>
                </a:solidFill>
                <a:latin typeface="Arial" pitchFamily="34" charset="0"/>
                <a:ea typeface="Arial" pitchFamily="34" charset="-122"/>
                <a:cs typeface="Arial" pitchFamily="34" charset="-120"/>
              </a:rPr>
              <a:t>Đèn tín hiệu và đèn hậu LED nháy mấy trăm lần mỗi giây. Nếu khung hình rơi đúng lúc đèn tắt, camera chụp được một cái đèn đỏ đang «tắt».</a:t>
            </a:r>
            <a:endParaRPr lang="en-US" sz="1250" dirty="0"/>
          </a:p>
          <a:p>
            <a:pPr indent="0" marL="0">
              <a:lnSpc>
                <a:spcPct val="128000"/>
              </a:lnSpc>
              <a:buNone/>
            </a:pPr>
            <a:r>
              <a:rPr lang="en-US" sz="1150" dirty="0">
                <a:solidFill>
                  <a:srgbClr val="5F7183"/>
                </a:solidFill>
                <a:latin typeface="微軟正黑體" pitchFamily="34" charset="0"/>
                <a:ea typeface="微軟正黑體" pitchFamily="34" charset="-122"/>
                <a:cs typeface="微軟正黑體" pitchFamily="34" charset="-120"/>
              </a:rPr>
              <a:t>紅綠燈和 LED 尾燈每秒閃好幾百次。如果剛好在燈暗的那一瞬間拍，相機就拍到一個「沒亮」的紅燈。</a:t>
            </a:r>
            <a:endParaRPr lang="en-US" sz="1250" dirty="0"/>
          </a:p>
        </p:txBody>
      </p:sp>
      <p:sp>
        <p:nvSpPr>
          <p:cNvPr id="11" name="Shape 9"/>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12" name="Text 10"/>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Dòng LFM trên datasheet là để chữa đúng chuyện này.</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規格表上那行 LFM，就是專門解決這件事的。</a:t>
            </a:r>
            <a:endParaRPr lang="en-US" sz="1250" dirty="0"/>
          </a:p>
        </p:txBody>
      </p:sp>
      <p:pic>
        <p:nvPicPr>
          <p:cNvPr id="14" name="Image 0" descr="/Users/tsengchenghsun/Class/carClass/Claude outputs/第五週(10-8)/src/logo.png">    </p:cNvPr>
          <p:cNvPicPr>
            <a:picLocks noChangeAspect="1"/>
          </p:cNvPicPr>
          <p:nvPr/>
        </p:nvPicPr>
        <p:blipFill>
          <a:blip r:embed="rId1"/>
          <a:stretch>
            <a:fillRect/>
          </a:stretch>
        </p:blipFill>
        <p:spPr>
          <a:xfrm>
            <a:off x="7882128" y="109728"/>
            <a:ext cx="1097280" cy="242439"/>
          </a:xfrm>
          <a:prstGeom prst="rect">
            <a:avLst/>
          </a:prstGeom>
        </p:spPr>
      </p:pic>
      <p:sp>
        <p:nvSpPr>
          <p:cNvPr id="15" name="Text 11"/>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5 / 15</a:t>
            </a:r>
            <a:endParaRPr lang="en-US" sz="900" dirty="0"/>
          </a:p>
        </p:txBody>
      </p:sp>
      <p:sp>
        <p:nvSpPr>
          <p:cNvPr id="16" name="Text 12"/>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1691640"/>
            <a:ext cx="4572000" cy="310896"/>
          </a:xfrm>
          <a:prstGeom prst="rect">
            <a:avLst/>
          </a:prstGeom>
          <a:noFill/>
          <a:ln/>
        </p:spPr>
        <p:txBody>
          <a:bodyPr wrap="square" lIns="0" tIns="0" rIns="0" bIns="0" rtlCol="0" anchor="ctr"/>
          <a:lstStyle/>
          <a:p>
            <a:pPr indent="0" marL="0">
              <a:buNone/>
            </a:pPr>
            <a:r>
              <a:rPr lang="en-US" sz="1350" b="1" dirty="0">
                <a:solidFill>
                  <a:srgbClr val="FFB020"/>
                </a:solidFill>
                <a:latin typeface="Arial" pitchFamily="34" charset="0"/>
                <a:ea typeface="Arial" pitchFamily="34" charset="-122"/>
                <a:cs typeface="Arial" pitchFamily="34" charset="-120"/>
              </a:rPr>
              <a:t>Phần 2 / 3</a:t>
            </a:r>
            <a:endParaRPr lang="en-US" sz="1350" dirty="0"/>
          </a:p>
        </p:txBody>
      </p:sp>
      <p:sp>
        <p:nvSpPr>
          <p:cNvPr id="5" name="Text 3"/>
          <p:cNvSpPr txBox="1"/>
          <p:nvPr/>
        </p:nvSpPr>
        <p:spPr>
          <a:xfrm>
            <a:off x="502920" y="2048256"/>
            <a:ext cx="7315200" cy="1188720"/>
          </a:xfrm>
          <a:prstGeom prst="rect">
            <a:avLst/>
          </a:prstGeom>
          <a:noFill/>
          <a:ln/>
        </p:spPr>
        <p:txBody>
          <a:bodyPr wrap="square" lIns="0" tIns="0" rIns="0" bIns="0" rtlCol="0" anchor="t"/>
          <a:lstStyle/>
          <a:p>
            <a:pPr indent="0" marL="0">
              <a:lnSpc>
                <a:spcPct val="118000"/>
              </a:lnSpc>
              <a:buNone/>
            </a:pPr>
            <a:r>
              <a:rPr lang="en-US" sz="2900" b="1" dirty="0">
                <a:solidFill>
                  <a:srgbClr val="FFFFFF"/>
                </a:solidFill>
                <a:latin typeface="Arial" pitchFamily="34" charset="0"/>
                <a:ea typeface="Arial" pitchFamily="34" charset="-122"/>
                <a:cs typeface="Arial" pitchFamily="34" charset="-120"/>
              </a:rPr>
              <a:t>Lidar: bước sóng, an toàn mắt, và mấy lần phản hồi</a:t>
            </a:r>
            <a:endParaRPr lang="en-US" sz="2900" dirty="0"/>
          </a:p>
          <a:p>
            <a:pPr indent="0" marL="0">
              <a:lnSpc>
                <a:spcPct val="118000"/>
              </a:lnSpc>
              <a:buNone/>
            </a:pPr>
            <a:r>
              <a:rPr lang="en-US" sz="1700" dirty="0">
                <a:solidFill>
                  <a:srgbClr val="AFC3D4"/>
                </a:solidFill>
                <a:latin typeface="微軟正黑體" pitchFamily="34" charset="0"/>
                <a:ea typeface="微軟正黑體" pitchFamily="34" charset="-122"/>
                <a:cs typeface="微軟正黑體" pitchFamily="34" charset="-120"/>
              </a:rPr>
              <a:t>光達：波長、眼睛安全，還有幾次回波</a:t>
            </a:r>
            <a:endParaRPr lang="en-US" sz="2900" dirty="0"/>
          </a:p>
        </p:txBody>
      </p:sp>
      <p:sp>
        <p:nvSpPr>
          <p:cNvPr id="6" name="Text 4"/>
          <p:cNvSpPr txBox="1"/>
          <p:nvPr/>
        </p:nvSpPr>
        <p:spPr>
          <a:xfrm>
            <a:off x="502920" y="3346704"/>
            <a:ext cx="7315200" cy="640080"/>
          </a:xfrm>
          <a:prstGeom prst="rect">
            <a:avLst/>
          </a:prstGeom>
          <a:noFill/>
          <a:ln/>
        </p:spPr>
        <p:txBody>
          <a:bodyPr wrap="square" lIns="0" tIns="0" rIns="0" bIns="0" rtlCol="0" anchor="t"/>
          <a:lstStyle/>
          <a:p>
            <a:pPr indent="0" marL="0">
              <a:lnSpc>
                <a:spcPct val="120000"/>
              </a:lnSpc>
              <a:buNone/>
            </a:pPr>
            <a:r>
              <a:rPr lang="en-US" sz="1350" dirty="0">
                <a:solidFill>
                  <a:srgbClr val="AFC3D4"/>
                </a:solidFill>
                <a:latin typeface="Arial" pitchFamily="34" charset="0"/>
                <a:ea typeface="Arial" pitchFamily="34" charset="-122"/>
                <a:cs typeface="Arial" pitchFamily="34" charset="-120"/>
              </a:rPr>
              <a:t>Ba dòng nữa, ít người đọc</a:t>
            </a:r>
            <a:endParaRPr lang="en-US" sz="1350" dirty="0"/>
          </a:p>
          <a:p>
            <a:pPr indent="0" marL="0">
              <a:lnSpc>
                <a:spcPct val="120000"/>
              </a:lnSpc>
              <a:buNone/>
            </a:pPr>
            <a:r>
              <a:rPr lang="en-US" sz="1200" dirty="0">
                <a:solidFill>
                  <a:srgbClr val="8AA0B4"/>
                </a:solidFill>
                <a:latin typeface="微軟正黑體" pitchFamily="34" charset="0"/>
                <a:ea typeface="微軟正黑體" pitchFamily="34" charset="-122"/>
                <a:cs typeface="微軟正黑體" pitchFamily="34" charset="-120"/>
              </a:rPr>
              <a:t>另外三行，一樣很少人讀</a:t>
            </a:r>
            <a:endParaRPr lang="en-US" sz="1350" dirty="0"/>
          </a:p>
        </p:txBody>
      </p:sp>
      <p:sp>
        <p:nvSpPr>
          <p:cNvPr id="8"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6 / 15</a:t>
            </a:r>
            <a:endParaRPr lang="en-US" sz="900" dirty="0"/>
          </a:p>
        </p:txBody>
      </p:sp>
      <p:sp>
        <p:nvSpPr>
          <p:cNvPr id="9"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88455" y="0"/>
          <a:ext cx="1" cy="1"/>
          <a:chOff x="0" y="0"/>
          <a:chExt cx="0" cy="0"/>
        </a:xfrm>
      </p:grpSpPr>
      <p:sp>
        <p:nvSpPr>
          <p:cNvPr id="2" name="Text 0"/>
          <p:cNvSpPr txBox="1"/>
          <p:nvPr/>
        </p:nvSpPr>
        <p:spPr>
          <a:xfrm>
            <a:off x="581645" y="286947"/>
            <a:ext cx="7980709" cy="824972"/>
          </a:xfrm>
          <a:prstGeom prst="rect">
            <a:avLst/>
          </a:prstGeom>
          <a:noFill/>
          <a:ln/>
        </p:spPr>
        <p:txBody>
          <a:bodyPr wrap="square" lIns="0" tIns="0" rIns="0" bIns="0" rtlCol="0" anchor="t"/>
          <a:lstStyle/>
          <a:p>
            <a:pPr indent="0" marL="0">
              <a:lnSpc>
                <a:spcPct val="116000"/>
              </a:lnSpc>
              <a:buNone/>
            </a:pPr>
            <a:r>
              <a:rPr lang="en-US" sz="2160" b="1" dirty="0">
                <a:solidFill>
                  <a:srgbClr val="0B1F3A"/>
                </a:solidFill>
                <a:latin typeface="Arial" pitchFamily="34" charset="0"/>
                <a:ea typeface="Arial" pitchFamily="34" charset="-122"/>
                <a:cs typeface="Arial" pitchFamily="34" charset="-120"/>
              </a:rPr>
              <a:t>905, 865 hay 1550 nm: chọn bước sóng là chọn đánh đổi</a:t>
            </a:r>
            <a:endParaRPr lang="en-US" sz="2160" dirty="0"/>
          </a:p>
          <a:p>
            <a:pPr indent="0" marL="0">
              <a:lnSpc>
                <a:spcPct val="116000"/>
              </a:lnSpc>
              <a:buNone/>
            </a:pPr>
            <a:r>
              <a:rPr lang="en-US" sz="1320" dirty="0">
                <a:solidFill>
                  <a:srgbClr val="5F7183"/>
                </a:solidFill>
                <a:latin typeface="微軟正黑體" pitchFamily="34" charset="0"/>
                <a:ea typeface="微軟正黑體" pitchFamily="34" charset="-122"/>
                <a:cs typeface="微軟正黑體" pitchFamily="34" charset="-120"/>
              </a:rPr>
              <a:t>905、865 還是 1550 奈米：選波長就是選代價</a:t>
            </a:r>
            <a:endParaRPr lang="en-US" sz="2160" dirty="0"/>
          </a:p>
        </p:txBody>
      </p:sp>
      <p:sp>
        <p:nvSpPr>
          <p:cNvPr id="3" name="Shape 1"/>
          <p:cNvSpPr/>
          <p:nvPr/>
        </p:nvSpPr>
        <p:spPr>
          <a:xfrm>
            <a:off x="581645" y="1111919"/>
            <a:ext cx="7980709" cy="699433"/>
          </a:xfrm>
          <a:prstGeom prst="roundRect">
            <a:avLst>
              <a:gd name="adj" fmla="val 10256"/>
            </a:avLst>
          </a:prstGeom>
          <a:solidFill>
            <a:srgbClr val="EAF6F4"/>
          </a:solidFill>
          <a:ln/>
        </p:spPr>
      </p:sp>
      <p:sp>
        <p:nvSpPr>
          <p:cNvPr id="4" name="Text 2"/>
          <p:cNvSpPr txBox="1"/>
          <p:nvPr/>
        </p:nvSpPr>
        <p:spPr>
          <a:xfrm>
            <a:off x="725119" y="1183656"/>
            <a:ext cx="7693763" cy="555960"/>
          </a:xfrm>
          <a:prstGeom prst="rect">
            <a:avLst/>
          </a:prstGeom>
          <a:noFill/>
          <a:ln/>
        </p:spPr>
        <p:txBody>
          <a:bodyPr wrap="square" lIns="0" tIns="0" rIns="0" bIns="0" rtlCol="0" anchor="t"/>
          <a:lstStyle/>
          <a:p>
            <a:pPr indent="0" marL="0">
              <a:lnSpc>
                <a:spcPct val="110000"/>
              </a:lnSpc>
              <a:buNone/>
            </a:pPr>
            <a:r>
              <a:rPr lang="en-US" sz="1130" b="1" dirty="0">
                <a:solidFill>
                  <a:srgbClr val="007F72"/>
                </a:solidFill>
                <a:latin typeface="Arial" pitchFamily="34" charset="0"/>
                <a:ea typeface="Arial" pitchFamily="34" charset="-122"/>
                <a:cs typeface="Arial" pitchFamily="34" charset="-120"/>
              </a:rPr>
              <a:t>Ba con số này đều nằm ở dòng «Laser Wavelength» trên datasheet.</a:t>
            </a:r>
            <a:endParaRPr lang="en-US" sz="1130" dirty="0"/>
          </a:p>
          <a:p>
            <a:pPr indent="0" marL="0">
              <a:lnSpc>
                <a:spcPct val="110000"/>
              </a:lnSpc>
              <a:buNone/>
            </a:pPr>
            <a:r>
              <a:rPr lang="en-US" sz="980" dirty="0">
                <a:solidFill>
                  <a:srgbClr val="007F72"/>
                </a:solidFill>
                <a:latin typeface="微軟正黑體" pitchFamily="34" charset="0"/>
                <a:ea typeface="微軟正黑體" pitchFamily="34" charset="-122"/>
                <a:cs typeface="微軟正黑體" pitchFamily="34" charset="-120"/>
              </a:rPr>
              <a:t>這三個數字都寫在規格表的 Laser Wavelength 那一行。</a:t>
            </a:r>
            <a:endParaRPr lang="en-US" sz="113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1645" y="1918957"/>
          <a:ext cx="7980709" cy="896709"/>
        </p:xfrm>
        <a:graphic>
          <a:graphicData uri="http://schemas.openxmlformats.org/drawingml/2006/table">
            <a:tbl>
              <a:tblPr/>
              <a:tblGrid>
                <a:gridCol w="1995177"/>
                <a:gridCol w="1995177"/>
                <a:gridCol w="1995177"/>
                <a:gridCol w="1995177"/>
              </a:tblGrid>
              <a:tr h="286947">
                <a:tc>
                  <a:txBody>
                    <a:bodyPr/>
                    <a:lstStyle/>
                    <a:p>
                      <a:pPr algn="l" indent="0" marL="0">
                        <a:buNone/>
                      </a:pPr>
                      <a:r>
                        <a:rPr lang="en-US" sz="930" b="1" dirty="0">
                          <a:solidFill>
                            <a:srgbClr val="FFFFFF"/>
                          </a:solidFill>
                          <a:latin typeface="Arial" pitchFamily="34" charset="0"/>
                          <a:ea typeface="Arial" pitchFamily="34" charset="-122"/>
                          <a:cs typeface="Arial" pitchFamily="34" charset="-120"/>
                        </a:rPr>
                        <a:t>Bước sóng</a:t>
                      </a:r>
                      <a:endParaRPr lang="en-US" sz="1180" dirty="0"/>
                    </a:p>
                    <a:p>
                      <a:pPr algn="l" indent="0" marL="0">
                        <a:buNone/>
                      </a:pPr>
                      <a:r>
                        <a:rPr lang="en-US" sz="780" dirty="0">
                          <a:solidFill>
                            <a:srgbClr val="CFE0EC"/>
                          </a:solidFill>
                          <a:latin typeface="微軟正黑體" pitchFamily="34" charset="0"/>
                          <a:ea typeface="微軟正黑體" pitchFamily="34" charset="-122"/>
                          <a:cs typeface="微軟正黑體" pitchFamily="34" charset="-120"/>
                        </a:rPr>
                        <a:t>波長</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930" b="1" dirty="0">
                          <a:solidFill>
                            <a:srgbClr val="FFFFFF"/>
                          </a:solidFill>
                          <a:latin typeface="Arial" pitchFamily="34" charset="0"/>
                          <a:ea typeface="Arial" pitchFamily="34" charset="-122"/>
                          <a:cs typeface="Arial" pitchFamily="34" charset="-120"/>
                        </a:rPr>
                        <a:t>Ai dùng</a:t>
                      </a:r>
                      <a:endParaRPr lang="en-US" sz="1180" dirty="0"/>
                    </a:p>
                    <a:p>
                      <a:pPr algn="l" indent="0" marL="0">
                        <a:buNone/>
                      </a:pPr>
                      <a:r>
                        <a:rPr lang="en-US" sz="780" dirty="0">
                          <a:solidFill>
                            <a:srgbClr val="CFE0EC"/>
                          </a:solidFill>
                          <a:latin typeface="微軟正黑體" pitchFamily="34" charset="0"/>
                          <a:ea typeface="微軟正黑體" pitchFamily="34" charset="-122"/>
                          <a:cs typeface="微軟正黑體" pitchFamily="34" charset="-120"/>
                        </a:rPr>
                        <a:t>誰在用</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930" b="1" dirty="0">
                          <a:solidFill>
                            <a:srgbClr val="FFFFFF"/>
                          </a:solidFill>
                          <a:latin typeface="Arial" pitchFamily="34" charset="0"/>
                          <a:ea typeface="Arial" pitchFamily="34" charset="-122"/>
                          <a:cs typeface="Arial" pitchFamily="34" charset="-120"/>
                        </a:rPr>
                        <a:t>Được lợi gì</a:t>
                      </a:r>
                      <a:endParaRPr lang="en-US" sz="1180" dirty="0"/>
                    </a:p>
                    <a:p>
                      <a:pPr algn="l" indent="0" marL="0">
                        <a:buNone/>
                      </a:pPr>
                      <a:r>
                        <a:rPr lang="en-US" sz="780" dirty="0">
                          <a:solidFill>
                            <a:srgbClr val="CFE0EC"/>
                          </a:solidFill>
                          <a:latin typeface="微軟正黑體" pitchFamily="34" charset="0"/>
                          <a:ea typeface="微軟正黑體" pitchFamily="34" charset="-122"/>
                          <a:cs typeface="微軟正黑體" pitchFamily="34" charset="-120"/>
                        </a:rPr>
                        <a:t>好處</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930" b="1" dirty="0">
                          <a:solidFill>
                            <a:srgbClr val="FFFFFF"/>
                          </a:solidFill>
                          <a:latin typeface="Arial" pitchFamily="34" charset="0"/>
                          <a:ea typeface="Arial" pitchFamily="34" charset="-122"/>
                          <a:cs typeface="Arial" pitchFamily="34" charset="-120"/>
                        </a:rPr>
                        <a:t>Trả giá gì</a:t>
                      </a:r>
                      <a:endParaRPr lang="en-US" sz="1180" dirty="0"/>
                    </a:p>
                    <a:p>
                      <a:pPr algn="l" indent="0" marL="0">
                        <a:buNone/>
                      </a:pPr>
                      <a:r>
                        <a:rPr lang="en-US" sz="780" dirty="0">
                          <a:solidFill>
                            <a:srgbClr val="CFE0EC"/>
                          </a:solidFill>
                          <a:latin typeface="微軟正黑體" pitchFamily="34" charset="0"/>
                          <a:ea typeface="微軟正黑體" pitchFamily="34" charset="-122"/>
                          <a:cs typeface="微軟正黑體" pitchFamily="34" charset="-120"/>
                        </a:rPr>
                        <a:t>代價</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286947">
                <a:tc>
                  <a:txBody>
                    <a:bodyPr/>
                    <a:lstStyle/>
                    <a:p>
                      <a:pPr algn="l" indent="0" marL="0">
                        <a:buNone/>
                      </a:pPr>
                      <a:r>
                        <a:rPr lang="en-US" sz="930" b="1" dirty="0">
                          <a:solidFill>
                            <a:srgbClr val="0B1F3A"/>
                          </a:solidFill>
                          <a:latin typeface="Arial" pitchFamily="34" charset="0"/>
                          <a:ea typeface="Arial" pitchFamily="34" charset="-122"/>
                          <a:cs typeface="Arial" pitchFamily="34" charset="-120"/>
                        </a:rPr>
                        <a:t>905 nm</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905 奈米</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Phổ biến nhất</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最常見</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Cảm biến silic, rẻ</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用矽做接收器，便宜</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Tới võng mạc — công suất bị siết</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直達視網膜，功率被壓住</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86947">
                <a:tc>
                  <a:txBody>
                    <a:bodyPr/>
                    <a:lstStyle/>
                    <a:p>
                      <a:pPr algn="l" indent="0" marL="0">
                        <a:buNone/>
                      </a:pPr>
                      <a:r>
                        <a:rPr lang="en-US" sz="930" b="1" dirty="0">
                          <a:solidFill>
                            <a:srgbClr val="0B1F3A"/>
                          </a:solidFill>
                          <a:latin typeface="Arial" pitchFamily="34" charset="0"/>
                          <a:ea typeface="Arial" pitchFamily="34" charset="-122"/>
                          <a:cs typeface="Arial" pitchFamily="34" charset="-120"/>
                        </a:rPr>
                        <a:t>865 nm</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865 奈米</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Ouster OS1</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Ouster OS1</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Cùng họ với 905</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跟 905 同一類</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Giống trên</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同上</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286947">
                <a:tc>
                  <a:txBody>
                    <a:bodyPr/>
                    <a:lstStyle/>
                    <a:p>
                      <a:pPr algn="l" indent="0" marL="0">
                        <a:buNone/>
                      </a:pPr>
                      <a:r>
                        <a:rPr lang="en-US" sz="930" b="1" dirty="0">
                          <a:solidFill>
                            <a:srgbClr val="0B1F3A"/>
                          </a:solidFill>
                          <a:latin typeface="Arial" pitchFamily="34" charset="0"/>
                          <a:ea typeface="Arial" pitchFamily="34" charset="-122"/>
                          <a:cs typeface="Arial" pitchFamily="34" charset="-120"/>
                        </a:rPr>
                        <a:t>1550 nm</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1550 奈米</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Lidar tầm xa cao cấp</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高階長距光達</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Bị nước trong mắt hấp thụ → bắn mạnh hơn hàng chục lần → nhìn xa hơn</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先被眼睛裡的水吸收 → 可以打強幾十倍 → 看得更遠</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930" dirty="0">
                          <a:solidFill>
                            <a:srgbClr val="1A2733"/>
                          </a:solidFill>
                          <a:latin typeface="Arial" pitchFamily="34" charset="0"/>
                          <a:ea typeface="Arial" pitchFamily="34" charset="-122"/>
                          <a:cs typeface="Arial" pitchFamily="34" charset="-120"/>
                        </a:rPr>
                        <a:t>Cảm biến InGaAs, đắt hơn nhiều</a:t>
                      </a:r>
                      <a:endParaRPr lang="en-US" sz="1180" dirty="0"/>
                    </a:p>
                    <a:p>
                      <a:pPr algn="l" indent="0" marL="0">
                        <a:buNone/>
                      </a:pPr>
                      <a:r>
                        <a:rPr lang="en-US" sz="780" dirty="0">
                          <a:solidFill>
                            <a:srgbClr val="5F7183"/>
                          </a:solidFill>
                          <a:latin typeface="微軟正黑體" pitchFamily="34" charset="0"/>
                          <a:ea typeface="微軟正黑體" pitchFamily="34" charset="-122"/>
                          <a:cs typeface="微軟正黑體" pitchFamily="34" charset="-120"/>
                        </a:rPr>
                        <a:t>要用銦鎵砷接收器，貴好幾倍</a:t>
                      </a:r>
                      <a:endParaRPr lang="en-US" sz="118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6" name="Text 3"/>
          <p:cNvSpPr txBox="1"/>
          <p:nvPr/>
        </p:nvSpPr>
        <p:spPr>
          <a:xfrm>
            <a:off x="581645" y="4180796"/>
            <a:ext cx="7980709" cy="448354"/>
          </a:xfrm>
          <a:prstGeom prst="rect">
            <a:avLst/>
          </a:prstGeom>
          <a:noFill/>
          <a:ln/>
        </p:spPr>
        <p:txBody>
          <a:bodyPr wrap="square" lIns="0" tIns="0" rIns="0" bIns="0" rtlCol="0" anchor="t"/>
          <a:lstStyle/>
          <a:p>
            <a:pPr indent="0" marL="0">
              <a:lnSpc>
                <a:spcPct val="116000"/>
              </a:lnSpc>
              <a:buNone/>
            </a:pPr>
            <a:r>
              <a:rPr lang="en-US" sz="1180" b="1" dirty="0">
                <a:solidFill>
                  <a:srgbClr val="007F72"/>
                </a:solidFill>
                <a:latin typeface="Arial" pitchFamily="34" charset="0"/>
                <a:ea typeface="Arial" pitchFamily="34" charset="-122"/>
                <a:cs typeface="Arial" pitchFamily="34" charset="-120"/>
              </a:rPr>
              <a:t>Một dòng số, ba chuyện: an toàn, nhìn xa, và giá.</a:t>
            </a:r>
            <a:endParaRPr lang="en-US" sz="1180" dirty="0"/>
          </a:p>
          <a:p>
            <a:pPr indent="0" marL="0">
              <a:lnSpc>
                <a:spcPct val="116000"/>
              </a:lnSpc>
              <a:buNone/>
            </a:pPr>
            <a:r>
              <a:rPr lang="en-US" sz="1080" dirty="0">
                <a:solidFill>
                  <a:srgbClr val="007F72"/>
                </a:solidFill>
                <a:latin typeface="微軟正黑體" pitchFamily="34" charset="0"/>
                <a:ea typeface="微軟正黑體" pitchFamily="34" charset="-122"/>
                <a:cs typeface="微軟正黑體" pitchFamily="34" charset="-120"/>
              </a:rPr>
              <a:t>一行數字，背後是三件事：安全、看多遠、多少錢。</a:t>
            </a:r>
            <a:endParaRPr lang="en-US" sz="1180" dirty="0"/>
          </a:p>
        </p:txBody>
      </p:sp>
      <p:pic>
        <p:nvPicPr>
          <p:cNvPr id="8" name="Image 0" descr="/Users/tsengchenghsun/Class/carClass/Claude outputs/第五週(10-8)/src/logo.png">    </p:cNvPr>
          <p:cNvPicPr>
            <a:picLocks noChangeAspect="1"/>
          </p:cNvPicPr>
          <p:nvPr/>
        </p:nvPicPr>
        <p:blipFill>
          <a:blip r:embed="rId1"/>
          <a:stretch>
            <a:fillRect/>
          </a:stretch>
        </p:blipFill>
        <p:spPr>
          <a:xfrm>
            <a:off x="7882128" y="109728"/>
            <a:ext cx="1097280" cy="242439"/>
          </a:xfrm>
          <a:prstGeom prst="rect">
            <a:avLst/>
          </a:prstGeom>
        </p:spPr>
      </p:pic>
      <p:sp>
        <p:nvSpPr>
          <p:cNvPr id="9" name="Text 4"/>
          <p:cNvSpPr txBox="1"/>
          <p:nvPr/>
        </p:nvSpPr>
        <p:spPr>
          <a:xfrm>
            <a:off x="196060" y="125539"/>
            <a:ext cx="807038" cy="251078"/>
          </a:xfrm>
          <a:prstGeom prst="rect">
            <a:avLst/>
          </a:prstGeom>
          <a:noFill/>
          <a:ln/>
        </p:spPr>
        <p:txBody>
          <a:bodyPr wrap="square" lIns="0" tIns="0" rIns="0" bIns="0" rtlCol="0" anchor="ctr"/>
          <a:lstStyle/>
          <a:p>
            <a:pPr indent="0" marL="0">
              <a:buNone/>
            </a:pPr>
            <a:r>
              <a:rPr lang="en-US" sz="880" dirty="0">
                <a:solidFill>
                  <a:srgbClr val="5F7183"/>
                </a:solidFill>
                <a:latin typeface="Arial" pitchFamily="34" charset="0"/>
                <a:ea typeface="Arial" pitchFamily="34" charset="-122"/>
                <a:cs typeface="Arial" pitchFamily="34" charset="-120"/>
              </a:rPr>
              <a:t>7 / 15</a:t>
            </a:r>
            <a:endParaRPr lang="en-US" sz="880" dirty="0"/>
          </a:p>
        </p:txBody>
      </p:sp>
      <p:sp>
        <p:nvSpPr>
          <p:cNvPr id="10" name="Text 5"/>
          <p:cNvSpPr txBox="1"/>
          <p:nvPr/>
        </p:nvSpPr>
        <p:spPr>
          <a:xfrm>
            <a:off x="1030000" y="125539"/>
            <a:ext cx="1972760" cy="251078"/>
          </a:xfrm>
          <a:prstGeom prst="rect">
            <a:avLst/>
          </a:prstGeom>
          <a:noFill/>
          <a:ln/>
        </p:spPr>
        <p:txBody>
          <a:bodyPr wrap="square" lIns="0" tIns="0" rIns="0" bIns="0" rtlCol="0" anchor="ctr"/>
          <a:lstStyle/>
          <a:p>
            <a:pPr indent="0" marL="0">
              <a:buNone/>
            </a:pPr>
            <a:r>
              <a:rPr lang="en-US" sz="880" dirty="0">
                <a:solidFill>
                  <a:srgbClr val="5F7183"/>
                </a:solidFill>
                <a:latin typeface="Arial" pitchFamily="34" charset="0"/>
                <a:ea typeface="Arial" pitchFamily="34" charset="-122"/>
                <a:cs typeface="Arial" pitchFamily="34" charset="-120"/>
              </a:rPr>
              <a:t>Tiết 2 · 第 2 節</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An toàn mắt · 眼睛安全</a:t>
            </a:r>
            <a:endParaRPr lang="en-US" sz="1250" dirty="0"/>
          </a:p>
        </p:txBody>
      </p:sp>
      <p:sp>
        <p:nvSpPr>
          <p:cNvPr id="3" name="Text 1"/>
          <p:cNvSpPr txBox="1"/>
          <p:nvPr/>
        </p:nvSpPr>
        <p:spPr>
          <a:xfrm>
            <a:off x="502920" y="1178160"/>
            <a:ext cx="8138160" cy="563762"/>
          </a:xfrm>
          <a:prstGeom prst="rect">
            <a:avLst/>
          </a:prstGeom>
          <a:noFill/>
          <a:ln/>
        </p:spPr>
        <p:txBody>
          <a:bodyPr wrap="square" lIns="0" tIns="0" rIns="0" bIns="0" rtlCol="0" anchor="t"/>
          <a:lstStyle/>
          <a:p>
            <a:pPr indent="0" marL="0">
              <a:lnSpc>
                <a:spcPct val="120000"/>
              </a:lnSpc>
              <a:buNone/>
            </a:pPr>
            <a:r>
              <a:rPr lang="en-US" sz="1900" b="1" dirty="0">
                <a:solidFill>
                  <a:srgbClr val="0B1F3A"/>
                </a:solidFill>
                <a:latin typeface="Arial" pitchFamily="34" charset="0"/>
                <a:ea typeface="Arial" pitchFamily="34" charset="-122"/>
                <a:cs typeface="Arial" pitchFamily="34" charset="-120"/>
              </a:rPr>
              <a:t>Class 1 eye-safe: dòng này không có thì đừng lắp lên xe</a:t>
            </a:r>
            <a:endParaRPr lang="en-US" sz="1900" dirty="0"/>
          </a:p>
          <a:p>
            <a:pPr indent="0" marL="0">
              <a:lnSpc>
                <a:spcPct val="120000"/>
              </a:lnSpc>
              <a:buNone/>
            </a:pPr>
            <a:r>
              <a:rPr lang="en-US" sz="1200" dirty="0">
                <a:solidFill>
                  <a:srgbClr val="007F72"/>
                </a:solidFill>
                <a:latin typeface="微軟正黑體" pitchFamily="34" charset="0"/>
                <a:ea typeface="微軟正黑體" pitchFamily="34" charset="-122"/>
                <a:cs typeface="微軟正黑體" pitchFamily="34" charset="-120"/>
              </a:rPr>
              <a:t>Class 1 對眼睛安全：沒有這一行就不要裝上車</a:t>
            </a:r>
            <a:endParaRPr lang="en-US" sz="1900" dirty="0"/>
          </a:p>
        </p:txBody>
      </p:sp>
      <p:sp>
        <p:nvSpPr>
          <p:cNvPr id="4" name="Text 2"/>
          <p:cNvSpPr txBox="1"/>
          <p:nvPr/>
        </p:nvSpPr>
        <p:spPr>
          <a:xfrm>
            <a:off x="502920" y="1833362"/>
            <a:ext cx="8138160" cy="481486"/>
          </a:xfrm>
          <a:prstGeom prst="rect">
            <a:avLst/>
          </a:prstGeom>
          <a:noFill/>
          <a:ln/>
        </p:spPr>
        <p:txBody>
          <a:bodyPr wrap="square" lIns="0" tIns="0" rIns="0" bIns="0" rtlCol="0" anchor="t"/>
          <a:lstStyle/>
          <a:p>
            <a:pPr indent="0" marL="0">
              <a:lnSpc>
                <a:spcPct val="128000"/>
              </a:lnSpc>
              <a:buNone/>
            </a:pPr>
            <a:r>
              <a:rPr lang="en-US" sz="1250" dirty="0">
                <a:solidFill>
                  <a:srgbClr val="5F7183"/>
                </a:solidFill>
                <a:latin typeface="Arial" pitchFamily="34" charset="0"/>
                <a:ea typeface="Arial" pitchFamily="34" charset="-122"/>
                <a:cs typeface="Arial" pitchFamily="34" charset="-120"/>
              </a:rPr>
              <a:t>Nghĩa là dùng bình thường, nhìn thẳng vào nó cũng không hại mắt.</a:t>
            </a:r>
            <a:endParaRPr lang="en-US" sz="1250" dirty="0"/>
          </a:p>
          <a:p>
            <a:pPr indent="0" marL="0">
              <a:lnSpc>
                <a:spcPct val="128000"/>
              </a:lnSpc>
              <a:buNone/>
            </a:pPr>
            <a:r>
              <a:rPr lang="en-US" sz="1150" dirty="0">
                <a:solidFill>
                  <a:srgbClr val="5F7183"/>
                </a:solidFill>
                <a:latin typeface="微軟正黑體" pitchFamily="34" charset="0"/>
                <a:ea typeface="微軟正黑體" pitchFamily="34" charset="-122"/>
                <a:cs typeface="微軟正黑體" pitchFamily="34" charset="-120"/>
              </a:rPr>
              <a:t>意思是在正常使用的情況下，就算直視它也不會傷到眼睛。</a:t>
            </a:r>
            <a:endParaRPr lang="en-US" sz="1250" dirty="0"/>
          </a:p>
        </p:txBody>
      </p:sp>
      <p:sp>
        <p:nvSpPr>
          <p:cNvPr id="5" name="Shape 3"/>
          <p:cNvSpPr/>
          <p:nvPr/>
        </p:nvSpPr>
        <p:spPr>
          <a:xfrm>
            <a:off x="502920" y="2615184"/>
            <a:ext cx="8138160" cy="1261872"/>
          </a:xfrm>
          <a:prstGeom prst="roundRect">
            <a:avLst>
              <a:gd name="adj" fmla="val 6522"/>
            </a:avLst>
          </a:prstGeom>
          <a:solidFill>
            <a:srgbClr val="FFFFFF"/>
          </a:solidFill>
          <a:ln w="12700">
            <a:solidFill>
              <a:srgbClr val="DBE3EA"/>
            </a:solidFill>
            <a:prstDash val="solid"/>
          </a:ln>
        </p:spPr>
      </p:sp>
      <p:pic>
        <p:nvPicPr>
          <p:cNvPr id="6" name="Image 0" descr="/Users/tsengchenghsun/Class/carClass/Claude outputs/第五週(10-8)/src/img/w5_os1_laser.png">    </p:cNvPr>
          <p:cNvPicPr>
            <a:picLocks noChangeAspect="1"/>
          </p:cNvPicPr>
          <p:nvPr/>
        </p:nvPicPr>
        <p:blipFill>
          <a:blip r:embed="rId1"/>
          <a:stretch>
            <a:fillRect/>
          </a:stretch>
        </p:blipFill>
        <p:spPr>
          <a:xfrm>
            <a:off x="2607162" y="2706624"/>
            <a:ext cx="3929676" cy="914400"/>
          </a:xfrm>
          <a:prstGeom prst="rect">
            <a:avLst/>
          </a:prstGeom>
        </p:spPr>
      </p:pic>
      <p:sp>
        <p:nvSpPr>
          <p:cNvPr id="7" name="Text 4"/>
          <p:cNvSpPr txBox="1"/>
          <p:nvPr/>
        </p:nvSpPr>
        <p:spPr>
          <a:xfrm>
            <a:off x="576072" y="3657600"/>
            <a:ext cx="799185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Ouster OS1 datasheet, Rev7 / FW 3.2, p.2 · 節錄 · 讀取 2026/10/02</a:t>
            </a:r>
            <a:endParaRPr lang="en-US" sz="700" dirty="0"/>
          </a:p>
        </p:txBody>
      </p:sp>
      <p:sp>
        <p:nvSpPr>
          <p:cNvPr id="8" name="Shape 5"/>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9" name="Text 6"/>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Đây không phải quảng cáo — đây là điều kiện để được bán.</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這不是廣告詞，這是能不能賣的門檻。</a:t>
            </a:r>
            <a:endParaRPr lang="en-US" sz="1250" dirty="0"/>
          </a:p>
        </p:txBody>
      </p:sp>
      <p:pic>
        <p:nvPicPr>
          <p:cNvPr id="11" name="Image 1" descr="/Users/tsengchenghsun/Class/carClass/Claude outputs/第五週(10-8)/src/logo.png">    </p:cNvPr>
          <p:cNvPicPr>
            <a:picLocks noChangeAspect="1"/>
          </p:cNvPicPr>
          <p:nvPr/>
        </p:nvPicPr>
        <p:blipFill>
          <a:blip r:embed="rId2"/>
          <a:stretch>
            <a:fillRect/>
          </a:stretch>
        </p:blipFill>
        <p:spPr>
          <a:xfrm>
            <a:off x="7882128" y="109728"/>
            <a:ext cx="1097280" cy="242439"/>
          </a:xfrm>
          <a:prstGeom prst="rect">
            <a:avLst/>
          </a:prstGeom>
        </p:spPr>
      </p:pic>
      <p:sp>
        <p:nvSpPr>
          <p:cNvPr id="12" name="Text 7"/>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8 / 15</a:t>
            </a:r>
            <a:endParaRPr lang="en-US" sz="900" dirty="0"/>
          </a:p>
        </p:txBody>
      </p:sp>
      <p:sp>
        <p:nvSpPr>
          <p:cNvPr id="13" name="Text 8"/>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Số lần phản hồi · 回波次數</a:t>
            </a:r>
            <a:endParaRPr lang="en-US" sz="1250" dirty="0"/>
          </a:p>
        </p:txBody>
      </p:sp>
      <p:sp>
        <p:nvSpPr>
          <p:cNvPr id="3" name="Text 1"/>
          <p:cNvSpPr txBox="1"/>
          <p:nvPr/>
        </p:nvSpPr>
        <p:spPr>
          <a:xfrm>
            <a:off x="502920" y="1275342"/>
            <a:ext cx="8138160" cy="563762"/>
          </a:xfrm>
          <a:prstGeom prst="rect">
            <a:avLst/>
          </a:prstGeom>
          <a:noFill/>
          <a:ln/>
        </p:spPr>
        <p:txBody>
          <a:bodyPr wrap="square" lIns="0" tIns="0" rIns="0" bIns="0" rtlCol="0" anchor="t"/>
          <a:lstStyle/>
          <a:p>
            <a:pPr indent="0" marL="0">
              <a:lnSpc>
                <a:spcPct val="120000"/>
              </a:lnSpc>
              <a:buNone/>
            </a:pPr>
            <a:r>
              <a:rPr lang="en-US" sz="1900" b="1" dirty="0">
                <a:solidFill>
                  <a:srgbClr val="0B1F3A"/>
                </a:solidFill>
                <a:latin typeface="Arial" pitchFamily="34" charset="0"/>
                <a:ea typeface="Arial" pitchFamily="34" charset="-122"/>
                <a:cs typeface="Arial" pitchFamily="34" charset="-120"/>
              </a:rPr>
              <a:t>«up to 2 returns»: một tia bắn ra có thể vọng về hai lần</a:t>
            </a:r>
            <a:endParaRPr lang="en-US" sz="1900" dirty="0"/>
          </a:p>
          <a:p>
            <a:pPr indent="0" marL="0">
              <a:lnSpc>
                <a:spcPct val="120000"/>
              </a:lnSpc>
              <a:buNone/>
            </a:pPr>
            <a:r>
              <a:rPr lang="en-US" sz="1200" dirty="0">
                <a:solidFill>
                  <a:srgbClr val="007F72"/>
                </a:solidFill>
                <a:latin typeface="微軟正黑體" pitchFamily="34" charset="0"/>
                <a:ea typeface="微軟正黑體" pitchFamily="34" charset="-122"/>
                <a:cs typeface="微軟正黑體" pitchFamily="34" charset="-120"/>
              </a:rPr>
              <a:t>「最多兩次回波」：一道雷射射出去，可能彈回來兩次</a:t>
            </a:r>
            <a:endParaRPr lang="en-US" sz="1900" dirty="0"/>
          </a:p>
        </p:txBody>
      </p:sp>
      <p:sp>
        <p:nvSpPr>
          <p:cNvPr id="4" name="Text 2"/>
          <p:cNvSpPr txBox="1"/>
          <p:nvPr/>
        </p:nvSpPr>
        <p:spPr>
          <a:xfrm>
            <a:off x="502920" y="1930544"/>
            <a:ext cx="8138160" cy="684636"/>
          </a:xfrm>
          <a:prstGeom prst="rect">
            <a:avLst/>
          </a:prstGeom>
          <a:noFill/>
          <a:ln/>
        </p:spPr>
        <p:txBody>
          <a:bodyPr wrap="square" lIns="0" tIns="0" rIns="0" bIns="0" rtlCol="0" anchor="t"/>
          <a:lstStyle/>
          <a:p>
            <a:pPr indent="0" marL="0">
              <a:lnSpc>
                <a:spcPct val="128000"/>
              </a:lnSpc>
              <a:buNone/>
            </a:pPr>
            <a:r>
              <a:rPr lang="en-US" sz="1250" dirty="0">
                <a:solidFill>
                  <a:srgbClr val="5F7183"/>
                </a:solidFill>
                <a:latin typeface="Arial" pitchFamily="34" charset="0"/>
                <a:ea typeface="Arial" pitchFamily="34" charset="-122"/>
                <a:cs typeface="Arial" pitchFamily="34" charset="-120"/>
              </a:rPr>
              <a:t>Tia xuyên mưa, lá cây, khói bụi rồi mới chạm vật thật. Chỉ nhận một lần vọng thì hạt mưa thành vật cản.</a:t>
            </a:r>
            <a:endParaRPr lang="en-US" sz="1250" dirty="0"/>
          </a:p>
          <a:p>
            <a:pPr indent="0" marL="0">
              <a:lnSpc>
                <a:spcPct val="128000"/>
              </a:lnSpc>
              <a:buNone/>
            </a:pPr>
            <a:r>
              <a:rPr lang="en-US" sz="1150" dirty="0">
                <a:solidFill>
                  <a:srgbClr val="5F7183"/>
                </a:solidFill>
                <a:latin typeface="微軟正黑體" pitchFamily="34" charset="0"/>
                <a:ea typeface="微軟正黑體" pitchFamily="34" charset="-122"/>
                <a:cs typeface="微軟正黑體" pitchFamily="34" charset="-120"/>
              </a:rPr>
              <a:t>雷射穿過雨幕、樹葉、煙塵才打到真正的東西。只收第一次回波，就可能把雨滴當成障礙物。</a:t>
            </a:r>
            <a:endParaRPr lang="en-US" sz="1250" dirty="0"/>
          </a:p>
        </p:txBody>
      </p:sp>
      <p:sp>
        <p:nvSpPr>
          <p:cNvPr id="5" name="Shape 3"/>
          <p:cNvSpPr/>
          <p:nvPr/>
        </p:nvSpPr>
        <p:spPr>
          <a:xfrm>
            <a:off x="502920" y="3012698"/>
            <a:ext cx="8138160" cy="864358"/>
          </a:xfrm>
          <a:prstGeom prst="roundRect">
            <a:avLst>
              <a:gd name="adj" fmla="val 9521"/>
            </a:avLst>
          </a:prstGeom>
          <a:solidFill>
            <a:srgbClr val="FFFFFF"/>
          </a:solidFill>
          <a:ln w="12700">
            <a:solidFill>
              <a:srgbClr val="DBE3EA"/>
            </a:solidFill>
            <a:prstDash val="solid"/>
          </a:ln>
        </p:spPr>
      </p:sp>
      <p:pic>
        <p:nvPicPr>
          <p:cNvPr id="6" name="Image 0" descr="/Users/tsengchenghsun/Class/carClass/Claude outputs/第五週(10-8)/src/img/w5_os1_returns.png">    </p:cNvPr>
          <p:cNvPicPr>
            <a:picLocks noChangeAspect="1"/>
          </p:cNvPicPr>
          <p:nvPr/>
        </p:nvPicPr>
        <p:blipFill>
          <a:blip r:embed="rId1"/>
          <a:stretch>
            <a:fillRect/>
          </a:stretch>
        </p:blipFill>
        <p:spPr>
          <a:xfrm>
            <a:off x="576072" y="3104138"/>
            <a:ext cx="7991856" cy="516886"/>
          </a:xfrm>
          <a:prstGeom prst="rect">
            <a:avLst/>
          </a:prstGeom>
        </p:spPr>
      </p:pic>
      <p:sp>
        <p:nvSpPr>
          <p:cNvPr id="7" name="Text 4"/>
          <p:cNvSpPr txBox="1"/>
          <p:nvPr/>
        </p:nvSpPr>
        <p:spPr>
          <a:xfrm>
            <a:off x="576072" y="3657600"/>
            <a:ext cx="799185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Ouster OS1 datasheet, Rev7 / FW 3.2, p.1 · 節錄 · 讀取 2026/10/02</a:t>
            </a:r>
            <a:endParaRPr lang="en-US" sz="700" dirty="0"/>
          </a:p>
        </p:txBody>
      </p:sp>
      <p:sp>
        <p:nvSpPr>
          <p:cNvPr id="8" name="Shape 5"/>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9" name="Text 6"/>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Tuần 3 ta nói «tuyết bay cũng phản xạ» — dòng này chính là cách chữa.</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第三週講過「飄著的雪也會反射」——這一行就是解法。</a:t>
            </a:r>
            <a:endParaRPr lang="en-US" sz="1250" dirty="0"/>
          </a:p>
        </p:txBody>
      </p:sp>
      <p:pic>
        <p:nvPicPr>
          <p:cNvPr id="11" name="Image 1" descr="/Users/tsengchenghsun/Class/carClass/Claude outputs/第五週(10-8)/src/logo.png">    </p:cNvPr>
          <p:cNvPicPr>
            <a:picLocks noChangeAspect="1"/>
          </p:cNvPicPr>
          <p:nvPr/>
        </p:nvPicPr>
        <p:blipFill>
          <a:blip r:embed="rId2"/>
          <a:stretch>
            <a:fillRect/>
          </a:stretch>
        </p:blipFill>
        <p:spPr>
          <a:xfrm>
            <a:off x="7882128" y="109728"/>
            <a:ext cx="1097280" cy="242439"/>
          </a:xfrm>
          <a:prstGeom prst="rect">
            <a:avLst/>
          </a:prstGeom>
        </p:spPr>
      </p:pic>
      <p:sp>
        <p:nvSpPr>
          <p:cNvPr id="12" name="Text 7"/>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9 / 15</a:t>
            </a:r>
            <a:endParaRPr lang="en-US" sz="900" dirty="0"/>
          </a:p>
        </p:txBody>
      </p:sp>
      <p:sp>
        <p:nvSpPr>
          <p:cNvPr id="13" name="Text 8"/>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0" cy="0"/>
        </a:xfrm>
      </p:grpSpPr>
      <p:sp>
        <p:nvSpPr>
          <p:cNvPr id="2" name="Text 0"/>
          <p:cNvSpPr txBox="1"/>
          <p:nvPr/>
        </p:nvSpPr>
        <p:spPr>
          <a:xfrm>
            <a:off x="502920" y="292608"/>
            <a:ext cx="8138160" cy="841248"/>
          </a:xfrm>
          <a:prstGeom prst="rect">
            <a:avLst/>
          </a:prstGeom>
          <a:noFill/>
          <a:ln/>
        </p:spPr>
        <p:txBody>
          <a:bodyPr wrap="square" lIns="0" tIns="0" rIns="0" bIns="0" rtlCol="0" anchor="t"/>
          <a:lstStyle/>
          <a:p>
            <a:pPr indent="0" marL="0">
              <a:lnSpc>
                <a:spcPct val="116000"/>
              </a:lnSpc>
              <a:buNone/>
            </a:pPr>
            <a:r>
              <a:rPr lang="en-US" sz="2200" b="1" dirty="0">
                <a:solidFill>
                  <a:srgbClr val="0B1F3A"/>
                </a:solidFill>
                <a:latin typeface="Arial" pitchFamily="34" charset="0"/>
                <a:ea typeface="Arial" pitchFamily="34" charset="-122"/>
                <a:cs typeface="Arial" pitchFamily="34" charset="-120"/>
              </a:rPr>
              <a:t>Mặt gương: thứ khó nhất với lidar</a:t>
            </a:r>
            <a:endParaRPr lang="en-US" sz="2200" dirty="0"/>
          </a:p>
          <a:p>
            <a:pPr indent="0" marL="0">
              <a:lnSpc>
                <a:spcPct val="116000"/>
              </a:lnSpc>
              <a:buNone/>
            </a:pPr>
            <a:r>
              <a:rPr lang="en-US" sz="1350" dirty="0">
                <a:solidFill>
                  <a:srgbClr val="5F7183"/>
                </a:solidFill>
                <a:latin typeface="微軟正黑體" pitchFamily="34" charset="0"/>
                <a:ea typeface="微軟正黑體" pitchFamily="34" charset="-122"/>
                <a:cs typeface="微軟正黑體" pitchFamily="34" charset="-120"/>
              </a:rPr>
              <a:t>鏡面：光達最難處理的一種表面</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133856"/>
          <a:ext cx="8138160" cy="914400"/>
        </p:xfrm>
        <a:graphic>
          <a:graphicData uri="http://schemas.openxmlformats.org/drawingml/2006/table">
            <a:tbl>
              <a:tblPr/>
              <a:tblGrid>
                <a:gridCol w="2712720"/>
                <a:gridCol w="2712720"/>
                <a:gridCol w="2712720"/>
              </a:tblGrid>
              <a:tr h="347472">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Gương làm gì</a:t>
                      </a:r>
                      <a:endParaRPr lang="en-US" sz="1200" dirty="0"/>
                    </a:p>
                    <a:p>
                      <a:pPr algn="l" indent="0" marL="0">
                        <a:buNone/>
                      </a:pPr>
                      <a:r>
                        <a:rPr lang="en-US" sz="900" dirty="0">
                          <a:solidFill>
                            <a:srgbClr val="CFE0EC"/>
                          </a:solidFill>
                          <a:latin typeface="微軟正黑體" pitchFamily="34" charset="0"/>
                          <a:ea typeface="微軟正黑體" pitchFamily="34" charset="-122"/>
                          <a:cs typeface="微軟正黑體" pitchFamily="34" charset="-120"/>
                        </a:rPr>
                        <a:t>鏡面做了什麼</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Thấy gì trên point cloud</a:t>
                      </a:r>
                      <a:endParaRPr lang="en-US" sz="1200" dirty="0"/>
                    </a:p>
                    <a:p>
                      <a:pPr algn="l" indent="0" marL="0">
                        <a:buNone/>
                      </a:pPr>
                      <a:r>
                        <a:rPr lang="en-US" sz="900" dirty="0">
                          <a:solidFill>
                            <a:srgbClr val="CFE0EC"/>
                          </a:solidFill>
                          <a:latin typeface="微軟正黑體" pitchFamily="34" charset="0"/>
                          <a:ea typeface="微軟正黑體" pitchFamily="34" charset="-122"/>
                          <a:cs typeface="微軟正黑體" pitchFamily="34" charset="-120"/>
                        </a:rPr>
                        <a:t>點雲上看到什麼</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Hiện xử lý thế nào</a:t>
                      </a:r>
                      <a:endParaRPr lang="en-US" sz="1200" dirty="0"/>
                    </a:p>
                    <a:p>
                      <a:pPr algn="l" indent="0" marL="0">
                        <a:buNone/>
                      </a:pPr>
                      <a:r>
                        <a:rPr lang="en-US" sz="900" dirty="0">
                          <a:solidFill>
                            <a:srgbClr val="CFE0EC"/>
                          </a:solidFill>
                          <a:latin typeface="微軟正黑體" pitchFamily="34" charset="0"/>
                          <a:ea typeface="微軟正黑體" pitchFamily="34" charset="-122"/>
                          <a:cs typeface="微軟正黑體" pitchFamily="34" charset="-120"/>
                        </a:rPr>
                        <a:t>目前怎麼處理</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solidFill>
                      <a:srgbClr val="0B1F3A"/>
                    </a:solidFill>
                  </a:tcPr>
                </a:tc>
              </a:tr>
              <a:tr h="347472">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Hắt cả chùm đi, không về</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整束反射走，一點都不回來</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Thành lỗ: kính toà nhà, cản mạ crôm, đường ướt</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那一塊變成洞：玻璃帷幕、鍍鉻保險桿、濕路面</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Radar bù: sóng mm gặp gương khác hẳn</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靠雷達補：毫米波碰鏡面的行為不一樣</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47472">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Dội sang vật bên cạnh rồi mới về</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先彈到旁邊的東西，再原路回來</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Mọc ra xe không tồn tại ở phía sau gương (ghost point)</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鏡子後面長出不存在的車（鬼點）</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Nhiều lần phản hồi + lọc thời gian: ghost không ổn định</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多次回波＋時間比對：鬼點不會穩定移動</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r h="347472">
                <a:tc>
                  <a:txBody>
                    <a:bodyPr/>
                    <a:lstStyle/>
                    <a:p>
                      <a:pPr algn="l" indent="0" marL="0">
                        <a:buNone/>
                      </a:pPr>
                      <a:r>
                        <a:rPr lang="en-US" sz="1050" b="1" dirty="0">
                          <a:solidFill>
                            <a:srgbClr val="0B1F3A"/>
                          </a:solidFill>
                          <a:latin typeface="Arial" pitchFamily="34" charset="0"/>
                          <a:ea typeface="Arial" pitchFamily="34" charset="-122"/>
                          <a:cs typeface="Arial" pitchFamily="34" charset="-120"/>
                        </a:rPr>
                        <a:t>Phản xạ ngược (áo phản quang, biển báo)</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回歸反射（反光背心、路牌）</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Sáng quá mức, thành một quầng sáng</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亮到爆表，變成一團光暈</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c>
                  <a:txBody>
                    <a:bodyPr/>
                    <a:lstStyle/>
                    <a:p>
                      <a:pPr algn="l" indent="0" marL="0">
                        <a:buNone/>
                      </a:pPr>
                      <a:r>
                        <a:rPr lang="en-US" sz="1050" dirty="0">
                          <a:solidFill>
                            <a:srgbClr val="1A2733"/>
                          </a:solidFill>
                          <a:latin typeface="Arial" pitchFamily="34" charset="0"/>
                          <a:ea typeface="Arial" pitchFamily="34" charset="-122"/>
                          <a:cs typeface="Arial" pitchFamily="34" charset="-120"/>
                        </a:rPr>
                        <a:t>Xem cường độ: phân bố khác hẳn</a:t>
                      </a:r>
                      <a:endParaRPr lang="en-US" sz="1200" dirty="0"/>
                    </a:p>
                    <a:p>
                      <a:pPr algn="l" indent="0" marL="0">
                        <a:buNone/>
                      </a:pPr>
                      <a:r>
                        <a:rPr lang="en-US" sz="900" dirty="0">
                          <a:solidFill>
                            <a:srgbClr val="5F7183"/>
                          </a:solidFill>
                          <a:latin typeface="微軟正黑體" pitchFamily="34" charset="0"/>
                          <a:ea typeface="微軟正黑體" pitchFamily="34" charset="-122"/>
                          <a:cs typeface="微軟正黑體" pitchFamily="34" charset="-120"/>
                        </a:rPr>
                        <a:t>看反射強度：分布和漫反射差很多</a:t>
                      </a:r>
                      <a:endParaRPr lang="en-US" sz="1200" dirty="0"/>
                    </a:p>
                  </a:txBody>
                  <a:tcPr marL="63500" marR="63500" marT="38100" marB="38100" anchor="ctr">
                    <a:lnL w="6350" cap="flat" cmpd="sng" algn="ctr">
                      <a:solidFill>
                        <a:srgbClr val="DBE3EA"/>
                      </a:solidFill>
                      <a:prstDash val="solid"/>
                      <a:round/>
                      <a:headEnd type="none" w="med" len="med"/>
                      <a:tailEnd type="none" w="med" len="med"/>
                    </a:lnL>
                    <a:lnR w="6350" cap="flat" cmpd="sng" algn="ctr">
                      <a:solidFill>
                        <a:srgbClr val="DBE3EA"/>
                      </a:solidFill>
                      <a:prstDash val="solid"/>
                      <a:round/>
                      <a:headEnd type="none" w="med" len="med"/>
                      <a:tailEnd type="none" w="med" len="med"/>
                    </a:lnR>
                    <a:lnT w="6350" cap="flat" cmpd="sng" algn="ctr">
                      <a:solidFill>
                        <a:srgbClr val="DBE3EA"/>
                      </a:solidFill>
                      <a:prstDash val="solid"/>
                      <a:round/>
                      <a:headEnd type="none" w="med" len="med"/>
                      <a:tailEnd type="none" w="med" len="med"/>
                    </a:lnT>
                    <a:lnB w="6350" cap="flat" cmpd="sng" algn="ctr">
                      <a:solidFill>
                        <a:srgbClr val="DBE3EA"/>
                      </a:solidFill>
                      <a:prstDash val="solid"/>
                      <a:round/>
                      <a:headEnd type="none" w="med" len="med"/>
                      <a:tailEnd type="none" w="med" len="med"/>
                    </a:lnB>
                  </a:tcPr>
                </a:tc>
              </a:tr>
            </a:tbl>
          </a:graphicData>
        </a:graphic>
      </p:graphicFrame>
      <p:sp>
        <p:nvSpPr>
          <p:cNvPr id="4" name="Text 1"/>
          <p:cNvSpPr txBox="1"/>
          <p:nvPr/>
        </p:nvSpPr>
        <p:spPr>
          <a:xfrm>
            <a:off x="502920" y="3490659"/>
            <a:ext cx="8138160" cy="457200"/>
          </a:xfrm>
          <a:prstGeom prst="rect">
            <a:avLst/>
          </a:prstGeom>
          <a:noFill/>
          <a:ln/>
        </p:spPr>
        <p:txBody>
          <a:bodyPr wrap="square" lIns="0" tIns="0" rIns="0" bIns="0" rtlCol="0" anchor="t"/>
          <a:lstStyle/>
          <a:p>
            <a:pPr indent="0" marL="0">
              <a:lnSpc>
                <a:spcPct val="116000"/>
              </a:lnSpc>
              <a:buNone/>
            </a:pPr>
            <a:r>
              <a:rPr lang="en-US" sz="1200" b="1" dirty="0">
                <a:solidFill>
                  <a:srgbClr val="007F72"/>
                </a:solidFill>
                <a:latin typeface="Arial" pitchFamily="34" charset="0"/>
                <a:ea typeface="Arial" pitchFamily="34" charset="-122"/>
                <a:cs typeface="Arial" pitchFamily="34" charset="-120"/>
              </a:rPr>
              <a:t>Không chiêu nào chặn được hết. Cách thật là ghép một tổ cảm biến yếu ở chỗ khác nhau.</a:t>
            </a:r>
            <a:endParaRPr lang="en-US" sz="1200" dirty="0"/>
          </a:p>
          <a:p>
            <a:pPr indent="0" marL="0">
              <a:lnSpc>
                <a:spcPct val="116000"/>
              </a:lnSpc>
              <a:buNone/>
            </a:pPr>
            <a:r>
              <a:rPr lang="en-US" sz="1100" dirty="0">
                <a:solidFill>
                  <a:srgbClr val="007F72"/>
                </a:solidFill>
                <a:latin typeface="微軟正黑體" pitchFamily="34" charset="0"/>
                <a:ea typeface="微軟正黑體" pitchFamily="34" charset="-122"/>
                <a:cs typeface="微軟正黑體" pitchFamily="34" charset="-120"/>
              </a:rPr>
              <a:t>沒有一招擋得住全部。真正的解法是湊一組「弱點不一樣」的感測器。</a:t>
            </a:r>
            <a:endParaRPr lang="en-US" sz="1200" dirty="0"/>
          </a:p>
        </p:txBody>
      </p:sp>
      <p:pic>
        <p:nvPicPr>
          <p:cNvPr id="6" name="Image 0" descr="/Users/tsengchenghsun/Class/carClass/Claude outputs/第五週(10-8)/src/logo.png">    </p:cNvPr>
          <p:cNvPicPr>
            <a:picLocks noChangeAspect="1"/>
          </p:cNvPicPr>
          <p:nvPr/>
        </p:nvPicPr>
        <p:blipFill>
          <a:blip r:embed="rId1"/>
          <a:stretch>
            <a:fillRect/>
          </a:stretch>
        </p:blipFill>
        <p:spPr>
          <a:xfrm>
            <a:off x="7882128" y="109728"/>
            <a:ext cx="1097280" cy="242439"/>
          </a:xfrm>
          <a:prstGeom prst="rect">
            <a:avLst/>
          </a:prstGeom>
        </p:spPr>
      </p:pic>
      <p:sp>
        <p:nvSpPr>
          <p:cNvPr id="7" name="Text 2"/>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10 / 15</a:t>
            </a:r>
            <a:endParaRPr lang="en-US" sz="900" dirty="0"/>
          </a:p>
        </p:txBody>
      </p:sp>
      <p:sp>
        <p:nvSpPr>
          <p:cNvPr id="8" name="Text 3"/>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475488"/>
            <a:ext cx="6766560" cy="274320"/>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Thử nhanh · 小練習（3 分鐘動手）</a:t>
            </a:r>
            <a:endParaRPr lang="en-US" sz="1250" dirty="0"/>
          </a:p>
        </p:txBody>
      </p:sp>
      <p:sp>
        <p:nvSpPr>
          <p:cNvPr id="5" name="Text 3"/>
          <p:cNvSpPr txBox="1"/>
          <p:nvPr/>
        </p:nvSpPr>
        <p:spPr>
          <a:xfrm>
            <a:off x="502920" y="786384"/>
            <a:ext cx="8046720" cy="1225296"/>
          </a:xfrm>
          <a:prstGeom prst="rect">
            <a:avLst/>
          </a:prstGeom>
          <a:noFill/>
          <a:ln/>
        </p:spPr>
        <p:txBody>
          <a:bodyPr wrap="square" lIns="0" tIns="0" rIns="0" bIns="0" rtlCol="0" anchor="t"/>
          <a:lstStyle/>
          <a:p>
            <a:pPr indent="0" marL="0">
              <a:lnSpc>
                <a:spcPct val="120000"/>
              </a:lnSpc>
              <a:buNone/>
            </a:pPr>
            <a:r>
              <a:rPr lang="en-US" sz="2300" b="1" dirty="0">
                <a:solidFill>
                  <a:srgbClr val="FFFFFF"/>
                </a:solidFill>
                <a:latin typeface="Arial" pitchFamily="34" charset="0"/>
                <a:ea typeface="Arial" pitchFamily="34" charset="-122"/>
                <a:cs typeface="Arial" pitchFamily="34" charset="-120"/>
              </a:rPr>
              <a:t>Mở công cụ, dùng công cụ nhỏ số ② để đổi «điểm mỗi giây» thành góc.</a:t>
            </a:r>
            <a:endParaRPr lang="en-US" sz="2300" dirty="0"/>
          </a:p>
          <a:p>
            <a:pPr indent="0" marL="0">
              <a:lnSpc>
                <a:spcPct val="120000"/>
              </a:lnSpc>
              <a:buNone/>
            </a:pPr>
            <a:r>
              <a:rPr lang="en-US" sz="1500" dirty="0">
                <a:solidFill>
                  <a:srgbClr val="AFC3D4"/>
                </a:solidFill>
                <a:latin typeface="微軟正黑體" pitchFamily="34" charset="0"/>
                <a:ea typeface="微軟正黑體" pitchFamily="34" charset="-122"/>
                <a:cs typeface="微軟正黑體" pitchFamily="34" charset="-120"/>
              </a:rPr>
              <a:t>打開工具，用第②個小工具，把「每秒幾點」換算成角度。</a:t>
            </a:r>
            <a:endParaRPr lang="en-US" sz="2300" dirty="0"/>
          </a:p>
        </p:txBody>
      </p:sp>
      <p:sp>
        <p:nvSpPr>
          <p:cNvPr id="6" name="Shape 4"/>
          <p:cNvSpPr/>
          <p:nvPr/>
        </p:nvSpPr>
        <p:spPr>
          <a:xfrm>
            <a:off x="502920" y="1880384"/>
            <a:ext cx="8138160" cy="621792"/>
          </a:xfrm>
          <a:prstGeom prst="roundRect">
            <a:avLst>
              <a:gd name="adj" fmla="val 11765"/>
            </a:avLst>
          </a:prstGeom>
          <a:solidFill>
            <a:srgbClr val="13314F"/>
          </a:solidFill>
          <a:ln/>
        </p:spPr>
      </p:sp>
      <p:sp>
        <p:nvSpPr>
          <p:cNvPr id="7" name="Shape 5"/>
          <p:cNvSpPr/>
          <p:nvPr/>
        </p:nvSpPr>
        <p:spPr>
          <a:xfrm>
            <a:off x="667512" y="2026688"/>
            <a:ext cx="329184" cy="329184"/>
          </a:xfrm>
          <a:prstGeom prst="ellipse">
            <a:avLst/>
          </a:prstGeom>
          <a:solidFill>
            <a:srgbClr val="00A896"/>
          </a:solidFill>
          <a:ln/>
        </p:spPr>
      </p:sp>
      <p:sp>
        <p:nvSpPr>
          <p:cNvPr id="8" name="Text 6"/>
          <p:cNvSpPr txBox="1"/>
          <p:nvPr/>
        </p:nvSpPr>
        <p:spPr>
          <a:xfrm>
            <a:off x="667512" y="2054120"/>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161288" y="1926104"/>
            <a:ext cx="7296912" cy="548640"/>
          </a:xfrm>
          <a:prstGeom prst="rect">
            <a:avLst/>
          </a:prstGeom>
          <a:noFill/>
          <a:ln/>
        </p:spPr>
        <p:txBody>
          <a:bodyPr wrap="square" lIns="0" tIns="0" rIns="0" bIns="0" rtlCol="0" anchor="t"/>
          <a:lstStyle/>
          <a:p>
            <a:pPr indent="0" marL="0">
              <a:lnSpc>
                <a:spcPct val="114000"/>
              </a:lnSpc>
              <a:buNone/>
            </a:pPr>
            <a:r>
              <a:rPr lang="en-US" sz="1250" b="1" dirty="0">
                <a:solidFill>
                  <a:srgbClr val="FFFFFF"/>
                </a:solidFill>
                <a:latin typeface="Arial" pitchFamily="34" charset="0"/>
                <a:ea typeface="Arial" pitchFamily="34" charset="-122"/>
                <a:cs typeface="Arial" pitchFamily="34" charset="-120"/>
              </a:rPr>
              <a:t>Đặt 64 kênh, 1024 điểm mỗi vòng, 10 Hz — số điểm mỗi giây là bao nhiêu?</a:t>
            </a:r>
            <a:endParaRPr lang="en-US" sz="1250" dirty="0"/>
          </a:p>
          <a:p>
            <a:pPr indent="0" marL="0">
              <a:lnSpc>
                <a:spcPct val="114000"/>
              </a:lnSpc>
              <a:buNone/>
            </a:pPr>
            <a:r>
              <a:rPr lang="en-US" sz="1150" dirty="0">
                <a:solidFill>
                  <a:srgbClr val="AFC3D4"/>
                </a:solidFill>
                <a:latin typeface="微軟正黑體" pitchFamily="34" charset="0"/>
                <a:ea typeface="微軟正黑體" pitchFamily="34" charset="-122"/>
                <a:cs typeface="微軟正黑體" pitchFamily="34" charset="-120"/>
              </a:rPr>
              <a:t>設成 64 線、每圈 1024 點、10 Hz——每秒點數是多少？</a:t>
            </a:r>
            <a:endParaRPr lang="en-US" sz="1250" dirty="0"/>
          </a:p>
        </p:txBody>
      </p:sp>
      <p:sp>
        <p:nvSpPr>
          <p:cNvPr id="10" name="Shape 8"/>
          <p:cNvSpPr/>
          <p:nvPr/>
        </p:nvSpPr>
        <p:spPr>
          <a:xfrm>
            <a:off x="502920" y="2593616"/>
            <a:ext cx="8138160" cy="621792"/>
          </a:xfrm>
          <a:prstGeom prst="roundRect">
            <a:avLst>
              <a:gd name="adj" fmla="val 11765"/>
            </a:avLst>
          </a:prstGeom>
          <a:solidFill>
            <a:srgbClr val="13314F"/>
          </a:solidFill>
          <a:ln/>
        </p:spPr>
      </p:sp>
      <p:sp>
        <p:nvSpPr>
          <p:cNvPr id="11" name="Shape 9"/>
          <p:cNvSpPr/>
          <p:nvPr/>
        </p:nvSpPr>
        <p:spPr>
          <a:xfrm>
            <a:off x="667512" y="2739920"/>
            <a:ext cx="329184" cy="329184"/>
          </a:xfrm>
          <a:prstGeom prst="ellipse">
            <a:avLst/>
          </a:prstGeom>
          <a:solidFill>
            <a:srgbClr val="00A896"/>
          </a:solidFill>
          <a:ln/>
        </p:spPr>
      </p:sp>
      <p:sp>
        <p:nvSpPr>
          <p:cNvPr id="12" name="Text 10"/>
          <p:cNvSpPr txBox="1"/>
          <p:nvPr/>
        </p:nvSpPr>
        <p:spPr>
          <a:xfrm>
            <a:off x="667512" y="2767352"/>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161288" y="2639336"/>
            <a:ext cx="7296912" cy="548640"/>
          </a:xfrm>
          <a:prstGeom prst="rect">
            <a:avLst/>
          </a:prstGeom>
          <a:noFill/>
          <a:ln/>
        </p:spPr>
        <p:txBody>
          <a:bodyPr wrap="square" lIns="0" tIns="0" rIns="0" bIns="0" rtlCol="0" anchor="t"/>
          <a:lstStyle/>
          <a:p>
            <a:pPr indent="0" marL="0">
              <a:lnSpc>
                <a:spcPct val="114000"/>
              </a:lnSpc>
              <a:buNone/>
            </a:pPr>
            <a:r>
              <a:rPr lang="en-US" sz="1250" b="1" dirty="0">
                <a:solidFill>
                  <a:srgbClr val="FFFFFF"/>
                </a:solidFill>
                <a:latin typeface="Arial" pitchFamily="34" charset="0"/>
                <a:ea typeface="Arial" pitchFamily="34" charset="-122"/>
                <a:cs typeface="Arial" pitchFamily="34" charset="-120"/>
              </a:rPr>
              <a:t>Phân giải ngang lúc đó là bao nhiêu độ? Ở 40 m hai điểm cách nhau mấy centimet?</a:t>
            </a:r>
            <a:endParaRPr lang="en-US" sz="1250" dirty="0"/>
          </a:p>
          <a:p>
            <a:pPr indent="0" marL="0">
              <a:lnSpc>
                <a:spcPct val="114000"/>
              </a:lnSpc>
              <a:buNone/>
            </a:pPr>
            <a:r>
              <a:rPr lang="en-US" sz="1150" dirty="0">
                <a:solidFill>
                  <a:srgbClr val="AFC3D4"/>
                </a:solidFill>
                <a:latin typeface="微軟正黑體" pitchFamily="34" charset="0"/>
                <a:ea typeface="微軟正黑體" pitchFamily="34" charset="-122"/>
                <a:cs typeface="微軟正黑體" pitchFamily="34" charset="-120"/>
              </a:rPr>
              <a:t>這時候水平角解析度是幾度？40 公尺處兩個點相距幾公分？</a:t>
            </a:r>
            <a:endParaRPr lang="en-US" sz="1250" dirty="0"/>
          </a:p>
        </p:txBody>
      </p:sp>
      <p:sp>
        <p:nvSpPr>
          <p:cNvPr id="14" name="Shape 12"/>
          <p:cNvSpPr/>
          <p:nvPr/>
        </p:nvSpPr>
        <p:spPr>
          <a:xfrm>
            <a:off x="502920" y="3306848"/>
            <a:ext cx="8138160" cy="621792"/>
          </a:xfrm>
          <a:prstGeom prst="roundRect">
            <a:avLst>
              <a:gd name="adj" fmla="val 11765"/>
            </a:avLst>
          </a:prstGeom>
          <a:solidFill>
            <a:srgbClr val="13314F"/>
          </a:solidFill>
          <a:ln/>
        </p:spPr>
      </p:sp>
      <p:sp>
        <p:nvSpPr>
          <p:cNvPr id="15" name="Shape 13"/>
          <p:cNvSpPr/>
          <p:nvPr/>
        </p:nvSpPr>
        <p:spPr>
          <a:xfrm>
            <a:off x="667512" y="3453152"/>
            <a:ext cx="329184" cy="329184"/>
          </a:xfrm>
          <a:prstGeom prst="ellipse">
            <a:avLst/>
          </a:prstGeom>
          <a:solidFill>
            <a:srgbClr val="00A896"/>
          </a:solidFill>
          <a:ln/>
        </p:spPr>
      </p:sp>
      <p:sp>
        <p:nvSpPr>
          <p:cNvPr id="16" name="Text 14"/>
          <p:cNvSpPr txBox="1"/>
          <p:nvPr/>
        </p:nvSpPr>
        <p:spPr>
          <a:xfrm>
            <a:off x="667512" y="3480584"/>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161288" y="3352568"/>
            <a:ext cx="7296912" cy="548640"/>
          </a:xfrm>
          <a:prstGeom prst="rect">
            <a:avLst/>
          </a:prstGeom>
          <a:noFill/>
          <a:ln/>
        </p:spPr>
        <p:txBody>
          <a:bodyPr wrap="square" lIns="0" tIns="0" rIns="0" bIns="0" rtlCol="0" anchor="t"/>
          <a:lstStyle/>
          <a:p>
            <a:pPr indent="0" marL="0">
              <a:lnSpc>
                <a:spcPct val="114000"/>
              </a:lnSpc>
              <a:buNone/>
            </a:pPr>
            <a:r>
              <a:rPr lang="en-US" sz="1250" b="1" dirty="0">
                <a:solidFill>
                  <a:srgbClr val="FFFFFF"/>
                </a:solidFill>
                <a:latin typeface="Arial" pitchFamily="34" charset="0"/>
                <a:ea typeface="Arial" pitchFamily="34" charset="-122"/>
                <a:cs typeface="Arial" pitchFamily="34" charset="-120"/>
              </a:rPr>
              <a:t>Đổi sang 2048 điểm mỗi vòng: hai con số đó đổi thế nào?</a:t>
            </a:r>
            <a:endParaRPr lang="en-US" sz="1250" dirty="0"/>
          </a:p>
          <a:p>
            <a:pPr indent="0" marL="0">
              <a:lnSpc>
                <a:spcPct val="114000"/>
              </a:lnSpc>
              <a:buNone/>
            </a:pPr>
            <a:r>
              <a:rPr lang="en-US" sz="1150" dirty="0">
                <a:solidFill>
                  <a:srgbClr val="AFC3D4"/>
                </a:solidFill>
                <a:latin typeface="微軟正黑體" pitchFamily="34" charset="0"/>
                <a:ea typeface="微軟正黑體" pitchFamily="34" charset="-122"/>
                <a:cs typeface="微軟正黑體" pitchFamily="34" charset="-120"/>
              </a:rPr>
              <a:t>改成每圈 2048 點：這兩個數字怎麼變？</a:t>
            </a:r>
            <a:endParaRPr lang="en-US" sz="1250" dirty="0"/>
          </a:p>
        </p:txBody>
      </p:sp>
      <p:sp>
        <p:nvSpPr>
          <p:cNvPr id="18" name="Text 16"/>
          <p:cNvSpPr txBox="1"/>
          <p:nvPr/>
        </p:nvSpPr>
        <p:spPr>
          <a:xfrm>
            <a:off x="502920" y="4056656"/>
            <a:ext cx="8046720" cy="457200"/>
          </a:xfrm>
          <a:prstGeom prst="rect">
            <a:avLst/>
          </a:prstGeom>
          <a:noFill/>
          <a:ln/>
        </p:spPr>
        <p:txBody>
          <a:bodyPr wrap="square" lIns="0" tIns="0" rIns="0" bIns="0" rtlCol="0" anchor="t"/>
          <a:lstStyle/>
          <a:p>
            <a:pPr indent="0" marL="0">
              <a:lnSpc>
                <a:spcPct val="116000"/>
              </a:lnSpc>
              <a:buNone/>
            </a:pPr>
            <a:r>
              <a:rPr lang="en-US" sz="1250" b="1" dirty="0">
                <a:solidFill>
                  <a:srgbClr val="FFB020"/>
                </a:solidFill>
                <a:latin typeface="Arial" pitchFamily="34" charset="0"/>
                <a:ea typeface="Arial" pitchFamily="34" charset="-122"/>
                <a:cs typeface="Arial" pitchFamily="34" charset="-120"/>
              </a:rPr>
              <a:t>Datasheet hay chỉ ghi «điểm mỗi giây» — con số oai nhất, nhưng không dùng thẳng được.</a:t>
            </a:r>
            <a:endParaRPr lang="en-US" sz="1250" dirty="0"/>
          </a:p>
          <a:p>
            <a:pPr indent="0" marL="0">
              <a:lnSpc>
                <a:spcPct val="116000"/>
              </a:lnSpc>
              <a:buNone/>
            </a:pPr>
            <a:r>
              <a:rPr lang="en-US" sz="1150" dirty="0">
                <a:solidFill>
                  <a:srgbClr val="FFB020"/>
                </a:solidFill>
                <a:latin typeface="微軟正黑體" pitchFamily="34" charset="0"/>
                <a:ea typeface="微軟正黑體" pitchFamily="34" charset="-122"/>
                <a:cs typeface="微軟正黑體" pitchFamily="34" charset="-120"/>
              </a:rPr>
              <a:t>規格表常常只寫「每秒幾點」——那是最威風的數字，可是不能直接拿來用。</a:t>
            </a:r>
            <a:endParaRPr lang="en-US" sz="1250" dirty="0"/>
          </a:p>
        </p:txBody>
      </p:sp>
      <p:sp>
        <p:nvSpPr>
          <p:cNvPr id="20" name="Text 17"/>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11 / 15</a:t>
            </a:r>
            <a:endParaRPr lang="en-US" sz="900" dirty="0"/>
          </a:p>
        </p:txBody>
      </p:sp>
      <p:sp>
        <p:nvSpPr>
          <p:cNvPr id="21" name="Text 18"/>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1691640"/>
            <a:ext cx="4572000" cy="310896"/>
          </a:xfrm>
          <a:prstGeom prst="rect">
            <a:avLst/>
          </a:prstGeom>
          <a:noFill/>
          <a:ln/>
        </p:spPr>
        <p:txBody>
          <a:bodyPr wrap="square" lIns="0" tIns="0" rIns="0" bIns="0" rtlCol="0" anchor="ctr"/>
          <a:lstStyle/>
          <a:p>
            <a:pPr indent="0" marL="0">
              <a:buNone/>
            </a:pPr>
            <a:r>
              <a:rPr lang="en-US" sz="1350" b="1" dirty="0">
                <a:solidFill>
                  <a:srgbClr val="FFB020"/>
                </a:solidFill>
                <a:latin typeface="Arial" pitchFamily="34" charset="0"/>
                <a:ea typeface="Arial" pitchFamily="34" charset="-122"/>
                <a:cs typeface="Arial" pitchFamily="34" charset="-120"/>
              </a:rPr>
              <a:t>Phần 3 / 3</a:t>
            </a:r>
            <a:endParaRPr lang="en-US" sz="1350" dirty="0"/>
          </a:p>
        </p:txBody>
      </p:sp>
      <p:sp>
        <p:nvSpPr>
          <p:cNvPr id="5" name="Text 3"/>
          <p:cNvSpPr txBox="1"/>
          <p:nvPr/>
        </p:nvSpPr>
        <p:spPr>
          <a:xfrm>
            <a:off x="502920" y="2048256"/>
            <a:ext cx="7315200" cy="1188720"/>
          </a:xfrm>
          <a:prstGeom prst="rect">
            <a:avLst/>
          </a:prstGeom>
          <a:noFill/>
          <a:ln/>
        </p:spPr>
        <p:txBody>
          <a:bodyPr wrap="square" lIns="0" tIns="0" rIns="0" bIns="0" rtlCol="0" anchor="t"/>
          <a:lstStyle/>
          <a:p>
            <a:pPr indent="0" marL="0">
              <a:lnSpc>
                <a:spcPct val="118000"/>
              </a:lnSpc>
              <a:buNone/>
            </a:pPr>
            <a:r>
              <a:rPr lang="en-US" sz="2900" b="1" dirty="0">
                <a:solidFill>
                  <a:srgbClr val="FFFFFF"/>
                </a:solidFill>
                <a:latin typeface="Arial" pitchFamily="34" charset="0"/>
                <a:ea typeface="Arial" pitchFamily="34" charset="-122"/>
                <a:cs typeface="Arial" pitchFamily="34" charset="-120"/>
              </a:rPr>
              <a:t>Hai cảm biến tốt, ghép lại vẫn sai</a:t>
            </a:r>
            <a:endParaRPr lang="en-US" sz="2900" dirty="0"/>
          </a:p>
          <a:p>
            <a:pPr indent="0" marL="0">
              <a:lnSpc>
                <a:spcPct val="118000"/>
              </a:lnSpc>
              <a:buNone/>
            </a:pPr>
            <a:r>
              <a:rPr lang="en-US" sz="1700" dirty="0">
                <a:solidFill>
                  <a:srgbClr val="AFC3D4"/>
                </a:solidFill>
                <a:latin typeface="微軟正黑體" pitchFamily="34" charset="0"/>
                <a:ea typeface="微軟正黑體" pitchFamily="34" charset="-122"/>
                <a:cs typeface="微軟正黑體" pitchFamily="34" charset="-120"/>
              </a:rPr>
              <a:t>兩顆都是好的，合起來還是錯的</a:t>
            </a:r>
            <a:endParaRPr lang="en-US" sz="2900" dirty="0"/>
          </a:p>
        </p:txBody>
      </p:sp>
      <p:sp>
        <p:nvSpPr>
          <p:cNvPr id="6" name="Text 4"/>
          <p:cNvSpPr txBox="1"/>
          <p:nvPr/>
        </p:nvSpPr>
        <p:spPr>
          <a:xfrm>
            <a:off x="502920" y="3346704"/>
            <a:ext cx="7315200" cy="640080"/>
          </a:xfrm>
          <a:prstGeom prst="rect">
            <a:avLst/>
          </a:prstGeom>
          <a:noFill/>
          <a:ln/>
        </p:spPr>
        <p:txBody>
          <a:bodyPr wrap="square" lIns="0" tIns="0" rIns="0" bIns="0" rtlCol="0" anchor="t"/>
          <a:lstStyle/>
          <a:p>
            <a:pPr indent="0" marL="0">
              <a:lnSpc>
                <a:spcPct val="120000"/>
              </a:lnSpc>
              <a:buNone/>
            </a:pPr>
            <a:r>
              <a:rPr lang="en-US" sz="1350" dirty="0">
                <a:solidFill>
                  <a:srgbClr val="AFC3D4"/>
                </a:solidFill>
                <a:latin typeface="Arial" pitchFamily="34" charset="0"/>
                <a:ea typeface="Arial" pitchFamily="34" charset="-122"/>
                <a:cs typeface="Arial" pitchFamily="34" charset="-120"/>
              </a:rPr>
              <a:t>Hiệu chuẩn và đồng bộ thời gian</a:t>
            </a:r>
            <a:endParaRPr lang="en-US" sz="1350" dirty="0"/>
          </a:p>
          <a:p>
            <a:pPr indent="0" marL="0">
              <a:lnSpc>
                <a:spcPct val="120000"/>
              </a:lnSpc>
              <a:buNone/>
            </a:pPr>
            <a:r>
              <a:rPr lang="en-US" sz="1200" dirty="0">
                <a:solidFill>
                  <a:srgbClr val="8AA0B4"/>
                </a:solidFill>
                <a:latin typeface="微軟正黑體" pitchFamily="34" charset="0"/>
                <a:ea typeface="微軟正黑體" pitchFamily="34" charset="-122"/>
                <a:cs typeface="微軟正黑體" pitchFamily="34" charset="-120"/>
              </a:rPr>
              <a:t>標定與時間同步</a:t>
            </a:r>
            <a:endParaRPr lang="en-US" sz="1350" dirty="0"/>
          </a:p>
        </p:txBody>
      </p:sp>
      <p:sp>
        <p:nvSpPr>
          <p:cNvPr id="8" name="Text 5"/>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12 / 15</a:t>
            </a:r>
            <a:endParaRPr lang="en-US" sz="900" dirty="0"/>
          </a:p>
        </p:txBody>
      </p:sp>
      <p:sp>
        <p:nvSpPr>
          <p:cNvPr id="9" name="Text 6"/>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126158" y="0"/>
          <a:ext cx="1" cy="1"/>
          <a:chOff x="0" y="0"/>
          <a:chExt cx="0" cy="0"/>
        </a:xfrm>
      </p:grpSpPr>
      <p:sp>
        <p:nvSpPr>
          <p:cNvPr id="2" name="Text 0"/>
          <p:cNvSpPr txBox="1"/>
          <p:nvPr/>
        </p:nvSpPr>
        <p:spPr>
          <a:xfrm>
            <a:off x="615201" y="284534"/>
            <a:ext cx="7913598" cy="818035"/>
          </a:xfrm>
          <a:prstGeom prst="rect">
            <a:avLst/>
          </a:prstGeom>
          <a:noFill/>
          <a:ln/>
        </p:spPr>
        <p:txBody>
          <a:bodyPr wrap="square" lIns="0" tIns="0" rIns="0" bIns="0" rtlCol="0" anchor="t"/>
          <a:lstStyle/>
          <a:p>
            <a:pPr indent="0" marL="0">
              <a:lnSpc>
                <a:spcPct val="116000"/>
              </a:lnSpc>
              <a:buNone/>
            </a:pPr>
            <a:r>
              <a:rPr lang="en-US" sz="2140" b="1" dirty="0">
                <a:solidFill>
                  <a:srgbClr val="0B1F3A"/>
                </a:solidFill>
                <a:latin typeface="Arial" pitchFamily="34" charset="0"/>
                <a:ea typeface="Arial" pitchFamily="34" charset="-122"/>
                <a:cs typeface="Arial" pitchFamily="34" charset="-120"/>
              </a:rPr>
              <a:t>Hiệu chuẩn: nói cho xe biết mỗi con mắt ở đâu, nhìn hướng nào</a:t>
            </a:r>
            <a:endParaRPr lang="en-US" sz="2140" dirty="0"/>
          </a:p>
          <a:p>
            <a:pPr indent="0" marL="0">
              <a:lnSpc>
                <a:spcPct val="116000"/>
              </a:lnSpc>
              <a:buNone/>
            </a:pPr>
            <a:r>
              <a:rPr lang="en-US" sz="1310" dirty="0">
                <a:solidFill>
                  <a:srgbClr val="5F7183"/>
                </a:solidFill>
                <a:latin typeface="微軟正黑體" pitchFamily="34" charset="0"/>
                <a:ea typeface="微軟正黑體" pitchFamily="34" charset="-122"/>
                <a:cs typeface="微軟正黑體" pitchFamily="34" charset="-120"/>
              </a:rPr>
              <a:t>標定：告訴車子每一隻眼睛裝在哪、朝哪看</a:t>
            </a:r>
            <a:endParaRPr lang="en-US" sz="2140" dirty="0"/>
          </a:p>
        </p:txBody>
      </p:sp>
      <p:sp>
        <p:nvSpPr>
          <p:cNvPr id="3" name="Shape 1"/>
          <p:cNvSpPr/>
          <p:nvPr/>
        </p:nvSpPr>
        <p:spPr>
          <a:xfrm>
            <a:off x="615201" y="1285877"/>
            <a:ext cx="2460032" cy="2649722"/>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4" name="Shape 2"/>
          <p:cNvSpPr/>
          <p:nvPr/>
        </p:nvSpPr>
        <p:spPr>
          <a:xfrm>
            <a:off x="1614033" y="1463711"/>
            <a:ext cx="462368" cy="462368"/>
          </a:xfrm>
          <a:prstGeom prst="ellipse">
            <a:avLst/>
          </a:prstGeom>
          <a:solidFill>
            <a:srgbClr val="0B1F3A"/>
          </a:solidFill>
          <a:ln/>
        </p:spPr>
      </p:sp>
      <p:sp>
        <p:nvSpPr>
          <p:cNvPr id="5" name="Text 3"/>
          <p:cNvSpPr txBox="1"/>
          <p:nvPr/>
        </p:nvSpPr>
        <p:spPr>
          <a:xfrm>
            <a:off x="1614033" y="1561519"/>
            <a:ext cx="462368" cy="266751"/>
          </a:xfrm>
          <a:prstGeom prst="rect">
            <a:avLst/>
          </a:prstGeom>
          <a:noFill/>
          <a:ln/>
        </p:spPr>
        <p:txBody>
          <a:bodyPr wrap="square" lIns="0" tIns="0" rIns="0" bIns="0" rtlCol="0" anchor="ctr"/>
          <a:lstStyle/>
          <a:p>
            <a:pPr algn="ctr" indent="0" marL="0">
              <a:buNone/>
            </a:pPr>
            <a:r>
              <a:rPr lang="en-US" sz="1460" b="1" dirty="0">
                <a:solidFill>
                  <a:srgbClr val="FFFFFF"/>
                </a:solidFill>
                <a:latin typeface="Arial" pitchFamily="34" charset="0"/>
                <a:ea typeface="Arial" pitchFamily="34" charset="-122"/>
                <a:cs typeface="Arial" pitchFamily="34" charset="-120"/>
              </a:rPr>
              <a:t>1</a:t>
            </a:r>
            <a:endParaRPr lang="en-US" sz="1460" dirty="0"/>
          </a:p>
        </p:txBody>
      </p:sp>
      <p:sp>
        <p:nvSpPr>
          <p:cNvPr id="6" name="Text 4"/>
          <p:cNvSpPr txBox="1"/>
          <p:nvPr/>
        </p:nvSpPr>
        <p:spPr>
          <a:xfrm>
            <a:off x="739684" y="2014995"/>
            <a:ext cx="2211065" cy="640201"/>
          </a:xfrm>
          <a:prstGeom prst="rect">
            <a:avLst/>
          </a:prstGeom>
          <a:noFill/>
          <a:ln/>
        </p:spPr>
        <p:txBody>
          <a:bodyPr wrap="square" lIns="0" tIns="0" rIns="0" bIns="0" rtlCol="0" anchor="t"/>
          <a:lstStyle/>
          <a:p>
            <a:pPr algn="ctr" indent="0" marL="0">
              <a:lnSpc>
                <a:spcPct val="116000"/>
              </a:lnSpc>
              <a:buNone/>
            </a:pPr>
            <a:r>
              <a:rPr lang="en-US" sz="1360" b="1" dirty="0">
                <a:solidFill>
                  <a:srgbClr val="0B1F3A"/>
                </a:solidFill>
                <a:latin typeface="Arial" pitchFamily="34" charset="0"/>
                <a:ea typeface="Arial" pitchFamily="34" charset="-122"/>
                <a:cs typeface="Arial" pitchFamily="34" charset="-120"/>
              </a:rPr>
              <a:t>Tham số trong</a:t>
            </a:r>
            <a:endParaRPr lang="en-US" sz="1360" dirty="0"/>
          </a:p>
          <a:p>
            <a:pPr algn="ctr" indent="0" marL="0">
              <a:lnSpc>
                <a:spcPct val="116000"/>
              </a:lnSpc>
              <a:buNone/>
            </a:pPr>
            <a:r>
              <a:rPr lang="en-US" sz="1170" dirty="0">
                <a:solidFill>
                  <a:srgbClr val="007F72"/>
                </a:solidFill>
                <a:latin typeface="微軟正黑體" pitchFamily="34" charset="0"/>
                <a:ea typeface="微軟正黑體" pitchFamily="34" charset="-122"/>
                <a:cs typeface="微軟正黑體" pitchFamily="34" charset="-120"/>
              </a:rPr>
              <a:t>內參</a:t>
            </a:r>
            <a:endParaRPr lang="en-US" sz="1360" dirty="0"/>
          </a:p>
        </p:txBody>
      </p:sp>
      <p:sp>
        <p:nvSpPr>
          <p:cNvPr id="7" name="Text 5"/>
          <p:cNvSpPr txBox="1"/>
          <p:nvPr/>
        </p:nvSpPr>
        <p:spPr>
          <a:xfrm>
            <a:off x="739684" y="2690763"/>
            <a:ext cx="2211065" cy="1138135"/>
          </a:xfrm>
          <a:prstGeom prst="rect">
            <a:avLst/>
          </a:prstGeom>
          <a:noFill/>
          <a:ln/>
        </p:spPr>
        <p:txBody>
          <a:bodyPr wrap="square" lIns="0" tIns="0" rIns="0" bIns="0" rtlCol="0" anchor="t"/>
          <a:lstStyle/>
          <a:p>
            <a:pPr algn="ctr" indent="0" marL="0">
              <a:lnSpc>
                <a:spcPct val="126000"/>
              </a:lnSpc>
              <a:buNone/>
            </a:pPr>
            <a:r>
              <a:rPr lang="en-US" sz="1120" dirty="0">
                <a:solidFill>
                  <a:srgbClr val="5F7183"/>
                </a:solidFill>
                <a:latin typeface="Arial" pitchFamily="34" charset="0"/>
                <a:ea typeface="Arial" pitchFamily="34" charset="-122"/>
                <a:cs typeface="Arial" pitchFamily="34" charset="-120"/>
              </a:rPr>
              <a:t>Ống kính méo bao nhiêu</a:t>
            </a:r>
            <a:endParaRPr lang="en-US" sz="1120" dirty="0"/>
          </a:p>
          <a:p>
            <a:pPr algn="ctr" indent="0" marL="0">
              <a:lnSpc>
                <a:spcPct val="126000"/>
              </a:lnSpc>
              <a:buNone/>
            </a:pPr>
            <a:r>
              <a:rPr lang="en-US" sz="1120" dirty="0">
                <a:solidFill>
                  <a:srgbClr val="5F7183"/>
                </a:solidFill>
                <a:latin typeface="Arial" pitchFamily="34" charset="0"/>
                <a:ea typeface="Arial" pitchFamily="34" charset="-122"/>
                <a:cs typeface="Arial" pitchFamily="34" charset="-120"/>
              </a:rPr>
              <a:t>Tâm ảnh ở đâu</a:t>
            </a:r>
            <a:endParaRPr lang="en-US" sz="1120" dirty="0"/>
          </a:p>
          <a:p>
            <a:pPr algn="ctr" indent="0" marL="0">
              <a:lnSpc>
                <a:spcPct val="126000"/>
              </a:lnSpc>
              <a:buNone/>
            </a:pPr>
            <a:r>
              <a:rPr lang="en-US" sz="1020" dirty="0">
                <a:solidFill>
                  <a:srgbClr val="5F7183"/>
                </a:solidFill>
                <a:latin typeface="微軟正黑體" pitchFamily="34" charset="0"/>
                <a:ea typeface="微軟正黑體" pitchFamily="34" charset="-122"/>
                <a:cs typeface="微軟正黑體" pitchFamily="34" charset="-120"/>
              </a:rPr>
              <a:t>鏡頭扭曲多少</a:t>
            </a:r>
            <a:endParaRPr lang="en-US" sz="1120" dirty="0"/>
          </a:p>
          <a:p>
            <a:pPr algn="ctr" indent="0" marL="0">
              <a:lnSpc>
                <a:spcPct val="126000"/>
              </a:lnSpc>
              <a:buNone/>
            </a:pPr>
            <a:r>
              <a:rPr lang="en-US" sz="1020" dirty="0">
                <a:solidFill>
                  <a:srgbClr val="5F7183"/>
                </a:solidFill>
                <a:latin typeface="微軟正黑體" pitchFamily="34" charset="0"/>
                <a:ea typeface="微軟正黑體" pitchFamily="34" charset="-122"/>
                <a:cs typeface="微軟正黑體" pitchFamily="34" charset="-120"/>
              </a:rPr>
              <a:t>畫面中心在哪</a:t>
            </a:r>
            <a:endParaRPr lang="en-US" sz="1120" dirty="0"/>
          </a:p>
        </p:txBody>
      </p:sp>
      <p:sp>
        <p:nvSpPr>
          <p:cNvPr id="8" name="Text 6"/>
          <p:cNvSpPr txBox="1"/>
          <p:nvPr/>
        </p:nvSpPr>
        <p:spPr>
          <a:xfrm>
            <a:off x="3075233" y="2175045"/>
            <a:ext cx="266751" cy="355667"/>
          </a:xfrm>
          <a:prstGeom prst="rect">
            <a:avLst/>
          </a:prstGeom>
          <a:noFill/>
          <a:ln/>
        </p:spPr>
        <p:txBody>
          <a:bodyPr wrap="square" lIns="0" tIns="0" rIns="0" bIns="0" rtlCol="0" anchor="ctr"/>
          <a:lstStyle/>
          <a:p>
            <a:pPr algn="ctr" indent="0" marL="0">
              <a:buNone/>
            </a:pPr>
            <a:r>
              <a:rPr lang="en-US" sz="1850" b="1" dirty="0">
                <a:solidFill>
                  <a:srgbClr val="00A896"/>
                </a:solidFill>
                <a:latin typeface="微軟正黑體" pitchFamily="34" charset="0"/>
                <a:ea typeface="微軟正黑體" pitchFamily="34" charset="-122"/>
                <a:cs typeface="微軟正黑體" pitchFamily="34" charset="-120"/>
              </a:rPr>
              <a:t>→</a:t>
            </a:r>
            <a:endParaRPr lang="en-US" sz="1850" dirty="0"/>
          </a:p>
        </p:txBody>
      </p:sp>
      <p:sp>
        <p:nvSpPr>
          <p:cNvPr id="9" name="Shape 7"/>
          <p:cNvSpPr/>
          <p:nvPr/>
        </p:nvSpPr>
        <p:spPr>
          <a:xfrm>
            <a:off x="3341984" y="1285877"/>
            <a:ext cx="2460032" cy="2649722"/>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0" name="Shape 8"/>
          <p:cNvSpPr/>
          <p:nvPr/>
        </p:nvSpPr>
        <p:spPr>
          <a:xfrm>
            <a:off x="4340816" y="1463711"/>
            <a:ext cx="462368" cy="462368"/>
          </a:xfrm>
          <a:prstGeom prst="ellipse">
            <a:avLst/>
          </a:prstGeom>
          <a:solidFill>
            <a:srgbClr val="00A896"/>
          </a:solidFill>
          <a:ln/>
        </p:spPr>
      </p:sp>
      <p:sp>
        <p:nvSpPr>
          <p:cNvPr id="11" name="Text 9"/>
          <p:cNvSpPr txBox="1"/>
          <p:nvPr/>
        </p:nvSpPr>
        <p:spPr>
          <a:xfrm>
            <a:off x="4340816" y="1561519"/>
            <a:ext cx="462368" cy="266751"/>
          </a:xfrm>
          <a:prstGeom prst="rect">
            <a:avLst/>
          </a:prstGeom>
          <a:noFill/>
          <a:ln/>
        </p:spPr>
        <p:txBody>
          <a:bodyPr wrap="square" lIns="0" tIns="0" rIns="0" bIns="0" rtlCol="0" anchor="ctr"/>
          <a:lstStyle/>
          <a:p>
            <a:pPr algn="ctr" indent="0" marL="0">
              <a:buNone/>
            </a:pPr>
            <a:r>
              <a:rPr lang="en-US" sz="1460" b="1" dirty="0">
                <a:solidFill>
                  <a:srgbClr val="FFFFFF"/>
                </a:solidFill>
                <a:latin typeface="Arial" pitchFamily="34" charset="0"/>
                <a:ea typeface="Arial" pitchFamily="34" charset="-122"/>
                <a:cs typeface="Arial" pitchFamily="34" charset="-120"/>
              </a:rPr>
              <a:t>2</a:t>
            </a:r>
            <a:endParaRPr lang="en-US" sz="1460" dirty="0"/>
          </a:p>
        </p:txBody>
      </p:sp>
      <p:sp>
        <p:nvSpPr>
          <p:cNvPr id="12" name="Text 10"/>
          <p:cNvSpPr txBox="1"/>
          <p:nvPr/>
        </p:nvSpPr>
        <p:spPr>
          <a:xfrm>
            <a:off x="3466467" y="2014995"/>
            <a:ext cx="2211065" cy="640201"/>
          </a:xfrm>
          <a:prstGeom prst="rect">
            <a:avLst/>
          </a:prstGeom>
          <a:noFill/>
          <a:ln/>
        </p:spPr>
        <p:txBody>
          <a:bodyPr wrap="square" lIns="0" tIns="0" rIns="0" bIns="0" rtlCol="0" anchor="t"/>
          <a:lstStyle/>
          <a:p>
            <a:pPr algn="ctr" indent="0" marL="0">
              <a:lnSpc>
                <a:spcPct val="116000"/>
              </a:lnSpc>
              <a:buNone/>
            </a:pPr>
            <a:r>
              <a:rPr lang="en-US" sz="1360" b="1" dirty="0">
                <a:solidFill>
                  <a:srgbClr val="0B1F3A"/>
                </a:solidFill>
                <a:latin typeface="Arial" pitchFamily="34" charset="0"/>
                <a:ea typeface="Arial" pitchFamily="34" charset="-122"/>
                <a:cs typeface="Arial" pitchFamily="34" charset="-120"/>
              </a:rPr>
              <a:t>Tham số ngoài</a:t>
            </a:r>
            <a:endParaRPr lang="en-US" sz="1360" dirty="0"/>
          </a:p>
          <a:p>
            <a:pPr algn="ctr" indent="0" marL="0">
              <a:lnSpc>
                <a:spcPct val="116000"/>
              </a:lnSpc>
              <a:buNone/>
            </a:pPr>
            <a:r>
              <a:rPr lang="en-US" sz="1170" dirty="0">
                <a:solidFill>
                  <a:srgbClr val="007F72"/>
                </a:solidFill>
                <a:latin typeface="微軟正黑體" pitchFamily="34" charset="0"/>
                <a:ea typeface="微軟正黑體" pitchFamily="34" charset="-122"/>
                <a:cs typeface="微軟正黑體" pitchFamily="34" charset="-120"/>
              </a:rPr>
              <a:t>外參</a:t>
            </a:r>
            <a:endParaRPr lang="en-US" sz="1360" dirty="0"/>
          </a:p>
        </p:txBody>
      </p:sp>
      <p:sp>
        <p:nvSpPr>
          <p:cNvPr id="13" name="Text 11"/>
          <p:cNvSpPr txBox="1"/>
          <p:nvPr/>
        </p:nvSpPr>
        <p:spPr>
          <a:xfrm>
            <a:off x="3466467" y="2690763"/>
            <a:ext cx="2211065" cy="1138135"/>
          </a:xfrm>
          <a:prstGeom prst="rect">
            <a:avLst/>
          </a:prstGeom>
          <a:noFill/>
          <a:ln/>
        </p:spPr>
        <p:txBody>
          <a:bodyPr wrap="square" lIns="0" tIns="0" rIns="0" bIns="0" rtlCol="0" anchor="t"/>
          <a:lstStyle/>
          <a:p>
            <a:pPr algn="ctr" indent="0" marL="0">
              <a:lnSpc>
                <a:spcPct val="126000"/>
              </a:lnSpc>
              <a:buNone/>
            </a:pPr>
            <a:r>
              <a:rPr lang="en-US" sz="1120" dirty="0">
                <a:solidFill>
                  <a:srgbClr val="5F7183"/>
                </a:solidFill>
                <a:latin typeface="Arial" pitchFamily="34" charset="0"/>
                <a:ea typeface="Arial" pitchFamily="34" charset="-122"/>
                <a:cs typeface="Arial" pitchFamily="34" charset="-120"/>
              </a:rPr>
              <a:t>Camera và lidar</a:t>
            </a:r>
            <a:endParaRPr lang="en-US" sz="1120" dirty="0"/>
          </a:p>
          <a:p>
            <a:pPr algn="ctr" indent="0" marL="0">
              <a:lnSpc>
                <a:spcPct val="126000"/>
              </a:lnSpc>
              <a:buNone/>
            </a:pPr>
            <a:r>
              <a:rPr lang="en-US" sz="1120" dirty="0">
                <a:solidFill>
                  <a:srgbClr val="5F7183"/>
                </a:solidFill>
                <a:latin typeface="Arial" pitchFamily="34" charset="0"/>
                <a:ea typeface="Arial" pitchFamily="34" charset="-122"/>
                <a:cs typeface="Arial" pitchFamily="34" charset="-120"/>
              </a:rPr>
              <a:t>cách nhau bao xa, lệch mấy độ</a:t>
            </a:r>
            <a:endParaRPr lang="en-US" sz="1120" dirty="0"/>
          </a:p>
          <a:p>
            <a:pPr algn="ctr" indent="0" marL="0">
              <a:lnSpc>
                <a:spcPct val="126000"/>
              </a:lnSpc>
              <a:buNone/>
            </a:pPr>
            <a:r>
              <a:rPr lang="en-US" sz="1020" dirty="0">
                <a:solidFill>
                  <a:srgbClr val="5F7183"/>
                </a:solidFill>
                <a:latin typeface="微軟正黑體" pitchFamily="34" charset="0"/>
                <a:ea typeface="微軟正黑體" pitchFamily="34" charset="-122"/>
                <a:cs typeface="微軟正黑體" pitchFamily="34" charset="-120"/>
              </a:rPr>
              <a:t>相機和光達</a:t>
            </a:r>
            <a:endParaRPr lang="en-US" sz="1120" dirty="0"/>
          </a:p>
          <a:p>
            <a:pPr algn="ctr" indent="0" marL="0">
              <a:lnSpc>
                <a:spcPct val="126000"/>
              </a:lnSpc>
              <a:buNone/>
            </a:pPr>
            <a:r>
              <a:rPr lang="en-US" sz="1020" dirty="0">
                <a:solidFill>
                  <a:srgbClr val="5F7183"/>
                </a:solidFill>
                <a:latin typeface="微軟正黑體" pitchFamily="34" charset="0"/>
                <a:ea typeface="微軟正黑體" pitchFamily="34" charset="-122"/>
                <a:cs typeface="微軟正黑體" pitchFamily="34" charset="-120"/>
              </a:rPr>
              <a:t>相距多遠、差幾度</a:t>
            </a:r>
            <a:endParaRPr lang="en-US" sz="1120" dirty="0"/>
          </a:p>
        </p:txBody>
      </p:sp>
      <p:sp>
        <p:nvSpPr>
          <p:cNvPr id="14" name="Text 12"/>
          <p:cNvSpPr txBox="1"/>
          <p:nvPr/>
        </p:nvSpPr>
        <p:spPr>
          <a:xfrm>
            <a:off x="5802016" y="2175045"/>
            <a:ext cx="266751" cy="355667"/>
          </a:xfrm>
          <a:prstGeom prst="rect">
            <a:avLst/>
          </a:prstGeom>
          <a:noFill/>
          <a:ln/>
        </p:spPr>
        <p:txBody>
          <a:bodyPr wrap="square" lIns="0" tIns="0" rIns="0" bIns="0" rtlCol="0" anchor="ctr"/>
          <a:lstStyle/>
          <a:p>
            <a:pPr algn="ctr" indent="0" marL="0">
              <a:buNone/>
            </a:pPr>
            <a:r>
              <a:rPr lang="en-US" sz="1850" b="1" dirty="0">
                <a:solidFill>
                  <a:srgbClr val="00A896"/>
                </a:solidFill>
                <a:latin typeface="微軟正黑體" pitchFamily="34" charset="0"/>
                <a:ea typeface="微軟正黑體" pitchFamily="34" charset="-122"/>
                <a:cs typeface="微軟正黑體" pitchFamily="34" charset="-120"/>
              </a:rPr>
              <a:t>→</a:t>
            </a:r>
            <a:endParaRPr lang="en-US" sz="1850" dirty="0"/>
          </a:p>
        </p:txBody>
      </p:sp>
      <p:sp>
        <p:nvSpPr>
          <p:cNvPr id="15" name="Shape 13"/>
          <p:cNvSpPr/>
          <p:nvPr/>
        </p:nvSpPr>
        <p:spPr>
          <a:xfrm>
            <a:off x="6068767" y="1285877"/>
            <a:ext cx="2460032" cy="2649722"/>
          </a:xfrm>
          <a:prstGeom prst="roundRect">
            <a:avLst>
              <a:gd name="adj" fmla="val 3614"/>
            </a:avLst>
          </a:prstGeom>
          <a:solidFill>
            <a:srgbClr val="F4F7FA"/>
          </a:solidFill>
          <a:ln w="12700">
            <a:solidFill>
              <a:srgbClr val="DBE3EA"/>
            </a:solidFill>
            <a:prstDash val="solid"/>
          </a:ln>
          <a:effectLst>
            <a:outerShdw sx="100000" sy="100000" kx="0" ky="0" algn="bl" rotWithShape="0" blurRad="76200" dist="12700" dir="5400000">
              <a:srgbClr val="9AAAB8">
                <a:alpha val="28000"/>
              </a:srgbClr>
            </a:outerShdw>
          </a:effectLst>
        </p:spPr>
      </p:sp>
      <p:sp>
        <p:nvSpPr>
          <p:cNvPr id="16" name="Shape 14"/>
          <p:cNvSpPr/>
          <p:nvPr/>
        </p:nvSpPr>
        <p:spPr>
          <a:xfrm>
            <a:off x="7067599" y="1463711"/>
            <a:ext cx="462368" cy="462368"/>
          </a:xfrm>
          <a:prstGeom prst="ellipse">
            <a:avLst/>
          </a:prstGeom>
          <a:solidFill>
            <a:srgbClr val="0B1F3A"/>
          </a:solidFill>
          <a:ln/>
        </p:spPr>
      </p:sp>
      <p:sp>
        <p:nvSpPr>
          <p:cNvPr id="17" name="Text 15"/>
          <p:cNvSpPr txBox="1"/>
          <p:nvPr/>
        </p:nvSpPr>
        <p:spPr>
          <a:xfrm>
            <a:off x="7067599" y="1561519"/>
            <a:ext cx="462368" cy="266751"/>
          </a:xfrm>
          <a:prstGeom prst="rect">
            <a:avLst/>
          </a:prstGeom>
          <a:noFill/>
          <a:ln/>
        </p:spPr>
        <p:txBody>
          <a:bodyPr wrap="square" lIns="0" tIns="0" rIns="0" bIns="0" rtlCol="0" anchor="ctr"/>
          <a:lstStyle/>
          <a:p>
            <a:pPr algn="ctr" indent="0" marL="0">
              <a:buNone/>
            </a:pPr>
            <a:r>
              <a:rPr lang="en-US" sz="1460" b="1" dirty="0">
                <a:solidFill>
                  <a:srgbClr val="FFFFFF"/>
                </a:solidFill>
                <a:latin typeface="Arial" pitchFamily="34" charset="0"/>
                <a:ea typeface="Arial" pitchFamily="34" charset="-122"/>
                <a:cs typeface="Arial" pitchFamily="34" charset="-120"/>
              </a:rPr>
              <a:t>3</a:t>
            </a:r>
            <a:endParaRPr lang="en-US" sz="1460" dirty="0"/>
          </a:p>
        </p:txBody>
      </p:sp>
      <p:sp>
        <p:nvSpPr>
          <p:cNvPr id="18" name="Text 16"/>
          <p:cNvSpPr txBox="1"/>
          <p:nvPr/>
        </p:nvSpPr>
        <p:spPr>
          <a:xfrm>
            <a:off x="6193250" y="2014995"/>
            <a:ext cx="2211065" cy="640201"/>
          </a:xfrm>
          <a:prstGeom prst="rect">
            <a:avLst/>
          </a:prstGeom>
          <a:noFill/>
          <a:ln/>
        </p:spPr>
        <p:txBody>
          <a:bodyPr wrap="square" lIns="0" tIns="0" rIns="0" bIns="0" rtlCol="0" anchor="t"/>
          <a:lstStyle/>
          <a:p>
            <a:pPr algn="ctr" indent="0" marL="0">
              <a:lnSpc>
                <a:spcPct val="116000"/>
              </a:lnSpc>
              <a:buNone/>
            </a:pPr>
            <a:r>
              <a:rPr lang="en-US" sz="1360" b="1" dirty="0">
                <a:solidFill>
                  <a:srgbClr val="0B1F3A"/>
                </a:solidFill>
                <a:latin typeface="Arial" pitchFamily="34" charset="0"/>
                <a:ea typeface="Arial" pitchFamily="34" charset="-122"/>
                <a:cs typeface="Arial" pitchFamily="34" charset="-120"/>
              </a:rPr>
              <a:t>Sai 1°</a:t>
            </a:r>
            <a:endParaRPr lang="en-US" sz="1360" dirty="0"/>
          </a:p>
          <a:p>
            <a:pPr algn="ctr" indent="0" marL="0">
              <a:lnSpc>
                <a:spcPct val="116000"/>
              </a:lnSpc>
              <a:buNone/>
            </a:pPr>
            <a:r>
              <a:rPr lang="en-US" sz="1170" dirty="0">
                <a:solidFill>
                  <a:srgbClr val="007F72"/>
                </a:solidFill>
                <a:latin typeface="微軟正黑體" pitchFamily="34" charset="0"/>
                <a:ea typeface="微軟正黑體" pitchFamily="34" charset="-122"/>
                <a:cs typeface="微軟正黑體" pitchFamily="34" charset="-120"/>
              </a:rPr>
              <a:t>差 1 度</a:t>
            </a:r>
            <a:endParaRPr lang="en-US" sz="1360" dirty="0"/>
          </a:p>
        </p:txBody>
      </p:sp>
      <p:sp>
        <p:nvSpPr>
          <p:cNvPr id="19" name="Text 17"/>
          <p:cNvSpPr txBox="1"/>
          <p:nvPr/>
        </p:nvSpPr>
        <p:spPr>
          <a:xfrm>
            <a:off x="6193250" y="2690763"/>
            <a:ext cx="2211065" cy="1138135"/>
          </a:xfrm>
          <a:prstGeom prst="rect">
            <a:avLst/>
          </a:prstGeom>
          <a:noFill/>
          <a:ln/>
        </p:spPr>
        <p:txBody>
          <a:bodyPr wrap="square" lIns="0" tIns="0" rIns="0" bIns="0" rtlCol="0" anchor="t"/>
          <a:lstStyle/>
          <a:p>
            <a:pPr algn="ctr" indent="0" marL="0">
              <a:lnSpc>
                <a:spcPct val="126000"/>
              </a:lnSpc>
              <a:buNone/>
            </a:pPr>
            <a:r>
              <a:rPr lang="en-US" sz="1120" dirty="0">
                <a:solidFill>
                  <a:srgbClr val="5F7183"/>
                </a:solidFill>
                <a:latin typeface="Arial" pitchFamily="34" charset="0"/>
                <a:ea typeface="Arial" pitchFamily="34" charset="-122"/>
                <a:cs typeface="Arial" pitchFamily="34" charset="-120"/>
              </a:rPr>
              <a:t>Ở 50 m lệch gần 0,9 m</a:t>
            </a:r>
            <a:endParaRPr lang="en-US" sz="1120" dirty="0"/>
          </a:p>
          <a:p>
            <a:pPr algn="ctr" indent="0" marL="0">
              <a:lnSpc>
                <a:spcPct val="126000"/>
              </a:lnSpc>
              <a:buNone/>
            </a:pPr>
            <a:r>
              <a:rPr lang="en-US" sz="1120" dirty="0">
                <a:solidFill>
                  <a:srgbClr val="5F7183"/>
                </a:solidFill>
                <a:latin typeface="Arial" pitchFamily="34" charset="0"/>
                <a:ea typeface="Arial" pitchFamily="34" charset="-122"/>
                <a:cs typeface="Arial" pitchFamily="34" charset="-120"/>
              </a:rPr>
              <a:t>Đủ để nhầm làn</a:t>
            </a:r>
            <a:endParaRPr lang="en-US" sz="1120" dirty="0"/>
          </a:p>
          <a:p>
            <a:pPr algn="ctr" indent="0" marL="0">
              <a:lnSpc>
                <a:spcPct val="126000"/>
              </a:lnSpc>
              <a:buNone/>
            </a:pPr>
            <a:r>
              <a:rPr lang="en-US" sz="1020" dirty="0">
                <a:solidFill>
                  <a:srgbClr val="5F7183"/>
                </a:solidFill>
                <a:latin typeface="微軟正黑體" pitchFamily="34" charset="0"/>
                <a:ea typeface="微軟正黑體" pitchFamily="34" charset="-122"/>
                <a:cs typeface="微軟正黑體" pitchFamily="34" charset="-120"/>
              </a:rPr>
              <a:t>50 公尺處差 0.9 公尺</a:t>
            </a:r>
            <a:endParaRPr lang="en-US" sz="1120" dirty="0"/>
          </a:p>
          <a:p>
            <a:pPr algn="ctr" indent="0" marL="0">
              <a:lnSpc>
                <a:spcPct val="126000"/>
              </a:lnSpc>
              <a:buNone/>
            </a:pPr>
            <a:r>
              <a:rPr lang="en-US" sz="1020" dirty="0">
                <a:solidFill>
                  <a:srgbClr val="5F7183"/>
                </a:solidFill>
                <a:latin typeface="微軟正黑體" pitchFamily="34" charset="0"/>
                <a:ea typeface="微軟正黑體" pitchFamily="34" charset="-122"/>
                <a:cs typeface="微軟正黑體" pitchFamily="34" charset="-120"/>
              </a:rPr>
              <a:t>足以搞錯車道</a:t>
            </a:r>
            <a:endParaRPr lang="en-US" sz="1120" dirty="0"/>
          </a:p>
        </p:txBody>
      </p:sp>
      <p:sp>
        <p:nvSpPr>
          <p:cNvPr id="20" name="Text 18"/>
          <p:cNvSpPr txBox="1"/>
          <p:nvPr/>
        </p:nvSpPr>
        <p:spPr>
          <a:xfrm>
            <a:off x="615201" y="4077866"/>
            <a:ext cx="7913598" cy="551284"/>
          </a:xfrm>
          <a:prstGeom prst="rect">
            <a:avLst/>
          </a:prstGeom>
          <a:noFill/>
          <a:ln/>
        </p:spPr>
        <p:txBody>
          <a:bodyPr wrap="square" lIns="0" tIns="0" rIns="0" bIns="0" rtlCol="0" anchor="t"/>
          <a:lstStyle/>
          <a:p>
            <a:pPr indent="0" marL="0">
              <a:lnSpc>
                <a:spcPct val="118000"/>
              </a:lnSpc>
              <a:buNone/>
            </a:pPr>
            <a:r>
              <a:rPr lang="en-US" sz="1220" b="1" dirty="0">
                <a:solidFill>
                  <a:srgbClr val="0B1F3A"/>
                </a:solidFill>
                <a:latin typeface="Arial" pitchFamily="34" charset="0"/>
                <a:ea typeface="Arial" pitchFamily="34" charset="-122"/>
                <a:cs typeface="Arial" pitchFamily="34" charset="-120"/>
              </a:rPr>
              <a:t>Rung, va chạm, thay kính chắn gió — đều làm lệch. Nên phải hiệu chuẩn lại định kỳ.</a:t>
            </a:r>
            <a:endParaRPr lang="en-US" sz="1220" dirty="0"/>
          </a:p>
          <a:p>
            <a:pPr indent="0" marL="0">
              <a:lnSpc>
                <a:spcPct val="118000"/>
              </a:lnSpc>
              <a:buNone/>
            </a:pPr>
            <a:r>
              <a:rPr lang="en-US" sz="1120" dirty="0">
                <a:solidFill>
                  <a:srgbClr val="007F72"/>
                </a:solidFill>
                <a:latin typeface="微軟正黑體" pitchFamily="34" charset="0"/>
                <a:ea typeface="微軟正黑體" pitchFamily="34" charset="-122"/>
                <a:cs typeface="微軟正黑體" pitchFamily="34" charset="-120"/>
              </a:rPr>
              <a:t>震動、碰撞、換擋風玻璃，都會讓它跑掉。所以要定期重新標定。</a:t>
            </a:r>
            <a:endParaRPr lang="en-US" sz="1220" dirty="0"/>
          </a:p>
        </p:txBody>
      </p:sp>
      <p:pic>
        <p:nvPicPr>
          <p:cNvPr id="22" name="Image 0" descr="/Users/tsengchenghsun/Class/carClass/Claude outputs/第五週(10-8)/src/logo.png">    </p:cNvPr>
          <p:cNvPicPr>
            <a:picLocks noChangeAspect="1"/>
          </p:cNvPicPr>
          <p:nvPr/>
        </p:nvPicPr>
        <p:blipFill>
          <a:blip r:embed="rId1"/>
          <a:stretch>
            <a:fillRect/>
          </a:stretch>
        </p:blipFill>
        <p:spPr>
          <a:xfrm>
            <a:off x="7882128" y="109728"/>
            <a:ext cx="1097280" cy="242439"/>
          </a:xfrm>
          <a:prstGeom prst="rect">
            <a:avLst/>
          </a:prstGeom>
        </p:spPr>
      </p:pic>
      <p:sp>
        <p:nvSpPr>
          <p:cNvPr id="23" name="Text 19"/>
          <p:cNvSpPr txBox="1"/>
          <p:nvPr/>
        </p:nvSpPr>
        <p:spPr>
          <a:xfrm>
            <a:off x="232859" y="124484"/>
            <a:ext cx="800252" cy="248967"/>
          </a:xfrm>
          <a:prstGeom prst="rect">
            <a:avLst/>
          </a:prstGeom>
          <a:noFill/>
          <a:ln/>
        </p:spPr>
        <p:txBody>
          <a:bodyPr wrap="square" lIns="0" tIns="0" rIns="0" bIns="0" rtlCol="0" anchor="ctr"/>
          <a:lstStyle/>
          <a:p>
            <a:pPr indent="0" marL="0">
              <a:buNone/>
            </a:pPr>
            <a:r>
              <a:rPr lang="en-US" sz="880" dirty="0">
                <a:solidFill>
                  <a:srgbClr val="5F7183"/>
                </a:solidFill>
                <a:latin typeface="Arial" pitchFamily="34" charset="0"/>
                <a:ea typeface="Arial" pitchFamily="34" charset="-122"/>
                <a:cs typeface="Arial" pitchFamily="34" charset="-120"/>
              </a:rPr>
              <a:t>13 / 15</a:t>
            </a:r>
            <a:endParaRPr lang="en-US" sz="880" dirty="0"/>
          </a:p>
        </p:txBody>
      </p:sp>
      <p:sp>
        <p:nvSpPr>
          <p:cNvPr id="24" name="Text 20"/>
          <p:cNvSpPr txBox="1"/>
          <p:nvPr/>
        </p:nvSpPr>
        <p:spPr>
          <a:xfrm>
            <a:off x="1059785" y="124484"/>
            <a:ext cx="1956170" cy="248967"/>
          </a:xfrm>
          <a:prstGeom prst="rect">
            <a:avLst/>
          </a:prstGeom>
          <a:noFill/>
          <a:ln/>
        </p:spPr>
        <p:txBody>
          <a:bodyPr wrap="square" lIns="0" tIns="0" rIns="0" bIns="0" rtlCol="0" anchor="ctr"/>
          <a:lstStyle/>
          <a:p>
            <a:pPr indent="0" marL="0">
              <a:buNone/>
            </a:pPr>
            <a:r>
              <a:rPr lang="en-US" sz="880" dirty="0">
                <a:solidFill>
                  <a:srgbClr val="5F7183"/>
                </a:solidFill>
                <a:latin typeface="Arial" pitchFamily="34" charset="0"/>
                <a:ea typeface="Arial" pitchFamily="34" charset="-122"/>
                <a:cs typeface="Arial" pitchFamily="34" charset="-120"/>
              </a:rPr>
              <a:t>Tiết 2 · 第 2 節</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0" cy="0"/>
        </a:xfrm>
      </p:grpSpPr>
      <p:sp>
        <p:nvSpPr>
          <p:cNvPr id="2" name="Text 0"/>
          <p:cNvSpPr txBox="1"/>
          <p:nvPr/>
        </p:nvSpPr>
        <p:spPr>
          <a:xfrm>
            <a:off x="502920" y="420624"/>
            <a:ext cx="8138160" cy="274320"/>
          </a:xfrm>
          <a:prstGeom prst="rect">
            <a:avLst/>
          </a:prstGeom>
          <a:noFill/>
          <a:ln/>
        </p:spPr>
        <p:txBody>
          <a:bodyPr wrap="square" lIns="0" tIns="0" rIns="0" bIns="0" rtlCol="0" anchor="ctr"/>
          <a:lstStyle/>
          <a:p>
            <a:pPr indent="0" marL="0">
              <a:buNone/>
            </a:pPr>
            <a:r>
              <a:rPr lang="en-US" sz="1250" b="1" dirty="0">
                <a:solidFill>
                  <a:srgbClr val="007F72"/>
                </a:solidFill>
                <a:latin typeface="Arial" pitchFamily="34" charset="0"/>
                <a:ea typeface="Arial" pitchFamily="34" charset="-122"/>
                <a:cs typeface="Arial" pitchFamily="34" charset="-120"/>
              </a:rPr>
              <a:t>Đồng bộ · 時間同步</a:t>
            </a:r>
            <a:endParaRPr lang="en-US" sz="1250" dirty="0"/>
          </a:p>
        </p:txBody>
      </p:sp>
      <p:sp>
        <p:nvSpPr>
          <p:cNvPr id="3" name="Text 1"/>
          <p:cNvSpPr txBox="1"/>
          <p:nvPr/>
        </p:nvSpPr>
        <p:spPr>
          <a:xfrm>
            <a:off x="502920" y="1103050"/>
            <a:ext cx="8138160" cy="563762"/>
          </a:xfrm>
          <a:prstGeom prst="rect">
            <a:avLst/>
          </a:prstGeom>
          <a:noFill/>
          <a:ln/>
        </p:spPr>
        <p:txBody>
          <a:bodyPr wrap="square" lIns="0" tIns="0" rIns="0" bIns="0" rtlCol="0" anchor="t"/>
          <a:lstStyle/>
          <a:p>
            <a:pPr indent="0" marL="0">
              <a:lnSpc>
                <a:spcPct val="120000"/>
              </a:lnSpc>
              <a:buNone/>
            </a:pPr>
            <a:r>
              <a:rPr lang="en-US" sz="1900" b="1" dirty="0">
                <a:solidFill>
                  <a:srgbClr val="0B1F3A"/>
                </a:solidFill>
                <a:latin typeface="Arial" pitchFamily="34" charset="0"/>
                <a:ea typeface="Arial" pitchFamily="34" charset="-122"/>
                <a:cs typeface="Arial" pitchFamily="34" charset="-120"/>
              </a:rPr>
              <a:t>Đồng bộ thời gian: hai con mắt phải nhìn cùng một khoảnh khắc</a:t>
            </a:r>
            <a:endParaRPr lang="en-US" sz="1900" dirty="0"/>
          </a:p>
          <a:p>
            <a:pPr indent="0" marL="0">
              <a:lnSpc>
                <a:spcPct val="120000"/>
              </a:lnSpc>
              <a:buNone/>
            </a:pPr>
            <a:r>
              <a:rPr lang="en-US" sz="1200" dirty="0">
                <a:solidFill>
                  <a:srgbClr val="007F72"/>
                </a:solidFill>
                <a:latin typeface="微軟正黑體" pitchFamily="34" charset="0"/>
                <a:ea typeface="微軟正黑體" pitchFamily="34" charset="-122"/>
                <a:cs typeface="微軟正黑體" pitchFamily="34" charset="-120"/>
              </a:rPr>
              <a:t>時間同步：兩隻眼睛要看的是同一個瞬間</a:t>
            </a:r>
            <a:endParaRPr lang="en-US" sz="1900" dirty="0"/>
          </a:p>
        </p:txBody>
      </p:sp>
      <p:sp>
        <p:nvSpPr>
          <p:cNvPr id="4" name="Text 2"/>
          <p:cNvSpPr txBox="1"/>
          <p:nvPr/>
        </p:nvSpPr>
        <p:spPr>
          <a:xfrm>
            <a:off x="502920" y="1758252"/>
            <a:ext cx="8138160" cy="684636"/>
          </a:xfrm>
          <a:prstGeom prst="rect">
            <a:avLst/>
          </a:prstGeom>
          <a:noFill/>
          <a:ln/>
        </p:spPr>
        <p:txBody>
          <a:bodyPr wrap="square" lIns="0" tIns="0" rIns="0" bIns="0" rtlCol="0" anchor="t"/>
          <a:lstStyle/>
          <a:p>
            <a:pPr indent="0" marL="0">
              <a:lnSpc>
                <a:spcPct val="128000"/>
              </a:lnSpc>
              <a:buNone/>
            </a:pPr>
            <a:r>
              <a:rPr lang="en-US" sz="1250" dirty="0">
                <a:solidFill>
                  <a:srgbClr val="5F7183"/>
                </a:solidFill>
                <a:latin typeface="Arial" pitchFamily="34" charset="0"/>
                <a:ea typeface="Arial" pitchFamily="34" charset="-122"/>
                <a:cs typeface="Arial" pitchFamily="34" charset="-120"/>
              </a:rPr>
              <a:t>Lidar 10 Hz, camera 60 fps. Không có dấu thời gian chung thì lệch tới 50 ms — 40 km/h là hơn nửa mét.</a:t>
            </a:r>
            <a:endParaRPr lang="en-US" sz="1250" dirty="0"/>
          </a:p>
          <a:p>
            <a:pPr indent="0" marL="0">
              <a:lnSpc>
                <a:spcPct val="128000"/>
              </a:lnSpc>
              <a:buNone/>
            </a:pPr>
            <a:r>
              <a:rPr lang="en-US" sz="1150" dirty="0">
                <a:solidFill>
                  <a:srgbClr val="5F7183"/>
                </a:solidFill>
                <a:latin typeface="微軟正黑體" pitchFamily="34" charset="0"/>
                <a:ea typeface="微軟正黑體" pitchFamily="34" charset="-122"/>
                <a:cs typeface="微軟正黑體" pitchFamily="34" charset="-120"/>
              </a:rPr>
              <a:t>光達 10 Hz、相機 60 fps。沒有共同時間戳，兩邊可能差 50 毫秒——時速 40 就超過半公尺。</a:t>
            </a:r>
            <a:endParaRPr lang="en-US" sz="1250" dirty="0"/>
          </a:p>
        </p:txBody>
      </p:sp>
      <p:sp>
        <p:nvSpPr>
          <p:cNvPr id="5" name="Shape 3"/>
          <p:cNvSpPr/>
          <p:nvPr/>
        </p:nvSpPr>
        <p:spPr>
          <a:xfrm>
            <a:off x="502920" y="2668114"/>
            <a:ext cx="8138160" cy="1208942"/>
          </a:xfrm>
          <a:prstGeom prst="roundRect">
            <a:avLst>
              <a:gd name="adj" fmla="val 6807"/>
            </a:avLst>
          </a:prstGeom>
          <a:solidFill>
            <a:srgbClr val="FFFFFF"/>
          </a:solidFill>
          <a:ln w="12700">
            <a:solidFill>
              <a:srgbClr val="DBE3EA"/>
            </a:solidFill>
            <a:prstDash val="solid"/>
          </a:ln>
        </p:spPr>
      </p:sp>
      <p:pic>
        <p:nvPicPr>
          <p:cNvPr id="6" name="Image 0" descr="/Users/tsengchenghsun/Class/carClass/Claude outputs/第五週(10-8)/src/img/w5_os1_phase.png">    </p:cNvPr>
          <p:cNvPicPr>
            <a:picLocks noChangeAspect="1"/>
          </p:cNvPicPr>
          <p:nvPr/>
        </p:nvPicPr>
        <p:blipFill>
          <a:blip r:embed="rId1"/>
          <a:stretch>
            <a:fillRect/>
          </a:stretch>
        </p:blipFill>
        <p:spPr>
          <a:xfrm>
            <a:off x="576072" y="2759554"/>
            <a:ext cx="7991856" cy="861470"/>
          </a:xfrm>
          <a:prstGeom prst="rect">
            <a:avLst/>
          </a:prstGeom>
        </p:spPr>
      </p:pic>
      <p:sp>
        <p:nvSpPr>
          <p:cNvPr id="7" name="Text 4"/>
          <p:cNvSpPr txBox="1"/>
          <p:nvPr/>
        </p:nvSpPr>
        <p:spPr>
          <a:xfrm>
            <a:off x="576072" y="3657600"/>
            <a:ext cx="7991856" cy="182880"/>
          </a:xfrm>
          <a:prstGeom prst="rect">
            <a:avLst/>
          </a:prstGeom>
          <a:noFill/>
          <a:ln/>
        </p:spPr>
        <p:txBody>
          <a:bodyPr wrap="square" lIns="0" tIns="0" rIns="0" bIns="0" rtlCol="0" anchor="ctr"/>
          <a:lstStyle/>
          <a:p>
            <a:pPr algn="ctr" indent="0" marL="0">
              <a:buNone/>
            </a:pPr>
            <a:r>
              <a:rPr lang="en-US" sz="700" dirty="0">
                <a:solidFill>
                  <a:srgbClr val="5F7183"/>
                </a:solidFill>
                <a:latin typeface="Arial" pitchFamily="34" charset="0"/>
                <a:ea typeface="Arial" pitchFamily="34" charset="-122"/>
                <a:cs typeface="Arial" pitchFamily="34" charset="-120"/>
              </a:rPr>
              <a:t>Ouster OS1 datasheet, Rev7 / FW 3.2, p.3 · 節錄 · 讀取 2026/10/02</a:t>
            </a:r>
            <a:endParaRPr lang="en-US" sz="700" dirty="0"/>
          </a:p>
        </p:txBody>
      </p:sp>
      <p:sp>
        <p:nvSpPr>
          <p:cNvPr id="8" name="Shape 5"/>
          <p:cNvSpPr/>
          <p:nvPr/>
        </p:nvSpPr>
        <p:spPr>
          <a:xfrm>
            <a:off x="502920" y="3913632"/>
            <a:ext cx="8138160" cy="621792"/>
          </a:xfrm>
          <a:prstGeom prst="roundRect">
            <a:avLst>
              <a:gd name="adj" fmla="val 13235"/>
            </a:avLst>
          </a:prstGeom>
          <a:solidFill>
            <a:srgbClr val="FFF6E3"/>
          </a:solidFill>
          <a:ln w="12700">
            <a:solidFill>
              <a:srgbClr val="FFB020"/>
            </a:solidFill>
            <a:prstDash val="solid"/>
          </a:ln>
        </p:spPr>
      </p:sp>
      <p:sp>
        <p:nvSpPr>
          <p:cNvPr id="9" name="Text 6"/>
          <p:cNvSpPr txBox="1"/>
          <p:nvPr/>
        </p:nvSpPr>
        <p:spPr>
          <a:xfrm>
            <a:off x="685800" y="3986784"/>
            <a:ext cx="7772400" cy="493776"/>
          </a:xfrm>
          <a:prstGeom prst="rect">
            <a:avLst/>
          </a:prstGeom>
          <a:noFill/>
          <a:ln/>
        </p:spPr>
        <p:txBody>
          <a:bodyPr wrap="square" lIns="0" tIns="0" rIns="0" bIns="0" rtlCol="0" anchor="t"/>
          <a:lstStyle/>
          <a:p>
            <a:pPr indent="0" marL="0">
              <a:lnSpc>
                <a:spcPct val="116000"/>
              </a:lnSpc>
              <a:buNone/>
            </a:pPr>
            <a:r>
              <a:rPr lang="en-US" sz="1250" b="1" dirty="0">
                <a:solidFill>
                  <a:srgbClr val="7A4E00"/>
                </a:solidFill>
                <a:latin typeface="Arial" pitchFamily="34" charset="0"/>
                <a:ea typeface="Arial" pitchFamily="34" charset="-122"/>
                <a:cs typeface="Arial" pitchFamily="34" charset="-120"/>
              </a:rPr>
              <a:t>OS1 có dòng «multi-sensor phase lock» chính là để giải chuyện này.</a:t>
            </a:r>
            <a:endParaRPr lang="en-US" sz="1250" dirty="0"/>
          </a:p>
          <a:p>
            <a:pPr indent="0" marL="0">
              <a:lnSpc>
                <a:spcPct val="116000"/>
              </a:lnSpc>
              <a:buNone/>
            </a:pPr>
            <a:r>
              <a:rPr lang="en-US" sz="1150" dirty="0">
                <a:solidFill>
                  <a:srgbClr val="7A4E00"/>
                </a:solidFill>
                <a:latin typeface="微軟正黑體" pitchFamily="34" charset="0"/>
                <a:ea typeface="微軟正黑體" pitchFamily="34" charset="-122"/>
                <a:cs typeface="微軟正黑體" pitchFamily="34" charset="-120"/>
              </a:rPr>
              <a:t>OS1 規格表上那行 multi-sensor phase lock，就是在處理這件事。</a:t>
            </a:r>
            <a:endParaRPr lang="en-US" sz="1250" dirty="0"/>
          </a:p>
        </p:txBody>
      </p:sp>
      <p:pic>
        <p:nvPicPr>
          <p:cNvPr id="11" name="Image 1" descr="/Users/tsengchenghsun/Class/carClass/Claude outputs/第五週(10-8)/src/logo.png">    </p:cNvPr>
          <p:cNvPicPr>
            <a:picLocks noChangeAspect="1"/>
          </p:cNvPicPr>
          <p:nvPr/>
        </p:nvPicPr>
        <p:blipFill>
          <a:blip r:embed="rId2"/>
          <a:stretch>
            <a:fillRect/>
          </a:stretch>
        </p:blipFill>
        <p:spPr>
          <a:xfrm>
            <a:off x="7882128" y="109728"/>
            <a:ext cx="1097280" cy="242439"/>
          </a:xfrm>
          <a:prstGeom prst="rect">
            <a:avLst/>
          </a:prstGeom>
        </p:spPr>
      </p:pic>
      <p:sp>
        <p:nvSpPr>
          <p:cNvPr id="12" name="Text 7"/>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14 / 15</a:t>
            </a:r>
            <a:endParaRPr lang="en-US" sz="900" dirty="0"/>
          </a:p>
        </p:txBody>
      </p:sp>
      <p:sp>
        <p:nvSpPr>
          <p:cNvPr id="13" name="Text 8"/>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5F7183"/>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1" cy="1"/>
          <a:chOff x="0" y="0"/>
          <a:chExt cx="0" cy="0"/>
        </a:xfrm>
      </p:grpSpPr>
      <p:sp>
        <p:nvSpPr>
          <p:cNvPr id="2" name="Shape 0"/>
          <p:cNvSpPr/>
          <p:nvPr/>
        </p:nvSpPr>
        <p:spPr>
          <a:xfrm>
            <a:off x="6766560" y="-1371600"/>
            <a:ext cx="4206240" cy="4206240"/>
          </a:xfrm>
          <a:prstGeom prst="ellipse">
            <a:avLst/>
          </a:prstGeom>
          <a:solidFill>
            <a:srgbClr val="13314F"/>
          </a:solidFill>
          <a:ln w="12700">
            <a:solidFill>
              <a:srgbClr val="13314F"/>
            </a:solidFill>
            <a:prstDash val="solid"/>
          </a:ln>
        </p:spPr>
      </p:sp>
      <p:sp>
        <p:nvSpPr>
          <p:cNvPr id="3" name="Shape 1"/>
          <p:cNvSpPr/>
          <p:nvPr/>
        </p:nvSpPr>
        <p:spPr>
          <a:xfrm>
            <a:off x="8138160" y="2103120"/>
            <a:ext cx="2377440" cy="2377440"/>
          </a:xfrm>
          <a:prstGeom prst="ellipse">
            <a:avLst/>
          </a:prstGeom>
          <a:solidFill>
            <a:srgbClr val="007F72">
              <a:alpha val="28000"/>
            </a:srgbClr>
          </a:solidFill>
          <a:ln/>
        </p:spPr>
      </p:sp>
      <p:sp>
        <p:nvSpPr>
          <p:cNvPr id="4" name="Text 2"/>
          <p:cNvSpPr txBox="1"/>
          <p:nvPr/>
        </p:nvSpPr>
        <p:spPr>
          <a:xfrm>
            <a:off x="502920" y="475488"/>
            <a:ext cx="6766560" cy="274320"/>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Tiết 2 · 第二節小結</a:t>
            </a:r>
            <a:endParaRPr lang="en-US" sz="1250" dirty="0"/>
          </a:p>
        </p:txBody>
      </p:sp>
      <p:sp>
        <p:nvSpPr>
          <p:cNvPr id="5" name="Text 3"/>
          <p:cNvSpPr txBox="1"/>
          <p:nvPr/>
        </p:nvSpPr>
        <p:spPr>
          <a:xfrm>
            <a:off x="502920" y="822960"/>
            <a:ext cx="8046720" cy="1060704"/>
          </a:xfrm>
          <a:prstGeom prst="rect">
            <a:avLst/>
          </a:prstGeom>
          <a:noFill/>
          <a:ln/>
        </p:spPr>
        <p:txBody>
          <a:bodyPr wrap="square" lIns="0" tIns="0" rIns="0" bIns="0" rtlCol="0" anchor="t"/>
          <a:lstStyle/>
          <a:p>
            <a:pPr indent="0" marL="0">
              <a:lnSpc>
                <a:spcPct val="120000"/>
              </a:lnSpc>
              <a:buNone/>
            </a:pPr>
            <a:r>
              <a:rPr lang="en-US" sz="2500" b="1" dirty="0">
                <a:solidFill>
                  <a:srgbClr val="FFFFFF"/>
                </a:solidFill>
                <a:latin typeface="Arial" pitchFamily="34" charset="0"/>
                <a:ea typeface="Arial" pitchFamily="34" charset="-122"/>
                <a:cs typeface="Arial" pitchFamily="34" charset="-120"/>
              </a:rPr>
              <a:t>Mang ba câu này lên máy</a:t>
            </a:r>
            <a:endParaRPr lang="en-US" sz="2500" dirty="0"/>
          </a:p>
          <a:p>
            <a:pPr indent="0" marL="0">
              <a:lnSpc>
                <a:spcPct val="120000"/>
              </a:lnSpc>
              <a:buNone/>
            </a:pPr>
            <a:r>
              <a:rPr lang="en-US" sz="1500" dirty="0">
                <a:solidFill>
                  <a:srgbClr val="AFC3D4"/>
                </a:solidFill>
                <a:latin typeface="微軟正黑體" pitchFamily="34" charset="0"/>
                <a:ea typeface="微軟正黑體" pitchFamily="34" charset="-122"/>
                <a:cs typeface="微軟正黑體" pitchFamily="34" charset="-120"/>
              </a:rPr>
              <a:t>帶三句話上機</a:t>
            </a:r>
            <a:endParaRPr lang="en-US" sz="2500" dirty="0"/>
          </a:p>
        </p:txBody>
      </p:sp>
      <p:sp>
        <p:nvSpPr>
          <p:cNvPr id="6" name="Shape 4"/>
          <p:cNvSpPr/>
          <p:nvPr/>
        </p:nvSpPr>
        <p:spPr>
          <a:xfrm>
            <a:off x="502920" y="1773936"/>
            <a:ext cx="45720" cy="672713"/>
          </a:xfrm>
          <a:prstGeom prst="rect">
            <a:avLst/>
          </a:prstGeom>
          <a:solidFill>
            <a:srgbClr val="00A896"/>
          </a:solidFill>
          <a:ln/>
        </p:spPr>
      </p:sp>
      <p:sp>
        <p:nvSpPr>
          <p:cNvPr id="7" name="Text 5"/>
          <p:cNvSpPr txBox="1"/>
          <p:nvPr/>
        </p:nvSpPr>
        <p:spPr>
          <a:xfrm>
            <a:off x="722376" y="1737360"/>
            <a:ext cx="7863840" cy="782441"/>
          </a:xfrm>
          <a:prstGeom prst="rect">
            <a:avLst/>
          </a:prstGeom>
          <a:noFill/>
          <a:ln/>
        </p:spPr>
        <p:txBody>
          <a:bodyPr wrap="square" lIns="0" tIns="0" rIns="0" bIns="0" rtlCol="0" anchor="t"/>
          <a:lstStyle/>
          <a:p>
            <a:pPr indent="0" marL="0">
              <a:lnSpc>
                <a:spcPct val="118000"/>
              </a:lnSpc>
              <a:buNone/>
            </a:pPr>
            <a:r>
              <a:rPr lang="en-US" sz="1350" b="1" dirty="0">
                <a:solidFill>
                  <a:srgbClr val="FFFFFF"/>
                </a:solidFill>
                <a:latin typeface="Arial" pitchFamily="34" charset="0"/>
                <a:ea typeface="Arial" pitchFamily="34" charset="-122"/>
                <a:cs typeface="Arial" pitchFamily="34" charset="-120"/>
              </a:rPr>
              <a:t>Camera: màn trập cuốn làm méo vật đang chạy; thiếu dải động thì hầm đen hoặc trời trắng; không có LFM thì đèn đỏ có thể chụp thành tắt.</a:t>
            </a:r>
            <a:endParaRPr lang="en-US" sz="1350" dirty="0"/>
          </a:p>
          <a:p>
            <a:pPr indent="0" marL="0">
              <a:lnSpc>
                <a:spcPct val="118000"/>
              </a:lnSpc>
              <a:buNone/>
            </a:pPr>
            <a:r>
              <a:rPr lang="en-US" sz="1200" dirty="0">
                <a:solidFill>
                  <a:srgbClr val="AFC3D4"/>
                </a:solidFill>
                <a:latin typeface="微軟正黑體" pitchFamily="34" charset="0"/>
                <a:ea typeface="微軟正黑體" pitchFamily="34" charset="-122"/>
                <a:cs typeface="微軟正黑體" pitchFamily="34" charset="-120"/>
              </a:rPr>
              <a:t>相機：捲簾快門會扭曲移動中的東西；動態範圍不夠，隧道裡黑或隧道外白；沒有 LFM，紅燈可能拍成沒亮。</a:t>
            </a:r>
            <a:endParaRPr lang="en-US" sz="1350" dirty="0"/>
          </a:p>
        </p:txBody>
      </p:sp>
      <p:sp>
        <p:nvSpPr>
          <p:cNvPr id="8" name="Shape 6"/>
          <p:cNvSpPr/>
          <p:nvPr/>
        </p:nvSpPr>
        <p:spPr>
          <a:xfrm>
            <a:off x="502920" y="2647817"/>
            <a:ext cx="45720" cy="672713"/>
          </a:xfrm>
          <a:prstGeom prst="rect">
            <a:avLst/>
          </a:prstGeom>
          <a:solidFill>
            <a:srgbClr val="FFB020"/>
          </a:solidFill>
          <a:ln/>
        </p:spPr>
      </p:sp>
      <p:sp>
        <p:nvSpPr>
          <p:cNvPr id="9" name="Text 7"/>
          <p:cNvSpPr txBox="1"/>
          <p:nvPr/>
        </p:nvSpPr>
        <p:spPr>
          <a:xfrm>
            <a:off x="722376" y="2611241"/>
            <a:ext cx="7863840" cy="782441"/>
          </a:xfrm>
          <a:prstGeom prst="rect">
            <a:avLst/>
          </a:prstGeom>
          <a:noFill/>
          <a:ln/>
        </p:spPr>
        <p:txBody>
          <a:bodyPr wrap="square" lIns="0" tIns="0" rIns="0" bIns="0" rtlCol="0" anchor="t"/>
          <a:lstStyle/>
          <a:p>
            <a:pPr indent="0" marL="0">
              <a:lnSpc>
                <a:spcPct val="118000"/>
              </a:lnSpc>
              <a:buNone/>
            </a:pPr>
            <a:r>
              <a:rPr lang="en-US" sz="1350" b="1" dirty="0">
                <a:solidFill>
                  <a:srgbClr val="FFFFFF"/>
                </a:solidFill>
                <a:latin typeface="Arial" pitchFamily="34" charset="0"/>
                <a:ea typeface="Arial" pitchFamily="34" charset="-122"/>
                <a:cs typeface="Arial" pitchFamily="34" charset="-120"/>
              </a:rPr>
              <a:t>Lidar: bước sóng quyết định được bắn mạnh tới đâu; Class 1 là ngưỡng bắt buộc; nhiều lần phản hồi là để sống sót trong mưa bụi.</a:t>
            </a:r>
            <a:endParaRPr lang="en-US" sz="1350" dirty="0"/>
          </a:p>
          <a:p>
            <a:pPr indent="0" marL="0">
              <a:lnSpc>
                <a:spcPct val="118000"/>
              </a:lnSpc>
              <a:buNone/>
            </a:pPr>
            <a:r>
              <a:rPr lang="en-US" sz="1200" dirty="0">
                <a:solidFill>
                  <a:srgbClr val="AFC3D4"/>
                </a:solidFill>
                <a:latin typeface="微軟正黑體" pitchFamily="34" charset="0"/>
                <a:ea typeface="微軟正黑體" pitchFamily="34" charset="-122"/>
                <a:cs typeface="微軟正黑體" pitchFamily="34" charset="-120"/>
              </a:rPr>
              <a:t>光達：波長決定能打多強；Class 1 是門檻；多次回波是為了在雨和灰塵裡活下來。</a:t>
            </a:r>
            <a:endParaRPr lang="en-US" sz="1350" dirty="0"/>
          </a:p>
        </p:txBody>
      </p:sp>
      <p:sp>
        <p:nvSpPr>
          <p:cNvPr id="10" name="Shape 8"/>
          <p:cNvSpPr/>
          <p:nvPr/>
        </p:nvSpPr>
        <p:spPr>
          <a:xfrm>
            <a:off x="502920" y="3521698"/>
            <a:ext cx="45720" cy="672713"/>
          </a:xfrm>
          <a:prstGeom prst="rect">
            <a:avLst/>
          </a:prstGeom>
          <a:solidFill>
            <a:srgbClr val="00A896"/>
          </a:solidFill>
          <a:ln/>
        </p:spPr>
      </p:sp>
      <p:sp>
        <p:nvSpPr>
          <p:cNvPr id="11" name="Text 9"/>
          <p:cNvSpPr txBox="1"/>
          <p:nvPr/>
        </p:nvSpPr>
        <p:spPr>
          <a:xfrm>
            <a:off x="722376" y="3485122"/>
            <a:ext cx="7863840" cy="782441"/>
          </a:xfrm>
          <a:prstGeom prst="rect">
            <a:avLst/>
          </a:prstGeom>
          <a:noFill/>
          <a:ln/>
        </p:spPr>
        <p:txBody>
          <a:bodyPr wrap="square" lIns="0" tIns="0" rIns="0" bIns="0" rtlCol="0" anchor="t"/>
          <a:lstStyle/>
          <a:p>
            <a:pPr indent="0" marL="0">
              <a:lnSpc>
                <a:spcPct val="118000"/>
              </a:lnSpc>
              <a:buNone/>
            </a:pPr>
            <a:r>
              <a:rPr lang="en-US" sz="1350" b="1" dirty="0">
                <a:solidFill>
                  <a:srgbClr val="FFFFFF"/>
                </a:solidFill>
                <a:latin typeface="Arial" pitchFamily="34" charset="0"/>
                <a:ea typeface="Arial" pitchFamily="34" charset="-122"/>
                <a:cs typeface="Arial" pitchFamily="34" charset="-120"/>
              </a:rPr>
              <a:t>Hai cảm biến tốt chưa chắc ghép lại đúng: lệch 1° ở 50 m là gần 1 m; lệch 50 ms ở 40 km/h là hơn nửa mét.</a:t>
            </a:r>
            <a:endParaRPr lang="en-US" sz="1350" dirty="0"/>
          </a:p>
          <a:p>
            <a:pPr indent="0" marL="0">
              <a:lnSpc>
                <a:spcPct val="118000"/>
              </a:lnSpc>
              <a:buNone/>
            </a:pPr>
            <a:r>
              <a:rPr lang="en-US" sz="1200" dirty="0">
                <a:solidFill>
                  <a:srgbClr val="AFC3D4"/>
                </a:solidFill>
                <a:latin typeface="微軟正黑體" pitchFamily="34" charset="0"/>
                <a:ea typeface="微軟正黑體" pitchFamily="34" charset="-122"/>
                <a:cs typeface="微軟正黑體" pitchFamily="34" charset="-120"/>
              </a:rPr>
              <a:t>兩顆好的感測器合起來不一定對：差 1 度，50 公尺就差近 1 公尺；差 50 毫秒，時速 40 就差半公尺以上。</a:t>
            </a:r>
            <a:endParaRPr lang="en-US" sz="1350" dirty="0"/>
          </a:p>
        </p:txBody>
      </p:sp>
      <p:sp>
        <p:nvSpPr>
          <p:cNvPr id="13" name="Text 10"/>
          <p:cNvSpPr txBox="1"/>
          <p:nvPr/>
        </p:nvSpPr>
        <p:spPr>
          <a:xfrm>
            <a:off x="109728" y="128016"/>
            <a:ext cx="82296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15 / 15</a:t>
            </a:r>
            <a:endParaRPr lang="en-US" sz="900" dirty="0"/>
          </a:p>
        </p:txBody>
      </p:sp>
      <p:sp>
        <p:nvSpPr>
          <p:cNvPr id="14" name="Text 11"/>
          <p:cNvSpPr txBox="1"/>
          <p:nvPr/>
        </p:nvSpPr>
        <p:spPr>
          <a:xfrm>
            <a:off x="960120" y="128016"/>
            <a:ext cx="2011680" cy="256032"/>
          </a:xfrm>
          <a:prstGeom prst="rect">
            <a:avLst/>
          </a:prstGeom>
          <a:noFill/>
          <a:ln/>
        </p:spPr>
        <p:txBody>
          <a:bodyPr wrap="square" lIns="0" tIns="0" rIns="0" bIns="0" rtlCol="0" anchor="ctr"/>
          <a:lstStyle/>
          <a:p>
            <a:pPr indent="0" marL="0">
              <a:buNone/>
            </a:pPr>
            <a:r>
              <a:rPr lang="en-US" sz="900" dirty="0">
                <a:solidFill>
                  <a:srgbClr val="9FB3C8"/>
                </a:solidFill>
                <a:latin typeface="Arial" pitchFamily="34" charset="0"/>
                <a:ea typeface="Arial" pitchFamily="34" charset="-122"/>
                <a:cs typeface="Arial" pitchFamily="34" charset="-120"/>
              </a:rPr>
              <a:t>Tiết 2 · 第 2 節</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自動駕駛原理</dc:creator>
  <cp:lastModifiedBy>自動駕駛原理</cp:lastModifiedBy>
  <cp:revision>1</cp:revision>
  <dcterms:created xsi:type="dcterms:W3CDTF">2026-10-02T15:38:27Z</dcterms:created>
  <dcterms:modified xsi:type="dcterms:W3CDTF">2026-10-02T15:38:27Z</dcterms:modified>
</cp:coreProperties>
</file>