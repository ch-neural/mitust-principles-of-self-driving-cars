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第二節開始。
</a:t>
            </a:r>
          </a:p>
          <a:p>
            <a:pPr algn="l">
              <a:spcBef>
                <a:spcPts val="0"/>
              </a:spcBef>
              <a:spcAft>
                <a:spcPts val="192"/>
              </a:spcAft>
            </a:pPr>
            <a:r>
              <a:rPr sz="1150" lang="zh-TW" dirty="0">
                <a:solidFill>
                  <a:srgbClr val="000000"/>
                </a:solidFill>
                <a:latin typeface="Arial Unicode MS"/>
                <a:ea typeface="Arial Unicode MS"/>
                <a:cs typeface="Arial Unicode MS"/>
              </a:rPr>
              <a:t>上一節我們找的四個數字，我叫它</a:t>
            </a:r>
            <a:r>
              <a:rPr sz="1150" b="1" lang="zh-TW" dirty="0">
                <a:solidFill>
                  <a:srgbClr val="000000"/>
                </a:solidFill>
                <a:latin typeface="Arial Unicode MS"/>
                <a:ea typeface="Arial Unicode MS"/>
                <a:cs typeface="Arial Unicode MS"/>
              </a:rPr>
              <a:t>第一層</a:t>
            </a:r>
            <a:r>
              <a:rPr sz="11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92"/>
              </a:spcAft>
            </a:pPr>
            <a:r>
              <a:rPr sz="1150" lang="zh-TW" dirty="0">
                <a:solidFill>
                  <a:srgbClr val="000000"/>
                </a:solidFill>
                <a:latin typeface="Arial Unicode MS"/>
                <a:ea typeface="Arial Unicode MS"/>
                <a:cs typeface="Arial Unicode MS"/>
              </a:rPr>
              <a:t>這一節我要帶各位往下翻。</a:t>
            </a:r>
            <a:r>
              <a:rPr sz="1150" b="1" lang="zh-TW" dirty="0">
                <a:solidFill>
                  <a:srgbClr val="000000"/>
                </a:solidFill>
                <a:latin typeface="Arial Unicode MS"/>
                <a:ea typeface="Arial Unicode MS"/>
                <a:cs typeface="Arial Unicode MS"/>
              </a:rPr>
              <a:t>第二層</a:t>
            </a:r>
            <a:r>
              <a:rPr sz="1150" lang="zh-TW" dirty="0">
                <a:solidFill>
                  <a:srgbClr val="000000"/>
                </a:solidFill>
                <a:latin typeface="Arial Unicode MS"/>
                <a:ea typeface="Arial Unicode MS"/>
                <a:cs typeface="Arial Unicode MS"/>
              </a:rPr>
              <a:t>還有一堆數字，大部分的人不看，可是</a:t>
            </a:r>
            <a:r>
              <a:rPr sz="1150" b="1" lang="zh-TW" dirty="0">
                <a:solidFill>
                  <a:srgbClr val="000000"/>
                </a:solidFill>
                <a:latin typeface="Arial Unicode MS"/>
                <a:ea typeface="Arial Unicode MS"/>
                <a:cs typeface="Arial Unicode MS"/>
              </a:rPr>
              <a:t>真的出事的時候，常常是出在那幾行</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先講清楚，免得各位拿著 PDF 對不上：</a:t>
            </a:r>
            <a:r>
              <a:rPr sz="1150" b="1" lang="zh-TW" dirty="0">
                <a:solidFill>
                  <a:srgbClr val="000000"/>
                </a:solidFill>
                <a:latin typeface="Arial Unicode MS"/>
                <a:ea typeface="Arial Unicode MS"/>
                <a:cs typeface="Arial Unicode MS"/>
              </a:rPr>
              <a:t>第一層、第二層是我分的，不是文件的頁碼。</a:t>
            </a:r>
            <a:r>
              <a:rPr sz="115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92"/>
              </a:spcAft>
            </a:pPr>
            <a:r>
              <a:rPr sz="1150" lang="zh-TW" dirty="0">
                <a:solidFill>
                  <a:srgbClr val="000000"/>
                </a:solidFill>
                <a:latin typeface="Arial Unicode MS"/>
                <a:ea typeface="Arial Unicode MS"/>
                <a:cs typeface="Arial Unicode MS"/>
              </a:rPr>
              <a:t>我挑三組最重要的。
</a:t>
            </a:r>
          </a:p>
          <a:p>
            <a:pPr algn="l">
              <a:spcBef>
                <a:spcPts val="0"/>
              </a:spcBef>
              <a:spcAft>
                <a:spcPts val="192"/>
              </a:spcAft>
            </a:pPr>
            <a:r>
              <a:rPr sz="1150" lang="zh-TW" dirty="0">
                <a:solidFill>
                  <a:srgbClr val="000000"/>
                </a:solidFill>
                <a:latin typeface="Arial Unicode MS"/>
                <a:ea typeface="Arial Unicode MS"/>
                <a:cs typeface="Arial Unicode MS"/>
              </a:rPr>
              <a:t>第一組是相機的：</a:t>
            </a:r>
            <a:r>
              <a:rPr sz="1150" b="1" lang="zh-TW" dirty="0">
                <a:solidFill>
                  <a:srgbClr val="000000"/>
                </a:solidFill>
                <a:latin typeface="Arial Unicode MS"/>
                <a:ea typeface="Arial Unicode MS"/>
                <a:cs typeface="Arial Unicode MS"/>
              </a:rPr>
              <a:t>快門怎麼掃、動態範圍多少、LED 閃爍怎麼處理</a:t>
            </a:r>
            <a:r>
              <a:rPr sz="11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92"/>
              </a:spcAft>
            </a:pPr>
            <a:r>
              <a:rPr sz="1150" lang="zh-TW" dirty="0">
                <a:solidFill>
                  <a:srgbClr val="000000"/>
                </a:solidFill>
                <a:latin typeface="Arial Unicode MS"/>
                <a:ea typeface="Arial Unicode MS"/>
                <a:cs typeface="Arial Unicode MS"/>
              </a:rPr>
              <a:t>第二組是光達的：</a:t>
            </a:r>
            <a:r>
              <a:rPr sz="1150" b="1" lang="zh-TW" dirty="0">
                <a:solidFill>
                  <a:srgbClr val="000000"/>
                </a:solidFill>
                <a:latin typeface="Arial Unicode MS"/>
                <a:ea typeface="Arial Unicode MS"/>
                <a:cs typeface="Arial Unicode MS"/>
              </a:rPr>
              <a:t>波長、眼睛安全等級、幾次回波</a:t>
            </a:r>
            <a:r>
              <a:rPr sz="11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92"/>
              </a:spcAft>
            </a:pPr>
            <a:r>
              <a:rPr sz="1150" lang="zh-TW" dirty="0">
                <a:solidFill>
                  <a:srgbClr val="000000"/>
                </a:solidFill>
                <a:latin typeface="Arial Unicode MS"/>
                <a:ea typeface="Arial Unicode MS"/>
                <a:cs typeface="Arial Unicode MS"/>
              </a:rPr>
              <a:t>第三組是兩種都有的，而且是最多人忽略的：</a:t>
            </a:r>
            <a:r>
              <a:rPr sz="1150" b="1" lang="zh-TW" dirty="0">
                <a:solidFill>
                  <a:srgbClr val="000000"/>
                </a:solidFill>
                <a:latin typeface="Arial Unicode MS"/>
                <a:ea typeface="Arial Unicode MS"/>
                <a:cs typeface="Arial Unicode MS"/>
              </a:rPr>
              <a:t>標定和時間同步</a:t>
            </a:r>
            <a:r>
              <a:rPr sz="11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92"/>
              </a:spcAft>
            </a:pPr>
            <a:r>
              <a:rPr sz="11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先講第一件，</a:t>
            </a:r>
            <a:r>
              <a:rPr sz="900" b="1" lang="zh-TW" dirty="0">
                <a:solidFill>
                  <a:srgbClr val="000000"/>
                </a:solidFill>
                <a:latin typeface="Arial Unicode MS"/>
                <a:ea typeface="Arial Unicode MS"/>
                <a:cs typeface="Arial Unicode MS"/>
              </a:rPr>
              <a:t>快門方式</a:t>
            </a:r>
            <a:r>
              <a:rPr sz="900" lang="zh-TW" dirty="0">
                <a:solidFill>
                  <a:srgbClr val="000000"/>
                </a:solidFill>
                <a:latin typeface="Arial Unicode MS"/>
                <a:ea typeface="Arial Unicode MS"/>
                <a:cs typeface="Arial Unicode MS"/>
              </a:rPr>
              <a:t>。規格表上那一行的欄位名叫 </a:t>
            </a:r>
            <a:r>
              <a:rPr sz="900" b="1" lang="zh-TW" dirty="0">
                <a:solidFill>
                  <a:srgbClr val="000000"/>
                </a:solidFill>
                <a:latin typeface="Arial Unicode MS"/>
                <a:ea typeface="Arial Unicode MS"/>
                <a:cs typeface="Arial Unicode MS"/>
              </a:rPr>
              <a:t>Shutter Type</a:t>
            </a:r>
            <a:r>
              <a:rPr sz="900" lang="zh-TW" dirty="0">
                <a:solidFill>
                  <a:srgbClr val="000000"/>
                </a:solidFill>
                <a:latin typeface="Arial Unicode MS"/>
                <a:ea typeface="Arial Unicode MS"/>
                <a:cs typeface="Arial Unicode MS"/>
              </a:rPr>
              <a:t>，有的廠商只寫 Shutter；上面填的不是 rolling shutter 就是 global shutter。AR0233AT 填的是 </a:t>
            </a:r>
            <a:r>
              <a:rPr sz="900" b="1" lang="zh-TW" dirty="0">
                <a:solidFill>
                  <a:srgbClr val="000000"/>
                </a:solidFill>
                <a:latin typeface="Arial Unicode MS"/>
                <a:ea typeface="Arial Unicode MS"/>
                <a:cs typeface="Arial Unicode MS"/>
              </a:rPr>
              <a:t>electronic rolling shutter</a:t>
            </a:r>
            <a:r>
              <a:rPr sz="900" lang="zh-TW" dirty="0">
                <a:solidFill>
                  <a:srgbClr val="000000"/>
                </a:solidFill>
                <a:latin typeface="Arial Unicode MS"/>
                <a:ea typeface="Arial Unicode MS"/>
                <a:cs typeface="Arial Unicode MS"/>
              </a:rPr>
              <a:t>，電子捲簾。
</a:t>
            </a:r>
          </a:p>
          <a:p>
            <a:pPr algn="l">
              <a:spcBef>
                <a:spcPts val="0"/>
              </a:spcBef>
              <a:spcAft>
                <a:spcPts val="150"/>
              </a:spcAft>
            </a:pPr>
            <a:r>
              <a:rPr sz="900" lang="zh-TW" dirty="0">
                <a:solidFill>
                  <a:srgbClr val="000000"/>
                </a:solidFill>
                <a:latin typeface="Arial Unicode MS"/>
                <a:ea typeface="Arial Unicode MS"/>
                <a:cs typeface="Arial Unicode MS"/>
              </a:rPr>
              <a:t>這裡要提醒一次：</a:t>
            </a:r>
            <a:r>
              <a:rPr sz="900" b="1" lang="zh-TW" dirty="0">
                <a:solidFill>
                  <a:srgbClr val="000000"/>
                </a:solidFill>
                <a:latin typeface="Arial Unicode MS"/>
                <a:ea typeface="Arial Unicode MS"/>
                <a:cs typeface="Arial Unicode MS"/>
              </a:rPr>
              <a:t>第二張說過，這一行不在那份兩頁的 Product Preview 上</a:t>
            </a:r>
            <a:r>
              <a:rPr sz="9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50"/>
              </a:spcAft>
            </a:pPr>
            <a:r>
              <a:rPr sz="900" lang="zh-TW" dirty="0">
                <a:solidFill>
                  <a:srgbClr val="000000"/>
                </a:solidFill>
                <a:latin typeface="Arial Unicode MS"/>
                <a:ea typeface="Arial Unicode MS"/>
                <a:cs typeface="Arial Unicode MS"/>
              </a:rPr>
              <a:t>大部分的人以為，相機按一下就是一整張照片同時拍好。</a:t>
            </a:r>
            <a:r>
              <a:rPr sz="900" b="1" lang="zh-TW" dirty="0">
                <a:solidFill>
                  <a:srgbClr val="000000"/>
                </a:solidFill>
                <a:latin typeface="Arial Unicode MS"/>
                <a:ea typeface="Arial Unicode MS"/>
                <a:cs typeface="Arial Unicode MS"/>
              </a:rPr>
              <a:t>大部分的車用相機不是這樣。</a:t>
            </a:r>
            <a:r>
              <a:rPr sz="900" lang="zh-TW" dirty="0">
                <a:solidFill>
                  <a:srgbClr val="000000"/>
                </a:solidFill>
                <a:latin typeface="Arial Unicode MS"/>
                <a:ea typeface="Arial Unicode MS"/>
                <a:cs typeface="Arial Unicode MS"/>
              </a:rPr>
              <a:t>它叫</a:t>
            </a:r>
            <a:r>
              <a:rPr sz="900" b="1" lang="zh-TW" dirty="0">
                <a:solidFill>
                  <a:srgbClr val="000000"/>
                </a:solidFill>
                <a:latin typeface="Arial Unicode MS"/>
                <a:ea typeface="Arial Unicode MS"/>
                <a:cs typeface="Arial Unicode MS"/>
              </a:rPr>
              <a:t>捲簾快門</a:t>
            </a:r>
            <a:r>
              <a:rPr sz="900" lang="zh-TW" dirty="0">
                <a:solidFill>
                  <a:srgbClr val="000000"/>
                </a:solidFill>
                <a:latin typeface="Arial Unicode MS"/>
                <a:ea typeface="Arial Unicode MS"/>
                <a:cs typeface="Arial Unicode MS"/>
              </a:rPr>
              <a:t>，rolling shutter。感光元件是</a:t>
            </a:r>
            <a:r>
              <a:rPr sz="900" b="1" lang="zh-TW" dirty="0">
                <a:solidFill>
                  <a:srgbClr val="000000"/>
                </a:solidFill>
                <a:latin typeface="Arial Unicode MS"/>
                <a:ea typeface="Arial Unicode MS"/>
                <a:cs typeface="Arial Unicode MS"/>
              </a:rPr>
              <a:t>一列一列</a:t>
            </a:r>
            <a:r>
              <a:rPr sz="9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50"/>
              </a:spcAft>
            </a:pPr>
            <a:r>
              <a:rPr sz="900" lang="zh-TW" dirty="0">
                <a:solidFill>
                  <a:srgbClr val="000000"/>
                </a:solidFill>
                <a:latin typeface="Arial Unicode MS"/>
                <a:ea typeface="Arial Unicode MS"/>
                <a:cs typeface="Arial Unicode MS"/>
              </a:rPr>
              <a:t>所以同一張照片裡面，最上面那一列和最下面那一列，</a:t>
            </a:r>
            <a:r>
              <a:rPr sz="900" b="1" lang="zh-TW" dirty="0">
                <a:solidFill>
                  <a:srgbClr val="000000"/>
                </a:solidFill>
                <a:latin typeface="Arial Unicode MS"/>
                <a:ea typeface="Arial Unicode MS"/>
                <a:cs typeface="Arial Unicode MS"/>
              </a:rPr>
              <a:t>不是同一個時間拍的</a:t>
            </a:r>
            <a:r>
              <a:rPr sz="9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50"/>
              </a:spcAft>
            </a:pPr>
            <a:r>
              <a:rPr sz="900" lang="zh-TW" dirty="0">
                <a:solidFill>
                  <a:srgbClr val="000000"/>
                </a:solidFill>
                <a:latin typeface="Arial Unicode MS"/>
                <a:ea typeface="Arial Unicode MS"/>
                <a:cs typeface="Arial Unicode MS"/>
              </a:rPr>
              <a:t>左邊這張動圖就是在演這件事，它會一直循環播，各位邊聽邊看。一開始那根電線桿是</a:t>
            </a:r>
            <a:r>
              <a:rPr sz="900" b="1" lang="zh-TW" dirty="0">
                <a:solidFill>
                  <a:srgbClr val="000000"/>
                </a:solidFill>
                <a:latin typeface="Arial Unicode MS"/>
                <a:ea typeface="Arial Unicode MS"/>
                <a:cs typeface="Arial Unicode MS"/>
              </a:rPr>
              <a:t>直的</a:t>
            </a:r>
            <a:r>
              <a:rPr sz="9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900" b="1" lang="zh-TW" dirty="0">
                <a:solidFill>
                  <a:srgbClr val="000000"/>
                </a:solidFill>
                <a:latin typeface="Arial Unicode MS"/>
                <a:ea typeface="Arial Unicode MS"/>
                <a:cs typeface="Arial Unicode MS"/>
              </a:rPr>
              <a:t>那根直的電線桿，在照片裡變成斜的</a:t>
            </a:r>
            <a:r>
              <a:rPr sz="900" lang="zh-TW" dirty="0">
                <a:solidFill>
                  <a:srgbClr val="000000"/>
                </a:solidFill>
                <a:latin typeface="Arial Unicode MS"/>
                <a:ea typeface="Arial Unicode MS"/>
                <a:cs typeface="Arial Unicode MS"/>
              </a:rPr>
              <a:t>。下面那個箭頭就是上下差了多少。
</a:t>
            </a:r>
          </a:p>
          <a:p>
            <a:pPr algn="l">
              <a:spcBef>
                <a:spcPts val="0"/>
              </a:spcBef>
              <a:spcAft>
                <a:spcPts val="150"/>
              </a:spcAft>
            </a:pPr>
            <a:r>
              <a:rPr sz="900" lang="zh-TW" dirty="0">
                <a:solidFill>
                  <a:srgbClr val="000000"/>
                </a:solidFill>
                <a:latin typeface="Arial Unicode MS"/>
                <a:ea typeface="Arial Unicode MS"/>
                <a:cs typeface="Arial Unicode MS"/>
              </a:rPr>
              <a:t>對自駕車來說，這件事的嚴重性在哪裡？
</a:t>
            </a:r>
          </a:p>
          <a:p>
            <a:pPr algn="l">
              <a:spcBef>
                <a:spcPts val="0"/>
              </a:spcBef>
              <a:spcAft>
                <a:spcPts val="150"/>
              </a:spcAft>
            </a:pPr>
            <a:r>
              <a:rPr sz="9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900" b="1" lang="zh-TW" dirty="0">
                <a:solidFill>
                  <a:srgbClr val="000000"/>
                </a:solidFill>
                <a:latin typeface="Arial Unicode MS"/>
                <a:ea typeface="Arial Unicode MS"/>
                <a:cs typeface="Arial Unicode MS"/>
              </a:rPr>
              <a:t>被扭曲的形狀</a:t>
            </a:r>
            <a:r>
              <a:rPr sz="9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50"/>
              </a:spcAft>
            </a:pPr>
            <a:r>
              <a:rPr sz="900" lang="zh-TW" dirty="0">
                <a:solidFill>
                  <a:srgbClr val="000000"/>
                </a:solidFill>
                <a:latin typeface="Arial Unicode MS"/>
                <a:ea typeface="Arial Unicode MS"/>
                <a:cs typeface="Arial Unicode MS"/>
              </a:rPr>
              <a:t>那 </a:t>
            </a:r>
            <a:r>
              <a:rPr sz="900" b="1" lang="zh-TW" dirty="0">
                <a:solidFill>
                  <a:srgbClr val="000000"/>
                </a:solidFill>
                <a:latin typeface="Arial Unicode MS"/>
                <a:ea typeface="Arial Unicode MS"/>
                <a:cs typeface="Arial Unicode MS"/>
              </a:rPr>
              <a:t>global shutter</a:t>
            </a:r>
            <a:r>
              <a:rPr sz="900" lang="zh-TW" dirty="0">
                <a:solidFill>
                  <a:srgbClr val="000000"/>
                </a:solidFill>
                <a:latin typeface="Arial Unicode MS"/>
                <a:ea typeface="Arial Unicode MS"/>
                <a:cs typeface="Arial Unicode MS"/>
              </a:rPr>
              <a:t>——中文叫</a:t>
            </a:r>
            <a:r>
              <a:rPr sz="900" b="1" lang="zh-TW" dirty="0">
                <a:solidFill>
                  <a:srgbClr val="000000"/>
                </a:solidFill>
                <a:latin typeface="Arial Unicode MS"/>
                <a:ea typeface="Arial Unicode MS"/>
                <a:cs typeface="Arial Unicode MS"/>
              </a:rPr>
              <a:t>全域快門</a:t>
            </a:r>
            <a:r>
              <a:rPr sz="9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50"/>
              </a:spcAft>
            </a:pPr>
            <a:r>
              <a:rPr sz="900" lang="zh-TW" dirty="0">
                <a:solidFill>
                  <a:srgbClr val="000000"/>
                </a:solidFill>
                <a:latin typeface="Arial Unicode MS"/>
                <a:ea typeface="Arial Unicode MS"/>
                <a:cs typeface="Arial Unicode MS"/>
              </a:rPr>
              <a:t>大部分的車用感測器還是用捲簾，因為便宜。它的補救方式是</a:t>
            </a:r>
            <a:r>
              <a:rPr sz="900" b="1" lang="zh-TW" dirty="0">
                <a:solidFill>
                  <a:srgbClr val="000000"/>
                </a:solidFill>
                <a:latin typeface="Arial Unicode MS"/>
                <a:ea typeface="Arial Unicode MS"/>
                <a:cs typeface="Arial Unicode MS"/>
              </a:rPr>
              <a:t>讀得快一點</a:t>
            </a:r>
            <a:r>
              <a:rPr sz="900" lang="zh-TW" dirty="0">
                <a:solidFill>
                  <a:srgbClr val="000000"/>
                </a:solidFill>
                <a:latin typeface="Arial Unicode MS"/>
                <a:ea typeface="Arial Unicode MS"/>
                <a:cs typeface="Arial Unicode MS"/>
              </a:rPr>
              <a:t>——像上一節看的 AR0233AT，一秒六十張，等於整張一定要在</a:t>
            </a:r>
            <a:r>
              <a:rPr sz="900" b="1" lang="zh-TW" dirty="0">
                <a:solidFill>
                  <a:srgbClr val="000000"/>
                </a:solidFill>
                <a:latin typeface="Arial Unicode MS"/>
                <a:ea typeface="Arial Unicode MS"/>
                <a:cs typeface="Arial Unicode MS"/>
              </a:rPr>
              <a:t>十六點七毫秒</a:t>
            </a:r>
            <a:r>
              <a:rPr sz="9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50"/>
              </a:spcAft>
            </a:pPr>
            <a:r>
              <a:rPr sz="900" lang="zh-TW" dirty="0">
                <a:solidFill>
                  <a:srgbClr val="000000"/>
                </a:solidFill>
                <a:latin typeface="Arial Unicode MS"/>
                <a:ea typeface="Arial Unicode MS"/>
                <a:cs typeface="Arial Unicode MS"/>
              </a:rPr>
              <a:t>所以「更新率 60 fps」這一行，除了講即時性，也順便給了</a:t>
            </a:r>
            <a:r>
              <a:rPr sz="900" b="1" lang="zh-TW" dirty="0">
                <a:solidFill>
                  <a:srgbClr val="000000"/>
                </a:solidFill>
                <a:latin typeface="Arial Unicode MS"/>
                <a:ea typeface="Arial Unicode MS"/>
                <a:cs typeface="Arial Unicode MS"/>
              </a:rPr>
              <a:t>扭曲的上限</a:t>
            </a:r>
            <a:r>
              <a:rPr sz="900" lang="zh-TW" dirty="0">
                <a:solidFill>
                  <a:srgbClr val="000000"/>
                </a:solidFill>
                <a:latin typeface="Arial Unicode MS"/>
                <a:ea typeface="Arial Unicode MS"/>
                <a:cs typeface="Arial Unicode MS"/>
              </a:rPr>
              <a:t>：fps 愈高，從第一列到最後一列的時間差一定愈短。要講精確一點：真正決定扭曲的是</a:t>
            </a:r>
            <a:r>
              <a:rPr sz="900" b="1" lang="zh-TW" dirty="0">
                <a:solidFill>
                  <a:srgbClr val="000000"/>
                </a:solidFill>
                <a:latin typeface="Arial Unicode MS"/>
                <a:ea typeface="Arial Unicode MS"/>
                <a:cs typeface="Arial Unicode MS"/>
              </a:rPr>
              <a:t>整張讀完要多久</a:t>
            </a:r>
            <a:r>
              <a:rPr sz="9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200"/>
              </a:spcAft>
            </a:pPr>
            <a:r>
              <a:rPr sz="1200" lang="zh-TW" dirty="0">
                <a:solidFill>
                  <a:srgbClr val="000000"/>
                </a:solidFill>
                <a:latin typeface="Arial Unicode MS"/>
                <a:ea typeface="Arial Unicode MS"/>
                <a:cs typeface="Arial Unicode MS"/>
              </a:rPr>
              <a:t>這支是 Sony 原廠拍的，三十二秒。畫面分上下兩半：</a:t>
            </a:r>
            <a:r>
              <a:rPr sz="1200" b="1" lang="zh-TW" dirty="0">
                <a:solidFill>
                  <a:srgbClr val="000000"/>
                </a:solidFill>
                <a:latin typeface="Arial Unicode MS"/>
                <a:ea typeface="Arial Unicode MS"/>
                <a:cs typeface="Arial Unicode MS"/>
              </a:rPr>
              <a:t>上面標 Global Shutter，下面標 Rolling Shutter</a:t>
            </a:r>
            <a:r>
              <a:rPr sz="12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200"/>
              </a:spcAft>
            </a:pPr>
            <a:r>
              <a:rPr sz="1200" b="1" lang="zh-TW" dirty="0">
                <a:solidFill>
                  <a:srgbClr val="000000"/>
                </a:solidFill>
                <a:latin typeface="Arial Unicode MS"/>
                <a:ea typeface="Arial Unicode MS"/>
                <a:cs typeface="Arial Unicode MS"/>
              </a:rPr>
              <a:t>第一次播，各位只看一件事：主旋翼那兩片葉子。</a:t>
            </a:r>
            <a:r>
              <a:rPr sz="1200" lang="zh-TW" dirty="0">
                <a:solidFill>
                  <a:srgbClr val="000000"/>
                </a:solidFill>
                <a:latin typeface="Arial Unicode MS"/>
                <a:ea typeface="Arial Unicode MS"/>
                <a:cs typeface="Arial Unicode MS"/>
              </a:rPr>
              <a:t>上面那格，葉片是一條直線。下面那格，葉片</a:t>
            </a:r>
            <a:r>
              <a:rPr sz="1200" b="1" lang="zh-TW" dirty="0">
                <a:solidFill>
                  <a:srgbClr val="000000"/>
                </a:solidFill>
                <a:latin typeface="Arial Unicode MS"/>
                <a:ea typeface="Arial Unicode MS"/>
                <a:cs typeface="Arial Unicode MS"/>
              </a:rPr>
              <a:t>彎成香蕉形</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200"/>
              </a:spcAft>
            </a:pPr>
            <a:r>
              <a:rPr sz="1200" b="1" lang="zh-TW" dirty="0">
                <a:solidFill>
                  <a:srgbClr val="000000"/>
                </a:solidFill>
                <a:latin typeface="Arial Unicode MS"/>
                <a:ea typeface="Arial Unicode MS"/>
                <a:cs typeface="Arial Unicode MS"/>
              </a:rPr>
              <a:t>第二次播，看尾旋翼和機身。</a:t>
            </a:r>
            <a:r>
              <a:rPr sz="12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1200" b="1" lang="zh-TW" dirty="0">
                <a:solidFill>
                  <a:srgbClr val="000000"/>
                </a:solidFill>
                <a:latin typeface="Arial Unicode MS"/>
                <a:ea typeface="Arial Unicode MS"/>
                <a:cs typeface="Arial Unicode MS"/>
              </a:rPr>
              <a:t>會歪的是在動的東西</a:t>
            </a:r>
            <a:r>
              <a:rPr sz="1200" lang="zh-TW" dirty="0">
                <a:solidFill>
                  <a:srgbClr val="000000"/>
                </a:solidFill>
                <a:latin typeface="Arial Unicode MS"/>
                <a:ea typeface="Arial Unicode MS"/>
                <a:cs typeface="Arial Unicode MS"/>
              </a:rPr>
              <a:t>，這一點很重要。
</a:t>
            </a:r>
          </a:p>
          <a:p>
            <a:pPr algn="l">
              <a:spcBef>
                <a:spcPts val="0"/>
              </a:spcBef>
              <a:spcAft>
                <a:spcPts val="200"/>
              </a:spcAft>
            </a:pPr>
            <a:r>
              <a:rPr sz="12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1200" b="1" lang="zh-TW" dirty="0">
                <a:solidFill>
                  <a:srgbClr val="000000"/>
                </a:solidFill>
                <a:latin typeface="Arial Unicode MS"/>
                <a:ea typeface="Arial Unicode MS"/>
                <a:cs typeface="Arial Unicode MS"/>
              </a:rPr>
              <a:t>路上那台從旁邊切過來的機車，被扭成什麼形狀，演算法並不知道</a:t>
            </a:r>
            <a:r>
              <a:rPr sz="12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200"/>
              </a:spcAft>
            </a:pPr>
            <a:r>
              <a:rPr sz="1200" lang="zh-TW" dirty="0">
                <a:solidFill>
                  <a:srgbClr val="000000"/>
                </a:solidFill>
                <a:latin typeface="Arial Unicode MS"/>
                <a:ea typeface="Arial Unicode MS"/>
                <a:cs typeface="Arial Unicode MS"/>
              </a:rPr>
              <a:t>所以規格表上 Shutter Type 那一行，決定的不是照片好不好看，是</a:t>
            </a:r>
            <a:r>
              <a:rPr sz="1200" b="1" lang="zh-TW" dirty="0">
                <a:solidFill>
                  <a:srgbClr val="000000"/>
                </a:solidFill>
                <a:latin typeface="Arial Unicode MS"/>
                <a:ea typeface="Arial Unicode MS"/>
                <a:cs typeface="Arial Unicode MS"/>
              </a:rPr>
              <a:t>你的感知演算法會不會被餵進一個變形的東西</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第二行是</a:t>
            </a:r>
            <a:r>
              <a:rPr sz="950" b="1" lang="zh-TW" dirty="0">
                <a:solidFill>
                  <a:srgbClr val="000000"/>
                </a:solidFill>
                <a:latin typeface="Arial Unicode MS"/>
                <a:ea typeface="Arial Unicode MS"/>
                <a:cs typeface="Arial Unicode MS"/>
              </a:rPr>
              <a:t>動態範圍</a:t>
            </a:r>
            <a:r>
              <a:rPr sz="950" lang="zh-TW" dirty="0">
                <a:solidFill>
                  <a:srgbClr val="000000"/>
                </a:solidFill>
                <a:latin typeface="Arial Unicode MS"/>
                <a:ea typeface="Arial Unicode MS"/>
                <a:cs typeface="Arial Unicode MS"/>
              </a:rPr>
              <a:t>，Dynamic Range，單位是 dB，中文唸「</a:t>
            </a:r>
            <a:r>
              <a:rPr sz="950" b="1" lang="zh-TW" dirty="0">
                <a:solidFill>
                  <a:srgbClr val="000000"/>
                </a:solidFill>
                <a:latin typeface="Arial Unicode MS"/>
                <a:ea typeface="Arial Unicode MS"/>
                <a:cs typeface="Arial Unicode MS"/>
              </a:rPr>
              <a:t>分貝</a:t>
            </a:r>
            <a:r>
              <a:rPr sz="95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58"/>
              </a:spcAft>
            </a:pPr>
            <a:r>
              <a:rPr sz="95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950" b="1" lang="zh-TW" dirty="0">
                <a:solidFill>
                  <a:srgbClr val="000000"/>
                </a:solidFill>
                <a:latin typeface="Arial Unicode MS"/>
                <a:ea typeface="Arial Unicode MS"/>
                <a:cs typeface="Arial Unicode MS"/>
              </a:rPr>
              <a:t>每多 20 dB，就是再乘以十倍。</a:t>
            </a:r>
            <a:r>
              <a:rPr sz="95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950" b="1" lang="zh-TW" dirty="0">
                <a:solidFill>
                  <a:srgbClr val="000000"/>
                </a:solidFill>
                <a:latin typeface="Arial Unicode MS"/>
                <a:ea typeface="Arial Unicode MS"/>
                <a:cs typeface="Arial Unicode MS"/>
              </a:rPr>
              <a:t>多幾個零</a:t>
            </a:r>
            <a:r>
              <a:rPr sz="950" lang="zh-TW" dirty="0">
                <a:solidFill>
                  <a:srgbClr val="000000"/>
                </a:solidFill>
                <a:latin typeface="Arial Unicode MS"/>
                <a:ea typeface="Arial Unicode MS"/>
                <a:cs typeface="Arial Unicode MS"/>
              </a:rPr>
              <a:t>。會有同學問：分貝不是聲音的單位嗎？</a:t>
            </a:r>
            <a:r>
              <a:rPr sz="950" b="1" lang="zh-TW" dirty="0">
                <a:solidFill>
                  <a:srgbClr val="000000"/>
                </a:solidFill>
                <a:latin typeface="Arial Unicode MS"/>
                <a:ea typeface="Arial Unicode MS"/>
                <a:cs typeface="Arial Unicode MS"/>
              </a:rPr>
              <a:t>dB 本身不是任何東西的單位</a:t>
            </a:r>
            <a:r>
              <a:rPr sz="95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58"/>
              </a:spcAft>
            </a:pPr>
            <a:r>
              <a:rPr sz="95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950" b="1" lang="zh-TW" dirty="0">
                <a:solidFill>
                  <a:srgbClr val="000000"/>
                </a:solidFill>
                <a:latin typeface="Arial Unicode MS"/>
                <a:ea typeface="Arial Unicode MS"/>
                <a:cs typeface="Arial Unicode MS"/>
              </a:rPr>
              <a:t>那就是動態範圍不夠的樣子。</a:t>
            </a:r>
            <a:r>
              <a:rPr sz="95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58"/>
              </a:spcAft>
            </a:pPr>
            <a:r>
              <a:rPr sz="950" lang="zh-TW" dirty="0">
                <a:solidFill>
                  <a:srgbClr val="000000"/>
                </a:solidFill>
                <a:latin typeface="Arial Unicode MS"/>
                <a:ea typeface="Arial Unicode MS"/>
                <a:cs typeface="Arial Unicode MS"/>
              </a:rPr>
              <a:t>左邊這張動圖在演的就是這件事，它會一直循環播。先看右上角寫的是</a:t>
            </a:r>
            <a:r>
              <a:rPr sz="950" b="1" lang="zh-TW" dirty="0">
                <a:solidFill>
                  <a:srgbClr val="000000"/>
                </a:solidFill>
                <a:latin typeface="Arial Unicode MS"/>
                <a:ea typeface="Arial Unicode MS"/>
                <a:cs typeface="Arial Unicode MS"/>
              </a:rPr>
              <a:t>感測器 60 dB</a:t>
            </a:r>
            <a:r>
              <a:rPr sz="95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950" b="1" lang="zh-TW" dirty="0">
                <a:solidFill>
                  <a:srgbClr val="000000"/>
                </a:solidFill>
                <a:latin typeface="Arial Unicode MS"/>
                <a:ea typeface="Arial Unicode MS"/>
                <a:cs typeface="Arial Unicode MS"/>
              </a:rPr>
              <a:t>80 dB</a:t>
            </a:r>
            <a:r>
              <a:rPr sz="95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950" b="1" lang="zh-TW" dirty="0">
                <a:solidFill>
                  <a:srgbClr val="000000"/>
                </a:solidFill>
                <a:latin typeface="Arial Unicode MS"/>
                <a:ea typeface="Arial Unicode MS"/>
                <a:cs typeface="Arial Unicode MS"/>
              </a:rPr>
              <a:t>整片黑</a:t>
            </a:r>
            <a:r>
              <a:rPr sz="95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950" b="1" lang="zh-TW" dirty="0">
                <a:solidFill>
                  <a:srgbClr val="000000"/>
                </a:solidFill>
                <a:latin typeface="Arial Unicode MS"/>
                <a:ea typeface="Arial Unicode MS"/>
                <a:cs typeface="Arial Unicode MS"/>
              </a:rPr>
              <a:t>整片死白</a:t>
            </a:r>
            <a:r>
              <a:rPr sz="950" lang="zh-TW" dirty="0">
                <a:solidFill>
                  <a:srgbClr val="000000"/>
                </a:solidFill>
                <a:latin typeface="Arial Unicode MS"/>
                <a:ea typeface="Arial Unicode MS"/>
                <a:cs typeface="Arial Unicode MS"/>
              </a:rPr>
              <a:t>，外面那台車換它不見了。</a:t>
            </a:r>
            <a:r>
              <a:rPr sz="950" b="1" lang="zh-TW" dirty="0">
                <a:solidFill>
                  <a:srgbClr val="000000"/>
                </a:solidFill>
                <a:latin typeface="Arial Unicode MS"/>
                <a:ea typeface="Arial Unicode MS"/>
                <a:cs typeface="Arial Unicode MS"/>
              </a:rPr>
              <a:t>只能選一個。</a:t>
            </a:r>
            <a:r>
              <a:rPr sz="950" lang="zh-TW" dirty="0">
                <a:solidFill>
                  <a:srgbClr val="000000"/>
                </a:solidFill>
                <a:latin typeface="Arial Unicode MS"/>
                <a:ea typeface="Arial Unicode MS"/>
                <a:cs typeface="Arial Unicode MS"/>
              </a:rPr>
              <a:t>最後換成 </a:t>
            </a:r>
            <a:r>
              <a:rPr sz="950" b="1" lang="zh-TW" dirty="0">
                <a:solidFill>
                  <a:srgbClr val="000000"/>
                </a:solidFill>
                <a:latin typeface="Arial Unicode MS"/>
                <a:ea typeface="Arial Unicode MS"/>
                <a:cs typeface="Arial Unicode MS"/>
              </a:rPr>
              <a:t>140 dB</a:t>
            </a:r>
            <a:r>
              <a:rPr sz="95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58"/>
              </a:spcAft>
            </a:pPr>
            <a:r>
              <a:rPr sz="95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58"/>
              </a:spcAft>
            </a:pPr>
            <a:r>
              <a:rPr sz="950" lang="zh-TW" dirty="0">
                <a:solidFill>
                  <a:srgbClr val="000000"/>
                </a:solidFill>
                <a:latin typeface="Arial Unicode MS"/>
                <a:ea typeface="Arial Unicode MS"/>
                <a:cs typeface="Arial Unicode MS"/>
              </a:rPr>
              <a:t>人的眼睛大概可以處理 120 dB 左右。上一節那顆 AR0233AT，規格表上寫 </a:t>
            </a:r>
            <a:r>
              <a:rPr sz="950" b="1" lang="zh-TW" dirty="0">
                <a:solidFill>
                  <a:srgbClr val="000000"/>
                </a:solidFill>
                <a:latin typeface="Arial Unicode MS"/>
                <a:ea typeface="Arial Unicode MS"/>
                <a:cs typeface="Arial Unicode MS"/>
              </a:rPr>
              <a:t>140 dB 以上</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140 減 120 是 20，照剛剛那條規則，就是</a:t>
            </a:r>
            <a:r>
              <a:rPr sz="950" b="1" lang="zh-TW" dirty="0">
                <a:solidFill>
                  <a:srgbClr val="000000"/>
                </a:solidFill>
                <a:latin typeface="Arial Unicode MS"/>
                <a:ea typeface="Arial Unicode MS"/>
                <a:cs typeface="Arial Unicode MS"/>
              </a:rPr>
              <a:t>比人眼還多十倍的餘裕</a:t>
            </a:r>
            <a:r>
              <a:rPr sz="95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58"/>
              </a:spcAft>
            </a:pPr>
            <a:r>
              <a:rPr sz="950" lang="zh-TW" dirty="0">
                <a:solidFill>
                  <a:srgbClr val="000000"/>
                </a:solidFill>
                <a:latin typeface="Arial Unicode MS"/>
                <a:ea typeface="Arial Unicode MS"/>
                <a:cs typeface="Arial Unicode MS"/>
              </a:rPr>
              <a:t>所以以後看到規格表上寫 120 dB 和寫 140 dB，那不是差百分之十七，是</a:t>
            </a:r>
            <a:r>
              <a:rPr sz="950" b="1" lang="zh-TW" dirty="0">
                <a:solidFill>
                  <a:srgbClr val="000000"/>
                </a:solidFill>
                <a:latin typeface="Arial Unicode MS"/>
                <a:ea typeface="Arial Unicode MS"/>
                <a:cs typeface="Arial Unicode MS"/>
              </a:rPr>
              <a:t>差十倍</a:t>
            </a:r>
            <a:r>
              <a:rPr sz="950" lang="zh-TW" dirty="0">
                <a:solidFill>
                  <a:srgbClr val="000000"/>
                </a:solidFill>
                <a:latin typeface="Arial Unicode MS"/>
                <a:ea typeface="Arial Unicode MS"/>
                <a:cs typeface="Arial Unicode MS"/>
              </a:rPr>
              <a:t>。這一行是最容易被數字誤導的一行。
</a:t>
            </a:r>
          </a:p>
          <a:p>
            <a:pPr algn="l">
              <a:spcBef>
                <a:spcPts val="0"/>
              </a:spcBef>
              <a:spcAft>
                <a:spcPts val="158"/>
              </a:spcAft>
            </a:pPr>
            <a:r>
              <a:rPr sz="950" lang="zh-TW" dirty="0">
                <a:solidFill>
                  <a:srgbClr val="000000"/>
                </a:solidFill>
                <a:latin typeface="Arial Unicode MS"/>
                <a:ea typeface="Arial Unicode MS"/>
                <a:cs typeface="Arial Unicode MS"/>
              </a:rPr>
              <a:t>第三週我們在</a:t>
            </a:r>
            <a:r>
              <a:rPr sz="950" b="1" lang="zh-TW" dirty="0">
                <a:solidFill>
                  <a:srgbClr val="000000"/>
                </a:solidFill>
                <a:latin typeface="Arial Unicode MS"/>
                <a:ea typeface="Arial Unicode MS"/>
                <a:cs typeface="Arial Unicode MS"/>
              </a:rPr>
              <a:t>感測器實驗室</a:t>
            </a:r>
            <a:r>
              <a:rPr sz="95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200"/>
              </a:spcAft>
            </a:pPr>
            <a:r>
              <a:rPr sz="12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200"/>
              </a:spcAft>
            </a:pPr>
            <a:r>
              <a:rPr sz="120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1200" b="1" lang="zh-TW" dirty="0">
                <a:solidFill>
                  <a:srgbClr val="000000"/>
                </a:solidFill>
                <a:latin typeface="Arial Unicode MS"/>
                <a:ea typeface="Arial Unicode MS"/>
                <a:cs typeface="Arial Unicode MS"/>
              </a:rPr>
              <a:t>保住外面，裡面就全黑；保住裡面，外面就全白。</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這支是 e-con Systems 拿他們的車用相機實際開上路拍的，整支六十秒，</a:t>
            </a:r>
            <a:r>
              <a:rPr sz="1200" b="1" lang="zh-TW" dirty="0">
                <a:solidFill>
                  <a:srgbClr val="000000"/>
                </a:solidFill>
                <a:latin typeface="Arial Unicode MS"/>
                <a:ea typeface="Arial Unicode MS"/>
                <a:cs typeface="Arial Unicode MS"/>
              </a:rPr>
              <a:t>我們只看 0:14 到 0:40 這一段</a:t>
            </a:r>
            <a:r>
              <a:rPr sz="120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200"/>
              </a:spcAft>
            </a:pPr>
            <a:r>
              <a:rPr sz="1200" b="1" lang="zh-TW" dirty="0">
                <a:solidFill>
                  <a:srgbClr val="000000"/>
                </a:solidFill>
                <a:latin typeface="Arial Unicode MS"/>
                <a:ea typeface="Arial Unicode MS"/>
                <a:cs typeface="Arial Unicode MS"/>
              </a:rPr>
              <a:t>真正的重點在 0:30。</a:t>
            </a:r>
            <a:r>
              <a:rPr sz="120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1200" b="1" lang="zh-TW" dirty="0">
                <a:solidFill>
                  <a:srgbClr val="000000"/>
                </a:solidFill>
                <a:latin typeface="Arial Unicode MS"/>
                <a:ea typeface="Arial Unicode MS"/>
                <a:cs typeface="Arial Unicode MS"/>
              </a:rPr>
              <a:t>兩邊都看得到。</a:t>
            </a:r>
            <a:r>
              <a:rPr sz="120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200"/>
              </a:spcAft>
            </a:pPr>
            <a:r>
              <a:rPr sz="1200" lang="zh-TW" dirty="0">
                <a:solidFill>
                  <a:srgbClr val="000000"/>
                </a:solidFill>
                <a:latin typeface="Arial Unicode MS"/>
                <a:ea typeface="Arial Unicode MS"/>
                <a:cs typeface="Arial Unicode MS"/>
              </a:rPr>
              <a:t>畫面上那行小字寫的是 </a:t>
            </a:r>
            <a:r>
              <a:rPr sz="1200" b="1" lang="zh-TW" dirty="0">
                <a:solidFill>
                  <a:srgbClr val="000000"/>
                </a:solidFill>
                <a:latin typeface="Arial Unicode MS"/>
                <a:ea typeface="Arial Unicode MS"/>
                <a:cs typeface="Arial Unicode MS"/>
              </a:rPr>
              <a:t>140dB HDR</a:t>
            </a:r>
            <a:r>
              <a:rPr sz="120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200"/>
              </a:spcAft>
            </a:pPr>
            <a:r>
              <a:rPr sz="1200" lang="zh-TW" dirty="0">
                <a:solidFill>
                  <a:srgbClr val="000000"/>
                </a:solidFill>
                <a:latin typeface="Arial Unicode MS"/>
                <a:ea typeface="Arial Unicode MS"/>
                <a:cs typeface="Arial Unicode MS"/>
              </a:rPr>
              <a:t>有一點要先講清楚：這支只有</a:t>
            </a:r>
            <a:r>
              <a:rPr sz="1200" b="1" lang="zh-TW" dirty="0">
                <a:solidFill>
                  <a:srgbClr val="000000"/>
                </a:solidFill>
                <a:latin typeface="Arial Unicode MS"/>
                <a:ea typeface="Arial Unicode MS"/>
                <a:cs typeface="Arial Unicode MS"/>
              </a:rPr>
              <a:t>一台</a:t>
            </a:r>
            <a:r>
              <a:rPr sz="120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200"/>
              </a:spcAft>
            </a:pPr>
            <a:r>
              <a:rPr sz="120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a:t>
            </a:r>
            <a:r>
              <a:rPr sz="950" b="1" lang="zh-TW" dirty="0">
                <a:solidFill>
                  <a:srgbClr val="000000"/>
                </a:solidFill>
                <a:latin typeface="Arial Unicode MS"/>
                <a:ea typeface="Arial Unicode MS"/>
                <a:cs typeface="Arial Unicode MS"/>
              </a:rPr>
              <a:t>第二行 Laser Wavelength，865 奈米</a:t>
            </a:r>
            <a:r>
              <a:rPr sz="95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下面兩行順便看一下，它們其實也在講同一件事。</a:t>
            </a:r>
            <a:r>
              <a:rPr sz="950" b="1" lang="zh-TW" dirty="0">
                <a:solidFill>
                  <a:srgbClr val="000000"/>
                </a:solidFill>
                <a:latin typeface="Arial Unicode MS"/>
                <a:ea typeface="Arial Unicode MS"/>
                <a:cs typeface="Arial Unicode MS"/>
              </a:rPr>
              <a:t>Beam Diameter Exiting Sensor，9.5 公釐</a:t>
            </a:r>
            <a:r>
              <a:rPr sz="950" lang="zh-TW" dirty="0">
                <a:solidFill>
                  <a:srgbClr val="000000"/>
                </a:solidFill>
                <a:latin typeface="Arial Unicode MS"/>
                <a:ea typeface="Arial Unicode MS"/>
                <a:cs typeface="Arial Unicode MS"/>
              </a:rPr>
              <a:t>——雷射離開感測器的時候，光束有 9.5 公釐寬。為什麼要列這個？因為同樣的功率，</a:t>
            </a:r>
            <a:r>
              <a:rPr sz="950" b="1" lang="zh-TW" dirty="0">
                <a:solidFill>
                  <a:srgbClr val="000000"/>
                </a:solidFill>
                <a:latin typeface="Arial Unicode MS"/>
                <a:ea typeface="Arial Unicode MS"/>
                <a:cs typeface="Arial Unicode MS"/>
              </a:rPr>
              <a:t>光束愈寬，攤在眼睛上的能量密度就愈低</a:t>
            </a:r>
            <a:r>
              <a:rPr sz="95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58"/>
              </a:spcAft>
            </a:pPr>
            <a:r>
              <a:rPr sz="950" b="1" lang="zh-TW" dirty="0">
                <a:solidFill>
                  <a:srgbClr val="000000"/>
                </a:solidFill>
                <a:latin typeface="Arial Unicode MS"/>
                <a:ea typeface="Arial Unicode MS"/>
                <a:cs typeface="Arial Unicode MS"/>
              </a:rPr>
              <a:t>Beam Divergence，0.18 度</a:t>
            </a:r>
            <a:r>
              <a:rPr sz="95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950" b="1" lang="zh-TW" dirty="0">
                <a:solidFill>
                  <a:srgbClr val="000000"/>
                </a:solidFill>
                <a:latin typeface="Arial Unicode MS"/>
                <a:ea typeface="Arial Unicode MS"/>
                <a:cs typeface="Arial Unicode MS"/>
              </a:rPr>
              <a:t>31 公分寬</a:t>
            </a:r>
            <a:r>
              <a:rPr sz="950" lang="zh-TW" dirty="0">
                <a:solidFill>
                  <a:srgbClr val="000000"/>
                </a:solidFill>
                <a:latin typeface="Arial Unicode MS"/>
                <a:ea typeface="Arial Unicode MS"/>
                <a:cs typeface="Arial Unicode MS"/>
              </a:rPr>
              <a:t>；四十公尺外大概 12 公分。
</a:t>
            </a:r>
          </a:p>
          <a:p>
            <a:pPr algn="l">
              <a:spcBef>
                <a:spcPts val="0"/>
              </a:spcBef>
              <a:spcAft>
                <a:spcPts val="158"/>
              </a:spcAft>
            </a:pPr>
            <a:r>
              <a:rPr sz="950" lang="zh-TW" dirty="0">
                <a:solidFill>
                  <a:srgbClr val="000000"/>
                </a:solidFill>
                <a:latin typeface="Arial Unicode MS"/>
                <a:ea typeface="Arial Unicode MS"/>
                <a:cs typeface="Arial Unicode MS"/>
              </a:rPr>
              <a:t>所以請記住一件事：</a:t>
            </a:r>
            <a:r>
              <a:rPr sz="950" b="1" lang="zh-TW" dirty="0">
                <a:solidFill>
                  <a:srgbClr val="000000"/>
                </a:solidFill>
                <a:latin typeface="Arial Unicode MS"/>
                <a:ea typeface="Arial Unicode MS"/>
                <a:cs typeface="Arial Unicode MS"/>
              </a:rPr>
              <a:t>光達的「一個點」，在遠處根本不是一個點。</a:t>
            </a:r>
            <a:r>
              <a:rPr sz="95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光達的第三件事是</a:t>
            </a:r>
            <a:r>
              <a:rPr sz="1000" b="1" lang="zh-TW" dirty="0">
                <a:solidFill>
                  <a:srgbClr val="000000"/>
                </a:solidFill>
                <a:latin typeface="Arial Unicode MS"/>
                <a:ea typeface="Arial Unicode MS"/>
                <a:cs typeface="Arial Unicode MS"/>
              </a:rPr>
              <a:t>回波次數</a:t>
            </a:r>
            <a:r>
              <a:rPr sz="1000" lang="zh-TW" dirty="0">
                <a:solidFill>
                  <a:srgbClr val="000000"/>
                </a:solidFill>
                <a:latin typeface="Arial Unicode MS"/>
                <a:ea typeface="Arial Unicode MS"/>
                <a:cs typeface="Arial Unicode MS"/>
              </a:rPr>
              <a:t>。OS1 的規格表上這一行叫 </a:t>
            </a:r>
            <a:r>
              <a:rPr sz="1000" b="1" lang="zh-TW" dirty="0">
                <a:solidFill>
                  <a:srgbClr val="000000"/>
                </a:solidFill>
                <a:latin typeface="Arial Unicode MS"/>
                <a:ea typeface="Arial Unicode MS"/>
                <a:cs typeface="Arial Unicode MS"/>
              </a:rPr>
              <a:t># of Returns</a:t>
            </a:r>
            <a:r>
              <a:rPr sz="1000" lang="zh-TW" dirty="0">
                <a:solidFill>
                  <a:srgbClr val="000000"/>
                </a:solidFill>
                <a:latin typeface="Arial Unicode MS"/>
                <a:ea typeface="Arial Unicode MS"/>
                <a:cs typeface="Arial Unicode MS"/>
              </a:rPr>
              <a:t>，寫著 </a:t>
            </a:r>
            <a:r>
              <a:rPr sz="1000" b="1" lang="zh-TW" dirty="0">
                <a:solidFill>
                  <a:srgbClr val="000000"/>
                </a:solidFill>
                <a:latin typeface="Arial Unicode MS"/>
                <a:ea typeface="Arial Unicode MS"/>
                <a:cs typeface="Arial Unicode MS"/>
              </a:rPr>
              <a:t>up to 2</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這一行在講什麼？
</a:t>
            </a:r>
          </a:p>
          <a:p>
            <a:pPr algn="l">
              <a:spcBef>
                <a:spcPts val="0"/>
              </a:spcBef>
              <a:spcAft>
                <a:spcPts val="167"/>
              </a:spcAft>
            </a:pPr>
            <a:r>
              <a:rPr sz="10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67"/>
              </a:spcAft>
            </a:pPr>
            <a:r>
              <a:rPr sz="1000" lang="zh-TW" dirty="0">
                <a:solidFill>
                  <a:srgbClr val="000000"/>
                </a:solidFill>
                <a:latin typeface="Arial Unicode MS"/>
                <a:ea typeface="Arial Unicode MS"/>
                <a:cs typeface="Arial Unicode MS"/>
              </a:rPr>
              <a:t>那道雷射可能</a:t>
            </a:r>
            <a:r>
              <a:rPr sz="1000" b="1" lang="zh-TW" dirty="0">
                <a:solidFill>
                  <a:srgbClr val="000000"/>
                </a:solidFill>
                <a:latin typeface="Arial Unicode MS"/>
                <a:ea typeface="Arial Unicode MS"/>
                <a:cs typeface="Arial Unicode MS"/>
              </a:rPr>
              <a:t>先打到一顆雨滴，彈回來一次</a:t>
            </a:r>
            <a:r>
              <a:rPr sz="1000" lang="zh-TW" dirty="0">
                <a:solidFill>
                  <a:srgbClr val="000000"/>
                </a:solidFill>
                <a:latin typeface="Arial Unicode MS"/>
                <a:ea typeface="Arial Unicode MS"/>
                <a:cs typeface="Arial Unicode MS"/>
              </a:rPr>
              <a:t>；穿過去之後，</a:t>
            </a:r>
            <a:r>
              <a:rPr sz="1000" b="1" lang="zh-TW" dirty="0">
                <a:solidFill>
                  <a:srgbClr val="000000"/>
                </a:solidFill>
                <a:latin typeface="Arial Unicode MS"/>
                <a:ea typeface="Arial Unicode MS"/>
                <a:cs typeface="Arial Unicode MS"/>
              </a:rPr>
              <a:t>再打到真正的車，又彈回來一次</a:t>
            </a:r>
            <a:r>
              <a:rPr sz="1000" lang="zh-TW" dirty="0">
                <a:solidFill>
                  <a:srgbClr val="000000"/>
                </a:solidFill>
                <a:latin typeface="Arial Unicode MS"/>
                <a:ea typeface="Arial Unicode MS"/>
                <a:cs typeface="Arial Unicode MS"/>
              </a:rPr>
              <a:t>。同一道雷射，兩次回波。
</a:t>
            </a:r>
          </a:p>
          <a:p>
            <a:pPr algn="l">
              <a:spcBef>
                <a:spcPts val="0"/>
              </a:spcBef>
              <a:spcAft>
                <a:spcPts val="167"/>
              </a:spcAft>
            </a:pPr>
            <a:r>
              <a:rPr sz="10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1000" b="1" lang="zh-TW" dirty="0">
                <a:solidFill>
                  <a:srgbClr val="000000"/>
                </a:solidFill>
                <a:latin typeface="Arial Unicode MS"/>
                <a:ea typeface="Arial Unicode MS"/>
                <a:cs typeface="Arial Unicode MS"/>
              </a:rPr>
              <a:t>藍色的①彈回來</a:t>
            </a:r>
            <a:r>
              <a:rPr sz="1000" lang="zh-TW" dirty="0">
                <a:solidFill>
                  <a:srgbClr val="000000"/>
                </a:solidFill>
                <a:latin typeface="Arial Unicode MS"/>
                <a:ea typeface="Arial Unicode MS"/>
                <a:cs typeface="Arial Unicode MS"/>
              </a:rPr>
              <a:t>；剩下的光繼續往前，走到四十公尺處的車，</a:t>
            </a:r>
            <a:r>
              <a:rPr sz="1000" b="1" lang="zh-TW" dirty="0">
                <a:solidFill>
                  <a:srgbClr val="000000"/>
                </a:solidFill>
                <a:latin typeface="Arial Unicode MS"/>
                <a:ea typeface="Arial Unicode MS"/>
                <a:cs typeface="Arial Unicode MS"/>
              </a:rPr>
              <a:t>綠色的②才彈回來</a:t>
            </a:r>
            <a:r>
              <a:rPr sz="10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67"/>
              </a:spcAft>
            </a:pPr>
            <a:r>
              <a:rPr sz="1000" lang="zh-TW" dirty="0">
                <a:solidFill>
                  <a:srgbClr val="000000"/>
                </a:solidFill>
                <a:latin typeface="Arial Unicode MS"/>
                <a:ea typeface="Arial Unicode MS"/>
                <a:cs typeface="Arial Unicode MS"/>
              </a:rPr>
              <a:t>如果這顆光達只收</a:t>
            </a:r>
            <a:r>
              <a:rPr sz="1000" b="1" lang="zh-TW" dirty="0">
                <a:solidFill>
                  <a:srgbClr val="000000"/>
                </a:solidFill>
                <a:latin typeface="Arial Unicode MS"/>
                <a:ea typeface="Arial Unicode MS"/>
                <a:cs typeface="Arial Unicode MS"/>
              </a:rPr>
              <a:t>第一次</a:t>
            </a:r>
            <a:r>
              <a:rPr sz="10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67"/>
              </a:spcAft>
            </a:pPr>
            <a:r>
              <a:rPr sz="1000" lang="zh-TW" dirty="0">
                <a:solidFill>
                  <a:srgbClr val="000000"/>
                </a:solidFill>
                <a:latin typeface="Arial Unicode MS"/>
                <a:ea typeface="Arial Unicode MS"/>
                <a:cs typeface="Arial Unicode MS"/>
              </a:rPr>
              <a:t>這就是第三週我們講下雪那一輪的時候，我說的那件事：</a:t>
            </a:r>
            <a:r>
              <a:rPr sz="1000" b="1" lang="zh-TW" dirty="0">
                <a:solidFill>
                  <a:srgbClr val="000000"/>
                </a:solidFill>
                <a:latin typeface="Arial Unicode MS"/>
                <a:ea typeface="Arial Unicode MS"/>
                <a:cs typeface="Arial Unicode MS"/>
              </a:rPr>
              <a:t>飄在空中的雪花本身就會反射雷射</a:t>
            </a:r>
            <a:r>
              <a:rPr sz="1000" lang="zh-TW" dirty="0">
                <a:solidFill>
                  <a:srgbClr val="000000"/>
                </a:solidFill>
                <a:latin typeface="Arial Unicode MS"/>
                <a:ea typeface="Arial Unicode MS"/>
                <a:cs typeface="Arial Unicode MS"/>
              </a:rPr>
              <a:t>，車子會看到一堆根本不存在的點。
</a:t>
            </a:r>
          </a:p>
          <a:p>
            <a:pPr algn="l">
              <a:spcBef>
                <a:spcPts val="0"/>
              </a:spcBef>
              <a:spcAft>
                <a:spcPts val="167"/>
              </a:spcAft>
            </a:pPr>
            <a:r>
              <a:rPr sz="1000" lang="zh-TW" dirty="0">
                <a:solidFill>
                  <a:srgbClr val="000000"/>
                </a:solidFill>
                <a:latin typeface="Arial Unicode MS"/>
                <a:ea typeface="Arial Unicode MS"/>
                <a:cs typeface="Arial Unicode MS"/>
              </a:rPr>
              <a:t>處理的方法就是收</a:t>
            </a:r>
            <a:r>
              <a:rPr sz="1000" b="1" lang="zh-TW" dirty="0">
                <a:solidFill>
                  <a:srgbClr val="000000"/>
                </a:solidFill>
                <a:latin typeface="Arial Unicode MS"/>
                <a:ea typeface="Arial Unicode MS"/>
                <a:cs typeface="Arial Unicode MS"/>
              </a:rPr>
              <a:t>多次回波</a:t>
            </a:r>
            <a:r>
              <a:rPr sz="10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67"/>
              </a:spcAft>
            </a:pPr>
            <a:r>
              <a:rPr sz="1000" lang="zh-TW" dirty="0">
                <a:solidFill>
                  <a:srgbClr val="000000"/>
                </a:solidFill>
                <a:latin typeface="Arial Unicode MS"/>
                <a:ea typeface="Arial Unicode MS"/>
                <a:cs typeface="Arial Unicode MS"/>
              </a:rPr>
              <a:t>下面那一行叫 </a:t>
            </a:r>
            <a:r>
              <a:rPr sz="1000" b="1" lang="zh-TW" dirty="0">
                <a:solidFill>
                  <a:srgbClr val="000000"/>
                </a:solidFill>
                <a:latin typeface="Arial Unicode MS"/>
                <a:ea typeface="Arial Unicode MS"/>
                <a:cs typeface="Arial Unicode MS"/>
              </a:rPr>
              <a:t>Return Order</a:t>
            </a:r>
            <a:r>
              <a:rPr sz="10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67"/>
              </a:spcAft>
            </a:pPr>
            <a:r>
              <a:rPr sz="1000" lang="zh-TW" dirty="0">
                <a:solidFill>
                  <a:srgbClr val="000000"/>
                </a:solidFill>
                <a:latin typeface="Arial Unicode MS"/>
                <a:ea typeface="Arial Unicode MS"/>
                <a:cs typeface="Arial Unicode MS"/>
              </a:rPr>
              <a:t>所以「up to 2 returns」這一行，其實就是在回答：</a:t>
            </a:r>
            <a:r>
              <a:rPr sz="1000" b="1" lang="zh-TW" dirty="0">
                <a:solidFill>
                  <a:srgbClr val="000000"/>
                </a:solidFill>
                <a:latin typeface="Arial Unicode MS"/>
                <a:ea typeface="Arial Unicode MS"/>
                <a:cs typeface="Arial Unicode MS"/>
              </a:rPr>
              <a:t>這顆光達在雨天和灰塵裡好不好用。</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剛剛那一行「最多兩次回波」，我說是為了雨和灰塵。其實它最常救的，是另一種東西——</a:t>
            </a:r>
            <a:r>
              <a:rPr sz="1150" b="1" lang="zh-TW" dirty="0">
                <a:solidFill>
                  <a:srgbClr val="000000"/>
                </a:solidFill>
                <a:latin typeface="Arial Unicode MS"/>
                <a:ea typeface="Arial Unicode MS"/>
                <a:cs typeface="Arial Unicode MS"/>
              </a:rPr>
              <a:t>鏡面</a:t>
            </a:r>
            <a:r>
              <a:rPr sz="1150" lang="zh-TW" dirty="0">
                <a:solidFill>
                  <a:srgbClr val="000000"/>
                </a:solidFill>
                <a:latin typeface="Arial Unicode MS"/>
                <a:ea typeface="Arial Unicode MS"/>
                <a:cs typeface="Arial Unicode MS"/>
              </a:rPr>
              <a:t>。光達的前提很簡單：打出去的光，會從對面</a:t>
            </a:r>
            <a:r>
              <a:rPr sz="1150" b="1" lang="zh-TW" dirty="0">
                <a:solidFill>
                  <a:srgbClr val="000000"/>
                </a:solidFill>
                <a:latin typeface="Arial Unicode MS"/>
                <a:ea typeface="Arial Unicode MS"/>
                <a:cs typeface="Arial Unicode MS"/>
              </a:rPr>
              <a:t>散一點</a:t>
            </a:r>
            <a:r>
              <a:rPr sz="1150" lang="zh-TW" dirty="0">
                <a:solidFill>
                  <a:srgbClr val="000000"/>
                </a:solidFill>
                <a:latin typeface="Arial Unicode MS"/>
                <a:ea typeface="Arial Unicode MS"/>
                <a:cs typeface="Arial Unicode MS"/>
              </a:rPr>
              <a:t>回來。上一節講的 80% 和 10%，都是在講「散回來多少」。等一下那張表上三列的共同點，就是</a:t>
            </a:r>
            <a:r>
              <a:rPr sz="1150" b="1" lang="zh-TW" dirty="0">
                <a:solidFill>
                  <a:srgbClr val="000000"/>
                </a:solidFill>
                <a:latin typeface="Arial Unicode MS"/>
                <a:ea typeface="Arial Unicode MS"/>
                <a:cs typeface="Arial Unicode MS"/>
              </a:rPr>
              <a:t>這個前提不成立</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92"/>
              </a:spcAft>
            </a:pPr>
            <a:r>
              <a:rPr sz="1150" b="1" lang="zh-TW" dirty="0">
                <a:solidFill>
                  <a:srgbClr val="000000"/>
                </a:solidFill>
                <a:latin typeface="Arial Unicode MS"/>
                <a:ea typeface="Arial Unicode MS"/>
                <a:cs typeface="Arial Unicode MS"/>
              </a:rPr>
              <a:t>①整束彈走。</a:t>
            </a:r>
            <a:r>
              <a:rPr sz="115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1150" b="1" lang="zh-TW" dirty="0">
                <a:solidFill>
                  <a:srgbClr val="000000"/>
                </a:solidFill>
                <a:latin typeface="Arial Unicode MS"/>
                <a:ea typeface="Arial Unicode MS"/>
                <a:cs typeface="Arial Unicode MS"/>
              </a:rPr>
              <a:t>一個點都沒有</a:t>
            </a:r>
            <a:r>
              <a:rPr sz="1150" lang="zh-TW" dirty="0">
                <a:solidFill>
                  <a:srgbClr val="000000"/>
                </a:solidFill>
                <a:latin typeface="Arial Unicode MS"/>
                <a:ea typeface="Arial Unicode MS"/>
                <a:cs typeface="Arial Unicode MS"/>
              </a:rPr>
              <a:t>。</a:t>
            </a:r>
            <a:r>
              <a:rPr sz="1150" b="1" lang="zh-TW" dirty="0">
                <a:solidFill>
                  <a:srgbClr val="000000"/>
                </a:solidFill>
                <a:latin typeface="Arial Unicode MS"/>
                <a:ea typeface="Arial Unicode MS"/>
                <a:cs typeface="Arial Unicode MS"/>
              </a:rPr>
              <a:t>對車子來說，洞就等於「那裡是空的」</a:t>
            </a:r>
            <a:r>
              <a:rPr sz="115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92"/>
              </a:spcAft>
            </a:pPr>
            <a:r>
              <a:rPr sz="1150" lang="zh-TW" dirty="0">
                <a:solidFill>
                  <a:srgbClr val="000000"/>
                </a:solidFill>
                <a:latin typeface="Arial Unicode MS"/>
                <a:ea typeface="Arial Unicode MS"/>
                <a:cs typeface="Arial Unicode MS"/>
              </a:rPr>
              <a:t>這裡特別想一件事：</a:t>
            </a:r>
            <a:r>
              <a:rPr sz="1150" b="1" lang="zh-TW" dirty="0">
                <a:solidFill>
                  <a:srgbClr val="000000"/>
                </a:solidFill>
                <a:latin typeface="Arial Unicode MS"/>
                <a:ea typeface="Arial Unicode MS"/>
                <a:cs typeface="Arial Unicode MS"/>
              </a:rPr>
              <a:t>下雨的晚上，路面是什麼？</a:t>
            </a:r>
            <a:r>
              <a:rPr sz="115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1150" b="1" lang="zh-TW" dirty="0">
                <a:solidFill>
                  <a:srgbClr val="000000"/>
                </a:solidFill>
                <a:latin typeface="Arial Unicode MS"/>
                <a:ea typeface="Arial Unicode MS"/>
                <a:cs typeface="Arial Unicode MS"/>
              </a:rPr>
              <a:t>邊界量不到，循跡就只能靠相機</a:t>
            </a:r>
            <a:r>
              <a:rPr sz="1150" lang="zh-TW" dirty="0">
                <a:solidFill>
                  <a:srgbClr val="000000"/>
                </a:solidFill>
                <a:latin typeface="Arial Unicode MS"/>
                <a:ea typeface="Arial Unicode MS"/>
                <a:cs typeface="Arial Unicode MS"/>
              </a:rPr>
              <a:t>——可是雨夜正好也是相機最弱的時候。
</a:t>
            </a:r>
          </a:p>
          <a:p>
            <a:pPr algn="l">
              <a:spcBef>
                <a:spcPts val="0"/>
              </a:spcBef>
              <a:spcAft>
                <a:spcPts val="192"/>
              </a:spcAft>
            </a:pPr>
            <a:r>
              <a:rPr sz="1150" b="1" lang="zh-TW" dirty="0">
                <a:solidFill>
                  <a:srgbClr val="000000"/>
                </a:solidFill>
                <a:latin typeface="Arial Unicode MS"/>
                <a:ea typeface="Arial Unicode MS"/>
                <a:cs typeface="Arial Unicode MS"/>
              </a:rPr>
              <a:t>②彈到旁邊。</a:t>
            </a:r>
            <a:r>
              <a:rPr sz="115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1150" b="1" lang="zh-TW" dirty="0">
                <a:solidFill>
                  <a:srgbClr val="000000"/>
                </a:solidFill>
                <a:latin typeface="Arial Unicode MS"/>
                <a:ea typeface="Arial Unicode MS"/>
                <a:cs typeface="Arial Unicode MS"/>
              </a:rPr>
              <a:t>來回飛了多久</a:t>
            </a:r>
            <a:r>
              <a:rPr sz="1150" lang="zh-TW" dirty="0">
                <a:solidFill>
                  <a:srgbClr val="000000"/>
                </a:solidFill>
                <a:latin typeface="Arial Unicode MS"/>
                <a:ea typeface="Arial Unicode MS"/>
                <a:cs typeface="Arial Unicode MS"/>
              </a:rPr>
              <a:t>，於是把那台車標在玻璃</a:t>
            </a:r>
            <a:r>
              <a:rPr sz="1150" b="1" lang="zh-TW" dirty="0">
                <a:solidFill>
                  <a:srgbClr val="000000"/>
                </a:solidFill>
                <a:latin typeface="Arial Unicode MS"/>
                <a:ea typeface="Arial Unicode MS"/>
                <a:cs typeface="Arial Unicode MS"/>
              </a:rPr>
              <a:t>後面</a:t>
            </a:r>
            <a:r>
              <a:rPr sz="1150" lang="zh-TW" dirty="0">
                <a:solidFill>
                  <a:srgbClr val="000000"/>
                </a:solidFill>
                <a:latin typeface="Arial Unicode MS"/>
                <a:ea typeface="Arial Unicode MS"/>
                <a:cs typeface="Arial Unicode MS"/>
              </a:rPr>
              <a:t>——動圖上那個紅色虛線框，那裡其實什麼都沒有，這叫</a:t>
            </a:r>
            <a:r>
              <a:rPr sz="1150" b="1" lang="zh-TW" dirty="0">
                <a:solidFill>
                  <a:srgbClr val="000000"/>
                </a:solidFill>
                <a:latin typeface="Arial Unicode MS"/>
                <a:ea typeface="Arial Unicode MS"/>
                <a:cs typeface="Arial Unicode MS"/>
              </a:rPr>
              <a:t>鬼點</a:t>
            </a:r>
            <a:r>
              <a:rPr sz="11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92"/>
              </a:spcAft>
            </a:pPr>
            <a:r>
              <a:rPr sz="1150" b="1" lang="zh-TW" dirty="0">
                <a:solidFill>
                  <a:srgbClr val="000000"/>
                </a:solidFill>
                <a:latin typeface="Arial Unicode MS"/>
                <a:ea typeface="Arial Unicode MS"/>
                <a:cs typeface="Arial Unicode MS"/>
              </a:rPr>
              <a:t>③回歸反射。</a:t>
            </a:r>
            <a:r>
              <a:rPr sz="1150" lang="zh-TW" dirty="0">
                <a:solidFill>
                  <a:srgbClr val="000000"/>
                </a:solidFill>
                <a:latin typeface="Arial Unicode MS"/>
                <a:ea typeface="Arial Unicode MS"/>
                <a:cs typeface="Arial Unicode MS"/>
              </a:rPr>
              <a:t>這一種各位上一節聽過，而且它</a:t>
            </a:r>
            <a:r>
              <a:rPr sz="1150" b="1" lang="zh-TW" dirty="0">
                <a:solidFill>
                  <a:srgbClr val="000000"/>
                </a:solidFill>
                <a:latin typeface="Arial Unicode MS"/>
                <a:ea typeface="Arial Unicode MS"/>
                <a:cs typeface="Arial Unicode MS"/>
              </a:rPr>
              <a:t>根本不是鏡面</a:t>
            </a:r>
            <a:r>
              <a:rPr sz="115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1150" b="1" lang="zh-TW" dirty="0">
                <a:solidFill>
                  <a:srgbClr val="000000"/>
                </a:solidFill>
                <a:latin typeface="Arial Unicode MS"/>
                <a:ea typeface="Arial Unicode MS"/>
                <a:cs typeface="Arial Unicode MS"/>
              </a:rPr>
              <a:t>對車子來說那是一個形狀不明的東西</a:t>
            </a:r>
            <a:r>
              <a:rPr sz="115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92"/>
              </a:spcAft>
            </a:pPr>
            <a:r>
              <a:rPr sz="115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200"/>
              </a:spcAft>
            </a:pPr>
            <a:r>
              <a:rPr sz="1200" b="1" lang="zh-TW" dirty="0">
                <a:solidFill>
                  <a:srgbClr val="000000"/>
                </a:solidFill>
                <a:latin typeface="Arial Unicode MS"/>
                <a:ea typeface="Arial Unicode MS"/>
                <a:cs typeface="Arial Unicode MS"/>
              </a:rPr>
              <a:t>今天真正要讀的是最右邊那一欄。</a:t>
            </a:r>
            <a:r>
              <a:rPr sz="1200" b="1" lang="zh-TW" dirty="0">
                <a:solidFill>
                  <a:srgbClr val="000000"/>
                </a:solidFill>
                <a:latin typeface="Arial Unicode MS"/>
                <a:ea typeface="Arial Unicode MS"/>
                <a:cs typeface="Arial Unicode MS"/>
              </a:rPr>
              <a:t>沒有一招擋得住全部，而且每一招救的是不同的那一種。</a:t>
            </a:r>
            <a:r>
              <a:rPr sz="1200" lang="zh-TW" dirty="0">
                <a:solidFill>
                  <a:srgbClr val="000000"/>
                </a:solidFill>
                <a:latin typeface="Arial Unicode MS"/>
                <a:ea typeface="Arial Unicode MS"/>
                <a:cs typeface="Arial Unicode MS"/>
              </a:rPr>
              <a:t>四層，各位數一下，順便對照表上同一列。
</a:t>
            </a:r>
          </a:p>
          <a:p>
            <a:pPr algn="l">
              <a:spcBef>
                <a:spcPts val="0"/>
              </a:spcBef>
              <a:spcAft>
                <a:spcPts val="200"/>
              </a:spcAft>
            </a:pPr>
            <a:r>
              <a:rPr sz="1200" b="1" lang="zh-TW" dirty="0">
                <a:solidFill>
                  <a:srgbClr val="000000"/>
                </a:solidFill>
                <a:latin typeface="Arial Unicode MS"/>
                <a:ea typeface="Arial Unicode MS"/>
                <a:cs typeface="Arial Unicode MS"/>
              </a:rPr>
              <a:t>第一層，多次回波。</a:t>
            </a:r>
            <a:r>
              <a:rPr sz="1200" lang="zh-TW" dirty="0">
                <a:solidFill>
                  <a:srgbClr val="000000"/>
                </a:solidFill>
                <a:latin typeface="Arial Unicode MS"/>
                <a:ea typeface="Arial Unicode MS"/>
                <a:cs typeface="Arial Unicode MS"/>
              </a:rPr>
              <a:t>救的是</a:t>
            </a:r>
            <a:r>
              <a:rPr sz="1200" b="1" lang="zh-TW" dirty="0">
                <a:solidFill>
                  <a:srgbClr val="000000"/>
                </a:solidFill>
                <a:latin typeface="Arial Unicode MS"/>
                <a:ea typeface="Arial Unicode MS"/>
                <a:cs typeface="Arial Unicode MS"/>
              </a:rPr>
              <a:t>第二種，鬼點</a:t>
            </a:r>
            <a:r>
              <a:rPr sz="12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1200" b="1" lang="zh-TW" dirty="0">
                <a:solidFill>
                  <a:srgbClr val="000000"/>
                </a:solidFill>
                <a:latin typeface="Arial Unicode MS"/>
                <a:ea typeface="Arial Unicode MS"/>
                <a:cs typeface="Arial Unicode MS"/>
              </a:rPr>
              <a:t>多次回波對第一種沒有用</a:t>
            </a:r>
            <a:r>
              <a:rPr sz="1200" lang="zh-TW" dirty="0">
                <a:solidFill>
                  <a:srgbClr val="000000"/>
                </a:solidFill>
                <a:latin typeface="Arial Unicode MS"/>
                <a:ea typeface="Arial Unicode MS"/>
                <a:cs typeface="Arial Unicode MS"/>
              </a:rPr>
              <a:t>——那一種根本沒有光回來，要收什麼？
</a:t>
            </a:r>
          </a:p>
          <a:p>
            <a:pPr algn="l">
              <a:spcBef>
                <a:spcPts val="0"/>
              </a:spcBef>
              <a:spcAft>
                <a:spcPts val="200"/>
              </a:spcAft>
            </a:pPr>
            <a:r>
              <a:rPr sz="1200" b="1" lang="zh-TW" dirty="0">
                <a:solidFill>
                  <a:srgbClr val="000000"/>
                </a:solidFill>
                <a:latin typeface="Arial Unicode MS"/>
                <a:ea typeface="Arial Unicode MS"/>
                <a:cs typeface="Arial Unicode MS"/>
              </a:rPr>
              <a:t>第二層，看反射強度。</a:t>
            </a:r>
            <a:r>
              <a:rPr sz="1200" lang="zh-TW" dirty="0">
                <a:solidFill>
                  <a:srgbClr val="000000"/>
                </a:solidFill>
                <a:latin typeface="Arial Unicode MS"/>
                <a:ea typeface="Arial Unicode MS"/>
                <a:cs typeface="Arial Unicode MS"/>
              </a:rPr>
              <a:t>它救的是</a:t>
            </a:r>
            <a:r>
              <a:rPr sz="1200" b="1" lang="zh-TW" dirty="0">
                <a:solidFill>
                  <a:srgbClr val="000000"/>
                </a:solidFill>
                <a:latin typeface="Arial Unicode MS"/>
                <a:ea typeface="Arial Unicode MS"/>
                <a:cs typeface="Arial Unicode MS"/>
              </a:rPr>
              <a:t>第三種，回歸反射</a:t>
            </a:r>
            <a:r>
              <a:rPr sz="12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200"/>
              </a:spcAft>
            </a:pPr>
            <a:r>
              <a:rPr sz="1200" b="1" lang="zh-TW" dirty="0">
                <a:solidFill>
                  <a:srgbClr val="000000"/>
                </a:solidFill>
                <a:latin typeface="Arial Unicode MS"/>
                <a:ea typeface="Arial Unicode MS"/>
                <a:cs typeface="Arial Unicode MS"/>
              </a:rPr>
              <a:t>第三層，高精地圖。</a:t>
            </a:r>
            <a:r>
              <a:rPr sz="12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1200" b="1" lang="zh-TW" dirty="0">
                <a:solidFill>
                  <a:srgbClr val="000000"/>
                </a:solidFill>
                <a:latin typeface="Arial Unicode MS"/>
                <a:ea typeface="Arial Unicode MS"/>
                <a:cs typeface="Arial Unicode MS"/>
              </a:rPr>
              <a:t>三種都幫得上</a:t>
            </a:r>
            <a:r>
              <a:rPr sz="1200" lang="zh-TW" dirty="0">
                <a:solidFill>
                  <a:srgbClr val="000000"/>
                </a:solidFill>
                <a:latin typeface="Arial Unicode MS"/>
                <a:ea typeface="Arial Unicode MS"/>
                <a:cs typeface="Arial Unicode MS"/>
              </a:rPr>
              <a:t>，因為它做的是「事先知道這裡危險」。
</a:t>
            </a:r>
          </a:p>
          <a:p>
            <a:pPr algn="l">
              <a:spcBef>
                <a:spcPts val="0"/>
              </a:spcBef>
              <a:spcAft>
                <a:spcPts val="200"/>
              </a:spcAft>
            </a:pPr>
            <a:r>
              <a:rPr sz="1200" b="1" lang="zh-TW" dirty="0">
                <a:solidFill>
                  <a:srgbClr val="000000"/>
                </a:solidFill>
                <a:latin typeface="Arial Unicode MS"/>
                <a:ea typeface="Arial Unicode MS"/>
                <a:cs typeface="Arial Unicode MS"/>
              </a:rPr>
              <a:t>第四層，也是最重要的——雷達。</a:t>
            </a:r>
            <a:r>
              <a:rPr sz="1200" lang="zh-TW" dirty="0">
                <a:solidFill>
                  <a:srgbClr val="000000"/>
                </a:solidFill>
                <a:latin typeface="Arial Unicode MS"/>
                <a:ea typeface="Arial Unicode MS"/>
                <a:cs typeface="Arial Unicode MS"/>
              </a:rPr>
              <a:t>它救的正是</a:t>
            </a:r>
            <a:r>
              <a:rPr sz="1200" b="1" lang="zh-TW" dirty="0">
                <a:solidFill>
                  <a:srgbClr val="000000"/>
                </a:solidFill>
                <a:latin typeface="Arial Unicode MS"/>
                <a:ea typeface="Arial Unicode MS"/>
                <a:cs typeface="Arial Unicode MS"/>
              </a:rPr>
              <a:t>第一種：什麼都收不到</a:t>
            </a:r>
            <a:r>
              <a:rPr sz="12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200"/>
              </a:spcAft>
            </a:pPr>
            <a:r>
              <a:rPr sz="1200" lang="zh-TW" dirty="0">
                <a:solidFill>
                  <a:srgbClr val="000000"/>
                </a:solidFill>
                <a:latin typeface="Arial Unicode MS"/>
                <a:ea typeface="Arial Unicode MS"/>
                <a:cs typeface="Arial Unicode MS"/>
              </a:rPr>
              <a:t>所以這張的結論，其實就是下一段要講的事：</a:t>
            </a:r>
            <a:r>
              <a:rPr sz="12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這裡停三分鐘，讓大家動手算一次。
</a:t>
            </a:r>
          </a:p>
          <a:p>
            <a:pPr algn="l">
              <a:spcBef>
                <a:spcPts val="0"/>
              </a:spcBef>
              <a:spcAft>
                <a:spcPts val="142"/>
              </a:spcAft>
            </a:pPr>
            <a:r>
              <a:rPr sz="85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42"/>
              </a:spcAft>
            </a:pPr>
            <a:r>
              <a:rPr sz="850" lang="zh-TW" dirty="0">
                <a:solidFill>
                  <a:srgbClr val="000000"/>
                </a:solidFill>
                <a:latin typeface="Arial Unicode MS"/>
                <a:ea typeface="Arial Unicode MS"/>
                <a:cs typeface="Arial Unicode MS"/>
              </a:rPr>
              <a:t>請把三個滑桿設成：</a:t>
            </a:r>
            <a:r>
              <a:rPr sz="850" b="1" lang="zh-TW" dirty="0">
                <a:solidFill>
                  <a:srgbClr val="000000"/>
                </a:solidFill>
                <a:latin typeface="Arial Unicode MS"/>
                <a:ea typeface="Arial Unicode MS"/>
                <a:cs typeface="Arial Unicode MS"/>
              </a:rPr>
              <a:t>64 線、每圈 1024 點、10 赫茲</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現在看它算出來的每秒點數。六十四乘一千零二十四乘十，等於</a:t>
            </a:r>
            <a:r>
              <a:rPr sz="850" b="1" lang="zh-TW" dirty="0">
                <a:solidFill>
                  <a:srgbClr val="000000"/>
                </a:solidFill>
                <a:latin typeface="Arial Unicode MS"/>
                <a:ea typeface="Arial Unicode MS"/>
                <a:cs typeface="Arial Unicode MS"/>
              </a:rPr>
              <a:t>六十五萬五千三百六十</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規格表上的廠商最喜歡寫這個數字，因為它看起來很大、很厲害。可是這個數字</a:t>
            </a:r>
            <a:r>
              <a:rPr sz="850" b="1" lang="zh-TW" dirty="0">
                <a:solidFill>
                  <a:srgbClr val="000000"/>
                </a:solidFill>
                <a:latin typeface="Arial Unicode MS"/>
                <a:ea typeface="Arial Unicode MS"/>
                <a:cs typeface="Arial Unicode MS"/>
              </a:rPr>
              <a:t>不能直接拿來用</a:t>
            </a:r>
            <a:r>
              <a:rPr sz="85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42"/>
              </a:spcAft>
            </a:pPr>
            <a:r>
              <a:rPr sz="850" lang="zh-TW" dirty="0">
                <a:solidFill>
                  <a:srgbClr val="000000"/>
                </a:solidFill>
                <a:latin typeface="Arial Unicode MS"/>
                <a:ea typeface="Arial Unicode MS"/>
                <a:cs typeface="Arial Unicode MS"/>
              </a:rPr>
              <a:t>要回答那個問題，必須先換成角度。三百六十度除以每圈一千零二十四個點，等於</a:t>
            </a:r>
            <a:r>
              <a:rPr sz="850" b="1" lang="zh-TW" dirty="0">
                <a:solidFill>
                  <a:srgbClr val="000000"/>
                </a:solidFill>
                <a:latin typeface="Arial Unicode MS"/>
                <a:ea typeface="Arial Unicode MS"/>
                <a:cs typeface="Arial Unicode MS"/>
              </a:rPr>
              <a:t>零點三五度</a:t>
            </a:r>
            <a:r>
              <a:rPr sz="850" lang="zh-TW" dirty="0">
                <a:solidFill>
                  <a:srgbClr val="000000"/>
                </a:solidFill>
                <a:latin typeface="Arial Unicode MS"/>
                <a:ea typeface="Arial Unicode MS"/>
                <a:cs typeface="Arial Unicode MS"/>
              </a:rPr>
              <a:t>。工具上就寫著這個數字。
</a:t>
            </a:r>
          </a:p>
          <a:p>
            <a:pPr algn="l">
              <a:spcBef>
                <a:spcPts val="0"/>
              </a:spcBef>
              <a:spcAft>
                <a:spcPts val="142"/>
              </a:spcAft>
            </a:pPr>
            <a:r>
              <a:rPr sz="850" lang="zh-TW" dirty="0">
                <a:solidFill>
                  <a:srgbClr val="000000"/>
                </a:solidFill>
                <a:latin typeface="Arial Unicode MS"/>
                <a:ea typeface="Arial Unicode MS"/>
                <a:cs typeface="Arial Unicode MS"/>
              </a:rPr>
              <a:t>再往下一行：零點三五度在四十公尺處，張開</a:t>
            </a:r>
            <a:r>
              <a:rPr sz="850" b="1" lang="zh-TW" dirty="0">
                <a:solidFill>
                  <a:srgbClr val="000000"/>
                </a:solidFill>
                <a:latin typeface="Arial Unicode MS"/>
                <a:ea typeface="Arial Unicode MS"/>
                <a:cs typeface="Arial Unicode MS"/>
              </a:rPr>
              <a:t>零點二五公尺</a:t>
            </a:r>
            <a:r>
              <a:rPr sz="85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42"/>
              </a:spcAft>
            </a:pPr>
            <a:r>
              <a:rPr sz="850" lang="zh-TW" dirty="0">
                <a:solidFill>
                  <a:srgbClr val="000000"/>
                </a:solidFill>
                <a:latin typeface="Arial Unicode MS"/>
                <a:ea typeface="Arial Unicode MS"/>
                <a:cs typeface="Arial Unicode MS"/>
              </a:rPr>
              <a:t>滑桿下面還有一張圖：</a:t>
            </a:r>
            <a:r>
              <a:rPr sz="850" b="1" lang="zh-TW" dirty="0">
                <a:solidFill>
                  <a:srgbClr val="000000"/>
                </a:solidFill>
                <a:latin typeface="Arial Unicode MS"/>
                <a:ea typeface="Arial Unicode MS"/>
                <a:cs typeface="Arial Unicode MS"/>
              </a:rPr>
              <a:t>四十公尺外那台機車，落到幾個點</a:t>
            </a:r>
            <a:r>
              <a:rPr sz="850" lang="zh-TW" dirty="0">
                <a:solidFill>
                  <a:srgbClr val="000000"/>
                </a:solidFill>
                <a:latin typeface="Arial Unicode MS"/>
                <a:ea typeface="Arial Unicode MS"/>
                <a:cs typeface="Arial Unicode MS"/>
              </a:rPr>
              <a:t>。現在上面寫著 </a:t>
            </a:r>
            <a:r>
              <a:rPr sz="850" b="1" lang="zh-TW" dirty="0">
                <a:solidFill>
                  <a:srgbClr val="000000"/>
                </a:solidFill>
                <a:latin typeface="Arial Unicode MS"/>
                <a:ea typeface="Arial Unicode MS"/>
                <a:cs typeface="Arial Unicode MS"/>
              </a:rPr>
              <a:t>9 個點</a:t>
            </a:r>
            <a:r>
              <a:rPr sz="850" lang="zh-TW" dirty="0">
                <a:solidFill>
                  <a:srgbClr val="000000"/>
                </a:solidFill>
                <a:latin typeface="Arial Unicode MS"/>
                <a:ea typeface="Arial Unicode MS"/>
                <a:cs typeface="Arial Unicode MS"/>
              </a:rPr>
              <a:t>——這就是第一節第六張那張表裡，OS1 那一欄的九。第一節說過本課的門檻是</a:t>
            </a:r>
            <a:r>
              <a:rPr sz="850" b="1" lang="zh-TW" dirty="0">
                <a:solidFill>
                  <a:srgbClr val="000000"/>
                </a:solidFill>
                <a:latin typeface="Arial Unicode MS"/>
                <a:ea typeface="Arial Unicode MS"/>
                <a:cs typeface="Arial Unicode MS"/>
              </a:rPr>
              <a:t>十個點</a:t>
            </a:r>
            <a:r>
              <a:rPr sz="85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42"/>
              </a:spcAft>
            </a:pPr>
            <a:r>
              <a:rPr sz="850" lang="zh-TW" dirty="0">
                <a:solidFill>
                  <a:srgbClr val="000000"/>
                </a:solidFill>
                <a:latin typeface="Arial Unicode MS"/>
                <a:ea typeface="Arial Unicode MS"/>
                <a:cs typeface="Arial Unicode MS"/>
              </a:rPr>
              <a:t>現在請大家把每圈點數改成 </a:t>
            </a:r>
            <a:r>
              <a:rPr sz="850" b="1" lang="zh-TW" dirty="0">
                <a:solidFill>
                  <a:srgbClr val="000000"/>
                </a:solidFill>
                <a:latin typeface="Arial Unicode MS"/>
                <a:ea typeface="Arial Unicode MS"/>
                <a:cs typeface="Arial Unicode MS"/>
              </a:rPr>
              <a:t>2048</a:t>
            </a:r>
            <a:r>
              <a:rPr sz="85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42"/>
              </a:spcAft>
            </a:pPr>
            <a:r>
              <a:rPr sz="85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50" b="1" lang="zh-TW" dirty="0">
                <a:solidFill>
                  <a:srgbClr val="000000"/>
                </a:solidFill>
                <a:latin typeface="Arial Unicode MS"/>
                <a:ea typeface="Arial Unicode MS"/>
                <a:cs typeface="Arial Unicode MS"/>
              </a:rPr>
              <a:t>18 個</a:t>
            </a:r>
            <a:r>
              <a:rPr sz="85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42"/>
              </a:spcAft>
            </a:pPr>
            <a:r>
              <a:rPr sz="850" lang="zh-TW" dirty="0">
                <a:solidFill>
                  <a:srgbClr val="000000"/>
                </a:solidFill>
                <a:latin typeface="Arial Unicode MS"/>
                <a:ea typeface="Arial Unicode MS"/>
                <a:cs typeface="Arial Unicode MS"/>
              </a:rPr>
              <a:t>最後順便試一件事：把</a:t>
            </a:r>
            <a:r>
              <a:rPr sz="850" b="1" lang="zh-TW" dirty="0">
                <a:solidFill>
                  <a:srgbClr val="000000"/>
                </a:solidFill>
                <a:latin typeface="Arial Unicode MS"/>
                <a:ea typeface="Arial Unicode MS"/>
                <a:cs typeface="Arial Unicode MS"/>
              </a:rPr>
              <a:t>轉速</a:t>
            </a:r>
            <a:r>
              <a:rPr sz="850" lang="zh-TW" dirty="0">
                <a:solidFill>
                  <a:srgbClr val="000000"/>
                </a:solidFill>
                <a:latin typeface="Arial Unicode MS"/>
                <a:ea typeface="Arial Unicode MS"/>
                <a:cs typeface="Arial Unicode MS"/>
              </a:rPr>
              <a:t>從 10 改成 20。每秒點數加倍了，從六十五萬變一百三十萬——可是</a:t>
            </a:r>
            <a:r>
              <a:rPr sz="850" b="1" lang="zh-TW" dirty="0">
                <a:solidFill>
                  <a:srgbClr val="000000"/>
                </a:solidFill>
                <a:latin typeface="Arial Unicode MS"/>
                <a:ea typeface="Arial Unicode MS"/>
                <a:cs typeface="Arial Unicode MS"/>
              </a:rPr>
              <a:t>上面那張圖一個點都沒變</a:t>
            </a:r>
            <a:r>
              <a:rPr sz="85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50" b="1" lang="zh-TW" dirty="0">
                <a:solidFill>
                  <a:srgbClr val="000000"/>
                </a:solidFill>
                <a:latin typeface="Arial Unicode MS"/>
                <a:ea typeface="Arial Unicode MS"/>
                <a:cs typeface="Arial Unicode MS"/>
              </a:rPr>
              <a:t>所以每秒點數真的不能直接拿來比</a:t>
            </a:r>
            <a:r>
              <a:rPr sz="850" lang="zh-TW" dirty="0">
                <a:solidFill>
                  <a:srgbClr val="000000"/>
                </a:solidFill>
                <a:latin typeface="Arial Unicode MS"/>
                <a:ea typeface="Arial Unicode MS"/>
                <a:cs typeface="Arial Unicode MS"/>
              </a:rPr>
              <a:t>，它把兩件不同的事乘在一起了。
</a:t>
            </a:r>
          </a:p>
          <a:p>
            <a:pPr algn="l">
              <a:spcBef>
                <a:spcPts val="0"/>
              </a:spcBef>
              <a:spcAft>
                <a:spcPts val="142"/>
              </a:spcAft>
            </a:pPr>
            <a:r>
              <a:rPr sz="850" lang="zh-TW" dirty="0">
                <a:solidFill>
                  <a:srgbClr val="000000"/>
                </a:solidFill>
                <a:latin typeface="Arial Unicode MS"/>
                <a:ea typeface="Arial Unicode MS"/>
                <a:cs typeface="Arial Unicode MS"/>
              </a:rPr>
              <a:t>這就是我要各位記住的動作：</a:t>
            </a:r>
            <a:r>
              <a:rPr sz="850" b="1" lang="zh-TW" dirty="0">
                <a:solidFill>
                  <a:srgbClr val="000000"/>
                </a:solidFill>
                <a:latin typeface="Arial Unicode MS"/>
                <a:ea typeface="Arial Unicode MS"/>
                <a:cs typeface="Arial Unicode MS"/>
              </a:rPr>
              <a:t>看到「每秒幾百萬點」，先把它換算成角度，再換算成你關心的那個距離上的公分數。</a:t>
            </a:r>
            <a:r>
              <a:rPr sz="850" lang="zh-TW" dirty="0">
                <a:solidFill>
                  <a:srgbClr val="000000"/>
                </a:solidFill>
                <a:latin typeface="Arial Unicode MS"/>
                <a:ea typeface="Arial Unicode MS"/>
                <a:cs typeface="Arial Unicode MS"/>
              </a:rPr>
              <a:t>沒換算之前，那個數字只是廣告。
</a:t>
            </a:r>
          </a:p>
          <a:p>
            <a:pPr algn="l">
              <a:spcBef>
                <a:spcPts val="0"/>
              </a:spcBef>
              <a:spcAft>
                <a:spcPts val="142"/>
              </a:spcAft>
            </a:pPr>
            <a:r>
              <a:rPr sz="85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現在講一件規格表上常常找不到、可是出事的時候最要命的事：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。先講問題。車上有相機，也有光達。相機說：前面有一個人。光達說：前面三十公尺，有一團東西。車子要把這兩句話變成一句——</a:t>
            </a:r>
            <a:r>
              <a:rPr sz="800" b="1" lang="zh-TW" dirty="0">
                <a:solidFill>
                  <a:srgbClr val="000000"/>
                </a:solidFill>
                <a:latin typeface="Arial Unicode MS"/>
                <a:ea typeface="Arial Unicode MS"/>
                <a:cs typeface="Arial Unicode MS"/>
              </a:rPr>
              <a:t>那個人在三十公尺外</a:t>
            </a:r>
            <a:r>
              <a:rPr sz="800" lang="zh-TW" dirty="0">
                <a:solidFill>
                  <a:srgbClr val="000000"/>
                </a:solidFill>
                <a:latin typeface="Arial Unicode MS"/>
                <a:ea typeface="Arial Unicode MS"/>
                <a:cs typeface="Arial Unicode MS"/>
              </a:rPr>
              <a:t>。它憑什麼知道那是同一個人？因為它</a:t>
            </a:r>
            <a:r>
              <a:rPr sz="800" b="1" lang="zh-TW" dirty="0">
                <a:solidFill>
                  <a:srgbClr val="000000"/>
                </a:solidFill>
                <a:latin typeface="Arial Unicode MS"/>
                <a:ea typeface="Arial Unicode MS"/>
                <a:cs typeface="Arial Unicode MS"/>
              </a:rPr>
              <a:t>事先量好了這兩隻眼睛各自裝在哪、朝哪看</a:t>
            </a:r>
            <a:r>
              <a:rPr sz="800" lang="zh-TW" dirty="0">
                <a:solidFill>
                  <a:srgbClr val="000000"/>
                </a:solidFill>
                <a:latin typeface="Arial Unicode MS"/>
                <a:ea typeface="Arial Unicode MS"/>
                <a:cs typeface="Arial Unicode MS"/>
              </a:rPr>
              <a:t>。這就是標定。
</a:t>
            </a:r>
          </a:p>
          <a:p>
            <a:pPr algn="l">
              <a:spcBef>
                <a:spcPts val="0"/>
              </a:spcBef>
              <a:spcAft>
                <a:spcPts val="133"/>
              </a:spcAft>
            </a:pPr>
            <a:r>
              <a:rPr sz="800" lang="zh-TW" dirty="0">
                <a:solidFill>
                  <a:srgbClr val="000000"/>
                </a:solidFill>
                <a:latin typeface="Arial Unicode MS"/>
                <a:ea typeface="Arial Unicode MS"/>
                <a:cs typeface="Arial Unicode MS"/>
              </a:rPr>
              <a:t>它分兩種，而且</a:t>
            </a:r>
            <a:r>
              <a:rPr sz="800" b="1" lang="zh-TW" dirty="0">
                <a:solidFill>
                  <a:srgbClr val="000000"/>
                </a:solidFill>
                <a:latin typeface="Arial Unicode MS"/>
                <a:ea typeface="Arial Unicode MS"/>
                <a:cs typeface="Arial Unicode MS"/>
              </a:rPr>
              <a:t>有先後</a:t>
            </a:r>
            <a:r>
              <a:rPr sz="800" lang="zh-TW" dirty="0">
                <a:solidFill>
                  <a:srgbClr val="000000"/>
                </a:solidFill>
                <a:latin typeface="Arial Unicode MS"/>
                <a:ea typeface="Arial Unicode MS"/>
                <a:cs typeface="Arial Unicode MS"/>
              </a:rPr>
              <a:t>。相機拍到一個人，在畫面的右邊。車子要問兩個問題。</a:t>
            </a:r>
            <a:r>
              <a:rPr sz="800" b="1" lang="zh-TW" dirty="0">
                <a:solidFill>
                  <a:srgbClr val="000000"/>
                </a:solidFill>
                <a:latin typeface="Arial Unicode MS"/>
                <a:ea typeface="Arial Unicode MS"/>
                <a:cs typeface="Arial Unicode MS"/>
              </a:rPr>
              <a:t>第一個問題——畫面上這個位置，是相機前面的哪一個方向？</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第二個問題——那相機自己，又是朝哪個方向裝上去的？</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。兩題都答出來，才知道那個人在</a:t>
            </a:r>
            <a:r>
              <a:rPr sz="800" b="1" lang="zh-TW" dirty="0">
                <a:solidFill>
                  <a:srgbClr val="000000"/>
                </a:solidFill>
                <a:latin typeface="Arial Unicode MS"/>
                <a:ea typeface="Arial Unicode MS"/>
                <a:cs typeface="Arial Unicode MS"/>
              </a:rPr>
              <a:t>車子</a:t>
            </a:r>
            <a:r>
              <a:rPr sz="800" lang="zh-TW" dirty="0">
                <a:solidFill>
                  <a:srgbClr val="000000"/>
                </a:solidFill>
                <a:latin typeface="Arial Unicode MS"/>
                <a:ea typeface="Arial Unicode MS"/>
                <a:cs typeface="Arial Unicode MS"/>
              </a:rPr>
              <a:t>的哪個方向。順序不能換：</a:t>
            </a:r>
            <a:r>
              <a:rPr sz="800" b="1" lang="zh-TW" dirty="0">
                <a:solidFill>
                  <a:srgbClr val="000000"/>
                </a:solidFill>
                <a:latin typeface="Arial Unicode MS"/>
                <a:ea typeface="Arial Unicode MS"/>
                <a:cs typeface="Arial Unicode MS"/>
              </a:rPr>
              <a:t>第一題答錯，第二題一定跟著錯。</a:t>
            </a:r>
            <a:r>
              <a:rPr sz="800" lang="zh-TW" dirty="0">
                <a:solidFill>
                  <a:srgbClr val="000000"/>
                </a:solidFill>
                <a:latin typeface="Arial Unicode MS"/>
                <a:ea typeface="Arial Unicode MS"/>
                <a:cs typeface="Arial Unicode MS"/>
              </a:rPr>
              <a:t>因為量外參的時候，用的就是相機拍的畫面。畫面本身是歪的，量出來的角度就跟著歪。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連結就印在①那一格下面，直接點</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a:t>
            </a:r>
            <a:r>
              <a:rPr sz="800" b="1" lang="zh-TW" dirty="0">
                <a:solidFill>
                  <a:srgbClr val="000000"/>
                </a:solidFill>
                <a:latin typeface="Arial Unicode MS"/>
                <a:ea typeface="Arial Unicode MS"/>
                <a:cs typeface="Arial Unicode MS"/>
              </a:rPr>
              <a:t>而且不是只有相機有內參</a:t>
            </a:r>
            <a:r>
              <a:rPr sz="800" lang="zh-TW" dirty="0">
                <a:solidFill>
                  <a:srgbClr val="000000"/>
                </a:solidFill>
                <a:latin typeface="Arial Unicode MS"/>
                <a:ea typeface="Arial Unicode MS"/>
                <a:cs typeface="Arial Unicode MS"/>
              </a:rPr>
              <a:t>——第一節那張 OS1 的規格上寫著 Queryable intrinsic calibration，光達的內參就是</a:t>
            </a:r>
            <a:r>
              <a:rPr sz="800" b="1" lang="zh-TW" dirty="0">
                <a:solidFill>
                  <a:srgbClr val="000000"/>
                </a:solidFill>
                <a:latin typeface="Arial Unicode MS"/>
                <a:ea typeface="Arial Unicode MS"/>
                <a:cs typeface="Arial Unicode MS"/>
              </a:rPr>
              <a:t>每條線束實際的垂直角度</a:t>
            </a:r>
            <a:r>
              <a:rPr sz="800" lang="zh-TW" dirty="0">
                <a:solidFill>
                  <a:srgbClr val="000000"/>
                </a:solidFill>
                <a:latin typeface="Arial Unicode MS"/>
                <a:ea typeface="Arial Unicode MS"/>
                <a:cs typeface="Arial Unicode MS"/>
              </a:rPr>
              <a:t>，出廠量過，可以直接跟它要。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它回答的是：</a:t>
            </a:r>
            <a:r>
              <a:rPr sz="800" b="1" lang="zh-TW" dirty="0">
                <a:solidFill>
                  <a:srgbClr val="000000"/>
                </a:solidFill>
                <a:latin typeface="Arial Unicode MS"/>
                <a:ea typeface="Arial Unicode MS"/>
                <a:cs typeface="Arial Unicode MS"/>
              </a:rPr>
              <a:t>這隻眼睛裝在車身的哪裡、朝哪個方向看。</a:t>
            </a:r>
            <a:r>
              <a:rPr sz="800" lang="zh-TW" dirty="0">
                <a:solidFill>
                  <a:srgbClr val="000000"/>
                </a:solidFill>
                <a:latin typeface="Arial Unicode MS"/>
                <a:ea typeface="Arial Unicode MS"/>
                <a:cs typeface="Arial Unicode MS"/>
              </a:rPr>
              <a:t>請注意是</a:t>
            </a:r>
            <a:r>
              <a:rPr sz="800" b="1" lang="zh-TW" dirty="0">
                <a:solidFill>
                  <a:srgbClr val="000000"/>
                </a:solidFill>
                <a:latin typeface="Arial Unicode MS"/>
                <a:ea typeface="Arial Unicode MS"/>
                <a:cs typeface="Arial Unicode MS"/>
              </a:rPr>
              <a:t>對車身</a:t>
            </a:r>
            <a:r>
              <a:rPr sz="800" lang="zh-TW" dirty="0">
                <a:solidFill>
                  <a:srgbClr val="000000"/>
                </a:solidFill>
                <a:latin typeface="Arial Unicode MS"/>
                <a:ea typeface="Arial Unicode MS"/>
                <a:cs typeface="Arial Unicode MS"/>
              </a:rPr>
              <a:t>，不是對另一顆感測器——所以</a:t>
            </a:r>
            <a:r>
              <a:rPr sz="800" b="1" lang="zh-TW" dirty="0">
                <a:solidFill>
                  <a:srgbClr val="000000"/>
                </a:solidFill>
                <a:latin typeface="Arial Unicode MS"/>
                <a:ea typeface="Arial Unicode MS"/>
                <a:cs typeface="Arial Unicode MS"/>
              </a:rPr>
              <a:t>只有一顆相機的車也有外參，也要標</a:t>
            </a:r>
            <a:r>
              <a:rPr sz="800" lang="zh-TW" dirty="0">
                <a:solidFill>
                  <a:srgbClr val="000000"/>
                </a:solidFill>
                <a:latin typeface="Arial Unicode MS"/>
                <a:ea typeface="Arial Unicode MS"/>
                <a:cs typeface="Arial Unicode MS"/>
              </a:rPr>
              <a:t>，下一張那支影片整台車就只有一顆相機。那兩顆要怎麼對上？相機對車身量好了、光達對車身也量好了，</a:t>
            </a:r>
            <a:r>
              <a:rPr sz="800" b="1" lang="zh-TW" dirty="0">
                <a:solidFill>
                  <a:srgbClr val="000000"/>
                </a:solidFill>
                <a:latin typeface="Arial Unicode MS"/>
                <a:ea typeface="Arial Unicode MS"/>
                <a:cs typeface="Arial Unicode MS"/>
              </a:rPr>
              <a:t>相機和光達的關係就推得出來</a:t>
            </a:r>
            <a:r>
              <a:rPr sz="800" lang="zh-TW" dirty="0">
                <a:solidFill>
                  <a:srgbClr val="000000"/>
                </a:solidFill>
                <a:latin typeface="Arial Unicode MS"/>
                <a:ea typeface="Arial Unicode MS"/>
                <a:cs typeface="Arial Unicode MS"/>
              </a:rPr>
              <a:t>。光達裝在車頂、相機裝在擋風玻璃後面，兩者相距六十公分、角度差三度——這六十公分和三度，就是這樣來的。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連結印在②那一格下面</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a:t>
            </a:r>
            <a:r>
              <a:rPr sz="800" b="1" lang="zh-TW" dirty="0">
                <a:solidFill>
                  <a:srgbClr val="000000"/>
                </a:solidFill>
                <a:latin typeface="Arial Unicode MS"/>
                <a:ea typeface="Arial Unicode MS"/>
                <a:cs typeface="Arial Unicode MS"/>
              </a:rPr>
              <a:t>第三格不是第三種標定，是第二格沒做好的後果。</a:t>
            </a:r>
            <a:r>
              <a:rPr sz="800" lang="zh-TW" dirty="0">
                <a:solidFill>
                  <a:srgbClr val="000000"/>
                </a:solidFill>
                <a:latin typeface="Arial Unicode MS"/>
                <a:ea typeface="Arial Unicode MS"/>
                <a:cs typeface="Arial Unicode MS"/>
              </a:rPr>
              <a:t>先講清楚是</a:t>
            </a:r>
            <a:r>
              <a:rPr sz="800" b="1" lang="zh-TW" dirty="0">
                <a:solidFill>
                  <a:srgbClr val="000000"/>
                </a:solidFill>
                <a:latin typeface="Arial Unicode MS"/>
                <a:ea typeface="Arial Unicode MS"/>
                <a:cs typeface="Arial Unicode MS"/>
              </a:rPr>
              <a:t>什麼跟什麼差一度</a:t>
            </a:r>
            <a:r>
              <a:rPr sz="800" lang="zh-TW" dirty="0">
                <a:solidFill>
                  <a:srgbClr val="000000"/>
                </a:solidFill>
                <a:latin typeface="Arial Unicode MS"/>
                <a:ea typeface="Arial Unicode MS"/>
                <a:cs typeface="Arial Unicode MS"/>
              </a:rPr>
              <a:t>。車子的檔案裡記著一組數字：這顆相機是朝這個方向裝的。可是</a:t>
            </a:r>
            <a:r>
              <a:rPr sz="800" b="1" lang="zh-TW" dirty="0">
                <a:solidFill>
                  <a:srgbClr val="000000"/>
                </a:solidFill>
                <a:latin typeface="Arial Unicode MS"/>
                <a:ea typeface="Arial Unicode MS"/>
                <a:cs typeface="Arial Unicode MS"/>
              </a:rPr>
              <a:t>實際裝上去的方向</a:t>
            </a:r>
            <a:r>
              <a:rPr sz="800" lang="zh-TW" dirty="0">
                <a:solidFill>
                  <a:srgbClr val="000000"/>
                </a:solidFill>
                <a:latin typeface="Arial Unicode MS"/>
                <a:ea typeface="Arial Unicode MS"/>
                <a:cs typeface="Arial Unicode MS"/>
              </a:rPr>
              <a:t>，和那組數字差了一度。最常見的情況就是：擋風玻璃換過一次，相機裝回去的時候歪了一點點，可是</a:t>
            </a:r>
            <a:r>
              <a:rPr sz="800" b="1" lang="zh-TW" dirty="0">
                <a:solidFill>
                  <a:srgbClr val="000000"/>
                </a:solidFill>
                <a:latin typeface="Arial Unicode MS"/>
                <a:ea typeface="Arial Unicode MS"/>
                <a:cs typeface="Arial Unicode MS"/>
              </a:rPr>
              <a:t>檔案裡那組數字沒人去改</a:t>
            </a:r>
            <a:r>
              <a:rPr sz="800" lang="zh-TW" dirty="0">
                <a:solidFill>
                  <a:srgbClr val="000000"/>
                </a:solidFill>
                <a:latin typeface="Arial Unicode MS"/>
                <a:ea typeface="Arial Unicode MS"/>
                <a:cs typeface="Arial Unicode MS"/>
              </a:rPr>
              <a:t>。有人會問：那到底是相機歪了，還是光達歪了？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——只要實際的和記錄的差一度，結果都一樣。一度聽起來很小對不對？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剛剛講的都是原理，現在看真的。這支是 </a:t>
            </a:r>
            <a:r>
              <a:rPr sz="1150" b="1" lang="zh-TW" dirty="0">
                <a:solidFill>
                  <a:srgbClr val="000000"/>
                </a:solidFill>
                <a:latin typeface="Arial Unicode MS"/>
                <a:ea typeface="Arial Unicode MS"/>
                <a:cs typeface="Arial Unicode MS"/>
              </a:rPr>
              <a:t>Safelite</a:t>
            </a:r>
            <a:r>
              <a:rPr sz="1150" lang="zh-TW" dirty="0">
                <a:solidFill>
                  <a:srgbClr val="000000"/>
                </a:solidFill>
                <a:latin typeface="Arial Unicode MS"/>
                <a:ea typeface="Arial Unicode MS"/>
                <a:cs typeface="Arial Unicode MS"/>
              </a:rPr>
              <a:t> 拍的，美國最大的擋風玻璃商。</a:t>
            </a:r>
            <a:r>
              <a:rPr sz="1150" b="1" lang="zh-TW" dirty="0">
                <a:solidFill>
                  <a:srgbClr val="000000"/>
                </a:solidFill>
                <a:latin typeface="Arial Unicode MS"/>
                <a:ea typeface="Arial Unicode MS"/>
                <a:cs typeface="Arial Unicode MS"/>
              </a:rPr>
              <a:t>它是廣告，品牌的段落我們跳過，只看技師在做什麼。</a:t>
            </a:r>
            <a:r>
              <a:rPr sz="1150" lang="zh-TW" dirty="0">
                <a:solidFill>
                  <a:srgbClr val="000000"/>
                </a:solidFill>
                <a:latin typeface="Arial Unicode MS"/>
                <a:ea typeface="Arial Unicode MS"/>
                <a:cs typeface="Arial Unicode MS"/>
              </a:rPr>
              <a:t>我會跳著播三段。
</a:t>
            </a:r>
          </a:p>
          <a:p>
            <a:pPr algn="l">
              <a:spcBef>
                <a:spcPts val="0"/>
              </a:spcBef>
              <a:spcAft>
                <a:spcPts val="192"/>
              </a:spcAft>
            </a:pPr>
            <a:r>
              <a:rPr sz="1150" b="1" lang="zh-TW" dirty="0">
                <a:solidFill>
                  <a:srgbClr val="000000"/>
                </a:solidFill>
                <a:latin typeface="Arial Unicode MS"/>
                <a:ea typeface="Arial Unicode MS"/>
                <a:cs typeface="Arial Unicode MS"/>
              </a:rPr>
              <a:t>第一段，0:20。</a:t>
            </a:r>
            <a:r>
              <a:rPr sz="1150" lang="zh-TW" dirty="0">
                <a:solidFill>
                  <a:srgbClr val="000000"/>
                </a:solidFill>
                <a:latin typeface="Arial Unicode MS"/>
                <a:ea typeface="Arial Unicode MS"/>
                <a:cs typeface="Arial Unicode MS"/>
              </a:rPr>
              <a:t>他說：</a:t>
            </a:r>
            <a:r>
              <a:rPr sz="1150" b="1" lang="zh-TW" dirty="0">
                <a:solidFill>
                  <a:srgbClr val="000000"/>
                </a:solidFill>
                <a:latin typeface="Arial Unicode MS"/>
                <a:ea typeface="Arial Unicode MS"/>
                <a:cs typeface="Arial Unicode MS"/>
              </a:rPr>
              <a:t>所有車廠都規定，擋風玻璃換過之後，這些安全系統一定要重新標定。</a:t>
            </a:r>
            <a:r>
              <a:rPr sz="11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92"/>
              </a:spcAft>
            </a:pPr>
            <a:r>
              <a:rPr sz="1150" b="1" lang="zh-TW" dirty="0">
                <a:solidFill>
                  <a:srgbClr val="000000"/>
                </a:solidFill>
                <a:latin typeface="Arial Unicode MS"/>
                <a:ea typeface="Arial Unicode MS"/>
                <a:cs typeface="Arial Unicode MS"/>
              </a:rPr>
              <a:t>第二段，1:25。</a:t>
            </a:r>
            <a:r>
              <a:rPr sz="1150" lang="zh-TW" dirty="0">
                <a:solidFill>
                  <a:srgbClr val="000000"/>
                </a:solidFill>
                <a:latin typeface="Arial Unicode MS"/>
                <a:ea typeface="Arial Unicode MS"/>
                <a:cs typeface="Arial Unicode MS"/>
              </a:rPr>
              <a:t>技師先用</a:t>
            </a:r>
            <a:r>
              <a:rPr sz="1150" b="1" lang="zh-TW" dirty="0">
                <a:solidFill>
                  <a:srgbClr val="000000"/>
                </a:solidFill>
                <a:latin typeface="Arial Unicode MS"/>
                <a:ea typeface="Arial Unicode MS"/>
                <a:cs typeface="Arial Unicode MS"/>
              </a:rPr>
              <a:t>雷射</a:t>
            </a:r>
            <a:r>
              <a:rPr sz="1150" lang="zh-TW" dirty="0">
                <a:solidFill>
                  <a:srgbClr val="000000"/>
                </a:solidFill>
                <a:latin typeface="Arial Unicode MS"/>
                <a:ea typeface="Arial Unicode MS"/>
                <a:cs typeface="Arial Unicode MS"/>
              </a:rPr>
              <a:t>把車對正，平板上跑的是「Static Camera Aiming，第 2 步，共 15 步」。然後看他搬出來那塊</a:t>
            </a:r>
            <a:r>
              <a:rPr sz="1150" b="1" lang="zh-TW" dirty="0">
                <a:solidFill>
                  <a:srgbClr val="000000"/>
                </a:solidFill>
                <a:latin typeface="Arial Unicode MS"/>
                <a:ea typeface="Arial Unicode MS"/>
                <a:cs typeface="Arial Unicode MS"/>
              </a:rPr>
              <a:t>黑白格子板</a:t>
            </a:r>
            <a:r>
              <a:rPr sz="1150" lang="zh-TW" dirty="0">
                <a:solidFill>
                  <a:srgbClr val="000000"/>
                </a:solidFill>
                <a:latin typeface="Arial Unicode MS"/>
                <a:ea typeface="Arial Unicode MS"/>
                <a:cs typeface="Arial Unicode MS"/>
              </a:rPr>
              <a:t>——那就是標定板。相機對著那塊板子，演算法才知道「正前方」到底是畫面上哪一個像素。</a:t>
            </a:r>
            <a:r>
              <a:rPr sz="1150" b="1" lang="zh-TW" dirty="0">
                <a:solidFill>
                  <a:srgbClr val="000000"/>
                </a:solidFill>
                <a:latin typeface="Arial Unicode MS"/>
                <a:ea typeface="Arial Unicode MS"/>
                <a:cs typeface="Arial Unicode MS"/>
              </a:rPr>
              <a:t>每一款車用的板子都不一樣</a:t>
            </a:r>
            <a:r>
              <a:rPr sz="11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92"/>
              </a:spcAft>
            </a:pPr>
            <a:r>
              <a:rPr sz="1150" b="1" lang="zh-TW" dirty="0">
                <a:solidFill>
                  <a:srgbClr val="000000"/>
                </a:solidFill>
                <a:latin typeface="Arial Unicode MS"/>
                <a:ea typeface="Arial Unicode MS"/>
                <a:cs typeface="Arial Unicode MS"/>
              </a:rPr>
              <a:t>第三段，2:02。</a:t>
            </a:r>
            <a:r>
              <a:rPr sz="1150" lang="zh-TW" dirty="0">
                <a:solidFill>
                  <a:srgbClr val="000000"/>
                </a:solidFill>
                <a:latin typeface="Arial Unicode MS"/>
                <a:ea typeface="Arial Unicode MS"/>
                <a:cs typeface="Arial Unicode MS"/>
              </a:rPr>
              <a:t>有些車不靠板子，靠開的。技師把車開上</a:t>
            </a:r>
            <a:r>
              <a:rPr sz="1150" b="1" lang="zh-TW" dirty="0">
                <a:solidFill>
                  <a:srgbClr val="000000"/>
                </a:solidFill>
                <a:latin typeface="Arial Unicode MS"/>
                <a:ea typeface="Arial Unicode MS"/>
                <a:cs typeface="Arial Unicode MS"/>
              </a:rPr>
              <a:t>有清楚標線的路</a:t>
            </a:r>
            <a:r>
              <a:rPr sz="1150" lang="zh-TW" dirty="0">
                <a:solidFill>
                  <a:srgbClr val="000000"/>
                </a:solidFill>
                <a:latin typeface="Arial Unicode MS"/>
                <a:ea typeface="Arial Unicode MS"/>
                <a:cs typeface="Arial Unicode MS"/>
              </a:rPr>
              <a:t>，跑到指定速度，車子自己用車道線把相機校回來——這叫</a:t>
            </a:r>
            <a:r>
              <a:rPr sz="1150" b="1" lang="zh-TW" dirty="0">
                <a:solidFill>
                  <a:srgbClr val="000000"/>
                </a:solidFill>
                <a:latin typeface="Arial Unicode MS"/>
                <a:ea typeface="Arial Unicode MS"/>
                <a:cs typeface="Arial Unicode MS"/>
              </a:rPr>
              <a:t>動態標定</a:t>
            </a:r>
            <a:r>
              <a:rPr sz="1150" lang="zh-TW" dirty="0">
                <a:solidFill>
                  <a:srgbClr val="000000"/>
                </a:solidFill>
                <a:latin typeface="Arial Unicode MS"/>
                <a:ea typeface="Arial Unicode MS"/>
                <a:cs typeface="Arial Unicode MS"/>
              </a:rPr>
              <a:t>，最久要跑一個小時。
</a:t>
            </a:r>
          </a:p>
          <a:p>
            <a:pPr algn="l">
              <a:spcBef>
                <a:spcPts val="0"/>
              </a:spcBef>
              <a:spcAft>
                <a:spcPts val="192"/>
              </a:spcAft>
            </a:pPr>
            <a:r>
              <a:rPr sz="11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1150" b="1" lang="zh-TW" dirty="0">
                <a:solidFill>
                  <a:srgbClr val="000000"/>
                </a:solidFill>
                <a:latin typeface="Arial Unicode MS"/>
                <a:ea typeface="Arial Unicode MS"/>
                <a:cs typeface="Arial Unicode MS"/>
              </a:rPr>
              <a:t>玻璃本身沒貴多少，貴的是後面這段。</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還有一件事上一張沒講完：</a:t>
            </a:r>
            <a:r>
              <a:rPr sz="1150" b="1" lang="zh-TW" dirty="0">
                <a:solidFill>
                  <a:srgbClr val="000000"/>
                </a:solidFill>
                <a:latin typeface="Arial Unicode MS"/>
                <a:ea typeface="Arial Unicode MS"/>
                <a:cs typeface="Arial Unicode MS"/>
              </a:rPr>
              <a:t>標定會跑掉。</a:t>
            </a:r>
            <a:r>
              <a:rPr sz="11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150" b="1" lang="zh-TW" dirty="0">
                <a:solidFill>
                  <a:srgbClr val="000000"/>
                </a:solidFill>
                <a:latin typeface="Arial Unicode MS"/>
                <a:ea typeface="Arial Unicode MS"/>
                <a:cs typeface="Arial Unicode MS"/>
              </a:rPr>
              <a:t>定期重新標定</a:t>
            </a:r>
            <a:r>
              <a:rPr sz="1150" lang="zh-TW" dirty="0">
                <a:solidFill>
                  <a:srgbClr val="000000"/>
                </a:solidFill>
                <a:latin typeface="Arial Unicode MS"/>
                <a:ea typeface="Arial Unicode MS"/>
                <a:cs typeface="Arial Unicode MS"/>
              </a:rPr>
              <a:t>，有些車還會自己在行駛中偷偷校正。
</a:t>
            </a:r>
          </a:p>
          <a:p>
            <a:pPr algn="l">
              <a:spcBef>
                <a:spcPts val="0"/>
              </a:spcBef>
              <a:spcAft>
                <a:spcPts val="192"/>
              </a:spcAft>
            </a:pPr>
            <a:r>
              <a:rPr sz="1150" lang="zh-TW" dirty="0">
                <a:solidFill>
                  <a:srgbClr val="000000"/>
                </a:solidFill>
                <a:latin typeface="Arial Unicode MS"/>
                <a:ea typeface="Arial Unicode MS"/>
                <a:cs typeface="Arial Unicode MS"/>
              </a:rPr>
              <a:t>問各位一句：</a:t>
            </a:r>
            <a:r>
              <a:rPr sz="1150" b="1" lang="zh-TW" dirty="0">
                <a:solidFill>
                  <a:srgbClr val="000000"/>
                </a:solidFill>
                <a:latin typeface="Arial Unicode MS"/>
                <a:ea typeface="Arial Unicode MS"/>
                <a:cs typeface="Arial Unicode MS"/>
              </a:rPr>
              <a:t>你家的車，換過擋風玻璃嗎？</a:t>
            </a:r>
            <a:r>
              <a:rPr sz="11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92"/>
              </a:spcAft>
            </a:pPr>
            <a:r>
              <a:rPr sz="11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第一句，相機的三件事。</a:t>
            </a:r>
            <a:r>
              <a:rPr sz="12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200"/>
              </a:spcAft>
            </a:pPr>
            <a:r>
              <a:rPr sz="1200" b="1" lang="zh-TW" dirty="0">
                <a:solidFill>
                  <a:srgbClr val="000000"/>
                </a:solidFill>
                <a:latin typeface="Arial Unicode MS"/>
                <a:ea typeface="Arial Unicode MS"/>
                <a:cs typeface="Arial Unicode MS"/>
              </a:rPr>
              <a:t>第二句，光達的三行。</a:t>
            </a:r>
            <a:r>
              <a:rPr sz="12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200"/>
              </a:spcAft>
            </a:pPr>
            <a:r>
              <a:rPr sz="1200" b="1" lang="zh-TW" dirty="0">
                <a:solidFill>
                  <a:srgbClr val="000000"/>
                </a:solidFill>
                <a:latin typeface="Arial Unicode MS"/>
                <a:ea typeface="Arial Unicode MS"/>
                <a:cs typeface="Arial Unicode MS"/>
              </a:rPr>
              <a:t>第三句，兩顆好的感測器合起來不一定對。</a:t>
            </a:r>
            <a:r>
              <a:rPr sz="12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200"/>
              </a:spcAft>
            </a:pPr>
            <a:r>
              <a:rPr sz="12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200" b="1" lang="zh-TW" dirty="0">
                <a:solidFill>
                  <a:srgbClr val="000000"/>
                </a:solidFill>
                <a:latin typeface="Arial Unicode MS"/>
                <a:ea typeface="Arial Unicode MS"/>
                <a:cs typeface="Arial Unicode MS"/>
              </a:rPr>
              <a:t>卡在哪一行</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youtu.be/J7hdrMn2RII" TargetMode="External"/><Relationship Id="rId2" Type="http://schemas.openxmlformats.org/officeDocument/2006/relationships/hyperlink" Target="https://youtu.be/yqRNU7EsHJY" TargetMode="External"/><Relationship Id="rId3"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tâm ảnh ở đâu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Lidar cũng có: góc từng tia</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鏡頭扭曲多少、畫面中心在哪</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光達也有：每條線束的角度</a:t>
            </a:r>
            <a:endParaRPr lang="en-US" sz="1120" dirty="0"/>
          </a:p>
        </p:txBody>
      </p:sp>
      <p:sp>
        <p:nvSpPr>
          <p:cNvPr id="8" name="Shape 6"/>
          <p:cNvSpPr/>
          <p:nvPr/>
        </p:nvSpPr>
        <p:spPr>
          <a:xfrm>
            <a:off x="881951" y="3526581"/>
            <a:ext cx="1926531" cy="1"/>
          </a:xfrm>
          <a:prstGeom prst="line">
            <a:avLst/>
          </a:prstGeom>
          <a:noFill/>
          <a:ln w="12700">
            <a:solidFill>
              <a:srgbClr val="DBE3EA"/>
            </a:solidFill>
            <a:prstDash val="solid"/>
          </a:ln>
        </p:spPr>
      </p:sp>
      <p:sp>
        <p:nvSpPr>
          <p:cNvPr id="9" name="Shape 7"/>
          <p:cNvSpPr/>
          <p:nvPr/>
        </p:nvSpPr>
        <p:spPr>
          <a:xfrm>
            <a:off x="793035" y="3633281"/>
            <a:ext cx="195617" cy="195617"/>
          </a:xfrm>
          <a:prstGeom prst="ellipse">
            <a:avLst/>
          </a:prstGeom>
          <a:solidFill>
            <a:srgbClr val="D9463E"/>
          </a:solidFill>
          <a:ln/>
        </p:spPr>
      </p:sp>
      <p:sp>
        <p:nvSpPr>
          <p:cNvPr id="10" name="Text 8"/>
          <p:cNvSpPr txBox="1"/>
          <p:nvPr/>
        </p:nvSpPr>
        <p:spPr>
          <a:xfrm>
            <a:off x="793035"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11" name="Text 9"/>
          <p:cNvSpPr txBox="1"/>
          <p:nvPr/>
        </p:nvSpPr>
        <p:spPr>
          <a:xfrm>
            <a:off x="1024218"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0:19　</a:t>
            </a:r>
            <a:pPr indent="0" marL="0">
              <a:buNone/>
            </a:pPr>
            <a:r>
              <a:rPr lang="en-US" sz="8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youtu.be/J7hdrMn2RII</a:t>
            </a:r>
            <a:endParaRPr lang="en-US" sz="880" dirty="0"/>
          </a:p>
        </p:txBody>
      </p:sp>
      <p:sp>
        <p:nvSpPr>
          <p:cNvPr id="12" name="Text 10"/>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3" name="Shape 11"/>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4340816" y="1463711"/>
            <a:ext cx="462368" cy="462368"/>
          </a:xfrm>
          <a:prstGeom prst="ellipse">
            <a:avLst/>
          </a:prstGeom>
          <a:solidFill>
            <a:srgbClr val="00A896"/>
          </a:solidFill>
          <a:ln/>
        </p:spPr>
      </p:sp>
      <p:sp>
        <p:nvSpPr>
          <p:cNvPr id="15" name="Text 13"/>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6" name="Text 14"/>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7" name="Text 15"/>
          <p:cNvSpPr txBox="1"/>
          <p:nvPr/>
        </p:nvSpPr>
        <p:spPr>
          <a:xfrm>
            <a:off x="3466467"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Gắn ở đâu trên thân xe</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nhìn hướng nào</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裝在車身的哪裡</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朝哪個方向看</a:t>
            </a:r>
            <a:endParaRPr lang="en-US" sz="1120" dirty="0"/>
          </a:p>
        </p:txBody>
      </p:sp>
      <p:sp>
        <p:nvSpPr>
          <p:cNvPr id="18" name="Shape 16"/>
          <p:cNvSpPr/>
          <p:nvPr/>
        </p:nvSpPr>
        <p:spPr>
          <a:xfrm>
            <a:off x="3608734" y="3526581"/>
            <a:ext cx="1926531" cy="1"/>
          </a:xfrm>
          <a:prstGeom prst="line">
            <a:avLst/>
          </a:prstGeom>
          <a:noFill/>
          <a:ln w="12700">
            <a:solidFill>
              <a:srgbClr val="DBE3EA"/>
            </a:solidFill>
            <a:prstDash val="solid"/>
          </a:ln>
        </p:spPr>
      </p:sp>
      <p:sp>
        <p:nvSpPr>
          <p:cNvPr id="19" name="Shape 17"/>
          <p:cNvSpPr/>
          <p:nvPr/>
        </p:nvSpPr>
        <p:spPr>
          <a:xfrm>
            <a:off x="3519817" y="3633281"/>
            <a:ext cx="195617" cy="195617"/>
          </a:xfrm>
          <a:prstGeom prst="ellipse">
            <a:avLst/>
          </a:prstGeom>
          <a:solidFill>
            <a:srgbClr val="D9463E"/>
          </a:solidFill>
          <a:ln/>
        </p:spPr>
      </p:sp>
      <p:sp>
        <p:nvSpPr>
          <p:cNvPr id="20" name="Text 18"/>
          <p:cNvSpPr txBox="1"/>
          <p:nvPr/>
        </p:nvSpPr>
        <p:spPr>
          <a:xfrm>
            <a:off x="3519817"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21" name="Text 19"/>
          <p:cNvSpPr txBox="1"/>
          <p:nvPr/>
        </p:nvSpPr>
        <p:spPr>
          <a:xfrm>
            <a:off x="3751001"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0:14　</a:t>
            </a:r>
            <a:pPr indent="0" marL="0">
              <a:buNone/>
            </a:pPr>
            <a:r>
              <a:rPr lang="en-US" sz="88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youtu.be/yqRNU7EsHJY</a:t>
            </a:r>
            <a:endParaRPr lang="en-US" sz="880" dirty="0"/>
          </a:p>
        </p:txBody>
      </p:sp>
      <p:sp>
        <p:nvSpPr>
          <p:cNvPr id="22" name="Text 20"/>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23" name="Shape 21"/>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4" name="Shape 22"/>
          <p:cNvSpPr/>
          <p:nvPr/>
        </p:nvSpPr>
        <p:spPr>
          <a:xfrm>
            <a:off x="7067599" y="1463711"/>
            <a:ext cx="462368" cy="462368"/>
          </a:xfrm>
          <a:prstGeom prst="ellipse">
            <a:avLst/>
          </a:prstGeom>
          <a:solidFill>
            <a:srgbClr val="0B1F3A"/>
          </a:solidFill>
          <a:ln/>
        </p:spPr>
      </p:sp>
      <p:sp>
        <p:nvSpPr>
          <p:cNvPr id="25" name="Text 23"/>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26" name="Text 24"/>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Lệch 1° so với số đã ghi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實際角度和車上記的差 1 度</a:t>
            </a:r>
            <a:endParaRPr lang="en-US" sz="1360" dirty="0"/>
          </a:p>
        </p:txBody>
      </p:sp>
      <p:sp>
        <p:nvSpPr>
          <p:cNvPr id="27" name="Text 25"/>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8" name="Text 26"/>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30" name="Image 0"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31" name="Text 27"/>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32" name="Text 28"/>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2026-10-06T13:25:32Z</dcterms:created>
  <dcterms:modified xsi:type="dcterms:W3CDTF">2026-10-06T13:25:32Z</dcterms:modified>
</cp:coreProperties>
</file>