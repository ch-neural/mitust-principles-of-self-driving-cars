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第二節開場。從「看得多遠多清楚」進到「看得準不準、合不合得起來」。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圈主標「第二層」，講明那是我分的層次、不是 PDF 的頁碼，這些是上一節沒碰到的規格行。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第二節開始。
</a:t>
            </a:r>
          </a:p>
          <a:p>
            <a:pPr algn="l">
              <a:spcBef>
                <a:spcPts val="0"/>
              </a:spcBef>
              <a:spcAft>
                <a:spcPts val="150"/>
              </a:spcAft>
            </a:pPr>
            <a:r>
              <a:rPr sz="900" lang="zh-TW" dirty="0">
                <a:solidFill>
                  <a:srgbClr val="000000"/>
                </a:solidFill>
                <a:latin typeface="Arial Unicode MS"/>
                <a:ea typeface="Arial Unicode MS"/>
                <a:cs typeface="Arial Unicode MS"/>
              </a:rPr>
              <a:t>上一節我們找的四個數字，我叫它</a:t>
            </a:r>
            <a:r>
              <a:rPr sz="900" b="1" lang="zh-TW" dirty="0">
                <a:solidFill>
                  <a:srgbClr val="000000"/>
                </a:solidFill>
                <a:latin typeface="Arial Unicode MS"/>
                <a:ea typeface="Arial Unicode MS"/>
                <a:cs typeface="Arial Unicode MS"/>
              </a:rPr>
              <a:t>第一層</a:t>
            </a:r>
            <a:r>
              <a:rPr sz="900" lang="zh-TW" dirty="0">
                <a:solidFill>
                  <a:srgbClr val="000000"/>
                </a:solidFill>
                <a:latin typeface="Arial Unicode MS"/>
                <a:ea typeface="Arial Unicode MS"/>
                <a:cs typeface="Arial Unicode MS"/>
              </a:rPr>
              <a:t>——解析度、視野、測距、更新率。那四個是所有人都會看的。
</a:t>
            </a:r>
          </a:p>
          <a:p>
            <a:pPr algn="l">
              <a:spcBef>
                <a:spcPts val="0"/>
              </a:spcBef>
              <a:spcAft>
                <a:spcPts val="150"/>
              </a:spcAft>
            </a:pPr>
            <a:r>
              <a:rPr sz="900" lang="zh-TW" dirty="0">
                <a:solidFill>
                  <a:srgbClr val="000000"/>
                </a:solidFill>
                <a:latin typeface="Arial Unicode MS"/>
                <a:ea typeface="Arial Unicode MS"/>
                <a:cs typeface="Arial Unicode MS"/>
              </a:rPr>
              <a:t>這一節我要帶各位往下翻。</a:t>
            </a:r>
            <a:r>
              <a:rPr sz="900" b="1" lang="zh-TW" dirty="0">
                <a:solidFill>
                  <a:srgbClr val="000000"/>
                </a:solidFill>
                <a:latin typeface="Arial Unicode MS"/>
                <a:ea typeface="Arial Unicode MS"/>
                <a:cs typeface="Arial Unicode MS"/>
              </a:rPr>
              <a:t>第二層</a:t>
            </a:r>
            <a:r>
              <a:rPr sz="900" lang="zh-TW" dirty="0">
                <a:solidFill>
                  <a:srgbClr val="000000"/>
                </a:solidFill>
                <a:latin typeface="Arial Unicode MS"/>
                <a:ea typeface="Arial Unicode MS"/>
                <a:cs typeface="Arial Unicode MS"/>
              </a:rPr>
              <a:t>還有一堆數字，大部分的人不看，可是</a:t>
            </a:r>
            <a:r>
              <a:rPr sz="900" b="1" lang="zh-TW" dirty="0">
                <a:solidFill>
                  <a:srgbClr val="000000"/>
                </a:solidFill>
                <a:latin typeface="Arial Unicode MS"/>
                <a:ea typeface="Arial Unicode MS"/>
                <a:cs typeface="Arial Unicode MS"/>
              </a:rPr>
              <a:t>真的出事的時候，常常是出在那幾行</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先講清楚，免得各位拿著 PDF 對不上：</a:t>
            </a:r>
            <a:r>
              <a:rPr sz="900" b="1" lang="zh-TW" dirty="0">
                <a:solidFill>
                  <a:srgbClr val="000000"/>
                </a:solidFill>
                <a:latin typeface="Arial Unicode MS"/>
                <a:ea typeface="Arial Unicode MS"/>
                <a:cs typeface="Arial Unicode MS"/>
              </a:rPr>
              <a:t>第一層、第二層是我分的，不是文件的頁碼。</a:t>
            </a:r>
            <a:r>
              <a:rPr sz="900" lang="zh-TW" dirty="0">
                <a:solidFill>
                  <a:srgbClr val="000000"/>
                </a:solidFill>
                <a:latin typeface="Arial Unicode MS"/>
                <a:ea typeface="Arial Unicode MS"/>
                <a:cs typeface="Arial Unicode MS"/>
              </a:rPr>
              <a:t>這六行在真的文件上是散在好幾頁的——等一下會看到，OS1 的雷射那一段在官方 PDF 的第二頁，相機那三行則全擠在 AR0233AT 兩頁文件的第一頁。
</a:t>
            </a:r>
          </a:p>
          <a:p>
            <a:pPr algn="l">
              <a:spcBef>
                <a:spcPts val="0"/>
              </a:spcBef>
              <a:spcAft>
                <a:spcPts val="150"/>
              </a:spcAft>
            </a:pPr>
            <a:r>
              <a:rPr sz="900" lang="zh-TW" dirty="0">
                <a:solidFill>
                  <a:srgbClr val="000000"/>
                </a:solidFill>
                <a:latin typeface="Arial Unicode MS"/>
                <a:ea typeface="Arial Unicode MS"/>
                <a:cs typeface="Arial Unicode MS"/>
              </a:rPr>
              <a:t>我挑三組最重要的。
</a:t>
            </a:r>
          </a:p>
          <a:p>
            <a:pPr algn="l">
              <a:spcBef>
                <a:spcPts val="0"/>
              </a:spcBef>
              <a:spcAft>
                <a:spcPts val="150"/>
              </a:spcAft>
            </a:pPr>
            <a:r>
              <a:rPr sz="900" lang="zh-TW" dirty="0">
                <a:solidFill>
                  <a:srgbClr val="000000"/>
                </a:solidFill>
                <a:latin typeface="Arial Unicode MS"/>
                <a:ea typeface="Arial Unicode MS"/>
                <a:cs typeface="Arial Unicode MS"/>
              </a:rPr>
              <a:t>第一組是相機的：</a:t>
            </a:r>
            <a:r>
              <a:rPr sz="900" b="1" lang="zh-TW" dirty="0">
                <a:solidFill>
                  <a:srgbClr val="000000"/>
                </a:solidFill>
                <a:latin typeface="Arial Unicode MS"/>
                <a:ea typeface="Arial Unicode MS"/>
                <a:cs typeface="Arial Unicode MS"/>
              </a:rPr>
              <a:t>快門怎麼掃、動態範圍多少、LED 閃爍怎麼處理</a:t>
            </a:r>
            <a:r>
              <a:rPr sz="900" lang="zh-TW" dirty="0">
                <a:solidFill>
                  <a:srgbClr val="000000"/>
                </a:solidFill>
                <a:latin typeface="Arial Unicode MS"/>
                <a:ea typeface="Arial Unicode MS"/>
                <a:cs typeface="Arial Unicode MS"/>
              </a:rPr>
              <a:t>。這三件事決定了你的相機在隧道口和紅綠燈前面會不會瞎掉。
</a:t>
            </a:r>
          </a:p>
          <a:p>
            <a:pPr algn="l">
              <a:spcBef>
                <a:spcPts val="0"/>
              </a:spcBef>
              <a:spcAft>
                <a:spcPts val="150"/>
              </a:spcAft>
            </a:pPr>
            <a:r>
              <a:rPr sz="900" lang="zh-TW" dirty="0">
                <a:solidFill>
                  <a:srgbClr val="000000"/>
                </a:solidFill>
                <a:latin typeface="Arial Unicode MS"/>
                <a:ea typeface="Arial Unicode MS"/>
                <a:cs typeface="Arial Unicode MS"/>
              </a:rPr>
              <a:t>第二組是光達的：</a:t>
            </a:r>
            <a:r>
              <a:rPr sz="900" b="1" lang="zh-TW" dirty="0">
                <a:solidFill>
                  <a:srgbClr val="000000"/>
                </a:solidFill>
                <a:latin typeface="Arial Unicode MS"/>
                <a:ea typeface="Arial Unicode MS"/>
                <a:cs typeface="Arial Unicode MS"/>
              </a:rPr>
              <a:t>波長、眼睛安全等級、幾次回波</a:t>
            </a:r>
            <a:r>
              <a:rPr sz="900" lang="zh-TW" dirty="0">
                <a:solidFill>
                  <a:srgbClr val="000000"/>
                </a:solidFill>
                <a:latin typeface="Arial Unicode MS"/>
                <a:ea typeface="Arial Unicode MS"/>
                <a:cs typeface="Arial Unicode MS"/>
              </a:rPr>
              <a:t>。這三行決定了它在雨裡、在灰塵裡表現怎麼樣，還有它合不合法。
</a:t>
            </a:r>
          </a:p>
          <a:p>
            <a:pPr algn="l">
              <a:spcBef>
                <a:spcPts val="0"/>
              </a:spcBef>
              <a:spcAft>
                <a:spcPts val="150"/>
              </a:spcAft>
            </a:pPr>
            <a:r>
              <a:rPr sz="900" lang="zh-TW" dirty="0">
                <a:solidFill>
                  <a:srgbClr val="000000"/>
                </a:solidFill>
                <a:latin typeface="Arial Unicode MS"/>
                <a:ea typeface="Arial Unicode MS"/>
                <a:cs typeface="Arial Unicode MS"/>
              </a:rPr>
              <a:t>第三組是兩種都有的，而且是最多人忽略的：</a:t>
            </a:r>
            <a:r>
              <a:rPr sz="900" b="1" lang="zh-TW" dirty="0">
                <a:solidFill>
                  <a:srgbClr val="000000"/>
                </a:solidFill>
                <a:latin typeface="Arial Unicode MS"/>
                <a:ea typeface="Arial Unicode MS"/>
                <a:cs typeface="Arial Unicode MS"/>
              </a:rPr>
              <a:t>標定和時間同步</a:t>
            </a:r>
            <a:r>
              <a:rPr sz="900" lang="zh-TW" dirty="0">
                <a:solidFill>
                  <a:srgbClr val="000000"/>
                </a:solidFill>
                <a:latin typeface="Arial Unicode MS"/>
                <a:ea typeface="Arial Unicode MS"/>
                <a:cs typeface="Arial Unicode MS"/>
              </a:rPr>
              <a:t>。兩顆感測器如果沒有對準、沒有對時，它們各自都是好的，合起來卻是錯的。
</a:t>
            </a:r>
          </a:p>
          <a:p>
            <a:pPr algn="l">
              <a:spcBef>
                <a:spcPts val="0"/>
              </a:spcBef>
              <a:spcAft>
                <a:spcPts val="150"/>
              </a:spcAft>
            </a:pPr>
            <a:r>
              <a:rPr sz="9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段落分隔。標題寫三種會壞掉的樣子，副標才是三個術語；順便講明快門方式不在那份兩頁的 preview 上。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第一組是相機，三件事：</a:t>
            </a:r>
            <a:r>
              <a:rPr sz="1200" b="1" lang="zh-TW" dirty="0">
                <a:solidFill>
                  <a:srgbClr val="000000"/>
                </a:solidFill>
                <a:latin typeface="Arial Unicode MS"/>
                <a:ea typeface="Arial Unicode MS"/>
                <a:cs typeface="Arial Unicode MS"/>
              </a:rPr>
              <a:t>快門方式、動態範圍、LED 閃爍抑制</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先說一件事，免得各位等一下找不到：動態範圍和 LED 閃爍，第一節第十張那張 AR0233AT 的表上都有。</a:t>
            </a:r>
            <a:r>
              <a:rPr sz="1200" b="1" lang="zh-TW" dirty="0">
                <a:solidFill>
                  <a:srgbClr val="000000"/>
                </a:solidFill>
                <a:latin typeface="Arial Unicode MS"/>
                <a:ea typeface="Arial Unicode MS"/>
                <a:cs typeface="Arial Unicode MS"/>
              </a:rPr>
              <a:t>快門方式沒有</a:t>
            </a:r>
            <a:r>
              <a:rPr sz="1200" lang="zh-TW" dirty="0">
                <a:solidFill>
                  <a:srgbClr val="000000"/>
                </a:solidFill>
                <a:latin typeface="Arial Unicode MS"/>
                <a:ea typeface="Arial Unicode MS"/>
                <a:cs typeface="Arial Unicode MS"/>
              </a:rPr>
              <a:t>——那份是兩頁的 product preview，短版文件會省東西。要看快門方式，得去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判讀台上我幫各位把那一行補進去了，等一下可以對照。</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捲簾快門：一張照片不是同時拍的，是從上往下掃出來的。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等動圖掃完，指著那根斜掉的電線桿和下面那個箭頭說「它本來是直的」，再圈結論條。真東西的例子留到下一張的影片。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先講第一件，</a:t>
            </a:r>
            <a:r>
              <a:rPr sz="800" b="1" lang="zh-TW" dirty="0">
                <a:solidFill>
                  <a:srgbClr val="000000"/>
                </a:solidFill>
                <a:latin typeface="Arial Unicode MS"/>
                <a:ea typeface="Arial Unicode MS"/>
                <a:cs typeface="Arial Unicode MS"/>
              </a:rPr>
              <a:t>快門方式</a:t>
            </a:r>
            <a:r>
              <a:rPr sz="800" lang="zh-TW" dirty="0">
                <a:solidFill>
                  <a:srgbClr val="000000"/>
                </a:solidFill>
                <a:latin typeface="Arial Unicode MS"/>
                <a:ea typeface="Arial Unicode MS"/>
                <a:cs typeface="Arial Unicode MS"/>
              </a:rPr>
              <a:t>。規格表上那一行的欄位名叫 </a:t>
            </a:r>
            <a:r>
              <a:rPr sz="800" b="1" lang="zh-TW" dirty="0">
                <a:solidFill>
                  <a:srgbClr val="000000"/>
                </a:solidFill>
                <a:latin typeface="Arial Unicode MS"/>
                <a:ea typeface="Arial Unicode MS"/>
                <a:cs typeface="Arial Unicode MS"/>
              </a:rPr>
              <a:t>Shutter Type</a:t>
            </a:r>
            <a:r>
              <a:rPr sz="800" lang="zh-TW" dirty="0">
                <a:solidFill>
                  <a:srgbClr val="000000"/>
                </a:solidFill>
                <a:latin typeface="Arial Unicode MS"/>
                <a:ea typeface="Arial Unicode MS"/>
                <a:cs typeface="Arial Unicode MS"/>
              </a:rPr>
              <a:t>，有的廠商只寫 Shutter；上面填的不是 rolling shutter 就是 global shutter。AR0233AT 填的是 </a:t>
            </a:r>
            <a:r>
              <a:rPr sz="800" b="1" lang="zh-TW" dirty="0">
                <a:solidFill>
                  <a:srgbClr val="000000"/>
                </a:solidFill>
                <a:latin typeface="Arial Unicode MS"/>
                <a:ea typeface="Arial Unicode MS"/>
                <a:cs typeface="Arial Unicode MS"/>
              </a:rPr>
              <a:t>electronic rolling shutter</a:t>
            </a:r>
            <a:r>
              <a:rPr sz="800" lang="zh-TW" dirty="0">
                <a:solidFill>
                  <a:srgbClr val="000000"/>
                </a:solidFill>
                <a:latin typeface="Arial Unicode MS"/>
                <a:ea typeface="Arial Unicode MS"/>
                <a:cs typeface="Arial Unicode MS"/>
              </a:rPr>
              <a:t>，電子捲簾。
</a:t>
            </a:r>
          </a:p>
          <a:p>
            <a:pPr algn="l">
              <a:spcBef>
                <a:spcPts val="0"/>
              </a:spcBef>
              <a:spcAft>
                <a:spcPts val="133"/>
              </a:spcAft>
            </a:pPr>
            <a:r>
              <a:rPr sz="800" lang="zh-TW" dirty="0">
                <a:solidFill>
                  <a:srgbClr val="000000"/>
                </a:solidFill>
                <a:latin typeface="Arial Unicode MS"/>
                <a:ea typeface="Arial Unicode MS"/>
                <a:cs typeface="Arial Unicode MS"/>
              </a:rPr>
              <a:t>這裡要提醒一次：</a:t>
            </a:r>
            <a:r>
              <a:rPr sz="800" b="1" lang="zh-TW" dirty="0">
                <a:solidFill>
                  <a:srgbClr val="000000"/>
                </a:solidFill>
                <a:latin typeface="Arial Unicode MS"/>
                <a:ea typeface="Arial Unicode MS"/>
                <a:cs typeface="Arial Unicode MS"/>
              </a:rPr>
              <a:t>第二張說過，這一行不在那份兩頁的 Product Preview 上</a:t>
            </a:r>
            <a:r>
              <a:rPr sz="800" lang="zh-TW" dirty="0">
                <a:solidFill>
                  <a:srgbClr val="000000"/>
                </a:solidFill>
                <a:latin typeface="Arial Unicode MS"/>
                <a:ea typeface="Arial Unicode MS"/>
                <a:cs typeface="Arial Unicode MS"/>
              </a:rPr>
              <a:t>——各位翻到最後的附錄去找也找不到。要看它得去 onsemi 的產品頁；判讀台上我已經幫各位把那一行補進去了，現在就可以切過去看。
</a:t>
            </a:r>
          </a:p>
          <a:p>
            <a:pPr algn="l">
              <a:spcBef>
                <a:spcPts val="0"/>
              </a:spcBef>
              <a:spcAft>
                <a:spcPts val="133"/>
              </a:spcAft>
            </a:pPr>
            <a:r>
              <a:rPr sz="800" lang="zh-TW" dirty="0">
                <a:solidFill>
                  <a:srgbClr val="000000"/>
                </a:solidFill>
                <a:latin typeface="Arial Unicode MS"/>
                <a:ea typeface="Arial Unicode MS"/>
                <a:cs typeface="Arial Unicode MS"/>
              </a:rPr>
              <a:t>大部分的人以為，相機按一下就是一整張照片同時拍好。</a:t>
            </a:r>
            <a:r>
              <a:rPr sz="800" b="1" lang="zh-TW" dirty="0">
                <a:solidFill>
                  <a:srgbClr val="000000"/>
                </a:solidFill>
                <a:latin typeface="Arial Unicode MS"/>
                <a:ea typeface="Arial Unicode MS"/>
                <a:cs typeface="Arial Unicode MS"/>
              </a:rPr>
              <a:t>大部分的車用相機不是這樣。</a:t>
            </a:r>
            <a:r>
              <a:rPr sz="800" lang="zh-TW" dirty="0">
                <a:solidFill>
                  <a:srgbClr val="000000"/>
                </a:solidFill>
                <a:latin typeface="Arial Unicode MS"/>
                <a:ea typeface="Arial Unicode MS"/>
                <a:cs typeface="Arial Unicode MS"/>
              </a:rPr>
              <a:t>它叫</a:t>
            </a:r>
            <a:r>
              <a:rPr sz="800" b="1" lang="zh-TW" dirty="0">
                <a:solidFill>
                  <a:srgbClr val="000000"/>
                </a:solidFill>
                <a:latin typeface="Arial Unicode MS"/>
                <a:ea typeface="Arial Unicode MS"/>
                <a:cs typeface="Arial Unicode MS"/>
              </a:rPr>
              <a:t>捲簾快門</a:t>
            </a:r>
            <a:r>
              <a:rPr sz="800" lang="zh-TW" dirty="0">
                <a:solidFill>
                  <a:srgbClr val="000000"/>
                </a:solidFill>
                <a:latin typeface="Arial Unicode MS"/>
                <a:ea typeface="Arial Unicode MS"/>
                <a:cs typeface="Arial Unicode MS"/>
              </a:rPr>
              <a:t>，rolling shutter。感光元件是</a:t>
            </a:r>
            <a:r>
              <a:rPr sz="800" b="1" lang="zh-TW" dirty="0">
                <a:solidFill>
                  <a:srgbClr val="000000"/>
                </a:solidFill>
                <a:latin typeface="Arial Unicode MS"/>
                <a:ea typeface="Arial Unicode MS"/>
                <a:cs typeface="Arial Unicode MS"/>
              </a:rPr>
              <a:t>一列一列</a:t>
            </a:r>
            <a:r>
              <a:rPr sz="800" lang="zh-TW" dirty="0">
                <a:solidFill>
                  <a:srgbClr val="000000"/>
                </a:solidFill>
                <a:latin typeface="Arial Unicode MS"/>
                <a:ea typeface="Arial Unicode MS"/>
                <a:cs typeface="Arial Unicode MS"/>
              </a:rPr>
              <a:t>讀出來的：先讀第一列，再讀第二列，一路讀到最後一列。整張讀完要幾十毫秒。
</a:t>
            </a:r>
          </a:p>
          <a:p>
            <a:pPr algn="l">
              <a:spcBef>
                <a:spcPts val="0"/>
              </a:spcBef>
              <a:spcAft>
                <a:spcPts val="133"/>
              </a:spcAft>
            </a:pPr>
            <a:r>
              <a:rPr sz="800" lang="zh-TW" dirty="0">
                <a:solidFill>
                  <a:srgbClr val="000000"/>
                </a:solidFill>
                <a:latin typeface="Arial Unicode MS"/>
                <a:ea typeface="Arial Unicode MS"/>
                <a:cs typeface="Arial Unicode MS"/>
              </a:rPr>
              <a:t>所以同一張照片裡面，最上面那一列和最下面那一列，</a:t>
            </a:r>
            <a:r>
              <a:rPr sz="800" b="1" lang="zh-TW" dirty="0">
                <a:solidFill>
                  <a:srgbClr val="000000"/>
                </a:solidFill>
                <a:latin typeface="Arial Unicode MS"/>
                <a:ea typeface="Arial Unicode MS"/>
                <a:cs typeface="Arial Unicode MS"/>
              </a:rPr>
              <a:t>不是同一個時間拍的</a:t>
            </a:r>
            <a:r>
              <a:rPr sz="8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左邊這張動圖就是在演這件事，它會一直循環播，各位邊聽邊看。一開始那根電線桿是</a:t>
            </a:r>
            <a:r>
              <a:rPr sz="800" b="1" lang="zh-TW" dirty="0">
                <a:solidFill>
                  <a:srgbClr val="000000"/>
                </a:solidFill>
                <a:latin typeface="Arial Unicode MS"/>
                <a:ea typeface="Arial Unicode MS"/>
                <a:cs typeface="Arial Unicode MS"/>
              </a:rPr>
              <a:t>直的</a:t>
            </a:r>
            <a:r>
              <a:rPr sz="800" lang="zh-TW" dirty="0">
                <a:solidFill>
                  <a:srgbClr val="000000"/>
                </a:solidFill>
                <a:latin typeface="Arial Unicode MS"/>
                <a:ea typeface="Arial Unicode MS"/>
                <a:cs typeface="Arial Unicode MS"/>
              </a:rPr>
              <a:t>，這是它本來的樣子。然後黃色那條線從上往下掃，掃到哪一列，那一列才拍下來。左邊標的是時間：最上面那一列是第零毫秒，中間是第十五毫秒，最下面是第三十毫秒。這三十毫秒裡面車子一直在走，所以每一列拍到的電線桿都在不同的地方。掃完各位看結果——</a:t>
            </a:r>
            <a:r>
              <a:rPr sz="800" b="1" lang="zh-TW" dirty="0">
                <a:solidFill>
                  <a:srgbClr val="000000"/>
                </a:solidFill>
                <a:latin typeface="Arial Unicode MS"/>
                <a:ea typeface="Arial Unicode MS"/>
                <a:cs typeface="Arial Unicode MS"/>
              </a:rPr>
              <a:t>那根直的電線桿，在照片裡變成斜的</a:t>
            </a:r>
            <a:r>
              <a:rPr sz="800" lang="zh-TW" dirty="0">
                <a:solidFill>
                  <a:srgbClr val="000000"/>
                </a:solidFill>
                <a:latin typeface="Arial Unicode MS"/>
                <a:ea typeface="Arial Unicode MS"/>
                <a:cs typeface="Arial Unicode MS"/>
              </a:rPr>
              <a:t>。下面那個箭頭就是上下差了多少。
</a:t>
            </a:r>
          </a:p>
          <a:p>
            <a:pPr algn="l">
              <a:spcBef>
                <a:spcPts val="0"/>
              </a:spcBef>
              <a:spcAft>
                <a:spcPts val="133"/>
              </a:spcAft>
            </a:pPr>
            <a:r>
              <a:rPr sz="800" lang="zh-TW" dirty="0">
                <a:solidFill>
                  <a:srgbClr val="000000"/>
                </a:solidFill>
                <a:latin typeface="Arial Unicode MS"/>
                <a:ea typeface="Arial Unicode MS"/>
                <a:cs typeface="Arial Unicode MS"/>
              </a:rPr>
              <a:t>對自駕車來說，這件事的嚴重性在哪裡？
</a:t>
            </a:r>
          </a:p>
          <a:p>
            <a:pPr algn="l">
              <a:spcBef>
                <a:spcPts val="0"/>
              </a:spcBef>
              <a:spcAft>
                <a:spcPts val="133"/>
              </a:spcAft>
            </a:pPr>
            <a:r>
              <a:rPr sz="8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800" b="1" lang="zh-TW" dirty="0">
                <a:solidFill>
                  <a:srgbClr val="000000"/>
                </a:solidFill>
                <a:latin typeface="Arial Unicode MS"/>
                <a:ea typeface="Arial Unicode MS"/>
                <a:cs typeface="Arial Unicode MS"/>
              </a:rPr>
              <a:t>被扭曲的形狀</a:t>
            </a:r>
            <a:r>
              <a:rPr sz="800" lang="zh-TW" dirty="0">
                <a:solidFill>
                  <a:srgbClr val="000000"/>
                </a:solidFill>
                <a:latin typeface="Arial Unicode MS"/>
                <a:ea typeface="Arial Unicode MS"/>
                <a:cs typeface="Arial Unicode MS"/>
              </a:rPr>
              <a:t>，而且它不知道那是扭曲的，它以為那就是真的。
</a:t>
            </a:r>
          </a:p>
          <a:p>
            <a:pPr algn="l">
              <a:spcBef>
                <a:spcPts val="0"/>
              </a:spcBef>
              <a:spcAft>
                <a:spcPts val="133"/>
              </a:spcAft>
            </a:pPr>
            <a:r>
              <a:rPr sz="800" lang="zh-TW" dirty="0">
                <a:solidFill>
                  <a:srgbClr val="000000"/>
                </a:solidFill>
                <a:latin typeface="Arial Unicode MS"/>
                <a:ea typeface="Arial Unicode MS"/>
                <a:cs typeface="Arial Unicode MS"/>
              </a:rPr>
              <a:t>那 </a:t>
            </a:r>
            <a:r>
              <a:rPr sz="800" b="1" lang="zh-TW" dirty="0">
                <a:solidFill>
                  <a:srgbClr val="000000"/>
                </a:solidFill>
                <a:latin typeface="Arial Unicode MS"/>
                <a:ea typeface="Arial Unicode MS"/>
                <a:cs typeface="Arial Unicode MS"/>
              </a:rPr>
              <a:t>global shutter</a:t>
            </a:r>
            <a:r>
              <a:rPr sz="800" lang="zh-TW" dirty="0">
                <a:solidFill>
                  <a:srgbClr val="000000"/>
                </a:solidFill>
                <a:latin typeface="Arial Unicode MS"/>
                <a:ea typeface="Arial Unicode MS"/>
                <a:cs typeface="Arial Unicode MS"/>
              </a:rPr>
              <a:t>——中文叫</a:t>
            </a:r>
            <a:r>
              <a:rPr sz="800" b="1" lang="zh-TW" dirty="0">
                <a:solidFill>
                  <a:srgbClr val="000000"/>
                </a:solidFill>
                <a:latin typeface="Arial Unicode MS"/>
                <a:ea typeface="Arial Unicode MS"/>
                <a:cs typeface="Arial Unicode MS"/>
              </a:rPr>
              <a:t>全域快門</a:t>
            </a:r>
            <a:r>
              <a:rPr sz="800" lang="zh-TW" dirty="0">
                <a:solidFill>
                  <a:srgbClr val="000000"/>
                </a:solidFill>
                <a:latin typeface="Arial Unicode MS"/>
                <a:ea typeface="Arial Unicode MS"/>
                <a:cs typeface="Arial Unicode MS"/>
              </a:rPr>
              <a:t>——呢？整張同時曝光，沒有這個問題，但是貴很多，而且同樣的價錢下感光度比較差。所以快門方式這一行不是文字遊戲，它決定了你的感知演算法要不要另外寫一段程式去補償。
</a:t>
            </a:r>
          </a:p>
          <a:p>
            <a:pPr algn="l">
              <a:spcBef>
                <a:spcPts val="0"/>
              </a:spcBef>
              <a:spcAft>
                <a:spcPts val="133"/>
              </a:spcAft>
            </a:pPr>
            <a:r>
              <a:rPr sz="800" lang="zh-TW" dirty="0">
                <a:solidFill>
                  <a:srgbClr val="000000"/>
                </a:solidFill>
                <a:latin typeface="Arial Unicode MS"/>
                <a:ea typeface="Arial Unicode MS"/>
                <a:cs typeface="Arial Unicode MS"/>
              </a:rPr>
              <a:t>大部分的車用感測器還是用捲簾，因為便宜。它的補救方式是</a:t>
            </a:r>
            <a:r>
              <a:rPr sz="800" b="1" lang="zh-TW" dirty="0">
                <a:solidFill>
                  <a:srgbClr val="000000"/>
                </a:solidFill>
                <a:latin typeface="Arial Unicode MS"/>
                <a:ea typeface="Arial Unicode MS"/>
                <a:cs typeface="Arial Unicode MS"/>
              </a:rPr>
              <a:t>讀得快一點</a:t>
            </a:r>
            <a:r>
              <a:rPr sz="800" lang="zh-TW" dirty="0">
                <a:solidFill>
                  <a:srgbClr val="000000"/>
                </a:solidFill>
                <a:latin typeface="Arial Unicode MS"/>
                <a:ea typeface="Arial Unicode MS"/>
                <a:cs typeface="Arial Unicode MS"/>
              </a:rPr>
              <a:t>——像上一節看的 AR0233AT，一秒六十張，等於整張一定要在</a:t>
            </a:r>
            <a:r>
              <a:rPr sz="800" b="1" lang="zh-TW" dirty="0">
                <a:solidFill>
                  <a:srgbClr val="000000"/>
                </a:solidFill>
                <a:latin typeface="Arial Unicode MS"/>
                <a:ea typeface="Arial Unicode MS"/>
                <a:cs typeface="Arial Unicode MS"/>
              </a:rPr>
              <a:t>十六點七毫秒</a:t>
            </a:r>
            <a:r>
              <a:rPr sz="800" lang="zh-TW" dirty="0">
                <a:solidFill>
                  <a:srgbClr val="000000"/>
                </a:solidFill>
                <a:latin typeface="Arial Unicode MS"/>
                <a:ea typeface="Arial Unicode MS"/>
                <a:cs typeface="Arial Unicode MS"/>
              </a:rPr>
              <a:t>之內讀完。一秒三十張是三十三毫秒，差一倍；同一台車經過，歪掉的程度也差不多少一半。
</a:t>
            </a:r>
          </a:p>
          <a:p>
            <a:pPr algn="l">
              <a:spcBef>
                <a:spcPts val="0"/>
              </a:spcBef>
              <a:spcAft>
                <a:spcPts val="133"/>
              </a:spcAft>
            </a:pPr>
            <a:r>
              <a:rPr sz="800" lang="zh-TW" dirty="0">
                <a:solidFill>
                  <a:srgbClr val="000000"/>
                </a:solidFill>
                <a:latin typeface="Arial Unicode MS"/>
                <a:ea typeface="Arial Unicode MS"/>
                <a:cs typeface="Arial Unicode MS"/>
              </a:rPr>
              <a:t>所以「更新率 60 fps」這一行，除了講即時性，也順便給了</a:t>
            </a:r>
            <a:r>
              <a:rPr sz="800" b="1" lang="zh-TW" dirty="0">
                <a:solidFill>
                  <a:srgbClr val="000000"/>
                </a:solidFill>
                <a:latin typeface="Arial Unicode MS"/>
                <a:ea typeface="Arial Unicode MS"/>
                <a:cs typeface="Arial Unicode MS"/>
              </a:rPr>
              <a:t>扭曲的上限</a:t>
            </a:r>
            <a:r>
              <a:rPr sz="800" lang="zh-TW" dirty="0">
                <a:solidFill>
                  <a:srgbClr val="000000"/>
                </a:solidFill>
                <a:latin typeface="Arial Unicode MS"/>
                <a:ea typeface="Arial Unicode MS"/>
                <a:cs typeface="Arial Unicode MS"/>
              </a:rPr>
              <a:t>：fps 愈高，從第一列到最後一列的時間差一定愈短。要講精確一點：真正決定扭曲的是</a:t>
            </a:r>
            <a:r>
              <a:rPr sz="800" b="1" lang="zh-TW" dirty="0">
                <a:solidFill>
                  <a:srgbClr val="000000"/>
                </a:solidFill>
                <a:latin typeface="Arial Unicode MS"/>
                <a:ea typeface="Arial Unicode MS"/>
                <a:cs typeface="Arial Unicode MS"/>
              </a:rPr>
              <a:t>整張讀完要多久</a:t>
            </a:r>
            <a:r>
              <a:rPr sz="800" lang="zh-TW" dirty="0">
                <a:solidFill>
                  <a:srgbClr val="000000"/>
                </a:solidFill>
                <a:latin typeface="Arial Unicode MS"/>
                <a:ea typeface="Arial Unicode MS"/>
                <a:cs typeface="Arial Unicode MS"/>
              </a:rPr>
              <a:t>，英文叫 readout time。fps 給的是它的上限——一秒六十張，讀完不可能超過十六點七毫秒，但也可能只花五毫秒、剩下的時間在等。有些規格書會另外印 line time 或 readout time，那一行才是直接的答案。</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50"/>
              </a:spcAft>
            </a:pPr>
            <a:r>
              <a:rPr sz="900" b="1" lang="zh-TW" dirty="0">
                <a:solidFill>
                  <a:srgbClr val="000000"/>
                </a:solidFill>
                <a:latin typeface="Arial Unicode MS"/>
                <a:ea typeface="Arial Unicode MS"/>
                <a:cs typeface="Arial Unicode MS"/>
              </a:rPr>
              <a:t>▍這一張要做什麼</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讓學生親眼看到捲簾快門發生在真東西上的樣子，順便一次看懂全域快門的差別。
</a:t>
            </a:r>
          </a:p>
          <a:p>
            <a:pPr algn="l">
              <a:spcBef>
                <a:spcPts val="0"/>
              </a:spcBef>
              <a:spcAft>
                <a:spcPts val="150"/>
              </a:spcAft>
            </a:pPr>
            <a:r>
              <a:rPr sz="900" b="1" lang="zh-TW" dirty="0">
                <a:solidFill>
                  <a:srgbClr val="000000"/>
                </a:solidFill>
                <a:latin typeface="Arial Unicode MS"/>
                <a:ea typeface="Arial Unicode MS"/>
                <a:cs typeface="Arial Unicode MS"/>
              </a:rPr>
              <a:t>▍畫面上圈這裡</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播兩次。第一次只叫他們看主旋翼；第二次看尾旋翼和機身。影片只有 32 秒，播完記得按暫停，不要讓它自動跳下一支。
</a:t>
            </a:r>
          </a:p>
          <a:p>
            <a:pPr algn="l">
              <a:spcBef>
                <a:spcPts val="0"/>
              </a:spcBef>
              <a:spcAft>
                <a:spcPts val="150"/>
              </a:spcAft>
            </a:pPr>
            <a:r>
              <a:rPr sz="900" b="1" lang="zh-TW" dirty="0">
                <a:solidFill>
                  <a:srgbClr val="000000"/>
                </a:solidFill>
                <a:latin typeface="Arial Unicode MS"/>
                <a:ea typeface="Arial Unicode MS"/>
                <a:cs typeface="Arial Unicode MS"/>
              </a:rPr>
              <a:t>▍以下照著唸</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50"/>
              </a:spcAft>
            </a:pPr>
            <a:r>
              <a:rPr sz="900" lang="zh-TW" dirty="0">
                <a:solidFill>
                  <a:srgbClr val="000000"/>
                </a:solidFill>
                <a:latin typeface="Arial Unicode MS"/>
                <a:ea typeface="Arial Unicode MS"/>
                <a:cs typeface="Arial Unicode MS"/>
              </a:rPr>
              <a:t>這支是 Sony 原廠拍的，三十二秒。畫面分上下兩半：</a:t>
            </a:r>
            <a:r>
              <a:rPr sz="900" b="1" lang="zh-TW" dirty="0">
                <a:solidFill>
                  <a:srgbClr val="000000"/>
                </a:solidFill>
                <a:latin typeface="Arial Unicode MS"/>
                <a:ea typeface="Arial Unicode MS"/>
                <a:cs typeface="Arial Unicode MS"/>
              </a:rPr>
              <a:t>上面標 Global Shutter，下面標 Rolling Shutter</a:t>
            </a:r>
            <a:r>
              <a:rPr sz="900" lang="zh-TW" dirty="0">
                <a:solidFill>
                  <a:srgbClr val="000000"/>
                </a:solidFill>
                <a:latin typeface="Arial Unicode MS"/>
                <a:ea typeface="Arial Unicode MS"/>
                <a:cs typeface="Arial Unicode MS"/>
              </a:rPr>
              <a:t>。同一架直升機、同一個時間、同一個場景，差別只有快門方式。
</a:t>
            </a:r>
          </a:p>
          <a:p>
            <a:pPr algn="l">
              <a:spcBef>
                <a:spcPts val="0"/>
              </a:spcBef>
              <a:spcAft>
                <a:spcPts val="150"/>
              </a:spcAft>
            </a:pPr>
            <a:r>
              <a:rPr sz="900" b="1" lang="zh-TW" dirty="0">
                <a:solidFill>
                  <a:srgbClr val="000000"/>
                </a:solidFill>
                <a:latin typeface="Arial Unicode MS"/>
                <a:ea typeface="Arial Unicode MS"/>
                <a:cs typeface="Arial Unicode MS"/>
              </a:rPr>
              <a:t>第一次播，各位只看一件事：主旋翼那兩片葉子。</a:t>
            </a:r>
            <a:r>
              <a:rPr sz="900" lang="zh-TW" dirty="0">
                <a:solidFill>
                  <a:srgbClr val="000000"/>
                </a:solidFill>
                <a:latin typeface="Arial Unicode MS"/>
                <a:ea typeface="Arial Unicode MS"/>
                <a:cs typeface="Arial Unicode MS"/>
              </a:rPr>
              <a:t>上面那格，葉片是一條直線。下面那格，葉片</a:t>
            </a:r>
            <a:r>
              <a:rPr sz="900" b="1" lang="zh-TW" dirty="0">
                <a:solidFill>
                  <a:srgbClr val="000000"/>
                </a:solidFill>
                <a:latin typeface="Arial Unicode MS"/>
                <a:ea typeface="Arial Unicode MS"/>
                <a:cs typeface="Arial Unicode MS"/>
              </a:rPr>
              <a:t>彎成香蕉形</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這就是我們剛剛算出來的那件事：旋翼轉得很快，感測器一列一列讀下來的那幾十毫秒裡，葉片已經轉過去了，所以每一列拍到的葉片都在不同的角度，拼起來就是一條彎的。
</a:t>
            </a:r>
          </a:p>
          <a:p>
            <a:pPr algn="l">
              <a:spcBef>
                <a:spcPts val="0"/>
              </a:spcBef>
              <a:spcAft>
                <a:spcPts val="150"/>
              </a:spcAft>
            </a:pPr>
            <a:r>
              <a:rPr sz="900" b="1" lang="zh-TW" dirty="0">
                <a:solidFill>
                  <a:srgbClr val="000000"/>
                </a:solidFill>
                <a:latin typeface="Arial Unicode MS"/>
                <a:ea typeface="Arial Unicode MS"/>
                <a:cs typeface="Arial Unicode MS"/>
              </a:rPr>
              <a:t>第二次播，看尾旋翼和機身。</a:t>
            </a:r>
            <a:r>
              <a:rPr sz="900" lang="zh-TW" dirty="0">
                <a:solidFill>
                  <a:srgbClr val="000000"/>
                </a:solidFill>
                <a:latin typeface="Arial Unicode MS"/>
                <a:ea typeface="Arial Unicode MS"/>
                <a:cs typeface="Arial Unicode MS"/>
              </a:rPr>
              <a:t>尾旋翼在下面那格整個扭掉，形狀完全不對；上面那格還是正常的十字。機身因為沒有在轉，所以兩邊看起來差不多——</a:t>
            </a:r>
            <a:r>
              <a:rPr sz="900" b="1" lang="zh-TW" dirty="0">
                <a:solidFill>
                  <a:srgbClr val="000000"/>
                </a:solidFill>
                <a:latin typeface="Arial Unicode MS"/>
                <a:ea typeface="Arial Unicode MS"/>
                <a:cs typeface="Arial Unicode MS"/>
              </a:rPr>
              <a:t>會歪的是在動的東西</a:t>
            </a:r>
            <a:r>
              <a:rPr sz="900" lang="zh-TW" dirty="0">
                <a:solidFill>
                  <a:srgbClr val="000000"/>
                </a:solidFill>
                <a:latin typeface="Arial Unicode MS"/>
                <a:ea typeface="Arial Unicode MS"/>
                <a:cs typeface="Arial Unicode MS"/>
              </a:rPr>
              <a:t>，這一點很重要。
</a:t>
            </a:r>
          </a:p>
          <a:p>
            <a:pPr algn="l">
              <a:spcBef>
                <a:spcPts val="0"/>
              </a:spcBef>
              <a:spcAft>
                <a:spcPts val="150"/>
              </a:spcAft>
            </a:pPr>
            <a:r>
              <a:rPr sz="900" lang="zh-TW" dirty="0">
                <a:solidFill>
                  <a:srgbClr val="000000"/>
                </a:solidFill>
                <a:latin typeface="Arial Unicode MS"/>
                <a:ea typeface="Arial Unicode MS"/>
                <a:cs typeface="Arial Unicode MS"/>
              </a:rPr>
              <a:t>現在把這件事接回自駕車。直升機的旋翼各位看得出來是歪的，因為我們知道旋翼本來是直的。可是</a:t>
            </a:r>
            <a:r>
              <a:rPr sz="900" b="1" lang="zh-TW" dirty="0">
                <a:solidFill>
                  <a:srgbClr val="000000"/>
                </a:solidFill>
                <a:latin typeface="Arial Unicode MS"/>
                <a:ea typeface="Arial Unicode MS"/>
                <a:cs typeface="Arial Unicode MS"/>
              </a:rPr>
              <a:t>路上那台從旁邊切過來的機車，被扭成什麼形狀，演算法並不知道</a:t>
            </a:r>
            <a:r>
              <a:rPr sz="900" lang="zh-TW" dirty="0">
                <a:solidFill>
                  <a:srgbClr val="000000"/>
                </a:solidFill>
                <a:latin typeface="Arial Unicode MS"/>
                <a:ea typeface="Arial Unicode MS"/>
                <a:cs typeface="Arial Unicode MS"/>
              </a:rPr>
              <a:t>——它沒有「本來的樣子」可以比對，它只會以為那就是真的。
</a:t>
            </a:r>
          </a:p>
          <a:p>
            <a:pPr algn="l">
              <a:spcBef>
                <a:spcPts val="0"/>
              </a:spcBef>
              <a:spcAft>
                <a:spcPts val="150"/>
              </a:spcAft>
            </a:pPr>
            <a:r>
              <a:rPr sz="900" lang="zh-TW" dirty="0">
                <a:solidFill>
                  <a:srgbClr val="000000"/>
                </a:solidFill>
                <a:latin typeface="Arial Unicode MS"/>
                <a:ea typeface="Arial Unicode MS"/>
                <a:cs typeface="Arial Unicode MS"/>
              </a:rPr>
              <a:t>所以規格表上 Shutter Type 那一行，決定的不是照片好不好看，是</a:t>
            </a:r>
            <a:r>
              <a:rPr sz="900" b="1" lang="zh-TW" dirty="0">
                <a:solidFill>
                  <a:srgbClr val="000000"/>
                </a:solidFill>
                <a:latin typeface="Arial Unicode MS"/>
                <a:ea typeface="Arial Unicode MS"/>
                <a:cs typeface="Arial Unicode MS"/>
              </a:rPr>
              <a:t>你的感知演算法會不會被餵進一個變形的東西</a:t>
            </a:r>
            <a:r>
              <a:rPr sz="900" lang="zh-TW" dirty="0">
                <a:solidFill>
                  <a:srgbClr val="000000"/>
                </a:solidFill>
                <a:latin typeface="Arial Unicode MS"/>
                <a:ea typeface="Arial Unicode MS"/>
                <a:cs typeface="Arial Unicode MS"/>
              </a:rPr>
              <a:t>。
</a:t>
            </a:r>
          </a:p>
          <a:p>
            <a:pPr algn="l">
              <a:spcBef>
                <a:spcPts val="0"/>
              </a:spcBef>
              <a:spcAft>
                <a:spcPts val="150"/>
              </a:spcAft>
            </a:pPr>
            <a:r>
              <a:rPr sz="900" lang="zh-TW" dirty="0">
                <a:solidFill>
                  <a:srgbClr val="000000"/>
                </a:solidFill>
                <a:latin typeface="Arial Unicode MS"/>
                <a:ea typeface="Arial Unicode MS"/>
                <a:cs typeface="Arial Unicode MS"/>
              </a:rPr>
              <a:t>播完請按暫停，不要讓它自動跳到下一支。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動態範圍：同一張畫面裡又有很暗又有很亮的地方。這條直接對應進隧道。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先重播上一節那支影片的隧道段（youtu.be/OkV0Lj-uATE，約 0:28 起），只看下面那一格；再讓左邊的動圖跑一輪，圈 dB 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第二行是</a:t>
            </a:r>
            <a:r>
              <a:rPr sz="800" b="1" lang="zh-TW" dirty="0">
                <a:solidFill>
                  <a:srgbClr val="000000"/>
                </a:solidFill>
                <a:latin typeface="Arial Unicode MS"/>
                <a:ea typeface="Arial Unicode MS"/>
                <a:cs typeface="Arial Unicode MS"/>
              </a:rPr>
              <a:t>動態範圍</a:t>
            </a:r>
            <a:r>
              <a:rPr sz="800" lang="zh-TW" dirty="0">
                <a:solidFill>
                  <a:srgbClr val="000000"/>
                </a:solidFill>
                <a:latin typeface="Arial Unicode MS"/>
                <a:ea typeface="Arial Unicode MS"/>
                <a:cs typeface="Arial Unicode MS"/>
              </a:rPr>
              <a:t>，Dynamic Range，單位是 dB，中文唸「</a:t>
            </a:r>
            <a:r>
              <a:rPr sz="800" b="1" lang="zh-TW" dirty="0">
                <a:solidFill>
                  <a:srgbClr val="000000"/>
                </a:solidFill>
                <a:latin typeface="Arial Unicode MS"/>
                <a:ea typeface="Arial Unicode MS"/>
                <a:cs typeface="Arial Unicode MS"/>
              </a:rPr>
              <a:t>分貝</a:t>
            </a:r>
            <a:r>
              <a:rPr sz="800" lang="zh-TW" dirty="0">
                <a:solidFill>
                  <a:srgbClr val="000000"/>
                </a:solidFill>
                <a:latin typeface="Arial Unicode MS"/>
                <a:ea typeface="Arial Unicode MS"/>
                <a:cs typeface="Arial Unicode MS"/>
              </a:rPr>
              <a:t>」——分是十分之一，貝是貝爾，人名。後面我都直接唸 dB。
</a:t>
            </a:r>
          </a:p>
          <a:p>
            <a:pPr algn="l">
              <a:spcBef>
                <a:spcPts val="0"/>
              </a:spcBef>
              <a:spcAft>
                <a:spcPts val="133"/>
              </a:spcAft>
            </a:pPr>
            <a:r>
              <a:rPr sz="800" lang="zh-TW" dirty="0">
                <a:solidFill>
                  <a:srgbClr val="000000"/>
                </a:solidFill>
                <a:latin typeface="Arial Unicode MS"/>
                <a:ea typeface="Arial Unicode MS"/>
                <a:cs typeface="Arial Unicode MS"/>
              </a:rPr>
              <a:t>這一行在講：同一張畫面裡，它能同時處理多亮和多暗。dB 這個單位要先講清楚，不然後面整張都聽不懂。規則只有一條：</a:t>
            </a:r>
            <a:r>
              <a:rPr sz="800" b="1" lang="zh-TW" dirty="0">
                <a:solidFill>
                  <a:srgbClr val="000000"/>
                </a:solidFill>
                <a:latin typeface="Arial Unicode MS"/>
                <a:ea typeface="Arial Unicode MS"/>
                <a:cs typeface="Arial Unicode MS"/>
              </a:rPr>
              <a:t>每多 20 dB，就是再乘以十倍。</a:t>
            </a:r>
            <a:r>
              <a:rPr sz="800" lang="zh-TW" dirty="0">
                <a:solidFill>
                  <a:srgbClr val="000000"/>
                </a:solidFill>
                <a:latin typeface="Arial Unicode MS"/>
                <a:ea typeface="Arial Unicode MS"/>
                <a:cs typeface="Arial Unicode MS"/>
              </a:rPr>
              <a:t>各位跟我數五個數字——60 dB 是一千倍，80 dB 是一萬倍，100 dB 是十萬倍，120 dB 是一百萬倍，140 dB 是一千萬倍。所以 dB 不是「多幾分」，是</a:t>
            </a:r>
            <a:r>
              <a:rPr sz="800" b="1" lang="zh-TW" dirty="0">
                <a:solidFill>
                  <a:srgbClr val="000000"/>
                </a:solidFill>
                <a:latin typeface="Arial Unicode MS"/>
                <a:ea typeface="Arial Unicode MS"/>
                <a:cs typeface="Arial Unicode MS"/>
              </a:rPr>
              <a:t>多幾個零</a:t>
            </a:r>
            <a:r>
              <a:rPr sz="800" lang="zh-TW" dirty="0">
                <a:solidFill>
                  <a:srgbClr val="000000"/>
                </a:solidFill>
                <a:latin typeface="Arial Unicode MS"/>
                <a:ea typeface="Arial Unicode MS"/>
                <a:cs typeface="Arial Unicode MS"/>
              </a:rPr>
              <a:t>。會有同學問：分貝不是聲音的單位嗎？</a:t>
            </a:r>
            <a:r>
              <a:rPr sz="800" b="1" lang="zh-TW" dirty="0">
                <a:solidFill>
                  <a:srgbClr val="000000"/>
                </a:solidFill>
                <a:latin typeface="Arial Unicode MS"/>
                <a:ea typeface="Arial Unicode MS"/>
                <a:cs typeface="Arial Unicode MS"/>
              </a:rPr>
              <a:t>dB 本身不是任何東西的單位</a:t>
            </a:r>
            <a:r>
              <a:rPr sz="800" lang="zh-TW" dirty="0">
                <a:solidFill>
                  <a:srgbClr val="000000"/>
                </a:solidFill>
                <a:latin typeface="Arial Unicode MS"/>
                <a:ea typeface="Arial Unicode MS"/>
                <a:cs typeface="Arial Unicode MS"/>
              </a:rPr>
              <a:t>，它只是「兩個東西差幾倍」的寫法。聲音是它最有名的用法，但放大器、訊號雜訊比、電纜衰減、動態範圍，全都在用同一套。
</a:t>
            </a:r>
          </a:p>
          <a:p>
            <a:pPr algn="l">
              <a:spcBef>
                <a:spcPts val="0"/>
              </a:spcBef>
              <a:spcAft>
                <a:spcPts val="133"/>
              </a:spcAft>
            </a:pPr>
            <a:r>
              <a:rPr sz="800" lang="zh-TW" dirty="0">
                <a:solidFill>
                  <a:srgbClr val="000000"/>
                </a:solidFill>
                <a:latin typeface="Arial Unicode MS"/>
                <a:ea typeface="Arial Unicode MS"/>
                <a:cs typeface="Arial Unicode MS"/>
              </a:rPr>
              <a:t>各位還記得上一節最後那支影片嗎？最後一個情境 Vehicle Exiting Tunnel——下面的相機，隧道出口一片死白，前面那幾台車完全看不到。</a:t>
            </a:r>
            <a:r>
              <a:rPr sz="800" b="1" lang="zh-TW" dirty="0">
                <a:solidFill>
                  <a:srgbClr val="000000"/>
                </a:solidFill>
                <a:latin typeface="Arial Unicode MS"/>
                <a:ea typeface="Arial Unicode MS"/>
                <a:cs typeface="Arial Unicode MS"/>
              </a:rPr>
              <a:t>那就是動態範圍不夠的樣子。</a:t>
            </a:r>
            <a:r>
              <a:rPr sz="800" lang="zh-TW" dirty="0">
                <a:solidFill>
                  <a:srgbClr val="000000"/>
                </a:solidFill>
                <a:latin typeface="Arial Unicode MS"/>
                <a:ea typeface="Arial Unicode MS"/>
                <a:cs typeface="Arial Unicode MS"/>
              </a:rPr>
              <a:t>我現在把那十秒再播一次，各位只看下面那一格。
</a:t>
            </a:r>
          </a:p>
          <a:p>
            <a:pPr algn="l">
              <a:spcBef>
                <a:spcPts val="0"/>
              </a:spcBef>
              <a:spcAft>
                <a:spcPts val="133"/>
              </a:spcAft>
            </a:pPr>
            <a:r>
              <a:rPr sz="800" lang="zh-TW" dirty="0">
                <a:solidFill>
                  <a:srgbClr val="000000"/>
                </a:solidFill>
                <a:latin typeface="Arial Unicode MS"/>
                <a:ea typeface="Arial Unicode MS"/>
                <a:cs typeface="Arial Unicode MS"/>
              </a:rPr>
              <a:t>左邊這張動圖在演的就是這件事，它會一直循環播。先看右上角寫的是</a:t>
            </a:r>
            <a:r>
              <a:rPr sz="800" b="1" lang="zh-TW" dirty="0">
                <a:solidFill>
                  <a:srgbClr val="000000"/>
                </a:solidFill>
                <a:latin typeface="Arial Unicode MS"/>
                <a:ea typeface="Arial Unicode MS"/>
                <a:cs typeface="Arial Unicode MS"/>
              </a:rPr>
              <a:t>感測器 60 dB</a:t>
            </a:r>
            <a:r>
              <a:rPr sz="800" lang="zh-TW" dirty="0">
                <a:solidFill>
                  <a:srgbClr val="000000"/>
                </a:solidFill>
                <a:latin typeface="Arial Unicode MS"/>
                <a:ea typeface="Arial Unicode MS"/>
                <a:cs typeface="Arial Unicode MS"/>
              </a:rPr>
              <a:t>——照剛剛那個規則，就是最亮和最暗只能差一千倍。可是動圖裡那個隧道口，從隧道裡那台深色車到外面的天空差一萬倍，也就是 </a:t>
            </a:r>
            <a:r>
              <a:rPr sz="800" b="1" lang="zh-TW" dirty="0">
                <a:solidFill>
                  <a:srgbClr val="000000"/>
                </a:solidFill>
                <a:latin typeface="Arial Unicode MS"/>
                <a:ea typeface="Arial Unicode MS"/>
                <a:cs typeface="Arial Unicode MS"/>
              </a:rPr>
              <a:t>80 dB</a:t>
            </a:r>
            <a:r>
              <a:rPr sz="800" lang="zh-TW" dirty="0">
                <a:solidFill>
                  <a:srgbClr val="000000"/>
                </a:solidFill>
                <a:latin typeface="Arial Unicode MS"/>
                <a:ea typeface="Arial Unicode MS"/>
                <a:cs typeface="Arial Unicode MS"/>
              </a:rPr>
              <a:t>。一千倍裝不下一萬倍，所以一定會掉一端。一開始曝光對準外面：隧道外看得清清楚楚，可是隧道裡</a:t>
            </a:r>
            <a:r>
              <a:rPr sz="800" b="1" lang="zh-TW" dirty="0">
                <a:solidFill>
                  <a:srgbClr val="000000"/>
                </a:solidFill>
                <a:latin typeface="Arial Unicode MS"/>
                <a:ea typeface="Arial Unicode MS"/>
                <a:cs typeface="Arial Unicode MS"/>
              </a:rPr>
              <a:t>整片黑</a:t>
            </a:r>
            <a:r>
              <a:rPr sz="800" lang="zh-TW" dirty="0">
                <a:solidFill>
                  <a:srgbClr val="000000"/>
                </a:solidFill>
                <a:latin typeface="Arial Unicode MS"/>
                <a:ea typeface="Arial Unicode MS"/>
                <a:cs typeface="Arial Unicode MS"/>
              </a:rPr>
              <a:t>——那裡面其實停著一台車，你完全看不到。接下來曝光慢慢拉長，裡面那台車浮出來了，但是同一個時間，隧道外變成</a:t>
            </a:r>
            <a:r>
              <a:rPr sz="800" b="1" lang="zh-TW" dirty="0">
                <a:solidFill>
                  <a:srgbClr val="000000"/>
                </a:solidFill>
                <a:latin typeface="Arial Unicode MS"/>
                <a:ea typeface="Arial Unicode MS"/>
                <a:cs typeface="Arial Unicode MS"/>
              </a:rPr>
              <a:t>整片死白</a:t>
            </a:r>
            <a:r>
              <a:rPr sz="800" lang="zh-TW" dirty="0">
                <a:solidFill>
                  <a:srgbClr val="000000"/>
                </a:solidFill>
                <a:latin typeface="Arial Unicode MS"/>
                <a:ea typeface="Arial Unicode MS"/>
                <a:cs typeface="Arial Unicode MS"/>
              </a:rPr>
              <a:t>，外面那台車換它不見了。</a:t>
            </a:r>
            <a:r>
              <a:rPr sz="800" b="1" lang="zh-TW" dirty="0">
                <a:solidFill>
                  <a:srgbClr val="000000"/>
                </a:solidFill>
                <a:latin typeface="Arial Unicode MS"/>
                <a:ea typeface="Arial Unicode MS"/>
                <a:cs typeface="Arial Unicode MS"/>
              </a:rPr>
              <a:t>只能選一個。</a:t>
            </a:r>
            <a:r>
              <a:rPr sz="800" lang="zh-TW" dirty="0">
                <a:solidFill>
                  <a:srgbClr val="000000"/>
                </a:solidFill>
                <a:latin typeface="Arial Unicode MS"/>
                <a:ea typeface="Arial Unicode MS"/>
                <a:cs typeface="Arial Unicode MS"/>
              </a:rPr>
              <a:t>最後換成 </a:t>
            </a:r>
            <a:r>
              <a:rPr sz="800" b="1" lang="zh-TW" dirty="0">
                <a:solidFill>
                  <a:srgbClr val="000000"/>
                </a:solidFill>
                <a:latin typeface="Arial Unicode MS"/>
                <a:ea typeface="Arial Unicode MS"/>
                <a:cs typeface="Arial Unicode MS"/>
              </a:rPr>
              <a:t>140 dB</a:t>
            </a:r>
            <a:r>
              <a:rPr sz="800" lang="zh-TW" dirty="0">
                <a:solidFill>
                  <a:srgbClr val="000000"/>
                </a:solidFill>
                <a:latin typeface="Arial Unicode MS"/>
                <a:ea typeface="Arial Unicode MS"/>
                <a:cs typeface="Arial Unicode MS"/>
              </a:rPr>
              <a:t> 的感測器，同一個場景、同一個曝光，兩台車同時看得到。
</a:t>
            </a:r>
          </a:p>
          <a:p>
            <a:pPr algn="l">
              <a:spcBef>
                <a:spcPts val="0"/>
              </a:spcBef>
              <a:spcAft>
                <a:spcPts val="133"/>
              </a:spcAft>
            </a:pPr>
            <a:r>
              <a:rPr sz="800" lang="zh-TW" dirty="0">
                <a:solidFill>
                  <a:srgbClr val="000000"/>
                </a:solidFill>
                <a:latin typeface="Arial Unicode MS"/>
                <a:ea typeface="Arial Unicode MS"/>
                <a:cs typeface="Arial Unicode MS"/>
              </a:rPr>
              <a:t>那個整片白或整片黑的地方，如果剛好有一台停在路邊的車，你就看不到它。這是真實事故的成因之一，各位記一下。
</a:t>
            </a:r>
          </a:p>
          <a:p>
            <a:pPr algn="l">
              <a:spcBef>
                <a:spcPts val="0"/>
              </a:spcBef>
              <a:spcAft>
                <a:spcPts val="133"/>
              </a:spcAft>
            </a:pPr>
            <a:r>
              <a:rPr sz="800" lang="zh-TW" dirty="0">
                <a:solidFill>
                  <a:srgbClr val="000000"/>
                </a:solidFill>
                <a:latin typeface="Arial Unicode MS"/>
                <a:ea typeface="Arial Unicode MS"/>
                <a:cs typeface="Arial Unicode MS"/>
              </a:rPr>
              <a:t>人的眼睛大概可以處理 120 dB 左右。上一節那顆 AR0233AT，規格表上寫 </a:t>
            </a:r>
            <a:r>
              <a:rPr sz="800" b="1" lang="zh-TW" dirty="0">
                <a:solidFill>
                  <a:srgbClr val="000000"/>
                </a:solidFill>
                <a:latin typeface="Arial Unicode MS"/>
                <a:ea typeface="Arial Unicode MS"/>
                <a:cs typeface="Arial Unicode MS"/>
              </a:rPr>
              <a:t>140 dB 以上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140 減 120 是 20，照剛剛那條規則，就是</a:t>
            </a:r>
            <a:r>
              <a:rPr sz="800" b="1" lang="zh-TW" dirty="0">
                <a:solidFill>
                  <a:srgbClr val="000000"/>
                </a:solidFill>
                <a:latin typeface="Arial Unicode MS"/>
                <a:ea typeface="Arial Unicode MS"/>
                <a:cs typeface="Arial Unicode MS"/>
              </a:rPr>
              <a:t>比人眼還多十倍的餘裕</a:t>
            </a:r>
            <a:r>
              <a:rPr sz="800" lang="zh-TW" dirty="0">
                <a:solidFill>
                  <a:srgbClr val="000000"/>
                </a:solidFill>
                <a:latin typeface="Arial Unicode MS"/>
                <a:ea typeface="Arial Unicode MS"/>
                <a:cs typeface="Arial Unicode MS"/>
              </a:rPr>
              <a:t>。這就是為什麼一顆車用的感測器可以賣得比手機的貴。
</a:t>
            </a:r>
          </a:p>
          <a:p>
            <a:pPr algn="l">
              <a:spcBef>
                <a:spcPts val="0"/>
              </a:spcBef>
              <a:spcAft>
                <a:spcPts val="133"/>
              </a:spcAft>
            </a:pPr>
            <a:r>
              <a:rPr sz="800" lang="zh-TW" dirty="0">
                <a:solidFill>
                  <a:srgbClr val="000000"/>
                </a:solidFill>
                <a:latin typeface="Arial Unicode MS"/>
                <a:ea typeface="Arial Unicode MS"/>
                <a:cs typeface="Arial Unicode MS"/>
              </a:rPr>
              <a:t>所以以後看到規格表上寫 120 dB 和寫 140 dB，那不是差百分之十七，是</a:t>
            </a:r>
            <a:r>
              <a:rPr sz="800" b="1" lang="zh-TW" dirty="0">
                <a:solidFill>
                  <a:srgbClr val="000000"/>
                </a:solidFill>
                <a:latin typeface="Arial Unicode MS"/>
                <a:ea typeface="Arial Unicode MS"/>
                <a:cs typeface="Arial Unicode MS"/>
              </a:rPr>
              <a:t>差十倍</a:t>
            </a:r>
            <a:r>
              <a:rPr sz="800" lang="zh-TW" dirty="0">
                <a:solidFill>
                  <a:srgbClr val="000000"/>
                </a:solidFill>
                <a:latin typeface="Arial Unicode MS"/>
                <a:ea typeface="Arial Unicode MS"/>
                <a:cs typeface="Arial Unicode MS"/>
              </a:rPr>
              <a:t>。這一行是最容易被數字誤導的一行。
</a:t>
            </a:r>
          </a:p>
          <a:p>
            <a:pPr algn="l">
              <a:spcBef>
                <a:spcPts val="0"/>
              </a:spcBef>
              <a:spcAft>
                <a:spcPts val="133"/>
              </a:spcAft>
            </a:pPr>
            <a:r>
              <a:rPr sz="800" lang="zh-TW" dirty="0">
                <a:solidFill>
                  <a:srgbClr val="000000"/>
                </a:solidFill>
                <a:latin typeface="Arial Unicode MS"/>
                <a:ea typeface="Arial Unicode MS"/>
                <a:cs typeface="Arial Unicode MS"/>
              </a:rPr>
              <a:t>第三週我們在</a:t>
            </a:r>
            <a:r>
              <a:rPr sz="800" b="1" lang="zh-TW" dirty="0">
                <a:solidFill>
                  <a:srgbClr val="000000"/>
                </a:solidFill>
                <a:latin typeface="Arial Unicode MS"/>
                <a:ea typeface="Arial Unicode MS"/>
                <a:cs typeface="Arial Unicode MS"/>
              </a:rPr>
              <a:t>感測器實驗室</a:t>
            </a:r>
            <a:r>
              <a:rPr sz="800" lang="zh-TW" dirty="0">
                <a:solidFill>
                  <a:srgbClr val="000000"/>
                </a:solidFill>
                <a:latin typeface="Arial Unicode MS"/>
                <a:ea typeface="Arial Unicode MS"/>
                <a:cs typeface="Arial Unicode MS"/>
              </a:rPr>
              <a:t>上按「逆光眩光」——那是上上禮拜那支網頁，不是今天這支——相機的有效距離從八十公尺掉到十八公尺。那一顆的動態範圍就是不夠。動態範圍愈高的相機，那個按鈕對它的傷害就愈小。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讓學生看到 140 dB 的相機在真的隧道口是什麼樣子，把左邊的示意圖接到真實畫面上。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只播 0:14 到 0:40。0:30 出隧道口那一刻按暫停，讓他們指出哪裡是暗的、哪裡是亮的。影片沒有對照組，『不夠會怎樣』要指回左邊那張動圖。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剛剛那張動圖是我畫的示意圖，現在看真的。
</a:t>
            </a:r>
          </a:p>
          <a:p>
            <a:pPr algn="l">
              <a:spcBef>
                <a:spcPts val="0"/>
              </a:spcBef>
              <a:spcAft>
                <a:spcPts val="142"/>
              </a:spcAft>
            </a:pPr>
            <a:r>
              <a:rPr sz="85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spcBef>
                <a:spcPts val="0"/>
              </a:spcBef>
              <a:spcAft>
                <a:spcPts val="142"/>
              </a:spcAft>
            </a:pPr>
            <a:r>
              <a:rPr sz="850" lang="zh-TW" dirty="0">
                <a:solidFill>
                  <a:srgbClr val="000000"/>
                </a:solidFill>
                <a:latin typeface="Arial Unicode MS"/>
                <a:ea typeface="Arial Unicode MS"/>
                <a:cs typeface="Arial Unicode MS"/>
              </a:rPr>
              <a:t>刺眼，然後看不清楚，要過一兩秒才適應。相機也一樣，而且它沒有兩秒可以適應。隧道裡面很暗，出口外面很亮，這兩個亮度差一萬倍以上。動態範圍不夠的話，它只能選一邊：</a:t>
            </a:r>
            <a:r>
              <a:rPr sz="850" b="1" lang="zh-TW" dirty="0">
                <a:solidFill>
                  <a:srgbClr val="000000"/>
                </a:solidFill>
                <a:latin typeface="Arial Unicode MS"/>
                <a:ea typeface="Arial Unicode MS"/>
                <a:cs typeface="Arial Unicode MS"/>
              </a:rPr>
              <a:t>保住外面，裡面就全黑；保住裡面，外面就全白。</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這支是 e-con Systems 拿他們的車用相機實際開上路拍的，整支六十秒，</a:t>
            </a:r>
            <a:r>
              <a:rPr sz="850" b="1" lang="zh-TW" dirty="0">
                <a:solidFill>
                  <a:srgbClr val="000000"/>
                </a:solidFill>
                <a:latin typeface="Arial Unicode MS"/>
                <a:ea typeface="Arial Unicode MS"/>
                <a:cs typeface="Arial Unicode MS"/>
              </a:rPr>
              <a:t>我們只看 0:14 到 0:40 這一段</a:t>
            </a:r>
            <a:r>
              <a:rPr sz="850" lang="zh-TW" dirty="0">
                <a:solidFill>
                  <a:srgbClr val="000000"/>
                </a:solidFill>
                <a:latin typeface="Arial Unicode MS"/>
                <a:ea typeface="Arial Unicode MS"/>
                <a:cs typeface="Arial Unicode MS"/>
              </a:rPr>
              <a:t>，前面是片頭。0:14 車子進隧道，各位看牆面、看頂上那排燈，都還是看得清楚的，沒有糊成一片黑。
</a:t>
            </a:r>
          </a:p>
          <a:p>
            <a:pPr algn="l">
              <a:spcBef>
                <a:spcPts val="0"/>
              </a:spcBef>
              <a:spcAft>
                <a:spcPts val="142"/>
              </a:spcAft>
            </a:pPr>
            <a:r>
              <a:rPr sz="850" b="1" lang="zh-TW" dirty="0">
                <a:solidFill>
                  <a:srgbClr val="000000"/>
                </a:solidFill>
                <a:latin typeface="Arial Unicode MS"/>
                <a:ea typeface="Arial Unicode MS"/>
                <a:cs typeface="Arial Unicode MS"/>
              </a:rPr>
              <a:t>真正的重點在 0:30。</a:t>
            </a:r>
            <a:r>
              <a:rPr sz="850" lang="zh-TW" dirty="0">
                <a:solidFill>
                  <a:srgbClr val="000000"/>
                </a:solidFill>
                <a:latin typeface="Arial Unicode MS"/>
                <a:ea typeface="Arial Unicode MS"/>
                <a:cs typeface="Arial Unicode MS"/>
              </a:rPr>
              <a:t>車子出隧道口——這一秒畫面裡同時有兩個極端：兩邊還是隧道的暗牆，正前方已經是外面的大太陽、樹、房子。</a:t>
            </a:r>
            <a:r>
              <a:rPr sz="850" b="1" lang="zh-TW" dirty="0">
                <a:solidFill>
                  <a:srgbClr val="000000"/>
                </a:solidFill>
                <a:latin typeface="Arial Unicode MS"/>
                <a:ea typeface="Arial Unicode MS"/>
                <a:cs typeface="Arial Unicode MS"/>
              </a:rPr>
              <a:t>兩邊都看得到。</a:t>
            </a:r>
            <a:r>
              <a:rPr sz="850" lang="zh-TW" dirty="0">
                <a:solidFill>
                  <a:srgbClr val="000000"/>
                </a:solidFill>
                <a:latin typeface="Arial Unicode MS"/>
                <a:ea typeface="Arial Unicode MS"/>
                <a:cs typeface="Arial Unicode MS"/>
              </a:rPr>
              <a:t>我會在這裡按暫停，請各位指給我看哪一塊是暗的、哪一塊是亮的。
</a:t>
            </a:r>
          </a:p>
          <a:p>
            <a:pPr algn="l">
              <a:spcBef>
                <a:spcPts val="0"/>
              </a:spcBef>
              <a:spcAft>
                <a:spcPts val="142"/>
              </a:spcAft>
            </a:pPr>
            <a:r>
              <a:rPr sz="850" lang="zh-TW" dirty="0">
                <a:solidFill>
                  <a:srgbClr val="000000"/>
                </a:solidFill>
                <a:latin typeface="Arial Unicode MS"/>
                <a:ea typeface="Arial Unicode MS"/>
                <a:cs typeface="Arial Unicode MS"/>
              </a:rPr>
              <a:t>畫面上那行小字寫的是 </a:t>
            </a:r>
            <a:r>
              <a:rPr sz="850" b="1" lang="zh-TW" dirty="0">
                <a:solidFill>
                  <a:srgbClr val="000000"/>
                </a:solidFill>
                <a:latin typeface="Arial Unicode MS"/>
                <a:ea typeface="Arial Unicode MS"/>
                <a:cs typeface="Arial Unicode MS"/>
              </a:rPr>
              <a:t>140dB HDR</a:t>
            </a:r>
            <a:r>
              <a:rPr sz="850" lang="zh-TW" dirty="0">
                <a:solidFill>
                  <a:srgbClr val="000000"/>
                </a:solidFill>
                <a:latin typeface="Arial Unicode MS"/>
                <a:ea typeface="Arial Unicode MS"/>
                <a:cs typeface="Arial Unicode MS"/>
              </a:rPr>
              <a:t>——跟我們上一節看的那顆 AR0233AT 是同一個數字。規格表上那一行，講的就是各位現在眼睛看到的這件事。
</a:t>
            </a:r>
          </a:p>
          <a:p>
            <a:pPr algn="l">
              <a:spcBef>
                <a:spcPts val="0"/>
              </a:spcBef>
              <a:spcAft>
                <a:spcPts val="142"/>
              </a:spcAft>
            </a:pPr>
            <a:r>
              <a:rPr sz="850" lang="zh-TW" dirty="0">
                <a:solidFill>
                  <a:srgbClr val="000000"/>
                </a:solidFill>
                <a:latin typeface="Arial Unicode MS"/>
                <a:ea typeface="Arial Unicode MS"/>
                <a:cs typeface="Arial Unicode MS"/>
              </a:rPr>
              <a:t>有一點要先講清楚：這支只有</a:t>
            </a:r>
            <a:r>
              <a:rPr sz="850" b="1" lang="zh-TW" dirty="0">
                <a:solidFill>
                  <a:srgbClr val="000000"/>
                </a:solidFill>
                <a:latin typeface="Arial Unicode MS"/>
                <a:ea typeface="Arial Unicode MS"/>
                <a:cs typeface="Arial Unicode MS"/>
              </a:rPr>
              <a:t>一台</a:t>
            </a:r>
            <a:r>
              <a:rPr sz="850" lang="zh-TW" dirty="0">
                <a:solidFill>
                  <a:srgbClr val="000000"/>
                </a:solidFill>
                <a:latin typeface="Arial Unicode MS"/>
                <a:ea typeface="Arial Unicode MS"/>
                <a:cs typeface="Arial Unicode MS"/>
              </a:rPr>
              <a:t>相機在拍，旁邊沒有放一台動態範圍不夠的來對照。所以「不夠會怎樣」要看回左邊那張動圖，兩個合起來才是完整的。
</a:t>
            </a:r>
          </a:p>
          <a:p>
            <a:pPr algn="l">
              <a:spcBef>
                <a:spcPts val="0"/>
              </a:spcBef>
              <a:spcAft>
                <a:spcPts val="142"/>
              </a:spcAft>
            </a:pPr>
            <a:r>
              <a:rPr sz="850" lang="zh-TW" dirty="0">
                <a:solidFill>
                  <a:srgbClr val="000000"/>
                </a:solidFill>
                <a:latin typeface="Arial Unicode MS"/>
                <a:ea typeface="Arial Unicode MS"/>
                <a:cs typeface="Arial Unicode MS"/>
              </a:rPr>
              <a:t>播完請按暫停，不要讓它自動跳下一支。</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LED 閃爍：人眼看不出來，相機看得出來，結果號誌可能整個是黑的。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先讓左邊的動圖跑完兩輪；白板上寫 10 ms 一個週期、只亮 1 ms，再寫「曝光要 ≥ 10 ms」。學生最常誤會成把曝光剪碎。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第三行是</a:t>
            </a:r>
            <a:r>
              <a:rPr sz="800" b="1" lang="zh-TW" dirty="0">
                <a:solidFill>
                  <a:srgbClr val="000000"/>
                </a:solidFill>
                <a:latin typeface="Arial Unicode MS"/>
                <a:ea typeface="Arial Unicode MS"/>
                <a:cs typeface="Arial Unicode MS"/>
              </a:rPr>
              <a:t>LED 閃爍抑制</a:t>
            </a:r>
            <a:r>
              <a:rPr sz="800" lang="zh-TW" dirty="0">
                <a:solidFill>
                  <a:srgbClr val="000000"/>
                </a:solidFill>
                <a:latin typeface="Arial Unicode MS"/>
                <a:ea typeface="Arial Unicode MS"/>
                <a:cs typeface="Arial Unicode MS"/>
              </a:rPr>
              <a:t>，規格表上寫 LFM，LED Flicker Mitigation。這一行大部分的人看不懂在幹嘛，可是它非常重要。
</a:t>
            </a:r>
          </a:p>
          <a:p>
            <a:pPr algn="l">
              <a:spcBef>
                <a:spcPts val="0"/>
              </a:spcBef>
              <a:spcAft>
                <a:spcPts val="133"/>
              </a:spcAft>
            </a:pPr>
            <a:r>
              <a:rPr sz="800" lang="zh-TW" dirty="0">
                <a:solidFill>
                  <a:srgbClr val="000000"/>
                </a:solidFill>
                <a:latin typeface="Arial Unicode MS"/>
                <a:ea typeface="Arial Unicode MS"/>
                <a:cs typeface="Arial Unicode MS"/>
              </a:rPr>
              <a:t>現在路上的紅綠燈、車子的尾燈，幾乎全部換成 LED 了。LED 不是一直亮著的，它是</a:t>
            </a:r>
            <a:r>
              <a:rPr sz="800" b="1" lang="zh-TW" dirty="0">
                <a:solidFill>
                  <a:srgbClr val="000000"/>
                </a:solidFill>
                <a:latin typeface="Arial Unicode MS"/>
                <a:ea typeface="Arial Unicode MS"/>
                <a:cs typeface="Arial Unicode MS"/>
              </a:rPr>
              <a:t>用很快的速度在閃</a:t>
            </a:r>
            <a:r>
              <a:rPr sz="800" lang="zh-TW" dirty="0">
                <a:solidFill>
                  <a:srgbClr val="000000"/>
                </a:solidFill>
                <a:latin typeface="Arial Unicode MS"/>
                <a:ea typeface="Arial Unicode MS"/>
                <a:cs typeface="Arial Unicode MS"/>
              </a:rPr>
              <a:t>，一秒鐘閃一百次以上，而且一次只亮十分之一的時間。因為閃得太快，人的眼睛看起來就是連續亮著。
</a:t>
            </a:r>
          </a:p>
          <a:p>
            <a:pPr algn="l">
              <a:spcBef>
                <a:spcPts val="0"/>
              </a:spcBef>
              <a:spcAft>
                <a:spcPts val="133"/>
              </a:spcAft>
            </a:pPr>
            <a:r>
              <a:rPr sz="8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spcBef>
                <a:spcPts val="0"/>
              </a:spcBef>
              <a:spcAft>
                <a:spcPts val="133"/>
              </a:spcAft>
            </a:pPr>
            <a:r>
              <a:rPr sz="800" b="1" lang="zh-TW" dirty="0">
                <a:solidFill>
                  <a:srgbClr val="000000"/>
                </a:solidFill>
                <a:latin typeface="Arial Unicode MS"/>
                <a:ea typeface="Arial Unicode MS"/>
                <a:cs typeface="Arial Unicode MS"/>
              </a:rPr>
              <a:t>你就拍到一個沒有亮的紅燈。</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大家想一下這件事有多可怕。一台自駕車，前面是紅燈，相機拍回來的畫面上那個燈是暗的。演算法會怎麼判斷？它可能認為那個號誌壞掉了，或者根本沒看到號誌。
</a:t>
            </a:r>
          </a:p>
          <a:p>
            <a:pPr algn="l">
              <a:spcBef>
                <a:spcPts val="0"/>
              </a:spcBef>
              <a:spcAft>
                <a:spcPts val="133"/>
              </a:spcAft>
            </a:pPr>
            <a:r>
              <a:rPr sz="8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spcBef>
                <a:spcPts val="0"/>
              </a:spcBef>
              <a:spcAft>
                <a:spcPts val="133"/>
              </a:spcAft>
            </a:pPr>
            <a:r>
              <a:rPr sz="800" lang="zh-TW" dirty="0">
                <a:solidFill>
                  <a:srgbClr val="000000"/>
                </a:solidFill>
                <a:latin typeface="Arial Unicode MS"/>
                <a:ea typeface="Arial Unicode MS"/>
                <a:cs typeface="Arial Unicode MS"/>
              </a:rPr>
              <a:t>所以車用的影像感測器要特別處理這件事。先想清楚為什麼會拍到暗的紅燈：白天太亮，為了不讓畫面過曝，快門會</a:t>
            </a:r>
            <a:r>
              <a:rPr sz="800" b="1" lang="zh-TW" dirty="0">
                <a:solidFill>
                  <a:srgbClr val="000000"/>
                </a:solidFill>
                <a:latin typeface="Arial Unicode MS"/>
                <a:ea typeface="Arial Unicode MS"/>
                <a:cs typeface="Arial Unicode MS"/>
              </a:rPr>
              <a:t>縮得很短</a:t>
            </a:r>
            <a:r>
              <a:rPr sz="800" lang="zh-TW" dirty="0">
                <a:solidFill>
                  <a:srgbClr val="000000"/>
                </a:solidFill>
                <a:latin typeface="Arial Unicode MS"/>
                <a:ea typeface="Arial Unicode MS"/>
                <a:cs typeface="Arial Unicode MS"/>
              </a:rPr>
              <a:t>，可能只有一兩毫秒。而 LED 一秒閃一百次，每次只亮十分之一的時間——十毫秒裡面只亮一毫秒。用一兩毫秒的快門去抓那一毫秒，當然常常抓不到。
</a:t>
            </a:r>
          </a:p>
          <a:p>
            <a:pPr algn="l">
              <a:spcBef>
                <a:spcPts val="0"/>
              </a:spcBef>
              <a:spcAft>
                <a:spcPts val="133"/>
              </a:spcAft>
            </a:pPr>
            <a:r>
              <a:rPr sz="800" lang="zh-TW" dirty="0">
                <a:solidFill>
                  <a:srgbClr val="000000"/>
                </a:solidFill>
                <a:latin typeface="Arial Unicode MS"/>
                <a:ea typeface="Arial Unicode MS"/>
                <a:cs typeface="Arial Unicode MS"/>
              </a:rPr>
              <a:t>左邊這張動圖就是在演這件事。上面那條是 LED 的亮滅——每十毫秒只亮一毫秒；下面那排是相機真的拍到什麼。短曝光那一輪，</a:t>
            </a:r>
            <a:r>
              <a:rPr sz="800" b="1" lang="zh-TW" dirty="0">
                <a:solidFill>
                  <a:srgbClr val="000000"/>
                </a:solidFill>
                <a:latin typeface="Arial Unicode MS"/>
                <a:ea typeface="Arial Unicode MS"/>
                <a:cs typeface="Arial Unicode MS"/>
              </a:rPr>
              <a:t>三張只抓到一張</a:t>
            </a:r>
            <a:r>
              <a:rPr sz="800" lang="zh-TW" dirty="0">
                <a:solidFill>
                  <a:srgbClr val="000000"/>
                </a:solidFill>
                <a:latin typeface="Arial Unicode MS"/>
                <a:ea typeface="Arial Unicode MS"/>
                <a:cs typeface="Arial Unicode MS"/>
              </a:rPr>
              <a:t>，燈就在那邊閃；換成十毫秒的曝光，六張全部抓到。
</a:t>
            </a:r>
          </a:p>
          <a:p>
            <a:pPr algn="l">
              <a:spcBef>
                <a:spcPts val="0"/>
              </a:spcBef>
              <a:spcAft>
                <a:spcPts val="133"/>
              </a:spcAft>
            </a:pPr>
            <a:r>
              <a:rPr sz="800" lang="zh-TW" dirty="0">
                <a:solidFill>
                  <a:srgbClr val="000000"/>
                </a:solidFill>
                <a:latin typeface="Arial Unicode MS"/>
                <a:ea typeface="Arial Unicode MS"/>
                <a:cs typeface="Arial Unicode MS"/>
              </a:rPr>
              <a:t>LFM 的作法剛好相反：</a:t>
            </a:r>
            <a:r>
              <a:rPr sz="800" b="1" lang="zh-TW" dirty="0">
                <a:solidFill>
                  <a:srgbClr val="000000"/>
                </a:solidFill>
                <a:latin typeface="Arial Unicode MS"/>
                <a:ea typeface="Arial Unicode MS"/>
                <a:cs typeface="Arial Unicode MS"/>
              </a:rPr>
              <a:t>不要縮短曝光，要讓曝光長到至少蓋住 LED 的一整個閃爍週期</a:t>
            </a:r>
            <a:r>
              <a:rPr sz="800" lang="zh-TW" dirty="0">
                <a:solidFill>
                  <a:srgbClr val="000000"/>
                </a:solidFill>
                <a:latin typeface="Arial Unicode MS"/>
                <a:ea typeface="Arial Unicode MS"/>
                <a:cs typeface="Arial Unicode MS"/>
              </a:rPr>
              <a:t>，一百赫茲就是十毫秒。那一張畫面有多少時間可以用？</a:t>
            </a:r>
            <a:r>
              <a:rPr sz="800" b="1" lang="zh-TW" dirty="0">
                <a:solidFill>
                  <a:srgbClr val="000000"/>
                </a:solidFill>
                <a:latin typeface="Arial Unicode MS"/>
                <a:ea typeface="Arial Unicode MS"/>
                <a:cs typeface="Arial Unicode MS"/>
              </a:rPr>
              <a:t>一千毫秒除以一秒拍幾張</a:t>
            </a:r>
            <a:r>
              <a:rPr sz="800" lang="zh-TW" dirty="0">
                <a:solidFill>
                  <a:srgbClr val="000000"/>
                </a:solidFill>
                <a:latin typeface="Arial Unicode MS"/>
                <a:ea typeface="Arial Unicode MS"/>
                <a:cs typeface="Arial Unicode MS"/>
              </a:rPr>
              <a:t>——一秒三十張就是一千除以三十，一張三十三毫秒；就算跑到一秒六十張，一張也還有十六點七毫秒。十毫秒兩種都塞得下，所以問題從來不是時間不夠。問題是會過曝，所以真正的功夫在</a:t>
            </a:r>
            <a:r>
              <a:rPr sz="800" b="1" lang="zh-TW" dirty="0">
                <a:solidFill>
                  <a:srgbClr val="000000"/>
                </a:solidFill>
                <a:latin typeface="Arial Unicode MS"/>
                <a:ea typeface="Arial Unicode MS"/>
                <a:cs typeface="Arial Unicode MS"/>
              </a:rPr>
              <a:t>像素裡面</a:t>
            </a:r>
            <a:r>
              <a:rPr sz="800" lang="zh-TW" dirty="0">
                <a:solidFill>
                  <a:srgbClr val="000000"/>
                </a:solidFill>
                <a:latin typeface="Arial Unicode MS"/>
                <a:ea typeface="Arial Unicode MS"/>
                <a:cs typeface="Arial Unicode MS"/>
              </a:rPr>
              <a:t>：AR0233AT 用的叫 super exposure，每個像素裡做一個很大的儲存槽，電荷滿出來會流進那個槽，所以可以一直曝光也不怕爆掉。
</a:t>
            </a:r>
          </a:p>
          <a:p>
            <a:pPr algn="l">
              <a:spcBef>
                <a:spcPts val="0"/>
              </a:spcBef>
              <a:spcAft>
                <a:spcPts val="133"/>
              </a:spcAft>
            </a:pPr>
            <a:r>
              <a:rPr sz="800" lang="zh-TW" dirty="0">
                <a:solidFill>
                  <a:srgbClr val="000000"/>
                </a:solidFill>
                <a:latin typeface="Arial Unicode MS"/>
                <a:ea typeface="Arial Unicode MS"/>
                <a:cs typeface="Arial Unicode MS"/>
              </a:rPr>
              <a:t>我強調一下，</a:t>
            </a:r>
            <a:r>
              <a:rPr sz="800" b="1" lang="zh-TW" dirty="0">
                <a:solidFill>
                  <a:srgbClr val="000000"/>
                </a:solidFill>
                <a:latin typeface="Arial Unicode MS"/>
                <a:ea typeface="Arial Unicode MS"/>
                <a:cs typeface="Arial Unicode MS"/>
              </a:rPr>
              <a:t>把曝光剪成好幾段反而是錯的</a:t>
            </a:r>
            <a:r>
              <a:rPr sz="800" lang="zh-TW" dirty="0">
                <a:solidFill>
                  <a:srgbClr val="000000"/>
                </a:solidFill>
                <a:latin typeface="Arial Unicode MS"/>
                <a:ea typeface="Arial Unicode MS"/>
                <a:cs typeface="Arial Unicode MS"/>
              </a:rPr>
              <a:t>。那叫多重曝光 HDR，短的那幾段照樣會錯過 LED，而且車在動，幾段拼起來還會糊掉。LFM 就是為了取代那種作法。
</a:t>
            </a:r>
          </a:p>
          <a:p>
            <a:pPr algn="l">
              <a:spcBef>
                <a:spcPts val="0"/>
              </a:spcBef>
              <a:spcAft>
                <a:spcPts val="133"/>
              </a:spcAft>
            </a:pPr>
            <a:r>
              <a:rPr sz="8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800" b="1" lang="zh-TW" dirty="0">
                <a:solidFill>
                  <a:srgbClr val="000000"/>
                </a:solidFill>
                <a:latin typeface="Arial Unicode MS"/>
                <a:ea typeface="Arial Unicode MS"/>
                <a:cs typeface="Arial Unicode MS"/>
              </a:rPr>
              <a:t>及格線</a:t>
            </a:r>
            <a:r>
              <a:rPr sz="800" lang="zh-TW" dirty="0">
                <a:solidFill>
                  <a:srgbClr val="000000"/>
                </a:solidFill>
                <a:latin typeface="Arial Unicode MS"/>
                <a:ea typeface="Arial Unicode MS"/>
                <a:cs typeface="Arial Unicode MS"/>
              </a:rPr>
              <a:t>——沒有它，紅綠燈就讀不穩。
</a:t>
            </a:r>
          </a:p>
          <a:p>
            <a:pPr algn="l">
              <a:spcBef>
                <a:spcPts val="0"/>
              </a:spcBef>
              <a:spcAft>
                <a:spcPts val="133"/>
              </a:spcAft>
            </a:pPr>
            <a:r>
              <a:rPr sz="8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段落分隔。切到光達的三行：Laser Wavelength、Laser Product Class、# of Returns。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相機那三行講完了，換光達。一樣三行，一樣很少人讀：</a:t>
            </a:r>
            <a:r>
              <a:rPr sz="1200" b="1" lang="zh-TW" dirty="0">
                <a:solidFill>
                  <a:srgbClr val="000000"/>
                </a:solidFill>
                <a:latin typeface="Arial Unicode MS"/>
                <a:ea typeface="Arial Unicode MS"/>
                <a:cs typeface="Arial Unicode MS"/>
              </a:rPr>
              <a:t>波長、雷射安全等級、回波次數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差別在這裡：相機那三行在講</a:t>
            </a:r>
            <a:r>
              <a:rPr sz="1200" b="1" lang="zh-TW" dirty="0">
                <a:solidFill>
                  <a:srgbClr val="000000"/>
                </a:solidFill>
                <a:latin typeface="Arial Unicode MS"/>
                <a:ea typeface="Arial Unicode MS"/>
                <a:cs typeface="Arial Unicode MS"/>
              </a:rPr>
              <a:t>畫面會不會壞掉</a:t>
            </a:r>
            <a:r>
              <a:rPr sz="1200" lang="zh-TW" dirty="0">
                <a:solidFill>
                  <a:srgbClr val="000000"/>
                </a:solidFill>
                <a:latin typeface="Arial Unicode MS"/>
                <a:ea typeface="Arial Unicode MS"/>
                <a:cs typeface="Arial Unicode MS"/>
              </a:rPr>
              <a:t>；光達這三行在講</a:t>
            </a:r>
            <a:r>
              <a:rPr sz="1200" b="1" lang="zh-TW" dirty="0">
                <a:solidFill>
                  <a:srgbClr val="000000"/>
                </a:solidFill>
                <a:latin typeface="Arial Unicode MS"/>
                <a:ea typeface="Arial Unicode MS"/>
                <a:cs typeface="Arial Unicode MS"/>
              </a:rPr>
              <a:t>那道雷射本身</a:t>
            </a:r>
            <a:r>
              <a:rPr sz="1200" lang="zh-TW" dirty="0">
                <a:solidFill>
                  <a:srgbClr val="000000"/>
                </a:solidFill>
                <a:latin typeface="Arial Unicode MS"/>
                <a:ea typeface="Arial Unicode MS"/>
                <a:cs typeface="Arial Unicode MS"/>
              </a:rPr>
              <a:t>——它是哪一種光、會不會傷眼睛、打出去會彈回幾次。標題上我寫成白話：用哪種雷射、傷不傷眼睛、能不能看穿雨。等一下各位會看到，少了其中一行，整顆就不要裝上車。
</a:t>
            </a:r>
          </a:p>
          <a:p>
            <a:pPr algn="l">
              <a:spcBef>
                <a:spcPts val="0"/>
              </a:spcBef>
              <a:spcAft>
                <a:spcPts val="200"/>
              </a:spcAft>
            </a:pPr>
            <a:r>
              <a:rPr sz="1200" lang="zh-TW" dirty="0">
                <a:solidFill>
                  <a:srgbClr val="000000"/>
                </a:solidFill>
                <a:latin typeface="Arial Unicode MS"/>
                <a:ea typeface="Arial Unicode MS"/>
                <a:cs typeface="Arial Unicode MS"/>
              </a:rPr>
              <a:t>還有，第二張我說過相機的快門方式規格表上找不到；光達這三行，在 OS1 那張表上</a:t>
            </a:r>
            <a:r>
              <a:rPr sz="1200" b="1" lang="zh-TW" dirty="0">
                <a:solidFill>
                  <a:srgbClr val="000000"/>
                </a:solidFill>
                <a:latin typeface="Arial Unicode MS"/>
                <a:ea typeface="Arial Unicode MS"/>
                <a:cs typeface="Arial Unicode MS"/>
              </a:rPr>
              <a:t>一行都不缺</a:t>
            </a:r>
            <a:r>
              <a:rPr sz="1200" lang="zh-TW" dirty="0">
                <a:solidFill>
                  <a:srgbClr val="000000"/>
                </a:solidFill>
                <a:latin typeface="Arial Unicode MS"/>
                <a:ea typeface="Arial Unicode MS"/>
                <a:cs typeface="Arial Unicode MS"/>
              </a:rPr>
              <a:t>。</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三種波長各有代價，選波長就是選代價。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一列一列圈，每圈一列念一次它的代價。學生會拿第三週的竹竿來問「波長愈長不是愈會穿透嗎」——繞射和吸收是兩回事，口白裡有。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光達的第一行講的是</a:t>
            </a:r>
            <a:r>
              <a:rPr sz="800" b="1" lang="zh-TW" dirty="0">
                <a:solidFill>
                  <a:srgbClr val="000000"/>
                </a:solidFill>
                <a:latin typeface="Arial Unicode MS"/>
                <a:ea typeface="Arial Unicode MS"/>
                <a:cs typeface="Arial Unicode MS"/>
              </a:rPr>
              <a:t>波長</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規格表上會寫一個數字，單位是奈米。路上最常見的是 </a:t>
            </a:r>
            <a:r>
              <a:rPr sz="800" b="1" lang="zh-TW" dirty="0">
                <a:solidFill>
                  <a:srgbClr val="000000"/>
                </a:solidFill>
                <a:latin typeface="Arial Unicode MS"/>
                <a:ea typeface="Arial Unicode MS"/>
                <a:cs typeface="Arial Unicode MS"/>
              </a:rPr>
              <a:t>905 奈米</a:t>
            </a:r>
            <a:r>
              <a:rPr sz="800" lang="zh-TW" dirty="0">
                <a:solidFill>
                  <a:srgbClr val="000000"/>
                </a:solidFill>
                <a:latin typeface="Arial Unicode MS"/>
                <a:ea typeface="Arial Unicode MS"/>
                <a:cs typeface="Arial Unicode MS"/>
              </a:rPr>
              <a:t>，我們看的 OS1 寫的是 </a:t>
            </a:r>
            <a:r>
              <a:rPr sz="800" b="1" lang="zh-TW" dirty="0">
                <a:solidFill>
                  <a:srgbClr val="000000"/>
                </a:solidFill>
                <a:latin typeface="Arial Unicode MS"/>
                <a:ea typeface="Arial Unicode MS"/>
                <a:cs typeface="Arial Unicode MS"/>
              </a:rPr>
              <a:t>865</a:t>
            </a:r>
            <a:r>
              <a:rPr sz="800" lang="zh-TW" dirty="0">
                <a:solidFill>
                  <a:srgbClr val="000000"/>
                </a:solidFill>
                <a:latin typeface="Arial Unicode MS"/>
                <a:ea typeface="Arial Unicode MS"/>
                <a:cs typeface="Arial Unicode MS"/>
              </a:rPr>
              <a:t>，還有一種比較貴的是 </a:t>
            </a:r>
            <a:r>
              <a:rPr sz="800" b="1" lang="zh-TW" dirty="0">
                <a:solidFill>
                  <a:srgbClr val="000000"/>
                </a:solidFill>
                <a:latin typeface="Arial Unicode MS"/>
                <a:ea typeface="Arial Unicode MS"/>
                <a:cs typeface="Arial Unicode MS"/>
              </a:rPr>
              <a:t>1550 奈米</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為什麼要分這些？這裡有一個很有意思的物理。各位還記得第三週講的：光達打的是紅外線雷射，人眼看不到。看不到的東西打到眼睛裡，人不會眨眼、也不會閃避，所以</a:t>
            </a:r>
            <a:r>
              <a:rPr sz="800" b="1" lang="zh-TW" dirty="0">
                <a:solidFill>
                  <a:srgbClr val="000000"/>
                </a:solidFill>
                <a:latin typeface="Arial Unicode MS"/>
                <a:ea typeface="Arial Unicode MS"/>
                <a:cs typeface="Arial Unicode MS"/>
              </a:rPr>
              <a:t>法規對雷射的功率管得很嚴</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功率愈大看得愈遠，可是法規不准你亂加。關鍵在這裡：</a:t>
            </a:r>
            <a:r>
              <a:rPr sz="800" b="1" lang="zh-TW" dirty="0">
                <a:solidFill>
                  <a:srgbClr val="000000"/>
                </a:solidFill>
                <a:latin typeface="Arial Unicode MS"/>
                <a:ea typeface="Arial Unicode MS"/>
                <a:cs typeface="Arial Unicode MS"/>
              </a:rPr>
              <a:t>905 奈米的光會穿過眼睛的水晶體，直接打到視網膜上。</a:t>
            </a:r>
            <a:r>
              <a:rPr sz="800" lang="zh-TW" dirty="0">
                <a:solidFill>
                  <a:srgbClr val="000000"/>
                </a:solidFill>
                <a:latin typeface="Arial Unicode MS"/>
                <a:ea typeface="Arial Unicode MS"/>
                <a:cs typeface="Arial Unicode MS"/>
              </a:rPr>
              <a:t>視網膜燒到就回不來了，所以 905 的功率上限被壓得很低。
</a:t>
            </a:r>
          </a:p>
          <a:p>
            <a:pPr algn="l">
              <a:spcBef>
                <a:spcPts val="0"/>
              </a:spcBef>
              <a:spcAft>
                <a:spcPts val="133"/>
              </a:spcAft>
            </a:pPr>
            <a:r>
              <a:rPr sz="800" lang="zh-TW" dirty="0">
                <a:solidFill>
                  <a:srgbClr val="000000"/>
                </a:solidFill>
                <a:latin typeface="Arial Unicode MS"/>
                <a:ea typeface="Arial Unicode MS"/>
                <a:cs typeface="Arial Unicode MS"/>
              </a:rPr>
              <a:t>1550 奈米不一樣。這個波長會</a:t>
            </a:r>
            <a:r>
              <a:rPr sz="800" b="1" lang="zh-TW" dirty="0">
                <a:solidFill>
                  <a:srgbClr val="000000"/>
                </a:solidFill>
                <a:latin typeface="Arial Unicode MS"/>
                <a:ea typeface="Arial Unicode MS"/>
                <a:cs typeface="Arial Unicode MS"/>
              </a:rPr>
              <a:t>先被眼睛裡面的水吸收掉</a:t>
            </a:r>
            <a:r>
              <a:rPr sz="800" lang="zh-TW" dirty="0">
                <a:solidFill>
                  <a:srgbClr val="000000"/>
                </a:solidFill>
                <a:latin typeface="Arial Unicode MS"/>
                <a:ea typeface="Arial Unicode MS"/>
                <a:cs typeface="Arial Unicode MS"/>
              </a:rPr>
              <a:t>，還沒到視網膜就被擋住了。所以在同樣的安全等級下，1550 可以打</a:t>
            </a:r>
            <a:r>
              <a:rPr sz="800" b="1" lang="zh-TW" dirty="0">
                <a:solidFill>
                  <a:srgbClr val="000000"/>
                </a:solidFill>
                <a:latin typeface="Arial Unicode MS"/>
                <a:ea typeface="Arial Unicode MS"/>
                <a:cs typeface="Arial Unicode MS"/>
              </a:rPr>
              <a:t>強幾十倍</a:t>
            </a:r>
            <a:r>
              <a:rPr sz="800" lang="zh-TW" dirty="0">
                <a:solidFill>
                  <a:srgbClr val="000000"/>
                </a:solidFill>
                <a:latin typeface="Arial Unicode MS"/>
                <a:ea typeface="Arial Unicode MS"/>
                <a:cs typeface="Arial Unicode MS"/>
              </a:rPr>
              <a:t>的功率。
</a:t>
            </a:r>
          </a:p>
          <a:p>
            <a:pPr algn="l">
              <a:spcBef>
                <a:spcPts val="0"/>
              </a:spcBef>
              <a:spcAft>
                <a:spcPts val="133"/>
              </a:spcAft>
            </a:pPr>
            <a:r>
              <a:rPr sz="800" lang="zh-TW" dirty="0">
                <a:solidFill>
                  <a:srgbClr val="000000"/>
                </a:solidFill>
                <a:latin typeface="Arial Unicode MS"/>
                <a:ea typeface="Arial Unicode MS"/>
                <a:cs typeface="Arial Unicode MS"/>
              </a:rPr>
              <a:t>這裡要擋一個誤會。第三週我們用竹竿講過：</a:t>
            </a:r>
            <a:r>
              <a:rPr sz="800" b="1" lang="zh-TW" dirty="0">
                <a:solidFill>
                  <a:srgbClr val="000000"/>
                </a:solidFill>
                <a:latin typeface="Arial Unicode MS"/>
                <a:ea typeface="Arial Unicode MS"/>
                <a:cs typeface="Arial Unicode MS"/>
              </a:rPr>
              <a:t>波長比障礙物大就繞過去，比障礙物小就被擋住。</a:t>
            </a:r>
            <a:r>
              <a:rPr sz="800" lang="zh-TW" dirty="0">
                <a:solidFill>
                  <a:srgbClr val="000000"/>
                </a:solidFill>
                <a:latin typeface="Arial Unicode MS"/>
                <a:ea typeface="Arial Unicode MS"/>
                <a:cs typeface="Arial Unicode MS"/>
              </a:rPr>
              <a:t>那條規則講的是「會不會被擋住、被散開」，比的是波長和</a:t>
            </a:r>
            <a:r>
              <a:rPr sz="800" b="1" lang="zh-TW" dirty="0">
                <a:solidFill>
                  <a:srgbClr val="000000"/>
                </a:solidFill>
                <a:latin typeface="Arial Unicode MS"/>
                <a:ea typeface="Arial Unicode MS"/>
                <a:cs typeface="Arial Unicode MS"/>
              </a:rPr>
              <a:t>障礙物的大小</a:t>
            </a:r>
            <a:r>
              <a:rPr sz="800" lang="zh-TW" dirty="0">
                <a:solidFill>
                  <a:srgbClr val="000000"/>
                </a:solidFill>
                <a:latin typeface="Arial Unicode MS"/>
                <a:ea typeface="Arial Unicode MS"/>
                <a:cs typeface="Arial Unicode MS"/>
              </a:rPr>
              <a:t>。今天講的是另一件事——</a:t>
            </a:r>
            <a:r>
              <a:rPr sz="800" b="1" lang="zh-TW" dirty="0">
                <a:solidFill>
                  <a:srgbClr val="000000"/>
                </a:solidFill>
                <a:latin typeface="Arial Unicode MS"/>
                <a:ea typeface="Arial Unicode MS"/>
                <a:cs typeface="Arial Unicode MS"/>
              </a:rPr>
              <a:t>材料會不會把光吃掉</a:t>
            </a:r>
            <a:r>
              <a:rPr sz="800" lang="zh-TW" dirty="0">
                <a:solidFill>
                  <a:srgbClr val="000000"/>
                </a:solidFill>
                <a:latin typeface="Arial Unicode MS"/>
                <a:ea typeface="Arial Unicode MS"/>
                <a:cs typeface="Arial Unicode MS"/>
              </a:rPr>
              <a:t>，那跟大小沒關係，跟水分子吃哪些波長有關。而且水吸光的曲線不是斜線，是</a:t>
            </a:r>
            <a:r>
              <a:rPr sz="800" b="1" lang="zh-TW" dirty="0">
                <a:solidFill>
                  <a:srgbClr val="000000"/>
                </a:solidFill>
                <a:latin typeface="Arial Unicode MS"/>
                <a:ea typeface="Arial Unicode MS"/>
                <a:cs typeface="Arial Unicode MS"/>
              </a:rPr>
              <a:t>高高低低的</a:t>
            </a:r>
            <a:r>
              <a:rPr sz="800" lang="zh-TW" dirty="0">
                <a:solidFill>
                  <a:srgbClr val="000000"/>
                </a:solidFill>
                <a:latin typeface="Arial Unicode MS"/>
                <a:ea typeface="Arial Unicode MS"/>
                <a:cs typeface="Arial Unicode MS"/>
              </a:rPr>
              <a:t>：九百奈米附近幾乎不吸，到一千五百五就很會吸。所以 1550 </a:t>
            </a:r>
            <a:r>
              <a:rPr sz="800" b="1" lang="zh-TW" dirty="0">
                <a:solidFill>
                  <a:srgbClr val="000000"/>
                </a:solidFill>
                <a:latin typeface="Arial Unicode MS"/>
                <a:ea typeface="Arial Unicode MS"/>
                <a:cs typeface="Arial Unicode MS"/>
              </a:rPr>
              <a:t>不是比較會穿透，是剛好踩在水的吸收帶上</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而且 1550 還多一個好處，第一節第十三張那個 100 klx 的條件就是在講這件事：</a:t>
            </a:r>
            <a:r>
              <a:rPr sz="800" b="1" lang="zh-TW" dirty="0">
                <a:solidFill>
                  <a:srgbClr val="000000"/>
                </a:solidFill>
                <a:latin typeface="Arial Unicode MS"/>
                <a:ea typeface="Arial Unicode MS"/>
                <a:cs typeface="Arial Unicode MS"/>
              </a:rPr>
              <a:t>太陽在 1550 這個波長的輻射本來就比較弱</a:t>
            </a:r>
            <a:r>
              <a:rPr sz="800" lang="zh-TW" dirty="0">
                <a:solidFill>
                  <a:srgbClr val="000000"/>
                </a:solidFill>
                <a:latin typeface="Arial Unicode MS"/>
                <a:ea typeface="Arial Unicode MS"/>
                <a:cs typeface="Arial Unicode MS"/>
              </a:rPr>
              <a:t>，所以它要對付的背景噪音比 905 少。打得強、背景又少，這就是為什麼高階的長距光達用 1550。
</a:t>
            </a:r>
          </a:p>
          <a:p>
            <a:pPr algn="l">
              <a:spcBef>
                <a:spcPts val="0"/>
              </a:spcBef>
              <a:spcAft>
                <a:spcPts val="133"/>
              </a:spcAft>
            </a:pPr>
            <a:r>
              <a:rPr sz="800" lang="zh-TW" dirty="0">
                <a:solidFill>
                  <a:srgbClr val="000000"/>
                </a:solidFill>
                <a:latin typeface="Arial Unicode MS"/>
                <a:ea typeface="Arial Unicode MS"/>
                <a:cs typeface="Arial Unicode MS"/>
              </a:rPr>
              <a:t>那為什麼不是每一家都用？因為</a:t>
            </a:r>
            <a:r>
              <a:rPr sz="800" b="1" lang="zh-TW" dirty="0">
                <a:solidFill>
                  <a:srgbClr val="000000"/>
                </a:solidFill>
                <a:latin typeface="Arial Unicode MS"/>
                <a:ea typeface="Arial Unicode MS"/>
                <a:cs typeface="Arial Unicode MS"/>
              </a:rPr>
              <a:t>接收端要換材料</a:t>
            </a:r>
            <a:r>
              <a:rPr sz="800" lang="zh-TW" dirty="0">
                <a:solidFill>
                  <a:srgbClr val="000000"/>
                </a:solidFill>
                <a:latin typeface="Arial Unicode MS"/>
                <a:ea typeface="Arial Unicode MS"/>
                <a:cs typeface="Arial Unicode MS"/>
              </a:rPr>
              <a:t>，而那個材料很貴。
</a:t>
            </a:r>
          </a:p>
          <a:p>
            <a:pPr algn="l">
              <a:spcBef>
                <a:spcPts val="0"/>
              </a:spcBef>
              <a:spcAft>
                <a:spcPts val="133"/>
              </a:spcAft>
            </a:pPr>
            <a:r>
              <a:rPr sz="800" lang="zh-TW" dirty="0">
                <a:solidFill>
                  <a:srgbClr val="000000"/>
                </a:solidFill>
                <a:latin typeface="Arial Unicode MS"/>
                <a:ea typeface="Arial Unicode MS"/>
                <a:cs typeface="Arial Unicode MS"/>
              </a:rPr>
              <a:t>先講光達怎麼「收到」光。光打在半導體上，光子的能量夠大就撞出一個電子，變成電流——那就是訊號。能量夠不夠有一個門檻，叫</a:t>
            </a:r>
            <a:r>
              <a:rPr sz="800" b="1" lang="zh-TW" dirty="0">
                <a:solidFill>
                  <a:srgbClr val="000000"/>
                </a:solidFill>
                <a:latin typeface="Arial Unicode MS"/>
                <a:ea typeface="Arial Unicode MS"/>
                <a:cs typeface="Arial Unicode MS"/>
              </a:rPr>
              <a:t>能隙</a:t>
            </a:r>
            <a:r>
              <a:rPr sz="800" lang="zh-TW" dirty="0">
                <a:solidFill>
                  <a:srgbClr val="000000"/>
                </a:solidFill>
                <a:latin typeface="Arial Unicode MS"/>
                <a:ea typeface="Arial Unicode MS"/>
                <a:cs typeface="Arial Unicode MS"/>
              </a:rPr>
              <a:t>，每種材料不一樣；波長愈長，光子的能量愈小。</a:t>
            </a:r>
            <a:r>
              <a:rPr sz="800" b="1" lang="zh-TW" dirty="0">
                <a:solidFill>
                  <a:srgbClr val="000000"/>
                </a:solidFill>
                <a:latin typeface="Arial Unicode MS"/>
                <a:ea typeface="Arial Unicode MS"/>
                <a:cs typeface="Arial Unicode MS"/>
              </a:rPr>
              <a:t>矽的門檻剛好卡在一千一百奈米</a:t>
            </a:r>
            <a:r>
              <a:rPr sz="800" lang="zh-TW" dirty="0">
                <a:solidFill>
                  <a:srgbClr val="000000"/>
                </a:solidFill>
                <a:latin typeface="Arial Unicode MS"/>
                <a:ea typeface="Arial Unicode MS"/>
                <a:cs typeface="Arial Unicode MS"/>
              </a:rPr>
              <a:t>：905、865 過得了，1550 過不了。所以</a:t>
            </a:r>
            <a:r>
              <a:rPr sz="800" b="1" lang="zh-TW" dirty="0">
                <a:solidFill>
                  <a:srgbClr val="000000"/>
                </a:solidFill>
                <a:latin typeface="Arial Unicode MS"/>
                <a:ea typeface="Arial Unicode MS"/>
                <a:cs typeface="Arial Unicode MS"/>
              </a:rPr>
              <a:t>矽對 1550 等於全盲</a:t>
            </a:r>
            <a:r>
              <a:rPr sz="800" lang="zh-TW" dirty="0">
                <a:solidFill>
                  <a:srgbClr val="000000"/>
                </a:solidFill>
                <a:latin typeface="Arial Unicode MS"/>
                <a:ea typeface="Arial Unicode MS"/>
                <a:cs typeface="Arial Unicode MS"/>
              </a:rPr>
              <a:t>，不是看不清楚，是一點訊號都沒有。
</a:t>
            </a:r>
          </a:p>
          <a:p>
            <a:pPr algn="l">
              <a:spcBef>
                <a:spcPts val="0"/>
              </a:spcBef>
              <a:spcAft>
                <a:spcPts val="133"/>
              </a:spcAft>
            </a:pPr>
            <a:r>
              <a:rPr sz="800" lang="zh-TW" dirty="0">
                <a:solidFill>
                  <a:srgbClr val="000000"/>
                </a:solidFill>
                <a:latin typeface="Arial Unicode MS"/>
                <a:ea typeface="Arial Unicode MS"/>
                <a:cs typeface="Arial Unicode MS"/>
              </a:rPr>
              <a:t>所以 1550 只能換</a:t>
            </a:r>
            <a:r>
              <a:rPr sz="800" b="1" lang="zh-TW" dirty="0">
                <a:solidFill>
                  <a:srgbClr val="000000"/>
                </a:solidFill>
                <a:latin typeface="Arial Unicode MS"/>
                <a:ea typeface="Arial Unicode MS"/>
                <a:cs typeface="Arial Unicode MS"/>
              </a:rPr>
              <a:t>銦鎵砷</a:t>
            </a:r>
            <a:r>
              <a:rPr sz="800" lang="zh-TW" dirty="0">
                <a:solidFill>
                  <a:srgbClr val="000000"/>
                </a:solidFill>
                <a:latin typeface="Arial Unicode MS"/>
                <a:ea typeface="Arial Unicode MS"/>
                <a:cs typeface="Arial Unicode MS"/>
              </a:rPr>
              <a:t>，唸起來像「因、家、申」——銦、鎵、砷三種元素做的半導體。規格表上寫的是英文 </a:t>
            </a:r>
            <a:r>
              <a:rPr sz="800" b="1" lang="zh-TW" dirty="0">
                <a:solidFill>
                  <a:srgbClr val="000000"/>
                </a:solidFill>
                <a:latin typeface="Arial Unicode MS"/>
                <a:ea typeface="Arial Unicode MS"/>
                <a:cs typeface="Arial Unicode MS"/>
              </a:rPr>
              <a:t>InGaAs</a:t>
            </a:r>
            <a:r>
              <a:rPr sz="800" lang="zh-TW" dirty="0">
                <a:solidFill>
                  <a:srgbClr val="000000"/>
                </a:solidFill>
                <a:latin typeface="Arial Unicode MS"/>
                <a:ea typeface="Arial Unicode MS"/>
                <a:cs typeface="Arial Unicode MS"/>
              </a:rPr>
              <a:t>，業界直接唸「in-gas」，各位記這個就好。它的門檻低到一千七百奈米都看得見。貴在哪？矽是全世界最成熟最便宜的材料，整個晶片工業都在做它；銦鎵砷的晶圓小、材料稀有，而且感光的部分和讀取電路是</a:t>
            </a:r>
            <a:r>
              <a:rPr sz="800" b="1" lang="zh-TW" dirty="0">
                <a:solidFill>
                  <a:srgbClr val="000000"/>
                </a:solidFill>
                <a:latin typeface="Arial Unicode MS"/>
                <a:ea typeface="Arial Unicode MS"/>
                <a:cs typeface="Arial Unicode MS"/>
              </a:rPr>
              <a:t>兩顆晶片，要一顆一顆對準黏起來</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所以規格表上這一行，看起來只是一個數字，背後是</a:t>
            </a:r>
            <a:r>
              <a:rPr sz="800" b="1" lang="zh-TW" dirty="0">
                <a:solidFill>
                  <a:srgbClr val="000000"/>
                </a:solidFill>
                <a:latin typeface="Arial Unicode MS"/>
                <a:ea typeface="Arial Unicode MS"/>
                <a:cs typeface="Arial Unicode MS"/>
              </a:rPr>
              <a:t>安全法規、看多遠、多少錢</a:t>
            </a:r>
            <a:r>
              <a:rPr sz="800" lang="zh-TW" dirty="0">
                <a:solidFill>
                  <a:srgbClr val="000000"/>
                </a:solidFill>
                <a:latin typeface="Arial Unicode MS"/>
                <a:ea typeface="Arial Unicode MS"/>
                <a:cs typeface="Arial Unicode MS"/>
              </a:rPr>
              <a:t>三件事的取捨。
</a:t>
            </a:r>
          </a:p>
          <a:p>
            <a:pPr algn="l">
              <a:spcBef>
                <a:spcPts val="0"/>
              </a:spcBef>
              <a:spcAft>
                <a:spcPts val="133"/>
              </a:spcAft>
            </a:pPr>
            <a:r>
              <a:rPr sz="800" lang="zh-TW" dirty="0">
                <a:solidFill>
                  <a:srgbClr val="000000"/>
                </a:solidFill>
                <a:latin typeface="Arial Unicode MS"/>
                <a:ea typeface="Arial Unicode MS"/>
                <a:cs typeface="Arial Unicode MS"/>
              </a:rPr>
              <a:t>那竹竿那條規則在今天還算不算數？算，但它把 905 和 1550 歸在</a:t>
            </a:r>
            <a:r>
              <a:rPr sz="800" b="1" lang="zh-TW" dirty="0">
                <a:solidFill>
                  <a:srgbClr val="000000"/>
                </a:solidFill>
                <a:latin typeface="Arial Unicode MS"/>
                <a:ea typeface="Arial Unicode MS"/>
                <a:cs typeface="Arial Unicode MS"/>
              </a:rPr>
              <a:t>同一類</a:t>
            </a:r>
            <a:r>
              <a:rPr sz="800" lang="zh-TW" dirty="0">
                <a:solidFill>
                  <a:srgbClr val="000000"/>
                </a:solidFill>
                <a:latin typeface="Arial Unicode MS"/>
                <a:ea typeface="Arial Unicode MS"/>
                <a:cs typeface="Arial Unicode MS"/>
              </a:rPr>
              <a:t>：兩個只差一點七倍，都比霧滴小一千倍左右，所以一樣會被雨霧散射，誰也沒有比較會繞過去。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Class 1 眼睛安全：沒有這一行就不要裝上車。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先圈 Class 1 與 IEC/EN 60825-1，語氣要重；再圈 865 nm。最後圈 Beam Divergence 0.18°，在白板上算一次 100 m → 31 cm。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左邊這一塊，是 OS1 datasheet 上 LASER 那一段。</a:t>
            </a:r>
            <a:r>
              <a:rPr sz="800" b="1" lang="zh-TW" dirty="0">
                <a:solidFill>
                  <a:srgbClr val="000000"/>
                </a:solidFill>
                <a:latin typeface="Arial Unicode MS"/>
                <a:ea typeface="Arial Unicode MS"/>
                <a:cs typeface="Arial Unicode MS"/>
              </a:rPr>
              <a:t>第一行就是眼睛安全等級</a:t>
            </a:r>
            <a:r>
              <a:rPr sz="800" lang="zh-TW" dirty="0">
                <a:solidFill>
                  <a:srgbClr val="000000"/>
                </a:solidFill>
                <a:latin typeface="Arial Unicode MS"/>
                <a:ea typeface="Arial Unicode MS"/>
                <a:cs typeface="Arial Unicode MS"/>
              </a:rPr>
              <a:t>，剛剛講的波長排在它下面。
</a:t>
            </a:r>
          </a:p>
          <a:p>
            <a:pPr algn="l">
              <a:spcBef>
                <a:spcPts val="0"/>
              </a:spcBef>
              <a:spcAft>
                <a:spcPts val="133"/>
              </a:spcAft>
            </a:pPr>
            <a:r>
              <a:rPr sz="800" lang="zh-TW" dirty="0">
                <a:solidFill>
                  <a:srgbClr val="000000"/>
                </a:solidFill>
                <a:latin typeface="Arial Unicode MS"/>
                <a:ea typeface="Arial Unicode MS"/>
                <a:cs typeface="Arial Unicode MS"/>
              </a:rPr>
              <a:t>上面寫的是：</a:t>
            </a:r>
            <a:r>
              <a:rPr sz="800" b="1" lang="zh-TW" dirty="0">
                <a:solidFill>
                  <a:srgbClr val="000000"/>
                </a:solidFill>
                <a:latin typeface="Arial Unicode MS"/>
                <a:ea typeface="Arial Unicode MS"/>
                <a:cs typeface="Arial Unicode MS"/>
              </a:rPr>
              <a:t>Class 1 eye-safe per IEC/EN 60825-1: 2014</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800" b="1" lang="zh-TW" dirty="0">
                <a:solidFill>
                  <a:srgbClr val="000000"/>
                </a:solidFill>
                <a:latin typeface="Arial Unicode MS"/>
                <a:ea typeface="Arial Unicode MS"/>
                <a:cs typeface="Arial Unicode MS"/>
              </a:rPr>
              <a:t>在正常使用的情況下，就算有人直直盯著它看，也不會傷到眼睛。</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為什麼這件事重要到要單獨列一行？
</a:t>
            </a:r>
          </a:p>
          <a:p>
            <a:pPr algn="l">
              <a:spcBef>
                <a:spcPts val="0"/>
              </a:spcBef>
              <a:spcAft>
                <a:spcPts val="133"/>
              </a:spcAft>
            </a:pPr>
            <a:r>
              <a:rPr sz="800" lang="zh-TW" dirty="0">
                <a:solidFill>
                  <a:srgbClr val="000000"/>
                </a:solidFill>
                <a:latin typeface="Arial Unicode MS"/>
                <a:ea typeface="Arial Unicode MS"/>
                <a:cs typeface="Arial Unicode MS"/>
              </a:rPr>
              <a:t>因為光達是裝在</a:t>
            </a:r>
            <a:r>
              <a:rPr sz="800" b="1" lang="zh-TW" dirty="0">
                <a:solidFill>
                  <a:srgbClr val="000000"/>
                </a:solidFill>
                <a:latin typeface="Arial Unicode MS"/>
                <a:ea typeface="Arial Unicode MS"/>
                <a:cs typeface="Arial Unicode MS"/>
              </a:rPr>
              <a:t>馬路上跑的車</a:t>
            </a:r>
            <a:r>
              <a:rPr sz="8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spcBef>
                <a:spcPts val="0"/>
              </a:spcBef>
              <a:spcAft>
                <a:spcPts val="133"/>
              </a:spcAft>
            </a:pPr>
            <a:r>
              <a:rPr sz="800" lang="zh-TW" dirty="0">
                <a:solidFill>
                  <a:srgbClr val="000000"/>
                </a:solidFill>
                <a:latin typeface="Arial Unicode MS"/>
                <a:ea typeface="Arial Unicode MS"/>
                <a:cs typeface="Arial Unicode MS"/>
              </a:rPr>
              <a:t>所以這一行不是拿來加分的，是</a:t>
            </a:r>
            <a:r>
              <a:rPr sz="800" b="1" lang="zh-TW" dirty="0">
                <a:solidFill>
                  <a:srgbClr val="000000"/>
                </a:solidFill>
                <a:latin typeface="Arial Unicode MS"/>
                <a:ea typeface="Arial Unicode MS"/>
                <a:cs typeface="Arial Unicode MS"/>
              </a:rPr>
              <a:t>門檻</a:t>
            </a:r>
            <a:r>
              <a:rPr sz="800" lang="zh-TW" dirty="0">
                <a:solidFill>
                  <a:srgbClr val="000000"/>
                </a:solidFill>
                <a:latin typeface="Arial Unicode MS"/>
                <a:ea typeface="Arial Unicode MS"/>
                <a:cs typeface="Arial Unicode MS"/>
              </a:rPr>
              <a:t>。沒有這一行的產品，不管規格寫得多漂亮，你都不能考慮。
</a:t>
            </a:r>
          </a:p>
          <a:p>
            <a:pPr algn="l">
              <a:spcBef>
                <a:spcPts val="0"/>
              </a:spcBef>
              <a:spcAft>
                <a:spcPts val="133"/>
              </a:spcAft>
            </a:pPr>
            <a:r>
              <a:rPr sz="800" lang="zh-TW" dirty="0">
                <a:solidFill>
                  <a:srgbClr val="000000"/>
                </a:solidFill>
                <a:latin typeface="Arial Unicode MS"/>
                <a:ea typeface="Arial Unicode MS"/>
                <a:cs typeface="Arial Unicode MS"/>
              </a:rPr>
              <a:t>這裡也牽涉到剛剛講的波長。</a:t>
            </a:r>
            <a:r>
              <a:rPr sz="800" b="1" lang="zh-TW" dirty="0">
                <a:solidFill>
                  <a:srgbClr val="000000"/>
                </a:solidFill>
                <a:latin typeface="Arial Unicode MS"/>
                <a:ea typeface="Arial Unicode MS"/>
                <a:cs typeface="Arial Unicode MS"/>
              </a:rPr>
              <a:t>第二行 Laser Wavelength，865 奈米</a:t>
            </a:r>
            <a:r>
              <a:rPr sz="800" lang="zh-TW" dirty="0">
                <a:solidFill>
                  <a:srgbClr val="000000"/>
                </a:solidFill>
                <a:latin typeface="Arial Unicode MS"/>
                <a:ea typeface="Arial Unicode MS"/>
                <a:cs typeface="Arial Unicode MS"/>
              </a:rPr>
              <a:t>，就是上一張講的那個數字。1550 之所以可以打比較強，就是因為在同樣的 Class 1 限制下，它的功率上限高很多。
</a:t>
            </a:r>
          </a:p>
          <a:p>
            <a:pPr algn="l">
              <a:spcBef>
                <a:spcPts val="0"/>
              </a:spcBef>
              <a:spcAft>
                <a:spcPts val="133"/>
              </a:spcAft>
            </a:pPr>
            <a:r>
              <a:rPr sz="800" lang="zh-TW" dirty="0">
                <a:solidFill>
                  <a:srgbClr val="000000"/>
                </a:solidFill>
                <a:latin typeface="Arial Unicode MS"/>
                <a:ea typeface="Arial Unicode MS"/>
                <a:cs typeface="Arial Unicode MS"/>
              </a:rPr>
              <a:t>下面兩行順便看一下，它們其實也在講同一件事。</a:t>
            </a:r>
            <a:r>
              <a:rPr sz="800" b="1" lang="zh-TW" dirty="0">
                <a:solidFill>
                  <a:srgbClr val="000000"/>
                </a:solidFill>
                <a:latin typeface="Arial Unicode MS"/>
                <a:ea typeface="Arial Unicode MS"/>
                <a:cs typeface="Arial Unicode MS"/>
              </a:rPr>
              <a:t>Beam Diameter Exiting Sensor，9.5 公釐</a:t>
            </a:r>
            <a:r>
              <a:rPr sz="800" lang="zh-TW" dirty="0">
                <a:solidFill>
                  <a:srgbClr val="000000"/>
                </a:solidFill>
                <a:latin typeface="Arial Unicode MS"/>
                <a:ea typeface="Arial Unicode MS"/>
                <a:cs typeface="Arial Unicode MS"/>
              </a:rPr>
              <a:t>——雷射離開感測器的時候，光束有 9.5 公釐寬。為什麼要列這個？因為同樣的功率，</a:t>
            </a:r>
            <a:r>
              <a:rPr sz="800" b="1" lang="zh-TW" dirty="0">
                <a:solidFill>
                  <a:srgbClr val="000000"/>
                </a:solidFill>
                <a:latin typeface="Arial Unicode MS"/>
                <a:ea typeface="Arial Unicode MS"/>
                <a:cs typeface="Arial Unicode MS"/>
              </a:rPr>
              <a:t>光束愈寬，攤在眼睛上的能量密度就愈低</a:t>
            </a:r>
            <a:r>
              <a:rPr sz="800" lang="zh-TW" dirty="0">
                <a:solidFill>
                  <a:srgbClr val="000000"/>
                </a:solidFill>
                <a:latin typeface="Arial Unicode MS"/>
                <a:ea typeface="Arial Unicode MS"/>
                <a:cs typeface="Arial Unicode MS"/>
              </a:rPr>
              <a:t>。把光束做寬，本來就是達到 Class 1 的手段之一。
</a:t>
            </a:r>
          </a:p>
          <a:p>
            <a:pPr algn="l">
              <a:spcBef>
                <a:spcPts val="0"/>
              </a:spcBef>
              <a:spcAft>
                <a:spcPts val="133"/>
              </a:spcAft>
            </a:pPr>
            <a:r>
              <a:rPr sz="800" b="1" lang="zh-TW" dirty="0">
                <a:solidFill>
                  <a:srgbClr val="000000"/>
                </a:solidFill>
                <a:latin typeface="Arial Unicode MS"/>
                <a:ea typeface="Arial Unicode MS"/>
                <a:cs typeface="Arial Unicode MS"/>
              </a:rPr>
              <a:t>Beam Divergence，0.18 度</a:t>
            </a:r>
            <a:r>
              <a:rPr sz="800" lang="zh-TW" dirty="0">
                <a:solidFill>
                  <a:srgbClr val="000000"/>
                </a:solidFill>
                <a:latin typeface="Arial Unicode MS"/>
                <a:ea typeface="Arial Unicode MS"/>
                <a:cs typeface="Arial Unicode MS"/>
              </a:rPr>
              <a:t>——光束飛出去會愈來愈寬。括號裡的 FWHM 是量法：從最亮的地方往兩邊量到剩一半亮度的寬度。各位算一下：0.18 度，到一百公尺外，光點大概 </a:t>
            </a:r>
            <a:r>
              <a:rPr sz="800" b="1" lang="zh-TW" dirty="0">
                <a:solidFill>
                  <a:srgbClr val="000000"/>
                </a:solidFill>
                <a:latin typeface="Arial Unicode MS"/>
                <a:ea typeface="Arial Unicode MS"/>
                <a:cs typeface="Arial Unicode MS"/>
              </a:rPr>
              <a:t>31 公分寬</a:t>
            </a:r>
            <a:r>
              <a:rPr sz="800" lang="zh-TW" dirty="0">
                <a:solidFill>
                  <a:srgbClr val="000000"/>
                </a:solidFill>
                <a:latin typeface="Arial Unicode MS"/>
                <a:ea typeface="Arial Unicode MS"/>
                <a:cs typeface="Arial Unicode MS"/>
              </a:rPr>
              <a:t>；四十公尺外大概 12 公分。
</a:t>
            </a:r>
          </a:p>
          <a:p>
            <a:pPr algn="l">
              <a:spcBef>
                <a:spcPts val="0"/>
              </a:spcBef>
              <a:spcAft>
                <a:spcPts val="133"/>
              </a:spcAft>
            </a:pPr>
            <a:r>
              <a:rPr sz="800" lang="zh-TW" dirty="0">
                <a:solidFill>
                  <a:srgbClr val="000000"/>
                </a:solidFill>
                <a:latin typeface="Arial Unicode MS"/>
                <a:ea typeface="Arial Unicode MS"/>
                <a:cs typeface="Arial Unicode MS"/>
              </a:rPr>
              <a:t>所以請記住一件事：</a:t>
            </a:r>
            <a:r>
              <a:rPr sz="800" b="1" lang="zh-TW" dirty="0">
                <a:solidFill>
                  <a:srgbClr val="000000"/>
                </a:solidFill>
                <a:latin typeface="Arial Unicode MS"/>
                <a:ea typeface="Arial Unicode MS"/>
                <a:cs typeface="Arial Unicode MS"/>
              </a:rPr>
              <a:t>光達的「一個點」，在遠處根本不是一個點。</a:t>
            </a:r>
            <a:r>
              <a:rPr sz="800" lang="zh-TW" dirty="0">
                <a:solidFill>
                  <a:srgbClr val="000000"/>
                </a:solidFill>
                <a:latin typeface="Arial Unicode MS"/>
                <a:ea typeface="Arial Unicode MS"/>
                <a:cs typeface="Arial Unicode MS"/>
              </a:rPr>
              <a:t>遠處那個點量到的，是那三十公分範圍裡的東西。下一張講「一道雷射可以彈回來兩次」，就是因為這道光夠寬，寬到可以同時打到兩個東西。
</a:t>
            </a:r>
          </a:p>
          <a:p>
            <a:pPr algn="l">
              <a:spcBef>
                <a:spcPts val="0"/>
              </a:spcBef>
              <a:spcAft>
                <a:spcPts val="133"/>
              </a:spcAft>
            </a:pPr>
            <a:r>
              <a:rPr sz="8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42"/>
              </a:spcAft>
            </a:pPr>
            <a:r>
              <a:rPr sz="850" b="1" lang="zh-TW" dirty="0">
                <a:solidFill>
                  <a:srgbClr val="000000"/>
                </a:solidFill>
                <a:latin typeface="Arial Unicode MS"/>
                <a:ea typeface="Arial Unicode MS"/>
                <a:cs typeface="Arial Unicode MS"/>
              </a:rPr>
              <a:t>▍這一張要做什麼</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多次回波：一道雷射可能彈回兩次，這在下雨和玻璃前面很關鍵。
</a:t>
            </a:r>
          </a:p>
          <a:p>
            <a:pPr algn="l">
              <a:spcBef>
                <a:spcPts val="0"/>
              </a:spcBef>
              <a:spcAft>
                <a:spcPts val="142"/>
              </a:spcAft>
            </a:pPr>
            <a:r>
              <a:rPr sz="850" b="1" lang="zh-TW" dirty="0">
                <a:solidFill>
                  <a:srgbClr val="000000"/>
                </a:solidFill>
                <a:latin typeface="Arial Unicode MS"/>
                <a:ea typeface="Arial Unicode MS"/>
                <a:cs typeface="Arial Unicode MS"/>
              </a:rPr>
              <a:t>▍畫面上圈這裡</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在圖上圈 # of Returns 的 up to 2，再圈 Return Order 那一行。
</a:t>
            </a:r>
          </a:p>
          <a:p>
            <a:pPr algn="l">
              <a:spcBef>
                <a:spcPts val="0"/>
              </a:spcBef>
              <a:spcAft>
                <a:spcPts val="142"/>
              </a:spcAft>
            </a:pPr>
            <a:r>
              <a:rPr sz="850" b="1" lang="zh-TW" dirty="0">
                <a:solidFill>
                  <a:srgbClr val="000000"/>
                </a:solidFill>
                <a:latin typeface="Arial Unicode MS"/>
                <a:ea typeface="Arial Unicode MS"/>
                <a:cs typeface="Arial Unicode MS"/>
              </a:rPr>
              <a:t>▍以下照著唸</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光達的第三件事是</a:t>
            </a:r>
            <a:r>
              <a:rPr sz="850" b="1" lang="zh-TW" dirty="0">
                <a:solidFill>
                  <a:srgbClr val="000000"/>
                </a:solidFill>
                <a:latin typeface="Arial Unicode MS"/>
                <a:ea typeface="Arial Unicode MS"/>
                <a:cs typeface="Arial Unicode MS"/>
              </a:rPr>
              <a:t>回波次數</a:t>
            </a:r>
            <a:r>
              <a:rPr sz="850" lang="zh-TW" dirty="0">
                <a:solidFill>
                  <a:srgbClr val="000000"/>
                </a:solidFill>
                <a:latin typeface="Arial Unicode MS"/>
                <a:ea typeface="Arial Unicode MS"/>
                <a:cs typeface="Arial Unicode MS"/>
              </a:rPr>
              <a:t>。OS1 的規格表上這一行叫 </a:t>
            </a:r>
            <a:r>
              <a:rPr sz="850" b="1" lang="zh-TW" dirty="0">
                <a:solidFill>
                  <a:srgbClr val="000000"/>
                </a:solidFill>
                <a:latin typeface="Arial Unicode MS"/>
                <a:ea typeface="Arial Unicode MS"/>
                <a:cs typeface="Arial Unicode MS"/>
              </a:rPr>
              <a:t># of Returns</a:t>
            </a:r>
            <a:r>
              <a:rPr sz="850" lang="zh-TW" dirty="0">
                <a:solidFill>
                  <a:srgbClr val="000000"/>
                </a:solidFill>
                <a:latin typeface="Arial Unicode MS"/>
                <a:ea typeface="Arial Unicode MS"/>
                <a:cs typeface="Arial Unicode MS"/>
              </a:rPr>
              <a:t>，寫著 </a:t>
            </a:r>
            <a:r>
              <a:rPr sz="850" b="1" lang="zh-TW" dirty="0">
                <a:solidFill>
                  <a:srgbClr val="000000"/>
                </a:solidFill>
                <a:latin typeface="Arial Unicode MS"/>
                <a:ea typeface="Arial Unicode MS"/>
                <a:cs typeface="Arial Unicode MS"/>
              </a:rPr>
              <a:t>up to 2</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這一行在講什麼？
</a:t>
            </a:r>
          </a:p>
          <a:p>
            <a:pPr algn="l">
              <a:spcBef>
                <a:spcPts val="0"/>
              </a:spcBef>
              <a:spcAft>
                <a:spcPts val="142"/>
              </a:spcAft>
            </a:pPr>
            <a:r>
              <a:rPr sz="850" lang="zh-TW" dirty="0">
                <a:solidFill>
                  <a:srgbClr val="000000"/>
                </a:solidFill>
                <a:latin typeface="Arial Unicode MS"/>
                <a:ea typeface="Arial Unicode MS"/>
                <a:cs typeface="Arial Unicode MS"/>
              </a:rPr>
              <a:t>一道雷射射出去，碰到東西會彈回來。可是如果路上有雨、有霧、有灰塵呢？
</a:t>
            </a:r>
          </a:p>
          <a:p>
            <a:pPr algn="l">
              <a:spcBef>
                <a:spcPts val="0"/>
              </a:spcBef>
              <a:spcAft>
                <a:spcPts val="142"/>
              </a:spcAft>
            </a:pPr>
            <a:r>
              <a:rPr sz="850" lang="zh-TW" dirty="0">
                <a:solidFill>
                  <a:srgbClr val="000000"/>
                </a:solidFill>
                <a:latin typeface="Arial Unicode MS"/>
                <a:ea typeface="Arial Unicode MS"/>
                <a:cs typeface="Arial Unicode MS"/>
              </a:rPr>
              <a:t>那道雷射可能</a:t>
            </a:r>
            <a:r>
              <a:rPr sz="850" b="1" lang="zh-TW" dirty="0">
                <a:solidFill>
                  <a:srgbClr val="000000"/>
                </a:solidFill>
                <a:latin typeface="Arial Unicode MS"/>
                <a:ea typeface="Arial Unicode MS"/>
                <a:cs typeface="Arial Unicode MS"/>
              </a:rPr>
              <a:t>先打到一顆雨滴，彈回來一次</a:t>
            </a:r>
            <a:r>
              <a:rPr sz="850" lang="zh-TW" dirty="0">
                <a:solidFill>
                  <a:srgbClr val="000000"/>
                </a:solidFill>
                <a:latin typeface="Arial Unicode MS"/>
                <a:ea typeface="Arial Unicode MS"/>
                <a:cs typeface="Arial Unicode MS"/>
              </a:rPr>
              <a:t>；穿過去之後，</a:t>
            </a:r>
            <a:r>
              <a:rPr sz="850" b="1" lang="zh-TW" dirty="0">
                <a:solidFill>
                  <a:srgbClr val="000000"/>
                </a:solidFill>
                <a:latin typeface="Arial Unicode MS"/>
                <a:ea typeface="Arial Unicode MS"/>
                <a:cs typeface="Arial Unicode MS"/>
              </a:rPr>
              <a:t>再打到真正的車，又彈回來一次</a:t>
            </a:r>
            <a:r>
              <a:rPr sz="850" lang="zh-TW" dirty="0">
                <a:solidFill>
                  <a:srgbClr val="000000"/>
                </a:solidFill>
                <a:latin typeface="Arial Unicode MS"/>
                <a:ea typeface="Arial Unicode MS"/>
                <a:cs typeface="Arial Unicode MS"/>
              </a:rPr>
              <a:t>。同一道雷射，兩次回波。
</a:t>
            </a:r>
          </a:p>
          <a:p>
            <a:pPr algn="l">
              <a:spcBef>
                <a:spcPts val="0"/>
              </a:spcBef>
              <a:spcAft>
                <a:spcPts val="142"/>
              </a:spcAft>
            </a:pPr>
            <a:r>
              <a:rPr sz="850" lang="zh-TW" dirty="0">
                <a:solidFill>
                  <a:srgbClr val="000000"/>
                </a:solidFill>
                <a:latin typeface="Arial Unicode MS"/>
                <a:ea typeface="Arial Unicode MS"/>
                <a:cs typeface="Arial Unicode MS"/>
              </a:rPr>
              <a:t>如果這顆光達只收</a:t>
            </a:r>
            <a:r>
              <a:rPr sz="850" b="1" lang="zh-TW" dirty="0">
                <a:solidFill>
                  <a:srgbClr val="000000"/>
                </a:solidFill>
                <a:latin typeface="Arial Unicode MS"/>
                <a:ea typeface="Arial Unicode MS"/>
                <a:cs typeface="Arial Unicode MS"/>
              </a:rPr>
              <a:t>第一次</a:t>
            </a:r>
            <a:r>
              <a:rPr sz="850" lang="zh-TW" dirty="0">
                <a:solidFill>
                  <a:srgbClr val="000000"/>
                </a:solidFill>
                <a:latin typeface="Arial Unicode MS"/>
                <a:ea typeface="Arial Unicode MS"/>
                <a:cs typeface="Arial Unicode MS"/>
              </a:rPr>
              <a:t>回波，它會怎麼判斷？它會說：前面兩公尺有東西。可是那只是一顆雨滴。
</a:t>
            </a:r>
          </a:p>
          <a:p>
            <a:pPr algn="l">
              <a:spcBef>
                <a:spcPts val="0"/>
              </a:spcBef>
              <a:spcAft>
                <a:spcPts val="142"/>
              </a:spcAft>
            </a:pPr>
            <a:r>
              <a:rPr sz="850" lang="zh-TW" dirty="0">
                <a:solidFill>
                  <a:srgbClr val="000000"/>
                </a:solidFill>
                <a:latin typeface="Arial Unicode MS"/>
                <a:ea typeface="Arial Unicode MS"/>
                <a:cs typeface="Arial Unicode MS"/>
              </a:rPr>
              <a:t>這就是第三週我們講下雪那一輪的時候，我說的那件事：</a:t>
            </a:r>
            <a:r>
              <a:rPr sz="850" b="1" lang="zh-TW" dirty="0">
                <a:solidFill>
                  <a:srgbClr val="000000"/>
                </a:solidFill>
                <a:latin typeface="Arial Unicode MS"/>
                <a:ea typeface="Arial Unicode MS"/>
                <a:cs typeface="Arial Unicode MS"/>
              </a:rPr>
              <a:t>飄在空中的雪花本身就會反射雷射</a:t>
            </a:r>
            <a:r>
              <a:rPr sz="850" lang="zh-TW" dirty="0">
                <a:solidFill>
                  <a:srgbClr val="000000"/>
                </a:solidFill>
                <a:latin typeface="Arial Unicode MS"/>
                <a:ea typeface="Arial Unicode MS"/>
                <a:cs typeface="Arial Unicode MS"/>
              </a:rPr>
              <a:t>，車子會看到一堆根本不存在的點。
</a:t>
            </a:r>
          </a:p>
          <a:p>
            <a:pPr algn="l">
              <a:spcBef>
                <a:spcPts val="0"/>
              </a:spcBef>
              <a:spcAft>
                <a:spcPts val="142"/>
              </a:spcAft>
            </a:pPr>
            <a:r>
              <a:rPr sz="850" lang="zh-TW" dirty="0">
                <a:solidFill>
                  <a:srgbClr val="000000"/>
                </a:solidFill>
                <a:latin typeface="Arial Unicode MS"/>
                <a:ea typeface="Arial Unicode MS"/>
                <a:cs typeface="Arial Unicode MS"/>
              </a:rPr>
              <a:t>處理的方法就是收</a:t>
            </a:r>
            <a:r>
              <a:rPr sz="850" b="1" lang="zh-TW" dirty="0">
                <a:solidFill>
                  <a:srgbClr val="000000"/>
                </a:solidFill>
                <a:latin typeface="Arial Unicode MS"/>
                <a:ea typeface="Arial Unicode MS"/>
                <a:cs typeface="Arial Unicode MS"/>
              </a:rPr>
              <a:t>多次回波</a:t>
            </a:r>
            <a:r>
              <a:rPr sz="85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spcBef>
                <a:spcPts val="0"/>
              </a:spcBef>
              <a:spcAft>
                <a:spcPts val="142"/>
              </a:spcAft>
            </a:pPr>
            <a:r>
              <a:rPr sz="850" lang="zh-TW" dirty="0">
                <a:solidFill>
                  <a:srgbClr val="000000"/>
                </a:solidFill>
                <a:latin typeface="Arial Unicode MS"/>
                <a:ea typeface="Arial Unicode MS"/>
                <a:cs typeface="Arial Unicode MS"/>
              </a:rPr>
              <a:t>下面那一行叫 </a:t>
            </a:r>
            <a:r>
              <a:rPr sz="850" b="1" lang="zh-TW" dirty="0">
                <a:solidFill>
                  <a:srgbClr val="000000"/>
                </a:solidFill>
                <a:latin typeface="Arial Unicode MS"/>
                <a:ea typeface="Arial Unicode MS"/>
                <a:cs typeface="Arial Unicode MS"/>
              </a:rPr>
              <a:t>Return Order</a:t>
            </a:r>
            <a:r>
              <a:rPr sz="850" lang="zh-TW" dirty="0">
                <a:solidFill>
                  <a:srgbClr val="000000"/>
                </a:solidFill>
                <a:latin typeface="Arial Unicode MS"/>
                <a:ea typeface="Arial Unicode MS"/>
                <a:cs typeface="Arial Unicode MS"/>
              </a:rPr>
              <a:t>，講的是回波要照什麼順序排。OS1 給了三種排法：最強排到最弱、最遠排到最近、最近排到最遠。這是給寫演算法的人挑的。
</a:t>
            </a:r>
          </a:p>
          <a:p>
            <a:pPr algn="l">
              <a:spcBef>
                <a:spcPts val="0"/>
              </a:spcBef>
              <a:spcAft>
                <a:spcPts val="142"/>
              </a:spcAft>
            </a:pPr>
            <a:r>
              <a:rPr sz="850" lang="zh-TW" dirty="0">
                <a:solidFill>
                  <a:srgbClr val="000000"/>
                </a:solidFill>
                <a:latin typeface="Arial Unicode MS"/>
                <a:ea typeface="Arial Unicode MS"/>
                <a:cs typeface="Arial Unicode MS"/>
              </a:rPr>
              <a:t>所以「up to 2 returns」這一行，其實就是在回答：</a:t>
            </a:r>
            <a:r>
              <a:rPr sz="850" b="1" lang="zh-TW" dirty="0">
                <a:solidFill>
                  <a:srgbClr val="000000"/>
                </a:solidFill>
                <a:latin typeface="Arial Unicode MS"/>
                <a:ea typeface="Arial Unicode MS"/>
                <a:cs typeface="Arial Unicode MS"/>
              </a:rPr>
              <a:t>這顆光達在雨天和灰塵裡好不好用。</a:t>
            </a:r>
            <a:r>
              <a:rPr sz="850" lang="zh-TW" dirty="0">
                <a:solidFill>
                  <a:srgbClr val="000000"/>
                </a:solidFill>
                <a:latin typeface="Arial Unicode MS"/>
                <a:ea typeface="Arial Unicode MS"/>
                <a:cs typeface="Arial Unicode MS"/>
              </a:rPr>
              <a:t>
</a:t>
            </a:r>
          </a:p>
          <a:p>
            <a:pPr algn="l">
              <a:spcBef>
                <a:spcPts val="0"/>
              </a:spcBef>
              <a:spcAft>
                <a:spcPts val="142"/>
              </a:spcAft>
            </a:pPr>
            <a:r>
              <a:rPr sz="85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剛剛那一行「最多兩次回波」最常救的不是雨滴，是鏡面。鏡面是光達最難處理的一種表面。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一列一列圈。第一列特別停一下，問他們「下雨的晚上，路面是什麼？」第三列圈「反光背心」，把上一節那個例子收回來。最後四層要在白板上編號一到四，學生要數得出來。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剛剛那一行「最多兩次回波」，我說是為了雨和灰塵。其實它最常救的，是另一種東西——</a:t>
            </a:r>
            <a:r>
              <a:rPr sz="800" b="1" lang="zh-TW" dirty="0">
                <a:solidFill>
                  <a:srgbClr val="000000"/>
                </a:solidFill>
                <a:latin typeface="Arial Unicode MS"/>
                <a:ea typeface="Arial Unicode MS"/>
                <a:cs typeface="Arial Unicode MS"/>
              </a:rPr>
              <a:t>鏡面</a:t>
            </a:r>
            <a:r>
              <a:rPr sz="800" lang="zh-TW" dirty="0">
                <a:solidFill>
                  <a:srgbClr val="000000"/>
                </a:solidFill>
                <a:latin typeface="Arial Unicode MS"/>
                <a:ea typeface="Arial Unicode MS"/>
                <a:cs typeface="Arial Unicode MS"/>
              </a:rPr>
              <a:t>。光達的前提很簡單：打出去的光，會從對面</a:t>
            </a:r>
            <a:r>
              <a:rPr sz="800" b="1" lang="zh-TW" dirty="0">
                <a:solidFill>
                  <a:srgbClr val="000000"/>
                </a:solidFill>
                <a:latin typeface="Arial Unicode MS"/>
                <a:ea typeface="Arial Unicode MS"/>
                <a:cs typeface="Arial Unicode MS"/>
              </a:rPr>
              <a:t>散一點</a:t>
            </a:r>
            <a:r>
              <a:rPr sz="800" lang="zh-TW" dirty="0">
                <a:solidFill>
                  <a:srgbClr val="000000"/>
                </a:solidFill>
                <a:latin typeface="Arial Unicode MS"/>
                <a:ea typeface="Arial Unicode MS"/>
                <a:cs typeface="Arial Unicode MS"/>
              </a:rPr>
              <a:t>回來。上一節講的 80% 和 10%，都是在講「散回來多少」。表上這三列的共同點，就是</a:t>
            </a:r>
            <a:r>
              <a:rPr sz="800" b="1" lang="zh-TW" dirty="0">
                <a:solidFill>
                  <a:srgbClr val="000000"/>
                </a:solidFill>
                <a:latin typeface="Arial Unicode MS"/>
                <a:ea typeface="Arial Unicode MS"/>
                <a:cs typeface="Arial Unicode MS"/>
              </a:rPr>
              <a:t>這個前提不成立</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但三列不是三種鏡面。</a:t>
            </a:r>
            <a:r>
              <a:rPr sz="800" b="1" lang="zh-TW" dirty="0">
                <a:solidFill>
                  <a:srgbClr val="000000"/>
                </a:solidFill>
                <a:latin typeface="Arial Unicode MS"/>
                <a:ea typeface="Arial Unicode MS"/>
                <a:cs typeface="Arial Unicode MS"/>
              </a:rPr>
              <a:t>前兩列是同一種表面——鏡面，差在幾何</a:t>
            </a:r>
            <a:r>
              <a:rPr sz="800" lang="zh-TW" dirty="0">
                <a:solidFill>
                  <a:srgbClr val="000000"/>
                </a:solidFill>
                <a:latin typeface="Arial Unicode MS"/>
                <a:ea typeface="Arial Unicode MS"/>
                <a:cs typeface="Arial Unicode MS"/>
              </a:rPr>
              <a:t>：彈出去的方向什麼都沒有就什麼都收不到，那個方向剛好有東西就收到一個鬼點。</a:t>
            </a:r>
            <a:r>
              <a:rPr sz="800" b="1" lang="zh-TW" dirty="0">
                <a:solidFill>
                  <a:srgbClr val="000000"/>
                </a:solidFill>
                <a:latin typeface="Arial Unicode MS"/>
                <a:ea typeface="Arial Unicode MS"/>
                <a:cs typeface="Arial Unicode MS"/>
              </a:rPr>
              <a:t>第三列根本不是鏡面</a:t>
            </a:r>
            <a:r>
              <a:rPr sz="800" lang="zh-TW" dirty="0">
                <a:solidFill>
                  <a:srgbClr val="000000"/>
                </a:solidFill>
                <a:latin typeface="Arial Unicode MS"/>
                <a:ea typeface="Arial Unicode MS"/>
                <a:cs typeface="Arial Unicode MS"/>
              </a:rPr>
              <a:t>，是</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——鏡面守「入射角等於反射角」，回歸反射不守，不管從哪個角度打都原路送回去。
</a:t>
            </a:r>
          </a:p>
          <a:p>
            <a:pPr algn="l">
              <a:spcBef>
                <a:spcPts val="0"/>
              </a:spcBef>
              <a:spcAft>
                <a:spcPts val="133"/>
              </a:spcAft>
            </a:pPr>
            <a:r>
              <a:rPr sz="800" lang="zh-TW" dirty="0">
                <a:solidFill>
                  <a:srgbClr val="000000"/>
                </a:solidFill>
                <a:latin typeface="Arial Unicode MS"/>
                <a:ea typeface="Arial Unicode MS"/>
                <a:cs typeface="Arial Unicode MS"/>
              </a:rPr>
              <a:t>所以第一種狀況是：</a:t>
            </a:r>
            <a:r>
              <a:rPr sz="800" b="1" lang="zh-TW" dirty="0">
                <a:solidFill>
                  <a:srgbClr val="000000"/>
                </a:solidFill>
                <a:latin typeface="Arial Unicode MS"/>
                <a:ea typeface="Arial Unicode MS"/>
                <a:cs typeface="Arial Unicode MS"/>
              </a:rPr>
              <a:t>什麼都收不到。</a:t>
            </a:r>
            <a:r>
              <a:rPr sz="800" lang="zh-TW" dirty="0">
                <a:solidFill>
                  <a:srgbClr val="000000"/>
                </a:solidFill>
                <a:latin typeface="Arial Unicode MS"/>
                <a:ea typeface="Arial Unicode MS"/>
                <a:cs typeface="Arial Unicode MS"/>
              </a:rPr>
              <a:t>雷射斜斜打到玻璃帷幕、打到鍍鉻保險桿，整束彈走，那一塊在點雲上就是一個洞。</a:t>
            </a:r>
            <a:r>
              <a:rPr sz="800" b="1" lang="zh-TW" dirty="0">
                <a:solidFill>
                  <a:srgbClr val="000000"/>
                </a:solidFill>
                <a:latin typeface="Arial Unicode MS"/>
                <a:ea typeface="Arial Unicode MS"/>
                <a:cs typeface="Arial Unicode MS"/>
              </a:rPr>
              <a:t>對車子來說，洞就等於「那裡是空的」</a:t>
            </a:r>
            <a:r>
              <a:rPr sz="800" lang="zh-TW" dirty="0">
                <a:solidFill>
                  <a:srgbClr val="000000"/>
                </a:solidFill>
                <a:latin typeface="Arial Unicode MS"/>
                <a:ea typeface="Arial Unicode MS"/>
                <a:cs typeface="Arial Unicode MS"/>
              </a:rPr>
              <a:t>，規劃路徑時可能把它當成可以走的空間。
</a:t>
            </a:r>
          </a:p>
          <a:p>
            <a:pPr algn="l">
              <a:spcBef>
                <a:spcPts val="0"/>
              </a:spcBef>
              <a:spcAft>
                <a:spcPts val="133"/>
              </a:spcAft>
            </a:pPr>
            <a:r>
              <a:rPr sz="800" lang="zh-TW" dirty="0">
                <a:solidFill>
                  <a:srgbClr val="000000"/>
                </a:solidFill>
                <a:latin typeface="Arial Unicode MS"/>
                <a:ea typeface="Arial Unicode MS"/>
                <a:cs typeface="Arial Unicode MS"/>
              </a:rPr>
              <a:t>這裡特別想一件事：</a:t>
            </a:r>
            <a:r>
              <a:rPr sz="800" b="1" lang="zh-TW" dirty="0">
                <a:solidFill>
                  <a:srgbClr val="000000"/>
                </a:solidFill>
                <a:latin typeface="Arial Unicode MS"/>
                <a:ea typeface="Arial Unicode MS"/>
                <a:cs typeface="Arial Unicode MS"/>
              </a:rPr>
              <a:t>下雨的晚上，路面是什麼？</a:t>
            </a:r>
            <a:r>
              <a:rPr sz="800" lang="zh-TW" dirty="0">
                <a:solidFill>
                  <a:srgbClr val="000000"/>
                </a:solidFill>
                <a:latin typeface="Arial Unicode MS"/>
                <a:ea typeface="Arial Unicode MS"/>
                <a:cs typeface="Arial Unicode MS"/>
              </a:rPr>
              <a:t>水膜把粗糙的柏油變成一面鏡子，所以雨夜的路面在點雲上常常是破的，連車道邊界都量不到。這不是感測器壞了，是物理。</a:t>
            </a:r>
            <a:r>
              <a:rPr sz="800" b="1" lang="zh-TW" dirty="0">
                <a:solidFill>
                  <a:srgbClr val="000000"/>
                </a:solidFill>
                <a:latin typeface="Arial Unicode MS"/>
                <a:ea typeface="Arial Unicode MS"/>
                <a:cs typeface="Arial Unicode MS"/>
              </a:rPr>
              <a:t>邊界量不到，循跡就只能靠相機</a:t>
            </a:r>
            <a:r>
              <a:rPr sz="800" lang="zh-TW" dirty="0">
                <a:solidFill>
                  <a:srgbClr val="000000"/>
                </a:solidFill>
                <a:latin typeface="Arial Unicode MS"/>
                <a:ea typeface="Arial Unicode MS"/>
                <a:cs typeface="Arial Unicode MS"/>
              </a:rPr>
              <a:t>——可是雨夜正好也是相機最弱的時候。
</a:t>
            </a:r>
          </a:p>
          <a:p>
            <a:pPr algn="l">
              <a:spcBef>
                <a:spcPts val="0"/>
              </a:spcBef>
              <a:spcAft>
                <a:spcPts val="133"/>
              </a:spcAft>
            </a:pPr>
            <a:r>
              <a:rPr sz="800" lang="zh-TW" dirty="0">
                <a:solidFill>
                  <a:srgbClr val="000000"/>
                </a:solidFill>
                <a:latin typeface="Arial Unicode MS"/>
                <a:ea typeface="Arial Unicode MS"/>
                <a:cs typeface="Arial Unicode MS"/>
              </a:rPr>
              <a:t>第二種更麻煩：光束打到鏡面，</a:t>
            </a:r>
            <a:r>
              <a:rPr sz="800" b="1" lang="zh-TW" dirty="0">
                <a:solidFill>
                  <a:srgbClr val="000000"/>
                </a:solidFill>
                <a:latin typeface="Arial Unicode MS"/>
                <a:ea typeface="Arial Unicode MS"/>
                <a:cs typeface="Arial Unicode MS"/>
              </a:rPr>
              <a:t>彈到旁邊的真東西，再原路回來</a:t>
            </a:r>
            <a:r>
              <a:rPr sz="800" lang="zh-TW" dirty="0">
                <a:solidFill>
                  <a:srgbClr val="000000"/>
                </a:solidFill>
                <a:latin typeface="Arial Unicode MS"/>
                <a:ea typeface="Arial Unicode MS"/>
                <a:cs typeface="Arial Unicode MS"/>
              </a:rPr>
              <a:t>。光達只知道來回飛了多久，於是把那個東西標在鏡子後面。玻璃帷幕大樓旁邊，點雲上會憑空長出一整排不存在的車，這叫</a:t>
            </a:r>
            <a:r>
              <a:rPr sz="800" b="1" lang="zh-TW" dirty="0">
                <a:solidFill>
                  <a:srgbClr val="000000"/>
                </a:solidFill>
                <a:latin typeface="Arial Unicode MS"/>
                <a:ea typeface="Arial Unicode MS"/>
                <a:cs typeface="Arial Unicode MS"/>
              </a:rPr>
              <a:t>鬼點</a:t>
            </a:r>
            <a:r>
              <a:rPr sz="800" lang="zh-TW" dirty="0">
                <a:solidFill>
                  <a:srgbClr val="000000"/>
                </a:solidFill>
                <a:latin typeface="Arial Unicode MS"/>
                <a:ea typeface="Arial Unicode MS"/>
                <a:cs typeface="Arial Unicode MS"/>
              </a:rPr>
              <a:t>。二〇二五年有研究把鏡子貼在三角錐上，就讓自駕車對著不存在的東西急煞。
</a:t>
            </a:r>
          </a:p>
          <a:p>
            <a:pPr algn="l">
              <a:spcBef>
                <a:spcPts val="0"/>
              </a:spcBef>
              <a:spcAft>
                <a:spcPts val="133"/>
              </a:spcAft>
            </a:pPr>
            <a:r>
              <a:rPr sz="800" lang="zh-TW" dirty="0">
                <a:solidFill>
                  <a:srgbClr val="000000"/>
                </a:solidFill>
                <a:latin typeface="Arial Unicode MS"/>
                <a:ea typeface="Arial Unicode MS"/>
                <a:cs typeface="Arial Unicode MS"/>
              </a:rPr>
              <a:t>第三種各位上一節聽過：</a:t>
            </a:r>
            <a:r>
              <a:rPr sz="800" b="1" lang="zh-TW" dirty="0">
                <a:solidFill>
                  <a:srgbClr val="000000"/>
                </a:solidFill>
                <a:latin typeface="Arial Unicode MS"/>
                <a:ea typeface="Arial Unicode MS"/>
                <a:cs typeface="Arial Unicode MS"/>
              </a:rPr>
              <a:t>回歸反射</a:t>
            </a:r>
            <a:r>
              <a:rPr sz="800" lang="zh-TW" dirty="0">
                <a:solidFill>
                  <a:srgbClr val="000000"/>
                </a:solidFill>
                <a:latin typeface="Arial Unicode MS"/>
                <a:ea typeface="Arial Unicode MS"/>
                <a:cs typeface="Arial Unicode MS"/>
              </a:rPr>
              <a:t>。反光背心和路牌把光原路送回來，亮到爆表，在點雲上糊成一團光暈。</a:t>
            </a:r>
            <a:r>
              <a:rPr sz="800" b="1" lang="zh-TW" dirty="0">
                <a:solidFill>
                  <a:srgbClr val="000000"/>
                </a:solidFill>
                <a:latin typeface="Arial Unicode MS"/>
                <a:ea typeface="Arial Unicode MS"/>
                <a:cs typeface="Arial Unicode MS"/>
              </a:rPr>
              <a:t>對車子來說那是一個形狀不明的東西</a:t>
            </a:r>
            <a:r>
              <a:rPr sz="800" lang="zh-TW" dirty="0">
                <a:solidFill>
                  <a:srgbClr val="000000"/>
                </a:solidFill>
                <a:latin typeface="Arial Unicode MS"/>
                <a:ea typeface="Arial Unicode MS"/>
                <a:cs typeface="Arial Unicode MS"/>
              </a:rPr>
              <a:t>——穿反光背心的交管人員可能糊成一塊亮斑，演算法認不出那是人。所以上一節我才把反光背心從 80% 那一格拿掉。
</a:t>
            </a:r>
          </a:p>
          <a:p>
            <a:pPr algn="l">
              <a:spcBef>
                <a:spcPts val="0"/>
              </a:spcBef>
              <a:spcAft>
                <a:spcPts val="133"/>
              </a:spcAft>
            </a:pPr>
            <a:r>
              <a:rPr sz="800" lang="zh-TW" dirty="0">
                <a:solidFill>
                  <a:srgbClr val="000000"/>
                </a:solidFill>
                <a:latin typeface="Arial Unicode MS"/>
                <a:ea typeface="Arial Unicode MS"/>
                <a:cs typeface="Arial Unicode MS"/>
              </a:rPr>
              <a:t>那怎麼辦？請看最右邊那一欄。</a:t>
            </a:r>
            <a:r>
              <a:rPr sz="800" b="1" lang="zh-TW" dirty="0">
                <a:solidFill>
                  <a:srgbClr val="000000"/>
                </a:solidFill>
                <a:latin typeface="Arial Unicode MS"/>
                <a:ea typeface="Arial Unicode MS"/>
                <a:cs typeface="Arial Unicode MS"/>
              </a:rPr>
              <a:t>沒有一招擋得住全部，而且每一招救的是不同的那一種。</a:t>
            </a:r>
            <a:r>
              <a:rPr sz="800" lang="zh-TW" dirty="0">
                <a:solidFill>
                  <a:srgbClr val="000000"/>
                </a:solidFill>
                <a:latin typeface="Arial Unicode MS"/>
                <a:ea typeface="Arial Unicode MS"/>
                <a:cs typeface="Arial Unicode MS"/>
              </a:rPr>
              <a:t>四層，各位數一下，順便對照表上同一列。
</a:t>
            </a:r>
          </a:p>
          <a:p>
            <a:pPr algn="l">
              <a:spcBef>
                <a:spcPts val="0"/>
              </a:spcBef>
              <a:spcAft>
                <a:spcPts val="133"/>
              </a:spcAft>
            </a:pPr>
            <a:r>
              <a:rPr sz="800" b="1" lang="zh-TW" dirty="0">
                <a:solidFill>
                  <a:srgbClr val="000000"/>
                </a:solidFill>
                <a:latin typeface="Arial Unicode MS"/>
                <a:ea typeface="Arial Unicode MS"/>
                <a:cs typeface="Arial Unicode MS"/>
              </a:rPr>
              <a:t>第一層，多次回波。</a:t>
            </a:r>
            <a:r>
              <a:rPr sz="800" lang="zh-TW" dirty="0">
                <a:solidFill>
                  <a:srgbClr val="000000"/>
                </a:solidFill>
                <a:latin typeface="Arial Unicode MS"/>
                <a:ea typeface="Arial Unicode MS"/>
                <a:cs typeface="Arial Unicode MS"/>
              </a:rPr>
              <a:t>救的是</a:t>
            </a:r>
            <a:r>
              <a:rPr sz="800" b="1" lang="zh-TW" dirty="0">
                <a:solidFill>
                  <a:srgbClr val="000000"/>
                </a:solidFill>
                <a:latin typeface="Arial Unicode MS"/>
                <a:ea typeface="Arial Unicode MS"/>
                <a:cs typeface="Arial Unicode MS"/>
              </a:rPr>
              <a:t>第二種，鬼點</a:t>
            </a:r>
            <a:r>
              <a:rPr sz="800" lang="zh-TW" dirty="0">
                <a:solidFill>
                  <a:srgbClr val="000000"/>
                </a:solidFill>
                <a:latin typeface="Arial Unicode MS"/>
                <a:ea typeface="Arial Unicode MS"/>
                <a:cs typeface="Arial Unicode MS"/>
              </a:rPr>
              <a:t>：玻璃本身回來一點點，被彈到旁邊再回來的是另一個，兩個都收下來，再比對前後幾張，不會穩定移動的就是鬼點。注意，</a:t>
            </a:r>
            <a:r>
              <a:rPr sz="800" b="1" lang="zh-TW" dirty="0">
                <a:solidFill>
                  <a:srgbClr val="000000"/>
                </a:solidFill>
                <a:latin typeface="Arial Unicode MS"/>
                <a:ea typeface="Arial Unicode MS"/>
                <a:cs typeface="Arial Unicode MS"/>
              </a:rPr>
              <a:t>多次回波對第一種沒有用</a:t>
            </a:r>
            <a:r>
              <a:rPr sz="800" lang="zh-TW" dirty="0">
                <a:solidFill>
                  <a:srgbClr val="000000"/>
                </a:solidFill>
                <a:latin typeface="Arial Unicode MS"/>
                <a:ea typeface="Arial Unicode MS"/>
                <a:cs typeface="Arial Unicode MS"/>
              </a:rPr>
              <a:t>——那一種根本沒有光回來，要收什麼？
</a:t>
            </a:r>
          </a:p>
          <a:p>
            <a:pPr algn="l">
              <a:spcBef>
                <a:spcPts val="0"/>
              </a:spcBef>
              <a:spcAft>
                <a:spcPts val="133"/>
              </a:spcAft>
            </a:pPr>
            <a:r>
              <a:rPr sz="800" b="1" lang="zh-TW" dirty="0">
                <a:solidFill>
                  <a:srgbClr val="000000"/>
                </a:solidFill>
                <a:latin typeface="Arial Unicode MS"/>
                <a:ea typeface="Arial Unicode MS"/>
                <a:cs typeface="Arial Unicode MS"/>
              </a:rPr>
              <a:t>第二層，看反射強度。</a:t>
            </a:r>
            <a:r>
              <a:rPr sz="800" lang="zh-TW" dirty="0">
                <a:solidFill>
                  <a:srgbClr val="000000"/>
                </a:solidFill>
                <a:latin typeface="Arial Unicode MS"/>
                <a:ea typeface="Arial Unicode MS"/>
                <a:cs typeface="Arial Unicode MS"/>
              </a:rPr>
              <a:t>它救的是</a:t>
            </a:r>
            <a:r>
              <a:rPr sz="800" b="1" lang="zh-TW" dirty="0">
                <a:solidFill>
                  <a:srgbClr val="000000"/>
                </a:solidFill>
                <a:latin typeface="Arial Unicode MS"/>
                <a:ea typeface="Arial Unicode MS"/>
                <a:cs typeface="Arial Unicode MS"/>
              </a:rPr>
              <a:t>第三種，回歸反射</a:t>
            </a:r>
            <a:r>
              <a:rPr sz="800" lang="zh-TW" dirty="0">
                <a:solidFill>
                  <a:srgbClr val="000000"/>
                </a:solidFill>
                <a:latin typeface="Arial Unicode MS"/>
                <a:ea typeface="Arial Unicode MS"/>
                <a:cs typeface="Arial Unicode MS"/>
              </a:rPr>
              <a:t>。反光背心那種亮到爆表的，用強度一看就知道和漫反射不是同一類。順帶一提，強度異常地弱也是警訊。
</a:t>
            </a:r>
          </a:p>
          <a:p>
            <a:pPr algn="l">
              <a:spcBef>
                <a:spcPts val="0"/>
              </a:spcBef>
              <a:spcAft>
                <a:spcPts val="133"/>
              </a:spcAft>
            </a:pPr>
            <a:r>
              <a:rPr sz="800" b="1" lang="zh-TW" dirty="0">
                <a:solidFill>
                  <a:srgbClr val="000000"/>
                </a:solidFill>
                <a:latin typeface="Arial Unicode MS"/>
                <a:ea typeface="Arial Unicode MS"/>
                <a:cs typeface="Arial Unicode MS"/>
              </a:rPr>
              <a:t>第三層，高精地圖。</a:t>
            </a:r>
            <a:r>
              <a:rPr sz="800" lang="zh-TW" dirty="0">
                <a:solidFill>
                  <a:srgbClr val="000000"/>
                </a:solidFill>
                <a:latin typeface="Arial Unicode MS"/>
                <a:ea typeface="Arial Unicode MS"/>
                <a:cs typeface="Arial Unicode MS"/>
              </a:rPr>
              <a:t>哪裡有玻璃帷幕、哪個路口容易積水，事先標成風險區，開到那裡就把光達的權重調低。這一層</a:t>
            </a:r>
            <a:r>
              <a:rPr sz="800" b="1" lang="zh-TW" dirty="0">
                <a:solidFill>
                  <a:srgbClr val="000000"/>
                </a:solidFill>
                <a:latin typeface="Arial Unicode MS"/>
                <a:ea typeface="Arial Unicode MS"/>
                <a:cs typeface="Arial Unicode MS"/>
              </a:rPr>
              <a:t>三種都幫得上</a:t>
            </a:r>
            <a:r>
              <a:rPr sz="800" lang="zh-TW" dirty="0">
                <a:solidFill>
                  <a:srgbClr val="000000"/>
                </a:solidFill>
                <a:latin typeface="Arial Unicode MS"/>
                <a:ea typeface="Arial Unicode MS"/>
                <a:cs typeface="Arial Unicode MS"/>
              </a:rPr>
              <a:t>，因為它做的是「事先知道這裡危險」。
</a:t>
            </a:r>
          </a:p>
          <a:p>
            <a:pPr algn="l">
              <a:spcBef>
                <a:spcPts val="0"/>
              </a:spcBef>
              <a:spcAft>
                <a:spcPts val="133"/>
              </a:spcAft>
            </a:pPr>
            <a:r>
              <a:rPr sz="800" b="1" lang="zh-TW" dirty="0">
                <a:solidFill>
                  <a:srgbClr val="000000"/>
                </a:solidFill>
                <a:latin typeface="Arial Unicode MS"/>
                <a:ea typeface="Arial Unicode MS"/>
                <a:cs typeface="Arial Unicode MS"/>
              </a:rPr>
              <a:t>第四層，也是最重要的——雷達。</a:t>
            </a:r>
            <a:r>
              <a:rPr sz="800" lang="zh-TW" dirty="0">
                <a:solidFill>
                  <a:srgbClr val="000000"/>
                </a:solidFill>
                <a:latin typeface="Arial Unicode MS"/>
                <a:ea typeface="Arial Unicode MS"/>
                <a:cs typeface="Arial Unicode MS"/>
              </a:rPr>
              <a:t>它救的正是</a:t>
            </a:r>
            <a:r>
              <a:rPr sz="800" b="1" lang="zh-TW" dirty="0">
                <a:solidFill>
                  <a:srgbClr val="000000"/>
                </a:solidFill>
                <a:latin typeface="Arial Unicode MS"/>
                <a:ea typeface="Arial Unicode MS"/>
                <a:cs typeface="Arial Unicode MS"/>
              </a:rPr>
              <a:t>第一種：什麼都收不到</a:t>
            </a:r>
            <a:r>
              <a:rPr sz="800" lang="zh-TW" dirty="0">
                <a:solidFill>
                  <a:srgbClr val="000000"/>
                </a:solidFill>
                <a:latin typeface="Arial Unicode MS"/>
                <a:ea typeface="Arial Unicode MS"/>
                <a:cs typeface="Arial Unicode MS"/>
              </a:rPr>
              <a:t>。毫米波碰到鏡面的行為跟雷射完全不一樣，光達是洞的那一塊，雷達常常還看得到。
</a:t>
            </a:r>
          </a:p>
          <a:p>
            <a:pPr algn="l">
              <a:spcBef>
                <a:spcPts val="0"/>
              </a:spcBef>
              <a:spcAft>
                <a:spcPts val="133"/>
              </a:spcAft>
            </a:pPr>
            <a:r>
              <a:rPr sz="800" lang="zh-TW" dirty="0">
                <a:solidFill>
                  <a:srgbClr val="000000"/>
                </a:solidFill>
                <a:latin typeface="Arial Unicode MS"/>
                <a:ea typeface="Arial Unicode MS"/>
                <a:cs typeface="Arial Unicode MS"/>
              </a:rPr>
              <a:t>所以這張的結論，其實就是下一段要講的事：</a:t>
            </a:r>
            <a:r>
              <a:rPr sz="800" b="1" lang="zh-TW" dirty="0">
                <a:solidFill>
                  <a:srgbClr val="000000"/>
                </a:solidFill>
                <a:latin typeface="Arial Unicode MS"/>
                <a:ea typeface="Arial Unicode MS"/>
                <a:cs typeface="Arial Unicode MS"/>
              </a:rPr>
              <a:t>選感測器不是挑最強的那一顆，是湊一組弱點不一樣的。</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三分鐘的小練習，讓學生自己把每秒點數換算成角度。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圈題目指定的第②個小工具。巡堂確認每個人都真的按過一次。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這裡停三分鐘，讓大家動手算一次。
</a:t>
            </a:r>
          </a:p>
          <a:p>
            <a:pPr algn="l">
              <a:spcBef>
                <a:spcPts val="0"/>
              </a:spcBef>
              <a:spcAft>
                <a:spcPts val="133"/>
              </a:spcAft>
            </a:pPr>
            <a:r>
              <a:rPr sz="800" lang="zh-TW" dirty="0">
                <a:solidFill>
                  <a:srgbClr val="000000"/>
                </a:solidFill>
                <a:latin typeface="Arial Unicode MS"/>
                <a:ea typeface="Arial Unicode MS"/>
                <a:cs typeface="Arial Unicode MS"/>
              </a:rPr>
              <a:t>請打開規格判讀台，找第二個小工具，「每秒點數 ↔ 角解析度」。
</a:t>
            </a:r>
          </a:p>
          <a:p>
            <a:pPr algn="l">
              <a:spcBef>
                <a:spcPts val="0"/>
              </a:spcBef>
              <a:spcAft>
                <a:spcPts val="133"/>
              </a:spcAft>
            </a:pPr>
            <a:r>
              <a:rPr sz="800" lang="zh-TW" dirty="0">
                <a:solidFill>
                  <a:srgbClr val="000000"/>
                </a:solidFill>
                <a:latin typeface="Arial Unicode MS"/>
                <a:ea typeface="Arial Unicode MS"/>
                <a:cs typeface="Arial Unicode MS"/>
              </a:rPr>
              <a:t>請把三個滑桿設成：</a:t>
            </a:r>
            <a:r>
              <a:rPr sz="800" b="1" lang="zh-TW" dirty="0">
                <a:solidFill>
                  <a:srgbClr val="000000"/>
                </a:solidFill>
                <a:latin typeface="Arial Unicode MS"/>
                <a:ea typeface="Arial Unicode MS"/>
                <a:cs typeface="Arial Unicode MS"/>
              </a:rPr>
              <a:t>64 線、每圈 1024 點、10 赫茲</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現在看它算出來的每秒點數。六十四乘一千零二十四乘十，等於</a:t>
            </a:r>
            <a:r>
              <a:rPr sz="800" b="1" lang="zh-TW" dirty="0">
                <a:solidFill>
                  <a:srgbClr val="000000"/>
                </a:solidFill>
                <a:latin typeface="Arial Unicode MS"/>
                <a:ea typeface="Arial Unicode MS"/>
                <a:cs typeface="Arial Unicode MS"/>
              </a:rPr>
              <a:t>六十五萬五千三百六十</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規格表上的廠商最喜歡寫這個數字，因為它看起來很大、很厲害。可是這個數字</a:t>
            </a:r>
            <a:r>
              <a:rPr sz="800" b="1" lang="zh-TW" dirty="0">
                <a:solidFill>
                  <a:srgbClr val="000000"/>
                </a:solidFill>
                <a:latin typeface="Arial Unicode MS"/>
                <a:ea typeface="Arial Unicode MS"/>
                <a:cs typeface="Arial Unicode MS"/>
              </a:rPr>
              <a:t>不能直接拿來用</a:t>
            </a:r>
            <a:r>
              <a:rPr sz="800" lang="zh-TW" dirty="0">
                <a:solidFill>
                  <a:srgbClr val="000000"/>
                </a:solidFill>
                <a:latin typeface="Arial Unicode MS"/>
                <a:ea typeface="Arial Unicode MS"/>
                <a:cs typeface="Arial Unicode MS"/>
              </a:rPr>
              <a:t>，它沒有辦法告訴你「四十公尺外的人身上有幾個點」。
</a:t>
            </a:r>
          </a:p>
          <a:p>
            <a:pPr algn="l">
              <a:spcBef>
                <a:spcPts val="0"/>
              </a:spcBef>
              <a:spcAft>
                <a:spcPts val="133"/>
              </a:spcAft>
            </a:pPr>
            <a:r>
              <a:rPr sz="800" lang="zh-TW" dirty="0">
                <a:solidFill>
                  <a:srgbClr val="000000"/>
                </a:solidFill>
                <a:latin typeface="Arial Unicode MS"/>
                <a:ea typeface="Arial Unicode MS"/>
                <a:cs typeface="Arial Unicode MS"/>
              </a:rPr>
              <a:t>要回答那個問題，必須先換成角度。三百六十度除以每圈一千零二十四個點，等於</a:t>
            </a:r>
            <a:r>
              <a:rPr sz="800" b="1" lang="zh-TW" dirty="0">
                <a:solidFill>
                  <a:srgbClr val="000000"/>
                </a:solidFill>
                <a:latin typeface="Arial Unicode MS"/>
                <a:ea typeface="Arial Unicode MS"/>
                <a:cs typeface="Arial Unicode MS"/>
              </a:rPr>
              <a:t>零點三五度</a:t>
            </a:r>
            <a:r>
              <a:rPr sz="800" lang="zh-TW" dirty="0">
                <a:solidFill>
                  <a:srgbClr val="000000"/>
                </a:solidFill>
                <a:latin typeface="Arial Unicode MS"/>
                <a:ea typeface="Arial Unicode MS"/>
                <a:cs typeface="Arial Unicode MS"/>
              </a:rPr>
              <a:t>。工具上就寫著這個數字。
</a:t>
            </a:r>
          </a:p>
          <a:p>
            <a:pPr algn="l">
              <a:spcBef>
                <a:spcPts val="0"/>
              </a:spcBef>
              <a:spcAft>
                <a:spcPts val="133"/>
              </a:spcAft>
            </a:pPr>
            <a:r>
              <a:rPr sz="800" lang="zh-TW" dirty="0">
                <a:solidFill>
                  <a:srgbClr val="000000"/>
                </a:solidFill>
                <a:latin typeface="Arial Unicode MS"/>
                <a:ea typeface="Arial Unicode MS"/>
                <a:cs typeface="Arial Unicode MS"/>
              </a:rPr>
              <a:t>再往下一行：零點三五度在四十公尺處，張開</a:t>
            </a:r>
            <a:r>
              <a:rPr sz="800" b="1" lang="zh-TW" dirty="0">
                <a:solidFill>
                  <a:srgbClr val="000000"/>
                </a:solidFill>
                <a:latin typeface="Arial Unicode MS"/>
                <a:ea typeface="Arial Unicode MS"/>
                <a:cs typeface="Arial Unicode MS"/>
              </a:rPr>
              <a:t>零點二五公尺</a:t>
            </a:r>
            <a:r>
              <a:rPr sz="8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spcBef>
                <a:spcPts val="0"/>
              </a:spcBef>
              <a:spcAft>
                <a:spcPts val="133"/>
              </a:spcAft>
            </a:pPr>
            <a:r>
              <a:rPr sz="800" lang="zh-TW" dirty="0">
                <a:solidFill>
                  <a:srgbClr val="000000"/>
                </a:solidFill>
                <a:latin typeface="Arial Unicode MS"/>
                <a:ea typeface="Arial Unicode MS"/>
                <a:cs typeface="Arial Unicode MS"/>
              </a:rPr>
              <a:t>滑桿下面還有一張圖：</a:t>
            </a:r>
            <a:r>
              <a:rPr sz="800" b="1" lang="zh-TW" dirty="0">
                <a:solidFill>
                  <a:srgbClr val="000000"/>
                </a:solidFill>
                <a:latin typeface="Arial Unicode MS"/>
                <a:ea typeface="Arial Unicode MS"/>
                <a:cs typeface="Arial Unicode MS"/>
              </a:rPr>
              <a:t>四十公尺外那台機車，落到幾個點</a:t>
            </a:r>
            <a:r>
              <a:rPr sz="800" lang="zh-TW" dirty="0">
                <a:solidFill>
                  <a:srgbClr val="000000"/>
                </a:solidFill>
                <a:latin typeface="Arial Unicode MS"/>
                <a:ea typeface="Arial Unicode MS"/>
                <a:cs typeface="Arial Unicode MS"/>
              </a:rPr>
              <a:t>。現在上面寫著 </a:t>
            </a:r>
            <a:r>
              <a:rPr sz="800" b="1" lang="zh-TW" dirty="0">
                <a:solidFill>
                  <a:srgbClr val="000000"/>
                </a:solidFill>
                <a:latin typeface="Arial Unicode MS"/>
                <a:ea typeface="Arial Unicode MS"/>
                <a:cs typeface="Arial Unicode MS"/>
              </a:rPr>
              <a:t>9 個點</a:t>
            </a:r>
            <a:r>
              <a:rPr sz="800" lang="zh-TW" dirty="0">
                <a:solidFill>
                  <a:srgbClr val="000000"/>
                </a:solidFill>
                <a:latin typeface="Arial Unicode MS"/>
                <a:ea typeface="Arial Unicode MS"/>
                <a:cs typeface="Arial Unicode MS"/>
              </a:rPr>
              <a:t>——這就是第一節第六張那張表裡，OS1 那一欄的九。第一節說過本課的門檻是</a:t>
            </a:r>
            <a:r>
              <a:rPr sz="800" b="1" lang="zh-TW" dirty="0">
                <a:solidFill>
                  <a:srgbClr val="000000"/>
                </a:solidFill>
                <a:latin typeface="Arial Unicode MS"/>
                <a:ea typeface="Arial Unicode MS"/>
                <a:cs typeface="Arial Unicode MS"/>
              </a:rPr>
              <a:t>十個點</a:t>
            </a:r>
            <a:r>
              <a:rPr sz="800" lang="zh-TW" dirty="0">
                <a:solidFill>
                  <a:srgbClr val="000000"/>
                </a:solidFill>
                <a:latin typeface="Arial Unicode MS"/>
                <a:ea typeface="Arial Unicode MS"/>
                <a:cs typeface="Arial Unicode MS"/>
              </a:rPr>
              <a:t>，所以九個點是差一個不及格。各位看那九個點的分布，就知道為什麼光靠它認不出那是一台機車。
</a:t>
            </a:r>
          </a:p>
          <a:p>
            <a:pPr algn="l">
              <a:spcBef>
                <a:spcPts val="0"/>
              </a:spcBef>
              <a:spcAft>
                <a:spcPts val="133"/>
              </a:spcAft>
            </a:pPr>
            <a:r>
              <a:rPr sz="800" lang="zh-TW" dirty="0">
                <a:solidFill>
                  <a:srgbClr val="000000"/>
                </a:solidFill>
                <a:latin typeface="Arial Unicode MS"/>
                <a:ea typeface="Arial Unicode MS"/>
                <a:cs typeface="Arial Unicode MS"/>
              </a:rPr>
              <a:t>現在請大家把每圈點數改成 </a:t>
            </a:r>
            <a:r>
              <a:rPr sz="800" b="1" lang="zh-TW" dirty="0">
                <a:solidFill>
                  <a:srgbClr val="000000"/>
                </a:solidFill>
                <a:latin typeface="Arial Unicode MS"/>
                <a:ea typeface="Arial Unicode MS"/>
                <a:cs typeface="Arial Unicode MS"/>
              </a:rPr>
              <a:t>2048</a:t>
            </a:r>
            <a:r>
              <a:rPr sz="800" lang="zh-TW" dirty="0">
                <a:solidFill>
                  <a:srgbClr val="000000"/>
                </a:solidFill>
                <a:latin typeface="Arial Unicode MS"/>
                <a:ea typeface="Arial Unicode MS"/>
                <a:cs typeface="Arial Unicode MS"/>
              </a:rPr>
              <a:t>，看兩個數字怎麼變，順便看那張圖上的點數跳到多少。
</a:t>
            </a:r>
          </a:p>
          <a:p>
            <a:pPr algn="l">
              <a:spcBef>
                <a:spcPts val="0"/>
              </a:spcBef>
              <a:spcAft>
                <a:spcPts val="133"/>
              </a:spcAft>
            </a:pPr>
            <a:r>
              <a:rPr sz="800" lang="zh-TW" dirty="0">
                <a:solidFill>
                  <a:srgbClr val="000000"/>
                </a:solidFill>
                <a:latin typeface="Arial Unicode MS"/>
                <a:ea typeface="Arial Unicode MS"/>
                <a:cs typeface="Arial Unicode MS"/>
              </a:rPr>
              <a:t>角度變成一半，零點一七六度；四十公尺處的間距也變成一半，十二公分。圖上的點數從九個變成 </a:t>
            </a:r>
            <a:r>
              <a:rPr sz="800" b="1" lang="zh-TW" dirty="0">
                <a:solidFill>
                  <a:srgbClr val="000000"/>
                </a:solidFill>
                <a:latin typeface="Arial Unicode MS"/>
                <a:ea typeface="Arial Unicode MS"/>
                <a:cs typeface="Arial Unicode MS"/>
              </a:rPr>
              <a:t>18 個</a:t>
            </a:r>
            <a:r>
              <a:rPr sz="800" lang="zh-TW" dirty="0">
                <a:solidFill>
                  <a:srgbClr val="000000"/>
                </a:solidFill>
                <a:latin typeface="Arial Unicode MS"/>
                <a:ea typeface="Arial Unicode MS"/>
                <a:cs typeface="Arial Unicode MS"/>
              </a:rPr>
              <a:t>，同一台機車、同一個距離，只是換了一個模式。這一格第三節上機還會再碰到一次。
</a:t>
            </a:r>
          </a:p>
          <a:p>
            <a:pPr algn="l">
              <a:spcBef>
                <a:spcPts val="0"/>
              </a:spcBef>
              <a:spcAft>
                <a:spcPts val="133"/>
              </a:spcAft>
            </a:pPr>
            <a:r>
              <a:rPr sz="800" lang="zh-TW" dirty="0">
                <a:solidFill>
                  <a:srgbClr val="000000"/>
                </a:solidFill>
                <a:latin typeface="Arial Unicode MS"/>
                <a:ea typeface="Arial Unicode MS"/>
                <a:cs typeface="Arial Unicode MS"/>
              </a:rPr>
              <a:t>最後順便試一件事：把</a:t>
            </a:r>
            <a:r>
              <a:rPr sz="800" b="1" lang="zh-TW" dirty="0">
                <a:solidFill>
                  <a:srgbClr val="000000"/>
                </a:solidFill>
                <a:latin typeface="Arial Unicode MS"/>
                <a:ea typeface="Arial Unicode MS"/>
                <a:cs typeface="Arial Unicode MS"/>
              </a:rPr>
              <a:t>轉速</a:t>
            </a:r>
            <a:r>
              <a:rPr sz="800" lang="zh-TW" dirty="0">
                <a:solidFill>
                  <a:srgbClr val="000000"/>
                </a:solidFill>
                <a:latin typeface="Arial Unicode MS"/>
                <a:ea typeface="Arial Unicode MS"/>
                <a:cs typeface="Arial Unicode MS"/>
              </a:rPr>
              <a:t>從 10 改成 20。每秒點數加倍了，從六十五萬變一百三十萬——可是</a:t>
            </a:r>
            <a:r>
              <a:rPr sz="800" b="1" lang="zh-TW" dirty="0">
                <a:solidFill>
                  <a:srgbClr val="000000"/>
                </a:solidFill>
                <a:latin typeface="Arial Unicode MS"/>
                <a:ea typeface="Arial Unicode MS"/>
                <a:cs typeface="Arial Unicode MS"/>
              </a:rPr>
              <a:t>上面那張圖一個點都沒變</a:t>
            </a:r>
            <a:r>
              <a:rPr sz="800" lang="zh-TW" dirty="0">
                <a:solidFill>
                  <a:srgbClr val="000000"/>
                </a:solidFill>
                <a:latin typeface="Arial Unicode MS"/>
                <a:ea typeface="Arial Unicode MS"/>
                <a:cs typeface="Arial Unicode MS"/>
              </a:rPr>
              <a:t>。為什麼？因為轉速改的是「一秒給你幾張這樣的圖」，不是「同一張圖裡有幾個點」。同一圈裡的點距，只由線束數和每圈點數決定。</a:t>
            </a:r>
            <a:r>
              <a:rPr sz="800" b="1" lang="zh-TW" dirty="0">
                <a:solidFill>
                  <a:srgbClr val="000000"/>
                </a:solidFill>
                <a:latin typeface="Arial Unicode MS"/>
                <a:ea typeface="Arial Unicode MS"/>
                <a:cs typeface="Arial Unicode MS"/>
              </a:rPr>
              <a:t>所以每秒點數真的不能直接拿來比</a:t>
            </a:r>
            <a:r>
              <a:rPr sz="800" lang="zh-TW" dirty="0">
                <a:solidFill>
                  <a:srgbClr val="000000"/>
                </a:solidFill>
                <a:latin typeface="Arial Unicode MS"/>
                <a:ea typeface="Arial Unicode MS"/>
                <a:cs typeface="Arial Unicode MS"/>
              </a:rPr>
              <a:t>，它把兩件不同的事乘在一起了。
</a:t>
            </a:r>
          </a:p>
          <a:p>
            <a:pPr algn="l">
              <a:spcBef>
                <a:spcPts val="0"/>
              </a:spcBef>
              <a:spcAft>
                <a:spcPts val="133"/>
              </a:spcAft>
            </a:pPr>
            <a:r>
              <a:rPr sz="800" lang="zh-TW" dirty="0">
                <a:solidFill>
                  <a:srgbClr val="000000"/>
                </a:solidFill>
                <a:latin typeface="Arial Unicode MS"/>
                <a:ea typeface="Arial Unicode MS"/>
                <a:cs typeface="Arial Unicode MS"/>
              </a:rPr>
              <a:t>這就是我要各位記住的動作：</a:t>
            </a:r>
            <a:r>
              <a:rPr sz="800" b="1" lang="zh-TW" dirty="0">
                <a:solidFill>
                  <a:srgbClr val="000000"/>
                </a:solidFill>
                <a:latin typeface="Arial Unicode MS"/>
                <a:ea typeface="Arial Unicode MS"/>
                <a:cs typeface="Arial Unicode MS"/>
              </a:rPr>
              <a:t>看到「每秒幾百萬點」，先把它換算成角度，再換算成你關心的那個距離上的公分數。</a:t>
            </a:r>
            <a:r>
              <a:rPr sz="800" lang="zh-TW" dirty="0">
                <a:solidFill>
                  <a:srgbClr val="000000"/>
                </a:solidFill>
                <a:latin typeface="Arial Unicode MS"/>
                <a:ea typeface="Arial Unicode MS"/>
                <a:cs typeface="Arial Unicode MS"/>
              </a:rPr>
              <a:t>沒換算之前，那個數字只是廣告。
</a:t>
            </a:r>
          </a:p>
          <a:p>
            <a:pPr algn="l">
              <a:spcBef>
                <a:spcPts val="0"/>
              </a:spcBef>
              <a:spcAft>
                <a:spcPts val="133"/>
              </a:spcAft>
            </a:pPr>
            <a:r>
              <a:rPr sz="8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不用圈。最後那句「看的是不是同一個瞬間」停兩秒再翻頁。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第三組，這一組規格表上常常找不到，但它決定了你的系統能不能用。
</a:t>
            </a:r>
          </a:p>
          <a:p>
            <a:pPr algn="l">
              <a:spcBef>
                <a:spcPts val="0"/>
              </a:spcBef>
              <a:spcAft>
                <a:spcPts val="200"/>
              </a:spcAft>
            </a:pPr>
            <a:r>
              <a:rPr sz="1200" lang="zh-TW" dirty="0">
                <a:solidFill>
                  <a:srgbClr val="000000"/>
                </a:solidFill>
                <a:latin typeface="Arial Unicode MS"/>
                <a:ea typeface="Arial Unicode MS"/>
                <a:cs typeface="Arial Unicode MS"/>
              </a:rPr>
              <a:t>前面一行一行挑的，都是</a:t>
            </a:r>
            <a:r>
              <a:rPr sz="1200" b="1" lang="zh-TW" dirty="0">
                <a:solidFill>
                  <a:srgbClr val="000000"/>
                </a:solidFill>
                <a:latin typeface="Arial Unicode MS"/>
                <a:ea typeface="Arial Unicode MS"/>
                <a:cs typeface="Arial Unicode MS"/>
              </a:rPr>
              <a:t>單一顆</a:t>
            </a:r>
            <a:r>
              <a:rPr sz="1200" lang="zh-TW" dirty="0">
                <a:solidFill>
                  <a:srgbClr val="000000"/>
                </a:solidFill>
                <a:latin typeface="Arial Unicode MS"/>
                <a:ea typeface="Arial Unicode MS"/>
                <a:cs typeface="Arial Unicode MS"/>
              </a:rPr>
              <a:t>感測器的規格。可是車上不會只有一顆。相機一顆、光達一顆，兩顆都挑得很好，裝上車還是可能看錯。
</a:t>
            </a:r>
          </a:p>
          <a:p>
            <a:pPr algn="l">
              <a:spcBef>
                <a:spcPts val="0"/>
              </a:spcBef>
              <a:spcAft>
                <a:spcPts val="200"/>
              </a:spcAft>
            </a:pPr>
            <a:r>
              <a:rPr sz="1200" lang="zh-TW" dirty="0">
                <a:solidFill>
                  <a:srgbClr val="000000"/>
                </a:solidFill>
                <a:latin typeface="Arial Unicode MS"/>
                <a:ea typeface="Arial Unicode MS"/>
                <a:cs typeface="Arial Unicode MS"/>
              </a:rPr>
              <a:t>為什麼？因為還有兩件事：</a:t>
            </a:r>
            <a:r>
              <a:rPr sz="1200" b="1" lang="zh-TW" dirty="0">
                <a:solidFill>
                  <a:srgbClr val="000000"/>
                </a:solidFill>
                <a:latin typeface="Arial Unicode MS"/>
                <a:ea typeface="Arial Unicode MS"/>
                <a:cs typeface="Arial Unicode MS"/>
              </a:rPr>
              <a:t>它們有沒有對準</a:t>
            </a:r>
            <a:r>
              <a:rPr sz="1200" lang="zh-TW" dirty="0">
                <a:solidFill>
                  <a:srgbClr val="000000"/>
                </a:solidFill>
                <a:latin typeface="Arial Unicode MS"/>
                <a:ea typeface="Arial Unicode MS"/>
                <a:cs typeface="Arial Unicode MS"/>
              </a:rPr>
              <a:t>，還有</a:t>
            </a:r>
            <a:r>
              <a:rPr sz="1200" b="1" lang="zh-TW" dirty="0">
                <a:solidFill>
                  <a:srgbClr val="000000"/>
                </a:solidFill>
                <a:latin typeface="Arial Unicode MS"/>
                <a:ea typeface="Arial Unicode MS"/>
                <a:cs typeface="Arial Unicode MS"/>
              </a:rPr>
              <a:t>它們看的是不是同一個瞬間</a:t>
            </a:r>
            <a:r>
              <a:rPr sz="1200" lang="zh-TW" dirty="0">
                <a:solidFill>
                  <a:srgbClr val="000000"/>
                </a:solidFill>
                <a:latin typeface="Arial Unicode MS"/>
                <a:ea typeface="Arial Unicode MS"/>
                <a:cs typeface="Arial Unicode MS"/>
              </a:rPr>
              <a:t>。接下來兩張就在講這兩件事。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標定：告訴車子每一隻眼睛裝在哪、朝哪看。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一步一步圈，最後圈偏差角度造成的位置誤差那個數字。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現在講一件規格表上</a:t>
            </a:r>
            <a:r>
              <a:rPr sz="800" b="1" lang="zh-TW" dirty="0">
                <a:solidFill>
                  <a:srgbClr val="000000"/>
                </a:solidFill>
                <a:latin typeface="Arial Unicode MS"/>
                <a:ea typeface="Arial Unicode MS"/>
                <a:cs typeface="Arial Unicode MS"/>
              </a:rPr>
              <a:t>常常找不到</a:t>
            </a:r>
            <a:r>
              <a:rPr sz="800" lang="zh-TW" dirty="0">
                <a:solidFill>
                  <a:srgbClr val="000000"/>
                </a:solidFill>
                <a:latin typeface="Arial Unicode MS"/>
                <a:ea typeface="Arial Unicode MS"/>
                <a:cs typeface="Arial Unicode MS"/>
              </a:rPr>
              <a:t>，但是害人最慘的事：</a:t>
            </a:r>
            <a:r>
              <a:rPr sz="800" b="1" lang="zh-TW" dirty="0">
                <a:solidFill>
                  <a:srgbClr val="000000"/>
                </a:solidFill>
                <a:latin typeface="Arial Unicode MS"/>
                <a:ea typeface="Arial Unicode MS"/>
                <a:cs typeface="Arial Unicode MS"/>
              </a:rPr>
              <a:t>標定</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800" b="1" lang="zh-TW" dirty="0">
                <a:solidFill>
                  <a:srgbClr val="000000"/>
                </a:solidFill>
                <a:latin typeface="Arial Unicode MS"/>
                <a:ea typeface="Arial Unicode MS"/>
                <a:cs typeface="Arial Unicode MS"/>
              </a:rPr>
              <a:t>合成一句</a:t>
            </a:r>
            <a:r>
              <a:rPr sz="800" lang="zh-TW" dirty="0">
                <a:solidFill>
                  <a:srgbClr val="000000"/>
                </a:solidFill>
                <a:latin typeface="Arial Unicode MS"/>
                <a:ea typeface="Arial Unicode MS"/>
                <a:cs typeface="Arial Unicode MS"/>
              </a:rPr>
              <a:t>——「那個人在三十公尺外」——車子必須知道一件事：
</a:t>
            </a:r>
          </a:p>
          <a:p>
            <a:pPr algn="l">
              <a:spcBef>
                <a:spcPts val="0"/>
              </a:spcBef>
              <a:spcAft>
                <a:spcPts val="133"/>
              </a:spcAft>
            </a:pPr>
            <a:r>
              <a:rPr sz="800" b="1" lang="zh-TW" dirty="0">
                <a:solidFill>
                  <a:srgbClr val="000000"/>
                </a:solidFill>
                <a:latin typeface="Arial Unicode MS"/>
                <a:ea typeface="Arial Unicode MS"/>
                <a:cs typeface="Arial Unicode MS"/>
              </a:rPr>
              <a:t>相機和光達，到底差多遠、差幾度？</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這就是標定。分成兩種。
</a:t>
            </a:r>
          </a:p>
          <a:p>
            <a:pPr algn="l">
              <a:spcBef>
                <a:spcPts val="0"/>
              </a:spcBef>
              <a:spcAft>
                <a:spcPts val="133"/>
              </a:spcAft>
            </a:pPr>
            <a:r>
              <a:rPr sz="800" b="1" lang="zh-TW" dirty="0">
                <a:solidFill>
                  <a:srgbClr val="000000"/>
                </a:solidFill>
                <a:latin typeface="Arial Unicode MS"/>
                <a:ea typeface="Arial Unicode MS"/>
                <a:cs typeface="Arial Unicode MS"/>
              </a:rPr>
              <a:t>第一種叫內參，intrinsic。</a:t>
            </a:r>
            <a:r>
              <a:rPr sz="8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spcBef>
                <a:spcPts val="0"/>
              </a:spcBef>
              <a:spcAft>
                <a:spcPts val="133"/>
              </a:spcAft>
            </a:pPr>
            <a:r>
              <a:rPr sz="800" b="1" lang="zh-TW" dirty="0">
                <a:solidFill>
                  <a:srgbClr val="000000"/>
                </a:solidFill>
                <a:latin typeface="Arial Unicode MS"/>
                <a:ea typeface="Arial Unicode MS"/>
                <a:cs typeface="Arial Unicode MS"/>
              </a:rPr>
              <a:t>第二種叫外參，extrinsic。</a:t>
            </a:r>
            <a:r>
              <a:rPr sz="8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spcBef>
                <a:spcPts val="0"/>
              </a:spcBef>
              <a:spcAft>
                <a:spcPts val="133"/>
              </a:spcAft>
            </a:pPr>
            <a:r>
              <a:rPr sz="800" lang="zh-TW" dirty="0">
                <a:solidFill>
                  <a:srgbClr val="000000"/>
                </a:solidFill>
                <a:latin typeface="Arial Unicode MS"/>
                <a:ea typeface="Arial Unicode MS"/>
                <a:cs typeface="Arial Unicode MS"/>
              </a:rPr>
              <a:t>那不準會怎樣？我們算一下。
</a:t>
            </a:r>
          </a:p>
          <a:p>
            <a:pPr algn="l">
              <a:spcBef>
                <a:spcPts val="0"/>
              </a:spcBef>
              <a:spcAft>
                <a:spcPts val="133"/>
              </a:spcAft>
            </a:pPr>
            <a:r>
              <a:rPr sz="800" lang="zh-TW" dirty="0">
                <a:solidFill>
                  <a:srgbClr val="000000"/>
                </a:solidFill>
                <a:latin typeface="Arial Unicode MS"/>
                <a:ea typeface="Arial Unicode MS"/>
                <a:cs typeface="Arial Unicode MS"/>
              </a:rPr>
              <a:t>假設它們之間的角度差了</a:t>
            </a:r>
            <a:r>
              <a:rPr sz="800" b="1" lang="zh-TW" dirty="0">
                <a:solidFill>
                  <a:srgbClr val="000000"/>
                </a:solidFill>
                <a:latin typeface="Arial Unicode MS"/>
                <a:ea typeface="Arial Unicode MS"/>
                <a:cs typeface="Arial Unicode MS"/>
              </a:rPr>
              <a:t>一度</a:t>
            </a:r>
            <a:r>
              <a:rPr sz="800" lang="zh-TW" dirty="0">
                <a:solidFill>
                  <a:srgbClr val="000000"/>
                </a:solidFill>
                <a:latin typeface="Arial Unicode MS"/>
                <a:ea typeface="Arial Unicode MS"/>
                <a:cs typeface="Arial Unicode MS"/>
              </a:rPr>
              <a:t>。有人會問：是相機歪了還是光達歪了？</a:t>
            </a:r>
            <a:r>
              <a:rPr sz="800" b="1" lang="zh-TW" dirty="0">
                <a:solidFill>
                  <a:srgbClr val="000000"/>
                </a:solidFill>
                <a:latin typeface="Arial Unicode MS"/>
                <a:ea typeface="Arial Unicode MS"/>
                <a:cs typeface="Arial Unicode MS"/>
              </a:rPr>
              <a:t>都可以，而且不重要</a:t>
            </a:r>
            <a:r>
              <a:rPr sz="800" lang="zh-TW" dirty="0">
                <a:solidFill>
                  <a:srgbClr val="000000"/>
                </a:solidFill>
                <a:latin typeface="Arial Unicode MS"/>
                <a:ea typeface="Arial Unicode MS"/>
                <a:cs typeface="Arial Unicode MS"/>
              </a:rPr>
              <a:t>——外參講的是</a:t>
            </a:r>
            <a:r>
              <a:rPr sz="800" b="1" lang="zh-TW" dirty="0">
                <a:solidFill>
                  <a:srgbClr val="000000"/>
                </a:solidFill>
                <a:latin typeface="Arial Unicode MS"/>
                <a:ea typeface="Arial Unicode MS"/>
                <a:cs typeface="Arial Unicode MS"/>
              </a:rPr>
              <a:t>兩者之間的關係</a:t>
            </a:r>
            <a:r>
              <a:rPr sz="800" lang="zh-TW" dirty="0">
                <a:solidFill>
                  <a:srgbClr val="000000"/>
                </a:solidFill>
                <a:latin typeface="Arial Unicode MS"/>
                <a:ea typeface="Arial Unicode MS"/>
                <a:cs typeface="Arial Unicode MS"/>
              </a:rPr>
              <a:t>，只要這個關係和車子記在檔案裡的那組數字差一度，結果都一樣。我們就拿最常見的那個情況：擋風玻璃換過一次，相機裝回去的時候差了一度。一度聽起來很小對不對？
</a:t>
            </a:r>
          </a:p>
          <a:p>
            <a:pPr algn="l">
              <a:spcBef>
                <a:spcPts val="0"/>
              </a:spcBef>
              <a:spcAft>
                <a:spcPts val="133"/>
              </a:spcAft>
            </a:pPr>
            <a:r>
              <a:rPr sz="800" lang="zh-TW" dirty="0">
                <a:solidFill>
                  <a:srgbClr val="000000"/>
                </a:solidFill>
                <a:latin typeface="Arial Unicode MS"/>
                <a:ea typeface="Arial Unicode MS"/>
                <a:cs typeface="Arial Unicode MS"/>
              </a:rPr>
              <a:t>在五十公尺外，差一度會差多少？</a:t>
            </a:r>
            <a:r>
              <a:rPr sz="800" b="1" lang="zh-TW" dirty="0">
                <a:solidFill>
                  <a:srgbClr val="000000"/>
                </a:solidFill>
                <a:latin typeface="Arial Unicode MS"/>
                <a:ea typeface="Arial Unicode MS"/>
                <a:cs typeface="Arial Unicode MS"/>
              </a:rPr>
              <a:t>五十公尺 × tan(一度) ＝ 零點八七公尺</a:t>
            </a:r>
            <a:r>
              <a:rPr sz="800" lang="zh-TW" dirty="0">
                <a:solidFill>
                  <a:srgbClr val="000000"/>
                </a:solidFill>
                <a:latin typeface="Arial Unicode MS"/>
                <a:ea typeface="Arial Unicode MS"/>
                <a:cs typeface="Arial Unicode MS"/>
              </a:rPr>
              <a:t>，將近一公尺。
</a:t>
            </a:r>
          </a:p>
          <a:p>
            <a:pPr algn="l">
              <a:spcBef>
                <a:spcPts val="0"/>
              </a:spcBef>
              <a:spcAft>
                <a:spcPts val="133"/>
              </a:spcAft>
            </a:pPr>
            <a:r>
              <a:rPr sz="800" lang="zh-TW" dirty="0">
                <a:solidFill>
                  <a:srgbClr val="000000"/>
                </a:solidFill>
                <a:latin typeface="Arial Unicode MS"/>
                <a:ea typeface="Arial Unicode MS"/>
                <a:cs typeface="Arial Unicode MS"/>
              </a:rPr>
              <a:t>這一公尺是</a:t>
            </a:r>
            <a:r>
              <a:rPr sz="800" b="1" lang="zh-TW" dirty="0">
                <a:solidFill>
                  <a:srgbClr val="000000"/>
                </a:solidFill>
                <a:latin typeface="Arial Unicode MS"/>
                <a:ea typeface="Arial Unicode MS"/>
                <a:cs typeface="Arial Unicode MS"/>
              </a:rPr>
              <a:t>橫向的</a:t>
            </a:r>
            <a:r>
              <a:rPr sz="800" lang="zh-TW" dirty="0">
                <a:solidFill>
                  <a:srgbClr val="000000"/>
                </a:solidFill>
                <a:latin typeface="Arial Unicode MS"/>
                <a:ea typeface="Arial Unicode MS"/>
                <a:cs typeface="Arial Unicode MS"/>
              </a:rPr>
              <a:t>，各位不要想成「線變斜了」。意思是：</a:t>
            </a:r>
            <a:r>
              <a:rPr sz="800" b="1" lang="zh-TW" dirty="0">
                <a:solidFill>
                  <a:srgbClr val="000000"/>
                </a:solidFill>
                <a:latin typeface="Arial Unicode MS"/>
                <a:ea typeface="Arial Unicode MS"/>
                <a:cs typeface="Arial Unicode MS"/>
              </a:rPr>
              <a:t>光達說那個人在這裡，相機說他在旁邊零點八七公尺的地方。</a:t>
            </a:r>
            <a:r>
              <a:rPr sz="800" lang="zh-TW" dirty="0">
                <a:solidFill>
                  <a:srgbClr val="000000"/>
                </a:solidFill>
                <a:latin typeface="Arial Unicode MS"/>
                <a:ea typeface="Arial Unicode MS"/>
                <a:cs typeface="Arial Unicode MS"/>
              </a:rPr>
              <a:t>兩隻眼睛各自都沒有看錯，錯的是車子以為它們朝同一個方向看——其實差了一度。
</a:t>
            </a:r>
          </a:p>
          <a:p>
            <a:pPr algn="l">
              <a:spcBef>
                <a:spcPts val="0"/>
              </a:spcBef>
              <a:spcAft>
                <a:spcPts val="133"/>
              </a:spcAft>
            </a:pPr>
            <a:r>
              <a:rPr sz="8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spcBef>
                <a:spcPts val="0"/>
              </a:spcBef>
              <a:spcAft>
                <a:spcPts val="133"/>
              </a:spcAft>
            </a:pPr>
            <a:r>
              <a:rPr sz="800" lang="zh-TW" dirty="0">
                <a:solidFill>
                  <a:srgbClr val="000000"/>
                </a:solidFill>
                <a:latin typeface="Arial Unicode MS"/>
                <a:ea typeface="Arial Unicode MS"/>
                <a:cs typeface="Arial Unicode MS"/>
              </a:rPr>
              <a:t>更麻煩的是：標定</a:t>
            </a:r>
            <a:r>
              <a:rPr sz="800" b="1" lang="zh-TW" dirty="0">
                <a:solidFill>
                  <a:srgbClr val="000000"/>
                </a:solidFill>
                <a:latin typeface="Arial Unicode MS"/>
                <a:ea typeface="Arial Unicode MS"/>
                <a:cs typeface="Arial Unicode MS"/>
              </a:rPr>
              <a:t>會跑掉</a:t>
            </a:r>
            <a:r>
              <a:rPr sz="8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800" b="1" lang="zh-TW" dirty="0">
                <a:solidFill>
                  <a:srgbClr val="000000"/>
                </a:solidFill>
                <a:latin typeface="Arial Unicode MS"/>
                <a:ea typeface="Arial Unicode MS"/>
                <a:cs typeface="Arial Unicode MS"/>
              </a:rPr>
              <a:t>定期重新標定</a:t>
            </a:r>
            <a:r>
              <a:rPr sz="800" lang="zh-TW" dirty="0">
                <a:solidFill>
                  <a:srgbClr val="000000"/>
                </a:solidFill>
                <a:latin typeface="Arial Unicode MS"/>
                <a:ea typeface="Arial Unicode MS"/>
                <a:cs typeface="Arial Unicode MS"/>
              </a:rPr>
              <a:t>，有些車還會自己在行駛中偷偷校正。
</a:t>
            </a:r>
          </a:p>
          <a:p>
            <a:pPr algn="l">
              <a:spcBef>
                <a:spcPts val="0"/>
              </a:spcBef>
              <a:spcAft>
                <a:spcPts val="133"/>
              </a:spcAft>
            </a:pPr>
            <a:r>
              <a:rPr sz="8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33"/>
              </a:spcAft>
            </a:pPr>
            <a:r>
              <a:rPr sz="800" b="1" lang="zh-TW" dirty="0">
                <a:solidFill>
                  <a:srgbClr val="000000"/>
                </a:solidFill>
                <a:latin typeface="Arial Unicode MS"/>
                <a:ea typeface="Arial Unicode MS"/>
                <a:cs typeface="Arial Unicode MS"/>
              </a:rPr>
              <a:t>▍這一張要做什麼</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時間同步：兩隻眼睛要看的是同一個瞬間。
</a:t>
            </a:r>
          </a:p>
          <a:p>
            <a:pPr algn="l">
              <a:spcBef>
                <a:spcPts val="0"/>
              </a:spcBef>
              <a:spcAft>
                <a:spcPts val="133"/>
              </a:spcAft>
            </a:pPr>
            <a:r>
              <a:rPr sz="800" b="1" lang="zh-TW" dirty="0">
                <a:solidFill>
                  <a:srgbClr val="000000"/>
                </a:solidFill>
                <a:latin typeface="Arial Unicode MS"/>
                <a:ea typeface="Arial Unicode MS"/>
                <a:cs typeface="Arial Unicode MS"/>
              </a:rPr>
              <a:t>▍畫面上圈這裡</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圈 50 毫秒與半公尺，再指圖裡的 Multi-sensor phase lock——七行裡只有這行在講同步，要講明。其餘六行快速點過，每一行都回扣今天講過的一張。
</a:t>
            </a:r>
          </a:p>
          <a:p>
            <a:pPr algn="l">
              <a:spcBef>
                <a:spcPts val="0"/>
              </a:spcBef>
              <a:spcAft>
                <a:spcPts val="133"/>
              </a:spcAft>
            </a:pPr>
            <a:r>
              <a:rPr sz="800" b="1" lang="zh-TW" dirty="0">
                <a:solidFill>
                  <a:srgbClr val="000000"/>
                </a:solidFill>
                <a:latin typeface="Arial Unicode MS"/>
                <a:ea typeface="Arial Unicode MS"/>
                <a:cs typeface="Arial Unicode MS"/>
              </a:rPr>
              <a:t>▍以下照著唸</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最後一件事是</a:t>
            </a:r>
            <a:r>
              <a:rPr sz="800" b="1" lang="zh-TW" dirty="0">
                <a:solidFill>
                  <a:srgbClr val="000000"/>
                </a:solidFill>
                <a:latin typeface="Arial Unicode MS"/>
                <a:ea typeface="Arial Unicode MS"/>
                <a:cs typeface="Arial Unicode MS"/>
              </a:rPr>
              <a:t>時間同步</a:t>
            </a:r>
            <a:r>
              <a:rPr sz="800" lang="zh-TW" dirty="0">
                <a:solidFill>
                  <a:srgbClr val="000000"/>
                </a:solidFill>
                <a:latin typeface="Arial Unicode MS"/>
                <a:ea typeface="Arial Unicode MS"/>
                <a:cs typeface="Arial Unicode MS"/>
              </a:rPr>
              <a:t>。剛剛講的標定是「空間」上要對準，這一件是「時間」上要對準。
</a:t>
            </a:r>
          </a:p>
          <a:p>
            <a:pPr algn="l">
              <a:spcBef>
                <a:spcPts val="0"/>
              </a:spcBef>
              <a:spcAft>
                <a:spcPts val="133"/>
              </a:spcAft>
            </a:pPr>
            <a:r>
              <a:rPr sz="800" lang="zh-TW" dirty="0">
                <a:solidFill>
                  <a:srgbClr val="000000"/>
                </a:solidFill>
                <a:latin typeface="Arial Unicode MS"/>
                <a:ea typeface="Arial Unicode MS"/>
                <a:cs typeface="Arial Unicode MS"/>
              </a:rPr>
              <a:t>想想看：光達一秒轉十圈，相機一秒拍六十張，兩個的節奏完全不一樣。假設車子現在收到一張相機的畫面，還有一圈光達的點雲，要把它們合起來。問題是——</a:t>
            </a:r>
            <a:r>
              <a:rPr sz="800" b="1" lang="zh-TW" dirty="0">
                <a:solidFill>
                  <a:srgbClr val="000000"/>
                </a:solidFill>
                <a:latin typeface="Arial Unicode MS"/>
                <a:ea typeface="Arial Unicode MS"/>
                <a:cs typeface="Arial Unicode MS"/>
              </a:rPr>
              <a:t>這兩份資料是同一個瞬間的嗎？</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如果沒有處理，它們可能差到五十毫秒。時速四十的時候，五十毫秒車子走了</a:t>
            </a:r>
            <a:r>
              <a:rPr sz="800" b="1" lang="zh-TW" dirty="0">
                <a:solidFill>
                  <a:srgbClr val="000000"/>
                </a:solidFill>
                <a:latin typeface="Arial Unicode MS"/>
                <a:ea typeface="Arial Unicode MS"/>
                <a:cs typeface="Arial Unicode MS"/>
              </a:rPr>
              <a:t>零點五六公尺</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所以你會把相機在 A 點看到的人，跟光達在 B 點量到的距離配在一起，得到一個</a:t>
            </a:r>
            <a:r>
              <a:rPr sz="800" b="1" lang="zh-TW" dirty="0">
                <a:solidFill>
                  <a:srgbClr val="000000"/>
                </a:solidFill>
                <a:latin typeface="Arial Unicode MS"/>
                <a:ea typeface="Arial Unicode MS"/>
                <a:cs typeface="Arial Unicode MS"/>
              </a:rPr>
              <a:t>根本不存在的位置</a:t>
            </a:r>
            <a:r>
              <a:rPr sz="800" lang="zh-TW" dirty="0">
                <a:solidFill>
                  <a:srgbClr val="000000"/>
                </a:solidFill>
                <a:latin typeface="Arial Unicode MS"/>
                <a:ea typeface="Arial Unicode MS"/>
                <a:cs typeface="Arial Unicode MS"/>
              </a:rPr>
              <a:t>。而且這個誤差會跟剛剛的標定誤差疊加。
</a:t>
            </a:r>
          </a:p>
          <a:p>
            <a:pPr algn="l">
              <a:spcBef>
                <a:spcPts val="0"/>
              </a:spcBef>
              <a:spcAft>
                <a:spcPts val="133"/>
              </a:spcAft>
            </a:pPr>
            <a:r>
              <a:rPr sz="800" lang="zh-TW" dirty="0">
                <a:solidFill>
                  <a:srgbClr val="000000"/>
                </a:solidFill>
                <a:latin typeface="Arial Unicode MS"/>
                <a:ea typeface="Arial Unicode MS"/>
                <a:cs typeface="Arial Unicode MS"/>
              </a:rPr>
              <a:t>解法有兩層。</a:t>
            </a:r>
            <a:r>
              <a:rPr sz="800" b="1" lang="zh-TW" dirty="0">
                <a:solidFill>
                  <a:srgbClr val="000000"/>
                </a:solidFill>
                <a:latin typeface="Arial Unicode MS"/>
                <a:ea typeface="Arial Unicode MS"/>
                <a:cs typeface="Arial Unicode MS"/>
              </a:rPr>
              <a:t>第一層是共同時鐘</a:t>
            </a:r>
            <a:r>
              <a:rPr sz="800" lang="zh-TW" dirty="0">
                <a:solidFill>
                  <a:srgbClr val="000000"/>
                </a:solidFill>
                <a:latin typeface="Arial Unicode MS"/>
                <a:ea typeface="Arial Unicode MS"/>
                <a:cs typeface="Arial Unicode MS"/>
              </a:rPr>
              <a:t>：每一顆感測器都在自己的資料上蓋</a:t>
            </a:r>
            <a:r>
              <a:rPr sz="800" b="1" lang="zh-TW" dirty="0">
                <a:solidFill>
                  <a:srgbClr val="000000"/>
                </a:solidFill>
                <a:latin typeface="Arial Unicode MS"/>
                <a:ea typeface="Arial Unicode MS"/>
                <a:cs typeface="Arial Unicode MS"/>
              </a:rPr>
              <a:t>時間戳</a:t>
            </a:r>
            <a:r>
              <a:rPr sz="800" lang="zh-TW" dirty="0">
                <a:solidFill>
                  <a:srgbClr val="000000"/>
                </a:solidFill>
                <a:latin typeface="Arial Unicode MS"/>
                <a:ea typeface="Arial Unicode MS"/>
                <a:cs typeface="Arial Unicode MS"/>
              </a:rPr>
              <a:t>，全車用同一個時鐘——車上通常用 PTP，一種跑在網路線上的對時協定。但這一層只讓你知道「各自是幾點拍的」，還沒有讓它們同時拍。
</a:t>
            </a:r>
          </a:p>
          <a:p>
            <a:pPr algn="l">
              <a:spcBef>
                <a:spcPts val="0"/>
              </a:spcBef>
              <a:spcAft>
                <a:spcPts val="133"/>
              </a:spcAft>
            </a:pPr>
            <a:r>
              <a:rPr sz="800" b="1" lang="zh-TW" dirty="0">
                <a:solidFill>
                  <a:srgbClr val="000000"/>
                </a:solidFill>
                <a:latin typeface="Arial Unicode MS"/>
                <a:ea typeface="Arial Unicode MS"/>
                <a:cs typeface="Arial Unicode MS"/>
              </a:rPr>
              <a:t>第二層就是圖上那一行：multi-sensor phase lock。</a:t>
            </a:r>
            <a:r>
              <a:rPr sz="800" lang="zh-TW" dirty="0">
                <a:solidFill>
                  <a:srgbClr val="000000"/>
                </a:solidFill>
                <a:latin typeface="Arial Unicode MS"/>
                <a:ea typeface="Arial Unicode MS"/>
                <a:cs typeface="Arial Unicode MS"/>
              </a:rPr>
              <a:t>光達是一直在轉的，一秒十圈，所以每一百毫秒經過正前方一次——</a:t>
            </a:r>
            <a:r>
              <a:rPr sz="800" b="1" lang="zh-TW" dirty="0">
                <a:solidFill>
                  <a:srgbClr val="000000"/>
                </a:solidFill>
                <a:latin typeface="Arial Unicode MS"/>
                <a:ea typeface="Arial Unicode MS"/>
                <a:cs typeface="Arial Unicode MS"/>
              </a:rPr>
              <a:t>可是經過的那個時刻是隨機的</a:t>
            </a:r>
            <a:r>
              <a:rPr sz="800" lang="zh-TW" dirty="0">
                <a:solidFill>
                  <a:srgbClr val="000000"/>
                </a:solidFill>
                <a:latin typeface="Arial Unicode MS"/>
                <a:ea typeface="Arial Unicode MS"/>
                <a:cs typeface="Arial Unicode MS"/>
              </a:rPr>
              <a:t>，開機的時候轉子從哪裡起步就決定了。Phase lock 做的事是：先對好時，再</a:t>
            </a:r>
            <a:r>
              <a:rPr sz="800" b="1" lang="zh-TW" dirty="0">
                <a:solidFill>
                  <a:srgbClr val="000000"/>
                </a:solidFill>
                <a:latin typeface="Arial Unicode MS"/>
                <a:ea typeface="Arial Unicode MS"/>
                <a:cs typeface="Arial Unicode MS"/>
              </a:rPr>
              <a:t>把轉子的相位鎖住</a:t>
            </a:r>
            <a:r>
              <a:rPr sz="800" lang="zh-TW" dirty="0">
                <a:solidFill>
                  <a:srgbClr val="000000"/>
                </a:solidFill>
                <a:latin typeface="Arial Unicode MS"/>
                <a:ea typeface="Arial Unicode MS"/>
                <a:cs typeface="Arial Unicode MS"/>
              </a:rPr>
              <a:t>，讓它在每一個整十分之一秒的那個瞬間，剛好轉到你指定的角度。
</a:t>
            </a:r>
          </a:p>
          <a:p>
            <a:pPr algn="l">
              <a:spcBef>
                <a:spcPts val="0"/>
              </a:spcBef>
              <a:spcAft>
                <a:spcPts val="133"/>
              </a:spcAft>
            </a:pPr>
            <a:r>
              <a:rPr sz="800" lang="zh-TW" dirty="0">
                <a:solidFill>
                  <a:srgbClr val="000000"/>
                </a:solidFill>
                <a:latin typeface="Arial Unicode MS"/>
                <a:ea typeface="Arial Unicode MS"/>
                <a:cs typeface="Arial Unicode MS"/>
              </a:rPr>
              <a:t>所以你可以設成「每個十分之一秒的整點，光達剛好指著正前方」，再把相機的快門排在同一個時刻——</a:t>
            </a:r>
            <a:r>
              <a:rPr sz="800" b="1" lang="zh-TW" dirty="0">
                <a:solidFill>
                  <a:srgbClr val="000000"/>
                </a:solidFill>
                <a:latin typeface="Arial Unicode MS"/>
                <a:ea typeface="Arial Unicode MS"/>
                <a:cs typeface="Arial Unicode MS"/>
              </a:rPr>
              <a:t>兩隻眼睛看的就是同一個瞬間的同一塊</a:t>
            </a:r>
            <a:r>
              <a:rPr sz="800" lang="zh-TW" dirty="0">
                <a:solidFill>
                  <a:srgbClr val="000000"/>
                </a:solidFill>
                <a:latin typeface="Arial Unicode MS"/>
                <a:ea typeface="Arial Unicode MS"/>
                <a:cs typeface="Arial Unicode MS"/>
              </a:rPr>
              <a:t>。兩顆光達也一樣，鎖住相位就知道誰什麼時候掃到重疊區。這一行有一個前提要記住：</a:t>
            </a:r>
            <a:r>
              <a:rPr sz="800" b="1" lang="zh-TW" dirty="0">
                <a:solidFill>
                  <a:srgbClr val="000000"/>
                </a:solidFill>
                <a:latin typeface="Arial Unicode MS"/>
                <a:ea typeface="Arial Unicode MS"/>
                <a:cs typeface="Arial Unicode MS"/>
              </a:rPr>
              <a:t>要先有外部時間來源</a:t>
            </a:r>
            <a:r>
              <a:rPr sz="800" lang="zh-TW" dirty="0">
                <a:solidFill>
                  <a:srgbClr val="000000"/>
                </a:solidFill>
                <a:latin typeface="Arial Unicode MS"/>
                <a:ea typeface="Arial Unicode MS"/>
                <a:cs typeface="Arial Unicode MS"/>
              </a:rPr>
              <a:t>（PTP 或同步脈衝），沒有對時就鎖不住相位。
</a:t>
            </a:r>
          </a:p>
          <a:p>
            <a:pPr algn="l">
              <a:spcBef>
                <a:spcPts val="0"/>
              </a:spcBef>
              <a:spcAft>
                <a:spcPts val="133"/>
              </a:spcAft>
            </a:pPr>
            <a:r>
              <a:rPr sz="800" lang="zh-TW" dirty="0">
                <a:solidFill>
                  <a:srgbClr val="000000"/>
                </a:solidFill>
                <a:latin typeface="Arial Unicode MS"/>
                <a:ea typeface="Arial Unicode MS"/>
                <a:cs typeface="Arial Unicode MS"/>
              </a:rPr>
              <a:t>各位會問：這一格其他幾行跟同步有什麼關係？</a:t>
            </a:r>
            <a:r>
              <a:rPr sz="800" b="1" lang="zh-TW" dirty="0">
                <a:solidFill>
                  <a:srgbClr val="000000"/>
                </a:solidFill>
                <a:latin typeface="Arial Unicode MS"/>
                <a:ea typeface="Arial Unicode MS"/>
                <a:cs typeface="Arial Unicode MS"/>
              </a:rPr>
              <a:t>沒有關係。</a:t>
            </a:r>
            <a:r>
              <a:rPr sz="800" lang="zh-TW" dirty="0">
                <a:solidFill>
                  <a:srgbClr val="000000"/>
                </a:solidFill>
                <a:latin typeface="Arial Unicode MS"/>
                <a:ea typeface="Arial Unicode MS"/>
                <a:cs typeface="Arial Unicode MS"/>
              </a:rPr>
              <a:t>這一格的標題是 Additional Programmability——「其他可以設定的項目」，</a:t>
            </a:r>
            <a:r>
              <a:rPr sz="800" b="1" lang="zh-TW" dirty="0">
                <a:solidFill>
                  <a:srgbClr val="000000"/>
                </a:solidFill>
                <a:latin typeface="Arial Unicode MS"/>
                <a:ea typeface="Arial Unicode MS"/>
                <a:cs typeface="Arial Unicode MS"/>
              </a:rPr>
              <a:t>七行裡只有第一行在講同步</a:t>
            </a:r>
            <a:r>
              <a:rPr sz="800" lang="zh-TW" dirty="0">
                <a:solidFill>
                  <a:srgbClr val="000000"/>
                </a:solidFill>
                <a:latin typeface="Arial Unicode MS"/>
                <a:ea typeface="Arial Unicode MS"/>
                <a:cs typeface="Arial Unicode MS"/>
              </a:rPr>
              <a:t>，其他是剛好印在同一格。這件事本身要學起來：</a:t>
            </a:r>
            <a:r>
              <a:rPr sz="800" b="1" lang="zh-TW" dirty="0">
                <a:solidFill>
                  <a:srgbClr val="000000"/>
                </a:solidFill>
                <a:latin typeface="Arial Unicode MS"/>
                <a:ea typeface="Arial Unicode MS"/>
                <a:cs typeface="Arial Unicode MS"/>
              </a:rPr>
              <a:t>規格表上同一個框裡的東西，不一定是同一個主題。</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其他幾行快速帶過，各位會發現每一行都是今天講過的。</a:t>
            </a:r>
            <a:r>
              <a:rPr sz="800" b="1" lang="zh-TW" dirty="0">
                <a:solidFill>
                  <a:srgbClr val="000000"/>
                </a:solidFill>
                <a:latin typeface="Arial Unicode MS"/>
                <a:ea typeface="Arial Unicode MS"/>
                <a:cs typeface="Arial Unicode MS"/>
              </a:rPr>
              <a:t>Queryable intrinsic calibration information</a:t>
            </a:r>
            <a:r>
              <a:rPr sz="800" lang="zh-TW" dirty="0">
                <a:solidFill>
                  <a:srgbClr val="000000"/>
                </a:solidFill>
                <a:latin typeface="Arial Unicode MS"/>
                <a:ea typeface="Arial Unicode MS"/>
                <a:cs typeface="Arial Unicode MS"/>
              </a:rPr>
              <a:t>：可以直接問這顆光達要它自己的</a:t>
            </a:r>
            <a:r>
              <a:rPr sz="800" b="1" lang="zh-TW" dirty="0">
                <a:solidFill>
                  <a:srgbClr val="000000"/>
                </a:solidFill>
                <a:latin typeface="Arial Unicode MS"/>
                <a:ea typeface="Arial Unicode MS"/>
                <a:cs typeface="Arial Unicode MS"/>
              </a:rPr>
              <a:t>內參</a:t>
            </a:r>
            <a:r>
              <a:rPr sz="800" lang="zh-TW" dirty="0">
                <a:solidFill>
                  <a:srgbClr val="000000"/>
                </a:solidFill>
                <a:latin typeface="Arial Unicode MS"/>
                <a:ea typeface="Arial Unicode MS"/>
                <a:cs typeface="Arial Unicode MS"/>
              </a:rPr>
              <a:t>——底下的 </a:t>
            </a:r>
            <a:r>
              <a:rPr sz="800" b="1" lang="zh-TW" dirty="0">
                <a:solidFill>
                  <a:srgbClr val="000000"/>
                </a:solidFill>
                <a:latin typeface="Arial Unicode MS"/>
                <a:ea typeface="Arial Unicode MS"/>
                <a:cs typeface="Arial Unicode MS"/>
              </a:rPr>
              <a:t>Beam angles</a:t>
            </a:r>
            <a:r>
              <a:rPr sz="800" lang="zh-TW" dirty="0">
                <a:solidFill>
                  <a:srgbClr val="000000"/>
                </a:solidFill>
                <a:latin typeface="Arial Unicode MS"/>
                <a:ea typeface="Arial Unicode MS"/>
                <a:cs typeface="Arial Unicode MS"/>
              </a:rPr>
              <a:t> 是每條線束實際的垂直角度（出廠量過，不是真的平均分布），</a:t>
            </a:r>
            <a:r>
              <a:rPr sz="800" b="1" lang="zh-TW" dirty="0">
                <a:solidFill>
                  <a:srgbClr val="000000"/>
                </a:solidFill>
                <a:latin typeface="Arial Unicode MS"/>
                <a:ea typeface="Arial Unicode MS"/>
                <a:cs typeface="Arial Unicode MS"/>
              </a:rPr>
              <a:t>IMU pose correction matrix</a:t>
            </a:r>
            <a:r>
              <a:rPr sz="800" lang="zh-TW" dirty="0">
                <a:solidFill>
                  <a:srgbClr val="000000"/>
                </a:solidFill>
                <a:latin typeface="Arial Unicode MS"/>
                <a:ea typeface="Arial Unicode MS"/>
                <a:cs typeface="Arial Unicode MS"/>
              </a:rPr>
              <a:t> 是機內那顆慣性感測器和光達本體的關係，等於原廠標好的</a:t>
            </a:r>
            <a:r>
              <a:rPr sz="800" b="1" lang="zh-TW" dirty="0">
                <a:solidFill>
                  <a:srgbClr val="000000"/>
                </a:solidFill>
                <a:latin typeface="Arial Unicode MS"/>
                <a:ea typeface="Arial Unicode MS"/>
                <a:cs typeface="Arial Unicode MS"/>
              </a:rPr>
              <a:t>外參</a:t>
            </a:r>
            <a:r>
              <a:rPr sz="800" lang="zh-TW" dirty="0">
                <a:solidFill>
                  <a:srgbClr val="000000"/>
                </a:solidFill>
                <a:latin typeface="Arial Unicode MS"/>
                <a:ea typeface="Arial Unicode MS"/>
                <a:cs typeface="Arial Unicode MS"/>
              </a:rPr>
              <a:t>。</a:t>
            </a:r>
            <a:r>
              <a:rPr sz="800" b="1" lang="zh-TW" dirty="0">
                <a:solidFill>
                  <a:srgbClr val="000000"/>
                </a:solidFill>
                <a:latin typeface="Arial Unicode MS"/>
                <a:ea typeface="Arial Unicode MS"/>
                <a:cs typeface="Arial Unicode MS"/>
              </a:rPr>
              <a:t>Return ordering</a:t>
            </a:r>
            <a:r>
              <a:rPr sz="800" lang="zh-TW" dirty="0">
                <a:solidFill>
                  <a:srgbClr val="000000"/>
                </a:solidFill>
                <a:latin typeface="Arial Unicode MS"/>
                <a:ea typeface="Arial Unicode MS"/>
                <a:cs typeface="Arial Unicode MS"/>
              </a:rPr>
              <a:t> 就是第十一張的兩次回波，可以選先給最強、最遠還是最近。</a:t>
            </a:r>
            <a:r>
              <a:rPr sz="800" b="1" lang="zh-TW" dirty="0">
                <a:solidFill>
                  <a:srgbClr val="000000"/>
                </a:solidFill>
                <a:latin typeface="Arial Unicode MS"/>
                <a:ea typeface="Arial Unicode MS"/>
                <a:cs typeface="Arial Unicode MS"/>
              </a:rPr>
              <a:t>Minimum range</a:t>
            </a:r>
            <a:r>
              <a:rPr sz="800" lang="zh-TW" dirty="0">
                <a:solidFill>
                  <a:srgbClr val="000000"/>
                </a:solidFill>
                <a:latin typeface="Arial Unicode MS"/>
                <a:ea typeface="Arial Unicode MS"/>
                <a:cs typeface="Arial Unicode MS"/>
              </a:rPr>
              <a:t> 設 0、30 或 50 公分，比這個近的不回報。</a:t>
            </a:r>
            <a:r>
              <a:rPr sz="800" b="1" lang="zh-TW" dirty="0">
                <a:solidFill>
                  <a:srgbClr val="000000"/>
                </a:solidFill>
                <a:latin typeface="Arial Unicode MS"/>
                <a:ea typeface="Arial Unicode MS"/>
                <a:cs typeface="Arial Unicode MS"/>
              </a:rPr>
              <a:t>Azimuth masking</a:t>
            </a:r>
            <a:r>
              <a:rPr sz="800" lang="zh-TW" dirty="0">
                <a:solidFill>
                  <a:srgbClr val="000000"/>
                </a:solidFill>
                <a:latin typeface="Arial Unicode MS"/>
                <a:ea typeface="Arial Unicode MS"/>
                <a:cs typeface="Arial Unicode MS"/>
              </a:rPr>
              <a:t> 把不要的那一段角度關掉——這一行和第一行是同一套東西，都在設「這一圈從哪裡開始、到哪裡結束」。</a:t>
            </a:r>
            <a:r>
              <a:rPr sz="800" b="1" lang="zh-TW" dirty="0">
                <a:solidFill>
                  <a:srgbClr val="000000"/>
                </a:solidFill>
                <a:latin typeface="Arial Unicode MS"/>
                <a:ea typeface="Arial Unicode MS"/>
                <a:cs typeface="Arial Unicode MS"/>
              </a:rPr>
              <a:t>Low-power standby mode</a:t>
            </a:r>
            <a:r>
              <a:rPr sz="800" lang="zh-TW" dirty="0">
                <a:solidFill>
                  <a:srgbClr val="000000"/>
                </a:solidFill>
                <a:latin typeface="Arial Unicode MS"/>
                <a:ea typeface="Arial Unicode MS"/>
                <a:cs typeface="Arial Unicode MS"/>
              </a:rPr>
              <a:t> 停車省電。第一節第十二張我說過「可設定」是模式不是數字——</a:t>
            </a:r>
            <a:r>
              <a:rPr sz="800" b="1" lang="zh-TW" dirty="0">
                <a:solidFill>
                  <a:srgbClr val="000000"/>
                </a:solidFill>
                <a:latin typeface="Arial Unicode MS"/>
                <a:ea typeface="Arial Unicode MS"/>
                <a:cs typeface="Arial Unicode MS"/>
              </a:rPr>
              <a:t>這一整格就是最好的例子。</a:t>
            </a:r>
            <a:r>
              <a:rPr sz="800" lang="zh-TW" dirty="0">
                <a:solidFill>
                  <a:srgbClr val="000000"/>
                </a:solidFill>
                <a:latin typeface="Arial Unicode MS"/>
                <a:ea typeface="Arial Unicode MS"/>
                <a:cs typeface="Arial Unicode MS"/>
              </a:rPr>
              <a:t>
</a:t>
            </a:r>
          </a:p>
          <a:p>
            <a:pPr algn="l">
              <a:spcBef>
                <a:spcPts val="0"/>
              </a:spcBef>
              <a:spcAft>
                <a:spcPts val="133"/>
              </a:spcAft>
            </a:pPr>
            <a:r>
              <a:rPr sz="800" lang="zh-TW" dirty="0">
                <a:solidFill>
                  <a:srgbClr val="000000"/>
                </a:solidFill>
                <a:latin typeface="Arial Unicode MS"/>
                <a:ea typeface="Arial Unicode MS"/>
                <a:cs typeface="Arial Unicode MS"/>
              </a:rPr>
              <a:t>所以請各位記住：</a:t>
            </a:r>
            <a:r>
              <a:rPr sz="800" b="1" lang="zh-TW" dirty="0">
                <a:solidFill>
                  <a:srgbClr val="000000"/>
                </a:solidFill>
                <a:latin typeface="Arial Unicode MS"/>
                <a:ea typeface="Arial Unicode MS"/>
                <a:cs typeface="Arial Unicode MS"/>
              </a:rPr>
              <a:t>兩顆感測器各自都是好的，不代表合起來是對的。</a:t>
            </a:r>
            <a:r>
              <a:rPr sz="800" lang="zh-TW" dirty="0">
                <a:solidFill>
                  <a:srgbClr val="000000"/>
                </a:solidFill>
                <a:latin typeface="Arial Unicode MS"/>
                <a:ea typeface="Arial Unicode MS"/>
                <a:cs typeface="Arial Unicode MS"/>
              </a:rPr>
              <a:t>中間還有標定和同步這兩關，而它們在規格表上常常只有一兩行、甚至完全沒有，可是實際做系統的時候吃掉的時間比選型還多。
</a:t>
            </a:r>
          </a:p>
          <a:p>
            <a:pPr algn="l">
              <a:spcBef>
                <a:spcPts val="0"/>
              </a:spcBef>
              <a:spcAft>
                <a:spcPts val="133"/>
              </a:spcAft>
            </a:pPr>
            <a:r>
              <a:rPr sz="800" lang="zh-TW" dirty="0">
                <a:solidFill>
                  <a:srgbClr val="000000"/>
                </a:solidFill>
                <a:latin typeface="Arial Unicode MS"/>
                <a:ea typeface="Arial Unicode MS"/>
                <a:cs typeface="Arial Unicode MS"/>
              </a:rPr>
              <a:t>下一節我們回到工具上，把今天和上一節講的東西，全部用在一件事上：</a:t>
            </a:r>
            <a:r>
              <a:rPr sz="800" b="1" lang="zh-TW" dirty="0">
                <a:solidFill>
                  <a:srgbClr val="000000"/>
                </a:solidFill>
                <a:latin typeface="Arial Unicode MS"/>
                <a:ea typeface="Arial Unicode MS"/>
                <a:cs typeface="Arial Unicode MS"/>
              </a:rPr>
              <a:t>幫一個指定的情境選一顆感測器</a:t>
            </a:r>
            <a:r>
              <a:rPr sz="8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16</a:t>
            </a:r>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167"/>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第二節小結，三句話帶上機。
</a:t>
            </a:r>
          </a:p>
          <a:p>
            <a:pPr algn="l">
              <a:spcBef>
                <a:spcPts val="0"/>
              </a:spcBef>
              <a:spcAft>
                <a:spcPts val="167"/>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spcBef>
                <a:spcPts val="0"/>
              </a:spcBef>
              <a:spcAft>
                <a:spcPts val="167"/>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第二節收起來，三句話。
</a:t>
            </a:r>
          </a:p>
          <a:p>
            <a:pPr algn="l">
              <a:spcBef>
                <a:spcPts val="0"/>
              </a:spcBef>
              <a:spcAft>
                <a:spcPts val="167"/>
              </a:spcAft>
            </a:pPr>
            <a:r>
              <a:rPr sz="1000" b="1" lang="zh-TW" dirty="0">
                <a:solidFill>
                  <a:srgbClr val="000000"/>
                </a:solidFill>
                <a:latin typeface="Arial Unicode MS"/>
                <a:ea typeface="Arial Unicode MS"/>
                <a:cs typeface="Arial Unicode MS"/>
              </a:rPr>
              <a:t>第一句，相機的三件事。</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spcBef>
                <a:spcPts val="0"/>
              </a:spcBef>
              <a:spcAft>
                <a:spcPts val="167"/>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spcBef>
                <a:spcPts val="0"/>
              </a:spcBef>
              <a:spcAft>
                <a:spcPts val="167"/>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spcBef>
                <a:spcPts val="0"/>
              </a:spcBef>
              <a:spcAft>
                <a:spcPts val="167"/>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spcBef>
                <a:spcPts val="0"/>
              </a:spcBef>
              <a:spcAft>
                <a:spcPts val="167"/>
              </a:spcAft>
            </a:pPr>
            <a:r>
              <a:rPr sz="1000" lang="zh-TW" dirty="0">
                <a:solidFill>
                  <a:srgbClr val="000000"/>
                </a:solidFill>
                <a:latin typeface="Arial Unicode MS"/>
                <a:ea typeface="Arial Unicode MS"/>
                <a:cs typeface="Arial Unicode MS"/>
              </a:rPr>
              <a:t>這份東西第三節結束前要交，是個人作業。
</a:t>
            </a:r>
          </a:p>
          <a:p>
            <a:pPr algn="l">
              <a:spcBef>
                <a:spcPts val="0"/>
              </a:spcBef>
              <a:spcAft>
                <a:spcPts val="167"/>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17</a:t>
            </a:r>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附錄：光達那份規格書的完整原頁（規格那三頁），備查用。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今天圈過的光達那幾行，全部都在這三頁上：PDF 第 1 頁是 HIGHLIGHTS 和 OPTICAL PERFORMANCE——測距、視野、通道數、每圈點數都在那裡；第 2 頁有 LASER 那一段，Class 1、865 奈米、光束寬度和發散角；第 3 頁有 Additional Programmability，multi-sensor phase lock 那一行。
</a:t>
            </a:r>
          </a:p>
          <a:p>
            <a:pPr algn="l">
              <a:spcBef>
                <a:spcPts val="0"/>
              </a:spcBef>
              <a:spcAft>
                <a:spcPts val="200"/>
              </a:spcAft>
            </a:pPr>
            <a:r>
              <a:rPr sz="1200" lang="zh-TW" dirty="0">
                <a:solidFill>
                  <a:srgbClr val="000000"/>
                </a:solidFill>
                <a:latin typeface="Arial Unicode MS"/>
                <a:ea typeface="Arial Unicode MS"/>
                <a:cs typeface="Arial Unicode MS"/>
              </a:rPr>
              <a:t>原始 PDF 總共八頁，後面五頁是外觀尺寸、配件和接線圖，和今天要讀的規格沒有關係，所以沒有放進來。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放映的時候可以放大看；要看完整的八頁，到 Ouster 官網下載。</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18</a:t>
            </a:r>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附錄：AT128P 使用手冊的規格那兩頁，備查用。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上課不唸。第 1 節第 5 張圈的 Far-field 與 (10 Hz)，原文就在左邊那一頁。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左邊那一頁是 §1.5 Specifications，第 1 節第 5 張圈過的東西都在上面：Number of channels 128、Horizontal FOV 120 度、Vertical FOV 25.4 度，還有那兩行寫著 Far-field 和 Near-field 的解析度。
</a:t>
            </a:r>
          </a:p>
          <a:p>
            <a:pPr algn="l">
              <a:spcBef>
                <a:spcPts val="0"/>
              </a:spcBef>
              <a:spcAft>
                <a:spcPts val="200"/>
              </a:spcAft>
            </a:pPr>
            <a:r>
              <a:rPr sz="1200" lang="zh-TW" dirty="0">
                <a:solidFill>
                  <a:srgbClr val="000000"/>
                </a:solidFill>
                <a:latin typeface="Arial Unicode MS"/>
                <a:ea typeface="Arial Unicode MS"/>
                <a:cs typeface="Arial Unicode MS"/>
              </a:rPr>
              <a:t>右邊那一頁是同一節的註解。註②就是遠近場的定義——遠場超過 7.2 公尺、近場 0.5 到 7.2 公尺；註①說量測範圍是由分配給每一條通道的飛行時間決定的；註⑥還把每秒點數怎麼算整個列出來，1200 乘 128 乘 10 等於一百五十三萬六千。
</a:t>
            </a:r>
          </a:p>
          <a:p>
            <a:pPr algn="l">
              <a:spcBef>
                <a:spcPts val="0"/>
              </a:spcBef>
              <a:spcAft>
                <a:spcPts val="200"/>
              </a:spcAft>
            </a:pPr>
            <a:r>
              <a:rPr sz="1200" lang="zh-TW" dirty="0">
                <a:solidFill>
                  <a:srgbClr val="000000"/>
                </a:solidFill>
                <a:latin typeface="Arial Unicode MS"/>
                <a:ea typeface="Arial Unicode MS"/>
                <a:cs typeface="Arial Unicode MS"/>
              </a:rPr>
              <a:t>各位如果對「那個 0.1 度為什麼有兩個條件」還有疑問，答案就在右邊那一頁。</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19</a:t>
            </a:r>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spcBef>
                <a:spcPts val="0"/>
              </a:spcBef>
              <a:spcAft>
                <a:spcPts val="2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附錄：相機那份規格書的完整原頁，備查用。
</a:t>
            </a:r>
          </a:p>
          <a:p>
            <a:pPr algn="l">
              <a:spcBef>
                <a:spcPts val="0"/>
              </a:spcBef>
              <a:spcAft>
                <a:spcPts val="2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上課不唸。學生問「你圈的那一行在哪」的時候翻到這裡，或放映時放大看。
</a:t>
            </a:r>
          </a:p>
          <a:p>
            <a:pPr algn="l">
              <a:spcBef>
                <a:spcPts val="0"/>
              </a:spcBef>
              <a:spcAft>
                <a:spcPts val="2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spcBef>
                <a:spcPts val="0"/>
              </a:spcBef>
              <a:spcAft>
                <a:spcPts val="200"/>
              </a:spcAft>
            </a:pPr>
            <a:r>
              <a:rPr sz="1200" lang="zh-TW" dirty="0">
                <a:solidFill>
                  <a:srgbClr val="000000"/>
                </a:solidFill>
                <a:latin typeface="Arial Unicode MS"/>
                <a:ea typeface="Arial Unicode MS"/>
                <a:cs typeface="Arial Unicode MS"/>
              </a:rPr>
              <a:t>這一張也不唸，是附錄。
</a:t>
            </a:r>
          </a:p>
          <a:p>
            <a:pPr algn="l">
              <a:spcBef>
                <a:spcPts val="0"/>
              </a:spcBef>
              <a:spcAft>
                <a:spcPts val="200"/>
              </a:spcAft>
            </a:pPr>
            <a:r>
              <a:rPr sz="1200" lang="zh-TW" dirty="0">
                <a:solidFill>
                  <a:srgbClr val="000000"/>
                </a:solidFill>
                <a:latin typeface="Arial Unicode MS"/>
                <a:ea typeface="Arial Unicode MS"/>
                <a:cs typeface="Arial Unicode MS"/>
              </a:rPr>
              <a:t>今天圈過的那幾行——有效像素、像素尺寸、動態範圍、LED 閃爍抑制——全部都在左邊那一頁的 Specifications 那一欄上。右邊第二頁是封裝尺寸，整頁寫 TBD，那是因為這份是 </a:t>
            </a:r>
            <a:r>
              <a:rPr sz="1200" b="1" lang="zh-TW" dirty="0">
                <a:solidFill>
                  <a:srgbClr val="000000"/>
                </a:solidFill>
                <a:latin typeface="Arial Unicode MS"/>
                <a:ea typeface="Arial Unicode MS"/>
                <a:cs typeface="Arial Unicode MS"/>
              </a:rPr>
              <a:t>Product Preview</a:t>
            </a:r>
            <a:r>
              <a:rPr sz="1200" lang="zh-TW" dirty="0">
                <a:solidFill>
                  <a:srgbClr val="000000"/>
                </a:solidFill>
                <a:latin typeface="Arial Unicode MS"/>
                <a:ea typeface="Arial Unicode MS"/>
                <a:cs typeface="Arial Unicode MS"/>
              </a:rPr>
              <a:t>，還不是正式規格書。
</a:t>
            </a:r>
          </a:p>
          <a:p>
            <a:pPr algn="l">
              <a:spcBef>
                <a:spcPts val="0"/>
              </a:spcBef>
              <a:spcAft>
                <a:spcPts val="200"/>
              </a:spcAft>
            </a:pPr>
            <a:r>
              <a:rPr sz="1200" lang="zh-TW" dirty="0">
                <a:solidFill>
                  <a:srgbClr val="000000"/>
                </a:solidFill>
                <a:latin typeface="Arial Unicode MS"/>
                <a:ea typeface="Arial Unicode MS"/>
                <a:cs typeface="Arial Unicode MS"/>
              </a:rPr>
              <a:t>各位記得第 1 節第 2 張說過的：</a:t>
            </a:r>
            <a:r>
              <a:rPr sz="1200" b="1" lang="zh-TW" dirty="0">
                <a:solidFill>
                  <a:srgbClr val="000000"/>
                </a:solidFill>
                <a:latin typeface="Arial Unicode MS"/>
                <a:ea typeface="Arial Unicode MS"/>
                <a:cs typeface="Arial Unicode MS"/>
              </a:rPr>
              <a:t>快門方式這一行，這兩頁上都沒有。</a:t>
            </a:r>
            <a:r>
              <a:rPr sz="1200" lang="zh-TW" dirty="0">
                <a:solidFill>
                  <a:srgbClr val="000000"/>
                </a:solidFill>
                <a:latin typeface="Arial Unicode MS"/>
                <a:ea typeface="Arial Unicode MS"/>
                <a:cs typeface="Arial Unicode MS"/>
              </a:rPr>
              <a:t>現在可以自己確認一次。要看快門方式，得去 onsemi 的產品頁。
</a:t>
            </a:r>
          </a:p>
          <a:p>
            <a:pPr algn="l">
              <a:spcBef>
                <a:spcPts val="0"/>
              </a:spcBef>
              <a:spcAft>
                <a:spcPts val="200"/>
              </a:spcAft>
            </a:pPr>
            <a:r>
              <a:rPr sz="1200" lang="zh-TW" dirty="0">
                <a:solidFill>
                  <a:srgbClr val="000000"/>
                </a:solidFill>
                <a:latin typeface="Arial Unicode MS"/>
                <a:ea typeface="Arial Unicode MS"/>
                <a:cs typeface="Arial Unicode MS"/>
              </a:rPr>
              <a:t>放映的時候可以放大看；發下去的 PDF 也印得出來。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spcBef>
                <a:spcPts val="0"/>
              </a:spcBef>
              <a:spcAft>
                <a:spcPts val="167"/>
              </a:spcAft>
            </a:pPr>
            <a:r>
              <a:rPr sz="1000" lang="zh-TW" dirty="0">
                <a:solidFill>
                  <a:srgbClr val="000000"/>
                </a:solidFill>
                <a:latin typeface="Arial Unicode MS"/>
                <a:ea typeface="Arial Unicode MS"/>
                <a:cs typeface="Arial Unicode MS"/>
              </a:rPr>
              <a:t>20</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gif"/><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youtu.be/YmEH8z1JWgc" TargetMode="External"/><Relationship Id="rId1"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gif"/><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youtu.be/iAdlvfHqxPg" TargetMode="External"/><Relationship Id="rId1" Type="http://schemas.openxmlformats.org/officeDocument/2006/relationships/image" Target="../media/image-6-1.gif"/><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gif"/><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5750" y="0"/>
          <a:ext cx="1" cy="1"/>
          <a:chOff x="0" y="0"/>
          <a:chExt cx="0" cy="0"/>
        </a:xfrm>
      </p:grpSpPr>
      <p:sp>
        <p:nvSpPr>
          <p:cNvPr id="2" name="Shape 0"/>
          <p:cNvSpPr/>
          <p:nvPr/>
        </p:nvSpPr>
        <p:spPr>
          <a:xfrm>
            <a:off x="6759000" y="-1366875"/>
            <a:ext cx="4191750" cy="4191750"/>
          </a:xfrm>
          <a:prstGeom prst="ellipse">
            <a:avLst/>
          </a:prstGeom>
          <a:solidFill>
            <a:srgbClr val="13314F"/>
          </a:solidFill>
          <a:ln w="12700">
            <a:solidFill>
              <a:srgbClr val="13314F"/>
            </a:solidFill>
            <a:prstDash val="solid"/>
          </a:ln>
        </p:spPr>
      </p:sp>
      <p:sp>
        <p:nvSpPr>
          <p:cNvPr id="3" name="Shape 1"/>
          <p:cNvSpPr/>
          <p:nvPr/>
        </p:nvSpPr>
        <p:spPr>
          <a:xfrm>
            <a:off x="8125875" y="2095875"/>
            <a:ext cx="2369250" cy="2369250"/>
          </a:xfrm>
          <a:prstGeom prst="ellipse">
            <a:avLst/>
          </a:prstGeom>
          <a:solidFill>
            <a:srgbClr val="007F72">
              <a:alpha val="28000"/>
            </a:srgbClr>
          </a:solidFill>
          <a:ln/>
        </p:spPr>
      </p:sp>
      <p:sp>
        <p:nvSpPr>
          <p:cNvPr id="4" name="Text 2"/>
          <p:cNvSpPr txBox="1"/>
          <p:nvPr/>
        </p:nvSpPr>
        <p:spPr>
          <a:xfrm>
            <a:off x="516938" y="1202850"/>
            <a:ext cx="6925500" cy="273375"/>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5</a:t>
            </a:r>
            <a:endParaRPr lang="en-US" sz="1250" dirty="0"/>
          </a:p>
        </p:txBody>
      </p:sp>
      <p:sp>
        <p:nvSpPr>
          <p:cNvPr id="5" name="Text 3"/>
          <p:cNvSpPr txBox="1"/>
          <p:nvPr/>
        </p:nvSpPr>
        <p:spPr>
          <a:xfrm>
            <a:off x="516938" y="1567350"/>
            <a:ext cx="7472250" cy="882449"/>
          </a:xfrm>
          <a:prstGeom prst="rect">
            <a:avLst/>
          </a:prstGeom>
          <a:noFill/>
          <a:ln/>
        </p:spPr>
        <p:txBody>
          <a:bodyPr wrap="square" lIns="0" tIns="0" rIns="0" bIns="0" rtlCol="0" anchor="t"/>
          <a:lstStyle/>
          <a:p>
            <a:pPr indent="0" marL="0">
              <a:lnSpc>
                <a:spcPct val="118000"/>
              </a:lnSpc>
              <a:buNone/>
            </a:pPr>
            <a:r>
              <a:rPr lang="en-US" sz="3390" b="1" dirty="0">
                <a:solidFill>
                  <a:srgbClr val="FFFFFF"/>
                </a:solidFill>
                <a:latin typeface="Arial" pitchFamily="34" charset="0"/>
                <a:ea typeface="Arial" pitchFamily="34" charset="-122"/>
                <a:cs typeface="Arial" pitchFamily="34" charset="-120"/>
              </a:rPr>
              <a:t>Trang thứ hai của datasheet</a:t>
            </a:r>
            <a:endParaRPr lang="en-US" sz="3390" dirty="0"/>
          </a:p>
          <a:p>
            <a:pPr indent="0" marL="0">
              <a:lnSpc>
                <a:spcPct val="118000"/>
              </a:lnSpc>
              <a:buNone/>
            </a:pPr>
            <a:r>
              <a:rPr lang="en-US" sz="1890" dirty="0">
                <a:solidFill>
                  <a:srgbClr val="C8D6E2"/>
                </a:solidFill>
                <a:latin typeface="微軟正黑體" pitchFamily="34" charset="0"/>
                <a:ea typeface="微軟正黑體" pitchFamily="34" charset="-122"/>
                <a:cs typeface="微軟正黑體" pitchFamily="34" charset="-120"/>
              </a:rPr>
              <a:t>規格表的第二層</a:t>
            </a:r>
            <a:endParaRPr lang="en-US" sz="3390" dirty="0"/>
          </a:p>
        </p:txBody>
      </p:sp>
      <p:sp>
        <p:nvSpPr>
          <p:cNvPr id="6" name="Shape 4"/>
          <p:cNvSpPr/>
          <p:nvPr/>
        </p:nvSpPr>
        <p:spPr>
          <a:xfrm>
            <a:off x="516938" y="2998115"/>
            <a:ext cx="1366875" cy="41006"/>
          </a:xfrm>
          <a:prstGeom prst="rect">
            <a:avLst/>
          </a:prstGeom>
          <a:solidFill>
            <a:srgbClr val="FFB020"/>
          </a:solidFill>
          <a:ln/>
        </p:spPr>
      </p:sp>
      <p:sp>
        <p:nvSpPr>
          <p:cNvPr id="7" name="Text 5"/>
          <p:cNvSpPr txBox="1"/>
          <p:nvPr/>
        </p:nvSpPr>
        <p:spPr>
          <a:xfrm>
            <a:off x="516938" y="3198590"/>
            <a:ext cx="7107750" cy="610435"/>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Ba dòng ít ai đọc, nhưng hỏng là hỏng ở đó</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450" dirty="0"/>
          </a:p>
        </p:txBody>
      </p:sp>
      <p:sp>
        <p:nvSpPr>
          <p:cNvPr id="8" name="Shape 6"/>
          <p:cNvSpPr/>
          <p:nvPr/>
        </p:nvSpPr>
        <p:spPr>
          <a:xfrm>
            <a:off x="516938" y="3881925"/>
            <a:ext cx="5923125" cy="382725"/>
          </a:xfrm>
          <a:prstGeom prst="roundRect">
            <a:avLst>
              <a:gd name="adj" fmla="val 16667"/>
            </a:avLst>
          </a:prstGeom>
          <a:solidFill>
            <a:srgbClr val="13314F"/>
          </a:solidFill>
          <a:ln/>
        </p:spPr>
      </p:sp>
      <p:sp>
        <p:nvSpPr>
          <p:cNvPr id="9" name="Text 7"/>
          <p:cNvSpPr txBox="1"/>
          <p:nvPr/>
        </p:nvSpPr>
        <p:spPr>
          <a:xfrm>
            <a:off x="644513" y="3927488"/>
            <a:ext cx="5667975" cy="291600"/>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1050" dirty="0"/>
          </a:p>
        </p:txBody>
      </p:sp>
      <p:sp>
        <p:nvSpPr>
          <p:cNvPr id="10" name="Text 8"/>
          <p:cNvSpPr txBox="1"/>
          <p:nvPr/>
        </p:nvSpPr>
        <p:spPr>
          <a:xfrm>
            <a:off x="516938" y="4355775"/>
            <a:ext cx="6925500" cy="273375"/>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1150" dirty="0"/>
          </a:p>
        </p:txBody>
      </p:sp>
      <p:sp>
        <p:nvSpPr>
          <p:cNvPr id="12" name="Shape 9"/>
          <p:cNvSpPr/>
          <p:nvPr/>
        </p:nvSpPr>
        <p:spPr>
          <a:xfrm>
            <a:off x="371138" y="309825"/>
            <a:ext cx="2205225" cy="74722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1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Camera: ảnh bị méo, bị đen hoặc trắng xoá, đèn đỏ thành tắt</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相機：畫面會歪、會黑掉或白掉、紅燈會拍成沒亮</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Kiểu màn trập · dải tương phản · nháy đèn LED</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20</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1 / 3　Rolling shutter</a:t>
            </a:r>
            <a:endParaRPr lang="en-US" sz="1250" dirty="0"/>
          </a:p>
        </p:txBody>
      </p:sp>
      <p:sp>
        <p:nvSpPr>
          <p:cNvPr id="3" name="Shape 1"/>
          <p:cNvSpPr/>
          <p:nvPr/>
        </p:nvSpPr>
        <p:spPr>
          <a:xfrm>
            <a:off x="502920" y="1101852"/>
            <a:ext cx="320040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3_rolling.gif">    </p:cNvPr>
          <p:cNvPicPr>
            <a:picLocks noChangeAspect="1"/>
          </p:cNvPicPr>
          <p:nvPr/>
        </p:nvPicPr>
        <p:blipFill>
          <a:blip r:embed="rId1"/>
          <a:stretch>
            <a:fillRect/>
          </a:stretch>
        </p:blipFill>
        <p:spPr>
          <a:xfrm>
            <a:off x="576072" y="1249680"/>
            <a:ext cx="3054096" cy="2036064"/>
          </a:xfrm>
          <a:prstGeom prst="rect">
            <a:avLst/>
          </a:prstGeom>
        </p:spPr>
      </p:pic>
      <p:sp>
        <p:nvSpPr>
          <p:cNvPr id="5" name="Text 2"/>
          <p:cNvSpPr txBox="1"/>
          <p:nvPr/>
        </p:nvSpPr>
        <p:spPr>
          <a:xfrm>
            <a:off x="576072" y="3396996"/>
            <a:ext cx="305409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示意圖：課程自製（src/tools_make_rs_gif.py）</a:t>
            </a:r>
            <a:endParaRPr lang="en-US" sz="700" dirty="0"/>
          </a:p>
        </p:txBody>
      </p:sp>
      <p:sp>
        <p:nvSpPr>
          <p:cNvPr id="6" name="Text 3"/>
          <p:cNvSpPr txBox="1"/>
          <p:nvPr/>
        </p:nvSpPr>
        <p:spPr>
          <a:xfrm>
            <a:off x="4014216" y="914400"/>
            <a:ext cx="462686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20</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32 秒，一次看懂兩種快門</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Màn trập cuốn trên vật thật: cánh quạt cong như quả chuối</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捲簾快門發生在真東西上：螺旋槳彎成香蕉形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pic_ar0233at.png">    </p:cNvPr>
          <p:cNvPicPr>
            <a:picLocks noChangeAspect="1"/>
          </p:cNvPicPr>
          <p:nvPr/>
        </p:nvPicPr>
        <p:blipFill>
          <a:blip r:embed="rId1"/>
          <a:stretch>
            <a:fillRect/>
          </a:stretch>
        </p:blipFill>
        <p:spPr>
          <a:xfrm>
            <a:off x="848740" y="1301348"/>
            <a:ext cx="3212848"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圖：onsemi（AR0233AT Product Preview, Rev. P2）</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Global Shutter vs. Rolling Shutter</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Sony（原廠官方頻道）　·　0:32（上下對照，播兩次）</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https://youtu.be/YmEH8z1JWgc</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Trên: Global Shutter · Dưới: Rolling Shutter — cùng một chiếc trực thăng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上面 Global Shutter、下面 Rolling Shutter——同一架直升機</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một: chỉ nhìn cánh quạt chính — trên thẳng, dưới cong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第一次只看主旋翼：上面直的，下面彎成香蕉形</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Lần hai: cánh quạt đuôi méo hẳn, thân máy bay thì không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第二次看尾旋翼：整個扭掉；機身沒在動，就不歪</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Cùng một cảnh, chỉ khác kiểu màn trập. Dòng Shutter Type quyết định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同一個場景，只差在快門方式。規格表上 Shutter Type 那一行決定的就是這件事。</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4 / 20</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2 / 3　Dynamic range</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4_dynrange.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示意圖：課程自製（src/tools_make_dr_gif.py）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5 / 20</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1" cy="1"/>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Xem thử · 真的隧道口，0:14–0:40</a:t>
            </a:r>
            <a:endParaRPr lang="en-US" sz="1300" dirty="0"/>
          </a:p>
        </p:txBody>
      </p:sp>
      <p:sp>
        <p:nvSpPr>
          <p:cNvPr id="3" name="Text 1"/>
          <p:cNvSpPr txBox="1"/>
          <p:nvPr/>
        </p:nvSpPr>
        <p:spPr>
          <a:xfrm>
            <a:off x="502920" y="676656"/>
            <a:ext cx="8138160" cy="560684"/>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Ngay lúc ra khỏi hầm: máy ảnh 140 dB nhìn thấy gì</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出隧道口那一瞬間：140 dB 的相機看到的畫面</a:t>
            </a:r>
            <a:endParaRPr lang="en-US" sz="1700" dirty="0"/>
          </a:p>
        </p:txBody>
      </p:sp>
      <p:sp>
        <p:nvSpPr>
          <p:cNvPr id="4" name="Shape 2"/>
          <p:cNvSpPr/>
          <p:nvPr/>
        </p:nvSpPr>
        <p:spPr>
          <a:xfrm>
            <a:off x="502920" y="1255628"/>
            <a:ext cx="3904488" cy="2566564"/>
          </a:xfrm>
          <a:prstGeom prst="roundRect">
            <a:avLst>
              <a:gd name="adj" fmla="val 3563"/>
            </a:avLst>
          </a:prstGeom>
          <a:solidFill>
            <a:srgbClr val="0B1F3A"/>
          </a:solidFill>
          <a:ln w="12700">
            <a:solidFill>
              <a:srgbClr val="DBE3EA"/>
            </a:solidFill>
            <a:prstDash val="solid"/>
          </a:ln>
        </p:spPr>
      </p:sp>
      <p:pic>
        <p:nvPicPr>
          <p:cNvPr id="5" name="Image 0" descr="/Users/tsengchenghsun/Class/carClass/Claude outputs/第五週(10-8)/src/img/w5_s04_dynrange.gif">    </p:cNvPr>
          <p:cNvPicPr>
            <a:picLocks noChangeAspect="1"/>
          </p:cNvPicPr>
          <p:nvPr/>
        </p:nvPicPr>
        <p:blipFill>
          <a:blip r:embed="rId1"/>
          <a:stretch>
            <a:fillRect/>
          </a:stretch>
        </p:blipFill>
        <p:spPr>
          <a:xfrm>
            <a:off x="735981" y="1301348"/>
            <a:ext cx="3438366" cy="2292244"/>
          </a:xfrm>
          <a:prstGeom prst="rect">
            <a:avLst/>
          </a:prstGeom>
        </p:spPr>
      </p:pic>
      <p:sp>
        <p:nvSpPr>
          <p:cNvPr id="6" name="Text 3"/>
          <p:cNvSpPr txBox="1"/>
          <p:nvPr/>
        </p:nvSpPr>
        <p:spPr>
          <a:xfrm>
            <a:off x="594360" y="3584448"/>
            <a:ext cx="3721608" cy="182880"/>
          </a:xfrm>
          <a:prstGeom prst="rect">
            <a:avLst/>
          </a:prstGeom>
          <a:noFill/>
          <a:ln/>
        </p:spPr>
        <p:txBody>
          <a:bodyPr wrap="square" lIns="0" tIns="0" rIns="0" bIns="0" rtlCol="0" anchor="ctr"/>
          <a:lstStyle/>
          <a:p>
            <a:pPr algn="r" indent="0" marL="0">
              <a:buNone/>
            </a:pPr>
            <a:r>
              <a:rPr lang="en-US" sz="750" dirty="0">
                <a:solidFill>
                  <a:srgbClr val="9FB3C8"/>
                </a:solidFill>
                <a:latin typeface="Arial" pitchFamily="34" charset="0"/>
                <a:ea typeface="Arial" pitchFamily="34" charset="-122"/>
                <a:cs typeface="Arial" pitchFamily="34" charset="-120"/>
              </a:rPr>
              <a:t>左：課程自製示意圖（src/tools_make_dr_gif.py）</a:t>
            </a:r>
            <a:endParaRPr lang="en-US" sz="750" dirty="0"/>
          </a:p>
        </p:txBody>
      </p:sp>
      <p:sp>
        <p:nvSpPr>
          <p:cNvPr id="7" name="Shape 4"/>
          <p:cNvSpPr/>
          <p:nvPr/>
        </p:nvSpPr>
        <p:spPr>
          <a:xfrm>
            <a:off x="4736592" y="1255628"/>
            <a:ext cx="3904488" cy="2566564"/>
          </a:xfrm>
          <a:prstGeom prst="roundRect">
            <a:avLst>
              <a:gd name="adj" fmla="val 3563"/>
            </a:avLst>
          </a:prstGeom>
          <a:solidFill>
            <a:srgbClr val="F4F7FA"/>
          </a:solidFill>
          <a:ln w="12700">
            <a:solidFill>
              <a:srgbClr val="DBE3EA"/>
            </a:solidFill>
            <a:prstDash val="solid"/>
          </a:ln>
        </p:spPr>
      </p:sp>
      <p:sp>
        <p:nvSpPr>
          <p:cNvPr id="8" name="Shape 5"/>
          <p:cNvSpPr/>
          <p:nvPr/>
        </p:nvSpPr>
        <p:spPr>
          <a:xfrm>
            <a:off x="4919472" y="1420220"/>
            <a:ext cx="347472" cy="347472"/>
          </a:xfrm>
          <a:prstGeom prst="ellipse">
            <a:avLst/>
          </a:prstGeom>
          <a:solidFill>
            <a:srgbClr val="D9463E"/>
          </a:solidFill>
          <a:ln/>
        </p:spPr>
      </p:sp>
      <p:sp>
        <p:nvSpPr>
          <p:cNvPr id="9" name="Text 6"/>
          <p:cNvSpPr txBox="1"/>
          <p:nvPr/>
        </p:nvSpPr>
        <p:spPr>
          <a:xfrm>
            <a:off x="4919472" y="1465940"/>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10" name="Text 7"/>
          <p:cNvSpPr txBox="1"/>
          <p:nvPr/>
        </p:nvSpPr>
        <p:spPr>
          <a:xfrm>
            <a:off x="5340096" y="1401932"/>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140dB HDR GMSL Camera Demo in Real-World Driving</a:t>
            </a:r>
            <a:endParaRPr lang="en-US" sz="1050" dirty="0"/>
          </a:p>
        </p:txBody>
      </p:sp>
      <p:sp>
        <p:nvSpPr>
          <p:cNvPr id="11" name="Text 8"/>
          <p:cNvSpPr txBox="1"/>
          <p:nvPr/>
        </p:nvSpPr>
        <p:spPr>
          <a:xfrm>
            <a:off x="4919472" y="1859132"/>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e-con Systems（原廠官方頻道）　·　1:00（只看 0:14–0:40）</a:t>
            </a:r>
            <a:endParaRPr lang="en-US" sz="900" dirty="0"/>
          </a:p>
        </p:txBody>
      </p:sp>
      <p:sp>
        <p:nvSpPr>
          <p:cNvPr id="12" name="Text 9">
            <a:hlinkClick r:id="rId2" tooltip=""/>
          </p:cNvPr>
          <p:cNvSpPr txBox="1"/>
          <p:nvPr/>
        </p:nvSpPr>
        <p:spPr>
          <a:xfrm>
            <a:off x="4919472" y="2042012"/>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https://youtu.be/iAdlvfHqxPg</a:t>
            </a:r>
            <a:endParaRPr lang="en-US" sz="850" dirty="0"/>
          </a:p>
        </p:txBody>
      </p:sp>
      <p:sp>
        <p:nvSpPr>
          <p:cNvPr id="13" name="Shape 10"/>
          <p:cNvSpPr/>
          <p:nvPr/>
        </p:nvSpPr>
        <p:spPr>
          <a:xfrm>
            <a:off x="4919472" y="2316332"/>
            <a:ext cx="36576" cy="237744"/>
          </a:xfrm>
          <a:prstGeom prst="rect">
            <a:avLst/>
          </a:prstGeom>
          <a:solidFill>
            <a:srgbClr val="00A896"/>
          </a:solidFill>
          <a:ln/>
        </p:spPr>
      </p:sp>
      <p:sp>
        <p:nvSpPr>
          <p:cNvPr id="14" name="Text 11"/>
          <p:cNvSpPr txBox="1"/>
          <p:nvPr/>
        </p:nvSpPr>
        <p:spPr>
          <a:xfrm>
            <a:off x="5047488" y="227975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0:14 trong hầm: tường và đèn trần vẫn nhìn rõ, không thành một mảng đen</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0:14 在隧道裡：牆面和頂上那排燈都還看得清楚</a:t>
            </a:r>
            <a:endParaRPr lang="en-US" sz="950" dirty="0"/>
          </a:p>
        </p:txBody>
      </p:sp>
      <p:sp>
        <p:nvSpPr>
          <p:cNvPr id="15" name="Shape 12"/>
          <p:cNvSpPr/>
          <p:nvPr/>
        </p:nvSpPr>
        <p:spPr>
          <a:xfrm>
            <a:off x="4919472" y="2808987"/>
            <a:ext cx="36576" cy="237744"/>
          </a:xfrm>
          <a:prstGeom prst="rect">
            <a:avLst/>
          </a:prstGeom>
          <a:solidFill>
            <a:srgbClr val="00A896"/>
          </a:solidFill>
          <a:ln/>
        </p:spPr>
      </p:sp>
      <p:sp>
        <p:nvSpPr>
          <p:cNvPr id="16" name="Text 13"/>
          <p:cNvSpPr txBox="1"/>
          <p:nvPr/>
        </p:nvSpPr>
        <p:spPr>
          <a:xfrm>
            <a:off x="5047488" y="2772411"/>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0:30 ra khỏi hầm: tường tối hai bên và nắng ngoài cùng có mặt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0:30 出隧道口：兩邊的暗牆和外面的大太陽同時都在</a:t>
            </a:r>
            <a:endParaRPr lang="en-US" sz="950" dirty="0"/>
          </a:p>
        </p:txBody>
      </p:sp>
      <p:sp>
        <p:nvSpPr>
          <p:cNvPr id="17" name="Shape 14"/>
          <p:cNvSpPr/>
          <p:nvPr/>
        </p:nvSpPr>
        <p:spPr>
          <a:xfrm>
            <a:off x="4919472" y="3301642"/>
            <a:ext cx="36576" cy="237744"/>
          </a:xfrm>
          <a:prstGeom prst="rect">
            <a:avLst/>
          </a:prstGeom>
          <a:solidFill>
            <a:srgbClr val="00A896"/>
          </a:solidFill>
          <a:ln/>
        </p:spPr>
      </p:sp>
      <p:sp>
        <p:nvSpPr>
          <p:cNvPr id="18" name="Text 15"/>
          <p:cNvSpPr txBox="1"/>
          <p:nvPr/>
        </p:nvSpPr>
        <p:spPr>
          <a:xfrm>
            <a:off x="5047488" y="3265066"/>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Chữ trên màn hình: 140dB HDR — đúng con số của AR0233AT</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畫面上標的是 140dB HDR，和 AR0233AT 同一個數字</a:t>
            </a:r>
            <a:endParaRPr lang="en-US" sz="950" dirty="0"/>
          </a:p>
        </p:txBody>
      </p:sp>
      <p:sp>
        <p:nvSpPr>
          <p:cNvPr id="19" name="Shape 16"/>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20" name="Text 17"/>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Trái là hình minh hoạ, phải là quay thật. Dòng Dynamic Range quyết định đúng chuyện này.</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左邊是示意圖，右邊是真的開上路拍的。規格表上 Dynamic Range 那一行，決定的就是這一秒。</a:t>
            </a:r>
            <a:endParaRPr lang="en-US" sz="1150" dirty="0"/>
          </a:p>
        </p:txBody>
      </p:sp>
      <p:pic>
        <p:nvPicPr>
          <p:cNvPr id="22" name="Image 1"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23" name="Text 18"/>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20</a:t>
            </a:r>
            <a:endParaRPr lang="en-US" sz="900" dirty="0"/>
          </a:p>
        </p:txBody>
      </p:sp>
      <p:sp>
        <p:nvSpPr>
          <p:cNvPr id="24" name="Text 19"/>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3 / 3　LED flicker</a:t>
            </a:r>
            <a:endParaRPr lang="en-US" sz="1250" dirty="0"/>
          </a:p>
        </p:txBody>
      </p:sp>
      <p:sp>
        <p:nvSpPr>
          <p:cNvPr id="3" name="Shape 1"/>
          <p:cNvSpPr/>
          <p:nvPr/>
        </p:nvSpPr>
        <p:spPr>
          <a:xfrm>
            <a:off x="502920" y="1101852"/>
            <a:ext cx="3017520" cy="2514600"/>
          </a:xfrm>
          <a:prstGeom prst="roundRect">
            <a:avLst>
              <a:gd name="adj" fmla="val 4364"/>
            </a:avLst>
          </a:prstGeom>
          <a:solidFill>
            <a:srgbClr val="FFFFFF"/>
          </a:solidFill>
          <a:ln w="12700">
            <a:solidFill>
              <a:srgbClr val="DBE3EA"/>
            </a:solidFill>
            <a:prstDash val="solid"/>
          </a:ln>
        </p:spPr>
      </p:sp>
      <p:pic>
        <p:nvPicPr>
          <p:cNvPr id="4" name="Image 0" descr="/Users/tsengchenghsun/Class/carClass/Claude outputs/第五週(10-8)/src/img/w5_s05_ledflicker.gif">    </p:cNvPr>
          <p:cNvPicPr>
            <a:picLocks noChangeAspect="1"/>
          </p:cNvPicPr>
          <p:nvPr/>
        </p:nvPicPr>
        <p:blipFill>
          <a:blip r:embed="rId1"/>
          <a:stretch>
            <a:fillRect/>
          </a:stretch>
        </p:blipFill>
        <p:spPr>
          <a:xfrm>
            <a:off x="576072" y="1310640"/>
            <a:ext cx="2871216" cy="1914144"/>
          </a:xfrm>
          <a:prstGeom prst="rect">
            <a:avLst/>
          </a:prstGeom>
        </p:spPr>
      </p:pic>
      <p:sp>
        <p:nvSpPr>
          <p:cNvPr id="5" name="Text 2"/>
          <p:cNvSpPr txBox="1"/>
          <p:nvPr/>
        </p:nvSpPr>
        <p:spPr>
          <a:xfrm>
            <a:off x="576072" y="3396996"/>
            <a:ext cx="287121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示意圖：課程自製（src/tools_make_lfm_gif.py）</a:t>
            </a:r>
            <a:endParaRPr lang="en-US" sz="700" dirty="0"/>
          </a:p>
        </p:txBody>
      </p:sp>
      <p:sp>
        <p:nvSpPr>
          <p:cNvPr id="6" name="Text 3"/>
          <p:cNvSpPr txBox="1"/>
          <p:nvPr/>
        </p:nvSpPr>
        <p:spPr>
          <a:xfrm>
            <a:off x="3831336" y="914400"/>
            <a:ext cx="4809744" cy="2889504"/>
          </a:xfrm>
          <a:prstGeom prst="rect">
            <a:avLst/>
          </a:prstGeom>
          <a:noFill/>
          <a:ln/>
        </p:spPr>
        <p:txBody>
          <a:bodyPr wrap="square" lIns="0" tIns="0" rIns="0" bIns="0" rtlCol="0" anchor="ctr"/>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2300" dirty="0"/>
          </a:p>
          <a:p>
            <a:pPr indent="0" marL="0">
              <a:lnSpc>
                <a:spcPct val="120000"/>
              </a:lnSpc>
              <a:buNone/>
            </a:pPr>
            <a:r>
              <a:rPr lang="en-US" sz="1400" b="1"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23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Đèn tín hiệu và đèn hậu LED nháy hơn một trăm lần mỗi giây, mỗi lần chỉ sáng 1/10 thời gian. Ban ngày phơi sáng rất ngắn nên camera hay bắt trượt.</a:t>
            </a:r>
            <a:endParaRPr lang="en-US" sz="23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紅綠燈和 LED 尾燈每秒閃一百次以上，而且一次只亮十分之一的時間。白天為了不過曝，快門很短，常常就剛好錯過。</a:t>
            </a:r>
            <a:endParaRPr lang="en-US" sz="23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7 / 20</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2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Lidar: laser loại nào, có hại mắt không, có xuyên mưa không</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光達：雷射用哪一種、傷不傷眼睛、能不能看穿雨</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Bước sóng · cấp an toàn laser · số lần phản hồi</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波長・雷射安全等級・回波次數</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8 / 20</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88455" y="0"/>
          <a:ext cx="1" cy="1"/>
          <a:chOff x="0" y="0"/>
          <a:chExt cx="0" cy="0"/>
        </a:xfrm>
      </p:grpSpPr>
      <p:sp>
        <p:nvSpPr>
          <p:cNvPr id="2" name="Text 0"/>
          <p:cNvSpPr txBox="1"/>
          <p:nvPr/>
        </p:nvSpPr>
        <p:spPr>
          <a:xfrm>
            <a:off x="581645" y="286947"/>
            <a:ext cx="7980709" cy="824972"/>
          </a:xfrm>
          <a:prstGeom prst="rect">
            <a:avLst/>
          </a:prstGeom>
          <a:noFill/>
          <a:ln/>
        </p:spPr>
        <p:txBody>
          <a:bodyPr wrap="square" lIns="0" tIns="0" rIns="0" bIns="0" rtlCol="0" anchor="t"/>
          <a:lstStyle/>
          <a:p>
            <a:pPr indent="0" marL="0">
              <a:lnSpc>
                <a:spcPct val="116000"/>
              </a:lnSpc>
              <a:buNone/>
            </a:pPr>
            <a:r>
              <a:rPr lang="en-US" sz="216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2160" dirty="0"/>
          </a:p>
          <a:p>
            <a:pPr indent="0" marL="0">
              <a:lnSpc>
                <a:spcPct val="116000"/>
              </a:lnSpc>
              <a:buNone/>
            </a:pPr>
            <a:r>
              <a:rPr lang="en-US" sz="132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2160" dirty="0"/>
          </a:p>
        </p:txBody>
      </p:sp>
      <p:sp>
        <p:nvSpPr>
          <p:cNvPr id="3" name="Shape 1"/>
          <p:cNvSpPr/>
          <p:nvPr/>
        </p:nvSpPr>
        <p:spPr>
          <a:xfrm>
            <a:off x="581645" y="1111919"/>
            <a:ext cx="7980709" cy="699433"/>
          </a:xfrm>
          <a:prstGeom prst="roundRect">
            <a:avLst>
              <a:gd name="adj" fmla="val 10256"/>
            </a:avLst>
          </a:prstGeom>
          <a:solidFill>
            <a:srgbClr val="EAF6F4"/>
          </a:solidFill>
          <a:ln/>
        </p:spPr>
      </p:sp>
      <p:sp>
        <p:nvSpPr>
          <p:cNvPr id="4" name="Text 2"/>
          <p:cNvSpPr txBox="1"/>
          <p:nvPr/>
        </p:nvSpPr>
        <p:spPr>
          <a:xfrm>
            <a:off x="725119" y="1183656"/>
            <a:ext cx="7693763" cy="555960"/>
          </a:xfrm>
          <a:prstGeom prst="rect">
            <a:avLst/>
          </a:prstGeom>
          <a:noFill/>
          <a:ln/>
        </p:spPr>
        <p:txBody>
          <a:bodyPr wrap="square" lIns="0" tIns="0" rIns="0" bIns="0" rtlCol="0" anchor="t"/>
          <a:lstStyle/>
          <a:p>
            <a:pPr indent="0" marL="0">
              <a:lnSpc>
                <a:spcPct val="110000"/>
              </a:lnSpc>
              <a:buNone/>
            </a:pPr>
            <a:r>
              <a:rPr lang="en-US" sz="113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1130" dirty="0"/>
          </a:p>
          <a:p>
            <a:pPr indent="0" marL="0">
              <a:lnSpc>
                <a:spcPct val="110000"/>
              </a:lnSpc>
              <a:buNone/>
            </a:pPr>
            <a:r>
              <a:rPr lang="en-US" sz="98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113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81645" y="1918957"/>
          <a:ext cx="7980709" cy="896709"/>
        </p:xfrm>
        <a:graphic>
          <a:graphicData uri="http://schemas.openxmlformats.org/drawingml/2006/table">
            <a:tbl>
              <a:tblPr/>
              <a:tblGrid>
                <a:gridCol w="1995177"/>
                <a:gridCol w="1995177"/>
                <a:gridCol w="1995177"/>
                <a:gridCol w="1995177"/>
              </a:tblGrid>
              <a:tr h="286947">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Bước sóng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波長</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Ai dùng</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誰在用</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Được lợi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好處</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930" b="1" dirty="0">
                          <a:solidFill>
                            <a:srgbClr val="FFFFFF"/>
                          </a:solidFill>
                          <a:latin typeface="Arial" pitchFamily="34" charset="0"/>
                          <a:ea typeface="Arial" pitchFamily="34" charset="-122"/>
                          <a:cs typeface="Arial" pitchFamily="34" charset="-120"/>
                        </a:rPr>
                        <a:t>Trả giá gì</a:t>
                      </a:r>
                      <a:endParaRPr lang="en-US" sz="1180" dirty="0"/>
                    </a:p>
                    <a:p>
                      <a:pPr algn="l" indent="0" marL="0">
                        <a:buNone/>
                      </a:pPr>
                      <a:r>
                        <a:rPr lang="en-US" sz="780" dirty="0">
                          <a:solidFill>
                            <a:srgbClr val="CFE0EC"/>
                          </a:solidFill>
                          <a:latin typeface="微軟正黑體" pitchFamily="34" charset="0"/>
                          <a:ea typeface="微軟正黑體" pitchFamily="34" charset="-122"/>
                          <a:cs typeface="微軟正黑體" pitchFamily="34" charset="-120"/>
                        </a:rPr>
                        <a:t>代價</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905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905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Phổ biến nhất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最常見</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silic, rẻ</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用矽做接收器，便宜</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Tới võng mạc — công suất bị siết</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直達視網膜，功率被壓住</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865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865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Ouster OS1</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Ouster OS1</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Cùng họ với 905</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跟 905 同一類</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Giống trên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同上</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286947">
                <a:tc>
                  <a:txBody>
                    <a:bodyPr/>
                    <a:lstStyle/>
                    <a:p>
                      <a:pPr algn="l" indent="0" marL="0">
                        <a:buNone/>
                      </a:pPr>
                      <a:r>
                        <a:rPr lang="en-US" sz="930" b="1" dirty="0">
                          <a:solidFill>
                            <a:srgbClr val="0B1F3A"/>
                          </a:solidFill>
                          <a:latin typeface="Arial" pitchFamily="34" charset="0"/>
                          <a:ea typeface="Arial" pitchFamily="34" charset="-122"/>
                          <a:cs typeface="Arial" pitchFamily="34" charset="-120"/>
                        </a:rPr>
                        <a:t>1550 nm</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1550 奈米</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Lidar tầm xa cao cấp</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高階長距光達</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930" dirty="0">
                          <a:solidFill>
                            <a:srgbClr val="1A2733"/>
                          </a:solidFill>
                          <a:latin typeface="Arial" pitchFamily="34" charset="0"/>
                          <a:ea typeface="Arial" pitchFamily="34" charset="-122"/>
                          <a:cs typeface="Arial" pitchFamily="34" charset="-120"/>
                        </a:rPr>
                        <a:t>Cảm biến InGaAs, đắt hơn nhiều</a:t>
                      </a:r>
                      <a:endParaRPr lang="en-US" sz="1180" dirty="0"/>
                    </a:p>
                    <a:p>
                      <a:pPr algn="l" indent="0" marL="0">
                        <a:buNone/>
                      </a:pPr>
                      <a:r>
                        <a:rPr lang="en-US" sz="78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118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581645" y="4180796"/>
            <a:ext cx="7980709" cy="448354"/>
          </a:xfrm>
          <a:prstGeom prst="rect">
            <a:avLst/>
          </a:prstGeom>
          <a:noFill/>
          <a:ln/>
        </p:spPr>
        <p:txBody>
          <a:bodyPr wrap="square" lIns="0" tIns="0" rIns="0" bIns="0" rtlCol="0" anchor="t"/>
          <a:lstStyle/>
          <a:p>
            <a:pPr indent="0" marL="0">
              <a:lnSpc>
                <a:spcPct val="116000"/>
              </a:lnSpc>
              <a:buNone/>
            </a:pPr>
            <a:r>
              <a:rPr lang="en-US" sz="1180" b="1" dirty="0">
                <a:solidFill>
                  <a:srgbClr val="007F72"/>
                </a:solidFill>
                <a:latin typeface="Arial" pitchFamily="34" charset="0"/>
                <a:ea typeface="Arial" pitchFamily="34" charset="-122"/>
                <a:cs typeface="Arial" pitchFamily="34" charset="-120"/>
              </a:rPr>
              <a:t>Một dòng số, ba chuyện: an toàn, nhìn xa, và giá.</a:t>
            </a:r>
            <a:endParaRPr lang="en-US" sz="1180" dirty="0"/>
          </a:p>
          <a:p>
            <a:pPr indent="0" marL="0">
              <a:lnSpc>
                <a:spcPct val="116000"/>
              </a:lnSpc>
              <a:buNone/>
            </a:pPr>
            <a:r>
              <a:rPr lang="en-US" sz="108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118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96060" y="125539"/>
            <a:ext cx="807038"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9 / 20</a:t>
            </a:r>
            <a:endParaRPr lang="en-US" sz="880" dirty="0"/>
          </a:p>
        </p:txBody>
      </p:sp>
      <p:sp>
        <p:nvSpPr>
          <p:cNvPr id="10" name="Text 5"/>
          <p:cNvSpPr txBox="1"/>
          <p:nvPr/>
        </p:nvSpPr>
        <p:spPr>
          <a:xfrm>
            <a:off x="1030000" y="125539"/>
            <a:ext cx="1972760" cy="251078"/>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An toàn mắt · 眼睛安全</a:t>
            </a:r>
            <a:endParaRPr lang="en-US" sz="1250" dirty="0"/>
          </a:p>
        </p:txBody>
      </p:sp>
      <p:sp>
        <p:nvSpPr>
          <p:cNvPr id="3" name="Text 1"/>
          <p:cNvSpPr txBox="1"/>
          <p:nvPr/>
        </p:nvSpPr>
        <p:spPr>
          <a:xfrm>
            <a:off x="502920" y="914400"/>
            <a:ext cx="8138160" cy="157276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Nghĩa là dùng bình thường, nhìn thẳng vào nó cũng không hại mắt.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意思是在正常使用的情況下，就算直視它也不會傷到眼睛。</a:t>
            </a:r>
            <a:endParaRPr lang="en-US" sz="1900" dirty="0"/>
          </a:p>
        </p:txBody>
      </p:sp>
      <p:sp>
        <p:nvSpPr>
          <p:cNvPr id="4" name="Shape 2"/>
          <p:cNvSpPr/>
          <p:nvPr/>
        </p:nvSpPr>
        <p:spPr>
          <a:xfrm>
            <a:off x="502920" y="2615184"/>
            <a:ext cx="8138160" cy="1261872"/>
          </a:xfrm>
          <a:prstGeom prst="roundRect">
            <a:avLst>
              <a:gd name="adj" fmla="val 6522"/>
            </a:avLst>
          </a:prstGeom>
          <a:solidFill>
            <a:srgbClr val="FFFFFF"/>
          </a:solidFill>
          <a:ln w="12700">
            <a:solidFill>
              <a:srgbClr val="DBE3EA"/>
            </a:solidFill>
            <a:prstDash val="solid"/>
          </a:ln>
        </p:spPr>
      </p:sp>
      <p:pic>
        <p:nvPicPr>
          <p:cNvPr id="5" name="Image 0" descr="/Users/tsengchenghsun/Class/carClass/Claude outputs/第五週(10-8)/src/img/w5_os1_laser.png">    </p:cNvPr>
          <p:cNvPicPr>
            <a:picLocks noChangeAspect="1"/>
          </p:cNvPicPr>
          <p:nvPr/>
        </p:nvPicPr>
        <p:blipFill>
          <a:blip r:embed="rId1"/>
          <a:stretch>
            <a:fillRect/>
          </a:stretch>
        </p:blipFill>
        <p:spPr>
          <a:xfrm>
            <a:off x="2607162" y="2706624"/>
            <a:ext cx="3929676" cy="91440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p.2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10 / 20</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Số lần phản hồi · 回波次數</a:t>
            </a:r>
            <a:endParaRPr lang="en-US" sz="1250" dirty="0"/>
          </a:p>
        </p:txBody>
      </p:sp>
      <p:sp>
        <p:nvSpPr>
          <p:cNvPr id="3" name="Text 1"/>
          <p:cNvSpPr txBox="1"/>
          <p:nvPr/>
        </p:nvSpPr>
        <p:spPr>
          <a:xfrm>
            <a:off x="502920" y="914400"/>
            <a:ext cx="8138160" cy="1970282"/>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Tia xuyên mưa, lá cây, khói bụi rồi mới chạm vật thật. Chỉ nhận một lần vọng thì hạt mưa thành vật cản.</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雷射穿過雨幕、樹葉、煙塵才打到真正的東西。只收第一次回波，就可能把雨滴當成障礙物。</a:t>
            </a:r>
            <a:endParaRPr lang="en-US" sz="1900" dirty="0"/>
          </a:p>
        </p:txBody>
      </p:sp>
      <p:sp>
        <p:nvSpPr>
          <p:cNvPr id="4" name="Shape 2"/>
          <p:cNvSpPr/>
          <p:nvPr/>
        </p:nvSpPr>
        <p:spPr>
          <a:xfrm>
            <a:off x="502920" y="3012698"/>
            <a:ext cx="8138160" cy="864358"/>
          </a:xfrm>
          <a:prstGeom prst="roundRect">
            <a:avLst>
              <a:gd name="adj" fmla="val 9521"/>
            </a:avLst>
          </a:prstGeom>
          <a:solidFill>
            <a:srgbClr val="FFFFFF"/>
          </a:solidFill>
          <a:ln w="12700">
            <a:solidFill>
              <a:srgbClr val="DBE3EA"/>
            </a:solidFill>
            <a:prstDash val="solid"/>
          </a:ln>
        </p:spPr>
      </p:sp>
      <p:pic>
        <p:nvPicPr>
          <p:cNvPr id="5" name="Image 0" descr="/Users/tsengchenghsun/Class/carClass/Claude outputs/第五週(10-8)/src/img/w5_os1_returns.png">    </p:cNvPr>
          <p:cNvPicPr>
            <a:picLocks noChangeAspect="1"/>
          </p:cNvPicPr>
          <p:nvPr/>
        </p:nvPicPr>
        <p:blipFill>
          <a:blip r:embed="rId1"/>
          <a:stretch>
            <a:fillRect/>
          </a:stretch>
        </p:blipFill>
        <p:spPr>
          <a:xfrm>
            <a:off x="576072" y="3104138"/>
            <a:ext cx="7991856" cy="516886"/>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p.1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20</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1" cy="1"/>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Mặt gương và vật phản quang: không về, về sai chỗ, hoặc quá chói</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鏡面與反光材質：光回不來、回錯地方、或太亮</a:t>
            </a:r>
            <a:endParaRPr lang="en-US" sz="2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322366"/>
          <a:ext cx="8138160" cy="914400"/>
        </p:xfrm>
        <a:graphic>
          <a:graphicData uri="http://schemas.openxmlformats.org/drawingml/2006/table">
            <a:tbl>
              <a:tblPr/>
              <a:tblGrid>
                <a:gridCol w="2712720"/>
                <a:gridCol w="2712720"/>
                <a:gridCol w="2712720"/>
              </a:tblGrid>
              <a:tr h="347472">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Bề mặt này làm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這個表面做了什麼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Thấy gì trên point cloud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點雲上看到什麼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Hiện xử lý thế nào</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目前怎麼處理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Hắt cả chùm đi, không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整束反射走，一點都不回來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Thành lỗ: kính toà nhà, cản mạ crôm, đường ướt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那一塊變成洞：玻璃帷幕、鍍鉻保險桿、濕路面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Radar bù: sóng mm gặp gương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靠雷達補：毫米波碰鏡面的行為不一樣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Dội sang vật bên cạnh rồi mới về</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先彈到旁邊的東西，再原路回來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Mọc ra xe không tồn tại ở phía sau gương (ghost point)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鏡子後面長出不存在的車（鬼點）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Nhiều lần phản hồi + lọc thời gian: ghost không ổn định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多次回波＋時間比對：鬼點不會穩定移動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47472">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Phản xạ ngược (áo phản quang, biển báo)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回歸反射（反光背心、路牌）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Sáng quá mức, thành một quầng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亮到爆表，變成一團光暈</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Xem cường độ: phân bố khác hẳn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看反射強度：分布和漫反射差很多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3679169"/>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Không chiêu nào chặn được hết. Cách thật là ghép một tổ cảm biến yếu ở chỗ khác nhau.</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沒有一招擋得住全部。真正的解法是湊一組「弱點不一樣」的感測器。</a:t>
            </a:r>
            <a:endParaRPr lang="en-US" sz="1200" dirty="0"/>
          </a:p>
        </p:txBody>
      </p:sp>
      <p:pic>
        <p:nvPicPr>
          <p:cNvPr id="6"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7" name="Text 2"/>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20</a:t>
            </a:r>
            <a:endParaRPr lang="en-US" sz="900" dirty="0"/>
          </a:p>
        </p:txBody>
      </p:sp>
      <p:sp>
        <p:nvSpPr>
          <p:cNvPr id="8" name="Text 3"/>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Thử nhanh · 小練習（3 分鐘動手）</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250" dirty="0"/>
          </a:p>
        </p:txBody>
      </p:sp>
      <p:sp>
        <p:nvSpPr>
          <p:cNvPr id="20" name="Text 17"/>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13 / 20</a:t>
            </a:r>
            <a:endParaRPr lang="en-US" sz="900" dirty="0"/>
          </a:p>
        </p:txBody>
      </p:sp>
      <p:sp>
        <p:nvSpPr>
          <p:cNvPr id="21" name="Text 18"/>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1691640"/>
            <a:ext cx="4572000" cy="310896"/>
          </a:xfrm>
          <a:prstGeom prst="rect">
            <a:avLst/>
          </a:prstGeom>
          <a:noFill/>
          <a:ln/>
        </p:spPr>
        <p:txBody>
          <a:bodyPr wrap="square" lIns="0" tIns="0" rIns="0" bIns="0" rtlCol="0" anchor="ctr"/>
          <a:lstStyle/>
          <a:p>
            <a:pPr indent="0" marL="0">
              <a:buNone/>
            </a:pPr>
            <a:r>
              <a:rPr lang="en-US" sz="1350" b="1" dirty="0">
                <a:solidFill>
                  <a:srgbClr val="FFB020"/>
                </a:solidFill>
                <a:latin typeface="Arial" pitchFamily="34" charset="0"/>
                <a:ea typeface="Arial" pitchFamily="34" charset="-122"/>
                <a:cs typeface="Arial" pitchFamily="34" charset="-120"/>
              </a:rPr>
              <a:t>Phần 3 / 3</a:t>
            </a:r>
            <a:endParaRPr lang="en-US" sz="1350" dirty="0"/>
          </a:p>
        </p:txBody>
      </p:sp>
      <p:sp>
        <p:nvSpPr>
          <p:cNvPr id="5" name="Text 3"/>
          <p:cNvSpPr txBox="1"/>
          <p:nvPr/>
        </p:nvSpPr>
        <p:spPr>
          <a:xfrm>
            <a:off x="502920" y="2048256"/>
            <a:ext cx="7315200" cy="1188720"/>
          </a:xfrm>
          <a:prstGeom prst="rect">
            <a:avLst/>
          </a:prstGeom>
          <a:noFill/>
          <a:ln/>
        </p:spPr>
        <p:txBody>
          <a:bodyPr wrap="square" lIns="0" tIns="0" rIns="0" bIns="0" rtlCol="0" anchor="t"/>
          <a:lstStyle/>
          <a:p>
            <a:pPr indent="0" marL="0">
              <a:lnSpc>
                <a:spcPct val="118000"/>
              </a:lnSpc>
              <a:buNone/>
            </a:pPr>
            <a:r>
              <a:rPr lang="en-US" sz="2900" b="1" dirty="0">
                <a:solidFill>
                  <a:srgbClr val="FFFFFF"/>
                </a:solidFill>
                <a:latin typeface="Arial" pitchFamily="34" charset="0"/>
                <a:ea typeface="Arial" pitchFamily="34" charset="-122"/>
                <a:cs typeface="Arial" pitchFamily="34" charset="-120"/>
              </a:rPr>
              <a:t>Hai cảm biến tốt, ghép lại vẫn sai</a:t>
            </a:r>
            <a:endParaRPr lang="en-US" sz="2900" dirty="0"/>
          </a:p>
          <a:p>
            <a:pPr indent="0" marL="0">
              <a:lnSpc>
                <a:spcPct val="118000"/>
              </a:lnSpc>
              <a:buNone/>
            </a:pPr>
            <a:r>
              <a:rPr lang="en-US" sz="170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900" dirty="0"/>
          </a:p>
        </p:txBody>
      </p:sp>
      <p:sp>
        <p:nvSpPr>
          <p:cNvPr id="6" name="Text 4"/>
          <p:cNvSpPr txBox="1"/>
          <p:nvPr/>
        </p:nvSpPr>
        <p:spPr>
          <a:xfrm>
            <a:off x="502920" y="3346704"/>
            <a:ext cx="7315200" cy="640080"/>
          </a:xfrm>
          <a:prstGeom prst="rect">
            <a:avLst/>
          </a:prstGeom>
          <a:noFill/>
          <a:ln/>
        </p:spPr>
        <p:txBody>
          <a:bodyPr wrap="square" lIns="0" tIns="0" rIns="0" bIns="0" rtlCol="0" anchor="t"/>
          <a:lstStyle/>
          <a:p>
            <a:pPr indent="0" marL="0">
              <a:lnSpc>
                <a:spcPct val="120000"/>
              </a:lnSpc>
              <a:buNone/>
            </a:pPr>
            <a:r>
              <a:rPr lang="en-US" sz="1350" dirty="0">
                <a:solidFill>
                  <a:srgbClr val="AFC3D4"/>
                </a:solidFill>
                <a:latin typeface="Arial" pitchFamily="34" charset="0"/>
                <a:ea typeface="Arial" pitchFamily="34" charset="-122"/>
                <a:cs typeface="Arial" pitchFamily="34" charset="-120"/>
              </a:rPr>
              <a:t>Hiệu chuẩn và đồng bộ thời gian</a:t>
            </a:r>
            <a:endParaRPr lang="en-US" sz="1350" dirty="0"/>
          </a:p>
          <a:p>
            <a:pPr indent="0" marL="0">
              <a:lnSpc>
                <a:spcPct val="120000"/>
              </a:lnSpc>
              <a:buNone/>
            </a:pPr>
            <a:r>
              <a:rPr lang="en-US" sz="1200" dirty="0">
                <a:solidFill>
                  <a:srgbClr val="8AA0B4"/>
                </a:solidFill>
                <a:latin typeface="微軟正黑體" pitchFamily="34" charset="0"/>
                <a:ea typeface="微軟正黑體" pitchFamily="34" charset="-122"/>
                <a:cs typeface="微軟正黑體" pitchFamily="34" charset="-120"/>
              </a:rPr>
              <a:t>標定與時間同步</a:t>
            </a:r>
            <a:endParaRPr lang="en-US" sz="1350" dirty="0"/>
          </a:p>
        </p:txBody>
      </p:sp>
      <p:sp>
        <p:nvSpPr>
          <p:cNvPr id="8"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20</a:t>
            </a:r>
            <a:endParaRPr lang="en-US" sz="900" dirty="0"/>
          </a:p>
        </p:txBody>
      </p:sp>
      <p:sp>
        <p:nvSpPr>
          <p:cNvPr id="9"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126158" y="0"/>
          <a:ext cx="1" cy="1"/>
          <a:chOff x="0" y="0"/>
          <a:chExt cx="0" cy="0"/>
        </a:xfrm>
      </p:grpSpPr>
      <p:sp>
        <p:nvSpPr>
          <p:cNvPr id="2" name="Text 0"/>
          <p:cNvSpPr txBox="1"/>
          <p:nvPr/>
        </p:nvSpPr>
        <p:spPr>
          <a:xfrm>
            <a:off x="615201" y="284534"/>
            <a:ext cx="7913598" cy="818035"/>
          </a:xfrm>
          <a:prstGeom prst="rect">
            <a:avLst/>
          </a:prstGeom>
          <a:noFill/>
          <a:ln/>
        </p:spPr>
        <p:txBody>
          <a:bodyPr wrap="square" lIns="0" tIns="0" rIns="0" bIns="0" rtlCol="0" anchor="t"/>
          <a:lstStyle/>
          <a:p>
            <a:pPr indent="0" marL="0">
              <a:lnSpc>
                <a:spcPct val="116000"/>
              </a:lnSpc>
              <a:buNone/>
            </a:pPr>
            <a:r>
              <a:rPr lang="en-US" sz="214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2140" dirty="0"/>
          </a:p>
          <a:p>
            <a:pPr indent="0" marL="0">
              <a:lnSpc>
                <a:spcPct val="116000"/>
              </a:lnSpc>
              <a:buNone/>
            </a:pPr>
            <a:r>
              <a:rPr lang="en-US" sz="131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2140" dirty="0"/>
          </a:p>
        </p:txBody>
      </p:sp>
      <p:sp>
        <p:nvSpPr>
          <p:cNvPr id="3" name="Shape 1"/>
          <p:cNvSpPr/>
          <p:nvPr/>
        </p:nvSpPr>
        <p:spPr>
          <a:xfrm>
            <a:off x="615201"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1614033" y="1463711"/>
            <a:ext cx="462368" cy="462368"/>
          </a:xfrm>
          <a:prstGeom prst="ellipse">
            <a:avLst/>
          </a:prstGeom>
          <a:solidFill>
            <a:srgbClr val="0B1F3A"/>
          </a:solidFill>
          <a:ln/>
        </p:spPr>
      </p:sp>
      <p:sp>
        <p:nvSpPr>
          <p:cNvPr id="5" name="Text 3"/>
          <p:cNvSpPr txBox="1"/>
          <p:nvPr/>
        </p:nvSpPr>
        <p:spPr>
          <a:xfrm>
            <a:off x="1614033"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1</a:t>
            </a:r>
            <a:endParaRPr lang="en-US" sz="1460" dirty="0"/>
          </a:p>
        </p:txBody>
      </p:sp>
      <p:sp>
        <p:nvSpPr>
          <p:cNvPr id="6" name="Text 4"/>
          <p:cNvSpPr txBox="1"/>
          <p:nvPr/>
        </p:nvSpPr>
        <p:spPr>
          <a:xfrm>
            <a:off x="739684"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trong</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內參</a:t>
            </a:r>
            <a:endParaRPr lang="en-US" sz="1360" dirty="0"/>
          </a:p>
        </p:txBody>
      </p:sp>
      <p:sp>
        <p:nvSpPr>
          <p:cNvPr id="7" name="Text 5"/>
          <p:cNvSpPr txBox="1"/>
          <p:nvPr/>
        </p:nvSpPr>
        <p:spPr>
          <a:xfrm>
            <a:off x="739684"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Ống kính méo bao nhiêu</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Tâm ảnh ở đâu</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鏡頭扭曲多少</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畫面中心在哪</a:t>
            </a:r>
            <a:endParaRPr lang="en-US" sz="1120" dirty="0"/>
          </a:p>
        </p:txBody>
      </p:sp>
      <p:sp>
        <p:nvSpPr>
          <p:cNvPr id="8" name="Text 6"/>
          <p:cNvSpPr txBox="1"/>
          <p:nvPr/>
        </p:nvSpPr>
        <p:spPr>
          <a:xfrm>
            <a:off x="3075233"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9" name="Shape 7"/>
          <p:cNvSpPr/>
          <p:nvPr/>
        </p:nvSpPr>
        <p:spPr>
          <a:xfrm>
            <a:off x="3341984"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40816" y="1463711"/>
            <a:ext cx="462368" cy="462368"/>
          </a:xfrm>
          <a:prstGeom prst="ellipse">
            <a:avLst/>
          </a:prstGeom>
          <a:solidFill>
            <a:srgbClr val="00A896"/>
          </a:solidFill>
          <a:ln/>
        </p:spPr>
      </p:sp>
      <p:sp>
        <p:nvSpPr>
          <p:cNvPr id="11" name="Text 9"/>
          <p:cNvSpPr txBox="1"/>
          <p:nvPr/>
        </p:nvSpPr>
        <p:spPr>
          <a:xfrm>
            <a:off x="4340816"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2</a:t>
            </a:r>
            <a:endParaRPr lang="en-US" sz="1460" dirty="0"/>
          </a:p>
        </p:txBody>
      </p:sp>
      <p:sp>
        <p:nvSpPr>
          <p:cNvPr id="12" name="Text 10"/>
          <p:cNvSpPr txBox="1"/>
          <p:nvPr/>
        </p:nvSpPr>
        <p:spPr>
          <a:xfrm>
            <a:off x="3466467"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Tham số ngoài</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外參</a:t>
            </a:r>
            <a:endParaRPr lang="en-US" sz="1360" dirty="0"/>
          </a:p>
        </p:txBody>
      </p:sp>
      <p:sp>
        <p:nvSpPr>
          <p:cNvPr id="13" name="Text 11"/>
          <p:cNvSpPr txBox="1"/>
          <p:nvPr/>
        </p:nvSpPr>
        <p:spPr>
          <a:xfrm>
            <a:off x="3466467"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Camera và lidar</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cách nhau bao xa, lệch mấy độ</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相機和光達</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相距多遠、差幾度</a:t>
            </a:r>
            <a:endParaRPr lang="en-US" sz="1120" dirty="0"/>
          </a:p>
        </p:txBody>
      </p:sp>
      <p:sp>
        <p:nvSpPr>
          <p:cNvPr id="14" name="Text 12"/>
          <p:cNvSpPr txBox="1"/>
          <p:nvPr/>
        </p:nvSpPr>
        <p:spPr>
          <a:xfrm>
            <a:off x="5802016" y="2175045"/>
            <a:ext cx="266751" cy="355667"/>
          </a:xfrm>
          <a:prstGeom prst="rect">
            <a:avLst/>
          </a:prstGeom>
          <a:noFill/>
          <a:ln/>
        </p:spPr>
        <p:txBody>
          <a:bodyPr wrap="square" lIns="0" tIns="0" rIns="0" bIns="0" rtlCol="0" anchor="ctr"/>
          <a:lstStyle/>
          <a:p>
            <a:pPr algn="ctr" indent="0" marL="0">
              <a:buNone/>
            </a:pPr>
            <a:r>
              <a:rPr lang="en-US" sz="1850" b="1" dirty="0">
                <a:solidFill>
                  <a:srgbClr val="00A896"/>
                </a:solidFill>
                <a:latin typeface="微軟正黑體" pitchFamily="34" charset="0"/>
                <a:ea typeface="微軟正黑體" pitchFamily="34" charset="-122"/>
                <a:cs typeface="微軟正黑體" pitchFamily="34" charset="-120"/>
              </a:rPr>
              <a:t>→</a:t>
            </a:r>
            <a:endParaRPr lang="en-US" sz="1850" dirty="0"/>
          </a:p>
        </p:txBody>
      </p:sp>
      <p:sp>
        <p:nvSpPr>
          <p:cNvPr id="15" name="Shape 13"/>
          <p:cNvSpPr/>
          <p:nvPr/>
        </p:nvSpPr>
        <p:spPr>
          <a:xfrm>
            <a:off x="6068767" y="1285877"/>
            <a:ext cx="2460032" cy="2649722"/>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7067599" y="1463711"/>
            <a:ext cx="462368" cy="462368"/>
          </a:xfrm>
          <a:prstGeom prst="ellipse">
            <a:avLst/>
          </a:prstGeom>
          <a:solidFill>
            <a:srgbClr val="0B1F3A"/>
          </a:solidFill>
          <a:ln/>
        </p:spPr>
      </p:sp>
      <p:sp>
        <p:nvSpPr>
          <p:cNvPr id="17" name="Text 15"/>
          <p:cNvSpPr txBox="1"/>
          <p:nvPr/>
        </p:nvSpPr>
        <p:spPr>
          <a:xfrm>
            <a:off x="7067599" y="1561519"/>
            <a:ext cx="462368" cy="266751"/>
          </a:xfrm>
          <a:prstGeom prst="rect">
            <a:avLst/>
          </a:prstGeom>
          <a:noFill/>
          <a:ln/>
        </p:spPr>
        <p:txBody>
          <a:bodyPr wrap="square" lIns="0" tIns="0" rIns="0" bIns="0" rtlCol="0" anchor="ctr"/>
          <a:lstStyle/>
          <a:p>
            <a:pPr algn="ctr" indent="0" marL="0">
              <a:buNone/>
            </a:pPr>
            <a:r>
              <a:rPr lang="en-US" sz="1460" b="1" dirty="0">
                <a:solidFill>
                  <a:srgbClr val="FFFFFF"/>
                </a:solidFill>
                <a:latin typeface="Arial" pitchFamily="34" charset="0"/>
                <a:ea typeface="Arial" pitchFamily="34" charset="-122"/>
                <a:cs typeface="Arial" pitchFamily="34" charset="-120"/>
              </a:rPr>
              <a:t>3</a:t>
            </a:r>
            <a:endParaRPr lang="en-US" sz="1460" dirty="0"/>
          </a:p>
        </p:txBody>
      </p:sp>
      <p:sp>
        <p:nvSpPr>
          <p:cNvPr id="18" name="Text 16"/>
          <p:cNvSpPr txBox="1"/>
          <p:nvPr/>
        </p:nvSpPr>
        <p:spPr>
          <a:xfrm>
            <a:off x="6193250" y="2014995"/>
            <a:ext cx="2211065" cy="640201"/>
          </a:xfrm>
          <a:prstGeom prst="rect">
            <a:avLst/>
          </a:prstGeom>
          <a:noFill/>
          <a:ln/>
        </p:spPr>
        <p:txBody>
          <a:bodyPr wrap="square" lIns="0" tIns="0" rIns="0" bIns="0" rtlCol="0" anchor="t"/>
          <a:lstStyle/>
          <a:p>
            <a:pPr algn="ctr" indent="0" marL="0">
              <a:lnSpc>
                <a:spcPct val="116000"/>
              </a:lnSpc>
              <a:buNone/>
            </a:pPr>
            <a:r>
              <a:rPr lang="en-US" sz="1360" b="1" dirty="0">
                <a:solidFill>
                  <a:srgbClr val="0B1F3A"/>
                </a:solidFill>
                <a:latin typeface="Arial" pitchFamily="34" charset="0"/>
                <a:ea typeface="Arial" pitchFamily="34" charset="-122"/>
                <a:cs typeface="Arial" pitchFamily="34" charset="-120"/>
              </a:rPr>
              <a:t>Sai 1°</a:t>
            </a:r>
            <a:endParaRPr lang="en-US" sz="1360" dirty="0"/>
          </a:p>
          <a:p>
            <a:pPr algn="ctr" indent="0" marL="0">
              <a:lnSpc>
                <a:spcPct val="116000"/>
              </a:lnSpc>
              <a:buNone/>
            </a:pPr>
            <a:r>
              <a:rPr lang="en-US" sz="1170" dirty="0">
                <a:solidFill>
                  <a:srgbClr val="007F72"/>
                </a:solidFill>
                <a:latin typeface="微軟正黑體" pitchFamily="34" charset="0"/>
                <a:ea typeface="微軟正黑體" pitchFamily="34" charset="-122"/>
                <a:cs typeface="微軟正黑體" pitchFamily="34" charset="-120"/>
              </a:rPr>
              <a:t>差 1 度</a:t>
            </a:r>
            <a:endParaRPr lang="en-US" sz="1360" dirty="0"/>
          </a:p>
        </p:txBody>
      </p:sp>
      <p:sp>
        <p:nvSpPr>
          <p:cNvPr id="19" name="Text 17"/>
          <p:cNvSpPr txBox="1"/>
          <p:nvPr/>
        </p:nvSpPr>
        <p:spPr>
          <a:xfrm>
            <a:off x="6193250" y="2690763"/>
            <a:ext cx="2211065" cy="1138135"/>
          </a:xfrm>
          <a:prstGeom prst="rect">
            <a:avLst/>
          </a:prstGeom>
          <a:noFill/>
          <a:ln/>
        </p:spPr>
        <p:txBody>
          <a:bodyPr wrap="square" lIns="0" tIns="0" rIns="0" bIns="0" rtlCol="0" anchor="t"/>
          <a:lstStyle/>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Ở 50 m lệch ngang gần 0,9 m</a:t>
            </a:r>
            <a:endParaRPr lang="en-US" sz="1120" dirty="0"/>
          </a:p>
          <a:p>
            <a:pPr algn="ctr" indent="0" marL="0">
              <a:lnSpc>
                <a:spcPct val="126000"/>
              </a:lnSpc>
              <a:buNone/>
            </a:pPr>
            <a:r>
              <a:rPr lang="en-US" sz="1120" dirty="0">
                <a:solidFill>
                  <a:srgbClr val="5F7183"/>
                </a:solidFill>
                <a:latin typeface="Arial" pitchFamily="34" charset="0"/>
                <a:ea typeface="Arial" pitchFamily="34" charset="-122"/>
                <a:cs typeface="Arial" pitchFamily="34" charset="-120"/>
              </a:rPr>
              <a:t>Đủ để nhầm làn</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50 公尺處橫向差 0.9 公尺</a:t>
            </a:r>
            <a:endParaRPr lang="en-US" sz="1120" dirty="0"/>
          </a:p>
          <a:p>
            <a:pPr algn="ctr" indent="0" marL="0">
              <a:lnSpc>
                <a:spcPct val="126000"/>
              </a:lnSpc>
              <a:buNone/>
            </a:pPr>
            <a:r>
              <a:rPr lang="en-US" sz="1020" dirty="0">
                <a:solidFill>
                  <a:srgbClr val="5F7183"/>
                </a:solidFill>
                <a:latin typeface="微軟正黑體" pitchFamily="34" charset="0"/>
                <a:ea typeface="微軟正黑體" pitchFamily="34" charset="-122"/>
                <a:cs typeface="微軟正黑體" pitchFamily="34" charset="-120"/>
              </a:rPr>
              <a:t>足以搞錯車道</a:t>
            </a:r>
            <a:endParaRPr lang="en-US" sz="1120" dirty="0"/>
          </a:p>
        </p:txBody>
      </p:sp>
      <p:sp>
        <p:nvSpPr>
          <p:cNvPr id="20" name="Text 18"/>
          <p:cNvSpPr txBox="1"/>
          <p:nvPr/>
        </p:nvSpPr>
        <p:spPr>
          <a:xfrm>
            <a:off x="615201" y="4077866"/>
            <a:ext cx="7913598" cy="551284"/>
          </a:xfrm>
          <a:prstGeom prst="rect">
            <a:avLst/>
          </a:prstGeom>
          <a:noFill/>
          <a:ln/>
        </p:spPr>
        <p:txBody>
          <a:bodyPr wrap="square" lIns="0" tIns="0" rIns="0" bIns="0" rtlCol="0" anchor="t"/>
          <a:lstStyle/>
          <a:p>
            <a:pPr indent="0" marL="0">
              <a:lnSpc>
                <a:spcPct val="118000"/>
              </a:lnSpc>
              <a:buNone/>
            </a:pPr>
            <a:r>
              <a:rPr lang="en-US" sz="122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1220" dirty="0"/>
          </a:p>
          <a:p>
            <a:pPr indent="0" marL="0">
              <a:lnSpc>
                <a:spcPct val="118000"/>
              </a:lnSpc>
              <a:buNone/>
            </a:pPr>
            <a:r>
              <a:rPr lang="en-US" sz="112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122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232859" y="124484"/>
            <a:ext cx="800252"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15 / 20</a:t>
            </a:r>
            <a:endParaRPr lang="en-US" sz="880" dirty="0"/>
          </a:p>
        </p:txBody>
      </p:sp>
      <p:sp>
        <p:nvSpPr>
          <p:cNvPr id="24" name="Text 20"/>
          <p:cNvSpPr txBox="1"/>
          <p:nvPr/>
        </p:nvSpPr>
        <p:spPr>
          <a:xfrm>
            <a:off x="1059785" y="124484"/>
            <a:ext cx="1956170" cy="248967"/>
          </a:xfrm>
          <a:prstGeom prst="rect">
            <a:avLst/>
          </a:prstGeom>
          <a:noFill/>
          <a:ln/>
        </p:spPr>
        <p:txBody>
          <a:bodyPr wrap="square" lIns="0" tIns="0" rIns="0" bIns="0" rtlCol="0" anchor="ctr"/>
          <a:lstStyle/>
          <a:p>
            <a:pPr indent="0" marL="0">
              <a:buNone/>
            </a:pPr>
            <a:r>
              <a:rPr lang="en-US" sz="880" dirty="0">
                <a:solidFill>
                  <a:srgbClr val="5F7183"/>
                </a:solidFill>
                <a:latin typeface="Arial" pitchFamily="34" charset="0"/>
                <a:ea typeface="Arial" pitchFamily="34" charset="-122"/>
                <a:cs typeface="Arial" pitchFamily="34" charset="-120"/>
              </a:rPr>
              <a:t>Tiết 2 · 第 2 節</a:t>
            </a:r>
            <a:endParaRPr lang="en-US" sz="88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Đồng bộ · 時間同步</a:t>
            </a:r>
            <a:endParaRPr lang="en-US" sz="1250" dirty="0"/>
          </a:p>
        </p:txBody>
      </p:sp>
      <p:sp>
        <p:nvSpPr>
          <p:cNvPr id="3" name="Text 1"/>
          <p:cNvSpPr txBox="1"/>
          <p:nvPr/>
        </p:nvSpPr>
        <p:spPr>
          <a:xfrm>
            <a:off x="502920" y="914400"/>
            <a:ext cx="8138160" cy="1625698"/>
          </a:xfrm>
          <a:prstGeom prst="rect">
            <a:avLst/>
          </a:prstGeom>
          <a:noFill/>
          <a:ln/>
        </p:spPr>
        <p:txBody>
          <a:bodyPr wrap="square" lIns="0" tIns="0" rIns="0" bIns="0" rtlCol="0" anchor="ctr"/>
          <a:lstStyle/>
          <a:p>
            <a:pPr indent="0" marL="0">
              <a:lnSpc>
                <a:spcPct val="120000"/>
              </a:lnSpc>
              <a:buNone/>
            </a:pPr>
            <a:r>
              <a:rPr lang="en-US" sz="190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900" dirty="0"/>
          </a:p>
          <a:p>
            <a:pPr indent="0" marL="0">
              <a:lnSpc>
                <a:spcPct val="120000"/>
              </a:lnSpc>
              <a:buNone/>
            </a:pPr>
            <a:r>
              <a:rPr lang="en-US" sz="1200" b="1"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900" dirty="0"/>
          </a:p>
          <a:p>
            <a:pPr indent="0" marL="0">
              <a:lnSpc>
                <a:spcPct val="120000"/>
              </a:lnSpc>
              <a:spcBef>
                <a:spcPts val="1440"/>
              </a:spcBef>
              <a:buNone/>
            </a:pPr>
            <a:r>
              <a:rPr lang="en-US" sz="1250" dirty="0">
                <a:solidFill>
                  <a:srgbClr val="5F7183"/>
                </a:solidFill>
                <a:latin typeface="Arial" pitchFamily="34" charset="0"/>
                <a:ea typeface="Arial" pitchFamily="34" charset="-122"/>
                <a:cs typeface="Arial" pitchFamily="34" charset="-120"/>
              </a:rPr>
              <a:t>Lidar 10 Hz, camera 60 fps. Không có dấu thời gian chung thì lệch tới 50 ms — 40 km/h là hơn nửa mét.</a:t>
            </a:r>
            <a:endParaRPr lang="en-US" sz="1900" dirty="0"/>
          </a:p>
          <a:p>
            <a:pPr indent="0" marL="0">
              <a:lnSpc>
                <a:spcPct val="120000"/>
              </a:lnSpc>
              <a:buNone/>
            </a:pPr>
            <a:r>
              <a:rPr lang="en-US" sz="1150" dirty="0">
                <a:solidFill>
                  <a:srgbClr val="5F7183"/>
                </a:solidFill>
                <a:latin typeface="微軟正黑體" pitchFamily="34" charset="0"/>
                <a:ea typeface="微軟正黑體" pitchFamily="34" charset="-122"/>
                <a:cs typeface="微軟正黑體" pitchFamily="34" charset="-120"/>
              </a:rPr>
              <a:t>光達 10 Hz、相機 60 fps。沒有共同時間戳，兩邊可能差 50 毫秒——時速 40 就超過半公尺。</a:t>
            </a:r>
            <a:endParaRPr lang="en-US" sz="1900" dirty="0"/>
          </a:p>
        </p:txBody>
      </p:sp>
      <p:sp>
        <p:nvSpPr>
          <p:cNvPr id="4" name="Shape 2"/>
          <p:cNvSpPr/>
          <p:nvPr/>
        </p:nvSpPr>
        <p:spPr>
          <a:xfrm>
            <a:off x="502920" y="2668114"/>
            <a:ext cx="8138160" cy="1208942"/>
          </a:xfrm>
          <a:prstGeom prst="roundRect">
            <a:avLst>
              <a:gd name="adj" fmla="val 6807"/>
            </a:avLst>
          </a:prstGeom>
          <a:solidFill>
            <a:srgbClr val="FFFFFF"/>
          </a:solidFill>
          <a:ln w="12700">
            <a:solidFill>
              <a:srgbClr val="DBE3EA"/>
            </a:solidFill>
            <a:prstDash val="solid"/>
          </a:ln>
        </p:spPr>
      </p:sp>
      <p:pic>
        <p:nvPicPr>
          <p:cNvPr id="5" name="Image 0" descr="/Users/tsengchenghsun/Class/carClass/Claude outputs/第五週(10-8)/src/img/w5_os1_phase.png">    </p:cNvPr>
          <p:cNvPicPr>
            <a:picLocks noChangeAspect="1"/>
          </p:cNvPicPr>
          <p:nvPr/>
        </p:nvPicPr>
        <p:blipFill>
          <a:blip r:embed="rId1"/>
          <a:stretch>
            <a:fillRect/>
          </a:stretch>
        </p:blipFill>
        <p:spPr>
          <a:xfrm>
            <a:off x="576072" y="2759554"/>
            <a:ext cx="7991856" cy="861470"/>
          </a:xfrm>
          <a:prstGeom prst="rect">
            <a:avLst/>
          </a:prstGeom>
        </p:spPr>
      </p:pic>
      <p:sp>
        <p:nvSpPr>
          <p:cNvPr id="6" name="Text 3"/>
          <p:cNvSpPr txBox="1"/>
          <p:nvPr/>
        </p:nvSpPr>
        <p:spPr>
          <a:xfrm>
            <a:off x="576072" y="3657600"/>
            <a:ext cx="7991856" cy="182880"/>
          </a:xfrm>
          <a:prstGeom prst="rect">
            <a:avLst/>
          </a:prstGeom>
          <a:noFill/>
          <a:ln/>
        </p:spPr>
        <p:txBody>
          <a:bodyPr wrap="square" lIns="0" tIns="0" rIns="0" bIns="0" rtlCol="0" anchor="ctr"/>
          <a:lstStyle/>
          <a:p>
            <a:pPr algn="ctr" indent="0" marL="0">
              <a:buNone/>
            </a:pPr>
            <a:r>
              <a:rPr lang="en-US" sz="700" dirty="0">
                <a:solidFill>
                  <a:srgbClr val="5F7183"/>
                </a:solidFill>
                <a:latin typeface="Arial" pitchFamily="34" charset="0"/>
                <a:ea typeface="Arial" pitchFamily="34" charset="-122"/>
                <a:cs typeface="Arial" pitchFamily="34" charset="-120"/>
              </a:rPr>
              <a:t>Ouster OS1 datasheet, Rev7 / FW 3.2, p.3 · 節錄 · 讀取 2026/10/02</a:t>
            </a:r>
            <a:endParaRPr lang="en-US" sz="700" dirty="0"/>
          </a:p>
        </p:txBody>
      </p:sp>
      <p:sp>
        <p:nvSpPr>
          <p:cNvPr id="7" name="Shape 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8" name="Text 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1250" dirty="0"/>
          </a:p>
        </p:txBody>
      </p:sp>
      <p:pic>
        <p:nvPicPr>
          <p:cNvPr id="10" name="Image 1" descr="/Users/tsengchenghsun/Class/carClass/Claude outputs/第五週(10-8)/src/logo.png">    </p:cNvPr>
          <p:cNvPicPr>
            <a:picLocks noChangeAspect="1"/>
          </p:cNvPicPr>
          <p:nvPr/>
        </p:nvPicPr>
        <p:blipFill>
          <a:blip r:embed="rId2"/>
          <a:stretch>
            <a:fillRect/>
          </a:stretch>
        </p:blipFill>
        <p:spPr>
          <a:xfrm>
            <a:off x="7882128" y="109728"/>
            <a:ext cx="1097280" cy="242439"/>
          </a:xfrm>
          <a:prstGeom prst="rect">
            <a:avLst/>
          </a:prstGeom>
        </p:spPr>
      </p:pic>
      <p:sp>
        <p:nvSpPr>
          <p:cNvPr id="11"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16 / 20</a:t>
            </a:r>
            <a:endParaRPr lang="en-US" sz="900" dirty="0"/>
          </a:p>
        </p:txBody>
      </p:sp>
      <p:sp>
        <p:nvSpPr>
          <p:cNvPr id="12"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1" cy="1"/>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8138160" y="2103120"/>
            <a:ext cx="2377440" cy="237744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Tiết 2 · 第二節小結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Mang ba câu này lên máy</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帶三句話上機</a:t>
            </a:r>
            <a:endParaRPr lang="en-US" sz="2500" dirty="0"/>
          </a:p>
        </p:txBody>
      </p:sp>
      <p:sp>
        <p:nvSpPr>
          <p:cNvPr id="6" name="Shape 4"/>
          <p:cNvSpPr/>
          <p:nvPr/>
        </p:nvSpPr>
        <p:spPr>
          <a:xfrm>
            <a:off x="502920" y="1773936"/>
            <a:ext cx="45720" cy="672713"/>
          </a:xfrm>
          <a:prstGeom prst="rect">
            <a:avLst/>
          </a:prstGeom>
          <a:solidFill>
            <a:srgbClr val="00A896"/>
          </a:solidFill>
          <a:ln/>
        </p:spPr>
      </p:sp>
      <p:sp>
        <p:nvSpPr>
          <p:cNvPr id="7" name="Text 5"/>
          <p:cNvSpPr txBox="1"/>
          <p:nvPr/>
        </p:nvSpPr>
        <p:spPr>
          <a:xfrm>
            <a:off x="722376" y="1737360"/>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350" dirty="0"/>
          </a:p>
        </p:txBody>
      </p:sp>
      <p:sp>
        <p:nvSpPr>
          <p:cNvPr id="8" name="Shape 6"/>
          <p:cNvSpPr/>
          <p:nvPr/>
        </p:nvSpPr>
        <p:spPr>
          <a:xfrm>
            <a:off x="502920" y="2647817"/>
            <a:ext cx="45720" cy="672713"/>
          </a:xfrm>
          <a:prstGeom prst="rect">
            <a:avLst/>
          </a:prstGeom>
          <a:solidFill>
            <a:srgbClr val="FFB020"/>
          </a:solidFill>
          <a:ln/>
        </p:spPr>
      </p:sp>
      <p:sp>
        <p:nvSpPr>
          <p:cNvPr id="9" name="Text 7"/>
          <p:cNvSpPr txBox="1"/>
          <p:nvPr/>
        </p:nvSpPr>
        <p:spPr>
          <a:xfrm>
            <a:off x="722376" y="2611241"/>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350" dirty="0"/>
          </a:p>
        </p:txBody>
      </p:sp>
      <p:sp>
        <p:nvSpPr>
          <p:cNvPr id="10" name="Shape 8"/>
          <p:cNvSpPr/>
          <p:nvPr/>
        </p:nvSpPr>
        <p:spPr>
          <a:xfrm>
            <a:off x="502920" y="3521698"/>
            <a:ext cx="45720" cy="672713"/>
          </a:xfrm>
          <a:prstGeom prst="rect">
            <a:avLst/>
          </a:prstGeom>
          <a:solidFill>
            <a:srgbClr val="00A896"/>
          </a:solidFill>
          <a:ln/>
        </p:spPr>
      </p:sp>
      <p:sp>
        <p:nvSpPr>
          <p:cNvPr id="11" name="Text 9"/>
          <p:cNvSpPr txBox="1"/>
          <p:nvPr/>
        </p:nvSpPr>
        <p:spPr>
          <a:xfrm>
            <a:off x="722376" y="3485122"/>
            <a:ext cx="7863840" cy="782441"/>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350" dirty="0"/>
          </a:p>
        </p:txBody>
      </p:sp>
      <p:sp>
        <p:nvSpPr>
          <p:cNvPr id="13" name="Text 10"/>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17 / 20</a:t>
            </a:r>
            <a:endParaRPr lang="en-US" sz="900" dirty="0"/>
          </a:p>
        </p:txBody>
      </p:sp>
      <p:sp>
        <p:nvSpPr>
          <p:cNvPr id="14" name="Text 11"/>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Ouster OS1 — toàn bộ datasheet gốc (3 trang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Ouster OS1 — 廠商規格書原頁（規格那三頁）</a:t>
            </a:r>
            <a:endParaRPr lang="en-US" sz="1700" dirty="0"/>
          </a:p>
        </p:txBody>
      </p:sp>
      <p:sp>
        <p:nvSpPr>
          <p:cNvPr id="4" name="Shape 2"/>
          <p:cNvSpPr/>
          <p:nvPr/>
        </p:nvSpPr>
        <p:spPr>
          <a:xfrm>
            <a:off x="970511"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os1_p1.png">    </p:cNvPr>
          <p:cNvPicPr>
            <a:picLocks noChangeAspect="1"/>
          </p:cNvPicPr>
          <p:nvPr/>
        </p:nvPicPr>
        <p:blipFill>
          <a:blip r:embed="rId1"/>
          <a:stretch>
            <a:fillRect/>
          </a:stretch>
        </p:blipFill>
        <p:spPr>
          <a:xfrm>
            <a:off x="988799" y="1389888"/>
            <a:ext cx="2303457" cy="2980944"/>
          </a:xfrm>
          <a:prstGeom prst="rect">
            <a:avLst/>
          </a:prstGeom>
        </p:spPr>
      </p:pic>
      <p:sp>
        <p:nvSpPr>
          <p:cNvPr id="6" name="Shape 3"/>
          <p:cNvSpPr/>
          <p:nvPr/>
        </p:nvSpPr>
        <p:spPr>
          <a:xfrm>
            <a:off x="3401984"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os1_p2.png">    </p:cNvPr>
          <p:cNvPicPr>
            <a:picLocks noChangeAspect="1"/>
          </p:cNvPicPr>
          <p:nvPr/>
        </p:nvPicPr>
        <p:blipFill>
          <a:blip r:embed="rId2"/>
          <a:stretch>
            <a:fillRect/>
          </a:stretch>
        </p:blipFill>
        <p:spPr>
          <a:xfrm>
            <a:off x="3420272" y="1389888"/>
            <a:ext cx="2303457" cy="2980944"/>
          </a:xfrm>
          <a:prstGeom prst="rect">
            <a:avLst/>
          </a:prstGeom>
        </p:spPr>
      </p:pic>
      <p:sp>
        <p:nvSpPr>
          <p:cNvPr id="8" name="Shape 4"/>
          <p:cNvSpPr/>
          <p:nvPr/>
        </p:nvSpPr>
        <p:spPr>
          <a:xfrm>
            <a:off x="5833456" y="1371600"/>
            <a:ext cx="2340033" cy="3017520"/>
          </a:xfrm>
          <a:prstGeom prst="rect">
            <a:avLst/>
          </a:prstGeom>
          <a:solidFill>
            <a:srgbClr val="FFFFFF"/>
          </a:solidFill>
          <a:ln w="12700">
            <a:solidFill>
              <a:srgbClr val="DBE3EA"/>
            </a:solidFill>
            <a:prstDash val="solid"/>
          </a:ln>
        </p:spPr>
      </p:sp>
      <p:pic>
        <p:nvPicPr>
          <p:cNvPr id="9" name="Image 2" descr="/Users/tsengchenghsun/Class/carClass/Claude outputs/第五週(10-8)/src/img/w5_ds_os1_p3.png">    </p:cNvPr>
          <p:cNvPicPr>
            <a:picLocks noChangeAspect="1"/>
          </p:cNvPicPr>
          <p:nvPr/>
        </p:nvPicPr>
        <p:blipFill>
          <a:blip r:embed="rId3"/>
          <a:stretch>
            <a:fillRect/>
          </a:stretch>
        </p:blipFill>
        <p:spPr>
          <a:xfrm>
            <a:off x="5851744" y="1389888"/>
            <a:ext cx="2303457" cy="2980944"/>
          </a:xfrm>
          <a:prstGeom prst="rect">
            <a:avLst/>
          </a:prstGeom>
        </p:spPr>
      </p:pic>
      <p:sp>
        <p:nvSpPr>
          <p:cNvPr id="10" name="Text 5"/>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Ouster OS1 datasheet, hardware Rev7 / firmware 3.2 · 官方 PDF 第 1–3 頁原頁全文 · 讀取 2026/10/02 · 版權歸 Ouster，課堂引用</a:t>
            </a:r>
            <a:endParaRPr lang="en-US" sz="850" dirty="0"/>
          </a:p>
        </p:txBody>
      </p:sp>
      <p:pic>
        <p:nvPicPr>
          <p:cNvPr id="12" name="Image 3" descr="/Users/tsengchenghsun/Class/carClass/Claude outputs/第五週(10-8)/src/logo.png">    </p:cNvPr>
          <p:cNvPicPr>
            <a:picLocks noChangeAspect="1"/>
          </p:cNvPicPr>
          <p:nvPr/>
        </p:nvPicPr>
        <p:blipFill>
          <a:blip r:embed="rId4"/>
          <a:stretch>
            <a:fillRect/>
          </a:stretch>
        </p:blipFill>
        <p:spPr>
          <a:xfrm>
            <a:off x="7882128" y="109728"/>
            <a:ext cx="1097280" cy="242439"/>
          </a:xfrm>
          <a:prstGeom prst="rect">
            <a:avLst/>
          </a:prstGeom>
        </p:spPr>
      </p:pic>
      <p:sp>
        <p:nvSpPr>
          <p:cNvPr id="13" name="Text 6"/>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18 / 20</a:t>
            </a:r>
            <a:endParaRPr lang="en-US" sz="900" dirty="0"/>
          </a:p>
        </p:txBody>
      </p:sp>
      <p:sp>
        <p:nvSpPr>
          <p:cNvPr id="14" name="Text 7"/>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Hesai AT128P — nguyên trang sổ tay (phần thông số)</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Hesai AT128P — 使用手冊原頁（規格那兩頁）</a:t>
            </a:r>
            <a:endParaRPr lang="en-US" sz="1700" dirty="0"/>
          </a:p>
        </p:txBody>
      </p:sp>
      <p:sp>
        <p:nvSpPr>
          <p:cNvPr id="4" name="Shape 2"/>
          <p:cNvSpPr/>
          <p:nvPr/>
        </p:nvSpPr>
        <p:spPr>
          <a:xfrm>
            <a:off x="484632" y="1445999"/>
            <a:ext cx="4041648" cy="2868722"/>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t128p_p13.png">    </p:cNvPr>
          <p:cNvPicPr>
            <a:picLocks noChangeAspect="1"/>
          </p:cNvPicPr>
          <p:nvPr/>
        </p:nvPicPr>
        <p:blipFill>
          <a:blip r:embed="rId1"/>
          <a:stretch>
            <a:fillRect/>
          </a:stretch>
        </p:blipFill>
        <p:spPr>
          <a:xfrm>
            <a:off x="502920" y="1464287"/>
            <a:ext cx="4005072" cy="2832146"/>
          </a:xfrm>
          <a:prstGeom prst="rect">
            <a:avLst/>
          </a:prstGeom>
        </p:spPr>
      </p:pic>
      <p:sp>
        <p:nvSpPr>
          <p:cNvPr id="6" name="Shape 3"/>
          <p:cNvSpPr/>
          <p:nvPr/>
        </p:nvSpPr>
        <p:spPr>
          <a:xfrm>
            <a:off x="4617720" y="1445999"/>
            <a:ext cx="4041648" cy="2868722"/>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t128p_p15.png">    </p:cNvPr>
          <p:cNvPicPr>
            <a:picLocks noChangeAspect="1"/>
          </p:cNvPicPr>
          <p:nvPr/>
        </p:nvPicPr>
        <p:blipFill>
          <a:blip r:embed="rId2"/>
          <a:stretch>
            <a:fillRect/>
          </a:stretch>
        </p:blipFill>
        <p:spPr>
          <a:xfrm>
            <a:off x="4636008" y="1464287"/>
            <a:ext cx="4005072" cy="2832146"/>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Hesai AT128P User Manual A02（en-250410）· §1.5 Specifications 第 13 頁與註解第 15 頁原頁全文 · 讀取 2026/10/02 · 版權歸 Hesai，課堂引用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19 / 20</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1" cy="1"/>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Phụ lục · 附錄（不計時）</a:t>
            </a:r>
            <a:endParaRPr lang="en-US" sz="1250" dirty="0"/>
          </a:p>
        </p:txBody>
      </p:sp>
      <p:sp>
        <p:nvSpPr>
          <p:cNvPr id="3" name="Text 1"/>
          <p:cNvSpPr txBox="1"/>
          <p:nvPr/>
        </p:nvSpPr>
        <p:spPr>
          <a:xfrm>
            <a:off x="502920" y="731520"/>
            <a:ext cx="8138160" cy="585216"/>
          </a:xfrm>
          <a:prstGeom prst="rect">
            <a:avLst/>
          </a:prstGeom>
          <a:noFill/>
          <a:ln/>
        </p:spPr>
        <p:txBody>
          <a:bodyPr wrap="square" lIns="0" tIns="0" rIns="0" bIns="0" rtlCol="0" anchor="t"/>
          <a:lstStyle/>
          <a:p>
            <a:pPr indent="0" marL="0">
              <a:lnSpc>
                <a:spcPct val="120000"/>
              </a:lnSpc>
              <a:buNone/>
            </a:pPr>
            <a:r>
              <a:rPr lang="en-US" sz="1700" b="1" dirty="0">
                <a:solidFill>
                  <a:srgbClr val="0B1F3A"/>
                </a:solidFill>
                <a:latin typeface="Arial" pitchFamily="34" charset="0"/>
                <a:ea typeface="Arial" pitchFamily="34" charset="-122"/>
                <a:cs typeface="Arial" pitchFamily="34" charset="-120"/>
              </a:rPr>
              <a:t>onsemi AR0233AT — toàn bộ datasheet gốc (2 trang)</a:t>
            </a:r>
            <a:endParaRPr lang="en-US" sz="1700" dirty="0"/>
          </a:p>
          <a:p>
            <a:pPr indent="0" marL="0">
              <a:lnSpc>
                <a:spcPct val="120000"/>
              </a:lnSpc>
              <a:buNone/>
            </a:pPr>
            <a:r>
              <a:rPr lang="en-US" sz="1300" dirty="0">
                <a:solidFill>
                  <a:srgbClr val="007F72"/>
                </a:solidFill>
                <a:latin typeface="微軟正黑體" pitchFamily="34" charset="0"/>
                <a:ea typeface="微軟正黑體" pitchFamily="34" charset="-122"/>
                <a:cs typeface="微軟正黑體" pitchFamily="34" charset="-120"/>
              </a:rPr>
              <a:t>onsemi AR0233AT — 廠商規格書原頁（全兩頁）</a:t>
            </a:r>
            <a:endParaRPr lang="en-US" sz="1700" dirty="0"/>
          </a:p>
        </p:txBody>
      </p:sp>
      <p:sp>
        <p:nvSpPr>
          <p:cNvPr id="4" name="Shape 2"/>
          <p:cNvSpPr/>
          <p:nvPr/>
        </p:nvSpPr>
        <p:spPr>
          <a:xfrm>
            <a:off x="2186247" y="1371600"/>
            <a:ext cx="2340033" cy="3017520"/>
          </a:xfrm>
          <a:prstGeom prst="rect">
            <a:avLst/>
          </a:prstGeom>
          <a:solidFill>
            <a:srgbClr val="FFFFFF"/>
          </a:solidFill>
          <a:ln w="12700">
            <a:solidFill>
              <a:srgbClr val="DBE3EA"/>
            </a:solidFill>
            <a:prstDash val="solid"/>
          </a:ln>
        </p:spPr>
      </p:sp>
      <p:pic>
        <p:nvPicPr>
          <p:cNvPr id="5" name="Image 0" descr="/Users/tsengchenghsun/Class/carClass/Claude outputs/第五週(10-8)/src/img/w5_ds_ar0233at_p1.png">    </p:cNvPr>
          <p:cNvPicPr>
            <a:picLocks noChangeAspect="1"/>
          </p:cNvPicPr>
          <p:nvPr/>
        </p:nvPicPr>
        <p:blipFill>
          <a:blip r:embed="rId1"/>
          <a:stretch>
            <a:fillRect/>
          </a:stretch>
        </p:blipFill>
        <p:spPr>
          <a:xfrm>
            <a:off x="2204535" y="1389888"/>
            <a:ext cx="2303457" cy="2980944"/>
          </a:xfrm>
          <a:prstGeom prst="rect">
            <a:avLst/>
          </a:prstGeom>
        </p:spPr>
      </p:pic>
      <p:sp>
        <p:nvSpPr>
          <p:cNvPr id="6" name="Shape 3"/>
          <p:cNvSpPr/>
          <p:nvPr/>
        </p:nvSpPr>
        <p:spPr>
          <a:xfrm>
            <a:off x="4617720" y="1371600"/>
            <a:ext cx="2340033" cy="3017520"/>
          </a:xfrm>
          <a:prstGeom prst="rect">
            <a:avLst/>
          </a:prstGeom>
          <a:solidFill>
            <a:srgbClr val="FFFFFF"/>
          </a:solidFill>
          <a:ln w="12700">
            <a:solidFill>
              <a:srgbClr val="DBE3EA"/>
            </a:solidFill>
            <a:prstDash val="solid"/>
          </a:ln>
        </p:spPr>
      </p:sp>
      <p:pic>
        <p:nvPicPr>
          <p:cNvPr id="7" name="Image 1" descr="/Users/tsengchenghsun/Class/carClass/Claude outputs/第五週(10-8)/src/img/w5_ds_ar0233at_p2.png">    </p:cNvPr>
          <p:cNvPicPr>
            <a:picLocks noChangeAspect="1"/>
          </p:cNvPicPr>
          <p:nvPr/>
        </p:nvPicPr>
        <p:blipFill>
          <a:blip r:embed="rId2"/>
          <a:stretch>
            <a:fillRect/>
          </a:stretch>
        </p:blipFill>
        <p:spPr>
          <a:xfrm>
            <a:off x="4636008" y="1389888"/>
            <a:ext cx="2303457" cy="2980944"/>
          </a:xfrm>
          <a:prstGeom prst="rect">
            <a:avLst/>
          </a:prstGeom>
        </p:spPr>
      </p:pic>
      <p:sp>
        <p:nvSpPr>
          <p:cNvPr id="8" name="Text 4"/>
          <p:cNvSpPr txBox="1"/>
          <p:nvPr/>
        </p:nvSpPr>
        <p:spPr>
          <a:xfrm>
            <a:off x="502920" y="4407408"/>
            <a:ext cx="8138160" cy="201168"/>
          </a:xfrm>
          <a:prstGeom prst="rect">
            <a:avLst/>
          </a:prstGeom>
          <a:noFill/>
          <a:ln/>
        </p:spPr>
        <p:txBody>
          <a:bodyPr wrap="square" lIns="0" tIns="0" rIns="0" bIns="0" rtlCol="0" anchor="ctr"/>
          <a:lstStyle/>
          <a:p>
            <a:pPr algn="ctr" indent="0" marL="0">
              <a:buNone/>
            </a:pPr>
            <a:r>
              <a:rPr lang="en-US" sz="850" dirty="0">
                <a:solidFill>
                  <a:srgbClr val="5F7183"/>
                </a:solidFill>
                <a:latin typeface="Arial" pitchFamily="34" charset="0"/>
                <a:ea typeface="Arial" pitchFamily="34" charset="-122"/>
                <a:cs typeface="Arial" pitchFamily="34" charset="-120"/>
              </a:rPr>
              <a:t>onsemi, AR0233AT Product Preview, Rev. P2, 11/2017（Publication Order Number AR0233AT/D）· 原頁全文 · 讀取 2026/10/02 · 版權歸 onsemi，課堂引用</a:t>
            </a:r>
            <a:endParaRPr lang="en-US" sz="850" dirty="0"/>
          </a:p>
        </p:txBody>
      </p:sp>
      <p:pic>
        <p:nvPicPr>
          <p:cNvPr id="10" name="Image 2" descr="/Users/tsengchenghsun/Class/carClass/Claude outputs/第五週(10-8)/src/logo.png">    </p:cNvPr>
          <p:cNvPicPr>
            <a:picLocks noChangeAspect="1"/>
          </p:cNvPicPr>
          <p:nvPr/>
        </p:nvPicPr>
        <p:blipFill>
          <a:blip r:embed="rId3"/>
          <a:stretch>
            <a:fillRect/>
          </a:stretch>
        </p:blipFill>
        <p:spPr>
          <a:xfrm>
            <a:off x="7882128" y="109728"/>
            <a:ext cx="1097280" cy="242439"/>
          </a:xfrm>
          <a:prstGeom prst="rect">
            <a:avLst/>
          </a:prstGeom>
        </p:spPr>
      </p:pic>
      <p:sp>
        <p:nvSpPr>
          <p:cNvPr id="11" name="Text 5"/>
          <p:cNvSpPr txBox="1"/>
          <p:nvPr/>
        </p:nvSpPr>
        <p:spPr>
          <a:xfrm>
            <a:off x="109728" y="12801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20 / 20</a:t>
            </a:r>
            <a:endParaRPr lang="en-US" sz="900" dirty="0"/>
          </a:p>
        </p:txBody>
      </p:sp>
      <p:sp>
        <p:nvSpPr>
          <p:cNvPr id="12" name="Text 6"/>
          <p:cNvSpPr txBox="1"/>
          <p:nvPr/>
        </p:nvSpPr>
        <p:spPr>
          <a:xfrm>
            <a:off x="960120" y="12801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2 · 第 2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2026-10-05T15:32:52Z</dcterms:created>
  <dcterms:modified xsi:type="dcterms:W3CDTF">2026-10-05T15:32:52Z</dcterms:modified>
</cp:coreProperties>
</file>