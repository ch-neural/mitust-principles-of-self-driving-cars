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第二節開場。從「看得多遠多清楚」進到「看得準不準、合不合得起來」。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圈主標「第二頁」，說明這些是上一節沒碰到的規格行。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第二節開始。
</a:t>
            </a:r>
          </a:p>
          <a:p>
            <a:pPr algn="l">
              <a:lnSpc>
                <a:spcPct val="115000"/>
              </a:lnSpc>
              <a:spcAft>
                <a:spcPts val="500"/>
              </a:spcAft>
            </a:pPr>
            <a:r>
              <a:rPr sz="1000" lang="zh-TW" dirty="0">
                <a:solidFill>
                  <a:srgbClr val="000000"/>
                </a:solidFill>
                <a:latin typeface="Arial Unicode MS"/>
                <a:ea typeface="Arial Unicode MS"/>
                <a:cs typeface="Arial Unicode MS"/>
              </a:rPr>
              <a:t>上一節我們找的四個數字，是規格表的</a:t>
            </a:r>
            <a:r>
              <a:rPr sz="1000" b="1" lang="zh-TW" dirty="0">
                <a:solidFill>
                  <a:srgbClr val="000000"/>
                </a:solidFill>
                <a:latin typeface="Arial Unicode MS"/>
                <a:ea typeface="Arial Unicode MS"/>
                <a:cs typeface="Arial Unicode MS"/>
              </a:rPr>
              <a:t>第一頁</a:t>
            </a:r>
            <a:r>
              <a:rPr sz="10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500"/>
              </a:spcAft>
            </a:pPr>
            <a:r>
              <a:rPr sz="1000" lang="zh-TW" dirty="0">
                <a:solidFill>
                  <a:srgbClr val="000000"/>
                </a:solidFill>
                <a:latin typeface="Arial Unicode MS"/>
                <a:ea typeface="Arial Unicode MS"/>
                <a:cs typeface="Arial Unicode MS"/>
              </a:rPr>
              <a:t>這一節我要帶各位往下翻。第二頁上還有一堆數字，大部分的人不看，可是</a:t>
            </a:r>
            <a:r>
              <a:rPr sz="1000" b="1" lang="zh-TW" dirty="0">
                <a:solidFill>
                  <a:srgbClr val="000000"/>
                </a:solidFill>
                <a:latin typeface="Arial Unicode MS"/>
                <a:ea typeface="Arial Unicode MS"/>
                <a:cs typeface="Arial Unicode MS"/>
              </a:rPr>
              <a:t>真的出事的時候，常常是出在那幾行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我挑三組最重要的。
</a:t>
            </a:r>
          </a:p>
          <a:p>
            <a:pPr algn="l">
              <a:lnSpc>
                <a:spcPct val="115000"/>
              </a:lnSpc>
              <a:spcAft>
                <a:spcPts val="500"/>
              </a:spcAft>
            </a:pPr>
            <a:r>
              <a:rPr sz="1000" lang="zh-TW" dirty="0">
                <a:solidFill>
                  <a:srgbClr val="000000"/>
                </a:solidFill>
                <a:latin typeface="Arial Unicode MS"/>
                <a:ea typeface="Arial Unicode MS"/>
                <a:cs typeface="Arial Unicode MS"/>
              </a:rPr>
              <a:t>第一組是相機的：</a:t>
            </a:r>
            <a:r>
              <a:rPr sz="1000" b="1" lang="zh-TW" dirty="0">
                <a:solidFill>
                  <a:srgbClr val="000000"/>
                </a:solidFill>
                <a:latin typeface="Arial Unicode MS"/>
                <a:ea typeface="Arial Unicode MS"/>
                <a:cs typeface="Arial Unicode MS"/>
              </a:rPr>
              <a:t>快門怎麼掃、動態範圍多少、LED 閃爍怎麼處理</a:t>
            </a:r>
            <a:r>
              <a:rPr sz="10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500"/>
              </a:spcAft>
            </a:pPr>
            <a:r>
              <a:rPr sz="1000" lang="zh-TW" dirty="0">
                <a:solidFill>
                  <a:srgbClr val="000000"/>
                </a:solidFill>
                <a:latin typeface="Arial Unicode MS"/>
                <a:ea typeface="Arial Unicode MS"/>
                <a:cs typeface="Arial Unicode MS"/>
              </a:rPr>
              <a:t>第二組是光達的：</a:t>
            </a:r>
            <a:r>
              <a:rPr sz="1000" b="1" lang="zh-TW" dirty="0">
                <a:solidFill>
                  <a:srgbClr val="000000"/>
                </a:solidFill>
                <a:latin typeface="Arial Unicode MS"/>
                <a:ea typeface="Arial Unicode MS"/>
                <a:cs typeface="Arial Unicode MS"/>
              </a:rPr>
              <a:t>波長、眼睛安全等級、幾次回波</a:t>
            </a:r>
            <a:r>
              <a:rPr sz="10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500"/>
              </a:spcAft>
            </a:pPr>
            <a:r>
              <a:rPr sz="1000" lang="zh-TW" dirty="0">
                <a:solidFill>
                  <a:srgbClr val="000000"/>
                </a:solidFill>
                <a:latin typeface="Arial Unicode MS"/>
                <a:ea typeface="Arial Unicode MS"/>
                <a:cs typeface="Arial Unicode MS"/>
              </a:rPr>
              <a:t>第三組是兩種都有的，而且是最多人忽略的：</a:t>
            </a:r>
            <a:r>
              <a:rPr sz="1000" b="1" lang="zh-TW" dirty="0">
                <a:solidFill>
                  <a:srgbClr val="000000"/>
                </a:solidFill>
                <a:latin typeface="Arial Unicode MS"/>
                <a:ea typeface="Arial Unicode MS"/>
                <a:cs typeface="Arial Unicode MS"/>
              </a:rPr>
              <a:t>標定和時間同步</a:t>
            </a:r>
            <a:r>
              <a:rPr sz="10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500"/>
              </a:spcAft>
            </a:pPr>
            <a:r>
              <a:rPr sz="10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捲簾快門：一張照片不是同時拍的，是從上往下掃出來的。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圈示意圖上時間差那個箭頭，再圈下方高速物體被拉歪的例子。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動態範圍：同一張畫面裡又有很暗又有很亮的地方。這條直接對應進隧道。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 dB 那個數字，再圈隧道口那個例子。這一條學生最有感。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第二行是</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LED 閃爍：人眼看不出來，相機看得出來，結果號誌可能整個是黑的。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圈「人眼看不出來」與「相機看得出來」，兩邊各指一次。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第三行是</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段落分隔。切到光達的三行：波長、眼睛安全、回波次數。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三種波長各有代價，選波長就是選代價。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一列一列圈，每圈一列念一次它的代價。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光達的第一行講的是</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Class 1 眼睛安全：沒有這一行就不要裝上車。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圈「Class 1」那幾個字。這是安全底線，語氣要重。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緊接著上一行的是</a:t>
            </a:r>
            <a:r>
              <a:rPr sz="1000" b="1" lang="zh-TW" dirty="0">
                <a:solidFill>
                  <a:srgbClr val="000000"/>
                </a:solidFill>
                <a:latin typeface="Arial Unicode MS"/>
                <a:ea typeface="Arial Unicode MS"/>
                <a:cs typeface="Arial Unicode MS"/>
              </a:rPr>
              <a:t>眼睛安全等級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OS1 的規格表上寫：</a:t>
            </a:r>
            <a:r>
              <a:rPr sz="1000" b="1" lang="zh-TW" dirty="0">
                <a:solidFill>
                  <a:srgbClr val="000000"/>
                </a:solidFill>
                <a:latin typeface="Arial Unicode MS"/>
                <a:ea typeface="Arial Unicode MS"/>
                <a:cs typeface="Arial Unicode MS"/>
              </a:rPr>
              <a:t>Class 1 eye-safe per IEC/EN 60825-1: 2014</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000" b="1" lang="zh-TW" dirty="0">
                <a:solidFill>
                  <a:srgbClr val="000000"/>
                </a:solidFill>
                <a:latin typeface="Arial Unicode MS"/>
                <a:ea typeface="Arial Unicode MS"/>
                <a:cs typeface="Arial Unicode MS"/>
              </a:rPr>
              <a:t>在正常使用的情況下，就算有人直直盯著它看，也不會傷到眼睛。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500"/>
              </a:spcAft>
            </a:pPr>
            <a:r>
              <a:rPr sz="1000" lang="zh-TW" dirty="0">
                <a:solidFill>
                  <a:srgbClr val="000000"/>
                </a:solidFill>
                <a:latin typeface="Arial Unicode MS"/>
                <a:ea typeface="Arial Unicode MS"/>
                <a:cs typeface="Arial Unicode MS"/>
              </a:rPr>
              <a:t>因為光達是裝在</a:t>
            </a:r>
            <a:r>
              <a:rPr sz="1000" b="1" lang="zh-TW" dirty="0">
                <a:solidFill>
                  <a:srgbClr val="000000"/>
                </a:solidFill>
                <a:latin typeface="Arial Unicode MS"/>
                <a:ea typeface="Arial Unicode MS"/>
                <a:cs typeface="Arial Unicode MS"/>
              </a:rPr>
              <a:t>馬路上跑的車</a:t>
            </a:r>
            <a:r>
              <a:rPr sz="10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500"/>
              </a:spcAft>
            </a:pPr>
            <a:r>
              <a:rPr sz="1000" lang="zh-TW" dirty="0">
                <a:solidFill>
                  <a:srgbClr val="000000"/>
                </a:solidFill>
                <a:latin typeface="Arial Unicode MS"/>
                <a:ea typeface="Arial Unicode MS"/>
                <a:cs typeface="Arial Unicode MS"/>
              </a:rPr>
              <a:t>所以這一行不是加分項，是</a:t>
            </a:r>
            <a:r>
              <a:rPr sz="1000" b="1" lang="zh-TW" dirty="0">
                <a:solidFill>
                  <a:srgbClr val="000000"/>
                </a:solidFill>
                <a:latin typeface="Arial Unicode MS"/>
                <a:ea typeface="Arial Unicode MS"/>
                <a:cs typeface="Arial Unicode MS"/>
              </a:rPr>
              <a:t>門檻</a:t>
            </a:r>
            <a:r>
              <a:rPr sz="10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500"/>
              </a:spcAft>
            </a:pPr>
            <a:r>
              <a:rPr sz="10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500"/>
              </a:spcAft>
            </a:pPr>
            <a:r>
              <a:rPr sz="10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多次回波：一道雷射可能彈回兩次，這在下雨和玻璃前面很關鍵。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圈示意圖上第一次與第二次回波的兩個點。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光達的第三行講的是</a:t>
            </a:r>
            <a:r>
              <a:rPr sz="1000" b="1" lang="zh-TW" dirty="0">
                <a:solidFill>
                  <a:srgbClr val="000000"/>
                </a:solidFill>
                <a:latin typeface="Arial Unicode MS"/>
                <a:ea typeface="Arial Unicode MS"/>
                <a:cs typeface="Arial Unicode MS"/>
              </a:rPr>
              <a:t>回波次數</a:t>
            </a:r>
            <a:r>
              <a:rPr sz="1000" lang="zh-TW" dirty="0">
                <a:solidFill>
                  <a:srgbClr val="000000"/>
                </a:solidFill>
                <a:latin typeface="Arial Unicode MS"/>
                <a:ea typeface="Arial Unicode MS"/>
                <a:cs typeface="Arial Unicode MS"/>
              </a:rPr>
              <a:t>。OS1 的規格表上寫 </a:t>
            </a:r>
            <a:r>
              <a:rPr sz="1000" b="1" lang="zh-TW" dirty="0">
                <a:solidFill>
                  <a:srgbClr val="000000"/>
                </a:solidFill>
                <a:latin typeface="Arial Unicode MS"/>
                <a:ea typeface="Arial Unicode MS"/>
                <a:cs typeface="Arial Unicode MS"/>
              </a:rPr>
              <a:t>number of returns: up to 2</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
</a:t>
            </a:r>
          </a:p>
          <a:p>
            <a:pPr algn="l">
              <a:lnSpc>
                <a:spcPct val="115000"/>
              </a:lnSpc>
              <a:spcAft>
                <a:spcPts val="500"/>
              </a:spcAft>
            </a:pPr>
            <a:r>
              <a:rPr sz="100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00"/>
              </a:spcAft>
            </a:pPr>
            <a:r>
              <a:rPr sz="1000" lang="zh-TW" dirty="0">
                <a:solidFill>
                  <a:srgbClr val="000000"/>
                </a:solidFill>
                <a:latin typeface="Arial Unicode MS"/>
                <a:ea typeface="Arial Unicode MS"/>
                <a:cs typeface="Arial Unicode MS"/>
              </a:rPr>
              <a:t>那道雷射可能</a:t>
            </a:r>
            <a:r>
              <a:rPr sz="1000" b="1" lang="zh-TW" dirty="0">
                <a:solidFill>
                  <a:srgbClr val="000000"/>
                </a:solidFill>
                <a:latin typeface="Arial Unicode MS"/>
                <a:ea typeface="Arial Unicode MS"/>
                <a:cs typeface="Arial Unicode MS"/>
              </a:rPr>
              <a:t>先打到一顆雨滴，彈回來一次</a:t>
            </a:r>
            <a:r>
              <a:rPr sz="1000" lang="zh-TW" dirty="0">
                <a:solidFill>
                  <a:srgbClr val="000000"/>
                </a:solidFill>
                <a:latin typeface="Arial Unicode MS"/>
                <a:ea typeface="Arial Unicode MS"/>
                <a:cs typeface="Arial Unicode MS"/>
              </a:rPr>
              <a:t>；穿過去之後，</a:t>
            </a:r>
            <a:r>
              <a:rPr sz="1000" b="1" lang="zh-TW" dirty="0">
                <a:solidFill>
                  <a:srgbClr val="000000"/>
                </a:solidFill>
                <a:latin typeface="Arial Unicode MS"/>
                <a:ea typeface="Arial Unicode MS"/>
                <a:cs typeface="Arial Unicode MS"/>
              </a:rPr>
              <a:t>再打到真正的車，又彈回來一次</a:t>
            </a:r>
            <a:r>
              <a:rPr sz="1000" lang="zh-TW" dirty="0">
                <a:solidFill>
                  <a:srgbClr val="000000"/>
                </a:solidFill>
                <a:latin typeface="Arial Unicode MS"/>
                <a:ea typeface="Arial Unicode MS"/>
                <a:cs typeface="Arial Unicode MS"/>
              </a:rPr>
              <a:t>。同一道雷射，兩次回波。
</a:t>
            </a:r>
          </a:p>
          <a:p>
            <a:pPr algn="l">
              <a:lnSpc>
                <a:spcPct val="115000"/>
              </a:lnSpc>
              <a:spcAft>
                <a:spcPts val="500"/>
              </a:spcAft>
            </a:pPr>
            <a:r>
              <a:rPr sz="1000" lang="zh-TW" dirty="0">
                <a:solidFill>
                  <a:srgbClr val="000000"/>
                </a:solidFill>
                <a:latin typeface="Arial Unicode MS"/>
                <a:ea typeface="Arial Unicode MS"/>
                <a:cs typeface="Arial Unicode MS"/>
              </a:rPr>
              <a:t>如果這顆光達只收</a:t>
            </a:r>
            <a:r>
              <a:rPr sz="1000" b="1" lang="zh-TW" dirty="0">
                <a:solidFill>
                  <a:srgbClr val="000000"/>
                </a:solidFill>
                <a:latin typeface="Arial Unicode MS"/>
                <a:ea typeface="Arial Unicode MS"/>
                <a:cs typeface="Arial Unicode MS"/>
              </a:rPr>
              <a:t>第一次</a:t>
            </a:r>
            <a:r>
              <a:rPr sz="100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00"/>
              </a:spcAft>
            </a:pPr>
            <a:r>
              <a:rPr sz="1000" lang="zh-TW" dirty="0">
                <a:solidFill>
                  <a:srgbClr val="000000"/>
                </a:solidFill>
                <a:latin typeface="Arial Unicode MS"/>
                <a:ea typeface="Arial Unicode MS"/>
                <a:cs typeface="Arial Unicode MS"/>
              </a:rPr>
              <a:t>這就是第三週我們講下雪那一輪的時候，我說的那件事：</a:t>
            </a:r>
            <a:r>
              <a:rPr sz="1000" b="1" lang="zh-TW" dirty="0">
                <a:solidFill>
                  <a:srgbClr val="000000"/>
                </a:solidFill>
                <a:latin typeface="Arial Unicode MS"/>
                <a:ea typeface="Arial Unicode MS"/>
                <a:cs typeface="Arial Unicode MS"/>
              </a:rPr>
              <a:t>飄在空中的雪花本身就會反射雷射</a:t>
            </a:r>
            <a:r>
              <a:rPr sz="1000" lang="zh-TW" dirty="0">
                <a:solidFill>
                  <a:srgbClr val="000000"/>
                </a:solidFill>
                <a:latin typeface="Arial Unicode MS"/>
                <a:ea typeface="Arial Unicode MS"/>
                <a:cs typeface="Arial Unicode MS"/>
              </a:rPr>
              <a:t>，車子會看到一堆根本不存在的點。
</a:t>
            </a:r>
          </a:p>
          <a:p>
            <a:pPr algn="l">
              <a:lnSpc>
                <a:spcPct val="115000"/>
              </a:lnSpc>
              <a:spcAft>
                <a:spcPts val="500"/>
              </a:spcAft>
            </a:pPr>
            <a:r>
              <a:rPr sz="1000" lang="zh-TW" dirty="0">
                <a:solidFill>
                  <a:srgbClr val="000000"/>
                </a:solidFill>
                <a:latin typeface="Arial Unicode MS"/>
                <a:ea typeface="Arial Unicode MS"/>
                <a:cs typeface="Arial Unicode MS"/>
              </a:rPr>
              <a:t>處理的方法就是收</a:t>
            </a:r>
            <a:r>
              <a:rPr sz="1000" b="1" lang="zh-TW" dirty="0">
                <a:solidFill>
                  <a:srgbClr val="000000"/>
                </a:solidFill>
                <a:latin typeface="Arial Unicode MS"/>
                <a:ea typeface="Arial Unicode MS"/>
                <a:cs typeface="Arial Unicode MS"/>
              </a:rPr>
              <a:t>多次回波</a:t>
            </a:r>
            <a:r>
              <a:rPr sz="10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00"/>
              </a:spcAft>
            </a:pPr>
            <a:r>
              <a:rPr sz="1000" lang="zh-TW" dirty="0">
                <a:solidFill>
                  <a:srgbClr val="000000"/>
                </a:solidFill>
                <a:latin typeface="Arial Unicode MS"/>
                <a:ea typeface="Arial Unicode MS"/>
                <a:cs typeface="Arial Unicode MS"/>
              </a:rPr>
              <a:t>規格表上還會寫 </a:t>
            </a:r>
            <a:r>
              <a:rPr sz="1000" b="1" lang="zh-TW" dirty="0">
                <a:solidFill>
                  <a:srgbClr val="000000"/>
                </a:solidFill>
                <a:latin typeface="Arial Unicode MS"/>
                <a:ea typeface="Arial Unicode MS"/>
                <a:cs typeface="Arial Unicode MS"/>
              </a:rPr>
              <a:t>Return Order</a:t>
            </a:r>
            <a:r>
              <a:rPr sz="100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00"/>
              </a:spcAft>
            </a:pPr>
            <a:r>
              <a:rPr sz="1000" lang="zh-TW" dirty="0">
                <a:solidFill>
                  <a:srgbClr val="000000"/>
                </a:solidFill>
                <a:latin typeface="Arial Unicode MS"/>
                <a:ea typeface="Arial Unicode MS"/>
                <a:cs typeface="Arial Unicode MS"/>
              </a:rPr>
              <a:t>所以「up to 2 returns」這一行，其實就是在回答：</a:t>
            </a:r>
            <a:r>
              <a:rPr sz="1000" b="1" lang="zh-TW" dirty="0">
                <a:solidFill>
                  <a:srgbClr val="000000"/>
                </a:solidFill>
                <a:latin typeface="Arial Unicode MS"/>
                <a:ea typeface="Arial Unicode MS"/>
                <a:cs typeface="Arial Unicode MS"/>
              </a:rPr>
              <a:t>這顆光達在雨天和灰塵裡好不好用。</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三分鐘的小練習，讓學生自己把每秒點數換算成角度。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圈題目指定的第②個小工具。巡堂確認每個人都真的按過一次。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不用圈。這一句停兩秒再翻頁。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標定：告訴車子每一隻眼睛裝在哪、朝哪看。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一步一步圈，最後圈偏差角度造成的位置誤差那個數字。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時間同步：兩隻眼睛要看的是同一個瞬間。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圈時間差乘上車速算出來的那個距離，那就是不同步的代價。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最後一件事是</a:t>
            </a:r>
            <a:r>
              <a:rPr sz="1000" b="1" lang="zh-TW" dirty="0">
                <a:solidFill>
                  <a:srgbClr val="000000"/>
                </a:solidFill>
                <a:latin typeface="Arial Unicode MS"/>
                <a:ea typeface="Arial Unicode MS"/>
                <a:cs typeface="Arial Unicode MS"/>
              </a:rPr>
              <a:t>時間同步</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00"/>
              </a:spcAft>
            </a:pPr>
            <a:r>
              <a:rPr sz="100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00"/>
              </a:spcAft>
            </a:pPr>
            <a:r>
              <a:rPr sz="1000" lang="zh-TW" dirty="0">
                <a:solidFill>
                  <a:srgbClr val="000000"/>
                </a:solidFill>
                <a:latin typeface="Arial Unicode MS"/>
                <a:ea typeface="Arial Unicode MS"/>
                <a:cs typeface="Arial Unicode MS"/>
              </a:rPr>
              <a:t>假設車子現在收到一張相機的畫面，還有一圈光達的點雲，要把它們合起來。問題是——</a:t>
            </a:r>
            <a:r>
              <a:rPr sz="1000" b="1" lang="zh-TW" dirty="0">
                <a:solidFill>
                  <a:srgbClr val="000000"/>
                </a:solidFill>
                <a:latin typeface="Arial Unicode MS"/>
                <a:ea typeface="Arial Unicode MS"/>
                <a:cs typeface="Arial Unicode MS"/>
              </a:rPr>
              <a:t>這兩份資料是同一個瞬間的嗎？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如果沒有處理，它們可能差到五十毫秒。時速四十的時候，五十毫秒車子走了</a:t>
            </a:r>
            <a:r>
              <a:rPr sz="1000" b="1" lang="zh-TW" dirty="0">
                <a:solidFill>
                  <a:srgbClr val="000000"/>
                </a:solidFill>
                <a:latin typeface="Arial Unicode MS"/>
                <a:ea typeface="Arial Unicode MS"/>
                <a:cs typeface="Arial Unicode MS"/>
              </a:rPr>
              <a:t>零點五六公尺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所以你會把相機在 A 點看到的人，跟光達在 B 點量到的距離配在一起，得到一個</a:t>
            </a:r>
            <a:r>
              <a:rPr sz="1000" b="1" lang="zh-TW" dirty="0">
                <a:solidFill>
                  <a:srgbClr val="000000"/>
                </a:solidFill>
                <a:latin typeface="Arial Unicode MS"/>
                <a:ea typeface="Arial Unicode MS"/>
                <a:cs typeface="Arial Unicode MS"/>
              </a:rPr>
              <a:t>根本不存在的位置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00"/>
              </a:spcAft>
            </a:pPr>
            <a:r>
              <a:rPr sz="1000" lang="zh-TW" dirty="0">
                <a:solidFill>
                  <a:srgbClr val="000000"/>
                </a:solidFill>
                <a:latin typeface="Arial Unicode MS"/>
                <a:ea typeface="Arial Unicode MS"/>
                <a:cs typeface="Arial Unicode MS"/>
              </a:rPr>
              <a:t>解法是讓每一顆感測器都在資料上蓋一個</a:t>
            </a:r>
            <a:r>
              <a:rPr sz="1000" b="1" lang="zh-TW" dirty="0">
                <a:solidFill>
                  <a:srgbClr val="000000"/>
                </a:solidFill>
                <a:latin typeface="Arial Unicode MS"/>
                <a:ea typeface="Arial Unicode MS"/>
                <a:cs typeface="Arial Unicode MS"/>
              </a:rPr>
              <a:t>時間戳</a:t>
            </a:r>
            <a:r>
              <a:rPr sz="1000" lang="zh-TW" dirty="0">
                <a:solidFill>
                  <a:srgbClr val="000000"/>
                </a:solidFill>
                <a:latin typeface="Arial Unicode MS"/>
                <a:ea typeface="Arial Unicode MS"/>
                <a:cs typeface="Arial Unicode MS"/>
              </a:rPr>
              <a:t>，而且全車用同一個時鐘。高階一點的做法是讓光達的轉動跟相機的快門</a:t>
            </a:r>
            <a:r>
              <a:rPr sz="1000" b="1" lang="zh-TW" dirty="0">
                <a:solidFill>
                  <a:srgbClr val="000000"/>
                </a:solidFill>
                <a:latin typeface="Arial Unicode MS"/>
                <a:ea typeface="Arial Unicode MS"/>
                <a:cs typeface="Arial Unicode MS"/>
              </a:rPr>
              <a:t>對齊</a:t>
            </a:r>
            <a:r>
              <a:rPr sz="100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所以請各位記住：</a:t>
            </a:r>
            <a:r>
              <a:rPr sz="1000" b="1" lang="zh-TW" dirty="0">
                <a:solidFill>
                  <a:srgbClr val="000000"/>
                </a:solidFill>
                <a:latin typeface="Arial Unicode MS"/>
                <a:ea typeface="Arial Unicode MS"/>
                <a:cs typeface="Arial Unicode MS"/>
              </a:rPr>
              <a:t>兩顆感測器各自都是好的，不代表合起來是對的。</a:t>
            </a:r>
            <a:r>
              <a:rPr sz="1000" lang="zh-TW" dirty="0">
                <a:solidFill>
                  <a:srgbClr val="000000"/>
                </a:solidFill>
                <a:latin typeface="Arial Unicode MS"/>
                <a:ea typeface="Arial Unicode MS"/>
                <a:cs typeface="Arial Unicode MS"/>
              </a:rPr>
              <a:t>中間還有標定和同步這兩關。
</a:t>
            </a:r>
          </a:p>
          <a:p>
            <a:pPr algn="l">
              <a:lnSpc>
                <a:spcPct val="115000"/>
              </a:lnSpc>
              <a:spcAft>
                <a:spcPts val="500"/>
              </a:spcAft>
            </a:pPr>
            <a:r>
              <a:rPr sz="100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00"/>
              </a:spcAft>
            </a:pPr>
            <a:r>
              <a:rPr sz="1000" lang="zh-TW" dirty="0">
                <a:solidFill>
                  <a:srgbClr val="000000"/>
                </a:solidFill>
                <a:latin typeface="Arial Unicode MS"/>
                <a:ea typeface="Arial Unicode MS"/>
                <a:cs typeface="Arial Unicode MS"/>
              </a:rPr>
              <a:t>下一節我們回到工具上，把今天和上一節講的東西，全部用在一件事上：</a:t>
            </a:r>
            <a:r>
              <a:rPr sz="1000" b="1" lang="zh-TW" dirty="0">
                <a:solidFill>
                  <a:srgbClr val="000000"/>
                </a:solidFill>
                <a:latin typeface="Arial Unicode MS"/>
                <a:ea typeface="Arial Unicode MS"/>
                <a:cs typeface="Arial Unicode MS"/>
              </a:rPr>
              <a:t>幫一個指定的情境選一顆感測器</a:t>
            </a:r>
            <a:r>
              <a:rPr sz="10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第二節小結，三句話帶上機。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第二節收起來，三句話。
</a:t>
            </a:r>
          </a:p>
          <a:p>
            <a:pPr algn="l">
              <a:lnSpc>
                <a:spcPct val="115000"/>
              </a:lnSpc>
              <a:spcAft>
                <a:spcPts val="500"/>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500"/>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500"/>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500"/>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500"/>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14</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V="1">
            <a:off x="984992" y="1263446"/>
            <a:ext cx="1216905" cy="1095706"/>
          </a:xfrm>
          <a:prstGeom prst="line">
            <a:avLst/>
          </a:prstGeom>
          <a:noFill/>
          <a:ln w="17780">
            <a:solidFill>
              <a:srgbClr val="2E6E4E"/>
            </a:solidFill>
            <a:prstDash val="solid"/>
          </a:ln>
        </p:spPr>
      </p:sp>
      <p:sp>
        <p:nvSpPr>
          <p:cNvPr id="5" name="Shape 3"/>
          <p:cNvSpPr/>
          <p:nvPr/>
        </p:nvSpPr>
        <p:spPr>
          <a:xfrm flipV="1">
            <a:off x="984992" y="1590389"/>
            <a:ext cx="1445833" cy="768763"/>
          </a:xfrm>
          <a:prstGeom prst="line">
            <a:avLst/>
          </a:prstGeom>
          <a:noFill/>
          <a:ln w="17780">
            <a:solidFill>
              <a:srgbClr val="2E6E4E"/>
            </a:solidFill>
            <a:prstDash val="solid"/>
          </a:ln>
        </p:spPr>
      </p:sp>
      <p:sp>
        <p:nvSpPr>
          <p:cNvPr id="6" name="Shape 4"/>
          <p:cNvSpPr/>
          <p:nvPr/>
        </p:nvSpPr>
        <p:spPr>
          <a:xfrm flipV="1">
            <a:off x="984992" y="1963003"/>
            <a:ext cx="1588867" cy="396149"/>
          </a:xfrm>
          <a:prstGeom prst="line">
            <a:avLst/>
          </a:prstGeom>
          <a:noFill/>
          <a:ln w="17780">
            <a:solidFill>
              <a:srgbClr val="2E6E4E"/>
            </a:solidFill>
            <a:prstDash val="solid"/>
          </a:ln>
        </p:spPr>
      </p:sp>
      <p:sp>
        <p:nvSpPr>
          <p:cNvPr id="7" name="Shape 5"/>
          <p:cNvSpPr/>
          <p:nvPr/>
        </p:nvSpPr>
        <p:spPr>
          <a:xfrm>
            <a:off x="984992" y="2359152"/>
            <a:ext cx="1637508" cy="1"/>
          </a:xfrm>
          <a:prstGeom prst="line">
            <a:avLst/>
          </a:prstGeom>
          <a:noFill/>
          <a:ln w="17780">
            <a:solidFill>
              <a:srgbClr val="2E6E4E"/>
            </a:solidFill>
            <a:prstDash val="solid"/>
          </a:ln>
        </p:spPr>
      </p:sp>
      <p:sp>
        <p:nvSpPr>
          <p:cNvPr id="8" name="Shape 6"/>
          <p:cNvSpPr/>
          <p:nvPr/>
        </p:nvSpPr>
        <p:spPr>
          <a:xfrm>
            <a:off x="984992" y="2359152"/>
            <a:ext cx="1445833" cy="768763"/>
          </a:xfrm>
          <a:prstGeom prst="line">
            <a:avLst/>
          </a:prstGeom>
          <a:noFill/>
          <a:ln w="17780">
            <a:solidFill>
              <a:srgbClr val="2E6E4E"/>
            </a:solidFill>
            <a:prstDash val="solid"/>
          </a:ln>
        </p:spPr>
      </p:sp>
      <p:sp>
        <p:nvSpPr>
          <p:cNvPr id="9" name="Shape 7"/>
          <p:cNvSpPr/>
          <p:nvPr/>
        </p:nvSpPr>
        <p:spPr>
          <a:xfrm>
            <a:off x="984992" y="2359152"/>
            <a:ext cx="1216905" cy="1095706"/>
          </a:xfrm>
          <a:prstGeom prst="line">
            <a:avLst/>
          </a:prstGeom>
          <a:noFill/>
          <a:ln w="17780">
            <a:solidFill>
              <a:srgbClr val="2E6E4E"/>
            </a:solidFill>
            <a:prstDash val="solid"/>
          </a:ln>
        </p:spPr>
      </p:sp>
      <p:sp>
        <p:nvSpPr>
          <p:cNvPr id="10" name="Shape 8"/>
          <p:cNvSpPr/>
          <p:nvPr/>
        </p:nvSpPr>
        <p:spPr>
          <a:xfrm>
            <a:off x="907542" y="2281702"/>
            <a:ext cx="154899" cy="154899"/>
          </a:xfrm>
          <a:prstGeom prst="ellipse">
            <a:avLst/>
          </a:prstGeom>
          <a:solidFill>
            <a:srgbClr val="2E6E4E"/>
          </a:solidFill>
          <a:ln/>
        </p:spPr>
      </p:sp>
      <p:sp>
        <p:nvSpPr>
          <p:cNvPr id="11" name="Shape 9"/>
          <p:cNvSpPr/>
          <p:nvPr/>
        </p:nvSpPr>
        <p:spPr>
          <a:xfrm>
            <a:off x="2018333" y="2533737"/>
            <a:ext cx="221285" cy="221285"/>
          </a:xfrm>
          <a:prstGeom prst="roundRect">
            <a:avLst>
              <a:gd name="adj" fmla="val 20000"/>
            </a:avLst>
          </a:prstGeom>
          <a:solidFill>
            <a:srgbClr val="D9463E"/>
          </a:solidFill>
          <a:ln/>
        </p:spPr>
      </p:sp>
      <p:sp>
        <p:nvSpPr>
          <p:cNvPr id="12" name="Text 10"/>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2300" dirty="0"/>
          </a:p>
        </p:txBody>
      </p:sp>
      <p:sp>
        <p:nvSpPr>
          <p:cNvPr id="13" name="Text 11"/>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OS1 ghi «Class 1 eye-safe per IEC/EN 60825-1». Nghĩa là trong mọi điều kiện sử dụng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OS1 寫「Class 1 eye-safe per IEC/EN 60825-1」。意思是在正常使用的情況下，就算直視它也不會傷到眼睛。</a:t>
            </a:r>
            <a:endParaRPr lang="en-US" sz="1250" dirty="0"/>
          </a:p>
        </p:txBody>
      </p:sp>
      <p:sp>
        <p:nvSpPr>
          <p:cNvPr id="14" name="Shape 12"/>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8"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9"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H="1" flipV="1">
            <a:off x="1314902" y="1288435"/>
            <a:ext cx="422458" cy="626319"/>
          </a:xfrm>
          <a:prstGeom prst="line">
            <a:avLst/>
          </a:prstGeom>
          <a:noFill/>
          <a:ln w="15240">
            <a:solidFill>
              <a:srgbClr val="1F6F5C"/>
            </a:solidFill>
            <a:prstDash val="solid"/>
          </a:ln>
        </p:spPr>
      </p:sp>
      <p:sp>
        <p:nvSpPr>
          <p:cNvPr id="5" name="Shape 3"/>
          <p:cNvSpPr/>
          <p:nvPr/>
        </p:nvSpPr>
        <p:spPr>
          <a:xfrm flipH="1" flipV="1">
            <a:off x="1516480" y="1192287"/>
            <a:ext cx="220880" cy="722467"/>
          </a:xfrm>
          <a:prstGeom prst="line">
            <a:avLst/>
          </a:prstGeom>
          <a:noFill/>
          <a:ln w="15240">
            <a:solidFill>
              <a:srgbClr val="1F6F5C"/>
            </a:solidFill>
            <a:prstDash val="solid"/>
          </a:ln>
        </p:spPr>
      </p:sp>
      <p:sp>
        <p:nvSpPr>
          <p:cNvPr id="6" name="Shape 4"/>
          <p:cNvSpPr/>
          <p:nvPr/>
        </p:nvSpPr>
        <p:spPr>
          <a:xfrm flipV="1">
            <a:off x="1737360" y="1159276"/>
            <a:ext cx="1" cy="755477"/>
          </a:xfrm>
          <a:prstGeom prst="line">
            <a:avLst/>
          </a:prstGeom>
          <a:noFill/>
          <a:ln w="15240">
            <a:solidFill>
              <a:srgbClr val="1F6F5C"/>
            </a:solidFill>
            <a:prstDash val="solid"/>
          </a:ln>
        </p:spPr>
      </p:sp>
      <p:sp>
        <p:nvSpPr>
          <p:cNvPr id="7" name="Shape 5"/>
          <p:cNvSpPr/>
          <p:nvPr/>
        </p:nvSpPr>
        <p:spPr>
          <a:xfrm flipV="1">
            <a:off x="1737360" y="1192287"/>
            <a:ext cx="220880" cy="722467"/>
          </a:xfrm>
          <a:prstGeom prst="line">
            <a:avLst/>
          </a:prstGeom>
          <a:noFill/>
          <a:ln w="15240">
            <a:solidFill>
              <a:srgbClr val="1F6F5C"/>
            </a:solidFill>
            <a:prstDash val="solid"/>
          </a:ln>
        </p:spPr>
      </p:sp>
      <p:sp>
        <p:nvSpPr>
          <p:cNvPr id="8" name="Shape 6"/>
          <p:cNvSpPr/>
          <p:nvPr/>
        </p:nvSpPr>
        <p:spPr>
          <a:xfrm flipV="1">
            <a:off x="1737360" y="1288435"/>
            <a:ext cx="422458" cy="626319"/>
          </a:xfrm>
          <a:prstGeom prst="line">
            <a:avLst/>
          </a:prstGeom>
          <a:noFill/>
          <a:ln w="15240">
            <a:solidFill>
              <a:srgbClr val="1F6F5C"/>
            </a:solidFill>
            <a:prstDash val="solid"/>
          </a:ln>
        </p:spPr>
      </p:sp>
      <p:sp>
        <p:nvSpPr>
          <p:cNvPr id="9" name="Shape 7"/>
          <p:cNvSpPr/>
          <p:nvPr/>
        </p:nvSpPr>
        <p:spPr>
          <a:xfrm>
            <a:off x="1675400" y="1852794"/>
            <a:ext cx="123919" cy="123919"/>
          </a:xfrm>
          <a:prstGeom prst="ellipse">
            <a:avLst/>
          </a:prstGeom>
          <a:solidFill>
            <a:srgbClr val="1F6F5C"/>
          </a:solidFill>
          <a:ln/>
        </p:spPr>
      </p:sp>
      <p:sp>
        <p:nvSpPr>
          <p:cNvPr id="10" name="Shape 8"/>
          <p:cNvSpPr/>
          <p:nvPr/>
        </p:nvSpPr>
        <p:spPr>
          <a:xfrm flipH="1" flipV="1">
            <a:off x="998392" y="2824237"/>
            <a:ext cx="738968" cy="157073"/>
          </a:xfrm>
          <a:prstGeom prst="line">
            <a:avLst/>
          </a:prstGeom>
          <a:noFill/>
          <a:ln w="15240">
            <a:solidFill>
              <a:srgbClr val="1F6F5C"/>
            </a:solidFill>
            <a:prstDash val="solid"/>
          </a:ln>
        </p:spPr>
      </p:sp>
      <p:sp>
        <p:nvSpPr>
          <p:cNvPr id="11" name="Shape 9"/>
          <p:cNvSpPr/>
          <p:nvPr/>
        </p:nvSpPr>
        <p:spPr>
          <a:xfrm flipH="1" flipV="1">
            <a:off x="1261923" y="2394194"/>
            <a:ext cx="475437" cy="587116"/>
          </a:xfrm>
          <a:prstGeom prst="line">
            <a:avLst/>
          </a:prstGeom>
          <a:noFill/>
          <a:ln w="15240">
            <a:solidFill>
              <a:srgbClr val="1F6F5C"/>
            </a:solidFill>
            <a:prstDash val="solid"/>
          </a:ln>
        </p:spPr>
      </p:sp>
      <p:sp>
        <p:nvSpPr>
          <p:cNvPr id="12" name="Shape 10"/>
          <p:cNvSpPr/>
          <p:nvPr/>
        </p:nvSpPr>
        <p:spPr>
          <a:xfrm flipV="1">
            <a:off x="1737360" y="2225832"/>
            <a:ext cx="1" cy="755477"/>
          </a:xfrm>
          <a:prstGeom prst="line">
            <a:avLst/>
          </a:prstGeom>
          <a:noFill/>
          <a:ln w="15240">
            <a:solidFill>
              <a:srgbClr val="1F6F5C"/>
            </a:solidFill>
            <a:prstDash val="solid"/>
          </a:ln>
        </p:spPr>
      </p:sp>
      <p:sp>
        <p:nvSpPr>
          <p:cNvPr id="13" name="Shape 11"/>
          <p:cNvSpPr/>
          <p:nvPr/>
        </p:nvSpPr>
        <p:spPr>
          <a:xfrm flipV="1">
            <a:off x="1737360" y="2394194"/>
            <a:ext cx="475437" cy="587116"/>
          </a:xfrm>
          <a:prstGeom prst="line">
            <a:avLst/>
          </a:prstGeom>
          <a:noFill/>
          <a:ln w="15240">
            <a:solidFill>
              <a:srgbClr val="1F6F5C"/>
            </a:solidFill>
            <a:prstDash val="solid"/>
          </a:ln>
        </p:spPr>
      </p:sp>
      <p:sp>
        <p:nvSpPr>
          <p:cNvPr id="14" name="Shape 12"/>
          <p:cNvSpPr/>
          <p:nvPr/>
        </p:nvSpPr>
        <p:spPr>
          <a:xfrm flipV="1">
            <a:off x="1737360" y="2824237"/>
            <a:ext cx="738968" cy="157073"/>
          </a:xfrm>
          <a:prstGeom prst="line">
            <a:avLst/>
          </a:prstGeom>
          <a:noFill/>
          <a:ln w="15240">
            <a:solidFill>
              <a:srgbClr val="1F6F5C"/>
            </a:solidFill>
            <a:prstDash val="solid"/>
          </a:ln>
        </p:spPr>
      </p:sp>
      <p:sp>
        <p:nvSpPr>
          <p:cNvPr id="15" name="Shape 13"/>
          <p:cNvSpPr/>
          <p:nvPr/>
        </p:nvSpPr>
        <p:spPr>
          <a:xfrm>
            <a:off x="1675400" y="2919350"/>
            <a:ext cx="123919" cy="123919"/>
          </a:xfrm>
          <a:prstGeom prst="ellipse">
            <a:avLst/>
          </a:prstGeom>
          <a:solidFill>
            <a:srgbClr val="1F6F5C"/>
          </a:solidFill>
          <a:ln/>
        </p:spPr>
      </p:sp>
      <p:sp>
        <p:nvSpPr>
          <p:cNvPr id="16" name="Text 14"/>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2300" dirty="0"/>
          </a:p>
        </p:txBody>
      </p:sp>
      <p:sp>
        <p:nvSpPr>
          <p:cNvPr id="17" name="Text 15"/>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qua màn mưa, qua lá cây, qua khói bụi rồi mới chạm vật thật. Nếu cảm biến chỉ nhận một lần vọng, nó có thể coi hạt mưa là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雷射穿過雨幕、樹葉、煙塵，才打到真正的東西。如果感測器只收第一次回波，它可能把雨滴當成障礙物。</a:t>
            </a:r>
            <a:endParaRPr lang="en-US" sz="1250" dirty="0"/>
          </a:p>
        </p:txBody>
      </p:sp>
      <p:sp>
        <p:nvSpPr>
          <p:cNvPr id="18" name="Shape 1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9" name="Text 1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21"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2"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23"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12 / 14</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8A5A00"/>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8A5A00"/>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Nếu không đóng dấu thời gian chung, khung ảnh và vòng quét có thể lệch nhau tới 50 ms — ở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fps。如果沒有共同的時間戳，一張畫面和一圈掃描可能差到 50 毫秒——時速 40 就是超過半公尺。</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2026-10-02T03:46:19Z</dcterms:created>
  <dcterms:modified xsi:type="dcterms:W3CDTF">2026-10-02T03:46:19Z</dcterms:modified>
</cp:coreProperties>
</file>