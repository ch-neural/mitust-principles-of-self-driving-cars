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8"/>
              </a:spcAft>
            </a:pPr>
            <a:r>
              <a:rPr sz="950" b="1" lang="zh-TW" dirty="0">
                <a:solidFill>
                  <a:srgbClr val="000000"/>
                </a:solidFill>
                <a:latin typeface="Arial Unicode MS"/>
                <a:ea typeface="Arial Unicode MS"/>
                <a:cs typeface="Arial Unicode MS"/>
              </a:rPr>
              <a:t>▍這一張要做什麼</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8"/>
              </a:spcAft>
            </a:pPr>
            <a:r>
              <a:rPr sz="950" b="1" lang="zh-TW" dirty="0">
                <a:solidFill>
                  <a:srgbClr val="000000"/>
                </a:solidFill>
                <a:latin typeface="Arial Unicode MS"/>
                <a:ea typeface="Arial Unicode MS"/>
                <a:cs typeface="Arial Unicode MS"/>
              </a:rPr>
              <a:t>▍畫面上圈這裡</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圈主標「第二頁」，說明這些是上一節沒碰到的規格行。
</a:t>
            </a:r>
          </a:p>
          <a:p>
            <a:pPr algn="l">
              <a:spcBef>
                <a:spcPts val="0"/>
              </a:spcBef>
              <a:spcAft>
                <a:spcPts val="158"/>
              </a:spcAft>
            </a:pPr>
            <a:r>
              <a:rPr sz="950" b="1" lang="zh-TW" dirty="0">
                <a:solidFill>
                  <a:srgbClr val="000000"/>
                </a:solidFill>
                <a:latin typeface="Arial Unicode MS"/>
                <a:ea typeface="Arial Unicode MS"/>
                <a:cs typeface="Arial Unicode MS"/>
              </a:rPr>
              <a:t>▍以下照著唸</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第二節開始。
</a:t>
            </a:r>
          </a:p>
          <a:p>
            <a:pPr algn="l">
              <a:spcBef>
                <a:spcPts val="0"/>
              </a:spcBef>
              <a:spcAft>
                <a:spcPts val="158"/>
              </a:spcAft>
            </a:pPr>
            <a:r>
              <a:rPr sz="950" lang="zh-TW" dirty="0">
                <a:solidFill>
                  <a:srgbClr val="000000"/>
                </a:solidFill>
                <a:latin typeface="Arial Unicode MS"/>
                <a:ea typeface="Arial Unicode MS"/>
                <a:cs typeface="Arial Unicode MS"/>
              </a:rPr>
              <a:t>上一節我們找的四個數字，是規格表的</a:t>
            </a:r>
            <a:r>
              <a:rPr sz="950" b="1" lang="zh-TW" dirty="0">
                <a:solidFill>
                  <a:srgbClr val="000000"/>
                </a:solidFill>
                <a:latin typeface="Arial Unicode MS"/>
                <a:ea typeface="Arial Unicode MS"/>
                <a:cs typeface="Arial Unicode MS"/>
              </a:rPr>
              <a:t>第一頁</a:t>
            </a:r>
            <a:r>
              <a:rPr sz="95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8"/>
              </a:spcAft>
            </a:pPr>
            <a:r>
              <a:rPr sz="950" lang="zh-TW" dirty="0">
                <a:solidFill>
                  <a:srgbClr val="000000"/>
                </a:solidFill>
                <a:latin typeface="Arial Unicode MS"/>
                <a:ea typeface="Arial Unicode MS"/>
                <a:cs typeface="Arial Unicode MS"/>
              </a:rPr>
              <a:t>這一節我要帶各位往下翻。第二頁上還有一堆數字，大部分的人不看，可是</a:t>
            </a:r>
            <a:r>
              <a:rPr sz="950" b="1" lang="zh-TW" dirty="0">
                <a:solidFill>
                  <a:srgbClr val="000000"/>
                </a:solidFill>
                <a:latin typeface="Arial Unicode MS"/>
                <a:ea typeface="Arial Unicode MS"/>
                <a:cs typeface="Arial Unicode MS"/>
              </a:rPr>
              <a:t>真的出事的時候，常常是出在那幾行</a:t>
            </a:r>
            <a:r>
              <a:rPr sz="950" lang="zh-TW" dirty="0">
                <a:solidFill>
                  <a:srgbClr val="000000"/>
                </a:solidFill>
                <a:latin typeface="Arial Unicode MS"/>
                <a:ea typeface="Arial Unicode MS"/>
                <a:cs typeface="Arial Unicode MS"/>
              </a:rPr>
              <a:t>。
</a:t>
            </a:r>
          </a:p>
          <a:p>
            <a:pPr algn="l">
              <a:spcBef>
                <a:spcPts val="0"/>
              </a:spcBef>
              <a:spcAft>
                <a:spcPts val="158"/>
              </a:spcAft>
            </a:pPr>
            <a:r>
              <a:rPr sz="950" lang="zh-TW" dirty="0">
                <a:solidFill>
                  <a:srgbClr val="000000"/>
                </a:solidFill>
                <a:latin typeface="Arial Unicode MS"/>
                <a:ea typeface="Arial Unicode MS"/>
                <a:cs typeface="Arial Unicode MS"/>
              </a:rPr>
              <a:t>我挑三組最重要的。
</a:t>
            </a:r>
          </a:p>
          <a:p>
            <a:pPr algn="l">
              <a:spcBef>
                <a:spcPts val="0"/>
              </a:spcBef>
              <a:spcAft>
                <a:spcPts val="158"/>
              </a:spcAft>
            </a:pPr>
            <a:r>
              <a:rPr sz="950" lang="zh-TW" dirty="0">
                <a:solidFill>
                  <a:srgbClr val="000000"/>
                </a:solidFill>
                <a:latin typeface="Arial Unicode MS"/>
                <a:ea typeface="Arial Unicode MS"/>
                <a:cs typeface="Arial Unicode MS"/>
              </a:rPr>
              <a:t>第一組是相機的：</a:t>
            </a:r>
            <a:r>
              <a:rPr sz="950" b="1" lang="zh-TW" dirty="0">
                <a:solidFill>
                  <a:srgbClr val="000000"/>
                </a:solidFill>
                <a:latin typeface="Arial Unicode MS"/>
                <a:ea typeface="Arial Unicode MS"/>
                <a:cs typeface="Arial Unicode MS"/>
              </a:rPr>
              <a:t>快門怎麼掃、動態範圍多少、LED 閃爍怎麼處理</a:t>
            </a:r>
            <a:r>
              <a:rPr sz="95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8"/>
              </a:spcAft>
            </a:pPr>
            <a:r>
              <a:rPr sz="950" lang="zh-TW" dirty="0">
                <a:solidFill>
                  <a:srgbClr val="000000"/>
                </a:solidFill>
                <a:latin typeface="Arial Unicode MS"/>
                <a:ea typeface="Arial Unicode MS"/>
                <a:cs typeface="Arial Unicode MS"/>
              </a:rPr>
              <a:t>第二組是光達的：</a:t>
            </a:r>
            <a:r>
              <a:rPr sz="950" b="1" lang="zh-TW" dirty="0">
                <a:solidFill>
                  <a:srgbClr val="000000"/>
                </a:solidFill>
                <a:latin typeface="Arial Unicode MS"/>
                <a:ea typeface="Arial Unicode MS"/>
                <a:cs typeface="Arial Unicode MS"/>
              </a:rPr>
              <a:t>波長、眼睛安全等級、幾次回波</a:t>
            </a:r>
            <a:r>
              <a:rPr sz="95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8"/>
              </a:spcAft>
            </a:pPr>
            <a:r>
              <a:rPr sz="950" lang="zh-TW" dirty="0">
                <a:solidFill>
                  <a:srgbClr val="000000"/>
                </a:solidFill>
                <a:latin typeface="Arial Unicode MS"/>
                <a:ea typeface="Arial Unicode MS"/>
                <a:cs typeface="Arial Unicode MS"/>
              </a:rPr>
              <a:t>第三組是兩種都有的，而且是最多人忽略的：</a:t>
            </a:r>
            <a:r>
              <a:rPr sz="950" b="1" lang="zh-TW" dirty="0">
                <a:solidFill>
                  <a:srgbClr val="000000"/>
                </a:solidFill>
                <a:latin typeface="Arial Unicode MS"/>
                <a:ea typeface="Arial Unicode MS"/>
                <a:cs typeface="Arial Unicode MS"/>
              </a:rPr>
              <a:t>標定和時間同步</a:t>
            </a:r>
            <a:r>
              <a:rPr sz="95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8"/>
              </a:spcAft>
            </a:pPr>
            <a:r>
              <a:rPr sz="95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。規格表上會寫 rolling shutter 或者 global shutter——AR0233AT 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spcBef>
                <a:spcPts val="0"/>
              </a:spcBef>
              <a:spcAft>
                <a:spcPts val="133"/>
              </a:spcAft>
            </a:pPr>
            <a:r>
              <a:rPr sz="800" lang="zh-TW" dirty="0">
                <a:solidFill>
                  <a:srgbClr val="000000"/>
                </a:solidFill>
                <a:latin typeface="Arial Unicode MS"/>
                <a:ea typeface="Arial Unicode MS"/>
                <a:cs typeface="Arial Unicode MS"/>
              </a:rPr>
              <a:t>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讀得很快</a:t>
            </a:r>
            <a:r>
              <a:rPr sz="800" lang="zh-TW" dirty="0">
                <a:solidFill>
                  <a:srgbClr val="000000"/>
                </a:solidFill>
                <a:latin typeface="Arial Unicode MS"/>
                <a:ea typeface="Arial Unicode MS"/>
                <a:cs typeface="Arial Unicode MS"/>
              </a:rPr>
              <a:t>——像上一節看的 AR0233AT，一秒六十張，讀一張只要十六毫秒左右，扭曲就小一點。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fps」這一行，除了講即時性，它其實也在講</a:t>
            </a:r>
            <a:r>
              <a:rPr sz="800" b="1" lang="zh-TW" dirty="0">
                <a:solidFill>
                  <a:srgbClr val="000000"/>
                </a:solidFill>
                <a:latin typeface="Arial Unicode MS"/>
                <a:ea typeface="Arial Unicode MS"/>
                <a:cs typeface="Arial Unicode MS"/>
              </a:rPr>
              <a:t>扭曲有多嚴重</a:t>
            </a:r>
            <a:r>
              <a:rPr sz="8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33"/>
              </a:spcAft>
            </a:pPr>
            <a:r>
              <a:rPr sz="800" lang="zh-TW" dirty="0">
                <a:solidFill>
                  <a:srgbClr val="000000"/>
                </a:solidFill>
                <a:latin typeface="Arial Unicode MS"/>
                <a:ea typeface="Arial Unicode MS"/>
                <a:cs typeface="Arial Unicode MS"/>
              </a:rPr>
              <a:t>刺眼，然後看不清楚，要過一兩秒才適應。
</a:t>
            </a:r>
          </a:p>
          <a:p>
            <a:pPr algn="l">
              <a:spcBef>
                <a:spcPts val="0"/>
              </a:spcBef>
              <a:spcAft>
                <a:spcPts val="133"/>
              </a:spcAft>
            </a:pPr>
            <a:r>
              <a:rPr sz="800" lang="zh-TW" dirty="0">
                <a:solidFill>
                  <a:srgbClr val="000000"/>
                </a:solidFill>
                <a:latin typeface="Arial Unicode MS"/>
                <a:ea typeface="Arial Unicode MS"/>
                <a:cs typeface="Arial Unicode MS"/>
              </a:rPr>
              <a:t>相機也一樣，而且它沒有兩秒可以適應。隧道裡面很暗，出口外面很亮，這兩個亮度差一萬倍以上。如果相機的動態範圍不夠，它只能選一邊：</a:t>
            </a:r>
            <a:r>
              <a:rPr sz="800" b="1" lang="zh-TW" dirty="0">
                <a:solidFill>
                  <a:srgbClr val="000000"/>
                </a:solidFill>
                <a:latin typeface="Arial Unicode MS"/>
                <a:ea typeface="Arial Unicode MS"/>
                <a:cs typeface="Arial Unicode MS"/>
              </a:rPr>
              <a:t>要嘛把裡面拍清楚，外面整片白；要嘛把外面拍清楚，裡面整片黑。</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。這一行是最容易被數字騙的一行。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圈上面算出來的 50 毫秒與半公尺，再指圖裡 Additional Programmability 的 Multi-sensor phase lock。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最後一件事是</a:t>
            </a:r>
            <a:r>
              <a:rPr sz="850" b="1" lang="zh-TW" dirty="0">
                <a:solidFill>
                  <a:srgbClr val="000000"/>
                </a:solidFill>
                <a:latin typeface="Arial Unicode MS"/>
                <a:ea typeface="Arial Unicode MS"/>
                <a:cs typeface="Arial Unicode MS"/>
              </a:rPr>
              <a:t>時間同步</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42"/>
              </a:spcAft>
            </a:pPr>
            <a:r>
              <a:rPr sz="850" lang="zh-TW" dirty="0">
                <a:solidFill>
                  <a:srgbClr val="000000"/>
                </a:solidFill>
                <a:latin typeface="Arial Unicode MS"/>
                <a:ea typeface="Arial Unicode MS"/>
                <a:cs typeface="Arial Unicode MS"/>
              </a:rPr>
              <a:t>想想看：光達一秒轉十圈，相機一秒拍六十張。這兩個東西的節奏完全不一樣。
</a:t>
            </a:r>
          </a:p>
          <a:p>
            <a:pPr algn="l">
              <a:spcBef>
                <a:spcPts val="0"/>
              </a:spcBef>
              <a:spcAft>
                <a:spcPts val="142"/>
              </a:spcAft>
            </a:pPr>
            <a:r>
              <a:rPr sz="850" lang="zh-TW" dirty="0">
                <a:solidFill>
                  <a:srgbClr val="000000"/>
                </a:solidFill>
                <a:latin typeface="Arial Unicode MS"/>
                <a:ea typeface="Arial Unicode MS"/>
                <a:cs typeface="Arial Unicode MS"/>
              </a:rPr>
              <a:t>假設車子現在收到一張相機的畫面，還有一圈光達的點雲，要把它們合起來。問題是——</a:t>
            </a:r>
            <a:r>
              <a:rPr sz="850" b="1" lang="zh-TW" dirty="0">
                <a:solidFill>
                  <a:srgbClr val="000000"/>
                </a:solidFill>
                <a:latin typeface="Arial Unicode MS"/>
                <a:ea typeface="Arial Unicode MS"/>
                <a:cs typeface="Arial Unicode MS"/>
              </a:rPr>
              <a:t>這兩份資料是同一個瞬間的嗎？</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如果沒有處理，它們可能差到五十毫秒。時速四十的時候，五十毫秒車子走了</a:t>
            </a:r>
            <a:r>
              <a:rPr sz="850" b="1" lang="zh-TW" dirty="0">
                <a:solidFill>
                  <a:srgbClr val="000000"/>
                </a:solidFill>
                <a:latin typeface="Arial Unicode MS"/>
                <a:ea typeface="Arial Unicode MS"/>
                <a:cs typeface="Arial Unicode MS"/>
              </a:rPr>
              <a:t>零點五六公尺</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所以你會把相機在 A 點看到的人，跟光達在 B 點量到的距離配在一起，得到一個</a:t>
            </a:r>
            <a:r>
              <a:rPr sz="850" b="1" lang="zh-TW" dirty="0">
                <a:solidFill>
                  <a:srgbClr val="000000"/>
                </a:solidFill>
                <a:latin typeface="Arial Unicode MS"/>
                <a:ea typeface="Arial Unicode MS"/>
                <a:cs typeface="Arial Unicode MS"/>
              </a:rPr>
              <a:t>根本不存在的位置</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而且這個誤差會跟剛剛的標定誤差疊加，兩個加起來就很可觀。
</a:t>
            </a:r>
          </a:p>
          <a:p>
            <a:pPr algn="l">
              <a:spcBef>
                <a:spcPts val="0"/>
              </a:spcBef>
              <a:spcAft>
                <a:spcPts val="142"/>
              </a:spcAft>
            </a:pPr>
            <a:r>
              <a:rPr sz="850" lang="zh-TW" dirty="0">
                <a:solidFill>
                  <a:srgbClr val="000000"/>
                </a:solidFill>
                <a:latin typeface="Arial Unicode MS"/>
                <a:ea typeface="Arial Unicode MS"/>
                <a:cs typeface="Arial Unicode MS"/>
              </a:rPr>
              <a:t>解法是讓每一顆感測器都在資料上蓋一個</a:t>
            </a:r>
            <a:r>
              <a:rPr sz="850" b="1" lang="zh-TW" dirty="0">
                <a:solidFill>
                  <a:srgbClr val="000000"/>
                </a:solidFill>
                <a:latin typeface="Arial Unicode MS"/>
                <a:ea typeface="Arial Unicode MS"/>
                <a:cs typeface="Arial Unicode MS"/>
              </a:rPr>
              <a:t>時間戳</a:t>
            </a:r>
            <a:r>
              <a:rPr sz="850" lang="zh-TW" dirty="0">
                <a:solidFill>
                  <a:srgbClr val="000000"/>
                </a:solidFill>
                <a:latin typeface="Arial Unicode MS"/>
                <a:ea typeface="Arial Unicode MS"/>
                <a:cs typeface="Arial Unicode MS"/>
              </a:rPr>
              <a:t>，而且全車用同一個時鐘。高階一點的做法，是讓光達轉到某個角度的時候，剛好跟相機的快門</a:t>
            </a:r>
            <a:r>
              <a:rPr sz="850" b="1" lang="zh-TW" dirty="0">
                <a:solidFill>
                  <a:srgbClr val="000000"/>
                </a:solidFill>
                <a:latin typeface="Arial Unicode MS"/>
                <a:ea typeface="Arial Unicode MS"/>
                <a:cs typeface="Arial Unicode MS"/>
              </a:rPr>
              <a:t>對在一起</a:t>
            </a:r>
            <a:r>
              <a:rPr sz="850" lang="zh-TW" dirty="0">
                <a:solidFill>
                  <a:srgbClr val="000000"/>
                </a:solidFill>
                <a:latin typeface="Arial Unicode MS"/>
                <a:ea typeface="Arial Unicode MS"/>
                <a:cs typeface="Arial Unicode MS"/>
              </a:rPr>
              <a:t>。OS1 規格表上 Additional Programmability 的</a:t>
            </a:r>
            <a:r>
              <a:rPr sz="850" b="1" lang="zh-TW" dirty="0">
                <a:solidFill>
                  <a:srgbClr val="000000"/>
                </a:solidFill>
                <a:latin typeface="Arial Unicode MS"/>
                <a:ea typeface="Arial Unicode MS"/>
                <a:cs typeface="Arial Unicode MS"/>
              </a:rPr>
              <a:t>第一條</a:t>
            </a:r>
            <a:r>
              <a:rPr sz="850" lang="zh-TW" dirty="0">
                <a:solidFill>
                  <a:srgbClr val="000000"/>
                </a:solidFill>
                <a:latin typeface="Arial Unicode MS"/>
                <a:ea typeface="Arial Unicode MS"/>
                <a:cs typeface="Arial Unicode MS"/>
              </a:rPr>
              <a:t>，multi-sensor phase lock，講的就是這件事。
</a:t>
            </a:r>
          </a:p>
          <a:p>
            <a:pPr algn="l">
              <a:spcBef>
                <a:spcPts val="0"/>
              </a:spcBef>
              <a:spcAft>
                <a:spcPts val="142"/>
              </a:spcAft>
            </a:pPr>
            <a:r>
              <a:rPr sz="850" lang="zh-TW" dirty="0">
                <a:solidFill>
                  <a:srgbClr val="000000"/>
                </a:solidFill>
                <a:latin typeface="Arial Unicode MS"/>
                <a:ea typeface="Arial Unicode MS"/>
                <a:cs typeface="Arial Unicode MS"/>
              </a:rPr>
              <a:t>所以請各位記住：</a:t>
            </a:r>
            <a:r>
              <a:rPr sz="850" b="1" lang="zh-TW" dirty="0">
                <a:solidFill>
                  <a:srgbClr val="000000"/>
                </a:solidFill>
                <a:latin typeface="Arial Unicode MS"/>
                <a:ea typeface="Arial Unicode MS"/>
                <a:cs typeface="Arial Unicode MS"/>
              </a:rPr>
              <a:t>兩顆感測器各自都是好的，不代表合起來是對的。</a:t>
            </a:r>
            <a:r>
              <a:rPr sz="850" lang="zh-TW" dirty="0">
                <a:solidFill>
                  <a:srgbClr val="000000"/>
                </a:solidFill>
                <a:latin typeface="Arial Unicode MS"/>
                <a:ea typeface="Arial Unicode MS"/>
                <a:cs typeface="Arial Unicode MS"/>
              </a:rPr>
              <a:t>中間還有標定和同步這兩關。
</a:t>
            </a:r>
          </a:p>
          <a:p>
            <a:pPr algn="l">
              <a:spcBef>
                <a:spcPts val="0"/>
              </a:spcBef>
              <a:spcAft>
                <a:spcPts val="142"/>
              </a:spcAft>
            </a:pPr>
            <a:r>
              <a:rPr sz="85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spcBef>
                <a:spcPts val="0"/>
              </a:spcBef>
              <a:spcAft>
                <a:spcPts val="142"/>
              </a:spcAft>
            </a:pPr>
            <a:r>
              <a:rPr sz="850" lang="zh-TW" dirty="0">
                <a:solidFill>
                  <a:srgbClr val="000000"/>
                </a:solidFill>
                <a:latin typeface="Arial Unicode MS"/>
                <a:ea typeface="Arial Unicode MS"/>
                <a:cs typeface="Arial Unicode MS"/>
              </a:rPr>
              <a:t>下一節我們回到工具上，把今天和上一節講的東西，全部用在一件事上：</a:t>
            </a:r>
            <a:r>
              <a:rPr sz="850" b="1" lang="zh-TW" dirty="0">
                <a:solidFill>
                  <a:srgbClr val="000000"/>
                </a:solidFill>
                <a:latin typeface="Arial Unicode MS"/>
                <a:ea typeface="Arial Unicode MS"/>
                <a:cs typeface="Arial Unicode MS"/>
              </a:rPr>
              <a:t>幫一個指定的情境選一顆感測器</a:t>
            </a:r>
            <a:r>
              <a:rPr sz="85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規格表的第二頁</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6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7 / 15</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15</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15</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12 / 15</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13 / 15</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15</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2026-10-03T16:22:37Z</dcterms:created>
  <dcterms:modified xsi:type="dcterms:W3CDTF">2026-10-03T16:22:37Z</dcterms:modified>
</cp:coreProperties>
</file>