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。這三行決定了你的相機在隧道口和紅綠燈前面會不會瞎掉。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段落分隔。宣告接下來三行決定逆光與進隧道會發生什麼事。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第一組，相機的三行。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圈示意圖上時間差那個箭頭，再圈下方高速物體被拉歪的例子。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先講第一行，</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。規格表上寫 rolling shutter 或者 global shutter。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我在白板上把一張照片畫成三條，標上第零毫秒、第十五毫秒、第三十毫秒——同一張照片，三個不同的時間。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讀得很快</a:t>
            </a:r>
            <a:r>
              <a:rPr sz="800" lang="zh-TW" dirty="0">
                <a:solidFill>
                  <a:srgbClr val="000000"/>
                </a:solidFill>
                <a:latin typeface="Arial Unicode MS"/>
                <a:ea typeface="Arial Unicode MS"/>
                <a:cs typeface="Arial Unicode MS"/>
              </a:rPr>
              <a:t>——像我們昨天看的 AR0233AT，一秒六十張，讀一張只要十六毫秒左右，扭曲就小一點。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fps」這一行，除了講即時性，它其實也在講</a:t>
            </a:r>
            <a:r>
              <a:rPr sz="800" b="1" lang="zh-TW" dirty="0">
                <a:solidFill>
                  <a:srgbClr val="000000"/>
                </a:solidFill>
                <a:latin typeface="Arial Unicode MS"/>
                <a:ea typeface="Arial Unicode MS"/>
                <a:cs typeface="Arial Unicode MS"/>
              </a:rPr>
              <a:t>扭曲有多嚴重</a:t>
            </a:r>
            <a:r>
              <a:rPr sz="8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 dB 那個數字，再圈隧道口那個例子。這一條學生最有感。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相機也一樣，而且它沒有兩秒可以適應。隧道裡面很暗，出口外面很亮，這兩個亮度差可能是好幾萬倍。如果相機的動態範圍不夠，它只能選一邊：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
</a:t>
            </a:r>
          </a:p>
          <a:p>
            <a:pPr algn="l">
              <a:spcBef>
                <a:spcPts val="0"/>
              </a:spcBef>
              <a:spcAft>
                <a:spcPts val="133"/>
              </a:spcAft>
            </a:pPr>
            <a:r>
              <a:rPr sz="800" lang="zh-TW" dirty="0">
                <a:solidFill>
                  <a:srgbClr val="000000"/>
                </a:solidFill>
                <a:latin typeface="Arial Unicode MS"/>
                <a:ea typeface="Arial Unicode MS"/>
                <a:cs typeface="Arial Unicode MS"/>
              </a:rPr>
              <a:t>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左右。我們昨天那顆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dB 是對數的單位，每 20 dB 差十倍。140 減 120 是 20，所以它比人眼還多十倍的餘裕。這就是為什麼一顆車用的感測器可以賣得比手機的貴。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。這一行是最容易被數字騙的一行。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第三週我們在工具上按「逆光眩光」，相機的有效距離從八十公尺掉到十八公尺。那一顆的動態範圍就是不夠。動態範圍愈高的相機，那個按鈕對它的傷害就愈小。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圈「人眼看不出來」與「相機看得出來」，兩邊各指一次。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
</a:t>
            </a:r>
          </a:p>
          <a:p>
            <a:pPr algn="l">
              <a:spcBef>
                <a:spcPts val="0"/>
              </a:spcBef>
              <a:spcAft>
                <a:spcPts val="133"/>
              </a:spcAft>
            </a:pPr>
            <a:r>
              <a:rPr sz="800" lang="zh-TW" dirty="0">
                <a:solidFill>
                  <a:srgbClr val="000000"/>
                </a:solidFill>
                <a:latin typeface="Arial Unicode MS"/>
                <a:ea typeface="Arial Unicode MS"/>
                <a:cs typeface="Arial Unicode MS"/>
              </a:rPr>
              <a:t>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，一秒鐘閃好幾百次。因為閃得太快，人的眼睛看起來就是連續亮著。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
</a:t>
            </a:r>
          </a:p>
          <a:p>
            <a:pPr algn="l">
              <a:spcBef>
                <a:spcPts val="0"/>
              </a:spcBef>
              <a:spcAft>
                <a:spcPts val="133"/>
              </a:spcAft>
            </a:pPr>
            <a:r>
              <a:rPr sz="800" lang="zh-TW" dirty="0">
                <a:solidFill>
                  <a:srgbClr val="000000"/>
                </a:solidFill>
                <a:latin typeface="Arial Unicode MS"/>
                <a:ea typeface="Arial Unicode MS"/>
                <a:cs typeface="Arial Unicode MS"/>
              </a:rPr>
              <a:t>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所以車用的影像感測器要特別處理這件事，作法是</a:t>
            </a:r>
            <a:r>
              <a:rPr sz="800" b="1" lang="zh-TW" dirty="0">
                <a:solidFill>
                  <a:srgbClr val="000000"/>
                </a:solidFill>
                <a:latin typeface="Arial Unicode MS"/>
                <a:ea typeface="Arial Unicode MS"/>
                <a:cs typeface="Arial Unicode MS"/>
              </a:rPr>
              <a:t>把曝光拆成好幾段</a:t>
            </a:r>
            <a:r>
              <a:rPr sz="800" lang="zh-TW" dirty="0">
                <a:solidFill>
                  <a:srgbClr val="000000"/>
                </a:solidFill>
                <a:latin typeface="Arial Unicode MS"/>
                <a:ea typeface="Arial Unicode MS"/>
                <a:cs typeface="Arial Unicode MS"/>
              </a:rPr>
              <a:t>，讓每一張畫面一定會涵蓋到 LED 亮著的時候。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段落分隔。切到光達的三行：波長、眼睛安全、回波次數。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第二組，光達的三行。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
</a:t>
            </a:r>
          </a:p>
          <a:p>
            <a:pPr algn="l">
              <a:spcBef>
                <a:spcPts val="0"/>
              </a:spcBef>
              <a:spcAft>
                <a:spcPts val="133"/>
              </a:spcAft>
            </a:pPr>
            <a:r>
              <a:rPr sz="800" lang="zh-TW" dirty="0">
                <a:solidFill>
                  <a:srgbClr val="000000"/>
                </a:solidFill>
                <a:latin typeface="Arial Unicode MS"/>
                <a:ea typeface="Arial Unicode MS"/>
                <a:cs typeface="Arial Unicode MS"/>
              </a:rPr>
              <a:t>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
</a:t>
            </a:r>
          </a:p>
          <a:p>
            <a:pPr algn="l">
              <a:spcBef>
                <a:spcPts val="0"/>
              </a:spcBef>
              <a:spcAft>
                <a:spcPts val="133"/>
              </a:spcAft>
            </a:pPr>
            <a:r>
              <a:rPr sz="800" lang="zh-TW" dirty="0">
                <a:solidFill>
                  <a:srgbClr val="000000"/>
                </a:solidFill>
                <a:latin typeface="Arial Unicode MS"/>
                <a:ea typeface="Arial Unicode MS"/>
                <a:cs typeface="Arial Unicode MS"/>
              </a:rPr>
              <a:t>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打得強，就看得遠。這就是為什麼高階的長距光達用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貴</a:t>
            </a:r>
            <a:r>
              <a:rPr sz="800" lang="zh-TW" dirty="0">
                <a:solidFill>
                  <a:srgbClr val="000000"/>
                </a:solidFill>
                <a:latin typeface="Arial Unicode MS"/>
                <a:ea typeface="Arial Unicode MS"/>
                <a:cs typeface="Arial Unicode MS"/>
              </a:rPr>
              <a:t>。905 可以用便宜的矽做接收器，1550 要用銦鎵砷，一顆貴好幾倍。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還有一件事：波長也影響雨霧。第三週我們用那張波長圖講過——光達的波長比霧滴小，所以會被散射。865 和 1550 在這件事上差別不大，因為兩個都遠小於霧滴。</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在圖上圈 Laser Product Class 那一行的 Class 1 與 IEC/EN 60825-1，再圈下一行的 865 nm。語氣要重。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左邊這一塊是 OS1 datasheet 的 LASER 區塊，</a:t>
            </a:r>
            <a:r>
              <a:rPr sz="950" b="1" lang="zh-TW" dirty="0">
                <a:solidFill>
                  <a:srgbClr val="000000"/>
                </a:solidFill>
                <a:latin typeface="Arial Unicode MS"/>
                <a:ea typeface="Arial Unicode MS"/>
                <a:cs typeface="Arial Unicode MS"/>
              </a:rPr>
              <a:t>第一行就是眼睛安全等級</a:t>
            </a:r>
            <a:r>
              <a:rPr sz="950" lang="zh-TW" dirty="0">
                <a:solidFill>
                  <a:srgbClr val="000000"/>
                </a:solidFill>
                <a:latin typeface="Arial Unicode MS"/>
                <a:ea typeface="Arial Unicode MS"/>
                <a:cs typeface="Arial Unicode MS"/>
              </a:rPr>
              <a:t>，剛剛講的波長在它下面一行。
</a:t>
            </a:r>
          </a:p>
          <a:p>
            <a:pPr algn="l">
              <a:spcBef>
                <a:spcPts val="0"/>
              </a:spcBef>
              <a:spcAft>
                <a:spcPts val="158"/>
              </a:spcAft>
            </a:pPr>
            <a:r>
              <a:rPr sz="950" lang="zh-TW" dirty="0">
                <a:solidFill>
                  <a:srgbClr val="000000"/>
                </a:solidFill>
                <a:latin typeface="Arial Unicode MS"/>
                <a:ea typeface="Arial Unicode MS"/>
                <a:cs typeface="Arial Unicode MS"/>
              </a:rPr>
              <a:t>上面寫的是：</a:t>
            </a:r>
            <a:r>
              <a:rPr sz="950" b="1" lang="zh-TW" dirty="0">
                <a:solidFill>
                  <a:srgbClr val="000000"/>
                </a:solidFill>
                <a:latin typeface="Arial Unicode MS"/>
                <a:ea typeface="Arial Unicode MS"/>
                <a:cs typeface="Arial Unicode MS"/>
              </a:rPr>
              <a:t>Class 1 eye-safe per IEC/EN 60825-1: 2014</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950" b="1" lang="zh-TW" dirty="0">
                <a:solidFill>
                  <a:srgbClr val="000000"/>
                </a:solidFill>
                <a:latin typeface="Arial Unicode MS"/>
                <a:ea typeface="Arial Unicode MS"/>
                <a:cs typeface="Arial Unicode MS"/>
              </a:rPr>
              <a:t>在正常使用的情況下，就算有人直直盯著它看，也不會傷到眼睛。</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為什麼這件事重要到要單獨列一行？
</a:t>
            </a:r>
          </a:p>
          <a:p>
            <a:pPr algn="l">
              <a:spcBef>
                <a:spcPts val="0"/>
              </a:spcBef>
              <a:spcAft>
                <a:spcPts val="158"/>
              </a:spcAft>
            </a:pPr>
            <a:r>
              <a:rPr sz="950" lang="zh-TW" dirty="0">
                <a:solidFill>
                  <a:srgbClr val="000000"/>
                </a:solidFill>
                <a:latin typeface="Arial Unicode MS"/>
                <a:ea typeface="Arial Unicode MS"/>
                <a:cs typeface="Arial Unicode MS"/>
              </a:rPr>
              <a:t>因為光達是裝在</a:t>
            </a:r>
            <a:r>
              <a:rPr sz="950" b="1" lang="zh-TW" dirty="0">
                <a:solidFill>
                  <a:srgbClr val="000000"/>
                </a:solidFill>
                <a:latin typeface="Arial Unicode MS"/>
                <a:ea typeface="Arial Unicode MS"/>
                <a:cs typeface="Arial Unicode MS"/>
              </a:rPr>
              <a:t>馬路上跑的車</a:t>
            </a:r>
            <a:r>
              <a:rPr sz="95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58"/>
              </a:spcAft>
            </a:pPr>
            <a:r>
              <a:rPr sz="950" lang="zh-TW" dirty="0">
                <a:solidFill>
                  <a:srgbClr val="000000"/>
                </a:solidFill>
                <a:latin typeface="Arial Unicode MS"/>
                <a:ea typeface="Arial Unicode MS"/>
                <a:cs typeface="Arial Unicode MS"/>
              </a:rPr>
              <a:t>所以這一行不是加分項，是</a:t>
            </a:r>
            <a:r>
              <a:rPr sz="950" b="1" lang="zh-TW" dirty="0">
                <a:solidFill>
                  <a:srgbClr val="000000"/>
                </a:solidFill>
                <a:latin typeface="Arial Unicode MS"/>
                <a:ea typeface="Arial Unicode MS"/>
                <a:cs typeface="Arial Unicode MS"/>
              </a:rPr>
              <a:t>門檻</a:t>
            </a:r>
            <a:r>
              <a:rPr sz="950" lang="zh-TW" dirty="0">
                <a:solidFill>
                  <a:srgbClr val="000000"/>
                </a:solidFill>
                <a:latin typeface="Arial Unicode MS"/>
                <a:ea typeface="Arial Unicode MS"/>
                <a:cs typeface="Arial Unicode MS"/>
              </a:rPr>
              <a:t>。沒有這一行的產品，不管規格多漂亮，你都不能考慮。
</a:t>
            </a:r>
          </a:p>
          <a:p>
            <a:pPr algn="l">
              <a:spcBef>
                <a:spcPts val="0"/>
              </a:spcBef>
              <a:spcAft>
                <a:spcPts val="158"/>
              </a:spcAft>
            </a:pPr>
            <a:r>
              <a:rPr sz="950" lang="zh-TW" dirty="0">
                <a:solidFill>
                  <a:srgbClr val="000000"/>
                </a:solidFill>
                <a:latin typeface="Arial Unicode MS"/>
                <a:ea typeface="Arial Unicode MS"/>
                <a:cs typeface="Arial Unicode MS"/>
              </a:rPr>
              <a:t>這裡也牽涉到剛剛講的波長。1550 奈米之所以可以打比較強，就是因為在同樣的 Class 1 限制下，它的功率上限高很多。
</a:t>
            </a:r>
          </a:p>
          <a:p>
            <a:pPr algn="l">
              <a:spcBef>
                <a:spcPts val="0"/>
              </a:spcBef>
              <a:spcAft>
                <a:spcPts val="158"/>
              </a:spcAft>
            </a:pPr>
            <a:r>
              <a:rPr sz="95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 是回波的順序怎麼排，OS1 寫了三種：最強排到最弱、最遠排到最近、最近排到最遠。這是給寫演算法的人選的。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請打開工具，看右邊第二個小工具，「每秒點數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角度變成一半，零點一七六度；四十公尺處的間距也變成一半，十二公分。所以同一個人身上的點數就加倍了。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不用圈。這一句停兩秒再翻頁。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假設角度只差了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在五十公尺外，一度張開的距離是：五十乘以一度的弧度，大約</a:t>
            </a:r>
            <a:r>
              <a:rPr sz="800" b="1" lang="zh-TW" dirty="0">
                <a:solidFill>
                  <a:srgbClr val="000000"/>
                </a:solidFill>
                <a:latin typeface="Arial Unicode MS"/>
                <a:ea typeface="Arial Unicode MS"/>
                <a:cs typeface="Arial Unicode MS"/>
              </a:rPr>
              <a:t>零點八七公尺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我把這個數字寫在白板上：</a:t>
            </a:r>
            <a:r>
              <a:rPr sz="800" b="1" lang="zh-TW" dirty="0">
                <a:solidFill>
                  <a:srgbClr val="000000"/>
                </a:solidFill>
                <a:latin typeface="Arial Unicode MS"/>
                <a:ea typeface="Arial Unicode MS"/>
                <a:cs typeface="Arial Unicode MS"/>
              </a:rPr>
              <a:t>差一度，五十公尺外就差了將近一公尺。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圈上面算出來的 50 毫秒與半公尺，再指圖裡 Additional Programmability 的 Multi-sensor phase lock。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最後一件事是</a:t>
            </a:r>
            <a:r>
              <a:rPr sz="850" b="1" lang="zh-TW" dirty="0">
                <a:solidFill>
                  <a:srgbClr val="000000"/>
                </a:solidFill>
                <a:latin typeface="Arial Unicode MS"/>
                <a:ea typeface="Arial Unicode MS"/>
                <a:cs typeface="Arial Unicode MS"/>
              </a:rPr>
              <a:t>時間同步</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42"/>
              </a:spcAft>
            </a:pPr>
            <a:r>
              <a:rPr sz="850" lang="zh-TW" dirty="0">
                <a:solidFill>
                  <a:srgbClr val="000000"/>
                </a:solidFill>
                <a:latin typeface="Arial Unicode MS"/>
                <a:ea typeface="Arial Unicode MS"/>
                <a:cs typeface="Arial Unicode MS"/>
              </a:rPr>
              <a:t>想想看：光達一秒轉十圈，相機一秒拍六十張。這兩個東西的節奏完全不一樣。
</a:t>
            </a:r>
          </a:p>
          <a:p>
            <a:pPr algn="l">
              <a:spcBef>
                <a:spcPts val="0"/>
              </a:spcBef>
              <a:spcAft>
                <a:spcPts val="142"/>
              </a:spcAft>
            </a:pPr>
            <a:r>
              <a:rPr sz="850" lang="zh-TW" dirty="0">
                <a:solidFill>
                  <a:srgbClr val="000000"/>
                </a:solidFill>
                <a:latin typeface="Arial Unicode MS"/>
                <a:ea typeface="Arial Unicode MS"/>
                <a:cs typeface="Arial Unicode MS"/>
              </a:rPr>
              <a:t>假設車子現在收到一張相機的畫面，還有一圈光達的點雲，要把它們合起來。問題是——</a:t>
            </a:r>
            <a:r>
              <a:rPr sz="850" b="1" lang="zh-TW" dirty="0">
                <a:solidFill>
                  <a:srgbClr val="000000"/>
                </a:solidFill>
                <a:latin typeface="Arial Unicode MS"/>
                <a:ea typeface="Arial Unicode MS"/>
                <a:cs typeface="Arial Unicode MS"/>
              </a:rPr>
              <a:t>這兩份資料是同一個瞬間的嗎？</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如果沒有處理，它們可能差到五十毫秒。時速四十的時候，五十毫秒車子走了</a:t>
            </a:r>
            <a:r>
              <a:rPr sz="850" b="1" lang="zh-TW" dirty="0">
                <a:solidFill>
                  <a:srgbClr val="000000"/>
                </a:solidFill>
                <a:latin typeface="Arial Unicode MS"/>
                <a:ea typeface="Arial Unicode MS"/>
                <a:cs typeface="Arial Unicode MS"/>
              </a:rPr>
              <a:t>零點五六公尺</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所以你會把相機在 A 點看到的人，跟光達在 B 點量到的距離配在一起，得到一個</a:t>
            </a:r>
            <a:r>
              <a:rPr sz="850" b="1" lang="zh-TW" dirty="0">
                <a:solidFill>
                  <a:srgbClr val="000000"/>
                </a:solidFill>
                <a:latin typeface="Arial Unicode MS"/>
                <a:ea typeface="Arial Unicode MS"/>
                <a:cs typeface="Arial Unicode MS"/>
              </a:rPr>
              <a:t>根本不存在的位置</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而且這個誤差會跟剛剛的標定誤差疊加，兩個加起來就很可觀。
</a:t>
            </a:r>
          </a:p>
          <a:p>
            <a:pPr algn="l">
              <a:spcBef>
                <a:spcPts val="0"/>
              </a:spcBef>
              <a:spcAft>
                <a:spcPts val="142"/>
              </a:spcAft>
            </a:pPr>
            <a:r>
              <a:rPr sz="850" lang="zh-TW" dirty="0">
                <a:solidFill>
                  <a:srgbClr val="000000"/>
                </a:solidFill>
                <a:latin typeface="Arial Unicode MS"/>
                <a:ea typeface="Arial Unicode MS"/>
                <a:cs typeface="Arial Unicode MS"/>
              </a:rPr>
              <a:t>解法是讓每一顆感測器都在資料上蓋一個</a:t>
            </a:r>
            <a:r>
              <a:rPr sz="850" b="1" lang="zh-TW" dirty="0">
                <a:solidFill>
                  <a:srgbClr val="000000"/>
                </a:solidFill>
                <a:latin typeface="Arial Unicode MS"/>
                <a:ea typeface="Arial Unicode MS"/>
                <a:cs typeface="Arial Unicode MS"/>
              </a:rPr>
              <a:t>時間戳</a:t>
            </a:r>
            <a:r>
              <a:rPr sz="850" lang="zh-TW" dirty="0">
                <a:solidFill>
                  <a:srgbClr val="000000"/>
                </a:solidFill>
                <a:latin typeface="Arial Unicode MS"/>
                <a:ea typeface="Arial Unicode MS"/>
                <a:cs typeface="Arial Unicode MS"/>
              </a:rPr>
              <a:t>，而且全車用同一個時鐘。高階一點的做法是讓光達的轉動跟相機的快門</a:t>
            </a:r>
            <a:r>
              <a:rPr sz="850" b="1" lang="zh-TW" dirty="0">
                <a:solidFill>
                  <a:srgbClr val="000000"/>
                </a:solidFill>
                <a:latin typeface="Arial Unicode MS"/>
                <a:ea typeface="Arial Unicode MS"/>
                <a:cs typeface="Arial Unicode MS"/>
              </a:rPr>
              <a:t>對齊</a:t>
            </a:r>
            <a:r>
              <a:rPr sz="850" lang="zh-TW" dirty="0">
                <a:solidFill>
                  <a:srgbClr val="000000"/>
                </a:solidFill>
                <a:latin typeface="Arial Unicode MS"/>
                <a:ea typeface="Arial Unicode MS"/>
                <a:cs typeface="Arial Unicode MS"/>
              </a:rPr>
              <a:t>——OS1 規格表上 Additional Programmability 的</a:t>
            </a:r>
            <a:r>
              <a:rPr sz="850" b="1" lang="zh-TW" dirty="0">
                <a:solidFill>
                  <a:srgbClr val="000000"/>
                </a:solidFill>
                <a:latin typeface="Arial Unicode MS"/>
                <a:ea typeface="Arial Unicode MS"/>
                <a:cs typeface="Arial Unicode MS"/>
              </a:rPr>
              <a:t>第一條</a:t>
            </a:r>
            <a:r>
              <a:rPr sz="850" lang="zh-TW" dirty="0">
                <a:solidFill>
                  <a:srgbClr val="000000"/>
                </a:solidFill>
                <a:latin typeface="Arial Unicode MS"/>
                <a:ea typeface="Arial Unicode MS"/>
                <a:cs typeface="Arial Unicode MS"/>
              </a:rPr>
              <a:t> multi-sensor phase lock，講的就是這件事。
</a:t>
            </a:r>
          </a:p>
          <a:p>
            <a:pPr algn="l">
              <a:spcBef>
                <a:spcPts val="0"/>
              </a:spcBef>
              <a:spcAft>
                <a:spcPts val="142"/>
              </a:spcAft>
            </a:pPr>
            <a:r>
              <a:rPr sz="850" lang="zh-TW" dirty="0">
                <a:solidFill>
                  <a:srgbClr val="000000"/>
                </a:solidFill>
                <a:latin typeface="Arial Unicode MS"/>
                <a:ea typeface="Arial Unicode MS"/>
                <a:cs typeface="Arial Unicode MS"/>
              </a:rPr>
              <a:t>所以請各位記住：</a:t>
            </a:r>
            <a:r>
              <a:rPr sz="850" b="1" lang="zh-TW" dirty="0">
                <a:solidFill>
                  <a:srgbClr val="000000"/>
                </a:solidFill>
                <a:latin typeface="Arial Unicode MS"/>
                <a:ea typeface="Arial Unicode MS"/>
                <a:cs typeface="Arial Unicode MS"/>
              </a:rPr>
              <a:t>兩顆感測器各自都是好的，不代表合起來是對的。</a:t>
            </a:r>
            <a:r>
              <a:rPr sz="850" lang="zh-TW" dirty="0">
                <a:solidFill>
                  <a:srgbClr val="000000"/>
                </a:solidFill>
                <a:latin typeface="Arial Unicode MS"/>
                <a:ea typeface="Arial Unicode MS"/>
                <a:cs typeface="Arial Unicode MS"/>
              </a:rPr>
              <a:t>中間還有標定和同步這兩關。
</a:t>
            </a:r>
          </a:p>
          <a:p>
            <a:pPr algn="l">
              <a:spcBef>
                <a:spcPts val="0"/>
              </a:spcBef>
              <a:spcAft>
                <a:spcPts val="142"/>
              </a:spcAft>
            </a:pPr>
            <a:r>
              <a:rPr sz="85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spcBef>
                <a:spcPts val="0"/>
              </a:spcBef>
              <a:spcAft>
                <a:spcPts val="142"/>
              </a:spcAft>
            </a:pPr>
            <a:r>
              <a:rPr sz="850" lang="zh-TW" dirty="0">
                <a:solidFill>
                  <a:srgbClr val="000000"/>
                </a:solidFill>
                <a:latin typeface="Arial Unicode MS"/>
                <a:ea typeface="Arial Unicode MS"/>
                <a:cs typeface="Arial Unicode MS"/>
              </a:rPr>
              <a:t>下一節我們回到工具上，把今天和上一節講的東西，全部用在一件事上：</a:t>
            </a:r>
            <a:r>
              <a:rPr sz="850" b="1" lang="zh-TW" dirty="0">
                <a:solidFill>
                  <a:srgbClr val="000000"/>
                </a:solidFill>
                <a:latin typeface="Arial Unicode MS"/>
                <a:ea typeface="Arial Unicode MS"/>
                <a:cs typeface="Arial Unicode MS"/>
              </a:rPr>
              <a:t>幫一個指定的情境選一顆感測器</a:t>
            </a:r>
            <a:r>
              <a:rPr sz="85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第一句，相機的三行。</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ba dòng quyết định lúc chói sáng và lúc vào hầm</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相機：決定逆光與進隧道的那三行</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14</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896478" y="2003633"/>
            <a:ext cx="1681764" cy="1"/>
          </a:xfrm>
          <a:prstGeom prst="line">
            <a:avLst/>
          </a:prstGeom>
          <a:noFill/>
          <a:ln w="12700">
            <a:solidFill>
              <a:srgbClr val="9AA6B0"/>
            </a:solidFill>
            <a:prstDash val="dash"/>
          </a:ln>
        </p:spPr>
      </p:sp>
      <p:sp>
        <p:nvSpPr>
          <p:cNvPr id="5" name="Shape 3"/>
          <p:cNvSpPr/>
          <p:nvPr/>
        </p:nvSpPr>
        <p:spPr>
          <a:xfrm>
            <a:off x="896478" y="2270272"/>
            <a:ext cx="1681764" cy="1"/>
          </a:xfrm>
          <a:prstGeom prst="line">
            <a:avLst/>
          </a:prstGeom>
          <a:noFill/>
          <a:ln w="12700">
            <a:solidFill>
              <a:srgbClr val="9AA6B0"/>
            </a:solidFill>
            <a:prstDash val="dash"/>
          </a:ln>
        </p:spPr>
      </p:sp>
      <p:sp>
        <p:nvSpPr>
          <p:cNvPr id="6" name="Shape 4"/>
          <p:cNvSpPr/>
          <p:nvPr/>
        </p:nvSpPr>
        <p:spPr>
          <a:xfrm>
            <a:off x="896478" y="2136953"/>
            <a:ext cx="1548994" cy="1"/>
          </a:xfrm>
          <a:prstGeom prst="line">
            <a:avLst/>
          </a:prstGeom>
          <a:noFill/>
          <a:ln w="25400">
            <a:solidFill>
              <a:srgbClr val="1F4E79"/>
            </a:solidFill>
            <a:prstDash val="solid"/>
            <a:tailEnd type="triangle"/>
          </a:ln>
        </p:spPr>
      </p:sp>
      <p:sp>
        <p:nvSpPr>
          <p:cNvPr id="7" name="Shape 5"/>
          <p:cNvSpPr/>
          <p:nvPr/>
        </p:nvSpPr>
        <p:spPr>
          <a:xfrm>
            <a:off x="896478" y="2847990"/>
            <a:ext cx="1681764" cy="1"/>
          </a:xfrm>
          <a:prstGeom prst="line">
            <a:avLst/>
          </a:prstGeom>
          <a:noFill/>
          <a:ln w="12700">
            <a:solidFill>
              <a:srgbClr val="9AA6B0"/>
            </a:solidFill>
            <a:prstDash val="dash"/>
          </a:ln>
        </p:spPr>
      </p:sp>
      <p:sp>
        <p:nvSpPr>
          <p:cNvPr id="8" name="Shape 6"/>
          <p:cNvSpPr/>
          <p:nvPr/>
        </p:nvSpPr>
        <p:spPr>
          <a:xfrm>
            <a:off x="896478" y="3114629"/>
            <a:ext cx="1681764" cy="1"/>
          </a:xfrm>
          <a:prstGeom prst="line">
            <a:avLst/>
          </a:prstGeom>
          <a:noFill/>
          <a:ln w="12700">
            <a:solidFill>
              <a:srgbClr val="9AA6B0"/>
            </a:solidFill>
            <a:prstDash val="dash"/>
          </a:ln>
        </p:spPr>
      </p:sp>
      <p:sp>
        <p:nvSpPr>
          <p:cNvPr id="9" name="Shape 7"/>
          <p:cNvSpPr/>
          <p:nvPr/>
        </p:nvSpPr>
        <p:spPr>
          <a:xfrm flipV="1">
            <a:off x="896478" y="2892430"/>
            <a:ext cx="420441" cy="177759"/>
          </a:xfrm>
          <a:prstGeom prst="line">
            <a:avLst/>
          </a:prstGeom>
          <a:noFill/>
          <a:ln w="25400">
            <a:solidFill>
              <a:srgbClr val="D9463E"/>
            </a:solidFill>
            <a:prstDash val="solid"/>
          </a:ln>
        </p:spPr>
      </p:sp>
      <p:sp>
        <p:nvSpPr>
          <p:cNvPr id="10" name="Shape 8"/>
          <p:cNvSpPr/>
          <p:nvPr/>
        </p:nvSpPr>
        <p:spPr>
          <a:xfrm>
            <a:off x="1316919" y="2892430"/>
            <a:ext cx="420441" cy="199979"/>
          </a:xfrm>
          <a:prstGeom prst="line">
            <a:avLst/>
          </a:prstGeom>
          <a:noFill/>
          <a:ln w="25400">
            <a:solidFill>
              <a:srgbClr val="D9463E"/>
            </a:solidFill>
            <a:prstDash val="solid"/>
          </a:ln>
        </p:spPr>
      </p:sp>
      <p:sp>
        <p:nvSpPr>
          <p:cNvPr id="11" name="Shape 9"/>
          <p:cNvSpPr/>
          <p:nvPr/>
        </p:nvSpPr>
        <p:spPr>
          <a:xfrm flipV="1">
            <a:off x="1737360" y="2803550"/>
            <a:ext cx="420441" cy="288859"/>
          </a:xfrm>
          <a:prstGeom prst="line">
            <a:avLst/>
          </a:prstGeom>
          <a:noFill/>
          <a:ln w="25400">
            <a:solidFill>
              <a:srgbClr val="D9463E"/>
            </a:solidFill>
            <a:prstDash val="solid"/>
          </a:ln>
        </p:spPr>
      </p:sp>
      <p:sp>
        <p:nvSpPr>
          <p:cNvPr id="12" name="Shape 10"/>
          <p:cNvSpPr/>
          <p:nvPr/>
        </p:nvSpPr>
        <p:spPr>
          <a:xfrm>
            <a:off x="2157801" y="2803550"/>
            <a:ext cx="287670" cy="177759"/>
          </a:xfrm>
          <a:prstGeom prst="line">
            <a:avLst/>
          </a:prstGeom>
          <a:noFill/>
          <a:ln w="25400">
            <a:solidFill>
              <a:srgbClr val="D9463E"/>
            </a:solidFill>
            <a:prstDash val="solid"/>
            <a:tailEnd type="triangle"/>
          </a:ln>
        </p:spPr>
      </p:sp>
      <p:sp>
        <p:nvSpPr>
          <p:cNvPr id="13" name="Text 11"/>
          <p:cNvSpPr txBox="1"/>
          <p:nvPr/>
        </p:nvSpPr>
        <p:spPr>
          <a:xfrm>
            <a:off x="3429000" y="1143789"/>
            <a:ext cx="5212080" cy="1356044"/>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p:txBody>
      </p:sp>
      <p:sp>
        <p:nvSpPr>
          <p:cNvPr id="14" name="Text 12"/>
          <p:cNvSpPr txBox="1"/>
          <p:nvPr/>
        </p:nvSpPr>
        <p:spPr>
          <a:xfrm>
            <a:off x="3429000" y="2591273"/>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1250" dirty="0"/>
          </a:p>
        </p:txBody>
      </p:sp>
      <p:sp>
        <p:nvSpPr>
          <p:cNvPr id="15" name="Shape 13"/>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9" name="Text 1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14</a:t>
            </a:r>
            <a:endParaRPr lang="en-US" sz="900" dirty="0"/>
          </a:p>
        </p:txBody>
      </p:sp>
      <p:sp>
        <p:nvSpPr>
          <p:cNvPr id="20" name="Text 1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Text 2"/>
          <p:cNvSpPr txBox="1"/>
          <p:nvPr/>
        </p:nvSpPr>
        <p:spPr>
          <a:xfrm>
            <a:off x="807964" y="1603675"/>
            <a:ext cx="663854" cy="311079"/>
          </a:xfrm>
          <a:prstGeom prst="rect">
            <a:avLst/>
          </a:prstGeom>
          <a:noFill/>
          <a:ln/>
        </p:spPr>
        <p:txBody>
          <a:bodyPr wrap="square" lIns="0" tIns="0" rIns="0" bIns="0" rtlCol="0" anchor="ctr"/>
          <a:lstStyle/>
          <a:p>
            <a:pPr algn="l" indent="0" marL="0">
              <a:buNone/>
            </a:pPr>
            <a:r>
              <a:rPr lang="en-US" sz="900" b="1" dirty="0">
                <a:solidFill>
                  <a:srgbClr val="6FA8DC"/>
                </a:solidFill>
                <a:latin typeface="Arial" pitchFamily="34" charset="0"/>
                <a:ea typeface="Arial" pitchFamily="34" charset="-122"/>
                <a:cs typeface="Arial" pitchFamily="34" charset="-120"/>
              </a:rPr>
              <a:t>khô  乾</a:t>
            </a:r>
            <a:endParaRPr lang="en-US" sz="900" dirty="0"/>
          </a:p>
        </p:txBody>
      </p:sp>
      <p:sp>
        <p:nvSpPr>
          <p:cNvPr id="5" name="Shape 3"/>
          <p:cNvSpPr/>
          <p:nvPr/>
        </p:nvSpPr>
        <p:spPr>
          <a:xfrm>
            <a:off x="807964" y="2000901"/>
            <a:ext cx="398313" cy="183224"/>
          </a:xfrm>
          <a:prstGeom prst="roundRect">
            <a:avLst>
              <a:gd name="adj" fmla="val 22000"/>
            </a:avLst>
          </a:prstGeom>
          <a:solidFill>
            <a:srgbClr val="8FA3B5"/>
          </a:solidFill>
          <a:ln/>
        </p:spPr>
      </p:sp>
      <p:sp>
        <p:nvSpPr>
          <p:cNvPr id="6" name="Shape 4"/>
          <p:cNvSpPr/>
          <p:nvPr/>
        </p:nvSpPr>
        <p:spPr>
          <a:xfrm>
            <a:off x="959323" y="2037546"/>
            <a:ext cx="135426" cy="109934"/>
          </a:xfrm>
          <a:prstGeom prst="roundRect">
            <a:avLst>
              <a:gd name="adj" fmla="val 23333"/>
            </a:avLst>
          </a:prstGeom>
          <a:solidFill>
            <a:srgbClr val="FFFFFF"/>
          </a:solidFill>
          <a:ln/>
        </p:spPr>
      </p:sp>
      <p:sp>
        <p:nvSpPr>
          <p:cNvPr id="7" name="Shape 5"/>
          <p:cNvSpPr/>
          <p:nvPr/>
        </p:nvSpPr>
        <p:spPr>
          <a:xfrm>
            <a:off x="1250533" y="2092513"/>
            <a:ext cx="840882" cy="1"/>
          </a:xfrm>
          <a:prstGeom prst="line">
            <a:avLst/>
          </a:prstGeom>
          <a:noFill/>
          <a:ln w="63500">
            <a:solidFill>
              <a:srgbClr val="6FA8DC"/>
            </a:solidFill>
            <a:prstDash val="solid"/>
          </a:ln>
        </p:spPr>
      </p:sp>
      <p:sp>
        <p:nvSpPr>
          <p:cNvPr id="8" name="Shape 6"/>
          <p:cNvSpPr/>
          <p:nvPr/>
        </p:nvSpPr>
        <p:spPr>
          <a:xfrm>
            <a:off x="2091416" y="1892534"/>
            <a:ext cx="77450" cy="399959"/>
          </a:xfrm>
          <a:prstGeom prst="roundRect">
            <a:avLst>
              <a:gd name="adj" fmla="val 34286"/>
            </a:avLst>
          </a:prstGeom>
          <a:solidFill>
            <a:srgbClr val="3A4650"/>
          </a:solidFill>
          <a:ln/>
        </p:spPr>
      </p:sp>
      <p:sp>
        <p:nvSpPr>
          <p:cNvPr id="9" name="Text 7"/>
          <p:cNvSpPr txBox="1"/>
          <p:nvPr/>
        </p:nvSpPr>
        <p:spPr>
          <a:xfrm>
            <a:off x="807964" y="2403592"/>
            <a:ext cx="663854" cy="311079"/>
          </a:xfrm>
          <a:prstGeom prst="rect">
            <a:avLst/>
          </a:prstGeom>
          <a:noFill/>
          <a:ln/>
        </p:spPr>
        <p:txBody>
          <a:bodyPr wrap="square" lIns="0" tIns="0" rIns="0" bIns="0" rtlCol="0" anchor="ctr"/>
          <a:lstStyle/>
          <a:p>
            <a:pPr algn="l" indent="0" marL="0">
              <a:buNone/>
            </a:pPr>
            <a:r>
              <a:rPr lang="en-US" sz="900" b="1" dirty="0">
                <a:solidFill>
                  <a:srgbClr val="D9463E"/>
                </a:solidFill>
                <a:latin typeface="Arial" pitchFamily="34" charset="0"/>
                <a:ea typeface="Arial" pitchFamily="34" charset="-122"/>
                <a:cs typeface="Arial" pitchFamily="34" charset="-120"/>
              </a:rPr>
              <a:t>ướt  濕</a:t>
            </a:r>
            <a:endParaRPr lang="en-US" sz="900" dirty="0"/>
          </a:p>
        </p:txBody>
      </p:sp>
      <p:sp>
        <p:nvSpPr>
          <p:cNvPr id="10" name="Shape 8"/>
          <p:cNvSpPr/>
          <p:nvPr/>
        </p:nvSpPr>
        <p:spPr>
          <a:xfrm>
            <a:off x="807964" y="2800818"/>
            <a:ext cx="398313" cy="183224"/>
          </a:xfrm>
          <a:prstGeom prst="roundRect">
            <a:avLst>
              <a:gd name="adj" fmla="val 22000"/>
            </a:avLst>
          </a:prstGeom>
          <a:solidFill>
            <a:srgbClr val="8FA3B5"/>
          </a:solidFill>
          <a:ln/>
        </p:spPr>
      </p:sp>
      <p:sp>
        <p:nvSpPr>
          <p:cNvPr id="11" name="Shape 9"/>
          <p:cNvSpPr/>
          <p:nvPr/>
        </p:nvSpPr>
        <p:spPr>
          <a:xfrm>
            <a:off x="959323" y="2837463"/>
            <a:ext cx="135426" cy="109934"/>
          </a:xfrm>
          <a:prstGeom prst="roundRect">
            <a:avLst>
              <a:gd name="adj" fmla="val 23333"/>
            </a:avLst>
          </a:prstGeom>
          <a:solidFill>
            <a:srgbClr val="FFFFFF"/>
          </a:solidFill>
          <a:ln/>
        </p:spPr>
      </p:sp>
      <p:sp>
        <p:nvSpPr>
          <p:cNvPr id="12" name="Shape 10"/>
          <p:cNvSpPr/>
          <p:nvPr/>
        </p:nvSpPr>
        <p:spPr>
          <a:xfrm>
            <a:off x="1250533" y="2892430"/>
            <a:ext cx="1371966" cy="1"/>
          </a:xfrm>
          <a:prstGeom prst="line">
            <a:avLst/>
          </a:prstGeom>
          <a:noFill/>
          <a:ln w="63500">
            <a:solidFill>
              <a:srgbClr val="D9463E"/>
            </a:solidFill>
            <a:prstDash val="solid"/>
          </a:ln>
        </p:spPr>
      </p:sp>
      <p:sp>
        <p:nvSpPr>
          <p:cNvPr id="13" name="Shape 11"/>
          <p:cNvSpPr/>
          <p:nvPr/>
        </p:nvSpPr>
        <p:spPr>
          <a:xfrm>
            <a:off x="2622499" y="2692451"/>
            <a:ext cx="77450" cy="399959"/>
          </a:xfrm>
          <a:prstGeom prst="roundRect">
            <a:avLst>
              <a:gd name="adj" fmla="val 34286"/>
            </a:avLst>
          </a:prstGeom>
          <a:solidFill>
            <a:srgbClr val="3A4650"/>
          </a:solidFill>
          <a:ln/>
        </p:spPr>
      </p:sp>
      <p:sp>
        <p:nvSpPr>
          <p:cNvPr id="14" name="Text 12"/>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p:txBody>
      </p:sp>
      <p:sp>
        <p:nvSpPr>
          <p:cNvPr id="15" name="Text 13"/>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1250" dirty="0"/>
          </a:p>
        </p:txBody>
      </p:sp>
      <p:sp>
        <p:nvSpPr>
          <p:cNvPr id="16" name="Shape 1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7" name="Text 1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9"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0" name="Text 1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14</a:t>
            </a:r>
            <a:endParaRPr lang="en-US" sz="900" dirty="0"/>
          </a:p>
        </p:txBody>
      </p:sp>
      <p:sp>
        <p:nvSpPr>
          <p:cNvPr id="21" name="Text 1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93947" y="2203613"/>
            <a:ext cx="929396" cy="755477"/>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1339047" y="2048073"/>
            <a:ext cx="929396" cy="755477"/>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184148" y="1892534"/>
            <a:ext cx="929396" cy="755477"/>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029249" y="1736994"/>
            <a:ext cx="929396" cy="755477"/>
          </a:xfrm>
          <a:prstGeom prst="roundRect">
            <a:avLst>
              <a:gd name="adj" fmla="val 6052"/>
            </a:avLst>
          </a:prstGeom>
          <a:solidFill>
            <a:srgbClr val="A3382F"/>
          </a:solidFill>
          <a:ln w="15240">
            <a:solidFill>
              <a:srgbClr val="F4F7FA"/>
            </a:solidFill>
            <a:prstDash val="solid"/>
          </a:ln>
        </p:spPr>
      </p:sp>
      <p:sp>
        <p:nvSpPr>
          <p:cNvPr id="8" name="Text 6"/>
          <p:cNvSpPr txBox="1"/>
          <p:nvPr/>
        </p:nvSpPr>
        <p:spPr>
          <a:xfrm>
            <a:off x="630936" y="2892430"/>
            <a:ext cx="2212848" cy="399959"/>
          </a:xfrm>
          <a:prstGeom prst="rect">
            <a:avLst/>
          </a:prstGeom>
          <a:noFill/>
          <a:ln/>
        </p:spPr>
        <p:txBody>
          <a:bodyPr wrap="square" lIns="0" tIns="0" rIns="0" bIns="0" rtlCol="0" anchor="ctr"/>
          <a:lstStyle/>
          <a:p>
            <a:pPr algn="ctr" indent="0" marL="0">
              <a:buNone/>
            </a:pPr>
            <a:r>
              <a:rPr lang="en-US" sz="1100" b="1" dirty="0">
                <a:solidFill>
                  <a:srgbClr val="A3382F"/>
                </a:solidFill>
                <a:latin typeface="Arial" pitchFamily="34" charset="0"/>
                <a:ea typeface="Arial" pitchFamily="34" charset="-122"/>
                <a:cs typeface="Arial" pitchFamily="34" charset="-120"/>
              </a:rPr>
              <a:t>× 10 000</a:t>
            </a:r>
            <a:endParaRPr lang="en-US" sz="1100" dirty="0"/>
          </a:p>
        </p:txBody>
      </p:sp>
      <p:sp>
        <p:nvSpPr>
          <p:cNvPr id="9" name="Text 7"/>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p:txBody>
      </p:sp>
      <p:sp>
        <p:nvSpPr>
          <p:cNvPr id="10" name="Text 8"/>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Đèn tín hiệu và đèn hậu LED nháy mấy trăm lần mỗi giây. Nếu khung hình rơi đúng lúc đèn tắt, camera chụp được một cái đèn đỏ đang «tắt».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尾燈每秒閃好幾百次。如果剛好在燈暗的那一瞬間拍，相機就拍到一個「沒亮」的紅燈。</a:t>
            </a:r>
            <a:endParaRPr lang="en-US" sz="125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4"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5" name="Text 1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14</a:t>
            </a:r>
            <a:endParaRPr lang="en-US" sz="900" dirty="0"/>
          </a:p>
        </p:txBody>
      </p:sp>
      <p:sp>
        <p:nvSpPr>
          <p:cNvPr id="16" name="Text 1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bước sóng, an toàn mắt, và mấy lần phản hồi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光達：波長、眼睛安全，還有幾次回波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Ba dòng nữa, ít người đọc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另外三行，一樣很少人讀</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14</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14</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1178160"/>
            <a:ext cx="8138160" cy="563762"/>
          </a:xfrm>
          <a:prstGeom prst="rect">
            <a:avLst/>
          </a:prstGeom>
          <a:noFill/>
          <a:ln/>
        </p:spPr>
        <p:txBody>
          <a:bodyPr wrap="square" lIns="0" tIns="0" rIns="0" bIns="0" rtlCol="0" anchor="t"/>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p:txBody>
      </p:sp>
      <p:sp>
        <p:nvSpPr>
          <p:cNvPr id="4" name="Text 2"/>
          <p:cNvSpPr txBox="1"/>
          <p:nvPr/>
        </p:nvSpPr>
        <p:spPr>
          <a:xfrm>
            <a:off x="502920" y="1833362"/>
            <a:ext cx="8138160" cy="481486"/>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250" dirty="0"/>
          </a:p>
        </p:txBody>
      </p:sp>
      <p:sp>
        <p:nvSpPr>
          <p:cNvPr id="5" name="Shape 3"/>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6"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7" name="Text 4"/>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8" name="Shape 5"/>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9" name="Text 6"/>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1"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2" name="Text 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14</a:t>
            </a:r>
            <a:endParaRPr lang="en-US" sz="900" dirty="0"/>
          </a:p>
        </p:txBody>
      </p:sp>
      <p:sp>
        <p:nvSpPr>
          <p:cNvPr id="13" name="Text 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1275342"/>
            <a:ext cx="8138160" cy="563762"/>
          </a:xfrm>
          <a:prstGeom prst="rect">
            <a:avLst/>
          </a:prstGeom>
          <a:noFill/>
          <a:ln/>
        </p:spPr>
        <p:txBody>
          <a:bodyPr wrap="square" lIns="0" tIns="0" rIns="0" bIns="0" rtlCol="0" anchor="t"/>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p:txBody>
      </p:sp>
      <p:sp>
        <p:nvSpPr>
          <p:cNvPr id="4" name="Text 2"/>
          <p:cNvSpPr txBox="1"/>
          <p:nvPr/>
        </p:nvSpPr>
        <p:spPr>
          <a:xfrm>
            <a:off x="502920" y="1930544"/>
            <a:ext cx="8138160" cy="684636"/>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250" dirty="0"/>
          </a:p>
        </p:txBody>
      </p:sp>
      <p:sp>
        <p:nvSpPr>
          <p:cNvPr id="5" name="Shape 3"/>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6"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7" name="Text 4"/>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8" name="Shape 5"/>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9" name="Text 6"/>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1"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2" name="Text 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14</a:t>
            </a:r>
            <a:endParaRPr lang="en-US" sz="900" dirty="0"/>
          </a:p>
        </p:txBody>
      </p:sp>
      <p:sp>
        <p:nvSpPr>
          <p:cNvPr id="13" name="Text 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10 / 14</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14</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12 / 14</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1103050"/>
            <a:ext cx="8138160" cy="563762"/>
          </a:xfrm>
          <a:prstGeom prst="rect">
            <a:avLst/>
          </a:prstGeom>
          <a:noFill/>
          <a:ln/>
        </p:spPr>
        <p:txBody>
          <a:bodyPr wrap="square" lIns="0" tIns="0" rIns="0" bIns="0" rtlCol="0" anchor="t"/>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p:txBody>
      </p:sp>
      <p:sp>
        <p:nvSpPr>
          <p:cNvPr id="4" name="Text 2"/>
          <p:cNvSpPr txBox="1"/>
          <p:nvPr/>
        </p:nvSpPr>
        <p:spPr>
          <a:xfrm>
            <a:off x="502920" y="1758252"/>
            <a:ext cx="8138160" cy="684636"/>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250" dirty="0"/>
          </a:p>
        </p:txBody>
      </p:sp>
      <p:sp>
        <p:nvSpPr>
          <p:cNvPr id="5" name="Shape 3"/>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6"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7" name="Text 4"/>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8" name="Shape 5"/>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9" name="Text 6"/>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1"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2" name="Text 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14</a:t>
            </a:r>
            <a:endParaRPr lang="en-US" sz="900" dirty="0"/>
          </a:p>
        </p:txBody>
      </p:sp>
      <p:sp>
        <p:nvSpPr>
          <p:cNvPr id="13" name="Text 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14 / 14</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2026-10-02T05:16:20Z</dcterms:created>
  <dcterms:modified xsi:type="dcterms:W3CDTF">2026-10-02T05:16:20Z</dcterms:modified>
</cp:coreProperties>
</file>