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各位早，我們開始第五週。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先回顧一下這三個禮拜在做什麼。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第三週，我們打開一個實驗室，看六種感測器各自量到什麼、什麼時候壞掉。第四週，我們打開一個模擬器，拉三個滑桿——射線數、射線長度、張角——看參數怎麼影響車子會不會撞。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那兩週用的數字，全部是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我設定的教學模型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。我每一節課都提醒各位，那些不是產品的規格。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今天不一樣。今天我把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真的規格表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攤開來，上面是真的廠商、真的型號、真的數字。我們要做的事只有一件：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把前兩週拉過的那三個滑桿，在規格表上一行一行找出來。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找出來之後，各位會發現三件事。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第一，規格表上有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第四個數字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，前兩週我沒有給各位，但它很重要。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第二，相機的規格表上，居然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沒有視野、也沒有測距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這兩行。為什麼？這是今天最有意思的一題。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第三，同樣一顆光達，規格表上會寫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兩個測距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，一個一百七十公尺、一個九十公尺。哪一個才算數？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下課前我希望每一位都做得到一件事：拿到一張沒看過的規格表，找得出這四個數字，而且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知道每一個數字後面綁著什麼條件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先講清楚一件事，免得各位誤會：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規格表不會騙人。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今天會看的三份都是真的廠商文件，上面每一行都是真的。問題出在三個地方：廠商在型錄封面上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只挑好看的那個數字印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；轉手的賣家把條件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抄掉了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；還有最常見的——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我們自己讀漏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，看到大數字就以為它大。各位今天要練的不是懷疑廠商，是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把條件讀出來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螢幕上這個網址，今天三節課都會用到，現在請大家打開。我們就叫它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規格判讀台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一樣兩個方法：用手機的相機對準右邊這個 QR，或者直接打網址。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打開之後大家會看到左邊有四個型號的按鈕。三個是真的產品——一顆旋轉式的光達、一顆固定式的光達、一顆車用的影像感測器。第四個叫 LD-16，那是我自己編的便宜型號，放進來是為了有東西可以比。表上有註明它是教學用的。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中間那一欄等一下第三節才會用到，現在先不管。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這裡還有一個按鈕我要先提醒大家：規格表下面有「只看英文原文」。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真正的規格表上是不會有中文或越南文的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，全部都是英文。今天我先讓對照打開，等到第三節，我會請各位把對照關掉，練習直接讀原文。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現在請大家把四個型號各按一次，看看它們的表長什麼樣子。花一分鐘就好。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第一段，我們把上禮拜那三個滑桿，一個一個在規格表上找出來。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各位回想一下模擬器上那三條：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射線數、射線長度、張角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。拉一拉，車子就撞或不撞。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今天要做的事是翻開真的規格表，把這三條指出來。它們在表上不叫這個名字，廠商寫的是英文，而且分散在不同的行。等一下我一行一行帶各位找。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找完各位會發現：那三條不是遊戲的設定，是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要花錢買的東西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請大家回到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規格判讀台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，左邊選第一個型號，Ouster OS1-64——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旋轉式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的光達，車頂上會轉的那一種。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投影片上這張是它 datasheet 的原圖，各位螢幕上那張是同一份規格，我重排過、加了中文對照。等一下對照著看。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我們看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OPTICAL PERFORMANCE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這一塊，一共七行，今天只用其中三行，從上往下看。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最上面兩行都叫 Range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同一個東西寫了兩次。為什麼？因為光達是把雷射打出去，等它彈回來，再算時間差。所以看得到多遠，不是機器自己一個人決定的，對面那個東西肯彈多少光回來，也算一半。括號裡那個百分比，講的就是它有多會反光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第一行是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80%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。那是把光均勻散回來的淺色表面，散回來的光很強，所以量得到 170 公尺。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第二行是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10%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。深色的東西會把光吃掉，散回來的很弱，就只剩 90 公尺。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今天我們先看 90 公尺這一行。請順手把後面那串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10% Lambertian reflectivity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圈起來。為什麼要看那一行？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等一下第十三張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整張都在講這件事。這一行就是上禮拜那條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射線長度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的滑桿。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第三行 Minimum Range 是「最近能看多近」，今天用不到，跳過。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第四行，Vertical Resolution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，寫 32、64、128 channels。Channel 中文叫通道，也叫線束。這就是上禮拜那條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射線數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的滑桿。買的時候要選幾線，64 線和 128 線價錢差很多。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第五行 Horizontal Resolution、第六行 Rotation Rate 先跳過，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第七張講更新率、第十二張講「可設定」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的時候會回來。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最後一行，Field of View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，垂直 42.4 度、水平 360 度，就是上禮拜拉的張角。不過它的水平是 360 度，因為它轉一整圈。所以這一顆的張角，你只能選上下，左右不用選。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三個滑桿，三行，都在這張表上了。上禮拜各位在模擬器上拉來拉去的那三個東西，不是我編出來的遊戲設定，是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你真的要花錢去買的規格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第二個型號，Hesai AT128P。這是一顆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固定式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的光達，不會轉，裝在車頭往前看。上禮拜模擬器上那個「固定式／旋轉式」的按鈕，講的就是這兩種。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這一份跟剛剛那張不一樣：它不是 datasheet，是使用手冊裡面的規格那一節，一共九行。一樣從上往下看。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第一行，Number of channels，128。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和 OS1 的 Vertical Resolution 是同一件事，只是這家公司換個寫法。這就是線束數。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中間幾行講的是測距跟準不準，第三節上機會用到，今天先跳過。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Horizontal FOV 120 度、Vertical FOV 25.4 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這兩行在表上沒有排在一起，中間還隔了一行，要看仔細。它不會轉，所以只看得到前面那一塊。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再來是 Horizontal resolution 和 Vertical resolution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，角解析度：左右 0.1 度、上下 0.2 度。這就是第四週講了一整節的那件事——相鄰兩條射線之間差幾度。上禮拜我要各位自己去感覺那個縫有多寬，這一顆直接把數字寫給你。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不過請看清楚，那個 0.1 度前面寫著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Far-field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，後面還有個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(10 Hz)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。一個數字，兩個條件。先講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Far-field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。各位先看一件事：Horizontal resolution 和 Vertical resolution 這兩行的後面，都跟著一個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圈起來的②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。那是手冊的註腳記號。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遠場到底從幾公尺開始？這個數字不在表上，在註腳裡。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我把那條註解接在表格下面了，各位看——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②：遠場是超過七點二公尺，近場是零點五到七點二公尺。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這件事本身就要記住：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規格表上最關鍵的定義，常常不在表格裡，在那個小小的記號後面。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在原始手冊裡，這張表在第 13 頁，這條註解在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 15 頁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，隔了兩頁。講義最後的附錄兩頁都附了，各位可以自己翻去對。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知道分界在哪裡，才看得懂那兩行：遠場左右 0.1 度、上下 0.2 度；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近場左右 0.2 度、上下 0.8 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。各位注意方向：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近的地方反而比較粗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，上下差了四倍。為什麼？因為一百二十八條通道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全部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都在量遠場，可是只有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三十二條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外再發一次脈衝去量近場——量近場的通道少，點自然就疏。那為什麼要這樣設計？因為七點二公尺以內是保險桿前面那一塊，那裡的東西又近又大，本來就不需要那麼細；把通道省下來留給遠處，才看得到一百五十公尺外那台車。廠商是故意這樣分的，不是做不好。後面那個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(10 Hz)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是第二個條件：換成 20 Hz，左右就從 0.1 度變 0.2 度——轉快一倍，點就少一半。所以這一行是一個數字綁兩個條件，跟剛剛 OS1 的 80% 和 10% 是同一種陷阱。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會有同學問：那剛剛那顆 OS1 呢？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OS1 沒有分遠近場。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各位翻回上一張看，它的表上只有一行 Vertical Resolution、一行 Horizontal Resolution，從零點五公尺到九十公尺都是同一個角解析度。差別在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架構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：OS1 是旋轉式，六十四組雷射和接收器裝在會轉的頭上，每一組在每一個角度都發一次，所以所有距離走的是同一套角度網格；AT128 是固定式，靠鏡面掃描，一百二十八條裡只有三十二條另外發近場脈衝，才會分兩段。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所以遠近場不是光達的通則，是這一顆的設計。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不過「近的地方另有規則」倒是每一顆都有：那一行叫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Minimum Range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，OS1 預設零點五公尺。比那個近的點直接不回報——那管的是「量不量得到」，不是「量得多細」。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現在把兩顆放在一起想。OS1 把點灑在一整圈，AT128P 把同樣多的點集中在前面 120 度。第四週講過，同樣那些射線，攤得愈廣就愈稀。所以這兩顆沒有誰比較好，是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用途不一樣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。要看路口四面八方，你就要 360 度那一顆。要在高速公路上看遠方，你就要把點集中在前面那一顆。第三節上機的時候，各位會親眼看到這個差別有多大。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我們把兩顆並排比一次。前四行都是規格表上抄下來的，最後一行是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我們自己算的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先看水平視野，360 度對 120 度。上下的線束數是 64 對 128，剛剛兩頁都看過了。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再來是水平角解析度，這裡要算一下。OS1 的規格表沒有直接寫角度，它寫的是每一圈有 1024 個點。所以三百六十度除以一千零二十四，等於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零點三五度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。AT128P 直接寫 0.1 度。所以左右方向，AT128P 密了三倍多。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測距是 90 公尺對 210 公尺。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好，現在看最後一行，這一行規格表上沒有，是我們用上面那些數字算出來的：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同樣一台機車停在四十公尺外，OS1 在它身上打到九個點，AT128P 打到一百二十一個點。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大家看清楚這兩個數字：九個點跟一百二十一個點。差了十三倍。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到底幾個點才夠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？這件事沒有國際標準，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本課訂十個點當門檻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，判讀台上的判定也是用這個數字——各位等一下會在工具上看到「門檻 10 個」。為什麼是十？因為點太少的時候，演算法大概只能說「那裡有東西」，說不出那是人還是電線桿；要認出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是什麼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，身上大概要十幾個點以上才有機會。所以 OS1 的九個點是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差一個點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不及格，AT128P 的一百二十一個點遠遠有餘。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這是今天第一個重要的觀念：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規格表上的數字要換算成「我關心的那個場景會怎樣」，才有意義。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光看「64 線」和「128 線」，你只會覺得差一倍；算到四十公尺的機車身上，差的是十三倍。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為什麼差這麼多？因為兩件事乘在一起：上下密一倍，左右又密三倍多，相乘就是十幾倍。第四週我們算過一模一樣的東西，只是那時候用的是我設的模型，今天用的是真的規格。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現在講第四個數字，前兩週我完全沒有給各位。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規格表上寫 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Rotation Rate，10 or 20 Hz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。中文叫更新率，意思是它一秒鐘看幾次。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十赫茲就是一秒鐘轉十圈，也就是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每一百毫秒給你一張畫面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這聽起來很快對不對？一秒鐘十次。我們來算算看這一百毫秒代表什麼。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時速四十公里，換成每秒是十一點一公尺。一百毫秒就是零點一秒，所以在兩張畫面之間，車子已經往前跑了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一點一公尺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我把這個數字寫在白板上：一點一公尺。差不多是一個人站的位置。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換到高速公路更可怕。時速一百，每秒二十七點八公尺，零點一秒就是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兩點八公尺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。前面那台車如果剛剛急煞，你的車要等到下一張畫面才知道，而那時候你已經又靠近了將近三公尺。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所以更新率這一行，講的是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你晚多久才知道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 OS1 的規格表上寫「10 或 20 Hz 可以設定」。設成二十赫茲，看得比較即時；但是同樣的時間要轉兩圈，每一圈能打的點就少了，畫面會變稀。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又是一個交換。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第四週講過的那句話今天還是成立：沒有一個規格是免費的。
</a:t>
            </a:r>
          </a:p>
          <a:p>
            <a:pPr algn="l">
              <a:spcBef>
                <a:spcPts val="0"/>
              </a:spcBef>
              <a:spcAft>
                <a:spcPts val="183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等一下第三節上機的時候，各位可以自己把這個模式切換看看，數字會當場跳給你看。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光達這一段的最後，我們看一下點雲到底長什麼樣。這支是 Hesai 原廠放的，三十七秒，講的就是第五張那顆 AT128。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畫面分上下兩半：上面是 AT128 的點雲，下面是同一個時刻、同一台車上的相機畫面。影片會跳三個情境，每一個左下角都有字。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第一次播，各位只做一件事：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上下對照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。在上面的點雲裡挑一台車，然後到下面的相機畫面找到同一台。對得上，你就知道那一堆點是什麼了。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第二次播，看另外兩件事。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第二個情境，Dark Road at Night。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各位看下面的相機——幾乎全黑，只剩幾盞燈。再看上面的點雲：整排行道樹、路面、路邊的東西，清清楚楚。為什麼差這麼多？因為光達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自己帶光源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。它打自己的雷射出去，不靠路燈、不靠太陽，所以晚上和白天對它沒有差別。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第三個情境，Vehicle Exiting Tunnel。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這個更明顯。下面的相機，隧道出口整片死白，前面那幾台車完全看不到。上面的點雲，那幾台車清清楚楚。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這一段請各位記住，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第二節第五張我們會回來重看一次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。那張在講相機的「動態範圍」——隧道裡很暗、隧道外很亮，同一張畫面裝不下，所以不是裡面黑掉就是外面白掉。各位剛剛看到的，就是白掉。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所以這支影片真正在講的事情是：光達和相機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不是誰取代誰，是弱點不一樣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。相機沒光就瞎，光達不怕黑；相機看得到顏色和文字，光達看不到。第三節選感測器的時候，各位會一直用到這句話。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第二段，我們看相機。這一段會出現今天最有意思的一題。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題目我先講出來：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相機的規格表上，找不到視野。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各位現在就打開判讀台，切到 AR0233AT 那一頁，從上到下找——找「視野」、找 FOV、找「幾度」。先不要翻下一頁，自己找三十秒。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提醒一句：找不到不是你不會找，也不是廠商漏寫。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那一行本來就不該在那裡。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第三個型號，onsemi 的 AR0233AT。這一顆各位比較陌生，我用三句話介紹。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onsemi 是一家美國的半導體公司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，以前叫 ON Semiconductor，二〇二一年改成現在這個全小寫的寫法。它的影像感測器是二〇一四年買下一家叫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Aptina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的公司來的——所以型號才是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AR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開頭，那是 Aptina 留下來的產品線代號。車用影像感測器這一塊，最常碰到的就是 onsemi、Sony、OmniVision 這三家。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第二句，看型號的結尾。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onsemi 的車規型號習慣用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AT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結尾——AR0233AT、AR0234AT 都是；同一顆晶片的非車規版本會換成別的後綴，像 AR0234CS。看到 AT，大概就知道它是衝著車用來的。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第三句，也是今天最重要的一句：onsemi 賣的是「晶片」，不是「相機」。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它出貨的是一塊方方的感光晶片，鏡頭要你自己配。各位先把這句話記著，等一下找不到視野的時候會用到。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左邊這張是從 onsemi 的公開文件直接剪下來的，出處印在圖下面。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我們先看它有什麼。最上面一行 Optical format，是感光面的大小。第二行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Active pixels，2048 乘 1280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，就是第四週拉的那條水平解析度。第三行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Pixel size，3.0 微米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，一個像素三微米見方，這個數字等一下有用。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再往下四行：彩色濾波陣列、介面、動態範圍、封裝。七行就這樣，沒了。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現在請各位在左邊找「視野」，英文是 field of view。再找「測距」，range。給各位三十秒。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都沒有。七行裡面一行都沒有。可是這兩行，就是我們前兩週天天在拉的滑桿。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現在看右邊。一樣是相機的規格表，Raspberry Pi 的 Camera Module 3。這張上面有沒有視野？有，而且有三行：對角、水平、垂直。同樣是相機的東西，為什麼一張有、一張沒有？先別急著回答。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右邊還有一行叫 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Focal length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，焦距。前面兩欄是 4.74 公釐，後面兩欄是 2.75 公釐。往下看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水平視野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那一行：4.74 的那兩欄是 66 度，2.75 的那兩欄是 102 度。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同一個產品系列、同一顆感光晶片，只有焦距不一樣，視野就差快一倍。答案藏在這裡，下一頁我把它講清楚。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答案剛剛已經在右邊那張表上了，我把它講清楚。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視野不是感測器決定的，是鏡頭決定的。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大家想一想自己的手機。同一支手機裡面，廣角鏡頭和望遠鏡頭用的可能是同一種感光元件，可是拍出來的範圍差很多。差別在鏡頭，不在晶片。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賣晶片的公司不知道你要配哪一顆鏡頭，所以他不能寫視野。他只能告訴你：晶片有多大、幾個像素。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那視野要怎麼算？規格判讀台右邊有三個小工具，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第①個「焦距 → 視野」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就在做這件事。現在請大家打開來。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規則是這樣：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感光元件愈寬、鏡頭焦距愈短，看得愈廣。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我們用真的數字算一次。這顆晶片是 2048 個像素，每個像素 3 微米，所以它的寬度是 2048 乘 3 微米，等於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六點一四公釐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配一顆 8 公釐的鏡頭，算出來是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42 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。配一顆 3.6 公釐的鏡頭，變成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81 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。配一顆 16 公釐的鏡頭，只剩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21.7 度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同一塊晶片，換鏡頭，視野差了四倍。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現在請各位自己拉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第①個小工具裡那條「鏡頭焦距 mm」的滑桿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，從 2 公釐拉到 24 公釐。滑桿下面有兩張圖會跟著動：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是這顆鏡頭看到的範圍，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是四十公尺外那台機車在這顆鏡頭下剩幾個像素。拉到 2 公釐，機車只剩二十一個像素，整個糊掉；拉到 16 公釐，一百零八個像素，看得清清楚楚。給大家一分鐘，自己拉到底再拉回來。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有沒有發現：焦距加倍，視野大約減半，而且每一個像素代表的角度也跟著減半——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看得更準，但看得更窄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這件事對自駕有多要緊，看左邊這張動圖。一開始兩格是同一個路口、同一個位置，但是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右邊那格看到的範圍大得多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——那就是 81 度的鏡頭。同樣的 2048 個像素，它攤在更寬的場景上。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接下來兩格會一起拉近，框到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同一台機車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。四十公尺外一台機車大概寬零點八公尺，張角一點一五度。配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 公釐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的鏡頭，每個像素零點零二度，機車身上有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56 個像素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；換成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3.6 公釐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，每個像素零點零四度，只剩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29 個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各位看最後那一格：左邊還看得出是一台機車、有個人坐在上面；右邊就只剩一團方塊。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同一顆晶片、同一台機車、同一個距離，只是換了鏡頭。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廣角不是畫質比較差——整張畫面的像素一樣多，是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遠處那個目標分到的像素變少了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這句話是不是很耳熟？第四週第 11 張，我們講過一模一樣的事：看得廣和看得清，同一份預算只能選一個。今天在真的規格上，這件事變成了「你要配幾公釐的鏡頭」。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至於測距那一行為什麼沒有，答案更簡單：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相機不量距離，它是算出來的。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第三週第二節我們花了一整頁在算那條式子——量腳踩地那一點在畫面上比地平線低幾列，再換算成距離。那是算出來的，不是量出來的，所以規格表上當然不會有。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再看一個很容易讀漏的地方。各位翻回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第七張，就是剛剛講更新率那一張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——那張圖上，水平解析度和轉速後面都跟著同一個字：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configurable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，可以設定。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datasheet 後面幾頁就把可以設定的組合整個列出來，也就是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左邊這一塊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Lidar Operating Modes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。那一格裡是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三個小黑點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，不是三列：512 點一圈，可以配 10 Hz 或 20 Hz；1024 點一圈，也可以配 10 Hz 或 20 Hz。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請各位特別看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左邊那一格的最後一個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x 2048，只有 @ 10 Hz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。想要最密的點，就不能跑 20 Hz。廠商自己把這件事寫在表上了——要最密，就得轉慢一點。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這代表什麼？代表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同一顆光達，你買回來之後還可以選模式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這裡要停一下，因為有一個坑：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同樣是用斜線隔開的三個數字，意思可能完全不一樣。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各位回頭看規格表最上面那兩行——Vertical Resolution 寫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32 / 64 / 128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，Horizontal Resolution 寫 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512 / 1024 / 2048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。長得一模一樣，可是：上面那排是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三種不同的產品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，這份 datasheet 整個 OS1 家族共用，你買的這一顆是 OS1-64，另外兩個買不到；下面那排才是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同一顆的三種模式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，可以自己切。所以看到斜線先問一句：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這是三種貨，還是一種貨的三個模式？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第六張那張兩顆光達並排的表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，我算給各位看，四十公尺的機車身上，OS1 有九個點。那是在 1024 點一圈的模式下算的。切到 2048 點一圈，左右的點加倍，九個點就變成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十八個點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同一顆硬體，同一台機車停在同一個地方，設定不一樣，結果就差一倍。所以買之前要問清楚：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廠商標的那個漂亮數字，是在哪一個模式下量的？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跟剛剛那個反射率是同一種陷阱。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第三節上機的時候，我會請各位親自切一次。工具上的判定會從「不夠用」變成「夠用」，只是換了一個模式，什麼錢都沒多花。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當然天下沒有白吃的午餐。點數加倍，資料量也跟著加倍，車上那台電腦要算得完才行。而且剛剛看到了，2048 還配不了 20 Hz。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回到剛剛請大家圈起來的那一行。左邊是 OS1 規格表上真正的那兩行，測距寫了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兩個數字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第一個 170 公尺，括號裡是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80% Lambertian reflectivity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；第二個 90 公尺，括號裡是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10%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。反射率的意思是：打出去的光，有幾成彈回來。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百分之八十是淺色、會把光均勻散回來的東西——白色的車、淺色的牆、水泥路面。百分之十是深色、吃光的東西——黑色的車、深色的雨衣、柏油路面。所以同一顆光達，看白色的車看得到一百七十公尺，看黑色的車只剩九十公尺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差了將近一倍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不過這裡要補一件事，不然各位會記成錯的：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光達看的其實不是顏色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。它只打一個波長——OS1 是 865 奈米的紅外線，AT128P 是 905 奈米。它量的是「我打出去那個波長，回來多少」，跟人眼看到的深淺只是大概相關。樹葉在我們眼裡是深綠色，在紅外線下卻很亮；有些黑色車漆看起來一樣黑，對紅外線卻反得特別好。業界現在真的在做「對光達友善的黑漆」——可見光反射率不到一成，看起來還是黑的，紅外線卻反回六成以上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還有一件事，各位看那兩行的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後面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——它不是只寫一個公尺數，後面還跟著一串條件。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Lambertian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，意思是「均勻散回來的表面」，鏡子和反光背心都不算，那兩種第二節會講。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1024 @ 10 Hz mode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，是用哪一個模式量的；換成 2048 點或 20 赫茲，這個數字就不是這個數字了——這就是第十二張講的「可設定」。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&gt;90% detection probability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，這個最多人漏掉：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它不是保證看得到，是十次裡面超過九次看得到。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100 klx sunlight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，十萬勒克斯，正午直射的大太陽——陰天大概一萬，室內只有五百，所以十萬是最亮的情況。為什麼要寫這個？因為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陽光裡面也有 865 奈米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。接收器不會分那個光子是誰打出去的，陽光一起進來就變成背景，雷射那一下要從背景裡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冒得出來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才算數。所以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太陽愈大，光達看得愈近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。這跟第八張那支影片剛好相反：相機沒光就瞎，光達是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光太多會被吵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。所以這一條是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嚴苛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條件，不是放水——它在說最壞的情況下還有九十公尺。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那廠商怎麼對付太陽？三招。第一，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裝一片只讓 865 奈米通過的濾光片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，把其他波長的陽光擋在外面——濾得愈窄，進來的背景愈少。第二，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只在該回來的那一小段時間裡聽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，其他時間進來的光不算。第三，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把能量擠進一個很短很強的脈衝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，讓它在背景上凸得出來。第二節講波長的時候各位會看到，1550 奈米在這件事上天生有利：它可以打比較強，而且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太陽在 1550 這個波長的輻射本來就比較弱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所以那一行真正的意思是：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對一個深色的漫反射目標、在 1024 乘 10 赫茲模式下、在正午大太陽底下，九十公尺處有九成以上的機率看得到。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一行數字，四個條件。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現在想一件事：廠商在網站上、在型錄封面上，會寫哪一個數字？當然是一百七十。哪一家廣告會寫自己比較差的那個？可是身為工程師，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你要拿來設計的是九十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。路上一定會有黑色的車、穿深色雨衣的騎士，你不能假設全世界的東西都是白的。
</a:t>
            </a:r>
          </a:p>
          <a:p>
            <a:pPr algn="l">
              <a:spcBef>
                <a:spcPts val="0"/>
              </a:spcBef>
              <a:spcAft>
                <a:spcPts val="142"/>
              </a:spcAft>
            </a:pP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以後看到規格表寫「測距 200 公尺」，第一句話要問：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那是對什麼反射率量的？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他沒寫，你就要小心。願不願意把比較難看的那個也印上去，其實看得出一家廠商老不老實。判讀台的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第③個小工具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可以自己拉：一條距離軸，白色車畫到 170 公尺、黑色車只畫到 90 公尺。把目標距離拉到 </a:t>
            </a:r>
            <a:r>
              <a:rPr sz="8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120 公尺</a:t>
            </a:r>
            <a:r>
              <a:rPr sz="8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，白色車還看得到，黑色車已經看不到了——同一個距離、同一顆光達，只是換個顏色。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現在請大家自己操作，十分鐘。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在工具的中間那一欄，有四個下拉選單。請選第一個型號 OS1，然後把四個數字找出來，選好之後按「檢查我的答案」。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四題分別問垂直視野、對百分之十反射率的測距、解析度那一行寫什麼，還有更新率。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解析度那一題要注意：光達的表上有兩行 Resolution。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題目下面的小字會告訴你這一題問的是哪一行——OS1 和 LD-16 問的是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垂直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那一行，也就是線束數；AT128P 的表直接把角度寫出來；相機看的是像素數。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三個提醒。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第一，答案都在左邊那張表上。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不要用猜的，去找。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第二，選錯的時候工具會告訴你錯在哪。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例如你選了 360 度，它會說那是水平，不是垂直。把那句話看完，再改答案。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第三，OS1 做完換 AT128P 再做一次。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兩顆的表長得不一樣，找的位置也不一樣。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我在教室裡走動看大家的畫面，卡住的舉手。如果有人做得快，先做相機那一顆 AR0233AT。我先警告各位：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那顆有兩題的答案是「規格表上沒有這一行」。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很多人會一直找一直找，找不到就開始懷疑自己。找不到是對的，因為它真的沒有。剛剛那一頁講過為什麼。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十分鐘到了我們就收，接著講下一件事。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第一節收起來，三句話。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第一句，上禮拜那三個滑桿，就是規格表上的三行：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線束數、視野、測距。而且規格表上還有第四行，是我們前兩週沒碰過的——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更新率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，它決定你晚多久才知道。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第二句，影像感測器的規格表上沒有視野、也沒有測距。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視野是鏡頭決定的，你要自己用焦距去算；距離是相機算出來的，不是量出來的。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第三句，看到測距要追問是對百分之幾反射率量的。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 OS1，白色的東西一百七十公尺，黑色的只剩九十。設計的時候要用小的那個。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下一節我們往規格表的更裡面走。今天講的這幾行，是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第一層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——所有人都會看的那幾行；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第二層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還有一堆數字很少人讀，我挑三個最容易害你出事的來講。（第一層、第二層是我分的，不是 PDF 的頁碼。）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休息十分鐘。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這一張不唸，是附錄。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今天圈過的光達那幾行，全部都在這三頁上：PDF 第 1 頁是 HIGHLIGHTS 和 OPTICAL PERFORMANCE——測距、視野、通道數、每圈點數都在那裡；第 2 頁有 LASER 那一段，Class 1、865 奈米、光束寬度和發散角；第 3 頁有 Additional Programmability，multi-sensor phase lock 那一行。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原始 PDF 總共八頁，後面五頁是外觀尺寸、配件和接線圖，和今天要讀的規格沒有關係，所以沒有放進來。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放映的時候可以放大看；要看完整的八頁，到 Ouster 官網下載。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這一張也不唸，是附錄。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左邊那一頁是 §1.5 Specifications，第 1 節第 5 張圈過的東西都在上面：Number of channels 128、Horizontal FOV 120 度、Vertical FOV 25.4 度，還有那兩行寫著 Far-field 和 Near-field 的解析度。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右邊那一頁是同一節的註解。註②就是遠近場的定義——遠場超過 7.2 公尺、近場 0.5 到 7.2 公尺；註①說量測範圍是由分配給每一條通道的飛行時間決定的；註⑥還把每秒點數怎麼算整個列出來，1200 乘 128 乘 10 等於一百五十三萬六千。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各位如果對「那個 0.1 度為什麼有兩個條件」還有疑問，答案就在右邊那一頁。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這一張也不唸，是附錄。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今天圈過的那幾行——有效像素、像素尺寸、動態範圍、LED 閃爍抑制——全部都在左邊那一頁的 Specifications 那一欄上。右邊第二頁是封裝尺寸，整頁寫 TBD，那是因為這份是 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Product Preview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，還不是正式規格書。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各位記得第 1 節第 2 張說過的：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快門方式這一行，這兩頁上都沒有。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現在可以自己確認一次。要看快門方式，得去 onsemi 的產品頁。
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放映的時候可以放大看；發下去的 PDF 也印得出來。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OkV0Lj-uATE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gif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5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88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Hôm nay đọc bảng thông số thật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今天來讀真正的規格表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2998115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198590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thanh trượt hai tuần vừa rồi — hôm nay tìm chúng trên datasheet của hãng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前兩週拉的那三個滑桿，今天在廠商的規格表上把它們找出來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16938" y="3881925"/>
            <a:ext cx="5923125" cy="382725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513" y="3927488"/>
            <a:ext cx="5667975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ch-neural.github.io/MITUST-Principles-of-Self-Driving-Cars/week5/spec/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第五週 第 1 節　2026/10/08（四）09:10–10:00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bàn đọc thông số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打開規格判讀台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364224" y="1133856"/>
            <a:ext cx="2404872" cy="2624328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五週(10-8)/src/img/w5_qr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43584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3429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bằng camera điện thoại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用手機相機掃這個 QR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133856"/>
            <a:ext cx="5678424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" y="1225296"/>
            <a:ext cx="5385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MITUST-Principles-of-Self-Driving-Cars/week5/spec/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1214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model: ba cái là hàng thật, một cái là model ảo để so sánh giá rẻ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四個型號：三個是真的產品，一個是便宜的教學用型號，拿來比較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" y="26517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26609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61518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nút «chỉ tiếng Anh»: bảng thông số thật thì không có bản dịch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有一個「只看英文原文」的按鈕：真的規格表上是不會有翻譯的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" y="314553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sẽ dùng suốt 50 phút, mỗi người tự làm và nộp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第三節整節都會用它，而且是每個人自己做、自己交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xong bấm thử từng model một lượt cho quen.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打開之後先把四個型號各按一次，熟悉一下畫面。</a:t>
            </a:r>
            <a:endParaRPr lang="en-US" sz="1200" dirty="0"/>
          </a:p>
        </p:txBody>
      </p:sp>
      <p:pic>
        <p:nvPicPr>
          <p:cNvPr id="20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18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1 /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thanh trượt của tuần trước, nằm ở đâu trên datasheet</a:t>
            </a:r>
            <a:endParaRPr lang="en-US" sz="2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上週那三個滑桿，在規格表的哪一行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3467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tia · chiều dài tia · góc quét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射線數・射線長度・張角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18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　Ouster OS1-64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1682496"/>
            <a:ext cx="4206240" cy="2006226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五週(10-8)/src/img/w5_os1_op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784814"/>
            <a:ext cx="4059936" cy="16187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450978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 datasheet, Rev7 / FW 3.2, p.1 · 節錄 · 讀取 2026/10/02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983480" y="786384"/>
            <a:ext cx="3657600" cy="78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quay 360°: rải điểm đều quanh xe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旋轉式光達：點平均灑在車子周圍一整圈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83480" y="1665299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38344" y="1701875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Tầm đo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測距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190488" y="1665299"/>
            <a:ext cx="2450592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(lấy dòng 10%) = chiều dài tia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Range 看 10% 那行＝射線長度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83480" y="2364494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38344" y="2401070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kênh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線束數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190488" y="2364494"/>
            <a:ext cx="2450592" cy="4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Resolution = số tia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Vertical Resolution＝射線數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83480" y="2883484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FFB0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38344" y="2920060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nhìn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視野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190488" y="2883484"/>
            <a:ext cx="2450592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of View = góc quét, quay cả vòng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Field of View＝張角，它轉一整圈</a:t>
            </a:r>
            <a:endParaRPr lang="en-US" sz="1100" dirty="0"/>
          </a:p>
        </p:txBody>
      </p:sp>
      <p:pic>
        <p:nvPicPr>
          <p:cNvPr id="16" name="Image 1" descr="/Users/tsengchenghsun/Class/carClass/Claude outputs/第五週(10-8)/src/img/w5_pic_os1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649224"/>
            <a:ext cx="1003683" cy="98755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07771" y="1417320"/>
            <a:ext cx="30013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dòng này chính là ba thanh trượt. Chỉ khác là hãng viết bằng tiếng Anh.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這三行就是那三個滑桿，只是廠商用英文寫。</a:t>
            </a:r>
            <a:endParaRPr lang="en-US" sz="1200" dirty="0"/>
          </a:p>
        </p:txBody>
      </p:sp>
      <p:pic>
        <p:nvPicPr>
          <p:cNvPr id="21" name="Image 2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18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　Hesai AT128P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3406718" cy="3072384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五週(10-8)/src/img/w5_at128p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09880"/>
            <a:ext cx="3260414" cy="262539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712464"/>
            <a:ext cx="32604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Hesai AT128P User Manual A02, §1.5, p.13 的表 ＋ p.15 的註解② · 節錄 · 讀取 2026/10/02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183958" y="786384"/>
            <a:ext cx="4457122" cy="78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cố định hướng trước: dồn điểm vào 120° phía trước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固定式前向光達：把點集中在前方 120 度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183958" y="1665299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38822" y="1701875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Số kênh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線束數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390966" y="1665299"/>
            <a:ext cx="3250114" cy="4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channels = 128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Number of channels＝128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83958" y="2184289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38822" y="2220865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nhìn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視野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390966" y="2184289"/>
            <a:ext cx="3250114" cy="4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/ Vertical FOV = 120° × 25,4°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Horizontal／Vertical FOV＝120°×25.4°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83958" y="2703280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FFB0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38822" y="2739856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giải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角解析度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390966" y="2703280"/>
            <a:ext cx="3250114" cy="4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0,1° / 0,2° — Far-field, 10 Hz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resolution 0.1°／0.2°——Far-field、10 Hz</a:t>
            </a:r>
            <a:endParaRPr lang="en-US" sz="1100" dirty="0"/>
          </a:p>
        </p:txBody>
      </p:sp>
      <p:pic>
        <p:nvPicPr>
          <p:cNvPr id="16" name="Image 1" descr="/Users/tsengchenghsun/Class/carClass/Claude outputs/第五週(10-8)/src/img/w5_pic_at128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133" y="365760"/>
            <a:ext cx="623547" cy="38404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183958" y="475488"/>
            <a:ext cx="2827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Hesai AT128　圖：Hesai（hesaitech.com）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là lidar, một cái rải quanh 360°, một cái dồn vào 120°.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同樣是光達，一個灑滿 360 度，一個集中在 120 度。</a:t>
            </a:r>
            <a:endParaRPr lang="en-US" sz="1200" dirty="0"/>
          </a:p>
        </p:txBody>
      </p:sp>
      <p:pic>
        <p:nvPicPr>
          <p:cNvPr id="21" name="Image 2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18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là lidar, hai cách tiêu tiền khác nhau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同樣是光達，兩種花錢的方式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2034540"/>
                <a:gridCol w="2034540"/>
                <a:gridCol w="2034540"/>
                <a:gridCol w="20345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Dòng trên datasheet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規格表上那一行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Ouster OS1-64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Ouster OS1-64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Hesai AT128P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Hesai AT128P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Nghĩa là gì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這代表什麼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Góc nhìn ngang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水平視野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360°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Một cái nhìn quanh, một cái nhìn trước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一個看四周，一個只看前面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Phân giải ngang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水平角解析度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0.1°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AT128P dày hơn 3 lần theo chiều ngang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AT128P 左右密了三倍多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Tầm đo (10%)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測距（10% 反射率）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 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Nhìn xa hơn gấp đôi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看得遠一倍以上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Xe máy ở 40 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40 公尺的機車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điểm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 điểm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Đây mới là con số quyết định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這才是真正決定用不用得了的數字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029355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cuối không nằm trên datasheet — nó là do ta tự tính từ ba dòng trên.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最後一行規格表上沒有，是我們自己用上面三行算出來的。</a:t>
            </a:r>
            <a:endParaRPr lang="en-US" sz="1200" dirty="0"/>
          </a:p>
        </p:txBody>
      </p:sp>
      <p:pic>
        <p:nvPicPr>
          <p:cNvPr id="6" name="Image 0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18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số thứ tư · 第四個規格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cập nhật: một giây nó nhìn mấy lần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更新率：它一秒鐘看幾次</a:t>
            </a:r>
            <a:endParaRPr lang="en-US" sz="19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10 Hz, mỗi khung cách nhau 100 ms — chạy 40 km/h là xe đã đi 1,1 m.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 Hz 的話，每一張畫面隔 100 毫秒——時速 40 的時候，車子已經走了 1.1 公尺。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2615184"/>
            <a:ext cx="81381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五週(10-8)/src/img/w5_os1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0588" y="2706624"/>
            <a:ext cx="4882824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" y="3657600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 datasheet, Rev7 / FW 3.2, p.1 · 節錄 · 讀取 2026/10/02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3 và 4 chưa từng nhắc tới thông số này, nhưng nó quyết định «xe thấy muộn bao nhiêu».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第三、四週從來沒提過這個規格，但它決定了「車子晚多久才知道」。</a:t>
            </a:r>
            <a:endParaRPr lang="en-US" sz="1250" dirty="0"/>
          </a:p>
        </p:txBody>
      </p:sp>
      <p:pic>
        <p:nvPicPr>
          <p:cNvPr id="10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18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Xem thử · 點雲到底長什麼樣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cloud là gì: xem cùng lúc với ảnh camera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點雲到底是什麼：和相機畫面擺在一起看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五週(10-8)/src/img/w5_pic_at128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02" y="1301348"/>
            <a:ext cx="3721724" cy="22922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584448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圖：Hesai（hesaitech.com）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Hesai AT128 Lidar Point Cloud View vs Camera View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Hesai Technology（原廠官方頻道）　·　0:37（三個情境，播兩次）</a:t>
            </a:r>
            <a:endParaRPr lang="en-US" sz="900" dirty="0"/>
          </a:p>
        </p:txBody>
      </p:sp>
      <p:sp>
        <p:nvSpPr>
          <p:cNvPr id="12" name="Text 9">
            <a:hlinkClick r:id="rId2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https://youtu.be/OkV0Lj-uATE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là point cloud, dưới là camera cùng lúc — tìm cùng một chiếc xe ở hai bên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上面是點雲、下面是同一時刻的相機——先在兩邊找出同一台車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47488" y="2772411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Đường tối ban đêm: camera gần như đen hết, point cloud vẫn thấy cả hàng cây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夜間暗路：相機幾乎全黑，點雲整排樹都還在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19472" y="330164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47488" y="326506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 khỏi hầm: camera cháy trắng cửa hầm, point cloud vẫn thấy rõ mấy chiếc xe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出隧道：相機出口一片死白，點雲那幾台車看得清清楚楚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tự mang nguồn sáng. Đó là lý do nó và camera phải đi cùng nhau.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光達自己帶光源。這就是為什麼它和相機要一起裝。</a:t>
            </a:r>
            <a:endParaRPr lang="en-US" sz="1150" dirty="0"/>
          </a:p>
        </p:txBody>
      </p:sp>
      <p:pic>
        <p:nvPicPr>
          <p:cNvPr id="22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18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 2 / 3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datasheet của camera không có góc nhìn</a:t>
            </a:r>
            <a:endParaRPr lang="en-US" sz="2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為什麼相機的規格表上沒有視野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346704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dòng quan trọng nhất lại không nằm trên đó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最重要的兩行，偏偏不在上面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18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· onsemi AR0233AT ／ Raspberry Pi Camera Module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Datasheet cảm biến ảnh: tìm mãi không thấy góc nhìn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影像感測器的規格表：怎麼找都找不到視野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310492"/>
            <a:ext cx="3310106" cy="2423549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01932"/>
            <a:ext cx="3127226" cy="347413"/>
          </a:xfrm>
          <a:prstGeom prst="roundRect">
            <a:avLst>
              <a:gd name="adj" fmla="val 13160"/>
            </a:avLst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429364"/>
            <a:ext cx="2980922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Chip cảm biến ảnh · onsemi AR0233AT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影像感測器晶片 · onsemi AR0233AT</a:t>
            </a:r>
            <a:endParaRPr lang="en-US" sz="950" dirty="0"/>
          </a:p>
        </p:txBody>
      </p:sp>
      <p:pic>
        <p:nvPicPr>
          <p:cNvPr id="7" name="Image 0" descr="/Users/tsengchenghsun/Class/carClass/Claude outputs/第五週(10-8)/src/img/w5_s09_sensor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04209"/>
            <a:ext cx="3127226" cy="1551421"/>
          </a:xfrm>
          <a:prstGeom prst="rect">
            <a:avLst/>
          </a:prstGeom>
        </p:spPr>
      </p:pic>
      <p:pic>
        <p:nvPicPr>
          <p:cNvPr id="8" name="Image 1" descr="/Users/tsengchenghsun/Class/carClass/Claude outputs/第五週(10-8)/src/img/w5_pic_ar0233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705" y="1804209"/>
            <a:ext cx="1076577" cy="7680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3373918"/>
            <a:ext cx="3127226" cy="2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onsemi AR0233AT Product Preview Rev. P2 (11/2017) · 節錄 · 讀取 2026/10/02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4087346" y="1310492"/>
            <a:ext cx="4553734" cy="2423549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178786" y="1401932"/>
            <a:ext cx="4370854" cy="347413"/>
          </a:xfrm>
          <a:prstGeom prst="roundRect">
            <a:avLst>
              <a:gd name="adj" fmla="val 13160"/>
            </a:avLst>
          </a:prstGeom>
          <a:solidFill>
            <a:srgbClr val="007F7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251938" y="1429364"/>
            <a:ext cx="4224550" cy="3108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camera · Raspberry Pi Camera Module 3</a:t>
            </a:r>
            <a:endParaRPr lang="en-US" sz="9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相機模組 · Raspberry Pi Camera Module 3</a:t>
            </a:r>
            <a:endParaRPr lang="en-US" sz="950" dirty="0"/>
          </a:p>
        </p:txBody>
      </p:sp>
      <p:pic>
        <p:nvPicPr>
          <p:cNvPr id="13" name="Image 2" descr="/Users/tsengchenghsun/Class/carClass/Claude outputs/第五週(10-8)/src/img/w5_s09_module_sp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786" y="1804209"/>
            <a:ext cx="4370854" cy="155142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78786" y="3373918"/>
            <a:ext cx="4370854" cy="250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Camera Module 3 Product Brief, p.5 · 節錄 · 讀取 2026/10/02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502920" y="3880345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85800" y="3944353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thứ ta cần nhất thì bảng bên trái không hề có. Vì sao?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我們最需要的兩個東西，左邊這張偏偏都沒有。為什麼？</a:t>
            </a:r>
            <a:endParaRPr lang="en-US" sz="1200" dirty="0"/>
          </a:p>
        </p:txBody>
      </p:sp>
      <p:pic>
        <p:nvPicPr>
          <p:cNvPr id="18" name="Image 3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trả lời · 答案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502920" y="1101852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五週(10-8)/src/img/w5_s11_lens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470584"/>
            <a:ext cx="3419856" cy="15942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3396996"/>
            <a:ext cx="3419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同一幀河內街景：先照各鏡頭的視野取景，再一起框到同一台機車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379976" y="914400"/>
            <a:ext cx="426110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nhìn nằm ở ống kính, không ở cảm biến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視野不在感測器身上——它在鏡頭身上</a:t>
            </a:r>
            <a:endParaRPr lang="en-US" sz="23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con chip, lắp ống kính 8 mm thì nhìn được 42°, lắp ống kính 3.6 mm thì nhìn được 81°. Hãng bán chip không biết bạn sẽ lắp ống kính nào, nên họ không thể viết.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同一塊晶片，配 8 mm 的鏡頭看得到 42 度，配 3.6 mm 的鏡頭看得到 81 度。賣晶片的廠商不知道你要配什麼鏡頭，所以寫不出來。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Còn tầm đo: camera không hề đo khoảng cách — nó tính ra, như tuần 3 đã làm.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至於測距：相機根本不量距離，它是算出來的，第三週算過那條式子。</a:t>
            </a:r>
            <a:endParaRPr lang="en-US" sz="1250" dirty="0"/>
          </a:p>
        </p:txBody>
      </p:sp>
      <p:pic>
        <p:nvPicPr>
          <p:cNvPr id="10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· 一行容易讀錯的字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14400"/>
            <a:ext cx="8138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dòng ghi «configurable»: đó là chế độ, không phải con số cố định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有些行寫著「可設定」：那是模式，不是固定的數字</a:t>
            </a:r>
            <a:endParaRPr lang="en-US" sz="1900" dirty="0"/>
          </a:p>
          <a:p>
            <a:pPr indent="0" marL="0">
              <a:lnSpc>
                <a:spcPct val="120000"/>
              </a:lnSpc>
              <a:spcBef>
                <a:spcPts val="1440"/>
              </a:spcBef>
              <a:buNone/>
            </a:pPr>
            <a:r>
              <a:rPr lang="en-US" sz="12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con lidar, đổi chế độ thì số điểm trên xe máy ở 40 m khác hẳn.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同一顆光達，換一個模式，四十公尺機車身上的點數就整個不一樣。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2615184"/>
            <a:ext cx="813816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五週(10-8)/src/img/w5_os1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237" y="2706624"/>
            <a:ext cx="6417527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6072" y="3657600"/>
            <a:ext cx="79918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 datasheet, Rev7 / FW 3.2, p.3 · 節錄 · 讀取 2026/10/02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502920" y="3913632"/>
            <a:ext cx="8138160" cy="621792"/>
          </a:xfrm>
          <a:prstGeom prst="roundRect">
            <a:avLst>
              <a:gd name="adj" fmla="val 13235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8678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các bạn sẽ tự đổi: 9 điểm thành 18 điểm, kết luận lật ngược.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第三節各位會自己切：9 個點變成 18 個點，結論整個翻過來。</a:t>
            </a:r>
            <a:endParaRPr lang="en-US" sz="1250" dirty="0"/>
          </a:p>
        </p:txBody>
      </p:sp>
      <p:pic>
        <p:nvPicPr>
          <p:cNvPr id="10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kỹ · 同一行，兩個數字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4206240" cy="1172567"/>
          </a:xfrm>
          <a:prstGeom prst="roundRect">
            <a:avLst>
              <a:gd name="adj" fmla="val 9358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五週(10-8)/src/img/w5_os1_ran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965644"/>
            <a:ext cx="4059936" cy="81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" y="1812647"/>
            <a:ext cx="4059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 datasheet, Rev7 / FW 3.2, p.1 · 節錄 · 讀取 2026/10/02</a:t>
            </a:r>
            <a:endParaRPr lang="en-US" sz="700" dirty="0"/>
          </a:p>
        </p:txBody>
      </p:sp>
      <p:sp>
        <p:nvSpPr>
          <p:cNvPr id="6" name="Text 3"/>
          <p:cNvSpPr txBox="1"/>
          <p:nvPr/>
        </p:nvSpPr>
        <p:spPr>
          <a:xfrm>
            <a:off x="4983480" y="786384"/>
            <a:ext cx="3657600" cy="971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«90 m» hay «170 m»: cùng một lidar, hai con số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「90 公尺」還是「170 公尺」：同一顆光達，兩個數字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983480" y="1849403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38344" y="1885979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80%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190488" y="1849403"/>
            <a:ext cx="2450592" cy="4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sáng: xe trắng, tường màu nhạt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淺色、散得回來：白色的車、淺色的牆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83480" y="2368393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007F7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038344" y="2404969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190488" y="2368393"/>
            <a:ext cx="2450592" cy="45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tối: xe đen, áo mưa sẫm màu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深色、反射弱：黑色的車、深色雨衣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83480" y="2887384"/>
            <a:ext cx="1060704" cy="400118"/>
          </a:xfrm>
          <a:prstGeom prst="roundRect">
            <a:avLst>
              <a:gd name="adj" fmla="val 13712"/>
            </a:avLst>
          </a:prstGeom>
          <a:solidFill>
            <a:srgbClr val="FFB02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38344" y="2923960"/>
            <a:ext cx="950976" cy="34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số nào</a:t>
            </a:r>
            <a:endParaRPr lang="en-US" sz="90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要用哪個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190488" y="2887384"/>
            <a:ext cx="2450592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dùng 90 m — ngoài đường có xe đen.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設計用 90 公尺。路上一定有黑色的車。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cáo hay ghi 170 m. Con số phải dùng để thiết kế là 90 m.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廣告上會寫 170 公尺。真正設計的時候要用的是 90 公尺。</a:t>
            </a:r>
            <a:endParaRPr lang="en-US" sz="1200" dirty="0"/>
          </a:p>
        </p:txBody>
      </p:sp>
      <p:pic>
        <p:nvPicPr>
          <p:cNvPr id="19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Lên máy · 上機（第一輪）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người tự làm: chọn OS1, tìm bốn con số, bấm kiểm tra.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每個人自己做：選 OS1，把四個數字找出來，按檢查。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câu: góc nhìn dọc · tầm đo với vật 10% · phân giải · tốc độ cập nhật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四題：垂直視野・對 10% 反射率的測距・解析度・更新率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 thì công cụ nói sai ở đâu — đọc xong sửa lại, đừng đoán bừa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選錯的話工具會告訴你錯在哪——看完再改，不要亂猜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xong OS1 thì đổi sang AT128P làm lại một lượt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OS1 做完，換 AT128P 再做一次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 câu của camera sẽ khiến nhiều người bực mình. Đó là chủ ý.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相機那兩題會讓很多人火大。那是故意的。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第一節小結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 ba câu này sang tiết 2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帶三句話進第二節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thanh trượt tuần trước = ba dòng trên datasheet: số kênh, góc nhìn, tầm đo. Cộng thêm dòng thứ tư: tốc độ cập nhật.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上週三個滑桿就是規格表上三行：線束數、視野、測距。再加第四行：更新率。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47817"/>
            <a:ext cx="45720" cy="672713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611241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Datasheet cảm biến ảnh không có góc nhìn và tầm đo — góc nhìn do ống kính, khoảng cách là tính ra.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影像感測器的規格表沒有視野和測距——視野看鏡頭，距離是算出來的。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21698"/>
            <a:ext cx="45720" cy="67271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485122"/>
            <a:ext cx="7863840" cy="782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Tầm đo luôn phải hỏi: đo với vật phản xạ bao nhiêu phần trăm. 170 m hay 90 m là hai thế giới khác nhau.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看到測距一定要追問：對百分之幾反射率量的。170 公尺和 90 公尺是兩個世界。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· 附錄（不計時）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 — toàn bộ datasheet gốc (3 trang thông số)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Ouster OS1 — 廠商規格書原頁（規格那三頁）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970511" y="1371600"/>
            <a:ext cx="2340033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五週(10-8)/src/img/w5_ds_os1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799" y="1389888"/>
            <a:ext cx="2303457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01984" y="1371600"/>
            <a:ext cx="2340033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7" name="Image 1" descr="/Users/tsengchenghsun/Class/carClass/Claude outputs/第五週(10-8)/src/img/w5_ds_os1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272" y="1389888"/>
            <a:ext cx="2303457" cy="298094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833456" y="1371600"/>
            <a:ext cx="2340033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9" name="Image 2" descr="/Users/tsengchenghsun/Class/carClass/Claude outputs/第五週(10-8)/src/img/w5_ds_os1_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744" y="1389888"/>
            <a:ext cx="2303457" cy="29809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OS1 datasheet, hardware Rev7 / firmware 3.2 · 官方 PDF 第 1–3 頁原頁全文 · 讀取 2026/10/02 · 版權歸 Ouster，課堂引用</a:t>
            </a:r>
            <a:endParaRPr lang="en-US" sz="850" dirty="0"/>
          </a:p>
        </p:txBody>
      </p:sp>
      <p:pic>
        <p:nvPicPr>
          <p:cNvPr id="12" name="Image 3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900" dirty="0"/>
          </a:p>
        </p:txBody>
      </p:sp>
      <p:sp>
        <p:nvSpPr>
          <p:cNvPr id="14" name="Text 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· 附錄（不計時）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Hesai AT128P — nguyên trang sổ tay (phần thông số)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Hesai AT128P — 使用手冊原頁（規格那兩頁）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84632" y="1445999"/>
            <a:ext cx="4041648" cy="286872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五週(10-8)/src/img/w5_ds_at128p_p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4287"/>
            <a:ext cx="4005072" cy="283214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17720" y="1445999"/>
            <a:ext cx="4041648" cy="286872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7" name="Image 1" descr="/Users/tsengchenghsun/Class/carClass/Claude outputs/第五週(10-8)/src/img/w5_ds_at128p_p1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464287"/>
            <a:ext cx="4005072" cy="283214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Hesai AT128P User Manual A02（en-250410）· §1.5 Specifications 第 13 頁與註解第 15 頁原頁全文 · 讀取 2026/10/02 · 版權歸 Hesai，課堂引用</a:t>
            </a:r>
            <a:endParaRPr lang="en-US" sz="850" dirty="0"/>
          </a:p>
        </p:txBody>
      </p:sp>
      <p:pic>
        <p:nvPicPr>
          <p:cNvPr id="10" name="Image 2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20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· 附錄（不計時）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8138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onsemi AR0233AT — toàn bộ datasheet gốc (2 trang)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onsemi AR0233AT — 廠商規格書原頁（全兩頁）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186247" y="1371600"/>
            <a:ext cx="2340033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五週(10-8)/src/img/w5_ds_ar0233at_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4535" y="1389888"/>
            <a:ext cx="2303457" cy="29809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17720" y="1371600"/>
            <a:ext cx="2340033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7" name="Image 1" descr="/Users/tsengchenghsun/Class/carClass/Claude outputs/第五週(10-8)/src/img/w5_ds_ar0233at_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1389888"/>
            <a:ext cx="2303457" cy="29809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02920" y="44074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onsemi, AR0233AT Product Preview, Rev. P2, 11/2017（Publication Order Number AR0233AT/D）· 原頁全文 · 讀取 2026/10/02 · 版權歸 onsemi，課堂引用</a:t>
            </a:r>
            <a:endParaRPr lang="en-US" sz="850" dirty="0"/>
          </a:p>
        </p:txBody>
      </p:sp>
      <p:pic>
        <p:nvPicPr>
          <p:cNvPr id="10" name="Image 2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2026-10-06T15:45:02Z</dcterms:created>
  <dcterms:modified xsi:type="dcterms:W3CDTF">2026-10-06T15:45:02Z</dcterms:modified>
</cp:coreProperties>
</file>