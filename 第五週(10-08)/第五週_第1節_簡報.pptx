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圈規格表上的線束數、視野、角解析度三行——那就是上週的三個滑桿。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請大家在工具上選第一個型號，Ouster OS1-64。這是一顆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的光達，車頂上會轉的那一種，第三週影片裡看過。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現在看規格表，我們找三行。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第一行，Vertical Resolution，垂直解析度。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 32、64、128 channels。Channel 中文叫通道，也叫線束。這就是上禮拜那條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的滑桿。你買的時候要選要幾線，線愈多愈貴。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第二行，Field of View，視野。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上面寫垂直 42.4 度、水平 360 度。上禮拜我們拉的張角，就是這一行。不過請注意，它的水平是 360 度，因為它會轉一整圈，所以「張角」對這一顆來說只剩垂直方向要選。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第三行，Range，測距。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上面寫的是 90 公尺。這就是射線長度那條滑桿。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三個滑桿，三行，都在這裡了。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所以上禮拜各位在模擬器上拉來拉去的那三個東西，不是我編出來的遊戲設定，是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。買 64 線和買 128 線，價錢差很多。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還有一件事現在先記著，等一下第九張我們會回來算：這一行測距寫 90 公尺，但它後面跟了一串英文——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。那串字很重要，先把它圈起來。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AT128。同樣是光達，但把點集中在前方 120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圈視野那一行的 120°，再回頭指上一張 OS1 的 360°，兩個數字對著看。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AT128。這是一顆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一樣找那三行。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線束數是 128。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視野是水平 120 度、垂直 25.4 度。它不轉，所以只看得到前面那一塊。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第三行不一樣了。這一顆的規格表上，直接寫了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Angular Resolution，角解析度：水平 0.1 度、垂直 0.2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這一行請大家特別注意，因為它就是第四週我們講了一整節的那件事——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相鄰兩條射線之間差幾度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。上禮拜我要各位自己去感覺縫有多寬，這一顆的廠商直接把數字寫給你了。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好，現在把兩顆放在一起想。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把點灑在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一整圈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，AT128 把同樣多的點集中在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 120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。第四週我們講過什麼？同樣那些射線，攤得愈廣就愈稀，集中起來就愈密。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所以這兩顆不是誰比較好，是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。要看路口四面八方，你要 360 度那一顆；要在高速公路上看遠方，你要把點集中在前面那一顆。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 直接寫 0.1 度。所以左右方向，AT128 密了三倍多。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 有一百二十一個點。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圈主標的「一秒鐘看幾次」，再圈下方換算出來的移動距離。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先看有的：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 2048 乘 1280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，就是第四週拉的那條水平解析度；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 3.0 微米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，等一下有用。再往下是彩色濾波陣列、介面、動態範圍、封裝，總共七行。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view；再找「測距」，range。找三十秒。都沒有——七行裡面一行都沒有。這兩行就是我們前兩週天天在拉的滑桿。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看右邊。一樣是相機的規格表，Raspberry Pi 的 Camera Module 3。有沒有視野？有，而且有三行：對角、水平、垂直。為什麼一張有、一張沒有？先別急著回答。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右邊有一行叫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，焦距：前兩欄是 4.74 公釐，後兩欄是 2.75 公釐。往下看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圈公式裡的焦距與感光元件寬度，再打開工具裡的第①個小工具現場算一次。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那視野要怎麼算？右邊工具裡的第一個小工具就在做這件事，現在請大家打開來玩一下。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3.6 公釐的鏡頭，變成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16 公釐的鏡頭，只剩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請大家自己拉一下那個滑桿，看焦距和視野是怎麼變的。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給大家一分鐘。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圈規格表上「可設定」那幾個字，再現場切一次 OS1 的點數模式給他們看。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再看一行很容易讀漏的字。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的規格表上，水平解析度那一行寫的是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 (configurable)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。最後那個字很重要，configurable，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可以設定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轉速那一行也一樣：10 or 20 Hz，可以設定。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剛剛那張表我算給各位看，四十公尺的行人身上 OS1 有九個點。那是在 1024 點一圈的模式下算的。如果你把它切到 2048 點一圈，左右的點會加倍，九個點就變成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所以同一顆硬體，同一個人站在同一個位置，因為設定不同，結果可以差一倍。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這件事在工程上很重要，因為它告訴你：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買之前要問清楚，廠商標的那個漂亮數字，是在哪一個模式下量的。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第三節上機的時候，我會請各位親自切一次。各位會看到工具上的判定，從「不夠用」變成「夠用」——只是換了一個模式，什麼錢都沒多花。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當然天下沒有白吃的午餐。點數加倍，資料量也加倍，車上那台電腦要跟得上才行。第四週講過的那句話還是成立：沒有一個規格是免費的。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同一顆光達兩個測距數字，差別在反射率。這一條第三節會直接用到。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170 公尺與 90 公尺兩個數字，中間圈出 80% 與 10% 這兩個反射率。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的規格表上，測距寫了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第一個：170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第二個：90 公尺，後面跟著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reflectivity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反射率的意思是：打出去的光，有幾成彈回來。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百分之八十，是很亮、很會反光的東西——白色的車、反光背心、路上的標誌牌。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百分之十，是深色、吃光的東西——黑色的車、深色的雨衣、柏油路面。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現在請大家想一件事：廠商在網站上、在型錄封面上，會寫哪一個數字？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當然是一百七十。哪一家廣告會寫自己比較差的那個數字？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你要用來設計的是九十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。因為路上一定會有黑色的車、穿深色雨衣的機車騎士。你不能假設全世界的東西都是白的。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所以以後看到規格表上寫「測距 200 公尺」，第一句話要問：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那是對什麼顏色量的？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如果他沒寫，那就是一個警訊。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好的規格表會把兩個都寫出來，像 OS1 這樣。這其實是一家廠商誠不誠實的指標。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右邊工具的第三個小工具就在講這件事，各位可以自己看一下。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 再做一次。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我在教室裡走動，卡住的舉手。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我在教室裡走動看大家的畫面。如果有人做得快，先做相機那一顆 AR0233AT。我先警告各位：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331867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487792"/>
            <a:ext cx="5528250" cy="474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2782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28680" y="233228"/>
            <a:ext cx="6486641" cy="6705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17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1750" dirty="0"/>
          </a:p>
        </p:txBody>
      </p:sp>
      <p:sp>
        <p:nvSpPr>
          <p:cNvPr id="3" name="Shape 1"/>
          <p:cNvSpPr/>
          <p:nvPr/>
        </p:nvSpPr>
        <p:spPr>
          <a:xfrm>
            <a:off x="6000519" y="903757"/>
            <a:ext cx="1916839" cy="2091759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02556" y="991217"/>
            <a:ext cx="1712765" cy="171276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029672" y="2733135"/>
            <a:ext cx="1858532" cy="24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4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84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7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840" dirty="0"/>
          </a:p>
        </p:txBody>
      </p:sp>
      <p:sp>
        <p:nvSpPr>
          <p:cNvPr id="6" name="Shape 3"/>
          <p:cNvSpPr/>
          <p:nvPr/>
        </p:nvSpPr>
        <p:spPr>
          <a:xfrm>
            <a:off x="1328680" y="903757"/>
            <a:ext cx="4526072" cy="670529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445293" y="976640"/>
            <a:ext cx="4292844" cy="524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357833" y="1720053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357833" y="1727341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10" name="Text 7"/>
          <p:cNvSpPr txBox="1"/>
          <p:nvPr/>
        </p:nvSpPr>
        <p:spPr>
          <a:xfrm>
            <a:off x="1678521" y="1690900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1357833" y="2113624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357833" y="2120913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0"/>
          <p:cNvSpPr txBox="1"/>
          <p:nvPr/>
        </p:nvSpPr>
        <p:spPr>
          <a:xfrm>
            <a:off x="1678521" y="2084471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1357833" y="2507196"/>
            <a:ext cx="233228" cy="23322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357833" y="2514484"/>
            <a:ext cx="233228" cy="218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6" name="Text 13"/>
          <p:cNvSpPr txBox="1"/>
          <p:nvPr/>
        </p:nvSpPr>
        <p:spPr>
          <a:xfrm>
            <a:off x="1678521" y="2478043"/>
            <a:ext cx="4117924" cy="364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92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84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1328680" y="3119418"/>
            <a:ext cx="6486641" cy="481032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74447" y="3170437"/>
            <a:ext cx="6195106" cy="393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96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96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15280" y="102037"/>
            <a:ext cx="655952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720" dirty="0"/>
          </a:p>
        </p:txBody>
      </p:sp>
      <p:sp>
        <p:nvSpPr>
          <p:cNvPr id="22" name="Text 17"/>
          <p:cNvSpPr txBox="1"/>
          <p:nvPr/>
        </p:nvSpPr>
        <p:spPr>
          <a:xfrm>
            <a:off x="1693098" y="102037"/>
            <a:ext cx="1603439" cy="204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01305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45698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531991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617290" y="1321277"/>
            <a:ext cx="1" cy="249397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617290" y="1336318"/>
            <a:ext cx="85299" cy="234356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617290" y="1379625"/>
            <a:ext cx="160309" cy="191050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617290" y="1445976"/>
            <a:ext cx="215984" cy="124699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94428" y="1547813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032951" y="1304651"/>
            <a:ext cx="332529" cy="332529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365480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43205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2348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9215" y="1637180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074517" y="1614905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983231" y="1554048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949819" y="1470916"/>
            <a:ext cx="83132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983231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074517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199215" y="1221518"/>
            <a:ext cx="1" cy="83132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82348" y="1254932"/>
            <a:ext cx="41566" cy="71995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2343205" y="1346217"/>
            <a:ext cx="71995" cy="4156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76355" y="1448054"/>
            <a:ext cx="45723" cy="4572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1866686" y="1430081"/>
            <a:ext cx="83132" cy="81669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749821" y="629347"/>
            <a:ext cx="5078684" cy="418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440" dirty="0"/>
          </a:p>
        </p:txBody>
      </p:sp>
      <p:sp>
        <p:nvSpPr>
          <p:cNvPr id="28" name="Shape 26"/>
          <p:cNvSpPr/>
          <p:nvPr/>
        </p:nvSpPr>
        <p:spPr>
          <a:xfrm>
            <a:off x="2749821" y="112057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93729" y="114985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30" name="Text 28"/>
          <p:cNvSpPr txBox="1"/>
          <p:nvPr/>
        </p:nvSpPr>
        <p:spPr>
          <a:xfrm>
            <a:off x="3715795" y="1120579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64 / 128 channels — đây chính là thanh «số tia» của tuần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32 / 64 / 128 channels——這就是上週那條「射線數」滑桿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749821" y="1535929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793729" y="1565201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33" name="Text 31"/>
          <p:cNvSpPr txBox="1"/>
          <p:nvPr/>
        </p:nvSpPr>
        <p:spPr>
          <a:xfrm>
            <a:off x="3715795" y="1535929"/>
            <a:ext cx="4112709" cy="5083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42.4°, Horizontal 360° — thanh «góc quét», nhưng nó quay cả vòng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垂直 42.4°、水平 360°——就是「張角」，只是它轉一整圈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2749821" y="209549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93729" y="212477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720" dirty="0"/>
          </a:p>
        </p:txBody>
      </p:sp>
      <p:sp>
        <p:nvSpPr>
          <p:cNvPr id="36" name="Text 34"/>
          <p:cNvSpPr txBox="1"/>
          <p:nvPr/>
        </p:nvSpPr>
        <p:spPr>
          <a:xfrm>
            <a:off x="3715795" y="209549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 với vật phản xạ 10% — thanh «chiều dài tia»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 10% 反射率的目標 90 公尺——就是「射線長度」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960" dirty="0"/>
          </a:p>
        </p:txBody>
      </p:sp>
      <p:pic>
        <p:nvPicPr>
          <p:cNvPr id="40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720" dirty="0"/>
          </a:p>
        </p:txBody>
      </p:sp>
      <p:sp>
        <p:nvSpPr>
          <p:cNvPr id="42" name="Text 38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91300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15495" y="292720"/>
            <a:ext cx="6513009" cy="219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</a:t>
            </a:r>
            <a:endParaRPr lang="en-US" sz="1040" dirty="0"/>
          </a:p>
        </p:txBody>
      </p:sp>
      <p:sp>
        <p:nvSpPr>
          <p:cNvPr id="3" name="Shape 1"/>
          <p:cNvSpPr/>
          <p:nvPr/>
        </p:nvSpPr>
        <p:spPr>
          <a:xfrm>
            <a:off x="1315495" y="702527"/>
            <a:ext cx="1185514" cy="1536777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649463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772946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908252" y="73589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908252" y="756118"/>
            <a:ext cx="135307" cy="442568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908252" y="815016"/>
            <a:ext cx="258789" cy="38367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79156" y="116959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455576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617009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908252" y="1389247"/>
            <a:ext cx="1" cy="462790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908252" y="1492381"/>
            <a:ext cx="291243" cy="359655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908252" y="1755817"/>
            <a:ext cx="452676" cy="96219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9156" y="1822940"/>
            <a:ext cx="58193" cy="5819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749821" y="629347"/>
            <a:ext cx="5078684" cy="630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4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440" dirty="0"/>
          </a:p>
        </p:txBody>
      </p:sp>
      <p:sp>
        <p:nvSpPr>
          <p:cNvPr id="17" name="Shape 15"/>
          <p:cNvSpPr/>
          <p:nvPr/>
        </p:nvSpPr>
        <p:spPr>
          <a:xfrm>
            <a:off x="2749821" y="133274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93729" y="136201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3715795" y="133274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channels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128 channels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2749821" y="1748097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93729" y="1777369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720" dirty="0"/>
          </a:p>
        </p:txBody>
      </p:sp>
      <p:sp>
        <p:nvSpPr>
          <p:cNvPr id="22" name="Text 20"/>
          <p:cNvSpPr txBox="1"/>
          <p:nvPr/>
        </p:nvSpPr>
        <p:spPr>
          <a:xfrm>
            <a:off x="3715795" y="1748097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 ngang × 25.4° dọc — không quay, chỉ nhìn phía trước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 120°、垂直 25.4°——它不轉，只看前面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49821" y="2163448"/>
            <a:ext cx="848887" cy="320216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3729" y="2192720"/>
            <a:ext cx="761071" cy="276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2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góc</a:t>
            </a:r>
            <a:endParaRPr lang="en-US" sz="72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720" dirty="0"/>
          </a:p>
        </p:txBody>
      </p:sp>
      <p:sp>
        <p:nvSpPr>
          <p:cNvPr id="25" name="Text 23"/>
          <p:cNvSpPr txBox="1"/>
          <p:nvPr/>
        </p:nvSpPr>
        <p:spPr>
          <a:xfrm>
            <a:off x="3715795" y="2163448"/>
            <a:ext cx="4112709" cy="3641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88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0.1° ngang × 0.2° dọc — hãng viết thẳng ra góc, không phải chia ngược</a:t>
            </a:r>
            <a:endParaRPr lang="en-US" sz="8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8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左右 0.1°、上下 0.2°——這一顆直接把角度寫出來，不用自己除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1315495" y="3146735"/>
            <a:ext cx="6513009" cy="453715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61855" y="3197961"/>
            <a:ext cx="6220290" cy="36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960" dirty="0"/>
          </a:p>
        </p:txBody>
      </p:sp>
      <p:pic>
        <p:nvPicPr>
          <p:cNvPr id="29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000822" y="102452"/>
            <a:ext cx="658619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720" dirty="0"/>
          </a:p>
        </p:txBody>
      </p:sp>
      <p:sp>
        <p:nvSpPr>
          <p:cNvPr id="31" name="Text 27"/>
          <p:cNvSpPr txBox="1"/>
          <p:nvPr/>
        </p:nvSpPr>
        <p:spPr>
          <a:xfrm>
            <a:off x="1681395" y="102452"/>
            <a:ext cx="1609957" cy="20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902981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06573" y="234817"/>
            <a:ext cx="6530855" cy="67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17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8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177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06573" y="909917"/>
          <a:ext cx="6530855" cy="733804"/>
        </p:xfrm>
        <a:graphic>
          <a:graphicData uri="http://schemas.openxmlformats.org/drawingml/2006/table">
            <a:tbl>
              <a:tblPr/>
              <a:tblGrid>
                <a:gridCol w="1632714"/>
                <a:gridCol w="1632714"/>
                <a:gridCol w="1632714"/>
                <a:gridCol w="1632714"/>
              </a:tblGrid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 dày hơn 3 lần theo chiều ngang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 左右密了三倍多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81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96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9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306573" y="3233548"/>
            <a:ext cx="6530855" cy="366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9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96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91037" y="102733"/>
            <a:ext cx="660423" cy="205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720" dirty="0"/>
          </a:p>
        </p:txBody>
      </p:sp>
      <p:sp>
        <p:nvSpPr>
          <p:cNvPr id="8" name="Text 3"/>
          <p:cNvSpPr txBox="1"/>
          <p:nvPr/>
        </p:nvSpPr>
        <p:spPr>
          <a:xfrm>
            <a:off x="1673475" y="102733"/>
            <a:ext cx="1614369" cy="2054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28485" y="174934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05518" y="162586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82551" y="1502390"/>
            <a:ext cx="737802" cy="599736"/>
          </a:xfrm>
          <a:prstGeom prst="roundRect">
            <a:avLst>
              <a:gd name="adj" fmla="val 6052"/>
            </a:avLst>
          </a:prstGeom>
          <a:solidFill>
            <a:srgbClr val="C8D3DE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59584" y="1378914"/>
            <a:ext cx="737802" cy="599736"/>
          </a:xfrm>
          <a:prstGeom prst="roundRect">
            <a:avLst>
              <a:gd name="adj" fmla="val 6052"/>
            </a:avLst>
          </a:prstGeom>
          <a:solidFill>
            <a:srgbClr val="8A5A00"/>
          </a:solidFill>
          <a:ln w="1524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43383" y="2296158"/>
            <a:ext cx="1756671" cy="3175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10 000</a:t>
            </a:r>
            <a:endParaRPr lang="en-US" sz="870" dirty="0"/>
          </a:p>
        </p:txBody>
      </p:sp>
      <p:sp>
        <p:nvSpPr>
          <p:cNvPr id="9" name="Text 7"/>
          <p:cNvSpPr txBox="1"/>
          <p:nvPr/>
        </p:nvSpPr>
        <p:spPr>
          <a:xfrm>
            <a:off x="3664629" y="1127729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830" dirty="0"/>
          </a:p>
        </p:txBody>
      </p:sp>
      <p:sp>
        <p:nvSpPr>
          <p:cNvPr id="10" name="Text 8"/>
          <p:cNvSpPr txBox="1"/>
          <p:nvPr/>
        </p:nvSpPr>
        <p:spPr>
          <a:xfrm>
            <a:off x="3664629" y="1998623"/>
            <a:ext cx="4137614" cy="6918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quay 10 hoặc 20 vòng mỗi giây. Ở 10 Hz, mỗi khung cách nhau 100 ms — chạy 40 km/h thì trong khoảng đó xe đã đi 1,1 m.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每秒轉 10 圈或 20 圈。10 Hz 的話，每一張畫面隔 100 毫秒——時速 40 的時候，這段時間車子已經走了 1.1 公尺。</a:t>
            </a:r>
            <a:endParaRPr lang="en-US" sz="990" dirty="0"/>
          </a:p>
        </p:txBody>
      </p:sp>
      <p:sp>
        <p:nvSpPr>
          <p:cNvPr id="11" name="Shape 9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990" dirty="0"/>
          </a:p>
        </p:txBody>
      </p:sp>
      <p:pic>
        <p:nvPicPr>
          <p:cNvPr id="14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710" dirty="0"/>
          </a:p>
        </p:txBody>
      </p:sp>
      <p:sp>
        <p:nvSpPr>
          <p:cNvPr id="16" name="Text 12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1359354"/>
            <a:ext cx="3673929" cy="249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08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1645920"/>
            <a:ext cx="5878286" cy="955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33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7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330" dirty="0"/>
          </a:p>
        </p:txBody>
      </p:sp>
      <p:sp>
        <p:nvSpPr>
          <p:cNvPr id="6" name="Text 4"/>
          <p:cNvSpPr txBox="1"/>
          <p:nvPr/>
        </p:nvSpPr>
        <p:spPr>
          <a:xfrm>
            <a:off x="1302204" y="2689316"/>
            <a:ext cx="587828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08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6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080" dirty="0"/>
          </a:p>
        </p:txBody>
      </p:sp>
      <p:sp>
        <p:nvSpPr>
          <p:cNvPr id="8" name="Text 5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720" dirty="0"/>
          </a:p>
        </p:txBody>
      </p:sp>
      <p:sp>
        <p:nvSpPr>
          <p:cNvPr id="9" name="Text 6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87057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277730" y="296114"/>
            <a:ext cx="6588540" cy="2220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277730" y="547811"/>
            <a:ext cx="6588540" cy="453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3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3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380" dirty="0"/>
          </a:p>
        </p:txBody>
      </p:sp>
      <p:sp>
        <p:nvSpPr>
          <p:cNvPr id="4" name="Shape 2"/>
          <p:cNvSpPr/>
          <p:nvPr/>
        </p:nvSpPr>
        <p:spPr>
          <a:xfrm>
            <a:off x="1277730" y="1060956"/>
            <a:ext cx="2679816" cy="1962071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51758" y="1134985"/>
            <a:ext cx="2531758" cy="281261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10981" y="1157193"/>
            <a:ext cx="2413313" cy="251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77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69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77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1758" y="1460662"/>
            <a:ext cx="2531758" cy="125600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51758" y="2731477"/>
            <a:ext cx="2531758" cy="202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570" dirty="0"/>
          </a:p>
        </p:txBody>
      </p:sp>
      <p:sp>
        <p:nvSpPr>
          <p:cNvPr id="9" name="Shape 6"/>
          <p:cNvSpPr/>
          <p:nvPr/>
        </p:nvSpPr>
        <p:spPr>
          <a:xfrm>
            <a:off x="4179631" y="1060956"/>
            <a:ext cx="3686639" cy="1962071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53659" y="1134985"/>
            <a:ext cx="3538582" cy="281261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12882" y="1157193"/>
            <a:ext cx="3420137" cy="251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77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69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770" dirty="0"/>
          </a:p>
        </p:txBody>
      </p:sp>
      <p:pic>
        <p:nvPicPr>
          <p:cNvPr id="12" name="Image 1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659" y="1460662"/>
            <a:ext cx="3538582" cy="125600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253659" y="2731477"/>
            <a:ext cx="3538582" cy="202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570" dirty="0"/>
          </a:p>
        </p:txBody>
      </p:sp>
      <p:sp>
        <p:nvSpPr>
          <p:cNvPr id="14" name="Shape 10"/>
          <p:cNvSpPr/>
          <p:nvPr/>
        </p:nvSpPr>
        <p:spPr>
          <a:xfrm>
            <a:off x="1277730" y="3141473"/>
            <a:ext cx="6588540" cy="458977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425787" y="3193293"/>
            <a:ext cx="6292426" cy="370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7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9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9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970" dirty="0"/>
          </a:p>
        </p:txBody>
      </p:sp>
      <p:pic>
        <p:nvPicPr>
          <p:cNvPr id="17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59407" y="103640"/>
            <a:ext cx="666257" cy="20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730" dirty="0"/>
          </a:p>
        </p:txBody>
      </p:sp>
      <p:sp>
        <p:nvSpPr>
          <p:cNvPr id="19" name="Text 13"/>
          <p:cNvSpPr txBox="1"/>
          <p:nvPr/>
        </p:nvSpPr>
        <p:spPr>
          <a:xfrm>
            <a:off x="1647872" y="103640"/>
            <a:ext cx="1628628" cy="20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986350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2146373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321719" y="920292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21719" y="946498"/>
            <a:ext cx="175346" cy="573531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321719" y="1022825"/>
            <a:ext cx="335369" cy="497204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72532" y="1470842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Shape 8"/>
          <p:cNvSpPr/>
          <p:nvPr/>
        </p:nvSpPr>
        <p:spPr>
          <a:xfrm flipH="1" flipV="1">
            <a:off x="1735088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1944293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321719" y="1766979"/>
            <a:ext cx="1" cy="599736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321719" y="1900633"/>
            <a:ext cx="377426" cy="46608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321719" y="2242023"/>
            <a:ext cx="586630" cy="124693"/>
          </a:xfrm>
          <a:prstGeom prst="line">
            <a:avLst/>
          </a:prstGeom>
          <a:noFill/>
          <a:ln w="15240">
            <a:solidFill>
              <a:srgbClr val="1F4E7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72532" y="2317528"/>
            <a:ext cx="98373" cy="98373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không nằm ở cảm biến — nó nằm ở ống kính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1830" dirty="0"/>
          </a:p>
        </p:txBody>
      </p:sp>
      <p:sp>
        <p:nvSpPr>
          <p:cNvPr id="17" name="Text 15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990" dirty="0"/>
          </a:p>
        </p:txBody>
      </p:sp>
      <p:pic>
        <p:nvPicPr>
          <p:cNvPr id="21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710" dirty="0"/>
          </a:p>
        </p:txBody>
      </p:sp>
      <p:sp>
        <p:nvSpPr>
          <p:cNvPr id="23" name="Text 19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89317" y="1445944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5" name="Shape 3"/>
          <p:cNvSpPr/>
          <p:nvPr/>
        </p:nvSpPr>
        <p:spPr>
          <a:xfrm>
            <a:off x="1889360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6" name="Shape 4"/>
          <p:cNvSpPr/>
          <p:nvPr/>
        </p:nvSpPr>
        <p:spPr>
          <a:xfrm>
            <a:off x="2091728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2294097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8" name="Shape 6"/>
          <p:cNvSpPr/>
          <p:nvPr/>
        </p:nvSpPr>
        <p:spPr>
          <a:xfrm>
            <a:off x="2496465" y="1431832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9" name="Shape 7"/>
          <p:cNvSpPr/>
          <p:nvPr/>
        </p:nvSpPr>
        <p:spPr>
          <a:xfrm>
            <a:off x="1689317" y="1834008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0" name="Shape 8"/>
          <p:cNvSpPr/>
          <p:nvPr/>
        </p:nvSpPr>
        <p:spPr>
          <a:xfrm>
            <a:off x="1889360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1" name="Shape 9"/>
          <p:cNvSpPr/>
          <p:nvPr/>
        </p:nvSpPr>
        <p:spPr>
          <a:xfrm>
            <a:off x="2091728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2" name="Shape 10"/>
          <p:cNvSpPr/>
          <p:nvPr/>
        </p:nvSpPr>
        <p:spPr>
          <a:xfrm>
            <a:off x="2294097" y="1819897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3" name="Shape 11"/>
          <p:cNvSpPr/>
          <p:nvPr/>
        </p:nvSpPr>
        <p:spPr>
          <a:xfrm>
            <a:off x="2496465" y="1819897"/>
            <a:ext cx="105836" cy="10583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25271" y="1872815"/>
            <a:ext cx="227665" cy="1"/>
          </a:xfrm>
          <a:prstGeom prst="line">
            <a:avLst/>
          </a:prstGeom>
          <a:noFill/>
          <a:ln w="20320">
            <a:solidFill>
              <a:srgbClr val="D9463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689317" y="2222073"/>
            <a:ext cx="1264804" cy="77613"/>
          </a:xfrm>
          <a:prstGeom prst="roundRect">
            <a:avLst>
              <a:gd name="adj" fmla="val 50000"/>
            </a:avLst>
          </a:prstGeom>
          <a:solidFill>
            <a:srgbClr val="D5DEE6"/>
          </a:solidFill>
          <a:ln/>
        </p:spPr>
      </p:sp>
      <p:sp>
        <p:nvSpPr>
          <p:cNvPr id="16" name="Shape 14"/>
          <p:cNvSpPr/>
          <p:nvPr/>
        </p:nvSpPr>
        <p:spPr>
          <a:xfrm>
            <a:off x="1889360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7" name="Shape 15"/>
          <p:cNvSpPr/>
          <p:nvPr/>
        </p:nvSpPr>
        <p:spPr>
          <a:xfrm>
            <a:off x="2091728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8" name="Shape 16"/>
          <p:cNvSpPr/>
          <p:nvPr/>
        </p:nvSpPr>
        <p:spPr>
          <a:xfrm>
            <a:off x="2294097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19" name="Shape 17"/>
          <p:cNvSpPr/>
          <p:nvPr/>
        </p:nvSpPr>
        <p:spPr>
          <a:xfrm>
            <a:off x="2496465" y="2207961"/>
            <a:ext cx="105836" cy="105836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830" dirty="0"/>
          </a:p>
        </p:txBody>
      </p:sp>
      <p:sp>
        <p:nvSpPr>
          <p:cNvPr id="21" name="Text 19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OS1: mỗi vòng 512 / 1024 / 2048 điểm, quay 10 hoặc 20 Hz. Cùng một con lidar, chọn chế độ khác thì số điểm trên người ở 40 m đổi hẳn.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的每圈點數可以選 512 / 1024 / 2048，轉速可以選 10 或 20 Hz。同一顆光達，換一個模式，四十公尺行人身上的點數就整個不一樣。</a:t>
            </a:r>
            <a:endParaRPr lang="en-US" sz="990" dirty="0"/>
          </a:p>
        </p:txBody>
      </p:sp>
      <p:sp>
        <p:nvSpPr>
          <p:cNvPr id="22" name="Shape 20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990" dirty="0"/>
          </a:p>
        </p:txBody>
      </p:sp>
      <p:pic>
        <p:nvPicPr>
          <p:cNvPr id="25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710" dirty="0"/>
          </a:p>
        </p:txBody>
      </p:sp>
      <p:sp>
        <p:nvSpPr>
          <p:cNvPr id="27" name="Text 23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310693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9437" y="272724"/>
            <a:ext cx="7585126" cy="78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con lidar, hai con số</a:t>
            </a:r>
            <a:endParaRPr lang="en-US" sz="20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2050" dirty="0"/>
          </a:p>
        </p:txBody>
      </p:sp>
      <p:sp>
        <p:nvSpPr>
          <p:cNvPr id="3" name="Shape 1"/>
          <p:cNvSpPr/>
          <p:nvPr/>
        </p:nvSpPr>
        <p:spPr>
          <a:xfrm>
            <a:off x="779437" y="1056804"/>
            <a:ext cx="7585126" cy="664764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5799" y="1124985"/>
            <a:ext cx="7312402" cy="52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7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nguyên văn từ datasheet OS1. Chú ý phần chữ nhỏ phía sau.</a:t>
            </a:r>
            <a:endParaRPr lang="en-US" sz="107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照抄 OS1 規格表上的兩行。請注意後面那一串小字。</a:t>
            </a:r>
            <a:endParaRPr lang="en-US" sz="1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9437" y="1823839"/>
          <a:ext cx="7585126" cy="852261"/>
        </p:xfrm>
        <a:graphic>
          <a:graphicData uri="http://schemas.openxmlformats.org/drawingml/2006/table">
            <a:tbl>
              <a:tblPr/>
              <a:tblGrid>
                <a:gridCol w="1896281"/>
                <a:gridCol w="1896281"/>
                <a:gridCol w="1896281"/>
                <a:gridCol w="1896281"/>
              </a:tblGrid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số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數字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gì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量的是什麼東西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Ngoài đường là ai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路上是誰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(80% reflectivity)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Range（80% 反射率）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 m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sáng, phản xạ mạnh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亮色、反射強的東西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trắng, áo phản quang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白色的車、反光背心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79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 (10% reflectivity)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Range（10% 反射率）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tối, phản xạ yếu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深色、反射弱的東西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áo mưa sẫm màu</a:t>
                      </a:r>
                      <a:endParaRPr lang="en-US" sz="1120" dirty="0"/>
                    </a:p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黑色的車、深色雨衣</a:t>
                      </a:r>
                      <a:endParaRPr lang="en-US" sz="11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9437" y="3174319"/>
            <a:ext cx="7585126" cy="426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1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120" dirty="0"/>
          </a:p>
        </p:txBody>
      </p:sp>
      <p:pic>
        <p:nvPicPr>
          <p:cNvPr id="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12965" y="119317"/>
            <a:ext cx="767035" cy="238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840" dirty="0"/>
          </a:p>
        </p:txBody>
      </p:sp>
      <p:sp>
        <p:nvSpPr>
          <p:cNvPr id="10" name="Text 5"/>
          <p:cNvSpPr txBox="1"/>
          <p:nvPr/>
        </p:nvSpPr>
        <p:spPr>
          <a:xfrm>
            <a:off x="1205568" y="119317"/>
            <a:ext cx="1874975" cy="238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 làm lại một lượt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 再做一次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25484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396093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2771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09831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2993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0054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2026-10-02T03:41:03Z</dcterms:created>
  <dcterms:modified xsi:type="dcterms:W3CDTF">2026-10-02T03:41:03Z</dcterms:modified>
</cp:coreProperties>
</file>