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請大家在工具上選第一個型號，Ouster OS1-64。這是一顆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的光達，車頂上會轉的那一種，第三週影片裡看過。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現在看規格表，我們找三行。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第一行，Vertical Resolution，垂直解析度。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 32、64、128 channels。Channel 中文叫通道，也叫線束。這就是上禮拜那條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的滑桿。你買的時候要選要幾線，線愈多愈貴。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第二行，Field of View，視野。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上面寫垂直 42.4 度、水平 360 度。上禮拜我們拉的張角，就是這一行。不過請注意，它的水平是 360 度，因為它會轉一整圈，所以「張角」對這一顆來說只剩垂直方向要選。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第三行，Range，測距。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 90 公尺。這就是射線長度那條滑桿。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三個滑桿，三行，都在這裡了。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所以上禮拜各位在模擬器上拉來拉去的那三個東西，不是我編出來的遊戲設定，是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。買 64 線和買 128 線，價錢差很多。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還有一件事現在先記著，等一下第九張我們會回來算：這一行測距寫 90 公尺，但它後面跟了一串英文——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。那串字很重要，先把它圈起來。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一樣找那三行。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線束數是 128。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視野是水平 120 度、垂直 25.4 度。它不轉，所以只看得到前面那一塊。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第三行不一樣了。這一顆的規格表上，直接寫了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Angular Resolution，角解析度：水平 0.1 度、垂直 0.2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這一行請大家特別注意，因為它就是第四週我們講了一整節的那件事——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相鄰兩條射線之間差幾度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。上禮拜我要各位自己去感覺縫有多寬，這一顆的廠商直接把數字寫給你了。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好，現在把兩顆放在一起想。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把點灑在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，AT128 把同樣多的點集中在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 120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。第四週我們講過什麼？同樣那些射線，攤得愈廣就愈稀，集中起來就愈密。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所以這兩顆不是誰比較好，是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。要看路口四面八方，你要 360 度那一顆；要在高速公路上看遠方，你要把點集中在前面那一顆。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 直接寫 0.1 度。所以左右方向，AT128 密了三倍多。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 有一百二十一個點。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車用的影像感測器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，就是相機裡面那塊晶片。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先看有的東西。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 2048 乘 1280 個像素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，差不多兩百六十萬畫素。第四週我們在模擬器上拉的那條「水平解析度」，就是這個 2048。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一個像素 3 微米見方。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這個數字等一下有用，先記著。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更新率是 1080p 每秒 60 張。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比光達的 10 Hz 快了六倍。這是相機的強項，第三週講過，它便宜又快。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請大家在表上找找看有沒有「視野」那一行。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找三十秒，找不到的舉手。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沒有，表上真的沒有。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再找找看有沒有「測距」那一行。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這兩行，就是我們前兩週天天在拉的滑桿，可是這張規格表上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有沒有人猜得到為什麼？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下一頁我把答案講清楚。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答案是這樣。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那視野要怎麼算？右邊工具裡的第一個小工具就在做這件事，現在請大家打開來玩一下。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再看一行很容易讀漏的字。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的規格表上，水平解析度那一行寫的是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 (configurable)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。最後那個字很重要，configurable，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可以設定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轉速那一行也一樣：10 or 20 Hz，可以設定。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剛剛那張表我算給各位看，四十公尺的行人身上 OS1 有九個點。那是在 1024 點一圈的模式下算的。如果你把它切到 2048 點一圈，左右的點會加倍，九個點就變成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所以同一顆硬體，同一個人站在同一個位置，因為設定不同，結果可以差一倍。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這件事在工程上很重要，因為它告訴你：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買之前要問清楚，廠商標的那個漂亮數字，是在哪一個模式下量的。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第三節上機的時候，我會請各位親自切一次。各位會看到工具上的判定，從「不夠用」變成「夠用」——只是換了一個模式，什麼錢都沒多花。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當然天下沒有白吃的午餐。點數加倍，資料量也加倍，車上那台電腦要跟得上才行。第四週講過的那句話還是成立：沒有一個規格是免費的。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的規格表上，測距寫了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第一個：170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第二個：90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反射率的意思是：打出去的光，有幾成彈回來。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百分之八十，是很亮、很會反光的東西——白色的車、反光背心、路上的標誌牌。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百分之十，是深色、吃光的東西——黑色的車、深色的雨衣、柏油路面。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現在請大家想一件事：廠商在網站上、在型錄封面上，會寫哪一個數字？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當然是一百七十。哪一家廣告會寫自己比較差的那個數字？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你要用來設計的是九十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。因為路上一定會有黑色的車、穿深色雨衣的機車騎士。你不能假設全世界的東西都是白的。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所以以後看到規格表上寫「測距 200 公尺」，第一句話要問：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那是對什麼顏色量的？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如果他沒寫，那就是一個警訊。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好的規格表會把兩個都寫出來，像 OS1 這樣。這其實是一家廠商誠不誠實的指標。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右邊工具的第三個小工具就在講這件事，各位可以自己看一下。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 再做一次。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我在教室裡走動，卡住的舉手。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我在教室裡走動看大家的畫面。如果有人做得快，先做相機那一顆 AR0233AT。我先警告各位：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883806"/>
            <a:ext cx="4936051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1143598"/>
            <a:ext cx="5325739" cy="62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4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241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2410" dirty="0"/>
          </a:p>
        </p:txBody>
      </p:sp>
      <p:sp>
        <p:nvSpPr>
          <p:cNvPr id="6" name="Shape 4"/>
          <p:cNvSpPr/>
          <p:nvPr/>
        </p:nvSpPr>
        <p:spPr>
          <a:xfrm>
            <a:off x="1681812" y="2163355"/>
            <a:ext cx="974221" cy="29227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81812" y="2306241"/>
            <a:ext cx="5065947" cy="4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0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1681812" y="2793278"/>
            <a:ext cx="4221622" cy="272782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772740" y="2825752"/>
            <a:ext cx="4039768" cy="207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1681812" y="3131008"/>
            <a:ext cx="4936051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1577895" y="247315"/>
            <a:ext cx="1571743" cy="532574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1812" y="364222"/>
            <a:ext cx="1363909" cy="301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234326"/>
            <a:ext cx="5780375" cy="597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15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1560" dirty="0"/>
          </a:p>
        </p:txBody>
      </p:sp>
      <p:sp>
        <p:nvSpPr>
          <p:cNvPr id="3" name="Shape 1"/>
          <p:cNvSpPr/>
          <p:nvPr/>
        </p:nvSpPr>
        <p:spPr>
          <a:xfrm>
            <a:off x="5844982" y="831848"/>
            <a:ext cx="1708133" cy="1864009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5909" y="909785"/>
            <a:ext cx="1526279" cy="152627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870961" y="2462043"/>
            <a:ext cx="1656175" cy="220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7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681812" y="831848"/>
            <a:ext cx="4033273" cy="597522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785729" y="896796"/>
            <a:ext cx="3825439" cy="467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890" dirty="0"/>
          </a:p>
          <a:p>
            <a:pPr algn="ctr" indent="0" marL="0"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890" dirty="0"/>
          </a:p>
        </p:txBody>
      </p:sp>
      <p:sp>
        <p:nvSpPr>
          <p:cNvPr id="8" name="Shape 5"/>
          <p:cNvSpPr/>
          <p:nvPr/>
        </p:nvSpPr>
        <p:spPr>
          <a:xfrm>
            <a:off x="1707792" y="1559266"/>
            <a:ext cx="207834" cy="20783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707792" y="1565760"/>
            <a:ext cx="207834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80" dirty="0"/>
          </a:p>
        </p:txBody>
      </p:sp>
      <p:sp>
        <p:nvSpPr>
          <p:cNvPr id="10" name="Text 7"/>
          <p:cNvSpPr txBox="1"/>
          <p:nvPr/>
        </p:nvSpPr>
        <p:spPr>
          <a:xfrm>
            <a:off x="1993563" y="1533286"/>
            <a:ext cx="3669564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8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820" dirty="0"/>
          </a:p>
        </p:txBody>
      </p:sp>
      <p:sp>
        <p:nvSpPr>
          <p:cNvPr id="11" name="Shape 8"/>
          <p:cNvSpPr/>
          <p:nvPr/>
        </p:nvSpPr>
        <p:spPr>
          <a:xfrm>
            <a:off x="1707792" y="1909985"/>
            <a:ext cx="207834" cy="20783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707792" y="1916480"/>
            <a:ext cx="207834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80" dirty="0"/>
          </a:p>
        </p:txBody>
      </p:sp>
      <p:sp>
        <p:nvSpPr>
          <p:cNvPr id="13" name="Text 10"/>
          <p:cNvSpPr txBox="1"/>
          <p:nvPr/>
        </p:nvSpPr>
        <p:spPr>
          <a:xfrm>
            <a:off x="1993563" y="1884006"/>
            <a:ext cx="3669564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8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820" dirty="0"/>
          </a:p>
        </p:txBody>
      </p:sp>
      <p:sp>
        <p:nvSpPr>
          <p:cNvPr id="14" name="Shape 11"/>
          <p:cNvSpPr/>
          <p:nvPr/>
        </p:nvSpPr>
        <p:spPr>
          <a:xfrm>
            <a:off x="1707792" y="2260704"/>
            <a:ext cx="207834" cy="20783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707792" y="2267199"/>
            <a:ext cx="207834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80" dirty="0"/>
          </a:p>
        </p:txBody>
      </p:sp>
      <p:sp>
        <p:nvSpPr>
          <p:cNvPr id="16" name="Text 13"/>
          <p:cNvSpPr txBox="1"/>
          <p:nvPr/>
        </p:nvSpPr>
        <p:spPr>
          <a:xfrm>
            <a:off x="1993563" y="2234725"/>
            <a:ext cx="3669564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8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820" dirty="0"/>
          </a:p>
        </p:txBody>
      </p:sp>
      <p:sp>
        <p:nvSpPr>
          <p:cNvPr id="17" name="Shape 14"/>
          <p:cNvSpPr/>
          <p:nvPr/>
        </p:nvSpPr>
        <p:spPr>
          <a:xfrm>
            <a:off x="1681812" y="2806268"/>
            <a:ext cx="5780375" cy="428657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811708" y="2851732"/>
            <a:ext cx="5520583" cy="350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8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7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85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640" dirty="0"/>
          </a:p>
        </p:txBody>
      </p:sp>
      <p:sp>
        <p:nvSpPr>
          <p:cNvPr id="22" name="Text 17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6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1228031"/>
            <a:ext cx="3247402" cy="220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1481328"/>
            <a:ext cx="5195843" cy="844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0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0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060" dirty="0"/>
          </a:p>
        </p:txBody>
      </p:sp>
      <p:sp>
        <p:nvSpPr>
          <p:cNvPr id="6" name="Text 4"/>
          <p:cNvSpPr txBox="1"/>
          <p:nvPr/>
        </p:nvSpPr>
        <p:spPr>
          <a:xfrm>
            <a:off x="1681812" y="2403590"/>
            <a:ext cx="5195843" cy="454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96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960" dirty="0"/>
          </a:p>
        </p:txBody>
      </p:sp>
      <p:sp>
        <p:nvSpPr>
          <p:cNvPr id="8" name="Text 5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640" dirty="0"/>
          </a:p>
        </p:txBody>
      </p:sp>
      <p:sp>
        <p:nvSpPr>
          <p:cNvPr id="9" name="Text 6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286284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920" dirty="0"/>
          </a:p>
        </p:txBody>
      </p:sp>
      <p:sp>
        <p:nvSpPr>
          <p:cNvPr id="3" name="Shape 1"/>
          <p:cNvSpPr/>
          <p:nvPr/>
        </p:nvSpPr>
        <p:spPr>
          <a:xfrm>
            <a:off x="1681812" y="649993"/>
            <a:ext cx="1052158" cy="1363909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757969" y="1309813"/>
            <a:ext cx="191689" cy="11067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807382" y="1250926"/>
            <a:ext cx="142276" cy="169559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873954" y="1212490"/>
            <a:ext cx="75704" cy="20799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949658" y="1199142"/>
            <a:ext cx="0" cy="221343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949658" y="1212490"/>
            <a:ext cx="75704" cy="20799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949658" y="1250926"/>
            <a:ext cx="142276" cy="169559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949658" y="1309813"/>
            <a:ext cx="191689" cy="11067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29368" y="1400195"/>
            <a:ext cx="40580" cy="40580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2318563" y="1184386"/>
            <a:ext cx="295124" cy="295124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613687" y="1331948"/>
            <a:ext cx="73781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93917" y="1405728"/>
            <a:ext cx="63896" cy="3689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9906" y="1459740"/>
            <a:ext cx="36890" cy="6389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66125" y="1479509"/>
            <a:ext cx="0" cy="7378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2355453" y="1459740"/>
            <a:ext cx="36890" cy="6389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2274436" y="1405728"/>
            <a:ext cx="63896" cy="3689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2244782" y="1331948"/>
            <a:ext cx="73781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2274436" y="1221276"/>
            <a:ext cx="63896" cy="3689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2355453" y="1140259"/>
            <a:ext cx="36890" cy="6389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2466125" y="1110605"/>
            <a:ext cx="0" cy="7378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539906" y="1140259"/>
            <a:ext cx="36890" cy="6389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593917" y="1221276"/>
            <a:ext cx="63896" cy="3689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45835" y="1311658"/>
            <a:ext cx="40580" cy="40580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2171001" y="1295707"/>
            <a:ext cx="73781" cy="72482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954794" y="585045"/>
            <a:ext cx="4507394" cy="371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2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280" dirty="0"/>
          </a:p>
        </p:txBody>
      </p:sp>
      <p:sp>
        <p:nvSpPr>
          <p:cNvPr id="28" name="Shape 26"/>
          <p:cNvSpPr/>
          <p:nvPr/>
        </p:nvSpPr>
        <p:spPr>
          <a:xfrm>
            <a:off x="2954794" y="1021019"/>
            <a:ext cx="753397" cy="284196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993763" y="1046998"/>
            <a:ext cx="675460" cy="245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64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640" dirty="0"/>
          </a:p>
        </p:txBody>
      </p:sp>
      <p:sp>
        <p:nvSpPr>
          <p:cNvPr id="30" name="Text 28"/>
          <p:cNvSpPr txBox="1"/>
          <p:nvPr/>
        </p:nvSpPr>
        <p:spPr>
          <a:xfrm>
            <a:off x="3812108" y="1021019"/>
            <a:ext cx="365008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64 / 128 channels — đây chính là thanh «số tia» của tuần trước</a:t>
            </a:r>
            <a:endParaRPr lang="en-US" sz="7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7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32 / 64 / 128 channels——這就是上週那條「射線數」滑桿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954794" y="1389648"/>
            <a:ext cx="753397" cy="284196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93763" y="1415627"/>
            <a:ext cx="675460" cy="245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64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640" dirty="0"/>
          </a:p>
        </p:txBody>
      </p:sp>
      <p:sp>
        <p:nvSpPr>
          <p:cNvPr id="33" name="Text 31"/>
          <p:cNvSpPr txBox="1"/>
          <p:nvPr/>
        </p:nvSpPr>
        <p:spPr>
          <a:xfrm>
            <a:off x="3812108" y="1389648"/>
            <a:ext cx="3650080" cy="451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42.4°, Horizontal 360° — thanh «góc quét», nhưng nó quay cả vòng</a:t>
            </a:r>
            <a:endParaRPr lang="en-US" sz="7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7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垂直 42.4°、水平 360°——就是「張角」，只是它轉一整圈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2954794" y="1886272"/>
            <a:ext cx="753397" cy="284196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993763" y="1912251"/>
            <a:ext cx="675460" cy="245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64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64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0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640" dirty="0"/>
          </a:p>
        </p:txBody>
      </p:sp>
      <p:sp>
        <p:nvSpPr>
          <p:cNvPr id="36" name="Text 34"/>
          <p:cNvSpPr txBox="1"/>
          <p:nvPr/>
        </p:nvSpPr>
        <p:spPr>
          <a:xfrm>
            <a:off x="3812108" y="1886272"/>
            <a:ext cx="365008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 với vật phản xạ 10% — thanh «chiều dài tia»</a:t>
            </a:r>
            <a:endParaRPr lang="en-US" sz="7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7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 10% 反射率的目標 90 公尺——就是「射線長度」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1681812" y="2819258"/>
            <a:ext cx="5780375" cy="40267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811708" y="2864721"/>
            <a:ext cx="5520583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850" dirty="0"/>
          </a:p>
        </p:txBody>
      </p:sp>
      <p:pic>
        <p:nvPicPr>
          <p:cNvPr id="40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640" dirty="0"/>
          </a:p>
        </p:txBody>
      </p:sp>
      <p:sp>
        <p:nvSpPr>
          <p:cNvPr id="42" name="Text 38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6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286284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</a:t>
            </a:r>
            <a:endParaRPr lang="en-US" sz="920" dirty="0"/>
          </a:p>
        </p:txBody>
      </p:sp>
      <p:sp>
        <p:nvSpPr>
          <p:cNvPr id="3" name="Shape 1"/>
          <p:cNvSpPr/>
          <p:nvPr/>
        </p:nvSpPr>
        <p:spPr>
          <a:xfrm>
            <a:off x="1681812" y="649993"/>
            <a:ext cx="1052158" cy="1363909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978213" y="749829"/>
            <a:ext cx="229678" cy="340512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2087805" y="697556"/>
            <a:ext cx="120086" cy="392784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207891" y="679609"/>
            <a:ext cx="0" cy="410731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207891" y="697556"/>
            <a:ext cx="120086" cy="392784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07891" y="749829"/>
            <a:ext cx="229678" cy="340512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82068" y="1064517"/>
            <a:ext cx="51647" cy="51647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1806136" y="1584801"/>
            <a:ext cx="401756" cy="8539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949410" y="1350999"/>
            <a:ext cx="258482" cy="31919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207891" y="1259466"/>
            <a:ext cx="0" cy="410731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207891" y="1350999"/>
            <a:ext cx="258482" cy="31919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207891" y="1584801"/>
            <a:ext cx="401756" cy="8539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82068" y="1644374"/>
            <a:ext cx="51647" cy="51647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954794" y="585045"/>
            <a:ext cx="4507394" cy="55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2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2954794" y="1209321"/>
            <a:ext cx="753397" cy="284196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993763" y="1235301"/>
            <a:ext cx="675460" cy="245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64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640" dirty="0"/>
          </a:p>
        </p:txBody>
      </p:sp>
      <p:sp>
        <p:nvSpPr>
          <p:cNvPr id="19" name="Text 17"/>
          <p:cNvSpPr txBox="1"/>
          <p:nvPr/>
        </p:nvSpPr>
        <p:spPr>
          <a:xfrm>
            <a:off x="3812108" y="1209321"/>
            <a:ext cx="365008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channels</a:t>
            </a:r>
            <a:endParaRPr lang="en-US" sz="7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7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128 channels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2954794" y="1577950"/>
            <a:ext cx="753397" cy="284196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993763" y="1603929"/>
            <a:ext cx="675460" cy="245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64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640" dirty="0"/>
          </a:p>
        </p:txBody>
      </p:sp>
      <p:sp>
        <p:nvSpPr>
          <p:cNvPr id="22" name="Text 20"/>
          <p:cNvSpPr txBox="1"/>
          <p:nvPr/>
        </p:nvSpPr>
        <p:spPr>
          <a:xfrm>
            <a:off x="3812108" y="1577950"/>
            <a:ext cx="365008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 ngang × 25.4° dọc — không quay, chỉ nhìn phía trước</a:t>
            </a:r>
            <a:endParaRPr lang="en-US" sz="7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7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 120°、垂直 25.4°——它不轉，只看前面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2954794" y="1946578"/>
            <a:ext cx="753397" cy="284196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993763" y="1972558"/>
            <a:ext cx="675460" cy="245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64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64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0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640" dirty="0"/>
          </a:p>
        </p:txBody>
      </p:sp>
      <p:sp>
        <p:nvSpPr>
          <p:cNvPr id="25" name="Text 23"/>
          <p:cNvSpPr txBox="1"/>
          <p:nvPr/>
        </p:nvSpPr>
        <p:spPr>
          <a:xfrm>
            <a:off x="3812108" y="1946578"/>
            <a:ext cx="365008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0.1° ngang × 0.2° dọc — hãng viết thẳng ra góc, không phải chia ngược</a:t>
            </a:r>
            <a:endParaRPr lang="en-US" sz="7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7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左右 0.1°、上下 0.2°——這一顆直接把角度寫出來，不用自己除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1681812" y="2819258"/>
            <a:ext cx="5780375" cy="40267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811708" y="2864721"/>
            <a:ext cx="5520583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850" dirty="0"/>
          </a:p>
        </p:txBody>
      </p:sp>
      <p:pic>
        <p:nvPicPr>
          <p:cNvPr id="29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640" dirty="0"/>
          </a:p>
        </p:txBody>
      </p:sp>
      <p:sp>
        <p:nvSpPr>
          <p:cNvPr id="31" name="Text 27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6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234326"/>
            <a:ext cx="5780375" cy="597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15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156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81812" y="831848"/>
          <a:ext cx="5780375" cy="914400"/>
        </p:xfrm>
        <a:graphic>
          <a:graphicData uri="http://schemas.openxmlformats.org/drawingml/2006/table">
            <a:tbl>
              <a:tblPr/>
              <a:tblGrid>
                <a:gridCol w="1445094"/>
                <a:gridCol w="1445094"/>
                <a:gridCol w="1445094"/>
                <a:gridCol w="144509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681812" y="2663473"/>
            <a:ext cx="5780375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85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640" dirty="0"/>
          </a:p>
        </p:txBody>
      </p:sp>
      <p:sp>
        <p:nvSpPr>
          <p:cNvPr id="8" name="Text 3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6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325253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890" dirty="0"/>
          </a:p>
        </p:txBody>
      </p:sp>
      <p:sp>
        <p:nvSpPr>
          <p:cNvPr id="3" name="Shape 1"/>
          <p:cNvSpPr/>
          <p:nvPr/>
        </p:nvSpPr>
        <p:spPr>
          <a:xfrm>
            <a:off x="1681812" y="809116"/>
            <a:ext cx="1753597" cy="1786071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85719" y="1591675"/>
            <a:ext cx="660132" cy="536601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75697" y="1481198"/>
            <a:ext cx="660132" cy="536601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65675" y="1370721"/>
            <a:ext cx="660132" cy="536601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55653" y="1260245"/>
            <a:ext cx="660132" cy="536601"/>
          </a:xfrm>
          <a:prstGeom prst="roundRect">
            <a:avLst>
              <a:gd name="adj" fmla="val 6052"/>
            </a:avLst>
          </a:prstGeom>
          <a:solidFill>
            <a:srgbClr val="8A5A00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72740" y="2080928"/>
            <a:ext cx="1571743" cy="2840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10 000</a:t>
            </a:r>
            <a:endParaRPr lang="en-US" sz="780" dirty="0"/>
          </a:p>
        </p:txBody>
      </p:sp>
      <p:sp>
        <p:nvSpPr>
          <p:cNvPr id="9" name="Text 7"/>
          <p:cNvSpPr txBox="1"/>
          <p:nvPr/>
        </p:nvSpPr>
        <p:spPr>
          <a:xfrm>
            <a:off x="3760150" y="1035502"/>
            <a:ext cx="3702038" cy="714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630" dirty="0"/>
          </a:p>
        </p:txBody>
      </p:sp>
      <p:sp>
        <p:nvSpPr>
          <p:cNvPr id="10" name="Text 8"/>
          <p:cNvSpPr txBox="1"/>
          <p:nvPr/>
        </p:nvSpPr>
        <p:spPr>
          <a:xfrm>
            <a:off x="3760150" y="1814716"/>
            <a:ext cx="3702038" cy="619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quay 10 hoặc 20 vòng mỗi giây. Ở 10 Hz, mỗi khung cách nhau 100 ms — chạy 40 km/h thì trong khoảng đó xe đã đi 1,1 m.</a:t>
            </a:r>
            <a:endParaRPr lang="en-US" sz="8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每秒轉 10 圈或 20 圈。10 Hz 的話，每一張畫面隔 100 毫秒——時速 40 的時候，這段時間車子已經走了 1.1 公尺。</a:t>
            </a:r>
            <a:endParaRPr lang="en-US" sz="890" dirty="0"/>
          </a:p>
        </p:txBody>
      </p:sp>
      <p:sp>
        <p:nvSpPr>
          <p:cNvPr id="11" name="Shape 9"/>
          <p:cNvSpPr/>
          <p:nvPr/>
        </p:nvSpPr>
        <p:spPr>
          <a:xfrm>
            <a:off x="1681812" y="2806268"/>
            <a:ext cx="5780375" cy="441647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11708" y="2858226"/>
            <a:ext cx="5520583" cy="350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890" dirty="0"/>
          </a:p>
        </p:txBody>
      </p:sp>
      <p:pic>
        <p:nvPicPr>
          <p:cNvPr id="14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640" dirty="0"/>
          </a:p>
        </p:txBody>
      </p:sp>
      <p:sp>
        <p:nvSpPr>
          <p:cNvPr id="16" name="Text 12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6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1228031"/>
            <a:ext cx="3247402" cy="220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1481328"/>
            <a:ext cx="5195843" cy="844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0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0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060" dirty="0"/>
          </a:p>
        </p:txBody>
      </p:sp>
      <p:sp>
        <p:nvSpPr>
          <p:cNvPr id="6" name="Text 4"/>
          <p:cNvSpPr txBox="1"/>
          <p:nvPr/>
        </p:nvSpPr>
        <p:spPr>
          <a:xfrm>
            <a:off x="1681812" y="2403590"/>
            <a:ext cx="5195843" cy="454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96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960" dirty="0"/>
          </a:p>
        </p:txBody>
      </p:sp>
      <p:sp>
        <p:nvSpPr>
          <p:cNvPr id="8" name="Text 5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640" dirty="0"/>
          </a:p>
        </p:txBody>
      </p:sp>
      <p:sp>
        <p:nvSpPr>
          <p:cNvPr id="9" name="Text 6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6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286284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</a:t>
            </a:r>
            <a:endParaRPr lang="en-US" sz="920" dirty="0"/>
          </a:p>
        </p:txBody>
      </p:sp>
      <p:sp>
        <p:nvSpPr>
          <p:cNvPr id="3" name="Shape 1"/>
          <p:cNvSpPr/>
          <p:nvPr/>
        </p:nvSpPr>
        <p:spPr>
          <a:xfrm>
            <a:off x="1681812" y="649993"/>
            <a:ext cx="1052158" cy="1363909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92873" y="1353521"/>
            <a:ext cx="221343" cy="101818"/>
          </a:xfrm>
          <a:prstGeom prst="roundRect">
            <a:avLst>
              <a:gd name="adj" fmla="val 22000"/>
            </a:avLst>
          </a:prstGeom>
          <a:solidFill>
            <a:srgbClr val="8FA3B5"/>
          </a:solidFill>
          <a:ln/>
        </p:spPr>
      </p:sp>
      <p:sp>
        <p:nvSpPr>
          <p:cNvPr id="5" name="Shape 3"/>
          <p:cNvSpPr/>
          <p:nvPr/>
        </p:nvSpPr>
        <p:spPr>
          <a:xfrm>
            <a:off x="1876984" y="1373884"/>
            <a:ext cx="75257" cy="61091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2041884" y="1404430"/>
            <a:ext cx="461131" cy="0"/>
          </a:xfrm>
          <a:prstGeom prst="line">
            <a:avLst/>
          </a:prstGeom>
          <a:noFill/>
          <a:ln w="2032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157167" y="1344028"/>
            <a:ext cx="0" cy="120803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72450" y="1344028"/>
            <a:ext cx="0" cy="120803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87733" y="1344028"/>
            <a:ext cx="0" cy="120803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93793" y="1271546"/>
            <a:ext cx="64558" cy="265767"/>
          </a:xfrm>
          <a:prstGeom prst="roundRect">
            <a:avLst>
              <a:gd name="adj" fmla="val 21429"/>
            </a:avLst>
          </a:prstGeom>
          <a:solidFill>
            <a:srgbClr val="D946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54794" y="585045"/>
            <a:ext cx="4507394" cy="371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2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2954794" y="1021019"/>
            <a:ext cx="753397" cy="284196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993763" y="1046998"/>
            <a:ext cx="675460" cy="245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ảnh</a:t>
            </a:r>
            <a:endParaRPr lang="en-US" sz="64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</a:t>
            </a:r>
            <a:endParaRPr lang="en-US" sz="640" dirty="0"/>
          </a:p>
        </p:txBody>
      </p:sp>
      <p:sp>
        <p:nvSpPr>
          <p:cNvPr id="14" name="Text 12"/>
          <p:cNvSpPr txBox="1"/>
          <p:nvPr/>
        </p:nvSpPr>
        <p:spPr>
          <a:xfrm>
            <a:off x="3812108" y="1021019"/>
            <a:ext cx="365008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2048 × 1280 (2.6 MP), mỗi điểm ảnh 3.0 µm vuông</a:t>
            </a:r>
            <a:endParaRPr lang="en-US" sz="7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7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2048 × 1280（2.6 MP），一個像素 3 微米見方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2954794" y="1389648"/>
            <a:ext cx="753397" cy="284196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993763" y="1415627"/>
            <a:ext cx="675460" cy="245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</a:t>
            </a:r>
            <a:endParaRPr lang="en-US" sz="64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</a:t>
            </a:r>
            <a:endParaRPr lang="en-US" sz="640" dirty="0"/>
          </a:p>
        </p:txBody>
      </p:sp>
      <p:sp>
        <p:nvSpPr>
          <p:cNvPr id="17" name="Text 15"/>
          <p:cNvSpPr txBox="1"/>
          <p:nvPr/>
        </p:nvSpPr>
        <p:spPr>
          <a:xfrm>
            <a:off x="3812108" y="1389648"/>
            <a:ext cx="365008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fps ở 1080p — nhanh hơn lidar sáu lần</a:t>
            </a:r>
            <a:endParaRPr lang="en-US" sz="7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7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1080p 每秒 60 張——比光達快六倍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2954794" y="1758276"/>
            <a:ext cx="753397" cy="284196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993763" y="1784255"/>
            <a:ext cx="675460" cy="245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64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</a:t>
            </a:r>
            <a:endParaRPr lang="en-US" sz="64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0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沒有的</a:t>
            </a:r>
            <a:endParaRPr lang="en-US" sz="640" dirty="0"/>
          </a:p>
        </p:txBody>
      </p:sp>
      <p:sp>
        <p:nvSpPr>
          <p:cNvPr id="20" name="Text 18"/>
          <p:cNvSpPr txBox="1"/>
          <p:nvPr/>
        </p:nvSpPr>
        <p:spPr>
          <a:xfrm>
            <a:off x="3812108" y="1758276"/>
            <a:ext cx="365008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dòng góc nhìn, cũng không có dòng tầm đo</a:t>
            </a:r>
            <a:endParaRPr lang="en-US" sz="7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7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沒有視野那一行，也沒有測距那一行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1681812" y="2819258"/>
            <a:ext cx="5780375" cy="40267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811708" y="2864721"/>
            <a:ext cx="5520583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này không hề có. Vì sao?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我們最需要的兩個東西，這張表上偏偏都沒有。為什麼？</a:t>
            </a:r>
            <a:endParaRPr lang="en-US" sz="850" dirty="0"/>
          </a:p>
        </p:txBody>
      </p:sp>
      <p:pic>
        <p:nvPicPr>
          <p:cNvPr id="24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640" dirty="0"/>
          </a:p>
        </p:txBody>
      </p:sp>
      <p:sp>
        <p:nvSpPr>
          <p:cNvPr id="26" name="Text 22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6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325253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890" dirty="0"/>
          </a:p>
        </p:txBody>
      </p:sp>
      <p:sp>
        <p:nvSpPr>
          <p:cNvPr id="3" name="Shape 1"/>
          <p:cNvSpPr/>
          <p:nvPr/>
        </p:nvSpPr>
        <p:spPr>
          <a:xfrm>
            <a:off x="1681812" y="809116"/>
            <a:ext cx="1753597" cy="1786071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2258548" y="941642"/>
            <a:ext cx="300063" cy="444862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2401724" y="873350"/>
            <a:ext cx="156887" cy="513154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58611" y="849903"/>
            <a:ext cx="0" cy="536601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558611" y="873350"/>
            <a:ext cx="156887" cy="513154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58611" y="941642"/>
            <a:ext cx="300063" cy="444862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2" y="1342495"/>
            <a:ext cx="88018" cy="88018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2033736" y="2032492"/>
            <a:ext cx="524875" cy="11156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2220917" y="1727041"/>
            <a:ext cx="337694" cy="41701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558611" y="1607457"/>
            <a:ext cx="0" cy="536601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558611" y="1727041"/>
            <a:ext cx="337694" cy="41701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558611" y="2032492"/>
            <a:ext cx="524875" cy="11156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14602" y="2100049"/>
            <a:ext cx="88018" cy="88018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760150" y="963355"/>
            <a:ext cx="3702038" cy="714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1630" dirty="0"/>
          </a:p>
        </p:txBody>
      </p:sp>
      <p:sp>
        <p:nvSpPr>
          <p:cNvPr id="17" name="Text 15"/>
          <p:cNvSpPr txBox="1"/>
          <p:nvPr/>
        </p:nvSpPr>
        <p:spPr>
          <a:xfrm>
            <a:off x="3760150" y="1742570"/>
            <a:ext cx="3702038" cy="763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8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890" dirty="0"/>
          </a:p>
        </p:txBody>
      </p:sp>
      <p:sp>
        <p:nvSpPr>
          <p:cNvPr id="18" name="Shape 16"/>
          <p:cNvSpPr/>
          <p:nvPr/>
        </p:nvSpPr>
        <p:spPr>
          <a:xfrm>
            <a:off x="1681812" y="2806268"/>
            <a:ext cx="5780375" cy="441647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811708" y="2858226"/>
            <a:ext cx="5520583" cy="350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89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640" dirty="0"/>
          </a:p>
        </p:txBody>
      </p:sp>
      <p:sp>
        <p:nvSpPr>
          <p:cNvPr id="23" name="Text 19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6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325253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890" dirty="0"/>
          </a:p>
        </p:txBody>
      </p:sp>
      <p:sp>
        <p:nvSpPr>
          <p:cNvPr id="3" name="Shape 1"/>
          <p:cNvSpPr/>
          <p:nvPr/>
        </p:nvSpPr>
        <p:spPr>
          <a:xfrm>
            <a:off x="1681812" y="809116"/>
            <a:ext cx="1753597" cy="1786071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92784" y="1320218"/>
            <a:ext cx="1131655" cy="69442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2171767" y="1307592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352832" y="1307592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2533897" y="1307592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714962" y="1307592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1992784" y="1667430"/>
            <a:ext cx="1131655" cy="69442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2171767" y="1654804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2352832" y="1654804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2533897" y="1654804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2714962" y="1654804"/>
            <a:ext cx="94694" cy="94694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830208" y="1702151"/>
            <a:ext cx="203698" cy="0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992784" y="2014642"/>
            <a:ext cx="1131655" cy="69442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2171767" y="2002016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2352832" y="2002016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2533897" y="2002016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2714962" y="2002016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760150" y="963355"/>
            <a:ext cx="3702038" cy="714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630" dirty="0"/>
          </a:p>
        </p:txBody>
      </p:sp>
      <p:sp>
        <p:nvSpPr>
          <p:cNvPr id="21" name="Text 19"/>
          <p:cNvSpPr txBox="1"/>
          <p:nvPr/>
        </p:nvSpPr>
        <p:spPr>
          <a:xfrm>
            <a:off x="3760150" y="1742570"/>
            <a:ext cx="3702038" cy="763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OS1: mỗi vòng 512 / 1024 / 2048 điểm, quay 10 hoặc 20 Hz. Cùng một con lidar, chọn chế độ khác thì số điểm trên người ở 40 m đổi hẳn.</a:t>
            </a:r>
            <a:endParaRPr lang="en-US" sz="8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的每圈點數可以選 512 / 1024 / 2048，轉速可以選 10 或 20 Hz。同一顆光達，換一個模式，四十公尺行人身上的點數就整個不一樣。</a:t>
            </a:r>
            <a:endParaRPr lang="en-US" sz="890" dirty="0"/>
          </a:p>
        </p:txBody>
      </p:sp>
      <p:sp>
        <p:nvSpPr>
          <p:cNvPr id="22" name="Shape 20"/>
          <p:cNvSpPr/>
          <p:nvPr/>
        </p:nvSpPr>
        <p:spPr>
          <a:xfrm>
            <a:off x="1681812" y="2806268"/>
            <a:ext cx="5780375" cy="441647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811708" y="2858226"/>
            <a:ext cx="5520583" cy="350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890" dirty="0"/>
          </a:p>
        </p:txBody>
      </p:sp>
      <p:pic>
        <p:nvPicPr>
          <p:cNvPr id="25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640" dirty="0"/>
          </a:p>
        </p:txBody>
      </p:sp>
      <p:sp>
        <p:nvSpPr>
          <p:cNvPr id="27" name="Text 23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6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234326"/>
            <a:ext cx="5780375" cy="597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con lidar, hai con số</a:t>
            </a:r>
            <a:endParaRPr lang="en-US" sz="15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560" dirty="0"/>
          </a:p>
        </p:txBody>
      </p:sp>
      <p:sp>
        <p:nvSpPr>
          <p:cNvPr id="3" name="Shape 1"/>
          <p:cNvSpPr/>
          <p:nvPr/>
        </p:nvSpPr>
        <p:spPr>
          <a:xfrm>
            <a:off x="1681812" y="831848"/>
            <a:ext cx="5780375" cy="506595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785729" y="883806"/>
            <a:ext cx="5572542" cy="402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nguyên văn từ datasheet OS1. Chú ý phần chữ nhỏ phía sau.</a:t>
            </a:r>
            <a:endParaRPr lang="en-US" sz="82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照抄 OS1 規格表上的兩行。請注意後面那一串小字。</a:t>
            </a:r>
            <a:endParaRPr lang="en-US" sz="8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81812" y="1416380"/>
          <a:ext cx="5780375" cy="914400"/>
        </p:xfrm>
        <a:graphic>
          <a:graphicData uri="http://schemas.openxmlformats.org/drawingml/2006/table">
            <a:tbl>
              <a:tblPr/>
              <a:tblGrid>
                <a:gridCol w="1445094"/>
                <a:gridCol w="1445094"/>
                <a:gridCol w="1445094"/>
                <a:gridCol w="144509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量的是什麼東西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Ngoài đường là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路上是誰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(80% reflectivity)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Range（80%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sáng, phản xạ mạnh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亮色、反射強的東西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trắng, áo phản quang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白色的車、反光背心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(10% reflectivity)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tối, phản xạ yếu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深色、反射弱的東西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áo mưa sẫm màu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黑色的車、深色雨衣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681812" y="2330631"/>
            <a:ext cx="5780375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8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850" dirty="0"/>
          </a:p>
        </p:txBody>
      </p:sp>
      <p:pic>
        <p:nvPicPr>
          <p:cNvPr id="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640" dirty="0"/>
          </a:p>
        </p:txBody>
      </p:sp>
      <p:sp>
        <p:nvSpPr>
          <p:cNvPr id="10" name="Text 5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6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585045"/>
            <a:ext cx="5715427" cy="870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1630" dirty="0"/>
          </a:p>
        </p:txBody>
      </p:sp>
      <p:sp>
        <p:nvSpPr>
          <p:cNvPr id="6" name="Shape 4"/>
          <p:cNvSpPr/>
          <p:nvPr/>
        </p:nvSpPr>
        <p:spPr>
          <a:xfrm>
            <a:off x="1681812" y="1362092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798719" y="146600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98719" y="1485493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149438" y="1394566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681812" y="1868686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8719" y="1972603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98719" y="1992087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149438" y="1901160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681812" y="2375281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98719" y="247919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798719" y="2498682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149438" y="2407755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 làm lại một lượt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 再做一次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1681812" y="2907855"/>
            <a:ext cx="5715427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890" dirty="0"/>
          </a:p>
        </p:txBody>
      </p:sp>
      <p:sp>
        <p:nvSpPr>
          <p:cNvPr id="20" name="Text 17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640" dirty="0"/>
          </a:p>
        </p:txBody>
      </p:sp>
      <p:sp>
        <p:nvSpPr>
          <p:cNvPr id="21" name="Text 18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6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611024"/>
            <a:ext cx="5715427" cy="75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17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1780" dirty="0"/>
          </a:p>
        </p:txBody>
      </p:sp>
      <p:sp>
        <p:nvSpPr>
          <p:cNvPr id="6" name="Shape 4"/>
          <p:cNvSpPr/>
          <p:nvPr/>
        </p:nvSpPr>
        <p:spPr>
          <a:xfrm>
            <a:off x="1681812" y="1286484"/>
            <a:ext cx="32474" cy="477815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37688" y="1260505"/>
            <a:ext cx="5585531" cy="555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681812" y="1907184"/>
            <a:ext cx="32474" cy="477815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37688" y="1881205"/>
            <a:ext cx="5585531" cy="555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681812" y="2527885"/>
            <a:ext cx="32474" cy="477815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37688" y="2501905"/>
            <a:ext cx="5585531" cy="555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640" dirty="0"/>
          </a:p>
        </p:txBody>
      </p:sp>
      <p:sp>
        <p:nvSpPr>
          <p:cNvPr id="14" name="Text 11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6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2026-09-24T08:12:44Z</dcterms:created>
  <dcterms:modified xsi:type="dcterms:W3CDTF">2026-09-24T08:12:44Z</dcterms:modified>
</cp:coreProperties>
</file>