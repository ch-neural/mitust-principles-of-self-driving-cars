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上一節我們問的是「誰量得到什麼」，答案是：六種量的東西都不一樣，所以誰也取代不了誰。這一節換一個問題：同一種感測器，它量得多好？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我先把上一節結尾那個數字再講一次。同一個行人、同一台相機，站在二十公尺，估距誤差是正負零點一五公尺；站在八十公尺，誤差是正負二點三三公尺。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距離變四倍，誤差變十六倍。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這一節就是要弄懂這個十六是從哪裡來的，以及光達為什麼也有一樣的問題。弄懂之後，你們就會知道為什麼自駕車公司要花那麼多錢買更好的感測器，錢到底買到了什麼。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一樣請三位同學上台，這次要唸的是數字的變化。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這一頁要講清楚一件事：相機到底怎麼知道前面那個人離我們幾公尺。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先講問題在哪。一張照片是平面的，本身沒有距離的資訊——照片裡的人，可能是近處的小孩，也可能是遠處的大人，光看大小分不出來。所以相機不能「量」距離，它只能用幾何去「算」。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請看左邊這張側視圖，它就是一個直角三角形。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相機裝在車上，離地面的高度是 h，我們的設定是一點五公尺，這個數字是已知的，出廠就量好了。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從相機水平往前看的那條虛線，就是畫面上的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地平線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行人站在地上，他的腳踩在地面的那一點——紅點——一定落在地平線的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下方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。從相機看向紅點的那條紅線，跟水平虛線之間夾了一個角度，叫俯角 α。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現在三角形出來了：直的那一邊是高度 h，橫的那一邊是我們要的距離 d，夾角是 α。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這裡會用到 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tan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。有些同學可能忘記了，我用一句話說明：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tan 就是一張「角度對應到邊長比例」的對照表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。給它一個角度，它回給你「直的邊」除以「橫的邊」是多少。所以 tan α ＝ h ÷ d。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反過來，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d ＝ h ÷ tan α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。這就是右邊第一條式子。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（計算機操作，請在台上示範一次：手機的計算機把螢幕轉成橫的就會出現 tan。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按之前務必確認是「DEG」（度）模式，不是 RAD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——這是最常出錯的地方，同一個數字按錯模式，答案會差很多。按法是先輸入角度再按 tan。）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同學不需要自己會按 tan。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今天的學習單和考試都不會要你們算三角函數——我要你們懂的是這個「角度愈小、距離愈遠」的關係，不是計算技巧。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 α 怎麼知道？看照片。紅點在畫面上比地平線低了幾列像素，數得出來；每一列像素代表幾度，是相機的規格。兩個相乘就是 α。這是第二條式子。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我們代數字算一次。這台相機水平一千九百二十個像素、視野六十度，六十除以一千九百二十，每個像素是零點零三一二五度。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假設紅點在地平線下方第九十二列。九十二乘零點零三一二五，等於二點八七五度。一點五除以 tan 二點八七五度，大約二十九點九公尺。所以這個人在三十公尺外。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（請在白板上把這三行寫出來，讓同學用計算機跟著按一次。）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接下來是重點。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如果影像有一點點模糊，電腦把紅點判成第九十一列，少了一列。重算：九十一乘零點零三一二五是二點八四四度，一點五除以 tan，得到三十點二公尺。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差一個像素，距離就差了零點三三公尺。請大家記住這個數字——等一下打開工具，行人拖到三十公尺，相機那張卡上寫的誤差就是正負零點三三。不是巧合，工具就是這樣算的。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那如果這個人站在六十公尺呢？紅點會更靠近地平線，大約在第四十六列。同樣少算一列，距離會從五十九點八變成六十一點一，差了一點三三公尺——是剛剛的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四倍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為什麼遠的地方差這麼多？因為愈遠的東西，在畫面上愈擠向地平線，每一列像素要負責的距離就愈長。這件事下一頁會寫成公式。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最後看最下面那句話：這整套算法有一個前提，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路面是平的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。如果前面是上坡或下坡，紅點的位置就會騙人，算出來的距離就錯了。這是單一顆相機估距的先天限制，也是為什麼車上還要裝光達。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誤差的公式長這樣：誤差大約等於 d 平方，乘以 θ，除以 h。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我一個一個講。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d 是距離，而且是平方。這是主角，也是唯一我們控制不了的——行人要站多遠不是我們決定的。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θ 是「一個像素代表幾度」，等於視野除以像素數。這裡有兩條路可以改善：像素數變多，或者視野變窄。工具裡這兩個滑桿都有。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h 是安裝高度，而且在分母——裝得愈高，誤差愈小。為什麼？想像你趴在地上往前看，遠處的地面幾乎糊成一條線，你分不出五十公尺和六十公尺；站到二樓往下看，同樣那兩個位置就分得開了。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所以工程師手上有三張牌：解析度、視野、高度。距離那張牌在老天爺手上。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等一下同學上台，我們就一張一張試。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（開始操作前先確認一件事：左欄的環境要停在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晴天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，而且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整個第二節都不要動它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。今天我們只改距離和規格，天氣這個變數要先固定住——不然等一下數字掉下來，同學會分不清是因為變遠了，還是因為天氣。天氣下一節才開放。本節所有的預期讀值，都是晴天白天算出來的。）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第一位同學上台。這一輪只做一件事：把行人拖遠，每停一次唸一個數字。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（預期讀值：20 m → ±0.15、40 m → ±0.58、60 m → ±1.31、80 m → ±2.33。請寫在白板上。）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四個數字都在白板上了。現在全班一起算。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二十公尺到四十公尺，距離變兩倍。誤差從零點一五變成零點五八——幾倍？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（預期答案：四倍。）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四倍。兩倍的距離，四倍的誤差。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二十公尺到八十公尺，距離變四倍。零點一五變成二點三三——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（預期答案：約十六倍。4 的平方。）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十六倍。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這就是平方的意思。它不是慢慢變差，是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愈遠愈快地變差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。八十公尺的時候，這台相機告訴你「那個人在七十七點七到八十二點三公尺之間的某處」。要靠這個數字決定要不要煞車，已經很勉強了。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順帶一提，這是用目前主流的兩百萬畫素相機算的。如果換成十年前那種六十四萬畫素的，八十公尺的誤差會是七公尺——那就完全不能用了。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所以自駕車為什麼要裝光達？下一頁我們就去看光達在同樣距離的表現。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這張表是這一節的核心。同樣在三十公尺，我們把三張牌一張一張打出來看。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基準是正負零點三三公尺，用的是目前主流的兩百萬畫素相機。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張牌，解析度加倍，一千九百二十變三千八百四十，也就是八百萬畫素，目前高階車款在用的等級。誤差減半，變零點一六。很好，但是代價是什麼？相機貴很多，而且每一張畫面的資料量變四倍，車上那台電腦要跟得上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張牌，視野從六十度收到三十度。誤差也是減半，零點一六。為什麼？因為同樣的像素數擠在一半的角度裡，每個像素代表的角度就小一半。但代價非常明顯——兩側看不到了。一個從旁邊走出來的人，你根本沒拍到他。要補救就得再裝一顆相機，又回到花錢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張牌，裝高。從一點五公尺裝到二點二公尺，誤差從零點三三降到零點二二。改善最少，但這張牌幾乎不用錢，就是把支架做高一點。代價是車身周圍的盲區變大——上一節我們看過光達裝車頂的那個盲區，相機裝高也有同樣的問題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大家看最後一行那句話：沒有一種是免費的。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這就是為什麼自駕車的感測器配置每一家都不一樣。不是有人比較笨，是他們在不同的地方付代價。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這一輪不碰行人，只碰規格。行人就放在三十公尺，整輪都不要動它。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（預期讀值，請依序寫在白板上：基準 ±0.33、3840 px ±0.16、30° 視野 ±0.16、高度 2.2 m ±0.22、1280 px ±0.49。）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第一個數字是基準：正負零點三三。大家記住這個數字，接下來四個都跟它比。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第一次改：像素從一千九百二十加倍到三千八百四十。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誤差從零點三三掉到零點一六，剛好少了一半。合理——像素加倍，每一格代表的角度就減半，數得更細。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第二次改：把像素還原，改成把視野從六十度縮到三十度。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唸出來也是零點一六。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（停在這裡，讓全班看白板上這兩個一模一樣的數字。）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同樣是零點一六，但這兩件事完全不一樣。請問哪一個要付出代價？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（等學生回答。預期會有人說「縮視野看不到旁邊」。）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對。加倍像素是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花錢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——感測器更貴、資料量加倍、電腦要算得更快。縮小視野是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花範圍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——你把左右兩邊切掉了一半。三十公尺外正前方的行人看得更準，但路口斜側方衝出來的機車，你根本沒把他放進畫面裡。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真車的前視鏡頭大多是五十到六十度，就是因為視野不能再縮了。要更準，只能往像素和算力砸錢。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第三次改：高度從一點五加到二點二公尺。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零點二二。有改善，但沒有前兩個多——而且這是把相機架到車頂行李架的高度，一般轎車做不到。所以安裝高度是有限的工具。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第四次改：像素降到一千二百八十。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零點四九。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這是反過來看的：如果為了省錢用便宜的鏡頭，三十公尺外的誤差就從三十三公分變成四十九公分。那十六公分，就是你省下來的那筆錢。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（收尾一句：規格表上每一個數字，背後都是一個要付錢或要犧牲別的東西的決定。）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這一頁回答一個同學看到點雲圖一定會問的問題：點雲看起來密密麻麻，為什麼一個人身上只有十幾點？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先看左邊這張側視圖。左邊那個深色方塊是車頂的光達，從它射出去的那些線，就是掃描線。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請注意一件事：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圖上兩個人畫得一樣高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。他們本來就一樣高，都是一米七。我沒有把遠的那個畫小，因為這一頁要看的不是人變小，是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線變疏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近的那個人在十公尺，你數一數，有八條線穿過他，我在交點上點了紅點。遠的那個人在四十公尺，只剩兩條。距離四倍，穿過的線剩四分之一。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為什麼？因為光達的規格是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角度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長度。六十四條線平均分佈在垂直二十七度裡，相鄰兩條永遠差零點四三度。這個角度不會變，但射得愈遠，兩條線之間張開的實際距離愈大——像手電筒的光錐，愈遠愈散。零點四三度在十公尺處張開七點五公分，在四十公尺處張開三十公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再看地面。朝下的那幾條線，大多在車子附近就打到地面了，我在落點畫了灰點。這也是為什麼點雲圖裡車子周圍那一圈圈同心圓特別密——大部分的點其實都花在近處的地面上。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現在看右邊。這兩個框代表同一個人，框一樣大，但左邊塞滿了點，右邊只有幾顆。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十公尺：身高一點七除以零點零七五，二十二條線；身寬零點五除以零點零三五，十四個點。二十二乘十四，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三百零八點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四十公尺：一點七除以零點三，五條線；零點五除以零點一四，三個點。五乘三，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十五點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右邊那十五顆點，就是自駕車在四十公尺外看到的全部。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如果有同學問：那為什麼規格書寫每秒一百萬點？因為那是整個三百六十度加起來的。一圈是一千八百個方位乘六十四線，十一萬五千點，一秒十圈就是一百多萬。但這一百多萬點是灑給整個世界的，四十公尺外那個人只分到十五點——大約是一圈的萬分之一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所以下次看到漂亮的點雲圖，要記得問一句：這是單一瞬間掃出來的，還是很多幀疊起來的？測繪車停在原地掃幾分鐘，當然可以密到像照片。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先解釋表頭那個詞：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線束數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，規格表上寫 channel，中文叫線或線束。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裡面不是只有一支雷射，是垂直方向疊了好幾支。十六線就是疊了十六支，六十四線就是六十四支。這一疊雷射一邊轉一邊發射，轉一圈下來，就在車子周圍的空間裡畫出十六圈或六十四圈——像樓房的樓層一樣，一層一層疊上去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（可以用手比：手掌打平當成一條掃描線，往上疊幾層。線束愈多，層跟層之間愈密。）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所以線束數決定的是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上下方向有多密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這裡有一個同學一定會問的問題：線束數從頭到尾都是六十四，為什麼十公尺有三百零八點、四十公尺只剩十五點？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關鍵在於：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光達的規格是角度，不是長度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。六十四條線平均分佈在垂直二十七度裡面，所以相鄰兩條線永遠差零點四三度。這個角度不會變，但同樣一個角度射出去，愈遠張開的實際距離愈大——像手電筒的光錐，愈遠愈散。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算給大家看。零點四三度在十公尺處張開七點五公分，在四十公尺處張開三十公分。水平方向每零點二度一個點，在十公尺是三點五公分，四十公尺是十四公分。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現在把人放進去。一個人高一點七公尺、寬零點五公尺。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十公尺：一點七除以零點零七五，大約二十二條線掃到他；零點五除以零點零三五，大約十四個點。二十二乘十四，三百零八。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四十公尺：一點七除以零點三，只剩五條線；零點五除以零點一四，只剩三個點。五乘三，十五。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（請在白板上把這兩組乘法並排寫出來，這一頁就靠這兩行。）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所以不是雷射變少了，是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六十四條線之間的縫，在遠處變寬了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。距離變四倍，縫寬就變四倍，上下少四倍、左右也少四倍，相乘就是十六分之一。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八十公尺的時候縫已經有六十公分寬，比人還寬，整個人只夾得到兩個點。十六線的縫是六十四線的四倍，所以八十公尺那一格是零——人整個掉進縫裡，一條線都沒打到。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好，現在看表。這張請大家抄下來，因為它把「貴」和「便宜」講成了具體的數字。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先看十公尺那一欄。十六線七十點，一百二十八線六百三十點。差九倍，但老實說七十點已經夠用了——在十公尺，便宜的光達也看得清清楚楚。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現在看八十公尺那一欄。十六線：零點。完全看不到。一百二十八線：五點。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零和五的差別，就是能不能在八十公尺外發現一個人。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所以錢買到了什麼？不是買到「看得比較清楚」，是買到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遠處那幾個點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。而遠處那幾個點，決定了這台車能開多快——你要在八十公尺外發現行人，才有餘裕在高速公路上安全減速。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反過來說，如果這台車只在園區裡用，時速二十，那十六線就夠了，花錢買一百二十八線是浪費。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這就回到第二週講的 ODD：感測器的規格和運行條件是綁在一起的。我們第三節會再回到這件事。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第二位同學。這一輪要動參數，所以先點左邊的「光達」那顆按鈕把參數展開。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（預期讀值：40 公尺處，64 線 15 點、16 線 3 點、128 線 33 點。滑桿下方提示會顯示相鄰線束間隔，例如 64 線是 0.43°、16 線是 1.80°。）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現在問最後那一題：距離那個數字有變嗎？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（預期答案：沒有，一直都是 40.0 m。）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沒有。不管十六線還是一百二十八線，距離都是四十點零公尺。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這是陷阱的地方，也是很重要的觀念：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線束數不影響「一個點」量到的距離準不準，它影響的是有沒有打到、打到幾點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光達量距離的方式是算雷射飛出去再回來的時間。那是計時電路的事，單點精度大概正負兩公分，跟你有幾條線完全沒關係。十六線和一百二十八線打在同一個位置，那一個點回報的距離一樣準。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不過這裡一定會有同學舉手問：點比較多，不是應該比較準嗎？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問得很好，而且方向是對的——只是「準」這個字要分成兩件事講。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第一件事是「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這個點離我多遠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」。這件事點多不會比較準，理由剛剛講過了。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第二件事是「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那個東西在哪裡、有多大、是什麼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」。這件事點多就差很多。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我舉個例子。四十公尺外，十六線只打到三個點。這三個點告訴你那邊有東西，但那個東西的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左右邊界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在哪裡？你算不出來。六十四線有十五個點，你就量得出他大概多寬、中心在哪裡。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（在白板上畫兩排點：一排三顆、一排十五顆，圈出中心和寬度。）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而這件事才是真正要命的。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自駕車要決定的不是「他離我四十公尺」，是「他站在我的車道裡面還是外面」。那是左右的判斷，靠的是點的分布，不是單點的距離。三個點你判斷不出來，十五個點才行。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還有一點給程度比較好的同學：很多個點確實可以互相平均，把隨機誤差平掉一些。但這個好處是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根號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的——點數從三個變十五個，是五倍，誤差只降到大約零點四五倍，不是降到五分之一。你花四倍的錢從六十四線升到一百二十八線，換到的距離精度改善很有限，換到的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形狀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改善才是重點。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所以整句話應該這樣講：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線束數買的不是「這個點多遠」，是「那是什麼、在哪裡、多大、往哪走」。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如果有人跟你說「這顆光達比較準」，你要追問一句：你說的準，是單點測距的精度，還是遠處看得出形狀？這是兩個完全不同的規格，價錢也差很多。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（補一句工具的限制：我們的工具為了教學，距離是直接算出來的，沒有加測距雜訊，所以永遠顯示四十點零。真機每一個點都會有正負兩公分左右的跳動。）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大家記住這句話，期末專題寫規格的時候會用到。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這一輪反過來走：從遠拉到近。請一位同學上來，慢慢拖，每停一個點就唸一排數字。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（預期讀值，建議在白板上畫一個五欄的表，一邊拖一邊填：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三十公尺：相機 ±0.33、光達 28 點、雷達 30.0、超音波沒有、熱像 20 px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十公尺：　相機 ±0.04、光達 308 點、雷達 10.0、超音波沒有、熱像 62 px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四公尺：　相機 ±0.01、光達 1925 點、雷達 4.0、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超音波 4.00 ← 第一次出現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、熱像 153 px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三點四公尺：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光達消失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「落在近距離盲區內」、超音波 3.40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一公尺：　光達還是沒有、超音波 1.00、雷達 1.0、熱像 516 px）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先講第一題。三十公尺到四公尺，哪一種一路都沒數字？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（預期答案：超音波。）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對。超音波在工具裡只到四點五公尺，四公尺才第一次亮起來。它不是壞掉，它天生就只管停車的距離。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第二題比較重要。繼續拖，拖到三點五公尺以下——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（讓同學親眼看到光達那張卡變成紅字。）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光達不見了。這就是我們剛剛那張圖講的盲區：車頂光達，車身周圍三點五公尺以內完全看不到。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請注意這裡有一段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接力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：超音波從四點五公尺開始有，光達到三點五公尺才沒有。中間那一公尺，兩個都在。這是設計出來的，不是巧合——如果超音波只到三公尺，那三到三點五公尺這一段就會是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沒有任何感測器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的空窗。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第三題。一公尺的時候，還有誰？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（預期答案：超音波、雷達、相機、熱像；就是沒有光達。）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所以答案是：那顆最貴、點最多、大家最信任的光達，在你腳邊那一圈完全看不到。補上那一圈的，是車上最便宜的超音波——一顆幾百塊。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最後問全班一句：東西愈靠近車子，是不是愈容易被偵測到？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（多數人會說是。答案是不一定。遠有遠的問題——點太少；近有近的問題——根本不在視野裡。）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這就是為什麼車上要裝一整套，而不是挑一個最好的。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這一頁把前面兩個東西合起來講。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相機的像素數是固定的，光達每一圈打的點數也是固定的。這叫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預算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請看圖。兩張圖裡射線的條數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一模一樣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，都是十五條，唯一的差別是攤開的角度。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左邊攤在一百二十度裡。三個目標——正前方的行人、左邊的車、右邊的車——全部都在視野裡，一個都沒漏。但你看那些射線之間的縫有多寬。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右邊集中在三十度裡。同樣十五條，密了四倍。可是左右兩台車呢？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（指給學生看那兩個灰掉的、打叉的圖示。）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掉出去了。完全看不到。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數字講更清楚。一千九百二十個像素攤在一百二十度裡，每一度只分到十六個像素，五十公尺外一個人只佔九個像素——九個像素能看出那是人還是柱子嗎？很勉強。同樣的相機把視野縮到三十度，每一度分到六十四個像素，同一個人變成三十六個像素，清清楚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代價就是圖上那兩台車。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所以同一份預算，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看得廣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看得清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，只能選一個。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那真車怎麼辦？答案很務實：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裝好幾顆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。一顆窄視野的看遠方，專門負責高速公路前方兩百公尺；幾顆廣視野的看近處，負責路口和兩側。各司其職。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大家下次看到自駕車的照片，可以數數看它身上有幾顆相機。Waymo 第六代是十三顆。不是他們愛花錢，是因為一顆做不到兩件事。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這也是為什麼感測器配置沒有標準答案——每一家對「要在什麼條件下營運」的答案不一樣，配置就不一樣。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講到這裡，剛好可以看一支影片，因為這一節算的東西，正是這一行吵了十年的問題。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（建議播 2–3 分鐘。需要網路；沒網路就跳過，直接接下一頁。）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先看左邊這兩台車，它們代表了兩條完全不同的路線。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上面那台是特斯拉。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車上只有一種感測器：相機，八顆，車頂前緣、車側、車尾各幾顆。沒有光達。他們的主張是：人類也只用兩隻眼睛就會開車，那電腦為什麼不行？既然相機便宜，就多裝幾顆、把演算法做好。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下面那台是 Waymo。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你看車頂上有三種不同顏色的圖示——綠色是光達、藍色是相機、橘色是雷達。二十九顆相機、五顆光達、六顆雷達。他們的主張是：相機的距離是「推」出來的，光達是「量」出來的，安全的事情不要用推的。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（這兩組數字是各廠公開的配置，資料時點寫在下面那行：二〇二六年九月。特斯拉不同年份的硬體版本配置不太一樣，Waymo 每一代也在變，所以這是一個時間點的快照，不是永遠不變的事實。）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請大家注意一件事：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這不是「有錢沒錢」的差別，是「要在什麼條件下營運」的差別。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Waymo 只在畫好高精地圖的幾個城市跑無人計程車，可以把成本攤在營運上；特斯拉要把車賣給全世界的消費者，每多一千塊美金的感測器，乘上幾百萬台就是天文數字。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看的時候請帶著今天算過的數字。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相機派的論點：便宜、解析度高、跟人眼原理一樣、而且路上跑的車多，資料好收集拿去訓練。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光達派的論點：距離直接量出來，不用假設地面是平的，也不受光線影響。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我要大家想的是第三個問題：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他們吵的到底是精度，還是錢？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（預期討論：兩者都有。光達現在便宜很多了，但還是比相機貴；另一方面，相機的誤差可以靠演算法和多鏡頭改善，不是只能認命。）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看完以後回頭看我們剛剛那張表。解析度加倍要花錢，視野收窄要多裝一顆，裝高會多出盲區——沒有一條路是免費的。這一行到現在還沒有共識，不是因為誰笨，是因為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每一條路的代價不一樣，而且他們對「要在什麼條件下營運」的答案不一樣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這個問題第三節講完 ODD 之後，你們會更有感覺。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最後一個參數，跟前面都不一樣——它不是規格，是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安裝位置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請看這張圖。兩台車一模一樣，光達也是同一顆，唯一的差別是裝在哪裡。左邊裝車頭，離地零點八公尺；右邊裝車頂，離地一點八公尺。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先看那條紅線。光達的垂直視野有一個下緣，最低的那一條射線會朝斜下方射出去，打到地面。從車頭到那個落地點之間——就是圖上紅色那一段——光達什麼都看不到。這就是盲區。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這裡要特別講清楚一件事：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盲區不是地上那一條線，是紅線以下的那整個三角形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。紅線以下、地面以上、車身以外，這一整塊立體的空間，光達通通看不到。所以不管那個小孩是站著、蹲著還是趴著，只要他在這個三角形裡面，光達就是抓不到他。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（如果把車轉一圈來看，這個三角形其實是繞著車子一圈的，像一條看不見的裙子。工具的俯視畫面上，那個紅色虛線圓圈就是它的邊界。）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道理很簡單：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裝得愈高，最低那條線要飛得愈遠才落地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，所以三角形就愈大。車頭是零點八公尺，車頂變成三點五公尺，差了四倍多。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現在看那個小孩。兩張圖裡他站的位置完全一樣，都在車頭前兩公尺。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左邊那台，兩公尺大於零點八，他在盲區外面，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看得到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，所以是綠色的。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右邊那台，兩公尺小於三點五，他整個人掉在紅色裡面，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看不到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，所以是紅色的。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請注意這裡要講精確一點：不是「兩公尺的小孩看不到」，而是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三點五公尺以內的小孩通通看不到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。圖上放兩公尺，只是挑一個具體的位置讓大家看。你把他放在三公尺、一公尺、甚至貼著保險桿，結果都一樣——全部在三角形裡面。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（停一下，讓全班看清楚這兩個顏色的差別。）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同一顆光達、同一個小孩、同樣的距離，只因為光達裝高了一公尺，就從看得到變成完全看不到。這是真實世界發生過的事故型態——車子起步的時候撞到蹲在車頭前的小孩，駕駛和感測器都沒有看到他。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那是不是車頭比較好？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（等學生回答。預期會有人說對。）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不見得。裝車頭有兩個問題。第一，前面一台車擋著，你就什麼都看不到了；裝車頂可以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越過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前車看更遠。第二，車頭離地面近，往前看的角度很平，遠處的地面糊成一片——就是我們剛剛講相機安裝高度那個道理，光達也一樣。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所以車頂和車頭各有各的問題，沒有絕對的對錯。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那近距離那圈盲區怎麼辦？答案在圖的最下面：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所以才需要超音波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。超音波只有幾公尺，剛好補的就是這一圈。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（現場示範，約兩分鐘：把行人拖到 1 公尺以內。光達會出現紅字「落在近距離盲區內（3.5 m）」，這時唯一還讀得出距離的是超音波。接著把「安裝位置」滑桿從 1 改成 0，光達就回來了，而且卡片上的盲區數字會從三點五變成零點八，畫面上那個紅色虛線圈也會縮小。）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先讓全班猜：東西離車子愈近，是不是愈容易被偵測到？多數人會說是。拖進去就知道不是。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這就是為什麼感測器要一整套，而不是挑一個最好的。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下一節我們要加進最後一個變數——天氣。今天算的所有數字，全部是晴天。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最後一輪，距離完全不動，就放在三十公尺。我們只換目標。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（預期讀值：大人 28 點、小孩 12 點、機車 49 點、汽車 102 點、號誌 12 點。熱像的像素也一起唸：大人 20、小孩 13、汽車 18。）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大人二十八點，小孩十二點。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（停一下。）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少了一半以上。為什麼？因為小孩在工具裡是零點三五公尺寬、一點一公尺高，大人是零點五乘一點七。寬度和高度都小，兩個方向一起縮——又是我們今天講了一整節的那件事，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兩個方向同時縮，數量掉得特別快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汽車是一百零二點，公車更多。所以在光達眼裡，車子是很明顯的東西，人是模糊的東西，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小孩是最模糊的東西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第三題：誰最危險？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（預期答案：小孩。）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對，而且原因不只是點數少。請大家想一想：感測器的規格、測試的標準、工程師在辦公室裡驗收用的那個假人，大部分是照著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成年人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的尺寸訂的。小孩比較矮、比較窄、移動路線比較難預測，而且常常從停放的車子中間突然衝出來——那個位置剛好是遮蔽最嚴重的地方。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這不是工具裡的數字遊戲，這是真實的行人偵測難題。歐盟的新車安全評鑑這幾年就特別加考「兒童從車陣中衝出」這個情境，就是因為原本的測試抓不到這種狀況。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如果時間還有，讓同學把號誌也拉出來看：十二點，而且雷達那張卡寫「未分類障礙物」。號誌桿又細又不反光，對光達來說跟小孩一樣難。所以紅綠燈只能靠相機讀——這件事第一節講過，今天用數字印證了一次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第二節收起來。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第一，相機的誤差公式：d 平方乘 θ 除以 h。距離四倍，誤差十六倍。三個參數裡，解析度和視野要花錢，安裝高度幾乎免費但改善有限。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第二，光達的點數也是平方掉。八十公尺那一欄，十六線是零點，一百二十八線是五點。錢買到的就是遠處那幾個點。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第三，這句話最容易搞混：線束數不會讓距離更準，它決定的是抓不抓得到。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第四，看得廣和看得清是互換的，所以真車裝好幾顆，各司其職。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最後提醒一件事：今天所有的數字，全部是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晴天白天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算出來的。下一節我們把天氣加進去，你們會看到這些辛苦買來的規格，在大雨和濃霧裡可以掉到什麼程度。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_IQvKtuVKUA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070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3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7276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Càng xa thì đo càng không chính xác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距離愈遠，量得愈不準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18688"/>
            <a:ext cx="1371600" cy="411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3419856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và số điểm đều xấu đi theo bình phương khoảng cách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誤差和點數，都按距離的平方惡化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895344"/>
            <a:ext cx="5943600" cy="384048"/>
          </a:xfrm>
          <a:prstGeom prst="roundRect">
            <a:avLst>
              <a:gd name="adj" fmla="val 16667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" y="3941064"/>
            <a:ext cx="5687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工具｜Công cụ： ch-neural.github.io/MITUST-Principles-of-Self-Driving-Cars/week3/lab/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3708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第三週 第 2 節　2026/09/24（四）10:10–11:00　CH Tseng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6616" y="310896"/>
            <a:ext cx="22128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3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đo xa bằng cách nào · 相機怎麼推算距離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chạm đất nằm dưới đường chân trời bao nhiêu → ra khoảng cách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腳踩地那一點在地平線下方多少，就換算出距離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074920" cy="2560320"/>
          </a:xfrm>
          <a:prstGeom prst="roundRect">
            <a:avLst>
              <a:gd name="adj" fmla="val 3571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3273552"/>
            <a:ext cx="4526280" cy="0"/>
          </a:xfrm>
          <a:prstGeom prst="line">
            <a:avLst/>
          </a:prstGeom>
          <a:noFill/>
          <a:ln w="25400">
            <a:solidFill>
              <a:srgbClr val="1A27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847088"/>
            <a:ext cx="0" cy="1426464"/>
          </a:xfrm>
          <a:prstGeom prst="line">
            <a:avLst/>
          </a:prstGeom>
          <a:noFill/>
          <a:ln w="3175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719072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0B1F3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847088"/>
            <a:ext cx="4023360" cy="0"/>
          </a:xfrm>
          <a:prstGeom prst="line">
            <a:avLst/>
          </a:prstGeom>
          <a:noFill/>
          <a:ln w="15875">
            <a:solidFill>
              <a:srgbClr val="5F718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188720" y="1847088"/>
            <a:ext cx="3474720" cy="1426464"/>
          </a:xfrm>
          <a:prstGeom prst="line">
            <a:avLst/>
          </a:prstGeom>
          <a:noFill/>
          <a:ln w="25400">
            <a:solidFill>
              <a:srgbClr val="D94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3209544"/>
            <a:ext cx="128016" cy="12801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268626"/>
            <a:ext cx="192024" cy="192024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12" name="Shape 10"/>
          <p:cNvSpPr/>
          <p:nvPr/>
        </p:nvSpPr>
        <p:spPr>
          <a:xfrm>
            <a:off x="4605833" y="2479853"/>
            <a:ext cx="307238" cy="345643"/>
          </a:xfrm>
          <a:prstGeom prst="roundRect">
            <a:avLst>
              <a:gd name="adj" fmla="val 83333"/>
            </a:avLst>
          </a:prstGeom>
          <a:solidFill>
            <a:srgbClr val="007F72"/>
          </a:solidFill>
          <a:ln/>
        </p:spPr>
      </p:sp>
      <p:sp>
        <p:nvSpPr>
          <p:cNvPr id="13" name="Shape 11"/>
          <p:cNvSpPr/>
          <p:nvPr/>
        </p:nvSpPr>
        <p:spPr>
          <a:xfrm rot="960000">
            <a:off x="4553026" y="2508656"/>
            <a:ext cx="76810" cy="249631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14" name="Shape 12"/>
          <p:cNvSpPr/>
          <p:nvPr/>
        </p:nvSpPr>
        <p:spPr>
          <a:xfrm rot="-960000">
            <a:off x="4889068" y="2508656"/>
            <a:ext cx="76810" cy="249631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15" name="Shape 13"/>
          <p:cNvSpPr/>
          <p:nvPr/>
        </p:nvSpPr>
        <p:spPr>
          <a:xfrm rot="300000">
            <a:off x="4658639" y="2777490"/>
            <a:ext cx="86411" cy="345643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16" name="Shape 14"/>
          <p:cNvSpPr/>
          <p:nvPr/>
        </p:nvSpPr>
        <p:spPr>
          <a:xfrm rot="-300000">
            <a:off x="4773854" y="2777490"/>
            <a:ext cx="86411" cy="345643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395728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1,5 m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安裝高度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 nhìn ngang = đường chân trời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水平視線＝畫面上的地平線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755648" y="18836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α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俯角 α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103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 nhìn tới điểm chạm đất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看向腳踩地那一點的視線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?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要求的距離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33872" y="1280160"/>
            <a:ext cx="2807208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61888" y="134416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h ÷ tan α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 ＝ 安裝高度 ÷ tan(俯角)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33872" y="1920240"/>
            <a:ext cx="2807208" cy="566928"/>
          </a:xfrm>
          <a:prstGeom prst="roundRect">
            <a:avLst>
              <a:gd name="adj" fmla="val 12903"/>
            </a:avLst>
          </a:prstGeom>
          <a:solidFill>
            <a:srgbClr val="EAF6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61888" y="198424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số hàng × độ mỗi điểm ảnh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俯角 ＝ 地平線下方第幾列 × 每像素幾度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833872" y="2596896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dụ: 1920 px, 60° → 0,03125°/px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代數字：每像素 0.03125°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833872" y="298094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× 0,03125° = 2,875°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833872" y="3218688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÷ tan 2,875° ≈ 29,9 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833872" y="3456432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Lệch 1 px (91 hàng) → 30,2 m: chênh 0,33 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camera đơn không ĐO khoảng cách — nó TÍNH ra, và chỉ đúng khi mặt đường phẳng.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單一顆相機不是「量」到距離，是「算」出來的——而且只有路面是平的時候才算得對。</a:t>
            </a:r>
            <a:endParaRPr lang="en-US" sz="1200" dirty="0"/>
          </a:p>
        </p:txBody>
      </p:sp>
      <p:pic>
        <p:nvPicPr>
          <p:cNvPr id="34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của camera đến từ ba thứ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相機的誤差來自三件事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2566416" cy="2670048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7512" y="1316736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975104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596896"/>
            <a:ext cx="2237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Càng xa, hàng điểm ảnh càng dồn về phía đường chân trời. Lệch một điểm ảnh ở xa ứng với rất nhiều mét.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愈遠，像素列愈擠向地平線。同樣差一個像素，在遠處就代表很多公尺。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88792" y="1133856"/>
            <a:ext cx="2566416" cy="2670048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53384" y="1316736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53384" y="1975104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điểm ảnh bao nhiêu độ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每像素幾度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453384" y="2596896"/>
            <a:ext cx="2237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góc nhìn ÷ số điểm ảnh. Tăng độ phân giải hoặc thu hẹp góc nhìn đều làm θ nhỏ lại.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θ ＝ 視野 ÷ 像素數。提高解析度，或收窄視野，都會讓 θ 變小。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74664" y="1133856"/>
            <a:ext cx="2566416" cy="2670048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39256" y="1316736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1/h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39256" y="1975104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Lắp cao bao nhiêu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裝多高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39256" y="2596896"/>
            <a:ext cx="2237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Lắp càng cao, góc nhìn xuống mặt đường càng dốc, điểm chạm đất càng dễ tách ra.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裝得愈高，往地面看的角度愈陡，腳踩地那一點愈容易分辨。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9502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≈ d² × θ ÷ h. Chỉ có d là thứ ta không chọn được.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誤差 ≈ d² × θ ÷ h。三個裡面只有 d 是我們不能選的。</a:t>
            </a:r>
            <a:endParaRPr lang="en-US" sz="1250" dirty="0"/>
          </a:p>
        </p:txBody>
      </p:sp>
      <p:pic>
        <p:nvPicPr>
          <p:cNvPr id="17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1 · 第一輪上台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người đi bộ: 20 m → 40 m → 60 m → 80 m. Đọc sai số của camera.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把行人拖到 20 → 40 → 60 → 80 公尺。唸出相機的誤差。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bốn con số lên bảng trước khi giải thích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先把四個數字抄在白板上，再解釋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20 m sang 40 m: khoảng cách gấp đôi, sai số gấp mấy?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 20 m 到 40 m：距離兩倍，誤差幾倍？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20 m sang 80 m: khoảng cách gấp 4, sai số gấp mấy?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 20 m 到 80 m：距離四倍，誤差幾倍？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LiDAR bên cạnh cũng đang đổi. Lát nữa quay lại nó.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旁邊光達那張也在變。等一下回來看它。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ở 30 m, đổi một tham số thì sai số ra sao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同樣在 30 公尺，改一個參數會怎樣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38404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Thiết lập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 số ở 30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30 m 的誤差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Được gì, mất gì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得到什麼、失去什麼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Gốc: 1920 px, 60°, cao 1,5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基準：1920 像素、60°、高 1.5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 0,33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Mốc để so sánh — đây là mức 2MP phổ biến hiện nay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拿來比較的基準——這是目前主流的 2MP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phân giải gấp đôi: 3840 px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解析度加倍：3840 像素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 0,16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 số còn một nửa. Đổi lại: đắt hơn, dữ liệu nhiều gấp bốn phải xử lý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誤差減半。代價：更貴，而且要處理四倍的資料量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 góc nhìn còn 30°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視野收到 30°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 0,16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Cũng còn một nửa — nhưng hai bên thành mù. Phải lắp thêm camera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一樣減半——但兩側變成盲區，要再加相機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Lắp cao lên 2,2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裝高到 2.2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 0,22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Rẻ nhất trong ba cách. Đổi lại: vùng mù sát xe to hơn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三種裡最便宜的。代價：車身周圍盲區變大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793263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cách nào miễn phí. Đây chính là công việc của kỹ sư: chọn cái nào đáng đánh đổi.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沒有一種是免費的。這就是工程師的工作：決定哪一個代價值得付。</a:t>
            </a:r>
            <a:endParaRPr lang="en-US" sz="1200" dirty="0"/>
          </a:p>
        </p:txBody>
      </p:sp>
      <p:pic>
        <p:nvPicPr>
          <p:cNvPr id="6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第二輪上台：只改規格，不改距離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người ở 30 m. Chỉ đổi thông số camera, mỗi lần đổi đọc lại sai số.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行人留在 30 公尺不要動。只改相機的規格，每改一項就唸一次誤差。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Gốc: 1920 px, 60°, cao 1,5 m → chép sai số lên bảng trước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基準：1920 px、60°、高 1.5 m → 先把誤差抄在白板上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px 1920 → 3840, đọc. Trả lại. Đổi góc 60° → 30°, đọc.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像素改成 3840，唸。還原。視野改成 30°，唸。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lại. Cao 1,5 → 2,2 m, đọc. Cuối cùng px xuống 1280, đọc.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還原。高度改成 2.2 m，唸。最後像素降到 1280，唸。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cách khác nhau cho ra cùng một con số. Cách nào phải trả giá?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兩個完全不同的做法，得到一模一樣的數字。哪一個要付出代價？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không nhỏ đi — khe giữa hai kênh rộng ra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不是人變小了，是線跟線之間的縫變寬了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4892040" cy="2688336"/>
          </a:xfrm>
          <a:prstGeom prst="roundRect">
            <a:avLst>
              <a:gd name="adj" fmla="val 3401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3401568"/>
            <a:ext cx="4489704" cy="0"/>
          </a:xfrm>
          <a:prstGeom prst="line">
            <a:avLst/>
          </a:prstGeom>
          <a:noFill/>
          <a:ln w="25400">
            <a:solidFill>
              <a:srgbClr val="1A27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60120" y="1243584"/>
            <a:ext cx="2755790" cy="1591056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60120" y="1243584"/>
            <a:ext cx="3573570" cy="1591056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60120" y="1393673"/>
            <a:ext cx="4434840" cy="1440967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60120" y="1891986"/>
            <a:ext cx="4434840" cy="942654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60120" y="2368520"/>
            <a:ext cx="4434840" cy="466120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834640"/>
            <a:ext cx="4434840" cy="0"/>
          </a:xfrm>
          <a:prstGeom prst="line">
            <a:avLst/>
          </a:prstGeom>
          <a:noFill/>
          <a:ln w="12700">
            <a:solidFill>
              <a:srgbClr val="5F71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34640"/>
            <a:ext cx="4434840" cy="466120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834640"/>
            <a:ext cx="2667187" cy="566928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6159" y="3360420"/>
            <a:ext cx="82296" cy="82296"/>
          </a:xfrm>
          <a:prstGeom prst="ellipse">
            <a:avLst/>
          </a:prstGeom>
          <a:solidFill>
            <a:srgbClr val="9AA9B6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2834640"/>
            <a:ext cx="1744825" cy="566928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3797" y="3360420"/>
            <a:ext cx="82296" cy="82296"/>
          </a:xfrm>
          <a:prstGeom prst="ellipse">
            <a:avLst/>
          </a:prstGeom>
          <a:solidFill>
            <a:srgbClr val="9AA9B6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2834640"/>
            <a:ext cx="1273341" cy="566928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2313" y="3360420"/>
            <a:ext cx="82296" cy="82296"/>
          </a:xfrm>
          <a:prstGeom prst="ellipse">
            <a:avLst/>
          </a:prstGeom>
          <a:solidFill>
            <a:srgbClr val="9AA9B6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2834640"/>
            <a:ext cx="981948" cy="566928"/>
          </a:xfrm>
          <a:prstGeom prst="line">
            <a:avLst/>
          </a:prstGeom>
          <a:noFill/>
          <a:ln w="12700">
            <a:solidFill>
              <a:srgbClr val="9AA9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0920" y="3360420"/>
            <a:ext cx="82296" cy="82296"/>
          </a:xfrm>
          <a:prstGeom prst="ellipse">
            <a:avLst/>
          </a:prstGeom>
          <a:solidFill>
            <a:srgbClr val="9AA9B6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3372" y="2550262"/>
            <a:ext cx="173736" cy="173736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21" name="Shape 19"/>
          <p:cNvSpPr/>
          <p:nvPr/>
        </p:nvSpPr>
        <p:spPr>
          <a:xfrm>
            <a:off x="1781251" y="2741371"/>
            <a:ext cx="277978" cy="312725"/>
          </a:xfrm>
          <a:prstGeom prst="roundRect">
            <a:avLst>
              <a:gd name="adj" fmla="val 92105"/>
            </a:avLst>
          </a:prstGeom>
          <a:solidFill>
            <a:srgbClr val="007F72"/>
          </a:solidFill>
          <a:ln/>
        </p:spPr>
      </p:sp>
      <p:sp>
        <p:nvSpPr>
          <p:cNvPr id="22" name="Shape 20"/>
          <p:cNvSpPr/>
          <p:nvPr/>
        </p:nvSpPr>
        <p:spPr>
          <a:xfrm rot="960000">
            <a:off x="1733474" y="2767432"/>
            <a:ext cx="69494" cy="225857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23" name="Shape 21"/>
          <p:cNvSpPr/>
          <p:nvPr/>
        </p:nvSpPr>
        <p:spPr>
          <a:xfrm rot="-960000">
            <a:off x="2037512" y="2767432"/>
            <a:ext cx="69494" cy="225857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24" name="Shape 22"/>
          <p:cNvSpPr/>
          <p:nvPr/>
        </p:nvSpPr>
        <p:spPr>
          <a:xfrm rot="300000">
            <a:off x="1829029" y="3010662"/>
            <a:ext cx="78181" cy="312725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25" name="Shape 23"/>
          <p:cNvSpPr/>
          <p:nvPr/>
        </p:nvSpPr>
        <p:spPr>
          <a:xfrm rot="-300000">
            <a:off x="1933270" y="3010662"/>
            <a:ext cx="78181" cy="312725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26" name="Shape 24"/>
          <p:cNvSpPr/>
          <p:nvPr/>
        </p:nvSpPr>
        <p:spPr>
          <a:xfrm>
            <a:off x="1881835" y="2592155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" name="Shape 25"/>
          <p:cNvSpPr/>
          <p:nvPr/>
        </p:nvSpPr>
        <p:spPr>
          <a:xfrm>
            <a:off x="1881835" y="2695323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" name="Shape 26"/>
          <p:cNvSpPr/>
          <p:nvPr/>
        </p:nvSpPr>
        <p:spPr>
          <a:xfrm>
            <a:off x="1881835" y="2796235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" name="Shape 27"/>
          <p:cNvSpPr/>
          <p:nvPr/>
        </p:nvSpPr>
        <p:spPr>
          <a:xfrm>
            <a:off x="1881835" y="2897148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81835" y="3000315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" name="Shape 29"/>
          <p:cNvSpPr/>
          <p:nvPr/>
        </p:nvSpPr>
        <p:spPr>
          <a:xfrm>
            <a:off x="1881835" y="3108197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81835" y="3223708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81835" y="3350561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" name="Shape 32"/>
          <p:cNvSpPr/>
          <p:nvPr/>
        </p:nvSpPr>
        <p:spPr>
          <a:xfrm>
            <a:off x="4713732" y="2550262"/>
            <a:ext cx="173736" cy="173736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1611" y="2741371"/>
            <a:ext cx="277978" cy="312725"/>
          </a:xfrm>
          <a:prstGeom prst="roundRect">
            <a:avLst>
              <a:gd name="adj" fmla="val 92105"/>
            </a:avLst>
          </a:prstGeom>
          <a:solidFill>
            <a:srgbClr val="007F72"/>
          </a:solidFill>
          <a:ln/>
        </p:spPr>
      </p:sp>
      <p:sp>
        <p:nvSpPr>
          <p:cNvPr id="36" name="Shape 34"/>
          <p:cNvSpPr/>
          <p:nvPr/>
        </p:nvSpPr>
        <p:spPr>
          <a:xfrm rot="960000">
            <a:off x="4613834" y="2767432"/>
            <a:ext cx="69494" cy="225857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37" name="Shape 35"/>
          <p:cNvSpPr/>
          <p:nvPr/>
        </p:nvSpPr>
        <p:spPr>
          <a:xfrm rot="-960000">
            <a:off x="4917872" y="2767432"/>
            <a:ext cx="69494" cy="225857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38" name="Shape 36"/>
          <p:cNvSpPr/>
          <p:nvPr/>
        </p:nvSpPr>
        <p:spPr>
          <a:xfrm rot="300000">
            <a:off x="4709389" y="3010662"/>
            <a:ext cx="78181" cy="312725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39" name="Shape 37"/>
          <p:cNvSpPr/>
          <p:nvPr/>
        </p:nvSpPr>
        <p:spPr>
          <a:xfrm rot="-300000">
            <a:off x="4813630" y="3010662"/>
            <a:ext cx="78181" cy="312725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40" name="Shape 38"/>
          <p:cNvSpPr/>
          <p:nvPr/>
        </p:nvSpPr>
        <p:spPr>
          <a:xfrm>
            <a:off x="4762195" y="2796235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41" name="Shape 39"/>
          <p:cNvSpPr/>
          <p:nvPr/>
        </p:nvSpPr>
        <p:spPr>
          <a:xfrm>
            <a:off x="4762195" y="3199886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42" name="Shape 40"/>
          <p:cNvSpPr/>
          <p:nvPr/>
        </p:nvSpPr>
        <p:spPr>
          <a:xfrm>
            <a:off x="804672" y="2715768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0B1F3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12648" y="12435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64 kênh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 64 線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371600" y="3456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公尺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251960" y="3456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 公尺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2651760" y="3438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 chúc xuống chạm đất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朝下的射線打在地面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641848" y="1152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641848" y="1517904"/>
            <a:ext cx="1234440" cy="1481328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01284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0" name="Shape 48"/>
          <p:cNvSpPr/>
          <p:nvPr/>
        </p:nvSpPr>
        <p:spPr>
          <a:xfrm>
            <a:off x="5783580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1" name="Shape 49"/>
          <p:cNvSpPr/>
          <p:nvPr/>
        </p:nvSpPr>
        <p:spPr>
          <a:xfrm>
            <a:off x="5865876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2" name="Shape 50"/>
          <p:cNvSpPr/>
          <p:nvPr/>
        </p:nvSpPr>
        <p:spPr>
          <a:xfrm>
            <a:off x="5948172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3" name="Shape 51"/>
          <p:cNvSpPr/>
          <p:nvPr/>
        </p:nvSpPr>
        <p:spPr>
          <a:xfrm>
            <a:off x="6030468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4" name="Shape 52"/>
          <p:cNvSpPr/>
          <p:nvPr/>
        </p:nvSpPr>
        <p:spPr>
          <a:xfrm>
            <a:off x="6112764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5" name="Shape 53"/>
          <p:cNvSpPr/>
          <p:nvPr/>
        </p:nvSpPr>
        <p:spPr>
          <a:xfrm>
            <a:off x="6195060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6" name="Shape 54"/>
          <p:cNvSpPr/>
          <p:nvPr/>
        </p:nvSpPr>
        <p:spPr>
          <a:xfrm>
            <a:off x="6277356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7" name="Shape 55"/>
          <p:cNvSpPr/>
          <p:nvPr/>
        </p:nvSpPr>
        <p:spPr>
          <a:xfrm>
            <a:off x="6359652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8" name="Shape 56"/>
          <p:cNvSpPr/>
          <p:nvPr/>
        </p:nvSpPr>
        <p:spPr>
          <a:xfrm>
            <a:off x="6441948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9" name="Shape 57"/>
          <p:cNvSpPr/>
          <p:nvPr/>
        </p:nvSpPr>
        <p:spPr>
          <a:xfrm>
            <a:off x="6524244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0" name="Shape 58"/>
          <p:cNvSpPr/>
          <p:nvPr/>
        </p:nvSpPr>
        <p:spPr>
          <a:xfrm>
            <a:off x="6606540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1" name="Shape 59"/>
          <p:cNvSpPr/>
          <p:nvPr/>
        </p:nvSpPr>
        <p:spPr>
          <a:xfrm>
            <a:off x="6688836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2" name="Shape 60"/>
          <p:cNvSpPr/>
          <p:nvPr/>
        </p:nvSpPr>
        <p:spPr>
          <a:xfrm>
            <a:off x="6771132" y="15594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3" name="Shape 61"/>
          <p:cNvSpPr/>
          <p:nvPr/>
        </p:nvSpPr>
        <p:spPr>
          <a:xfrm>
            <a:off x="5701284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4" name="Shape 62"/>
          <p:cNvSpPr/>
          <p:nvPr/>
        </p:nvSpPr>
        <p:spPr>
          <a:xfrm>
            <a:off x="5783580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5" name="Shape 63"/>
          <p:cNvSpPr/>
          <p:nvPr/>
        </p:nvSpPr>
        <p:spPr>
          <a:xfrm>
            <a:off x="5865876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6" name="Shape 64"/>
          <p:cNvSpPr/>
          <p:nvPr/>
        </p:nvSpPr>
        <p:spPr>
          <a:xfrm>
            <a:off x="5948172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7" name="Shape 65"/>
          <p:cNvSpPr/>
          <p:nvPr/>
        </p:nvSpPr>
        <p:spPr>
          <a:xfrm>
            <a:off x="6030468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8" name="Shape 66"/>
          <p:cNvSpPr/>
          <p:nvPr/>
        </p:nvSpPr>
        <p:spPr>
          <a:xfrm>
            <a:off x="6112764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9" name="Shape 67"/>
          <p:cNvSpPr/>
          <p:nvPr/>
        </p:nvSpPr>
        <p:spPr>
          <a:xfrm>
            <a:off x="6195060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0" name="Shape 68"/>
          <p:cNvSpPr/>
          <p:nvPr/>
        </p:nvSpPr>
        <p:spPr>
          <a:xfrm>
            <a:off x="6277356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1" name="Shape 69"/>
          <p:cNvSpPr/>
          <p:nvPr/>
        </p:nvSpPr>
        <p:spPr>
          <a:xfrm>
            <a:off x="6359652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2" name="Shape 70"/>
          <p:cNvSpPr/>
          <p:nvPr/>
        </p:nvSpPr>
        <p:spPr>
          <a:xfrm>
            <a:off x="6441948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3" name="Shape 71"/>
          <p:cNvSpPr/>
          <p:nvPr/>
        </p:nvSpPr>
        <p:spPr>
          <a:xfrm>
            <a:off x="6524244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4" name="Shape 72"/>
          <p:cNvSpPr/>
          <p:nvPr/>
        </p:nvSpPr>
        <p:spPr>
          <a:xfrm>
            <a:off x="6606540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5" name="Shape 73"/>
          <p:cNvSpPr/>
          <p:nvPr/>
        </p:nvSpPr>
        <p:spPr>
          <a:xfrm>
            <a:off x="6688836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6" name="Shape 74"/>
          <p:cNvSpPr/>
          <p:nvPr/>
        </p:nvSpPr>
        <p:spPr>
          <a:xfrm>
            <a:off x="6771132" y="16238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7" name="Shape 75"/>
          <p:cNvSpPr/>
          <p:nvPr/>
        </p:nvSpPr>
        <p:spPr>
          <a:xfrm>
            <a:off x="5701284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8" name="Shape 76"/>
          <p:cNvSpPr/>
          <p:nvPr/>
        </p:nvSpPr>
        <p:spPr>
          <a:xfrm>
            <a:off x="5783580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79" name="Shape 77"/>
          <p:cNvSpPr/>
          <p:nvPr/>
        </p:nvSpPr>
        <p:spPr>
          <a:xfrm>
            <a:off x="5865876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0" name="Shape 78"/>
          <p:cNvSpPr/>
          <p:nvPr/>
        </p:nvSpPr>
        <p:spPr>
          <a:xfrm>
            <a:off x="5948172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1" name="Shape 79"/>
          <p:cNvSpPr/>
          <p:nvPr/>
        </p:nvSpPr>
        <p:spPr>
          <a:xfrm>
            <a:off x="6030468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2" name="Shape 80"/>
          <p:cNvSpPr/>
          <p:nvPr/>
        </p:nvSpPr>
        <p:spPr>
          <a:xfrm>
            <a:off x="6112764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3" name="Shape 81"/>
          <p:cNvSpPr/>
          <p:nvPr/>
        </p:nvSpPr>
        <p:spPr>
          <a:xfrm>
            <a:off x="6195060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4" name="Shape 82"/>
          <p:cNvSpPr/>
          <p:nvPr/>
        </p:nvSpPr>
        <p:spPr>
          <a:xfrm>
            <a:off x="6277356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5" name="Shape 83"/>
          <p:cNvSpPr/>
          <p:nvPr/>
        </p:nvSpPr>
        <p:spPr>
          <a:xfrm>
            <a:off x="6359652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6" name="Shape 84"/>
          <p:cNvSpPr/>
          <p:nvPr/>
        </p:nvSpPr>
        <p:spPr>
          <a:xfrm>
            <a:off x="6441948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7" name="Shape 85"/>
          <p:cNvSpPr/>
          <p:nvPr/>
        </p:nvSpPr>
        <p:spPr>
          <a:xfrm>
            <a:off x="6524244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8" name="Shape 86"/>
          <p:cNvSpPr/>
          <p:nvPr/>
        </p:nvSpPr>
        <p:spPr>
          <a:xfrm>
            <a:off x="6606540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9" name="Shape 87"/>
          <p:cNvSpPr/>
          <p:nvPr/>
        </p:nvSpPr>
        <p:spPr>
          <a:xfrm>
            <a:off x="6688836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0" name="Shape 88"/>
          <p:cNvSpPr/>
          <p:nvPr/>
        </p:nvSpPr>
        <p:spPr>
          <a:xfrm>
            <a:off x="6771132" y="16882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1" name="Shape 89"/>
          <p:cNvSpPr/>
          <p:nvPr/>
        </p:nvSpPr>
        <p:spPr>
          <a:xfrm>
            <a:off x="5701284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2" name="Shape 90"/>
          <p:cNvSpPr/>
          <p:nvPr/>
        </p:nvSpPr>
        <p:spPr>
          <a:xfrm>
            <a:off x="5783580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3" name="Shape 91"/>
          <p:cNvSpPr/>
          <p:nvPr/>
        </p:nvSpPr>
        <p:spPr>
          <a:xfrm>
            <a:off x="5865876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4" name="Shape 92"/>
          <p:cNvSpPr/>
          <p:nvPr/>
        </p:nvSpPr>
        <p:spPr>
          <a:xfrm>
            <a:off x="5948172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5" name="Shape 93"/>
          <p:cNvSpPr/>
          <p:nvPr/>
        </p:nvSpPr>
        <p:spPr>
          <a:xfrm>
            <a:off x="6030468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6" name="Shape 94"/>
          <p:cNvSpPr/>
          <p:nvPr/>
        </p:nvSpPr>
        <p:spPr>
          <a:xfrm>
            <a:off x="6112764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7" name="Shape 95"/>
          <p:cNvSpPr/>
          <p:nvPr/>
        </p:nvSpPr>
        <p:spPr>
          <a:xfrm>
            <a:off x="6195060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8" name="Shape 96"/>
          <p:cNvSpPr/>
          <p:nvPr/>
        </p:nvSpPr>
        <p:spPr>
          <a:xfrm>
            <a:off x="6277356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9" name="Shape 97"/>
          <p:cNvSpPr/>
          <p:nvPr/>
        </p:nvSpPr>
        <p:spPr>
          <a:xfrm>
            <a:off x="6359652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0" name="Shape 98"/>
          <p:cNvSpPr/>
          <p:nvPr/>
        </p:nvSpPr>
        <p:spPr>
          <a:xfrm>
            <a:off x="6441948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1" name="Shape 99"/>
          <p:cNvSpPr/>
          <p:nvPr/>
        </p:nvSpPr>
        <p:spPr>
          <a:xfrm>
            <a:off x="6524244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606540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688836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771132" y="17526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701284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783580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865876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948172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030468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112764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195060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277356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359652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441948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524244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606540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688836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771132" y="181707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701284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783580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65876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948172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030468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112764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195060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277356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9652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441948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524244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606540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688836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771132" y="188147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701284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783580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865876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948172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030468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112764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195060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277356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359652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6441948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6524244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6606540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688836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6771132" y="194588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5701284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5783580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5865876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5948172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6030468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6112764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6195060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6277356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359652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6441948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6524244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6606540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6688836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6771132" y="201028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5701284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5783580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865876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948172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6030468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6112764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6195060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6277356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6359652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6441948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6524244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6606540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688836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771132" y="207469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5701284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783580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5865876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5948172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6030468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6112764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6195060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2" name="Shape 180"/>
          <p:cNvSpPr/>
          <p:nvPr/>
        </p:nvSpPr>
        <p:spPr>
          <a:xfrm>
            <a:off x="6277356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3" name="Shape 181"/>
          <p:cNvSpPr/>
          <p:nvPr/>
        </p:nvSpPr>
        <p:spPr>
          <a:xfrm>
            <a:off x="6359652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4" name="Shape 182"/>
          <p:cNvSpPr/>
          <p:nvPr/>
        </p:nvSpPr>
        <p:spPr>
          <a:xfrm>
            <a:off x="6441948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5" name="Shape 183"/>
          <p:cNvSpPr/>
          <p:nvPr/>
        </p:nvSpPr>
        <p:spPr>
          <a:xfrm>
            <a:off x="6524244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6" name="Shape 184"/>
          <p:cNvSpPr/>
          <p:nvPr/>
        </p:nvSpPr>
        <p:spPr>
          <a:xfrm>
            <a:off x="6606540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7" name="Shape 185"/>
          <p:cNvSpPr/>
          <p:nvPr/>
        </p:nvSpPr>
        <p:spPr>
          <a:xfrm>
            <a:off x="6688836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8" name="Shape 186"/>
          <p:cNvSpPr/>
          <p:nvPr/>
        </p:nvSpPr>
        <p:spPr>
          <a:xfrm>
            <a:off x="6771132" y="213910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89" name="Shape 187"/>
          <p:cNvSpPr/>
          <p:nvPr/>
        </p:nvSpPr>
        <p:spPr>
          <a:xfrm>
            <a:off x="5701284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0" name="Shape 188"/>
          <p:cNvSpPr/>
          <p:nvPr/>
        </p:nvSpPr>
        <p:spPr>
          <a:xfrm>
            <a:off x="5783580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1" name="Shape 189"/>
          <p:cNvSpPr/>
          <p:nvPr/>
        </p:nvSpPr>
        <p:spPr>
          <a:xfrm>
            <a:off x="5865876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948172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3" name="Shape 191"/>
          <p:cNvSpPr/>
          <p:nvPr/>
        </p:nvSpPr>
        <p:spPr>
          <a:xfrm>
            <a:off x="6030468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4" name="Shape 192"/>
          <p:cNvSpPr/>
          <p:nvPr/>
        </p:nvSpPr>
        <p:spPr>
          <a:xfrm>
            <a:off x="6112764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5" name="Shape 193"/>
          <p:cNvSpPr/>
          <p:nvPr/>
        </p:nvSpPr>
        <p:spPr>
          <a:xfrm>
            <a:off x="6195060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6" name="Shape 194"/>
          <p:cNvSpPr/>
          <p:nvPr/>
        </p:nvSpPr>
        <p:spPr>
          <a:xfrm>
            <a:off x="6277356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6359652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8" name="Shape 196"/>
          <p:cNvSpPr/>
          <p:nvPr/>
        </p:nvSpPr>
        <p:spPr>
          <a:xfrm>
            <a:off x="6441948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99" name="Shape 197"/>
          <p:cNvSpPr/>
          <p:nvPr/>
        </p:nvSpPr>
        <p:spPr>
          <a:xfrm>
            <a:off x="6524244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0" name="Shape 198"/>
          <p:cNvSpPr/>
          <p:nvPr/>
        </p:nvSpPr>
        <p:spPr>
          <a:xfrm>
            <a:off x="6606540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1" name="Shape 199"/>
          <p:cNvSpPr/>
          <p:nvPr/>
        </p:nvSpPr>
        <p:spPr>
          <a:xfrm>
            <a:off x="6688836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2" name="Shape 200"/>
          <p:cNvSpPr/>
          <p:nvPr/>
        </p:nvSpPr>
        <p:spPr>
          <a:xfrm>
            <a:off x="6771132" y="220350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3" name="Shape 201"/>
          <p:cNvSpPr/>
          <p:nvPr/>
        </p:nvSpPr>
        <p:spPr>
          <a:xfrm>
            <a:off x="5701284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4" name="Shape 202"/>
          <p:cNvSpPr/>
          <p:nvPr/>
        </p:nvSpPr>
        <p:spPr>
          <a:xfrm>
            <a:off x="5783580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5" name="Shape 203"/>
          <p:cNvSpPr/>
          <p:nvPr/>
        </p:nvSpPr>
        <p:spPr>
          <a:xfrm>
            <a:off x="5865876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6" name="Shape 204"/>
          <p:cNvSpPr/>
          <p:nvPr/>
        </p:nvSpPr>
        <p:spPr>
          <a:xfrm>
            <a:off x="5948172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7" name="Shape 205"/>
          <p:cNvSpPr/>
          <p:nvPr/>
        </p:nvSpPr>
        <p:spPr>
          <a:xfrm>
            <a:off x="6030468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8" name="Shape 206"/>
          <p:cNvSpPr/>
          <p:nvPr/>
        </p:nvSpPr>
        <p:spPr>
          <a:xfrm>
            <a:off x="6112764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09" name="Shape 207"/>
          <p:cNvSpPr/>
          <p:nvPr/>
        </p:nvSpPr>
        <p:spPr>
          <a:xfrm>
            <a:off x="6195060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0" name="Shape 208"/>
          <p:cNvSpPr/>
          <p:nvPr/>
        </p:nvSpPr>
        <p:spPr>
          <a:xfrm>
            <a:off x="6277356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1" name="Shape 209"/>
          <p:cNvSpPr/>
          <p:nvPr/>
        </p:nvSpPr>
        <p:spPr>
          <a:xfrm>
            <a:off x="6359652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2" name="Shape 210"/>
          <p:cNvSpPr/>
          <p:nvPr/>
        </p:nvSpPr>
        <p:spPr>
          <a:xfrm>
            <a:off x="6441948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3" name="Shape 211"/>
          <p:cNvSpPr/>
          <p:nvPr/>
        </p:nvSpPr>
        <p:spPr>
          <a:xfrm>
            <a:off x="6524244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4" name="Shape 212"/>
          <p:cNvSpPr/>
          <p:nvPr/>
        </p:nvSpPr>
        <p:spPr>
          <a:xfrm>
            <a:off x="6606540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5" name="Shape 213"/>
          <p:cNvSpPr/>
          <p:nvPr/>
        </p:nvSpPr>
        <p:spPr>
          <a:xfrm>
            <a:off x="6688836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6" name="Shape 214"/>
          <p:cNvSpPr/>
          <p:nvPr/>
        </p:nvSpPr>
        <p:spPr>
          <a:xfrm>
            <a:off x="6771132" y="226791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7" name="Shape 215"/>
          <p:cNvSpPr/>
          <p:nvPr/>
        </p:nvSpPr>
        <p:spPr>
          <a:xfrm>
            <a:off x="5701284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8" name="Shape 216"/>
          <p:cNvSpPr/>
          <p:nvPr/>
        </p:nvSpPr>
        <p:spPr>
          <a:xfrm>
            <a:off x="5783580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19" name="Shape 217"/>
          <p:cNvSpPr/>
          <p:nvPr/>
        </p:nvSpPr>
        <p:spPr>
          <a:xfrm>
            <a:off x="5865876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0" name="Shape 218"/>
          <p:cNvSpPr/>
          <p:nvPr/>
        </p:nvSpPr>
        <p:spPr>
          <a:xfrm>
            <a:off x="5948172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1" name="Shape 219"/>
          <p:cNvSpPr/>
          <p:nvPr/>
        </p:nvSpPr>
        <p:spPr>
          <a:xfrm>
            <a:off x="6030468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2" name="Shape 220"/>
          <p:cNvSpPr/>
          <p:nvPr/>
        </p:nvSpPr>
        <p:spPr>
          <a:xfrm>
            <a:off x="6112764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3" name="Shape 221"/>
          <p:cNvSpPr/>
          <p:nvPr/>
        </p:nvSpPr>
        <p:spPr>
          <a:xfrm>
            <a:off x="6195060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4" name="Shape 222"/>
          <p:cNvSpPr/>
          <p:nvPr/>
        </p:nvSpPr>
        <p:spPr>
          <a:xfrm>
            <a:off x="6277356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5" name="Shape 223"/>
          <p:cNvSpPr/>
          <p:nvPr/>
        </p:nvSpPr>
        <p:spPr>
          <a:xfrm>
            <a:off x="6359652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6" name="Shape 224"/>
          <p:cNvSpPr/>
          <p:nvPr/>
        </p:nvSpPr>
        <p:spPr>
          <a:xfrm>
            <a:off x="6441948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7" name="Shape 225"/>
          <p:cNvSpPr/>
          <p:nvPr/>
        </p:nvSpPr>
        <p:spPr>
          <a:xfrm>
            <a:off x="6524244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8" name="Shape 226"/>
          <p:cNvSpPr/>
          <p:nvPr/>
        </p:nvSpPr>
        <p:spPr>
          <a:xfrm>
            <a:off x="6606540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29" name="Shape 227"/>
          <p:cNvSpPr/>
          <p:nvPr/>
        </p:nvSpPr>
        <p:spPr>
          <a:xfrm>
            <a:off x="6688836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0" name="Shape 228"/>
          <p:cNvSpPr/>
          <p:nvPr/>
        </p:nvSpPr>
        <p:spPr>
          <a:xfrm>
            <a:off x="6771132" y="233231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1" name="Shape 229"/>
          <p:cNvSpPr/>
          <p:nvPr/>
        </p:nvSpPr>
        <p:spPr>
          <a:xfrm>
            <a:off x="5701284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2" name="Shape 230"/>
          <p:cNvSpPr/>
          <p:nvPr/>
        </p:nvSpPr>
        <p:spPr>
          <a:xfrm>
            <a:off x="5783580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3" name="Shape 231"/>
          <p:cNvSpPr/>
          <p:nvPr/>
        </p:nvSpPr>
        <p:spPr>
          <a:xfrm>
            <a:off x="5865876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4" name="Shape 232"/>
          <p:cNvSpPr/>
          <p:nvPr/>
        </p:nvSpPr>
        <p:spPr>
          <a:xfrm>
            <a:off x="5948172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5" name="Shape 233"/>
          <p:cNvSpPr/>
          <p:nvPr/>
        </p:nvSpPr>
        <p:spPr>
          <a:xfrm>
            <a:off x="6030468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6" name="Shape 234"/>
          <p:cNvSpPr/>
          <p:nvPr/>
        </p:nvSpPr>
        <p:spPr>
          <a:xfrm>
            <a:off x="6112764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7" name="Shape 235"/>
          <p:cNvSpPr/>
          <p:nvPr/>
        </p:nvSpPr>
        <p:spPr>
          <a:xfrm>
            <a:off x="6195060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8" name="Shape 236"/>
          <p:cNvSpPr/>
          <p:nvPr/>
        </p:nvSpPr>
        <p:spPr>
          <a:xfrm>
            <a:off x="6277356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39" name="Shape 237"/>
          <p:cNvSpPr/>
          <p:nvPr/>
        </p:nvSpPr>
        <p:spPr>
          <a:xfrm>
            <a:off x="6359652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0" name="Shape 238"/>
          <p:cNvSpPr/>
          <p:nvPr/>
        </p:nvSpPr>
        <p:spPr>
          <a:xfrm>
            <a:off x="6441948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524244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2" name="Shape 240"/>
          <p:cNvSpPr/>
          <p:nvPr/>
        </p:nvSpPr>
        <p:spPr>
          <a:xfrm>
            <a:off x="6606540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3" name="Shape 241"/>
          <p:cNvSpPr/>
          <p:nvPr/>
        </p:nvSpPr>
        <p:spPr>
          <a:xfrm>
            <a:off x="6688836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4" name="Shape 242"/>
          <p:cNvSpPr/>
          <p:nvPr/>
        </p:nvSpPr>
        <p:spPr>
          <a:xfrm>
            <a:off x="6771132" y="2396722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5" name="Shape 243"/>
          <p:cNvSpPr/>
          <p:nvPr/>
        </p:nvSpPr>
        <p:spPr>
          <a:xfrm>
            <a:off x="5701284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6" name="Shape 244"/>
          <p:cNvSpPr/>
          <p:nvPr/>
        </p:nvSpPr>
        <p:spPr>
          <a:xfrm>
            <a:off x="5783580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7" name="Shape 245"/>
          <p:cNvSpPr/>
          <p:nvPr/>
        </p:nvSpPr>
        <p:spPr>
          <a:xfrm>
            <a:off x="5865876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8" name="Shape 246"/>
          <p:cNvSpPr/>
          <p:nvPr/>
        </p:nvSpPr>
        <p:spPr>
          <a:xfrm>
            <a:off x="5948172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49" name="Shape 247"/>
          <p:cNvSpPr/>
          <p:nvPr/>
        </p:nvSpPr>
        <p:spPr>
          <a:xfrm>
            <a:off x="6030468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0" name="Shape 248"/>
          <p:cNvSpPr/>
          <p:nvPr/>
        </p:nvSpPr>
        <p:spPr>
          <a:xfrm>
            <a:off x="6112764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1" name="Shape 249"/>
          <p:cNvSpPr/>
          <p:nvPr/>
        </p:nvSpPr>
        <p:spPr>
          <a:xfrm>
            <a:off x="6195060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2" name="Shape 250"/>
          <p:cNvSpPr/>
          <p:nvPr/>
        </p:nvSpPr>
        <p:spPr>
          <a:xfrm>
            <a:off x="6277356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3" name="Shape 251"/>
          <p:cNvSpPr/>
          <p:nvPr/>
        </p:nvSpPr>
        <p:spPr>
          <a:xfrm>
            <a:off x="6359652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4" name="Shape 252"/>
          <p:cNvSpPr/>
          <p:nvPr/>
        </p:nvSpPr>
        <p:spPr>
          <a:xfrm>
            <a:off x="6441948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5" name="Shape 253"/>
          <p:cNvSpPr/>
          <p:nvPr/>
        </p:nvSpPr>
        <p:spPr>
          <a:xfrm>
            <a:off x="6524244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6" name="Shape 254"/>
          <p:cNvSpPr/>
          <p:nvPr/>
        </p:nvSpPr>
        <p:spPr>
          <a:xfrm>
            <a:off x="6606540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7" name="Shape 255"/>
          <p:cNvSpPr/>
          <p:nvPr/>
        </p:nvSpPr>
        <p:spPr>
          <a:xfrm>
            <a:off x="6688836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8" name="Shape 256"/>
          <p:cNvSpPr/>
          <p:nvPr/>
        </p:nvSpPr>
        <p:spPr>
          <a:xfrm>
            <a:off x="6771132" y="2461127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59" name="Shape 257"/>
          <p:cNvSpPr/>
          <p:nvPr/>
        </p:nvSpPr>
        <p:spPr>
          <a:xfrm>
            <a:off x="5701284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0" name="Shape 258"/>
          <p:cNvSpPr/>
          <p:nvPr/>
        </p:nvSpPr>
        <p:spPr>
          <a:xfrm>
            <a:off x="5783580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1" name="Shape 259"/>
          <p:cNvSpPr/>
          <p:nvPr/>
        </p:nvSpPr>
        <p:spPr>
          <a:xfrm>
            <a:off x="5865876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2" name="Shape 260"/>
          <p:cNvSpPr/>
          <p:nvPr/>
        </p:nvSpPr>
        <p:spPr>
          <a:xfrm>
            <a:off x="5948172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3" name="Shape 261"/>
          <p:cNvSpPr/>
          <p:nvPr/>
        </p:nvSpPr>
        <p:spPr>
          <a:xfrm>
            <a:off x="6030468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4" name="Shape 262"/>
          <p:cNvSpPr/>
          <p:nvPr/>
        </p:nvSpPr>
        <p:spPr>
          <a:xfrm>
            <a:off x="6112764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5" name="Shape 263"/>
          <p:cNvSpPr/>
          <p:nvPr/>
        </p:nvSpPr>
        <p:spPr>
          <a:xfrm>
            <a:off x="6195060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6" name="Shape 264"/>
          <p:cNvSpPr/>
          <p:nvPr/>
        </p:nvSpPr>
        <p:spPr>
          <a:xfrm>
            <a:off x="6277356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7" name="Shape 265"/>
          <p:cNvSpPr/>
          <p:nvPr/>
        </p:nvSpPr>
        <p:spPr>
          <a:xfrm>
            <a:off x="6359652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8" name="Shape 266"/>
          <p:cNvSpPr/>
          <p:nvPr/>
        </p:nvSpPr>
        <p:spPr>
          <a:xfrm>
            <a:off x="6441948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69" name="Shape 267"/>
          <p:cNvSpPr/>
          <p:nvPr/>
        </p:nvSpPr>
        <p:spPr>
          <a:xfrm>
            <a:off x="6524244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0" name="Shape 268"/>
          <p:cNvSpPr/>
          <p:nvPr/>
        </p:nvSpPr>
        <p:spPr>
          <a:xfrm>
            <a:off x="6606540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1" name="Shape 269"/>
          <p:cNvSpPr/>
          <p:nvPr/>
        </p:nvSpPr>
        <p:spPr>
          <a:xfrm>
            <a:off x="6688836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2" name="Shape 270"/>
          <p:cNvSpPr/>
          <p:nvPr/>
        </p:nvSpPr>
        <p:spPr>
          <a:xfrm>
            <a:off x="6771132" y="2525533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3" name="Shape 271"/>
          <p:cNvSpPr/>
          <p:nvPr/>
        </p:nvSpPr>
        <p:spPr>
          <a:xfrm>
            <a:off x="5701284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4" name="Shape 272"/>
          <p:cNvSpPr/>
          <p:nvPr/>
        </p:nvSpPr>
        <p:spPr>
          <a:xfrm>
            <a:off x="5783580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5" name="Shape 273"/>
          <p:cNvSpPr/>
          <p:nvPr/>
        </p:nvSpPr>
        <p:spPr>
          <a:xfrm>
            <a:off x="5865876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6" name="Shape 274"/>
          <p:cNvSpPr/>
          <p:nvPr/>
        </p:nvSpPr>
        <p:spPr>
          <a:xfrm>
            <a:off x="5948172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7" name="Shape 275"/>
          <p:cNvSpPr/>
          <p:nvPr/>
        </p:nvSpPr>
        <p:spPr>
          <a:xfrm>
            <a:off x="6030468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8" name="Shape 276"/>
          <p:cNvSpPr/>
          <p:nvPr/>
        </p:nvSpPr>
        <p:spPr>
          <a:xfrm>
            <a:off x="6112764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79" name="Shape 277"/>
          <p:cNvSpPr/>
          <p:nvPr/>
        </p:nvSpPr>
        <p:spPr>
          <a:xfrm>
            <a:off x="6195060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0" name="Shape 278"/>
          <p:cNvSpPr/>
          <p:nvPr/>
        </p:nvSpPr>
        <p:spPr>
          <a:xfrm>
            <a:off x="6277356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1" name="Shape 279"/>
          <p:cNvSpPr/>
          <p:nvPr/>
        </p:nvSpPr>
        <p:spPr>
          <a:xfrm>
            <a:off x="6359652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2" name="Shape 280"/>
          <p:cNvSpPr/>
          <p:nvPr/>
        </p:nvSpPr>
        <p:spPr>
          <a:xfrm>
            <a:off x="6441948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3" name="Shape 281"/>
          <p:cNvSpPr/>
          <p:nvPr/>
        </p:nvSpPr>
        <p:spPr>
          <a:xfrm>
            <a:off x="6524244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4" name="Shape 282"/>
          <p:cNvSpPr/>
          <p:nvPr/>
        </p:nvSpPr>
        <p:spPr>
          <a:xfrm>
            <a:off x="6606540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5" name="Shape 283"/>
          <p:cNvSpPr/>
          <p:nvPr/>
        </p:nvSpPr>
        <p:spPr>
          <a:xfrm>
            <a:off x="6688836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6" name="Shape 284"/>
          <p:cNvSpPr/>
          <p:nvPr/>
        </p:nvSpPr>
        <p:spPr>
          <a:xfrm>
            <a:off x="6771132" y="2589939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7" name="Shape 285"/>
          <p:cNvSpPr/>
          <p:nvPr/>
        </p:nvSpPr>
        <p:spPr>
          <a:xfrm>
            <a:off x="5701284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8" name="Shape 286"/>
          <p:cNvSpPr/>
          <p:nvPr/>
        </p:nvSpPr>
        <p:spPr>
          <a:xfrm>
            <a:off x="5783580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89" name="Shape 287"/>
          <p:cNvSpPr/>
          <p:nvPr/>
        </p:nvSpPr>
        <p:spPr>
          <a:xfrm>
            <a:off x="5865876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0" name="Shape 288"/>
          <p:cNvSpPr/>
          <p:nvPr/>
        </p:nvSpPr>
        <p:spPr>
          <a:xfrm>
            <a:off x="5948172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1" name="Shape 289"/>
          <p:cNvSpPr/>
          <p:nvPr/>
        </p:nvSpPr>
        <p:spPr>
          <a:xfrm>
            <a:off x="6030468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2" name="Shape 290"/>
          <p:cNvSpPr/>
          <p:nvPr/>
        </p:nvSpPr>
        <p:spPr>
          <a:xfrm>
            <a:off x="6112764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3" name="Shape 291"/>
          <p:cNvSpPr/>
          <p:nvPr/>
        </p:nvSpPr>
        <p:spPr>
          <a:xfrm>
            <a:off x="6195060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4" name="Shape 292"/>
          <p:cNvSpPr/>
          <p:nvPr/>
        </p:nvSpPr>
        <p:spPr>
          <a:xfrm>
            <a:off x="6277356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5" name="Shape 293"/>
          <p:cNvSpPr/>
          <p:nvPr/>
        </p:nvSpPr>
        <p:spPr>
          <a:xfrm>
            <a:off x="6359652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6" name="Shape 294"/>
          <p:cNvSpPr/>
          <p:nvPr/>
        </p:nvSpPr>
        <p:spPr>
          <a:xfrm>
            <a:off x="6441948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7" name="Shape 295"/>
          <p:cNvSpPr/>
          <p:nvPr/>
        </p:nvSpPr>
        <p:spPr>
          <a:xfrm>
            <a:off x="6524244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8" name="Shape 296"/>
          <p:cNvSpPr/>
          <p:nvPr/>
        </p:nvSpPr>
        <p:spPr>
          <a:xfrm>
            <a:off x="6606540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299" name="Shape 297"/>
          <p:cNvSpPr/>
          <p:nvPr/>
        </p:nvSpPr>
        <p:spPr>
          <a:xfrm>
            <a:off x="6688836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0" name="Shape 298"/>
          <p:cNvSpPr/>
          <p:nvPr/>
        </p:nvSpPr>
        <p:spPr>
          <a:xfrm>
            <a:off x="6771132" y="2654344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1" name="Shape 299"/>
          <p:cNvSpPr/>
          <p:nvPr/>
        </p:nvSpPr>
        <p:spPr>
          <a:xfrm>
            <a:off x="5701284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2" name="Shape 300"/>
          <p:cNvSpPr/>
          <p:nvPr/>
        </p:nvSpPr>
        <p:spPr>
          <a:xfrm>
            <a:off x="5783580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3" name="Shape 301"/>
          <p:cNvSpPr/>
          <p:nvPr/>
        </p:nvSpPr>
        <p:spPr>
          <a:xfrm>
            <a:off x="5865876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4" name="Shape 302"/>
          <p:cNvSpPr/>
          <p:nvPr/>
        </p:nvSpPr>
        <p:spPr>
          <a:xfrm>
            <a:off x="5948172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5" name="Shape 303"/>
          <p:cNvSpPr/>
          <p:nvPr/>
        </p:nvSpPr>
        <p:spPr>
          <a:xfrm>
            <a:off x="6030468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6" name="Shape 304"/>
          <p:cNvSpPr/>
          <p:nvPr/>
        </p:nvSpPr>
        <p:spPr>
          <a:xfrm>
            <a:off x="6112764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7" name="Shape 305"/>
          <p:cNvSpPr/>
          <p:nvPr/>
        </p:nvSpPr>
        <p:spPr>
          <a:xfrm>
            <a:off x="6195060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8" name="Shape 306"/>
          <p:cNvSpPr/>
          <p:nvPr/>
        </p:nvSpPr>
        <p:spPr>
          <a:xfrm>
            <a:off x="6277356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09" name="Shape 307"/>
          <p:cNvSpPr/>
          <p:nvPr/>
        </p:nvSpPr>
        <p:spPr>
          <a:xfrm>
            <a:off x="6359652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0" name="Shape 308"/>
          <p:cNvSpPr/>
          <p:nvPr/>
        </p:nvSpPr>
        <p:spPr>
          <a:xfrm>
            <a:off x="6441948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1" name="Shape 309"/>
          <p:cNvSpPr/>
          <p:nvPr/>
        </p:nvSpPr>
        <p:spPr>
          <a:xfrm>
            <a:off x="6524244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2" name="Shape 310"/>
          <p:cNvSpPr/>
          <p:nvPr/>
        </p:nvSpPr>
        <p:spPr>
          <a:xfrm>
            <a:off x="6606540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3" name="Shape 311"/>
          <p:cNvSpPr/>
          <p:nvPr/>
        </p:nvSpPr>
        <p:spPr>
          <a:xfrm>
            <a:off x="6688836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4" name="Shape 312"/>
          <p:cNvSpPr/>
          <p:nvPr/>
        </p:nvSpPr>
        <p:spPr>
          <a:xfrm>
            <a:off x="6771132" y="2718750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5" name="Shape 313"/>
          <p:cNvSpPr/>
          <p:nvPr/>
        </p:nvSpPr>
        <p:spPr>
          <a:xfrm>
            <a:off x="5701284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6" name="Shape 314"/>
          <p:cNvSpPr/>
          <p:nvPr/>
        </p:nvSpPr>
        <p:spPr>
          <a:xfrm>
            <a:off x="5783580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7" name="Shape 315"/>
          <p:cNvSpPr/>
          <p:nvPr/>
        </p:nvSpPr>
        <p:spPr>
          <a:xfrm>
            <a:off x="5865876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8" name="Shape 316"/>
          <p:cNvSpPr/>
          <p:nvPr/>
        </p:nvSpPr>
        <p:spPr>
          <a:xfrm>
            <a:off x="5948172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19" name="Shape 317"/>
          <p:cNvSpPr/>
          <p:nvPr/>
        </p:nvSpPr>
        <p:spPr>
          <a:xfrm>
            <a:off x="6030468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0" name="Shape 318"/>
          <p:cNvSpPr/>
          <p:nvPr/>
        </p:nvSpPr>
        <p:spPr>
          <a:xfrm>
            <a:off x="6112764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1" name="Shape 319"/>
          <p:cNvSpPr/>
          <p:nvPr/>
        </p:nvSpPr>
        <p:spPr>
          <a:xfrm>
            <a:off x="6195060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2" name="Shape 320"/>
          <p:cNvSpPr/>
          <p:nvPr/>
        </p:nvSpPr>
        <p:spPr>
          <a:xfrm>
            <a:off x="6277356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3" name="Shape 321"/>
          <p:cNvSpPr/>
          <p:nvPr/>
        </p:nvSpPr>
        <p:spPr>
          <a:xfrm>
            <a:off x="6359652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4" name="Shape 322"/>
          <p:cNvSpPr/>
          <p:nvPr/>
        </p:nvSpPr>
        <p:spPr>
          <a:xfrm>
            <a:off x="6441948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5" name="Shape 323"/>
          <p:cNvSpPr/>
          <p:nvPr/>
        </p:nvSpPr>
        <p:spPr>
          <a:xfrm>
            <a:off x="6524244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6" name="Shape 324"/>
          <p:cNvSpPr/>
          <p:nvPr/>
        </p:nvSpPr>
        <p:spPr>
          <a:xfrm>
            <a:off x="6606540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7" name="Shape 325"/>
          <p:cNvSpPr/>
          <p:nvPr/>
        </p:nvSpPr>
        <p:spPr>
          <a:xfrm>
            <a:off x="6688836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8" name="Shape 326"/>
          <p:cNvSpPr/>
          <p:nvPr/>
        </p:nvSpPr>
        <p:spPr>
          <a:xfrm>
            <a:off x="6771132" y="2783155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9" name="Shape 327"/>
          <p:cNvSpPr/>
          <p:nvPr/>
        </p:nvSpPr>
        <p:spPr>
          <a:xfrm>
            <a:off x="5701284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0" name="Shape 328"/>
          <p:cNvSpPr/>
          <p:nvPr/>
        </p:nvSpPr>
        <p:spPr>
          <a:xfrm>
            <a:off x="5783580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1" name="Shape 329"/>
          <p:cNvSpPr/>
          <p:nvPr/>
        </p:nvSpPr>
        <p:spPr>
          <a:xfrm>
            <a:off x="5865876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2" name="Shape 330"/>
          <p:cNvSpPr/>
          <p:nvPr/>
        </p:nvSpPr>
        <p:spPr>
          <a:xfrm>
            <a:off x="5948172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3" name="Shape 331"/>
          <p:cNvSpPr/>
          <p:nvPr/>
        </p:nvSpPr>
        <p:spPr>
          <a:xfrm>
            <a:off x="6030468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4" name="Shape 332"/>
          <p:cNvSpPr/>
          <p:nvPr/>
        </p:nvSpPr>
        <p:spPr>
          <a:xfrm>
            <a:off x="6112764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5" name="Shape 333"/>
          <p:cNvSpPr/>
          <p:nvPr/>
        </p:nvSpPr>
        <p:spPr>
          <a:xfrm>
            <a:off x="6195060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6" name="Shape 334"/>
          <p:cNvSpPr/>
          <p:nvPr/>
        </p:nvSpPr>
        <p:spPr>
          <a:xfrm>
            <a:off x="6277356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7" name="Shape 335"/>
          <p:cNvSpPr/>
          <p:nvPr/>
        </p:nvSpPr>
        <p:spPr>
          <a:xfrm>
            <a:off x="6359652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8" name="Shape 336"/>
          <p:cNvSpPr/>
          <p:nvPr/>
        </p:nvSpPr>
        <p:spPr>
          <a:xfrm>
            <a:off x="6441948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39" name="Shape 337"/>
          <p:cNvSpPr/>
          <p:nvPr/>
        </p:nvSpPr>
        <p:spPr>
          <a:xfrm>
            <a:off x="6524244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0" name="Shape 338"/>
          <p:cNvSpPr/>
          <p:nvPr/>
        </p:nvSpPr>
        <p:spPr>
          <a:xfrm>
            <a:off x="6606540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1" name="Shape 339"/>
          <p:cNvSpPr/>
          <p:nvPr/>
        </p:nvSpPr>
        <p:spPr>
          <a:xfrm>
            <a:off x="6688836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2" name="Shape 340"/>
          <p:cNvSpPr/>
          <p:nvPr/>
        </p:nvSpPr>
        <p:spPr>
          <a:xfrm>
            <a:off x="6771132" y="2847561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3" name="Shape 341"/>
          <p:cNvSpPr/>
          <p:nvPr/>
        </p:nvSpPr>
        <p:spPr>
          <a:xfrm>
            <a:off x="5701284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4" name="Shape 342"/>
          <p:cNvSpPr/>
          <p:nvPr/>
        </p:nvSpPr>
        <p:spPr>
          <a:xfrm>
            <a:off x="5783580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5" name="Shape 343"/>
          <p:cNvSpPr/>
          <p:nvPr/>
        </p:nvSpPr>
        <p:spPr>
          <a:xfrm>
            <a:off x="5865876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6" name="Shape 344"/>
          <p:cNvSpPr/>
          <p:nvPr/>
        </p:nvSpPr>
        <p:spPr>
          <a:xfrm>
            <a:off x="5948172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7" name="Shape 345"/>
          <p:cNvSpPr/>
          <p:nvPr/>
        </p:nvSpPr>
        <p:spPr>
          <a:xfrm>
            <a:off x="6030468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8" name="Shape 346"/>
          <p:cNvSpPr/>
          <p:nvPr/>
        </p:nvSpPr>
        <p:spPr>
          <a:xfrm>
            <a:off x="6112764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49" name="Shape 347"/>
          <p:cNvSpPr/>
          <p:nvPr/>
        </p:nvSpPr>
        <p:spPr>
          <a:xfrm>
            <a:off x="6195060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50" name="Shape 348"/>
          <p:cNvSpPr/>
          <p:nvPr/>
        </p:nvSpPr>
        <p:spPr>
          <a:xfrm>
            <a:off x="6277356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51" name="Shape 349"/>
          <p:cNvSpPr/>
          <p:nvPr/>
        </p:nvSpPr>
        <p:spPr>
          <a:xfrm>
            <a:off x="6359652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52" name="Shape 350"/>
          <p:cNvSpPr/>
          <p:nvPr/>
        </p:nvSpPr>
        <p:spPr>
          <a:xfrm>
            <a:off x="6441948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53" name="Shape 351"/>
          <p:cNvSpPr/>
          <p:nvPr/>
        </p:nvSpPr>
        <p:spPr>
          <a:xfrm>
            <a:off x="6524244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54" name="Shape 352"/>
          <p:cNvSpPr/>
          <p:nvPr/>
        </p:nvSpPr>
        <p:spPr>
          <a:xfrm>
            <a:off x="6606540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55" name="Shape 353"/>
          <p:cNvSpPr/>
          <p:nvPr/>
        </p:nvSpPr>
        <p:spPr>
          <a:xfrm>
            <a:off x="6688836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56" name="Shape 354"/>
          <p:cNvSpPr/>
          <p:nvPr/>
        </p:nvSpPr>
        <p:spPr>
          <a:xfrm>
            <a:off x="6771132" y="2911966"/>
            <a:ext cx="45720" cy="4572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57" name="Text 355"/>
          <p:cNvSpPr txBox="1"/>
          <p:nvPr/>
        </p:nvSpPr>
        <p:spPr>
          <a:xfrm>
            <a:off x="5550408" y="3054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× 14 = 308</a:t>
            </a:r>
            <a:endParaRPr lang="en-US" sz="1300" dirty="0"/>
          </a:p>
        </p:txBody>
      </p:sp>
      <p:sp>
        <p:nvSpPr>
          <p:cNvPr id="358" name="Text 356"/>
          <p:cNvSpPr txBox="1"/>
          <p:nvPr/>
        </p:nvSpPr>
        <p:spPr>
          <a:xfrm>
            <a:off x="7159752" y="1152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</a:t>
            </a:r>
            <a:endParaRPr lang="en-US" sz="1400" dirty="0"/>
          </a:p>
        </p:txBody>
      </p:sp>
      <p:sp>
        <p:nvSpPr>
          <p:cNvPr id="359" name="Shape 357"/>
          <p:cNvSpPr/>
          <p:nvPr/>
        </p:nvSpPr>
        <p:spPr>
          <a:xfrm>
            <a:off x="7159752" y="1517904"/>
            <a:ext cx="1234440" cy="1481328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427214" y="1723644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1" name="Shape 359"/>
          <p:cNvSpPr/>
          <p:nvPr/>
        </p:nvSpPr>
        <p:spPr>
          <a:xfrm>
            <a:off x="7735824" y="1723644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2" name="Shape 360"/>
          <p:cNvSpPr/>
          <p:nvPr/>
        </p:nvSpPr>
        <p:spPr>
          <a:xfrm>
            <a:off x="8044434" y="1723644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3" name="Shape 361"/>
          <p:cNvSpPr/>
          <p:nvPr/>
        </p:nvSpPr>
        <p:spPr>
          <a:xfrm>
            <a:off x="7427214" y="1970532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4" name="Shape 362"/>
          <p:cNvSpPr/>
          <p:nvPr/>
        </p:nvSpPr>
        <p:spPr>
          <a:xfrm>
            <a:off x="7735824" y="1970532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5" name="Shape 363"/>
          <p:cNvSpPr/>
          <p:nvPr/>
        </p:nvSpPr>
        <p:spPr>
          <a:xfrm>
            <a:off x="8044434" y="1970532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6" name="Shape 364"/>
          <p:cNvSpPr/>
          <p:nvPr/>
        </p:nvSpPr>
        <p:spPr>
          <a:xfrm>
            <a:off x="7427214" y="2217420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7" name="Shape 365"/>
          <p:cNvSpPr/>
          <p:nvPr/>
        </p:nvSpPr>
        <p:spPr>
          <a:xfrm>
            <a:off x="7735824" y="2217420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8" name="Shape 366"/>
          <p:cNvSpPr/>
          <p:nvPr/>
        </p:nvSpPr>
        <p:spPr>
          <a:xfrm>
            <a:off x="8044434" y="2217420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69" name="Shape 367"/>
          <p:cNvSpPr/>
          <p:nvPr/>
        </p:nvSpPr>
        <p:spPr>
          <a:xfrm>
            <a:off x="7427214" y="2464308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70" name="Shape 368"/>
          <p:cNvSpPr/>
          <p:nvPr/>
        </p:nvSpPr>
        <p:spPr>
          <a:xfrm>
            <a:off x="7735824" y="2464308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71" name="Shape 369"/>
          <p:cNvSpPr/>
          <p:nvPr/>
        </p:nvSpPr>
        <p:spPr>
          <a:xfrm>
            <a:off x="8044434" y="2464308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72" name="Shape 370"/>
          <p:cNvSpPr/>
          <p:nvPr/>
        </p:nvSpPr>
        <p:spPr>
          <a:xfrm>
            <a:off x="7427214" y="2711196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73" name="Shape 371"/>
          <p:cNvSpPr/>
          <p:nvPr/>
        </p:nvSpPr>
        <p:spPr>
          <a:xfrm>
            <a:off x="7735824" y="2711196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74" name="Shape 372"/>
          <p:cNvSpPr/>
          <p:nvPr/>
        </p:nvSpPr>
        <p:spPr>
          <a:xfrm>
            <a:off x="8044434" y="2711196"/>
            <a:ext cx="82296" cy="8229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75" name="Text 373"/>
          <p:cNvSpPr txBox="1"/>
          <p:nvPr/>
        </p:nvSpPr>
        <p:spPr>
          <a:xfrm>
            <a:off x="7068312" y="3054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3 = 15</a:t>
            </a:r>
            <a:endParaRPr lang="en-US" sz="1300" dirty="0"/>
          </a:p>
        </p:txBody>
      </p:sp>
      <p:sp>
        <p:nvSpPr>
          <p:cNvPr id="376" name="Text 374"/>
          <p:cNvSpPr txBox="1"/>
          <p:nvPr/>
        </p:nvSpPr>
        <p:spPr>
          <a:xfrm>
            <a:off x="55321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cao 1,7 m, rộng 0,5 m · kênh cách nhau 0,43°, điểm cách nhau 0,2°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行人高 1.7 m、寬 0.5 m｜線距 0.43°、點距 0.2°</a:t>
            </a:r>
            <a:endParaRPr lang="en-US" sz="950" dirty="0"/>
          </a:p>
        </p:txBody>
      </p:sp>
      <p:sp>
        <p:nvSpPr>
          <p:cNvPr id="377" name="Shape 375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78" name="Text 376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Khe giữa hai kênh: 7,5 cm ở 10 m, 30 cm ở 40 m. Xa gấp 4 → điểm còn 1/16.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兩條線之間的縫：10 公尺 7.5 公分，40 公尺 30 公分。距離四倍，點數剩十六分之一。</a:t>
            </a:r>
            <a:endParaRPr lang="en-US" sz="1200" dirty="0"/>
          </a:p>
        </p:txBody>
      </p:sp>
      <p:pic>
        <p:nvPicPr>
          <p:cNvPr id="380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381" name="Text 37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  <p:sp>
        <p:nvSpPr>
          <p:cNvPr id="382" name="Text 37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kênh LiDAR: bao nhiêu điểm trên một người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光達線束數：一個人身上有幾點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EAF6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" y="1207008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«Kênh» = số tia laser xếp chồng theo chiều dọc. 64 kênh trải đều trong 27°, hai kênh cách nhau 0,43° — khe đó rộng 7,5 cm ở 10 m, nhưng 30 cm ở 40 m.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「線束」＝垂直疊了幾支雷射。64 線分佈在 27° 內，相鄰兩線差 0.43°——這道縫在 10 公尺寬 7.5 公分，到了 40 公尺就變成 30 公分。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56816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777240"/>
                <a:gridCol w="777240"/>
                <a:gridCol w="38404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kênh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線束數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Ý nghĩa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意思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kênh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16 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Rẻ. Ngoài 40 m gần như vô dụng với người đi bộ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便宜。40 公尺外對行人幾乎沒用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kênh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32 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Đủ cho tốc độ thấp trong đô thị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市區低速大致夠用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kênh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64 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Mức phổ biến của xe thử nghiệm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試驗車常見的等級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kênh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128 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Đắt hơn nhiều. Số điểm gấp đôi 64 kênh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貴很多。點數是 64 線的兩倍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24281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cột 80 m: 16 kênh cho 0 điểm, 128 kênh cho 5. Tiền mua chính là những điểm ở xa.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請看 80 公尺那一欄：16 線 0 點，128 線 5 點。多花的那些錢，買到的就是遠處那幾個點。</a:t>
            </a:r>
            <a:endParaRPr lang="en-US" sz="1200" dirty="0"/>
          </a:p>
        </p:txBody>
      </p:sp>
      <p:pic>
        <p:nvPicPr>
          <p:cNvPr id="8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2 · 第二輪上台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người đi bộ ở 40 m. Đổi số kênh LiDAR: 64 → 16 → 128.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行人固定在 40 公尺。把光達線束數改成 64 → 16 → 128。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nút LiDAR bên trái để mở tham số, rồi kéo thanh “số kênh”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先點左邊的「光達」展開參數，再拉「線束數」那條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lần đọc số điểm, và đọc dòng gợi ý ngay dưới thanh trượt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每次唸出點數，也唸出滑桿下面那行提示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40,0 m có đổi không? Vì sao?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 40.0 m 有變嗎？為什麼？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cuối là bẫy. Nghĩ kỹ trước khi trả lời.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最後一題是陷阱。想清楚再回答。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4 · 第四輪上台：從 30 公尺拖到車頭前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người từ 30 m vào sát đầu xe. Ghi lại: loại nào biến mất, loại nào xuất hiện.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把行人從 30 公尺一路拖到車頭前。記下來：哪一種消失了，哪一種出現了。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 → 10 m → 4 m: loại nào suốt cả đoạn đều không có số?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 m → 10 m → 4 m：哪一種從頭到尾都沒有數字？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âm bật lên ở mấy mét? LiDAR tắt ở mấy mét?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超音波在幾公尺的時候跳出來？光達在幾公尺的時候消失？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1 m, ai còn nói được “có người ngay trước mũi xe”?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拖到 1 公尺，還有誰能告訴你「車頭前有人」？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Càng gần càng dễ thấy? Kéo vào rồi biết.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愈近愈容易被看到？拖進去就知道不是。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số tia đó: trải rộng ra thì thưa, dồn hẹp lại thì dày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同樣那些射線：攤得愈廣就愈稀，集中起來就愈密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322366"/>
            <a:ext cx="3931920" cy="2518114"/>
          </a:xfrm>
          <a:prstGeom prst="roundRect">
            <a:avLst>
              <a:gd name="adj" fmla="val 3631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" y="1368086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rộng 120°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廣角 120°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H="1" flipV="1">
            <a:off x="1281040" y="2441448"/>
            <a:ext cx="1187840" cy="685800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396520" y="2272069"/>
            <a:ext cx="1072360" cy="855179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1535955" y="2121794"/>
            <a:ext cx="932925" cy="1005454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1696230" y="1993979"/>
            <a:ext cx="772650" cy="1133269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873765" y="1891479"/>
            <a:ext cx="595115" cy="1235769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2064594" y="1816584"/>
            <a:ext cx="404286" cy="1310664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2264454" y="1770968"/>
            <a:ext cx="204426" cy="1356280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468880" y="1755648"/>
            <a:ext cx="0" cy="1371600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468880" y="1770968"/>
            <a:ext cx="204426" cy="1356280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468880" y="1816584"/>
            <a:ext cx="404286" cy="1310664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468880" y="1891479"/>
            <a:ext cx="595115" cy="1235769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468880" y="1993979"/>
            <a:ext cx="772650" cy="1133269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468880" y="2121794"/>
            <a:ext cx="932925" cy="1005454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468880" y="2272069"/>
            <a:ext cx="1072360" cy="855179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468880" y="2441448"/>
            <a:ext cx="1187840" cy="685800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 flipV="1">
            <a:off x="1281040" y="2441448"/>
            <a:ext cx="1187840" cy="685800"/>
          </a:xfrm>
          <a:prstGeom prst="line">
            <a:avLst/>
          </a:prstGeom>
          <a:noFill/>
          <a:ln w="19050">
            <a:solidFill>
              <a:srgbClr val="007F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468880" y="2441448"/>
            <a:ext cx="1187840" cy="685800"/>
          </a:xfrm>
          <a:prstGeom prst="line">
            <a:avLst/>
          </a:prstGeom>
          <a:noFill/>
          <a:ln w="19050">
            <a:solidFill>
              <a:srgbClr val="007F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38108" y="2250190"/>
            <a:ext cx="319674" cy="97292"/>
          </a:xfrm>
          <a:prstGeom prst="roundRect">
            <a:avLst>
              <a:gd name="adj" fmla="val 281955"/>
            </a:avLst>
          </a:prstGeom>
          <a:solidFill>
            <a:srgbClr val="007F72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7602" y="2180695"/>
            <a:ext cx="173736" cy="76444"/>
          </a:xfrm>
          <a:prstGeom prst="trapezoid">
            <a:avLst/>
          </a:prstGeom>
          <a:solidFill>
            <a:srgbClr val="007F72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79805" y="2326634"/>
            <a:ext cx="69494" cy="69494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25" name="Shape 23"/>
          <p:cNvSpPr/>
          <p:nvPr/>
        </p:nvSpPr>
        <p:spPr>
          <a:xfrm>
            <a:off x="1746591" y="2326634"/>
            <a:ext cx="69494" cy="69494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7178" y="2344007"/>
            <a:ext cx="34747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763965" y="2344007"/>
            <a:ext cx="34747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4133" y="1808317"/>
            <a:ext cx="69494" cy="69494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29" name="Shape 27"/>
          <p:cNvSpPr/>
          <p:nvPr/>
        </p:nvSpPr>
        <p:spPr>
          <a:xfrm>
            <a:off x="2413284" y="1884761"/>
            <a:ext cx="111191" cy="125090"/>
          </a:xfrm>
          <a:prstGeom prst="roundRect">
            <a:avLst>
              <a:gd name="adj" fmla="val 230263"/>
            </a:avLst>
          </a:prstGeom>
          <a:solidFill>
            <a:srgbClr val="007F72"/>
          </a:solidFill>
          <a:ln/>
        </p:spPr>
      </p:sp>
      <p:sp>
        <p:nvSpPr>
          <p:cNvPr id="30" name="Shape 28"/>
          <p:cNvSpPr/>
          <p:nvPr/>
        </p:nvSpPr>
        <p:spPr>
          <a:xfrm rot="960000">
            <a:off x="2394174" y="1895185"/>
            <a:ext cx="27798" cy="90343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31" name="Shape 29"/>
          <p:cNvSpPr/>
          <p:nvPr/>
        </p:nvSpPr>
        <p:spPr>
          <a:xfrm rot="-960000">
            <a:off x="2515789" y="1895185"/>
            <a:ext cx="27798" cy="90343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32" name="Shape 30"/>
          <p:cNvSpPr/>
          <p:nvPr/>
        </p:nvSpPr>
        <p:spPr>
          <a:xfrm rot="300000">
            <a:off x="2432395" y="1992478"/>
            <a:ext cx="31272" cy="125090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33" name="Shape 31"/>
          <p:cNvSpPr/>
          <p:nvPr/>
        </p:nvSpPr>
        <p:spPr>
          <a:xfrm rot="-300000">
            <a:off x="2474092" y="1992478"/>
            <a:ext cx="31272" cy="125090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34" name="Shape 32"/>
          <p:cNvSpPr/>
          <p:nvPr/>
        </p:nvSpPr>
        <p:spPr>
          <a:xfrm>
            <a:off x="3018374" y="2198498"/>
            <a:ext cx="319674" cy="97292"/>
          </a:xfrm>
          <a:prstGeom prst="roundRect">
            <a:avLst>
              <a:gd name="adj" fmla="val 281955"/>
            </a:avLst>
          </a:prstGeom>
          <a:solidFill>
            <a:srgbClr val="007F72"/>
          </a:solidFill>
          <a:ln/>
        </p:spPr>
      </p:sp>
      <p:sp>
        <p:nvSpPr>
          <p:cNvPr id="35" name="Shape 33"/>
          <p:cNvSpPr/>
          <p:nvPr/>
        </p:nvSpPr>
        <p:spPr>
          <a:xfrm>
            <a:off x="3087868" y="2129003"/>
            <a:ext cx="173736" cy="76444"/>
          </a:xfrm>
          <a:prstGeom prst="trapezoid">
            <a:avLst/>
          </a:prstGeom>
          <a:solidFill>
            <a:srgbClr val="007F72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060070" y="2274942"/>
            <a:ext cx="69494" cy="69494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37" name="Shape 35"/>
          <p:cNvSpPr/>
          <p:nvPr/>
        </p:nvSpPr>
        <p:spPr>
          <a:xfrm>
            <a:off x="3226857" y="2274942"/>
            <a:ext cx="69494" cy="69494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38" name="Shape 36"/>
          <p:cNvSpPr/>
          <p:nvPr/>
        </p:nvSpPr>
        <p:spPr>
          <a:xfrm>
            <a:off x="3077444" y="2292315"/>
            <a:ext cx="34747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244230" y="2292315"/>
            <a:ext cx="34747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395728" y="3054096"/>
            <a:ext cx="146304" cy="14630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920240" y="2724912"/>
            <a:ext cx="109728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120°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30936" y="3236976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Thấy hết cả ngã tư, nhưng ở 50 m người chỉ chiếm 9 điểm ảnh.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整個路口都看得到，但 50 公尺外的人只佔 9 個像素。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1322366"/>
            <a:ext cx="3931920" cy="2518114"/>
          </a:xfrm>
          <a:prstGeom prst="roundRect">
            <a:avLst>
              <a:gd name="adj" fmla="val 3631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37176" y="1368086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hẹp 30°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窄角 30°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 flipH="1" flipV="1">
            <a:off x="6320124" y="1802384"/>
            <a:ext cx="354996" cy="1324864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6369910" y="1790037"/>
            <a:ext cx="305210" cy="1337211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6420124" y="1779560"/>
            <a:ext cx="254996" cy="1347688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6470694" y="1770968"/>
            <a:ext cx="204426" cy="1356280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6521550" y="1764272"/>
            <a:ext cx="153570" cy="1362976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6572620" y="1759483"/>
            <a:ext cx="102500" cy="1367765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6623834" y="1756607"/>
            <a:ext cx="51286" cy="1370641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6675120" y="1755648"/>
            <a:ext cx="0" cy="1371600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675120" y="1756607"/>
            <a:ext cx="51286" cy="1370641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6675120" y="1759483"/>
            <a:ext cx="102500" cy="1367765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6675120" y="1764272"/>
            <a:ext cx="153570" cy="1362976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6675120" y="1770968"/>
            <a:ext cx="204426" cy="1356280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675120" y="1779560"/>
            <a:ext cx="254996" cy="1347688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6675120" y="1790037"/>
            <a:ext cx="305210" cy="1337211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6675120" y="1802384"/>
            <a:ext cx="354996" cy="1324864"/>
          </a:xfrm>
          <a:prstGeom prst="line">
            <a:avLst/>
          </a:prstGeom>
          <a:noFill/>
          <a:ln w="9525">
            <a:solidFill>
              <a:srgbClr val="8FB8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6320124" y="1802384"/>
            <a:ext cx="354996" cy="1324864"/>
          </a:xfrm>
          <a:prstGeom prst="line">
            <a:avLst/>
          </a:prstGeom>
          <a:noFill/>
          <a:ln w="19050">
            <a:solidFill>
              <a:srgbClr val="007F7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6675120" y="1802384"/>
            <a:ext cx="354996" cy="1324864"/>
          </a:xfrm>
          <a:prstGeom prst="line">
            <a:avLst/>
          </a:prstGeom>
          <a:noFill/>
          <a:ln w="19050">
            <a:solidFill>
              <a:srgbClr val="007F7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44348" y="2250190"/>
            <a:ext cx="319674" cy="97292"/>
          </a:xfrm>
          <a:prstGeom prst="roundRect">
            <a:avLst>
              <a:gd name="adj" fmla="val 281955"/>
            </a:avLst>
          </a:prstGeom>
          <a:solidFill>
            <a:srgbClr val="B8C4CE"/>
          </a:solidFill>
          <a:ln/>
        </p:spPr>
      </p:sp>
      <p:sp>
        <p:nvSpPr>
          <p:cNvPr id="63" name="Shape 61"/>
          <p:cNvSpPr/>
          <p:nvPr/>
        </p:nvSpPr>
        <p:spPr>
          <a:xfrm>
            <a:off x="5813842" y="2180695"/>
            <a:ext cx="173736" cy="76444"/>
          </a:xfrm>
          <a:prstGeom prst="trapezoid">
            <a:avLst/>
          </a:prstGeom>
          <a:solidFill>
            <a:srgbClr val="B8C4CE">
              <a:alpha val="7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5786045" y="2326634"/>
            <a:ext cx="69494" cy="6949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65" name="Shape 63"/>
          <p:cNvSpPr/>
          <p:nvPr/>
        </p:nvSpPr>
        <p:spPr>
          <a:xfrm>
            <a:off x="5952831" y="2326634"/>
            <a:ext cx="69494" cy="6949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66" name="Shape 64"/>
          <p:cNvSpPr/>
          <p:nvPr/>
        </p:nvSpPr>
        <p:spPr>
          <a:xfrm>
            <a:off x="5803418" y="2344007"/>
            <a:ext cx="34747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5970205" y="2344007"/>
            <a:ext cx="34747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5730449" y="205158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6640373" y="1808317"/>
            <a:ext cx="69494" cy="69494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70" name="Shape 68"/>
          <p:cNvSpPr/>
          <p:nvPr/>
        </p:nvSpPr>
        <p:spPr>
          <a:xfrm>
            <a:off x="6619524" y="1884761"/>
            <a:ext cx="111191" cy="125090"/>
          </a:xfrm>
          <a:prstGeom prst="roundRect">
            <a:avLst>
              <a:gd name="adj" fmla="val 230263"/>
            </a:avLst>
          </a:prstGeom>
          <a:solidFill>
            <a:srgbClr val="007F72"/>
          </a:solidFill>
          <a:ln/>
        </p:spPr>
      </p:sp>
      <p:sp>
        <p:nvSpPr>
          <p:cNvPr id="71" name="Shape 69"/>
          <p:cNvSpPr/>
          <p:nvPr/>
        </p:nvSpPr>
        <p:spPr>
          <a:xfrm rot="960000">
            <a:off x="6600414" y="1895185"/>
            <a:ext cx="27798" cy="90343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72" name="Shape 70"/>
          <p:cNvSpPr/>
          <p:nvPr/>
        </p:nvSpPr>
        <p:spPr>
          <a:xfrm rot="-960000">
            <a:off x="6722029" y="1895185"/>
            <a:ext cx="27798" cy="90343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73" name="Shape 71"/>
          <p:cNvSpPr/>
          <p:nvPr/>
        </p:nvSpPr>
        <p:spPr>
          <a:xfrm rot="300000">
            <a:off x="6638635" y="1992478"/>
            <a:ext cx="31272" cy="125090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74" name="Shape 72"/>
          <p:cNvSpPr/>
          <p:nvPr/>
        </p:nvSpPr>
        <p:spPr>
          <a:xfrm rot="-300000">
            <a:off x="6680332" y="1992478"/>
            <a:ext cx="31272" cy="125090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75" name="Shape 73"/>
          <p:cNvSpPr/>
          <p:nvPr/>
        </p:nvSpPr>
        <p:spPr>
          <a:xfrm>
            <a:off x="7224614" y="2198498"/>
            <a:ext cx="319674" cy="97292"/>
          </a:xfrm>
          <a:prstGeom prst="roundRect">
            <a:avLst>
              <a:gd name="adj" fmla="val 281955"/>
            </a:avLst>
          </a:prstGeom>
          <a:solidFill>
            <a:srgbClr val="B8C4CE"/>
          </a:solidFill>
          <a:ln/>
        </p:spPr>
      </p:sp>
      <p:sp>
        <p:nvSpPr>
          <p:cNvPr id="76" name="Shape 74"/>
          <p:cNvSpPr/>
          <p:nvPr/>
        </p:nvSpPr>
        <p:spPr>
          <a:xfrm>
            <a:off x="7294108" y="2129003"/>
            <a:ext cx="173736" cy="76444"/>
          </a:xfrm>
          <a:prstGeom prst="trapezoid">
            <a:avLst/>
          </a:prstGeom>
          <a:solidFill>
            <a:srgbClr val="B8C4CE">
              <a:alpha val="7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266310" y="2274942"/>
            <a:ext cx="69494" cy="6949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78" name="Shape 76"/>
          <p:cNvSpPr/>
          <p:nvPr/>
        </p:nvSpPr>
        <p:spPr>
          <a:xfrm>
            <a:off x="7433097" y="2274942"/>
            <a:ext cx="69494" cy="6949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79" name="Shape 77"/>
          <p:cNvSpPr/>
          <p:nvPr/>
        </p:nvSpPr>
        <p:spPr>
          <a:xfrm>
            <a:off x="7283684" y="2292315"/>
            <a:ext cx="34747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7450470" y="2292315"/>
            <a:ext cx="34747" cy="3474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210715" y="199989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82" name="Shape 80"/>
          <p:cNvSpPr/>
          <p:nvPr/>
        </p:nvSpPr>
        <p:spPr>
          <a:xfrm>
            <a:off x="6601968" y="3054096"/>
            <a:ext cx="146304" cy="14630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6126480" y="2724912"/>
            <a:ext cx="109728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837176" y="3236976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50 m người chiếm 36 điểm ảnh — nhưng hai bên biến mất.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公尺外的人佔 36 個像素——但兩側整個不見了。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thật không chọn một bên: lắp một cái hẹp nhìn xa, thêm mấy cái rộng nhìn gần.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真車不二選一：裝一顆窄的看遠，再加幾顆廣的看近。</a:t>
            </a:r>
            <a:endParaRPr lang="en-US" sz="1200" dirty="0"/>
          </a:p>
        </p:txBody>
      </p:sp>
      <p:pic>
        <p:nvPicPr>
          <p:cNvPr id="88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89" name="Text 85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  <p:sp>
        <p:nvSpPr>
          <p:cNvPr id="90" name="Text 86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Video · 業界真的在吵這件事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hay LiDAR: cuộc tranh cãi lớn nhất của ngành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相機派還是光達派：這一行最大的爭論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3904488" cy="2578608"/>
          </a:xfrm>
          <a:prstGeom prst="roundRect">
            <a:avLst>
              <a:gd name="adj" fmla="val 35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8781" y="1626535"/>
            <a:ext cx="168981" cy="96012"/>
          </a:xfrm>
          <a:prstGeom prst="roundRect">
            <a:avLst>
              <a:gd name="adj" fmla="val 133333"/>
            </a:avLst>
          </a:prstGeom>
          <a:solidFill>
            <a:srgbClr val="2E7FD6"/>
          </a:solidFill>
          <a:ln/>
        </p:spPr>
      </p:sp>
      <p:sp>
        <p:nvSpPr>
          <p:cNvPr id="6" name="Shape 4"/>
          <p:cNvSpPr/>
          <p:nvPr/>
        </p:nvSpPr>
        <p:spPr>
          <a:xfrm>
            <a:off x="987186" y="1607332"/>
            <a:ext cx="49926" cy="23043"/>
          </a:xfrm>
          <a:prstGeom prst="roundRect">
            <a:avLst>
              <a:gd name="adj" fmla="val 1190470"/>
            </a:avLst>
          </a:prstGeom>
          <a:solidFill>
            <a:srgbClr val="2E7FD6"/>
          </a:solidFill>
          <a:ln/>
        </p:spPr>
      </p:sp>
      <p:sp>
        <p:nvSpPr>
          <p:cNvPr id="7" name="Shape 5"/>
          <p:cNvSpPr/>
          <p:nvPr/>
        </p:nvSpPr>
        <p:spPr>
          <a:xfrm>
            <a:off x="1002548" y="1641897"/>
            <a:ext cx="61448" cy="61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15990" y="1655338"/>
            <a:ext cx="34564" cy="34564"/>
          </a:xfrm>
          <a:prstGeom prst="ellipse">
            <a:avLst/>
          </a:prstGeom>
          <a:solidFill>
            <a:srgbClr val="2E7FD6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9358" y="1638056"/>
            <a:ext cx="19202" cy="1920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2245" y="1626535"/>
            <a:ext cx="168981" cy="96012"/>
          </a:xfrm>
          <a:prstGeom prst="roundRect">
            <a:avLst>
              <a:gd name="adj" fmla="val 133333"/>
            </a:avLst>
          </a:prstGeom>
          <a:solidFill>
            <a:srgbClr val="2E7FD6"/>
          </a:solidFill>
          <a:ln/>
        </p:spPr>
      </p:sp>
      <p:sp>
        <p:nvSpPr>
          <p:cNvPr id="11" name="Shape 9"/>
          <p:cNvSpPr/>
          <p:nvPr/>
        </p:nvSpPr>
        <p:spPr>
          <a:xfrm>
            <a:off x="1270650" y="1607332"/>
            <a:ext cx="49926" cy="23043"/>
          </a:xfrm>
          <a:prstGeom prst="roundRect">
            <a:avLst>
              <a:gd name="adj" fmla="val 1190470"/>
            </a:avLst>
          </a:prstGeom>
          <a:solidFill>
            <a:srgbClr val="2E7F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6012" y="1641897"/>
            <a:ext cx="61448" cy="61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9454" y="1655338"/>
            <a:ext cx="34564" cy="34564"/>
          </a:xfrm>
          <a:prstGeom prst="ellipse">
            <a:avLst/>
          </a:prstGeom>
          <a:solidFill>
            <a:srgbClr val="2E7FD6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62822" y="1638056"/>
            <a:ext cx="19202" cy="1920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15709" y="1626535"/>
            <a:ext cx="168981" cy="96012"/>
          </a:xfrm>
          <a:prstGeom prst="roundRect">
            <a:avLst>
              <a:gd name="adj" fmla="val 133333"/>
            </a:avLst>
          </a:prstGeom>
          <a:solidFill>
            <a:srgbClr val="2E7FD6"/>
          </a:solidFill>
          <a:ln/>
        </p:spPr>
      </p:sp>
      <p:sp>
        <p:nvSpPr>
          <p:cNvPr id="16" name="Shape 14"/>
          <p:cNvSpPr/>
          <p:nvPr/>
        </p:nvSpPr>
        <p:spPr>
          <a:xfrm>
            <a:off x="1554114" y="1607332"/>
            <a:ext cx="49926" cy="23043"/>
          </a:xfrm>
          <a:prstGeom prst="roundRect">
            <a:avLst>
              <a:gd name="adj" fmla="val 1190470"/>
            </a:avLst>
          </a:prstGeom>
          <a:solidFill>
            <a:srgbClr val="2E7FD6"/>
          </a:solidFill>
          <a:ln/>
        </p:spPr>
      </p:sp>
      <p:sp>
        <p:nvSpPr>
          <p:cNvPr id="17" name="Shape 15"/>
          <p:cNvSpPr/>
          <p:nvPr/>
        </p:nvSpPr>
        <p:spPr>
          <a:xfrm>
            <a:off x="1569476" y="1641897"/>
            <a:ext cx="61448" cy="61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82918" y="1655338"/>
            <a:ext cx="34564" cy="34564"/>
          </a:xfrm>
          <a:prstGeom prst="ellipse">
            <a:avLst/>
          </a:prstGeom>
          <a:solidFill>
            <a:srgbClr val="2E7FD6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46286" y="1638056"/>
            <a:ext cx="19202" cy="1920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" y="1792224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D9E2EA"/>
          </a:solidFill>
          <a:ln w="8890">
            <a:solidFill>
              <a:srgbClr val="5F71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" y="201168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C8D3DE"/>
          </a:solidFill>
          <a:ln w="8890">
            <a:solidFill>
              <a:srgbClr val="5F71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2258568"/>
            <a:ext cx="201168" cy="201168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1056" y="2258568"/>
            <a:ext cx="201168" cy="201168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" y="2359152"/>
            <a:ext cx="1481328" cy="0"/>
          </a:xfrm>
          <a:prstGeom prst="line">
            <a:avLst/>
          </a:prstGeom>
          <a:noFill/>
          <a:ln w="19050">
            <a:solidFill>
              <a:srgbClr val="1A27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48840" y="142646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148840" y="1719072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camera · không LiDAR*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顆相機・不裝光達*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217627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Rẻ — nhưng khoảng cách phải suy ra.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便宜——但距離是算出來的。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" y="2532888"/>
            <a:ext cx="3648456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2280000">
            <a:off x="1064181" y="2893453"/>
            <a:ext cx="65288" cy="6913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-1140000">
            <a:off x="1076884" y="2916849"/>
            <a:ext cx="65288" cy="6913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81278" y="2943106"/>
            <a:ext cx="65288" cy="6913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140000">
            <a:off x="1076884" y="2969363"/>
            <a:ext cx="65288" cy="6913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2280000">
            <a:off x="1064181" y="2992759"/>
            <a:ext cx="65288" cy="6913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79505" y="2908158"/>
            <a:ext cx="69129" cy="24963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35" name="Shape 33"/>
          <p:cNvSpPr/>
          <p:nvPr/>
        </p:nvSpPr>
        <p:spPr>
          <a:xfrm>
            <a:off x="979505" y="2919679"/>
            <a:ext cx="69129" cy="65288"/>
          </a:xfrm>
          <a:prstGeom prst="rect">
            <a:avLst/>
          </a:prstGeom>
          <a:solidFill>
            <a:srgbClr val="3FA34D"/>
          </a:solidFill>
          <a:ln/>
        </p:spPr>
      </p:sp>
      <p:sp>
        <p:nvSpPr>
          <p:cNvPr id="36" name="Shape 34"/>
          <p:cNvSpPr/>
          <p:nvPr/>
        </p:nvSpPr>
        <p:spPr>
          <a:xfrm>
            <a:off x="979505" y="2971526"/>
            <a:ext cx="69129" cy="24963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37" name="Shape 35"/>
          <p:cNvSpPr/>
          <p:nvPr/>
        </p:nvSpPr>
        <p:spPr>
          <a:xfrm>
            <a:off x="979505" y="2938882"/>
            <a:ext cx="69129" cy="13442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02548" y="2996489"/>
            <a:ext cx="23043" cy="26883"/>
          </a:xfrm>
          <a:prstGeom prst="rect">
            <a:avLst/>
          </a:prstGeom>
          <a:solidFill>
            <a:srgbClr val="3FA34D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232245" y="2915839"/>
            <a:ext cx="168981" cy="96012"/>
          </a:xfrm>
          <a:prstGeom prst="roundRect">
            <a:avLst>
              <a:gd name="adj" fmla="val 133333"/>
            </a:avLst>
          </a:prstGeom>
          <a:solidFill>
            <a:srgbClr val="2E7F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270650" y="2896636"/>
            <a:ext cx="49926" cy="23043"/>
          </a:xfrm>
          <a:prstGeom prst="roundRect">
            <a:avLst>
              <a:gd name="adj" fmla="val 1190470"/>
            </a:avLst>
          </a:prstGeom>
          <a:solidFill>
            <a:srgbClr val="2E7FD6"/>
          </a:solidFill>
          <a:ln/>
        </p:spPr>
      </p:sp>
      <p:sp>
        <p:nvSpPr>
          <p:cNvPr id="41" name="Shape 39"/>
          <p:cNvSpPr/>
          <p:nvPr/>
        </p:nvSpPr>
        <p:spPr>
          <a:xfrm>
            <a:off x="1286012" y="2931201"/>
            <a:ext cx="61448" cy="61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299454" y="2944642"/>
            <a:ext cx="34564" cy="34564"/>
          </a:xfrm>
          <a:prstGeom prst="ellipse">
            <a:avLst/>
          </a:prstGeom>
          <a:solidFill>
            <a:srgbClr val="2E7FD6">
              <a:alpha val="7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62822" y="2927360"/>
            <a:ext cx="19202" cy="1920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523390" y="2942722"/>
            <a:ext cx="34564" cy="34564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550274" y="2904317"/>
            <a:ext cx="46086" cy="111374"/>
          </a:xfrm>
          <a:prstGeom prst="chevron">
            <a:avLst/>
          </a:prstGeom>
          <a:ln w="31750">
            <a:solidFill>
              <a:srgbClr val="C98A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88679" y="2888955"/>
            <a:ext cx="49926" cy="142098"/>
          </a:xfrm>
          <a:prstGeom prst="chevron">
            <a:avLst/>
          </a:prstGeom>
          <a:ln w="31750">
            <a:solidFill>
              <a:srgbClr val="C98A00">
                <a:alpha val="7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27083" y="2873593"/>
            <a:ext cx="53767" cy="172822"/>
          </a:xfrm>
          <a:prstGeom prst="chevron">
            <a:avLst/>
          </a:prstGeom>
          <a:ln w="31750">
            <a:solidFill>
              <a:srgbClr val="C98A00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1832" y="3081528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D9E2EA"/>
          </a:solidFill>
          <a:ln w="8890">
            <a:solidFill>
              <a:srgbClr val="5F718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" y="3300984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C8D3DE"/>
          </a:solidFill>
          <a:ln w="8890">
            <a:solidFill>
              <a:srgbClr val="5F718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1248" y="3547872"/>
            <a:ext cx="201168" cy="201168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51" name="Shape 49"/>
          <p:cNvSpPr/>
          <p:nvPr/>
        </p:nvSpPr>
        <p:spPr>
          <a:xfrm>
            <a:off x="1591056" y="3547872"/>
            <a:ext cx="201168" cy="201168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52" name="Shape 50"/>
          <p:cNvSpPr/>
          <p:nvPr/>
        </p:nvSpPr>
        <p:spPr>
          <a:xfrm>
            <a:off x="576072" y="3648456"/>
            <a:ext cx="1481328" cy="0"/>
          </a:xfrm>
          <a:prstGeom prst="line">
            <a:avLst/>
          </a:prstGeom>
          <a:noFill/>
          <a:ln w="19050">
            <a:solidFill>
              <a:srgbClr val="1A27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148840" y="271576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Waymo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2148840" y="3008376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cam · 5 LiDAR · 6 radar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29 顆相機・5 顆光達・6 顆雷達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2148840" y="3465576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Đắt — nhưng đo thẳng ra mét.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貴很多——但距離是直接量到的。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36592" y="1243584"/>
            <a:ext cx="3904488" cy="2578608"/>
          </a:xfrm>
          <a:prstGeom prst="roundRect">
            <a:avLst>
              <a:gd name="adj" fmla="val 35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19472" y="1408176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919472" y="14538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5340096" y="1389888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Tesla, Waymo and the camera vs. lidar showdown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4919472" y="1847088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CNBC Television　·　</a:t>
            </a:r>
            <a:endParaRPr lang="en-US" sz="900" dirty="0"/>
          </a:p>
        </p:txBody>
      </p:sp>
      <p:sp>
        <p:nvSpPr>
          <p:cNvPr id="61" name="Text 59">
            <a:hlinkClick r:id="rId1" tooltip=""/>
          </p:cNvPr>
          <p:cNvSpPr txBox="1"/>
          <p:nvPr/>
        </p:nvSpPr>
        <p:spPr>
          <a:xfrm>
            <a:off x="4919472" y="2029968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https://www.youtube.com/watch?v=_IQvKtuVKUA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919472" y="2304288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047488" y="2267712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Bên camera: rẻ, giống mắt người, dữ liệu nhiều để huấn luyện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相機派：便宜、跟人眼一樣、資料多好訓練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919472" y="2796943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047488" y="2760367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Bên LiDAR: đo thẳng ra mét, không phải đoán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光達派：直接量出公尺，不用猜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919472" y="3147267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5047488" y="3110691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hỏi: hai bên đang cãi về ĐỘ CHÍNH XÁC hay về TIỀN?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問題：兩邊吵的到底是精度，還是錢？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*Cấu hình theo công bố của hãng, tính đến 9/2026. Sau video, nhìn lại bảng vừa nãy.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＊配置依各廠公開資料，資料時點 2026 年 9 月。看完回頭看剛剛那張表：每一種改善都有代價。</a:t>
            </a:r>
            <a:endParaRPr lang="en-US" sz="1150" dirty="0"/>
          </a:p>
        </p:txBody>
      </p:sp>
      <p:pic>
        <p:nvPicPr>
          <p:cNvPr id="71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72" name="Text 68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chiếc xe, cùng một LiDAR — chỉ đổi chỗ lắp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同一台車、同一顆光達，只改裝的位置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3931920" cy="2706624"/>
          </a:xfrm>
          <a:prstGeom prst="roundRect">
            <a:avLst>
              <a:gd name="adj" fmla="val 337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" y="118872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Lắp ở đầu xe · cao 0,8 m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裝在車頭・高 0.8 公尺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" y="2761488"/>
            <a:ext cx="3675888" cy="0"/>
          </a:xfrm>
          <a:prstGeom prst="line">
            <a:avLst/>
          </a:prstGeom>
          <a:noFill/>
          <a:ln w="25400">
            <a:solidFill>
              <a:srgbClr val="1A27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24328" y="2395728"/>
            <a:ext cx="365760" cy="365760"/>
          </a:xfrm>
          <a:prstGeom prst="rtTriangle">
            <a:avLst/>
          </a:prstGeom>
          <a:solidFill>
            <a:srgbClr val="D9463E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624328" y="2670048"/>
            <a:ext cx="365760" cy="91440"/>
          </a:xfrm>
          <a:prstGeom prst="rect">
            <a:avLst/>
          </a:prstGeom>
          <a:solidFill>
            <a:srgbClr val="D9463E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990088" y="2377440"/>
            <a:ext cx="0" cy="384048"/>
          </a:xfrm>
          <a:prstGeom prst="line">
            <a:avLst/>
          </a:prstGeom>
          <a:noFill/>
          <a:ln w="12700">
            <a:solidFill>
              <a:srgbClr val="D9463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04088" y="235000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C8D3DE"/>
          </a:solidFill>
          <a:ln w="9525">
            <a:solidFill>
              <a:srgbClr val="5F71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075688"/>
            <a:ext cx="914400" cy="283464"/>
          </a:xfrm>
          <a:prstGeom prst="roundRect">
            <a:avLst>
              <a:gd name="adj" fmla="val 16129"/>
            </a:avLst>
          </a:prstGeom>
          <a:solidFill>
            <a:srgbClr val="D9E2EA"/>
          </a:solidFill>
          <a:ln w="9525">
            <a:solidFill>
              <a:srgbClr val="5F71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642616"/>
            <a:ext cx="237744" cy="237744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12" name="Shape 10"/>
          <p:cNvSpPr/>
          <p:nvPr/>
        </p:nvSpPr>
        <p:spPr>
          <a:xfrm>
            <a:off x="2093976" y="2642616"/>
            <a:ext cx="237744" cy="237744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4328" y="2395728"/>
            <a:ext cx="365760" cy="365760"/>
          </a:xfrm>
          <a:prstGeom prst="line">
            <a:avLst/>
          </a:prstGeom>
          <a:noFill/>
          <a:ln w="19050">
            <a:solidFill>
              <a:srgbClr val="D946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229514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74520" y="22402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487168" y="1892808"/>
            <a:ext cx="640080" cy="237744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88436" y="2268626"/>
            <a:ext cx="100584" cy="100584"/>
          </a:xfrm>
          <a:prstGeom prst="ellipse">
            <a:avLst/>
          </a:prstGeom>
          <a:solidFill>
            <a:srgbClr val="007F72"/>
          </a:solidFill>
          <a:ln/>
        </p:spPr>
      </p:sp>
      <p:sp>
        <p:nvSpPr>
          <p:cNvPr id="18" name="Shape 16"/>
          <p:cNvSpPr/>
          <p:nvPr/>
        </p:nvSpPr>
        <p:spPr>
          <a:xfrm>
            <a:off x="3458261" y="2379269"/>
            <a:ext cx="160934" cy="181051"/>
          </a:xfrm>
          <a:prstGeom prst="roundRect">
            <a:avLst>
              <a:gd name="adj" fmla="val 159091"/>
            </a:avLst>
          </a:prstGeom>
          <a:solidFill>
            <a:srgbClr val="007F72"/>
          </a:solidFill>
          <a:ln/>
        </p:spPr>
      </p:sp>
      <p:sp>
        <p:nvSpPr>
          <p:cNvPr id="19" name="Shape 17"/>
          <p:cNvSpPr/>
          <p:nvPr/>
        </p:nvSpPr>
        <p:spPr>
          <a:xfrm rot="960000">
            <a:off x="3430600" y="2394356"/>
            <a:ext cx="40234" cy="130759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20" name="Shape 18"/>
          <p:cNvSpPr/>
          <p:nvPr/>
        </p:nvSpPr>
        <p:spPr>
          <a:xfrm rot="-960000">
            <a:off x="3606622" y="2394356"/>
            <a:ext cx="40234" cy="130759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21" name="Shape 19"/>
          <p:cNvSpPr/>
          <p:nvPr/>
        </p:nvSpPr>
        <p:spPr>
          <a:xfrm rot="300000">
            <a:off x="3485921" y="2535174"/>
            <a:ext cx="45263" cy="181051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22" name="Shape 20"/>
          <p:cNvSpPr/>
          <p:nvPr/>
        </p:nvSpPr>
        <p:spPr>
          <a:xfrm rot="-300000">
            <a:off x="3546272" y="2535174"/>
            <a:ext cx="45263" cy="181051"/>
          </a:xfrm>
          <a:prstGeom prst="rect">
            <a:avLst/>
          </a:prstGeom>
          <a:solidFill>
            <a:srgbClr val="007F7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" y="283464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mù chỉ 0,8 m → THẤY</a:t>
            </a:r>
            <a:endParaRPr lang="en-US" sz="11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盲區只到車頭前 0.8 公尺 → 這個小孩看得到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" y="3328416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được sát xe, nhưng xe phía trước che mất tầm xa.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車身旁邊看得到，但遠處容易被前車擋住。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133856"/>
            <a:ext cx="3931920" cy="2706624"/>
          </a:xfrm>
          <a:prstGeom prst="roundRect">
            <a:avLst>
              <a:gd name="adj" fmla="val 337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37176" y="118872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Lắp trên nóc · cao 1,8 m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裝在車頂・高 1.8 公尺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37176" y="2761488"/>
            <a:ext cx="3675888" cy="0"/>
          </a:xfrm>
          <a:prstGeom prst="line">
            <a:avLst/>
          </a:prstGeom>
          <a:noFill/>
          <a:ln w="25400">
            <a:solidFill>
              <a:srgbClr val="1A27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30568" y="2256162"/>
            <a:ext cx="1600200" cy="505326"/>
          </a:xfrm>
          <a:prstGeom prst="rtTriangle">
            <a:avLst/>
          </a:prstGeom>
          <a:solidFill>
            <a:srgbClr val="D9463E">
              <a:alpha val="1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30568" y="2670048"/>
            <a:ext cx="1600200" cy="91440"/>
          </a:xfrm>
          <a:prstGeom prst="rect">
            <a:avLst/>
          </a:prstGeom>
          <a:solidFill>
            <a:srgbClr val="D9463E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430768" y="2377440"/>
            <a:ext cx="0" cy="384048"/>
          </a:xfrm>
          <a:prstGeom prst="line">
            <a:avLst/>
          </a:prstGeom>
          <a:noFill/>
          <a:ln w="12700">
            <a:solidFill>
              <a:srgbClr val="D9463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910328" y="2350008"/>
            <a:ext cx="1920240" cy="411480"/>
          </a:xfrm>
          <a:prstGeom prst="roundRect">
            <a:avLst>
              <a:gd name="adj" fmla="val 13333"/>
            </a:avLst>
          </a:prstGeom>
          <a:solidFill>
            <a:srgbClr val="C8D3DE"/>
          </a:solidFill>
          <a:ln w="9525">
            <a:solidFill>
              <a:srgbClr val="5F71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21808" y="2075688"/>
            <a:ext cx="914400" cy="283464"/>
          </a:xfrm>
          <a:prstGeom prst="roundRect">
            <a:avLst>
              <a:gd name="adj" fmla="val 16129"/>
            </a:avLst>
          </a:prstGeom>
          <a:solidFill>
            <a:srgbClr val="D9E2EA"/>
          </a:solidFill>
          <a:ln w="9525">
            <a:solidFill>
              <a:srgbClr val="5F71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57216" y="2642616"/>
            <a:ext cx="237744" cy="237744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0216" y="2642616"/>
            <a:ext cx="237744" cy="237744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35" name="Shape 33"/>
          <p:cNvSpPr/>
          <p:nvPr/>
        </p:nvSpPr>
        <p:spPr>
          <a:xfrm>
            <a:off x="5824728" y="1938528"/>
            <a:ext cx="2606040" cy="822960"/>
          </a:xfrm>
          <a:prstGeom prst="line">
            <a:avLst/>
          </a:prstGeom>
          <a:noFill/>
          <a:ln w="19050">
            <a:solidFill>
              <a:srgbClr val="D946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96712" y="183794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74920" y="17830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m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0628" y="1892808"/>
            <a:ext cx="640080" cy="237744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94676" y="2268626"/>
            <a:ext cx="100584" cy="100584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40" name="Shape 38"/>
          <p:cNvSpPr/>
          <p:nvPr/>
        </p:nvSpPr>
        <p:spPr>
          <a:xfrm>
            <a:off x="7664501" y="2379269"/>
            <a:ext cx="160934" cy="181051"/>
          </a:xfrm>
          <a:prstGeom prst="roundRect">
            <a:avLst>
              <a:gd name="adj" fmla="val 159091"/>
            </a:avLst>
          </a:prstGeom>
          <a:solidFill>
            <a:srgbClr val="D9463E"/>
          </a:solidFill>
          <a:ln/>
        </p:spPr>
      </p:sp>
      <p:sp>
        <p:nvSpPr>
          <p:cNvPr id="41" name="Shape 39"/>
          <p:cNvSpPr/>
          <p:nvPr/>
        </p:nvSpPr>
        <p:spPr>
          <a:xfrm rot="960000">
            <a:off x="7636840" y="2394356"/>
            <a:ext cx="40234" cy="130759"/>
          </a:xfrm>
          <a:prstGeom prst="rect">
            <a:avLst/>
          </a:prstGeom>
          <a:solidFill>
            <a:srgbClr val="D9463E"/>
          </a:solidFill>
          <a:ln/>
        </p:spPr>
      </p:sp>
      <p:sp>
        <p:nvSpPr>
          <p:cNvPr id="42" name="Shape 40"/>
          <p:cNvSpPr/>
          <p:nvPr/>
        </p:nvSpPr>
        <p:spPr>
          <a:xfrm rot="-960000">
            <a:off x="7812862" y="2394356"/>
            <a:ext cx="40234" cy="130759"/>
          </a:xfrm>
          <a:prstGeom prst="rect">
            <a:avLst/>
          </a:prstGeom>
          <a:solidFill>
            <a:srgbClr val="D9463E"/>
          </a:solidFill>
          <a:ln/>
        </p:spPr>
      </p:sp>
      <p:sp>
        <p:nvSpPr>
          <p:cNvPr id="43" name="Shape 41"/>
          <p:cNvSpPr/>
          <p:nvPr/>
        </p:nvSpPr>
        <p:spPr>
          <a:xfrm rot="300000">
            <a:off x="7692161" y="2535174"/>
            <a:ext cx="45263" cy="181051"/>
          </a:xfrm>
          <a:prstGeom prst="rect">
            <a:avLst/>
          </a:prstGeom>
          <a:solidFill>
            <a:srgbClr val="D9463E"/>
          </a:solidFill>
          <a:ln/>
        </p:spPr>
      </p:sp>
      <p:sp>
        <p:nvSpPr>
          <p:cNvPr id="44" name="Shape 42"/>
          <p:cNvSpPr/>
          <p:nvPr/>
        </p:nvSpPr>
        <p:spPr>
          <a:xfrm rot="-300000">
            <a:off x="7752512" y="2535174"/>
            <a:ext cx="45263" cy="181051"/>
          </a:xfrm>
          <a:prstGeom prst="rect">
            <a:avLst/>
          </a:prstGeom>
          <a:solidFill>
            <a:srgbClr val="D9463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837176" y="283464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3,5 m là vùng mù → KHÔNG THẤY</a:t>
            </a:r>
            <a:endParaRPr lang="en-US" sz="11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車頭前 3.5 公尺全是盲區 → 這個小孩看不到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837176" y="3328416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lại: nhìn xa hơn, vượt qua được xe phía trước.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換來的是看得遠，可以越過前車看更遠的地方。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3877056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" y="39410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giác đỏ = vùng mù: dưới tia thấp nhất, trên mặt đất, ngoài thân xe. Không chỗ lắp nào đúng tuyệt đối.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紅色三角形就是盲區：紅線以下、地面以上、車身以外，這一整塊光達都看不到。</a:t>
            </a:r>
            <a:endParaRPr lang="en-US" sz="1200" dirty="0"/>
          </a:p>
        </p:txBody>
      </p:sp>
      <p:pic>
        <p:nvPicPr>
          <p:cNvPr id="50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5 · 第五輪上台：同一個距離，換不同的東西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nguyên 30 m. Đổi mục tiêu: người lớn → trẻ em → xe máy → ô tô.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距離固定在 30 公尺。把目標換成：大人 → 小孩 → 機車 → 汽車。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lớn 28 điểm. Đổi sang trẻ em: còn mấy điểm?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大人是 28 點。換成小孩：剩幾點？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tô mấy điểm? Vì sao chênh nhau nhiều thế?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汽車是幾點？為什麼差這麼多？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30 m, cùng cảm biến — ai là người nguy hiểm nhất?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同樣 30 公尺、同樣的感測器——誰最危險？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số cảm biến được đặt theo người lớn. Trẻ em thì sao?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感測器的規格是用「大人」訂出來的。那小孩呢？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tiết 2 · 第二節小結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 gấp đôi: sai số gấp bốn, số điểm còn một phần tư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距離變兩倍：誤差變四倍，點數剩四分之一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9385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camera ≈ d² × θ ÷ h. Khoảng cách gấp 4 thì sai số gấp 16.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相機誤差 ≈ d² × θ ÷ h。距離四倍，誤差十六倍。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59689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điểm LiDAR cũng rơi theo bình phương. Ở 80 m: 16 kênh cho 0 điểm, 128 kênh cho 5.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光達點數也按平方掉。80 公尺：16 線 0 點，128 線 5 點。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25526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kênh không làm khoảng cách chính xác hơn — nó quyết định có bắt được vật hay không.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線束數不會讓距離更準——它決定的是抓不抓得到那個東西。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" y="39136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rộng đổi lấy nhìn rõ. Tiết sau thêm một biến nữa: thời tiết.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看得廣和看得清互換。下一節再加一個變數：天氣。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2026-09-21T14:58:12Z</dcterms:created>
  <dcterms:modified xsi:type="dcterms:W3CDTF">2026-09-21T14:58:12Z</dcterms:modified>
</cp:coreProperties>
</file>