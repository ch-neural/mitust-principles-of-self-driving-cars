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只改一個條件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（預期結果：相機從 80 m 掉到 26 m，所以 40 m 的行人變成「超出有效距離 26 m」；光達維持 100 m、15 點不變；雷達維持 250 m；熱像從 143 m 變成 158 m，略微變好。）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光達呢？十五點，跟晴天一模一樣。雷達也一樣。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最有趣的是熱像——它不但沒變差，還稍微變好了一點。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（等學生回答。預期：因為沒有光。）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。眼睛本身不會發光，它只是一個接收器——要有光照到東西上、再反彈進你的眼睛，你才看得見。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請看左邊那一欄的圖：光是從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出發的，照到那個人身上，再反彈進相機。你數數看，這條路上有三個東西：光源、物體、相機。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原理上就沒東西可收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（指著那個雙向箭頭。）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請注意這個箭頭是雙向的，而且左邊那一站不見了——沒有太陽了。為什麼？因為訊號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手電筒是自己帶的，所以白天晚上有差嗎？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（等學生回答。預期：沒有差。）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完全沒有差。等一下你們操作的時候會看到，切到夜間，光達的點數和雷達的距離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最後看右邊那一欄。熱像更特別——它連手電筒都不用帶。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（指著人身上那幾圈波紋。）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。為什麼？白天太陽把柏油路曬到五、六十度，比人還熱，人就淹沒在背景裡了；晚上路面涼下來，人是整條路上最熱的東西，一下子就跳出來。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（這裡可以用一個比喻：白天找人像在吵鬧的市場裡喊一個人的名字，晚上像在安靜的圖書館裡喊——聲音一樣大，但晚上聽得清楚多了。）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現在大家可以回答一個常被問的問題：為什麼自駕車不能只裝相機就好？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（預期答案：天一黑就瞎了。）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對。不過我要補一句，這只是理由之一，還有別的。等一下第五輪你們會看到另一個。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第二位同學。先按回晴天，確認數字回到十五點，再按濃霧。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（預期結果：相機掉到 16 m，40 m 的行人看不到；光達從 100 m 掉到 45 m，點數從 15 掉到 6；熱像從 143 m 掉到 90 m，但 40 m 的人仍看得到；雷達 225 m，照常工作。）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這次跟夜間差在哪裡？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（預期答案：夜間只有相機壞；濃霧是相機、光達、熱像三個一起被削弱。）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懸浮的小水滴。光達打出去的雷射碰到水滴就被散射，有一部分還沒到達行人就散掉了，所以有效距離從一百公尺掉到四十五公尺，點數從十五掉到六——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請注意這個差別：光達是「還看得到但變糊」，相機是「整個看不到」，熱像是「掉了四成但還夠用」。三種被削弱的程度不一樣。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那誰幾乎沒事？雷達。兩百二十五公尺。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為什麼雷達不怕霧？因為它用的電磁波波長比水滴大很多——波長比障礙物大的時候，波會直接繞過去。這就像海浪碰到一根細竹竿不會被擋住，碰到一堵牆才會。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所以雷達是惡劣天氣裡最可靠的。可是別忘了第一節的結論——它給的東西最少。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（預期讀值，請在白板上排成四列：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晴天：　相機 ±0.58 行人、光達 15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小雨：　相機 ±0.58 行人、光達 13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中雨：　相機 ±0.58 行人、光達 9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大雨：　相機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、光達 6 點、雷達 40.0、熱像 15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（等同學看白板。預期答案：沒有，一直都是正負零點五八。）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沒有變。一個數字都沒動。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決定的——距離的平方乘每像素的角度除以安裝高度。下雨不會改變這台相機的像素數，也不會改變它裝多高。所以只要它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（把這四個數字也寫在白板上，寫在誤差旁邊。）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（預期答案：整張消失，變成紅字「超出有效距離」。）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。因為大雨的時候相機只看得到二十二公尺，而我們的行人站在四十公尺——超出去了，就什麼都沒有。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請大家記住這個模式：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感測器失效常常是懸崖式的，不是斜坡式的。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前一秒還好好的，雨大一級就整個沒了。這也是為什麼自駕車不能「看狀況還可以就繼續開」，而是要設一條線，過線就交還給人。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夠，做一個小示範：把環境切回中雨，這時相機的有效距離剛好是四十公尺，行人就站在邊界上。把行人往外拖一公尺，看它消失；再拖回來，看它出現。就在邊界上跳來跳去——真實的車在雨中也會這樣，目標時有時無，這叫閃爍，是很難處理的問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（預期答案：雷達，一直是四十點零。）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對。雷達的有效距離從兩百五十掉到兩百，聽起來掉了不少，但四十公尺遠遠在範圍裡面，所以它完全不受影響。這跟第一節講的一樣：毫米波的波長比雨滴大很多，波會繞過去。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順便看光達：十五、十三、九、六。這個是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斜坡式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的，慢慢掉。因為雨滴會把雷射散射掉一部分，雨愈大散射愈多。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所以同一場雨，對三種感測器做了三件不同的事：相機是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懸崖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，光達是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斜坡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，雷達幾乎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最後補充一件工具沒有模擬的事，但你們騎車一定有經驗：下雨的時候，前面的車會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跟真的障礙物一樣會反射，所以車子可能會「看到」一團根本不存在的東西，然後緊急煞車。這叫假回報，比看不到還麻煩——看不到至少你知道要小心，假的東西會讓車子做出錯誤的動作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先講一個生活中的經驗。海邊的消波塊，大浪打過來會被擋住；但如果是很小的漣漪，碰到消波塊會怎樣？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（等學生回答。預期：從旁邊繞過去、幾乎沒影響。）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反過來想也一樣：你在水裡插一根很細的竹竿，大浪根本不理它，直接穿過去。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波碰到障礙物，會不會被擋住，看的是「波的大小」跟「障礙物的大小」誰大誰小。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，從左到右愈來愈大，左邊是一微米——一公釐的千分之一——右邊是一公分。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（請注意這條軸每一格是十倍，不是加十。這樣才畫得下這麼大的範圍。）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的波長，比霧滴還小。所以霧滴對它們來說就像一整排消波塊，光打出去撞上去就散掉了。這就是為什麼濃霧那一輪，相機從八十公尺掉到十六公尺、光達從一百掉到四十五。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的波長跟霧滴差不多大，所以被擋掉一部分，但沒那麼慘——一百四十三掉到九十。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（在白板上寫一行：波長 &gt; 顆粒 → 穿過去；波長 &lt; 顆粒 → 被擋住。）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這張圖你們只要記住一句話：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看波長跟顆粒誰大誰小。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記住它，因為下一頁我要用它來考你們一題——而且這題的答案，你們現在就推得出來。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（先不要讓同學碰滑鼠。）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請問：誰大？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（等學生回答。預期：差不多，甚至雪花比較大。）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對。前面所有的天氣，雷達都穩如泰山，因為霧滴只有幾微米、雨滴不到兩公釐，都比它的波長小。但雪花不一樣，雪花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追上它了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（預期答案：會變差。）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（預期讀值：相機 20 公尺、光達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35 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163 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90 公尺。）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先看雷達：兩百五十掉到一百六十三。回頭對照白板：大雨是兩百，濃霧是兩百二十五——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下雪是今天把雷達削得最兇的一種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。你們推論對了。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（這一刻值得停一下。前面兩節同學已經很習慣「雷達什麼都不怕」，這裡剛好打破它，而且是他們自己推出來的，不是我講的。）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再看光達：三十五公尺，比大雨的四十還慘。為什麼？兩個原因。第一，雪花又大又不規則，散射比雨嚴重。第二，飄在空中的雪花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（讓同學一邊拖，一邊切換環境。預期：晴天、大雨、濃霧，雷達都還讀得到一百八十點零；切到下雪，雷達整張卡變紅字。）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九種條件裡，這是唯一一種能讓雷達整個消失的。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。那個效果比較接近「光達罩髒污」那顆按鈕——你們可以兩個一起打開，看數字掉到什麼程度。所以下雪對自駕車是雙重打擊：天上飄的，加上鏡頭上黏的。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這就是為什麼北歐和日本北海道的自駕測試特別難，不是車做得不好，是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台灣和越南平地不下雪，所以你們可能覺得這一格用不到。但反過來想：如果你們以後做的車要賣到日本或歐洲，這一格就得整個重新驗證——而這正是下一頁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（先聲明一件事，表格最下面那一行也寫了：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這些具體數字是課堂模型的設定值，不是任何產品的規格。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真正要記的不是八十或十六這些數字，是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欄與欄之間的關係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——哪一種掉得快、哪一種幾乎不動。）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先看雷達那一欄，從上到下：兩百五十、兩百五十、兩百五十、兩百二十五、兩百、兩百二十五——幾乎沒動。直到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：一百六十三。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但請大家把第一節那張「每一種的弱點，由哪一種來補」的表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 Ouster 的光達和別家的光達在雨裡的表現不一樣，我們不能拿這張表去說哪一家比較好。這張表只是讓大家看見「條件會改變資料」這件事。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先看左邊這兩張圖，建立預期，再看影片。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大雨那張，行人還看得到輪廓，只是雨絲擋在中間。濃霧那張——（指一下）——那個人幾乎整個被霧吃掉了。右下角的數字就是我們剛剛量過的：大雨相機只剩二十二公尺，濃霧只剩十六公尺。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請大家帶著這個預期看影片：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如果車子只靠相機，在這兩種天氣下它看得到那個小孩嗎？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接下來介紹這支影片。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拍的人叫 Mark Rober，是前 NASA 工程師，現在是 YouTuber，他的頻道以「用誇張的實驗講科學」出名。這支影片全長約十八分半，前面九分鐘是他潛入迪士尼樂園、用光達掃描太空山那條全黑的軌道——那段很好看但跟今天無關，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 9:06 開始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他做的事很簡單：拿一台只用相機的特斯拉，跟一台裝了光達的車，兩台都以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時速四十英里（約六十四公里）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（播放建議：時間只有三分鐘，建議播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那一段 11:17–12:19、和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那一段 12:21–13:20，總共約兩分鐘。其他四項我直接用嘴巴講結果。要完整看可以請同學課後自己看。需要網路；沒網路就跳過，用下面的結果講。）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六項測試和結果，我一項一項講。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第一項：小孩假人站在路中間。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光達車偵測到、及時煞停，過。特斯拉也偵測到了，但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來不及煞停，撞上去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這裡有一個細節很重要，不要跳過：特斯拉第一次跑的時候用的是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，那個系統假設駕駛人在專心開車，所以它要「百分之百確定」才會煞，以免亂煞車。後來他改用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重跑一次，這次及時停住了。所以拍片的人自己說「算你平手」，並且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接下來五項全部用 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（這一項的教訓其實不是感測器，是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。期末專題如果要比較兩台車，設定沒對齊，比出來的東西沒有意義。）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第二項：小孩從停放的車子後面突然衝出來。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先滾出一顆球，然後假人彈出來，兩台車只有不到一秒可以反應。光達車停住。特斯拉也停住，而且還停得很從容。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兩台都過。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第三項：霧。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這一項請大家專心看。拍片的人說他自己的眼睛已經完全看不到霧裡有小孩了。光達車：急煞、停住，假人好端端站著。特斯拉：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完全沒有踩煞車，連一下都沒有。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問全班：這個結果，跟我們剛剛那張波長圖對得起來嗎？預期答案：對得起來。霧滴一到五十微米，比相機的波長大，所以擋住相機；也比光達的波長大，所以光達也掉了——但光達本來有一百公尺，掉到四十五還夠用；相機本來八十，掉到十六就來不及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第四項：大雨。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他們用灑水製造傾盆大雨。特斯拉的畫面上，水一灑下來，小孩就整個不見了——這正是我們第三輪按到「大雨」時看到的：相機的有效距離掉到二十二公尺。結果特斯拉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。光達車一開始看起來也沒減速，拍片的人說「光達可能有麻煩」，但最後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還是停住了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，他自己說「光達讓我意外」。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第五項：強光。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六盞非常亮的燈直射過來，模擬日出日落或是對向卡車的遠光燈。光達車立刻看到。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特斯拉這一項也過了。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：相機十八公尺」不太一樣——因為表上那個是四十公尺外的目標，影片裡的假人比較近。條件不同，結果就不同，這也是為什麼我一直要你們問「在什麼距離、什麼條件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進到最後一項之前的比數：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光達車五項全過，特斯拉三比五。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第六項：畫成馬路的假牆。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這一項最有名。他們立了一面牆，上面畫著跟前方道路一模一樣的圖案，就像卡通《嗶嗶鳥》裡威利狼撞的那種假隧道。人眼看得出破綻，光達更不用說——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，因為它量的是距離，不是圖案。結果光達車輕鬆停下。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特斯拉呢？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連一下煞車都沒踩，直接撞穿。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最終比數：光達車六比六，特斯拉三比六。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我不是要告訴你們誰對誰錯。我要你們看到的是：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這就是我們從第一節講到現在的同一句話——少量的結果不能拿來宣告誰比較安全。要下那種結論，需要幾百萬公里、幾千種條件，而且要有別人能重複驗證。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第三位同學。這一輪要看的東西比較細，但我覺得是今天最重要的。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先回到晴天，把行人拖到二十公尺。相機讀得到，誤差大概正負零點一五，類別「行人」。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（預期結果：有效距離乘 0.7；相機的距離還在，但類別立刻變成「類別未知」。）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大家看清楚這一格發生什麼事。距離還在——相機還是說二十公尺左右。可是上面那一行，從「行人」變成「類別未知」。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這就是水滴最麻煩的地方：它不是讓相機整個瞎掉，是讓它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現在請全班看其他五張卡。光達說：二十公尺，未分類障礙物。雷達說：二十公尺，未分類障礙物。熱像還認得出人體熱訊號，但如果今天目標不是人，是一個路障，熱像也沒轍。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所以這裡有一個更麻煩的事：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下不下雨，我們決定不了。那是老天爺的事，只能寫進運行條件。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，這是車子自己的事——取決於有沒有雨刷、清洗噴頭做得好不好、多久洗一次。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區叫「外部環境」，晴天、夜間、濃霧、大雨——按下去會同時打到好幾種感測器。下面那區叫「單一感測器故障」，只有兩顆：鏡頭水滴、光達罩髒污——一顆只打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，其他五張本來就不會動，那不是程式壞掉，那正是重點：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光達罩髒污的效果是乘法：有效範圍乘零點六五，點數乘零點三五。如果又碰上下雨，兩個效果疊在一起，那就非常慘了。大家可以自己按按看。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（這兩個數字一定會有同學問是哪裡來的。這是個好問題，請老實回答，並且順便教一個重要的分辨。）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「零點六五和零點三五是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我為了上課設定的數值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，不是量測出來的，也不是哪一家的規格書上的數字。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但是有一件事是真的：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點數掉得比有效距離快。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為什麼？髒污擋住一部分雷射，回波就變弱。遠處的回波本來就弱，再被削一次就低於偵測門檻，那個點整個不見。所以最先失去的永遠是遠處的點。這個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是物理決定的，我才把點數的倍率設得比範圍更低。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世界沒有單一的通則，因為它取決於：髒的是什麼（灰塵、泥、鹽、水膜，還是壓扁的蟲）、蓋住多少比例、蓋在雷射出口正中間還是邊緣、以及那顆光達用的波長。所以規格書上不會寫「髒了剩幾成」，只會寫它有沒有自動清潔或加熱、以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能不能偵測到自己被遮住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了。」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請把這句話送給同學：數字的大小是我編的，數字的方向不是。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今天所有的環境倍率都一樣——晴天八十、濃霧十六，這些具體數字是課堂模型；但「霧削相機比削雷達兇」這個關係，是波長決定的，換成真實的車也一樣成立。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（這正是你們以後看任何模擬、任何 demo 都要做的分辨：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哪些是設定，哪些是物理。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，不是技術極限。一台每天洗車的自駕計程車，和一台放在戶外積灰三個月的車，能力差很多。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這件事期末專題可以寫——你的 ODD 裡面要不要寫「需要每日清潔感測器」？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備案，開始前先看時間。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如果前面進行得比預期快，還多出十分鐘以上，可以改發那份紙本學習單。檔案有兩個：「第三週_課堂練習_學習單.html」是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發給學生的題目版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，「第三週_課堂練習_學習單_教師解答.html」是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老師自己用的解答版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，兩份都用瀏覽器開、直接列印即可。兩份都剛好一張 A4，八題。解答版只列答案、不重複題目。學習單是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作答、用筆寫、下課前交；下面這個分組任務是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口頭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發表。兩個可以只做一個，也可以先讓各組討論、再各自寫學習單。學習單的每一題都能用今天的工具當場驗證，所以學生寫完可以自己對。）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最後十分鐘，六組每組認養一種感測器。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（分配：第一組相機、第二組光達、第三組雷達、第四組超音波、第五組衛星定位、第六組熱像。）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每組只寫兩行。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第一行：你那一種送回來什麼是別人沒有的？這一行我要求要有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今天看到的數字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。不可以只寫「相機可以看到顏色」，要寫「只有相機讀得出燈色，其他五種都讀不出來；晴天有效八十公尺，夜間剩二十六」。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第二行比較難，也是我真正想看的：什麼條件會讓它失效？那時候誰來補它？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給大家一點提示。拿到衛星定位的那一組可能會覺得很吃虧——它什麼都不給。但你們可以想一想：它不給前方的資訊，那它給的是什麼？沒有它的話，車子會少掉什麼？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拿到超音波的那一組也一樣。它只有五公尺，看起來很爛，可是第一節我們看過，在那個誰都看不到的近距離，只有它看得到。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每組一分鐘。講完交上來，這張紙期末專題會用到。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（時間不夠時：只收紙、不口頭報告；下週上課前五分鐘挑兩組回饋。）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你們那兩行請保留好。下課。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36410" y="2336475"/>
            <a:ext cx="92172" cy="92172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40168"/>
            <a:ext cx="122895" cy="138257"/>
          </a:xfrm>
          <a:prstGeom prst="roundRect">
            <a:avLst>
              <a:gd name="adj" fmla="val 223215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480000">
            <a:off x="1628729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480000">
            <a:off x="1701698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1" name="Shape 19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2" name="Shape 20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沒有光就沒得看。天一黑就等於瞎了。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7498" y="2336475"/>
            <a:ext cx="92172" cy="92172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3" name="Shape 41"/>
          <p:cNvSpPr/>
          <p:nvPr/>
        </p:nvSpPr>
        <p:spPr>
          <a:xfrm>
            <a:off x="4992136" y="2440168"/>
            <a:ext cx="122895" cy="138257"/>
          </a:xfrm>
          <a:prstGeom prst="roundRect">
            <a:avLst>
              <a:gd name="adj" fmla="val 223215"/>
            </a:avLst>
          </a:prstGeom>
          <a:solidFill>
            <a:srgbClr val="5F7183"/>
          </a:solidFill>
          <a:ln/>
        </p:spPr>
      </p:sp>
      <p:sp>
        <p:nvSpPr>
          <p:cNvPr id="44" name="Shape 42"/>
          <p:cNvSpPr/>
          <p:nvPr/>
        </p:nvSpPr>
        <p:spPr>
          <a:xfrm rot="480000">
            <a:off x="4999817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 rot="-480000">
            <a:off x="5072786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641226" y="2336475"/>
            <a:ext cx="92172" cy="921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6625864" y="2440168"/>
            <a:ext cx="122895" cy="138257"/>
          </a:xfrm>
          <a:prstGeom prst="roundRect">
            <a:avLst>
              <a:gd name="adj" fmla="val 223215"/>
            </a:avLst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 rot="480000">
            <a:off x="6633545" y="2574585"/>
            <a:ext cx="3456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 rot="-480000">
            <a:off x="6706514" y="2574585"/>
            <a:ext cx="3456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69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0" name="Text 6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相機、光達：霧削得最兇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這是今天唯一一種，連雷達都被拉下來的天氣。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 điều kiện,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tệ nhất trong chín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九種裡相機最慘的一種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三種一起被削弱，雷達剩最多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相機最慘；光達掉一半以上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2940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1261872"/>
          </a:xfrm>
          <a:prstGeom prst="roundRect">
            <a:avLst>
              <a:gd name="adj" fmla="val 6522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1136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0804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08937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57984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57984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64208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5645" y="1835749"/>
            <a:ext cx="100950" cy="100950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49318"/>
            <a:ext cx="134600" cy="151425"/>
          </a:xfrm>
          <a:prstGeom prst="roundRect">
            <a:avLst>
              <a:gd name="adj" fmla="val 203804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480000">
            <a:off x="3187233" y="2096536"/>
            <a:ext cx="37856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480000">
            <a:off x="3267151" y="2096536"/>
            <a:ext cx="37856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129844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12648" y="2212848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02920" y="2587752"/>
            <a:ext cx="3904488" cy="1261872"/>
          </a:xfrm>
          <a:prstGeom prst="roundRect">
            <a:avLst>
              <a:gd name="adj" fmla="val 6522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38" name="Shape 36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39" name="Shape 37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0" name="Shape 38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1" name="Shape 39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2" name="Shape 40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195645" y="3179917"/>
            <a:ext cx="100950" cy="100950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4" name="Shape 42"/>
          <p:cNvSpPr/>
          <p:nvPr/>
        </p:nvSpPr>
        <p:spPr>
          <a:xfrm>
            <a:off x="3178820" y="3293486"/>
            <a:ext cx="134600" cy="151425"/>
          </a:xfrm>
          <a:prstGeom prst="roundRect">
            <a:avLst>
              <a:gd name="adj" fmla="val 203804"/>
            </a:avLst>
          </a:prstGeom>
          <a:solidFill>
            <a:srgbClr val="7F8F9C"/>
          </a:solidFill>
          <a:ln/>
        </p:spPr>
      </p:sp>
      <p:sp>
        <p:nvSpPr>
          <p:cNvPr id="45" name="Shape 43"/>
          <p:cNvSpPr/>
          <p:nvPr/>
        </p:nvSpPr>
        <p:spPr>
          <a:xfrm rot="480000">
            <a:off x="3187233" y="3440704"/>
            <a:ext cx="37856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 rot="-480000">
            <a:off x="3267151" y="3440704"/>
            <a:ext cx="37856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>
            <a:off x="2298984" y="2624328"/>
            <a:ext cx="2071848" cy="1188720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3079882" y="2624328"/>
            <a:ext cx="1290950" cy="1188720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12648" y="264261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≈18:30</a:t>
            </a:r>
            <a:endParaRPr lang="en-US" sz="900" dirty="0"/>
          </a:p>
        </p:txBody>
      </p:sp>
      <p:sp>
        <p:nvSpPr>
          <p:cNvPr id="56" name="Text 54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bài: trẻ đứng · trẻ lao ra · sương mù · mưa · đèn chói · tường vẽ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六項：站著的小孩・突然衝出・霧・雨・強光・假牆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5047488" y="2760367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919472" y="328959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325302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6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67" name="Text 6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距離還在，但「行人」這個標籤不見了。只壞掉一半。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　(tham số lớp học)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　（課堂設定值）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65376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Việc của nhóm · 分組任務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nhóm, mỗi nhóm một cảm biến. Viết hai dòng, nộp cuối giờ.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六組，每組認養一種感測器。寫兩行，下課前交。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1: cảm biến của nhóm đưa về cái gì mà loại khác không có? Viết kèm con số hôm nay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行：你那一種送回來什麼是別人沒有的？要附上今天看到的數字。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2: điều kiện nào làm nó vô dụng? Và lúc đó ai bù cho nó?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行：什麼條件會讓它失效？那時候誰來補它？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một phút. Dùng lại cho chuyên đề cuối kỳ.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每組講一分鐘。期末專題會用到。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 khó hơn. Nhóm nào nói được ai bù cho mình là nhóm hiểu bài.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行比較難。講得出誰來補自己的那一組，才是真的懂了。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2026-09-20T03:08:53Z</dcterms:created>
  <dcterms:modified xsi:type="dcterms:W3CDTF">2026-09-20T03:08:53Z</dcterms:modified>
</cp:coreProperties>
</file>