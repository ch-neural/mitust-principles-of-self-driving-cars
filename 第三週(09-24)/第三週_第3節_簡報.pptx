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/>
  <p:notesSz cx="7560000" cy="106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5" name="備忘稿版面配置區 4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42958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最後一節。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前兩節我們做的每一個實驗，全部是晴天白天。第一節看種類，第二節看距離，但天氣從頭到尾都很好。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真實的路不是這樣。這一節我們把天氣加進去，而且我要大家注意一件事——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不是所有感測器一起變差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。有的條件只弄壞一種，有的條件弄壞兩種，還有一種條件反而讓某個感測器變得更有用。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螢幕上寫「天氣一變，壞掉的東西就不一樣」，我舉三個例子大家就懂了。天黑，壞的是相機給的類別和燈色，距離不受影響，因為光達和雷達還在。起霧，連光達的點也變少了。鏡頭沾到一顆水滴，相機還量得到距離，卻認不出那是人。三種條件，壞掉的東西都不一樣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最後二十分鐘我們要做這學期最重要的連結：把今天量到的所有邊界，寫成第二週學的 ODD。期末專題會用到，請認真聽最後那一段。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第一位同學上來。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規則跟前兩節一樣，而且今天特別重要：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只改一個條件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。如果你一次改三樣，結果變了，我們永遠不知道是哪一樣造成的。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行人放在四十公尺，按「夜間」。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按之前全班先猜：哪一個會變短？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（預期結果：相機從 80 m 掉到 26 m，所以 40 m 的行人變成「超出有效距離 26 m」；光達維持 100 m、15 點不變；雷達維持 250 m；熱像從 143 m 變成 158 m，略微變好。）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相機掛了。四十公尺的人，它現在完全看不到。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光達呢？十五點，跟晴天一模一樣。雷達也一樣。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最有趣的是熱像——它不但沒變差，還稍微變好了一點。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為什麼會這樣？這就是下一頁的重點。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這一頁是今天第一個要記住的分類。我先問一個問題：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你在黑暗的房間裡，為什麼看不見東西？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（等學生回答。預期：因為沒有光。）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對。不是你的眼睛壞了，是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沒有光可以進到眼睛裡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。眼睛本身不會發光，它只是一個接收器——要有光照到東西上、再反彈進你的眼睛，你才看得見。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相機跟你的眼睛一模一樣。我們叫它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被動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請看左邊那一欄的圖：光是從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太陽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出發的，照到那個人身上，再反彈進相機。你數數看，這條路上有三個東西：光源、物體、相機。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相機只負責最後一站。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前面兩站不是它能控制的。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所以太陽下山、路燈不夠亮，這條路的第一站就斷了。相機不是做得不好，是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原理上就沒東西可收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現在看中間那一欄。光達和雷達是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主動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（指著那個雙向箭頭。）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請注意這個箭頭是雙向的，而且左邊那一站不見了——沒有太陽了。為什麼？因為訊號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是它自己發出去的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。光達自己打雷射，雷達自己發電磁波，打到人身上再彈回來，它自己接。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用一句話講：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它自己帶手電筒。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手電筒是自己帶的，所以白天晚上有差嗎？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（等學生回答。預期：沒有差。）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完全沒有差。等一下你們操作的時候會看到，切到夜間，光達的點數和雷達的距離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一個數字都不會動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最後看右邊那一欄。熱像更特別——它連手電筒都不用帶。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（指著人身上那幾圈波紋。）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因為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發出訊號的是那個人自己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。人的體溫三十七度，只要活著就一直在放紅外線，二十四小時不停。熱像機要做的事，就是把這些本來就存在的紅外線收下來。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所以晚上它不但不會變差，反而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更好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。為什麼？白天太陽把柏油路曬到五、六十度，比人還熱，人跟背景的溫度差不多，就分不出來了；晚上路面涼下來，人是整條路上最熱的東西，一下子就跳出來。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（這裡可以用一個比喻：白天找人像在吵鬧的市場裡喊一個人的名字，晚上像在安靜的圖書館裡喊——聲音一樣大，但晚上聽得清楚多了。）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好，把三欄合起來看。同樣是天黑，相機那一欄是紅色的，另外兩欄是綠色的。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現在大家可以回答一個常被問的問題：為什麼自駕車不能只裝相機就好？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（預期答案：天一黑就什麼都看不到了。）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對。不過我要補一句，這只是理由之一，還有別的。等一下第五輪你們會看到另一個。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第二位同學。先按回晴天，確認數字回到十五點，再按濃霧。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（預期結果：相機掉到 16 m，40 m 的行人看不到；光達從 100 m 掉到 45 m，點數從 15 掉到 6；熱像從 143 m 掉到 90 m，但 40 m 的人仍看得到；雷達 225 m，照常工作。）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這次跟夜間差在哪裡？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（預期答案：夜間只有相機壞；濃霧是相機、光達、熱像三個一起變差。）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對。濃霧比夜間廣，因為它同時打擊三種。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為什麼？霧是空氣裡懸浮的小水滴。光達打出去的雷射碰到水滴就被散射，有一部分還沒到達行人就散掉了，所以有效距離從一百公尺掉到四十五公尺，點數從十五掉到六——少了一半以上。熱像從一百四十三掉到九十公尺，紅外線也會被水氣吸收；不過它底子厚，四十公尺的人還是看得到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請注意這個差別：光達是「還看得到但變糊」，相機是「整個看不到」，熱像是「掉了四成但還夠用」。三種變差的程度不一樣。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那誰幾乎沒事？雷達。兩百二十五公尺。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為什麼雷達不怕霧？因為它用的電磁波波長比水滴大很多——波長比障礙物大的時候，波會直接繞過去。這就像海浪碰到一根細竹竿不會被擋住，碰到一堵牆才會。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所以雷達是惡劣天氣裡最可靠的。可是別忘了第一節的結論——它給的東西最少。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剛剛的濃霧是比較極端的狀況，台灣和越南一年碰不到幾次。這一輪我們看最常見的——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下雨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。而且這次不是只按一個按鈕，是從小雨一路按到大雨，看它怎麼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一步一步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壞掉。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請第三位同學上來。行人留在四十公尺，然後照順序按四次。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（預期讀值，請在白板上排成四列：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晴天：　相機 ±0.58 行人、光達 15 點、雷達 40.0、熱像 15 px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小雨：　相機 ±0.58 行人、光達 13 點、雷達 40.0、熱像 15 px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中雨：　相機 ±0.58 行人、光達 9 點、雷達 40.0、熱像 15 px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大雨：　相機 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整張卡消失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、光達 6 點、雷達 40.0、熱像 15 px）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第一題。從晴天按到中雨，相機的誤差有沒有變？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（等同學看白板。預期答案：沒有，一直都是正負零點五八。）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沒有變。一個數字都沒動。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這件事很多人會猜錯。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為什麼下雨了相機還是一樣準？因為第二節我們算過，相機的誤差是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幾何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決定的——距離的平方乘每像素的角度除以安裝高度。下雨不會改變這台相機的像素數，也不會改變它裝多高。所以只要它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還看得到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那個人，算出來的距離就一樣準。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那雨到底改變了什麼？改變的是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看得到多遠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。晴天八十公尺，小雨六十四，中雨四十，大雨只剩二十二。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（把這四個數字也寫在白板上，寫在誤差旁邊。）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第二題，這就是重點了。按到大雨的那一下，相機那張卡怎麼了？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（預期答案：整張消失，變成紅字「超出有效距離」。）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注意它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不是慢慢變模糊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一下子整個不見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。因為大雨的時候相機只看得到二十二公尺，而我們的行人站在四十公尺——超出去了，就什麼都沒有。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請大家記住這個現象：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感測器失效常常不是慢慢變差，而是到了某一個程度就整個不見。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前一秒還讀得到數字，雨再大一級就什麼都沒有了。這也是為什麼自駕車不能「看狀況還可以就繼續開」，而是要設一條線，過線就交還給人。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如果時間夠，做一個小示範：把環境切回中雨，這時相機的有效距離剛好是四十公尺，行人就站在邊界上。把行人往外拖一公尺，看它消失；再拖回來，看它出現。就在邊界上跳來跳去——真實的車在雨中也會這樣，目標時有時無，這叫閃爍，是很難處理的問題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第三題。按了四次，誰從頭到尾動都沒動？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（預期答案：雷達，一直是四十點零。）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對。雷達的有效距離從兩百五十掉到兩百，聽起來掉了不少，但四十公尺遠遠在範圍裡面，所以它完全不受影響。這跟第一節講的一樣：毫米波的波長比雨滴大很多，波會繞過去。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順便看光達：十五、十三、九、六。這個就是慢慢往下掉的，雨每大一點就少一些。因為雨滴會把雷射散射掉一部分，雨愈大散射愈多。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所以同一場雨，對三種感測器做了三件不一樣的事：相機是到了某個程度就整個不見，光達是慢慢變少，雷達幾乎沒有變化。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最後補充一件工具沒有模擬的事，但你們騎車一定有經驗：下雨的時候，前面的車會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濺起水花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那些水珠對光達來說跟真的障礙物一樣會反射，所以車子可能會「看到」一團根本不存在的東西，然後緊急煞車。這叫假回報，比看不到還麻煩——看不到至少你知道要小心，假的東西會讓車子做出錯誤的動作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剛剛連做兩輪，濃霧和下雨。現在我用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一張圖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把這兩輪一次解釋完。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先講一個生活中的經驗。海邊的消波塊，大浪打過來會被擋住；但如果是很小的漣漪，碰到消波塊會怎樣？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（等學生回答。預期：從旁邊繞過去、幾乎沒影響。）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反過來想也一樣：你在水裡插一根很細的竹竿，大浪根本不理它，直接穿過去。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波碰到障礙物，會不會被擋住，看的是「波的大小」跟「障礙物的大小」誰大誰小。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波比障礙物大，就繞過去；波比障礙物小，就被擋住、被散射。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現在看螢幕這條線。這條線上標的是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尺寸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，從左到右愈來愈大，左邊是一微米——一公釐的千分之一——右邊是一公分。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（請注意這條軸每一格是十倍，不是加十。這樣才畫得下這麼大的範圍。）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線的上面我標了三個感測器的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波長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相機和光達差不多，都在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一微米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左右。相機用的是可見光，光達用的是九百零五奈米的紅外線雷射，兩個都在一微米這附近。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熱像是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十微米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，比它們大十倍。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雷達最特別，七十七 GHz 的毫米波，波長大約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四公釐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——比相機和光達大了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四千倍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線的下面是水滴的大小。霧滴很小，一到五十微米。雨滴大很多，零點五到兩公釐。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好，現在把上下對起來看。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相機和光達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的波長，比霧滴還小。所以霧滴對它們來說就像一整排消波塊，光打出去撞上去就散掉了。這就是為什麼濃霧那一輪，相機從八十公尺掉到十六公尺、光達從一百掉到四十五。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熱像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的波長跟霧滴差不多大，所以被擋掉一部分，但沒有那麼嚴重——從一百四十三掉到九十。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雷達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的波長比霧滴大四千倍，比雨滴也還要大。對雷達來說，水滴細得像竹竿，它直接穿過去。所以剛剛兩輪，雷達那張卡從頭到尾都是四十點零。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（在白板上寫一行：波長 &gt; 顆粒 → 穿過去；波長 &lt; 顆粒 → 被擋住。）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這張圖你們只要記住一句話：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看波長跟顆粒誰大誰小。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記住它，因為下一頁我要用它來考你們一題——而且這題的答案，你們現在就推得出來。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這一輪不一樣。前面四次都是先按再看，這次我要大家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先推論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（先不要讓同學碰滑鼠。）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上一頁那條規則：波長比顆粒大就繞得過去，比顆粒小就被擋住。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現在給大家兩個數字。雪花的直徑是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一到十公釐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。雷達的波長是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四公釐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請問：誰大？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（等學生回答。預期：差不多，甚至雪花比較大。）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對。前面所有的天氣，雷達幾乎都沒有變化，因為霧滴只有幾微米、雨滴不到兩公釐，都比它的波長小很多。但雪花不一樣，雪花的大小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已經跟它的波長差不多了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所以照規則推論，下雪的時候雷達會怎樣？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（預期答案：會變差。）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好，現在請同學上來按「下雪」，我們驗證看看。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（預期讀值：相機 20 公尺、光達 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35 公尺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、雷達 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163 公尺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、熱像 90 公尺。）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先看雷達：兩百五十掉到一百六十三。回頭對照白板：大雨是兩百，濃霧是兩百二十五——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下雪是今天讓雷達掉最多的一種天氣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。你們推論對了。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（這一刻值得停一下。前面兩節同學已經很習慣「雷達什麼都不怕」，這裡剛好打破它，而且是他們自己推出來的，不是我講的。）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再看光達：三十五公尺，比大雨的四十還要短。為什麼？兩個原因。第一，雪花又大又不規則，散射比雨嚴重。第二，飄在空中的雪花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本身就會反射雷射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——真車會把它當成障礙物，畫面上出現一堆根本不存在的點。看得到反而看到假的，比看不到更麻煩。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現在做第三題，這是今天最後一個操作。把行人拖到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一百八十公尺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（讓同學一邊拖，一邊切換環境。預期：晴天、大雨、濃霧，雷達都還讀得到一百八十點零；切到下雪，雷達整張卡變紅字。）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看到了嗎？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在一百八十公尺這個距離，九種條件裡只有下雪會讓雷達讀不到。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最後補一件工具模擬不出來的事：雪會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積在感測器表面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。那個效果比較接近「光達罩髒污」那顆按鈕——你們可以兩個一起打開，看數字掉到什麼程度。所以下雪對自駕車是雙重打擊：天上飄的，加上鏡頭上黏的。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這就是為什麼北歐和日本北海道的自駕測試特別難，不是車做得不好，是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物理上就比較吃虧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台灣和越南平地不下雪，所以你們可能覺得這一格用不到。但反過來想：如果你們以後做的車要賣到日本或歐洲，這一格就得整個重新驗證——而這正是下一頁 ODD 要處理的事。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我們把九種條件整理成一張表，我挑了七種放上來。
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（先聲明一件事，表格最下面那一行也寫了：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這些具體數字是課堂模型的設定值，不是任何產品的規格。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真正要記的不是八十或十六這些數字，是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欄與欄之間的關係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——哪一種掉得快、哪一種幾乎不動。）
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先看雷達那一欄，從上到下：兩百五十、兩百五十、兩百五十、兩百二十五、兩百、兩百二十五——幾乎沒動。直到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最後一列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：一百六十三。
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只有下雪那一列，雷達才真的掉下來。這就是我們剛剛那張波長圖推論出來的結果，現在表上有數字了。
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再看相機那一欄：八十、二十六、十八、四十、二十二、十六、二十。從八十掉到十六，五倍。
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如果只看這張表，好像雷達最強，什麼都該裝雷達就好。但請大家把第一節那張「每一種的弱點，由哪一種來補」的表拿出來對照——雷達讀不出燈色、不知道類別、橫越的時候徑向速度歸零，而且這一欄用的是長距雷達，視野只有二十度，兩側根本照不到。
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它很耐命，可是它給的東西很少。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這兩句話要一起講，只講一句就會誤導。
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最後那一行請大家一定要記住：這是課堂模型的設定值，不是任何產品的規格。真實世界裡 Ouster 的光達和別家的光達在雨裡的表現不一樣，我們不能拿這張表去說哪一家比較好。這張表只是讓大家看見「條件會改變資料」這件事。
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下一輪是今天最後一個實驗，也是最微妙的一個。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先看左邊這兩張圖，建立預期，再看影片。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上面是大雨，下面是濃霧。兩張圖裡的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車一樣、行人站的位置也一樣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，只有天氣不同。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大雨那張，行人還看得到輪廓，只是雨絲擋在中間。濃霧那張——（指一下）——那個人幾乎被霧蓋住，看不見了。右下角的數字就是我們剛剛量過的：大雨相機只剩二十二公尺，濃霧只剩十六公尺。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請大家帶著這個預期看影片：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如果車子只靠相機，在這兩種天氣下它看得到那個小孩嗎？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接下來介紹這支影片。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拍的人叫 Mark Rober，是前 NASA 工程師，現在是 YouTuber，他的頻道以「用誇張的實驗講科學」出名。這支影片全長約十八分半，前面九分鐘是他潛入迪士尼樂園、用光達掃描太空山那條全黑的軌道——那段很好看但跟今天無關，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測試從 9:06 開始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他做的事很簡單：拿一台只用相機的特斯拉，跟一台裝了光達的車，兩台都以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時速四十英里（約六十四公里）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衝向同一個小孩假人，看誰會停。一共六項測試。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（播放建議：時間只有三分鐘，建議播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霧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那一段 11:17–12:19、和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雨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那一段 12:21–13:20，總共約兩分鐘。其他四項我直接用嘴巴講結果。要完整看可以請同學課後自己看。需要網路；沒網路就跳過，用下面的結果講。）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六項測試和結果，我一項一項講。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第一項：小孩假人站在路中間。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光達車偵測到、及時煞停，過。特斯拉也偵測到了，但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來不及煞停，撞上去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這裡有一個細節很重要，不要跳過：特斯拉第一次跑的時候用的是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自動緊急煞車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，那個系統假設駕駛人在專心開車，所以它要「百分之百確定」才會煞，以免亂煞車。後來他改用 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Autopilot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重跑一次，這次及時停住了。所以拍片的人自己說「算你平手」，並且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接下來五項全部用 Autopilot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（這一項的教訓其實不是感測器，是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同一台車、同一顆感測器，設定不一樣結果就不一樣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。期末專題如果要比較兩台車，設定沒對齊，比出來的東西沒有意義。）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第二項：小孩從停放的車子後面突然衝出來。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先滾出一顆球，然後假人彈出來，兩台車只有不到一秒可以反應。光達車停住。特斯拉也停住，而且還停得很從容。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兩台都過。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第三項：霧。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這一項請大家專心看。拍片的人說他自己的眼睛已經完全看不到霧裡有小孩了。光達車：急煞、停住，假人好端端站著。特斯拉：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完全沒有踩煞車，連一下都沒有。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停在這裡問全班：這個結果，跟我們剛剛那張波長圖對得起來嗎？預期答案：對得起來。霧滴一到五十微米，比相機的波長大，所以擋住相機；也比光達的波長大，所以光達也掉了——但光達本來有一百公尺，掉到四十五還夠用；相機本來八十，掉到十六就來不及了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第四項：大雨。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他們用灑水製造傾盆大雨。特斯拉的畫面上，水一灑下來，小孩就整個不見了——這正是我們第三輪按到「大雨」時看到的：相機的有效距離掉到二十二公尺。結果特斯拉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沒有停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。光達車一開始看起來也沒減速，拍片的人說「光達可能有麻煩」，但最後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還是停住了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，他自己說「光達讓我意外」。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第五項：強光。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六盞非常亮的燈直射過來，模擬日出日落或是對向卡車的遠光燈。光達車立刻看到。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特斯拉這一項也過了。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（這一項要特別講：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不是相機全輸。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相機在強光下還撐得住，這跟我們表上「逆光眩光：相機十八公尺」不太一樣——因為表上那個是四十公尺外的目標，影片裡的假人比較近。條件不同，結果就不同，這也是為什麼我一直要你們問「在什麼距離、什麼條件」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進到最後一項之前的比數：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光達車五項全過，特斯拉三比五。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第六項：畫成馬路的假牆。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這一項最有名。他們立了一面牆，上面畫著跟前方道路一模一樣的圖案，就像卡通《嗶嗶鳥》裡威利狼撞的那種假隧道。人眼看得出破綻，光達更不用說——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對光達來說那就是一面牆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，因為它量的是距離，不是圖案。結果光達車輕鬆停下。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特斯拉呢？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連一下煞車都沒踩，直接撞穿。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最終比數：光達車六比六，特斯拉三比六。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接下來這件事更重要，請大家一定要聽。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這支影片在網路上引起很大的爭議，有很多人拍了反駁影片。爭議的點包括：用的是 Autopilot 而不是最新的 FSD、每一項只跑一次、人造的霧和雨跟真實天氣不一樣。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我不是要告訴你們誰對誰錯。我要你們看到的是：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每一項只跑一次。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這就是我們從第一節講到現在的同一句話——少量的結果不能拿來宣告誰比較安全。要下那種結論，需要幾百萬公里、幾千種條件，而且要有別人能重複驗證。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所以這支影片能當什麼？它是很好的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現象展示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，讓你親眼看到霧和雨真的會造成差別，也讓你看到相機在「圖案」這件事上的根本限制。它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不能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當成證據，證明哪一家的技術比較好。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這個分辨能力，比記住任何一個數字都重要。期末專題如果引用網路上的測試影片，請記得把這一句寫進去。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第三位同學。這一輪要看的東西比較細，但我覺得是今天最重要的。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先回到晴天，把行人拖到二十公尺。相機讀得到，誤差大概正負零點一五，類別「行人」。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現在打開「鏡頭水滴」。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（預期結果：有效距離乘 0.7；相機的距離還在，但類別立刻變成「類別未知」。）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大家看清楚這一格發生什麼事。距離還在——相機還是說二十公尺左右。可是上面那一行，從「行人」變成「類別未知」。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這就是水滴最麻煩的地方：它不是讓相機完全看不到，是讓它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只剩一半的功能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。它還看得到那裡有個東西，可是認不出來那是什麼。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現在請全班看其他五張卡。光達說：二十公尺，未分類障礙物。雷達說：二十公尺，未分類障礙物。熱像還認得出人體熱訊號，但如果今天目標不是人，是一個路障，熱像也沒轍。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所以這裡有一個更麻煩的事：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其他感測器補得上距離，補不上類別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。這台車知道前面二十公尺有東西，卻不知道那是一個人。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這就回到第一節那句話——不同的感測器給的是不同種類的資料，缺了哪一種，就是缺了那一種。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這一頁要把兩件事分清楚，因為它們的解法完全不同。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下不下雨，我們決定不了。那是老天爺的事，只能寫進運行條件。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但是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鏡頭上有沒有水滴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，這是車子自己的事——取決於有沒有雨刷、清洗噴頭做得好不好、多久洗一次。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光達的罩子髒了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也一樣，那是保養的問題。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就是為什麼工具裡把它們分成兩區。上面那區叫「外部環境」，晴天、夜間、濃霧、大雨——按下去會同時影響好幾種感測器。下面那區叫「單一感測器故障」，只有兩顆：鏡頭水滴、光達罩髒污——一顆只打一種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所以按水滴的時候，請大家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只看相機那張卡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，其他五張本來就不會動，那不是程式壞掉，那正是重點：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這是車子自己的問題，不是天氣的問題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。選了大雨也不會自動幫你加水滴，兩個要分別按，這樣才能一次只改一樣。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光達罩髒污的效果是乘法：有效範圍乘零點六五，點數乘零點三五。如果又碰上下雨，兩個效果加在一起，情況就很嚴重了。大家可以自己按按看。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（這兩個數字一定會有同學問是哪裡來的。這是個好問題，請老實回答，並且順便教一個重要的分辨。）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「零點六五和零點三五是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我為了上課設定的數值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，不是量測出來的，也不是哪一家的規格書上的數字。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不過有一件事值得講清楚：罩子髒，其實是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兩種不同的機制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同時在作用。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第一種是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遮住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。泥點完全蓋住罩子的某一塊，那個方向的雷射根本射不出去，所以那個方向永遠不會有點——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不管目標站多近都一樣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。這會讓一部分的點直接消失。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第二種是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變弱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。沒被完全蓋住、只蒙上一層薄灰的地方，雷射還是出得去，但回波變弱了。遠處的回波本來就弱，再變弱一次就低於偵測的門檻——這讓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有效距離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縮短。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所以「點數變少」和「看不了那麼遠」，是兩種不同的原因造成的，不是同一件事的兩種說法。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那哪一個掉得比較多？取決於髒污是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一塊一塊的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還是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均勻一層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的，沒有通則。我在工具裡把點數設得掉更多，是因為我想讓大家看到『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東西還在，但只剩幾個點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』那個狀態——那正是最危險的狀態。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真實世界為什麼沒有通則？因為它取決於：髒的是什麼（灰塵、泥、鹽、水膜，還是壓扁的蟲）、蓋住多少比例、蓋在雷射出口正中間還是邊緣、以及那顆光達用的波長。所以規格書上不會寫「髒了剩幾成」，只會寫它有沒有自動清潔或加熱、以及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能不能偵測到自己被遮住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了。」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順便教一個分辨的習慣。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今天所有的數字都是課堂模型——晴天八十、濃霧十六，這些具體數值是我設的。但有些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關係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不是我設的：「起霧的時候，相機看得到的距離比雷達短很多」是波長決定的，「距離兩倍、誤差四倍」是幾何決定的，換成真實的車一樣成立。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（這就是你們以後看任何模擬、任何 demo 都要做的分辨：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哪些是設定，哪些是物理。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剛剛髒污那兩個數字，答案是「都是設定」；濃霧那一整排，答案是「數字是設定，大小關係是物理」。）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工程上的意思是：有一部分的「感測器失效」其實是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維護問題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，不是技術極限。一台每天洗車的自駕計程車，和一台放在戶外積灰三個月的車，能力差很多。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這件事期末專題可以寫——你的 ODD 裡面要不要寫「需要每日清潔感測器」？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這是今天三節課的總結論，我希望大家帶走這一句。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大雨的時候，雷達一切正常。距離、接近速度，穩穩地送進來。如果你只看一個「感測器健康狀態」的儀表板，上面會顯示綠燈。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可是如果這台車現在要做的事是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通過一個路口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呢？它需要知道燈是紅的還是綠的。雷達給不出來。相機在大雨裡只剩二十二公尺，可能還沒看清楚。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所以儀表板全綠，車子還是過不了那個路口。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這就是我要大家記住的：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有資料，和那份資料能不能解決你現在手上這件事，是兩回事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工程上這個陷阱很常見。你量的是「設備活著沒」，不是「任務完成得了嗎」。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期末專題寫 ODD 的時候，請把這句話記著：不要只列「我裝了什麼」，要寫「這一格要做到的事，我靠哪一種資料做到」。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下一頁我們就來做這件事。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今天最後一件事，也是最重要的一件事：把三節課量到的東西，接回第二週的 ODD 六格。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第二週我們講過，ODD 就是「這台車可以在哪些條件下運作」。當時大家可能覺得那只是六個格子要填字。今天做完這一整輪，我希望你們看到：每一格背後，都要有人去量。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看這張表。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天候與光照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那一格，我們今天量得最扎實——九種條件，相機從八十公尺一路掉到十六公尺。所以我們有把握寫一句話：濃霧和逆光是相機最緊的兩條邊界。這句話後面有數字撐著。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交通狀況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那一格也有收穫：物體愈小，愈晚才有足夠的點。小孩比大人難偵測，這是今天量出來的。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然後請大家看三格寫著「沒量」的。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我要特別講這個。寫「沒量」不是丟臉，那也是一個結果，而且是很重要的結果。一份誠實的 ODD 會明白寫出「這個範圍我還沒有證據」。第二週我講過同一句話：ODD 寫的是哪裡能開，沒寫的就是範圍外。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速度域和人的角色，下禮拜車子會跑、會撞的時候我們再回來填。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期末專題我會看這一點——我不是要看你們把六格填滿，是要看你們知道自己哪一格沒有證據。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備案，開始前先看時間。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如果前面進行得比預期快，還多出十分鐘以上，可以改發那份紙本學習單。檔案有兩個：「第三週_課堂練習_學習單.html」是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發給學生的題目版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，「第三週_課堂練習_學習單_教師解答.html」是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老師自己用的解答版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，兩份都用瀏覽器開、直接列印即可。兩份都剛好一張 A4，八題。解答版只列答案、不重複題目。學習單是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個人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作答、用筆寫、下課前交；下面這個分組任務是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口頭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發表。兩個可以只做一個，也可以先讓各組討論、再各自寫學習單。學習單的每一題都能用今天的工具當場驗證，所以學生寫完可以自己對。）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最後十分鐘，六組每組認養一種感測器。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（分配：第一組相機、第二組光達、第三組雷達、第四組超音波、第五組衛星定位、第六組熱像。）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每組只寫兩行。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第一行：你那一種送回來什麼是別人沒有的？這一行我要求要有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今天看到的數字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。不可以只寫「相機可以看到顏色」，要寫「只有相機讀得出燈色，其他五種都讀不出來；晴天有效八十公尺，夜間剩二十六」。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第二行比較難，也是我真正想看的：什麼條件會讓它失效？那時候誰來補它？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給大家一點提示。拿到衛星定位的那一組可能會覺得很吃虧——它什麼都不給。但你們可以想一想：它不給前方的資訊，那它給的是什麼？沒有它的話，車子會少掉什麼？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拿到超音波的那一組也一樣。它只有五公尺，看起來很爛，可是第一節我們看過，在那個誰都看不到的近距離，只有它看得到。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每組一分鐘。講完交上來，這張紙期末專題會用到。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（時間不夠時：只收紙、不口頭報告；下週上課前五分鐘挑兩組回饋。）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第三週收起來，三句話。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第一句，第一節的：六種感測器量的是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不同的東西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，不是同一件事誰比較準——像體重計和體溫計。所以量得到距離，不等於知道那是什麼。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第二句，第二節的：愈遠愈差，而且不是等比例地差。距離變兩倍，相機的誤差變四倍、光達的點數剩四分之一；距離變四倍，就是十六倍。所以錢買到的是遠處那幾個點。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第三句，這一節的：不同條件壞掉不同種類的資料。夜間只壞相機，濃霧壞三種，雷達最耐命但它給的最少。而且——有資料，不等於那份資料能解決你現在這件事。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這三個禮拜我們一直在講感測器。下禮拜要換一個角度：把這六樣東西裝到一台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會跑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的車上。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那時候會出現一個今天完全沒碰過的問題——就算它看得一清二楚，它也可能來不及停。為什麼？因為煞車要距離，而距離也是平方成長的。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你們那兩行請保留好。下課。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IQJL3htsDyQ" TargetMode="Externa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2070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MITUST · Nguyên lý xe tự lái · Tuần 3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572768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tiết đổi thì</a:t>
            </a:r>
            <a:endParaRPr lang="en-US" sz="3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thứ bị hỏng cũng khác</a:t>
            </a:r>
            <a:endParaRPr lang="en-US" sz="3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C8D6E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天氣一變，壞掉的東西就不一樣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3218688"/>
            <a:ext cx="1371600" cy="4114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3419856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8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Và cuối cùng: viết những giới hạn này thành ODD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最後：把這些邊界寫成 ODD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3895344"/>
            <a:ext cx="5943600" cy="384048"/>
          </a:xfrm>
          <a:prstGeom prst="roundRect">
            <a:avLst>
              <a:gd name="adj" fmla="val 16667"/>
            </a:avLst>
          </a:prstGeom>
          <a:solidFill>
            <a:srgbClr val="1331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" y="3941064"/>
            <a:ext cx="5687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工具｜Công cụ： ch-neural.github.io/MITUST-Principles-of-Self-Driving-Cars/week3/lab/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3708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第三週 第 3 節　2026/09/24（四）11:10–12:00　CH Tseng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56616" y="310896"/>
            <a:ext cx="2212848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pic>
        <p:nvPicPr>
          <p:cNvPr id="13" name="Image 0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75488"/>
            <a:ext cx="1920240" cy="4242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Lượt 1 · 第一輪上台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đi bộ ở 40 m. Chỉ đổi nắng → ban đêm. Ai hỏng?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行人放在 40 公尺。只把晴天改成夜間。誰壞了？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883664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191109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783080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Trước khi bấm, cả lớp đoán: ban đêm thì cái nào ngắn lại?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按之前全班先猜：夜間，哪一個的範圍會變短？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450592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596896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62432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496312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“夜間 Ban đêm”. Đọc lại cả sáu thẻ.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按「夜間」。六張卡重唸一次。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163824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331012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333756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3209544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Thẻ ảnh nhiệt có xấu đi không? Vì sao?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熱像那張有變差嗎？為什麼？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39136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đổi MỘT thứ. Đây là kỷ luật cơ bản của việc thử nghiệm.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只改一樣。這是做測試最基本的紀律。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15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 hiệu đến từ đâu: đi mượn, tự mang, hay vật tự phát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訊號是從哪裡來的：跟外面借、自己帶、還是物體自己放出來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1133856"/>
            <a:ext cx="2566416" cy="2706624"/>
          </a:xfrm>
          <a:prstGeom prst="roundRect">
            <a:avLst>
              <a:gd name="adj" fmla="val 3563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12648" y="1207008"/>
            <a:ext cx="234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Bị động</a:t>
            </a:r>
            <a:endParaRPr lang="en-US" sz="13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被動：跟外面借光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64592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05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相機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04088" y="2322576"/>
            <a:ext cx="365760" cy="36576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" y="2505456"/>
            <a:ext cx="91440" cy="0"/>
          </a:xfrm>
          <a:prstGeom prst="line">
            <a:avLst/>
          </a:prstGeom>
          <a:noFill/>
          <a:ln w="19050">
            <a:solidFill>
              <a:srgbClr val="E8A3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1544" y="2680032"/>
            <a:ext cx="64658" cy="64658"/>
          </a:xfrm>
          <a:prstGeom prst="line">
            <a:avLst/>
          </a:prstGeom>
          <a:noFill/>
          <a:ln w="19050">
            <a:solidFill>
              <a:srgbClr val="E8A3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" y="2752344"/>
            <a:ext cx="0" cy="91440"/>
          </a:xfrm>
          <a:prstGeom prst="line">
            <a:avLst/>
          </a:prstGeom>
          <a:noFill/>
          <a:ln w="19050">
            <a:solidFill>
              <a:srgbClr val="E8A3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647734" y="2680032"/>
            <a:ext cx="64658" cy="64658"/>
          </a:xfrm>
          <a:prstGeom prst="line">
            <a:avLst/>
          </a:prstGeom>
          <a:noFill/>
          <a:ln w="19050">
            <a:solidFill>
              <a:srgbClr val="E8A3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548640" y="2505456"/>
            <a:ext cx="91440" cy="0"/>
          </a:xfrm>
          <a:prstGeom prst="line">
            <a:avLst/>
          </a:prstGeom>
          <a:noFill/>
          <a:ln w="19050">
            <a:solidFill>
              <a:srgbClr val="E8A3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 flipV="1">
            <a:off x="647734" y="2266222"/>
            <a:ext cx="64658" cy="64658"/>
          </a:xfrm>
          <a:prstGeom prst="line">
            <a:avLst/>
          </a:prstGeom>
          <a:noFill/>
          <a:ln w="19050">
            <a:solidFill>
              <a:srgbClr val="E8A31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 flipV="1">
            <a:off x="886968" y="2167128"/>
            <a:ext cx="0" cy="91440"/>
          </a:xfrm>
          <a:prstGeom prst="line">
            <a:avLst/>
          </a:prstGeom>
          <a:noFill/>
          <a:ln w="19050">
            <a:solidFill>
              <a:srgbClr val="E8A31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061544" y="2266222"/>
            <a:ext cx="64658" cy="64658"/>
          </a:xfrm>
          <a:prstGeom prst="line">
            <a:avLst/>
          </a:prstGeom>
          <a:noFill/>
          <a:ln w="19050">
            <a:solidFill>
              <a:srgbClr val="E8A31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4712" y="2423160"/>
            <a:ext cx="310896" cy="164592"/>
          </a:xfrm>
          <a:prstGeom prst="rightArrow">
            <a:avLst/>
          </a:prstGeom>
          <a:solidFill>
            <a:srgbClr val="E8A317"/>
          </a:solidFill>
          <a:ln/>
        </p:spPr>
      </p:sp>
      <p:sp>
        <p:nvSpPr>
          <p:cNvPr id="16" name="Shape 14"/>
          <p:cNvSpPr/>
          <p:nvPr/>
        </p:nvSpPr>
        <p:spPr>
          <a:xfrm>
            <a:off x="1644091" y="2321113"/>
            <a:ext cx="76810" cy="76810"/>
          </a:xfrm>
          <a:prstGeom prst="ellipse">
            <a:avLst/>
          </a:prstGeom>
          <a:solidFill>
            <a:srgbClr val="5F7183"/>
          </a:solidFill>
          <a:ln/>
        </p:spPr>
      </p:sp>
      <p:sp>
        <p:nvSpPr>
          <p:cNvPr id="17" name="Shape 15"/>
          <p:cNvSpPr/>
          <p:nvPr/>
        </p:nvSpPr>
        <p:spPr>
          <a:xfrm>
            <a:off x="1621048" y="2405604"/>
            <a:ext cx="122895" cy="138257"/>
          </a:xfrm>
          <a:prstGeom prst="roundRect">
            <a:avLst>
              <a:gd name="adj" fmla="val 208334"/>
            </a:avLst>
          </a:prstGeom>
          <a:solidFill>
            <a:srgbClr val="5F7183"/>
          </a:solidFill>
          <a:ln/>
        </p:spPr>
      </p:sp>
      <p:sp>
        <p:nvSpPr>
          <p:cNvPr id="18" name="Shape 16"/>
          <p:cNvSpPr/>
          <p:nvPr/>
        </p:nvSpPr>
        <p:spPr>
          <a:xfrm rot="960000">
            <a:off x="1599926" y="2417125"/>
            <a:ext cx="30724" cy="99852"/>
          </a:xfrm>
          <a:prstGeom prst="rect">
            <a:avLst/>
          </a:prstGeom>
          <a:solidFill>
            <a:srgbClr val="5F7183"/>
          </a:solidFill>
          <a:ln/>
        </p:spPr>
      </p:sp>
      <p:sp>
        <p:nvSpPr>
          <p:cNvPr id="19" name="Shape 17"/>
          <p:cNvSpPr/>
          <p:nvPr/>
        </p:nvSpPr>
        <p:spPr>
          <a:xfrm rot="-960000">
            <a:off x="1734342" y="2417125"/>
            <a:ext cx="30724" cy="99852"/>
          </a:xfrm>
          <a:prstGeom prst="rect">
            <a:avLst/>
          </a:prstGeom>
          <a:solidFill>
            <a:srgbClr val="5F7183"/>
          </a:solidFill>
          <a:ln/>
        </p:spPr>
      </p:sp>
      <p:sp>
        <p:nvSpPr>
          <p:cNvPr id="20" name="Shape 18"/>
          <p:cNvSpPr/>
          <p:nvPr/>
        </p:nvSpPr>
        <p:spPr>
          <a:xfrm rot="300000">
            <a:off x="1642171" y="2524658"/>
            <a:ext cx="34564" cy="138257"/>
          </a:xfrm>
          <a:prstGeom prst="rect">
            <a:avLst/>
          </a:prstGeom>
          <a:solidFill>
            <a:srgbClr val="5F7183"/>
          </a:solidFill>
          <a:ln/>
        </p:spPr>
      </p:sp>
      <p:sp>
        <p:nvSpPr>
          <p:cNvPr id="21" name="Shape 19"/>
          <p:cNvSpPr/>
          <p:nvPr/>
        </p:nvSpPr>
        <p:spPr>
          <a:xfrm rot="-300000">
            <a:off x="1688257" y="2524658"/>
            <a:ext cx="34564" cy="138257"/>
          </a:xfrm>
          <a:prstGeom prst="rect">
            <a:avLst/>
          </a:prstGeom>
          <a:solidFill>
            <a:srgbClr val="5F7183"/>
          </a:solidFill>
          <a:ln/>
        </p:spPr>
      </p:sp>
      <p:sp>
        <p:nvSpPr>
          <p:cNvPr id="22" name="Shape 20"/>
          <p:cNvSpPr/>
          <p:nvPr/>
        </p:nvSpPr>
        <p:spPr>
          <a:xfrm>
            <a:off x="1929384" y="2423160"/>
            <a:ext cx="310896" cy="164592"/>
          </a:xfrm>
          <a:prstGeom prst="rightArrow">
            <a:avLst/>
          </a:prstGeom>
          <a:solidFill>
            <a:srgbClr val="E8A317"/>
          </a:solidFill>
          <a:ln/>
        </p:spPr>
      </p:sp>
      <p:sp>
        <p:nvSpPr>
          <p:cNvPr id="23" name="Shape 21"/>
          <p:cNvSpPr/>
          <p:nvPr/>
        </p:nvSpPr>
        <p:spPr>
          <a:xfrm>
            <a:off x="2318187" y="2420965"/>
            <a:ext cx="337962" cy="192024"/>
          </a:xfrm>
          <a:prstGeom prst="roundRect">
            <a:avLst>
              <a:gd name="adj" fmla="val 66667"/>
            </a:avLst>
          </a:prstGeom>
          <a:solidFill>
            <a:srgbClr val="0B1F3A"/>
          </a:solidFill>
          <a:ln/>
        </p:spPr>
      </p:sp>
      <p:sp>
        <p:nvSpPr>
          <p:cNvPr id="24" name="Shape 22"/>
          <p:cNvSpPr/>
          <p:nvPr/>
        </p:nvSpPr>
        <p:spPr>
          <a:xfrm>
            <a:off x="2394996" y="2382561"/>
            <a:ext cx="99852" cy="46086"/>
          </a:xfrm>
          <a:prstGeom prst="roundRect">
            <a:avLst>
              <a:gd name="adj" fmla="val 595235"/>
            </a:avLst>
          </a:prstGeom>
          <a:solidFill>
            <a:srgbClr val="0B1F3A"/>
          </a:solidFill>
          <a:ln/>
        </p:spPr>
      </p:sp>
      <p:sp>
        <p:nvSpPr>
          <p:cNvPr id="25" name="Shape 23"/>
          <p:cNvSpPr/>
          <p:nvPr/>
        </p:nvSpPr>
        <p:spPr>
          <a:xfrm>
            <a:off x="2425720" y="2451689"/>
            <a:ext cx="122895" cy="12289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2452604" y="2478573"/>
            <a:ext cx="69129" cy="69129"/>
          </a:xfrm>
          <a:prstGeom prst="ellipse">
            <a:avLst/>
          </a:prstGeom>
          <a:solidFill>
            <a:srgbClr val="0B1F3A">
              <a:alpha val="7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579340" y="2444008"/>
            <a:ext cx="38405" cy="38405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12648" y="3054096"/>
            <a:ext cx="2346960" cy="676656"/>
          </a:xfrm>
          <a:prstGeom prst="roundRect">
            <a:avLst>
              <a:gd name="adj" fmla="val 9459"/>
            </a:avLst>
          </a:prstGeom>
          <a:solidFill>
            <a:srgbClr val="FDECE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" y="3118104"/>
            <a:ext cx="2200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A32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Hết đèn là hết việc. Trời tối = mù.</a:t>
            </a:r>
            <a:endParaRPr lang="en-US" sz="10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32C2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沒有光就沒得看。天一黑就什麼都看不到。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88792" y="1133856"/>
            <a:ext cx="2566416" cy="2706624"/>
          </a:xfrm>
          <a:prstGeom prst="roundRect">
            <a:avLst>
              <a:gd name="adj" fmla="val 3563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398520" y="1207008"/>
            <a:ext cx="234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Chủ động</a:t>
            </a:r>
            <a:endParaRPr lang="en-US" sz="13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主動：自己帶手電筒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398520" y="164592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· Radar</a:t>
            </a:r>
            <a:endParaRPr lang="en-US" sz="105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光達・雷達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 rot="-2280000">
            <a:off x="3890106" y="2376194"/>
            <a:ext cx="130576" cy="13826"/>
          </a:xfrm>
          <a:prstGeom prst="rect">
            <a:avLst/>
          </a:prstGeom>
          <a:solidFill>
            <a:srgbClr val="3FA34D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-1140000">
            <a:off x="3915512" y="2422986"/>
            <a:ext cx="130576" cy="13826"/>
          </a:xfrm>
          <a:prstGeom prst="rect">
            <a:avLst/>
          </a:prstGeom>
          <a:solidFill>
            <a:srgbClr val="3FA34D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924300" y="2475500"/>
            <a:ext cx="130576" cy="13826"/>
          </a:xfrm>
          <a:prstGeom prst="rect">
            <a:avLst/>
          </a:prstGeom>
          <a:solidFill>
            <a:srgbClr val="3FA34D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 rot="1140000">
            <a:off x="3915512" y="2528014"/>
            <a:ext cx="130576" cy="13826"/>
          </a:xfrm>
          <a:prstGeom prst="rect">
            <a:avLst/>
          </a:prstGeom>
          <a:solidFill>
            <a:srgbClr val="3FA34D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 rot="2280000">
            <a:off x="3890106" y="2574807"/>
            <a:ext cx="130576" cy="13826"/>
          </a:xfrm>
          <a:prstGeom prst="rect">
            <a:avLst/>
          </a:prstGeom>
          <a:solidFill>
            <a:srgbClr val="3FA34D">
              <a:alpha val="4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720755" y="2405604"/>
            <a:ext cx="138257" cy="49926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39" name="Shape 37"/>
          <p:cNvSpPr/>
          <p:nvPr/>
        </p:nvSpPr>
        <p:spPr>
          <a:xfrm>
            <a:off x="3720755" y="2428646"/>
            <a:ext cx="138257" cy="130576"/>
          </a:xfrm>
          <a:prstGeom prst="rect">
            <a:avLst/>
          </a:prstGeom>
          <a:solidFill>
            <a:srgbClr val="3FA34D"/>
          </a:solidFill>
          <a:ln/>
        </p:spPr>
      </p:sp>
      <p:sp>
        <p:nvSpPr>
          <p:cNvPr id="40" name="Shape 38"/>
          <p:cNvSpPr/>
          <p:nvPr/>
        </p:nvSpPr>
        <p:spPr>
          <a:xfrm>
            <a:off x="3720755" y="2532339"/>
            <a:ext cx="138257" cy="49926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41" name="Shape 39"/>
          <p:cNvSpPr/>
          <p:nvPr/>
        </p:nvSpPr>
        <p:spPr>
          <a:xfrm>
            <a:off x="3720755" y="2467051"/>
            <a:ext cx="138257" cy="26883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766840" y="2582266"/>
            <a:ext cx="46086" cy="53767"/>
          </a:xfrm>
          <a:prstGeom prst="rect">
            <a:avLst/>
          </a:prstGeom>
          <a:solidFill>
            <a:srgbClr val="3FA34D">
              <a:alpha val="6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093464" y="2423160"/>
            <a:ext cx="676656" cy="164592"/>
          </a:xfrm>
          <a:prstGeom prst="leftRightArrow">
            <a:avLst/>
          </a:prstGeom>
          <a:solidFill>
            <a:srgbClr val="3FA34D"/>
          </a:solidFill>
          <a:ln/>
        </p:spPr>
      </p:sp>
      <p:sp>
        <p:nvSpPr>
          <p:cNvPr id="44" name="Shape 42"/>
          <p:cNvSpPr/>
          <p:nvPr/>
        </p:nvSpPr>
        <p:spPr>
          <a:xfrm>
            <a:off x="5015179" y="2321113"/>
            <a:ext cx="76810" cy="76810"/>
          </a:xfrm>
          <a:prstGeom prst="ellipse">
            <a:avLst/>
          </a:prstGeom>
          <a:solidFill>
            <a:srgbClr val="5F7183"/>
          </a:solidFill>
          <a:ln/>
        </p:spPr>
      </p:sp>
      <p:sp>
        <p:nvSpPr>
          <p:cNvPr id="45" name="Shape 43"/>
          <p:cNvSpPr/>
          <p:nvPr/>
        </p:nvSpPr>
        <p:spPr>
          <a:xfrm>
            <a:off x="4992136" y="2405604"/>
            <a:ext cx="122895" cy="138257"/>
          </a:xfrm>
          <a:prstGeom prst="roundRect">
            <a:avLst>
              <a:gd name="adj" fmla="val 208334"/>
            </a:avLst>
          </a:prstGeom>
          <a:solidFill>
            <a:srgbClr val="5F7183"/>
          </a:solidFill>
          <a:ln/>
        </p:spPr>
      </p:sp>
      <p:sp>
        <p:nvSpPr>
          <p:cNvPr id="46" name="Shape 44"/>
          <p:cNvSpPr/>
          <p:nvPr/>
        </p:nvSpPr>
        <p:spPr>
          <a:xfrm rot="960000">
            <a:off x="4971014" y="2417125"/>
            <a:ext cx="30724" cy="99852"/>
          </a:xfrm>
          <a:prstGeom prst="rect">
            <a:avLst/>
          </a:prstGeom>
          <a:solidFill>
            <a:srgbClr val="5F7183"/>
          </a:solidFill>
          <a:ln/>
        </p:spPr>
      </p:sp>
      <p:sp>
        <p:nvSpPr>
          <p:cNvPr id="47" name="Shape 45"/>
          <p:cNvSpPr/>
          <p:nvPr/>
        </p:nvSpPr>
        <p:spPr>
          <a:xfrm rot="-960000">
            <a:off x="5105430" y="2417125"/>
            <a:ext cx="30724" cy="99852"/>
          </a:xfrm>
          <a:prstGeom prst="rect">
            <a:avLst/>
          </a:prstGeom>
          <a:solidFill>
            <a:srgbClr val="5F7183"/>
          </a:solidFill>
          <a:ln/>
        </p:spPr>
      </p:sp>
      <p:sp>
        <p:nvSpPr>
          <p:cNvPr id="48" name="Shape 46"/>
          <p:cNvSpPr/>
          <p:nvPr/>
        </p:nvSpPr>
        <p:spPr>
          <a:xfrm rot="300000">
            <a:off x="5013259" y="2524658"/>
            <a:ext cx="34564" cy="138257"/>
          </a:xfrm>
          <a:prstGeom prst="rect">
            <a:avLst/>
          </a:prstGeom>
          <a:solidFill>
            <a:srgbClr val="5F7183"/>
          </a:solidFill>
          <a:ln/>
        </p:spPr>
      </p:sp>
      <p:sp>
        <p:nvSpPr>
          <p:cNvPr id="49" name="Shape 47"/>
          <p:cNvSpPr/>
          <p:nvPr/>
        </p:nvSpPr>
        <p:spPr>
          <a:xfrm rot="-300000">
            <a:off x="5059345" y="2524658"/>
            <a:ext cx="34564" cy="138257"/>
          </a:xfrm>
          <a:prstGeom prst="rect">
            <a:avLst/>
          </a:prstGeom>
          <a:solidFill>
            <a:srgbClr val="5F7183"/>
          </a:solidFill>
          <a:ln/>
        </p:spPr>
      </p:sp>
      <p:sp>
        <p:nvSpPr>
          <p:cNvPr id="50" name="Shape 48"/>
          <p:cNvSpPr/>
          <p:nvPr/>
        </p:nvSpPr>
        <p:spPr>
          <a:xfrm>
            <a:off x="3398520" y="3054096"/>
            <a:ext cx="2346960" cy="676656"/>
          </a:xfrm>
          <a:prstGeom prst="roundRect">
            <a:avLst>
              <a:gd name="adj" fmla="val 9459"/>
            </a:avLst>
          </a:prstGeom>
          <a:solidFill>
            <a:srgbClr val="EAF6F4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3471672" y="3118104"/>
            <a:ext cx="2200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bắn tín hiệu ra. Đêm giống hệt ngày.</a:t>
            </a:r>
            <a:endParaRPr lang="en-US" sz="10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訊號自己發出去。晚上跟白天一模一樣。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074664" y="1133856"/>
            <a:ext cx="2566416" cy="2706624"/>
          </a:xfrm>
          <a:prstGeom prst="roundRect">
            <a:avLst>
              <a:gd name="adj" fmla="val 3563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184392" y="1207008"/>
            <a:ext cx="234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Vật tự phát</a:t>
            </a:r>
            <a:endParaRPr lang="en-US" sz="13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自體：物體自己在發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6184392" y="164592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nhiệt</a:t>
            </a:r>
            <a:endParaRPr lang="en-US" sz="105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熱像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648907" y="2321113"/>
            <a:ext cx="76810" cy="76810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56" name="Shape 54"/>
          <p:cNvSpPr/>
          <p:nvPr/>
        </p:nvSpPr>
        <p:spPr>
          <a:xfrm>
            <a:off x="6625864" y="2405604"/>
            <a:ext cx="122895" cy="138257"/>
          </a:xfrm>
          <a:prstGeom prst="roundRect">
            <a:avLst>
              <a:gd name="adj" fmla="val 208334"/>
            </a:avLst>
          </a:prstGeom>
          <a:solidFill>
            <a:srgbClr val="D9463E"/>
          </a:solidFill>
          <a:ln/>
        </p:spPr>
      </p:sp>
      <p:sp>
        <p:nvSpPr>
          <p:cNvPr id="57" name="Shape 55"/>
          <p:cNvSpPr/>
          <p:nvPr/>
        </p:nvSpPr>
        <p:spPr>
          <a:xfrm rot="960000">
            <a:off x="6604742" y="2417125"/>
            <a:ext cx="30724" cy="99852"/>
          </a:xfrm>
          <a:prstGeom prst="rect">
            <a:avLst/>
          </a:prstGeom>
          <a:solidFill>
            <a:srgbClr val="D9463E"/>
          </a:solidFill>
          <a:ln/>
        </p:spPr>
      </p:sp>
      <p:sp>
        <p:nvSpPr>
          <p:cNvPr id="58" name="Shape 56"/>
          <p:cNvSpPr/>
          <p:nvPr/>
        </p:nvSpPr>
        <p:spPr>
          <a:xfrm rot="-960000">
            <a:off x="6739158" y="2417125"/>
            <a:ext cx="30724" cy="99852"/>
          </a:xfrm>
          <a:prstGeom prst="rect">
            <a:avLst/>
          </a:prstGeom>
          <a:solidFill>
            <a:srgbClr val="D9463E"/>
          </a:solidFill>
          <a:ln/>
        </p:spPr>
      </p:sp>
      <p:sp>
        <p:nvSpPr>
          <p:cNvPr id="59" name="Shape 57"/>
          <p:cNvSpPr/>
          <p:nvPr/>
        </p:nvSpPr>
        <p:spPr>
          <a:xfrm rot="300000">
            <a:off x="6646987" y="2524658"/>
            <a:ext cx="34564" cy="138257"/>
          </a:xfrm>
          <a:prstGeom prst="rect">
            <a:avLst/>
          </a:prstGeom>
          <a:solidFill>
            <a:srgbClr val="D9463E"/>
          </a:solidFill>
          <a:ln/>
        </p:spPr>
      </p:sp>
      <p:sp>
        <p:nvSpPr>
          <p:cNvPr id="60" name="Shape 58"/>
          <p:cNvSpPr/>
          <p:nvPr/>
        </p:nvSpPr>
        <p:spPr>
          <a:xfrm rot="-300000">
            <a:off x="6693073" y="2524658"/>
            <a:ext cx="34564" cy="138257"/>
          </a:xfrm>
          <a:prstGeom prst="rect">
            <a:avLst/>
          </a:prstGeom>
          <a:solidFill>
            <a:srgbClr val="D9463E"/>
          </a:solidFill>
          <a:ln/>
        </p:spPr>
      </p:sp>
      <p:sp>
        <p:nvSpPr>
          <p:cNvPr id="61" name="Shape 59"/>
          <p:cNvSpPr/>
          <p:nvPr/>
        </p:nvSpPr>
        <p:spPr>
          <a:xfrm>
            <a:off x="6403848" y="2221992"/>
            <a:ext cx="566928" cy="566928"/>
          </a:xfrm>
          <a:prstGeom prst="arc">
            <a:avLst>
              <a:gd name="adj1" fmla="val 18000000"/>
              <a:gd name="adj2" fmla="val 3600000"/>
            </a:avLst>
          </a:prstGeom>
          <a:noFill/>
          <a:ln w="15240">
            <a:solidFill>
              <a:srgbClr val="D9463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348984" y="2167128"/>
            <a:ext cx="676656" cy="676656"/>
          </a:xfrm>
          <a:prstGeom prst="arc">
            <a:avLst>
              <a:gd name="adj1" fmla="val 18000000"/>
              <a:gd name="adj2" fmla="val 3600000"/>
            </a:avLst>
          </a:prstGeom>
          <a:noFill/>
          <a:ln w="15240">
            <a:solidFill>
              <a:srgbClr val="D9463E">
                <a:alpha val="7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94120" y="2112264"/>
            <a:ext cx="786384" cy="786384"/>
          </a:xfrm>
          <a:prstGeom prst="arc">
            <a:avLst>
              <a:gd name="adj1" fmla="val 18000000"/>
              <a:gd name="adj2" fmla="val 3600000"/>
            </a:avLst>
          </a:prstGeom>
          <a:noFill/>
          <a:ln w="15240">
            <a:solidFill>
              <a:srgbClr val="D9463E">
                <a:alpha val="5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73112" y="2423160"/>
            <a:ext cx="384048" cy="164592"/>
          </a:xfrm>
          <a:prstGeom prst="rightArrow">
            <a:avLst/>
          </a:prstGeom>
          <a:solidFill>
            <a:srgbClr val="D9463E"/>
          </a:solidFill>
          <a:ln/>
        </p:spPr>
      </p:sp>
      <p:sp>
        <p:nvSpPr>
          <p:cNvPr id="65" name="Shape 63"/>
          <p:cNvSpPr/>
          <p:nvPr/>
        </p:nvSpPr>
        <p:spPr>
          <a:xfrm>
            <a:off x="7871643" y="2420965"/>
            <a:ext cx="337962" cy="192024"/>
          </a:xfrm>
          <a:prstGeom prst="roundRect">
            <a:avLst>
              <a:gd name="adj" fmla="val 66667"/>
            </a:avLst>
          </a:prstGeom>
          <a:solidFill>
            <a:srgbClr val="D9463E"/>
          </a:solidFill>
          <a:ln/>
        </p:spPr>
      </p:sp>
      <p:sp>
        <p:nvSpPr>
          <p:cNvPr id="66" name="Shape 64"/>
          <p:cNvSpPr/>
          <p:nvPr/>
        </p:nvSpPr>
        <p:spPr>
          <a:xfrm>
            <a:off x="7948452" y="2382561"/>
            <a:ext cx="99852" cy="46086"/>
          </a:xfrm>
          <a:prstGeom prst="roundRect">
            <a:avLst>
              <a:gd name="adj" fmla="val 595235"/>
            </a:avLst>
          </a:prstGeom>
          <a:solidFill>
            <a:srgbClr val="D9463E"/>
          </a:solidFill>
          <a:ln/>
        </p:spPr>
      </p:sp>
      <p:sp>
        <p:nvSpPr>
          <p:cNvPr id="67" name="Shape 65"/>
          <p:cNvSpPr/>
          <p:nvPr/>
        </p:nvSpPr>
        <p:spPr>
          <a:xfrm>
            <a:off x="7979176" y="2451689"/>
            <a:ext cx="122895" cy="12289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8" name="Shape 66"/>
          <p:cNvSpPr/>
          <p:nvPr/>
        </p:nvSpPr>
        <p:spPr>
          <a:xfrm>
            <a:off x="8006060" y="2478573"/>
            <a:ext cx="69129" cy="69129"/>
          </a:xfrm>
          <a:prstGeom prst="ellipse">
            <a:avLst/>
          </a:prstGeom>
          <a:solidFill>
            <a:srgbClr val="D9463E">
              <a:alpha val="70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132796" y="2444008"/>
            <a:ext cx="38405" cy="38405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6184392" y="3054096"/>
            <a:ext cx="2346960" cy="676656"/>
          </a:xfrm>
          <a:prstGeom prst="roundRect">
            <a:avLst>
              <a:gd name="adj" fmla="val 9459"/>
            </a:avLst>
          </a:prstGeom>
          <a:solidFill>
            <a:srgbClr val="EAF6F4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6257544" y="3118104"/>
            <a:ext cx="2200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luôn 37°C. Ban đêm còn rõ hơn.</a:t>
            </a:r>
            <a:endParaRPr lang="en-US" sz="10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人體恆溫 37 度。晚上比白天更清楚。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502920" y="3913632"/>
            <a:ext cx="8138160" cy="603504"/>
          </a:xfrm>
          <a:prstGeom prst="roundRect">
            <a:avLst>
              <a:gd name="adj" fmla="val 1363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85800" y="3977640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đêm chỉ hỏng camera — đó là một trong những lý do xe tự lái không thể chỉ dùng camera.</a:t>
            </a: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夜間只壞相機——這就是自駕車不能只靠相機的理由之一。</a:t>
            </a:r>
            <a:endParaRPr lang="en-US" sz="1200" dirty="0"/>
          </a:p>
        </p:txBody>
      </p:sp>
      <p:pic>
        <p:nvPicPr>
          <p:cNvPr id="75" name="Image 0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76" name="Text 72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15</a:t>
            </a:r>
            <a:endParaRPr lang="en-US" sz="900" dirty="0"/>
          </a:p>
        </p:txBody>
      </p:sp>
      <p:sp>
        <p:nvSpPr>
          <p:cNvPr id="77" name="Text 73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Lượt 2 · 第二輪上台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Vẫn 40 m. Về nắng, rồi chỉ đổi sang sương mù dày.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還是 40 公尺。先回到晴天，再只改成濃霧。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883664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191109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783080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với ban đêm: lần này có gì khác?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跟剛才的夜間比：這次哪裡不一樣？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450592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596896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62432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496312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số điểm LiDAR. Nó từ 15 xuống bao nhiêu?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唸光達的點數。從 15 掉到多少？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163824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331012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333756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3209544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Trong sáu thẻ, ai gần như không bị ảnh hưởng?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六張卡裡，誰幾乎沒受影響？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39136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Sương mù là giọt nước nhỏ trong không khí — nó tán xạ cả ánh sáng lẫn tia laser.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霧是空氣裡的小水滴——它會把光和雷射一起散射掉。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15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Lượt 3 · 第三輪上台：從小雨一路按到大雨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vẫn ở 40 m. Bấm lần lượt: nắng → mưa nhỏ → mưa vừa → mưa to.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行人留在 40 公尺。依序按：晴天 → 小雨 → 中雨 → 大雨。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880384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02668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205412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926104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nắng tới mưa vừa: sai số của camera có đổi không?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從晴天按到中雨：相機的誤差有變嗎？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593616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73992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7673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639336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sang mưa to: thẻ camera xảy ra chuyện gì?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按到大雨的那一下：相機那張卡發生了什麼事？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306848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3453152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348058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3352568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Suốt bốn lần bấm, thẻ nào không hề nhúc nhích?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按了四次，哪一張卡從頭到尾動都沒動？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05665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Mưa không làm camera “mờ đi” — nó làm camera “không nhìn được xa tới đó”.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雨不是讓相機「變模糊」，是讓它「看不到那麼遠」。這兩件事差很多。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15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sóng lớn hơn hạt nước thì vòng qua được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波長跟水滴比大小：比水滴大就繞得過去，比水滴小就被擋住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468880" y="1737360"/>
            <a:ext cx="0" cy="356616"/>
          </a:xfrm>
          <a:prstGeom prst="line">
            <a:avLst/>
          </a:prstGeom>
          <a:noFill/>
          <a:ln w="19050">
            <a:solidFill>
              <a:srgbClr val="D9463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2414016" y="2039112"/>
            <a:ext cx="109728" cy="109728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17320" y="12618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D9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· LiDAR</a:t>
            </a:r>
            <a:endParaRPr lang="en-US" sz="115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9463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相機・光達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82496"/>
            <a:ext cx="210312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 µm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931920" y="1737360"/>
            <a:ext cx="0" cy="356616"/>
          </a:xfrm>
          <a:prstGeom prst="line">
            <a:avLst/>
          </a:prstGeom>
          <a:noFill/>
          <a:ln w="19050">
            <a:solidFill>
              <a:srgbClr val="E08A0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877056" y="2039112"/>
            <a:ext cx="109728" cy="109728"/>
          </a:xfrm>
          <a:prstGeom prst="ellipse">
            <a:avLst/>
          </a:prstGeom>
          <a:solidFill>
            <a:srgbClr val="E08A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80360" y="12618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nhiệt</a:t>
            </a:r>
            <a:endParaRPr lang="en-US" sz="115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08A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熱像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1682496"/>
            <a:ext cx="210312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 µm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21194" y="1737360"/>
            <a:ext cx="0" cy="356616"/>
          </a:xfrm>
          <a:prstGeom prst="line">
            <a:avLst/>
          </a:prstGeom>
          <a:noFill/>
          <a:ln w="19050">
            <a:solidFill>
              <a:srgbClr val="2E7D32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7666330" y="2039112"/>
            <a:ext cx="109728" cy="10972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69634" y="12618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</a:t>
            </a:r>
            <a:endParaRPr lang="en-US" sz="115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E7D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雷達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669634" y="1682496"/>
            <a:ext cx="210312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 mm (77 GHz)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2093976"/>
            <a:ext cx="7772400" cy="0"/>
          </a:xfrm>
          <a:prstGeom prst="line">
            <a:avLst/>
          </a:prstGeom>
          <a:noFill/>
          <a:ln w="25400">
            <a:solidFill>
              <a:srgbClr val="1A27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2093976"/>
            <a:ext cx="0" cy="73152"/>
          </a:xfrm>
          <a:prstGeom prst="line">
            <a:avLst/>
          </a:prstGeom>
          <a:noFill/>
          <a:ln w="12700">
            <a:solidFill>
              <a:srgbClr val="5F718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1854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0,1 µm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68880" y="2093976"/>
            <a:ext cx="0" cy="73152"/>
          </a:xfrm>
          <a:prstGeom prst="line">
            <a:avLst/>
          </a:prstGeom>
          <a:noFill/>
          <a:ln w="12700">
            <a:solidFill>
              <a:srgbClr val="5F718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057400" y="21854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µm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931920" y="2093976"/>
            <a:ext cx="0" cy="73152"/>
          </a:xfrm>
          <a:prstGeom prst="line">
            <a:avLst/>
          </a:prstGeom>
          <a:noFill/>
          <a:ln w="12700">
            <a:solidFill>
              <a:srgbClr val="5F718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20440" y="21854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µm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94960" y="2093976"/>
            <a:ext cx="0" cy="73152"/>
          </a:xfrm>
          <a:prstGeom prst="line">
            <a:avLst/>
          </a:prstGeom>
          <a:noFill/>
          <a:ln w="12700">
            <a:solidFill>
              <a:srgbClr val="5F718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83480" y="21854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µm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0" y="2093976"/>
            <a:ext cx="0" cy="73152"/>
          </a:xfrm>
          <a:prstGeom prst="line">
            <a:avLst/>
          </a:prstGeom>
          <a:noFill/>
          <a:ln w="12700">
            <a:solidFill>
              <a:srgbClr val="5F718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46520" y="21854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321040" y="2093976"/>
            <a:ext cx="0" cy="73152"/>
          </a:xfrm>
          <a:prstGeom prst="line">
            <a:avLst/>
          </a:prstGeom>
          <a:noFill/>
          <a:ln w="12700">
            <a:solidFill>
              <a:srgbClr val="5F718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09560" y="21854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468880" y="2459736"/>
            <a:ext cx="2487168" cy="292608"/>
          </a:xfrm>
          <a:prstGeom prst="roundRect">
            <a:avLst>
              <a:gd name="adj" fmla="val 15625"/>
            </a:avLst>
          </a:prstGeom>
          <a:solidFill>
            <a:srgbClr val="8FB8C9">
              <a:alpha val="4500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400" y="24231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Hạt sương mù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霧滴 1–50 µm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19088" y="2825496"/>
            <a:ext cx="877824" cy="292608"/>
          </a:xfrm>
          <a:prstGeom prst="roundRect">
            <a:avLst>
              <a:gd name="adj" fmla="val 15625"/>
            </a:avLst>
          </a:prstGeom>
          <a:solidFill>
            <a:srgbClr val="4A7FA5">
              <a:alpha val="45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864608" y="27889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Hạt mưa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雨滴 0.5–2 mm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3246120"/>
            <a:ext cx="2639568" cy="658368"/>
          </a:xfrm>
          <a:prstGeom prst="roundRect">
            <a:avLst>
              <a:gd name="adj" fmla="val 9722"/>
            </a:avLst>
          </a:prstGeom>
          <a:solidFill>
            <a:srgbClr val="FDECE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94360" y="3282696"/>
            <a:ext cx="2456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A32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Nhỏ hơn hạt nước → bị chặn</a:t>
            </a:r>
            <a:endParaRPr lang="en-US" sz="11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A32C2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比水滴小 → 被擋住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94360" y="3593592"/>
            <a:ext cx="2456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A32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Camera, LiDAR: sương mù ăn mạnh nhất</a:t>
            </a:r>
            <a:endParaRPr lang="en-US" sz="9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A32C2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相機、光達：在霧裡看得最短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52216" y="3246120"/>
            <a:ext cx="2639568" cy="658368"/>
          </a:xfrm>
          <a:prstGeom prst="roundRect">
            <a:avLst>
              <a:gd name="adj" fmla="val 9722"/>
            </a:avLst>
          </a:prstGeom>
          <a:solidFill>
            <a:srgbClr val="FFF6E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343656" y="3282696"/>
            <a:ext cx="2456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Cỡ bằng hạt nước → mất một phần</a:t>
            </a:r>
            <a:endParaRPr lang="en-US" sz="11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A5A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跟水滴差不多 → 掉一部分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343656" y="3593592"/>
            <a:ext cx="2456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nhiệt: 143 m → 90 m</a:t>
            </a:r>
            <a:endParaRPr lang="en-US" sz="9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8A5A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熱像：143 公尺 → 90 公尺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001512" y="3246120"/>
            <a:ext cx="2639568" cy="658368"/>
          </a:xfrm>
          <a:prstGeom prst="roundRect">
            <a:avLst>
              <a:gd name="adj" fmla="val 9722"/>
            </a:avLst>
          </a:prstGeom>
          <a:solidFill>
            <a:srgbClr val="EAF6F4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092952" y="3282696"/>
            <a:ext cx="2456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Lớn hơn hạt nước → vòng qua</a:t>
            </a:r>
            <a:endParaRPr lang="en-US" sz="11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E7D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比水滴大 → 繞過去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092952" y="3593592"/>
            <a:ext cx="2456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Radar: gần như không đổi</a:t>
            </a:r>
            <a:endParaRPr lang="en-US" sz="9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2E7D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雷達：幾乎不受影響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85800" y="39959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một quy tắc giải thích cả sương mù lẫn mưa — chỉ khác cỡ hạt.</a:t>
            </a: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同一條規則就解釋了霧和雨兩輪——差別只在水滴的大小。</a:t>
            </a:r>
            <a:endParaRPr lang="en-US" sz="1200" dirty="0"/>
          </a:p>
        </p:txBody>
      </p:sp>
      <p:pic>
        <p:nvPicPr>
          <p:cNvPr id="44" name="Image 0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45" name="Text 41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15</a:t>
            </a:r>
            <a:endParaRPr lang="en-US" sz="900" dirty="0"/>
          </a:p>
        </p:txBody>
      </p:sp>
      <p:sp>
        <p:nvSpPr>
          <p:cNvPr id="46" name="Text 42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Lượt 4 · 第四輪上台：先用規則推論，再按下去驗證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Bông tuyết 1–10 mm. Bước sóng radar ~4 mm. Đoán trước: tuyết có làm radar kém không?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雪花 1–10 公釐，雷達波長約 4 公釐。先猜：下雪會不會連雷達都變差？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880384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02668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205412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926104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Đoán trước, chưa bấm. Ai lớn hơn ai?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先猜，先不要按。雪花和雷達的波長，誰大？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593616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73992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7673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639336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«Tuyết». Đọc bốn tầm hiệu dụng ở cột phải.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按下「下雪」。把四個有效距離唸出來。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306848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3453152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348058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3352568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Kéo người ra 180 m. So với mưa to và sương mù: khác chỗ nào?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把行人拖到 180 公尺。跟大雨、濃霧比：差在哪裡？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05665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Đây là thời tiết duy nhất hôm nay kéo cả radar xuống.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這是今天唯一一種，連雷達都會變差的天氣。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15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Bảy trong chín điều kiện: ai còn nhìn được bao xa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九種條件裡挑七種，誰還看得到多遠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33856"/>
          <a:ext cx="813816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49808"/>
                <a:gridCol w="749808"/>
                <a:gridCol w="749808"/>
                <a:gridCol w="749808"/>
                <a:gridCol w="3813048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Điều kiện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條件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相機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LiDAR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光達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Radar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雷達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Ảnh nhiệt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熱像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Hỏng cái gì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壞的是什麼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Nắng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晴天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Mốc chuẩn của cả buổi học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全部比較的基準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 đêm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夜間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Chỉ camera. Ảnh nhiệt còn tốt hơn một chút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只有相機。熱像還變好一點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Chói sáng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逆光眩光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Chỉ camera bị ảnh hưởng; LiDAR và radar gần như không đổi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只有相機受影響；光達和雷達幾乎不動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Mưa vừa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中雨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 và LiDAR cùng ngắn lại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相機和光達一起變短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Mưa to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大雨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Cả ba cùng yếu đi, radar còn nhiều nhất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三種的距離一起變短，雷達還剩最多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Sương mù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濃霧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Tệ nhất cho camera; LiDAR mất hơn nửa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相機縮得最短；光達少了一半以上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Tuyết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下雪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Cả radar cũng kém: bông tuyết to cỡ bước sóng của nó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連雷達都掉了：雪花大小跟它的波長差不多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" y="4451361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vị: mét. Đây là tham số của mô hình lớp học, không phải thông số sản phẩm.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單位：公尺。這是課堂模型的設定值，不是任何產品的規格。</a:t>
            </a:r>
            <a:endParaRPr lang="en-US" sz="1200" dirty="0"/>
          </a:p>
        </p:txBody>
      </p:sp>
      <p:pic>
        <p:nvPicPr>
          <p:cNvPr id="6" name="Image 0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15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Video · 六項測試，兩台車，40 mph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8138160" cy="56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người thật sự lái vào sương mù, mưa và đèn pha để thử</a:t>
            </a:r>
            <a:endParaRPr lang="en-US" sz="17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有人真的把車開進霧裡、雨裡、強光裡測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1255628"/>
            <a:ext cx="3904488" cy="1255850"/>
          </a:xfrm>
          <a:prstGeom prst="roundRect">
            <a:avLst>
              <a:gd name="adj" fmla="val 6553"/>
            </a:avLst>
          </a:prstGeom>
          <a:solidFill>
            <a:srgbClr val="1B2A3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496" y="2237158"/>
            <a:ext cx="3831336" cy="237744"/>
          </a:xfrm>
          <a:prstGeom prst="rect">
            <a:avLst/>
          </a:prstGeom>
          <a:solidFill>
            <a:srgbClr val="2C3E4E"/>
          </a:solidFill>
          <a:ln/>
        </p:spPr>
      </p:sp>
      <p:sp>
        <p:nvSpPr>
          <p:cNvPr id="6" name="Shape 4"/>
          <p:cNvSpPr/>
          <p:nvPr/>
        </p:nvSpPr>
        <p:spPr>
          <a:xfrm>
            <a:off x="1649839" y="1347068"/>
            <a:ext cx="91440" cy="274320"/>
          </a:xfrm>
          <a:prstGeom prst="line">
            <a:avLst/>
          </a:prstGeom>
          <a:noFill/>
          <a:ln w="12700">
            <a:solidFill>
              <a:srgbClr val="AFC8DC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95569" y="1347068"/>
            <a:ext cx="91440" cy="274320"/>
          </a:xfrm>
          <a:prstGeom prst="line">
            <a:avLst/>
          </a:prstGeom>
          <a:noFill/>
          <a:ln w="12700">
            <a:solidFill>
              <a:srgbClr val="AFC8DC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41299" y="1347068"/>
            <a:ext cx="91440" cy="274320"/>
          </a:xfrm>
          <a:prstGeom prst="line">
            <a:avLst/>
          </a:prstGeom>
          <a:noFill/>
          <a:ln w="12700">
            <a:solidFill>
              <a:srgbClr val="AFC8DC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7030" y="1347068"/>
            <a:ext cx="91440" cy="274320"/>
          </a:xfrm>
          <a:prstGeom prst="line">
            <a:avLst/>
          </a:prstGeom>
          <a:noFill/>
          <a:ln w="12700">
            <a:solidFill>
              <a:srgbClr val="AFC8DC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32760" y="1347068"/>
            <a:ext cx="91440" cy="274320"/>
          </a:xfrm>
          <a:prstGeom prst="line">
            <a:avLst/>
          </a:prstGeom>
          <a:noFill/>
          <a:ln w="12700">
            <a:solidFill>
              <a:srgbClr val="AFC8DC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78490" y="1347068"/>
            <a:ext cx="91440" cy="274320"/>
          </a:xfrm>
          <a:prstGeom prst="line">
            <a:avLst/>
          </a:prstGeom>
          <a:noFill/>
          <a:ln w="12700">
            <a:solidFill>
              <a:srgbClr val="AFC8DC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24221" y="1347068"/>
            <a:ext cx="91440" cy="274320"/>
          </a:xfrm>
          <a:prstGeom prst="line">
            <a:avLst/>
          </a:prstGeom>
          <a:noFill/>
          <a:ln w="12700">
            <a:solidFill>
              <a:srgbClr val="AFC8DC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69951" y="1347068"/>
            <a:ext cx="91440" cy="274320"/>
          </a:xfrm>
          <a:prstGeom prst="line">
            <a:avLst/>
          </a:prstGeom>
          <a:noFill/>
          <a:ln w="12700">
            <a:solidFill>
              <a:srgbClr val="AFC8DC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" y="1731116"/>
            <a:ext cx="91440" cy="274320"/>
          </a:xfrm>
          <a:prstGeom prst="line">
            <a:avLst/>
          </a:prstGeom>
          <a:noFill/>
          <a:ln w="12700">
            <a:solidFill>
              <a:srgbClr val="AFC8DC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8378" y="1731116"/>
            <a:ext cx="91440" cy="274320"/>
          </a:xfrm>
          <a:prstGeom prst="line">
            <a:avLst/>
          </a:prstGeom>
          <a:noFill/>
          <a:ln w="12700">
            <a:solidFill>
              <a:srgbClr val="AFC8DC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04109" y="1731116"/>
            <a:ext cx="91440" cy="274320"/>
          </a:xfrm>
          <a:prstGeom prst="line">
            <a:avLst/>
          </a:prstGeom>
          <a:noFill/>
          <a:ln w="12700">
            <a:solidFill>
              <a:srgbClr val="AFC8DC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9839" y="1731116"/>
            <a:ext cx="91440" cy="274320"/>
          </a:xfrm>
          <a:prstGeom prst="line">
            <a:avLst/>
          </a:prstGeom>
          <a:noFill/>
          <a:ln w="12700">
            <a:solidFill>
              <a:srgbClr val="AFC8DC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95569" y="1731116"/>
            <a:ext cx="91440" cy="274320"/>
          </a:xfrm>
          <a:prstGeom prst="line">
            <a:avLst/>
          </a:prstGeom>
          <a:noFill/>
          <a:ln w="12700">
            <a:solidFill>
              <a:srgbClr val="AFC8DC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41299" y="1731116"/>
            <a:ext cx="91440" cy="274320"/>
          </a:xfrm>
          <a:prstGeom prst="line">
            <a:avLst/>
          </a:prstGeom>
          <a:noFill/>
          <a:ln w="12700">
            <a:solidFill>
              <a:srgbClr val="AFC8DC">
                <a:alpha val="6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87030" y="1731116"/>
            <a:ext cx="91440" cy="274320"/>
          </a:xfrm>
          <a:prstGeom prst="line">
            <a:avLst/>
          </a:prstGeom>
          <a:noFill/>
          <a:ln w="12700">
            <a:solidFill>
              <a:srgbClr val="AFC8DC">
                <a:alpha val="6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32760" y="1731116"/>
            <a:ext cx="91440" cy="274320"/>
          </a:xfrm>
          <a:prstGeom prst="line">
            <a:avLst/>
          </a:prstGeom>
          <a:noFill/>
          <a:ln w="12700">
            <a:solidFill>
              <a:srgbClr val="AFC8DC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78490" y="1731116"/>
            <a:ext cx="91440" cy="274320"/>
          </a:xfrm>
          <a:prstGeom prst="line">
            <a:avLst/>
          </a:prstGeom>
          <a:noFill/>
          <a:ln w="12700">
            <a:solidFill>
              <a:srgbClr val="AFC8DC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24221" y="1731116"/>
            <a:ext cx="91440" cy="274320"/>
          </a:xfrm>
          <a:prstGeom prst="line">
            <a:avLst/>
          </a:prstGeom>
          <a:noFill/>
          <a:ln w="12700">
            <a:solidFill>
              <a:srgbClr val="AFC8DC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69951" y="1731116"/>
            <a:ext cx="91440" cy="274320"/>
          </a:xfrm>
          <a:prstGeom prst="line">
            <a:avLst/>
          </a:prstGeom>
          <a:noFill/>
          <a:ln w="12700">
            <a:solidFill>
              <a:srgbClr val="AFC8DC">
                <a:alpha val="6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4984" y="1866826"/>
            <a:ext cx="576072" cy="148133"/>
          </a:xfrm>
          <a:prstGeom prst="roundRect">
            <a:avLst>
              <a:gd name="adj" fmla="val 24691"/>
            </a:avLst>
          </a:prstGeom>
          <a:solidFill>
            <a:srgbClr val="C8D3DE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2014959"/>
            <a:ext cx="1051560" cy="222199"/>
          </a:xfrm>
          <a:prstGeom prst="roundRect">
            <a:avLst>
              <a:gd name="adj" fmla="val 20576"/>
            </a:avLst>
          </a:prstGeom>
          <a:solidFill>
            <a:srgbClr val="9FB0BE"/>
          </a:solidFill>
          <a:ln/>
        </p:spPr>
      </p:sp>
      <p:sp>
        <p:nvSpPr>
          <p:cNvPr id="27" name="Shape 25"/>
          <p:cNvSpPr/>
          <p:nvPr/>
        </p:nvSpPr>
        <p:spPr>
          <a:xfrm>
            <a:off x="923544" y="2164006"/>
            <a:ext cx="146304" cy="146304"/>
          </a:xfrm>
          <a:prstGeom prst="ellipse">
            <a:avLst/>
          </a:prstGeom>
          <a:solidFill>
            <a:srgbClr val="44525E"/>
          </a:solidFill>
          <a:ln/>
        </p:spPr>
      </p:sp>
      <p:sp>
        <p:nvSpPr>
          <p:cNvPr id="28" name="Shape 26"/>
          <p:cNvSpPr/>
          <p:nvPr/>
        </p:nvSpPr>
        <p:spPr>
          <a:xfrm>
            <a:off x="1536192" y="2164006"/>
            <a:ext cx="146304" cy="146304"/>
          </a:xfrm>
          <a:prstGeom prst="ellipse">
            <a:avLst/>
          </a:prstGeom>
          <a:solidFill>
            <a:srgbClr val="44525E"/>
          </a:solidFill>
          <a:ln/>
        </p:spPr>
      </p:sp>
      <p:sp>
        <p:nvSpPr>
          <p:cNvPr id="29" name="Shape 27"/>
          <p:cNvSpPr/>
          <p:nvPr/>
        </p:nvSpPr>
        <p:spPr>
          <a:xfrm flipV="1">
            <a:off x="1828800" y="1670230"/>
            <a:ext cx="1371600" cy="566928"/>
          </a:xfrm>
          <a:prstGeom prst="rtTriangle">
            <a:avLst/>
          </a:prstGeom>
          <a:solidFill>
            <a:srgbClr val="FFE9A8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04058" y="1824947"/>
            <a:ext cx="84125" cy="84125"/>
          </a:xfrm>
          <a:prstGeom prst="ellipse">
            <a:avLst/>
          </a:prstGeom>
          <a:solidFill>
            <a:srgbClr val="6E8296"/>
          </a:solidFill>
          <a:ln/>
        </p:spPr>
      </p:sp>
      <p:sp>
        <p:nvSpPr>
          <p:cNvPr id="31" name="Shape 29"/>
          <p:cNvSpPr/>
          <p:nvPr/>
        </p:nvSpPr>
        <p:spPr>
          <a:xfrm>
            <a:off x="3178820" y="1917484"/>
            <a:ext cx="134600" cy="151425"/>
          </a:xfrm>
          <a:prstGeom prst="roundRect">
            <a:avLst>
              <a:gd name="adj" fmla="val 190217"/>
            </a:avLst>
          </a:prstGeom>
          <a:solidFill>
            <a:srgbClr val="6E8296"/>
          </a:solidFill>
          <a:ln/>
        </p:spPr>
      </p:sp>
      <p:sp>
        <p:nvSpPr>
          <p:cNvPr id="32" name="Shape 30"/>
          <p:cNvSpPr/>
          <p:nvPr/>
        </p:nvSpPr>
        <p:spPr>
          <a:xfrm rot="960000">
            <a:off x="3155686" y="1930103"/>
            <a:ext cx="33650" cy="109362"/>
          </a:xfrm>
          <a:prstGeom prst="rect">
            <a:avLst/>
          </a:prstGeom>
          <a:solidFill>
            <a:srgbClr val="6E8296"/>
          </a:solidFill>
          <a:ln/>
        </p:spPr>
      </p:sp>
      <p:sp>
        <p:nvSpPr>
          <p:cNvPr id="33" name="Shape 31"/>
          <p:cNvSpPr/>
          <p:nvPr/>
        </p:nvSpPr>
        <p:spPr>
          <a:xfrm rot="-960000">
            <a:off x="3302904" y="1930103"/>
            <a:ext cx="33650" cy="109362"/>
          </a:xfrm>
          <a:prstGeom prst="rect">
            <a:avLst/>
          </a:prstGeom>
          <a:solidFill>
            <a:srgbClr val="6E8296"/>
          </a:solidFill>
          <a:ln/>
        </p:spPr>
      </p:sp>
      <p:sp>
        <p:nvSpPr>
          <p:cNvPr id="34" name="Shape 32"/>
          <p:cNvSpPr/>
          <p:nvPr/>
        </p:nvSpPr>
        <p:spPr>
          <a:xfrm rot="300000">
            <a:off x="3201954" y="2047877"/>
            <a:ext cx="37856" cy="151425"/>
          </a:xfrm>
          <a:prstGeom prst="rect">
            <a:avLst/>
          </a:prstGeom>
          <a:solidFill>
            <a:srgbClr val="6E8296"/>
          </a:solidFill>
          <a:ln/>
        </p:spPr>
      </p:sp>
      <p:sp>
        <p:nvSpPr>
          <p:cNvPr id="35" name="Shape 33"/>
          <p:cNvSpPr/>
          <p:nvPr/>
        </p:nvSpPr>
        <p:spPr>
          <a:xfrm rot="-300000">
            <a:off x="3252429" y="2047877"/>
            <a:ext cx="37856" cy="151425"/>
          </a:xfrm>
          <a:prstGeom prst="rect">
            <a:avLst/>
          </a:prstGeom>
          <a:solidFill>
            <a:srgbClr val="6E829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12648" y="1310492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C8D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Mưa to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CE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大雨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12648" y="2218870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8D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22 m · LiDAR 40 m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" y="2593774"/>
            <a:ext cx="3904488" cy="1255850"/>
          </a:xfrm>
          <a:prstGeom prst="roundRect">
            <a:avLst>
              <a:gd name="adj" fmla="val 6553"/>
            </a:avLst>
          </a:prstGeom>
          <a:solidFill>
            <a:srgbClr val="9FB0BC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9496" y="3575304"/>
            <a:ext cx="3831336" cy="237744"/>
          </a:xfrm>
          <a:prstGeom prst="rect">
            <a:avLst/>
          </a:prstGeom>
          <a:solidFill>
            <a:srgbClr val="8A9BA8"/>
          </a:solidFill>
          <a:ln/>
        </p:spPr>
      </p:sp>
      <p:sp>
        <p:nvSpPr>
          <p:cNvPr id="40" name="Shape 38"/>
          <p:cNvSpPr/>
          <p:nvPr/>
        </p:nvSpPr>
        <p:spPr>
          <a:xfrm>
            <a:off x="1014984" y="3204972"/>
            <a:ext cx="576072" cy="148133"/>
          </a:xfrm>
          <a:prstGeom prst="roundRect">
            <a:avLst>
              <a:gd name="adj" fmla="val 24691"/>
            </a:avLst>
          </a:prstGeom>
          <a:solidFill>
            <a:srgbClr val="7E93A4"/>
          </a:solidFill>
          <a:ln/>
        </p:spPr>
      </p:sp>
      <p:sp>
        <p:nvSpPr>
          <p:cNvPr id="41" name="Shape 39"/>
          <p:cNvSpPr/>
          <p:nvPr/>
        </p:nvSpPr>
        <p:spPr>
          <a:xfrm>
            <a:off x="777240" y="3353105"/>
            <a:ext cx="1051560" cy="222199"/>
          </a:xfrm>
          <a:prstGeom prst="roundRect">
            <a:avLst>
              <a:gd name="adj" fmla="val 20576"/>
            </a:avLst>
          </a:prstGeom>
          <a:solidFill>
            <a:srgbClr val="5E7182"/>
          </a:solidFill>
          <a:ln/>
        </p:spPr>
      </p:sp>
      <p:sp>
        <p:nvSpPr>
          <p:cNvPr id="42" name="Shape 40"/>
          <p:cNvSpPr/>
          <p:nvPr/>
        </p:nvSpPr>
        <p:spPr>
          <a:xfrm>
            <a:off x="923544" y="3502152"/>
            <a:ext cx="146304" cy="146304"/>
          </a:xfrm>
          <a:prstGeom prst="ellipse">
            <a:avLst/>
          </a:prstGeom>
          <a:solidFill>
            <a:srgbClr val="44525E"/>
          </a:solidFill>
          <a:ln/>
        </p:spPr>
      </p:sp>
      <p:sp>
        <p:nvSpPr>
          <p:cNvPr id="43" name="Shape 41"/>
          <p:cNvSpPr/>
          <p:nvPr/>
        </p:nvSpPr>
        <p:spPr>
          <a:xfrm>
            <a:off x="1536192" y="3502152"/>
            <a:ext cx="146304" cy="146304"/>
          </a:xfrm>
          <a:prstGeom prst="ellipse">
            <a:avLst/>
          </a:prstGeom>
          <a:solidFill>
            <a:srgbClr val="44525E"/>
          </a:solidFill>
          <a:ln/>
        </p:spPr>
      </p:sp>
      <p:sp>
        <p:nvSpPr>
          <p:cNvPr id="44" name="Shape 42"/>
          <p:cNvSpPr/>
          <p:nvPr/>
        </p:nvSpPr>
        <p:spPr>
          <a:xfrm flipV="1">
            <a:off x="1828800" y="3008376"/>
            <a:ext cx="1371600" cy="566928"/>
          </a:xfrm>
          <a:prstGeom prst="rtTriangle">
            <a:avLst/>
          </a:prstGeom>
          <a:solidFill>
            <a:srgbClr val="FFE9A8">
              <a:alpha val="12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3204058" y="3163092"/>
            <a:ext cx="84125" cy="84125"/>
          </a:xfrm>
          <a:prstGeom prst="ellipse">
            <a:avLst/>
          </a:prstGeom>
          <a:solidFill>
            <a:srgbClr val="7F8F9C"/>
          </a:solidFill>
          <a:ln/>
        </p:spPr>
      </p:sp>
      <p:sp>
        <p:nvSpPr>
          <p:cNvPr id="46" name="Shape 44"/>
          <p:cNvSpPr/>
          <p:nvPr/>
        </p:nvSpPr>
        <p:spPr>
          <a:xfrm>
            <a:off x="3178820" y="3255630"/>
            <a:ext cx="134600" cy="151425"/>
          </a:xfrm>
          <a:prstGeom prst="roundRect">
            <a:avLst>
              <a:gd name="adj" fmla="val 190217"/>
            </a:avLst>
          </a:prstGeom>
          <a:solidFill>
            <a:srgbClr val="7F8F9C"/>
          </a:solidFill>
          <a:ln/>
        </p:spPr>
      </p:sp>
      <p:sp>
        <p:nvSpPr>
          <p:cNvPr id="47" name="Shape 45"/>
          <p:cNvSpPr/>
          <p:nvPr/>
        </p:nvSpPr>
        <p:spPr>
          <a:xfrm rot="960000">
            <a:off x="3155686" y="3268248"/>
            <a:ext cx="33650" cy="109362"/>
          </a:xfrm>
          <a:prstGeom prst="rect">
            <a:avLst/>
          </a:prstGeom>
          <a:solidFill>
            <a:srgbClr val="7F8F9C"/>
          </a:solidFill>
          <a:ln/>
        </p:spPr>
      </p:sp>
      <p:sp>
        <p:nvSpPr>
          <p:cNvPr id="48" name="Shape 46"/>
          <p:cNvSpPr/>
          <p:nvPr/>
        </p:nvSpPr>
        <p:spPr>
          <a:xfrm rot="-960000">
            <a:off x="3302904" y="3268248"/>
            <a:ext cx="33650" cy="109362"/>
          </a:xfrm>
          <a:prstGeom prst="rect">
            <a:avLst/>
          </a:prstGeom>
          <a:solidFill>
            <a:srgbClr val="7F8F9C"/>
          </a:solidFill>
          <a:ln/>
        </p:spPr>
      </p:sp>
      <p:sp>
        <p:nvSpPr>
          <p:cNvPr id="49" name="Shape 47"/>
          <p:cNvSpPr/>
          <p:nvPr/>
        </p:nvSpPr>
        <p:spPr>
          <a:xfrm rot="300000">
            <a:off x="3201954" y="3386023"/>
            <a:ext cx="37856" cy="151425"/>
          </a:xfrm>
          <a:prstGeom prst="rect">
            <a:avLst/>
          </a:prstGeom>
          <a:solidFill>
            <a:srgbClr val="7F8F9C"/>
          </a:solidFill>
          <a:ln/>
        </p:spPr>
      </p:sp>
      <p:sp>
        <p:nvSpPr>
          <p:cNvPr id="50" name="Shape 48"/>
          <p:cNvSpPr/>
          <p:nvPr/>
        </p:nvSpPr>
        <p:spPr>
          <a:xfrm rot="-300000">
            <a:off x="3252429" y="3386023"/>
            <a:ext cx="37856" cy="151425"/>
          </a:xfrm>
          <a:prstGeom prst="rect">
            <a:avLst/>
          </a:prstGeom>
          <a:solidFill>
            <a:srgbClr val="7F8F9C"/>
          </a:solidFill>
          <a:ln/>
        </p:spPr>
      </p:sp>
      <p:sp>
        <p:nvSpPr>
          <p:cNvPr id="51" name="Shape 49"/>
          <p:cNvSpPr/>
          <p:nvPr/>
        </p:nvSpPr>
        <p:spPr>
          <a:xfrm>
            <a:off x="2298984" y="2630350"/>
            <a:ext cx="2071848" cy="118269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3079882" y="2630350"/>
            <a:ext cx="1290950" cy="1182698"/>
          </a:xfrm>
          <a:prstGeom prst="rect">
            <a:avLst/>
          </a:prstGeom>
          <a:solidFill>
            <a:srgbClr val="FFFFFF">
              <a:alpha val="36000"/>
            </a:srgbClr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12648" y="2648638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24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Sương mù dày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4323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濃霧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612648" y="3557016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4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16 m · LiDAR 45 m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736592" y="1255628"/>
            <a:ext cx="3904488" cy="2566564"/>
          </a:xfrm>
          <a:prstGeom prst="roundRect">
            <a:avLst>
              <a:gd name="adj" fmla="val 3563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19472" y="1420220"/>
            <a:ext cx="347472" cy="347472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4919472" y="14659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5340096" y="1401932"/>
            <a:ext cx="3118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Fool A Self Driving Car?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4919472" y="1859132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Rober　·　≈18:30</a:t>
            </a:r>
            <a:endParaRPr lang="en-US" sz="900" dirty="0"/>
          </a:p>
        </p:txBody>
      </p:sp>
      <p:sp>
        <p:nvSpPr>
          <p:cNvPr id="60" name="Text 58">
            <a:hlinkClick r:id="rId1" tooltip=""/>
          </p:cNvPr>
          <p:cNvSpPr txBox="1"/>
          <p:nvPr/>
        </p:nvSpPr>
        <p:spPr>
          <a:xfrm>
            <a:off x="4919472" y="2042012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F6F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https://www.youtube.com/watch?v=IQJL3htsDyQ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919472" y="2316332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5047488" y="2279756"/>
            <a:ext cx="3429000" cy="456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bài: trẻ đứng · trẻ lao ra · sương mù · mưa · đèn chói · tường vẽ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六項：站著的小孩・突然衝出・霧・雨・強光・假牆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919472" y="2808987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5047488" y="2772411"/>
            <a:ext cx="3429000" cy="456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sương mù và mưa: đúng như quy tắc bước sóng vừa học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霧和雨那兩項：正好對上剛剛那條波長規則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919472" y="3301642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5047488" y="3265066"/>
            <a:ext cx="3429000" cy="456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bài chỉ chạy MỘT lần — đây là trình diễn hiện tượng, không phải bằng chứng.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每一項只跑一次——這是現象展示，不是證據。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02920" y="3931920"/>
            <a:ext cx="8138160" cy="548640"/>
          </a:xfrm>
          <a:prstGeom prst="roundRect">
            <a:avLst>
              <a:gd name="adj" fmla="val 15000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85800" y="399592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quả: xe LiDAR 6/6, Tesla 3/6. Nhưng một lần thử không kết luận được hãng nào an toàn hơn.</a:t>
            </a:r>
            <a:endParaRPr lang="en-US" sz="11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結果：光達車 6/6，Tesla 3/6。但一次測試不能拿來宣告哪一家比較安全。</a:t>
            </a:r>
            <a:endParaRPr lang="en-US" sz="1150" dirty="0"/>
          </a:p>
        </p:txBody>
      </p:sp>
      <p:pic>
        <p:nvPicPr>
          <p:cNvPr id="70" name="Image 0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71" name="Text 67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15</a:t>
            </a:r>
            <a:endParaRPr lang="en-US" sz="900" dirty="0"/>
          </a:p>
        </p:txBody>
      </p:sp>
      <p:sp>
        <p:nvSpPr>
          <p:cNvPr id="72" name="Text 68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Lượt 5 · 第五輪上台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Về nắng. Kéo người vào 20 m. Rồi bật “giọt nước ống kính”.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回到晴天。把行人拖到 20 公尺。然後打開「鏡頭水滴」。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880384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02668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205412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926104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Ở 20 m nắng: camera đọc được khoảng cách và loại. Ghi lại.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 公尺晴天：相機讀得到距離和類別。記下來。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593616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73992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7673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639336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Bật giọt nước. Khoảng cách còn không? Loại còn không?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打開水滴。距離還在嗎？類別還在嗎？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306848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3453152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348058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3352568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thẻ khác có bù được khoảng cách không? Có bù được LOẠI không?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其他卡片補得上距離嗎？補得上「類別」嗎？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05665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Khoảng cách vẫn còn, nhưng nhãn “người” thì mất. Chỉ hỏng một nửa.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距離還在，但「行人」這個標籤不見了——等於只剩一半的功能。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Giọt nước và vỏ bẩn là chuyện của chính chiếc xe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水滴和罩子髒，是車子自己的問題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041855" y="1170432"/>
            <a:ext cx="1316736" cy="1316736"/>
          </a:xfrm>
          <a:prstGeom prst="ellipse">
            <a:avLst/>
          </a:prstGeom>
          <a:solidFill>
            <a:srgbClr val="2B3945"/>
          </a:solidFill>
          <a:ln/>
        </p:spPr>
      </p:sp>
      <p:sp>
        <p:nvSpPr>
          <p:cNvPr id="4" name="Shape 2"/>
          <p:cNvSpPr/>
          <p:nvPr/>
        </p:nvSpPr>
        <p:spPr>
          <a:xfrm>
            <a:off x="2133295" y="1261872"/>
            <a:ext cx="1133856" cy="1133856"/>
          </a:xfrm>
          <a:prstGeom prst="ellipse">
            <a:avLst/>
          </a:prstGeom>
          <a:solidFill>
            <a:srgbClr val="12263A"/>
          </a:solidFill>
          <a:ln w="12700">
            <a:solidFill>
              <a:srgbClr val="4A5A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48728" y="1420612"/>
            <a:ext cx="396850" cy="255118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456444" y="1653052"/>
            <a:ext cx="147401" cy="147401"/>
          </a:xfrm>
          <a:prstGeom prst="ellipse">
            <a:avLst/>
          </a:prstGeom>
          <a:solidFill>
            <a:srgbClr val="BFE3F5">
              <a:alpha val="72000"/>
            </a:srgbClr>
          </a:solidFill>
          <a:ln w="9525">
            <a:solidFill>
              <a:srgbClr val="E8F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28570" y="1760769"/>
            <a:ext cx="192756" cy="192756"/>
          </a:xfrm>
          <a:prstGeom prst="ellipse">
            <a:avLst/>
          </a:prstGeom>
          <a:solidFill>
            <a:srgbClr val="BFE3F5">
              <a:alpha val="72000"/>
            </a:srgbClr>
          </a:solidFill>
          <a:ln w="9525">
            <a:solidFill>
              <a:srgbClr val="E8F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15184" y="1976201"/>
            <a:ext cx="113386" cy="113386"/>
          </a:xfrm>
          <a:prstGeom prst="ellipse">
            <a:avLst/>
          </a:prstGeom>
          <a:solidFill>
            <a:srgbClr val="BFE3F5">
              <a:alpha val="72000"/>
            </a:srgbClr>
          </a:solidFill>
          <a:ln w="9525">
            <a:solidFill>
              <a:srgbClr val="E8F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4632" y="1596360"/>
            <a:ext cx="102047" cy="102047"/>
          </a:xfrm>
          <a:prstGeom prst="ellipse">
            <a:avLst/>
          </a:prstGeom>
          <a:solidFill>
            <a:srgbClr val="BFE3F5">
              <a:alpha val="72000"/>
            </a:srgbClr>
          </a:solidFill>
          <a:ln w="9525">
            <a:solidFill>
              <a:srgbClr val="E8F6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37183" y="25420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Giọt nước trên ống kính camera</a:t>
            </a:r>
            <a:endParaRPr lang="en-US" sz="125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相機鏡頭上的水滴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237183" y="2944368"/>
            <a:ext cx="2926080" cy="420624"/>
          </a:xfrm>
          <a:prstGeom prst="roundRect">
            <a:avLst>
              <a:gd name="adj" fmla="val 15217"/>
            </a:avLst>
          </a:prstGeom>
          <a:solidFill>
            <a:srgbClr val="FDECE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310335" y="2990088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A32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Vẫn ra khoảng cách, nhưng MẤT phân loại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A32C2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距離還在，但認不出那是什麼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164031" y="3419856"/>
            <a:ext cx="3072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cần gạt nước và vòi rửa — không phải do trời</a:t>
            </a:r>
            <a:endParaRPr lang="en-US" sz="10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取決於雨刷和清洗噴頭，不是老天爺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85409" y="1170432"/>
            <a:ext cx="1316736" cy="1316736"/>
          </a:xfrm>
          <a:prstGeom prst="ellipse">
            <a:avLst/>
          </a:prstGeom>
          <a:solidFill>
            <a:srgbClr val="2B3945"/>
          </a:solidFill>
          <a:ln/>
        </p:spPr>
      </p:sp>
      <p:sp>
        <p:nvSpPr>
          <p:cNvPr id="15" name="Shape 13"/>
          <p:cNvSpPr/>
          <p:nvPr/>
        </p:nvSpPr>
        <p:spPr>
          <a:xfrm>
            <a:off x="5876849" y="1261872"/>
            <a:ext cx="1133856" cy="1133856"/>
          </a:xfrm>
          <a:prstGeom prst="ellipse">
            <a:avLst/>
          </a:prstGeom>
          <a:solidFill>
            <a:srgbClr val="1E3226"/>
          </a:solidFill>
          <a:ln w="12700">
            <a:solidFill>
              <a:srgbClr val="4A5A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92281" y="1420612"/>
            <a:ext cx="396850" cy="255118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94328" y="1715414"/>
            <a:ext cx="113386" cy="113386"/>
          </a:xfrm>
          <a:prstGeom prst="ellipse">
            <a:avLst/>
          </a:prstGeom>
          <a:solidFill>
            <a:srgbClr val="6B5233">
              <a:alpha val="9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460785" y="1619037"/>
            <a:ext cx="79370" cy="79370"/>
          </a:xfrm>
          <a:prstGeom prst="ellipse">
            <a:avLst/>
          </a:prstGeom>
          <a:solidFill>
            <a:srgbClr val="6B5233">
              <a:alpha val="9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540155" y="1845808"/>
            <a:ext cx="147401" cy="147401"/>
          </a:xfrm>
          <a:prstGeom prst="ellipse">
            <a:avLst/>
          </a:prstGeom>
          <a:solidFill>
            <a:srgbClr val="6B5233">
              <a:alpha val="9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327557" y="1950690"/>
            <a:ext cx="96378" cy="96378"/>
          </a:xfrm>
          <a:prstGeom prst="ellipse">
            <a:avLst/>
          </a:prstGeom>
          <a:solidFill>
            <a:srgbClr val="6B5233">
              <a:alpha val="9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421100" y="1806123"/>
            <a:ext cx="68031" cy="68031"/>
          </a:xfrm>
          <a:prstGeom prst="ellipse">
            <a:avLst/>
          </a:prstGeom>
          <a:solidFill>
            <a:srgbClr val="6B5233">
              <a:alpha val="9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174486" y="1933682"/>
            <a:ext cx="62362" cy="62362"/>
          </a:xfrm>
          <a:prstGeom prst="ellipse">
            <a:avLst/>
          </a:prstGeom>
          <a:solidFill>
            <a:srgbClr val="6B5233">
              <a:alpha val="9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656375" y="1757934"/>
            <a:ext cx="73701" cy="73701"/>
          </a:xfrm>
          <a:prstGeom prst="ellipse">
            <a:avLst/>
          </a:prstGeom>
          <a:solidFill>
            <a:srgbClr val="6B5233">
              <a:alpha val="92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80737" y="25420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Bùn đất trên vỏ LiDAR</a:t>
            </a:r>
            <a:endParaRPr lang="en-US" sz="125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光達罩上的泥沙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980737" y="2944368"/>
            <a:ext cx="2926080" cy="420624"/>
          </a:xfrm>
          <a:prstGeom prst="roundRect">
            <a:avLst>
              <a:gd name="adj" fmla="val 15217"/>
            </a:avLst>
          </a:prstGeom>
          <a:solidFill>
            <a:srgbClr val="FDECE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053889" y="2990088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A32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Tầm × 0,65　số điểm × 0,35　(tham số lớp học)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A32C2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 ×0.65　點數 ×0.35　（課堂設定值）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907585" y="3419856"/>
            <a:ext cx="3072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lịch bảo dưỡng — cũng không phải do trời</a:t>
            </a:r>
            <a:endParaRPr lang="en-US" sz="10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取決於保養週期，一樣不是老天爺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3913632"/>
            <a:ext cx="8138160" cy="603504"/>
          </a:xfrm>
          <a:prstGeom prst="roundRect">
            <a:avLst>
              <a:gd name="adj" fmla="val 1363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3977640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thứ này trong công cụ phải bấm riêng — chọn mưa to cũng KHÔNG tự kèm theo chúng.</a:t>
            </a: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工具裡這兩個要分開按——選了大雨也不會自動幫你加上去。</a:t>
            </a:r>
            <a:endParaRPr lang="en-US" sz="1200" dirty="0"/>
          </a:p>
        </p:txBody>
      </p:sp>
      <p:pic>
        <p:nvPicPr>
          <p:cNvPr id="31" name="Image 0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dữ liệu không có nghĩa là dữ liệu đó đủ dùng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有資料，不等於那份資料夠用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1316736"/>
            <a:ext cx="3566160" cy="2249424"/>
          </a:xfrm>
          <a:prstGeom prst="roundRect">
            <a:avLst>
              <a:gd name="adj" fmla="val 4065"/>
            </a:avLst>
          </a:prstGeom>
          <a:solidFill>
            <a:srgbClr val="0B1F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7512" y="1444752"/>
            <a:ext cx="3236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vẫn báo đều đặn trong mưa to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大雨裡雷達還是穩穩地回報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847088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40.0 m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2450592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Vật cản chưa phân loại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未分類障礙物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3017520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7E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số này chính xác, ổn định, không hề sai.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7E93A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這個數字準確、穩定，一點錯都沒有。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87952" y="2295144"/>
            <a:ext cx="768096" cy="292608"/>
          </a:xfrm>
          <a:prstGeom prst="rightArrow">
            <a:avLst/>
          </a:prstGeom>
          <a:solidFill>
            <a:srgbClr val="C4CFD9"/>
          </a:solidFill>
          <a:ln/>
        </p:spPr>
      </p:sp>
      <p:sp>
        <p:nvSpPr>
          <p:cNvPr id="9" name="Shape 7"/>
          <p:cNvSpPr/>
          <p:nvPr/>
        </p:nvSpPr>
        <p:spPr>
          <a:xfrm flipH="1">
            <a:off x="4370832" y="2240280"/>
            <a:ext cx="402336" cy="402336"/>
          </a:xfrm>
          <a:prstGeom prst="line">
            <a:avLst/>
          </a:prstGeom>
          <a:noFill/>
          <a:ln w="44450">
            <a:solidFill>
              <a:srgbClr val="D946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2240280"/>
            <a:ext cx="402336" cy="402336"/>
          </a:xfrm>
          <a:prstGeom prst="line">
            <a:avLst/>
          </a:prstGeom>
          <a:noFill/>
          <a:ln w="44450">
            <a:solidFill>
              <a:srgbClr val="D946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74920" y="1316736"/>
            <a:ext cx="3566160" cy="2249424"/>
          </a:xfrm>
          <a:prstGeom prst="roundRect">
            <a:avLst>
              <a:gd name="adj" fmla="val 4065"/>
            </a:avLst>
          </a:prstGeom>
          <a:solidFill>
            <a:srgbClr val="FDECEC"/>
          </a:solidFill>
          <a:ln w="15875">
            <a:solidFill>
              <a:srgbClr val="D946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39512" y="1444752"/>
            <a:ext cx="3236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Nhưng việc đang cần làm là…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9463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但現在要做的事是……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49240" y="1883664"/>
            <a:ext cx="402336" cy="1024128"/>
          </a:xfrm>
          <a:prstGeom prst="roundRect">
            <a:avLst>
              <a:gd name="adj" fmla="val 22727"/>
            </a:avLst>
          </a:prstGeom>
          <a:solidFill>
            <a:srgbClr val="3A4650"/>
          </a:solidFill>
          <a:ln/>
        </p:spPr>
      </p:sp>
      <p:sp>
        <p:nvSpPr>
          <p:cNvPr id="14" name="Shape 12"/>
          <p:cNvSpPr/>
          <p:nvPr/>
        </p:nvSpPr>
        <p:spPr>
          <a:xfrm>
            <a:off x="5440680" y="1975104"/>
            <a:ext cx="219456" cy="219456"/>
          </a:xfrm>
          <a:prstGeom prst="ellipse">
            <a:avLst/>
          </a:prstGeom>
          <a:solidFill>
            <a:srgbClr val="9AA6B0"/>
          </a:solidFill>
          <a:ln/>
        </p:spPr>
      </p:sp>
      <p:sp>
        <p:nvSpPr>
          <p:cNvPr id="15" name="Shape 13"/>
          <p:cNvSpPr/>
          <p:nvPr/>
        </p:nvSpPr>
        <p:spPr>
          <a:xfrm>
            <a:off x="5440680" y="2286000"/>
            <a:ext cx="219456" cy="219456"/>
          </a:xfrm>
          <a:prstGeom prst="ellipse">
            <a:avLst/>
          </a:prstGeom>
          <a:solidFill>
            <a:srgbClr val="9AA6B0"/>
          </a:solidFill>
          <a:ln/>
        </p:spPr>
      </p:sp>
      <p:sp>
        <p:nvSpPr>
          <p:cNvPr id="16" name="Shape 14"/>
          <p:cNvSpPr/>
          <p:nvPr/>
        </p:nvSpPr>
        <p:spPr>
          <a:xfrm>
            <a:off x="5440680" y="2596896"/>
            <a:ext cx="219456" cy="219456"/>
          </a:xfrm>
          <a:prstGeom prst="ellipse">
            <a:avLst/>
          </a:prstGeom>
          <a:solidFill>
            <a:srgbClr val="9AA6B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788152" y="2121408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6080760" y="1883664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A32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Đèn đang đỏ hay xanh?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32C2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現在是紅燈還是綠燈？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239512" y="3017520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A32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không đọc được màu đèn. Số 40.0 m vô dụng ở đây.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A32C2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雷達讀不出燈色，那個 40.0 公尺在這件事上完全沒用。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913632"/>
            <a:ext cx="8138160" cy="603504"/>
          </a:xfrm>
          <a:prstGeom prst="roundRect">
            <a:avLst>
              <a:gd name="adj" fmla="val 1363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977640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Luôn hỏi một câu: dữ liệu này có giải quyết được việc đang làm không?</a:t>
            </a: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永遠要問一句：這份資料，能解決我現在這件事嗎？</a:t>
            </a:r>
            <a:endParaRPr lang="en-US" sz="1200" dirty="0"/>
          </a:p>
        </p:txBody>
      </p:sp>
      <p:pic>
        <p:nvPicPr>
          <p:cNvPr id="23" name="Image 0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tiết hôm nay trả lời được ô nào của ODD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今天三節，回答了 ODD 六格的哪幾格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33856"/>
          <a:ext cx="8138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338328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Ô ODD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ODD 六格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Hôm nay đo được gì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今天量到什麼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Câu viết được vào ODD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可以寫進 ODD 的句子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Thời tiết và ánh sáng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天候與光照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Chín điều kiện, camera 80 → 16 m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九種條件，相機 80 → 16 公尺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Sương mù và chói sáng là hai ranh giới chặt nhất của camera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濃霧與逆光是相機最緊的兩條邊界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Dải tốc độ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速度域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Chưa đo. Xe hôm nay không chạy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沒量。今天車不會動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Phải đợi tuần sau mới có quãng đường phanh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要等下週算過煞停距離才寫得出來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Tình trạng giao thông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交通狀況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Người, xe máy, ô tô, xe buýt, trẻ em ở nhiều khoảng cách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行人、機車、汽車、公車、小孩，各種距離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Vật càng nhỏ càng muộn mới đủ điểm — trẻ em khó hơn người lớn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物體愈小，愈晚才有足夠的點——小孩比大人難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Loại đường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道路類型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Chưa đo. Chỉ có một đoạn đường thẳng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沒量。只有一段直路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Ngã tư, vòng xuyến, hầm đều chưa có bằng chứng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路口、圓環、隧道都還沒有證據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Phạm vi địa lý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地理範圍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Chưa đo. Mô hình không có bản đồ thật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沒量。模型裡沒有真實地圖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Phải đi khảo sát hiện trường mới viết được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要靠現場勘查才寫得出來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Vai trò của con người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人的角色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Chưa đo. Không có ai lái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沒量。沒有人在開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Tuần sau, khi xe biết chạy và biết đâm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下週車會跑、會撞的時候再談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" y="4318791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ô ghi “chưa đo” cũng là kết quả. ODD trung thực phải viết cả chỗ chưa có bằng chứng.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寫「沒量」的那幾格也是結果。誠實的 ODD 要把「還沒有證據」也寫進去。</a:t>
            </a:r>
            <a:endParaRPr lang="en-US" sz="1200" dirty="0"/>
          </a:p>
        </p:txBody>
      </p:sp>
      <p:pic>
        <p:nvPicPr>
          <p:cNvPr id="6" name="Image 0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Việc của nhóm · 分組任務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Sáu nhóm, mỗi nhóm một cảm biến. Viết hai dòng, nộp cuối giờ.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六組，每組認養一種感測器。寫兩行，下課前交。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880384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02668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205412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926104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Dòng 1: cảm biến của nhóm đưa về cái gì mà loại khác không có? Viết kèm con số hôm nay thấy.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1 行：你那一種送回來什麼是別人沒有的？要附上今天看到的數字。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593616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73992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7673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639336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Dòng 2: điều kiện nào làm nó vô dụng? Và lúc đó ai bù cho nó?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2 行：什麼條件會讓它失效？那時候誰來補它？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306848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3453152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348058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3352568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nhóm một phút. Dùng lại cho chuyên đề cuối kỳ.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每組講一分鐘。期末專題會用到。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05665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Dòng 2 khó hơn. Nhóm nào nói được ai bù cho mình là nhóm hiểu bài.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2 行比較難。講得出誰來補自己的那一組，才是真的懂了。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kết tuần 3 · 第三週小結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80467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câu mang về</a:t>
            </a:r>
            <a:endParaRPr lang="en-US" sz="2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帶三句話回去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975104"/>
            <a:ext cx="45720" cy="5120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2376" y="19385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Sáu cảm biến đo những thứ khác nhau, không phải cùng một thứ mà hơn kém độ chính xác. Đo được khoảng cách ≠ biết đó là gì.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六種感測器量的是不同的東西，不是同一件事誰比較準。量得到距離 ≠ 知道那是什麼。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633472"/>
            <a:ext cx="45720" cy="5120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2376" y="2596896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 gấp đôi: sai số camera gấp bốn, số điểm LiDAR còn một phần tư. Xa gấp 4 thì gấp 16.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距離變兩倍：相機誤差變四倍，光達點數剩四分之一。變四倍，就是十六倍。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291840"/>
            <a:ext cx="45720" cy="5120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2376" y="3255264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điều kiện hỏng một loại khác nhau. Có dữ liệu ≠ dữ liệu đó đủ dùng cho việc đang làm.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不同條件壞掉不同種類的資料。有資料 ≠ 那份資料夠用。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950208"/>
            <a:ext cx="45720" cy="5120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2376" y="391363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sau: lắp sáu thứ này lên xe biết chạy, và xem nó có dừng kịp không.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下週：把這六樣裝到會跑的車上，看它停不停得住。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otes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自動駕駛原理</dc:creator>
  <cp:lastModifiedBy>自動駕駛原理</cp:lastModifiedBy>
  <cp:revision>1</cp:revision>
  <dcterms:created xsi:type="dcterms:W3CDTF">2026-09-22T03:54:41Z</dcterms:created>
  <dcterms:modified xsi:type="dcterms:W3CDTF">2026-09-22T03:54:41Z</dcterms:modified>
</cp:coreProperties>
</file>