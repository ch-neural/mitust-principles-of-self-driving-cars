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最後一節。
</a:t>
            </a:r>
          </a:p>
          <a:p>
            <a:pPr algn="l">
              <a:lnSpc>
                <a:spcPct val="115000"/>
              </a:lnSpc>
              <a:spcAft>
                <a:spcPts val="600"/>
              </a:spcAft>
            </a:pPr>
            <a:r>
              <a:rPr sz="1200" lang="zh-TW" dirty="0">
                <a:solidFill>
                  <a:srgbClr val="000000"/>
                </a:solidFill>
                <a:latin typeface="Arial Unicode MS"/>
                <a:ea typeface="Arial Unicode MS"/>
                <a:cs typeface="Arial Unicode MS"/>
              </a:rPr>
              <a:t>前兩節我們做的每一個實驗，全部是晴天白天。第一節看種類，第二節看距離，但天氣從頭到尾都很好。
</a:t>
            </a:r>
          </a:p>
          <a:p>
            <a:pPr algn="l">
              <a:lnSpc>
                <a:spcPct val="115000"/>
              </a:lnSpc>
              <a:spcAft>
                <a:spcPts val="600"/>
              </a:spcAft>
            </a:pPr>
            <a:r>
              <a:rPr sz="1200" lang="zh-TW" dirty="0">
                <a:solidFill>
                  <a:srgbClr val="000000"/>
                </a:solidFill>
                <a:latin typeface="Arial Unicode MS"/>
                <a:ea typeface="Arial Unicode MS"/>
                <a:cs typeface="Arial Unicode MS"/>
              </a:rPr>
              <a:t>真實的路不是這樣。這一節我們把天氣加進去，而且我要大家注意一件事——</a:t>
            </a:r>
            <a:r>
              <a:rPr sz="1200" b="1" lang="zh-TW" dirty="0">
                <a:solidFill>
                  <a:srgbClr val="000000"/>
                </a:solidFill>
                <a:latin typeface="Arial Unicode MS"/>
                <a:ea typeface="Arial Unicode MS"/>
                <a:cs typeface="Arial Unicode MS"/>
              </a:rPr>
              <a:t>不是所有感測器一起變差</a:t>
            </a:r>
            <a:r>
              <a:rPr sz="1200" lang="zh-TW" dirty="0">
                <a:solidFill>
                  <a:srgbClr val="000000"/>
                </a:solidFill>
                <a:latin typeface="Arial Unicode MS"/>
                <a:ea typeface="Arial Unicode MS"/>
                <a:cs typeface="Arial Unicode MS"/>
              </a:rPr>
              <a:t>。有的條件只弄壞一種，有的條件弄壞兩種，還有一種條件反而讓某個感測器變得更有用。
</a:t>
            </a:r>
          </a:p>
          <a:p>
            <a:pPr algn="l">
              <a:lnSpc>
                <a:spcPct val="115000"/>
              </a:lnSpc>
              <a:spcAft>
                <a:spcPts val="600"/>
              </a:spcAft>
            </a:pPr>
            <a:r>
              <a:rPr sz="1200" lang="zh-TW" dirty="0">
                <a:solidFill>
                  <a:srgbClr val="000000"/>
                </a:solidFill>
                <a:latin typeface="Arial Unicode MS"/>
                <a:ea typeface="Arial Unicode MS"/>
                <a:cs typeface="Arial Unicode MS"/>
              </a:rPr>
              <a:t>螢幕上寫「天氣一變，壞掉的東西就不一樣」，我舉三個例子大家就懂了。天黑，壞的是相機給的類別和燈色，距離不受影響，因為光達和雷達還在。起霧，連光達的點也變少了。鏡頭沾到一顆水滴，相機還量得到距離，卻認不出那是人。三種條件，壞掉的東西都不一樣。
</a:t>
            </a:r>
          </a:p>
          <a:p>
            <a:pPr algn="l">
              <a:lnSpc>
                <a:spcPct val="115000"/>
              </a:lnSpc>
              <a:spcAft>
                <a:spcPts val="600"/>
              </a:spcAft>
            </a:pPr>
            <a:r>
              <a:rPr sz="1200" lang="zh-TW" dirty="0">
                <a:solidFill>
                  <a:srgbClr val="000000"/>
                </a:solidFill>
                <a:latin typeface="Arial Unicode MS"/>
                <a:ea typeface="Arial Unicode MS"/>
                <a:cs typeface="Arial Unicode MS"/>
              </a:rPr>
              <a:t>最後二十分鐘我們要做這學期最重要的連結：把今天量到的所有邊界，寫成第二週學的 ODD。期末專題會用到，請認真聽最後那一段。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第一位同學上來。
</a:t>
            </a:r>
          </a:p>
          <a:p>
            <a:pPr algn="l">
              <a:lnSpc>
                <a:spcPct val="115000"/>
              </a:lnSpc>
              <a:spcAft>
                <a:spcPts val="600"/>
              </a:spcAft>
            </a:pPr>
            <a:r>
              <a:rPr sz="1200" lang="zh-TW" dirty="0">
                <a:solidFill>
                  <a:srgbClr val="000000"/>
                </a:solidFill>
                <a:latin typeface="Arial Unicode MS"/>
                <a:ea typeface="Arial Unicode MS"/>
                <a:cs typeface="Arial Unicode MS"/>
              </a:rPr>
              <a:t>規則跟前兩節一樣，而且今天特別重要：</a:t>
            </a:r>
            <a:r>
              <a:rPr sz="1200" b="1" lang="zh-TW" dirty="0">
                <a:solidFill>
                  <a:srgbClr val="000000"/>
                </a:solidFill>
                <a:latin typeface="Arial Unicode MS"/>
                <a:ea typeface="Arial Unicode MS"/>
                <a:cs typeface="Arial Unicode MS"/>
              </a:rPr>
              <a:t>只改一個條件</a:t>
            </a:r>
            <a:r>
              <a:rPr sz="1200" lang="zh-TW" dirty="0">
                <a:solidFill>
                  <a:srgbClr val="000000"/>
                </a:solidFill>
                <a:latin typeface="Arial Unicode MS"/>
                <a:ea typeface="Arial Unicode MS"/>
                <a:cs typeface="Arial Unicode MS"/>
              </a:rPr>
              <a:t>。如果你一次改三樣，結果變了，我們永遠不知道是哪一樣造成的。
</a:t>
            </a:r>
          </a:p>
          <a:p>
            <a:pPr algn="l">
              <a:lnSpc>
                <a:spcPct val="115000"/>
              </a:lnSpc>
              <a:spcAft>
                <a:spcPts val="600"/>
              </a:spcAft>
            </a:pPr>
            <a:r>
              <a:rPr sz="1200" lang="zh-TW" dirty="0">
                <a:solidFill>
                  <a:srgbClr val="000000"/>
                </a:solidFill>
                <a:latin typeface="Arial Unicode MS"/>
                <a:ea typeface="Arial Unicode MS"/>
                <a:cs typeface="Arial Unicode MS"/>
              </a:rPr>
              <a:t>行人放在四十公尺，按「夜間」。
</a:t>
            </a:r>
          </a:p>
          <a:p>
            <a:pPr algn="l">
              <a:lnSpc>
                <a:spcPct val="115000"/>
              </a:lnSpc>
              <a:spcAft>
                <a:spcPts val="600"/>
              </a:spcAft>
            </a:pPr>
            <a:r>
              <a:rPr sz="1200" lang="zh-TW" dirty="0">
                <a:solidFill>
                  <a:srgbClr val="000000"/>
                </a:solidFill>
                <a:latin typeface="Arial Unicode MS"/>
                <a:ea typeface="Arial Unicode MS"/>
                <a:cs typeface="Arial Unicode MS"/>
              </a:rPr>
              <a:t>按之前全班先猜：哪一個會變短？
</a:t>
            </a:r>
          </a:p>
          <a:p>
            <a:pPr algn="l">
              <a:lnSpc>
                <a:spcPct val="115000"/>
              </a:lnSpc>
              <a:spcAft>
                <a:spcPts val="600"/>
              </a:spcAft>
            </a:pPr>
            <a:r>
              <a:rPr sz="1200" lang="zh-TW" dirty="0">
                <a:solidFill>
                  <a:srgbClr val="000000"/>
                </a:solidFill>
                <a:latin typeface="Arial Unicode MS"/>
                <a:ea typeface="Arial Unicode MS"/>
                <a:cs typeface="Arial Unicode MS"/>
              </a:rPr>
              <a:t>（預期結果：相機從 80 m 掉到 26 m，所以 40 m 的行人變成「超出有效距離 26 m」；光達維持 100 m、15 點不變；雷達維持 250 m；熱像從 143 m 變成 158 m，略微變好。）
</a:t>
            </a:r>
          </a:p>
          <a:p>
            <a:pPr algn="l">
              <a:lnSpc>
                <a:spcPct val="115000"/>
              </a:lnSpc>
              <a:spcAft>
                <a:spcPts val="600"/>
              </a:spcAft>
            </a:pPr>
            <a:r>
              <a:rPr sz="1200" lang="zh-TW" dirty="0">
                <a:solidFill>
                  <a:srgbClr val="000000"/>
                </a:solidFill>
                <a:latin typeface="Arial Unicode MS"/>
                <a:ea typeface="Arial Unicode MS"/>
                <a:cs typeface="Arial Unicode MS"/>
              </a:rPr>
              <a:t>相機掛了。四十公尺的人，它現在完全看不到。
</a:t>
            </a:r>
          </a:p>
          <a:p>
            <a:pPr algn="l">
              <a:lnSpc>
                <a:spcPct val="115000"/>
              </a:lnSpc>
              <a:spcAft>
                <a:spcPts val="600"/>
              </a:spcAft>
            </a:pPr>
            <a:r>
              <a:rPr sz="1200" lang="zh-TW" dirty="0">
                <a:solidFill>
                  <a:srgbClr val="000000"/>
                </a:solidFill>
                <a:latin typeface="Arial Unicode MS"/>
                <a:ea typeface="Arial Unicode MS"/>
                <a:cs typeface="Arial Unicode MS"/>
              </a:rPr>
              <a:t>光達呢？十五點，跟晴天一模一樣。雷達也一樣。
</a:t>
            </a:r>
          </a:p>
          <a:p>
            <a:pPr algn="l">
              <a:lnSpc>
                <a:spcPct val="115000"/>
              </a:lnSpc>
              <a:spcAft>
                <a:spcPts val="600"/>
              </a:spcAft>
            </a:pPr>
            <a:r>
              <a:rPr sz="1200" lang="zh-TW" dirty="0">
                <a:solidFill>
                  <a:srgbClr val="000000"/>
                </a:solidFill>
                <a:latin typeface="Arial Unicode MS"/>
                <a:ea typeface="Arial Unicode MS"/>
                <a:cs typeface="Arial Unicode MS"/>
              </a:rPr>
              <a:t>最有趣的是熱像——它不但沒變差，還稍微變好了一點。
</a:t>
            </a:r>
          </a:p>
          <a:p>
            <a:pPr algn="l">
              <a:lnSpc>
                <a:spcPct val="115000"/>
              </a:lnSpc>
              <a:spcAft>
                <a:spcPts val="600"/>
              </a:spcAft>
            </a:pPr>
            <a:r>
              <a:rPr sz="1200" lang="zh-TW" dirty="0">
                <a:solidFill>
                  <a:srgbClr val="000000"/>
                </a:solidFill>
                <a:latin typeface="Arial Unicode MS"/>
                <a:ea typeface="Arial Unicode MS"/>
                <a:cs typeface="Arial Unicode MS"/>
              </a:rPr>
              <a:t>為什麼會這樣？這就是下一頁的重點。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這一頁是今天第一個要記住的分類。我先問一個問題：</a:t>
            </a:r>
            <a:r>
              <a:rPr sz="1000" b="1" lang="zh-TW" dirty="0">
                <a:solidFill>
                  <a:srgbClr val="000000"/>
                </a:solidFill>
                <a:latin typeface="Arial Unicode MS"/>
                <a:ea typeface="Arial Unicode MS"/>
                <a:cs typeface="Arial Unicode MS"/>
              </a:rPr>
              <a:t>你在黑暗的房間裡，為什麼看不見東西？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（等學生回答。預期：因為沒有光。）
</a:t>
            </a:r>
          </a:p>
          <a:p>
            <a:pPr algn="l">
              <a:lnSpc>
                <a:spcPct val="115000"/>
              </a:lnSpc>
              <a:spcAft>
                <a:spcPts val="500"/>
              </a:spcAft>
            </a:pPr>
            <a:r>
              <a:rPr sz="1000" lang="zh-TW" dirty="0">
                <a:solidFill>
                  <a:srgbClr val="000000"/>
                </a:solidFill>
                <a:latin typeface="Arial Unicode MS"/>
                <a:ea typeface="Arial Unicode MS"/>
                <a:cs typeface="Arial Unicode MS"/>
              </a:rPr>
              <a:t>對。不是你的眼睛壞了，是</a:t>
            </a:r>
            <a:r>
              <a:rPr sz="1000" b="1" lang="zh-TW" dirty="0">
                <a:solidFill>
                  <a:srgbClr val="000000"/>
                </a:solidFill>
                <a:latin typeface="Arial Unicode MS"/>
                <a:ea typeface="Arial Unicode MS"/>
                <a:cs typeface="Arial Unicode MS"/>
              </a:rPr>
              <a:t>沒有光可以進到眼睛裡</a:t>
            </a:r>
            <a:r>
              <a:rPr sz="1000" lang="zh-TW" dirty="0">
                <a:solidFill>
                  <a:srgbClr val="000000"/>
                </a:solidFill>
                <a:latin typeface="Arial Unicode MS"/>
                <a:ea typeface="Arial Unicode MS"/>
                <a:cs typeface="Arial Unicode MS"/>
              </a:rPr>
              <a:t>。眼睛本身不會發光，它只是一個接收器——要有光照到東西上、再反彈進你的眼睛，你才看得見。
</a:t>
            </a:r>
          </a:p>
          <a:p>
            <a:pPr algn="l">
              <a:lnSpc>
                <a:spcPct val="115000"/>
              </a:lnSpc>
              <a:spcAft>
                <a:spcPts val="500"/>
              </a:spcAft>
            </a:pPr>
            <a:r>
              <a:rPr sz="1000" lang="zh-TW" dirty="0">
                <a:solidFill>
                  <a:srgbClr val="000000"/>
                </a:solidFill>
                <a:latin typeface="Arial Unicode MS"/>
                <a:ea typeface="Arial Unicode MS"/>
                <a:cs typeface="Arial Unicode MS"/>
              </a:rPr>
              <a:t>相機跟你的眼睛一模一樣。我們叫它</a:t>
            </a:r>
            <a:r>
              <a:rPr sz="1000" b="1" lang="zh-TW" dirty="0">
                <a:solidFill>
                  <a:srgbClr val="000000"/>
                </a:solidFill>
                <a:latin typeface="Arial Unicode MS"/>
                <a:ea typeface="Arial Unicode MS"/>
                <a:cs typeface="Arial Unicode MS"/>
              </a:rPr>
              <a:t>被動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請看左邊那一欄的圖：光是從</a:t>
            </a:r>
            <a:r>
              <a:rPr sz="1000" b="1" lang="zh-TW" dirty="0">
                <a:solidFill>
                  <a:srgbClr val="000000"/>
                </a:solidFill>
                <a:latin typeface="Arial Unicode MS"/>
                <a:ea typeface="Arial Unicode MS"/>
                <a:cs typeface="Arial Unicode MS"/>
              </a:rPr>
              <a:t>太陽</a:t>
            </a:r>
            <a:r>
              <a:rPr sz="1000" lang="zh-TW" dirty="0">
                <a:solidFill>
                  <a:srgbClr val="000000"/>
                </a:solidFill>
                <a:latin typeface="Arial Unicode MS"/>
                <a:ea typeface="Arial Unicode MS"/>
                <a:cs typeface="Arial Unicode MS"/>
              </a:rPr>
              <a:t>出發的，照到那個人身上，再反彈進相機。你數數看，這條路上有三個東西：光源、物體、相機。</a:t>
            </a:r>
            <a:r>
              <a:rPr sz="1000" b="1" lang="zh-TW" dirty="0">
                <a:solidFill>
                  <a:srgbClr val="000000"/>
                </a:solidFill>
                <a:latin typeface="Arial Unicode MS"/>
                <a:ea typeface="Arial Unicode MS"/>
                <a:cs typeface="Arial Unicode MS"/>
              </a:rPr>
              <a:t>相機只負責最後一站。</a:t>
            </a:r>
            <a:r>
              <a:rPr sz="1000" lang="zh-TW" dirty="0">
                <a:solidFill>
                  <a:srgbClr val="000000"/>
                </a:solidFill>
                <a:latin typeface="Arial Unicode MS"/>
                <a:ea typeface="Arial Unicode MS"/>
                <a:cs typeface="Arial Unicode MS"/>
              </a:rPr>
              <a:t>前面兩站不是它能控制的。
</a:t>
            </a:r>
          </a:p>
          <a:p>
            <a:pPr algn="l">
              <a:lnSpc>
                <a:spcPct val="115000"/>
              </a:lnSpc>
              <a:spcAft>
                <a:spcPts val="500"/>
              </a:spcAft>
            </a:pPr>
            <a:r>
              <a:rPr sz="1000" lang="zh-TW" dirty="0">
                <a:solidFill>
                  <a:srgbClr val="000000"/>
                </a:solidFill>
                <a:latin typeface="Arial Unicode MS"/>
                <a:ea typeface="Arial Unicode MS"/>
                <a:cs typeface="Arial Unicode MS"/>
              </a:rPr>
              <a:t>所以太陽下山、路燈不夠亮，這條路的第一站就斷了。相機不是做得不好，是</a:t>
            </a:r>
            <a:r>
              <a:rPr sz="1000" b="1" lang="zh-TW" dirty="0">
                <a:solidFill>
                  <a:srgbClr val="000000"/>
                </a:solidFill>
                <a:latin typeface="Arial Unicode MS"/>
                <a:ea typeface="Arial Unicode MS"/>
                <a:cs typeface="Arial Unicode MS"/>
              </a:rPr>
              <a:t>原理上就沒東西可收</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現在看中間那一欄。光達和雷達是</a:t>
            </a:r>
            <a:r>
              <a:rPr sz="1000" b="1" lang="zh-TW" dirty="0">
                <a:solidFill>
                  <a:srgbClr val="000000"/>
                </a:solidFill>
                <a:latin typeface="Arial Unicode MS"/>
                <a:ea typeface="Arial Unicode MS"/>
                <a:cs typeface="Arial Unicode MS"/>
              </a:rPr>
              <a:t>主動</a:t>
            </a:r>
            <a:r>
              <a:rPr sz="1000" lang="zh-TW" dirty="0">
                <a:solidFill>
                  <a:srgbClr val="000000"/>
                </a:solidFill>
                <a:latin typeface="Arial Unicode MS"/>
                <a:ea typeface="Arial Unicode MS"/>
                <a:cs typeface="Arial Unicode MS"/>
              </a:rPr>
              <a:t>的。
</a:t>
            </a:r>
          </a:p>
          <a:p>
            <a:pPr algn="l">
              <a:lnSpc>
                <a:spcPct val="115000"/>
              </a:lnSpc>
              <a:spcAft>
                <a:spcPts val="500"/>
              </a:spcAft>
            </a:pPr>
            <a:r>
              <a:rPr sz="1000" lang="zh-TW" dirty="0">
                <a:solidFill>
                  <a:srgbClr val="000000"/>
                </a:solidFill>
                <a:latin typeface="Arial Unicode MS"/>
                <a:ea typeface="Arial Unicode MS"/>
                <a:cs typeface="Arial Unicode MS"/>
              </a:rPr>
              <a:t>（指著那個雙向箭頭。）
</a:t>
            </a:r>
          </a:p>
          <a:p>
            <a:pPr algn="l">
              <a:lnSpc>
                <a:spcPct val="115000"/>
              </a:lnSpc>
              <a:spcAft>
                <a:spcPts val="500"/>
              </a:spcAft>
            </a:pPr>
            <a:r>
              <a:rPr sz="1000" lang="zh-TW" dirty="0">
                <a:solidFill>
                  <a:srgbClr val="000000"/>
                </a:solidFill>
                <a:latin typeface="Arial Unicode MS"/>
                <a:ea typeface="Arial Unicode MS"/>
                <a:cs typeface="Arial Unicode MS"/>
              </a:rPr>
              <a:t>請注意這個箭頭是雙向的，而且左邊那一站不見了——沒有太陽了。為什麼？因為訊號</a:t>
            </a:r>
            <a:r>
              <a:rPr sz="1000" b="1" lang="zh-TW" dirty="0">
                <a:solidFill>
                  <a:srgbClr val="000000"/>
                </a:solidFill>
                <a:latin typeface="Arial Unicode MS"/>
                <a:ea typeface="Arial Unicode MS"/>
                <a:cs typeface="Arial Unicode MS"/>
              </a:rPr>
              <a:t>是它自己發出去的</a:t>
            </a:r>
            <a:r>
              <a:rPr sz="1000" lang="zh-TW" dirty="0">
                <a:solidFill>
                  <a:srgbClr val="000000"/>
                </a:solidFill>
                <a:latin typeface="Arial Unicode MS"/>
                <a:ea typeface="Arial Unicode MS"/>
                <a:cs typeface="Arial Unicode MS"/>
              </a:rPr>
              <a:t>。光達自己打雷射，雷達自己發電磁波，打到人身上再彈回來，它自己接。
</a:t>
            </a:r>
          </a:p>
          <a:p>
            <a:pPr algn="l">
              <a:lnSpc>
                <a:spcPct val="115000"/>
              </a:lnSpc>
              <a:spcAft>
                <a:spcPts val="500"/>
              </a:spcAft>
            </a:pPr>
            <a:r>
              <a:rPr sz="1000" lang="zh-TW" dirty="0">
                <a:solidFill>
                  <a:srgbClr val="000000"/>
                </a:solidFill>
                <a:latin typeface="Arial Unicode MS"/>
                <a:ea typeface="Arial Unicode MS"/>
                <a:cs typeface="Arial Unicode MS"/>
              </a:rPr>
              <a:t>用一句話講：</a:t>
            </a:r>
            <a:r>
              <a:rPr sz="1000" b="1" lang="zh-TW" dirty="0">
                <a:solidFill>
                  <a:srgbClr val="000000"/>
                </a:solidFill>
                <a:latin typeface="Arial Unicode MS"/>
                <a:ea typeface="Arial Unicode MS"/>
                <a:cs typeface="Arial Unicode MS"/>
              </a:rPr>
              <a:t>它自己帶手電筒。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手電筒是自己帶的，所以白天晚上有差嗎？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（等學生回答。預期：沒有差。）
</a:t>
            </a:r>
          </a:p>
          <a:p>
            <a:pPr algn="l">
              <a:lnSpc>
                <a:spcPct val="115000"/>
              </a:lnSpc>
              <a:spcAft>
                <a:spcPts val="500"/>
              </a:spcAft>
            </a:pPr>
            <a:r>
              <a:rPr sz="1000" lang="zh-TW" dirty="0">
                <a:solidFill>
                  <a:srgbClr val="000000"/>
                </a:solidFill>
                <a:latin typeface="Arial Unicode MS"/>
                <a:ea typeface="Arial Unicode MS"/>
                <a:cs typeface="Arial Unicode MS"/>
              </a:rPr>
              <a:t>完全沒有差。等一下你們操作的時候會看到，切到夜間，光達的點數和雷達的距離</a:t>
            </a:r>
            <a:r>
              <a:rPr sz="1000" b="1" lang="zh-TW" dirty="0">
                <a:solidFill>
                  <a:srgbClr val="000000"/>
                </a:solidFill>
                <a:latin typeface="Arial Unicode MS"/>
                <a:ea typeface="Arial Unicode MS"/>
                <a:cs typeface="Arial Unicode MS"/>
              </a:rPr>
              <a:t>一個數字都不會動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最後看右邊那一欄。熱像更特別——它連手電筒都不用帶。
</a:t>
            </a:r>
          </a:p>
          <a:p>
            <a:pPr algn="l">
              <a:lnSpc>
                <a:spcPct val="115000"/>
              </a:lnSpc>
              <a:spcAft>
                <a:spcPts val="500"/>
              </a:spcAft>
            </a:pPr>
            <a:r>
              <a:rPr sz="1000" lang="zh-TW" dirty="0">
                <a:solidFill>
                  <a:srgbClr val="000000"/>
                </a:solidFill>
                <a:latin typeface="Arial Unicode MS"/>
                <a:ea typeface="Arial Unicode MS"/>
                <a:cs typeface="Arial Unicode MS"/>
              </a:rPr>
              <a:t>（指著人身上那幾圈波紋。）
</a:t>
            </a:r>
          </a:p>
          <a:p>
            <a:pPr algn="l">
              <a:lnSpc>
                <a:spcPct val="115000"/>
              </a:lnSpc>
              <a:spcAft>
                <a:spcPts val="500"/>
              </a:spcAft>
            </a:pPr>
            <a:r>
              <a:rPr sz="1000" lang="zh-TW" dirty="0">
                <a:solidFill>
                  <a:srgbClr val="000000"/>
                </a:solidFill>
                <a:latin typeface="Arial Unicode MS"/>
                <a:ea typeface="Arial Unicode MS"/>
                <a:cs typeface="Arial Unicode MS"/>
              </a:rPr>
              <a:t>因為</a:t>
            </a:r>
            <a:r>
              <a:rPr sz="1000" b="1" lang="zh-TW" dirty="0">
                <a:solidFill>
                  <a:srgbClr val="000000"/>
                </a:solidFill>
                <a:latin typeface="Arial Unicode MS"/>
                <a:ea typeface="Arial Unicode MS"/>
                <a:cs typeface="Arial Unicode MS"/>
              </a:rPr>
              <a:t>發出訊號的是那個人自己</a:t>
            </a:r>
            <a:r>
              <a:rPr sz="1000" lang="zh-TW" dirty="0">
                <a:solidFill>
                  <a:srgbClr val="000000"/>
                </a:solidFill>
                <a:latin typeface="Arial Unicode MS"/>
                <a:ea typeface="Arial Unicode MS"/>
                <a:cs typeface="Arial Unicode MS"/>
              </a:rPr>
              <a:t>。人的體溫三十七度，只要活著就一直在放紅外線，二十四小時不停。熱像機要做的事，就是把這些本來就存在的紅外線收下來。
</a:t>
            </a:r>
          </a:p>
          <a:p>
            <a:pPr algn="l">
              <a:lnSpc>
                <a:spcPct val="115000"/>
              </a:lnSpc>
              <a:spcAft>
                <a:spcPts val="500"/>
              </a:spcAft>
            </a:pPr>
            <a:r>
              <a:rPr sz="1000" lang="zh-TW" dirty="0">
                <a:solidFill>
                  <a:srgbClr val="000000"/>
                </a:solidFill>
                <a:latin typeface="Arial Unicode MS"/>
                <a:ea typeface="Arial Unicode MS"/>
                <a:cs typeface="Arial Unicode MS"/>
              </a:rPr>
              <a:t>所以晚上它不但不會變差，反而</a:t>
            </a:r>
            <a:r>
              <a:rPr sz="1000" b="1" lang="zh-TW" dirty="0">
                <a:solidFill>
                  <a:srgbClr val="000000"/>
                </a:solidFill>
                <a:latin typeface="Arial Unicode MS"/>
                <a:ea typeface="Arial Unicode MS"/>
                <a:cs typeface="Arial Unicode MS"/>
              </a:rPr>
              <a:t>更好</a:t>
            </a:r>
            <a:r>
              <a:rPr sz="1000" lang="zh-TW" dirty="0">
                <a:solidFill>
                  <a:srgbClr val="000000"/>
                </a:solidFill>
                <a:latin typeface="Arial Unicode MS"/>
                <a:ea typeface="Arial Unicode MS"/>
                <a:cs typeface="Arial Unicode MS"/>
              </a:rPr>
              <a:t>。為什麼？白天太陽把柏油路曬到五、六十度，比人還熱，人就淹沒在背景裡了；晚上路面涼下來，人是整條路上最熱的東西，一下子就跳出來。
</a:t>
            </a:r>
          </a:p>
          <a:p>
            <a:pPr algn="l">
              <a:lnSpc>
                <a:spcPct val="115000"/>
              </a:lnSpc>
              <a:spcAft>
                <a:spcPts val="500"/>
              </a:spcAft>
            </a:pPr>
            <a:r>
              <a:rPr sz="1000" lang="zh-TW" dirty="0">
                <a:solidFill>
                  <a:srgbClr val="000000"/>
                </a:solidFill>
                <a:latin typeface="Arial Unicode MS"/>
                <a:ea typeface="Arial Unicode MS"/>
                <a:cs typeface="Arial Unicode MS"/>
              </a:rPr>
              <a:t>（這裡可以用一個比喻：白天找人像在吵鬧的市場裡喊一個人的名字，晚上像在安靜的圖書館裡喊——聲音一樣大，但晚上聽得清楚多了。）
</a:t>
            </a:r>
          </a:p>
          <a:p>
            <a:pPr algn="l">
              <a:lnSpc>
                <a:spcPct val="115000"/>
              </a:lnSpc>
              <a:spcAft>
                <a:spcPts val="500"/>
              </a:spcAft>
            </a:pPr>
            <a:r>
              <a:rPr sz="1000" lang="zh-TW" dirty="0">
                <a:solidFill>
                  <a:srgbClr val="000000"/>
                </a:solidFill>
                <a:latin typeface="Arial Unicode MS"/>
                <a:ea typeface="Arial Unicode MS"/>
                <a:cs typeface="Arial Unicode MS"/>
              </a:rPr>
              <a:t>好，把三欄合起來看。同樣是天黑，相機那一欄是紅色的，另外兩欄是綠色的。
</a:t>
            </a:r>
          </a:p>
          <a:p>
            <a:pPr algn="l">
              <a:lnSpc>
                <a:spcPct val="115000"/>
              </a:lnSpc>
              <a:spcAft>
                <a:spcPts val="500"/>
              </a:spcAft>
            </a:pPr>
            <a:r>
              <a:rPr sz="1000" lang="zh-TW" dirty="0">
                <a:solidFill>
                  <a:srgbClr val="000000"/>
                </a:solidFill>
                <a:latin typeface="Arial Unicode MS"/>
                <a:ea typeface="Arial Unicode MS"/>
                <a:cs typeface="Arial Unicode MS"/>
              </a:rPr>
              <a:t>現在大家可以回答一個常被問的問題：為什麼自駕車不能只裝相機就好？
</a:t>
            </a:r>
          </a:p>
          <a:p>
            <a:pPr algn="l">
              <a:lnSpc>
                <a:spcPct val="115000"/>
              </a:lnSpc>
              <a:spcAft>
                <a:spcPts val="500"/>
              </a:spcAft>
            </a:pPr>
            <a:r>
              <a:rPr sz="1000" lang="zh-TW" dirty="0">
                <a:solidFill>
                  <a:srgbClr val="000000"/>
                </a:solidFill>
                <a:latin typeface="Arial Unicode MS"/>
                <a:ea typeface="Arial Unicode MS"/>
                <a:cs typeface="Arial Unicode MS"/>
              </a:rPr>
              <a:t>（預期答案：天一黑就瞎了。）
</a:t>
            </a:r>
          </a:p>
          <a:p>
            <a:pPr algn="l">
              <a:lnSpc>
                <a:spcPct val="115000"/>
              </a:lnSpc>
              <a:spcAft>
                <a:spcPts val="500"/>
              </a:spcAft>
            </a:pPr>
            <a:r>
              <a:rPr sz="1000" lang="zh-TW" dirty="0">
                <a:solidFill>
                  <a:srgbClr val="000000"/>
                </a:solidFill>
                <a:latin typeface="Arial Unicode MS"/>
                <a:ea typeface="Arial Unicode MS"/>
                <a:cs typeface="Arial Unicode MS"/>
              </a:rPr>
              <a:t>對。不過我要補一句，這只是理由之一，還有別的。等一下第五輪你們會看到另一個。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第二位同學。先按回晴天，確認數字回到十五點，再按濃霧。
</a:t>
            </a:r>
          </a:p>
          <a:p>
            <a:pPr algn="l">
              <a:lnSpc>
                <a:spcPct val="115000"/>
              </a:lnSpc>
              <a:spcAft>
                <a:spcPts val="500"/>
              </a:spcAft>
            </a:pPr>
            <a:r>
              <a:rPr sz="1000" lang="zh-TW" dirty="0">
                <a:solidFill>
                  <a:srgbClr val="000000"/>
                </a:solidFill>
                <a:latin typeface="Arial Unicode MS"/>
                <a:ea typeface="Arial Unicode MS"/>
                <a:cs typeface="Arial Unicode MS"/>
              </a:rPr>
              <a:t>（預期結果：相機掉到 16 m，40 m 的行人看不到；光達從 100 m 掉到 45 m，點數從 15 掉到 6；熱像從 143 m 掉到 90 m，但 40 m 的人仍看得到；雷達 225 m，照常工作。）
</a:t>
            </a:r>
          </a:p>
          <a:p>
            <a:pPr algn="l">
              <a:lnSpc>
                <a:spcPct val="115000"/>
              </a:lnSpc>
              <a:spcAft>
                <a:spcPts val="500"/>
              </a:spcAft>
            </a:pPr>
            <a:r>
              <a:rPr sz="1000" lang="zh-TW" dirty="0">
                <a:solidFill>
                  <a:srgbClr val="000000"/>
                </a:solidFill>
                <a:latin typeface="Arial Unicode MS"/>
                <a:ea typeface="Arial Unicode MS"/>
                <a:cs typeface="Arial Unicode MS"/>
              </a:rPr>
              <a:t>這次跟夜間差在哪裡？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（預期答案：夜間只有相機壞；濃霧是相機、光達、熱像三個一起被削弱。）
</a:t>
            </a:r>
          </a:p>
          <a:p>
            <a:pPr algn="l">
              <a:lnSpc>
                <a:spcPct val="115000"/>
              </a:lnSpc>
              <a:spcAft>
                <a:spcPts val="500"/>
              </a:spcAft>
            </a:pPr>
            <a:r>
              <a:rPr sz="1000" lang="zh-TW" dirty="0">
                <a:solidFill>
                  <a:srgbClr val="000000"/>
                </a:solidFill>
                <a:latin typeface="Arial Unicode MS"/>
                <a:ea typeface="Arial Unicode MS"/>
                <a:cs typeface="Arial Unicode MS"/>
              </a:rPr>
              <a:t>對。濃霧比夜間廣，因為它同時打擊三種。
</a:t>
            </a:r>
          </a:p>
          <a:p>
            <a:pPr algn="l">
              <a:lnSpc>
                <a:spcPct val="115000"/>
              </a:lnSpc>
              <a:spcAft>
                <a:spcPts val="500"/>
              </a:spcAft>
            </a:pPr>
            <a:r>
              <a:rPr sz="1000" lang="zh-TW" dirty="0">
                <a:solidFill>
                  <a:srgbClr val="000000"/>
                </a:solidFill>
                <a:latin typeface="Arial Unicode MS"/>
                <a:ea typeface="Arial Unicode MS"/>
                <a:cs typeface="Arial Unicode MS"/>
              </a:rPr>
              <a:t>為什麼？霧是空氣裡懸浮的小水滴。光達打出去的雷射碰到水滴就被散射，有一部分還沒到達行人就散掉了，所以有效距離從一百公尺掉到四十五公尺，點數從十五掉到六——少了一半以上。熱像從一百四十三掉到九十公尺，紅外線也會被水氣吸收；不過它底子厚，四十公尺的人還是看得到。
</a:t>
            </a:r>
          </a:p>
          <a:p>
            <a:pPr algn="l">
              <a:lnSpc>
                <a:spcPct val="115000"/>
              </a:lnSpc>
              <a:spcAft>
                <a:spcPts val="500"/>
              </a:spcAft>
            </a:pPr>
            <a:r>
              <a:rPr sz="1000" lang="zh-TW" dirty="0">
                <a:solidFill>
                  <a:srgbClr val="000000"/>
                </a:solidFill>
                <a:latin typeface="Arial Unicode MS"/>
                <a:ea typeface="Arial Unicode MS"/>
                <a:cs typeface="Arial Unicode MS"/>
              </a:rPr>
              <a:t>請注意這個差別：光達是「還看得到但變糊」，相機是「整個看不到」，熱像是「掉了四成但還夠用」。三種被削弱的程度不一樣。
</a:t>
            </a:r>
          </a:p>
          <a:p>
            <a:pPr algn="l">
              <a:lnSpc>
                <a:spcPct val="115000"/>
              </a:lnSpc>
              <a:spcAft>
                <a:spcPts val="500"/>
              </a:spcAft>
            </a:pPr>
            <a:r>
              <a:rPr sz="1000" lang="zh-TW" dirty="0">
                <a:solidFill>
                  <a:srgbClr val="000000"/>
                </a:solidFill>
                <a:latin typeface="Arial Unicode MS"/>
                <a:ea typeface="Arial Unicode MS"/>
                <a:cs typeface="Arial Unicode MS"/>
              </a:rPr>
              <a:t>那誰幾乎沒事？雷達。兩百二十五公尺。
</a:t>
            </a:r>
          </a:p>
          <a:p>
            <a:pPr algn="l">
              <a:lnSpc>
                <a:spcPct val="115000"/>
              </a:lnSpc>
              <a:spcAft>
                <a:spcPts val="500"/>
              </a:spcAft>
            </a:pPr>
            <a:r>
              <a:rPr sz="1000" lang="zh-TW" dirty="0">
                <a:solidFill>
                  <a:srgbClr val="000000"/>
                </a:solidFill>
                <a:latin typeface="Arial Unicode MS"/>
                <a:ea typeface="Arial Unicode MS"/>
                <a:cs typeface="Arial Unicode MS"/>
              </a:rPr>
              <a:t>為什麼雷達不怕霧？因為它用的電磁波波長比水滴大很多——波長比障礙物大的時候，波會直接繞過去。這就像海浪碰到一根細竹竿不會被擋住，碰到一堵牆才會。
</a:t>
            </a:r>
          </a:p>
          <a:p>
            <a:pPr algn="l">
              <a:lnSpc>
                <a:spcPct val="115000"/>
              </a:lnSpc>
              <a:spcAft>
                <a:spcPts val="500"/>
              </a:spcAft>
            </a:pPr>
            <a:r>
              <a:rPr sz="1000" lang="zh-TW" dirty="0">
                <a:solidFill>
                  <a:srgbClr val="000000"/>
                </a:solidFill>
                <a:latin typeface="Arial Unicode MS"/>
                <a:ea typeface="Arial Unicode MS"/>
                <a:cs typeface="Arial Unicode MS"/>
              </a:rPr>
              <a:t>所以雷達是惡劣天氣裡最可靠的。可是別忘了第一節的結論——它給的東西最少。</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剛剛的濃霧是比較極端的狀況，台灣和越南一年碰不到幾次。這一輪我們看最常見的——</a:t>
            </a:r>
            <a:r>
              <a:rPr sz="1000" b="1" lang="zh-TW" dirty="0">
                <a:solidFill>
                  <a:srgbClr val="000000"/>
                </a:solidFill>
                <a:latin typeface="Arial Unicode MS"/>
                <a:ea typeface="Arial Unicode MS"/>
                <a:cs typeface="Arial Unicode MS"/>
              </a:rPr>
              <a:t>下雨</a:t>
            </a:r>
            <a:r>
              <a:rPr sz="1000" lang="zh-TW" dirty="0">
                <a:solidFill>
                  <a:srgbClr val="000000"/>
                </a:solidFill>
                <a:latin typeface="Arial Unicode MS"/>
                <a:ea typeface="Arial Unicode MS"/>
                <a:cs typeface="Arial Unicode MS"/>
              </a:rPr>
              <a:t>。而且這次不是只按一個按鈕，是從小雨一路按到大雨，看它怎麼</a:t>
            </a:r>
            <a:r>
              <a:rPr sz="1000" b="1" lang="zh-TW" dirty="0">
                <a:solidFill>
                  <a:srgbClr val="000000"/>
                </a:solidFill>
                <a:latin typeface="Arial Unicode MS"/>
                <a:ea typeface="Arial Unicode MS"/>
                <a:cs typeface="Arial Unicode MS"/>
              </a:rPr>
              <a:t>一步一步</a:t>
            </a:r>
            <a:r>
              <a:rPr sz="1000" lang="zh-TW" dirty="0">
                <a:solidFill>
                  <a:srgbClr val="000000"/>
                </a:solidFill>
                <a:latin typeface="Arial Unicode MS"/>
                <a:ea typeface="Arial Unicode MS"/>
                <a:cs typeface="Arial Unicode MS"/>
              </a:rPr>
              <a:t>壞掉。
</a:t>
            </a:r>
          </a:p>
          <a:p>
            <a:pPr algn="l">
              <a:lnSpc>
                <a:spcPct val="115000"/>
              </a:lnSpc>
              <a:spcAft>
                <a:spcPts val="500"/>
              </a:spcAft>
            </a:pPr>
            <a:r>
              <a:rPr sz="1000" lang="zh-TW" dirty="0">
                <a:solidFill>
                  <a:srgbClr val="000000"/>
                </a:solidFill>
                <a:latin typeface="Arial Unicode MS"/>
                <a:ea typeface="Arial Unicode MS"/>
                <a:cs typeface="Arial Unicode MS"/>
              </a:rPr>
              <a:t>請第三位同學上來。行人留在四十公尺，然後照順序按四次。
</a:t>
            </a:r>
          </a:p>
          <a:p>
            <a:pPr algn="l">
              <a:lnSpc>
                <a:spcPct val="115000"/>
              </a:lnSpc>
              <a:spcAft>
                <a:spcPts val="500"/>
              </a:spcAft>
            </a:pPr>
            <a:r>
              <a:rPr sz="1000" lang="zh-TW" dirty="0">
                <a:solidFill>
                  <a:srgbClr val="000000"/>
                </a:solidFill>
                <a:latin typeface="Arial Unicode MS"/>
                <a:ea typeface="Arial Unicode MS"/>
                <a:cs typeface="Arial Unicode MS"/>
              </a:rPr>
              <a:t>（預期讀值，請在白板上排成四列：
</a:t>
            </a:r>
          </a:p>
          <a:p>
            <a:pPr algn="l">
              <a:lnSpc>
                <a:spcPct val="115000"/>
              </a:lnSpc>
              <a:spcAft>
                <a:spcPts val="500"/>
              </a:spcAft>
            </a:pPr>
            <a:r>
              <a:rPr sz="1000" lang="zh-TW" dirty="0">
                <a:solidFill>
                  <a:srgbClr val="000000"/>
                </a:solidFill>
                <a:latin typeface="Arial Unicode MS"/>
                <a:ea typeface="Arial Unicode MS"/>
                <a:cs typeface="Arial Unicode MS"/>
              </a:rPr>
              <a:t>晴天：　相機 ±0.58 行人、光達 15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小雨：　相機 ±0.58 行人、光達 13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中雨：　相機 ±0.58 行人、光達 9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大雨：　相機 </a:t>
            </a:r>
            <a:r>
              <a:rPr sz="1000" b="1" lang="zh-TW" dirty="0">
                <a:solidFill>
                  <a:srgbClr val="000000"/>
                </a:solidFill>
                <a:latin typeface="Arial Unicode MS"/>
                <a:ea typeface="Arial Unicode MS"/>
                <a:cs typeface="Arial Unicode MS"/>
              </a:rPr>
              <a:t>整張卡消失</a:t>
            </a:r>
            <a:r>
              <a:rPr sz="1000" lang="zh-TW" dirty="0">
                <a:solidFill>
                  <a:srgbClr val="000000"/>
                </a:solidFill>
                <a:latin typeface="Arial Unicode MS"/>
                <a:ea typeface="Arial Unicode MS"/>
                <a:cs typeface="Arial Unicode MS"/>
              </a:rPr>
              <a:t>、光達 6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第一題。從晴天按到中雨，相機的誤差有沒有變？
</a:t>
            </a:r>
          </a:p>
          <a:p>
            <a:pPr algn="l">
              <a:lnSpc>
                <a:spcPct val="115000"/>
              </a:lnSpc>
              <a:spcAft>
                <a:spcPts val="500"/>
              </a:spcAft>
            </a:pPr>
            <a:r>
              <a:rPr sz="1000" lang="zh-TW" dirty="0">
                <a:solidFill>
                  <a:srgbClr val="000000"/>
                </a:solidFill>
                <a:latin typeface="Arial Unicode MS"/>
                <a:ea typeface="Arial Unicode MS"/>
                <a:cs typeface="Arial Unicode MS"/>
              </a:rPr>
              <a:t>（等同學看白板。預期答案：沒有，一直都是正負零點五八。）
</a:t>
            </a:r>
          </a:p>
          <a:p>
            <a:pPr algn="l">
              <a:lnSpc>
                <a:spcPct val="115000"/>
              </a:lnSpc>
              <a:spcAft>
                <a:spcPts val="500"/>
              </a:spcAft>
            </a:pPr>
            <a:r>
              <a:rPr sz="1000" lang="zh-TW" dirty="0">
                <a:solidFill>
                  <a:srgbClr val="000000"/>
                </a:solidFill>
                <a:latin typeface="Arial Unicode MS"/>
                <a:ea typeface="Arial Unicode MS"/>
                <a:cs typeface="Arial Unicode MS"/>
              </a:rPr>
              <a:t>沒有變。一個數字都沒動。</a:t>
            </a:r>
            <a:r>
              <a:rPr sz="1000" b="1" lang="zh-TW" dirty="0">
                <a:solidFill>
                  <a:srgbClr val="000000"/>
                </a:solidFill>
                <a:latin typeface="Arial Unicode MS"/>
                <a:ea typeface="Arial Unicode MS"/>
                <a:cs typeface="Arial Unicode MS"/>
              </a:rPr>
              <a:t>這件事很多人會猜錯。</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為什麼下雨了相機還是一樣準？因為第二節我們算過，相機的誤差是</a:t>
            </a:r>
            <a:r>
              <a:rPr sz="1000" b="1" lang="zh-TW" dirty="0">
                <a:solidFill>
                  <a:srgbClr val="000000"/>
                </a:solidFill>
                <a:latin typeface="Arial Unicode MS"/>
                <a:ea typeface="Arial Unicode MS"/>
                <a:cs typeface="Arial Unicode MS"/>
              </a:rPr>
              <a:t>幾何</a:t>
            </a:r>
            <a:r>
              <a:rPr sz="1000" lang="zh-TW" dirty="0">
                <a:solidFill>
                  <a:srgbClr val="000000"/>
                </a:solidFill>
                <a:latin typeface="Arial Unicode MS"/>
                <a:ea typeface="Arial Unicode MS"/>
                <a:cs typeface="Arial Unicode MS"/>
              </a:rPr>
              <a:t>決定的——距離的平方乘每像素的角度除以安裝高度。下雨不會改變這台相機的像素數，也不會改變它裝多高。所以只要它</a:t>
            </a:r>
            <a:r>
              <a:rPr sz="1000" b="1" lang="zh-TW" dirty="0">
                <a:solidFill>
                  <a:srgbClr val="000000"/>
                </a:solidFill>
                <a:latin typeface="Arial Unicode MS"/>
                <a:ea typeface="Arial Unicode MS"/>
                <a:cs typeface="Arial Unicode MS"/>
              </a:rPr>
              <a:t>還看得到</a:t>
            </a:r>
            <a:r>
              <a:rPr sz="1000" lang="zh-TW" dirty="0">
                <a:solidFill>
                  <a:srgbClr val="000000"/>
                </a:solidFill>
                <a:latin typeface="Arial Unicode MS"/>
                <a:ea typeface="Arial Unicode MS"/>
                <a:cs typeface="Arial Unicode MS"/>
              </a:rPr>
              <a:t>那個人，算出來的距離就一樣準。
</a:t>
            </a:r>
          </a:p>
          <a:p>
            <a:pPr algn="l">
              <a:lnSpc>
                <a:spcPct val="115000"/>
              </a:lnSpc>
              <a:spcAft>
                <a:spcPts val="500"/>
              </a:spcAft>
            </a:pPr>
            <a:r>
              <a:rPr sz="1000" lang="zh-TW" dirty="0">
                <a:solidFill>
                  <a:srgbClr val="000000"/>
                </a:solidFill>
                <a:latin typeface="Arial Unicode MS"/>
                <a:ea typeface="Arial Unicode MS"/>
                <a:cs typeface="Arial Unicode MS"/>
              </a:rPr>
              <a:t>那雨到底改變了什麼？改變的是</a:t>
            </a:r>
            <a:r>
              <a:rPr sz="1000" b="1" lang="zh-TW" dirty="0">
                <a:solidFill>
                  <a:srgbClr val="000000"/>
                </a:solidFill>
                <a:latin typeface="Arial Unicode MS"/>
                <a:ea typeface="Arial Unicode MS"/>
                <a:cs typeface="Arial Unicode MS"/>
              </a:rPr>
              <a:t>看得到多遠</a:t>
            </a:r>
            <a:r>
              <a:rPr sz="1000" lang="zh-TW" dirty="0">
                <a:solidFill>
                  <a:srgbClr val="000000"/>
                </a:solidFill>
                <a:latin typeface="Arial Unicode MS"/>
                <a:ea typeface="Arial Unicode MS"/>
                <a:cs typeface="Arial Unicode MS"/>
              </a:rPr>
              <a:t>。晴天八十公尺，小雨六十四，中雨四十，大雨只剩二十二。
</a:t>
            </a:r>
          </a:p>
          <a:p>
            <a:pPr algn="l">
              <a:lnSpc>
                <a:spcPct val="115000"/>
              </a:lnSpc>
              <a:spcAft>
                <a:spcPts val="500"/>
              </a:spcAft>
            </a:pPr>
            <a:r>
              <a:rPr sz="1000" lang="zh-TW" dirty="0">
                <a:solidFill>
                  <a:srgbClr val="000000"/>
                </a:solidFill>
                <a:latin typeface="Arial Unicode MS"/>
                <a:ea typeface="Arial Unicode MS"/>
                <a:cs typeface="Arial Unicode MS"/>
              </a:rPr>
              <a:t>（把這四個數字也寫在白板上，寫在誤差旁邊。）
</a:t>
            </a:r>
          </a:p>
          <a:p>
            <a:pPr algn="l">
              <a:lnSpc>
                <a:spcPct val="115000"/>
              </a:lnSpc>
              <a:spcAft>
                <a:spcPts val="500"/>
              </a:spcAft>
            </a:pPr>
            <a:r>
              <a:rPr sz="1000" lang="zh-TW" dirty="0">
                <a:solidFill>
                  <a:srgbClr val="000000"/>
                </a:solidFill>
                <a:latin typeface="Arial Unicode MS"/>
                <a:ea typeface="Arial Unicode MS"/>
                <a:cs typeface="Arial Unicode MS"/>
              </a:rPr>
              <a:t>第二題，這就是重點了。按到大雨的那一下，相機那張卡怎麼了？
</a:t>
            </a:r>
          </a:p>
          <a:p>
            <a:pPr algn="l">
              <a:lnSpc>
                <a:spcPct val="115000"/>
              </a:lnSpc>
              <a:spcAft>
                <a:spcPts val="500"/>
              </a:spcAft>
            </a:pPr>
            <a:r>
              <a:rPr sz="1000" lang="zh-TW" dirty="0">
                <a:solidFill>
                  <a:srgbClr val="000000"/>
                </a:solidFill>
                <a:latin typeface="Arial Unicode MS"/>
                <a:ea typeface="Arial Unicode MS"/>
                <a:cs typeface="Arial Unicode MS"/>
              </a:rPr>
              <a:t>（預期答案：整張消失，變成紅字「超出有效距離」。）
</a:t>
            </a:r>
          </a:p>
          <a:p>
            <a:pPr algn="l">
              <a:lnSpc>
                <a:spcPct val="115000"/>
              </a:lnSpc>
              <a:spcAft>
                <a:spcPts val="500"/>
              </a:spcAft>
            </a:pPr>
            <a:r>
              <a:rPr sz="1000" lang="zh-TW" dirty="0">
                <a:solidFill>
                  <a:srgbClr val="000000"/>
                </a:solidFill>
                <a:latin typeface="Arial Unicode MS"/>
                <a:ea typeface="Arial Unicode MS"/>
                <a:cs typeface="Arial Unicode MS"/>
              </a:rPr>
              <a:t>注意它</a:t>
            </a:r>
            <a:r>
              <a:rPr sz="1000" b="1" lang="zh-TW" dirty="0">
                <a:solidFill>
                  <a:srgbClr val="000000"/>
                </a:solidFill>
                <a:latin typeface="Arial Unicode MS"/>
                <a:ea typeface="Arial Unicode MS"/>
                <a:cs typeface="Arial Unicode MS"/>
              </a:rPr>
              <a:t>不是慢慢變模糊</a:t>
            </a:r>
            <a:r>
              <a:rPr sz="1000" lang="zh-TW" dirty="0">
                <a:solidFill>
                  <a:srgbClr val="000000"/>
                </a:solidFill>
                <a:latin typeface="Arial Unicode MS"/>
                <a:ea typeface="Arial Unicode MS"/>
                <a:cs typeface="Arial Unicode MS"/>
              </a:rPr>
              <a:t>，是</a:t>
            </a:r>
            <a:r>
              <a:rPr sz="1000" b="1" lang="zh-TW" dirty="0">
                <a:solidFill>
                  <a:srgbClr val="000000"/>
                </a:solidFill>
                <a:latin typeface="Arial Unicode MS"/>
                <a:ea typeface="Arial Unicode MS"/>
                <a:cs typeface="Arial Unicode MS"/>
              </a:rPr>
              <a:t>一下子整個不見</a:t>
            </a:r>
            <a:r>
              <a:rPr sz="1000" lang="zh-TW" dirty="0">
                <a:solidFill>
                  <a:srgbClr val="000000"/>
                </a:solidFill>
                <a:latin typeface="Arial Unicode MS"/>
                <a:ea typeface="Arial Unicode MS"/>
                <a:cs typeface="Arial Unicode MS"/>
              </a:rPr>
              <a:t>。因為大雨的時候相機只看得到二十二公尺，而我們的行人站在四十公尺——超出去了，就什麼都沒有。
</a:t>
            </a:r>
          </a:p>
          <a:p>
            <a:pPr algn="l">
              <a:lnSpc>
                <a:spcPct val="115000"/>
              </a:lnSpc>
              <a:spcAft>
                <a:spcPts val="500"/>
              </a:spcAft>
            </a:pPr>
            <a:r>
              <a:rPr sz="1000" lang="zh-TW" dirty="0">
                <a:solidFill>
                  <a:srgbClr val="000000"/>
                </a:solidFill>
                <a:latin typeface="Arial Unicode MS"/>
                <a:ea typeface="Arial Unicode MS"/>
                <a:cs typeface="Arial Unicode MS"/>
              </a:rPr>
              <a:t>請大家記住這個模式：</a:t>
            </a:r>
            <a:r>
              <a:rPr sz="1000" b="1" lang="zh-TW" dirty="0">
                <a:solidFill>
                  <a:srgbClr val="000000"/>
                </a:solidFill>
                <a:latin typeface="Arial Unicode MS"/>
                <a:ea typeface="Arial Unicode MS"/>
                <a:cs typeface="Arial Unicode MS"/>
              </a:rPr>
              <a:t>感測器失效常常是懸崖式的，不是斜坡式的。</a:t>
            </a:r>
            <a:r>
              <a:rPr sz="1000" lang="zh-TW" dirty="0">
                <a:solidFill>
                  <a:srgbClr val="000000"/>
                </a:solidFill>
                <a:latin typeface="Arial Unicode MS"/>
                <a:ea typeface="Arial Unicode MS"/>
                <a:cs typeface="Arial Unicode MS"/>
              </a:rPr>
              <a:t>前一秒還好好的，雨大一級就整個沒了。這也是為什麼自駕車不能「看狀況還可以就繼續開」，而是要設一條線，過線就交還給人。
</a:t>
            </a:r>
          </a:p>
          <a:p>
            <a:pPr algn="l">
              <a:lnSpc>
                <a:spcPct val="115000"/>
              </a:lnSpc>
              <a:spcAft>
                <a:spcPts val="500"/>
              </a:spcAft>
            </a:pPr>
            <a:r>
              <a:rPr sz="1000" lang="zh-TW" dirty="0">
                <a:solidFill>
                  <a:srgbClr val="000000"/>
                </a:solidFill>
                <a:latin typeface="Arial Unicode MS"/>
                <a:ea typeface="Arial Unicode MS"/>
                <a:cs typeface="Arial Unicode MS"/>
              </a:rPr>
              <a:t>（如果時間夠，做一個小示範：把環境切回中雨，這時相機的有效距離剛好是四十公尺，行人就站在邊界上。把行人往外拖一公尺，看它消失；再拖回來，看它出現。就在邊界上跳來跳去——真實的車在雨中也會這樣，目標時有時無，這叫閃爍，是很難處理的問題。）
</a:t>
            </a:r>
          </a:p>
          <a:p>
            <a:pPr algn="l">
              <a:lnSpc>
                <a:spcPct val="115000"/>
              </a:lnSpc>
              <a:spcAft>
                <a:spcPts val="500"/>
              </a:spcAft>
            </a:pPr>
            <a:r>
              <a:rPr sz="1000" lang="zh-TW" dirty="0">
                <a:solidFill>
                  <a:srgbClr val="000000"/>
                </a:solidFill>
                <a:latin typeface="Arial Unicode MS"/>
                <a:ea typeface="Arial Unicode MS"/>
                <a:cs typeface="Arial Unicode MS"/>
              </a:rPr>
              <a:t>第三題。按了四次，誰從頭到尾動都沒動？
</a:t>
            </a:r>
          </a:p>
          <a:p>
            <a:pPr algn="l">
              <a:lnSpc>
                <a:spcPct val="115000"/>
              </a:lnSpc>
              <a:spcAft>
                <a:spcPts val="500"/>
              </a:spcAft>
            </a:pPr>
            <a:r>
              <a:rPr sz="1000" lang="zh-TW" dirty="0">
                <a:solidFill>
                  <a:srgbClr val="000000"/>
                </a:solidFill>
                <a:latin typeface="Arial Unicode MS"/>
                <a:ea typeface="Arial Unicode MS"/>
                <a:cs typeface="Arial Unicode MS"/>
              </a:rPr>
              <a:t>（預期答案：雷達，一直是四十點零。）
</a:t>
            </a:r>
          </a:p>
          <a:p>
            <a:pPr algn="l">
              <a:lnSpc>
                <a:spcPct val="115000"/>
              </a:lnSpc>
              <a:spcAft>
                <a:spcPts val="500"/>
              </a:spcAft>
            </a:pPr>
            <a:r>
              <a:rPr sz="1000" lang="zh-TW" dirty="0">
                <a:solidFill>
                  <a:srgbClr val="000000"/>
                </a:solidFill>
                <a:latin typeface="Arial Unicode MS"/>
                <a:ea typeface="Arial Unicode MS"/>
                <a:cs typeface="Arial Unicode MS"/>
              </a:rPr>
              <a:t>對。雷達的有效距離從兩百五十掉到兩百，聽起來掉了不少，但四十公尺遠遠在範圍裡面，所以它完全不受影響。這跟第一節講的一樣：毫米波的波長比雨滴大很多，波會繞過去。
</a:t>
            </a:r>
          </a:p>
          <a:p>
            <a:pPr algn="l">
              <a:lnSpc>
                <a:spcPct val="115000"/>
              </a:lnSpc>
              <a:spcAft>
                <a:spcPts val="500"/>
              </a:spcAft>
            </a:pPr>
            <a:r>
              <a:rPr sz="1000" lang="zh-TW" dirty="0">
                <a:solidFill>
                  <a:srgbClr val="000000"/>
                </a:solidFill>
                <a:latin typeface="Arial Unicode MS"/>
                <a:ea typeface="Arial Unicode MS"/>
                <a:cs typeface="Arial Unicode MS"/>
              </a:rPr>
              <a:t>順便看光達：十五、十三、九、六。這個是</a:t>
            </a:r>
            <a:r>
              <a:rPr sz="1000" b="1" lang="zh-TW" dirty="0">
                <a:solidFill>
                  <a:srgbClr val="000000"/>
                </a:solidFill>
                <a:latin typeface="Arial Unicode MS"/>
                <a:ea typeface="Arial Unicode MS"/>
                <a:cs typeface="Arial Unicode MS"/>
              </a:rPr>
              <a:t>斜坡式</a:t>
            </a:r>
            <a:r>
              <a:rPr sz="1000" lang="zh-TW" dirty="0">
                <a:solidFill>
                  <a:srgbClr val="000000"/>
                </a:solidFill>
                <a:latin typeface="Arial Unicode MS"/>
                <a:ea typeface="Arial Unicode MS"/>
                <a:cs typeface="Arial Unicode MS"/>
              </a:rPr>
              <a:t>的，慢慢掉。因為雨滴會把雷射散射掉一部分，雨愈大散射愈多。
</a:t>
            </a:r>
          </a:p>
          <a:p>
            <a:pPr algn="l">
              <a:lnSpc>
                <a:spcPct val="115000"/>
              </a:lnSpc>
              <a:spcAft>
                <a:spcPts val="500"/>
              </a:spcAft>
            </a:pPr>
            <a:r>
              <a:rPr sz="1000" lang="zh-TW" dirty="0">
                <a:solidFill>
                  <a:srgbClr val="000000"/>
                </a:solidFill>
                <a:latin typeface="Arial Unicode MS"/>
                <a:ea typeface="Arial Unicode MS"/>
                <a:cs typeface="Arial Unicode MS"/>
              </a:rPr>
              <a:t>所以同一場雨，對三種感測器做了三件不同的事：相機是</a:t>
            </a:r>
            <a:r>
              <a:rPr sz="1000" b="1" lang="zh-TW" dirty="0">
                <a:solidFill>
                  <a:srgbClr val="000000"/>
                </a:solidFill>
                <a:latin typeface="Arial Unicode MS"/>
                <a:ea typeface="Arial Unicode MS"/>
                <a:cs typeface="Arial Unicode MS"/>
              </a:rPr>
              <a:t>懸崖</a:t>
            </a:r>
            <a:r>
              <a:rPr sz="1000" lang="zh-TW" dirty="0">
                <a:solidFill>
                  <a:srgbClr val="000000"/>
                </a:solidFill>
                <a:latin typeface="Arial Unicode MS"/>
                <a:ea typeface="Arial Unicode MS"/>
                <a:cs typeface="Arial Unicode MS"/>
              </a:rPr>
              <a:t>，光達是</a:t>
            </a:r>
            <a:r>
              <a:rPr sz="1000" b="1" lang="zh-TW" dirty="0">
                <a:solidFill>
                  <a:srgbClr val="000000"/>
                </a:solidFill>
                <a:latin typeface="Arial Unicode MS"/>
                <a:ea typeface="Arial Unicode MS"/>
                <a:cs typeface="Arial Unicode MS"/>
              </a:rPr>
              <a:t>斜坡</a:t>
            </a:r>
            <a:r>
              <a:rPr sz="1000" lang="zh-TW" dirty="0">
                <a:solidFill>
                  <a:srgbClr val="000000"/>
                </a:solidFill>
                <a:latin typeface="Arial Unicode MS"/>
                <a:ea typeface="Arial Unicode MS"/>
                <a:cs typeface="Arial Unicode MS"/>
              </a:rPr>
              <a:t>，雷達幾乎</a:t>
            </a:r>
            <a:r>
              <a:rPr sz="1000" b="1" lang="zh-TW" dirty="0">
                <a:solidFill>
                  <a:srgbClr val="000000"/>
                </a:solidFill>
                <a:latin typeface="Arial Unicode MS"/>
                <a:ea typeface="Arial Unicode MS"/>
                <a:cs typeface="Arial Unicode MS"/>
              </a:rPr>
              <a:t>沒事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最後補充一件工具沒有模擬的事，但你們騎車一定有經驗：下雨的時候，前面的車會</a:t>
            </a:r>
            <a:r>
              <a:rPr sz="1000" b="1" lang="zh-TW" dirty="0">
                <a:solidFill>
                  <a:srgbClr val="000000"/>
                </a:solidFill>
                <a:latin typeface="Arial Unicode MS"/>
                <a:ea typeface="Arial Unicode MS"/>
                <a:cs typeface="Arial Unicode MS"/>
              </a:rPr>
              <a:t>濺起水花</a:t>
            </a:r>
            <a:r>
              <a:rPr sz="1000" lang="zh-TW" dirty="0">
                <a:solidFill>
                  <a:srgbClr val="000000"/>
                </a:solidFill>
                <a:latin typeface="Arial Unicode MS"/>
                <a:ea typeface="Arial Unicode MS"/>
                <a:cs typeface="Arial Unicode MS"/>
              </a:rPr>
              <a:t>。那些水珠對光達來說跟真的障礙物一樣會反射，所以車子可能會「看到」一團根本不存在的東西，然後緊急煞車。這叫假回報，比看不到還麻煩——看不到至少你知道要小心，假的東西會讓車子做出錯誤的動作。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剛剛連做兩輪，濃霧和下雨。現在我用</a:t>
            </a:r>
            <a:r>
              <a:rPr sz="1000" b="1" lang="zh-TW" dirty="0">
                <a:solidFill>
                  <a:srgbClr val="000000"/>
                </a:solidFill>
                <a:latin typeface="Arial Unicode MS"/>
                <a:ea typeface="Arial Unicode MS"/>
                <a:cs typeface="Arial Unicode MS"/>
              </a:rPr>
              <a:t>一張圖</a:t>
            </a:r>
            <a:r>
              <a:rPr sz="1000" lang="zh-TW" dirty="0">
                <a:solidFill>
                  <a:srgbClr val="000000"/>
                </a:solidFill>
                <a:latin typeface="Arial Unicode MS"/>
                <a:ea typeface="Arial Unicode MS"/>
                <a:cs typeface="Arial Unicode MS"/>
              </a:rPr>
              <a:t>把這兩輪一次解釋完。
</a:t>
            </a:r>
          </a:p>
          <a:p>
            <a:pPr algn="l">
              <a:lnSpc>
                <a:spcPct val="115000"/>
              </a:lnSpc>
              <a:spcAft>
                <a:spcPts val="500"/>
              </a:spcAft>
            </a:pPr>
            <a:r>
              <a:rPr sz="1000" lang="zh-TW" dirty="0">
                <a:solidFill>
                  <a:srgbClr val="000000"/>
                </a:solidFill>
                <a:latin typeface="Arial Unicode MS"/>
                <a:ea typeface="Arial Unicode MS"/>
                <a:cs typeface="Arial Unicode MS"/>
              </a:rPr>
              <a:t>先講一個生活中的經驗。海邊的消波塊，大浪打過來會被擋住；但如果是很小的漣漪，碰到消波塊會怎樣？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（等學生回答。預期：從旁邊繞過去、幾乎沒影響。）
</a:t>
            </a:r>
          </a:p>
          <a:p>
            <a:pPr algn="l">
              <a:lnSpc>
                <a:spcPct val="115000"/>
              </a:lnSpc>
              <a:spcAft>
                <a:spcPts val="500"/>
              </a:spcAft>
            </a:pPr>
            <a:r>
              <a:rPr sz="1000" lang="zh-TW" dirty="0">
                <a:solidFill>
                  <a:srgbClr val="000000"/>
                </a:solidFill>
                <a:latin typeface="Arial Unicode MS"/>
                <a:ea typeface="Arial Unicode MS"/>
                <a:cs typeface="Arial Unicode MS"/>
              </a:rPr>
              <a:t>反過來想也一樣：你在水裡插一根很細的竹竿，大浪根本不理它，直接穿過去。
</a:t>
            </a:r>
          </a:p>
          <a:p>
            <a:pPr algn="l">
              <a:lnSpc>
                <a:spcPct val="115000"/>
              </a:lnSpc>
              <a:spcAft>
                <a:spcPts val="500"/>
              </a:spcAft>
            </a:pPr>
            <a:r>
              <a:rPr sz="1000" b="1" lang="zh-TW" dirty="0">
                <a:solidFill>
                  <a:srgbClr val="000000"/>
                </a:solidFill>
                <a:latin typeface="Arial Unicode MS"/>
                <a:ea typeface="Arial Unicode MS"/>
                <a:cs typeface="Arial Unicode MS"/>
              </a:rPr>
              <a:t>波碰到障礙物，會不會被擋住，看的是「波的大小」跟「障礙物的大小」誰大誰小。</a:t>
            </a:r>
            <a:r>
              <a:rPr sz="1000" lang="zh-TW" dirty="0">
                <a:solidFill>
                  <a:srgbClr val="000000"/>
                </a:solidFill>
                <a:latin typeface="Arial Unicode MS"/>
                <a:ea typeface="Arial Unicode MS"/>
                <a:cs typeface="Arial Unicode MS"/>
              </a:rPr>
              <a:t>波比障礙物大，就繞過去；波比障礙物小，就被擋住、被散射。
</a:t>
            </a:r>
          </a:p>
          <a:p>
            <a:pPr algn="l">
              <a:lnSpc>
                <a:spcPct val="115000"/>
              </a:lnSpc>
              <a:spcAft>
                <a:spcPts val="500"/>
              </a:spcAft>
            </a:pPr>
            <a:r>
              <a:rPr sz="1000" lang="zh-TW" dirty="0">
                <a:solidFill>
                  <a:srgbClr val="000000"/>
                </a:solidFill>
                <a:latin typeface="Arial Unicode MS"/>
                <a:ea typeface="Arial Unicode MS"/>
                <a:cs typeface="Arial Unicode MS"/>
              </a:rPr>
              <a:t>現在看螢幕這條線。這條線上標的是</a:t>
            </a:r>
            <a:r>
              <a:rPr sz="1000" b="1" lang="zh-TW" dirty="0">
                <a:solidFill>
                  <a:srgbClr val="000000"/>
                </a:solidFill>
                <a:latin typeface="Arial Unicode MS"/>
                <a:ea typeface="Arial Unicode MS"/>
                <a:cs typeface="Arial Unicode MS"/>
              </a:rPr>
              <a:t>尺寸</a:t>
            </a:r>
            <a:r>
              <a:rPr sz="1000" lang="zh-TW" dirty="0">
                <a:solidFill>
                  <a:srgbClr val="000000"/>
                </a:solidFill>
                <a:latin typeface="Arial Unicode MS"/>
                <a:ea typeface="Arial Unicode MS"/>
                <a:cs typeface="Arial Unicode MS"/>
              </a:rPr>
              <a:t>，從左到右愈來愈大，左邊是一微米——一公釐的千分之一——右邊是一公分。
</a:t>
            </a:r>
          </a:p>
          <a:p>
            <a:pPr algn="l">
              <a:lnSpc>
                <a:spcPct val="115000"/>
              </a:lnSpc>
              <a:spcAft>
                <a:spcPts val="500"/>
              </a:spcAft>
            </a:pPr>
            <a:r>
              <a:rPr sz="1000" lang="zh-TW" dirty="0">
                <a:solidFill>
                  <a:srgbClr val="000000"/>
                </a:solidFill>
                <a:latin typeface="Arial Unicode MS"/>
                <a:ea typeface="Arial Unicode MS"/>
                <a:cs typeface="Arial Unicode MS"/>
              </a:rPr>
              <a:t>（請注意這條軸每一格是十倍，不是加十。這樣才畫得下這麼大的範圍。）
</a:t>
            </a:r>
          </a:p>
          <a:p>
            <a:pPr algn="l">
              <a:lnSpc>
                <a:spcPct val="115000"/>
              </a:lnSpc>
              <a:spcAft>
                <a:spcPts val="500"/>
              </a:spcAft>
            </a:pPr>
            <a:r>
              <a:rPr sz="1000" lang="zh-TW" dirty="0">
                <a:solidFill>
                  <a:srgbClr val="000000"/>
                </a:solidFill>
                <a:latin typeface="Arial Unicode MS"/>
                <a:ea typeface="Arial Unicode MS"/>
                <a:cs typeface="Arial Unicode MS"/>
              </a:rPr>
              <a:t>線的上面我標了三個感測器的</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相機和光達差不多，都在</a:t>
            </a:r>
            <a:r>
              <a:rPr sz="1000" b="1" lang="zh-TW" dirty="0">
                <a:solidFill>
                  <a:srgbClr val="000000"/>
                </a:solidFill>
                <a:latin typeface="Arial Unicode MS"/>
                <a:ea typeface="Arial Unicode MS"/>
                <a:cs typeface="Arial Unicode MS"/>
              </a:rPr>
              <a:t>一微米</a:t>
            </a:r>
            <a:r>
              <a:rPr sz="1000" lang="zh-TW" dirty="0">
                <a:solidFill>
                  <a:srgbClr val="000000"/>
                </a:solidFill>
                <a:latin typeface="Arial Unicode MS"/>
                <a:ea typeface="Arial Unicode MS"/>
                <a:cs typeface="Arial Unicode MS"/>
              </a:rPr>
              <a:t>左右。相機用的是可見光，光達用的是九百零五奈米的紅外線雷射，兩個都在一微米這附近。
</a:t>
            </a:r>
          </a:p>
          <a:p>
            <a:pPr algn="l">
              <a:lnSpc>
                <a:spcPct val="115000"/>
              </a:lnSpc>
              <a:spcAft>
                <a:spcPts val="500"/>
              </a:spcAft>
            </a:pPr>
            <a:r>
              <a:rPr sz="1000" lang="zh-TW" dirty="0">
                <a:solidFill>
                  <a:srgbClr val="000000"/>
                </a:solidFill>
                <a:latin typeface="Arial Unicode MS"/>
                <a:ea typeface="Arial Unicode MS"/>
                <a:cs typeface="Arial Unicode MS"/>
              </a:rPr>
              <a:t>熱像是</a:t>
            </a:r>
            <a:r>
              <a:rPr sz="1000" b="1" lang="zh-TW" dirty="0">
                <a:solidFill>
                  <a:srgbClr val="000000"/>
                </a:solidFill>
                <a:latin typeface="Arial Unicode MS"/>
                <a:ea typeface="Arial Unicode MS"/>
                <a:cs typeface="Arial Unicode MS"/>
              </a:rPr>
              <a:t>十微米</a:t>
            </a:r>
            <a:r>
              <a:rPr sz="1000" lang="zh-TW" dirty="0">
                <a:solidFill>
                  <a:srgbClr val="000000"/>
                </a:solidFill>
                <a:latin typeface="Arial Unicode MS"/>
                <a:ea typeface="Arial Unicode MS"/>
                <a:cs typeface="Arial Unicode MS"/>
              </a:rPr>
              <a:t>，比它們大十倍。
</a:t>
            </a:r>
          </a:p>
          <a:p>
            <a:pPr algn="l">
              <a:lnSpc>
                <a:spcPct val="115000"/>
              </a:lnSpc>
              <a:spcAft>
                <a:spcPts val="500"/>
              </a:spcAft>
            </a:pPr>
            <a:r>
              <a:rPr sz="1000" lang="zh-TW" dirty="0">
                <a:solidFill>
                  <a:srgbClr val="000000"/>
                </a:solidFill>
                <a:latin typeface="Arial Unicode MS"/>
                <a:ea typeface="Arial Unicode MS"/>
                <a:cs typeface="Arial Unicode MS"/>
              </a:rPr>
              <a:t>雷達最特別，七十七 GHz 的毫米波，波長大約</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——比相機和光達大了</a:t>
            </a:r>
            <a:r>
              <a:rPr sz="1000" b="1" lang="zh-TW" dirty="0">
                <a:solidFill>
                  <a:srgbClr val="000000"/>
                </a:solidFill>
                <a:latin typeface="Arial Unicode MS"/>
                <a:ea typeface="Arial Unicode MS"/>
                <a:cs typeface="Arial Unicode MS"/>
              </a:rPr>
              <a:t>四千倍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線的下面是水滴的大小。霧滴很小，一到五十微米。雨滴大很多，零點五到兩公釐。
</a:t>
            </a:r>
          </a:p>
          <a:p>
            <a:pPr algn="l">
              <a:lnSpc>
                <a:spcPct val="115000"/>
              </a:lnSpc>
              <a:spcAft>
                <a:spcPts val="500"/>
              </a:spcAft>
            </a:pPr>
            <a:r>
              <a:rPr sz="1000" lang="zh-TW" dirty="0">
                <a:solidFill>
                  <a:srgbClr val="000000"/>
                </a:solidFill>
                <a:latin typeface="Arial Unicode MS"/>
                <a:ea typeface="Arial Unicode MS"/>
                <a:cs typeface="Arial Unicode MS"/>
              </a:rPr>
              <a:t>好，現在把上下對起來看。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a:t>
            </a:r>
            <a:r>
              <a:rPr sz="1000" lang="zh-TW" dirty="0">
                <a:solidFill>
                  <a:srgbClr val="000000"/>
                </a:solidFill>
                <a:latin typeface="Arial Unicode MS"/>
                <a:ea typeface="Arial Unicode MS"/>
                <a:cs typeface="Arial Unicode MS"/>
              </a:rPr>
              <a:t>的波長，比霧滴還小。所以霧滴對它們來說就像一整排消波塊，光打出去撞上去就散掉了。這就是為什麼濃霧那一輪，相機從八十公尺掉到十六公尺、光達從一百掉到四十五。
</a:t>
            </a:r>
          </a:p>
          <a:p>
            <a:pPr algn="l">
              <a:lnSpc>
                <a:spcPct val="115000"/>
              </a:lnSpc>
              <a:spcAft>
                <a:spcPts val="500"/>
              </a:spcAft>
            </a:pPr>
            <a:r>
              <a:rPr sz="1000" b="1" lang="zh-TW" dirty="0">
                <a:solidFill>
                  <a:srgbClr val="000000"/>
                </a:solidFill>
                <a:latin typeface="Arial Unicode MS"/>
                <a:ea typeface="Arial Unicode MS"/>
                <a:cs typeface="Arial Unicode MS"/>
              </a:rPr>
              <a:t>熱像</a:t>
            </a:r>
            <a:r>
              <a:rPr sz="1000" lang="zh-TW" dirty="0">
                <a:solidFill>
                  <a:srgbClr val="000000"/>
                </a:solidFill>
                <a:latin typeface="Arial Unicode MS"/>
                <a:ea typeface="Arial Unicode MS"/>
                <a:cs typeface="Arial Unicode MS"/>
              </a:rPr>
              <a:t>的波長跟霧滴差不多大，所以被擋掉一部分，但沒那麼慘——一百四十三掉到九十。
</a:t>
            </a:r>
          </a:p>
          <a:p>
            <a:pPr algn="l">
              <a:lnSpc>
                <a:spcPct val="115000"/>
              </a:lnSpc>
              <a:spcAft>
                <a:spcPts val="500"/>
              </a:spcAft>
            </a:pPr>
            <a:r>
              <a:rPr sz="1000" b="1" lang="zh-TW" dirty="0">
                <a:solidFill>
                  <a:srgbClr val="000000"/>
                </a:solidFill>
                <a:latin typeface="Arial Unicode MS"/>
                <a:ea typeface="Arial Unicode MS"/>
                <a:cs typeface="Arial Unicode MS"/>
              </a:rPr>
              <a:t>雷達</a:t>
            </a:r>
            <a:r>
              <a:rPr sz="1000" lang="zh-TW" dirty="0">
                <a:solidFill>
                  <a:srgbClr val="000000"/>
                </a:solidFill>
                <a:latin typeface="Arial Unicode MS"/>
                <a:ea typeface="Arial Unicode MS"/>
                <a:cs typeface="Arial Unicode MS"/>
              </a:rPr>
              <a:t>的波長比霧滴大四千倍，比雨滴也還要大。對雷達來說，水滴細得像竹竿，它直接穿過去。所以剛剛兩輪，雷達那張卡從頭到尾都是四十點零。
</a:t>
            </a:r>
          </a:p>
          <a:p>
            <a:pPr algn="l">
              <a:lnSpc>
                <a:spcPct val="115000"/>
              </a:lnSpc>
              <a:spcAft>
                <a:spcPts val="500"/>
              </a:spcAft>
            </a:pPr>
            <a:r>
              <a:rPr sz="1000" lang="zh-TW" dirty="0">
                <a:solidFill>
                  <a:srgbClr val="000000"/>
                </a:solidFill>
                <a:latin typeface="Arial Unicode MS"/>
                <a:ea typeface="Arial Unicode MS"/>
                <a:cs typeface="Arial Unicode MS"/>
              </a:rPr>
              <a:t>（在白板上寫一行：波長 &gt; 顆粒 → 穿過去；波長 &lt; 顆粒 → 被擋住。）
</a:t>
            </a:r>
          </a:p>
          <a:p>
            <a:pPr algn="l">
              <a:lnSpc>
                <a:spcPct val="115000"/>
              </a:lnSpc>
              <a:spcAft>
                <a:spcPts val="500"/>
              </a:spcAft>
            </a:pPr>
            <a:r>
              <a:rPr sz="1000" lang="zh-TW" dirty="0">
                <a:solidFill>
                  <a:srgbClr val="000000"/>
                </a:solidFill>
                <a:latin typeface="Arial Unicode MS"/>
                <a:ea typeface="Arial Unicode MS"/>
                <a:cs typeface="Arial Unicode MS"/>
              </a:rPr>
              <a:t>這張圖你們只要記住一句話：</a:t>
            </a:r>
            <a:r>
              <a:rPr sz="1000" b="1" lang="zh-TW" dirty="0">
                <a:solidFill>
                  <a:srgbClr val="000000"/>
                </a:solidFill>
                <a:latin typeface="Arial Unicode MS"/>
                <a:ea typeface="Arial Unicode MS"/>
                <a:cs typeface="Arial Unicode MS"/>
              </a:rPr>
              <a:t>看波長跟顆粒誰大誰小。</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記住它，因為下一頁我要用它來考你們一題——而且這題的答案，你們現在就推得出來。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這一輪不一樣。前面四次都是先按再看，這次我要大家</a:t>
            </a:r>
            <a:r>
              <a:rPr sz="1000" b="1" lang="zh-TW" dirty="0">
                <a:solidFill>
                  <a:srgbClr val="000000"/>
                </a:solidFill>
                <a:latin typeface="Arial Unicode MS"/>
                <a:ea typeface="Arial Unicode MS"/>
                <a:cs typeface="Arial Unicode MS"/>
              </a:rPr>
              <a:t>先推論</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（先不要讓同學碰滑鼠。）
</a:t>
            </a:r>
          </a:p>
          <a:p>
            <a:pPr algn="l">
              <a:lnSpc>
                <a:spcPct val="115000"/>
              </a:lnSpc>
              <a:spcAft>
                <a:spcPts val="500"/>
              </a:spcAft>
            </a:pPr>
            <a:r>
              <a:rPr sz="1000" lang="zh-TW" dirty="0">
                <a:solidFill>
                  <a:srgbClr val="000000"/>
                </a:solidFill>
                <a:latin typeface="Arial Unicode MS"/>
                <a:ea typeface="Arial Unicode MS"/>
                <a:cs typeface="Arial Unicode MS"/>
              </a:rPr>
              <a:t>上一頁那條規則：波長比顆粒大就繞得過去，比顆粒小就被擋住。
</a:t>
            </a:r>
          </a:p>
          <a:p>
            <a:pPr algn="l">
              <a:lnSpc>
                <a:spcPct val="115000"/>
              </a:lnSpc>
              <a:spcAft>
                <a:spcPts val="500"/>
              </a:spcAft>
            </a:pPr>
            <a:r>
              <a:rPr sz="1000" lang="zh-TW" dirty="0">
                <a:solidFill>
                  <a:srgbClr val="000000"/>
                </a:solidFill>
                <a:latin typeface="Arial Unicode MS"/>
                <a:ea typeface="Arial Unicode MS"/>
                <a:cs typeface="Arial Unicode MS"/>
              </a:rPr>
              <a:t>現在給大家兩個數字。雪花的直徑是</a:t>
            </a:r>
            <a:r>
              <a:rPr sz="1000" b="1" lang="zh-TW" dirty="0">
                <a:solidFill>
                  <a:srgbClr val="000000"/>
                </a:solidFill>
                <a:latin typeface="Arial Unicode MS"/>
                <a:ea typeface="Arial Unicode MS"/>
                <a:cs typeface="Arial Unicode MS"/>
              </a:rPr>
              <a:t>一到十公釐</a:t>
            </a:r>
            <a:r>
              <a:rPr sz="1000" lang="zh-TW" dirty="0">
                <a:solidFill>
                  <a:srgbClr val="000000"/>
                </a:solidFill>
                <a:latin typeface="Arial Unicode MS"/>
                <a:ea typeface="Arial Unicode MS"/>
                <a:cs typeface="Arial Unicode MS"/>
              </a:rPr>
              <a:t>。雷達的波長是</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請問：誰大？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（等學生回答。預期：差不多，甚至雪花比較大。）
</a:t>
            </a:r>
          </a:p>
          <a:p>
            <a:pPr algn="l">
              <a:lnSpc>
                <a:spcPct val="115000"/>
              </a:lnSpc>
              <a:spcAft>
                <a:spcPts val="500"/>
              </a:spcAft>
            </a:pPr>
            <a:r>
              <a:rPr sz="1000" lang="zh-TW" dirty="0">
                <a:solidFill>
                  <a:srgbClr val="000000"/>
                </a:solidFill>
                <a:latin typeface="Arial Unicode MS"/>
                <a:ea typeface="Arial Unicode MS"/>
                <a:cs typeface="Arial Unicode MS"/>
              </a:rPr>
              <a:t>對。前面所有的天氣，雷達都穩如泰山，因為霧滴只有幾微米、雨滴不到兩公釐，都比它的波長小。但雪花不一樣，雪花</a:t>
            </a:r>
            <a:r>
              <a:rPr sz="1000" b="1" lang="zh-TW" dirty="0">
                <a:solidFill>
                  <a:srgbClr val="000000"/>
                </a:solidFill>
                <a:latin typeface="Arial Unicode MS"/>
                <a:ea typeface="Arial Unicode MS"/>
                <a:cs typeface="Arial Unicode MS"/>
              </a:rPr>
              <a:t>追上它了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所以照規則推論，下雪的時候雷達會怎樣？
</a:t>
            </a:r>
          </a:p>
          <a:p>
            <a:pPr algn="l">
              <a:lnSpc>
                <a:spcPct val="115000"/>
              </a:lnSpc>
              <a:spcAft>
                <a:spcPts val="500"/>
              </a:spcAft>
            </a:pPr>
            <a:r>
              <a:rPr sz="1000" lang="zh-TW" dirty="0">
                <a:solidFill>
                  <a:srgbClr val="000000"/>
                </a:solidFill>
                <a:latin typeface="Arial Unicode MS"/>
                <a:ea typeface="Arial Unicode MS"/>
                <a:cs typeface="Arial Unicode MS"/>
              </a:rPr>
              <a:t>（預期答案：會變差。）
</a:t>
            </a:r>
          </a:p>
          <a:p>
            <a:pPr algn="l">
              <a:lnSpc>
                <a:spcPct val="115000"/>
              </a:lnSpc>
              <a:spcAft>
                <a:spcPts val="500"/>
              </a:spcAft>
            </a:pPr>
            <a:r>
              <a:rPr sz="1000" lang="zh-TW" dirty="0">
                <a:solidFill>
                  <a:srgbClr val="000000"/>
                </a:solidFill>
                <a:latin typeface="Arial Unicode MS"/>
                <a:ea typeface="Arial Unicode MS"/>
                <a:cs typeface="Arial Unicode MS"/>
              </a:rPr>
              <a:t>好，現在請同學上來按「下雪」，我們驗證看看。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20 公尺、光達 </a:t>
            </a:r>
            <a:r>
              <a:rPr sz="1000" b="1" lang="zh-TW" dirty="0">
                <a:solidFill>
                  <a:srgbClr val="000000"/>
                </a:solidFill>
                <a:latin typeface="Arial Unicode MS"/>
                <a:ea typeface="Arial Unicode MS"/>
                <a:cs typeface="Arial Unicode MS"/>
              </a:rPr>
              <a:t>35 公尺</a:t>
            </a:r>
            <a:r>
              <a:rPr sz="1000" lang="zh-TW" dirty="0">
                <a:solidFill>
                  <a:srgbClr val="000000"/>
                </a:solidFill>
                <a:latin typeface="Arial Unicode MS"/>
                <a:ea typeface="Arial Unicode MS"/>
                <a:cs typeface="Arial Unicode MS"/>
              </a:rPr>
              <a:t>、雷達 </a:t>
            </a:r>
            <a:r>
              <a:rPr sz="1000" b="1" lang="zh-TW" dirty="0">
                <a:solidFill>
                  <a:srgbClr val="000000"/>
                </a:solidFill>
                <a:latin typeface="Arial Unicode MS"/>
                <a:ea typeface="Arial Unicode MS"/>
                <a:cs typeface="Arial Unicode MS"/>
              </a:rPr>
              <a:t>163 公尺</a:t>
            </a:r>
            <a:r>
              <a:rPr sz="1000" lang="zh-TW" dirty="0">
                <a:solidFill>
                  <a:srgbClr val="000000"/>
                </a:solidFill>
                <a:latin typeface="Arial Unicode MS"/>
                <a:ea typeface="Arial Unicode MS"/>
                <a:cs typeface="Arial Unicode MS"/>
              </a:rPr>
              <a:t>、熱像 90 公尺。）
</a:t>
            </a:r>
          </a:p>
          <a:p>
            <a:pPr algn="l">
              <a:lnSpc>
                <a:spcPct val="115000"/>
              </a:lnSpc>
              <a:spcAft>
                <a:spcPts val="500"/>
              </a:spcAft>
            </a:pPr>
            <a:r>
              <a:rPr sz="1000" lang="zh-TW" dirty="0">
                <a:solidFill>
                  <a:srgbClr val="000000"/>
                </a:solidFill>
                <a:latin typeface="Arial Unicode MS"/>
                <a:ea typeface="Arial Unicode MS"/>
                <a:cs typeface="Arial Unicode MS"/>
              </a:rPr>
              <a:t>先看雷達：兩百五十掉到一百六十三。回頭對照白板：大雨是兩百，濃霧是兩百二十五——</a:t>
            </a:r>
            <a:r>
              <a:rPr sz="1000" b="1" lang="zh-TW" dirty="0">
                <a:solidFill>
                  <a:srgbClr val="000000"/>
                </a:solidFill>
                <a:latin typeface="Arial Unicode MS"/>
                <a:ea typeface="Arial Unicode MS"/>
                <a:cs typeface="Arial Unicode MS"/>
              </a:rPr>
              <a:t>下雪是今天把雷達削得最兇的一種</a:t>
            </a:r>
            <a:r>
              <a:rPr sz="1000" lang="zh-TW" dirty="0">
                <a:solidFill>
                  <a:srgbClr val="000000"/>
                </a:solidFill>
                <a:latin typeface="Arial Unicode MS"/>
                <a:ea typeface="Arial Unicode MS"/>
                <a:cs typeface="Arial Unicode MS"/>
              </a:rPr>
              <a:t>。你們推論對了。
</a:t>
            </a:r>
          </a:p>
          <a:p>
            <a:pPr algn="l">
              <a:lnSpc>
                <a:spcPct val="115000"/>
              </a:lnSpc>
              <a:spcAft>
                <a:spcPts val="500"/>
              </a:spcAft>
            </a:pPr>
            <a:r>
              <a:rPr sz="1000" lang="zh-TW" dirty="0">
                <a:solidFill>
                  <a:srgbClr val="000000"/>
                </a:solidFill>
                <a:latin typeface="Arial Unicode MS"/>
                <a:ea typeface="Arial Unicode MS"/>
                <a:cs typeface="Arial Unicode MS"/>
              </a:rPr>
              <a:t>（這一刻值得停一下。前面兩節同學已經很習慣「雷達什麼都不怕」，這裡剛好打破它，而且是他們自己推出來的，不是我講的。）
</a:t>
            </a:r>
          </a:p>
          <a:p>
            <a:pPr algn="l">
              <a:lnSpc>
                <a:spcPct val="115000"/>
              </a:lnSpc>
              <a:spcAft>
                <a:spcPts val="500"/>
              </a:spcAft>
            </a:pPr>
            <a:r>
              <a:rPr sz="1000" lang="zh-TW" dirty="0">
                <a:solidFill>
                  <a:srgbClr val="000000"/>
                </a:solidFill>
                <a:latin typeface="Arial Unicode MS"/>
                <a:ea typeface="Arial Unicode MS"/>
                <a:cs typeface="Arial Unicode MS"/>
              </a:rPr>
              <a:t>再看光達：三十五公尺，比大雨的四十還慘。為什麼？兩個原因。第一，雪花又大又不規則，散射比雨嚴重。第二，飄在空中的雪花</a:t>
            </a:r>
            <a:r>
              <a:rPr sz="1000" b="1" lang="zh-TW" dirty="0">
                <a:solidFill>
                  <a:srgbClr val="000000"/>
                </a:solidFill>
                <a:latin typeface="Arial Unicode MS"/>
                <a:ea typeface="Arial Unicode MS"/>
                <a:cs typeface="Arial Unicode MS"/>
              </a:rPr>
              <a:t>本身就會反射雷射</a:t>
            </a:r>
            <a:r>
              <a:rPr sz="1000" lang="zh-TW" dirty="0">
                <a:solidFill>
                  <a:srgbClr val="000000"/>
                </a:solidFill>
                <a:latin typeface="Arial Unicode MS"/>
                <a:ea typeface="Arial Unicode MS"/>
                <a:cs typeface="Arial Unicode MS"/>
              </a:rPr>
              <a:t>——真車會把它當成障礙物，畫面上出現一堆根本不存在的點。看得到反而看到假的，比看不到更麻煩。
</a:t>
            </a:r>
          </a:p>
          <a:p>
            <a:pPr algn="l">
              <a:lnSpc>
                <a:spcPct val="115000"/>
              </a:lnSpc>
              <a:spcAft>
                <a:spcPts val="500"/>
              </a:spcAft>
            </a:pPr>
            <a:r>
              <a:rPr sz="1000" lang="zh-TW" dirty="0">
                <a:solidFill>
                  <a:srgbClr val="000000"/>
                </a:solidFill>
                <a:latin typeface="Arial Unicode MS"/>
                <a:ea typeface="Arial Unicode MS"/>
                <a:cs typeface="Arial Unicode MS"/>
              </a:rPr>
              <a:t>現在做第三題，這是今天最後一個操作。把行人拖到</a:t>
            </a:r>
            <a:r>
              <a:rPr sz="1000" b="1" lang="zh-TW" dirty="0">
                <a:solidFill>
                  <a:srgbClr val="000000"/>
                </a:solidFill>
                <a:latin typeface="Arial Unicode MS"/>
                <a:ea typeface="Arial Unicode MS"/>
                <a:cs typeface="Arial Unicode MS"/>
              </a:rPr>
              <a:t>一百八十公尺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（讓同學一邊拖，一邊切換環境。預期：晴天、大雨、濃霧，雷達都還讀得到一百八十點零；切到下雪，雷達整張卡變紅字。）
</a:t>
            </a:r>
          </a:p>
          <a:p>
            <a:pPr algn="l">
              <a:lnSpc>
                <a:spcPct val="115000"/>
              </a:lnSpc>
              <a:spcAft>
                <a:spcPts val="500"/>
              </a:spcAft>
            </a:pPr>
            <a:r>
              <a:rPr sz="1000" lang="zh-TW" dirty="0">
                <a:solidFill>
                  <a:srgbClr val="000000"/>
                </a:solidFill>
                <a:latin typeface="Arial Unicode MS"/>
                <a:ea typeface="Arial Unicode MS"/>
                <a:cs typeface="Arial Unicode MS"/>
              </a:rPr>
              <a:t>看到了嗎？</a:t>
            </a:r>
            <a:r>
              <a:rPr sz="1000" b="1" lang="zh-TW" dirty="0">
                <a:solidFill>
                  <a:srgbClr val="000000"/>
                </a:solidFill>
                <a:latin typeface="Arial Unicode MS"/>
                <a:ea typeface="Arial Unicode MS"/>
                <a:cs typeface="Arial Unicode MS"/>
              </a:rPr>
              <a:t>九種條件裡，這是唯一一種能讓雷達整個消失的。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最後補一件工具模擬不出來的事：雪會</a:t>
            </a:r>
            <a:r>
              <a:rPr sz="1000" b="1" lang="zh-TW" dirty="0">
                <a:solidFill>
                  <a:srgbClr val="000000"/>
                </a:solidFill>
                <a:latin typeface="Arial Unicode MS"/>
                <a:ea typeface="Arial Unicode MS"/>
                <a:cs typeface="Arial Unicode MS"/>
              </a:rPr>
              <a:t>積在感測器表面</a:t>
            </a:r>
            <a:r>
              <a:rPr sz="1000" lang="zh-TW" dirty="0">
                <a:solidFill>
                  <a:srgbClr val="000000"/>
                </a:solidFill>
                <a:latin typeface="Arial Unicode MS"/>
                <a:ea typeface="Arial Unicode MS"/>
                <a:cs typeface="Arial Unicode MS"/>
              </a:rPr>
              <a:t>。那個效果比較接近「光達罩髒污」那顆按鈕——你們可以兩個一起打開，看數字掉到什麼程度。所以下雪對自駕車是雙重打擊：天上飄的，加上鏡頭上黏的。
</a:t>
            </a:r>
          </a:p>
          <a:p>
            <a:pPr algn="l">
              <a:lnSpc>
                <a:spcPct val="115000"/>
              </a:lnSpc>
              <a:spcAft>
                <a:spcPts val="500"/>
              </a:spcAft>
            </a:pPr>
            <a:r>
              <a:rPr sz="1000" lang="zh-TW" dirty="0">
                <a:solidFill>
                  <a:srgbClr val="000000"/>
                </a:solidFill>
                <a:latin typeface="Arial Unicode MS"/>
                <a:ea typeface="Arial Unicode MS"/>
                <a:cs typeface="Arial Unicode MS"/>
              </a:rPr>
              <a:t>這就是為什麼北歐和日本北海道的自駕測試特別難，不是車做得不好，是</a:t>
            </a:r>
            <a:r>
              <a:rPr sz="1000" b="1" lang="zh-TW" dirty="0">
                <a:solidFill>
                  <a:srgbClr val="000000"/>
                </a:solidFill>
                <a:latin typeface="Arial Unicode MS"/>
                <a:ea typeface="Arial Unicode MS"/>
                <a:cs typeface="Arial Unicode MS"/>
              </a:rPr>
              <a:t>物理上就比較吃虧</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台灣和越南平地不下雪，所以你們可能覺得這一格用不到。但反過來想：如果你們以後做的車要賣到日本或歐洲，這一格就得整個重新驗證——而這正是下一頁 ODD 要處理的事。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我們把九種條件整理成一張表，我挑了七種放上來。
</a:t>
            </a:r>
          </a:p>
          <a:p>
            <a:pPr algn="l">
              <a:lnSpc>
                <a:spcPct val="115000"/>
              </a:lnSpc>
              <a:spcAft>
                <a:spcPts val="575"/>
              </a:spcAft>
            </a:pPr>
            <a:r>
              <a:rPr sz="1150" lang="zh-TW" dirty="0">
                <a:solidFill>
                  <a:srgbClr val="000000"/>
                </a:solidFill>
                <a:latin typeface="Arial Unicode MS"/>
                <a:ea typeface="Arial Unicode MS"/>
                <a:cs typeface="Arial Unicode MS"/>
              </a:rPr>
              <a:t>先看雷達那一欄，從上到下：兩百五十、兩百五十、兩百五十、兩百二十五、兩百、兩百二十五——幾乎沒動。直到</a:t>
            </a:r>
            <a:r>
              <a:rPr sz="1150" b="1" lang="zh-TW" dirty="0">
                <a:solidFill>
                  <a:srgbClr val="000000"/>
                </a:solidFill>
                <a:latin typeface="Arial Unicode MS"/>
                <a:ea typeface="Arial Unicode MS"/>
                <a:cs typeface="Arial Unicode MS"/>
              </a:rPr>
              <a:t>最後一列</a:t>
            </a:r>
            <a:r>
              <a:rPr sz="1150" lang="zh-TW" dirty="0">
                <a:solidFill>
                  <a:srgbClr val="000000"/>
                </a:solidFill>
                <a:latin typeface="Arial Unicode MS"/>
                <a:ea typeface="Arial Unicode MS"/>
                <a:cs typeface="Arial Unicode MS"/>
              </a:rPr>
              <a:t>：一百六十三。
</a:t>
            </a:r>
          </a:p>
          <a:p>
            <a:pPr algn="l">
              <a:lnSpc>
                <a:spcPct val="115000"/>
              </a:lnSpc>
              <a:spcAft>
                <a:spcPts val="575"/>
              </a:spcAft>
            </a:pPr>
            <a:r>
              <a:rPr sz="1150" lang="zh-TW" dirty="0">
                <a:solidFill>
                  <a:srgbClr val="000000"/>
                </a:solidFill>
                <a:latin typeface="Arial Unicode MS"/>
                <a:ea typeface="Arial Unicode MS"/>
                <a:cs typeface="Arial Unicode MS"/>
              </a:rPr>
              <a:t>只有下雪那一列，雷達才真的掉下來。這就是我們剛剛那張波長圖推論出來的結果，現在表上有數字了。
</a:t>
            </a:r>
          </a:p>
          <a:p>
            <a:pPr algn="l">
              <a:lnSpc>
                <a:spcPct val="115000"/>
              </a:lnSpc>
              <a:spcAft>
                <a:spcPts val="575"/>
              </a:spcAft>
            </a:pPr>
            <a:r>
              <a:rPr sz="1150" lang="zh-TW" dirty="0">
                <a:solidFill>
                  <a:srgbClr val="000000"/>
                </a:solidFill>
                <a:latin typeface="Arial Unicode MS"/>
                <a:ea typeface="Arial Unicode MS"/>
                <a:cs typeface="Arial Unicode MS"/>
              </a:rPr>
              <a:t>再看相機那一欄：八十、二十六、十八、四十、二十二、十六、二十。從八十掉到十六，五倍。
</a:t>
            </a:r>
          </a:p>
          <a:p>
            <a:pPr algn="l">
              <a:lnSpc>
                <a:spcPct val="115000"/>
              </a:lnSpc>
              <a:spcAft>
                <a:spcPts val="575"/>
              </a:spcAft>
            </a:pPr>
            <a:r>
              <a:rPr sz="1150" lang="zh-TW" dirty="0">
                <a:solidFill>
                  <a:srgbClr val="000000"/>
                </a:solidFill>
                <a:latin typeface="Arial Unicode MS"/>
                <a:ea typeface="Arial Unicode MS"/>
                <a:cs typeface="Arial Unicode MS"/>
              </a:rPr>
              <a:t>所以如果只看這張表，好像雷達最強，什麼都該裝雷達就好。但請大家把第一節那張「每一種的弱點，由哪一種來補」的表拿出來對照——雷達讀不出燈色、不知道類別、橫越的時候徑向速度歸零，而且這一欄用的是長距雷達，視野只有二十度，兩側根本照不到。
</a:t>
            </a:r>
          </a:p>
          <a:p>
            <a:pPr algn="l">
              <a:lnSpc>
                <a:spcPct val="115000"/>
              </a:lnSpc>
              <a:spcAft>
                <a:spcPts val="575"/>
              </a:spcAft>
            </a:pPr>
            <a:r>
              <a:rPr sz="1150" b="1" lang="zh-TW" dirty="0">
                <a:solidFill>
                  <a:srgbClr val="000000"/>
                </a:solidFill>
                <a:latin typeface="Arial Unicode MS"/>
                <a:ea typeface="Arial Unicode MS"/>
                <a:cs typeface="Arial Unicode MS"/>
              </a:rPr>
              <a:t>它很耐命，可是它給的東西很少。</a:t>
            </a:r>
            <a:r>
              <a:rPr sz="1150" lang="zh-TW" dirty="0">
                <a:solidFill>
                  <a:srgbClr val="000000"/>
                </a:solidFill>
                <a:latin typeface="Arial Unicode MS"/>
                <a:ea typeface="Arial Unicode MS"/>
                <a:cs typeface="Arial Unicode MS"/>
              </a:rPr>
              <a:t> 這兩句話要一起講，只講一句就會誤導。
</a:t>
            </a:r>
          </a:p>
          <a:p>
            <a:pPr algn="l">
              <a:lnSpc>
                <a:spcPct val="115000"/>
              </a:lnSpc>
              <a:spcAft>
                <a:spcPts val="575"/>
              </a:spcAft>
            </a:pPr>
            <a:r>
              <a:rPr sz="1150" lang="zh-TW" dirty="0">
                <a:solidFill>
                  <a:srgbClr val="000000"/>
                </a:solidFill>
                <a:latin typeface="Arial Unicode MS"/>
                <a:ea typeface="Arial Unicode MS"/>
                <a:cs typeface="Arial Unicode MS"/>
              </a:rPr>
              <a:t>最後那一行請大家一定要記住：這是課堂模型的設定值，不是任何產品的規格。真實世界裡 Ouster 的光達和別家的光達在雨裡的表現不一樣，我們不能拿這張表去說哪一家比較好。這張表只是讓大家看見「條件會改變資料」這件事。
</a:t>
            </a:r>
          </a:p>
          <a:p>
            <a:pPr algn="l">
              <a:lnSpc>
                <a:spcPct val="115000"/>
              </a:lnSpc>
              <a:spcAft>
                <a:spcPts val="575"/>
              </a:spcAft>
            </a:pPr>
            <a:r>
              <a:rPr sz="1150" lang="zh-TW" dirty="0">
                <a:solidFill>
                  <a:srgbClr val="000000"/>
                </a:solidFill>
                <a:latin typeface="Arial Unicode MS"/>
                <a:ea typeface="Arial Unicode MS"/>
                <a:cs typeface="Arial Unicode MS"/>
              </a:rPr>
              <a:t>下一輪是今天最後一個實驗，也是最微妙的一個。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先介紹這支影片。</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拍的人叫 Mark Rober，是前 NASA 工程師，現在是 YouTuber，他的頻道以「用誇張的實驗講科學」出名。這支影片全長約十八分半，前面九分鐘是他潛入迪士尼樂園、用光達掃描太空山那條全黑的軌道——那段很好看但跟今天無關，</a:t>
            </a:r>
            <a:r>
              <a:rPr sz="1000" b="1" lang="zh-TW" dirty="0">
                <a:solidFill>
                  <a:srgbClr val="000000"/>
                </a:solidFill>
                <a:latin typeface="Arial Unicode MS"/>
                <a:ea typeface="Arial Unicode MS"/>
                <a:cs typeface="Arial Unicode MS"/>
              </a:rPr>
              <a:t>測試從 9:06 開始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他做的事很簡單：拿一台只用相機的特斯拉，跟一台裝了光達的車，兩台都以</a:t>
            </a:r>
            <a:r>
              <a:rPr sz="1000" b="1" lang="zh-TW" dirty="0">
                <a:solidFill>
                  <a:srgbClr val="000000"/>
                </a:solidFill>
                <a:latin typeface="Arial Unicode MS"/>
                <a:ea typeface="Arial Unicode MS"/>
                <a:cs typeface="Arial Unicode MS"/>
              </a:rPr>
              <a:t>時速四十英里（約六十四公里）</a:t>
            </a:r>
            <a:r>
              <a:rPr sz="1000" lang="zh-TW" dirty="0">
                <a:solidFill>
                  <a:srgbClr val="000000"/>
                </a:solidFill>
                <a:latin typeface="Arial Unicode MS"/>
                <a:ea typeface="Arial Unicode MS"/>
                <a:cs typeface="Arial Unicode MS"/>
              </a:rPr>
              <a:t>衝向同一個小孩假人，看誰會停。一共六項測試。
</a:t>
            </a:r>
          </a:p>
          <a:p>
            <a:pPr algn="l">
              <a:lnSpc>
                <a:spcPct val="115000"/>
              </a:lnSpc>
              <a:spcAft>
                <a:spcPts val="500"/>
              </a:spcAft>
            </a:pPr>
            <a:r>
              <a:rPr sz="1000" lang="zh-TW" dirty="0">
                <a:solidFill>
                  <a:srgbClr val="000000"/>
                </a:solidFill>
                <a:latin typeface="Arial Unicode MS"/>
                <a:ea typeface="Arial Unicode MS"/>
                <a:cs typeface="Arial Unicode MS"/>
              </a:rPr>
              <a:t>（播放建議：時間只有三分鐘，建議播</a:t>
            </a:r>
            <a:r>
              <a:rPr sz="1000" b="1" lang="zh-TW" dirty="0">
                <a:solidFill>
                  <a:srgbClr val="000000"/>
                </a:solidFill>
                <a:latin typeface="Arial Unicode MS"/>
                <a:ea typeface="Arial Unicode MS"/>
                <a:cs typeface="Arial Unicode MS"/>
              </a:rPr>
              <a:t>霧</a:t>
            </a:r>
            <a:r>
              <a:rPr sz="1000" lang="zh-TW" dirty="0">
                <a:solidFill>
                  <a:srgbClr val="000000"/>
                </a:solidFill>
                <a:latin typeface="Arial Unicode MS"/>
                <a:ea typeface="Arial Unicode MS"/>
                <a:cs typeface="Arial Unicode MS"/>
              </a:rPr>
              <a:t>那一段 11:17–12:19、和</a:t>
            </a:r>
            <a:r>
              <a:rPr sz="1000" b="1" lang="zh-TW" dirty="0">
                <a:solidFill>
                  <a:srgbClr val="000000"/>
                </a:solidFill>
                <a:latin typeface="Arial Unicode MS"/>
                <a:ea typeface="Arial Unicode MS"/>
                <a:cs typeface="Arial Unicode MS"/>
              </a:rPr>
              <a:t>雨</a:t>
            </a:r>
            <a:r>
              <a:rPr sz="1000" lang="zh-TW" dirty="0">
                <a:solidFill>
                  <a:srgbClr val="000000"/>
                </a:solidFill>
                <a:latin typeface="Arial Unicode MS"/>
                <a:ea typeface="Arial Unicode MS"/>
                <a:cs typeface="Arial Unicode MS"/>
              </a:rPr>
              <a:t>那一段 12:21–13:20，總共約兩分鐘。其他四項我直接用嘴巴講結果。要完整看可以請同學課後自己看。需要網路；沒網路就跳過，用下面的結果講。）
</a:t>
            </a:r>
          </a:p>
          <a:p>
            <a:pPr algn="l">
              <a:lnSpc>
                <a:spcPct val="115000"/>
              </a:lnSpc>
              <a:spcAft>
                <a:spcPts val="500"/>
              </a:spcAft>
            </a:pPr>
            <a:r>
              <a:rPr sz="1000" b="1" lang="zh-TW" dirty="0">
                <a:solidFill>
                  <a:srgbClr val="000000"/>
                </a:solidFill>
                <a:latin typeface="Arial Unicode MS"/>
                <a:ea typeface="Arial Unicode MS"/>
                <a:cs typeface="Arial Unicode MS"/>
              </a:rPr>
              <a:t>六項測試和結果，我一項一項講。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第一項：小孩假人站在路中間。</a:t>
            </a:r>
            <a:r>
              <a:rPr sz="1000" lang="zh-TW" dirty="0">
                <a:solidFill>
                  <a:srgbClr val="000000"/>
                </a:solidFill>
                <a:latin typeface="Arial Unicode MS"/>
                <a:ea typeface="Arial Unicode MS"/>
                <a:cs typeface="Arial Unicode MS"/>
              </a:rPr>
              <a:t>光達車偵測到、及時煞停，過。特斯拉也偵測到了，但</a:t>
            </a:r>
            <a:r>
              <a:rPr sz="1000" b="1" lang="zh-TW" dirty="0">
                <a:solidFill>
                  <a:srgbClr val="000000"/>
                </a:solidFill>
                <a:latin typeface="Arial Unicode MS"/>
                <a:ea typeface="Arial Unicode MS"/>
                <a:cs typeface="Arial Unicode MS"/>
              </a:rPr>
              <a:t>來不及煞停，撞上去</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這裡有一個細節很重要，不要跳過：特斯拉第一次跑的時候用的是</a:t>
            </a:r>
            <a:r>
              <a:rPr sz="1000" b="1" lang="zh-TW" dirty="0">
                <a:solidFill>
                  <a:srgbClr val="000000"/>
                </a:solidFill>
                <a:latin typeface="Arial Unicode MS"/>
                <a:ea typeface="Arial Unicode MS"/>
                <a:cs typeface="Arial Unicode MS"/>
              </a:rPr>
              <a:t>自動緊急煞車</a:t>
            </a:r>
            <a:r>
              <a:rPr sz="1000" lang="zh-TW" dirty="0">
                <a:solidFill>
                  <a:srgbClr val="000000"/>
                </a:solidFill>
                <a:latin typeface="Arial Unicode MS"/>
                <a:ea typeface="Arial Unicode MS"/>
                <a:cs typeface="Arial Unicode MS"/>
              </a:rPr>
              <a:t>，那個系統假設駕駛人在專心開車，所以它要「百分之百確定」才會煞，以免亂煞車。後來他改用 </a:t>
            </a:r>
            <a:r>
              <a:rPr sz="1000" b="1" lang="zh-TW" dirty="0">
                <a:solidFill>
                  <a:srgbClr val="000000"/>
                </a:solidFill>
                <a:latin typeface="Arial Unicode MS"/>
                <a:ea typeface="Arial Unicode MS"/>
                <a:cs typeface="Arial Unicode MS"/>
              </a:rPr>
              <a:t>Autopilot</a:t>
            </a:r>
            <a:r>
              <a:rPr sz="1000" lang="zh-TW" dirty="0">
                <a:solidFill>
                  <a:srgbClr val="000000"/>
                </a:solidFill>
                <a:latin typeface="Arial Unicode MS"/>
                <a:ea typeface="Arial Unicode MS"/>
                <a:cs typeface="Arial Unicode MS"/>
              </a:rPr>
              <a:t> 重跑一次，這次及時停住了。所以拍片的人自己說「算你平手」，並且</a:t>
            </a:r>
            <a:r>
              <a:rPr sz="1000" b="1" lang="zh-TW" dirty="0">
                <a:solidFill>
                  <a:srgbClr val="000000"/>
                </a:solidFill>
                <a:latin typeface="Arial Unicode MS"/>
                <a:ea typeface="Arial Unicode MS"/>
                <a:cs typeface="Arial Unicode MS"/>
              </a:rPr>
              <a:t>接下來五項全部用 Autopilot</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（這一項的教訓其實不是感測器，是</a:t>
            </a:r>
            <a:r>
              <a:rPr sz="1000" b="1" lang="zh-TW" dirty="0">
                <a:solidFill>
                  <a:srgbClr val="000000"/>
                </a:solidFill>
                <a:latin typeface="Arial Unicode MS"/>
                <a:ea typeface="Arial Unicode MS"/>
                <a:cs typeface="Arial Unicode MS"/>
              </a:rPr>
              <a:t>同一台車、同一顆感測器，設定不一樣結果就不一樣</a:t>
            </a:r>
            <a:r>
              <a:rPr sz="1000" lang="zh-TW" dirty="0">
                <a:solidFill>
                  <a:srgbClr val="000000"/>
                </a:solidFill>
                <a:latin typeface="Arial Unicode MS"/>
                <a:ea typeface="Arial Unicode MS"/>
                <a:cs typeface="Arial Unicode MS"/>
              </a:rPr>
              <a:t>。期末專題如果要比較兩台車，設定沒對齊，比出來的東西沒有意義。）
</a:t>
            </a:r>
          </a:p>
          <a:p>
            <a:pPr algn="l">
              <a:lnSpc>
                <a:spcPct val="115000"/>
              </a:lnSpc>
              <a:spcAft>
                <a:spcPts val="500"/>
              </a:spcAft>
            </a:pPr>
            <a:r>
              <a:rPr sz="1000" b="1" lang="zh-TW" dirty="0">
                <a:solidFill>
                  <a:srgbClr val="000000"/>
                </a:solidFill>
                <a:latin typeface="Arial Unicode MS"/>
                <a:ea typeface="Arial Unicode MS"/>
                <a:cs typeface="Arial Unicode MS"/>
              </a:rPr>
              <a:t>第二項：小孩從停放的車子後面突然衝出來。</a:t>
            </a:r>
            <a:r>
              <a:rPr sz="1000" lang="zh-TW" dirty="0">
                <a:solidFill>
                  <a:srgbClr val="000000"/>
                </a:solidFill>
                <a:latin typeface="Arial Unicode MS"/>
                <a:ea typeface="Arial Unicode MS"/>
                <a:cs typeface="Arial Unicode MS"/>
              </a:rPr>
              <a:t>先滾出一顆球，然後假人彈出來，兩台車只有不到一秒可以反應。光達車停住。特斯拉也停住，而且還停得很從容。</a:t>
            </a:r>
            <a:r>
              <a:rPr sz="1000" b="1" lang="zh-TW" dirty="0">
                <a:solidFill>
                  <a:srgbClr val="000000"/>
                </a:solidFill>
                <a:latin typeface="Arial Unicode MS"/>
                <a:ea typeface="Arial Unicode MS"/>
                <a:cs typeface="Arial Unicode MS"/>
              </a:rPr>
              <a:t>兩台都過。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第三項：霧。</a:t>
            </a:r>
            <a:r>
              <a:rPr sz="1000" lang="zh-TW" dirty="0">
                <a:solidFill>
                  <a:srgbClr val="000000"/>
                </a:solidFill>
                <a:latin typeface="Arial Unicode MS"/>
                <a:ea typeface="Arial Unicode MS"/>
                <a:cs typeface="Arial Unicode MS"/>
              </a:rPr>
              <a:t>這一項請大家專心看。拍片的人說他自己的眼睛已經完全看不到霧裡有小孩了。光達車：急煞、停住，假人好端端站著。特斯拉：</a:t>
            </a:r>
            <a:r>
              <a:rPr sz="1000" b="1" lang="zh-TW" dirty="0">
                <a:solidFill>
                  <a:srgbClr val="000000"/>
                </a:solidFill>
                <a:latin typeface="Arial Unicode MS"/>
                <a:ea typeface="Arial Unicode MS"/>
                <a:cs typeface="Arial Unicode MS"/>
              </a:rPr>
              <a:t>完全沒有踩煞車，連一下都沒有。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停在這裡問全班：這個結果，跟我們剛剛那張波長圖對得起來嗎？預期答案：對得起來。霧滴一到五十微米，比相機的波長大，所以擋住相機；也比光達的波長大，所以光達也掉了——但光達本來有一百公尺，掉到四十五還夠用；相機本來八十，掉到十六就來不及了。）
</a:t>
            </a:r>
          </a:p>
          <a:p>
            <a:pPr algn="l">
              <a:lnSpc>
                <a:spcPct val="115000"/>
              </a:lnSpc>
              <a:spcAft>
                <a:spcPts val="500"/>
              </a:spcAft>
            </a:pPr>
            <a:r>
              <a:rPr sz="1000" b="1" lang="zh-TW" dirty="0">
                <a:solidFill>
                  <a:srgbClr val="000000"/>
                </a:solidFill>
                <a:latin typeface="Arial Unicode MS"/>
                <a:ea typeface="Arial Unicode MS"/>
                <a:cs typeface="Arial Unicode MS"/>
              </a:rPr>
              <a:t>第四項：大雨。</a:t>
            </a:r>
            <a:r>
              <a:rPr sz="1000" lang="zh-TW" dirty="0">
                <a:solidFill>
                  <a:srgbClr val="000000"/>
                </a:solidFill>
                <a:latin typeface="Arial Unicode MS"/>
                <a:ea typeface="Arial Unicode MS"/>
                <a:cs typeface="Arial Unicode MS"/>
              </a:rPr>
              <a:t>他們用灑水製造傾盆大雨。特斯拉的畫面上，水一灑下來，小孩就整個不見了——這正是我們第三輪按到「大雨」時看到的：相機的有效距離掉到二十二公尺。結果特斯拉</a:t>
            </a:r>
            <a:r>
              <a:rPr sz="1000" b="1" lang="zh-TW" dirty="0">
                <a:solidFill>
                  <a:srgbClr val="000000"/>
                </a:solidFill>
                <a:latin typeface="Arial Unicode MS"/>
                <a:ea typeface="Arial Unicode MS"/>
                <a:cs typeface="Arial Unicode MS"/>
              </a:rPr>
              <a:t>沒有停</a:t>
            </a:r>
            <a:r>
              <a:rPr sz="1000" lang="zh-TW" dirty="0">
                <a:solidFill>
                  <a:srgbClr val="000000"/>
                </a:solidFill>
                <a:latin typeface="Arial Unicode MS"/>
                <a:ea typeface="Arial Unicode MS"/>
                <a:cs typeface="Arial Unicode MS"/>
              </a:rPr>
              <a:t>。光達車一開始看起來也沒減速，拍片的人說「光達可能有麻煩」，但最後</a:t>
            </a:r>
            <a:r>
              <a:rPr sz="1000" b="1" lang="zh-TW" dirty="0">
                <a:solidFill>
                  <a:srgbClr val="000000"/>
                </a:solidFill>
                <a:latin typeface="Arial Unicode MS"/>
                <a:ea typeface="Arial Unicode MS"/>
                <a:cs typeface="Arial Unicode MS"/>
              </a:rPr>
              <a:t>還是停住了</a:t>
            </a:r>
            <a:r>
              <a:rPr sz="1000" lang="zh-TW" dirty="0">
                <a:solidFill>
                  <a:srgbClr val="000000"/>
                </a:solidFill>
                <a:latin typeface="Arial Unicode MS"/>
                <a:ea typeface="Arial Unicode MS"/>
                <a:cs typeface="Arial Unicode MS"/>
              </a:rPr>
              <a:t>，他自己說「光達讓我意外」。
</a:t>
            </a:r>
          </a:p>
          <a:p>
            <a:pPr algn="l">
              <a:lnSpc>
                <a:spcPct val="115000"/>
              </a:lnSpc>
              <a:spcAft>
                <a:spcPts val="500"/>
              </a:spcAft>
            </a:pPr>
            <a:r>
              <a:rPr sz="1000" b="1" lang="zh-TW" dirty="0">
                <a:solidFill>
                  <a:srgbClr val="000000"/>
                </a:solidFill>
                <a:latin typeface="Arial Unicode MS"/>
                <a:ea typeface="Arial Unicode MS"/>
                <a:cs typeface="Arial Unicode MS"/>
              </a:rPr>
              <a:t>第五項：強光。</a:t>
            </a:r>
            <a:r>
              <a:rPr sz="1000" lang="zh-TW" dirty="0">
                <a:solidFill>
                  <a:srgbClr val="000000"/>
                </a:solidFill>
                <a:latin typeface="Arial Unicode MS"/>
                <a:ea typeface="Arial Unicode MS"/>
                <a:cs typeface="Arial Unicode MS"/>
              </a:rPr>
              <a:t>六盞非常亮的燈直射過來，模擬日出日落或是對向卡車的遠光燈。光達車立刻看到。</a:t>
            </a:r>
            <a:r>
              <a:rPr sz="1000" b="1" lang="zh-TW" dirty="0">
                <a:solidFill>
                  <a:srgbClr val="000000"/>
                </a:solidFill>
                <a:latin typeface="Arial Unicode MS"/>
                <a:ea typeface="Arial Unicode MS"/>
                <a:cs typeface="Arial Unicode MS"/>
              </a:rPr>
              <a:t>特斯拉這一項也過了。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（這一項要特別講：</a:t>
            </a:r>
            <a:r>
              <a:rPr sz="1000" b="1" lang="zh-TW" dirty="0">
                <a:solidFill>
                  <a:srgbClr val="000000"/>
                </a:solidFill>
                <a:latin typeface="Arial Unicode MS"/>
                <a:ea typeface="Arial Unicode MS"/>
                <a:cs typeface="Arial Unicode MS"/>
              </a:rPr>
              <a:t>不是相機全輸。</a:t>
            </a:r>
            <a:r>
              <a:rPr sz="1000" lang="zh-TW" dirty="0">
                <a:solidFill>
                  <a:srgbClr val="000000"/>
                </a:solidFill>
                <a:latin typeface="Arial Unicode MS"/>
                <a:ea typeface="Arial Unicode MS"/>
                <a:cs typeface="Arial Unicode MS"/>
              </a:rPr>
              <a:t>相機在強光下還撐得住，這跟我們表上「逆光眩光：相機十八公尺」不太一樣——因為表上那個是四十公尺外的目標，影片裡的假人比較近。條件不同，結果就不同，這也是為什麼我一直要你們問「在什麼距離、什麼條件」。）
</a:t>
            </a:r>
          </a:p>
          <a:p>
            <a:pPr algn="l">
              <a:lnSpc>
                <a:spcPct val="115000"/>
              </a:lnSpc>
              <a:spcAft>
                <a:spcPts val="500"/>
              </a:spcAft>
            </a:pPr>
            <a:r>
              <a:rPr sz="1000" lang="zh-TW" dirty="0">
                <a:solidFill>
                  <a:srgbClr val="000000"/>
                </a:solidFill>
                <a:latin typeface="Arial Unicode MS"/>
                <a:ea typeface="Arial Unicode MS"/>
                <a:cs typeface="Arial Unicode MS"/>
              </a:rPr>
              <a:t>進到最後一項之前的比數：</a:t>
            </a:r>
            <a:r>
              <a:rPr sz="1000" b="1" lang="zh-TW" dirty="0">
                <a:solidFill>
                  <a:srgbClr val="000000"/>
                </a:solidFill>
                <a:latin typeface="Arial Unicode MS"/>
                <a:ea typeface="Arial Unicode MS"/>
                <a:cs typeface="Arial Unicode MS"/>
              </a:rPr>
              <a:t>光達車五項全過，特斯拉三比五。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第六項：畫成馬路的假牆。</a:t>
            </a:r>
            <a:r>
              <a:rPr sz="1000" lang="zh-TW" dirty="0">
                <a:solidFill>
                  <a:srgbClr val="000000"/>
                </a:solidFill>
                <a:latin typeface="Arial Unicode MS"/>
                <a:ea typeface="Arial Unicode MS"/>
                <a:cs typeface="Arial Unicode MS"/>
              </a:rPr>
              <a:t>這一項最有名。他們立了一面牆，上面畫著跟前方道路一模一樣的圖案，就像卡通《嗶嗶鳥》裡威利狼撞的那種假隧道。人眼看得出破綻，光達更不用說——</a:t>
            </a:r>
            <a:r>
              <a:rPr sz="1000" b="1" lang="zh-TW" dirty="0">
                <a:solidFill>
                  <a:srgbClr val="000000"/>
                </a:solidFill>
                <a:latin typeface="Arial Unicode MS"/>
                <a:ea typeface="Arial Unicode MS"/>
                <a:cs typeface="Arial Unicode MS"/>
              </a:rPr>
              <a:t>對光達來說那就是一面牆</a:t>
            </a:r>
            <a:r>
              <a:rPr sz="1000" lang="zh-TW" dirty="0">
                <a:solidFill>
                  <a:srgbClr val="000000"/>
                </a:solidFill>
                <a:latin typeface="Arial Unicode MS"/>
                <a:ea typeface="Arial Unicode MS"/>
                <a:cs typeface="Arial Unicode MS"/>
              </a:rPr>
              <a:t>，因為它量的是距離，不是圖案。結果光達車輕鬆停下。
</a:t>
            </a:r>
          </a:p>
          <a:p>
            <a:pPr algn="l">
              <a:lnSpc>
                <a:spcPct val="115000"/>
              </a:lnSpc>
              <a:spcAft>
                <a:spcPts val="500"/>
              </a:spcAft>
            </a:pPr>
            <a:r>
              <a:rPr sz="1000" lang="zh-TW" dirty="0">
                <a:solidFill>
                  <a:srgbClr val="000000"/>
                </a:solidFill>
                <a:latin typeface="Arial Unicode MS"/>
                <a:ea typeface="Arial Unicode MS"/>
                <a:cs typeface="Arial Unicode MS"/>
              </a:rPr>
              <a:t>特斯拉呢？</a:t>
            </a:r>
            <a:r>
              <a:rPr sz="1000" b="1" lang="zh-TW" dirty="0">
                <a:solidFill>
                  <a:srgbClr val="000000"/>
                </a:solidFill>
                <a:latin typeface="Arial Unicode MS"/>
                <a:ea typeface="Arial Unicode MS"/>
                <a:cs typeface="Arial Unicode MS"/>
              </a:rPr>
              <a:t>連一下煞車都沒踩，直接撞穿。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最終比數：光達車六比六，特斯拉三比六。</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接下來這件事更重要，請大家一定要聽。</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這支影片在網路上引起很大的爭議，有很多人拍了反駁影片。爭議的點包括：用的是 Autopilot 而不是最新的 FSD、每一項只跑一次、人造的霧和雨跟真實天氣不一樣。
</a:t>
            </a:r>
          </a:p>
          <a:p>
            <a:pPr algn="l">
              <a:lnSpc>
                <a:spcPct val="115000"/>
              </a:lnSpc>
              <a:spcAft>
                <a:spcPts val="500"/>
              </a:spcAft>
            </a:pPr>
            <a:r>
              <a:rPr sz="1000" lang="zh-TW" dirty="0">
                <a:solidFill>
                  <a:srgbClr val="000000"/>
                </a:solidFill>
                <a:latin typeface="Arial Unicode MS"/>
                <a:ea typeface="Arial Unicode MS"/>
                <a:cs typeface="Arial Unicode MS"/>
              </a:rPr>
              <a:t>我不是要告訴你們誰對誰錯。我要你們看到的是：</a:t>
            </a:r>
            <a:r>
              <a:rPr sz="1000" b="1" lang="zh-TW" dirty="0">
                <a:solidFill>
                  <a:srgbClr val="000000"/>
                </a:solidFill>
                <a:latin typeface="Arial Unicode MS"/>
                <a:ea typeface="Arial Unicode MS"/>
                <a:cs typeface="Arial Unicode MS"/>
              </a:rPr>
              <a:t>每一項只跑一次。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這就是我們從第一節講到現在的同一句話——少量的結果不能拿來宣告誰比較安全。要下那種結論，需要幾百萬公里、幾千種條件，而且要有別人能重複驗證。
</a:t>
            </a:r>
          </a:p>
          <a:p>
            <a:pPr algn="l">
              <a:lnSpc>
                <a:spcPct val="115000"/>
              </a:lnSpc>
              <a:spcAft>
                <a:spcPts val="500"/>
              </a:spcAft>
            </a:pPr>
            <a:r>
              <a:rPr sz="1000" lang="zh-TW" dirty="0">
                <a:solidFill>
                  <a:srgbClr val="000000"/>
                </a:solidFill>
                <a:latin typeface="Arial Unicode MS"/>
                <a:ea typeface="Arial Unicode MS"/>
                <a:cs typeface="Arial Unicode MS"/>
              </a:rPr>
              <a:t>所以這支影片能當什麼？它是很好的</a:t>
            </a:r>
            <a:r>
              <a:rPr sz="1000" b="1" lang="zh-TW" dirty="0">
                <a:solidFill>
                  <a:srgbClr val="000000"/>
                </a:solidFill>
                <a:latin typeface="Arial Unicode MS"/>
                <a:ea typeface="Arial Unicode MS"/>
                <a:cs typeface="Arial Unicode MS"/>
              </a:rPr>
              <a:t>現象展示</a:t>
            </a:r>
            <a:r>
              <a:rPr sz="1000" lang="zh-TW" dirty="0">
                <a:solidFill>
                  <a:srgbClr val="000000"/>
                </a:solidFill>
                <a:latin typeface="Arial Unicode MS"/>
                <a:ea typeface="Arial Unicode MS"/>
                <a:cs typeface="Arial Unicode MS"/>
              </a:rPr>
              <a:t>，讓你親眼看到霧和雨真的會造成差別，也讓你看到相機在「圖案」這件事上的根本限制。它</a:t>
            </a:r>
            <a:r>
              <a:rPr sz="1000" b="1" lang="zh-TW" dirty="0">
                <a:solidFill>
                  <a:srgbClr val="000000"/>
                </a:solidFill>
                <a:latin typeface="Arial Unicode MS"/>
                <a:ea typeface="Arial Unicode MS"/>
                <a:cs typeface="Arial Unicode MS"/>
              </a:rPr>
              <a:t>不能</a:t>
            </a:r>
            <a:r>
              <a:rPr sz="1000" lang="zh-TW" dirty="0">
                <a:solidFill>
                  <a:srgbClr val="000000"/>
                </a:solidFill>
                <a:latin typeface="Arial Unicode MS"/>
                <a:ea typeface="Arial Unicode MS"/>
                <a:cs typeface="Arial Unicode MS"/>
              </a:rPr>
              <a:t>當成證據，證明哪一家的技術比較好。
</a:t>
            </a:r>
          </a:p>
          <a:p>
            <a:pPr algn="l">
              <a:lnSpc>
                <a:spcPct val="115000"/>
              </a:lnSpc>
              <a:spcAft>
                <a:spcPts val="500"/>
              </a:spcAft>
            </a:pPr>
            <a:r>
              <a:rPr sz="1000" lang="zh-TW" dirty="0">
                <a:solidFill>
                  <a:srgbClr val="000000"/>
                </a:solidFill>
                <a:latin typeface="Arial Unicode MS"/>
                <a:ea typeface="Arial Unicode MS"/>
                <a:cs typeface="Arial Unicode MS"/>
              </a:rPr>
              <a:t>這個分辨能力，比記住任何一個數字都重要。期末專題如果引用網路上的測試影片，請記得把這一句寫進去。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第三位同學。這一輪要看的東西比較細，但我覺得是今天最重要的。
</a:t>
            </a:r>
          </a:p>
          <a:p>
            <a:pPr algn="l">
              <a:lnSpc>
                <a:spcPct val="115000"/>
              </a:lnSpc>
              <a:spcAft>
                <a:spcPts val="575"/>
              </a:spcAft>
            </a:pPr>
            <a:r>
              <a:rPr sz="1150" lang="zh-TW" dirty="0">
                <a:solidFill>
                  <a:srgbClr val="000000"/>
                </a:solidFill>
                <a:latin typeface="Arial Unicode MS"/>
                <a:ea typeface="Arial Unicode MS"/>
                <a:cs typeface="Arial Unicode MS"/>
              </a:rPr>
              <a:t>先回到晴天，把行人拖到二十公尺。相機讀得到，誤差大概正負零點一五，類別「行人」。
</a:t>
            </a:r>
          </a:p>
          <a:p>
            <a:pPr algn="l">
              <a:lnSpc>
                <a:spcPct val="115000"/>
              </a:lnSpc>
              <a:spcAft>
                <a:spcPts val="575"/>
              </a:spcAft>
            </a:pPr>
            <a:r>
              <a:rPr sz="1150" lang="zh-TW" dirty="0">
                <a:solidFill>
                  <a:srgbClr val="000000"/>
                </a:solidFill>
                <a:latin typeface="Arial Unicode MS"/>
                <a:ea typeface="Arial Unicode MS"/>
                <a:cs typeface="Arial Unicode MS"/>
              </a:rPr>
              <a:t>現在打開「鏡頭水滴」。
</a:t>
            </a:r>
          </a:p>
          <a:p>
            <a:pPr algn="l">
              <a:lnSpc>
                <a:spcPct val="115000"/>
              </a:lnSpc>
              <a:spcAft>
                <a:spcPts val="575"/>
              </a:spcAft>
            </a:pPr>
            <a:r>
              <a:rPr sz="1150" lang="zh-TW" dirty="0">
                <a:solidFill>
                  <a:srgbClr val="000000"/>
                </a:solidFill>
                <a:latin typeface="Arial Unicode MS"/>
                <a:ea typeface="Arial Unicode MS"/>
                <a:cs typeface="Arial Unicode MS"/>
              </a:rPr>
              <a:t>（預期結果：有效距離乘 0.7；相機的距離還在，但類別立刻變成「類別未知」。）
</a:t>
            </a:r>
          </a:p>
          <a:p>
            <a:pPr algn="l">
              <a:lnSpc>
                <a:spcPct val="115000"/>
              </a:lnSpc>
              <a:spcAft>
                <a:spcPts val="575"/>
              </a:spcAft>
            </a:pPr>
            <a:r>
              <a:rPr sz="1150" lang="zh-TW" dirty="0">
                <a:solidFill>
                  <a:srgbClr val="000000"/>
                </a:solidFill>
                <a:latin typeface="Arial Unicode MS"/>
                <a:ea typeface="Arial Unicode MS"/>
                <a:cs typeface="Arial Unicode MS"/>
              </a:rPr>
              <a:t>大家看清楚這一格發生什麼事。距離還在——相機還是說二十公尺左右。可是上面那一行，從「行人」變成「類別未知」。
</a:t>
            </a:r>
          </a:p>
          <a:p>
            <a:pPr algn="l">
              <a:lnSpc>
                <a:spcPct val="115000"/>
              </a:lnSpc>
              <a:spcAft>
                <a:spcPts val="575"/>
              </a:spcAft>
            </a:pPr>
            <a:r>
              <a:rPr sz="1150" lang="zh-TW" dirty="0">
                <a:solidFill>
                  <a:srgbClr val="000000"/>
                </a:solidFill>
                <a:latin typeface="Arial Unicode MS"/>
                <a:ea typeface="Arial Unicode MS"/>
                <a:cs typeface="Arial Unicode MS"/>
              </a:rPr>
              <a:t>這就是水滴最麻煩的地方：它不是讓相機整個瞎掉，是讓它</a:t>
            </a:r>
            <a:r>
              <a:rPr sz="1150" b="1" lang="zh-TW" dirty="0">
                <a:solidFill>
                  <a:srgbClr val="000000"/>
                </a:solidFill>
                <a:latin typeface="Arial Unicode MS"/>
                <a:ea typeface="Arial Unicode MS"/>
                <a:cs typeface="Arial Unicode MS"/>
              </a:rPr>
              <a:t>只剩一半的功能</a:t>
            </a:r>
            <a:r>
              <a:rPr sz="1150" lang="zh-TW" dirty="0">
                <a:solidFill>
                  <a:srgbClr val="000000"/>
                </a:solidFill>
                <a:latin typeface="Arial Unicode MS"/>
                <a:ea typeface="Arial Unicode MS"/>
                <a:cs typeface="Arial Unicode MS"/>
              </a:rPr>
              <a:t>。它還看得到那裡有個東西，可是認不出來那是什麼。
</a:t>
            </a:r>
          </a:p>
          <a:p>
            <a:pPr algn="l">
              <a:lnSpc>
                <a:spcPct val="115000"/>
              </a:lnSpc>
              <a:spcAft>
                <a:spcPts val="575"/>
              </a:spcAft>
            </a:pPr>
            <a:r>
              <a:rPr sz="1150" lang="zh-TW" dirty="0">
                <a:solidFill>
                  <a:srgbClr val="000000"/>
                </a:solidFill>
                <a:latin typeface="Arial Unicode MS"/>
                <a:ea typeface="Arial Unicode MS"/>
                <a:cs typeface="Arial Unicode MS"/>
              </a:rPr>
              <a:t>現在請全班看其他五張卡。光達說：二十公尺，未分類障礙物。雷達說：二十公尺，未分類障礙物。熱像還認得出人體熱訊號，但如果今天目標不是人，是一個路障，熱像也沒轍。
</a:t>
            </a:r>
          </a:p>
          <a:p>
            <a:pPr algn="l">
              <a:lnSpc>
                <a:spcPct val="115000"/>
              </a:lnSpc>
              <a:spcAft>
                <a:spcPts val="575"/>
              </a:spcAft>
            </a:pPr>
            <a:r>
              <a:rPr sz="1150" lang="zh-TW" dirty="0">
                <a:solidFill>
                  <a:srgbClr val="000000"/>
                </a:solidFill>
                <a:latin typeface="Arial Unicode MS"/>
                <a:ea typeface="Arial Unicode MS"/>
                <a:cs typeface="Arial Unicode MS"/>
              </a:rPr>
              <a:t>所以這裡有一個更麻煩的事：</a:t>
            </a:r>
            <a:r>
              <a:rPr sz="1150" b="1" lang="zh-TW" dirty="0">
                <a:solidFill>
                  <a:srgbClr val="000000"/>
                </a:solidFill>
                <a:latin typeface="Arial Unicode MS"/>
                <a:ea typeface="Arial Unicode MS"/>
                <a:cs typeface="Arial Unicode MS"/>
              </a:rPr>
              <a:t>其他感測器補得上距離，補不上類別</a:t>
            </a:r>
            <a:r>
              <a:rPr sz="1150" lang="zh-TW" dirty="0">
                <a:solidFill>
                  <a:srgbClr val="000000"/>
                </a:solidFill>
                <a:latin typeface="Arial Unicode MS"/>
                <a:ea typeface="Arial Unicode MS"/>
                <a:cs typeface="Arial Unicode MS"/>
              </a:rPr>
              <a:t>。這台車知道前面二十公尺有東西，卻不知道那是一個人。
</a:t>
            </a:r>
          </a:p>
          <a:p>
            <a:pPr algn="l">
              <a:lnSpc>
                <a:spcPct val="115000"/>
              </a:lnSpc>
              <a:spcAft>
                <a:spcPts val="575"/>
              </a:spcAft>
            </a:pPr>
            <a:r>
              <a:rPr sz="1150" lang="zh-TW" dirty="0">
                <a:solidFill>
                  <a:srgbClr val="000000"/>
                </a:solidFill>
                <a:latin typeface="Arial Unicode MS"/>
                <a:ea typeface="Arial Unicode MS"/>
                <a:cs typeface="Arial Unicode MS"/>
              </a:rPr>
              <a:t>這就回到第一節那句話——不同的感測器給的是不同種類的資料，缺了哪一種，就是缺了那一種。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這一頁要把兩件事分清楚，因為它們的解法完全不同。
</a:t>
            </a:r>
          </a:p>
          <a:p>
            <a:pPr algn="l">
              <a:lnSpc>
                <a:spcPct val="115000"/>
              </a:lnSpc>
              <a:spcAft>
                <a:spcPts val="550"/>
              </a:spcAft>
            </a:pPr>
            <a:r>
              <a:rPr sz="1100" lang="zh-TW" dirty="0">
                <a:solidFill>
                  <a:srgbClr val="000000"/>
                </a:solidFill>
                <a:latin typeface="Arial Unicode MS"/>
                <a:ea typeface="Arial Unicode MS"/>
                <a:cs typeface="Arial Unicode MS"/>
              </a:rPr>
              <a:t>下不下雨，我們決定不了。那是老天爺的事，只能寫進運行條件。
</a:t>
            </a:r>
          </a:p>
          <a:p>
            <a:pPr algn="l">
              <a:lnSpc>
                <a:spcPct val="115000"/>
              </a:lnSpc>
              <a:spcAft>
                <a:spcPts val="550"/>
              </a:spcAft>
            </a:pPr>
            <a:r>
              <a:rPr sz="1100" lang="zh-TW" dirty="0">
                <a:solidFill>
                  <a:srgbClr val="000000"/>
                </a:solidFill>
                <a:latin typeface="Arial Unicode MS"/>
                <a:ea typeface="Arial Unicode MS"/>
                <a:cs typeface="Arial Unicode MS"/>
              </a:rPr>
              <a:t>但是</a:t>
            </a:r>
            <a:r>
              <a:rPr sz="1100" b="1" lang="zh-TW" dirty="0">
                <a:solidFill>
                  <a:srgbClr val="000000"/>
                </a:solidFill>
                <a:latin typeface="Arial Unicode MS"/>
                <a:ea typeface="Arial Unicode MS"/>
                <a:cs typeface="Arial Unicode MS"/>
              </a:rPr>
              <a:t>鏡頭上有沒有水滴</a:t>
            </a:r>
            <a:r>
              <a:rPr sz="1100" lang="zh-TW" dirty="0">
                <a:solidFill>
                  <a:srgbClr val="000000"/>
                </a:solidFill>
                <a:latin typeface="Arial Unicode MS"/>
                <a:ea typeface="Arial Unicode MS"/>
                <a:cs typeface="Arial Unicode MS"/>
              </a:rPr>
              <a:t>，這是車子自己的事——取決於有沒有雨刷、清洗噴頭做得好不好、多久洗一次。</a:t>
            </a:r>
            <a:r>
              <a:rPr sz="1100" b="1" lang="zh-TW" dirty="0">
                <a:solidFill>
                  <a:srgbClr val="000000"/>
                </a:solidFill>
                <a:latin typeface="Arial Unicode MS"/>
                <a:ea typeface="Arial Unicode MS"/>
                <a:cs typeface="Arial Unicode MS"/>
              </a:rPr>
              <a:t>光達的罩子髒了</a:t>
            </a:r>
            <a:r>
              <a:rPr sz="1100" lang="zh-TW" dirty="0">
                <a:solidFill>
                  <a:srgbClr val="000000"/>
                </a:solidFill>
                <a:latin typeface="Arial Unicode MS"/>
                <a:ea typeface="Arial Unicode MS"/>
                <a:cs typeface="Arial Unicode MS"/>
              </a:rPr>
              <a:t>也一樣，那是保養的問題。
</a:t>
            </a:r>
          </a:p>
          <a:p>
            <a:pPr algn="l">
              <a:lnSpc>
                <a:spcPct val="115000"/>
              </a:lnSpc>
              <a:spcAft>
                <a:spcPts val="550"/>
              </a:spcAft>
            </a:pPr>
            <a:r>
              <a:rPr sz="1100" lang="zh-TW" dirty="0">
                <a:solidFill>
                  <a:srgbClr val="000000"/>
                </a:solidFill>
                <a:latin typeface="Arial Unicode MS"/>
                <a:ea typeface="Arial Unicode MS"/>
                <a:cs typeface="Arial Unicode MS"/>
              </a:rPr>
              <a:t>這就是為什麼工具裡把它們分成兩區。上面那區叫「外部環境」，晴天、夜間、濃霧、大雨——按下去會同時打到好幾種感測器。下面那區叫「單一感測器故障」，只有兩顆：鏡頭水滴、光達罩髒污——一顆只打一種。
</a:t>
            </a:r>
          </a:p>
          <a:p>
            <a:pPr algn="l">
              <a:lnSpc>
                <a:spcPct val="115000"/>
              </a:lnSpc>
              <a:spcAft>
                <a:spcPts val="550"/>
              </a:spcAft>
            </a:pPr>
            <a:r>
              <a:rPr sz="1100" lang="zh-TW" dirty="0">
                <a:solidFill>
                  <a:srgbClr val="000000"/>
                </a:solidFill>
                <a:latin typeface="Arial Unicode MS"/>
                <a:ea typeface="Arial Unicode MS"/>
                <a:cs typeface="Arial Unicode MS"/>
              </a:rPr>
              <a:t>所以按水滴的時候，請大家</a:t>
            </a:r>
            <a:r>
              <a:rPr sz="1100" b="1" lang="zh-TW" dirty="0">
                <a:solidFill>
                  <a:srgbClr val="000000"/>
                </a:solidFill>
                <a:latin typeface="Arial Unicode MS"/>
                <a:ea typeface="Arial Unicode MS"/>
                <a:cs typeface="Arial Unicode MS"/>
              </a:rPr>
              <a:t>只看相機那張卡</a:t>
            </a:r>
            <a:r>
              <a:rPr sz="1100" lang="zh-TW" dirty="0">
                <a:solidFill>
                  <a:srgbClr val="000000"/>
                </a:solidFill>
                <a:latin typeface="Arial Unicode MS"/>
                <a:ea typeface="Arial Unicode MS"/>
                <a:cs typeface="Arial Unicode MS"/>
              </a:rPr>
              <a:t>，其他五張本來就不會動，那不是程式壞掉，那正是重點：</a:t>
            </a:r>
            <a:r>
              <a:rPr sz="1100" b="1" lang="zh-TW" dirty="0">
                <a:solidFill>
                  <a:srgbClr val="000000"/>
                </a:solidFill>
                <a:latin typeface="Arial Unicode MS"/>
                <a:ea typeface="Arial Unicode MS"/>
                <a:cs typeface="Arial Unicode MS"/>
              </a:rPr>
              <a:t>這是車子自己的問題，不是天氣的問題</a:t>
            </a:r>
            <a:r>
              <a:rPr sz="1100" lang="zh-TW" dirty="0">
                <a:solidFill>
                  <a:srgbClr val="000000"/>
                </a:solidFill>
                <a:latin typeface="Arial Unicode MS"/>
                <a:ea typeface="Arial Unicode MS"/>
                <a:cs typeface="Arial Unicode MS"/>
              </a:rPr>
              <a:t>。選了大雨也不會自動幫你加水滴，兩個要分別按，這樣才能一次只改一樣。
</a:t>
            </a:r>
          </a:p>
          <a:p>
            <a:pPr algn="l">
              <a:lnSpc>
                <a:spcPct val="115000"/>
              </a:lnSpc>
              <a:spcAft>
                <a:spcPts val="550"/>
              </a:spcAft>
            </a:pPr>
            <a:r>
              <a:rPr sz="1100" lang="zh-TW" dirty="0">
                <a:solidFill>
                  <a:srgbClr val="000000"/>
                </a:solidFill>
                <a:latin typeface="Arial Unicode MS"/>
                <a:ea typeface="Arial Unicode MS"/>
                <a:cs typeface="Arial Unicode MS"/>
              </a:rPr>
              <a:t>光達罩髒污的效果是乘法：有效範圍乘零點六五，點數乘零點三五。如果又碰上下雨，兩個效果疊在一起，那就非常慘了。大家可以自己按按看。
</a:t>
            </a:r>
          </a:p>
          <a:p>
            <a:pPr algn="l">
              <a:lnSpc>
                <a:spcPct val="115000"/>
              </a:lnSpc>
              <a:spcAft>
                <a:spcPts val="550"/>
              </a:spcAft>
            </a:pPr>
            <a:r>
              <a:rPr sz="1100" lang="zh-TW" dirty="0">
                <a:solidFill>
                  <a:srgbClr val="000000"/>
                </a:solidFill>
                <a:latin typeface="Arial Unicode MS"/>
                <a:ea typeface="Arial Unicode MS"/>
                <a:cs typeface="Arial Unicode MS"/>
              </a:rPr>
              <a:t>工程上的意思是：有一部分的「感測器失效」其實是</a:t>
            </a:r>
            <a:r>
              <a:rPr sz="1100" b="1" lang="zh-TW" dirty="0">
                <a:solidFill>
                  <a:srgbClr val="000000"/>
                </a:solidFill>
                <a:latin typeface="Arial Unicode MS"/>
                <a:ea typeface="Arial Unicode MS"/>
                <a:cs typeface="Arial Unicode MS"/>
              </a:rPr>
              <a:t>維護問題</a:t>
            </a:r>
            <a:r>
              <a:rPr sz="1100" lang="zh-TW" dirty="0">
                <a:solidFill>
                  <a:srgbClr val="000000"/>
                </a:solidFill>
                <a:latin typeface="Arial Unicode MS"/>
                <a:ea typeface="Arial Unicode MS"/>
                <a:cs typeface="Arial Unicode MS"/>
              </a:rPr>
              <a:t>，不是技術極限。一台每天洗車的自駕計程車，和一台放在戶外積灰三個月的車，能力差很多。
</a:t>
            </a:r>
          </a:p>
          <a:p>
            <a:pPr algn="l">
              <a:lnSpc>
                <a:spcPct val="115000"/>
              </a:lnSpc>
              <a:spcAft>
                <a:spcPts val="550"/>
              </a:spcAft>
            </a:pPr>
            <a:r>
              <a:rPr sz="1100" lang="zh-TW" dirty="0">
                <a:solidFill>
                  <a:srgbClr val="000000"/>
                </a:solidFill>
                <a:latin typeface="Arial Unicode MS"/>
                <a:ea typeface="Arial Unicode MS"/>
                <a:cs typeface="Arial Unicode MS"/>
              </a:rPr>
              <a:t>這件事期末專題可以寫——你的 ODD 裡面要不要寫「需要每日清潔感測器」？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這是今天三節課的總結論，我希望大家帶走這一句。
</a:t>
            </a:r>
          </a:p>
          <a:p>
            <a:pPr algn="l">
              <a:lnSpc>
                <a:spcPct val="115000"/>
              </a:lnSpc>
              <a:spcAft>
                <a:spcPts val="600"/>
              </a:spcAft>
            </a:pPr>
            <a:r>
              <a:rPr sz="1200" lang="zh-TW" dirty="0">
                <a:solidFill>
                  <a:srgbClr val="000000"/>
                </a:solidFill>
                <a:latin typeface="Arial Unicode MS"/>
                <a:ea typeface="Arial Unicode MS"/>
                <a:cs typeface="Arial Unicode MS"/>
              </a:rPr>
              <a:t>大雨的時候，雷達一切正常。距離、接近速度，穩穩地送進來。如果你只看一個「感測器健康狀態」的儀表板，上面會顯示綠燈。
</a:t>
            </a:r>
          </a:p>
          <a:p>
            <a:pPr algn="l">
              <a:lnSpc>
                <a:spcPct val="115000"/>
              </a:lnSpc>
              <a:spcAft>
                <a:spcPts val="600"/>
              </a:spcAft>
            </a:pPr>
            <a:r>
              <a:rPr sz="1200" lang="zh-TW" dirty="0">
                <a:solidFill>
                  <a:srgbClr val="000000"/>
                </a:solidFill>
                <a:latin typeface="Arial Unicode MS"/>
                <a:ea typeface="Arial Unicode MS"/>
                <a:cs typeface="Arial Unicode MS"/>
              </a:rPr>
              <a:t>可是如果這台車現在要做的事是</a:t>
            </a:r>
            <a:r>
              <a:rPr sz="1200" b="1" lang="zh-TW" dirty="0">
                <a:solidFill>
                  <a:srgbClr val="000000"/>
                </a:solidFill>
                <a:latin typeface="Arial Unicode MS"/>
                <a:ea typeface="Arial Unicode MS"/>
                <a:cs typeface="Arial Unicode MS"/>
              </a:rPr>
              <a:t>通過一個路口</a:t>
            </a:r>
            <a:r>
              <a:rPr sz="1200" lang="zh-TW" dirty="0">
                <a:solidFill>
                  <a:srgbClr val="000000"/>
                </a:solidFill>
                <a:latin typeface="Arial Unicode MS"/>
                <a:ea typeface="Arial Unicode MS"/>
                <a:cs typeface="Arial Unicode MS"/>
              </a:rPr>
              <a:t>呢？它需要知道燈是紅的還是綠的。雷達給不出來。相機在大雨裡只剩二十二公尺，可能還沒看清楚。
</a:t>
            </a:r>
          </a:p>
          <a:p>
            <a:pPr algn="l">
              <a:lnSpc>
                <a:spcPct val="115000"/>
              </a:lnSpc>
              <a:spcAft>
                <a:spcPts val="600"/>
              </a:spcAft>
            </a:pPr>
            <a:r>
              <a:rPr sz="1200" lang="zh-TW" dirty="0">
                <a:solidFill>
                  <a:srgbClr val="000000"/>
                </a:solidFill>
                <a:latin typeface="Arial Unicode MS"/>
                <a:ea typeface="Arial Unicode MS"/>
                <a:cs typeface="Arial Unicode MS"/>
              </a:rPr>
              <a:t>所以儀表板全綠，車子還是過不了那個路口。
</a:t>
            </a:r>
          </a:p>
          <a:p>
            <a:pPr algn="l">
              <a:lnSpc>
                <a:spcPct val="115000"/>
              </a:lnSpc>
              <a:spcAft>
                <a:spcPts val="600"/>
              </a:spcAft>
            </a:pPr>
            <a:r>
              <a:rPr sz="1200" lang="zh-TW" dirty="0">
                <a:solidFill>
                  <a:srgbClr val="000000"/>
                </a:solidFill>
                <a:latin typeface="Arial Unicode MS"/>
                <a:ea typeface="Arial Unicode MS"/>
                <a:cs typeface="Arial Unicode MS"/>
              </a:rPr>
              <a:t>這就是我要大家記住的：</a:t>
            </a:r>
            <a:r>
              <a:rPr sz="1200" b="1" lang="zh-TW" dirty="0">
                <a:solidFill>
                  <a:srgbClr val="000000"/>
                </a:solidFill>
                <a:latin typeface="Arial Unicode MS"/>
                <a:ea typeface="Arial Unicode MS"/>
                <a:cs typeface="Arial Unicode MS"/>
              </a:rPr>
              <a:t>有資料，和那份資料能不能解決你現在手上這件事，是兩回事</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工程上這個陷阱很常見。你量的是「設備活著沒」，不是「任務完成得了嗎」。
</a:t>
            </a:r>
          </a:p>
          <a:p>
            <a:pPr algn="l">
              <a:lnSpc>
                <a:spcPct val="115000"/>
              </a:lnSpc>
              <a:spcAft>
                <a:spcPts val="600"/>
              </a:spcAft>
            </a:pPr>
            <a:r>
              <a:rPr sz="1200" lang="zh-TW" dirty="0">
                <a:solidFill>
                  <a:srgbClr val="000000"/>
                </a:solidFill>
                <a:latin typeface="Arial Unicode MS"/>
                <a:ea typeface="Arial Unicode MS"/>
                <a:cs typeface="Arial Unicode MS"/>
              </a:rPr>
              <a:t>期末專題寫 ODD 的時候，請把這句話記著：不要只列「我裝了什麼」，要寫「這一格要做到的事，我靠哪一種資料做到」。
</a:t>
            </a:r>
          </a:p>
          <a:p>
            <a:pPr algn="l">
              <a:lnSpc>
                <a:spcPct val="115000"/>
              </a:lnSpc>
              <a:spcAft>
                <a:spcPts val="600"/>
              </a:spcAft>
            </a:pPr>
            <a:r>
              <a:rPr sz="1200" lang="zh-TW" dirty="0">
                <a:solidFill>
                  <a:srgbClr val="000000"/>
                </a:solidFill>
                <a:latin typeface="Arial Unicode MS"/>
                <a:ea typeface="Arial Unicode MS"/>
                <a:cs typeface="Arial Unicode MS"/>
              </a:rPr>
              <a:t>下一頁我們就來做這件事。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今天最後一件事，也是最重要的一件事：把三節課量到的東西，接回第二週的 ODD 六格。
</a:t>
            </a:r>
          </a:p>
          <a:p>
            <a:pPr algn="l">
              <a:lnSpc>
                <a:spcPct val="115000"/>
              </a:lnSpc>
              <a:spcAft>
                <a:spcPts val="600"/>
              </a:spcAft>
            </a:pPr>
            <a:r>
              <a:rPr sz="1200" lang="zh-TW" dirty="0">
                <a:solidFill>
                  <a:srgbClr val="000000"/>
                </a:solidFill>
                <a:latin typeface="Arial Unicode MS"/>
                <a:ea typeface="Arial Unicode MS"/>
                <a:cs typeface="Arial Unicode MS"/>
              </a:rPr>
              <a:t>第二週我們講過，ODD 就是「這台車可以在哪些條件下運作」。當時大家可能覺得那只是六個格子要填字。今天做完這一整輪，我希望你們看到：每一格背後，都要有人去量。
</a:t>
            </a:r>
          </a:p>
          <a:p>
            <a:pPr algn="l">
              <a:lnSpc>
                <a:spcPct val="115000"/>
              </a:lnSpc>
              <a:spcAft>
                <a:spcPts val="600"/>
              </a:spcAft>
            </a:pPr>
            <a:r>
              <a:rPr sz="1200" lang="zh-TW" dirty="0">
                <a:solidFill>
                  <a:srgbClr val="000000"/>
                </a:solidFill>
                <a:latin typeface="Arial Unicode MS"/>
                <a:ea typeface="Arial Unicode MS"/>
                <a:cs typeface="Arial Unicode MS"/>
              </a:rPr>
              <a:t>看這張表。</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那一格，我們今天量得最扎實——九種條件，相機從八十公尺一路掉到十六公尺。所以我們有把握寫一句話：濃霧和逆光是相機最緊的兩條邊界。這句話後面有數字撐著。
</a:t>
            </a:r>
          </a:p>
          <a:p>
            <a:pPr algn="l">
              <a:lnSpc>
                <a:spcPct val="115000"/>
              </a:lnSpc>
              <a:spcAft>
                <a:spcPts val="600"/>
              </a:spcAft>
            </a:pPr>
            <a:r>
              <a:rPr sz="1200" b="1" lang="zh-TW" dirty="0">
                <a:solidFill>
                  <a:srgbClr val="000000"/>
                </a:solidFill>
                <a:latin typeface="Arial Unicode MS"/>
                <a:ea typeface="Arial Unicode MS"/>
                <a:cs typeface="Arial Unicode MS"/>
              </a:rPr>
              <a:t>交通狀況</a:t>
            </a:r>
            <a:r>
              <a:rPr sz="1200" lang="zh-TW" dirty="0">
                <a:solidFill>
                  <a:srgbClr val="000000"/>
                </a:solidFill>
                <a:latin typeface="Arial Unicode MS"/>
                <a:ea typeface="Arial Unicode MS"/>
                <a:cs typeface="Arial Unicode MS"/>
              </a:rPr>
              <a:t>那一格也有收穫：物體愈小，愈晚才有足夠的點。小孩比大人難偵測，這是今天量出來的。
</a:t>
            </a:r>
          </a:p>
          <a:p>
            <a:pPr algn="l">
              <a:lnSpc>
                <a:spcPct val="115000"/>
              </a:lnSpc>
              <a:spcAft>
                <a:spcPts val="600"/>
              </a:spcAft>
            </a:pPr>
            <a:r>
              <a:rPr sz="1200" lang="zh-TW" dirty="0">
                <a:solidFill>
                  <a:srgbClr val="000000"/>
                </a:solidFill>
                <a:latin typeface="Arial Unicode MS"/>
                <a:ea typeface="Arial Unicode MS"/>
                <a:cs typeface="Arial Unicode MS"/>
              </a:rPr>
              <a:t>然後請大家看三格寫著「沒量」的。
</a:t>
            </a:r>
          </a:p>
          <a:p>
            <a:pPr algn="l">
              <a:lnSpc>
                <a:spcPct val="115000"/>
              </a:lnSpc>
              <a:spcAft>
                <a:spcPts val="600"/>
              </a:spcAft>
            </a:pPr>
            <a:r>
              <a:rPr sz="1200" lang="zh-TW" dirty="0">
                <a:solidFill>
                  <a:srgbClr val="000000"/>
                </a:solidFill>
                <a:latin typeface="Arial Unicode MS"/>
                <a:ea typeface="Arial Unicode MS"/>
                <a:cs typeface="Arial Unicode MS"/>
              </a:rPr>
              <a:t>我要特別講這個。寫「沒量」不是丟臉，那也是一個結果，而且是很重要的結果。一份誠實的 ODD 會明白寫出「這個範圍我還沒有證據」。第二週我講過同一句話：ODD 寫的是哪裡能開，沒寫的就是範圍外。
</a:t>
            </a:r>
          </a:p>
          <a:p>
            <a:pPr algn="l">
              <a:lnSpc>
                <a:spcPct val="115000"/>
              </a:lnSpc>
              <a:spcAft>
                <a:spcPts val="600"/>
              </a:spcAft>
            </a:pPr>
            <a:r>
              <a:rPr sz="1200" lang="zh-TW" dirty="0">
                <a:solidFill>
                  <a:srgbClr val="000000"/>
                </a:solidFill>
                <a:latin typeface="Arial Unicode MS"/>
                <a:ea typeface="Arial Unicode MS"/>
                <a:cs typeface="Arial Unicode MS"/>
              </a:rPr>
              <a:t>速度域和人的角色，下禮拜車子會跑、會撞的時候我們再回來填。
</a:t>
            </a:r>
          </a:p>
          <a:p>
            <a:pPr algn="l">
              <a:lnSpc>
                <a:spcPct val="115000"/>
              </a:lnSpc>
              <a:spcAft>
                <a:spcPts val="600"/>
              </a:spcAft>
            </a:pPr>
            <a:r>
              <a:rPr sz="1200" lang="zh-TW" dirty="0">
                <a:solidFill>
                  <a:srgbClr val="000000"/>
                </a:solidFill>
                <a:latin typeface="Arial Unicode MS"/>
                <a:ea typeface="Arial Unicode MS"/>
                <a:cs typeface="Arial Unicode MS"/>
              </a:rPr>
              <a:t>期末專題我會看這一點——我不是要看你們把六格填滿，是要看你們知道自己哪一格沒有證據。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備案，開始前先看時間。</a:t>
            </a:r>
            <a:r>
              <a:rPr sz="1000" lang="zh-TW" dirty="0">
                <a:solidFill>
                  <a:srgbClr val="000000"/>
                </a:solidFill>
                <a:latin typeface="Arial Unicode MS"/>
                <a:ea typeface="Arial Unicode MS"/>
                <a:cs typeface="Arial Unicode MS"/>
              </a:rPr>
              <a:t>如果前面進行得比預期快，還多出十分鐘以上，可以改發那份紙本學習單：「第三週_課堂練習_學習單.html」，用瀏覽器開、直接列印就是學生空白版（一頁十一題）。網址後面加上 ?ans 會變成教師解答版。學習單是</a:t>
            </a:r>
            <a:r>
              <a:rPr sz="1000" b="1" lang="zh-TW" dirty="0">
                <a:solidFill>
                  <a:srgbClr val="000000"/>
                </a:solidFill>
                <a:latin typeface="Arial Unicode MS"/>
                <a:ea typeface="Arial Unicode MS"/>
                <a:cs typeface="Arial Unicode MS"/>
              </a:rPr>
              <a:t>個人</a:t>
            </a:r>
            <a:r>
              <a:rPr sz="1000" lang="zh-TW" dirty="0">
                <a:solidFill>
                  <a:srgbClr val="000000"/>
                </a:solidFill>
                <a:latin typeface="Arial Unicode MS"/>
                <a:ea typeface="Arial Unicode MS"/>
                <a:cs typeface="Arial Unicode MS"/>
              </a:rPr>
              <a:t>作答、用筆寫、下課前交；下面這個分組任務是</a:t>
            </a:r>
            <a:r>
              <a:rPr sz="1000" b="1" lang="zh-TW" dirty="0">
                <a:solidFill>
                  <a:srgbClr val="000000"/>
                </a:solidFill>
                <a:latin typeface="Arial Unicode MS"/>
                <a:ea typeface="Arial Unicode MS"/>
                <a:cs typeface="Arial Unicode MS"/>
              </a:rPr>
              <a:t>口頭</a:t>
            </a:r>
            <a:r>
              <a:rPr sz="1000" lang="zh-TW" dirty="0">
                <a:solidFill>
                  <a:srgbClr val="000000"/>
                </a:solidFill>
                <a:latin typeface="Arial Unicode MS"/>
                <a:ea typeface="Arial Unicode MS"/>
                <a:cs typeface="Arial Unicode MS"/>
              </a:rPr>
              <a:t>發表。兩個可以只做一個，也可以先讓各組討論、再各自寫學習單。學習單的每一題都能用今天的工具當場驗證，所以學生寫完可以自己對。）
</a:t>
            </a:r>
          </a:p>
          <a:p>
            <a:pPr algn="l">
              <a:lnSpc>
                <a:spcPct val="115000"/>
              </a:lnSpc>
              <a:spcAft>
                <a:spcPts val="500"/>
              </a:spcAft>
            </a:pPr>
            <a:r>
              <a:rPr sz="1000" lang="zh-TW" dirty="0">
                <a:solidFill>
                  <a:srgbClr val="000000"/>
                </a:solidFill>
                <a:latin typeface="Arial Unicode MS"/>
                <a:ea typeface="Arial Unicode MS"/>
                <a:cs typeface="Arial Unicode MS"/>
              </a:rPr>
              <a:t>最後十分鐘，六組每組認養一種感測器。
</a:t>
            </a:r>
          </a:p>
          <a:p>
            <a:pPr algn="l">
              <a:lnSpc>
                <a:spcPct val="115000"/>
              </a:lnSpc>
              <a:spcAft>
                <a:spcPts val="500"/>
              </a:spcAft>
            </a:pPr>
            <a:r>
              <a:rPr sz="1000" lang="zh-TW" dirty="0">
                <a:solidFill>
                  <a:srgbClr val="000000"/>
                </a:solidFill>
                <a:latin typeface="Arial Unicode MS"/>
                <a:ea typeface="Arial Unicode MS"/>
                <a:cs typeface="Arial Unicode MS"/>
              </a:rPr>
              <a:t>（分配：第一組相機、第二組光達、第三組雷達、第四組超音波、第五組衛星定位、第六組熱像。）
</a:t>
            </a:r>
          </a:p>
          <a:p>
            <a:pPr algn="l">
              <a:lnSpc>
                <a:spcPct val="115000"/>
              </a:lnSpc>
              <a:spcAft>
                <a:spcPts val="500"/>
              </a:spcAft>
            </a:pPr>
            <a:r>
              <a:rPr sz="1000" lang="zh-TW" dirty="0">
                <a:solidFill>
                  <a:srgbClr val="000000"/>
                </a:solidFill>
                <a:latin typeface="Arial Unicode MS"/>
                <a:ea typeface="Arial Unicode MS"/>
                <a:cs typeface="Arial Unicode MS"/>
              </a:rPr>
              <a:t>每組只寫兩行。
</a:t>
            </a:r>
          </a:p>
          <a:p>
            <a:pPr algn="l">
              <a:lnSpc>
                <a:spcPct val="115000"/>
              </a:lnSpc>
              <a:spcAft>
                <a:spcPts val="500"/>
              </a:spcAft>
            </a:pPr>
            <a:r>
              <a:rPr sz="1000" lang="zh-TW" dirty="0">
                <a:solidFill>
                  <a:srgbClr val="000000"/>
                </a:solidFill>
                <a:latin typeface="Arial Unicode MS"/>
                <a:ea typeface="Arial Unicode MS"/>
                <a:cs typeface="Arial Unicode MS"/>
              </a:rPr>
              <a:t>第一行：你那一種送回來什麼是別人沒有的？這一行我要求要有</a:t>
            </a:r>
            <a:r>
              <a:rPr sz="1000" b="1" lang="zh-TW" dirty="0">
                <a:solidFill>
                  <a:srgbClr val="000000"/>
                </a:solidFill>
                <a:latin typeface="Arial Unicode MS"/>
                <a:ea typeface="Arial Unicode MS"/>
                <a:cs typeface="Arial Unicode MS"/>
              </a:rPr>
              <a:t>今天看到的數字</a:t>
            </a:r>
            <a:r>
              <a:rPr sz="1000" lang="zh-TW" dirty="0">
                <a:solidFill>
                  <a:srgbClr val="000000"/>
                </a:solidFill>
                <a:latin typeface="Arial Unicode MS"/>
                <a:ea typeface="Arial Unicode MS"/>
                <a:cs typeface="Arial Unicode MS"/>
              </a:rPr>
              <a:t>。不可以只寫「相機可以看到顏色」，要寫「只有相機讀得出燈色，其他五種都讀不出來；晴天有效八十公尺，夜間剩二十六」。
</a:t>
            </a:r>
          </a:p>
          <a:p>
            <a:pPr algn="l">
              <a:lnSpc>
                <a:spcPct val="115000"/>
              </a:lnSpc>
              <a:spcAft>
                <a:spcPts val="500"/>
              </a:spcAft>
            </a:pPr>
            <a:r>
              <a:rPr sz="1000" lang="zh-TW" dirty="0">
                <a:solidFill>
                  <a:srgbClr val="000000"/>
                </a:solidFill>
                <a:latin typeface="Arial Unicode MS"/>
                <a:ea typeface="Arial Unicode MS"/>
                <a:cs typeface="Arial Unicode MS"/>
              </a:rPr>
              <a:t>第二行比較難，也是我真正想看的：什麼條件會讓它失效？那時候誰來補它？
</a:t>
            </a:r>
          </a:p>
          <a:p>
            <a:pPr algn="l">
              <a:lnSpc>
                <a:spcPct val="115000"/>
              </a:lnSpc>
              <a:spcAft>
                <a:spcPts val="500"/>
              </a:spcAft>
            </a:pPr>
            <a:r>
              <a:rPr sz="1000" lang="zh-TW" dirty="0">
                <a:solidFill>
                  <a:srgbClr val="000000"/>
                </a:solidFill>
                <a:latin typeface="Arial Unicode MS"/>
                <a:ea typeface="Arial Unicode MS"/>
                <a:cs typeface="Arial Unicode MS"/>
              </a:rPr>
              <a:t>給大家一點提示。拿到衛星定位的那一組可能會覺得很吃虧——它什麼都不給。但你們可以想一想：它不給前方的資訊，那它給的是什麼？沒有它的話，車子會少掉什麼？
</a:t>
            </a:r>
          </a:p>
          <a:p>
            <a:pPr algn="l">
              <a:lnSpc>
                <a:spcPct val="115000"/>
              </a:lnSpc>
              <a:spcAft>
                <a:spcPts val="500"/>
              </a:spcAft>
            </a:pPr>
            <a:r>
              <a:rPr sz="1000" lang="zh-TW" dirty="0">
                <a:solidFill>
                  <a:srgbClr val="000000"/>
                </a:solidFill>
                <a:latin typeface="Arial Unicode MS"/>
                <a:ea typeface="Arial Unicode MS"/>
                <a:cs typeface="Arial Unicode MS"/>
              </a:rPr>
              <a:t>拿到超音波的那一組也一樣。它只有五公尺，看起來很爛，可是第一節我們看過，在那個誰都看不到的近距離，只有它看得到。
</a:t>
            </a:r>
          </a:p>
          <a:p>
            <a:pPr algn="l">
              <a:lnSpc>
                <a:spcPct val="115000"/>
              </a:lnSpc>
              <a:spcAft>
                <a:spcPts val="500"/>
              </a:spcAft>
            </a:pPr>
            <a:r>
              <a:rPr sz="1000" lang="zh-TW" dirty="0">
                <a:solidFill>
                  <a:srgbClr val="000000"/>
                </a:solidFill>
                <a:latin typeface="Arial Unicode MS"/>
                <a:ea typeface="Arial Unicode MS"/>
                <a:cs typeface="Arial Unicode MS"/>
              </a:rPr>
              <a:t>每組一分鐘。講完交上來，這張紙期末專題會用到。
</a:t>
            </a:r>
          </a:p>
          <a:p>
            <a:pPr algn="l">
              <a:lnSpc>
                <a:spcPct val="115000"/>
              </a:lnSpc>
              <a:spcAft>
                <a:spcPts val="500"/>
              </a:spcAft>
            </a:pPr>
            <a:r>
              <a:rPr sz="1000" lang="zh-TW" dirty="0">
                <a:solidFill>
                  <a:srgbClr val="000000"/>
                </a:solidFill>
                <a:latin typeface="Arial Unicode MS"/>
                <a:ea typeface="Arial Unicode MS"/>
                <a:cs typeface="Arial Unicode MS"/>
              </a:rPr>
              <a:t>（時間不夠時：只收紙、不口頭報告；下週上課前五分鐘挑兩組回饋。）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第三週收起來，三句話。
</a:t>
            </a:r>
          </a:p>
          <a:p>
            <a:pPr algn="l">
              <a:lnSpc>
                <a:spcPct val="115000"/>
              </a:lnSpc>
              <a:spcAft>
                <a:spcPts val="600"/>
              </a:spcAft>
            </a:pPr>
            <a:r>
              <a:rPr sz="1200" lang="zh-TW" dirty="0">
                <a:solidFill>
                  <a:srgbClr val="000000"/>
                </a:solidFill>
                <a:latin typeface="Arial Unicode MS"/>
                <a:ea typeface="Arial Unicode MS"/>
                <a:cs typeface="Arial Unicode MS"/>
              </a:rPr>
              <a:t>第一句，第一節的：六種感測器量的是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，不是同一件事誰比較準——像體重計和體溫計。所以量得到距離，不等於知道那是什麼。
</a:t>
            </a:r>
          </a:p>
          <a:p>
            <a:pPr algn="l">
              <a:lnSpc>
                <a:spcPct val="115000"/>
              </a:lnSpc>
              <a:spcAft>
                <a:spcPts val="600"/>
              </a:spcAft>
            </a:pPr>
            <a:r>
              <a:rPr sz="1200" lang="zh-TW" dirty="0">
                <a:solidFill>
                  <a:srgbClr val="000000"/>
                </a:solidFill>
                <a:latin typeface="Arial Unicode MS"/>
                <a:ea typeface="Arial Unicode MS"/>
                <a:cs typeface="Arial Unicode MS"/>
              </a:rPr>
              <a:t>第二句，第二節的：愈遠愈差，而且不是等比例地差。距離變兩倍，相機的誤差變四倍、光達的點數剩四分之一；距離變四倍，就是十六倍。所以錢買到的是遠處那幾個點。
</a:t>
            </a:r>
          </a:p>
          <a:p>
            <a:pPr algn="l">
              <a:lnSpc>
                <a:spcPct val="115000"/>
              </a:lnSpc>
              <a:spcAft>
                <a:spcPts val="600"/>
              </a:spcAft>
            </a:pPr>
            <a:r>
              <a:rPr sz="1200" lang="zh-TW" dirty="0">
                <a:solidFill>
                  <a:srgbClr val="000000"/>
                </a:solidFill>
                <a:latin typeface="Arial Unicode MS"/>
                <a:ea typeface="Arial Unicode MS"/>
                <a:cs typeface="Arial Unicode MS"/>
              </a:rPr>
              <a:t>第三句，這一節的：不同條件壞掉不同種類的資料。夜間只壞相機，濃霧壞三種，雷達最耐命但它給的最少。而且——有資料，不等於那份資料能解決你現在這件事。
</a:t>
            </a:r>
          </a:p>
          <a:p>
            <a:pPr algn="l">
              <a:lnSpc>
                <a:spcPct val="115000"/>
              </a:lnSpc>
              <a:spcAft>
                <a:spcPts val="600"/>
              </a:spcAft>
            </a:pPr>
            <a:r>
              <a:rPr sz="1200" lang="zh-TW" dirty="0">
                <a:solidFill>
                  <a:srgbClr val="000000"/>
                </a:solidFill>
                <a:latin typeface="Arial Unicode MS"/>
                <a:ea typeface="Arial Unicode MS"/>
                <a:cs typeface="Arial Unicode MS"/>
              </a:rPr>
              <a:t>這三個禮拜我們一直在講感測器。下禮拜要換一個角度：把這六樣東西裝到一台</a:t>
            </a:r>
            <a:r>
              <a:rPr sz="1200" b="1" lang="zh-TW" dirty="0">
                <a:solidFill>
                  <a:srgbClr val="000000"/>
                </a:solidFill>
                <a:latin typeface="Arial Unicode MS"/>
                <a:ea typeface="Arial Unicode MS"/>
                <a:cs typeface="Arial Unicode MS"/>
              </a:rPr>
              <a:t>會跑</a:t>
            </a:r>
            <a:r>
              <a:rPr sz="1200" lang="zh-TW" dirty="0">
                <a:solidFill>
                  <a:srgbClr val="000000"/>
                </a:solidFill>
                <a:latin typeface="Arial Unicode MS"/>
                <a:ea typeface="Arial Unicode MS"/>
                <a:cs typeface="Arial Unicode MS"/>
              </a:rPr>
              <a:t>的車上。
</a:t>
            </a:r>
          </a:p>
          <a:p>
            <a:pPr algn="l">
              <a:lnSpc>
                <a:spcPct val="115000"/>
              </a:lnSpc>
              <a:spcAft>
                <a:spcPts val="600"/>
              </a:spcAft>
            </a:pPr>
            <a:r>
              <a:rPr sz="1200" lang="zh-TW" dirty="0">
                <a:solidFill>
                  <a:srgbClr val="000000"/>
                </a:solidFill>
                <a:latin typeface="Arial Unicode MS"/>
                <a:ea typeface="Arial Unicode MS"/>
                <a:cs typeface="Arial Unicode MS"/>
              </a:rPr>
              <a:t>那時候會出現一個今天完全沒碰過的問題——就算它看得一清二楚，它也可能來不及停。為什麼？因為煞車要距離，而距離也是平方成長的。
</a:t>
            </a:r>
          </a:p>
          <a:p>
            <a:pPr algn="l">
              <a:lnSpc>
                <a:spcPct val="115000"/>
              </a:lnSpc>
              <a:spcAft>
                <a:spcPts val="600"/>
              </a:spcAft>
            </a:pPr>
            <a:r>
              <a:rPr sz="1200" lang="zh-TW" dirty="0">
                <a:solidFill>
                  <a:srgbClr val="000000"/>
                </a:solidFill>
                <a:latin typeface="Arial Unicode MS"/>
                <a:ea typeface="Arial Unicode MS"/>
                <a:cs typeface="Arial Unicode MS"/>
              </a:rPr>
              <a:t>你們那兩行請保留好。下課。</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IQJL3htsDyQ"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Thời tiết đổi thì</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thứ bị hỏng cũng khác</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天氣一變，壞掉的東西就不一樣</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cuối cùng: viết những giới hạn này thành ODD</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最後：把這些邊界寫成 ODD</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ch-neural.github.io/MITUST-Principles-of-Self-Driving-Cars/week3/lab/</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3 節　2026/09/24（四）11:10–12:00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đi bộ ở 40 m. Chỉ đổi nắng → ban đêm. Ai hỏng?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行人放在 40 公尺。只把晴天改成夜間。誰壞了？</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Trước khi bấm, cả lớp đoán: ban đêm thì cái nào ngắn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按之前全班先猜：夜間，哪一個的範圍會變短？</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“夜間 Ban đêm”. Đọc lại cả sáu thẻ.</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按「夜間」。六張卡重唸一次。</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ảnh nhiệt có xấu đi không? Vì sao?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熱像那張有變差嗎？為什麼？</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Chỉ đổi MỘT thứ. Đây là kỷ luật cơ bản của việc thử nghiệm.</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只改一樣。這是做測試最基本的紀律。</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Tín hiệu đến từ đâu: đi mượn, tự mang, hay vật tự phát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訊號是從哪裡來的：跟外面借、自己帶、還是物體自己放出來</a:t>
            </a:r>
            <a:endParaRPr lang="en-US" sz="2200" dirty="0"/>
          </a:p>
        </p:txBody>
      </p:sp>
      <p:sp>
        <p:nvSpPr>
          <p:cNvPr id="3" name="Shape 1"/>
          <p:cNvSpPr/>
          <p:nvPr/>
        </p:nvSpPr>
        <p:spPr>
          <a:xfrm>
            <a:off x="502920" y="1133856"/>
            <a:ext cx="2566416" cy="2706624"/>
          </a:xfrm>
          <a:prstGeom prst="roundRect">
            <a:avLst>
              <a:gd name="adj" fmla="val 3563"/>
            </a:avLst>
          </a:prstGeom>
          <a:solidFill>
            <a:srgbClr val="F4F7FA"/>
          </a:solidFill>
          <a:ln w="12700">
            <a:solidFill>
              <a:srgbClr val="DBE3EA"/>
            </a:solidFill>
            <a:prstDash val="solid"/>
          </a:ln>
        </p:spPr>
      </p:sp>
      <p:sp>
        <p:nvSpPr>
          <p:cNvPr id="4" name="Text 2"/>
          <p:cNvSpPr txBox="1"/>
          <p:nvPr/>
        </p:nvSpPr>
        <p:spPr>
          <a:xfrm>
            <a:off x="612648"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Bị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被動：跟外面借光</a:t>
            </a:r>
            <a:endParaRPr lang="en-US" sz="1300" dirty="0"/>
          </a:p>
        </p:txBody>
      </p:sp>
      <p:sp>
        <p:nvSpPr>
          <p:cNvPr id="5" name="Text 3"/>
          <p:cNvSpPr txBox="1"/>
          <p:nvPr/>
        </p:nvSpPr>
        <p:spPr>
          <a:xfrm>
            <a:off x="612648"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Camera</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相機</a:t>
            </a:r>
            <a:endParaRPr lang="en-US" sz="1050" dirty="0"/>
          </a:p>
        </p:txBody>
      </p:sp>
      <p:sp>
        <p:nvSpPr>
          <p:cNvPr id="6" name="Shape 4"/>
          <p:cNvSpPr/>
          <p:nvPr/>
        </p:nvSpPr>
        <p:spPr>
          <a:xfrm>
            <a:off x="704088" y="2322576"/>
            <a:ext cx="365760" cy="365760"/>
          </a:xfrm>
          <a:prstGeom prst="ellipse">
            <a:avLst/>
          </a:prstGeom>
          <a:solidFill>
            <a:srgbClr val="E8A317"/>
          </a:solidFill>
          <a:ln/>
        </p:spPr>
      </p:sp>
      <p:sp>
        <p:nvSpPr>
          <p:cNvPr id="7" name="Shape 5"/>
          <p:cNvSpPr/>
          <p:nvPr/>
        </p:nvSpPr>
        <p:spPr>
          <a:xfrm>
            <a:off x="1133856" y="2505456"/>
            <a:ext cx="91440" cy="0"/>
          </a:xfrm>
          <a:prstGeom prst="line">
            <a:avLst/>
          </a:prstGeom>
          <a:noFill/>
          <a:ln w="19050">
            <a:solidFill>
              <a:srgbClr val="E8A317"/>
            </a:solidFill>
            <a:prstDash val="solid"/>
          </a:ln>
        </p:spPr>
      </p:sp>
      <p:sp>
        <p:nvSpPr>
          <p:cNvPr id="8" name="Shape 6"/>
          <p:cNvSpPr/>
          <p:nvPr/>
        </p:nvSpPr>
        <p:spPr>
          <a:xfrm>
            <a:off x="1061544" y="2680032"/>
            <a:ext cx="64658" cy="64658"/>
          </a:xfrm>
          <a:prstGeom prst="line">
            <a:avLst/>
          </a:prstGeom>
          <a:noFill/>
          <a:ln w="19050">
            <a:solidFill>
              <a:srgbClr val="E8A317"/>
            </a:solidFill>
            <a:prstDash val="solid"/>
          </a:ln>
        </p:spPr>
      </p:sp>
      <p:sp>
        <p:nvSpPr>
          <p:cNvPr id="9" name="Shape 7"/>
          <p:cNvSpPr/>
          <p:nvPr/>
        </p:nvSpPr>
        <p:spPr>
          <a:xfrm>
            <a:off x="886968" y="2752344"/>
            <a:ext cx="0" cy="91440"/>
          </a:xfrm>
          <a:prstGeom prst="line">
            <a:avLst/>
          </a:prstGeom>
          <a:noFill/>
          <a:ln w="19050">
            <a:solidFill>
              <a:srgbClr val="E8A317"/>
            </a:solidFill>
            <a:prstDash val="solid"/>
          </a:ln>
        </p:spPr>
      </p:sp>
      <p:sp>
        <p:nvSpPr>
          <p:cNvPr id="10" name="Shape 8"/>
          <p:cNvSpPr/>
          <p:nvPr/>
        </p:nvSpPr>
        <p:spPr>
          <a:xfrm flipH="1">
            <a:off x="647734" y="2680032"/>
            <a:ext cx="64658" cy="64658"/>
          </a:xfrm>
          <a:prstGeom prst="line">
            <a:avLst/>
          </a:prstGeom>
          <a:noFill/>
          <a:ln w="19050">
            <a:solidFill>
              <a:srgbClr val="E8A317"/>
            </a:solidFill>
            <a:prstDash val="solid"/>
          </a:ln>
        </p:spPr>
      </p:sp>
      <p:sp>
        <p:nvSpPr>
          <p:cNvPr id="11" name="Shape 9"/>
          <p:cNvSpPr/>
          <p:nvPr/>
        </p:nvSpPr>
        <p:spPr>
          <a:xfrm flipH="1">
            <a:off x="548640" y="2505456"/>
            <a:ext cx="91440" cy="0"/>
          </a:xfrm>
          <a:prstGeom prst="line">
            <a:avLst/>
          </a:prstGeom>
          <a:noFill/>
          <a:ln w="19050">
            <a:solidFill>
              <a:srgbClr val="E8A317"/>
            </a:solidFill>
            <a:prstDash val="solid"/>
          </a:ln>
        </p:spPr>
      </p:sp>
      <p:sp>
        <p:nvSpPr>
          <p:cNvPr id="12" name="Shape 10"/>
          <p:cNvSpPr/>
          <p:nvPr/>
        </p:nvSpPr>
        <p:spPr>
          <a:xfrm flipH="1" flipV="1">
            <a:off x="647734" y="2266222"/>
            <a:ext cx="64658" cy="64658"/>
          </a:xfrm>
          <a:prstGeom prst="line">
            <a:avLst/>
          </a:prstGeom>
          <a:noFill/>
          <a:ln w="19050">
            <a:solidFill>
              <a:srgbClr val="E8A317"/>
            </a:solidFill>
            <a:prstDash val="solid"/>
          </a:ln>
        </p:spPr>
      </p:sp>
      <p:sp>
        <p:nvSpPr>
          <p:cNvPr id="13" name="Shape 11"/>
          <p:cNvSpPr/>
          <p:nvPr/>
        </p:nvSpPr>
        <p:spPr>
          <a:xfrm flipH="1" flipV="1">
            <a:off x="886968" y="2167128"/>
            <a:ext cx="0" cy="91440"/>
          </a:xfrm>
          <a:prstGeom prst="line">
            <a:avLst/>
          </a:prstGeom>
          <a:noFill/>
          <a:ln w="19050">
            <a:solidFill>
              <a:srgbClr val="E8A317"/>
            </a:solidFill>
            <a:prstDash val="solid"/>
          </a:ln>
        </p:spPr>
      </p:sp>
      <p:sp>
        <p:nvSpPr>
          <p:cNvPr id="14" name="Shape 12"/>
          <p:cNvSpPr/>
          <p:nvPr/>
        </p:nvSpPr>
        <p:spPr>
          <a:xfrm flipV="1">
            <a:off x="1061544" y="2266222"/>
            <a:ext cx="64658" cy="64658"/>
          </a:xfrm>
          <a:prstGeom prst="line">
            <a:avLst/>
          </a:prstGeom>
          <a:noFill/>
          <a:ln w="19050">
            <a:solidFill>
              <a:srgbClr val="E8A317"/>
            </a:solidFill>
            <a:prstDash val="solid"/>
          </a:ln>
        </p:spPr>
      </p:sp>
      <p:sp>
        <p:nvSpPr>
          <p:cNvPr id="15" name="Shape 13"/>
          <p:cNvSpPr/>
          <p:nvPr/>
        </p:nvSpPr>
        <p:spPr>
          <a:xfrm>
            <a:off x="1124712" y="2423160"/>
            <a:ext cx="310896" cy="164592"/>
          </a:xfrm>
          <a:prstGeom prst="rightArrow">
            <a:avLst/>
          </a:prstGeom>
          <a:solidFill>
            <a:srgbClr val="E8A317"/>
          </a:solidFill>
          <a:ln/>
        </p:spPr>
      </p:sp>
      <p:sp>
        <p:nvSpPr>
          <p:cNvPr id="16" name="Shape 14"/>
          <p:cNvSpPr/>
          <p:nvPr/>
        </p:nvSpPr>
        <p:spPr>
          <a:xfrm>
            <a:off x="1636410" y="2336475"/>
            <a:ext cx="92172" cy="92172"/>
          </a:xfrm>
          <a:prstGeom prst="ellipse">
            <a:avLst/>
          </a:prstGeom>
          <a:solidFill>
            <a:srgbClr val="5F7183"/>
          </a:solidFill>
          <a:ln/>
        </p:spPr>
      </p:sp>
      <p:sp>
        <p:nvSpPr>
          <p:cNvPr id="17" name="Shape 15"/>
          <p:cNvSpPr/>
          <p:nvPr/>
        </p:nvSpPr>
        <p:spPr>
          <a:xfrm>
            <a:off x="1621048" y="2440168"/>
            <a:ext cx="122895" cy="138257"/>
          </a:xfrm>
          <a:prstGeom prst="roundRect">
            <a:avLst>
              <a:gd name="adj" fmla="val 223215"/>
            </a:avLst>
          </a:prstGeom>
          <a:solidFill>
            <a:srgbClr val="5F7183"/>
          </a:solidFill>
          <a:ln/>
        </p:spPr>
      </p:sp>
      <p:sp>
        <p:nvSpPr>
          <p:cNvPr id="18" name="Shape 16"/>
          <p:cNvSpPr/>
          <p:nvPr/>
        </p:nvSpPr>
        <p:spPr>
          <a:xfrm rot="480000">
            <a:off x="1628729" y="2574585"/>
            <a:ext cx="34564" cy="99852"/>
          </a:xfrm>
          <a:prstGeom prst="rect">
            <a:avLst/>
          </a:prstGeom>
          <a:solidFill>
            <a:srgbClr val="5F7183"/>
          </a:solidFill>
          <a:ln/>
        </p:spPr>
      </p:sp>
      <p:sp>
        <p:nvSpPr>
          <p:cNvPr id="19" name="Shape 17"/>
          <p:cNvSpPr/>
          <p:nvPr/>
        </p:nvSpPr>
        <p:spPr>
          <a:xfrm rot="-480000">
            <a:off x="1701698" y="2574585"/>
            <a:ext cx="34564" cy="99852"/>
          </a:xfrm>
          <a:prstGeom prst="rect">
            <a:avLst/>
          </a:prstGeom>
          <a:solidFill>
            <a:srgbClr val="5F7183"/>
          </a:solidFill>
          <a:ln/>
        </p:spPr>
      </p:sp>
      <p:sp>
        <p:nvSpPr>
          <p:cNvPr id="20" name="Shape 18"/>
          <p:cNvSpPr/>
          <p:nvPr/>
        </p:nvSpPr>
        <p:spPr>
          <a:xfrm>
            <a:off x="1929384" y="2423160"/>
            <a:ext cx="310896" cy="164592"/>
          </a:xfrm>
          <a:prstGeom prst="rightArrow">
            <a:avLst/>
          </a:prstGeom>
          <a:solidFill>
            <a:srgbClr val="E8A317"/>
          </a:solidFill>
          <a:ln/>
        </p:spPr>
      </p:sp>
      <p:sp>
        <p:nvSpPr>
          <p:cNvPr id="21" name="Shape 19"/>
          <p:cNvSpPr/>
          <p:nvPr/>
        </p:nvSpPr>
        <p:spPr>
          <a:xfrm>
            <a:off x="2318187" y="2420965"/>
            <a:ext cx="337962" cy="192024"/>
          </a:xfrm>
          <a:prstGeom prst="roundRect">
            <a:avLst>
              <a:gd name="adj" fmla="val 66667"/>
            </a:avLst>
          </a:prstGeom>
          <a:solidFill>
            <a:srgbClr val="0B1F3A"/>
          </a:solidFill>
          <a:ln/>
        </p:spPr>
      </p:sp>
      <p:sp>
        <p:nvSpPr>
          <p:cNvPr id="22" name="Shape 20"/>
          <p:cNvSpPr/>
          <p:nvPr/>
        </p:nvSpPr>
        <p:spPr>
          <a:xfrm>
            <a:off x="2394996" y="2382561"/>
            <a:ext cx="99852" cy="46086"/>
          </a:xfrm>
          <a:prstGeom prst="roundRect">
            <a:avLst>
              <a:gd name="adj" fmla="val 595235"/>
            </a:avLst>
          </a:prstGeom>
          <a:solidFill>
            <a:srgbClr val="0B1F3A"/>
          </a:solidFill>
          <a:ln/>
        </p:spPr>
      </p:sp>
      <p:sp>
        <p:nvSpPr>
          <p:cNvPr id="23" name="Shape 21"/>
          <p:cNvSpPr/>
          <p:nvPr/>
        </p:nvSpPr>
        <p:spPr>
          <a:xfrm>
            <a:off x="2425720" y="2451689"/>
            <a:ext cx="122895" cy="122895"/>
          </a:xfrm>
          <a:prstGeom prst="ellipse">
            <a:avLst/>
          </a:prstGeom>
          <a:solidFill>
            <a:srgbClr val="FFFFFF"/>
          </a:solidFill>
          <a:ln/>
        </p:spPr>
      </p:sp>
      <p:sp>
        <p:nvSpPr>
          <p:cNvPr id="24" name="Shape 22"/>
          <p:cNvSpPr/>
          <p:nvPr/>
        </p:nvSpPr>
        <p:spPr>
          <a:xfrm>
            <a:off x="2452604" y="2478573"/>
            <a:ext cx="69129" cy="69129"/>
          </a:xfrm>
          <a:prstGeom prst="ellipse">
            <a:avLst/>
          </a:prstGeom>
          <a:solidFill>
            <a:srgbClr val="0B1F3A">
              <a:alpha val="70000"/>
            </a:srgbClr>
          </a:solidFill>
          <a:ln/>
        </p:spPr>
      </p:sp>
      <p:sp>
        <p:nvSpPr>
          <p:cNvPr id="25" name="Shape 23"/>
          <p:cNvSpPr/>
          <p:nvPr/>
        </p:nvSpPr>
        <p:spPr>
          <a:xfrm>
            <a:off x="2579340" y="2444008"/>
            <a:ext cx="38405" cy="38405"/>
          </a:xfrm>
          <a:prstGeom prst="ellipse">
            <a:avLst/>
          </a:prstGeom>
          <a:solidFill>
            <a:srgbClr val="FFFFFF">
              <a:alpha val="60000"/>
            </a:srgbClr>
          </a:solidFill>
          <a:ln/>
        </p:spPr>
      </p:sp>
      <p:sp>
        <p:nvSpPr>
          <p:cNvPr id="26" name="Shape 24"/>
          <p:cNvSpPr/>
          <p:nvPr/>
        </p:nvSpPr>
        <p:spPr>
          <a:xfrm>
            <a:off x="612648" y="3054096"/>
            <a:ext cx="2346960" cy="676656"/>
          </a:xfrm>
          <a:prstGeom prst="roundRect">
            <a:avLst>
              <a:gd name="adj" fmla="val 9459"/>
            </a:avLst>
          </a:prstGeom>
          <a:solidFill>
            <a:srgbClr val="FDECEC"/>
          </a:solidFill>
          <a:ln/>
        </p:spPr>
      </p:sp>
      <p:sp>
        <p:nvSpPr>
          <p:cNvPr id="27" name="Text 25"/>
          <p:cNvSpPr txBox="1"/>
          <p:nvPr/>
        </p:nvSpPr>
        <p:spPr>
          <a:xfrm>
            <a:off x="685800"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A32C25"/>
                </a:solidFill>
                <a:latin typeface="Arial" pitchFamily="34" charset="0"/>
                <a:ea typeface="Arial" pitchFamily="34" charset="-122"/>
                <a:cs typeface="Arial" pitchFamily="34" charset="-120"/>
              </a:rPr>
              <a:t>Hết đèn là hết việc. Trời tối = mù.</a:t>
            </a:r>
            <a:endParaRPr lang="en-US" sz="1050" dirty="0"/>
          </a:p>
          <a:p>
            <a:pPr algn="ctr" indent="0" marL="0">
              <a:lnSpc>
                <a:spcPct val="108000"/>
              </a:lnSpc>
              <a:buNone/>
            </a:pPr>
            <a:r>
              <a:rPr lang="en-US" sz="950" dirty="0">
                <a:solidFill>
                  <a:srgbClr val="A32C25"/>
                </a:solidFill>
                <a:latin typeface="微軟正黑體" pitchFamily="34" charset="0"/>
                <a:ea typeface="微軟正黑體" pitchFamily="34" charset="-122"/>
                <a:cs typeface="微軟正黑體" pitchFamily="34" charset="-120"/>
              </a:rPr>
              <a:t>沒有光就沒得看。天一黑就等於瞎了。</a:t>
            </a:r>
            <a:endParaRPr lang="en-US" sz="1050" dirty="0"/>
          </a:p>
        </p:txBody>
      </p:sp>
      <p:sp>
        <p:nvSpPr>
          <p:cNvPr id="28" name="Shape 26"/>
          <p:cNvSpPr/>
          <p:nvPr/>
        </p:nvSpPr>
        <p:spPr>
          <a:xfrm>
            <a:off x="3288792" y="1133856"/>
            <a:ext cx="2566416" cy="2706624"/>
          </a:xfrm>
          <a:prstGeom prst="roundRect">
            <a:avLst>
              <a:gd name="adj" fmla="val 3563"/>
            </a:avLst>
          </a:prstGeom>
          <a:solidFill>
            <a:srgbClr val="F4F7FA"/>
          </a:solidFill>
          <a:ln w="12700">
            <a:solidFill>
              <a:srgbClr val="DBE3EA"/>
            </a:solidFill>
            <a:prstDash val="solid"/>
          </a:ln>
        </p:spPr>
      </p:sp>
      <p:sp>
        <p:nvSpPr>
          <p:cNvPr id="29" name="Text 27"/>
          <p:cNvSpPr txBox="1"/>
          <p:nvPr/>
        </p:nvSpPr>
        <p:spPr>
          <a:xfrm>
            <a:off x="3398520"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Chủ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主動：自己帶手電筒</a:t>
            </a:r>
            <a:endParaRPr lang="en-US" sz="1300" dirty="0"/>
          </a:p>
        </p:txBody>
      </p:sp>
      <p:sp>
        <p:nvSpPr>
          <p:cNvPr id="30" name="Text 28"/>
          <p:cNvSpPr txBox="1"/>
          <p:nvPr/>
        </p:nvSpPr>
        <p:spPr>
          <a:xfrm>
            <a:off x="3398520"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LiDAR · Radar</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光達・雷達</a:t>
            </a:r>
            <a:endParaRPr lang="en-US" sz="1050" dirty="0"/>
          </a:p>
        </p:txBody>
      </p:sp>
      <p:sp>
        <p:nvSpPr>
          <p:cNvPr id="31" name="Shape 29"/>
          <p:cNvSpPr/>
          <p:nvPr/>
        </p:nvSpPr>
        <p:spPr>
          <a:xfrm rot="-2280000">
            <a:off x="3890106" y="2376194"/>
            <a:ext cx="130576" cy="13826"/>
          </a:xfrm>
          <a:prstGeom prst="rect">
            <a:avLst/>
          </a:prstGeom>
          <a:solidFill>
            <a:srgbClr val="3FA34D">
              <a:alpha val="45000"/>
            </a:srgbClr>
          </a:solidFill>
          <a:ln/>
        </p:spPr>
      </p:sp>
      <p:sp>
        <p:nvSpPr>
          <p:cNvPr id="32" name="Shape 30"/>
          <p:cNvSpPr/>
          <p:nvPr/>
        </p:nvSpPr>
        <p:spPr>
          <a:xfrm rot="-1140000">
            <a:off x="3915512" y="2422986"/>
            <a:ext cx="130576" cy="13826"/>
          </a:xfrm>
          <a:prstGeom prst="rect">
            <a:avLst/>
          </a:prstGeom>
          <a:solidFill>
            <a:srgbClr val="3FA34D">
              <a:alpha val="45000"/>
            </a:srgbClr>
          </a:solidFill>
          <a:ln/>
        </p:spPr>
      </p:sp>
      <p:sp>
        <p:nvSpPr>
          <p:cNvPr id="33" name="Shape 31"/>
          <p:cNvSpPr/>
          <p:nvPr/>
        </p:nvSpPr>
        <p:spPr>
          <a:xfrm>
            <a:off x="3924300" y="2475500"/>
            <a:ext cx="130576" cy="13826"/>
          </a:xfrm>
          <a:prstGeom prst="rect">
            <a:avLst/>
          </a:prstGeom>
          <a:solidFill>
            <a:srgbClr val="3FA34D">
              <a:alpha val="45000"/>
            </a:srgbClr>
          </a:solidFill>
          <a:ln/>
        </p:spPr>
      </p:sp>
      <p:sp>
        <p:nvSpPr>
          <p:cNvPr id="34" name="Shape 32"/>
          <p:cNvSpPr/>
          <p:nvPr/>
        </p:nvSpPr>
        <p:spPr>
          <a:xfrm rot="1140000">
            <a:off x="3915512" y="2528014"/>
            <a:ext cx="130576" cy="13826"/>
          </a:xfrm>
          <a:prstGeom prst="rect">
            <a:avLst/>
          </a:prstGeom>
          <a:solidFill>
            <a:srgbClr val="3FA34D">
              <a:alpha val="45000"/>
            </a:srgbClr>
          </a:solidFill>
          <a:ln/>
        </p:spPr>
      </p:sp>
      <p:sp>
        <p:nvSpPr>
          <p:cNvPr id="35" name="Shape 33"/>
          <p:cNvSpPr/>
          <p:nvPr/>
        </p:nvSpPr>
        <p:spPr>
          <a:xfrm rot="2280000">
            <a:off x="3890106" y="2574807"/>
            <a:ext cx="130576" cy="13826"/>
          </a:xfrm>
          <a:prstGeom prst="rect">
            <a:avLst/>
          </a:prstGeom>
          <a:solidFill>
            <a:srgbClr val="3FA34D">
              <a:alpha val="45000"/>
            </a:srgbClr>
          </a:solidFill>
          <a:ln/>
        </p:spPr>
      </p:sp>
      <p:sp>
        <p:nvSpPr>
          <p:cNvPr id="36" name="Shape 34"/>
          <p:cNvSpPr/>
          <p:nvPr/>
        </p:nvSpPr>
        <p:spPr>
          <a:xfrm>
            <a:off x="3720755" y="2405604"/>
            <a:ext cx="138257" cy="49926"/>
          </a:xfrm>
          <a:prstGeom prst="ellipse">
            <a:avLst/>
          </a:prstGeom>
          <a:solidFill>
            <a:srgbClr val="3FA34D"/>
          </a:solidFill>
          <a:ln/>
        </p:spPr>
      </p:sp>
      <p:sp>
        <p:nvSpPr>
          <p:cNvPr id="37" name="Shape 35"/>
          <p:cNvSpPr/>
          <p:nvPr/>
        </p:nvSpPr>
        <p:spPr>
          <a:xfrm>
            <a:off x="3720755" y="2428646"/>
            <a:ext cx="138257" cy="130576"/>
          </a:xfrm>
          <a:prstGeom prst="rect">
            <a:avLst/>
          </a:prstGeom>
          <a:solidFill>
            <a:srgbClr val="3FA34D"/>
          </a:solidFill>
          <a:ln/>
        </p:spPr>
      </p:sp>
      <p:sp>
        <p:nvSpPr>
          <p:cNvPr id="38" name="Shape 36"/>
          <p:cNvSpPr/>
          <p:nvPr/>
        </p:nvSpPr>
        <p:spPr>
          <a:xfrm>
            <a:off x="3720755" y="2532339"/>
            <a:ext cx="138257" cy="49926"/>
          </a:xfrm>
          <a:prstGeom prst="ellipse">
            <a:avLst/>
          </a:prstGeom>
          <a:solidFill>
            <a:srgbClr val="3FA34D"/>
          </a:solidFill>
          <a:ln/>
        </p:spPr>
      </p:sp>
      <p:sp>
        <p:nvSpPr>
          <p:cNvPr id="39" name="Shape 37"/>
          <p:cNvSpPr/>
          <p:nvPr/>
        </p:nvSpPr>
        <p:spPr>
          <a:xfrm>
            <a:off x="3720755" y="2467051"/>
            <a:ext cx="138257" cy="26883"/>
          </a:xfrm>
          <a:prstGeom prst="rect">
            <a:avLst/>
          </a:prstGeom>
          <a:solidFill>
            <a:srgbClr val="FFFFFF">
              <a:alpha val="65000"/>
            </a:srgbClr>
          </a:solidFill>
          <a:ln/>
        </p:spPr>
      </p:sp>
      <p:sp>
        <p:nvSpPr>
          <p:cNvPr id="40" name="Shape 38"/>
          <p:cNvSpPr/>
          <p:nvPr/>
        </p:nvSpPr>
        <p:spPr>
          <a:xfrm>
            <a:off x="3766840" y="2582266"/>
            <a:ext cx="46086" cy="53767"/>
          </a:xfrm>
          <a:prstGeom prst="rect">
            <a:avLst/>
          </a:prstGeom>
          <a:solidFill>
            <a:srgbClr val="3FA34D">
              <a:alpha val="60000"/>
            </a:srgbClr>
          </a:solidFill>
          <a:ln/>
        </p:spPr>
      </p:sp>
      <p:sp>
        <p:nvSpPr>
          <p:cNvPr id="41" name="Shape 39"/>
          <p:cNvSpPr/>
          <p:nvPr/>
        </p:nvSpPr>
        <p:spPr>
          <a:xfrm>
            <a:off x="4093464" y="2423160"/>
            <a:ext cx="676656" cy="164592"/>
          </a:xfrm>
          <a:prstGeom prst="leftRightArrow">
            <a:avLst/>
          </a:prstGeom>
          <a:solidFill>
            <a:srgbClr val="3FA34D"/>
          </a:solidFill>
          <a:ln/>
        </p:spPr>
      </p:sp>
      <p:sp>
        <p:nvSpPr>
          <p:cNvPr id="42" name="Shape 40"/>
          <p:cNvSpPr/>
          <p:nvPr/>
        </p:nvSpPr>
        <p:spPr>
          <a:xfrm>
            <a:off x="5007498" y="2336475"/>
            <a:ext cx="92172" cy="92172"/>
          </a:xfrm>
          <a:prstGeom prst="ellipse">
            <a:avLst/>
          </a:prstGeom>
          <a:solidFill>
            <a:srgbClr val="5F7183"/>
          </a:solidFill>
          <a:ln/>
        </p:spPr>
      </p:sp>
      <p:sp>
        <p:nvSpPr>
          <p:cNvPr id="43" name="Shape 41"/>
          <p:cNvSpPr/>
          <p:nvPr/>
        </p:nvSpPr>
        <p:spPr>
          <a:xfrm>
            <a:off x="4992136" y="2440168"/>
            <a:ext cx="122895" cy="138257"/>
          </a:xfrm>
          <a:prstGeom prst="roundRect">
            <a:avLst>
              <a:gd name="adj" fmla="val 223215"/>
            </a:avLst>
          </a:prstGeom>
          <a:solidFill>
            <a:srgbClr val="5F7183"/>
          </a:solidFill>
          <a:ln/>
        </p:spPr>
      </p:sp>
      <p:sp>
        <p:nvSpPr>
          <p:cNvPr id="44" name="Shape 42"/>
          <p:cNvSpPr/>
          <p:nvPr/>
        </p:nvSpPr>
        <p:spPr>
          <a:xfrm rot="480000">
            <a:off x="4999817" y="2574585"/>
            <a:ext cx="34564" cy="99852"/>
          </a:xfrm>
          <a:prstGeom prst="rect">
            <a:avLst/>
          </a:prstGeom>
          <a:solidFill>
            <a:srgbClr val="5F7183"/>
          </a:solidFill>
          <a:ln/>
        </p:spPr>
      </p:sp>
      <p:sp>
        <p:nvSpPr>
          <p:cNvPr id="45" name="Shape 43"/>
          <p:cNvSpPr/>
          <p:nvPr/>
        </p:nvSpPr>
        <p:spPr>
          <a:xfrm rot="-480000">
            <a:off x="5072786" y="2574585"/>
            <a:ext cx="34564" cy="99852"/>
          </a:xfrm>
          <a:prstGeom prst="rect">
            <a:avLst/>
          </a:prstGeom>
          <a:solidFill>
            <a:srgbClr val="5F7183"/>
          </a:solidFill>
          <a:ln/>
        </p:spPr>
      </p:sp>
      <p:sp>
        <p:nvSpPr>
          <p:cNvPr id="46" name="Shape 44"/>
          <p:cNvSpPr/>
          <p:nvPr/>
        </p:nvSpPr>
        <p:spPr>
          <a:xfrm>
            <a:off x="3398520" y="3054096"/>
            <a:ext cx="2346960" cy="676656"/>
          </a:xfrm>
          <a:prstGeom prst="roundRect">
            <a:avLst>
              <a:gd name="adj" fmla="val 9459"/>
            </a:avLst>
          </a:prstGeom>
          <a:solidFill>
            <a:srgbClr val="EAF6F4"/>
          </a:solidFill>
          <a:ln/>
        </p:spPr>
      </p:sp>
      <p:sp>
        <p:nvSpPr>
          <p:cNvPr id="47" name="Text 45"/>
          <p:cNvSpPr txBox="1"/>
          <p:nvPr/>
        </p:nvSpPr>
        <p:spPr>
          <a:xfrm>
            <a:off x="3471672"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Tự bắn tín hiệu ra. Đêm giống hệt ngày.</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訊號自己發出去。晚上跟白天一模一樣。</a:t>
            </a:r>
            <a:endParaRPr lang="en-US" sz="1050" dirty="0"/>
          </a:p>
        </p:txBody>
      </p:sp>
      <p:sp>
        <p:nvSpPr>
          <p:cNvPr id="48" name="Shape 46"/>
          <p:cNvSpPr/>
          <p:nvPr/>
        </p:nvSpPr>
        <p:spPr>
          <a:xfrm>
            <a:off x="6074664" y="1133856"/>
            <a:ext cx="2566416" cy="2706624"/>
          </a:xfrm>
          <a:prstGeom prst="roundRect">
            <a:avLst>
              <a:gd name="adj" fmla="val 3563"/>
            </a:avLst>
          </a:prstGeom>
          <a:solidFill>
            <a:srgbClr val="F4F7FA"/>
          </a:solidFill>
          <a:ln w="12700">
            <a:solidFill>
              <a:srgbClr val="DBE3EA"/>
            </a:solidFill>
            <a:prstDash val="solid"/>
          </a:ln>
        </p:spPr>
      </p:sp>
      <p:sp>
        <p:nvSpPr>
          <p:cNvPr id="49" name="Text 47"/>
          <p:cNvSpPr txBox="1"/>
          <p:nvPr/>
        </p:nvSpPr>
        <p:spPr>
          <a:xfrm>
            <a:off x="6184392"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Vật tự phát</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自體：物體自己在發</a:t>
            </a:r>
            <a:endParaRPr lang="en-US" sz="1300" dirty="0"/>
          </a:p>
        </p:txBody>
      </p:sp>
      <p:sp>
        <p:nvSpPr>
          <p:cNvPr id="50" name="Text 48"/>
          <p:cNvSpPr txBox="1"/>
          <p:nvPr/>
        </p:nvSpPr>
        <p:spPr>
          <a:xfrm>
            <a:off x="6184392"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Ảnh nhiệt</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熱像</a:t>
            </a:r>
            <a:endParaRPr lang="en-US" sz="1050" dirty="0"/>
          </a:p>
        </p:txBody>
      </p:sp>
      <p:sp>
        <p:nvSpPr>
          <p:cNvPr id="51" name="Shape 49"/>
          <p:cNvSpPr/>
          <p:nvPr/>
        </p:nvSpPr>
        <p:spPr>
          <a:xfrm>
            <a:off x="6641226" y="2336475"/>
            <a:ext cx="92172" cy="92172"/>
          </a:xfrm>
          <a:prstGeom prst="ellipse">
            <a:avLst/>
          </a:prstGeom>
          <a:solidFill>
            <a:srgbClr val="D9463E"/>
          </a:solidFill>
          <a:ln/>
        </p:spPr>
      </p:sp>
      <p:sp>
        <p:nvSpPr>
          <p:cNvPr id="52" name="Shape 50"/>
          <p:cNvSpPr/>
          <p:nvPr/>
        </p:nvSpPr>
        <p:spPr>
          <a:xfrm>
            <a:off x="6625864" y="2440168"/>
            <a:ext cx="122895" cy="138257"/>
          </a:xfrm>
          <a:prstGeom prst="roundRect">
            <a:avLst>
              <a:gd name="adj" fmla="val 223215"/>
            </a:avLst>
          </a:prstGeom>
          <a:solidFill>
            <a:srgbClr val="D9463E"/>
          </a:solidFill>
          <a:ln/>
        </p:spPr>
      </p:sp>
      <p:sp>
        <p:nvSpPr>
          <p:cNvPr id="53" name="Shape 51"/>
          <p:cNvSpPr/>
          <p:nvPr/>
        </p:nvSpPr>
        <p:spPr>
          <a:xfrm rot="480000">
            <a:off x="6633545" y="2574585"/>
            <a:ext cx="34564" cy="99852"/>
          </a:xfrm>
          <a:prstGeom prst="rect">
            <a:avLst/>
          </a:prstGeom>
          <a:solidFill>
            <a:srgbClr val="D9463E"/>
          </a:solidFill>
          <a:ln/>
        </p:spPr>
      </p:sp>
      <p:sp>
        <p:nvSpPr>
          <p:cNvPr id="54" name="Shape 52"/>
          <p:cNvSpPr/>
          <p:nvPr/>
        </p:nvSpPr>
        <p:spPr>
          <a:xfrm rot="-480000">
            <a:off x="6706514" y="2574585"/>
            <a:ext cx="34564" cy="99852"/>
          </a:xfrm>
          <a:prstGeom prst="rect">
            <a:avLst/>
          </a:prstGeom>
          <a:solidFill>
            <a:srgbClr val="D9463E"/>
          </a:solidFill>
          <a:ln/>
        </p:spPr>
      </p:sp>
      <p:sp>
        <p:nvSpPr>
          <p:cNvPr id="55" name="Shape 53"/>
          <p:cNvSpPr/>
          <p:nvPr/>
        </p:nvSpPr>
        <p:spPr>
          <a:xfrm>
            <a:off x="6403848" y="2221992"/>
            <a:ext cx="566928" cy="566928"/>
          </a:xfrm>
          <a:prstGeom prst="arc">
            <a:avLst>
              <a:gd name="adj1" fmla="val 18000000"/>
              <a:gd name="adj2" fmla="val 3600000"/>
            </a:avLst>
          </a:prstGeom>
          <a:noFill/>
          <a:ln w="15240">
            <a:solidFill>
              <a:srgbClr val="D9463E"/>
            </a:solidFill>
            <a:prstDash val="solid"/>
          </a:ln>
        </p:spPr>
      </p:sp>
      <p:sp>
        <p:nvSpPr>
          <p:cNvPr id="56" name="Shape 54"/>
          <p:cNvSpPr/>
          <p:nvPr/>
        </p:nvSpPr>
        <p:spPr>
          <a:xfrm>
            <a:off x="6348984" y="2167128"/>
            <a:ext cx="676656" cy="676656"/>
          </a:xfrm>
          <a:prstGeom prst="arc">
            <a:avLst>
              <a:gd name="adj1" fmla="val 18000000"/>
              <a:gd name="adj2" fmla="val 3600000"/>
            </a:avLst>
          </a:prstGeom>
          <a:noFill/>
          <a:ln w="15240">
            <a:solidFill>
              <a:srgbClr val="D9463E">
                <a:alpha val="75000"/>
              </a:srgbClr>
            </a:solidFill>
            <a:prstDash val="solid"/>
          </a:ln>
        </p:spPr>
      </p:sp>
      <p:sp>
        <p:nvSpPr>
          <p:cNvPr id="57" name="Shape 55"/>
          <p:cNvSpPr/>
          <p:nvPr/>
        </p:nvSpPr>
        <p:spPr>
          <a:xfrm>
            <a:off x="6294120" y="2112264"/>
            <a:ext cx="786384" cy="786384"/>
          </a:xfrm>
          <a:prstGeom prst="arc">
            <a:avLst>
              <a:gd name="adj1" fmla="val 18000000"/>
              <a:gd name="adj2" fmla="val 3600000"/>
            </a:avLst>
          </a:prstGeom>
          <a:noFill/>
          <a:ln w="15240">
            <a:solidFill>
              <a:srgbClr val="D9463E">
                <a:alpha val="50000"/>
              </a:srgbClr>
            </a:solidFill>
            <a:prstDash val="solid"/>
          </a:ln>
        </p:spPr>
      </p:sp>
      <p:sp>
        <p:nvSpPr>
          <p:cNvPr id="58" name="Shape 56"/>
          <p:cNvSpPr/>
          <p:nvPr/>
        </p:nvSpPr>
        <p:spPr>
          <a:xfrm>
            <a:off x="7373112" y="2423160"/>
            <a:ext cx="384048" cy="164592"/>
          </a:xfrm>
          <a:prstGeom prst="rightArrow">
            <a:avLst/>
          </a:prstGeom>
          <a:solidFill>
            <a:srgbClr val="D9463E"/>
          </a:solidFill>
          <a:ln/>
        </p:spPr>
      </p:sp>
      <p:sp>
        <p:nvSpPr>
          <p:cNvPr id="59" name="Shape 57"/>
          <p:cNvSpPr/>
          <p:nvPr/>
        </p:nvSpPr>
        <p:spPr>
          <a:xfrm>
            <a:off x="7871643" y="2420965"/>
            <a:ext cx="337962" cy="192024"/>
          </a:xfrm>
          <a:prstGeom prst="roundRect">
            <a:avLst>
              <a:gd name="adj" fmla="val 66667"/>
            </a:avLst>
          </a:prstGeom>
          <a:solidFill>
            <a:srgbClr val="D9463E"/>
          </a:solidFill>
          <a:ln/>
        </p:spPr>
      </p:sp>
      <p:sp>
        <p:nvSpPr>
          <p:cNvPr id="60" name="Shape 58"/>
          <p:cNvSpPr/>
          <p:nvPr/>
        </p:nvSpPr>
        <p:spPr>
          <a:xfrm>
            <a:off x="7948452" y="2382561"/>
            <a:ext cx="99852" cy="46086"/>
          </a:xfrm>
          <a:prstGeom prst="roundRect">
            <a:avLst>
              <a:gd name="adj" fmla="val 595235"/>
            </a:avLst>
          </a:prstGeom>
          <a:solidFill>
            <a:srgbClr val="D9463E"/>
          </a:solidFill>
          <a:ln/>
        </p:spPr>
      </p:sp>
      <p:sp>
        <p:nvSpPr>
          <p:cNvPr id="61" name="Shape 59"/>
          <p:cNvSpPr/>
          <p:nvPr/>
        </p:nvSpPr>
        <p:spPr>
          <a:xfrm>
            <a:off x="7979176" y="2451689"/>
            <a:ext cx="122895" cy="122895"/>
          </a:xfrm>
          <a:prstGeom prst="ellipse">
            <a:avLst/>
          </a:prstGeom>
          <a:solidFill>
            <a:srgbClr val="FFFFFF"/>
          </a:solidFill>
          <a:ln/>
        </p:spPr>
      </p:sp>
      <p:sp>
        <p:nvSpPr>
          <p:cNvPr id="62" name="Shape 60"/>
          <p:cNvSpPr/>
          <p:nvPr/>
        </p:nvSpPr>
        <p:spPr>
          <a:xfrm>
            <a:off x="8006060" y="2478573"/>
            <a:ext cx="69129" cy="69129"/>
          </a:xfrm>
          <a:prstGeom prst="ellipse">
            <a:avLst/>
          </a:prstGeom>
          <a:solidFill>
            <a:srgbClr val="D9463E">
              <a:alpha val="70000"/>
            </a:srgbClr>
          </a:solidFill>
          <a:ln/>
        </p:spPr>
      </p:sp>
      <p:sp>
        <p:nvSpPr>
          <p:cNvPr id="63" name="Shape 61"/>
          <p:cNvSpPr/>
          <p:nvPr/>
        </p:nvSpPr>
        <p:spPr>
          <a:xfrm>
            <a:off x="8132796" y="2444008"/>
            <a:ext cx="38405" cy="38405"/>
          </a:xfrm>
          <a:prstGeom prst="ellipse">
            <a:avLst/>
          </a:prstGeom>
          <a:solidFill>
            <a:srgbClr val="FFFFFF">
              <a:alpha val="60000"/>
            </a:srgbClr>
          </a:solidFill>
          <a:ln/>
        </p:spPr>
      </p:sp>
      <p:sp>
        <p:nvSpPr>
          <p:cNvPr id="64" name="Shape 62"/>
          <p:cNvSpPr/>
          <p:nvPr/>
        </p:nvSpPr>
        <p:spPr>
          <a:xfrm>
            <a:off x="6184392" y="3054096"/>
            <a:ext cx="2346960" cy="676656"/>
          </a:xfrm>
          <a:prstGeom prst="roundRect">
            <a:avLst>
              <a:gd name="adj" fmla="val 9459"/>
            </a:avLst>
          </a:prstGeom>
          <a:solidFill>
            <a:srgbClr val="EAF6F4"/>
          </a:solidFill>
          <a:ln/>
        </p:spPr>
      </p:sp>
      <p:sp>
        <p:nvSpPr>
          <p:cNvPr id="65" name="Text 63"/>
          <p:cNvSpPr txBox="1"/>
          <p:nvPr/>
        </p:nvSpPr>
        <p:spPr>
          <a:xfrm>
            <a:off x="6257544"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Người luôn 37°C. Ban đêm còn rõ hơn.</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人體恆溫 37 度。晚上比白天更清楚。</a:t>
            </a:r>
            <a:endParaRPr lang="en-US" sz="1050" dirty="0"/>
          </a:p>
        </p:txBody>
      </p:sp>
      <p:sp>
        <p:nvSpPr>
          <p:cNvPr id="66" name="Shape 6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67" name="Text 6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Ban đêm chỉ hỏng camera — đó là một trong những lý do xe tự lái không thể chỉ dùng camera.</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夜間只壞相機——這就是自駕車不能只靠相機的理由之一。</a:t>
            </a:r>
            <a:endParaRPr lang="en-US" sz="1200" dirty="0"/>
          </a:p>
        </p:txBody>
      </p:sp>
      <p:pic>
        <p:nvPicPr>
          <p:cNvPr id="6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0" name="Text 6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71" name="Text 6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2 · 第二輪上台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Vẫn 40 m. Về nắng, rồi chỉ đổi sang sương mù dày.</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還是 40 公尺。先回到晴天，再只改成濃霧。</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So với ban đêm: lần này có gì khác?</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跟剛才的夜間比：這次哪裡不一樣？</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Đọc số điểm LiDAR. Nó từ 15 xuống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唸光達的點數。從 15 掉到多少？</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Trong sáu thẻ, ai gần như không bị ảnh hưởng?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六張卡裡，誰幾乎沒受影響？</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Sương mù là giọt nước nhỏ trong không khí — nó tán xạ cả ánh sáng lẫn tia laser.</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霧是空氣裡的小水滴——它會把光和雷射一起散射掉。</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3 · 第三輪上台：從小雨一路按到大雨</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vẫn ở 40 m. Bấm lần lượt: nắng → mưa nhỏ → mưa vừa → mưa to.</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行人留在 40 公尺。依序按：晴天 → 小雨 → 中雨 → 大雨。</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Từ nắng tới mưa vừa: sai số của camera có đổi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從晴天按到中雨：相機的誤差有變嗎？</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sang mưa to: thẻ camera xảy ra chuyện gì?</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按到大雨的那一下：相機那張卡發生了什麼事？</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Suốt bốn lần bấm, thẻ nào không hề nhúc nhích?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按了四次，哪一張卡從頭到尾動都沒動？</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Mưa không làm camera “mờ đi” — nó làm camera “không nhìn được xa tới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雨不是讓相機「變模糊」，是讓它「看不到那麼遠」。這兩件事差很多。</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Bước sóng lớn hơn hạt nước thì vòng qua được</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波長跟水滴比大小：比水滴大就繞得過去，比水滴小就被擋住</a:t>
            </a:r>
            <a:endParaRPr lang="en-US" sz="2200" dirty="0"/>
          </a:p>
        </p:txBody>
      </p:sp>
      <p:sp>
        <p:nvSpPr>
          <p:cNvPr id="3" name="Shape 1"/>
          <p:cNvSpPr/>
          <p:nvPr/>
        </p:nvSpPr>
        <p:spPr>
          <a:xfrm>
            <a:off x="2468880" y="1737360"/>
            <a:ext cx="0" cy="356616"/>
          </a:xfrm>
          <a:prstGeom prst="line">
            <a:avLst/>
          </a:prstGeom>
          <a:noFill/>
          <a:ln w="19050">
            <a:solidFill>
              <a:srgbClr val="D9463E"/>
            </a:solidFill>
            <a:prstDash val="dash"/>
          </a:ln>
        </p:spPr>
      </p:sp>
      <p:sp>
        <p:nvSpPr>
          <p:cNvPr id="4" name="Shape 2"/>
          <p:cNvSpPr/>
          <p:nvPr/>
        </p:nvSpPr>
        <p:spPr>
          <a:xfrm>
            <a:off x="2414016" y="2039112"/>
            <a:ext cx="109728" cy="109728"/>
          </a:xfrm>
          <a:prstGeom prst="ellipse">
            <a:avLst/>
          </a:prstGeom>
          <a:solidFill>
            <a:srgbClr val="D9463E"/>
          </a:solidFill>
          <a:ln/>
        </p:spPr>
      </p:sp>
      <p:sp>
        <p:nvSpPr>
          <p:cNvPr id="5" name="Text 3"/>
          <p:cNvSpPr txBox="1"/>
          <p:nvPr/>
        </p:nvSpPr>
        <p:spPr>
          <a:xfrm>
            <a:off x="141732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D9463E"/>
                </a:solidFill>
                <a:latin typeface="Arial" pitchFamily="34" charset="0"/>
                <a:ea typeface="Arial" pitchFamily="34" charset="-122"/>
                <a:cs typeface="Arial" pitchFamily="34" charset="-120"/>
              </a:rPr>
              <a:t>Camera · LiDAR</a:t>
            </a:r>
            <a:endParaRPr lang="en-US" sz="1150" dirty="0"/>
          </a:p>
          <a:p>
            <a:pPr algn="ctr" indent="0" marL="0">
              <a:lnSpc>
                <a:spcPct val="106000"/>
              </a:lnSpc>
              <a:buNone/>
            </a:pPr>
            <a:r>
              <a:rPr lang="en-US" sz="1000" dirty="0">
                <a:solidFill>
                  <a:srgbClr val="D9463E"/>
                </a:solidFill>
                <a:latin typeface="微軟正黑體" pitchFamily="34" charset="0"/>
                <a:ea typeface="微軟正黑體" pitchFamily="34" charset="-122"/>
                <a:cs typeface="微軟正黑體" pitchFamily="34" charset="-120"/>
              </a:rPr>
              <a:t>相機・光達</a:t>
            </a:r>
            <a:endParaRPr lang="en-US" sz="1150" dirty="0"/>
          </a:p>
        </p:txBody>
      </p:sp>
      <p:sp>
        <p:nvSpPr>
          <p:cNvPr id="6" name="Text 4"/>
          <p:cNvSpPr txBox="1"/>
          <p:nvPr/>
        </p:nvSpPr>
        <p:spPr>
          <a:xfrm>
            <a:off x="141732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D9463E"/>
                </a:solidFill>
                <a:latin typeface="Arial" pitchFamily="34" charset="0"/>
                <a:ea typeface="Arial" pitchFamily="34" charset="-122"/>
                <a:cs typeface="Arial" pitchFamily="34" charset="-120"/>
              </a:rPr>
              <a:t>≈ 1 µm</a:t>
            </a:r>
            <a:endParaRPr lang="en-US" sz="1000" dirty="0"/>
          </a:p>
        </p:txBody>
      </p:sp>
      <p:sp>
        <p:nvSpPr>
          <p:cNvPr id="7" name="Shape 5"/>
          <p:cNvSpPr/>
          <p:nvPr/>
        </p:nvSpPr>
        <p:spPr>
          <a:xfrm>
            <a:off x="3931920" y="1737360"/>
            <a:ext cx="0" cy="356616"/>
          </a:xfrm>
          <a:prstGeom prst="line">
            <a:avLst/>
          </a:prstGeom>
          <a:noFill/>
          <a:ln w="19050">
            <a:solidFill>
              <a:srgbClr val="E08A00"/>
            </a:solidFill>
            <a:prstDash val="dash"/>
          </a:ln>
        </p:spPr>
      </p:sp>
      <p:sp>
        <p:nvSpPr>
          <p:cNvPr id="8" name="Shape 6"/>
          <p:cNvSpPr/>
          <p:nvPr/>
        </p:nvSpPr>
        <p:spPr>
          <a:xfrm>
            <a:off x="3877056" y="2039112"/>
            <a:ext cx="109728" cy="109728"/>
          </a:xfrm>
          <a:prstGeom prst="ellipse">
            <a:avLst/>
          </a:prstGeom>
          <a:solidFill>
            <a:srgbClr val="E08A00"/>
          </a:solidFill>
          <a:ln/>
        </p:spPr>
      </p:sp>
      <p:sp>
        <p:nvSpPr>
          <p:cNvPr id="9" name="Text 7"/>
          <p:cNvSpPr txBox="1"/>
          <p:nvPr/>
        </p:nvSpPr>
        <p:spPr>
          <a:xfrm>
            <a:off x="288036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E08A00"/>
                </a:solidFill>
                <a:latin typeface="Arial" pitchFamily="34" charset="0"/>
                <a:ea typeface="Arial" pitchFamily="34" charset="-122"/>
                <a:cs typeface="Arial" pitchFamily="34" charset="-120"/>
              </a:rPr>
              <a:t>Ảnh nhiệt</a:t>
            </a:r>
            <a:endParaRPr lang="en-US" sz="1150" dirty="0"/>
          </a:p>
          <a:p>
            <a:pPr algn="ctr" indent="0" marL="0">
              <a:lnSpc>
                <a:spcPct val="106000"/>
              </a:lnSpc>
              <a:buNone/>
            </a:pPr>
            <a:r>
              <a:rPr lang="en-US" sz="1000" dirty="0">
                <a:solidFill>
                  <a:srgbClr val="E08A00"/>
                </a:solidFill>
                <a:latin typeface="微軟正黑體" pitchFamily="34" charset="0"/>
                <a:ea typeface="微軟正黑體" pitchFamily="34" charset="-122"/>
                <a:cs typeface="微軟正黑體" pitchFamily="34" charset="-120"/>
              </a:rPr>
              <a:t>熱像</a:t>
            </a:r>
            <a:endParaRPr lang="en-US" sz="1150" dirty="0"/>
          </a:p>
        </p:txBody>
      </p:sp>
      <p:sp>
        <p:nvSpPr>
          <p:cNvPr id="10" name="Text 8"/>
          <p:cNvSpPr txBox="1"/>
          <p:nvPr/>
        </p:nvSpPr>
        <p:spPr>
          <a:xfrm>
            <a:off x="288036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E08A00"/>
                </a:solidFill>
                <a:latin typeface="Arial" pitchFamily="34" charset="0"/>
                <a:ea typeface="Arial" pitchFamily="34" charset="-122"/>
                <a:cs typeface="Arial" pitchFamily="34" charset="-120"/>
              </a:rPr>
              <a:t>≈ 10 µm</a:t>
            </a:r>
            <a:endParaRPr lang="en-US" sz="1000" dirty="0"/>
          </a:p>
        </p:txBody>
      </p:sp>
      <p:sp>
        <p:nvSpPr>
          <p:cNvPr id="11" name="Shape 9"/>
          <p:cNvSpPr/>
          <p:nvPr/>
        </p:nvSpPr>
        <p:spPr>
          <a:xfrm>
            <a:off x="7721194" y="1737360"/>
            <a:ext cx="0" cy="356616"/>
          </a:xfrm>
          <a:prstGeom prst="line">
            <a:avLst/>
          </a:prstGeom>
          <a:noFill/>
          <a:ln w="19050">
            <a:solidFill>
              <a:srgbClr val="2E7D32"/>
            </a:solidFill>
            <a:prstDash val="dash"/>
          </a:ln>
        </p:spPr>
      </p:sp>
      <p:sp>
        <p:nvSpPr>
          <p:cNvPr id="12" name="Shape 10"/>
          <p:cNvSpPr/>
          <p:nvPr/>
        </p:nvSpPr>
        <p:spPr>
          <a:xfrm>
            <a:off x="7666330" y="2039112"/>
            <a:ext cx="109728" cy="109728"/>
          </a:xfrm>
          <a:prstGeom prst="ellipse">
            <a:avLst/>
          </a:prstGeom>
          <a:solidFill>
            <a:srgbClr val="2E7D32"/>
          </a:solidFill>
          <a:ln/>
        </p:spPr>
      </p:sp>
      <p:sp>
        <p:nvSpPr>
          <p:cNvPr id="13" name="Text 11"/>
          <p:cNvSpPr txBox="1"/>
          <p:nvPr/>
        </p:nvSpPr>
        <p:spPr>
          <a:xfrm>
            <a:off x="6669634"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2E7D32"/>
                </a:solidFill>
                <a:latin typeface="Arial" pitchFamily="34" charset="0"/>
                <a:ea typeface="Arial" pitchFamily="34" charset="-122"/>
                <a:cs typeface="Arial" pitchFamily="34" charset="-120"/>
              </a:rPr>
              <a:t>Radar</a:t>
            </a:r>
            <a:endParaRPr lang="en-US" sz="1150" dirty="0"/>
          </a:p>
          <a:p>
            <a:pPr algn="ctr" indent="0" marL="0">
              <a:lnSpc>
                <a:spcPct val="106000"/>
              </a:lnSpc>
              <a:buNone/>
            </a:pPr>
            <a:r>
              <a:rPr lang="en-US" sz="1000" dirty="0">
                <a:solidFill>
                  <a:srgbClr val="2E7D32"/>
                </a:solidFill>
                <a:latin typeface="微軟正黑體" pitchFamily="34" charset="0"/>
                <a:ea typeface="微軟正黑體" pitchFamily="34" charset="-122"/>
                <a:cs typeface="微軟正黑體" pitchFamily="34" charset="-120"/>
              </a:rPr>
              <a:t>雷達</a:t>
            </a:r>
            <a:endParaRPr lang="en-US" sz="1150" dirty="0"/>
          </a:p>
        </p:txBody>
      </p:sp>
      <p:sp>
        <p:nvSpPr>
          <p:cNvPr id="14" name="Text 12"/>
          <p:cNvSpPr txBox="1"/>
          <p:nvPr/>
        </p:nvSpPr>
        <p:spPr>
          <a:xfrm>
            <a:off x="6669634"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2E7D32"/>
                </a:solidFill>
                <a:latin typeface="Arial" pitchFamily="34" charset="0"/>
                <a:ea typeface="Arial" pitchFamily="34" charset="-122"/>
                <a:cs typeface="Arial" pitchFamily="34" charset="-120"/>
              </a:rPr>
              <a:t>≈ 4 mm (77 GHz)</a:t>
            </a:r>
            <a:endParaRPr lang="en-US" sz="1000" dirty="0"/>
          </a:p>
        </p:txBody>
      </p:sp>
      <p:sp>
        <p:nvSpPr>
          <p:cNvPr id="15" name="Shape 13"/>
          <p:cNvSpPr/>
          <p:nvPr/>
        </p:nvSpPr>
        <p:spPr>
          <a:xfrm>
            <a:off x="777240" y="2093976"/>
            <a:ext cx="7772400" cy="0"/>
          </a:xfrm>
          <a:prstGeom prst="line">
            <a:avLst/>
          </a:prstGeom>
          <a:noFill/>
          <a:ln w="25400">
            <a:solidFill>
              <a:srgbClr val="1A2733"/>
            </a:solidFill>
            <a:prstDash val="solid"/>
          </a:ln>
        </p:spPr>
      </p:sp>
      <p:sp>
        <p:nvSpPr>
          <p:cNvPr id="16" name="Shape 14"/>
          <p:cNvSpPr/>
          <p:nvPr/>
        </p:nvSpPr>
        <p:spPr>
          <a:xfrm>
            <a:off x="1005840" y="2093976"/>
            <a:ext cx="0" cy="73152"/>
          </a:xfrm>
          <a:prstGeom prst="line">
            <a:avLst/>
          </a:prstGeom>
          <a:noFill/>
          <a:ln w="12700">
            <a:solidFill>
              <a:srgbClr val="5F7183"/>
            </a:solidFill>
            <a:prstDash val="solid"/>
          </a:ln>
        </p:spPr>
      </p:sp>
      <p:sp>
        <p:nvSpPr>
          <p:cNvPr id="17" name="Text 15"/>
          <p:cNvSpPr txBox="1"/>
          <p:nvPr/>
        </p:nvSpPr>
        <p:spPr>
          <a:xfrm>
            <a:off x="5943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0,1 µm</a:t>
            </a:r>
            <a:endParaRPr lang="en-US" sz="900" dirty="0"/>
          </a:p>
        </p:txBody>
      </p:sp>
      <p:sp>
        <p:nvSpPr>
          <p:cNvPr id="18" name="Shape 16"/>
          <p:cNvSpPr/>
          <p:nvPr/>
        </p:nvSpPr>
        <p:spPr>
          <a:xfrm>
            <a:off x="2468880" y="2093976"/>
            <a:ext cx="0" cy="73152"/>
          </a:xfrm>
          <a:prstGeom prst="line">
            <a:avLst/>
          </a:prstGeom>
          <a:noFill/>
          <a:ln w="12700">
            <a:solidFill>
              <a:srgbClr val="5F7183"/>
            </a:solidFill>
            <a:prstDash val="solid"/>
          </a:ln>
        </p:spPr>
      </p:sp>
      <p:sp>
        <p:nvSpPr>
          <p:cNvPr id="19" name="Text 17"/>
          <p:cNvSpPr txBox="1"/>
          <p:nvPr/>
        </p:nvSpPr>
        <p:spPr>
          <a:xfrm>
            <a:off x="205740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µm</a:t>
            </a:r>
            <a:endParaRPr lang="en-US" sz="900" dirty="0"/>
          </a:p>
        </p:txBody>
      </p:sp>
      <p:sp>
        <p:nvSpPr>
          <p:cNvPr id="20" name="Shape 18"/>
          <p:cNvSpPr/>
          <p:nvPr/>
        </p:nvSpPr>
        <p:spPr>
          <a:xfrm>
            <a:off x="3931920" y="2093976"/>
            <a:ext cx="0" cy="73152"/>
          </a:xfrm>
          <a:prstGeom prst="line">
            <a:avLst/>
          </a:prstGeom>
          <a:noFill/>
          <a:ln w="12700">
            <a:solidFill>
              <a:srgbClr val="5F7183"/>
            </a:solidFill>
            <a:prstDash val="solid"/>
          </a:ln>
        </p:spPr>
      </p:sp>
      <p:sp>
        <p:nvSpPr>
          <p:cNvPr id="21" name="Text 19"/>
          <p:cNvSpPr txBox="1"/>
          <p:nvPr/>
        </p:nvSpPr>
        <p:spPr>
          <a:xfrm>
            <a:off x="352044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µm</a:t>
            </a:r>
            <a:endParaRPr lang="en-US" sz="900" dirty="0"/>
          </a:p>
        </p:txBody>
      </p:sp>
      <p:sp>
        <p:nvSpPr>
          <p:cNvPr id="22" name="Shape 20"/>
          <p:cNvSpPr/>
          <p:nvPr/>
        </p:nvSpPr>
        <p:spPr>
          <a:xfrm>
            <a:off x="5394960" y="2093976"/>
            <a:ext cx="0" cy="73152"/>
          </a:xfrm>
          <a:prstGeom prst="line">
            <a:avLst/>
          </a:prstGeom>
          <a:noFill/>
          <a:ln w="12700">
            <a:solidFill>
              <a:srgbClr val="5F7183"/>
            </a:solidFill>
            <a:prstDash val="solid"/>
          </a:ln>
        </p:spPr>
      </p:sp>
      <p:sp>
        <p:nvSpPr>
          <p:cNvPr id="23" name="Text 21"/>
          <p:cNvSpPr txBox="1"/>
          <p:nvPr/>
        </p:nvSpPr>
        <p:spPr>
          <a:xfrm>
            <a:off x="498348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100 µm</a:t>
            </a:r>
            <a:endParaRPr lang="en-US" sz="900" dirty="0"/>
          </a:p>
        </p:txBody>
      </p:sp>
      <p:sp>
        <p:nvSpPr>
          <p:cNvPr id="24" name="Shape 22"/>
          <p:cNvSpPr/>
          <p:nvPr/>
        </p:nvSpPr>
        <p:spPr>
          <a:xfrm>
            <a:off x="6858000" y="2093976"/>
            <a:ext cx="0" cy="73152"/>
          </a:xfrm>
          <a:prstGeom prst="line">
            <a:avLst/>
          </a:prstGeom>
          <a:noFill/>
          <a:ln w="12700">
            <a:solidFill>
              <a:srgbClr val="5F7183"/>
            </a:solidFill>
            <a:prstDash val="solid"/>
          </a:ln>
        </p:spPr>
      </p:sp>
      <p:sp>
        <p:nvSpPr>
          <p:cNvPr id="25" name="Text 23"/>
          <p:cNvSpPr txBox="1"/>
          <p:nvPr/>
        </p:nvSpPr>
        <p:spPr>
          <a:xfrm>
            <a:off x="644652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mm</a:t>
            </a:r>
            <a:endParaRPr lang="en-US" sz="900" dirty="0"/>
          </a:p>
        </p:txBody>
      </p:sp>
      <p:sp>
        <p:nvSpPr>
          <p:cNvPr id="26" name="Shape 24"/>
          <p:cNvSpPr/>
          <p:nvPr/>
        </p:nvSpPr>
        <p:spPr>
          <a:xfrm>
            <a:off x="8321040" y="2093976"/>
            <a:ext cx="0" cy="73152"/>
          </a:xfrm>
          <a:prstGeom prst="line">
            <a:avLst/>
          </a:prstGeom>
          <a:noFill/>
          <a:ln w="12700">
            <a:solidFill>
              <a:srgbClr val="5F7183"/>
            </a:solidFill>
            <a:prstDash val="solid"/>
          </a:ln>
        </p:spPr>
      </p:sp>
      <p:sp>
        <p:nvSpPr>
          <p:cNvPr id="27" name="Text 25"/>
          <p:cNvSpPr txBox="1"/>
          <p:nvPr/>
        </p:nvSpPr>
        <p:spPr>
          <a:xfrm>
            <a:off x="79095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mm</a:t>
            </a:r>
            <a:endParaRPr lang="en-US" sz="900" dirty="0"/>
          </a:p>
        </p:txBody>
      </p:sp>
      <p:sp>
        <p:nvSpPr>
          <p:cNvPr id="28" name="Shape 26"/>
          <p:cNvSpPr/>
          <p:nvPr/>
        </p:nvSpPr>
        <p:spPr>
          <a:xfrm>
            <a:off x="2468880" y="2459736"/>
            <a:ext cx="2487168" cy="292608"/>
          </a:xfrm>
          <a:prstGeom prst="roundRect">
            <a:avLst>
              <a:gd name="adj" fmla="val 15625"/>
            </a:avLst>
          </a:prstGeom>
          <a:solidFill>
            <a:srgbClr val="8FB8C9">
              <a:alpha val="45000"/>
            </a:srgbClr>
          </a:solidFill>
          <a:ln/>
        </p:spPr>
      </p:sp>
      <p:sp>
        <p:nvSpPr>
          <p:cNvPr id="29" name="Text 27"/>
          <p:cNvSpPr txBox="1"/>
          <p:nvPr/>
        </p:nvSpPr>
        <p:spPr>
          <a:xfrm>
            <a:off x="914400" y="242316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sương mù</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霧滴 1–50 µm</a:t>
            </a:r>
            <a:endParaRPr lang="en-US" sz="1050" dirty="0"/>
          </a:p>
        </p:txBody>
      </p:sp>
      <p:sp>
        <p:nvSpPr>
          <p:cNvPr id="30" name="Shape 28"/>
          <p:cNvSpPr/>
          <p:nvPr/>
        </p:nvSpPr>
        <p:spPr>
          <a:xfrm>
            <a:off x="6419088" y="2825496"/>
            <a:ext cx="877824" cy="292608"/>
          </a:xfrm>
          <a:prstGeom prst="roundRect">
            <a:avLst>
              <a:gd name="adj" fmla="val 15625"/>
            </a:avLst>
          </a:prstGeom>
          <a:solidFill>
            <a:srgbClr val="4A7FA5">
              <a:alpha val="45000"/>
            </a:srgbClr>
          </a:solidFill>
          <a:ln/>
        </p:spPr>
      </p:sp>
      <p:sp>
        <p:nvSpPr>
          <p:cNvPr id="31" name="Text 29"/>
          <p:cNvSpPr txBox="1"/>
          <p:nvPr/>
        </p:nvSpPr>
        <p:spPr>
          <a:xfrm>
            <a:off x="4864608" y="278892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mưa</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雨滴 0.5–2 mm</a:t>
            </a:r>
            <a:endParaRPr lang="en-US" sz="1050" dirty="0"/>
          </a:p>
        </p:txBody>
      </p:sp>
      <p:sp>
        <p:nvSpPr>
          <p:cNvPr id="32" name="Shape 30"/>
          <p:cNvSpPr/>
          <p:nvPr/>
        </p:nvSpPr>
        <p:spPr>
          <a:xfrm>
            <a:off x="502920" y="3246120"/>
            <a:ext cx="2639568" cy="658368"/>
          </a:xfrm>
          <a:prstGeom prst="roundRect">
            <a:avLst>
              <a:gd name="adj" fmla="val 9722"/>
            </a:avLst>
          </a:prstGeom>
          <a:solidFill>
            <a:srgbClr val="FDECEC"/>
          </a:solidFill>
          <a:ln/>
        </p:spPr>
      </p:sp>
      <p:sp>
        <p:nvSpPr>
          <p:cNvPr id="33" name="Text 31"/>
          <p:cNvSpPr txBox="1"/>
          <p:nvPr/>
        </p:nvSpPr>
        <p:spPr>
          <a:xfrm>
            <a:off x="594360"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A32C25"/>
                </a:solidFill>
                <a:latin typeface="Arial" pitchFamily="34" charset="0"/>
                <a:ea typeface="Arial" pitchFamily="34" charset="-122"/>
                <a:cs typeface="Arial" pitchFamily="34" charset="-120"/>
              </a:rPr>
              <a:t>Nhỏ hơn hạt nước → bị chặn</a:t>
            </a:r>
            <a:endParaRPr lang="en-US" sz="1100" dirty="0"/>
          </a:p>
          <a:p>
            <a:pPr algn="ctr" indent="0" marL="0">
              <a:lnSpc>
                <a:spcPct val="104000"/>
              </a:lnSpc>
              <a:buNone/>
            </a:pPr>
            <a:r>
              <a:rPr lang="en-US" sz="1000" dirty="0">
                <a:solidFill>
                  <a:srgbClr val="A32C25"/>
                </a:solidFill>
                <a:latin typeface="微軟正黑體" pitchFamily="34" charset="0"/>
                <a:ea typeface="微軟正黑體" pitchFamily="34" charset="-122"/>
                <a:cs typeface="微軟正黑體" pitchFamily="34" charset="-120"/>
              </a:rPr>
              <a:t>比水滴小 → 被擋住</a:t>
            </a:r>
            <a:endParaRPr lang="en-US" sz="1100" dirty="0"/>
          </a:p>
        </p:txBody>
      </p:sp>
      <p:sp>
        <p:nvSpPr>
          <p:cNvPr id="34" name="Text 32"/>
          <p:cNvSpPr txBox="1"/>
          <p:nvPr/>
        </p:nvSpPr>
        <p:spPr>
          <a:xfrm>
            <a:off x="594360"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A32C25"/>
                </a:solidFill>
                <a:latin typeface="Arial" pitchFamily="34" charset="0"/>
                <a:ea typeface="Arial" pitchFamily="34" charset="-122"/>
                <a:cs typeface="Arial" pitchFamily="34" charset="-120"/>
              </a:rPr>
              <a:t>Camera, LiDAR: sương mù ăn mạnh nhất</a:t>
            </a:r>
            <a:endParaRPr lang="en-US" sz="950" dirty="0"/>
          </a:p>
          <a:p>
            <a:pPr algn="ctr" indent="0" marL="0">
              <a:lnSpc>
                <a:spcPct val="102000"/>
              </a:lnSpc>
              <a:buNone/>
            </a:pPr>
            <a:r>
              <a:rPr lang="en-US" sz="900" dirty="0">
                <a:solidFill>
                  <a:srgbClr val="A32C25"/>
                </a:solidFill>
                <a:latin typeface="微軟正黑體" pitchFamily="34" charset="0"/>
                <a:ea typeface="微軟正黑體" pitchFamily="34" charset="-122"/>
                <a:cs typeface="微軟正黑體" pitchFamily="34" charset="-120"/>
              </a:rPr>
              <a:t>相機、光達：霧削得最兇</a:t>
            </a:r>
            <a:endParaRPr lang="en-US" sz="950" dirty="0"/>
          </a:p>
        </p:txBody>
      </p:sp>
      <p:sp>
        <p:nvSpPr>
          <p:cNvPr id="35" name="Shape 33"/>
          <p:cNvSpPr/>
          <p:nvPr/>
        </p:nvSpPr>
        <p:spPr>
          <a:xfrm>
            <a:off x="3252216" y="3246120"/>
            <a:ext cx="2639568" cy="658368"/>
          </a:xfrm>
          <a:prstGeom prst="roundRect">
            <a:avLst>
              <a:gd name="adj" fmla="val 9722"/>
            </a:avLst>
          </a:prstGeom>
          <a:solidFill>
            <a:srgbClr val="FFF6E3"/>
          </a:solidFill>
          <a:ln/>
        </p:spPr>
      </p:sp>
      <p:sp>
        <p:nvSpPr>
          <p:cNvPr id="36" name="Text 34"/>
          <p:cNvSpPr txBox="1"/>
          <p:nvPr/>
        </p:nvSpPr>
        <p:spPr>
          <a:xfrm>
            <a:off x="3343656"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8A5A00"/>
                </a:solidFill>
                <a:latin typeface="Arial" pitchFamily="34" charset="0"/>
                <a:ea typeface="Arial" pitchFamily="34" charset="-122"/>
                <a:cs typeface="Arial" pitchFamily="34" charset="-120"/>
              </a:rPr>
              <a:t>Cỡ bằng hạt nước → mất một phần</a:t>
            </a:r>
            <a:endParaRPr lang="en-US" sz="1100" dirty="0"/>
          </a:p>
          <a:p>
            <a:pPr algn="ctr" indent="0" marL="0">
              <a:lnSpc>
                <a:spcPct val="104000"/>
              </a:lnSpc>
              <a:buNone/>
            </a:pPr>
            <a:r>
              <a:rPr lang="en-US" sz="1000" dirty="0">
                <a:solidFill>
                  <a:srgbClr val="8A5A00"/>
                </a:solidFill>
                <a:latin typeface="微軟正黑體" pitchFamily="34" charset="0"/>
                <a:ea typeface="微軟正黑體" pitchFamily="34" charset="-122"/>
                <a:cs typeface="微軟正黑體" pitchFamily="34" charset="-120"/>
              </a:rPr>
              <a:t>跟水滴差不多 → 掉一部分</a:t>
            </a:r>
            <a:endParaRPr lang="en-US" sz="1100" dirty="0"/>
          </a:p>
        </p:txBody>
      </p:sp>
      <p:sp>
        <p:nvSpPr>
          <p:cNvPr id="37" name="Text 35"/>
          <p:cNvSpPr txBox="1"/>
          <p:nvPr/>
        </p:nvSpPr>
        <p:spPr>
          <a:xfrm>
            <a:off x="3343656"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8A5A00"/>
                </a:solidFill>
                <a:latin typeface="Arial" pitchFamily="34" charset="0"/>
                <a:ea typeface="Arial" pitchFamily="34" charset="-122"/>
                <a:cs typeface="Arial" pitchFamily="34" charset="-120"/>
              </a:rPr>
              <a:t>Ảnh nhiệt: 143 m → 90 m</a:t>
            </a:r>
            <a:endParaRPr lang="en-US" sz="950" dirty="0"/>
          </a:p>
          <a:p>
            <a:pPr algn="ctr" indent="0" marL="0">
              <a:lnSpc>
                <a:spcPct val="102000"/>
              </a:lnSpc>
              <a:buNone/>
            </a:pPr>
            <a:r>
              <a:rPr lang="en-US" sz="900" dirty="0">
                <a:solidFill>
                  <a:srgbClr val="8A5A00"/>
                </a:solidFill>
                <a:latin typeface="微軟正黑體" pitchFamily="34" charset="0"/>
                <a:ea typeface="微軟正黑體" pitchFamily="34" charset="-122"/>
                <a:cs typeface="微軟正黑體" pitchFamily="34" charset="-120"/>
              </a:rPr>
              <a:t>熱像：143 公尺 → 90 公尺</a:t>
            </a:r>
            <a:endParaRPr lang="en-US" sz="950" dirty="0"/>
          </a:p>
        </p:txBody>
      </p:sp>
      <p:sp>
        <p:nvSpPr>
          <p:cNvPr id="38" name="Shape 36"/>
          <p:cNvSpPr/>
          <p:nvPr/>
        </p:nvSpPr>
        <p:spPr>
          <a:xfrm>
            <a:off x="6001512" y="3246120"/>
            <a:ext cx="2639568" cy="658368"/>
          </a:xfrm>
          <a:prstGeom prst="roundRect">
            <a:avLst>
              <a:gd name="adj" fmla="val 9722"/>
            </a:avLst>
          </a:prstGeom>
          <a:solidFill>
            <a:srgbClr val="EAF6F4"/>
          </a:solidFill>
          <a:ln/>
        </p:spPr>
      </p:sp>
      <p:sp>
        <p:nvSpPr>
          <p:cNvPr id="39" name="Text 37"/>
          <p:cNvSpPr txBox="1"/>
          <p:nvPr/>
        </p:nvSpPr>
        <p:spPr>
          <a:xfrm>
            <a:off x="6092952"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2E7D32"/>
                </a:solidFill>
                <a:latin typeface="Arial" pitchFamily="34" charset="0"/>
                <a:ea typeface="Arial" pitchFamily="34" charset="-122"/>
                <a:cs typeface="Arial" pitchFamily="34" charset="-120"/>
              </a:rPr>
              <a:t>Lớn hơn hạt nước → vòng qua</a:t>
            </a:r>
            <a:endParaRPr lang="en-US" sz="1100" dirty="0"/>
          </a:p>
          <a:p>
            <a:pPr algn="ctr" indent="0" marL="0">
              <a:lnSpc>
                <a:spcPct val="104000"/>
              </a:lnSpc>
              <a:buNone/>
            </a:pPr>
            <a:r>
              <a:rPr lang="en-US" sz="1000" dirty="0">
                <a:solidFill>
                  <a:srgbClr val="2E7D32"/>
                </a:solidFill>
                <a:latin typeface="微軟正黑體" pitchFamily="34" charset="0"/>
                <a:ea typeface="微軟正黑體" pitchFamily="34" charset="-122"/>
                <a:cs typeface="微軟正黑體" pitchFamily="34" charset="-120"/>
              </a:rPr>
              <a:t>比水滴大 → 繞過去</a:t>
            </a:r>
            <a:endParaRPr lang="en-US" sz="1100" dirty="0"/>
          </a:p>
        </p:txBody>
      </p:sp>
      <p:sp>
        <p:nvSpPr>
          <p:cNvPr id="40" name="Text 38"/>
          <p:cNvSpPr txBox="1"/>
          <p:nvPr/>
        </p:nvSpPr>
        <p:spPr>
          <a:xfrm>
            <a:off x="6092952"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2E7D32"/>
                </a:solidFill>
                <a:latin typeface="Arial" pitchFamily="34" charset="0"/>
                <a:ea typeface="Arial" pitchFamily="34" charset="-122"/>
                <a:cs typeface="Arial" pitchFamily="34" charset="-120"/>
              </a:rPr>
              <a:t>Radar: gần như không đổi</a:t>
            </a:r>
            <a:endParaRPr lang="en-US" sz="950" dirty="0"/>
          </a:p>
          <a:p>
            <a:pPr algn="ctr" indent="0" marL="0">
              <a:lnSpc>
                <a:spcPct val="102000"/>
              </a:lnSpc>
              <a:buNone/>
            </a:pPr>
            <a:r>
              <a:rPr lang="en-US" sz="900" dirty="0">
                <a:solidFill>
                  <a:srgbClr val="2E7D32"/>
                </a:solidFill>
                <a:latin typeface="微軟正黑體" pitchFamily="34" charset="0"/>
                <a:ea typeface="微軟正黑體" pitchFamily="34" charset="-122"/>
                <a:cs typeface="微軟正黑體" pitchFamily="34" charset="-120"/>
              </a:rPr>
              <a:t>雷達：幾乎不受影響</a:t>
            </a:r>
            <a:endParaRPr lang="en-US" sz="950" dirty="0"/>
          </a:p>
        </p:txBody>
      </p:sp>
      <p:sp>
        <p:nvSpPr>
          <p:cNvPr id="41" name="Shape 39"/>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42" name="Text 40"/>
          <p:cNvSpPr txBox="1"/>
          <p:nvPr/>
        </p:nvSpPr>
        <p:spPr>
          <a:xfrm>
            <a:off x="685800" y="3995928"/>
            <a:ext cx="7772400" cy="457200"/>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Cùng một quy tắc giải thích cả sương mù lẫn mưa — chỉ khác cỡ hạt.</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同一條規則就解釋了霧和雨兩輪——差別只在水滴的大小。</a:t>
            </a:r>
            <a:endParaRPr lang="en-US" sz="1200" dirty="0"/>
          </a:p>
        </p:txBody>
      </p:sp>
      <p:pic>
        <p:nvPicPr>
          <p:cNvPr id="4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45" name="Text 4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15</a:t>
            </a:r>
            <a:endParaRPr lang="en-US" sz="900" dirty="0"/>
          </a:p>
        </p:txBody>
      </p:sp>
      <p:sp>
        <p:nvSpPr>
          <p:cNvPr id="46" name="Text 4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4 · 第四輪上台：先用規則推論，再按下去驗證</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Bông tuyết 1–10 mm. Bước sóng radar ~4 mm. Đoán trước: tuyết có làm radar kém không?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雪花 1–10 公釐，雷達波長約 4 公釐。先猜：下雪會不會連雷達都變差？</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Đoán trước, chưa bấm. Ai lớn hơn ai?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先猜，先不要按。雪花和雷達的波長，誰大？</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«Tuyết». Đọc bốn tầm hiệu dụng ở cột phải.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按下「下雪」。把四個有效距離唸出來。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Kéo người ra 180 m. So với mưa to và sương mù: khác chỗ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把行人拖到 180 公尺。跟大雨、濃霧比：差在哪裡？</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Đây là thời tiết duy nhất hôm nay kéo cả radar xuống.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這是今天唯一一種，連雷達都被拉下來的天氣。</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7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Chín điều kiện, ai còn nhìn được bao xa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九種條件，誰還看得到多遠</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325880"/>
                <a:gridCol w="749808"/>
                <a:gridCol w="749808"/>
                <a:gridCol w="749808"/>
                <a:gridCol w="749808"/>
                <a:gridCol w="3813048"/>
              </a:tblGrid>
              <a:tr h="32004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Điều kiện</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條件</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Camera</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LiDAR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Radar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Ảnh nhiệt</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Hỏng cái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壞的是什麼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晴天</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143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Mốc chuẩn của cả buổi học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全部比較的基準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Ban đêm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夜間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camera. Ảnh nhiệt còn tốt hơn một chút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只有相機。熱像還變好一點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Chói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逆光眩光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tệ nhất trong chín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九種裡相機最慘的一種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vừa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中雨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65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113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và LiDAR cùng ngắn lại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相機和光達一起變短</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to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大雨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ba cùng yếu đi, radar còn nhiều nhất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三種一起被削弱，雷達剩最多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Sương mù</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Tệ nhất cho camera; LiDAR mất hơn nửa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相機最慘；光達掉一半以上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Tuyết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下雪</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35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radar cũng kém: bông tuyết to cỡ bước sóng của nó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連雷達都掉了：雪花大小跟它的波長差不多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29404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Đơn vị: mét. Đây là tham số của mô hình lớp học, không phải thông số sản phẩm.</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單位：公尺。這是課堂模型的設定值，不是任何產品的規格。</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六項測試，兩台車，40 mph</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Có người thật sự lái vào sương mù, mưa và đèn pha để thử</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有人真的把車開進霧裡、雨裡、強光裡測</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372514" y="2174443"/>
            <a:ext cx="885139" cy="502920"/>
          </a:xfrm>
          <a:prstGeom prst="roundRect">
            <a:avLst>
              <a:gd name="adj" fmla="val 25455"/>
            </a:avLst>
          </a:prstGeom>
          <a:solidFill>
            <a:srgbClr val="0B1F3A"/>
          </a:solidFill>
          <a:ln/>
        </p:spPr>
      </p:sp>
      <p:sp>
        <p:nvSpPr>
          <p:cNvPr id="6" name="Shape 4"/>
          <p:cNvSpPr/>
          <p:nvPr/>
        </p:nvSpPr>
        <p:spPr>
          <a:xfrm>
            <a:off x="1573682" y="2073859"/>
            <a:ext cx="261518" cy="120701"/>
          </a:xfrm>
          <a:prstGeom prst="roundRect">
            <a:avLst>
              <a:gd name="adj" fmla="val 227272"/>
            </a:avLst>
          </a:prstGeom>
          <a:solidFill>
            <a:srgbClr val="0B1F3A"/>
          </a:solidFill>
          <a:ln/>
        </p:spPr>
      </p:sp>
      <p:sp>
        <p:nvSpPr>
          <p:cNvPr id="7" name="Shape 5"/>
          <p:cNvSpPr/>
          <p:nvPr/>
        </p:nvSpPr>
        <p:spPr>
          <a:xfrm>
            <a:off x="1654150" y="2254910"/>
            <a:ext cx="321869" cy="321869"/>
          </a:xfrm>
          <a:prstGeom prst="ellipse">
            <a:avLst/>
          </a:prstGeom>
          <a:solidFill>
            <a:srgbClr val="FFFFFF"/>
          </a:solidFill>
          <a:ln/>
        </p:spPr>
      </p:sp>
      <p:sp>
        <p:nvSpPr>
          <p:cNvPr id="8" name="Shape 6"/>
          <p:cNvSpPr/>
          <p:nvPr/>
        </p:nvSpPr>
        <p:spPr>
          <a:xfrm>
            <a:off x="1724558" y="2325319"/>
            <a:ext cx="181051" cy="181051"/>
          </a:xfrm>
          <a:prstGeom prst="ellipse">
            <a:avLst/>
          </a:prstGeom>
          <a:solidFill>
            <a:srgbClr val="0B1F3A">
              <a:alpha val="70000"/>
            </a:srgbClr>
          </a:solidFill>
          <a:ln/>
        </p:spPr>
      </p:sp>
      <p:sp>
        <p:nvSpPr>
          <p:cNvPr id="9" name="Shape 7"/>
          <p:cNvSpPr/>
          <p:nvPr/>
        </p:nvSpPr>
        <p:spPr>
          <a:xfrm>
            <a:off x="2056486" y="2234794"/>
            <a:ext cx="100584" cy="100584"/>
          </a:xfrm>
          <a:prstGeom prst="ellipse">
            <a:avLst/>
          </a:prstGeom>
          <a:solidFill>
            <a:srgbClr val="FFFFFF">
              <a:alpha val="60000"/>
            </a:srgbClr>
          </a:solidFill>
          <a:ln/>
        </p:spPr>
      </p:sp>
      <p:sp>
        <p:nvSpPr>
          <p:cNvPr id="10" name="Text 8"/>
          <p:cNvSpPr txBox="1"/>
          <p:nvPr/>
        </p:nvSpPr>
        <p:spPr>
          <a:xfrm>
            <a:off x="2318004" y="2212848"/>
            <a:ext cx="274320"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vs</a:t>
            </a:r>
            <a:endParaRPr lang="en-US" sz="1700" dirty="0"/>
          </a:p>
        </p:txBody>
      </p:sp>
      <p:sp>
        <p:nvSpPr>
          <p:cNvPr id="11" name="Shape 9"/>
          <p:cNvSpPr/>
          <p:nvPr/>
        </p:nvSpPr>
        <p:spPr>
          <a:xfrm rot="-2280000">
            <a:off x="3257149" y="2057185"/>
            <a:ext cx="341986" cy="36210"/>
          </a:xfrm>
          <a:prstGeom prst="rect">
            <a:avLst/>
          </a:prstGeom>
          <a:solidFill>
            <a:srgbClr val="0B1F3A">
              <a:alpha val="45000"/>
            </a:srgbClr>
          </a:solidFill>
          <a:ln/>
        </p:spPr>
      </p:sp>
      <p:sp>
        <p:nvSpPr>
          <p:cNvPr id="12" name="Shape 10"/>
          <p:cNvSpPr/>
          <p:nvPr/>
        </p:nvSpPr>
        <p:spPr>
          <a:xfrm rot="-1140000">
            <a:off x="3323688" y="2179735"/>
            <a:ext cx="341986" cy="36210"/>
          </a:xfrm>
          <a:prstGeom prst="rect">
            <a:avLst/>
          </a:prstGeom>
          <a:solidFill>
            <a:srgbClr val="0B1F3A">
              <a:alpha val="45000"/>
            </a:srgbClr>
          </a:solidFill>
          <a:ln/>
        </p:spPr>
      </p:sp>
      <p:sp>
        <p:nvSpPr>
          <p:cNvPr id="13" name="Shape 11"/>
          <p:cNvSpPr/>
          <p:nvPr/>
        </p:nvSpPr>
        <p:spPr>
          <a:xfrm>
            <a:off x="3346704" y="2317272"/>
            <a:ext cx="341986" cy="36210"/>
          </a:xfrm>
          <a:prstGeom prst="rect">
            <a:avLst/>
          </a:prstGeom>
          <a:solidFill>
            <a:srgbClr val="0B1F3A">
              <a:alpha val="45000"/>
            </a:srgbClr>
          </a:solidFill>
          <a:ln/>
        </p:spPr>
      </p:sp>
      <p:sp>
        <p:nvSpPr>
          <p:cNvPr id="14" name="Shape 12"/>
          <p:cNvSpPr/>
          <p:nvPr/>
        </p:nvSpPr>
        <p:spPr>
          <a:xfrm rot="1140000">
            <a:off x="3323688" y="2454810"/>
            <a:ext cx="341986" cy="36210"/>
          </a:xfrm>
          <a:prstGeom prst="rect">
            <a:avLst/>
          </a:prstGeom>
          <a:solidFill>
            <a:srgbClr val="0B1F3A">
              <a:alpha val="45000"/>
            </a:srgbClr>
          </a:solidFill>
          <a:ln/>
        </p:spPr>
      </p:sp>
      <p:sp>
        <p:nvSpPr>
          <p:cNvPr id="15" name="Shape 13"/>
          <p:cNvSpPr/>
          <p:nvPr/>
        </p:nvSpPr>
        <p:spPr>
          <a:xfrm rot="2280000">
            <a:off x="3257149" y="2577360"/>
            <a:ext cx="341986" cy="36210"/>
          </a:xfrm>
          <a:prstGeom prst="rect">
            <a:avLst/>
          </a:prstGeom>
          <a:solidFill>
            <a:srgbClr val="0B1F3A">
              <a:alpha val="45000"/>
            </a:srgbClr>
          </a:solidFill>
          <a:ln/>
        </p:spPr>
      </p:sp>
      <p:sp>
        <p:nvSpPr>
          <p:cNvPr id="16" name="Shape 14"/>
          <p:cNvSpPr/>
          <p:nvPr/>
        </p:nvSpPr>
        <p:spPr>
          <a:xfrm>
            <a:off x="2813609" y="2134210"/>
            <a:ext cx="362102" cy="130759"/>
          </a:xfrm>
          <a:prstGeom prst="ellipse">
            <a:avLst/>
          </a:prstGeom>
          <a:solidFill>
            <a:srgbClr val="0B1F3A"/>
          </a:solidFill>
          <a:ln/>
        </p:spPr>
      </p:sp>
      <p:sp>
        <p:nvSpPr>
          <p:cNvPr id="17" name="Shape 15"/>
          <p:cNvSpPr/>
          <p:nvPr/>
        </p:nvSpPr>
        <p:spPr>
          <a:xfrm>
            <a:off x="2813609" y="2194560"/>
            <a:ext cx="362102" cy="341986"/>
          </a:xfrm>
          <a:prstGeom prst="rect">
            <a:avLst/>
          </a:prstGeom>
          <a:solidFill>
            <a:srgbClr val="0B1F3A"/>
          </a:solidFill>
          <a:ln/>
        </p:spPr>
      </p:sp>
      <p:sp>
        <p:nvSpPr>
          <p:cNvPr id="18" name="Shape 16"/>
          <p:cNvSpPr/>
          <p:nvPr/>
        </p:nvSpPr>
        <p:spPr>
          <a:xfrm>
            <a:off x="2813609" y="2466137"/>
            <a:ext cx="362102" cy="130759"/>
          </a:xfrm>
          <a:prstGeom prst="ellipse">
            <a:avLst/>
          </a:prstGeom>
          <a:solidFill>
            <a:srgbClr val="0B1F3A"/>
          </a:solidFill>
          <a:ln/>
        </p:spPr>
      </p:sp>
      <p:sp>
        <p:nvSpPr>
          <p:cNvPr id="19" name="Shape 17"/>
          <p:cNvSpPr/>
          <p:nvPr/>
        </p:nvSpPr>
        <p:spPr>
          <a:xfrm>
            <a:off x="2813609" y="2295144"/>
            <a:ext cx="362102" cy="70409"/>
          </a:xfrm>
          <a:prstGeom prst="rect">
            <a:avLst/>
          </a:prstGeom>
          <a:solidFill>
            <a:srgbClr val="FFFFFF">
              <a:alpha val="65000"/>
            </a:srgbClr>
          </a:solidFill>
          <a:ln/>
        </p:spPr>
      </p:sp>
      <p:sp>
        <p:nvSpPr>
          <p:cNvPr id="20" name="Shape 18"/>
          <p:cNvSpPr/>
          <p:nvPr/>
        </p:nvSpPr>
        <p:spPr>
          <a:xfrm>
            <a:off x="2934310" y="2596896"/>
            <a:ext cx="120701" cy="140818"/>
          </a:xfrm>
          <a:prstGeom prst="rect">
            <a:avLst/>
          </a:prstGeom>
          <a:solidFill>
            <a:srgbClr val="0B1F3A">
              <a:alpha val="60000"/>
            </a:srgbClr>
          </a:solidFill>
          <a:ln/>
        </p:spPr>
      </p:sp>
      <p:sp>
        <p:nvSpPr>
          <p:cNvPr id="21" name="Text 19"/>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22" name="Shape 20"/>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23" name="Shape 21"/>
          <p:cNvSpPr/>
          <p:nvPr/>
        </p:nvSpPr>
        <p:spPr>
          <a:xfrm>
            <a:off x="4919472" y="1408176"/>
            <a:ext cx="347472" cy="347472"/>
          </a:xfrm>
          <a:prstGeom prst="ellipse">
            <a:avLst/>
          </a:prstGeom>
          <a:solidFill>
            <a:srgbClr val="D9463E"/>
          </a:solidFill>
          <a:ln/>
        </p:spPr>
      </p:sp>
      <p:sp>
        <p:nvSpPr>
          <p:cNvPr id="24" name="Text 22"/>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5" name="Text 23"/>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Can You Fool A Self Driving Car?</a:t>
            </a:r>
            <a:endParaRPr lang="en-US" sz="1050" dirty="0"/>
          </a:p>
        </p:txBody>
      </p:sp>
      <p:sp>
        <p:nvSpPr>
          <p:cNvPr id="26" name="Text 24"/>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Mark Rober　·　≈18:30</a:t>
            </a:r>
            <a:endParaRPr lang="en-US" sz="900" dirty="0"/>
          </a:p>
        </p:txBody>
      </p:sp>
      <p:sp>
        <p:nvSpPr>
          <p:cNvPr id="27" name="Text 25">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https://www.youtube.com/watch?v=IQJL3htsDyQ</a:t>
            </a:r>
            <a:endParaRPr lang="en-US" sz="850" dirty="0"/>
          </a:p>
        </p:txBody>
      </p:sp>
      <p:sp>
        <p:nvSpPr>
          <p:cNvPr id="28" name="Shape 26"/>
          <p:cNvSpPr/>
          <p:nvPr/>
        </p:nvSpPr>
        <p:spPr>
          <a:xfrm>
            <a:off x="4919472" y="2304288"/>
            <a:ext cx="36576" cy="237744"/>
          </a:xfrm>
          <a:prstGeom prst="rect">
            <a:avLst/>
          </a:prstGeom>
          <a:solidFill>
            <a:srgbClr val="00A896"/>
          </a:solidFill>
          <a:ln/>
        </p:spPr>
      </p:sp>
      <p:sp>
        <p:nvSpPr>
          <p:cNvPr id="29" name="Text 27"/>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6 bài: trẻ đứng · trẻ lao ra · sương mù · mưa · đèn chói · tường vẽ</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六項：站著的小孩・突然衝出・霧・雨・強光・假牆</a:t>
            </a:r>
            <a:endParaRPr lang="en-US" sz="950" dirty="0"/>
          </a:p>
        </p:txBody>
      </p:sp>
      <p:sp>
        <p:nvSpPr>
          <p:cNvPr id="30" name="Shape 28"/>
          <p:cNvSpPr/>
          <p:nvPr/>
        </p:nvSpPr>
        <p:spPr>
          <a:xfrm>
            <a:off x="4919472" y="2796943"/>
            <a:ext cx="36576" cy="237744"/>
          </a:xfrm>
          <a:prstGeom prst="rect">
            <a:avLst/>
          </a:prstGeom>
          <a:solidFill>
            <a:srgbClr val="00A896"/>
          </a:solidFill>
          <a:ln/>
        </p:spPr>
      </p:sp>
      <p:sp>
        <p:nvSpPr>
          <p:cNvPr id="31" name="Text 29"/>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Bài sương mù và mưa: đúng như quy tắc bước sóng vừa học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霧和雨那兩項：正好對上剛剛那條波長規則</a:t>
            </a:r>
            <a:endParaRPr lang="en-US" sz="950" dirty="0"/>
          </a:p>
        </p:txBody>
      </p:sp>
      <p:sp>
        <p:nvSpPr>
          <p:cNvPr id="32" name="Shape 30"/>
          <p:cNvSpPr/>
          <p:nvPr/>
        </p:nvSpPr>
        <p:spPr>
          <a:xfrm>
            <a:off x="4919472" y="3289598"/>
            <a:ext cx="36576" cy="237744"/>
          </a:xfrm>
          <a:prstGeom prst="rect">
            <a:avLst/>
          </a:prstGeom>
          <a:solidFill>
            <a:srgbClr val="00A896"/>
          </a:solidFill>
          <a:ln/>
        </p:spPr>
      </p:sp>
      <p:sp>
        <p:nvSpPr>
          <p:cNvPr id="33" name="Text 31"/>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Mỗi bài chỉ chạy MỘT lần — đây là trình diễn hiện tượng, không phải bằng chứng.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每一項只跑一次——這是現象展示，不是證據。</a:t>
            </a:r>
            <a:endParaRPr lang="en-US" sz="950" dirty="0"/>
          </a:p>
        </p:txBody>
      </p:sp>
      <p:sp>
        <p:nvSpPr>
          <p:cNvPr id="34" name="Shape 32"/>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35" name="Text 33"/>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Kết quả: xe LiDAR 6/6, Tesla 3/6. Nhưng một lần thử không kết luận được hãng nào an toàn hơn.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結果：光達車 6/6，Tesla 3/6。但一次測試不能拿來宣告哪一家比較安全。</a:t>
            </a:r>
            <a:endParaRPr lang="en-US" sz="1150" dirty="0"/>
          </a:p>
        </p:txBody>
      </p:sp>
      <p:pic>
        <p:nvPicPr>
          <p:cNvPr id="37"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5 · 第五輪上台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Về nắng. Kéo người vào 20 m. Rồi bật “giọt nước ống kính”.</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回到晴天。把行人拖到 20 公尺。然後打開「鏡頭水滴」。</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Ở 20 m nắng: camera đọc được khoảng cách và loại. Ghi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20 公尺晴天：相機讀得到距離和類別。記下來。</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Bật giọt nước. Khoảng cách còn không? Loại còn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打開水滴。距離還在嗎？類別還在嗎？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Các thẻ khác có bù được khoảng cách không? Có bù được LOẠI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其他卡片補得上距離嗎？補得上「類別」嗎？</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Khoảng cách vẫn còn, nhưng nhãn “người” thì mất. Chỉ hỏng một nửa.</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距離還在，但「行人」這個標籤不見了。只壞掉一半。</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Không phải lỗi của thời tiết · 不是天氣的錯</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401604" y="2194194"/>
            <a:ext cx="659831" cy="374904"/>
          </a:xfrm>
          <a:prstGeom prst="roundRect">
            <a:avLst>
              <a:gd name="adj" fmla="val 34146"/>
            </a:avLst>
          </a:prstGeom>
          <a:solidFill>
            <a:srgbClr val="0B1F3A"/>
          </a:solidFill>
          <a:ln/>
        </p:spPr>
      </p:sp>
      <p:sp>
        <p:nvSpPr>
          <p:cNvPr id="5" name="Shape 3"/>
          <p:cNvSpPr/>
          <p:nvPr/>
        </p:nvSpPr>
        <p:spPr>
          <a:xfrm>
            <a:off x="551566" y="2119213"/>
            <a:ext cx="194950" cy="89977"/>
          </a:xfrm>
          <a:prstGeom prst="roundRect">
            <a:avLst>
              <a:gd name="adj" fmla="val 304878"/>
            </a:avLst>
          </a:prstGeom>
          <a:solidFill>
            <a:srgbClr val="0B1F3A"/>
          </a:solidFill>
          <a:ln/>
        </p:spPr>
      </p:sp>
      <p:sp>
        <p:nvSpPr>
          <p:cNvPr id="6" name="Shape 4"/>
          <p:cNvSpPr/>
          <p:nvPr/>
        </p:nvSpPr>
        <p:spPr>
          <a:xfrm>
            <a:off x="611551" y="2254179"/>
            <a:ext cx="239939" cy="239939"/>
          </a:xfrm>
          <a:prstGeom prst="ellipse">
            <a:avLst/>
          </a:prstGeom>
          <a:solidFill>
            <a:srgbClr val="FFFFFF"/>
          </a:solidFill>
          <a:ln/>
        </p:spPr>
      </p:sp>
      <p:sp>
        <p:nvSpPr>
          <p:cNvPr id="7" name="Shape 5"/>
          <p:cNvSpPr/>
          <p:nvPr/>
        </p:nvSpPr>
        <p:spPr>
          <a:xfrm>
            <a:off x="664037" y="2306665"/>
            <a:ext cx="134965" cy="134965"/>
          </a:xfrm>
          <a:prstGeom prst="ellipse">
            <a:avLst/>
          </a:prstGeom>
          <a:solidFill>
            <a:srgbClr val="0B1F3A">
              <a:alpha val="70000"/>
            </a:srgbClr>
          </a:solidFill>
          <a:ln/>
        </p:spPr>
      </p:sp>
      <p:sp>
        <p:nvSpPr>
          <p:cNvPr id="8" name="Shape 6"/>
          <p:cNvSpPr/>
          <p:nvPr/>
        </p:nvSpPr>
        <p:spPr>
          <a:xfrm>
            <a:off x="911474" y="2239183"/>
            <a:ext cx="74981" cy="74981"/>
          </a:xfrm>
          <a:prstGeom prst="ellipse">
            <a:avLst/>
          </a:prstGeom>
          <a:solidFill>
            <a:srgbClr val="FFFFFF">
              <a:alpha val="60000"/>
            </a:srgbClr>
          </a:solidFill>
          <a:ln/>
        </p:spPr>
      </p:sp>
      <p:sp>
        <p:nvSpPr>
          <p:cNvPr id="9" name="Text 7"/>
          <p:cNvSpPr txBox="1"/>
          <p:nvPr/>
        </p:nvSpPr>
        <p:spPr>
          <a:xfrm>
            <a:off x="110642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0" name="Shape 8"/>
          <p:cNvSpPr/>
          <p:nvPr/>
        </p:nvSpPr>
        <p:spPr>
          <a:xfrm rot="-2280000">
            <a:off x="1858052" y="2106783"/>
            <a:ext cx="254935" cy="26993"/>
          </a:xfrm>
          <a:prstGeom prst="rect">
            <a:avLst/>
          </a:prstGeom>
          <a:solidFill>
            <a:srgbClr val="0B1F3A">
              <a:alpha val="45000"/>
            </a:srgbClr>
          </a:solidFill>
          <a:ln/>
        </p:spPr>
      </p:sp>
      <p:sp>
        <p:nvSpPr>
          <p:cNvPr id="11" name="Shape 9"/>
          <p:cNvSpPr/>
          <p:nvPr/>
        </p:nvSpPr>
        <p:spPr>
          <a:xfrm rot="-1140000">
            <a:off x="1907655" y="2198139"/>
            <a:ext cx="254935" cy="26993"/>
          </a:xfrm>
          <a:prstGeom prst="rect">
            <a:avLst/>
          </a:prstGeom>
          <a:solidFill>
            <a:srgbClr val="0B1F3A">
              <a:alpha val="45000"/>
            </a:srgbClr>
          </a:solidFill>
          <a:ln/>
        </p:spPr>
      </p:sp>
      <p:sp>
        <p:nvSpPr>
          <p:cNvPr id="12" name="Shape 10"/>
          <p:cNvSpPr/>
          <p:nvPr/>
        </p:nvSpPr>
        <p:spPr>
          <a:xfrm>
            <a:off x="1924812" y="2300667"/>
            <a:ext cx="254935" cy="26993"/>
          </a:xfrm>
          <a:prstGeom prst="rect">
            <a:avLst/>
          </a:prstGeom>
          <a:solidFill>
            <a:srgbClr val="0B1F3A">
              <a:alpha val="45000"/>
            </a:srgbClr>
          </a:solidFill>
          <a:ln/>
        </p:spPr>
      </p:sp>
      <p:sp>
        <p:nvSpPr>
          <p:cNvPr id="13" name="Shape 11"/>
          <p:cNvSpPr/>
          <p:nvPr/>
        </p:nvSpPr>
        <p:spPr>
          <a:xfrm rot="1140000">
            <a:off x="1907655" y="2403195"/>
            <a:ext cx="254935" cy="26993"/>
          </a:xfrm>
          <a:prstGeom prst="rect">
            <a:avLst/>
          </a:prstGeom>
          <a:solidFill>
            <a:srgbClr val="0B1F3A">
              <a:alpha val="45000"/>
            </a:srgbClr>
          </a:solidFill>
          <a:ln/>
        </p:spPr>
      </p:sp>
      <p:sp>
        <p:nvSpPr>
          <p:cNvPr id="14" name="Shape 12"/>
          <p:cNvSpPr/>
          <p:nvPr/>
        </p:nvSpPr>
        <p:spPr>
          <a:xfrm rot="2280000">
            <a:off x="1858052" y="2494551"/>
            <a:ext cx="254935" cy="26993"/>
          </a:xfrm>
          <a:prstGeom prst="rect">
            <a:avLst/>
          </a:prstGeom>
          <a:solidFill>
            <a:srgbClr val="0B1F3A">
              <a:alpha val="45000"/>
            </a:srgbClr>
          </a:solidFill>
          <a:ln/>
        </p:spPr>
      </p:sp>
      <p:sp>
        <p:nvSpPr>
          <p:cNvPr id="15" name="Shape 13"/>
          <p:cNvSpPr/>
          <p:nvPr/>
        </p:nvSpPr>
        <p:spPr>
          <a:xfrm>
            <a:off x="1527414" y="2164202"/>
            <a:ext cx="269931" cy="97475"/>
          </a:xfrm>
          <a:prstGeom prst="ellipse">
            <a:avLst/>
          </a:prstGeom>
          <a:solidFill>
            <a:srgbClr val="0B1F3A"/>
          </a:solidFill>
          <a:ln/>
        </p:spPr>
      </p:sp>
      <p:sp>
        <p:nvSpPr>
          <p:cNvPr id="16" name="Shape 14"/>
          <p:cNvSpPr/>
          <p:nvPr/>
        </p:nvSpPr>
        <p:spPr>
          <a:xfrm>
            <a:off x="1527414" y="2209190"/>
            <a:ext cx="269931" cy="254935"/>
          </a:xfrm>
          <a:prstGeom prst="rect">
            <a:avLst/>
          </a:prstGeom>
          <a:solidFill>
            <a:srgbClr val="0B1F3A"/>
          </a:solidFill>
          <a:ln/>
        </p:spPr>
      </p:sp>
      <p:sp>
        <p:nvSpPr>
          <p:cNvPr id="17" name="Shape 15"/>
          <p:cNvSpPr/>
          <p:nvPr/>
        </p:nvSpPr>
        <p:spPr>
          <a:xfrm>
            <a:off x="1527414" y="2411639"/>
            <a:ext cx="269931" cy="97475"/>
          </a:xfrm>
          <a:prstGeom prst="ellipse">
            <a:avLst/>
          </a:prstGeom>
          <a:solidFill>
            <a:srgbClr val="0B1F3A"/>
          </a:solidFill>
          <a:ln/>
        </p:spPr>
      </p:sp>
      <p:sp>
        <p:nvSpPr>
          <p:cNvPr id="18" name="Shape 16"/>
          <p:cNvSpPr/>
          <p:nvPr/>
        </p:nvSpPr>
        <p:spPr>
          <a:xfrm>
            <a:off x="1527414" y="2284171"/>
            <a:ext cx="269931" cy="52487"/>
          </a:xfrm>
          <a:prstGeom prst="rect">
            <a:avLst/>
          </a:prstGeom>
          <a:solidFill>
            <a:srgbClr val="FFFFFF">
              <a:alpha val="65000"/>
            </a:srgbClr>
          </a:solidFill>
          <a:ln/>
        </p:spPr>
      </p:sp>
      <p:sp>
        <p:nvSpPr>
          <p:cNvPr id="19" name="Shape 17"/>
          <p:cNvSpPr/>
          <p:nvPr/>
        </p:nvSpPr>
        <p:spPr>
          <a:xfrm>
            <a:off x="1617391" y="2509114"/>
            <a:ext cx="89977" cy="104973"/>
          </a:xfrm>
          <a:prstGeom prst="rect">
            <a:avLst/>
          </a:prstGeom>
          <a:solidFill>
            <a:srgbClr val="0B1F3A">
              <a:alpha val="60000"/>
            </a:srgbClr>
          </a:solidFill>
          <a:ln/>
        </p:spPr>
      </p:sp>
      <p:sp>
        <p:nvSpPr>
          <p:cNvPr id="20" name="Text 18"/>
          <p:cNvSpPr txBox="1"/>
          <p:nvPr/>
        </p:nvSpPr>
        <p:spPr>
          <a:xfrm>
            <a:off x="211226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21" name="Shape 19"/>
          <p:cNvSpPr/>
          <p:nvPr/>
        </p:nvSpPr>
        <p:spPr>
          <a:xfrm>
            <a:off x="2653223" y="2059229"/>
            <a:ext cx="179954" cy="164958"/>
          </a:xfrm>
          <a:prstGeom prst="roundRect">
            <a:avLst>
              <a:gd name="adj" fmla="val 110865"/>
            </a:avLst>
          </a:prstGeom>
          <a:solidFill>
            <a:srgbClr val="0B1F3A"/>
          </a:solidFill>
          <a:ln/>
        </p:spPr>
      </p:sp>
      <p:sp>
        <p:nvSpPr>
          <p:cNvPr id="22" name="Shape 20"/>
          <p:cNvSpPr/>
          <p:nvPr/>
        </p:nvSpPr>
        <p:spPr>
          <a:xfrm>
            <a:off x="2458273" y="2081723"/>
            <a:ext cx="164958" cy="119969"/>
          </a:xfrm>
          <a:prstGeom prst="rect">
            <a:avLst/>
          </a:prstGeom>
          <a:solidFill>
            <a:srgbClr val="0B1F3A">
              <a:alpha val="60000"/>
            </a:srgbClr>
          </a:solidFill>
          <a:ln/>
        </p:spPr>
      </p:sp>
      <p:sp>
        <p:nvSpPr>
          <p:cNvPr id="23" name="Shape 21"/>
          <p:cNvSpPr/>
          <p:nvPr/>
        </p:nvSpPr>
        <p:spPr>
          <a:xfrm>
            <a:off x="2863169" y="2081723"/>
            <a:ext cx="164958" cy="119969"/>
          </a:xfrm>
          <a:prstGeom prst="rect">
            <a:avLst/>
          </a:prstGeom>
          <a:solidFill>
            <a:srgbClr val="0B1F3A">
              <a:alpha val="60000"/>
            </a:srgbClr>
          </a:solidFill>
          <a:ln/>
        </p:spPr>
      </p:sp>
      <p:sp>
        <p:nvSpPr>
          <p:cNvPr id="24" name="Shape 22"/>
          <p:cNvSpPr/>
          <p:nvPr/>
        </p:nvSpPr>
        <p:spPr>
          <a:xfrm rot="5400000">
            <a:off x="2638227" y="2284171"/>
            <a:ext cx="209946" cy="119969"/>
          </a:xfrm>
          <a:prstGeom prst="chevron">
            <a:avLst/>
          </a:prstGeom>
          <a:ln w="31750">
            <a:solidFill>
              <a:srgbClr val="0B1F3A"/>
            </a:solidFill>
            <a:prstDash val="solid"/>
          </a:ln>
        </p:spPr>
      </p:sp>
      <p:sp>
        <p:nvSpPr>
          <p:cNvPr id="25" name="Shape 23"/>
          <p:cNvSpPr/>
          <p:nvPr/>
        </p:nvSpPr>
        <p:spPr>
          <a:xfrm rot="5400000">
            <a:off x="2593238" y="2404140"/>
            <a:ext cx="299923" cy="134965"/>
          </a:xfrm>
          <a:prstGeom prst="chevron">
            <a:avLst/>
          </a:prstGeom>
          <a:ln w="31750">
            <a:solidFill>
              <a:srgbClr val="0B1F3A">
                <a:alpha val="55000"/>
              </a:srgbClr>
            </a:solidFill>
            <a:prstDash val="solid"/>
          </a:ln>
        </p:spPr>
      </p:sp>
      <p:sp>
        <p:nvSpPr>
          <p:cNvPr id="26" name="Shape 24"/>
          <p:cNvSpPr/>
          <p:nvPr/>
        </p:nvSpPr>
        <p:spPr>
          <a:xfrm>
            <a:off x="2690713" y="2599091"/>
            <a:ext cx="104973" cy="104973"/>
          </a:xfrm>
          <a:prstGeom prst="ellipse">
            <a:avLst/>
          </a:prstGeom>
          <a:solidFill>
            <a:srgbClr val="0B1F3A"/>
          </a:solidFill>
          <a:ln/>
        </p:spPr>
      </p:sp>
      <p:sp>
        <p:nvSpPr>
          <p:cNvPr id="27" name="Text 25"/>
          <p:cNvSpPr txBox="1"/>
          <p:nvPr/>
        </p:nvSpPr>
        <p:spPr>
          <a:xfrm>
            <a:off x="3429000" y="1217431"/>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Giọt nước và vỏ bẩn là chuyện của chính chiếc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水滴和罩子髒，是車子自己的問題</a:t>
            </a:r>
            <a:endParaRPr lang="en-US" sz="2300" dirty="0"/>
          </a:p>
        </p:txBody>
      </p:sp>
      <p:sp>
        <p:nvSpPr>
          <p:cNvPr id="28" name="Text 26"/>
          <p:cNvSpPr txBox="1"/>
          <p:nvPr/>
        </p:nvSpPr>
        <p:spPr>
          <a:xfrm>
            <a:off x="3429000" y="2314482"/>
            <a:ext cx="5212080" cy="1277831"/>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Trời mưa là chuyện của ông trời. Nhưng ống kính có sạch không thì phụ thuộc vào cần gạt nước và hệ thống rửa; vỏ LiDAR bẩn là chuyện bảo dưỡng. Trong công cụ hai thứ này bật riêng, không tự đi kèm mưa.</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下不下雨是老天爺的事。但鏡頭乾不乾淨取決於雨刷和清洗系統；光達罩髒了是保養的問題。工具裡這兩個要分開按，不會跟著雨天自動打開。</a:t>
            </a:r>
            <a:endParaRPr lang="en-US" sz="1250" dirty="0"/>
          </a:p>
        </p:txBody>
      </p:sp>
      <p:sp>
        <p:nvSpPr>
          <p:cNvPr id="29" name="Shape 2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30" name="Text 2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Vỏ LiDAR bẩn: tầm đo × 0,65 và số điểm × 0,35. Chồng thêm lên mưa thì rất nặng.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光達罩髒污：範圍 ×0.65、點數 ×0.35。再疊上雨天就很慘。</a:t>
            </a:r>
            <a:endParaRPr lang="en-US" sz="1250" dirty="0"/>
          </a:p>
        </p:txBody>
      </p:sp>
      <p:pic>
        <p:nvPicPr>
          <p:cNvPr id="3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15</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cuối cùng · 最後一句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19739" y="1978762"/>
            <a:ext cx="228234" cy="209215"/>
          </a:xfrm>
          <a:prstGeom prst="roundRect">
            <a:avLst>
              <a:gd name="adj" fmla="val 87412"/>
            </a:avLst>
          </a:prstGeom>
          <a:solidFill>
            <a:srgbClr val="FFB020"/>
          </a:solidFill>
          <a:ln/>
        </p:spPr>
      </p:sp>
      <p:sp>
        <p:nvSpPr>
          <p:cNvPr id="5" name="Shape 3"/>
          <p:cNvSpPr/>
          <p:nvPr/>
        </p:nvSpPr>
        <p:spPr>
          <a:xfrm>
            <a:off x="772485" y="2007291"/>
            <a:ext cx="209215" cy="152156"/>
          </a:xfrm>
          <a:prstGeom prst="rect">
            <a:avLst/>
          </a:prstGeom>
          <a:solidFill>
            <a:srgbClr val="FFB020">
              <a:alpha val="60000"/>
            </a:srgbClr>
          </a:solidFill>
          <a:ln/>
        </p:spPr>
      </p:sp>
      <p:sp>
        <p:nvSpPr>
          <p:cNvPr id="6" name="Shape 4"/>
          <p:cNvSpPr/>
          <p:nvPr/>
        </p:nvSpPr>
        <p:spPr>
          <a:xfrm>
            <a:off x="1286012" y="2007291"/>
            <a:ext cx="209215" cy="152156"/>
          </a:xfrm>
          <a:prstGeom prst="rect">
            <a:avLst/>
          </a:prstGeom>
          <a:solidFill>
            <a:srgbClr val="FFB020">
              <a:alpha val="60000"/>
            </a:srgbClr>
          </a:solidFill>
          <a:ln/>
        </p:spPr>
      </p:sp>
      <p:sp>
        <p:nvSpPr>
          <p:cNvPr id="7" name="Shape 5"/>
          <p:cNvSpPr/>
          <p:nvPr/>
        </p:nvSpPr>
        <p:spPr>
          <a:xfrm rot="5400000">
            <a:off x="1000719" y="2264054"/>
            <a:ext cx="266273" cy="152156"/>
          </a:xfrm>
          <a:prstGeom prst="chevron">
            <a:avLst/>
          </a:prstGeom>
          <a:ln w="31750">
            <a:solidFill>
              <a:srgbClr val="FFB020"/>
            </a:solidFill>
            <a:prstDash val="solid"/>
          </a:ln>
        </p:spPr>
      </p:sp>
      <p:sp>
        <p:nvSpPr>
          <p:cNvPr id="8" name="Shape 6"/>
          <p:cNvSpPr/>
          <p:nvPr/>
        </p:nvSpPr>
        <p:spPr>
          <a:xfrm rot="5400000">
            <a:off x="943661" y="2416211"/>
            <a:ext cx="380390" cy="171176"/>
          </a:xfrm>
          <a:prstGeom prst="chevron">
            <a:avLst/>
          </a:prstGeom>
          <a:ln w="31750">
            <a:solidFill>
              <a:srgbClr val="FFB020">
                <a:alpha val="55000"/>
              </a:srgbClr>
            </a:solidFill>
            <a:prstDash val="solid"/>
          </a:ln>
        </p:spPr>
      </p:sp>
      <p:sp>
        <p:nvSpPr>
          <p:cNvPr id="9" name="Shape 7"/>
          <p:cNvSpPr/>
          <p:nvPr/>
        </p:nvSpPr>
        <p:spPr>
          <a:xfrm>
            <a:off x="1067288" y="2663464"/>
            <a:ext cx="133137" cy="133137"/>
          </a:xfrm>
          <a:prstGeom prst="ellipse">
            <a:avLst/>
          </a:prstGeom>
          <a:solidFill>
            <a:srgbClr val="FFB020"/>
          </a:solidFill>
          <a:ln/>
        </p:spPr>
      </p:sp>
      <p:sp>
        <p:nvSpPr>
          <p:cNvPr id="10" name="Text 8"/>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1" name="Shape 9"/>
          <p:cNvSpPr/>
          <p:nvPr/>
        </p:nvSpPr>
        <p:spPr>
          <a:xfrm>
            <a:off x="1903415" y="1978762"/>
            <a:ext cx="874898" cy="760781"/>
          </a:xfrm>
          <a:prstGeom prst="triangle">
            <a:avLst/>
          </a:prstGeom>
          <a:solidFill>
            <a:srgbClr val="FFB020"/>
          </a:solidFill>
          <a:ln/>
        </p:spPr>
      </p:sp>
      <p:sp>
        <p:nvSpPr>
          <p:cNvPr id="12" name="Shape 10"/>
          <p:cNvSpPr/>
          <p:nvPr/>
        </p:nvSpPr>
        <p:spPr>
          <a:xfrm>
            <a:off x="2302825" y="2245035"/>
            <a:ext cx="76078" cy="247254"/>
          </a:xfrm>
          <a:prstGeom prst="rect">
            <a:avLst/>
          </a:prstGeom>
          <a:solidFill>
            <a:srgbClr val="FFFFFF"/>
          </a:solidFill>
          <a:ln/>
        </p:spPr>
      </p:sp>
      <p:sp>
        <p:nvSpPr>
          <p:cNvPr id="13" name="Shape 11"/>
          <p:cNvSpPr/>
          <p:nvPr/>
        </p:nvSpPr>
        <p:spPr>
          <a:xfrm>
            <a:off x="2293315" y="2549347"/>
            <a:ext cx="95098" cy="95098"/>
          </a:xfrm>
          <a:prstGeom prst="ellipse">
            <a:avLst/>
          </a:prstGeom>
          <a:solidFill>
            <a:srgbClr val="FFFFFF"/>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Có dữ liệu không có nghĩa là dữ liệu đó đủ dùng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有資料，不等於那份資料夠用</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Trong mưa to, radar vẫn báo “có vật cản, 40 m” rất đều. Nhưng nếu việc cần làm là biết đèn đang đỏ hay xanh, thì con số đó hoàn toàn vô dụng.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大雨裡雷達還是穩穩地說「40 公尺有障礙物」。但如果現在要做的事是判斷紅燈綠燈，那個數字一點用都沒有。</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Luôn hỏi: dữ liệu này có giải quyết được việc đang làm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永遠要問一句：這份資料，能解決我現在這件事嗎？</a:t>
            </a:r>
            <a:endParaRPr lang="en-US" sz="1250" dirty="0"/>
          </a:p>
        </p:txBody>
      </p:sp>
      <p:pic>
        <p:nvPicPr>
          <p:cNvPr id="1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15</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Ba tiết hôm nay trả lời được ô nào của ODD</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今天三節，回答了 ODD 六格的哪幾格</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737360"/>
                <a:gridCol w="3017520"/>
                <a:gridCol w="3383280"/>
              </a:tblGrid>
              <a:tr h="402336">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Ô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ODD 六格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Hôm nay đo được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今天量到什麼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Câu viết được vào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可以寫進 ODD 的句子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Thời tiết và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天候與光照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Chín điều kiện, camera 80 → 16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九種條件，相機 80 → 16 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Sương mù và chói sáng là hai ranh giới chặt nhất của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濃霧與逆光是相機最緊的兩條邊界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Dải tốc độ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速度域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Xe hôm nay không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沒量。今天車不會動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đợi tuần sau mới có quãng đường phanh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要等下週算過煞停距離才寫得出來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Tình trạng giao thông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交通狀況</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Người, xe máy, ô tô, xe buýt, trẻ em ở nhiều khoảng cách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行人、機車、汽車、公車、小孩，各種距離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Vật càng nhỏ càng muộn mới đủ điểm — trẻ em khó hơn người lớn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物體愈小，愈晚才有足夠的點——小孩比大人難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Loại đường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道路類型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Chỉ có một đoạn đường thẳng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沒量。只有一段直路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Ngã tư, vòng xuyến, hầm đều chưa có bằng chứng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路口、圓環、隧道都還沒有證據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Phạm vi địa lý</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地理範圍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Mô hình không có bản đồ thật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沒量。模型裡沒有真實地圖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đi khảo sát hiện trường mới viết được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要靠現場勘查才寫得出來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Vai trò của con người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人的角色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Không có ai lái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沒量。沒有人在開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Tuần sau, khi xe biết chạy và biết đâm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下週車會跑、會撞的時候再談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879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Ba ô ghi “chưa đo” cũng là kết quả. ODD trung thực phải viết cả chỗ chưa có bằng chứng.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寫「沒量」的那幾格也是結果。誠實的 ODD 要把「還沒有證據」也寫進去。</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Việc của nhóm · 分組任務</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Sáu nhóm, mỗi nhóm một cảm biến. Viết hai dòng, nộp cuối giờ.</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六組，每組認養一種感測器。寫兩行，下課前交。</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1: cảm biến của nhóm đưa về cái gì mà loại khác không có? Viết kèm con số hôm nay thấy.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1 行：你那一種送回來什麼是別人沒有的？要附上今天看到的數字。</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2: điều kiện nào làm nó vô dụng? Và lúc đó ai bù cho nó?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2 行：什麼條件會讓它失效？那時候誰來補它？</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phút. Dùng lại cho chuyên đề cuối kỳ.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每組講一分鐘。期末專題會用到。</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Dòng 2 khó hơn. Nhóm nào nói được ai bù cho mình là nhóm hiểu bài.</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第 2 行比較難。講得出誰來補自己的那一組，才是真的懂了。</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tuần 3 · 第三週小結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mang về</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帶三句話回去</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Sáu cảm biến đo những thứ khác nhau, không phải cùng một thứ mà hơn kém độ chính xác. Đo được khoảng cách ≠ biết đó là gì.</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六種感測器量的是不同的東西，不是同一件事誰比較準。量得到距離 ≠ 知道那是什麼。</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Xa gấp đôi: sai số camera gấp bốn, số điểm LiDAR còn một phần tư. Xa gấp 4 thì gấp 16.</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距離變兩倍：相機誤差變四倍，光達點數剩四分之一。變四倍，就是十六倍。</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Mỗi điều kiện hỏng một loại khác nhau. Có dữ liệu ≠ dữ liệu đó đủ dùng cho việc đang làm.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不同條件壞掉不同種類的資料。有資料 ≠ 那份資料夠用。</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sau: lắp sáu thứ này lên xe biết chạy, và xem nó có dừng kịp không.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下週：把這六樣裝到會跑的車上，看它停不停得住。</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2026-09-19T15:56:55Z</dcterms:created>
  <dcterms:modified xsi:type="dcterms:W3CDTF">2026-09-19T15:56:55Z</dcterms:modified>
</cp:coreProperties>
</file>