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這支影片只有三十一秒</a:t>
            </a:r>
            <a:r>
              <a:rPr sz="1000" lang="zh-TW" dirty="0">
                <a:solidFill>
                  <a:srgbClr val="000000"/>
                </a:solidFill>
                <a:latin typeface="Arial Unicode MS"/>
                <a:ea typeface="Arial Unicode MS"/>
                <a:cs typeface="Arial Unicode MS"/>
              </a:rPr>
              <a:t>，沒有旁白也沒有字幕。建議連播兩三次，每一次只請學生看一件事。需要網路；沒網路時跳過這一頁，直接接下一種感測器。）
</a:t>
            </a:r>
          </a:p>
          <a:p>
            <a:pPr algn="l">
              <a:lnSpc>
                <a:spcPct val="115000"/>
              </a:lnSpc>
              <a:spcAft>
                <a:spcPts val="500"/>
              </a:spcAft>
            </a:pPr>
            <a:r>
              <a:rPr sz="1000" lang="zh-TW" dirty="0">
                <a:solidFill>
                  <a:srgbClr val="000000"/>
                </a:solidFill>
                <a:latin typeface="Arial Unicode MS"/>
                <a:ea typeface="Arial Unicode MS"/>
                <a:cs typeface="Arial Unicode MS"/>
              </a:rPr>
              <a:t>發布者的說明寫著：畫面是特斯拉的神經網路在每一顆相機上跑出來的結果——把畫面分類、框出物體、再估出距離。
</a:t>
            </a:r>
          </a:p>
          <a:p>
            <a:pPr algn="l">
              <a:lnSpc>
                <a:spcPct val="115000"/>
              </a:lnSpc>
              <a:spcAft>
                <a:spcPts val="500"/>
              </a:spcAft>
            </a:pPr>
            <a:r>
              <a:rPr sz="1000" lang="zh-TW" dirty="0">
                <a:solidFill>
                  <a:srgbClr val="000000"/>
                </a:solidFill>
                <a:latin typeface="Arial Unicode MS"/>
                <a:ea typeface="Arial Unicode MS"/>
                <a:cs typeface="Arial Unicode MS"/>
              </a:rPr>
              <a:t>三次分別看什麼。
</a:t>
            </a:r>
          </a:p>
          <a:p>
            <a:pPr algn="l">
              <a:lnSpc>
                <a:spcPct val="115000"/>
              </a:lnSpc>
              <a:spcAft>
                <a:spcPts val="500"/>
              </a:spcAft>
            </a:pPr>
            <a:r>
              <a:rPr sz="1000" b="1" lang="zh-TW" dirty="0">
                <a:solidFill>
                  <a:srgbClr val="000000"/>
                </a:solidFill>
                <a:latin typeface="Arial Unicode MS"/>
                <a:ea typeface="Arial Unicode MS"/>
                <a:cs typeface="Arial Unicode MS"/>
              </a:rPr>
              <a:t>第一次，看框和標籤。</a:t>
            </a:r>
            <a:r>
              <a:rPr sz="1000" lang="zh-TW" dirty="0">
                <a:solidFill>
                  <a:srgbClr val="000000"/>
                </a:solidFill>
                <a:latin typeface="Arial Unicode MS"/>
                <a:ea typeface="Arial Unicode MS"/>
                <a:cs typeface="Arial Unicode MS"/>
              </a:rPr>
              <a:t>車子、行人、車道線，全部是相機貼上去的。剛剛那一頁講過，只有相機做得到這件事。
</a:t>
            </a:r>
          </a:p>
          <a:p>
            <a:pPr algn="l">
              <a:lnSpc>
                <a:spcPct val="115000"/>
              </a:lnSpc>
              <a:spcAft>
                <a:spcPts val="500"/>
              </a:spcAft>
            </a:pPr>
            <a:r>
              <a:rPr sz="1000" b="1" lang="zh-TW" dirty="0">
                <a:solidFill>
                  <a:srgbClr val="000000"/>
                </a:solidFill>
                <a:latin typeface="Arial Unicode MS"/>
                <a:ea typeface="Arial Unicode MS"/>
                <a:cs typeface="Arial Unicode MS"/>
              </a:rPr>
              <a:t>第二次，看顏色。</a:t>
            </a:r>
            <a:r>
              <a:rPr sz="1000" lang="zh-TW" dirty="0">
                <a:solidFill>
                  <a:srgbClr val="000000"/>
                </a:solidFill>
                <a:latin typeface="Arial Unicode MS"/>
                <a:ea typeface="Arial Unicode MS"/>
                <a:cs typeface="Arial Unicode MS"/>
              </a:rPr>
              <a:t>畫面被塗成不同顏色，那是把每一個像素分類：哪些是路面、哪些是車、哪些是人。
</a:t>
            </a:r>
          </a:p>
          <a:p>
            <a:pPr algn="l">
              <a:lnSpc>
                <a:spcPct val="115000"/>
              </a:lnSpc>
              <a:spcAft>
                <a:spcPts val="500"/>
              </a:spcAft>
            </a:pPr>
            <a:r>
              <a:rPr sz="1000" b="1" lang="zh-TW" dirty="0">
                <a:solidFill>
                  <a:srgbClr val="000000"/>
                </a:solidFill>
                <a:latin typeface="Arial Unicode MS"/>
                <a:ea typeface="Arial Unicode MS"/>
                <a:cs typeface="Arial Unicode MS"/>
              </a:rPr>
              <a:t>第三次，看遠處。</a:t>
            </a:r>
            <a:r>
              <a:rPr sz="1000" lang="zh-TW" dirty="0">
                <a:solidFill>
                  <a:srgbClr val="000000"/>
                </a:solidFill>
                <a:latin typeface="Arial Unicode MS"/>
                <a:ea typeface="Arial Unicode MS"/>
                <a:cs typeface="Arial Unicode MS"/>
              </a:rPr>
              <a:t>問全班一個觀察題：遠處那些框，穩不穩？
</a:t>
            </a:r>
          </a:p>
          <a:p>
            <a:pPr algn="l">
              <a:lnSpc>
                <a:spcPct val="115000"/>
              </a:lnSpc>
              <a:spcAft>
                <a:spcPts val="500"/>
              </a:spcAft>
            </a:pPr>
            <a:r>
              <a:rPr sz="1000" lang="zh-TW" dirty="0">
                <a:solidFill>
                  <a:srgbClr val="000000"/>
                </a:solidFill>
                <a:latin typeface="Arial Unicode MS"/>
                <a:ea typeface="Arial Unicode MS"/>
                <a:cs typeface="Arial Unicode MS"/>
              </a:rPr>
              <a:t>（讓學生自己講。如果他們看到框忽大忽小、跳來跳去，那就是估距誤差——第二節會算出來：六十公尺的時候誤差有將近四公尺。如果這麼短的片子裡看不出來，就直接說第二節會算，不必硬掰。）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逆光和隧道不在這支影片裡。</a:t>
            </a:r>
            <a:r>
              <a:rPr sz="1000" lang="zh-TW" dirty="0">
                <a:solidFill>
                  <a:srgbClr val="000000"/>
                </a:solidFill>
                <a:latin typeface="Arial Unicode MS"/>
                <a:ea typeface="Arial Unicode MS"/>
                <a:cs typeface="Arial Unicode MS"/>
              </a:rPr>
              <a:t>相機怕強光、怕明暗突然變化這件事，留到第三節用數字講；第四週的回家作業也會請各位拍一張自己覺得相機會看不清楚的路況。老師想額外補一段實拍的話，Scott Kubo 的「Tesla Autopilot Driving Directly Into the Sun」有六分鐘的逆光行駛，但那不是課程必要的內容。）
</a:t>
            </a:r>
          </a:p>
          <a:p>
            <a:pPr algn="l">
              <a:lnSpc>
                <a:spcPct val="115000"/>
              </a:lnSpc>
              <a:spcAft>
                <a:spcPts val="500"/>
              </a:spcAft>
            </a:pPr>
            <a:r>
              <a:rPr sz="10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所以雷達在</a:t>
            </a:r>
            <a:r>
              <a:rPr sz="1000" b="1" lang="zh-TW" dirty="0">
                <a:solidFill>
                  <a:srgbClr val="000000"/>
                </a:solidFill>
                <a:latin typeface="Arial Unicode MS"/>
                <a:ea typeface="Arial Unicode MS"/>
                <a:cs typeface="Arial Unicode MS"/>
              </a:rPr>
              <a:t>同一次掃描</a:t>
            </a:r>
            <a:r>
              <a:rPr sz="1000" lang="zh-TW" dirty="0">
                <a:solidFill>
                  <a:srgbClr val="000000"/>
                </a:solidFill>
                <a:latin typeface="Arial Unicode MS"/>
                <a:ea typeface="Arial Unicode MS"/>
                <a:cs typeface="Arial Unicode MS"/>
              </a:rPr>
              <a:t>裡就同時得到距離和接近速度，別的感測器都要量兩次再相減才推得出來。這是它不可取代的地方。
</a:t>
            </a:r>
          </a:p>
          <a:p>
            <a:pPr algn="l">
              <a:lnSpc>
                <a:spcPct val="115000"/>
              </a:lnSpc>
              <a:spcAft>
                <a:spcPts val="500"/>
              </a:spcAft>
            </a:pPr>
            <a:r>
              <a:rPr sz="1000" lang="zh-TW" dirty="0">
                <a:solidFill>
                  <a:srgbClr val="000000"/>
                </a:solidFill>
                <a:latin typeface="Arial Unicode MS"/>
                <a:ea typeface="Arial Unicode MS"/>
                <a:cs typeface="Arial Unicode MS"/>
              </a:rPr>
              <a:t>（如果有同學追問「它到底是怎麼比出來的」，下面這段講給他聽，其他人聽不懂也沒關係。）
</a:t>
            </a:r>
          </a:p>
          <a:p>
            <a:pPr algn="l">
              <a:lnSpc>
                <a:spcPct val="115000"/>
              </a:lnSpc>
              <a:spcAft>
                <a:spcPts val="500"/>
              </a:spcAft>
            </a:pPr>
            <a:r>
              <a:rPr sz="1000" lang="zh-TW" dirty="0">
                <a:solidFill>
                  <a:srgbClr val="000000"/>
                </a:solidFill>
                <a:latin typeface="Arial Unicode MS"/>
                <a:ea typeface="Arial Unicode MS"/>
                <a:cs typeface="Arial Unicode MS"/>
              </a:rPr>
              <a:t>車用雷達叫 </a:t>
            </a:r>
            <a:r>
              <a:rPr sz="1000" b="1" lang="zh-TW" dirty="0">
                <a:solidFill>
                  <a:srgbClr val="000000"/>
                </a:solidFill>
                <a:latin typeface="Arial Unicode MS"/>
                <a:ea typeface="Arial Unicode MS"/>
                <a:cs typeface="Arial Unicode MS"/>
              </a:rPr>
              <a:t>FMCW</a:t>
            </a:r>
            <a:r>
              <a:rPr sz="1000" lang="zh-TW" dirty="0">
                <a:solidFill>
                  <a:srgbClr val="000000"/>
                </a:solidFill>
                <a:latin typeface="Arial Unicode MS"/>
                <a:ea typeface="Arial Unicode MS"/>
                <a:cs typeface="Arial Unicode MS"/>
              </a:rPr>
              <a:t>，調頻連續波。它不是打一個脈衝等回音，而是在一次量測裡——大約三十毫秒——連續發出</a:t>
            </a:r>
            <a:r>
              <a:rPr sz="1000" b="1" lang="zh-TW" dirty="0">
                <a:solidFill>
                  <a:srgbClr val="000000"/>
                </a:solidFill>
                <a:latin typeface="Arial Unicode MS"/>
                <a:ea typeface="Arial Unicode MS"/>
                <a:cs typeface="Arial Unicode MS"/>
              </a:rPr>
              <a:t>上百個</a:t>
            </a:r>
            <a:r>
              <a:rPr sz="1000" lang="zh-TW" dirty="0">
                <a:solidFill>
                  <a:srgbClr val="000000"/>
                </a:solidFill>
                <a:latin typeface="Arial Unicode MS"/>
                <a:ea typeface="Arial Unicode MS"/>
                <a:cs typeface="Arial Unicode MS"/>
              </a:rPr>
              <a:t> chirp，每一個 chirp 的頻率都從低線性掃到高。
</a:t>
            </a:r>
          </a:p>
          <a:p>
            <a:pPr algn="l">
              <a:lnSpc>
                <a:spcPct val="115000"/>
              </a:lnSpc>
              <a:spcAft>
                <a:spcPts val="500"/>
              </a:spcAft>
            </a:pP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是這樣來的：發射中的波和收到的回波同時存在，兩者的</a:t>
            </a:r>
            <a:r>
              <a:rPr sz="1000" b="1" lang="zh-TW" dirty="0">
                <a:solidFill>
                  <a:srgbClr val="000000"/>
                </a:solidFill>
                <a:latin typeface="Arial Unicode MS"/>
                <a:ea typeface="Arial Unicode MS"/>
                <a:cs typeface="Arial Unicode MS"/>
              </a:rPr>
              <a:t>頻率差</a:t>
            </a:r>
            <a:r>
              <a:rPr sz="1000" lang="zh-TW" dirty="0">
                <a:solidFill>
                  <a:srgbClr val="000000"/>
                </a:solidFill>
                <a:latin typeface="Arial Unicode MS"/>
                <a:ea typeface="Arial Unicode MS"/>
                <a:cs typeface="Arial Unicode MS"/>
              </a:rPr>
              <a:t>正比於來回跑的時間。所以一個 chirp 就夠。
</a:t>
            </a:r>
          </a:p>
          <a:p>
            <a:pPr algn="l">
              <a:lnSpc>
                <a:spcPct val="115000"/>
              </a:lnSpc>
              <a:spcAft>
                <a:spcPts val="500"/>
              </a:spcAft>
            </a:pPr>
            <a:r>
              <a:rPr sz="1000" b="1" lang="zh-TW" dirty="0">
                <a:solidFill>
                  <a:srgbClr val="000000"/>
                </a:solidFill>
                <a:latin typeface="Arial Unicode MS"/>
                <a:ea typeface="Arial Unicode MS"/>
                <a:cs typeface="Arial Unicode MS"/>
              </a:rPr>
              <a:t>速度</a:t>
            </a:r>
            <a:r>
              <a:rPr sz="1000" lang="zh-TW" dirty="0">
                <a:solidFill>
                  <a:srgbClr val="000000"/>
                </a:solidFill>
                <a:latin typeface="Arial Unicode MS"/>
                <a:ea typeface="Arial Unicode MS"/>
                <a:cs typeface="Arial Unicode MS"/>
              </a:rPr>
              <a:t>是這樣來的：相鄰兩個 chirp 之間，目標只移動了零點幾公釐，位置根本看不出差別，但回波的</a:t>
            </a:r>
            <a:r>
              <a:rPr sz="1000" b="1" lang="zh-TW" dirty="0">
                <a:solidFill>
                  <a:srgbClr val="000000"/>
                </a:solidFill>
                <a:latin typeface="Arial Unicode MS"/>
                <a:ea typeface="Arial Unicode MS"/>
                <a:cs typeface="Arial Unicode MS"/>
              </a:rPr>
              <a:t>相位</a:t>
            </a:r>
            <a:r>
              <a:rPr sz="1000" lang="zh-TW" dirty="0">
                <a:solidFill>
                  <a:srgbClr val="000000"/>
                </a:solidFill>
                <a:latin typeface="Arial Unicode MS"/>
                <a:ea typeface="Arial Unicode MS"/>
                <a:cs typeface="Arial Unicode MS"/>
              </a:rPr>
              <a:t>變了。把整組 chirp 一起處理，就得到速度。
</a:t>
            </a:r>
          </a:p>
          <a:p>
            <a:pPr algn="l">
              <a:lnSpc>
                <a:spcPct val="115000"/>
              </a:lnSpc>
              <a:spcAft>
                <a:spcPts val="500"/>
              </a:spcAft>
            </a:pPr>
            <a:r>
              <a:rPr sz="1000" lang="zh-TW" dirty="0">
                <a:solidFill>
                  <a:srgbClr val="000000"/>
                </a:solidFill>
                <a:latin typeface="Arial Unicode MS"/>
                <a:ea typeface="Arial Unicode MS"/>
                <a:cs typeface="Arial Unicode MS"/>
              </a:rPr>
              <a:t>所以它</a:t>
            </a:r>
            <a:r>
              <a:rPr sz="1000" b="1" lang="zh-TW" dirty="0">
                <a:solidFill>
                  <a:srgbClr val="000000"/>
                </a:solidFill>
                <a:latin typeface="Arial Unicode MS"/>
                <a:ea typeface="Arial Unicode MS"/>
                <a:cs typeface="Arial Unicode MS"/>
              </a:rPr>
              <a:t>確實有做比較</a:t>
            </a:r>
            <a:r>
              <a:rPr sz="1000" lang="zh-TW" dirty="0">
                <a:solidFill>
                  <a:srgbClr val="000000"/>
                </a:solidFill>
                <a:latin typeface="Arial Unicode MS"/>
                <a:ea typeface="Arial Unicode MS"/>
                <a:cs typeface="Arial Unicode MS"/>
              </a:rPr>
              <a:t>——但比的是</a:t>
            </a:r>
            <a:r>
              <a:rPr sz="1000" b="1" lang="zh-TW" dirty="0">
                <a:solidFill>
                  <a:srgbClr val="000000"/>
                </a:solidFill>
                <a:latin typeface="Arial Unicode MS"/>
                <a:ea typeface="Arial Unicode MS"/>
                <a:cs typeface="Arial Unicode MS"/>
              </a:rPr>
              <a:t>同一次量測裡面相鄰的 chirp</a:t>
            </a:r>
            <a:r>
              <a:rPr sz="1000" lang="zh-TW" dirty="0">
                <a:solidFill>
                  <a:srgbClr val="000000"/>
                </a:solidFill>
                <a:latin typeface="Arial Unicode MS"/>
                <a:ea typeface="Arial Unicode MS"/>
                <a:cs typeface="Arial Unicode MS"/>
              </a:rPr>
              <a:t>，不是跟上一幀的位置相減。這兩件事差在哪裡？位置相減要先認出「這一幀的這個點，就是上一幀的那個點」，認錯了速度就整個錯；而且位置本身有誤差，除以很短的時間之後，雜訊會被放大。相位不用管這些。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 GNSS 天線，測量等級的那種，比手機裡面那顆準很多。照片來自 Wikimedia Commons，CC BY-SA 4.0。
</a:t>
            </a:r>
          </a:p>
          <a:p>
            <a:pPr algn="l">
              <a:lnSpc>
                <a:spcPct val="115000"/>
              </a:lnSpc>
              <a:spcAft>
                <a:spcPts val="600"/>
              </a:spcAft>
            </a:pPr>
            <a:r>
              <a:rPr sz="12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600"/>
              </a:spcAft>
            </a:pPr>
            <a:r>
              <a:rPr sz="1200" lang="zh-TW" dirty="0">
                <a:solidFill>
                  <a:srgbClr val="000000"/>
                </a:solidFill>
                <a:latin typeface="Arial Unicode MS"/>
                <a:ea typeface="Arial Unicode MS"/>
                <a:cs typeface="Arial Unicode MS"/>
              </a:rPr>
              <a:t>重點：
</a:t>
            </a:r>
          </a:p>
          <a:p>
            <a:pPr algn="l">
              <a:lnSpc>
                <a:spcPct val="115000"/>
              </a:lnSpc>
              <a:spcAft>
                <a:spcPts val="600"/>
              </a:spcAft>
            </a:pPr>
            <a:r>
              <a:rPr sz="12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600"/>
              </a:spcAft>
            </a:pPr>
            <a:r>
              <a:rPr sz="1200" lang="zh-TW" dirty="0">
                <a:solidFill>
                  <a:srgbClr val="000000"/>
                </a:solidFill>
                <a:latin typeface="Arial Unicode MS"/>
                <a:ea typeface="Arial Unicode MS"/>
                <a:cs typeface="Arial Unicode MS"/>
              </a:rPr>
              <a:t>兩顆，兩個球面相交成一個圓。
</a:t>
            </a:r>
          </a:p>
          <a:p>
            <a:pPr algn="l">
              <a:lnSpc>
                <a:spcPct val="115000"/>
              </a:lnSpc>
              <a:spcAft>
                <a:spcPts val="600"/>
              </a:spcAft>
            </a:pPr>
            <a:r>
              <a:rPr sz="12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600"/>
              </a:spcAft>
            </a:pPr>
            <a:r>
              <a:rPr sz="12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600"/>
              </a:spcAft>
            </a:pPr>
            <a:r>
              <a:rPr sz="12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364494"/>
            <a:ext cx="786384" cy="283464"/>
          </a:xfrm>
          <a:prstGeom prst="roundRect">
            <a:avLst>
              <a:gd name="adj" fmla="val 19355"/>
            </a:avLst>
          </a:prstGeom>
          <a:solidFill>
            <a:srgbClr val="007F72"/>
          </a:solidFill>
          <a:ln/>
        </p:spPr>
      </p:sp>
      <p:sp>
        <p:nvSpPr>
          <p:cNvPr id="14" name="Text 12"/>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3063689"/>
            <a:ext cx="786384" cy="283464"/>
          </a:xfrm>
          <a:prstGeom prst="roundRect">
            <a:avLst>
              <a:gd name="adj" fmla="val 19355"/>
            </a:avLst>
          </a:prstGeom>
          <a:solidFill>
            <a:srgbClr val="FFB020"/>
          </a:solidFill>
          <a:ln/>
        </p:spPr>
      </p:sp>
      <p:sp>
        <p:nvSpPr>
          <p:cNvPr id="17" name="Text 15"/>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顆相機。到目前為止，沒有一家自駕公司不裝相機。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276837" y="2554576"/>
            <a:ext cx="136131" cy="136131"/>
          </a:xfrm>
          <a:prstGeom prst="ellipse">
            <a:avLst/>
          </a:prstGeom>
          <a:solidFill>
            <a:srgbClr val="D8E4EC"/>
          </a:solidFill>
          <a:ln/>
        </p:spPr>
      </p:sp>
      <p:sp>
        <p:nvSpPr>
          <p:cNvPr id="9" name="Shape 7"/>
          <p:cNvSpPr/>
          <p:nvPr/>
        </p:nvSpPr>
        <p:spPr>
          <a:xfrm>
            <a:off x="1235997" y="2704320"/>
            <a:ext cx="217809" cy="245035"/>
          </a:xfrm>
          <a:prstGeom prst="roundRect">
            <a:avLst>
              <a:gd name="adj" fmla="val 117549"/>
            </a:avLst>
          </a:prstGeom>
          <a:solidFill>
            <a:srgbClr val="D8E4EC"/>
          </a:solidFill>
          <a:ln/>
        </p:spPr>
      </p:sp>
      <p:sp>
        <p:nvSpPr>
          <p:cNvPr id="10" name="Shape 8"/>
          <p:cNvSpPr/>
          <p:nvPr/>
        </p:nvSpPr>
        <p:spPr>
          <a:xfrm rot="960000">
            <a:off x="1198561" y="2724740"/>
            <a:ext cx="54452" cy="176970"/>
          </a:xfrm>
          <a:prstGeom prst="rect">
            <a:avLst/>
          </a:prstGeom>
          <a:solidFill>
            <a:srgbClr val="D8E4EC"/>
          </a:solidFill>
          <a:ln/>
        </p:spPr>
      </p:sp>
      <p:sp>
        <p:nvSpPr>
          <p:cNvPr id="11" name="Shape 9"/>
          <p:cNvSpPr/>
          <p:nvPr/>
        </p:nvSpPr>
        <p:spPr>
          <a:xfrm rot="-960000">
            <a:off x="1436790" y="2724740"/>
            <a:ext cx="54452" cy="176970"/>
          </a:xfrm>
          <a:prstGeom prst="rect">
            <a:avLst/>
          </a:prstGeom>
          <a:solidFill>
            <a:srgbClr val="D8E4EC"/>
          </a:solidFill>
          <a:ln/>
        </p:spPr>
      </p:sp>
      <p:sp>
        <p:nvSpPr>
          <p:cNvPr id="12" name="Shape 10"/>
          <p:cNvSpPr/>
          <p:nvPr/>
        </p:nvSpPr>
        <p:spPr>
          <a:xfrm rot="300000">
            <a:off x="1273433" y="2915322"/>
            <a:ext cx="61259" cy="245035"/>
          </a:xfrm>
          <a:prstGeom prst="rect">
            <a:avLst/>
          </a:prstGeom>
          <a:solidFill>
            <a:srgbClr val="D8E4EC"/>
          </a:solidFill>
          <a:ln/>
        </p:spPr>
      </p:sp>
      <p:sp>
        <p:nvSpPr>
          <p:cNvPr id="13" name="Shape 11"/>
          <p:cNvSpPr/>
          <p:nvPr/>
        </p:nvSpPr>
        <p:spPr>
          <a:xfrm rot="-300000">
            <a:off x="1355112" y="2915322"/>
            <a:ext cx="61259" cy="245035"/>
          </a:xfrm>
          <a:prstGeom prst="rect">
            <a:avLst/>
          </a:prstGeom>
          <a:solidFill>
            <a:srgbClr val="D8E4EC"/>
          </a:solidFill>
          <a:ln/>
        </p:spPr>
      </p:sp>
      <p:sp>
        <p:nvSpPr>
          <p:cNvPr id="14" name="Shape 12"/>
          <p:cNvSpPr/>
          <p:nvPr/>
        </p:nvSpPr>
        <p:spPr>
          <a:xfrm>
            <a:off x="893369" y="2436248"/>
            <a:ext cx="780898" cy="872632"/>
          </a:xfrm>
          <a:prstGeom prst="rect">
            <a:avLst/>
          </a:prstGeom>
          <a:ln w="19050">
            <a:solidFill>
              <a:srgbClr val="6FD08C"/>
            </a:solidFill>
            <a:prstDash val="solid"/>
          </a:ln>
        </p:spPr>
      </p:sp>
      <p:sp>
        <p:nvSpPr>
          <p:cNvPr id="15" name="Shape 13"/>
          <p:cNvSpPr/>
          <p:nvPr/>
        </p:nvSpPr>
        <p:spPr>
          <a:xfrm>
            <a:off x="893369" y="2262512"/>
            <a:ext cx="786384" cy="173736"/>
          </a:xfrm>
          <a:prstGeom prst="rect">
            <a:avLst/>
          </a:prstGeom>
          <a:solidFill>
            <a:srgbClr val="6FD08C"/>
          </a:solidFill>
          <a:ln/>
        </p:spPr>
      </p:sp>
      <p:sp>
        <p:nvSpPr>
          <p:cNvPr id="16" name="Text 14"/>
          <p:cNvSpPr txBox="1"/>
          <p:nvPr/>
        </p:nvSpPr>
        <p:spPr>
          <a:xfrm>
            <a:off x="920801" y="2267084"/>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 0.94</a:t>
            </a:r>
            <a:endParaRPr lang="en-US" sz="800" dirty="0"/>
          </a:p>
        </p:txBody>
      </p:sp>
      <p:sp>
        <p:nvSpPr>
          <p:cNvPr id="17" name="Shape 15"/>
          <p:cNvSpPr/>
          <p:nvPr/>
        </p:nvSpPr>
        <p:spPr>
          <a:xfrm>
            <a:off x="3130829" y="2895560"/>
            <a:ext cx="552530" cy="168161"/>
          </a:xfrm>
          <a:prstGeom prst="roundRect">
            <a:avLst>
              <a:gd name="adj" fmla="val 163129"/>
            </a:avLst>
          </a:prstGeom>
          <a:solidFill>
            <a:srgbClr val="C8D3DE"/>
          </a:solidFill>
          <a:ln/>
        </p:spPr>
      </p:sp>
      <p:sp>
        <p:nvSpPr>
          <p:cNvPr id="18" name="Shape 16"/>
          <p:cNvSpPr/>
          <p:nvPr/>
        </p:nvSpPr>
        <p:spPr>
          <a:xfrm>
            <a:off x="3250944" y="2775445"/>
            <a:ext cx="300288" cy="132127"/>
          </a:xfrm>
          <a:prstGeom prst="trapezoid">
            <a:avLst/>
          </a:prstGeom>
          <a:solidFill>
            <a:srgbClr val="C8D3DE">
              <a:alpha val="70000"/>
            </a:srgbClr>
          </a:solidFill>
          <a:ln/>
        </p:spPr>
      </p:sp>
      <p:sp>
        <p:nvSpPr>
          <p:cNvPr id="19" name="Shape 17"/>
          <p:cNvSpPr/>
          <p:nvPr/>
        </p:nvSpPr>
        <p:spPr>
          <a:xfrm>
            <a:off x="3202898" y="3027687"/>
            <a:ext cx="120115" cy="120115"/>
          </a:xfrm>
          <a:prstGeom prst="ellipse">
            <a:avLst/>
          </a:prstGeom>
          <a:solidFill>
            <a:srgbClr val="C8D3DE"/>
          </a:solidFill>
          <a:ln/>
        </p:spPr>
      </p:sp>
      <p:sp>
        <p:nvSpPr>
          <p:cNvPr id="20" name="Shape 18"/>
          <p:cNvSpPr/>
          <p:nvPr/>
        </p:nvSpPr>
        <p:spPr>
          <a:xfrm>
            <a:off x="3491175" y="3027687"/>
            <a:ext cx="120115" cy="120115"/>
          </a:xfrm>
          <a:prstGeom prst="ellipse">
            <a:avLst/>
          </a:prstGeom>
          <a:solidFill>
            <a:srgbClr val="C8D3DE"/>
          </a:solidFill>
          <a:ln/>
        </p:spPr>
      </p:sp>
      <p:sp>
        <p:nvSpPr>
          <p:cNvPr id="21" name="Shape 19"/>
          <p:cNvSpPr/>
          <p:nvPr/>
        </p:nvSpPr>
        <p:spPr>
          <a:xfrm>
            <a:off x="3232927" y="3057715"/>
            <a:ext cx="60058" cy="60058"/>
          </a:xfrm>
          <a:prstGeom prst="ellipse">
            <a:avLst/>
          </a:prstGeom>
          <a:solidFill>
            <a:srgbClr val="FFFFFF"/>
          </a:solidFill>
          <a:ln/>
        </p:spPr>
      </p:sp>
      <p:sp>
        <p:nvSpPr>
          <p:cNvPr id="22" name="Shape 20"/>
          <p:cNvSpPr/>
          <p:nvPr/>
        </p:nvSpPr>
        <p:spPr>
          <a:xfrm>
            <a:off x="3521204" y="3057715"/>
            <a:ext cx="60058" cy="60058"/>
          </a:xfrm>
          <a:prstGeom prst="ellipse">
            <a:avLst/>
          </a:prstGeom>
          <a:solidFill>
            <a:srgbClr val="FFFFFF"/>
          </a:solidFill>
          <a:ln/>
        </p:spPr>
      </p:sp>
      <p:sp>
        <p:nvSpPr>
          <p:cNvPr id="23" name="Shape 21"/>
          <p:cNvSpPr/>
          <p:nvPr/>
        </p:nvSpPr>
        <p:spPr>
          <a:xfrm>
            <a:off x="2767523" y="2538910"/>
            <a:ext cx="1171346" cy="769969"/>
          </a:xfrm>
          <a:prstGeom prst="rect">
            <a:avLst/>
          </a:prstGeom>
          <a:ln w="19050">
            <a:solidFill>
              <a:srgbClr val="4FA8FF"/>
            </a:solidFill>
            <a:prstDash val="solid"/>
          </a:ln>
        </p:spPr>
      </p:sp>
      <p:sp>
        <p:nvSpPr>
          <p:cNvPr id="24" name="Shape 22"/>
          <p:cNvSpPr/>
          <p:nvPr/>
        </p:nvSpPr>
        <p:spPr>
          <a:xfrm>
            <a:off x="2767523" y="2365174"/>
            <a:ext cx="1171346" cy="173736"/>
          </a:xfrm>
          <a:prstGeom prst="rect">
            <a:avLst/>
          </a:prstGeom>
          <a:solidFill>
            <a:srgbClr val="4FA8FF"/>
          </a:solidFill>
          <a:ln/>
        </p:spPr>
      </p:sp>
      <p:sp>
        <p:nvSpPr>
          <p:cNvPr id="25" name="Text 23"/>
          <p:cNvSpPr txBox="1"/>
          <p:nvPr/>
        </p:nvSpPr>
        <p:spPr>
          <a:xfrm>
            <a:off x="2794955" y="2369746"/>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 0.91</a:t>
            </a:r>
            <a:endParaRPr lang="en-US" sz="800" dirty="0"/>
          </a:p>
        </p:txBody>
      </p:sp>
      <p:sp>
        <p:nvSpPr>
          <p:cNvPr id="26" name="Shape 24"/>
          <p:cNvSpPr/>
          <p:nvPr/>
        </p:nvSpPr>
        <p:spPr>
          <a:xfrm>
            <a:off x="2145929" y="1548216"/>
            <a:ext cx="345157" cy="441449"/>
          </a:xfrm>
          <a:prstGeom prst="roundRect">
            <a:avLst>
              <a:gd name="adj" fmla="val 10597"/>
            </a:avLst>
          </a:prstGeom>
          <a:solidFill>
            <a:srgbClr val="2B3945"/>
          </a:solidFill>
          <a:ln/>
        </p:spPr>
      </p:sp>
      <p:sp>
        <p:nvSpPr>
          <p:cNvPr id="27" name="Shape 25"/>
          <p:cNvSpPr/>
          <p:nvPr/>
        </p:nvSpPr>
        <p:spPr>
          <a:xfrm>
            <a:off x="2221863" y="1587947"/>
            <a:ext cx="193288" cy="193288"/>
          </a:xfrm>
          <a:prstGeom prst="ellipse">
            <a:avLst/>
          </a:prstGeom>
          <a:solidFill>
            <a:srgbClr val="FF5A4E"/>
          </a:solidFill>
          <a:ln/>
        </p:spPr>
      </p:sp>
      <p:sp>
        <p:nvSpPr>
          <p:cNvPr id="28" name="Shape 26"/>
          <p:cNvSpPr/>
          <p:nvPr/>
        </p:nvSpPr>
        <p:spPr>
          <a:xfrm>
            <a:off x="2221863" y="1720382"/>
            <a:ext cx="193288" cy="193288"/>
          </a:xfrm>
          <a:prstGeom prst="ellipse">
            <a:avLst/>
          </a:prstGeom>
          <a:solidFill>
            <a:srgbClr val="5F6B75"/>
          </a:solidFill>
          <a:ln/>
        </p:spPr>
      </p:sp>
      <p:sp>
        <p:nvSpPr>
          <p:cNvPr id="29" name="Shape 27"/>
          <p:cNvSpPr/>
          <p:nvPr/>
        </p:nvSpPr>
        <p:spPr>
          <a:xfrm>
            <a:off x="2221863" y="1852816"/>
            <a:ext cx="193288" cy="193288"/>
          </a:xfrm>
          <a:prstGeom prst="ellipse">
            <a:avLst/>
          </a:prstGeom>
          <a:solidFill>
            <a:srgbClr val="5F6B75"/>
          </a:solidFill>
          <a:ln/>
        </p:spPr>
      </p:sp>
      <p:sp>
        <p:nvSpPr>
          <p:cNvPr id="30" name="Shape 28"/>
          <p:cNvSpPr/>
          <p:nvPr/>
        </p:nvSpPr>
        <p:spPr>
          <a:xfrm>
            <a:off x="1986625" y="1512285"/>
            <a:ext cx="663763" cy="513313"/>
          </a:xfrm>
          <a:prstGeom prst="rect">
            <a:avLst/>
          </a:prstGeom>
          <a:ln w="19050">
            <a:solidFill>
              <a:srgbClr val="FFB020"/>
            </a:solidFill>
            <a:prstDash val="solid"/>
          </a:ln>
        </p:spPr>
      </p:sp>
      <p:sp>
        <p:nvSpPr>
          <p:cNvPr id="31" name="Shape 29"/>
          <p:cNvSpPr/>
          <p:nvPr/>
        </p:nvSpPr>
        <p:spPr>
          <a:xfrm>
            <a:off x="1986625" y="1338549"/>
            <a:ext cx="786384" cy="173736"/>
          </a:xfrm>
          <a:prstGeom prst="rect">
            <a:avLst/>
          </a:prstGeom>
          <a:solidFill>
            <a:srgbClr val="FFB020"/>
          </a:solidFill>
          <a:ln/>
        </p:spPr>
      </p:sp>
      <p:sp>
        <p:nvSpPr>
          <p:cNvPr id="32" name="Text 30"/>
          <p:cNvSpPr txBox="1"/>
          <p:nvPr/>
        </p:nvSpPr>
        <p:spPr>
          <a:xfrm>
            <a:off x="2014057" y="1343121"/>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đỏ 紅燈</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Đây là thứ chỉ camera mới dựng ra được: khung bao, tên loại, độ tin cậy.</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這是只有相機做得出來的東西：框、類別的名字、還有信心分數。</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0:31（很短，連播兩三次）</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Chỉ 31 giây — xem 2–3 lần, mỗi lần chỉ nhìn một thứ</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只有 31 秒——連看兩三次，每次只看一件事</a:t>
            </a:r>
            <a:endParaRPr lang="en-US" sz="950" dirty="0"/>
          </a:p>
        </p:txBody>
      </p:sp>
      <p:sp>
        <p:nvSpPr>
          <p:cNvPr id="45" name="Shape 43"/>
          <p:cNvSpPr/>
          <p:nvPr/>
        </p:nvSpPr>
        <p:spPr>
          <a:xfrm>
            <a:off x="4919472" y="3159311"/>
            <a:ext cx="36576" cy="237744"/>
          </a:xfrm>
          <a:prstGeom prst="rect">
            <a:avLst/>
          </a:prstGeom>
          <a:solidFill>
            <a:srgbClr val="00A896"/>
          </a:solidFill>
          <a:ln/>
        </p:spPr>
      </p:sp>
      <p:sp>
        <p:nvSpPr>
          <p:cNvPr id="46" name="Text 44"/>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Quan sát: vật ở xa thì khung có đứng yên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觀察題：遠處的東西，框穩不穩？</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50"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99385"/>
            <a:ext cx="786384" cy="283464"/>
          </a:xfrm>
          <a:prstGeom prst="roundRect">
            <a:avLst>
              <a:gd name="adj" fmla="val 19355"/>
            </a:avLst>
          </a:prstGeom>
          <a:solidFill>
            <a:srgbClr val="007F72"/>
          </a:solidFill>
          <a:ln/>
        </p:spPr>
      </p:sp>
      <p:sp>
        <p:nvSpPr>
          <p:cNvPr id="19" name="Text 17"/>
          <p:cNvSpPr txBox="1"/>
          <p:nvPr/>
        </p:nvSpPr>
        <p:spPr>
          <a:xfrm>
            <a:off x="2295144" y="212224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99385"/>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798579"/>
            <a:ext cx="786384" cy="283464"/>
          </a:xfrm>
          <a:prstGeom prst="roundRect">
            <a:avLst>
              <a:gd name="adj" fmla="val 19355"/>
            </a:avLst>
          </a:prstGeom>
          <a:solidFill>
            <a:srgbClr val="FFB020"/>
          </a:solidFill>
          <a:ln/>
        </p:spPr>
      </p:sp>
      <p:sp>
        <p:nvSpPr>
          <p:cNvPr id="22" name="Text 20"/>
          <p:cNvSpPr txBox="1"/>
          <p:nvPr/>
        </p:nvSpPr>
        <p:spPr>
          <a:xfrm>
            <a:off x="2295144" y="282143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79857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72123" y="1301348"/>
            <a:ext cx="3166083"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milimét 77 GHz. Chênh lệch tần số cho khoảng cách, Doppler cho tốc độ lại gần — cùng một lần quét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77 GHz 毫米波。頻率差給距離，都卜勒給接近速度——同一次掃描裡兩樣都有。</a:t>
            </a:r>
            <a:endParaRPr lang="en-US" sz="1100" dirty="0"/>
          </a:p>
        </p:txBody>
      </p:sp>
      <p:sp>
        <p:nvSpPr>
          <p:cNvPr id="12" name="Shape 10"/>
          <p:cNvSpPr/>
          <p:nvPr/>
        </p:nvSpPr>
        <p:spPr>
          <a:xfrm>
            <a:off x="2295144" y="2364494"/>
            <a:ext cx="786384" cy="283464"/>
          </a:xfrm>
          <a:prstGeom prst="roundRect">
            <a:avLst>
              <a:gd name="adj" fmla="val 19355"/>
            </a:avLst>
          </a:prstGeom>
          <a:solidFill>
            <a:srgbClr val="007F72"/>
          </a:solidFill>
          <a:ln/>
        </p:spPr>
      </p:sp>
      <p:sp>
        <p:nvSpPr>
          <p:cNvPr id="13" name="Text 11"/>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3063689"/>
            <a:ext cx="786384" cy="283464"/>
          </a:xfrm>
          <a:prstGeom prst="roundRect">
            <a:avLst>
              <a:gd name="adj" fmla="val 19355"/>
            </a:avLst>
          </a:prstGeom>
          <a:solidFill>
            <a:srgbClr val="FFB020"/>
          </a:solidFill>
          <a:ln/>
        </p:spPr>
      </p:sp>
      <p:sp>
        <p:nvSpPr>
          <p:cNvPr id="16" name="Text 14"/>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biết tốc độ mà không cần so vị trí hai lần</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為什麼雷達不用比位置就知道速度</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Text 4"/>
          <p:cNvSpPr txBox="1"/>
          <p:nvPr/>
        </p:nvSpPr>
        <p:spPr>
          <a:xfrm>
            <a:off x="630936" y="1347068"/>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FF8A7A"/>
                </a:solidFill>
                <a:latin typeface="Arial" pitchFamily="34" charset="0"/>
                <a:ea typeface="Arial" pitchFamily="34" charset="-122"/>
                <a:cs typeface="Arial" pitchFamily="34" charset="-120"/>
              </a:rPr>
              <a:t>Xe đi TỚI: sóng dội về bị ép lại → tần số cao hơn</a:t>
            </a:r>
            <a:endParaRPr lang="en-US" sz="1050" dirty="0"/>
          </a:p>
          <a:p>
            <a:pPr indent="0" marL="0">
              <a:lnSpc>
                <a:spcPct val="104000"/>
              </a:lnSpc>
              <a:buNone/>
            </a:pPr>
            <a:r>
              <a:rPr lang="en-US" sz="950" dirty="0">
                <a:solidFill>
                  <a:srgbClr val="FF8A7A"/>
                </a:solidFill>
                <a:latin typeface="微軟正黑體" pitchFamily="34" charset="0"/>
                <a:ea typeface="微軟正黑體" pitchFamily="34" charset="-122"/>
                <a:cs typeface="微軟正黑體" pitchFamily="34" charset="-120"/>
              </a:rPr>
              <a:t>車子靠近：回來的波被擠密 → 頻率變高</a:t>
            </a:r>
            <a:endParaRPr lang="en-US" sz="1050" dirty="0"/>
          </a:p>
        </p:txBody>
      </p:sp>
      <p:sp>
        <p:nvSpPr>
          <p:cNvPr id="7" name="Shape 5"/>
          <p:cNvSpPr/>
          <p:nvPr/>
        </p:nvSpPr>
        <p:spPr>
          <a:xfrm>
            <a:off x="685800" y="1831700"/>
            <a:ext cx="274320" cy="237744"/>
          </a:xfrm>
          <a:prstGeom prst="roundRect">
            <a:avLst>
              <a:gd name="adj" fmla="val 19231"/>
            </a:avLst>
          </a:prstGeom>
          <a:solidFill>
            <a:srgbClr val="C8D3DE"/>
          </a:solidFill>
          <a:ln/>
        </p:spPr>
      </p:sp>
      <p:sp>
        <p:nvSpPr>
          <p:cNvPr id="8" name="Shape 6"/>
          <p:cNvSpPr/>
          <p:nvPr/>
        </p:nvSpPr>
        <p:spPr>
          <a:xfrm>
            <a:off x="1069848" y="1749404"/>
            <a:ext cx="0" cy="402336"/>
          </a:xfrm>
          <a:prstGeom prst="line">
            <a:avLst/>
          </a:prstGeom>
          <a:noFill/>
          <a:ln w="20320">
            <a:solidFill>
              <a:srgbClr val="FF8A7A"/>
            </a:solidFill>
            <a:prstDash val="solid"/>
          </a:ln>
        </p:spPr>
      </p:sp>
      <p:sp>
        <p:nvSpPr>
          <p:cNvPr id="9" name="Shape 7"/>
          <p:cNvSpPr/>
          <p:nvPr/>
        </p:nvSpPr>
        <p:spPr>
          <a:xfrm>
            <a:off x="1289304" y="1749404"/>
            <a:ext cx="0" cy="402336"/>
          </a:xfrm>
          <a:prstGeom prst="line">
            <a:avLst/>
          </a:prstGeom>
          <a:noFill/>
          <a:ln w="20320">
            <a:solidFill>
              <a:srgbClr val="FF8A7A"/>
            </a:solidFill>
            <a:prstDash val="solid"/>
          </a:ln>
        </p:spPr>
      </p:sp>
      <p:sp>
        <p:nvSpPr>
          <p:cNvPr id="10" name="Shape 8"/>
          <p:cNvSpPr/>
          <p:nvPr/>
        </p:nvSpPr>
        <p:spPr>
          <a:xfrm>
            <a:off x="1508760" y="1749404"/>
            <a:ext cx="0" cy="402336"/>
          </a:xfrm>
          <a:prstGeom prst="line">
            <a:avLst/>
          </a:prstGeom>
          <a:noFill/>
          <a:ln w="20320">
            <a:solidFill>
              <a:srgbClr val="FF8A7A"/>
            </a:solidFill>
            <a:prstDash val="solid"/>
          </a:ln>
        </p:spPr>
      </p:sp>
      <p:sp>
        <p:nvSpPr>
          <p:cNvPr id="11" name="Shape 9"/>
          <p:cNvSpPr/>
          <p:nvPr/>
        </p:nvSpPr>
        <p:spPr>
          <a:xfrm>
            <a:off x="1728216" y="1749404"/>
            <a:ext cx="0" cy="402336"/>
          </a:xfrm>
          <a:prstGeom prst="line">
            <a:avLst/>
          </a:prstGeom>
          <a:noFill/>
          <a:ln w="20320">
            <a:solidFill>
              <a:srgbClr val="FF8A7A"/>
            </a:solidFill>
            <a:prstDash val="solid"/>
          </a:ln>
        </p:spPr>
      </p:sp>
      <p:sp>
        <p:nvSpPr>
          <p:cNvPr id="12" name="Shape 10"/>
          <p:cNvSpPr/>
          <p:nvPr/>
        </p:nvSpPr>
        <p:spPr>
          <a:xfrm>
            <a:off x="1947672" y="1749404"/>
            <a:ext cx="0" cy="402336"/>
          </a:xfrm>
          <a:prstGeom prst="line">
            <a:avLst/>
          </a:prstGeom>
          <a:noFill/>
          <a:ln w="20320">
            <a:solidFill>
              <a:srgbClr val="FF8A7A"/>
            </a:solidFill>
            <a:prstDash val="solid"/>
          </a:ln>
        </p:spPr>
      </p:sp>
      <p:sp>
        <p:nvSpPr>
          <p:cNvPr id="13" name="Shape 11"/>
          <p:cNvSpPr/>
          <p:nvPr/>
        </p:nvSpPr>
        <p:spPr>
          <a:xfrm>
            <a:off x="2167128" y="1749404"/>
            <a:ext cx="0" cy="402336"/>
          </a:xfrm>
          <a:prstGeom prst="line">
            <a:avLst/>
          </a:prstGeom>
          <a:noFill/>
          <a:ln w="20320">
            <a:solidFill>
              <a:srgbClr val="FF8A7A"/>
            </a:solidFill>
            <a:prstDash val="solid"/>
          </a:ln>
        </p:spPr>
      </p:sp>
      <p:sp>
        <p:nvSpPr>
          <p:cNvPr id="14" name="Shape 12"/>
          <p:cNvSpPr/>
          <p:nvPr/>
        </p:nvSpPr>
        <p:spPr>
          <a:xfrm>
            <a:off x="2386584" y="1749404"/>
            <a:ext cx="0" cy="402336"/>
          </a:xfrm>
          <a:prstGeom prst="line">
            <a:avLst/>
          </a:prstGeom>
          <a:noFill/>
          <a:ln w="20320">
            <a:solidFill>
              <a:srgbClr val="FF8A7A"/>
            </a:solidFill>
            <a:prstDash val="solid"/>
          </a:ln>
        </p:spPr>
      </p:sp>
      <p:sp>
        <p:nvSpPr>
          <p:cNvPr id="15" name="Shape 13"/>
          <p:cNvSpPr/>
          <p:nvPr/>
        </p:nvSpPr>
        <p:spPr>
          <a:xfrm>
            <a:off x="2606040" y="1749404"/>
            <a:ext cx="0" cy="402336"/>
          </a:xfrm>
          <a:prstGeom prst="line">
            <a:avLst/>
          </a:prstGeom>
          <a:noFill/>
          <a:ln w="20320">
            <a:solidFill>
              <a:srgbClr val="FF8A7A"/>
            </a:solidFill>
            <a:prstDash val="solid"/>
          </a:ln>
        </p:spPr>
      </p:sp>
      <p:sp>
        <p:nvSpPr>
          <p:cNvPr id="16" name="Shape 14"/>
          <p:cNvSpPr/>
          <p:nvPr/>
        </p:nvSpPr>
        <p:spPr>
          <a:xfrm>
            <a:off x="2825496" y="1749404"/>
            <a:ext cx="0" cy="402336"/>
          </a:xfrm>
          <a:prstGeom prst="line">
            <a:avLst/>
          </a:prstGeom>
          <a:noFill/>
          <a:ln w="20320">
            <a:solidFill>
              <a:srgbClr val="FF8A7A"/>
            </a:solidFill>
            <a:prstDash val="solid"/>
          </a:ln>
        </p:spPr>
      </p:sp>
      <p:sp>
        <p:nvSpPr>
          <p:cNvPr id="17" name="Shape 15"/>
          <p:cNvSpPr/>
          <p:nvPr/>
        </p:nvSpPr>
        <p:spPr>
          <a:xfrm>
            <a:off x="3713196" y="1922043"/>
            <a:ext cx="437449" cy="133137"/>
          </a:xfrm>
          <a:prstGeom prst="roundRect">
            <a:avLst>
              <a:gd name="adj" fmla="val 206043"/>
            </a:avLst>
          </a:prstGeom>
          <a:solidFill>
            <a:srgbClr val="9FB0BE"/>
          </a:solidFill>
          <a:ln/>
        </p:spPr>
      </p:sp>
      <p:sp>
        <p:nvSpPr>
          <p:cNvPr id="18" name="Shape 16"/>
          <p:cNvSpPr/>
          <p:nvPr/>
        </p:nvSpPr>
        <p:spPr>
          <a:xfrm>
            <a:off x="3808293" y="1826945"/>
            <a:ext cx="237744" cy="104607"/>
          </a:xfrm>
          <a:prstGeom prst="trapezoid">
            <a:avLst/>
          </a:prstGeom>
          <a:solidFill>
            <a:srgbClr val="9FB0BE">
              <a:alpha val="70000"/>
            </a:srgbClr>
          </a:solidFill>
          <a:ln/>
        </p:spPr>
      </p:sp>
      <p:sp>
        <p:nvSpPr>
          <p:cNvPr id="19" name="Shape 17"/>
          <p:cNvSpPr/>
          <p:nvPr/>
        </p:nvSpPr>
        <p:spPr>
          <a:xfrm>
            <a:off x="3770254" y="2026650"/>
            <a:ext cx="95098" cy="95098"/>
          </a:xfrm>
          <a:prstGeom prst="ellipse">
            <a:avLst/>
          </a:prstGeom>
          <a:solidFill>
            <a:srgbClr val="9FB0BE"/>
          </a:solidFill>
          <a:ln/>
        </p:spPr>
      </p:sp>
      <p:sp>
        <p:nvSpPr>
          <p:cNvPr id="20" name="Shape 18"/>
          <p:cNvSpPr/>
          <p:nvPr/>
        </p:nvSpPr>
        <p:spPr>
          <a:xfrm>
            <a:off x="3998488" y="2026650"/>
            <a:ext cx="95098" cy="95098"/>
          </a:xfrm>
          <a:prstGeom prst="ellipse">
            <a:avLst/>
          </a:prstGeom>
          <a:solidFill>
            <a:srgbClr val="9FB0BE"/>
          </a:solidFill>
          <a:ln/>
        </p:spPr>
      </p:sp>
      <p:sp>
        <p:nvSpPr>
          <p:cNvPr id="21" name="Shape 19"/>
          <p:cNvSpPr/>
          <p:nvPr/>
        </p:nvSpPr>
        <p:spPr>
          <a:xfrm>
            <a:off x="3794028" y="2050425"/>
            <a:ext cx="47549" cy="47549"/>
          </a:xfrm>
          <a:prstGeom prst="ellipse">
            <a:avLst/>
          </a:prstGeom>
          <a:solidFill>
            <a:srgbClr val="FFFFFF"/>
          </a:solidFill>
          <a:ln/>
        </p:spPr>
      </p:sp>
      <p:sp>
        <p:nvSpPr>
          <p:cNvPr id="22" name="Shape 20"/>
          <p:cNvSpPr/>
          <p:nvPr/>
        </p:nvSpPr>
        <p:spPr>
          <a:xfrm>
            <a:off x="4022263" y="2050425"/>
            <a:ext cx="47549" cy="47549"/>
          </a:xfrm>
          <a:prstGeom prst="ellipse">
            <a:avLst/>
          </a:prstGeom>
          <a:solidFill>
            <a:srgbClr val="FFFFFF"/>
          </a:solidFill>
          <a:ln/>
        </p:spPr>
      </p:sp>
      <p:sp>
        <p:nvSpPr>
          <p:cNvPr id="23" name="Shape 21"/>
          <p:cNvSpPr/>
          <p:nvPr/>
        </p:nvSpPr>
        <p:spPr>
          <a:xfrm flipH="1">
            <a:off x="3493008" y="2224892"/>
            <a:ext cx="310896" cy="128016"/>
          </a:xfrm>
          <a:prstGeom prst="rightArrow">
            <a:avLst/>
          </a:prstGeom>
          <a:solidFill>
            <a:srgbClr val="FF8A7A"/>
          </a:solidFill>
          <a:ln/>
        </p:spPr>
      </p:sp>
      <p:sp>
        <p:nvSpPr>
          <p:cNvPr id="24" name="Text 22"/>
          <p:cNvSpPr txBox="1"/>
          <p:nvPr/>
        </p:nvSpPr>
        <p:spPr>
          <a:xfrm>
            <a:off x="630936" y="2401750"/>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7FB8FF"/>
                </a:solidFill>
                <a:latin typeface="Arial" pitchFamily="34" charset="0"/>
                <a:ea typeface="Arial" pitchFamily="34" charset="-122"/>
                <a:cs typeface="Arial" pitchFamily="34" charset="-120"/>
              </a:rPr>
              <a:t>Xe đi RA XA: sóng dội về bị kéo dài → tần số thấp hơn</a:t>
            </a:r>
            <a:endParaRPr lang="en-US" sz="1050" dirty="0"/>
          </a:p>
          <a:p>
            <a:pPr indent="0" marL="0">
              <a:lnSpc>
                <a:spcPct val="104000"/>
              </a:lnSpc>
              <a:buNone/>
            </a:pPr>
            <a:r>
              <a:rPr lang="en-US" sz="950" dirty="0">
                <a:solidFill>
                  <a:srgbClr val="7FB8FF"/>
                </a:solidFill>
                <a:latin typeface="微軟正黑體" pitchFamily="34" charset="0"/>
                <a:ea typeface="微軟正黑體" pitchFamily="34" charset="-122"/>
                <a:cs typeface="微軟正黑體" pitchFamily="34" charset="-120"/>
              </a:rPr>
              <a:t>車子遠離：回來的波被拉長 → 頻率變低</a:t>
            </a:r>
            <a:endParaRPr lang="en-US" sz="1050" dirty="0"/>
          </a:p>
        </p:txBody>
      </p:sp>
      <p:sp>
        <p:nvSpPr>
          <p:cNvPr id="25" name="Shape 23"/>
          <p:cNvSpPr/>
          <p:nvPr/>
        </p:nvSpPr>
        <p:spPr>
          <a:xfrm>
            <a:off x="685800" y="2886382"/>
            <a:ext cx="274320" cy="237744"/>
          </a:xfrm>
          <a:prstGeom prst="roundRect">
            <a:avLst>
              <a:gd name="adj" fmla="val 19231"/>
            </a:avLst>
          </a:prstGeom>
          <a:solidFill>
            <a:srgbClr val="C8D3DE"/>
          </a:solidFill>
          <a:ln/>
        </p:spPr>
      </p:sp>
      <p:sp>
        <p:nvSpPr>
          <p:cNvPr id="26" name="Shape 24"/>
          <p:cNvSpPr/>
          <p:nvPr/>
        </p:nvSpPr>
        <p:spPr>
          <a:xfrm>
            <a:off x="1069848" y="2804086"/>
            <a:ext cx="0" cy="402336"/>
          </a:xfrm>
          <a:prstGeom prst="line">
            <a:avLst/>
          </a:prstGeom>
          <a:noFill/>
          <a:ln w="20320">
            <a:solidFill>
              <a:srgbClr val="7FB8FF"/>
            </a:solidFill>
            <a:prstDash val="solid"/>
          </a:ln>
        </p:spPr>
      </p:sp>
      <p:sp>
        <p:nvSpPr>
          <p:cNvPr id="27" name="Shape 25"/>
          <p:cNvSpPr/>
          <p:nvPr/>
        </p:nvSpPr>
        <p:spPr>
          <a:xfrm>
            <a:off x="1472184" y="2804086"/>
            <a:ext cx="0" cy="402336"/>
          </a:xfrm>
          <a:prstGeom prst="line">
            <a:avLst/>
          </a:prstGeom>
          <a:noFill/>
          <a:ln w="20320">
            <a:solidFill>
              <a:srgbClr val="7FB8FF"/>
            </a:solidFill>
            <a:prstDash val="solid"/>
          </a:ln>
        </p:spPr>
      </p:sp>
      <p:sp>
        <p:nvSpPr>
          <p:cNvPr id="28" name="Shape 26"/>
          <p:cNvSpPr/>
          <p:nvPr/>
        </p:nvSpPr>
        <p:spPr>
          <a:xfrm>
            <a:off x="1874520" y="2804086"/>
            <a:ext cx="0" cy="402336"/>
          </a:xfrm>
          <a:prstGeom prst="line">
            <a:avLst/>
          </a:prstGeom>
          <a:noFill/>
          <a:ln w="20320">
            <a:solidFill>
              <a:srgbClr val="7FB8FF"/>
            </a:solidFill>
            <a:prstDash val="solid"/>
          </a:ln>
        </p:spPr>
      </p:sp>
      <p:sp>
        <p:nvSpPr>
          <p:cNvPr id="29" name="Shape 27"/>
          <p:cNvSpPr/>
          <p:nvPr/>
        </p:nvSpPr>
        <p:spPr>
          <a:xfrm>
            <a:off x="2276856" y="2804086"/>
            <a:ext cx="0" cy="402336"/>
          </a:xfrm>
          <a:prstGeom prst="line">
            <a:avLst/>
          </a:prstGeom>
          <a:noFill/>
          <a:ln w="20320">
            <a:solidFill>
              <a:srgbClr val="7FB8FF"/>
            </a:solidFill>
            <a:prstDash val="solid"/>
          </a:ln>
        </p:spPr>
      </p:sp>
      <p:sp>
        <p:nvSpPr>
          <p:cNvPr id="30" name="Shape 28"/>
          <p:cNvSpPr/>
          <p:nvPr/>
        </p:nvSpPr>
        <p:spPr>
          <a:xfrm>
            <a:off x="2679192" y="2804086"/>
            <a:ext cx="0" cy="402336"/>
          </a:xfrm>
          <a:prstGeom prst="line">
            <a:avLst/>
          </a:prstGeom>
          <a:noFill/>
          <a:ln w="20320">
            <a:solidFill>
              <a:srgbClr val="7FB8FF"/>
            </a:solidFill>
            <a:prstDash val="solid"/>
          </a:ln>
        </p:spPr>
      </p:sp>
      <p:sp>
        <p:nvSpPr>
          <p:cNvPr id="31" name="Shape 29"/>
          <p:cNvSpPr/>
          <p:nvPr/>
        </p:nvSpPr>
        <p:spPr>
          <a:xfrm>
            <a:off x="3713196" y="2976725"/>
            <a:ext cx="437449" cy="133137"/>
          </a:xfrm>
          <a:prstGeom prst="roundRect">
            <a:avLst>
              <a:gd name="adj" fmla="val 206043"/>
            </a:avLst>
          </a:prstGeom>
          <a:solidFill>
            <a:srgbClr val="9FB0BE"/>
          </a:solidFill>
          <a:ln/>
        </p:spPr>
      </p:sp>
      <p:sp>
        <p:nvSpPr>
          <p:cNvPr id="32" name="Shape 30"/>
          <p:cNvSpPr/>
          <p:nvPr/>
        </p:nvSpPr>
        <p:spPr>
          <a:xfrm>
            <a:off x="3808293" y="2881627"/>
            <a:ext cx="237744" cy="104607"/>
          </a:xfrm>
          <a:prstGeom prst="trapezoid">
            <a:avLst/>
          </a:prstGeom>
          <a:solidFill>
            <a:srgbClr val="9FB0BE">
              <a:alpha val="70000"/>
            </a:srgbClr>
          </a:solidFill>
          <a:ln/>
        </p:spPr>
      </p:sp>
      <p:sp>
        <p:nvSpPr>
          <p:cNvPr id="33" name="Shape 31"/>
          <p:cNvSpPr/>
          <p:nvPr/>
        </p:nvSpPr>
        <p:spPr>
          <a:xfrm>
            <a:off x="3770254" y="3081332"/>
            <a:ext cx="95098" cy="95098"/>
          </a:xfrm>
          <a:prstGeom prst="ellipse">
            <a:avLst/>
          </a:prstGeom>
          <a:solidFill>
            <a:srgbClr val="9FB0BE"/>
          </a:solidFill>
          <a:ln/>
        </p:spPr>
      </p:sp>
      <p:sp>
        <p:nvSpPr>
          <p:cNvPr id="34" name="Shape 32"/>
          <p:cNvSpPr/>
          <p:nvPr/>
        </p:nvSpPr>
        <p:spPr>
          <a:xfrm>
            <a:off x="3998488" y="3081332"/>
            <a:ext cx="95098" cy="95098"/>
          </a:xfrm>
          <a:prstGeom prst="ellipse">
            <a:avLst/>
          </a:prstGeom>
          <a:solidFill>
            <a:srgbClr val="9FB0BE"/>
          </a:solidFill>
          <a:ln/>
        </p:spPr>
      </p:sp>
      <p:sp>
        <p:nvSpPr>
          <p:cNvPr id="35" name="Shape 33"/>
          <p:cNvSpPr/>
          <p:nvPr/>
        </p:nvSpPr>
        <p:spPr>
          <a:xfrm>
            <a:off x="3794028" y="3105107"/>
            <a:ext cx="47549" cy="47549"/>
          </a:xfrm>
          <a:prstGeom prst="ellipse">
            <a:avLst/>
          </a:prstGeom>
          <a:solidFill>
            <a:srgbClr val="FFFFFF"/>
          </a:solidFill>
          <a:ln/>
        </p:spPr>
      </p:sp>
      <p:sp>
        <p:nvSpPr>
          <p:cNvPr id="36" name="Shape 34"/>
          <p:cNvSpPr/>
          <p:nvPr/>
        </p:nvSpPr>
        <p:spPr>
          <a:xfrm>
            <a:off x="4022263" y="3105107"/>
            <a:ext cx="47549" cy="47549"/>
          </a:xfrm>
          <a:prstGeom prst="ellipse">
            <a:avLst/>
          </a:prstGeom>
          <a:solidFill>
            <a:srgbClr val="FFFFFF"/>
          </a:solidFill>
          <a:ln/>
        </p:spPr>
      </p:sp>
      <p:sp>
        <p:nvSpPr>
          <p:cNvPr id="37" name="Shape 35"/>
          <p:cNvSpPr/>
          <p:nvPr/>
        </p:nvSpPr>
        <p:spPr>
          <a:xfrm>
            <a:off x="3986784" y="3279574"/>
            <a:ext cx="310896" cy="128016"/>
          </a:xfrm>
          <a:prstGeom prst="rightArrow">
            <a:avLst/>
          </a:prstGeom>
          <a:solidFill>
            <a:srgbClr val="7FB8FF"/>
          </a:solidFill>
          <a:ln/>
        </p:spPr>
      </p:sp>
      <p:sp>
        <p:nvSpPr>
          <p:cNvPr id="38" name="Shape 36"/>
          <p:cNvSpPr/>
          <p:nvPr/>
        </p:nvSpPr>
        <p:spPr>
          <a:xfrm>
            <a:off x="539496" y="3310128"/>
            <a:ext cx="3831336" cy="475488"/>
          </a:xfrm>
          <a:prstGeom prst="rect">
            <a:avLst/>
          </a:prstGeom>
          <a:solidFill>
            <a:srgbClr val="0B1F3A">
              <a:alpha val="78000"/>
            </a:srgbClr>
          </a:solidFill>
          <a:ln/>
        </p:spPr>
      </p:sp>
      <p:sp>
        <p:nvSpPr>
          <p:cNvPr id="39" name="Shape 37"/>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40" name="Shape 38"/>
          <p:cNvSpPr/>
          <p:nvPr/>
        </p:nvSpPr>
        <p:spPr>
          <a:xfrm>
            <a:off x="4919472" y="1420220"/>
            <a:ext cx="347472" cy="347472"/>
          </a:xfrm>
          <a:prstGeom prst="ellipse">
            <a:avLst/>
          </a:prstGeom>
          <a:solidFill>
            <a:srgbClr val="D9463E"/>
          </a:solidFill>
          <a:ln/>
        </p:spPr>
      </p:sp>
      <p:sp>
        <p:nvSpPr>
          <p:cNvPr id="41" name="Text 39"/>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2" name="Text 40"/>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43" name="Text 41"/>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44" name="Text 42">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45" name="Shape 43"/>
          <p:cNvSpPr/>
          <p:nvPr/>
        </p:nvSpPr>
        <p:spPr>
          <a:xfrm>
            <a:off x="4919472" y="2316332"/>
            <a:ext cx="36576" cy="237744"/>
          </a:xfrm>
          <a:prstGeom prst="rect">
            <a:avLst/>
          </a:prstGeom>
          <a:solidFill>
            <a:srgbClr val="00A896"/>
          </a:solidFill>
          <a:ln/>
        </p:spPr>
      </p:sp>
      <p:sp>
        <p:nvSpPr>
          <p:cNvPr id="46" name="Text 44"/>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47" name="Shape 45"/>
          <p:cNvSpPr/>
          <p:nvPr/>
        </p:nvSpPr>
        <p:spPr>
          <a:xfrm>
            <a:off x="4919472" y="2666656"/>
            <a:ext cx="36576" cy="237744"/>
          </a:xfrm>
          <a:prstGeom prst="rect">
            <a:avLst/>
          </a:prstGeom>
          <a:solidFill>
            <a:srgbClr val="00A896"/>
          </a:solidFill>
          <a:ln/>
        </p:spPr>
      </p:sp>
      <p:sp>
        <p:nvSpPr>
          <p:cNvPr id="48" name="Text 46"/>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49" name="Shape 47"/>
          <p:cNvSpPr/>
          <p:nvPr/>
        </p:nvSpPr>
        <p:spPr>
          <a:xfrm>
            <a:off x="4919472" y="3159311"/>
            <a:ext cx="36576" cy="237744"/>
          </a:xfrm>
          <a:prstGeom prst="rect">
            <a:avLst/>
          </a:prstGeom>
          <a:solidFill>
            <a:srgbClr val="00A896"/>
          </a:solidFill>
          <a:ln/>
        </p:spPr>
      </p:sp>
      <p:sp>
        <p:nvSpPr>
          <p:cNvPr id="50" name="Text 48"/>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51" name="Shape 49"/>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2" name="Text 50"/>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54"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5" name="Text 5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56" name="Text 5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Shape 4"/>
          <p:cNvSpPr/>
          <p:nvPr/>
        </p:nvSpPr>
        <p:spPr>
          <a:xfrm>
            <a:off x="557784" y="1310492"/>
            <a:ext cx="3794760" cy="1173554"/>
          </a:xfrm>
          <a:prstGeom prst="roundRect">
            <a:avLst>
              <a:gd name="adj" fmla="val 5454"/>
            </a:avLst>
          </a:prstGeom>
          <a:solidFill>
            <a:srgbClr val="12263A"/>
          </a:solidFill>
          <a:ln/>
        </p:spPr>
      </p:sp>
      <p:sp>
        <p:nvSpPr>
          <p:cNvPr id="7" name="Text 5"/>
          <p:cNvSpPr txBox="1"/>
          <p:nvPr/>
        </p:nvSpPr>
        <p:spPr>
          <a:xfrm>
            <a:off x="649224" y="1337924"/>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7ED957"/>
                </a:solidFill>
                <a:latin typeface="Arial" pitchFamily="34" charset="0"/>
                <a:ea typeface="Arial" pitchFamily="34" charset="-122"/>
                <a:cs typeface="Arial" pitchFamily="34" charset="-120"/>
              </a:rPr>
              <a:t>LiDAR trả về: một đám điểm</a:t>
            </a:r>
            <a:endParaRPr lang="en-US" sz="1050" dirty="0"/>
          </a:p>
          <a:p>
            <a:pPr indent="0" marL="0">
              <a:lnSpc>
                <a:spcPct val="104000"/>
              </a:lnSpc>
              <a:buNone/>
            </a:pPr>
            <a:r>
              <a:rPr lang="en-US" sz="950" dirty="0">
                <a:solidFill>
                  <a:srgbClr val="7ED957"/>
                </a:solidFill>
                <a:latin typeface="微軟正黑體" pitchFamily="34" charset="0"/>
                <a:ea typeface="微軟正黑體" pitchFamily="34" charset="-122"/>
                <a:cs typeface="微軟正黑體" pitchFamily="34" charset="-120"/>
              </a:rPr>
              <a:t>光達給的：一堆點</a:t>
            </a:r>
            <a:endParaRPr lang="en-US" sz="1050" dirty="0"/>
          </a:p>
        </p:txBody>
      </p:sp>
      <p:sp>
        <p:nvSpPr>
          <p:cNvPr id="8" name="Shape 6"/>
          <p:cNvSpPr/>
          <p:nvPr/>
        </p:nvSpPr>
        <p:spPr>
          <a:xfrm>
            <a:off x="1644091" y="1657099"/>
            <a:ext cx="60350" cy="60350"/>
          </a:xfrm>
          <a:prstGeom prst="ellipse">
            <a:avLst/>
          </a:prstGeom>
          <a:solidFill>
            <a:srgbClr val="7ED957"/>
          </a:solidFill>
          <a:ln/>
        </p:spPr>
      </p:sp>
      <p:sp>
        <p:nvSpPr>
          <p:cNvPr id="9" name="Shape 7"/>
          <p:cNvSpPr/>
          <p:nvPr/>
        </p:nvSpPr>
        <p:spPr>
          <a:xfrm>
            <a:off x="1577797" y="1696875"/>
            <a:ext cx="60350" cy="60350"/>
          </a:xfrm>
          <a:prstGeom prst="ellipse">
            <a:avLst/>
          </a:prstGeom>
          <a:solidFill>
            <a:srgbClr val="7ED957"/>
          </a:solidFill>
          <a:ln/>
        </p:spPr>
      </p:sp>
      <p:sp>
        <p:nvSpPr>
          <p:cNvPr id="10" name="Shape 8"/>
          <p:cNvSpPr/>
          <p:nvPr/>
        </p:nvSpPr>
        <p:spPr>
          <a:xfrm>
            <a:off x="1710385" y="1696875"/>
            <a:ext cx="60350" cy="60350"/>
          </a:xfrm>
          <a:prstGeom prst="ellipse">
            <a:avLst/>
          </a:prstGeom>
          <a:solidFill>
            <a:srgbClr val="7ED957"/>
          </a:solidFill>
          <a:ln/>
        </p:spPr>
      </p:sp>
      <p:sp>
        <p:nvSpPr>
          <p:cNvPr id="11" name="Shape 9"/>
          <p:cNvSpPr/>
          <p:nvPr/>
        </p:nvSpPr>
        <p:spPr>
          <a:xfrm>
            <a:off x="1551280" y="1763169"/>
            <a:ext cx="60350" cy="60350"/>
          </a:xfrm>
          <a:prstGeom prst="ellipse">
            <a:avLst/>
          </a:prstGeom>
          <a:solidFill>
            <a:srgbClr val="7ED957"/>
          </a:solidFill>
          <a:ln/>
        </p:spPr>
      </p:sp>
      <p:sp>
        <p:nvSpPr>
          <p:cNvPr id="12" name="Shape 10"/>
          <p:cNvSpPr/>
          <p:nvPr/>
        </p:nvSpPr>
        <p:spPr>
          <a:xfrm>
            <a:off x="1736903" y="1763169"/>
            <a:ext cx="60350" cy="60350"/>
          </a:xfrm>
          <a:prstGeom prst="ellipse">
            <a:avLst/>
          </a:prstGeom>
          <a:solidFill>
            <a:srgbClr val="7ED957"/>
          </a:solidFill>
          <a:ln/>
        </p:spPr>
      </p:sp>
      <p:sp>
        <p:nvSpPr>
          <p:cNvPr id="13" name="Shape 11"/>
          <p:cNvSpPr/>
          <p:nvPr/>
        </p:nvSpPr>
        <p:spPr>
          <a:xfrm>
            <a:off x="1644091" y="1763169"/>
            <a:ext cx="60350" cy="60350"/>
          </a:xfrm>
          <a:prstGeom prst="ellipse">
            <a:avLst/>
          </a:prstGeom>
          <a:solidFill>
            <a:srgbClr val="7ED957"/>
          </a:solidFill>
          <a:ln/>
        </p:spPr>
      </p:sp>
      <p:sp>
        <p:nvSpPr>
          <p:cNvPr id="14" name="Shape 12"/>
          <p:cNvSpPr/>
          <p:nvPr/>
        </p:nvSpPr>
        <p:spPr>
          <a:xfrm>
            <a:off x="1538021" y="1869239"/>
            <a:ext cx="60350" cy="60350"/>
          </a:xfrm>
          <a:prstGeom prst="ellipse">
            <a:avLst/>
          </a:prstGeom>
          <a:solidFill>
            <a:srgbClr val="7ED957"/>
          </a:solidFill>
          <a:ln/>
        </p:spPr>
      </p:sp>
      <p:sp>
        <p:nvSpPr>
          <p:cNvPr id="15" name="Shape 13"/>
          <p:cNvSpPr/>
          <p:nvPr/>
        </p:nvSpPr>
        <p:spPr>
          <a:xfrm>
            <a:off x="1644091" y="1869239"/>
            <a:ext cx="60350" cy="60350"/>
          </a:xfrm>
          <a:prstGeom prst="ellipse">
            <a:avLst/>
          </a:prstGeom>
          <a:solidFill>
            <a:srgbClr val="7ED957"/>
          </a:solidFill>
          <a:ln/>
        </p:spPr>
      </p:sp>
      <p:sp>
        <p:nvSpPr>
          <p:cNvPr id="16" name="Shape 14"/>
          <p:cNvSpPr/>
          <p:nvPr/>
        </p:nvSpPr>
        <p:spPr>
          <a:xfrm>
            <a:off x="1750162" y="1869239"/>
            <a:ext cx="60350" cy="60350"/>
          </a:xfrm>
          <a:prstGeom prst="ellipse">
            <a:avLst/>
          </a:prstGeom>
          <a:solidFill>
            <a:srgbClr val="7ED957"/>
          </a:solidFill>
          <a:ln/>
        </p:spPr>
      </p:sp>
      <p:sp>
        <p:nvSpPr>
          <p:cNvPr id="17" name="Shape 15"/>
          <p:cNvSpPr/>
          <p:nvPr/>
        </p:nvSpPr>
        <p:spPr>
          <a:xfrm>
            <a:off x="1524762" y="1975310"/>
            <a:ext cx="60350" cy="60350"/>
          </a:xfrm>
          <a:prstGeom prst="ellipse">
            <a:avLst/>
          </a:prstGeom>
          <a:solidFill>
            <a:srgbClr val="7ED957"/>
          </a:solidFill>
          <a:ln/>
        </p:spPr>
      </p:sp>
      <p:sp>
        <p:nvSpPr>
          <p:cNvPr id="18" name="Shape 16"/>
          <p:cNvSpPr/>
          <p:nvPr/>
        </p:nvSpPr>
        <p:spPr>
          <a:xfrm>
            <a:off x="1644091" y="1975310"/>
            <a:ext cx="60350" cy="60350"/>
          </a:xfrm>
          <a:prstGeom prst="ellipse">
            <a:avLst/>
          </a:prstGeom>
          <a:solidFill>
            <a:srgbClr val="7ED957"/>
          </a:solidFill>
          <a:ln/>
        </p:spPr>
      </p:sp>
      <p:sp>
        <p:nvSpPr>
          <p:cNvPr id="19" name="Shape 17"/>
          <p:cNvSpPr/>
          <p:nvPr/>
        </p:nvSpPr>
        <p:spPr>
          <a:xfrm>
            <a:off x="1763420" y="1975310"/>
            <a:ext cx="60350" cy="60350"/>
          </a:xfrm>
          <a:prstGeom prst="ellipse">
            <a:avLst/>
          </a:prstGeom>
          <a:solidFill>
            <a:srgbClr val="7ED957"/>
          </a:solidFill>
          <a:ln/>
        </p:spPr>
      </p:sp>
      <p:sp>
        <p:nvSpPr>
          <p:cNvPr id="20" name="Shape 18"/>
          <p:cNvSpPr/>
          <p:nvPr/>
        </p:nvSpPr>
        <p:spPr>
          <a:xfrm>
            <a:off x="1538021" y="2081380"/>
            <a:ext cx="60350" cy="60350"/>
          </a:xfrm>
          <a:prstGeom prst="ellipse">
            <a:avLst/>
          </a:prstGeom>
          <a:solidFill>
            <a:srgbClr val="7ED957"/>
          </a:solidFill>
          <a:ln/>
        </p:spPr>
      </p:sp>
      <p:sp>
        <p:nvSpPr>
          <p:cNvPr id="21" name="Shape 19"/>
          <p:cNvSpPr/>
          <p:nvPr/>
        </p:nvSpPr>
        <p:spPr>
          <a:xfrm>
            <a:off x="1644091" y="2081380"/>
            <a:ext cx="60350" cy="60350"/>
          </a:xfrm>
          <a:prstGeom prst="ellipse">
            <a:avLst/>
          </a:prstGeom>
          <a:solidFill>
            <a:srgbClr val="7ED957"/>
          </a:solidFill>
          <a:ln/>
        </p:spPr>
      </p:sp>
      <p:sp>
        <p:nvSpPr>
          <p:cNvPr id="22" name="Shape 20"/>
          <p:cNvSpPr/>
          <p:nvPr/>
        </p:nvSpPr>
        <p:spPr>
          <a:xfrm>
            <a:off x="1750162" y="2081380"/>
            <a:ext cx="60350" cy="60350"/>
          </a:xfrm>
          <a:prstGeom prst="ellipse">
            <a:avLst/>
          </a:prstGeom>
          <a:solidFill>
            <a:srgbClr val="7ED957"/>
          </a:solidFill>
          <a:ln/>
        </p:spPr>
      </p:sp>
      <p:sp>
        <p:nvSpPr>
          <p:cNvPr id="23" name="Shape 21"/>
          <p:cNvSpPr/>
          <p:nvPr/>
        </p:nvSpPr>
        <p:spPr>
          <a:xfrm>
            <a:off x="1564538" y="2187451"/>
            <a:ext cx="60350" cy="60350"/>
          </a:xfrm>
          <a:prstGeom prst="ellipse">
            <a:avLst/>
          </a:prstGeom>
          <a:solidFill>
            <a:srgbClr val="7ED957"/>
          </a:solidFill>
          <a:ln/>
        </p:spPr>
      </p:sp>
      <p:sp>
        <p:nvSpPr>
          <p:cNvPr id="24" name="Shape 22"/>
          <p:cNvSpPr/>
          <p:nvPr/>
        </p:nvSpPr>
        <p:spPr>
          <a:xfrm>
            <a:off x="1723644" y="2187451"/>
            <a:ext cx="60350" cy="60350"/>
          </a:xfrm>
          <a:prstGeom prst="ellipse">
            <a:avLst/>
          </a:prstGeom>
          <a:solidFill>
            <a:srgbClr val="7ED957"/>
          </a:solidFill>
          <a:ln/>
        </p:spPr>
      </p:sp>
      <p:sp>
        <p:nvSpPr>
          <p:cNvPr id="25" name="Shape 23"/>
          <p:cNvSpPr/>
          <p:nvPr/>
        </p:nvSpPr>
        <p:spPr>
          <a:xfrm>
            <a:off x="1577797" y="2293521"/>
            <a:ext cx="60350" cy="60350"/>
          </a:xfrm>
          <a:prstGeom prst="ellipse">
            <a:avLst/>
          </a:prstGeom>
          <a:solidFill>
            <a:srgbClr val="7ED957"/>
          </a:solidFill>
          <a:ln/>
        </p:spPr>
      </p:sp>
      <p:sp>
        <p:nvSpPr>
          <p:cNvPr id="26" name="Shape 24"/>
          <p:cNvSpPr/>
          <p:nvPr/>
        </p:nvSpPr>
        <p:spPr>
          <a:xfrm>
            <a:off x="1710385" y="2293521"/>
            <a:ext cx="60350" cy="60350"/>
          </a:xfrm>
          <a:prstGeom prst="ellipse">
            <a:avLst/>
          </a:prstGeom>
          <a:solidFill>
            <a:srgbClr val="7ED957"/>
          </a:solidFill>
          <a:ln/>
        </p:spPr>
      </p:sp>
      <p:sp>
        <p:nvSpPr>
          <p:cNvPr id="27" name="Shape 25"/>
          <p:cNvSpPr/>
          <p:nvPr/>
        </p:nvSpPr>
        <p:spPr>
          <a:xfrm>
            <a:off x="1577797" y="2399591"/>
            <a:ext cx="60350" cy="60350"/>
          </a:xfrm>
          <a:prstGeom prst="ellipse">
            <a:avLst/>
          </a:prstGeom>
          <a:solidFill>
            <a:srgbClr val="7ED957"/>
          </a:solidFill>
          <a:ln/>
        </p:spPr>
      </p:sp>
      <p:sp>
        <p:nvSpPr>
          <p:cNvPr id="28" name="Shape 26"/>
          <p:cNvSpPr/>
          <p:nvPr/>
        </p:nvSpPr>
        <p:spPr>
          <a:xfrm>
            <a:off x="1710385" y="2399591"/>
            <a:ext cx="60350" cy="60350"/>
          </a:xfrm>
          <a:prstGeom prst="ellipse">
            <a:avLst/>
          </a:prstGeom>
          <a:solidFill>
            <a:srgbClr val="7ED957"/>
          </a:solidFill>
          <a:ln/>
        </p:spPr>
      </p:sp>
      <p:sp>
        <p:nvSpPr>
          <p:cNvPr id="29" name="Text 27"/>
          <p:cNvSpPr txBox="1"/>
          <p:nvPr/>
        </p:nvSpPr>
        <p:spPr>
          <a:xfrm>
            <a:off x="2455164" y="1810718"/>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hình dáng</a:t>
            </a:r>
            <a:endParaRPr lang="en-US" sz="1300" dirty="0"/>
          </a:p>
          <a:p>
            <a:pPr indent="0" marL="0">
              <a:buNone/>
            </a:pPr>
            <a:r>
              <a:rPr lang="en-US" sz="1300" b="1" dirty="0">
                <a:solidFill>
                  <a:srgbClr val="FFFFFF"/>
                </a:solidFill>
                <a:latin typeface="Arial" pitchFamily="34" charset="0"/>
                <a:ea typeface="Arial" pitchFamily="34" charset="-122"/>
                <a:cs typeface="Arial" pitchFamily="34" charset="-120"/>
              </a:rPr>
              <a:t>看得出形狀</a:t>
            </a:r>
            <a:endParaRPr lang="en-US" sz="1300" dirty="0"/>
          </a:p>
        </p:txBody>
      </p:sp>
      <p:sp>
        <p:nvSpPr>
          <p:cNvPr id="30" name="Shape 28"/>
          <p:cNvSpPr/>
          <p:nvPr/>
        </p:nvSpPr>
        <p:spPr>
          <a:xfrm>
            <a:off x="557784" y="2538910"/>
            <a:ext cx="3794760" cy="1173554"/>
          </a:xfrm>
          <a:prstGeom prst="roundRect">
            <a:avLst>
              <a:gd name="adj" fmla="val 5454"/>
            </a:avLst>
          </a:prstGeom>
          <a:solidFill>
            <a:srgbClr val="12263A"/>
          </a:solidFill>
          <a:ln/>
        </p:spPr>
      </p:sp>
      <p:sp>
        <p:nvSpPr>
          <p:cNvPr id="31" name="Text 29"/>
          <p:cNvSpPr txBox="1"/>
          <p:nvPr/>
        </p:nvSpPr>
        <p:spPr>
          <a:xfrm>
            <a:off x="649224" y="2566342"/>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FFB020"/>
                </a:solidFill>
                <a:latin typeface="Arial" pitchFamily="34" charset="0"/>
                <a:ea typeface="Arial" pitchFamily="34" charset="-122"/>
                <a:cs typeface="Arial" pitchFamily="34" charset="-120"/>
              </a:rPr>
              <a:t>Radar trả về: một cục phản xạ + tốc độ</a:t>
            </a:r>
            <a:endParaRPr lang="en-US" sz="1050" dirty="0"/>
          </a:p>
          <a:p>
            <a:pPr indent="0" marL="0">
              <a:lnSpc>
                <a:spcPct val="104000"/>
              </a:lnSpc>
              <a:buNone/>
            </a:pPr>
            <a:r>
              <a:rPr lang="en-US" sz="950" dirty="0">
                <a:solidFill>
                  <a:srgbClr val="FFB020"/>
                </a:solidFill>
                <a:latin typeface="微軟正黑體" pitchFamily="34" charset="0"/>
                <a:ea typeface="微軟正黑體" pitchFamily="34" charset="-122"/>
                <a:cs typeface="微軟正黑體" pitchFamily="34" charset="-120"/>
              </a:rPr>
              <a:t>雷達給的：一團回波，加上速度</a:t>
            </a:r>
            <a:endParaRPr lang="en-US" sz="1050" dirty="0"/>
          </a:p>
        </p:txBody>
      </p:sp>
      <p:sp>
        <p:nvSpPr>
          <p:cNvPr id="32" name="Shape 30"/>
          <p:cNvSpPr/>
          <p:nvPr/>
        </p:nvSpPr>
        <p:spPr>
          <a:xfrm>
            <a:off x="1262786" y="2967812"/>
            <a:ext cx="822960" cy="691286"/>
          </a:xfrm>
          <a:prstGeom prst="ellipse">
            <a:avLst/>
          </a:prstGeom>
          <a:solidFill>
            <a:srgbClr val="FFB020">
              <a:alpha val="38000"/>
            </a:srgbClr>
          </a:solidFill>
          <a:ln/>
        </p:spPr>
      </p:sp>
      <p:sp>
        <p:nvSpPr>
          <p:cNvPr id="33" name="Shape 31"/>
          <p:cNvSpPr/>
          <p:nvPr/>
        </p:nvSpPr>
        <p:spPr>
          <a:xfrm>
            <a:off x="1390802" y="3075346"/>
            <a:ext cx="566928" cy="476220"/>
          </a:xfrm>
          <a:prstGeom prst="ellipse">
            <a:avLst/>
          </a:prstGeom>
          <a:solidFill>
            <a:srgbClr val="FFB020">
              <a:alpha val="60000"/>
            </a:srgbClr>
          </a:solidFill>
          <a:ln/>
        </p:spPr>
      </p:sp>
      <p:sp>
        <p:nvSpPr>
          <p:cNvPr id="34" name="Shape 32"/>
          <p:cNvSpPr/>
          <p:nvPr/>
        </p:nvSpPr>
        <p:spPr>
          <a:xfrm>
            <a:off x="1509674" y="3175198"/>
            <a:ext cx="329184" cy="276515"/>
          </a:xfrm>
          <a:prstGeom prst="ellipse">
            <a:avLst/>
          </a:prstGeom>
          <a:solidFill>
            <a:srgbClr val="FFB020">
              <a:alpha val="82000"/>
            </a:srgbClr>
          </a:solidFill>
          <a:ln/>
        </p:spPr>
      </p:sp>
      <p:sp>
        <p:nvSpPr>
          <p:cNvPr id="35" name="Text 33"/>
          <p:cNvSpPr txBox="1"/>
          <p:nvPr/>
        </p:nvSpPr>
        <p:spPr>
          <a:xfrm>
            <a:off x="2455164" y="3039136"/>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40,0 m　−5,2 m/s</a:t>
            </a:r>
            <a:endParaRPr lang="en-US" sz="1300" dirty="0"/>
          </a:p>
        </p:txBody>
      </p:sp>
      <p:sp>
        <p:nvSpPr>
          <p:cNvPr id="36" name="Shape 34"/>
          <p:cNvSpPr/>
          <p:nvPr/>
        </p:nvSpPr>
        <p:spPr>
          <a:xfrm>
            <a:off x="539496" y="3310128"/>
            <a:ext cx="3831336" cy="475488"/>
          </a:xfrm>
          <a:prstGeom prst="rect">
            <a:avLst/>
          </a:prstGeom>
          <a:solidFill>
            <a:srgbClr val="0B1F3A">
              <a:alpha val="78000"/>
            </a:srgbClr>
          </a:solidFill>
          <a:ln/>
        </p:spPr>
      </p:sp>
      <p:sp>
        <p:nvSpPr>
          <p:cNvPr id="37" name="Shape 35"/>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8" name="Shape 36"/>
          <p:cNvSpPr/>
          <p:nvPr/>
        </p:nvSpPr>
        <p:spPr>
          <a:xfrm>
            <a:off x="4919472" y="1420220"/>
            <a:ext cx="347472" cy="347472"/>
          </a:xfrm>
          <a:prstGeom prst="ellipse">
            <a:avLst/>
          </a:prstGeom>
          <a:solidFill>
            <a:srgbClr val="D9463E"/>
          </a:solidFill>
          <a:ln/>
        </p:spPr>
      </p:sp>
      <p:sp>
        <p:nvSpPr>
          <p:cNvPr id="39" name="Text 37"/>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0" name="Text 38"/>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41" name="Text 39"/>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42" name="Text 40">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43" name="Shape 41"/>
          <p:cNvSpPr/>
          <p:nvPr/>
        </p:nvSpPr>
        <p:spPr>
          <a:xfrm>
            <a:off x="4919472" y="2316332"/>
            <a:ext cx="36576" cy="237744"/>
          </a:xfrm>
          <a:prstGeom prst="rect">
            <a:avLst/>
          </a:prstGeom>
          <a:solidFill>
            <a:srgbClr val="00A896"/>
          </a:solidFill>
          <a:ln/>
        </p:spPr>
      </p:sp>
      <p:sp>
        <p:nvSpPr>
          <p:cNvPr id="44" name="Text 42"/>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45" name="Shape 43"/>
          <p:cNvSpPr/>
          <p:nvPr/>
        </p:nvSpPr>
        <p:spPr>
          <a:xfrm>
            <a:off x="4919472" y="2666656"/>
            <a:ext cx="36576" cy="237744"/>
          </a:xfrm>
          <a:prstGeom prst="rect">
            <a:avLst/>
          </a:prstGeom>
          <a:solidFill>
            <a:srgbClr val="00A896"/>
          </a:solidFill>
          <a:ln/>
        </p:spPr>
      </p:sp>
      <p:sp>
        <p:nvSpPr>
          <p:cNvPr id="46" name="Text 44"/>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47" name="Shape 45"/>
          <p:cNvSpPr/>
          <p:nvPr/>
        </p:nvSpPr>
        <p:spPr>
          <a:xfrm>
            <a:off x="4919472" y="3159311"/>
            <a:ext cx="36576" cy="237744"/>
          </a:xfrm>
          <a:prstGeom prst="rect">
            <a:avLst/>
          </a:prstGeom>
          <a:solidFill>
            <a:srgbClr val="00A896"/>
          </a:solidFill>
          <a:ln/>
        </p:spPr>
      </p:sp>
      <p:sp>
        <p:nvSpPr>
          <p:cNvPr id="48" name="Text 46"/>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49" name="Shape 47"/>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0" name="Text 48"/>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52"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3" name="Text 4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54" name="Text 5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750174" y="1531803"/>
            <a:ext cx="986820" cy="578267"/>
          </a:xfrm>
          <a:prstGeom prst="roundRect">
            <a:avLst>
              <a:gd name="adj" fmla="val 9488"/>
            </a:avLst>
          </a:prstGeom>
          <a:solidFill>
            <a:srgbClr val="7A3FB5">
              <a:alpha val="18000"/>
            </a:srgbClr>
          </a:solidFill>
          <a:ln/>
        </p:spPr>
      </p:sp>
      <p:sp>
        <p:nvSpPr>
          <p:cNvPr id="5" name="Shape 3"/>
          <p:cNvSpPr/>
          <p:nvPr/>
        </p:nvSpPr>
        <p:spPr>
          <a:xfrm>
            <a:off x="776143" y="1293693"/>
            <a:ext cx="934883" cy="204094"/>
          </a:xfrm>
          <a:prstGeom prst="roundRect">
            <a:avLst>
              <a:gd name="adj" fmla="val 41667"/>
            </a:avLst>
          </a:prstGeom>
          <a:solidFill>
            <a:srgbClr val="8FA3B5"/>
          </a:solidFill>
          <a:ln/>
        </p:spPr>
      </p:sp>
      <p:sp>
        <p:nvSpPr>
          <p:cNvPr id="6" name="Shape 4"/>
          <p:cNvSpPr/>
          <p:nvPr/>
        </p:nvSpPr>
        <p:spPr>
          <a:xfrm>
            <a:off x="875864" y="1364577"/>
            <a:ext cx="62326" cy="62326"/>
          </a:xfrm>
          <a:prstGeom prst="ellipse">
            <a:avLst/>
          </a:prstGeom>
          <a:solidFill>
            <a:srgbClr val="F4F7FA"/>
          </a:solidFill>
          <a:ln/>
        </p:spPr>
      </p:sp>
      <p:sp>
        <p:nvSpPr>
          <p:cNvPr id="7" name="Shape 5"/>
          <p:cNvSpPr/>
          <p:nvPr/>
        </p:nvSpPr>
        <p:spPr>
          <a:xfrm>
            <a:off x="1100235" y="1364577"/>
            <a:ext cx="62326" cy="62326"/>
          </a:xfrm>
          <a:prstGeom prst="ellipse">
            <a:avLst/>
          </a:prstGeom>
          <a:solidFill>
            <a:srgbClr val="F4F7FA"/>
          </a:solidFill>
          <a:ln/>
        </p:spPr>
      </p:sp>
      <p:sp>
        <p:nvSpPr>
          <p:cNvPr id="8" name="Shape 6"/>
          <p:cNvSpPr/>
          <p:nvPr/>
        </p:nvSpPr>
        <p:spPr>
          <a:xfrm>
            <a:off x="1324607" y="1364577"/>
            <a:ext cx="62326" cy="62326"/>
          </a:xfrm>
          <a:prstGeom prst="ellipse">
            <a:avLst/>
          </a:prstGeom>
          <a:solidFill>
            <a:srgbClr val="F4F7FA"/>
          </a:solidFill>
          <a:ln/>
        </p:spPr>
      </p:sp>
      <p:sp>
        <p:nvSpPr>
          <p:cNvPr id="9" name="Shape 7"/>
          <p:cNvSpPr/>
          <p:nvPr/>
        </p:nvSpPr>
        <p:spPr>
          <a:xfrm>
            <a:off x="1548979" y="1364577"/>
            <a:ext cx="62326" cy="62326"/>
          </a:xfrm>
          <a:prstGeom prst="ellipse">
            <a:avLst/>
          </a:prstGeom>
          <a:solidFill>
            <a:srgbClr val="F4F7FA"/>
          </a:solidFill>
          <a:ln/>
        </p:spPr>
      </p:sp>
      <p:sp>
        <p:nvSpPr>
          <p:cNvPr id="10" name="Shape 8"/>
          <p:cNvSpPr/>
          <p:nvPr/>
        </p:nvSpPr>
        <p:spPr>
          <a:xfrm>
            <a:off x="1355770" y="1939991"/>
            <a:ext cx="64922" cy="272125"/>
          </a:xfrm>
          <a:prstGeom prst="roundRect">
            <a:avLst>
              <a:gd name="adj" fmla="val 30000"/>
            </a:avLst>
          </a:prstGeom>
          <a:solidFill>
            <a:srgbClr val="3A4650"/>
          </a:solidFill>
          <a:ln/>
        </p:spPr>
      </p:sp>
      <p:sp>
        <p:nvSpPr>
          <p:cNvPr id="11" name="Shape 9"/>
          <p:cNvSpPr/>
          <p:nvPr/>
        </p:nvSpPr>
        <p:spPr>
          <a:xfrm>
            <a:off x="659282" y="1531803"/>
            <a:ext cx="0" cy="578267"/>
          </a:xfrm>
          <a:prstGeom prst="line">
            <a:avLst/>
          </a:prstGeom>
          <a:noFill/>
          <a:ln w="12700">
            <a:solidFill>
              <a:srgbClr val="6B7A88"/>
            </a:solidFill>
            <a:prstDash val="solid"/>
            <a:headEnd type="triangle"/>
            <a:tailEnd type="triangle"/>
          </a:ln>
        </p:spPr>
      </p:sp>
      <p:sp>
        <p:nvSpPr>
          <p:cNvPr id="12" name="Text 10"/>
          <p:cNvSpPr txBox="1"/>
          <p:nvPr/>
        </p:nvSpPr>
        <p:spPr>
          <a:xfrm>
            <a:off x="594360" y="2212116"/>
            <a:ext cx="1298448" cy="204094"/>
          </a:xfrm>
          <a:prstGeom prst="rect">
            <a:avLst/>
          </a:prstGeom>
          <a:noFill/>
          <a:ln/>
        </p:spPr>
        <p:txBody>
          <a:bodyPr wrap="square" lIns="0" tIns="0" rIns="0" bIns="0" rtlCol="0" anchor="ctr"/>
          <a:lstStyle/>
          <a:p>
            <a:pPr algn="ctr" indent="0" marL="0">
              <a:buNone/>
            </a:pPr>
            <a:r>
              <a:rPr lang="en-US" sz="800" b="1" dirty="0">
                <a:solidFill>
                  <a:srgbClr val="6B7A88"/>
                </a:solidFill>
                <a:latin typeface="Arial" pitchFamily="34" charset="0"/>
                <a:ea typeface="Arial" pitchFamily="34" charset="-122"/>
                <a:cs typeface="Arial" pitchFamily="34" charset="-120"/>
              </a:rPr>
              <a:t>vài mét  幾公尺</a:t>
            </a:r>
            <a:endParaRPr lang="en-US" sz="800" dirty="0"/>
          </a:p>
        </p:txBody>
      </p:sp>
      <p:sp>
        <p:nvSpPr>
          <p:cNvPr id="13" name="Text 11"/>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14" name="Shape 12"/>
          <p:cNvSpPr/>
          <p:nvPr/>
        </p:nvSpPr>
        <p:spPr>
          <a:xfrm>
            <a:off x="2295144" y="1400190"/>
            <a:ext cx="786384" cy="283464"/>
          </a:xfrm>
          <a:prstGeom prst="roundRect">
            <a:avLst>
              <a:gd name="adj" fmla="val 19355"/>
            </a:avLst>
          </a:prstGeom>
          <a:solidFill>
            <a:srgbClr val="0B1F3A"/>
          </a:solidFill>
          <a:ln/>
        </p:spPr>
      </p:sp>
      <p:sp>
        <p:nvSpPr>
          <p:cNvPr id="15" name="Text 13"/>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6" name="Text 14"/>
          <p:cNvSpPr txBox="1"/>
          <p:nvPr/>
        </p:nvSpPr>
        <p:spPr>
          <a:xfrm>
            <a:off x="3209544" y="1400190"/>
            <a:ext cx="5431536" cy="807965"/>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7" name="Shape 15"/>
          <p:cNvSpPr/>
          <p:nvPr/>
        </p:nvSpPr>
        <p:spPr>
          <a:xfrm>
            <a:off x="2295144" y="2272163"/>
            <a:ext cx="786384" cy="283464"/>
          </a:xfrm>
          <a:prstGeom prst="roundRect">
            <a:avLst>
              <a:gd name="adj" fmla="val 19355"/>
            </a:avLst>
          </a:prstGeom>
          <a:solidFill>
            <a:srgbClr val="007F72"/>
          </a:solidFill>
          <a:ln/>
        </p:spPr>
      </p:sp>
      <p:sp>
        <p:nvSpPr>
          <p:cNvPr id="18" name="Text 16"/>
          <p:cNvSpPr txBox="1"/>
          <p:nvPr/>
        </p:nvSpPr>
        <p:spPr>
          <a:xfrm>
            <a:off x="2295144" y="229502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9" name="Text 17"/>
          <p:cNvSpPr txBox="1"/>
          <p:nvPr/>
        </p:nvSpPr>
        <p:spPr>
          <a:xfrm>
            <a:off x="3209544" y="2272163"/>
            <a:ext cx="5431536" cy="445131"/>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20" name="Shape 18"/>
          <p:cNvSpPr/>
          <p:nvPr/>
        </p:nvSpPr>
        <p:spPr>
          <a:xfrm>
            <a:off x="2295144" y="2781302"/>
            <a:ext cx="786384" cy="283464"/>
          </a:xfrm>
          <a:prstGeom prst="roundRect">
            <a:avLst>
              <a:gd name="adj" fmla="val 19355"/>
            </a:avLst>
          </a:prstGeom>
          <a:solidFill>
            <a:srgbClr val="FFB020"/>
          </a:solidFill>
          <a:ln/>
        </p:spPr>
      </p:sp>
      <p:sp>
        <p:nvSpPr>
          <p:cNvPr id="21" name="Text 19"/>
          <p:cNvSpPr txBox="1"/>
          <p:nvPr/>
        </p:nvSpPr>
        <p:spPr>
          <a:xfrm>
            <a:off x="2295144" y="2804162"/>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2" name="Text 20"/>
          <p:cNvSpPr txBox="1"/>
          <p:nvPr/>
        </p:nvSpPr>
        <p:spPr>
          <a:xfrm>
            <a:off x="3209544" y="2781302"/>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23" name="Shape 21"/>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4" name="Text 22"/>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7" name="Text 2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8" name="Text 2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36840" y="1301348"/>
            <a:ext cx="3436647"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độ trễ của ít nhất bốn vệ tinh là tính được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a:t>
            </a:r>
            <a:endParaRPr lang="en-US" sz="1100" dirty="0"/>
          </a:p>
        </p:txBody>
      </p:sp>
      <p:sp>
        <p:nvSpPr>
          <p:cNvPr id="14" name="Shape 12"/>
          <p:cNvSpPr/>
          <p:nvPr/>
        </p:nvSpPr>
        <p:spPr>
          <a:xfrm>
            <a:off x="2295144" y="2364494"/>
            <a:ext cx="786384" cy="283464"/>
          </a:xfrm>
          <a:prstGeom prst="roundRect">
            <a:avLst>
              <a:gd name="adj" fmla="val 19355"/>
            </a:avLst>
          </a:prstGeom>
          <a:solidFill>
            <a:srgbClr val="007F72"/>
          </a:solidFill>
          <a:ln/>
        </p:spPr>
      </p:sp>
      <p:sp>
        <p:nvSpPr>
          <p:cNvPr id="15" name="Text 13"/>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63689"/>
            <a:ext cx="786384" cy="283464"/>
          </a:xfrm>
          <a:prstGeom prst="roundRect">
            <a:avLst>
              <a:gd name="adj" fmla="val 19355"/>
            </a:avLst>
          </a:prstGeom>
          <a:solidFill>
            <a:srgbClr val="FFB020"/>
          </a:solidFill>
          <a:ln/>
        </p:spPr>
      </p:sp>
      <p:sp>
        <p:nvSpPr>
          <p:cNvPr id="18" name="Text 16"/>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它是唯一不看外面的一種。前面有什麼東西，它完全不知道。</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為什麼要四顆衛星：四個球面交在一個點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gns.jpg">    </p:cNvPr>
          <p:cNvPicPr>
            <a:picLocks noChangeAspect="1"/>
          </p:cNvPicPr>
          <p:nvPr/>
        </p:nvPicPr>
        <p:blipFill>
          <a:blip r:embed="rId1"/>
          <a:stretch>
            <a:fillRect/>
          </a:stretch>
        </p:blipFill>
        <p:spPr>
          <a:xfrm>
            <a:off x="548640" y="1545684"/>
            <a:ext cx="3813048" cy="1803572"/>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Karlbrix · CC BY-SA 4.0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Ăng-ten bên trái là loại trắc địa, chính xác hơn loại trong điện thoại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左邊那個天線是測量等級的，比手機裡那顆準得多</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44829" y="1363919"/>
            <a:ext cx="197510" cy="197510"/>
          </a:xfrm>
          <a:prstGeom prst="ellipse">
            <a:avLst/>
          </a:prstGeom>
          <a:solidFill>
            <a:srgbClr val="FF7A59"/>
          </a:solidFill>
          <a:ln/>
        </p:spPr>
      </p:sp>
      <p:sp>
        <p:nvSpPr>
          <p:cNvPr id="5" name="Shape 3"/>
          <p:cNvSpPr/>
          <p:nvPr/>
        </p:nvSpPr>
        <p:spPr>
          <a:xfrm>
            <a:off x="1085576" y="1581180"/>
            <a:ext cx="316017" cy="355519"/>
          </a:xfrm>
          <a:prstGeom prst="roundRect">
            <a:avLst>
              <a:gd name="adj" fmla="val 81018"/>
            </a:avLst>
          </a:prstGeom>
          <a:solidFill>
            <a:srgbClr val="FF7A59"/>
          </a:solidFill>
          <a:ln/>
        </p:spPr>
      </p:sp>
      <p:sp>
        <p:nvSpPr>
          <p:cNvPr id="6" name="Shape 4"/>
          <p:cNvSpPr/>
          <p:nvPr/>
        </p:nvSpPr>
        <p:spPr>
          <a:xfrm rot="960000">
            <a:off x="1031260" y="1610807"/>
            <a:ext cx="79004" cy="256764"/>
          </a:xfrm>
          <a:prstGeom prst="rect">
            <a:avLst/>
          </a:prstGeom>
          <a:solidFill>
            <a:srgbClr val="FF7A59"/>
          </a:solidFill>
          <a:ln/>
        </p:spPr>
      </p:sp>
      <p:sp>
        <p:nvSpPr>
          <p:cNvPr id="7" name="Shape 5"/>
          <p:cNvSpPr/>
          <p:nvPr/>
        </p:nvSpPr>
        <p:spPr>
          <a:xfrm rot="-960000">
            <a:off x="1376904" y="1610807"/>
            <a:ext cx="79004" cy="256764"/>
          </a:xfrm>
          <a:prstGeom prst="rect">
            <a:avLst/>
          </a:prstGeom>
          <a:solidFill>
            <a:srgbClr val="FF7A59"/>
          </a:solidFill>
          <a:ln/>
        </p:spPr>
      </p:sp>
      <p:sp>
        <p:nvSpPr>
          <p:cNvPr id="8" name="Shape 6"/>
          <p:cNvSpPr/>
          <p:nvPr/>
        </p:nvSpPr>
        <p:spPr>
          <a:xfrm rot="300000">
            <a:off x="1139891" y="1887322"/>
            <a:ext cx="88880" cy="355519"/>
          </a:xfrm>
          <a:prstGeom prst="rect">
            <a:avLst/>
          </a:prstGeom>
          <a:solidFill>
            <a:srgbClr val="FF7A59"/>
          </a:solidFill>
          <a:ln/>
        </p:spPr>
      </p:sp>
      <p:sp>
        <p:nvSpPr>
          <p:cNvPr id="9" name="Shape 7"/>
          <p:cNvSpPr/>
          <p:nvPr/>
        </p:nvSpPr>
        <p:spPr>
          <a:xfrm rot="-300000">
            <a:off x="1258397" y="1887322"/>
            <a:ext cx="88880" cy="355519"/>
          </a:xfrm>
          <a:prstGeom prst="rect">
            <a:avLst/>
          </a:prstGeom>
          <a:solidFill>
            <a:srgbClr val="FF7A59"/>
          </a:solidFill>
          <a:ln/>
        </p:spPr>
      </p:sp>
      <p:sp>
        <p:nvSpPr>
          <p:cNvPr id="10" name="Text 8"/>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11" name="Shape 9"/>
          <p:cNvSpPr/>
          <p:nvPr/>
        </p:nvSpPr>
        <p:spPr>
          <a:xfrm>
            <a:off x="2295144" y="1400190"/>
            <a:ext cx="786384" cy="283464"/>
          </a:xfrm>
          <a:prstGeom prst="roundRect">
            <a:avLst>
              <a:gd name="adj" fmla="val 19355"/>
            </a:avLst>
          </a:prstGeom>
          <a:solidFill>
            <a:srgbClr val="0B1F3A"/>
          </a:solidFill>
          <a:ln/>
        </p:spPr>
      </p:sp>
      <p:sp>
        <p:nvSpPr>
          <p:cNvPr id="12" name="Text 10"/>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400190"/>
            <a:ext cx="5431536" cy="807965"/>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4" name="Shape 12"/>
          <p:cNvSpPr/>
          <p:nvPr/>
        </p:nvSpPr>
        <p:spPr>
          <a:xfrm>
            <a:off x="2295144" y="2272163"/>
            <a:ext cx="786384" cy="283464"/>
          </a:xfrm>
          <a:prstGeom prst="roundRect">
            <a:avLst>
              <a:gd name="adj" fmla="val 19355"/>
            </a:avLst>
          </a:prstGeom>
          <a:solidFill>
            <a:srgbClr val="007F72"/>
          </a:solidFill>
          <a:ln/>
        </p:spPr>
      </p:sp>
      <p:sp>
        <p:nvSpPr>
          <p:cNvPr id="15" name="Text 13"/>
          <p:cNvSpPr txBox="1"/>
          <p:nvPr/>
        </p:nvSpPr>
        <p:spPr>
          <a:xfrm>
            <a:off x="2295144" y="229502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272163"/>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7" name="Shape 15"/>
          <p:cNvSpPr/>
          <p:nvPr/>
        </p:nvSpPr>
        <p:spPr>
          <a:xfrm>
            <a:off x="2295144" y="2971358"/>
            <a:ext cx="786384" cy="283464"/>
          </a:xfrm>
          <a:prstGeom prst="roundRect">
            <a:avLst>
              <a:gd name="adj" fmla="val 19355"/>
            </a:avLst>
          </a:prstGeom>
          <a:solidFill>
            <a:srgbClr val="FFB020"/>
          </a:solidFill>
          <a:ln/>
        </p:spPr>
      </p:sp>
      <p:sp>
        <p:nvSpPr>
          <p:cNvPr id="18" name="Text 16"/>
          <p:cNvSpPr txBox="1"/>
          <p:nvPr/>
        </p:nvSpPr>
        <p:spPr>
          <a:xfrm>
            <a:off x="2295144" y="299421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2971358"/>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85072" y="1301348"/>
            <a:ext cx="2940185"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量得到距離，不等於知道那是什麼</a:t>
            </a:r>
            <a:endParaRPr lang="en-US" sz="2200" dirty="0"/>
          </a:p>
        </p:txBody>
      </p:sp>
      <p:sp>
        <p:nvSpPr>
          <p:cNvPr id="3" name="Shape 1"/>
          <p:cNvSpPr/>
          <p:nvPr/>
        </p:nvSpPr>
        <p:spPr>
          <a:xfrm>
            <a:off x="502920" y="1316736"/>
            <a:ext cx="3566160" cy="2249424"/>
          </a:xfrm>
          <a:prstGeom prst="roundRect">
            <a:avLst>
              <a:gd name="adj" fmla="val 4065"/>
            </a:avLst>
          </a:prstGeom>
          <a:solidFill>
            <a:srgbClr val="0B1F3A"/>
          </a:solidFill>
          <a:ln/>
        </p:spPr>
      </p:sp>
      <p:sp>
        <p:nvSpPr>
          <p:cNvPr id="4" name="Text 2"/>
          <p:cNvSpPr txBox="1"/>
          <p:nvPr/>
        </p:nvSpPr>
        <p:spPr>
          <a:xfrm>
            <a:off x="667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00A896"/>
                </a:solidFill>
                <a:latin typeface="Arial" pitchFamily="34" charset="0"/>
                <a:ea typeface="Arial" pitchFamily="34" charset="-122"/>
                <a:cs typeface="Arial" pitchFamily="34" charset="-120"/>
              </a:rPr>
              <a:t>LiDAR và radar đều trả lời rất chắc chắn</a:t>
            </a:r>
            <a:endParaRPr lang="en-US" sz="1050" dirty="0"/>
          </a:p>
          <a:p>
            <a:pPr indent="0" marL="0">
              <a:lnSpc>
                <a:spcPct val="104000"/>
              </a:lnSpc>
              <a:buNone/>
            </a:pPr>
            <a:r>
              <a:rPr lang="en-US" sz="950" dirty="0">
                <a:solidFill>
                  <a:srgbClr val="00A896"/>
                </a:solidFill>
                <a:latin typeface="微軟正黑體" pitchFamily="34" charset="0"/>
                <a:ea typeface="微軟正黑體" pitchFamily="34" charset="-122"/>
                <a:cs typeface="微軟正黑體" pitchFamily="34" charset="-120"/>
              </a:rPr>
              <a:t>光達和雷達都回答得非常肯定</a:t>
            </a:r>
            <a:endParaRPr lang="en-US" sz="1050" dirty="0"/>
          </a:p>
        </p:txBody>
      </p:sp>
      <p:sp>
        <p:nvSpPr>
          <p:cNvPr id="5" name="Text 3"/>
          <p:cNvSpPr txBox="1"/>
          <p:nvPr/>
        </p:nvSpPr>
        <p:spPr>
          <a:xfrm>
            <a:off x="667512" y="1847088"/>
            <a:ext cx="3236976"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30.0 m</a:t>
            </a:r>
            <a:endParaRPr lang="en-US" sz="2700" dirty="0"/>
          </a:p>
        </p:txBody>
      </p:sp>
      <p:sp>
        <p:nvSpPr>
          <p:cNvPr id="6" name="Text 4"/>
          <p:cNvSpPr txBox="1"/>
          <p:nvPr/>
        </p:nvSpPr>
        <p:spPr>
          <a:xfrm>
            <a:off x="667512" y="2450592"/>
            <a:ext cx="3236976" cy="402336"/>
          </a:xfrm>
          <a:prstGeom prst="rect">
            <a:avLst/>
          </a:prstGeom>
          <a:noFill/>
          <a:ln/>
        </p:spPr>
        <p:txBody>
          <a:bodyPr wrap="square" lIns="0" tIns="0" rIns="0" bIns="0" rtlCol="0" anchor="t"/>
          <a:lstStyle/>
          <a:p>
            <a:pPr indent="0" marL="0">
              <a:lnSpc>
                <a:spcPct val="108000"/>
              </a:lnSpc>
              <a:buNone/>
            </a:pPr>
            <a:r>
              <a:rPr lang="en-US" sz="1150" b="1" dirty="0">
                <a:solidFill>
                  <a:srgbClr val="AFC3D4"/>
                </a:solidFill>
                <a:latin typeface="Arial" pitchFamily="34" charset="0"/>
                <a:ea typeface="Arial" pitchFamily="34" charset="-122"/>
                <a:cs typeface="Arial" pitchFamily="34" charset="-120"/>
              </a:rPr>
              <a:t>Vật cản chưa phân loại</a:t>
            </a:r>
            <a:endParaRPr lang="en-US" sz="1150" dirty="0"/>
          </a:p>
          <a:p>
            <a:pPr indent="0" marL="0">
              <a:lnSpc>
                <a:spcPct val="108000"/>
              </a:lnSpc>
              <a:buNone/>
            </a:pPr>
            <a:r>
              <a:rPr lang="en-US" sz="1050" dirty="0">
                <a:solidFill>
                  <a:srgbClr val="8AA0B4"/>
                </a:solidFill>
                <a:latin typeface="微軟正黑體" pitchFamily="34" charset="0"/>
                <a:ea typeface="微軟正黑體" pitchFamily="34" charset="-122"/>
                <a:cs typeface="微軟正黑體" pitchFamily="34" charset="-120"/>
              </a:rPr>
              <a:t>未分類障礙物</a:t>
            </a:r>
            <a:endParaRPr lang="en-US" sz="1150" dirty="0"/>
          </a:p>
        </p:txBody>
      </p:sp>
      <p:sp>
        <p:nvSpPr>
          <p:cNvPr id="7" name="Text 5"/>
          <p:cNvSpPr txBox="1"/>
          <p:nvPr/>
        </p:nvSpPr>
        <p:spPr>
          <a:xfrm>
            <a:off x="667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7E93A6"/>
                </a:solidFill>
                <a:latin typeface="Arial" pitchFamily="34" charset="0"/>
                <a:ea typeface="Arial" pitchFamily="34" charset="-122"/>
                <a:cs typeface="Arial" pitchFamily="34" charset="-120"/>
              </a:rPr>
              <a:t>Khoảng cách này chính xác tới từng centimet.</a:t>
            </a:r>
            <a:endParaRPr lang="en-US" sz="1000" dirty="0"/>
          </a:p>
          <a:p>
            <a:pPr indent="0" marL="0">
              <a:lnSpc>
                <a:spcPct val="104000"/>
              </a:lnSpc>
              <a:buNone/>
            </a:pPr>
            <a:r>
              <a:rPr lang="en-US" sz="900" dirty="0">
                <a:solidFill>
                  <a:srgbClr val="7E93A6"/>
                </a:solidFill>
                <a:latin typeface="微軟正黑體" pitchFamily="34" charset="0"/>
                <a:ea typeface="微軟正黑體" pitchFamily="34" charset="-122"/>
                <a:cs typeface="微軟正黑體" pitchFamily="34" charset="-120"/>
              </a:rPr>
              <a:t>這個距離準到公分，完全沒有問題。</a:t>
            </a:r>
            <a:endParaRPr lang="en-US" sz="1000" dirty="0"/>
          </a:p>
        </p:txBody>
      </p:sp>
      <p:sp>
        <p:nvSpPr>
          <p:cNvPr id="8" name="Shape 6"/>
          <p:cNvSpPr/>
          <p:nvPr/>
        </p:nvSpPr>
        <p:spPr>
          <a:xfrm>
            <a:off x="4187952" y="2295144"/>
            <a:ext cx="768096" cy="292608"/>
          </a:xfrm>
          <a:prstGeom prst="rightArrow">
            <a:avLst/>
          </a:prstGeom>
          <a:solidFill>
            <a:srgbClr val="C4CFD9"/>
          </a:solidFill>
          <a:ln/>
        </p:spPr>
      </p:sp>
      <p:sp>
        <p:nvSpPr>
          <p:cNvPr id="9" name="Shape 7"/>
          <p:cNvSpPr/>
          <p:nvPr/>
        </p:nvSpPr>
        <p:spPr>
          <a:xfrm flipH="1">
            <a:off x="4370832" y="2240280"/>
            <a:ext cx="402336" cy="402336"/>
          </a:xfrm>
          <a:prstGeom prst="line">
            <a:avLst/>
          </a:prstGeom>
          <a:noFill/>
          <a:ln w="44450">
            <a:solidFill>
              <a:srgbClr val="D9463E"/>
            </a:solidFill>
            <a:prstDash val="solid"/>
          </a:ln>
        </p:spPr>
      </p:sp>
      <p:sp>
        <p:nvSpPr>
          <p:cNvPr id="10" name="Shape 8"/>
          <p:cNvSpPr/>
          <p:nvPr/>
        </p:nvSpPr>
        <p:spPr>
          <a:xfrm>
            <a:off x="4370832" y="2240280"/>
            <a:ext cx="402336" cy="402336"/>
          </a:xfrm>
          <a:prstGeom prst="line">
            <a:avLst/>
          </a:prstGeom>
          <a:noFill/>
          <a:ln w="44450">
            <a:solidFill>
              <a:srgbClr val="D9463E"/>
            </a:solidFill>
            <a:prstDash val="solid"/>
          </a:ln>
        </p:spPr>
      </p:sp>
      <p:sp>
        <p:nvSpPr>
          <p:cNvPr id="11" name="Shape 9"/>
          <p:cNvSpPr/>
          <p:nvPr/>
        </p:nvSpPr>
        <p:spPr>
          <a:xfrm>
            <a:off x="5074920" y="1316736"/>
            <a:ext cx="3566160" cy="2249424"/>
          </a:xfrm>
          <a:prstGeom prst="roundRect">
            <a:avLst>
              <a:gd name="adj" fmla="val 4065"/>
            </a:avLst>
          </a:prstGeom>
          <a:solidFill>
            <a:srgbClr val="FDECEC"/>
          </a:solidFill>
          <a:ln w="15875">
            <a:solidFill>
              <a:srgbClr val="D9463E"/>
            </a:solidFill>
            <a:prstDash val="solid"/>
          </a:ln>
        </p:spPr>
      </p:sp>
      <p:sp>
        <p:nvSpPr>
          <p:cNvPr id="12" name="Text 10"/>
          <p:cNvSpPr txBox="1"/>
          <p:nvPr/>
        </p:nvSpPr>
        <p:spPr>
          <a:xfrm>
            <a:off x="5239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D9463E"/>
                </a:solidFill>
                <a:latin typeface="Arial" pitchFamily="34" charset="0"/>
                <a:ea typeface="Arial" pitchFamily="34" charset="-122"/>
                <a:cs typeface="Arial" pitchFamily="34" charset="-120"/>
              </a:rPr>
              <a:t>Nhưng điều cần biết là…</a:t>
            </a:r>
            <a:endParaRPr lang="en-US" sz="1050" dirty="0"/>
          </a:p>
          <a:p>
            <a:pPr indent="0" marL="0">
              <a:lnSpc>
                <a:spcPct val="104000"/>
              </a:lnSpc>
              <a:buNone/>
            </a:pPr>
            <a:r>
              <a:rPr lang="en-US" sz="950" dirty="0">
                <a:solidFill>
                  <a:srgbClr val="D9463E"/>
                </a:solidFill>
                <a:latin typeface="微軟正黑體" pitchFamily="34" charset="0"/>
                <a:ea typeface="微軟正黑體" pitchFamily="34" charset="-122"/>
                <a:cs typeface="微軟正黑體" pitchFamily="34" charset="-120"/>
              </a:rPr>
              <a:t>但真正要知道的是……</a:t>
            </a:r>
            <a:endParaRPr lang="en-US" sz="1050" dirty="0"/>
          </a:p>
        </p:txBody>
      </p:sp>
      <p:sp>
        <p:nvSpPr>
          <p:cNvPr id="13" name="Shape 11"/>
          <p:cNvSpPr/>
          <p:nvPr/>
        </p:nvSpPr>
        <p:spPr>
          <a:xfrm>
            <a:off x="5521147" y="2169323"/>
            <a:ext cx="113386" cy="113386"/>
          </a:xfrm>
          <a:prstGeom prst="ellipse">
            <a:avLst/>
          </a:prstGeom>
          <a:solidFill>
            <a:srgbClr val="9AA6B0"/>
          </a:solidFill>
          <a:ln/>
        </p:spPr>
      </p:sp>
      <p:sp>
        <p:nvSpPr>
          <p:cNvPr id="14" name="Shape 12"/>
          <p:cNvSpPr/>
          <p:nvPr/>
        </p:nvSpPr>
        <p:spPr>
          <a:xfrm>
            <a:off x="5487132" y="2294047"/>
            <a:ext cx="181417" cy="204094"/>
          </a:xfrm>
          <a:prstGeom prst="roundRect">
            <a:avLst>
              <a:gd name="adj" fmla="val 141129"/>
            </a:avLst>
          </a:prstGeom>
          <a:solidFill>
            <a:srgbClr val="9AA6B0"/>
          </a:solidFill>
          <a:ln/>
        </p:spPr>
      </p:sp>
      <p:sp>
        <p:nvSpPr>
          <p:cNvPr id="15" name="Shape 13"/>
          <p:cNvSpPr/>
          <p:nvPr/>
        </p:nvSpPr>
        <p:spPr>
          <a:xfrm rot="960000">
            <a:off x="5455950" y="2311055"/>
            <a:ext cx="45354" cy="147401"/>
          </a:xfrm>
          <a:prstGeom prst="rect">
            <a:avLst/>
          </a:prstGeom>
          <a:solidFill>
            <a:srgbClr val="9AA6B0"/>
          </a:solidFill>
          <a:ln/>
        </p:spPr>
      </p:sp>
      <p:sp>
        <p:nvSpPr>
          <p:cNvPr id="16" name="Shape 14"/>
          <p:cNvSpPr/>
          <p:nvPr/>
        </p:nvSpPr>
        <p:spPr>
          <a:xfrm rot="-960000">
            <a:off x="5654375" y="2311055"/>
            <a:ext cx="45354" cy="147401"/>
          </a:xfrm>
          <a:prstGeom prst="rect">
            <a:avLst/>
          </a:prstGeom>
          <a:solidFill>
            <a:srgbClr val="9AA6B0"/>
          </a:solidFill>
          <a:ln/>
        </p:spPr>
      </p:sp>
      <p:sp>
        <p:nvSpPr>
          <p:cNvPr id="17" name="Shape 15"/>
          <p:cNvSpPr/>
          <p:nvPr/>
        </p:nvSpPr>
        <p:spPr>
          <a:xfrm rot="300000">
            <a:off x="5518313" y="2469794"/>
            <a:ext cx="51024" cy="204094"/>
          </a:xfrm>
          <a:prstGeom prst="rect">
            <a:avLst/>
          </a:prstGeom>
          <a:solidFill>
            <a:srgbClr val="9AA6B0"/>
          </a:solidFill>
          <a:ln/>
        </p:spPr>
      </p:sp>
      <p:sp>
        <p:nvSpPr>
          <p:cNvPr id="18" name="Shape 16"/>
          <p:cNvSpPr/>
          <p:nvPr/>
        </p:nvSpPr>
        <p:spPr>
          <a:xfrm rot="-300000">
            <a:off x="5586344" y="2469794"/>
            <a:ext cx="51024" cy="204094"/>
          </a:xfrm>
          <a:prstGeom prst="rect">
            <a:avLst/>
          </a:prstGeom>
          <a:solidFill>
            <a:srgbClr val="9AA6B0"/>
          </a:solidFill>
          <a:ln/>
        </p:spPr>
      </p:sp>
      <p:sp>
        <p:nvSpPr>
          <p:cNvPr id="19" name="Shape 17"/>
          <p:cNvSpPr/>
          <p:nvPr/>
        </p:nvSpPr>
        <p:spPr>
          <a:xfrm>
            <a:off x="5916168" y="2286000"/>
            <a:ext cx="384048" cy="438912"/>
          </a:xfrm>
          <a:prstGeom prst="roundRect">
            <a:avLst>
              <a:gd name="adj" fmla="val 11905"/>
            </a:avLst>
          </a:prstGeom>
          <a:solidFill>
            <a:srgbClr val="9AA6B0"/>
          </a:solidFill>
          <a:ln/>
        </p:spPr>
      </p:sp>
      <p:sp>
        <p:nvSpPr>
          <p:cNvPr id="20" name="Shape 18"/>
          <p:cNvSpPr/>
          <p:nvPr/>
        </p:nvSpPr>
        <p:spPr>
          <a:xfrm>
            <a:off x="5870448" y="2221992"/>
            <a:ext cx="475488" cy="73152"/>
          </a:xfrm>
          <a:prstGeom prst="rect">
            <a:avLst/>
          </a:prstGeom>
          <a:solidFill>
            <a:srgbClr val="8593A0"/>
          </a:solidFill>
          <a:ln/>
        </p:spPr>
      </p:sp>
      <p:sp>
        <p:nvSpPr>
          <p:cNvPr id="21" name="Text 19"/>
          <p:cNvSpPr txBox="1"/>
          <p:nvPr/>
        </p:nvSpPr>
        <p:spPr>
          <a:xfrm>
            <a:off x="5513832" y="1865376"/>
            <a:ext cx="457200" cy="402336"/>
          </a:xfrm>
          <a:prstGeom prst="rect">
            <a:avLst/>
          </a:prstGeom>
          <a:noFill/>
          <a:ln/>
        </p:spPr>
        <p:txBody>
          <a:bodyPr wrap="square" lIns="0" tIns="0" rIns="0" bIns="0" rtlCol="0" anchor="ctr"/>
          <a:lstStyle/>
          <a:p>
            <a:pPr algn="ctr" indent="0" marL="0">
              <a:buNone/>
            </a:pPr>
            <a:r>
              <a:rPr lang="en-US" sz="2400" b="1" dirty="0">
                <a:solidFill>
                  <a:srgbClr val="D9463E"/>
                </a:solidFill>
                <a:latin typeface="Arial" pitchFamily="34" charset="0"/>
                <a:ea typeface="Arial" pitchFamily="34" charset="-122"/>
                <a:cs typeface="Arial" pitchFamily="34" charset="-120"/>
              </a:rPr>
              <a:t>?</a:t>
            </a:r>
            <a:endParaRPr lang="en-US" sz="2400" dirty="0"/>
          </a:p>
        </p:txBody>
      </p:sp>
      <p:sp>
        <p:nvSpPr>
          <p:cNvPr id="22" name="Text 20"/>
          <p:cNvSpPr txBox="1"/>
          <p:nvPr/>
        </p:nvSpPr>
        <p:spPr>
          <a:xfrm>
            <a:off x="6281928" y="1883664"/>
            <a:ext cx="2194560" cy="731520"/>
          </a:xfrm>
          <a:prstGeom prst="rect">
            <a:avLst/>
          </a:prstGeom>
          <a:noFill/>
          <a:ln/>
        </p:spPr>
        <p:txBody>
          <a:bodyPr wrap="square" lIns="0" tIns="0" rIns="0" bIns="0" rtlCol="0" anchor="t"/>
          <a:lstStyle/>
          <a:p>
            <a:pPr indent="0" marL="0">
              <a:lnSpc>
                <a:spcPct val="112000"/>
              </a:lnSpc>
              <a:buNone/>
            </a:pPr>
            <a:r>
              <a:rPr lang="en-US" sz="1300" b="1" dirty="0">
                <a:solidFill>
                  <a:srgbClr val="A32C25"/>
                </a:solidFill>
                <a:latin typeface="Arial" pitchFamily="34" charset="0"/>
                <a:ea typeface="Arial" pitchFamily="34" charset="-122"/>
                <a:cs typeface="Arial" pitchFamily="34" charset="-120"/>
              </a:rPr>
              <a:t>Người hay thùng rác?</a:t>
            </a:r>
            <a:endParaRPr lang="en-US" sz="1300" dirty="0"/>
          </a:p>
          <a:p>
            <a:pPr indent="0" marL="0">
              <a:lnSpc>
                <a:spcPct val="112000"/>
              </a:lnSpc>
              <a:buNone/>
            </a:pPr>
            <a:r>
              <a:rPr lang="en-US" sz="1100" dirty="0">
                <a:solidFill>
                  <a:srgbClr val="A32C25"/>
                </a:solidFill>
                <a:latin typeface="微軟正黑體" pitchFamily="34" charset="0"/>
                <a:ea typeface="微軟正黑體" pitchFamily="34" charset="-122"/>
                <a:cs typeface="微軟正黑體" pitchFamily="34" charset="-120"/>
              </a:rPr>
              <a:t>那是人，還是垃圾桶？</a:t>
            </a:r>
            <a:endParaRPr lang="en-US" sz="1300" dirty="0"/>
          </a:p>
        </p:txBody>
      </p:sp>
      <p:sp>
        <p:nvSpPr>
          <p:cNvPr id="23" name="Text 21"/>
          <p:cNvSpPr txBox="1"/>
          <p:nvPr/>
        </p:nvSpPr>
        <p:spPr>
          <a:xfrm>
            <a:off x="5239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A32C25"/>
                </a:solidFill>
                <a:latin typeface="Arial" pitchFamily="34" charset="0"/>
                <a:ea typeface="Arial" pitchFamily="34" charset="-122"/>
                <a:cs typeface="Arial" pitchFamily="34" charset="-120"/>
              </a:rPr>
              <a:t>Muốn biết đó là gì thì phải hỏi camera hoặc ảnh nhiệt.</a:t>
            </a:r>
            <a:endParaRPr lang="en-US" sz="1000" dirty="0"/>
          </a:p>
          <a:p>
            <a:pPr indent="0" marL="0">
              <a:lnSpc>
                <a:spcPct val="104000"/>
              </a:lnSpc>
              <a:buNone/>
            </a:pPr>
            <a:r>
              <a:rPr lang="en-US" sz="900" dirty="0">
                <a:solidFill>
                  <a:srgbClr val="A32C25"/>
                </a:solidFill>
                <a:latin typeface="微軟正黑體" pitchFamily="34" charset="0"/>
                <a:ea typeface="微軟正黑體" pitchFamily="34" charset="-122"/>
                <a:cs typeface="微軟正黑體" pitchFamily="34" charset="-120"/>
              </a:rPr>
              <a:t>要知道那是什麼，只能問相機或熱像。</a:t>
            </a:r>
            <a:endParaRPr lang="en-US" sz="1000" dirty="0"/>
          </a:p>
        </p:txBody>
      </p:sp>
      <p:sp>
        <p:nvSpPr>
          <p:cNvPr id="24" name="Shape 2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25" name="Text 2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Vì sao phải biết đó là gì? Vì người có thể bước ra, thùng rác thì không.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2026-09-22T03:53:12Z</dcterms:created>
  <dcterms:modified xsi:type="dcterms:W3CDTF">2026-09-22T03:53:12Z</dcterms:modified>
</cp:coreProperties>
</file>