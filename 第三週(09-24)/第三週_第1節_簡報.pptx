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各位同學早安，我們開始第三週。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上禮拜我們認識了幾個名字：相機、光達、雷達、衛星定位。今天要把它們一個一個拆開來看，而且再加兩種——超音波和熱像，總共六種。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這一節課分成兩半。前半段每一種講一頁，講三件事：它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怎麼運作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、它的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是什麼、在自駕車上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拿來做什麼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。後半段我們打開一個網頁，把剛剛講的東西實際量一遍——同一個行人站在同一個位置，這六種分別送回來什麼數字。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我先講今天的結論，這樣你們聽的時候比較有方向：這六種量的是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，不是同一件事誰比較準。有的給距離，有的告訴你那是人還是車，有的給速度，有的對前面完全不知道——它只管自己在哪裡。就像體重計和體溫計，不能問哪個比較準，因為量的不是同一件事。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下課前我希望每個人都能回答一句話：如果車上只裝一種感測器，你會少掉什麼？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前半段請認真記筆記，六張規格頁都會用到。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（開場先花兩分鐘讓全班把工具打開，不要等到要操作時才手忙腳亂。）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螢幕上這個網址，等一下三節課都會用到。有兩個方式打開：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第一，用手機相機掃右邊的 QR。大部分手機的相機 app 對準就會跳出連結，不用裝掃描程式。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第二，直接打網址。比較長，所以建議用掃的。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（如果教室網路不穩，可以請已經打開的同學用手機開熱點，或兩三個人看同一台。這個頁面只有一個檔案，第一次打開之後即使斷線也還能繼續操作——它不需要連回伺服器。）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打開之後大家會看到一張俯視圖，中間是本車，前面有幾個物體。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請現在就用手指拖拖看那個行人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，看右邊（手機是下面）的數字會不會跟著變。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手機的同學注意：畫面下方有兩個分頁，「調整參數」和「六張讀數卡」。預設在讀數卡，要改規格的時候再切過去。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（確認全班都打開了再往下。這一頁的兩分鐘花得很值得，後面每一輪上台操作都會順很多。）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原理最單純，跟你的手機一樣——鏡頭把光聚焦到感光晶片上，晶片上每一個小格子記錄那個方向的顏色和亮度。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請注意「被動」這兩個字，這是理解它所有優缺點的關鍵。相機自己不發出任何東西，它只能接收現場已經存在的光。太陽的光、路燈的光、對向車頭燈的光。沒有光，它就什麼都收不到。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特性方面：解析度最高，六種裡面它給的資訊量最大；有顏色，這是獨門的；而且最便宜，一顆幾百塊到幾千塊。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代價是距離。一張照片本身沒有距離這個資訊，它得靠幾何推算，第二節我們會仔細算這件事。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用途最重要：紅綠燈、速限標誌、車道標線、判斷那是人還是車。大家想一想這些東西有什麼共通點——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（預期答案：都是給人看的、都是顏色或文字。）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它們全部是人類設計給人類眼睛看的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。所以只有一個跟人眼原理相同的感測器讀得懂。這就是為什麼 Waymo 第六代車上裝了十三顆相機，沒有任何一家敢不裝。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影片時間。這一支是特斯拉的 Autopilot 畫面，右邊是車上相機看到的東西加上它自己畫的框。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分鐘即可，不必播完。需要網路；沒網路時跳過這一頁，直接接下一種感測器。）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看的時候請帶著三個問題。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第一，畫面上那些框——車子、行人、車道線——全部是相機貼的標籤。剛剛那一頁講過，只有相機做得到這件事。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第二，注意逆光和進隧道的那幾秒。畫面會突然過曝或全黑，框就跟著亂跳。這就是「被動接收」的代價，第三節我們會用數字量它。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第三，看遠處的物體。框會跳來跳去、忽大忽小，那不是程式壞掉，那就是估距誤差。第二節我們會算出來：六十公尺的時候誤差有將近四公尺。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看完不用討論，我們繼續下一種。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第二種，光達。英文 LiDAR，Light Detection and Ranging。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原理是量時間。它打一道雷射脈衝出去，那道光碰到前面的東西會反射回來，感測器記下「出去到回來」花了多少時間。距離就等於光速乘以時間再除以二——除以二是因為光走了來回兩趟。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這裡有一件事很驚人：光每秒走三十萬公里。要量一百公尺的距離，來回兩百公尺，時間只有大約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零點六七微秒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，也就是百萬分之零點六七秒。光達的電路必須能分辨這麼短的時間差，這就是它貴的原因之一。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特性：距離準到公分級，遠比相機準。而且因為它是一顆一顆點打出去的，它直接給你三維的形狀，不用推算。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缺點兩個。第一是貴，早期一顆要幾萬美金，現在便宜很多但還是最貴的。第二是雨霧——雷射碰到空氣中的小水滴會散射，第三節我們會實際看到濃霧讓它掉一半以上。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跟相機最大的不同是：它是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的，自己帶手電筒，所以晚上跟白天表現一模一樣。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用途除了看障礙物，還有一個大家可能沒想到的：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。先用光達把整條路掃成一張高精地圖，之後車子開過來，把當下掃到的形狀跟地圖比對，就知道自己在哪裡，而且比 GPS 準得多。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左邊這張照片就是光達的本體，Velodyne 的 HDL-64E，早期自駕測試車頭頂上那個會轉的圓罐子。照片是 Steve Jurvetson 拍的，CC BY 2.0 授權。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（連結已設定從 0:56 開始，請播到 2:10 就停。前 56 秒是泛談，2:10 之後講的是用雷射掃路面調整懸吊，跟今天無關。旁白是英文但語速很慢；請開齒輪 → 字幕 → 自動翻譯 → 越南文。需要網路。）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（時間碼：0:56 車頂旋轉的裝置叫光達、看 360°｜1:05 每秒幾千道脈衝、碰到東西反射｜1:28 反射點拼成 3D 點雲、由車上電腦處理｜1:52 用它監看與前車的距離，決定煞車或加速。）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播之前給大家一個任務：這支影片有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一句話講得不精確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，請抓出來。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（預期答案：它說 3D 畫面是靠「量測光速」算出來的。光速是已知的常數，不用量；真正量的是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 ＝ 光速 × 時間 ÷ 2，剛剛那一頁才講過。）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抓到的同學很厲害。這也提醒大家，科普影片不一定每句都對。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再補一個我很喜歡的比喻，出自 Forbes 訪問 Waymo 工程師的另一支影片：在一個全黑的房間裡，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相機像你的眼睛，沒有光就看不到；光達像你伸出去摸的手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，不需要光，而且摸到的就是確切的距離。他還把點雲比喻成一塊針板——幾千根針同時往前伸，碰到東西就縮回去，縮回去的形狀就是那個東西的輪廓。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（延伸教材，適合想多了解的同學：Forbes《What Is Lidar and How Does It Help Self-Driving Cars Make Decisions?》youtube.com/watch?v=j2dt4lo0kx8，3 分 34 秒，語速較快。它還提到一種同調式光達也能直接量接近速度——所以等一下我說「只有雷達直接量得到速度」，嚴格講是指目前主流的飛時測距光達。）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看遠處的點會變稀，這個現象第二節會算出確切的數字——六十四線的光達，四十公尺外的行人身上只剩十五個點。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第三種，雷達。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原理跟光達有點像，都是發射訊號再等它回來，但雷達用的是無線電波，車用的是 77 GHz 的毫米波。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雷達比光達多做一件事。它除了量時間，還量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。如果前面那個東西正在靠近，反射回來的波會被壓縮、頻率變高；正在遠離就被拉長、頻率變低。這叫都卜勒效應。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大家有沒有聽過救護車經過的時候，聲音從高變低？那就是都卜勒效應，只是換成聲音。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所以雷達一次量測就同時得到距離和接近速度，別的感測器都要量兩次再相減才推得出來。這是它不可取代的地方。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等一下操作工具的時候，同學一定會發現一件事：拉「目標的移動」那條滑桿，六張卡只有雷達那一格在動，其他五格完全不理你。有人會以為程式壞了。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壞。原因就是我們剛講的：另外五種量的是「這一瞬間的位置」——人站在三十公尺，距離就是三十公尺，跟他下一秒要往左走還是往右走完全沒關係。相機的估距誤差、光達的點數、熱像的像素，全部只跟「他現在在哪裡」有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雷達不一樣。它量的是回波的頻率被壓縮還是被拉長，那個量本身就是「距離正在縮短或拉長的速率」。所以你一改速度，它就立刻跳。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請大家把這句話寫下來：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只有雷達是直接「量」到速度的，其他感測器的速度都是「算」出來的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——連續拍兩張，看位置差多少，再除以時間。算出來的東西一定比量出來的慢、也比較容易被雜訊影響。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（補充給比較快的同學：現在也有 FMCW 光達可以直接量速度，但還很貴，路上的車幾乎都還沒裝。）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特性最突出的是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不怕雨霧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。為什麼？看最下面那一行：77 GHz 的波長大約四公釐，霧滴的直徑只有幾十微米，波長比障礙物大很多的時候，波會直接繞過去。就像海浪碰到一根細竹竿不會被擋住。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缺點是角解析度差。它知道「三十公尺外有東西」，但那個東西在左邊一點還是右邊一點，它分得很模糊。兩台並排的機車，雷達可能只看到一個目標。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還有一件事等一下操作時會看到：工具裡雷達的預設是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長距雷達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，兩百五十公尺，但視野只有二十度——非常窄。真車因此要另外再裝中短距雷達補兩側，那種是六十到一百公尺配九十到一百五十度。看得遠和看得廣，一顆做不到兩件事。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用途：你們家裡的車如果有定速跟車或自動煞車，那就是雷達。它是量產車上最早普及的自駕感測器，因為便宜又耐用。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這一支是雷達的動畫解說。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先說明一下：雷達的實體照片我沒有找到合適的開放授權版本，所以左邊暫時放圖示。如果老師的車有自動煞車或定速跟車，水箱罩後面或保險桿中間就有一顆，可以自己拍一張換上去——這樣學生更有感。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影片要看的重點：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第一，發出去的波和回來的波，動畫會把兩條疊在一起給你看，頻率已經不一樣了。那個差值就是速度。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第二，注意雷達在車上的位置。它通常藏在水箱罩後面，因為無線電波可以穿透塑膠，不用像相機那樣一定要露出來。這也是為什麼你在路上看不到它。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第三，看完請回想一件事：如果那個東西是橫越過去的，頻率的變化會是多少？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（預期答案：幾乎沒有變化。這個等一下上台操作時會親眼看到。）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光達和雷達都講完了，用一支兩分半的影片把這兩種放在一起比一次。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（播放前：英文旁白，只有自動產生的英文字幕。請點齒輪 → 字幕 → 自動翻譯 → 越南文。播到 2:25 可停。需要網路；沒網路就跳過。）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（時間碼，方便中途暫停：0:10 光達怎麼量｜0:38 光達的弱點｜0:53 雷達的強項｜1:14 雷達的限制｜1:28 哪個比較好｜1:51 結論。）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先給任務：邊看邊對照剛剛兩頁規格，它講的跟我們講的一不一樣？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看完問三題。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第一，影片說光達的弱點是什麼？（預期：怕雨霧雪、貴。跟第 4 張一樣，第三節會用數字量。）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第二，影片提到雷達知道前面有東西，卻分不出那是什麼。這對應今天哪個重點？（預期：量得到距離，不等於知道那是什麼。等一下上台會看到雷達那張卡只寫「未分類障礙物」。）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第三題最重要：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這支影片從頭到尾沒提到哪一種感測器？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（預期：相機。）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影片說多數自駕車是光達加雷達一起用，這不算錯，但不完整——它漏掉了數量最多、而且唯一讀得出紅綠燈的那一種。以後看這類科普影片，不只看它講了什麼，也要想它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沒講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補充：影片描述的是車頂旋轉式光達，那只是其中一種，下禮拜會看到固定式的。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第四種，超音波。這一種大家其實每天都聽過。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停車的時候車子嗶嗶叫，就是它。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原理跟光達、雷達一樣是量時間，只是它發的是聲音——大約四十到五十千赫，超過人耳的上限，所以我們聽不到它發出去的訊號，只聽得到車機翻譯後的嗶聲。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這裡有一個很聰明的工程考量。聲音每秒只走三百四十公尺，比光慢了上百萬倍。量一公尺的距離，來回兩公尺，時間大約是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六毫秒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——這個時間長到用很便宜的電路就量得出來。所以超音波感測器一顆只要幾十塊錢，而光達要幾萬塊。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慢，在這裡反而是優點。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缺點很明顯：只有幾公尺——量產的停車感測器大約是零點一五到五點五公尺，工具裡預設四點五。聲音在空氣裡衰減得很快，而且會受風和溫度影響——溫度變了聲速就變了，距離就會算錯。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用途就是保險桿上那一排小圓點，管車身周圍那一圈。聽起來很弱對不對？可是等一下實際操作的時候你們會看到，在貼近車身的那個距離，其他五種全部看不到，只有它還在工作。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每一種感測器，都是為了補另一種的弱點而存在的。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左邊這張是停車感測器的特寫，就是保險桿上那個小圓點，照片來自 Wikimedia Commons，CC BY 2.0。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大家下課可以到停車場看看，一台車的後保險桿通常有四顆，前面也有四顆。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影片重點：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第一，數數看一台車裝幾顆。為什麼要好幾顆？因為一顆的視野只有一個錐形，要涵蓋整個車尾就得排一排。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第二，嗶嗶聲。愈近嗶得愈快，那是車子把距離翻譯成你聽得懂的東西。其實螢幕上也會畫距離，但聲音不用你低頭看。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第三，一個思考題：為什麼超音波只在停車的時候用，開車的時候不用？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（預期答案：只有幾公尺，時速五十的煞停距離要二十公尺，它根本來不及。第二節會算這個。）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第五種，衛星定位，GNSS。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我特別要把它跟前面四種分開講，因為它做的事情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根本不一樣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前面四種都是往外看：前面有什麼、多遠、什麼形狀。GNSS 完全不看外面，它只回答一個問題：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我在哪裡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比對時間。天上每顆衛星不斷廣播「我是幾號衛星，現在幾點幾分幾秒，我在這個位置」。訊號傳到你的接收器要時間，你比對「它說幾點發的」和「我幾點收到」，就知道離那顆衛星多遠。同時收到四顆以上，就能解出自己在三維空間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為什麼要四顆不是三顆？因為還有一個未知數是你自己接收器的時鐘誤差。三顆解位置，第四顆解時間。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特性：它給的是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絕對位置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，經緯度，全世界通用。這是別人給不了的。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缺點是誤差有幾公尺。大家想一想，車道寬三點五公尺，誤差兩三公尺代表什麼？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（預期答案：分不出自己在哪一個車道。）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對。所以 GNSS 可以告訴你「你在中正路上」，但沒辦法告訴你「你在中間那個車道」。要知道車道，還是得靠相機看標線。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而且隧道裡、高樓之間會收不到訊號，這時候要靠慣性感測器暫時頂著。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最下面那句話請記住：它是唯一不看外面的一種。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 GNSS 天線，測量等級的那種，比手機裡面那顆準很多。照片來自 Wikimedia Commons，CC BY-SA 4.0。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 Perimeter Institute 拍的——那是加拿大一間理論物理研究院，他們用實體教具示範三邊測量，講得非常清楚，適合給不熟數學的同學看。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一顆衛星，你只知道自己離它多遠，也就是在某個球面上，可能在地球任何地方。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兩顆，兩個球面相交成一個圓。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三顆，縮到兩個點，其中一個通常在外太空，可以排除。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四顆，解出唯一的點，而且第四顆還順便修正你接收器的時鐘誤差——剛剛那一頁講過這件事。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看完請記住一句話：它從頭到尾都在算自己在哪裡，完全沒有看前面有什麼。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最後一種，熱像，也是今天唯一上禮拜完全沒提過的。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它的原理跟前面五種都不一樣，我覺得是六種裡面最漂亮的一個。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物理上，任何溫度高於絕對零度的東西都會放出電磁波，溫度愈高波長愈短。人體三十七度放出來的是八到十四微米的長波紅外線。熱像感測器就是專門接收這個波段，然後把不同的強度畫成一張溫度圖。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請注意：它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什麼都不發射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不需要任何光源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。相機是被動但需要光，光達雷達主動發訊號，熱像是被動而且連光都不需要——它收的是物體自己放出來的。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所以在全黑的夜裡，一個人在熱像裡是一個清清楚楚的亮形狀。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而且最下面那句話很有意思：入夜之後路面和空氣涼下來，人和背景的溫差反而變大，所以熱像在夜間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比白天更清楚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。白天太陽把柏油路曬到五六十度，比人還燙，反而不好分辨。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缺點：第一，解析度低，通常只有三百二乘二百四，跟相機差很多。第二，貴。第三，也是最關鍵的——它讀不出紅綠燈的顏色，也看不到車道標線，因為那些東西跟背景沒有溫差。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所以熱像是補強，不是替代。目前主要用在高階車款的夜視輔助。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左邊這張是熱像圖，一個人的熱影像，CC0 授權，可以自由使用。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請大家注意一個細節：衣服厚的地方顏色比較暗。為什麼？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（預期答案：衣服會隔熱，所以表面溫度比較低。）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對。這也告訴我們熱像的一個限制——它看到的是表面溫度，不是身體裡面的溫度。冬天穿很厚的人，在熱像裡會比夏天穿短袖的人暗一些。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影片是實際裝在車上的熱像夜視。重點：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第一，人和動物非常亮，鹿在路邊很遠就看得到，一般車燈根本照不到那麼遠。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第二，但是交通標誌、紅綠燈、路面標線——完全看不到。因為它們跟背景沒有溫差。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第三，如果影片有並排比較，請跟一般相機的夜間畫面對照一下，差別非常明顯。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這就是為什麼某些高階車款會多裝一顆熱像做夜視輔助，但它永遠是補強，不能取代相機。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六種講完了。現在我們打開網頁，把剛剛講的全部量一遍。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請第一位同學上來。我先介紹一下畫面。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中間是俯視圖，最下面綠色那台是我們的車，今天它完全不會動。上面是路上的東西。操作只有一個動作：用滑鼠把東西拖走。右邊六張卡立刻跟著變。沒有開始鍵，不會撞車。這禮拜是實驗室，下禮拜才上路。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地上的圈圈每一圈十公尺，左邊有標。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請把行人拖到三十公尺，第三圈。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（預期讀值：相機 30.0 ± 0.33 m、類別「行人」；光達 30.0 m、28 點、「未分類障礙物」；雷達 30.0 m、+0.0 m/s、「未分類障礙物」；超音波「太遠了，超音波只到 4.5 m」；GNSS ±2.5 m 加座標；熱像 30.0 m、20 px、「人體熱訊號」。）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好，現在對照剛剛講的原理，我問三個問題。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有幾張知道那是一個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（預期答案：兩張。相機和熱像。這對應相機「物體分類」和熱像「人體熱訊號」。）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有幾張量得到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（預期答案：四張。相機、光達、雷達、熱像。）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超音波為什麼沒有讀值？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（預期答案：它只有五公尺，剛剛那一頁講過。）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所以剛剛六頁講的原理，在畫面上一個一個都對得起來。下一頁我們把最重要的那句話講透。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這一頁我希望大家拍照。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光達的距離比相機準得多，這是事實，剛剛那一頁講過，公分級。但是準，跟知不知道那是什麼，是兩回事。光達給你的是三十公尺外有一團東西，形狀大概這樣。它不會說那是人。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有同學可能會想：那有差嗎？反正前面有東西就閃開不就好了。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很多。我舉個例子。如果前面三十公尺是一個紙箱，車子可以維持速度，準備繞過去。如果是一個人，就完全不同了——人會突然改變方向、會走進車道、會停下來看手機。車子必須提早減速，而且要預留他可能亂走的空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同樣一團東西、同樣的距離，因為類別不同，該做的事完全不同。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所以「那是什麼」不是多餘的資訊，它直接決定車子要開多快。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這也解釋了為什麼不能只裝最準的那一種就好。準，和知道那是什麼，是兩個不同的能力。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我們把今天講的六種整理成一張表。讀法是：每一列都是「為什麼要多裝一種」的理由。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第一列，不知道那是什麼。光達、雷達、超音波都有這個洞，補的人是相機。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第二列，讀不出燈色。除了相機全部有這個洞，而且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沒有別人補得上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。這一列右邊只有一個答案，是六列裡唯一的。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第三列，不知道接近得多快。相機、光達、熱像都要靠追蹤推算，雷達用都卜勒直接量。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第四列，車身周圍的盲區，剛剛那位同學示範過了。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第五列，天黑。相機掛掉，另外三種沒事——因為主動和被動的差別。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第六列最特別：不知道自己在哪裡。往外看的那五種全部答不出來，只有 GNSS 可以。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大家看這張表——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沒有一列的右邊可以空著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。你如果拿掉任何一種，就有一列補不起來。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這就是真車上為什麼那麼多顆感測器：不是為了炫技，是每一顆都在補一個具體的洞。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第一節收起來。先解釋螢幕上這句標題，這是今天最重要的一句話。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很多人以為感測器的差別是「誰比較準」——光達比相機準，所以裝光達就好。不是這樣。這六種量的根本是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：相機給的是類別和燈色，光達給距離和形狀，雷達給接近速度，超音波管貼著車身的那幾公尺，衛星定位只管我們自己在哪，熱像看溫度。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打個比方：體重計和體溫計，你不能問哪一個比較準，因為它們量的不是同一件事。體重計再準，也量不出你有沒有發燒。同樣的道理，光達再準一百倍，也讀不出前面是紅燈。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所以車上裝六種，不是因為一種不夠準，是因為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少了哪一種，就少了那一種資訊，別的補不回來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。剛剛那張「每一種的弱點，由哪一種來補」講的就是這件事。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接下來三句是今天的重點整理。第一句，我用一句話幫大家把六種分類：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被動的要靠光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，那是相機；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主動的自己發訊號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，那是光達、雷達、超音波；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熱像最特別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，它被動但不需要光，因為它讀的是物體自己放出來的熱。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記住這個分類，第三節講天氣的時候會整個用上——為什麼天黑只有相機掛掉？因為只有它需要外面的光。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第二句：量得到距離不等於知道那是什麼。燈色和標線只有相機。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第三句：接近速度只有雷達直接量，但橫越的時候它會讀到接近零。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下一節我們換一個問題。今天一直在問「誰量得到什麼」，下一節要問「量得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」。我先給大家一個提示：同一台相機，行人站二十公尺，估距誤差正負零點一五公尺；站八十公尺，誤差正負二點三三公尺。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距離四倍，誤差十六倍。為什麼？下一節見。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KXztwtXaGo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JC94Y063x58&amp;t=56s" TargetMode="External"/><Relationship Id="rId1" Type="http://schemas.openxmlformats.org/officeDocument/2006/relationships/image" Target="../media/image-6-1.jp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DZ6tn8RcaBM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AfwYR0OpM2M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uDpaB_1kIdA" TargetMode="External"/><Relationship Id="rId1" Type="http://schemas.openxmlformats.org/officeDocument/2006/relationships/image" Target="../media/image-11-1.jp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e80AzFW9Q0s" TargetMode="Externa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_KrdROQ067c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biến: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lý, đặc tính, công dụng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六種感測器：原理、特性、用途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Hiểu nguyên lý trước, rồi mới kéo thử trên màn hình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先懂原理，再到畫面上拖拖看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1 節　2026/09/24（四）09:10–10:00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 trên điện thoại hoặc máy tính của bạn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用你自己的手機或筆電打開這個工具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三週(9-24)/src/img/w3_qr_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MITUST-Principles-of-Self-Driving-Cars/week3/lab/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link → kéo thử bất kỳ vật nào trên màn hình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打開網址 → 用手指拖拖看畫面上任何一個物體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thoại: phía dưới có hai tab «Điều chỉnh» và «Sáu thẻ số»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手機版：下面有「調整參數」和「六張讀數卡」兩個分頁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cài gì, không cần đăng nhập. Dùng được cả khi không có mạng sau khi đã mở.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不用安裝、不用登入。打開之後斷網也還能用。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 tiết hôm nay đều dùng công cụ này. Mở sẵn rồi để đó.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今天三節課都會用到這個工具。現在先打開放著。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9061" y="1620683"/>
            <a:ext cx="869046" cy="493776"/>
          </a:xfrm>
          <a:prstGeom prst="roundRect">
            <a:avLst>
              <a:gd name="adj" fmla="val 25926"/>
            </a:avLst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6572" y="1521927"/>
            <a:ext cx="256764" cy="118506"/>
          </a:xfrm>
          <a:prstGeom prst="roundRect">
            <a:avLst>
              <a:gd name="adj" fmla="val 231482"/>
            </a:avLst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085576" y="1699687"/>
            <a:ext cx="316017" cy="31601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154704" y="1768815"/>
            <a:ext cx="177759" cy="177759"/>
          </a:xfrm>
          <a:prstGeom prst="ellipse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80596" y="1679936"/>
            <a:ext cx="98755" cy="9875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Hứng ánh sáng có sẵn, ghi lại màu và độ sáng của từng điểm ảnh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接收現場的光，記下每個像素的顏色與亮度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209544" y="1665299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hội tụ ánh sáng lên cảm biến ảnh. Bị động — nó không tự phát ra gì cả, chỉ nhận ánh sáng của mặt trời hoặc đèn.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鏡頭把光聚焦到感光晶片上。被動——它不發出任何東西，只接收太陽或燈光。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95144" y="2296107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2318967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09544" y="2296107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phân giải cao nhất, có màu sắc, rẻ nhất. Nhưng khoảng cách phải suy ra bằng hình học, và hết sáng là hết việc.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解析度最高、有顏色、最便宜。但距離要用幾何推算，而且沒有光就沒轍。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95144" y="292691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95144" y="294977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2926915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đèn tín hiệu, biển báo, vạch kẻ làn, phân loại vật thể. Trên xe tự lái đây là loại lắp nhiều nhất.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號誌燈色、交通標誌、車道標線、物體分類。自駕車上數量最多的一種。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thế hệ 6 lắp 13 camera. Không hãng nào dám bỏ camera.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第六代裝了 13 顆相機。到目前為止，沒有一家自駕公司不裝相機。</a:t>
            </a:r>
            <a:endParaRPr lang="en-US" sz="1200" dirty="0"/>
          </a:p>
        </p:txBody>
      </p:sp>
      <p:pic>
        <p:nvPicPr>
          <p:cNvPr id="2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của xe thật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真車的相機看到什麼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5C7186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26599"/>
            <a:ext cx="3831336" cy="1459017"/>
          </a:xfrm>
          <a:prstGeom prst="rect">
            <a:avLst/>
          </a:prstGeom>
          <a:solidFill>
            <a:srgbClr val="4A576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815279" y="2326599"/>
            <a:ext cx="1548445" cy="1440729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46604" y="2326599"/>
            <a:ext cx="1548445" cy="1440729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6804" y="2548628"/>
            <a:ext cx="136769" cy="136769"/>
          </a:xfrm>
          <a:prstGeom prst="ellipse">
            <a:avLst/>
          </a:prstGeom>
          <a:solidFill>
            <a:srgbClr val="D8E4EC"/>
          </a:solidFill>
          <a:ln/>
        </p:spPr>
      </p:sp>
      <p:sp>
        <p:nvSpPr>
          <p:cNvPr id="9" name="Shape 7"/>
          <p:cNvSpPr/>
          <p:nvPr/>
        </p:nvSpPr>
        <p:spPr>
          <a:xfrm>
            <a:off x="1235773" y="2699074"/>
            <a:ext cx="218831" cy="246185"/>
          </a:xfrm>
          <a:prstGeom prst="roundRect">
            <a:avLst>
              <a:gd name="adj" fmla="val 117000"/>
            </a:avLst>
          </a:prstGeom>
          <a:solidFill>
            <a:srgbClr val="D8E4EC"/>
          </a:solidFill>
          <a:ln/>
        </p:spPr>
      </p:sp>
      <p:sp>
        <p:nvSpPr>
          <p:cNvPr id="10" name="Shape 8"/>
          <p:cNvSpPr/>
          <p:nvPr/>
        </p:nvSpPr>
        <p:spPr>
          <a:xfrm rot="960000">
            <a:off x="1198161" y="2719590"/>
            <a:ext cx="54708" cy="17780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1" name="Shape 9"/>
          <p:cNvSpPr/>
          <p:nvPr/>
        </p:nvSpPr>
        <p:spPr>
          <a:xfrm rot="-960000">
            <a:off x="1437508" y="2719590"/>
            <a:ext cx="54708" cy="17780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2" name="Shape 10"/>
          <p:cNvSpPr/>
          <p:nvPr/>
        </p:nvSpPr>
        <p:spPr>
          <a:xfrm rot="300000">
            <a:off x="1273385" y="2911067"/>
            <a:ext cx="61546" cy="24618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3" name="Shape 11"/>
          <p:cNvSpPr/>
          <p:nvPr/>
        </p:nvSpPr>
        <p:spPr>
          <a:xfrm rot="-300000">
            <a:off x="1355446" y="2911067"/>
            <a:ext cx="61546" cy="24618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4" name="Shape 12"/>
          <p:cNvSpPr/>
          <p:nvPr/>
        </p:nvSpPr>
        <p:spPr>
          <a:xfrm>
            <a:off x="893369" y="2429744"/>
            <a:ext cx="780898" cy="876727"/>
          </a:xfrm>
          <a:prstGeom prst="rect">
            <a:avLst/>
          </a:prstGeom>
          <a:ln w="19050">
            <a:solidFill>
              <a:srgbClr val="6FD0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3369" y="2256008"/>
            <a:ext cx="786384" cy="173736"/>
          </a:xfrm>
          <a:prstGeom prst="rect">
            <a:avLst/>
          </a:prstGeom>
          <a:solidFill>
            <a:srgbClr val="6FD0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0801" y="2260580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行人 0.94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129786" y="2891211"/>
            <a:ext cx="555123" cy="168950"/>
          </a:xfrm>
          <a:prstGeom prst="roundRect">
            <a:avLst>
              <a:gd name="adj" fmla="val 162368"/>
            </a:avLst>
          </a:prstGeom>
          <a:solidFill>
            <a:srgbClr val="C8D3DE"/>
          </a:solidFill>
          <a:ln/>
        </p:spPr>
      </p:sp>
      <p:sp>
        <p:nvSpPr>
          <p:cNvPr id="18" name="Shape 16"/>
          <p:cNvSpPr/>
          <p:nvPr/>
        </p:nvSpPr>
        <p:spPr>
          <a:xfrm>
            <a:off x="3250464" y="2770533"/>
            <a:ext cx="301697" cy="132747"/>
          </a:xfrm>
          <a:prstGeom prst="trapezoid">
            <a:avLst/>
          </a:prstGeom>
          <a:solidFill>
            <a:srgbClr val="C8D3D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2193" y="3023958"/>
            <a:ext cx="120679" cy="120679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91822" y="3023958"/>
            <a:ext cx="120679" cy="120679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1" name="Shape 19"/>
          <p:cNvSpPr/>
          <p:nvPr/>
        </p:nvSpPr>
        <p:spPr>
          <a:xfrm>
            <a:off x="3232363" y="3054128"/>
            <a:ext cx="60339" cy="603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1992" y="3054128"/>
            <a:ext cx="60339" cy="603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767523" y="2532888"/>
            <a:ext cx="1171346" cy="773582"/>
          </a:xfrm>
          <a:prstGeom prst="rect">
            <a:avLst/>
          </a:prstGeom>
          <a:ln w="19050">
            <a:solidFill>
              <a:srgbClr val="4FA8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7523" y="2359152"/>
            <a:ext cx="1171346" cy="173736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794955" y="2363724"/>
            <a:ext cx="1171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汽車 0.91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45929" y="1537545"/>
            <a:ext cx="345157" cy="443521"/>
          </a:xfrm>
          <a:prstGeom prst="roundRect">
            <a:avLst>
              <a:gd name="adj" fmla="val 10597"/>
            </a:avLst>
          </a:prstGeom>
          <a:solidFill>
            <a:srgbClr val="2B3945"/>
          </a:solidFill>
          <a:ln/>
        </p:spPr>
      </p:sp>
      <p:sp>
        <p:nvSpPr>
          <p:cNvPr id="27" name="Shape 25"/>
          <p:cNvSpPr/>
          <p:nvPr/>
        </p:nvSpPr>
        <p:spPr>
          <a:xfrm>
            <a:off x="2221863" y="1577462"/>
            <a:ext cx="193288" cy="193288"/>
          </a:xfrm>
          <a:prstGeom prst="ellipse">
            <a:avLst/>
          </a:prstGeom>
          <a:solidFill>
            <a:srgbClr val="FF5A4E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1863" y="1710518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29" name="Shape 27"/>
          <p:cNvSpPr/>
          <p:nvPr/>
        </p:nvSpPr>
        <p:spPr>
          <a:xfrm>
            <a:off x="2221863" y="1843575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6625" y="1501445"/>
            <a:ext cx="663763" cy="515722"/>
          </a:xfrm>
          <a:prstGeom prst="rect">
            <a:avLst/>
          </a:prstGeom>
          <a:ln w="19050">
            <a:solidFill>
              <a:srgbClr val="FFB02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6625" y="1327709"/>
            <a:ext cx="786384" cy="1737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014057" y="1332281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đỏ 紅燈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0936" y="3346704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thứ chỉ camera mới dựng ra được: khung bao, tên loại, độ tin cậy.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D8E4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這是只有相機做得出來的東西：框、類別的名字、還有信心分數。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Tesla's Autopilot Sees On The Road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Carscoops　·　</a:t>
            </a:r>
            <a:endParaRPr lang="en-US" sz="900" dirty="0"/>
          </a:p>
        </p:txBody>
      </p:sp>
      <p:sp>
        <p:nvSpPr>
          <p:cNvPr id="40" name="Text 38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https://www.youtube.com/watch?v=fKXztwtXaGo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nhận dạng: xe, người, vạch kẻ — đều do camera gán nhãn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畫面上的框：車、人、車道線——都是相機貼的標籤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760367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Chú ý lúc ngược sáng và lúc vào hầm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注意逆光和進隧道的那幾秒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311069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ở xa: khung nhảy qua nhảy lại — đó là sai số ước lượng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遠處的物體：框會跳來跳去——那就是估距誤差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khung và nhãn này — chỉ camera mới tạo ra được.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畫面上這些框和標籤，只有相機給得出來。</a:t>
            </a:r>
            <a:endParaRPr lang="en-US" sz="115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2280000">
            <a:off x="1402545" y="1505556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1140000">
            <a:off x="1467875" y="1625878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90472" y="1760915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140000">
            <a:off x="1467875" y="1895951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280000">
            <a:off x="1402545" y="2016274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67069" y="1581180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967069" y="1640434"/>
            <a:ext cx="355519" cy="335768"/>
          </a:xfrm>
          <a:prstGeom prst="rect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967069" y="1907073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7069" y="1739189"/>
            <a:ext cx="355519" cy="69129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85576" y="2035454"/>
            <a:ext cx="118506" cy="138257"/>
          </a:xfrm>
          <a:prstGeom prst="rect">
            <a:avLst/>
          </a:prstGeom>
          <a:solidFill>
            <a:srgbClr val="7ED957">
              <a:alpha val="6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Bắn tia laser ra, đo thời gian nó phản xạ về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打一道雷射出去，量它反射回來的時間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1400190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= tốc độ ánh sáng × thời gian ÷ 2. Ánh sáng đi 300.000 km mỗi giây, nên phải đo thời gian cực kỳ chính xác.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光速 × 時間 ÷ 2。光每秒走三十萬公里，所以時間要量得極準。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95144" y="203099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295144" y="205385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209544" y="2030998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chính xác tới cm, cho luôn hình dạng 3D. Nhưng đắt, và mưa sương làm tán xạ tia laser.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距離準到公分，還直接給出三維形狀。但很貴，而且雨霧會把雷射散射掉。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95144" y="2661806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95144" y="2684666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209544" y="2661806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 và hình dạng vật cản, dựng bản đồ độ chính xác cao, và so khớp bản đồ để định vị.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障礙物的位置與形狀、建高精地圖，以及拿地圖比對來定位。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động: tự mang “đèn pin” đi, nên ban đêm cũng làm việc y như ban ngày.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主動：自己帶手電筒，所以晚上跟白天一樣好用。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bị thật và đám mây điểm nó tạo 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實體長這樣，以及它掃出來的點雲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805" y="1289304"/>
            <a:ext cx="3182718" cy="23042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Steve Jurvetson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LiDAR remote sensing used for Autonomous vehicles?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Geospatial World　·　0:56 – 2:10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https://www.youtube.com/watch?v=JC94Y063x58&amp;t=56s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0:56　Thiết bị quay trên nóc xe chính là vật trong ảnh bên trái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0:56　車頂那個會轉的東西，就是左邊照片這一顆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1:05　Mỗi giây hàng nghìn xung laser, chạm vật rồi phản xạ về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1:05　每秒幾千道雷射脈衝，碰到東西再反射回來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5302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1:28　Các điểm phản xạ ghép thành đám mây điểm 3D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1:28　反射點拼成 3D 點雲——每個點都是一次量時間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nói một chỗ chưa chính xác. Ai tìm ra?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影片有一句話講得不精確。誰抓得到？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8563" y="1758940"/>
            <a:ext cx="177759" cy="177759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Shape 3"/>
          <p:cNvSpPr/>
          <p:nvPr/>
        </p:nvSpPr>
        <p:spPr>
          <a:xfrm>
            <a:off x="986820" y="1561429"/>
            <a:ext cx="237012" cy="572780"/>
          </a:xfrm>
          <a:prstGeom prst="chevron">
            <a:avLst/>
          </a:prstGeom>
          <a:ln w="31750">
            <a:solidFill>
              <a:srgbClr val="FFB0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331" y="1482425"/>
            <a:ext cx="256764" cy="730788"/>
          </a:xfrm>
          <a:prstGeom prst="chevron">
            <a:avLst/>
          </a:prstGeom>
          <a:ln w="31750">
            <a:solidFill>
              <a:srgbClr val="FFB02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1841" y="1403421"/>
            <a:ext cx="276515" cy="888797"/>
          </a:xfrm>
          <a:prstGeom prst="chevron">
            <a:avLst/>
          </a:prstGeom>
          <a:ln w="31750">
            <a:solidFill>
              <a:srgbClr val="FFB02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sóng vô tuyến, đo cả thời gian về lẫn thay đổi tần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發射無線電波，同時量回來的時間和頻率變化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9544" y="1665299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hơi dùng sóng milimét 77 GHz. Thời gian cho khoảng cách; tần số lệch đi (Doppler) cho tốc độ lại gần — một lần đo có cả hai.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車用是 77 GHz 毫米波。時間給距離；頻率偏移（都卜勒）給接近速度——一次量測兩樣都有。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95144" y="2296107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95144" y="2318967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209544" y="2296107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như không sợ mưa sương, tầm xa nhất. Nhưng phân giải góc kém: hai vật cạnh nhau dễ bị gộp làm một.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幾乎不怕雨霧、距離最遠。但角解析度差：靠得近的兩個東西容易被當成一個。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292691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294977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2926915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 tự động giữ khoảng cách, phanh khẩn cấp tự động, cảnh báo điểm mù. Đây là loại phổ biến sớm nhất trên xe thương mại.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定速跟車、自動緊急煞車、盲點警示。量產車上最早普及的一種。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77 GHz dài khoảng 4 mm — lớn hơn hạt sương rất nhiều, nên nó đi vòng qua.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的波長約 4 公釐——比霧滴大很多，所以它直接繞過去。</a:t>
            </a:r>
            <a:endParaRPr lang="en-US" sz="1200" dirty="0"/>
          </a:p>
        </p:txBody>
      </p:sp>
      <p:pic>
        <p:nvPicPr>
          <p:cNvPr id="2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radar đo được tốc độ chỉ bằng một lần đo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為什麼雷達一次量測就有速度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26599"/>
            <a:ext cx="3831336" cy="1459017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" y="1335024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8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TỚI: sóng dội về bị ép lại → tần số cao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8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車子靠近：回來的波被擠密 → 頻率變高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819656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9304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8760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47672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67128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86584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5496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13196" y="1909999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18" name="Shape 16"/>
          <p:cNvSpPr/>
          <p:nvPr/>
        </p:nvSpPr>
        <p:spPr>
          <a:xfrm>
            <a:off x="3808293" y="1814901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70254" y="2014606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8488" y="2014606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028" y="2038380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4022263" y="2038380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 flipH="1">
            <a:off x="3493008" y="2212848"/>
            <a:ext cx="310896" cy="128016"/>
          </a:xfrm>
          <a:prstGeom prst="rightArrow">
            <a:avLst/>
          </a:prstGeom>
          <a:solidFill>
            <a:srgbClr val="FF8A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936" y="2395728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FB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RA XA: sóng dội về bị kéo dài → tần số thấp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FB8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車子遠離：回來的波被拉長 → 頻率變低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2880360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9848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72184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74520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76856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9192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13196" y="2970703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32" name="Shape 30"/>
          <p:cNvSpPr/>
          <p:nvPr/>
        </p:nvSpPr>
        <p:spPr>
          <a:xfrm>
            <a:off x="3808293" y="2875605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70254" y="307531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4" name="Shape 32"/>
          <p:cNvSpPr/>
          <p:nvPr/>
        </p:nvSpPr>
        <p:spPr>
          <a:xfrm>
            <a:off x="3998488" y="307531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5" name="Shape 33"/>
          <p:cNvSpPr/>
          <p:nvPr/>
        </p:nvSpPr>
        <p:spPr>
          <a:xfrm>
            <a:off x="3794028" y="3099084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4022263" y="3099084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86784" y="3273552"/>
            <a:ext cx="310896" cy="128016"/>
          </a:xfrm>
          <a:prstGeom prst="rightArrow">
            <a:avLst/>
          </a:prstGeom>
          <a:solidFill>
            <a:srgbClr val="7FB8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Sensor Explained With Animation | Mastering Automotive Sensors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TechTrixInfo　·　</a:t>
            </a:r>
            <a:endParaRPr lang="en-US" sz="900" dirty="0"/>
          </a:p>
        </p:txBody>
      </p:sp>
      <p:sp>
        <p:nvSpPr>
          <p:cNvPr id="44" name="Text 42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https://www.youtube.com/watch?v=DZ6tn8RcaBM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26771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phát ra và sóng về: tần số đã khác nhau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發出去的波和回來的波：頻率已經不一樣了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265461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261803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nhiệt, không cần lộ ra ngoài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雷達通常藏在水箱罩後面，不用露出來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047488" y="311069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 nhớ lại: vật băng ngang thì đọc ra bao nhiêu?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看完回想：橫越的物體會讀到多少？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nhiệt: sóng vô tuyến xuyên qua nhựa, nên ta không nhìn thấy nó.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雷達通常藏在水箱罩後面：無線電波穿得過塑膠，所以你在路上看不到它。</a:t>
            </a:r>
            <a:endParaRPr lang="en-US" sz="1150" dirty="0"/>
          </a:p>
        </p:txBody>
      </p:sp>
      <p:pic>
        <p:nvPicPr>
          <p:cNvPr id="5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LiDAR vs Radar · 光達 vs 雷達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radar: mỗi loại mạnh một kiểu, nên xe lắp cả hai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光達與雷達：各有所長，所以兩個都裝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26599"/>
            <a:ext cx="3831336" cy="1459017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Shape 4"/>
          <p:cNvSpPr/>
          <p:nvPr/>
        </p:nvSpPr>
        <p:spPr>
          <a:xfrm>
            <a:off x="557784" y="1298448"/>
            <a:ext cx="3794760" cy="1179576"/>
          </a:xfrm>
          <a:prstGeom prst="roundRect">
            <a:avLst>
              <a:gd name="adj" fmla="val 5426"/>
            </a:avLst>
          </a:prstGeom>
          <a:solidFill>
            <a:srgbClr val="1226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ED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trả về: một đám điểm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ED957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光達給的：一堆點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44091" y="164902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9" name="Shape 7"/>
          <p:cNvSpPr/>
          <p:nvPr/>
        </p:nvSpPr>
        <p:spPr>
          <a:xfrm>
            <a:off x="1577797" y="168880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1710385" y="168880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1551280" y="1755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736903" y="1755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4091" y="1755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4" name="Shape 12"/>
          <p:cNvSpPr/>
          <p:nvPr/>
        </p:nvSpPr>
        <p:spPr>
          <a:xfrm>
            <a:off x="1538021" y="186117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5" name="Shape 13"/>
          <p:cNvSpPr/>
          <p:nvPr/>
        </p:nvSpPr>
        <p:spPr>
          <a:xfrm>
            <a:off x="1644091" y="186117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6" name="Shape 14"/>
          <p:cNvSpPr/>
          <p:nvPr/>
        </p:nvSpPr>
        <p:spPr>
          <a:xfrm>
            <a:off x="1750162" y="186117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4762" y="196724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8" name="Shape 16"/>
          <p:cNvSpPr/>
          <p:nvPr/>
        </p:nvSpPr>
        <p:spPr>
          <a:xfrm>
            <a:off x="1644091" y="196724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9" name="Shape 17"/>
          <p:cNvSpPr/>
          <p:nvPr/>
        </p:nvSpPr>
        <p:spPr>
          <a:xfrm>
            <a:off x="1763420" y="196724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0" name="Shape 18"/>
          <p:cNvSpPr/>
          <p:nvPr/>
        </p:nvSpPr>
        <p:spPr>
          <a:xfrm>
            <a:off x="1538021" y="207331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4091" y="207331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0162" y="207331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3" name="Shape 21"/>
          <p:cNvSpPr/>
          <p:nvPr/>
        </p:nvSpPr>
        <p:spPr>
          <a:xfrm>
            <a:off x="1564538" y="217938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4" name="Shape 22"/>
          <p:cNvSpPr/>
          <p:nvPr/>
        </p:nvSpPr>
        <p:spPr>
          <a:xfrm>
            <a:off x="1723644" y="217938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5" name="Shape 23"/>
          <p:cNvSpPr/>
          <p:nvPr/>
        </p:nvSpPr>
        <p:spPr>
          <a:xfrm>
            <a:off x="1577797" y="2285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6" name="Shape 24"/>
          <p:cNvSpPr/>
          <p:nvPr/>
        </p:nvSpPr>
        <p:spPr>
          <a:xfrm>
            <a:off x="1710385" y="2285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7" name="Shape 25"/>
          <p:cNvSpPr/>
          <p:nvPr/>
        </p:nvSpPr>
        <p:spPr>
          <a:xfrm>
            <a:off x="1577797" y="2391522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8" name="Shape 26"/>
          <p:cNvSpPr/>
          <p:nvPr/>
        </p:nvSpPr>
        <p:spPr>
          <a:xfrm>
            <a:off x="1710385" y="2391522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455164" y="1802648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dáng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看得出形狀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57784" y="2532888"/>
            <a:ext cx="3794760" cy="1179576"/>
          </a:xfrm>
          <a:prstGeom prst="roundRect">
            <a:avLst>
              <a:gd name="adj" fmla="val 5426"/>
            </a:avLst>
          </a:prstGeom>
          <a:solidFill>
            <a:srgbClr val="12263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9224" y="256032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trả về: một cục phản xạ + tốc độ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雷達給的：一團回波，加上速度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62786" y="2965765"/>
            <a:ext cx="822960" cy="691286"/>
          </a:xfrm>
          <a:prstGeom prst="ellipse">
            <a:avLst/>
          </a:prstGeom>
          <a:solidFill>
            <a:srgbClr val="FFB020">
              <a:alpha val="3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390802" y="3073298"/>
            <a:ext cx="566928" cy="476220"/>
          </a:xfrm>
          <a:prstGeom prst="ellipse">
            <a:avLst/>
          </a:prstGeom>
          <a:solidFill>
            <a:srgbClr val="FFB020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509674" y="3173151"/>
            <a:ext cx="329184" cy="276515"/>
          </a:xfrm>
          <a:prstGeom prst="ellipse">
            <a:avLst/>
          </a:prstGeom>
          <a:solidFill>
            <a:srgbClr val="FFB020">
              <a:alpha val="8200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455164" y="3037088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 m　−5,2 m/s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vs RADAR Explained: The Battle Behind Self-Driving Cars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Decoded　·　2:34</a:t>
            </a:r>
            <a:endParaRPr lang="en-US" sz="900" dirty="0"/>
          </a:p>
        </p:txBody>
      </p:sp>
      <p:sp>
        <p:nvSpPr>
          <p:cNvPr id="42" name="Text 40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https://www.youtube.com/watch?v=AfwYR0OpM2M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26771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0:10–0:53　LiDAR: đo thế nào, mạnh ở đâu, sợ cái gì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0:10–0:53　光達：怎麼量、強在哪、怕什麼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265461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61803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0:53–1:28　Radar: không sợ thời tiết, đo được tốc độ, nhưng thiếu chi tiết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0:53–1:28　雷達：不怕天氣、量得到速度，但細節不夠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311069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video này hoàn toàn không nhắc tới cảm biến nào?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問題：這支影片從頭到尾沒提到哪一種感測器？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phải chọn một trong hai: một loại nhìn chi tiết, một loại không sợ thời tiết.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不是二選一：一個看得細，一個不怕天氣。</a:t>
            </a:r>
            <a:endParaRPr lang="en-US" sz="1150" dirty="0"/>
          </a:p>
        </p:txBody>
      </p:sp>
      <p:pic>
        <p:nvPicPr>
          <p:cNvPr id="5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9061" y="1679936"/>
            <a:ext cx="158008" cy="335768"/>
          </a:xfrm>
          <a:prstGeom prst="roundRect">
            <a:avLst>
              <a:gd name="adj" fmla="val 173611"/>
            </a:avLst>
          </a:prstGeom>
          <a:solidFill>
            <a:srgbClr val="C08B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6572" y="1620683"/>
            <a:ext cx="217261" cy="454274"/>
          </a:xfrm>
          <a:prstGeom prst="chevron">
            <a:avLst/>
          </a:prstGeom>
          <a:ln w="31750">
            <a:solidFill>
              <a:srgbClr val="C08B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04082" y="1541678"/>
            <a:ext cx="237012" cy="612282"/>
          </a:xfrm>
          <a:prstGeom prst="chevron">
            <a:avLst/>
          </a:prstGeom>
          <a:ln w="31750">
            <a:solidFill>
              <a:srgbClr val="C08BFF">
                <a:alpha val="65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tiếng “bíp” ngoài ngưỡng nghe, đo tiếng vọng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發出人聽不到的「嗶」，量回音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209544" y="1400190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âm khoảng 40–50 kHz, tai người không nghe được. Âm thanh đi khoảng 340 m mỗi giây — chậm hơn ánh sáng cả triệu lần, nên mạch điện rẻ hơn nhiều.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40–50 kHz 的聲波，人耳聽不到。聲音每秒約 340 公尺——比光慢了上百萬倍，所以電路便宜得多。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95144" y="203099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205385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2030998"/>
            <a:ext cx="5431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nhất, không sợ tối. Nhưng chỉ vài mét, và bị gió, nhiệt độ ảnh hưởng.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最便宜、不怕黑。但只有幾公尺，而且會受風和溫度影響。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53391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55677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533918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Hỗ trợ đỗ xe, vùng mù quanh thân xe, tự động đỗ. Chính là hàng chấm tròn trên cản xe.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停車輔助、車身周圍盲區、自動停車。就是保險桿上那一排小圓點。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có vẻ yếu, nhưng ở khoảng cách sát xe thì nó là loại duy nhất còn thấy.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聽起來很弱，但在貼近車身的距離，只有它還看得到。</a:t>
            </a:r>
            <a:endParaRPr lang="en-US" sz="1200" dirty="0"/>
          </a:p>
        </p:txBody>
      </p:sp>
      <p:pic>
        <p:nvPicPr>
          <p:cNvPr id="2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Chính là những chấm tròn trên cản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就是保險桿上那幾個小圓點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u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812" y="1289304"/>
            <a:ext cx="3454705" cy="23042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Shixart1985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parking sensors work? Parking tech &amp; radar explained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CarExpert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https://www.youtube.com/watch?v=uDpaB_1kIdA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6771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xem một xe có mấy cảm biến ở cản sau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數數看一台車後保險桿有幾顆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5461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1803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Bíp càng nhanh = càng gần. Đó là khoảng cách dịch ra âm thanh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嗶得愈快＝愈近。那是把距離翻譯成聲音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1069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dùng khi đỗ xe, không dùng khi đang chạy?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為什麼只在停車時用，開車時不用？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cận cảnh một cảm biến đỗ xe trên cản.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左邊照片：保險桿上一顆停車感測器的特寫。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078" y="1442923"/>
            <a:ext cx="237012" cy="217261"/>
          </a:xfrm>
          <a:prstGeom prst="roundRect">
            <a:avLst>
              <a:gd name="adj" fmla="val 84175"/>
            </a:avLst>
          </a:prstGeom>
          <a:solidFill>
            <a:srgbClr val="9AA9B8"/>
          </a:solidFill>
          <a:ln/>
        </p:spPr>
      </p:sp>
      <p:sp>
        <p:nvSpPr>
          <p:cNvPr id="5" name="Shape 3"/>
          <p:cNvSpPr/>
          <p:nvPr/>
        </p:nvSpPr>
        <p:spPr>
          <a:xfrm>
            <a:off x="868314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1592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05327" y="1739189"/>
            <a:ext cx="276515" cy="158008"/>
          </a:xfrm>
          <a:prstGeom prst="chevron">
            <a:avLst/>
          </a:prstGeom>
          <a:ln w="31750">
            <a:solidFill>
              <a:srgbClr val="9AA9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1046074" y="1897197"/>
            <a:ext cx="395021" cy="177759"/>
          </a:xfrm>
          <a:prstGeom prst="chevron">
            <a:avLst/>
          </a:prstGeom>
          <a:ln w="31750">
            <a:solidFill>
              <a:srgbClr val="9AA9B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455" y="2153961"/>
            <a:ext cx="138257" cy="138257"/>
          </a:xfrm>
          <a:prstGeom prst="ellipse">
            <a:avLst/>
          </a:prstGeom>
          <a:solidFill>
            <a:srgbClr val="9AA9B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tín hiệu từ nhiều vệ tinh, tính ngược ra mình đang ở đâu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接收好幾顆衛星的訊號，反推自己在哪裡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665299"/>
            <a:ext cx="5431536" cy="726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vệ tinh phát ra thời điểm gửi. So sánh độ trễ của ít nhất bốn vệ tinh là tính được vị trí — giống như đo khoảng cách tới bốn điểm đã biết.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每顆衛星發出「我幾點幾分發的」。比對至少四顆的時間差就算得出位置——就像量到四個已知點的距離。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456087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478947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456087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vị trí tuyệt đối trên toàn cầu. Nhưng sai số vài mét, cập nhật chậm, và trong hầm hay giữa nhà cao tầng thì mất tín hiệu.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給的是全球通用的絕對位置。但誤差幾公尺、更新慢，隧道和高樓之間會失效。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308689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310975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086895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Lập lộ trình, biết mình đang trên con đường nào. Phải kết hợp IMU và bản đồ độ chính xác cao mới đủ dùng.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路線規劃、知道自己在哪一條路上。要配合慣性感測器與高精地圖才夠用。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 là loại duy nhất không nhìn ra ngoài. Phía trước có gì — nó hoàn toàn không biết.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它是唯一不看外面的一種。前面有什麼東西，它完全不知道。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bốn vệ tinh: mỗi vệ tinh cho một mặt cầu, bốn mặt cầu cắt nhau tại một điểm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為什麼要四顆衛星：每一顆給一個球面，四個球面交在一個點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434675"/>
            <a:ext cx="3904488" cy="2387517"/>
          </a:xfrm>
          <a:prstGeom prst="roundRect">
            <a:avLst>
              <a:gd name="adj" fmla="val 3830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g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5208"/>
            <a:ext cx="3813048" cy="18035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Karlbrix · CC BY-SA 4.0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434675"/>
            <a:ext cx="3904488" cy="2387517"/>
          </a:xfrm>
          <a:prstGeom prst="roundRect">
            <a:avLst>
              <a:gd name="adj" fmla="val 383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599267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644987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580979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Einstein: Demonstrating GPS Trilateration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2038179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Institute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221059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https://www.youtube.com/watch?v=e80AzFW9Q0s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495379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458803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vệ tinh: chỉ biết mình nằm trên một mặt cầu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一顆衛星：只知道自己在一個球面上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4570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80912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vệ tinh: còn hai điểm. Bốn: ra một điểm và sửa luôn đồng hồ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三顆：剩兩個點。四顆：解出一個點，還順便修正時鐘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3835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30178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Ăng-ten bên trái là loại trắc địa, chính xác hơn loại trong điện thoại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左邊那個天線是測量等級的，比手機裡那顆準得多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đầu đến cuối nó chỉ tính xem MÌNH đang ở đâu, không hề nhìn phía trước.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它從頭到尾只在算「自己」在哪裡，完全沒有看前面有什麼。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829" y="1363919"/>
            <a:ext cx="197510" cy="197510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" name="Shape 3"/>
          <p:cNvSpPr/>
          <p:nvPr/>
        </p:nvSpPr>
        <p:spPr>
          <a:xfrm>
            <a:off x="1085576" y="1581180"/>
            <a:ext cx="316017" cy="355519"/>
          </a:xfrm>
          <a:prstGeom prst="roundRect">
            <a:avLst>
              <a:gd name="adj" fmla="val 81018"/>
            </a:avLst>
          </a:prstGeom>
          <a:solidFill>
            <a:srgbClr val="FF7A59"/>
          </a:solidFill>
          <a:ln/>
        </p:spPr>
      </p:sp>
      <p:sp>
        <p:nvSpPr>
          <p:cNvPr id="6" name="Shape 4"/>
          <p:cNvSpPr/>
          <p:nvPr/>
        </p:nvSpPr>
        <p:spPr>
          <a:xfrm rot="960000">
            <a:off x="1031260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7" name="Shape 5"/>
          <p:cNvSpPr/>
          <p:nvPr/>
        </p:nvSpPr>
        <p:spPr>
          <a:xfrm rot="-960000">
            <a:off x="1376904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8" name="Shape 6"/>
          <p:cNvSpPr/>
          <p:nvPr/>
        </p:nvSpPr>
        <p:spPr>
          <a:xfrm rot="300000">
            <a:off x="1139891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9" name="Shape 7"/>
          <p:cNvSpPr/>
          <p:nvPr/>
        </p:nvSpPr>
        <p:spPr>
          <a:xfrm rot="-300000">
            <a:off x="1258397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nhìn ánh sáng — nhìn nhiệt do chính vật phát ra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它不看光——它看物體自己放出來的熱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400190"/>
            <a:ext cx="5431536" cy="726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vật trên 0 K đều phát ra tia hồng ngoại. Cảm biến bắt bước sóng dài 8–14 µm rồi dựng thành bản đồ nhiệt độ. Không cần bất kỳ nguồn sáng nào.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任何高於絕對零度的東西都會放出紅外線。感測器接收 8–14 微米的長波，轉成一張溫度圖。完全不需要光源。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19097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21383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190978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đen, ngược sáng hay khói đều thấy được người và động vật. Nhưng độ phân giải thấp, giá cao, và không đọc được màu hay chữ.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全黑、逆光、煙霧中都看得到人和動物。但解析度低、貴，而且讀不出顏色和文字。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821786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844646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821786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người đi bộ ban đêm, phát hiện động vật. Hiện chủ yếu là hỗ trợ nhìn đêm trên xe cao cấp.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夜間行人偵測、動物偵測。目前多用在高階車款的夜視輔助。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khoảng 37°C. Đêm xuống mặt đường nguội đi, chênh lệch càng lớn — nên nó còn rõ hơn.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人大約 37 度。入夜後路面涼了，溫差更大——所以它反而更清楚。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tối, người vẫn sáng rõ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全黑的夜裡，人還是清清楚楚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th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347" y="1289304"/>
            <a:ext cx="2955633" cy="23042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Emilian Robert Vicol · CC0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Vision AI Thermal Infrared Camera for Cars (Deer &amp; Pedestrian Detection)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Shiva Sapkota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https://www.youtube.com/watch?v=_KrdROQ067c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chỗ mặc áo dày thì tối hơn — vì quần áo cách nhiệt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左圖：衣服厚的地方比較暗——因為衣服會隔熱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video: người và động vật rất nổi, nhưng biển báo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影片裡：人和動物很亮，但標誌完全看不到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5302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camera thường trong cùng cảnh đêm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跟同一個夜間場景的一般相機比一比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lý do một số xe cao cấp lắp thêm ảnh nhiệt cho ban đêm.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這就是某些高階車款會多裝一顆熱像做夜視的理由。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phòng thí nghiệm. Kéo người đi bộ ra 30 m. Đọc to cả sáu thẻ.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打開感測器實驗室。把行人拖到 30 公尺。把六張卡大聲唸出來。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không chạy. Chỉ cần kéo vật thể, sáu thẻ tự đổi.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車不會動。只要拖物體，六張卡自己會變。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nào ghi “vật cản chưa phân loại”? Có mấy thẻ như vậy?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哪幾張寫「未分類障礙物」？有幾張？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mấy thẻ biết đó là NGƯỜI? Có mấy thẻ đo được KHOẢNG CÁCH?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有幾張知道那是「人」？有幾張量得到「距離」？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với sáu trang vừa giảng: kết quả có đúng như nguyên lý không?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跟剛剛那六頁對照：結果跟原理講的一樣嗎？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không có nghĩa là biết đó là cái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量得到距離，不等於知道那是什麼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 đều trả lời rất chắc chắn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光達和雷達都回答得非常肯定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này chính xác tới từng centimet.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這個距離準到公分，完全沒有問題。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điều cần biết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但真正要知道的是……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21147" y="2169323"/>
            <a:ext cx="113386" cy="11338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7132" y="2294047"/>
            <a:ext cx="181417" cy="204094"/>
          </a:xfrm>
          <a:prstGeom prst="roundRect">
            <a:avLst>
              <a:gd name="adj" fmla="val 141129"/>
            </a:avLst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 rot="960000">
            <a:off x="5455950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 rot="-960000">
            <a:off x="5654375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7" name="Shape 15"/>
          <p:cNvSpPr/>
          <p:nvPr/>
        </p:nvSpPr>
        <p:spPr>
          <a:xfrm rot="300000">
            <a:off x="5518313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8" name="Shape 16"/>
          <p:cNvSpPr/>
          <p:nvPr/>
        </p:nvSpPr>
        <p:spPr>
          <a:xfrm rot="-300000">
            <a:off x="5586344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16168" y="2286000"/>
            <a:ext cx="384048" cy="438912"/>
          </a:xfrm>
          <a:prstGeom prst="roundRect">
            <a:avLst>
              <a:gd name="adj" fmla="val 11905"/>
            </a:avLst>
          </a:prstGeom>
          <a:solidFill>
            <a:srgbClr val="9AA6B0"/>
          </a:solidFill>
          <a:ln/>
        </p:spPr>
      </p:sp>
      <p:sp>
        <p:nvSpPr>
          <p:cNvPr id="20" name="Shape 18"/>
          <p:cNvSpPr/>
          <p:nvPr/>
        </p:nvSpPr>
        <p:spPr>
          <a:xfrm>
            <a:off x="5870448" y="2221992"/>
            <a:ext cx="475488" cy="73152"/>
          </a:xfrm>
          <a:prstGeom prst="rect">
            <a:avLst/>
          </a:prstGeom>
          <a:solidFill>
            <a:srgbClr val="8593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13832" y="18653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18836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hay thùng rác?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那是人，還是垃圾桶？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Muốn biết đó là gì thì phải hỏi camera hoặc ảnh nhiệt.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要知道那是什麼，只能問相機或熱像。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phải biết đó là gì? Vì người có thể bước ra, thùng rác thì không.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為什麼要知道那是什麼？因為人會突然走出來，垃圾桶不會。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của mỗi loại, và loại nào bù cho nó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每一種的弱點，由哪一種來補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誰有這個弱點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Camera（người thì ảnh nhiệt cũng được）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相機（人的部分熱像也行）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讀不出燈色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Tất cả trừ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除了相機，全部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Không ai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只有相機。沒有別人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đang lại gần bao nhanh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đo trực tiếp bằng Doppler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雷達，用都卜勒直接量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車身周圍的盲區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gắn trên nóc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裝車頂的光達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năm loại nhìn ra ngoài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往外看的那五種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GNSS（cộng bản đồ và IMU）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GNSS（再加地圖與慣性感測器）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242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là một lý do để lắp thêm một loại nữa. Không hàng nào thừa.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每一列都是多裝一種的理由。沒有一列是多餘的。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cảm biến đo một thứ khác nhau — không phải cùng một thứ mà hơn kém độ chính xác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 cần ánh sáng（camera）; chủ động tự phát（LiDAR, radar, siêu âm）; ảnh nhiệt đọc nhiệt của chính vật.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被動要靠光（相機）；主動自己發訊號（光達、雷達、超音波）；熱像讀物體自己的熱。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đó là cái gì. Màu đèn và vạch kẻ: chỉ camera.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 ≠ 知道那是什麼。燈色和標線：只有相機。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lại gần: chỉ radar đo trực tiếp — nhưng vật băng ngang thì nó đọc gần bằng 0.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接近速度：只有雷達直接量——但橫越的時候它讀到接近 0。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sau: mỗi loại tốt đến đâu, và vì sao càng xa càng tệ rất nhanh.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下一節：每一種到底多強，以及為什麼一遠就壞得特別快。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2026-09-21T14:58:12Z</dcterms:created>
  <dcterms:modified xsi:type="dcterms:W3CDTF">2026-09-21T14:58:12Z</dcterms:modified>
</cp:coreProperties>
</file>