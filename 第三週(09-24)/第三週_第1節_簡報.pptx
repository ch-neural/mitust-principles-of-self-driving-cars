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/>
  <p:notesSz cx="7560000" cy="106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5" name="備忘稿版面配置區 4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  <a:prstGeom prst="rect">
            <a:avLst/>
          </a:prstGeo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742958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Arial Unicode MS"/>
        <a:ea typeface="Arial Unicode MS"/>
        <a:cs typeface="Arial Unicode M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各位同學早安，我們開始第三週。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上禮拜我們認識了幾個名字：相機、光達、雷達、衛星定位。今天要把它們一個一個拆開來看，而且再加兩種——超音波和熱像，總共六種。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這一節課分成兩半。前半段每一種講一頁，講三件事：它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怎麼運作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、它的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特性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是什麼、在自駕車上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拿來做什麼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。後半段我們打開一個網頁，把剛剛講的東西實際量一遍——同一個行人站在同一個位置，這六種分別送回來什麼數字。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我先講今天的結論，這樣你們聽的時候比較有方向：這六種量的是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不同的東西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，不是同一件事誰比較準。有的給距離，有的告訴你那是人還是車，有的給速度，有的對前面完全不知道——它只管自己在哪裡。就像體重計和體溫計，不能問哪個比較準，因為量的不是同一件事。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下課前我希望每個人都能回答一句話：如果車上只裝一種感測器，你會少掉什麼？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前半段請認真記筆記，六張規格頁都會用到。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螢幕上這個網址，今天三節課都會用到，現在請大家把它打開。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有兩個方法。第一個，用手機的相機對準右邊這個 QR，大部分的手機對準就會跳出連結，不用另外裝掃描的程式。第二個，直接打網址，不過它有點長，我建議用掃的比較快。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打開之後，大家會看到一張俯視圖，中間是我們的車，前面有幾個東西。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請現在就用手指或滑鼠拖拖看那個行人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，看看數字會不會跟著變。用電腦的同學，數字在右邊；用手機的同學，數字在下面。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用手機的同學還要注意一件事。畫面下方有兩個分頁，一個是「調整參數」，一個是「六張讀數卡」。預設是停在讀數卡這一頁，等一下要改規格的時候再切過去。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如果有人的網路連不上，先跟旁邊的同學一起看同一台。這個頁面只有一個檔案，第一次打開之後，就算網路斷掉也還可以繼續操作。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我們花兩分鐘，等全部的人都打開了再往下。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2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第一種，相機。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原理最單純，跟你的手機一樣。鏡頭把光聚焦到感光晶片上，晶片上每一個小格子，記錄那個方向的顏色和亮度。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請注意「被動」這兩個字，這是理解它所有優點和缺點的關鍵。相機自己不發出任何東西，它只能接收現場已經有的光——太陽的光、路燈的光、對向車頭燈的光。沒有光，它就什麼都收不到。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它有三個很強的地方。第一，解析度最高，六種裡面它給的資訊量最大。第二，它有顏色，這是它的獨門。第三，它最便宜，一顆幾百塊到幾千塊。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代價是距離。一張照片本身沒有距離這個資訊，它得靠幾何去推算，第二節我們會仔細算這件事。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那它在車上拿來做什麼？這一段最重要。它負責讀紅綠燈、讀速限標誌、看車道標線，還有判斷前面那個是人還是車。大家想一想，這幾件事有什麼共通點？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可能會有人說，它們都是顏色，或者都是文字。再想深一點——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它們全部是人類設計給人類眼睛看的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。所以只有一種跟人眼原理相同的感測器讀得懂，那就是相機。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 Waymo 第六代車上裝了十三顆相機。到目前為止，沒有任何一家自駕公司敢不裝相機。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3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影片時間。這一支是特斯拉的 Autopilot 畫面，右邊是車上相機看到的東西，加上它自己畫出來的框。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這支影片只有三十一秒，沒有旁白也沒有字幕，所以我們連續播兩三次，每一次只看一件事。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發布者的說明寫著：畫面是特斯拉的神經網路在每一顆相機上跑出來的結果，把畫面分類、框出物體、再估出距離。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第一次，看框和標籤。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車子、行人、車道線，全部是相機貼上去的。剛剛那一頁講過，只有相機做得到這件事。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第二次，看顏色。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畫面被塗成不同的顏色，那是把每一個像素分類：哪些是路面、哪些是車、哪些是人。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第三次，看遠處。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我問大家一個問題：遠處那些框，穩不穩？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如果你看到框忽大忽小、跳來跳去，那不是程式壞掉，那就是估距誤差。第二節我們會算出來，六十公尺的時候，誤差有將近四公尺。如果在這麼短的片子裡看不太出來也沒關係，第二節我會用數字算給大家看。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還有一件事我先講清楚：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逆光和進隧道不在這支影片裡面。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相機怕強光、怕明暗突然變化，這件事我們留到第三節，用數字來講。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看完不用討論，我們繼續看下一種。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4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第二種，光達。英文 LiDAR，Light Detection and Ranging。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原理是量時間。它打一道雷射脈衝出去，那道光碰到前面的東西會反射回來，感測器記下「出去到回來」花了多少時間。距離就等於光速乘以時間再除以二——除以二是因為光走了來回兩趟。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這裡有一件事很驚人：光每秒走三十萬公里。要量一百公尺的距離，來回兩百公尺，時間只有大約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零點六七微秒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，也就是百萬分之零點六七秒。光達的電路必須能分辨這麼短的時間差，這就是它貴的原因之一。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它最強的地方是距離很準，準到公分等級，遠比相機準。而且因為它是一顆一顆點打出去的，它直接給你三維的形狀，不用推算。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缺點兩個。第一是貴，早期一顆要幾萬美金，現在便宜很多但還是最貴的。第二是雨霧——雷射碰到空氣中的小水滴會散射，第三節我們會實際看到濃霧讓它掉一半以上。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跟相機最大的不同是：它是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主動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的，自己帶手電筒，所以晚上跟白天表現一模一樣。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用途除了看障礙物，還有一個大家可能沒想到的：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定位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。先用光達把整條路掃成一張高精地圖，之後車子開過來，把當下掃到的形狀跟地圖比對，就知道自己在哪裡，而且比 GPS 準得多。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左邊這張照片就是光達的本體，Velodyne 的 HDL-64E，早期自駕測試車頭頂上那個會轉的圓罐子。照片是 Steve Jurvetson 拍的，CC BY 2.0 授權。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我們從五十六秒開始播，播到兩分十秒就停。前面那五十六秒是泛泛而談，兩分十秒之後講的是用雷射掃路面調整懸吊，跟今天沒有關係。旁白是英文，不過語速很慢。請大家點播放器右下角的齒輪，選字幕，自動翻譯，越南文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播之前給大家一個任務：這支影片有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一句話講得不精確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，請把它抓出來。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答案是這一句：它說立體畫面是靠「量測光速」算出來的。光速是一個已知的常數，不用量；真正要量的是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時間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。距離等於光速乘以時間再除以二，剛剛那一頁才講過。抓得到的同學很厲害。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這也提醒大家一件事，科普影片不一定每一句都對。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我再補一個我很喜歡的比喻，是 Waymo 的工程師講的。在一個全黑的房間裡，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相機像你的眼睛，沒有光就看不到；光達像你伸出去摸的手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，不需要光，而且摸到的就是確切的距離。他還把點雲比喻成一塊針板——幾千根針同時往前伸，碰到東西就縮回去，縮回去的形狀就是那個東西的輪廓。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最後提醒一件事，看遠處的點會變稀。這個現象第二節會算出確切的數字：六十四線的光達，四十公尺外的行人身上只剩十五個點。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6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第三種，雷達。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原理跟光達有點像，都是發射訊號再等它回來，但是雷達用的是無線電波，車用的是 77 GHz 的毫米波。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雷達比光達多做一件事。它除了量時間，還量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頻率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。如果前面那個東西正在靠近，反射回來的波會被壓縮，頻率變高；正在遠離就被拉長，頻率變低。這叫都卜勒效應。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大家有沒有聽過救護車經過的時候，聲音從高變低？那就是都卜勒效應，只是換成聲音。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所以雷達在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同一次掃描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裡面，就同時拿到距離和接近速度。別的感測器都要量兩次再相減才推得出來。這是它不可取代的地方。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接下來這一段比較細，我講給想知道的同學聽，聽不懂也沒有關係。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車用雷達叫做 FMCW，調頻連續波。它不是打一個脈衝等回音，而是在一次量測裡面，大約三十毫秒，連續發出上百個 chirp，每一個 chirp 的頻率都從低線性掃到高。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距離是這樣來的：發射中的波和收到的回波同時存在，兩者的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頻率差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正比於來回跑的時間。所以一個 chirp 就夠。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速度是這樣來的：相鄰兩個 chirp 之間，目標只移動了零點幾公釐，位置根本看不出差別，可是回波的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相位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變了。把整組 chirp 一起處理，就得到速度。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所以它確實有做比較，但是比的是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同一次量測裡面相鄰的 chirp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不是跟上一次的位置相減。這兩件事差在哪裡？位置相減要先認出「這一次的這個點，就是上一次的那個點」，認錯了速度就整個錯掉；而且位置本身有誤差，除以很短的時間之後，雜訊會被放大。用相位就不必管這些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等一下操作工具的時候，大家一定會發現一件事：拉「目標的移動」那條滑桿，六張卡只有雷達那一格在動，其他五格完全不理你。可能會有人以為程式壞掉了。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沒有壞。原因就是我們剛剛講的。另外五種量的是「這一瞬間的位置」——人站在三十公尺，距離就是三十公尺，跟他下一秒要往左走還是往右走完全沒有關係。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雷達不一樣。它量的是回波的頻率被壓縮還是被拉長，那個量本身就是「距離正在縮短或拉長的速率」。所以你一改速度，它就立刻跳。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請大家把這句話寫下來：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只有雷達是直接「量」到速度的，其他感測器的速度都是「算」出來的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——連續拍兩張，看位置差多少，再除以時間。算出來的東西一定比量出來的慢，也比較容易被雜訊影響。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另外補充一件事：現在也有一種光達可以直接量速度，不過還很貴，路上的車幾乎都還沒有裝。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雷達最突出的特性是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不怕雨霧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。為什麼？看最下面那一行，77 GHz 的波長大約四公釐，霧滴的直徑只有幾十微米。波長比障礙物大很多的時候，波會直接繞過去，就像海浪碰到一根細竹竿不會被擋住。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它的缺點是角解析度差。它知道三十公尺外有東西，可是那個東西在左邊一點還是右邊一點，它分得很模糊。兩台並排的機車，雷達可能只看到一個目標。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還有一件事等一下操作的時候會看到：工具裡面雷達的預設是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長距雷達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，兩百五十公尺，可是視野只有二十度，非常窄。真車因此要另外再裝中短距雷達補兩側，那一種是六十到一百公尺，配九十到一百五十度。看得遠和看得廣，一顆做不到兩件事。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用途方面，你們家裡的車如果有定速跟車或者自動煞車，那就是雷達。它是量產車上最早普及的自駕感測器，因為便宜又耐用。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7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這一支是雷達的動畫解說，全長三分二十秒，可以整支播完。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我們看三件事。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第一，它把雷達的工作拆成四個步驟：發射一束無線電波、打到前面那台車、彈回來、然後算時間。動畫會一步一步演給大家看。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第二，注意它講雷達裝在車上的位置——保險桿、水箱罩，有時候在後視鏡裡面。因為無線電波可以穿透塑膠，不像相機一定要露出來。這也是為什麼你在路上看不到它。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它把雷達分成短距、中距、長距三種，最後還跟被動紅外線和光達比了一次。被動紅外線就是走廊感應燈那種偵測人體熱訊號的元件，跟我們等一下要講的熱像儀不是同一個東西。這一段呼應我們剛剛講的「每一種補另一種的洞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接下來這件事最重要，請大家聽清楚。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這支影片有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一句話講得不精確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，跟剛剛那支光達的影片一樣。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它說：雷達算出電波來回的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時間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，然後用這個時間得到距離、速度和方向。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距離沒問題，時間乘光速再除以二就是距離。可是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速度呢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光靠一次的時間，是算不出速度的。速度要靠剛剛那一頁講的東西——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都卜勒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，也就是比較回波的頻率和相位。方向也不是時間給的，要靠好幾根天線收到的時間差才推得出來。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所以這支影片講的是大概的印象，不是精確的原理。我要各位養成的習慣還是那一句：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科普影片不一定每句都對。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最後留一個問題，等一下操作的時候會用到：如果那個東西是從你面前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橫越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過去的，雷達讀到的接近速度會是多少？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幾乎是零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。它明明在動，可是雷達讀到的接近速度接近零。這件事等一下上台操作的時候，大家會親眼看到。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8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光達和雷達都講完了，我們用一支兩分半的影片，把這兩種放在一起比一次。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這支是英文旁白，只有自動產生的英文字幕。請點播放器的齒輪，字幕，自動翻譯，越南文。播到兩分二十五秒就可以停。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播之前先給大家一個任務：邊看邊對照剛剛那兩頁的規格，看它講的跟我們講的一不一樣。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看完我問三題。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第一，影片說光達的弱點是什麼？答案是怕雨、怕霧、怕雪，還有貴。跟我們第四張講的一樣，第三節我們會用數字把它量出來。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影片裡提到雷達知道前面有東西，可是分不出那是什麼。這句話對應到我們今天哪一個重點？就是那句「量得到距離，不等於知道那是什麼」。等一下上台的時候，大家會看到雷達那張卡上只寫「未分類障礙物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第三題最重要：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這支影片從頭到尾，沒有提到哪一種感測器？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答案是相機。影片說多數自駕車是光達加雷達一起用，這句話不算錯，可是不完整——它漏掉了數量最多、而且唯一讀得出紅綠燈的那一種。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所以以後看這一類的科普影片，不要只看它講了什麼，也要想想它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沒講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什麼。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最後補一句：影片裡描述的是車頂旋轉式的光達，那只是其中一種，下禮拜我們會看到固定式的。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9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第四種，超音波。這一種大家其實每天都聽過。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停車的時候車子嗶嗶叫，就是它。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原理跟光達、雷達一樣是量時間，只是它發的是聲音——大約四十到五十千赫，超過人耳的上限，所以我們聽不到它發出去的訊號，只聽得到車機翻譯後的嗶聲。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這裡有一個很聰明的工程考量。聲音每秒只走三百四十公尺，比光慢了上百萬倍。量一公尺的距離，來回兩公尺，時間大約是</a:t>
            </a: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六毫秒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——這個時間長到用很便宜的電路就量得出來。所以超音波感測器一顆只要幾十塊錢，而光達要幾萬塊。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慢，在這裡反而是優點。</a:t>
            </a: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它的缺點也很明顯，就是只有幾公尺。量產的停車感測器大約是零點一五到五點五公尺，我們工具裡預設四點五。聲音在空氣裡衰減得很快，而且會受風和溫度影響——溫度變了聲速就變了，距離就會算錯。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用途就是保險桿上那一排小圓點，管車身周圍那一圈。聽起來很弱對不對？可是等一下實際操作的時候你們會看到，在貼近車身的那個距離，其他五種全部看不到，只有它還在工作。
</a:t>
            </a:r>
          </a:p>
          <a:p>
            <a:pPr algn="l">
              <a:lnSpc>
                <a:spcPct val="115000"/>
              </a:lnSpc>
              <a:spcAft>
                <a:spcPts val="575"/>
              </a:spcAft>
            </a:pPr>
            <a:r>
              <a:rPr sz="11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每一種感測器，都是為了補另一種的弱點而存在的。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10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左邊這張是停車感測器的特寫，就是保險桿上那個小圓點。照片來自 Wikimedia Commons，CC BY 2.0 授權。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大家下課可以到停車場看看，一台車的後保險桿通常有四顆，前面也有四顆。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這支影片有十五分鐘，我們不會全部播。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一分零五秒到兩分五十秒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講超音波的原理，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五分四十秒到六分十秒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是實際測試，可以聽到嗶嗶聲愈來愈快。這兩段加起來大約三分鐘。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我們看三件事。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第一，數數看一台車裝幾顆。為什麼要好幾顆？因為一顆的視野只有一個錐形，要涵蓋整個車尾，就得排一排。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第二，注意那個嗶嗶聲。愈近嗶得愈快，那是車子把距離翻譯成你聽得懂的東西。其實螢幕上也會畫出距離，但是聲音不用你低頭去看。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第三，我給大家一個思考題：為什麼超音波只在停車的時候用，開車的時候不用？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因為它只有幾公尺。時速五十的時候，煞停距離要二十公尺，它根本來不及。這個數字第二節我們會算出來。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11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第五種，衛星定位，GNSS。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我特別要把它跟前面四種分開講，因為它做的事情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根本不一樣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前面四種都是往外看：前面有什麼、多遠、什麼形狀。GNSS 完全不看外面，它只回答一個問題：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我在哪裡。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原理是比對時間。天上每一顆衛星不斷廣播「我是幾號衛星，現在幾點幾分幾秒，我在這個位置」。訊號傳到你的接收器要時間，你比對「它說幾點發的」跟「我幾點收到」，就知道離那一顆衛星多遠。同時收到四顆以上，就能解出自己在三維空間裡的位置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為什麼要四顆，不是三顆？因為還有一個未知數，是你自己接收器的時鐘誤差。三顆解位置，第四顆解時間。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它最特別的地方，是它給的是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絕對位置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，經緯度，全世界通用。這是別人給不了的。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缺點是誤差有幾公尺。大家想一想，車道寬三點五公尺，誤差兩三公尺代表什麼？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代表它</a:t>
            </a:r>
            <a:r>
              <a:rPr sz="105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分不出你在哪一個車道</a:t>
            </a: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。所以 GNSS 可以告訴你「你在中正路上」，但是沒辦法告訴你「你在中間那個車道」。要知道在哪一個車道，還是得靠相機去看標線。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而且在隧道裡面、在高樓中間會收不到訊號，這時候要靠慣性感測器暫時頂著。
</a:t>
            </a:r>
          </a:p>
          <a:p>
            <a:pPr algn="l">
              <a:lnSpc>
                <a:spcPct val="115000"/>
              </a:lnSpc>
              <a:spcAft>
                <a:spcPts val="525"/>
              </a:spcAft>
            </a:pPr>
            <a:r>
              <a:rPr sz="105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最下面那句話請記住：它是唯一不看外面的一種。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12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車用的 GPS 天線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，黏在擋風玻璃下面，或者貼在車頂上。計程車、貨車、還有裝了行車紀錄器的車，幾乎都有一顆。下課可以到停車場看看，很多車的擋風玻璃下面就黏著這樣一塊黑色的東西，拉一條線接到主機。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順帶一提，這一顆跟各位手機裡面那一顆是同一個等級。真正做測量用的那種天線長得完全不一樣，是一個圓盤架在腳架上，可以做到公分等級，但是也貴上百倍。自駕車用的是介於兩者中間的車規等級。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影片是 Perimeter Institute 拍的，那是加拿大一間理論物理研究院。他們在一張世界地圖上示範三邊測量：收到一顆衛星的訊號，用畢氏定理算出自己離它多遠，再在地圖上畫一個圈。講得非常清楚，不熟數學的同學也看得懂。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重點是這樣。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影片為了好懂，把地球攤平成一張地圖，所以畫出來的是圈；真實情況是立體的球面。這件事我先講，免得等一下混淆。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一顆衛星，你只知道自己離它多遠。在地圖上是一個圈，在真實的立體空間裡是一個球面，你可能在上面的任何地方。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兩顆，兩個圈相交，剩下兩個交點。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三顆，就能定出地圖上的那一個位置。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到了立體空間還要第四顆，而且第四顆還順便修正你接收器的時鐘誤差，剛剛那一頁講過這件事。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看完請大家記住一句話：它從頭到尾都在算自己在哪裡，完全沒有看前面有什麼。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我們播兩三分鐘就好。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13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最後一種，熱像，也是今天唯一上禮拜完全沒提過的。
</a:t>
            </a:r>
          </a:p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它的原理跟前面五種都不一樣，我覺得是六種裡面最漂亮的一個。
</a:t>
            </a:r>
          </a:p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物理上，任何溫度高於絕對零度的東西都會放出電磁波，溫度愈高波長愈短。人體三十七度放出來的是八到十四微米的長波紅外線。熱像感測器就是專門接收這個波段，然後把不同的強度畫成一張溫度圖。
</a:t>
            </a:r>
          </a:p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請注意：它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什麼都不發射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，也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不需要任何光源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。相機是被動但需要光，光達雷達主動發訊號，熱像是被動而且連光都不需要——它收的是物體自己放出來的。
</a:t>
            </a:r>
          </a:p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所以在全黑的夜裡，一個人在熱像裡是一個清清楚楚的亮形狀。
</a:t>
            </a:r>
          </a:p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而且最下面那句話很有意思：入夜之後路面和空氣涼下來，人和背景的溫差反而變大，所以熱像在夜間</a:t>
            </a:r>
            <a:r>
              <a:rPr sz="11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比白天更清楚</a:t>
            </a: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。白天太陽把柏油路曬到五六十度，比人還燙，反而不好分辨。
</a:t>
            </a:r>
          </a:p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它的缺點有三個。第一，解析度低，通常只有三百二乘二百四，跟相機差很多。第二，貴。第三個最關鍵——它讀不出紅綠燈的顏色，也看不到車道標線，因為那些東西跟背景沒有溫差。
</a:t>
            </a:r>
          </a:p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所以熱像是補強，不是替代。目前主要用在高階車款的夜視輔助。
</a:t>
            </a:r>
          </a:p>
          <a:p>
            <a:pPr algn="l">
              <a:lnSpc>
                <a:spcPct val="115000"/>
              </a:lnSpc>
              <a:spcAft>
                <a:spcPts val="550"/>
              </a:spcAft>
            </a:pPr>
            <a:r>
              <a:rPr sz="11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六種講完了。現在我們打開網頁，把剛剛講的全部量一遍。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14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左邊這張是熱像圖，一個人的熱影像，CC0 授權，可以自由使用。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請大家注意一個細節：衣服比較厚的地方，顏色比較暗。為什麼？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因為衣服會隔熱，所以表面的溫度比較低。這也告訴我們熱像的一個限制——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它看到的是表面溫度，不是身體裡面的溫度。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冬天穿很厚的人，在熱像裡面會比夏天穿短袖的人暗一些。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影片是實際裝在車上的熱像夜視。我們看三件事。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第一，人和動物非常亮。鹿站在路邊很遠就看得到，一般的車燈根本照不到那麼遠。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第二，可是交通標誌、紅綠燈、路面標線，完全看不到。因為它們跟背景沒有溫差。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第三，如果影片裡有並排比較，請跟一般相機的夜間畫面對照一下，差別非常明顯。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這就是為什麼有些高階車款會多裝一顆熱像做夜視輔助，但是它永遠是補強，不能取代相機。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我們播兩三分鐘就好。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六種講完了。現在我們打開網頁，把剛剛講的東西全部量一遍。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請第一位同學上來。我先介紹一下畫面。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中間是俯視圖，最下面綠色那一台是我們的車，今天它完全不會動。上面是路上的東西。操作只有一個動作：用滑鼠把東西拖走，右邊六張卡就會立刻跟著變。沒有開始鍵，也不會撞車。這禮拜是實驗室，下禮拜才上路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地上的圈圈每一圈是十公尺，左邊有標。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請把行人拖到三十公尺，第三圈的位置。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好，現在我們對照剛剛講的原理，我問三個問題。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第一，六張卡裡面，有幾張知道那是一個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人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兩張。相機和熱像。相機那張寫「行人」，熱像那張寫「人體熱訊號」。其他四張只寫「未分類障礙物」，或者根本沒有讀值。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第二，有幾張量得到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四張。相機、光達、雷達、熱像。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第三，超音波為什麼沒有讀值？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因為它只有幾公尺，剛剛那一頁講過。三十公尺對它來說太遠了，所以它那張卡直接寫「太遠了」。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所以剛剛六頁講的原理，在畫面上一個一個都對得起來。下一頁我們把最重要的那一句話講透。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16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這一頁我希望大家拍照。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光達的距離比相機準得多，這是事實，剛剛那一頁講過，公分級。但是準，跟知不知道那是什麼，是兩回事。光達給你的是三十公尺外有一團東西，形狀大概這樣。它不會說那是人。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有同學可能會想：那有差嗎？反正前面有東西就閃開不就好了。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差很多。我舉個例子。如果前面三十公尺是一個紙箱，車子可以維持速度，準備繞過去。如果是一個人，就完全不同了——人會突然改變方向、會走進車道、會停下來看手機。車子必須提早減速，而且要預留他可能亂走的空間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同樣一團東西、同樣的距離，因為類別不同，該做的事完全不同。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所以「那是什麼」不是多餘的資訊，它直接決定車子要開多快。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這也解釋了為什麼不能只裝最準的那一種就好。準，和知道那是什麼，是兩個不同的能力。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17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我們把今天講的六種整理成一張表。讀法是：每一列都是「為什麼要多裝一種」的理由。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第一列，不知道那是什麼。光達、雷達、超音波都有這個洞，補的人是相機。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第二列，讀不出燈色。除了相機全部有這個洞，而且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沒有別人補得上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。這一列右邊只有一個答案，是六列裡唯一的。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第三列，不知道接近得多快。相機、光達、熱像都要靠追蹤推算，雷達用都卜勒直接量。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第四列，車身周圍的盲區，剛剛那位同學示範過了。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第五列，天黑。相機掛掉，另外三種沒事——因為主動和被動的差別。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第六列最特別：不知道自己在哪裡。往外看的那五種全部答不出來，只有 GNSS 可以。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大家看這張表——</a:t>
            </a:r>
            <a:r>
              <a:rPr sz="12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沒有一列的右邊可以空著</a:t>
            </a: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。你如果拿掉任何一種，就有一列補不起來。
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這就是真車上為什麼那麼多顆感測器：不是為了炫技，是每一顆都在補一個具體的洞。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18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/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>
          <a:xfrm>
            <a:off x="540000" y="540000"/>
            <a:ext cx="6480000" cy="3645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3"/>
          </p:nvPr>
        </p:nvSpPr>
        <p:spPr>
          <a:xfrm>
            <a:off x="540000" y="4440000"/>
            <a:ext cx="6480000" cy="55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第一節收起來。先解釋螢幕上這句標題，這是今天最重要的一句話。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很多人以為感測器的差別是「誰比較準」——光達比相機準，所以裝光達就好。不是這樣。這六種量的根本是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不同的東西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：相機給的是類別和燈色，光達給距離和形狀，雷達給接近速度，超音波管貼著車身的那幾公尺，衛星定位只管我們自己在哪，熱像看溫度。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打個比方：體重計和體溫計，你不能問哪一個比較準，因為它們量的不是同一件事。體重計再準，也量不出你有沒有發燒。同樣的道理，光達再準一百倍，也讀不出前面是紅燈。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所以車上裝六種，不是因為一種不夠準，是因為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少了哪一種，就少了那一種資訊，別的補不回來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。剛剛那張「每一種的弱點，由哪一種來補」講的就是這件事。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接下來三句是今天的重點整理。第一句，我用一句話幫大家把六種分類：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被動的要靠光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，那是相機；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主動的自己發訊號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，那是光達、雷達、超音波；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熱像最特別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，它被動但不需要光，因為它讀的是物體自己放出來的熱。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記住這個分類，第三節講天氣的時候會整個用上——為什麼天黑只有相機掛掉？因為只有它需要外面的光。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第二句：量得到距離不等於知道那是什麼。燈色和標線只有相機。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第三句：接近速度只有雷達直接量，但橫越的時候它會讀到接近零。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下一節我們換一個問題。今天一直在問「誰量得到什麼」，下一節要問「量得</a:t>
            </a:r>
            <a:r>
              <a:rPr sz="1000" b="1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多好</a:t>
            </a: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」。我先給大家一個提示：同一台相機，行人站二十公尺，估距誤差正負零點一五公尺；站八十公尺，誤差正負二點三三公尺。
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距離四倍，誤差十六倍。為什麼？下一節見。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>
          <a:xfrm>
            <a:off x="6500000" y="10200000"/>
            <a:ext cx="500000" cy="300000"/>
          </a:xfrm>
        </p:spPr>
        <p:txBody>
          <a:bodyPr vert="horz" wrap="square" anchor="t" lIns="91440" rIns="91440" tIns="45720" bIns="45720"/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000" lang="zh-TW" dirty="0">
                <a:solidFill>
                  <a:srgbClr val="000000"/>
                </a:solidFill>
                <a:latin typeface="Arial Unicode MS"/>
                <a:ea typeface="Arial Unicode MS"/>
                <a:cs typeface="Arial Unicode MS"/>
              </a:rPr>
              <a:t>19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fKXztwtXaGo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JC94Y063x58&amp;t=56s" TargetMode="External"/><Relationship Id="rId1" Type="http://schemas.openxmlformats.org/officeDocument/2006/relationships/image" Target="../media/image-6-1.jpg"/><Relationship Id="rId3" Type="http://schemas.openxmlformats.org/officeDocument/2006/relationships/image" Target="../media/image-6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DZ6tn8RcaBM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youtube.com/watch?v=AfwYR0OpM2M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uDpaB_1kIdA" TargetMode="External"/><Relationship Id="rId1" Type="http://schemas.openxmlformats.org/officeDocument/2006/relationships/image" Target="../media/image-11-1.jpg"/><Relationship Id="rId3" Type="http://schemas.openxmlformats.org/officeDocument/2006/relationships/image" Target="../media/image-1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80AzFW9Q0s" TargetMode="External"/><Relationship Id="rId1" Type="http://schemas.openxmlformats.org/officeDocument/2006/relationships/image" Target="../media/image-13-1.jpg"/><Relationship Id="rId3" Type="http://schemas.openxmlformats.org/officeDocument/2006/relationships/image" Target="../media/image-1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_KrdROQ067c" TargetMode="External"/><Relationship Id="rId1" Type="http://schemas.openxmlformats.org/officeDocument/2006/relationships/image" Target="../media/image-15-1.jpg"/><Relationship Id="rId3" Type="http://schemas.openxmlformats.org/officeDocument/2006/relationships/image" Target="../media/image-1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12070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 · Nguyên lý xe tự lái · Tuần 3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572768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cảm biến: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lý, đặc tính, công dụng</a:t>
            </a:r>
            <a:endParaRPr lang="en-US" sz="34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900" dirty="0">
                <a:solidFill>
                  <a:srgbClr val="C8D6E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六種感測器：原理、特性、用途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218688"/>
            <a:ext cx="1371600" cy="41148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02920" y="3419856"/>
            <a:ext cx="7132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C8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Hiểu nguyên lý trước, rồi mới kéo thử trên màn hình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先懂原理，再到畫面上拖拖看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3708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第三週 第 1 節　2026/09/24（四）09:10–10:00　CH Tseng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56616" y="310896"/>
            <a:ext cx="221284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/>
        </p:spPr>
      </p:sp>
      <p:pic>
        <p:nvPicPr>
          <p:cNvPr id="11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475488"/>
            <a:ext cx="1920240" cy="42426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công cụ trên điện thoại hoặc máy tính của bạn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用你自己的手機或筆電打開這個工具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364224" y="1133856"/>
            <a:ext cx="2404872" cy="2624328"/>
          </a:xfrm>
          <a:prstGeom prst="roundRect">
            <a:avLst>
              <a:gd name="adj" fmla="val 3802"/>
            </a:avLst>
          </a:prstGeom>
          <a:solidFill>
            <a:srgbClr val="FFFFFF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4" name="Image 0" descr="/Users/tsengchenghsun/Class/carClass/Claude outputs/第三週(9-24)/src/img/w3_qr_l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243584"/>
            <a:ext cx="2148840" cy="21488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400800" y="3429000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Quét mã QR bằng camera điện thoại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9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用手機相機掃這個 QR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02920" y="1133856"/>
            <a:ext cx="5678424" cy="841248"/>
          </a:xfrm>
          <a:prstGeom prst="roundRect">
            <a:avLst>
              <a:gd name="adj" fmla="val 9783"/>
            </a:avLst>
          </a:prstGeom>
          <a:solidFill>
            <a:srgbClr val="0B1F3A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49224" y="1225296"/>
            <a:ext cx="538581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https://ch-neural.github.io/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MITUST-Principles-of-Self-Driving-Cars/week3/lab/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39496" y="2157984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39496" y="2167128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941832" y="21214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link → kéo thử bất kỳ vật nào trên màn hình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打開網址 → 用手指拖拖看畫面上任何一個物體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" y="2651760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9496" y="2660904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" y="2615184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Điện thoại: phía dưới có hai tab «Điều chỉnh» và «Sáu thẻ số»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手機版：下面有「調整參數」和「六張讀數卡」兩個分頁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39496" y="3145536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539496" y="3154680"/>
            <a:ext cx="292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941832" y="310896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cần cài gì, không cần đăng nhập. Dùng được cả khi không có mạng sau khi đã mở.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不用安裝、不用登入。打開之後斷網也還能用。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 ba tiết hôm nay đều dùng công cụ này. Mở sẵn rồi để đó.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今天三節課都會用到這個工具。現在先打開放著。</a:t>
            </a:r>
            <a:endParaRPr lang="en-US" sz="1200" dirty="0"/>
          </a:p>
        </p:txBody>
      </p:sp>
      <p:pic>
        <p:nvPicPr>
          <p:cNvPr id="20" name="Image 1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19</a:t>
            </a:r>
            <a:endParaRPr lang="en-US" sz="900" dirty="0"/>
          </a:p>
        </p:txBody>
      </p:sp>
      <p:sp>
        <p:nvSpPr>
          <p:cNvPr id="22" name="Text 17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　Camera · 相機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481328" cy="19202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9061" y="1620683"/>
            <a:ext cx="869046" cy="493776"/>
          </a:xfrm>
          <a:prstGeom prst="roundRect">
            <a:avLst>
              <a:gd name="adj" fmla="val 25926"/>
            </a:avLst>
          </a:prstGeom>
          <a:solidFill>
            <a:srgbClr val="4FA8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6572" y="1521927"/>
            <a:ext cx="256764" cy="118506"/>
          </a:xfrm>
          <a:prstGeom prst="roundRect">
            <a:avLst>
              <a:gd name="adj" fmla="val 231482"/>
            </a:avLst>
          </a:prstGeom>
          <a:solidFill>
            <a:srgbClr val="4FA8FF"/>
          </a:solidFill>
          <a:ln/>
        </p:spPr>
      </p:sp>
      <p:sp>
        <p:nvSpPr>
          <p:cNvPr id="6" name="Shape 4"/>
          <p:cNvSpPr/>
          <p:nvPr/>
        </p:nvSpPr>
        <p:spPr>
          <a:xfrm>
            <a:off x="1085576" y="1699687"/>
            <a:ext cx="316017" cy="316017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1154704" y="1768815"/>
            <a:ext cx="177759" cy="177759"/>
          </a:xfrm>
          <a:prstGeom prst="ellipse">
            <a:avLst/>
          </a:prstGeom>
          <a:solidFill>
            <a:srgbClr val="4FA8FF">
              <a:alpha val="7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480596" y="1679936"/>
            <a:ext cx="98755" cy="98755"/>
          </a:xfrm>
          <a:prstGeom prst="ellipse">
            <a:avLst/>
          </a:prstGeom>
          <a:solidFill>
            <a:srgbClr val="FFFFFF">
              <a:alpha val="60000"/>
            </a:srgb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295144" y="786384"/>
            <a:ext cx="6345936" cy="787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Hứng ánh sáng có sẵn, ghi lại màu và độ sáng của từng điểm ảnh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接收現場的光，記下每個像素的顏色與亮度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295144" y="1665299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295144" y="1688159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lý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原理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3209544" y="1665299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Ống kính hội tụ ánh sáng lên cảm biến ảnh. Bị động — nó không tự phát ra gì cả, chỉ nhận ánh sáng của mặt trời hoặc đèn.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鏡頭把光聚焦到感光晶片上。被動——它不發出任何東西，只接收太陽或燈光。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295144" y="2364494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07F7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95144" y="238735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tính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特性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3209544" y="2364494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 phân giải cao nhất, có màu sắc, rẻ nhất. Nhưng khoảng cách phải suy ra bằng hình học, và hết sáng là hết việc.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解析度最高、有顏色、最便宜。但距離要用幾何推算，而且沒有光就沒轍。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95144" y="3063689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FFB0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295144" y="3086549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dụng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3209544" y="3063689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Màu đèn tín hiệu, biển báo, vạch kẻ làn, phân loại vật thể. Trên xe tự lái đây là loại lắp nhiều nhất.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號誌燈色、交通標誌、車道標線、物體分類。自駕車上數量最多的一種。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Waymo thế hệ 6 lắp 13 camera. Không hãng nào dám bỏ camera.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Waymo 第六代裝了 13 顆相機。到目前為止，沒有一家自駕公司不裝相機。</a:t>
            </a:r>
            <a:endParaRPr lang="en-US" sz="1200" dirty="0"/>
          </a:p>
        </p:txBody>
      </p:sp>
      <p:pic>
        <p:nvPicPr>
          <p:cNvPr id="22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19</a:t>
            </a:r>
            <a:endParaRPr lang="en-US" sz="900" dirty="0"/>
          </a:p>
        </p:txBody>
      </p:sp>
      <p:sp>
        <p:nvSpPr>
          <p:cNvPr id="24" name="Text 20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6　Camera · 相機　▶ Video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của xe thật nhìn thấy gì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真車的相機看到什麼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5C7186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2333585"/>
            <a:ext cx="3831336" cy="1452031"/>
          </a:xfrm>
          <a:prstGeom prst="rect">
            <a:avLst/>
          </a:prstGeom>
          <a:solidFill>
            <a:srgbClr val="4A5763"/>
          </a:solidFill>
          <a:ln/>
        </p:spPr>
      </p:sp>
      <p:sp>
        <p:nvSpPr>
          <p:cNvPr id="6" name="Shape 4"/>
          <p:cNvSpPr/>
          <p:nvPr/>
        </p:nvSpPr>
        <p:spPr>
          <a:xfrm flipH="1">
            <a:off x="815279" y="2333585"/>
            <a:ext cx="1548445" cy="1433743"/>
          </a:xfrm>
          <a:prstGeom prst="line">
            <a:avLst/>
          </a:prstGeom>
          <a:noFill/>
          <a:ln w="25400">
            <a:solidFill>
              <a:srgbClr val="E8EDF2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546604" y="2333585"/>
            <a:ext cx="1548445" cy="1433743"/>
          </a:xfrm>
          <a:prstGeom prst="line">
            <a:avLst/>
          </a:prstGeom>
          <a:noFill/>
          <a:ln w="25400">
            <a:solidFill>
              <a:srgbClr val="E8EDF2">
                <a:alpha val="4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76837" y="2554576"/>
            <a:ext cx="136131" cy="136131"/>
          </a:xfrm>
          <a:prstGeom prst="ellipse">
            <a:avLst/>
          </a:prstGeom>
          <a:solidFill>
            <a:srgbClr val="D8E4EC"/>
          </a:solidFill>
          <a:ln/>
        </p:spPr>
      </p:sp>
      <p:sp>
        <p:nvSpPr>
          <p:cNvPr id="9" name="Shape 7"/>
          <p:cNvSpPr/>
          <p:nvPr/>
        </p:nvSpPr>
        <p:spPr>
          <a:xfrm>
            <a:off x="1235997" y="2704320"/>
            <a:ext cx="217809" cy="245035"/>
          </a:xfrm>
          <a:prstGeom prst="roundRect">
            <a:avLst>
              <a:gd name="adj" fmla="val 117549"/>
            </a:avLst>
          </a:prstGeom>
          <a:solidFill>
            <a:srgbClr val="D8E4EC"/>
          </a:solidFill>
          <a:ln/>
        </p:spPr>
      </p:sp>
      <p:sp>
        <p:nvSpPr>
          <p:cNvPr id="10" name="Shape 8"/>
          <p:cNvSpPr/>
          <p:nvPr/>
        </p:nvSpPr>
        <p:spPr>
          <a:xfrm rot="960000">
            <a:off x="1198561" y="2724740"/>
            <a:ext cx="54452" cy="176970"/>
          </a:xfrm>
          <a:prstGeom prst="rect">
            <a:avLst/>
          </a:prstGeom>
          <a:solidFill>
            <a:srgbClr val="D8E4EC"/>
          </a:solidFill>
          <a:ln/>
        </p:spPr>
      </p:sp>
      <p:sp>
        <p:nvSpPr>
          <p:cNvPr id="11" name="Shape 9"/>
          <p:cNvSpPr/>
          <p:nvPr/>
        </p:nvSpPr>
        <p:spPr>
          <a:xfrm rot="-960000">
            <a:off x="1436790" y="2724740"/>
            <a:ext cx="54452" cy="176970"/>
          </a:xfrm>
          <a:prstGeom prst="rect">
            <a:avLst/>
          </a:prstGeom>
          <a:solidFill>
            <a:srgbClr val="D8E4EC"/>
          </a:solidFill>
          <a:ln/>
        </p:spPr>
      </p:sp>
      <p:sp>
        <p:nvSpPr>
          <p:cNvPr id="12" name="Shape 10"/>
          <p:cNvSpPr/>
          <p:nvPr/>
        </p:nvSpPr>
        <p:spPr>
          <a:xfrm rot="300000">
            <a:off x="1273433" y="2915322"/>
            <a:ext cx="61259" cy="245035"/>
          </a:xfrm>
          <a:prstGeom prst="rect">
            <a:avLst/>
          </a:prstGeom>
          <a:solidFill>
            <a:srgbClr val="D8E4EC"/>
          </a:solidFill>
          <a:ln/>
        </p:spPr>
      </p:sp>
      <p:sp>
        <p:nvSpPr>
          <p:cNvPr id="13" name="Shape 11"/>
          <p:cNvSpPr/>
          <p:nvPr/>
        </p:nvSpPr>
        <p:spPr>
          <a:xfrm rot="-300000">
            <a:off x="1355112" y="2915322"/>
            <a:ext cx="61259" cy="245035"/>
          </a:xfrm>
          <a:prstGeom prst="rect">
            <a:avLst/>
          </a:prstGeom>
          <a:solidFill>
            <a:srgbClr val="D8E4EC"/>
          </a:solidFill>
          <a:ln/>
        </p:spPr>
      </p:sp>
      <p:sp>
        <p:nvSpPr>
          <p:cNvPr id="14" name="Shape 12"/>
          <p:cNvSpPr/>
          <p:nvPr/>
        </p:nvSpPr>
        <p:spPr>
          <a:xfrm>
            <a:off x="893369" y="2436248"/>
            <a:ext cx="780898" cy="872632"/>
          </a:xfrm>
          <a:prstGeom prst="rect">
            <a:avLst/>
          </a:prstGeom>
          <a:ln w="19050">
            <a:solidFill>
              <a:srgbClr val="6FD08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3369" y="2262512"/>
            <a:ext cx="786384" cy="173736"/>
          </a:xfrm>
          <a:prstGeom prst="rect">
            <a:avLst/>
          </a:prstGeom>
          <a:solidFill>
            <a:srgbClr val="6FD08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20801" y="2267084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行人 0.94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30829" y="2895560"/>
            <a:ext cx="552530" cy="168161"/>
          </a:xfrm>
          <a:prstGeom prst="roundRect">
            <a:avLst>
              <a:gd name="adj" fmla="val 163129"/>
            </a:avLst>
          </a:prstGeom>
          <a:solidFill>
            <a:srgbClr val="C8D3DE"/>
          </a:solidFill>
          <a:ln/>
        </p:spPr>
      </p:sp>
      <p:sp>
        <p:nvSpPr>
          <p:cNvPr id="18" name="Shape 16"/>
          <p:cNvSpPr/>
          <p:nvPr/>
        </p:nvSpPr>
        <p:spPr>
          <a:xfrm>
            <a:off x="3250944" y="2775445"/>
            <a:ext cx="300288" cy="132127"/>
          </a:xfrm>
          <a:prstGeom prst="trapezoid">
            <a:avLst/>
          </a:prstGeom>
          <a:solidFill>
            <a:srgbClr val="C8D3DE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202898" y="3027687"/>
            <a:ext cx="120115" cy="120115"/>
          </a:xfrm>
          <a:prstGeom prst="ellipse">
            <a:avLst/>
          </a:prstGeom>
          <a:solidFill>
            <a:srgbClr val="C8D3DE"/>
          </a:solidFill>
          <a:ln/>
        </p:spPr>
      </p:sp>
      <p:sp>
        <p:nvSpPr>
          <p:cNvPr id="20" name="Shape 18"/>
          <p:cNvSpPr/>
          <p:nvPr/>
        </p:nvSpPr>
        <p:spPr>
          <a:xfrm>
            <a:off x="3491175" y="3027687"/>
            <a:ext cx="120115" cy="120115"/>
          </a:xfrm>
          <a:prstGeom prst="ellipse">
            <a:avLst/>
          </a:prstGeom>
          <a:solidFill>
            <a:srgbClr val="C8D3DE"/>
          </a:solidFill>
          <a:ln/>
        </p:spPr>
      </p:sp>
      <p:sp>
        <p:nvSpPr>
          <p:cNvPr id="21" name="Shape 19"/>
          <p:cNvSpPr/>
          <p:nvPr/>
        </p:nvSpPr>
        <p:spPr>
          <a:xfrm>
            <a:off x="3232927" y="3057715"/>
            <a:ext cx="60058" cy="600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3521204" y="3057715"/>
            <a:ext cx="60058" cy="6005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2767523" y="2538910"/>
            <a:ext cx="1171346" cy="769969"/>
          </a:xfrm>
          <a:prstGeom prst="rect">
            <a:avLst/>
          </a:prstGeom>
          <a:ln w="19050">
            <a:solidFill>
              <a:srgbClr val="4FA8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767523" y="2365174"/>
            <a:ext cx="1171346" cy="173736"/>
          </a:xfrm>
          <a:prstGeom prst="rect">
            <a:avLst/>
          </a:prstGeom>
          <a:solidFill>
            <a:srgbClr val="4FA8FF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794955" y="2369746"/>
            <a:ext cx="117134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ô tô 汽車 0.91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145929" y="1548216"/>
            <a:ext cx="345157" cy="441449"/>
          </a:xfrm>
          <a:prstGeom prst="roundRect">
            <a:avLst>
              <a:gd name="adj" fmla="val 10597"/>
            </a:avLst>
          </a:prstGeom>
          <a:solidFill>
            <a:srgbClr val="2B3945"/>
          </a:solidFill>
          <a:ln/>
        </p:spPr>
      </p:sp>
      <p:sp>
        <p:nvSpPr>
          <p:cNvPr id="27" name="Shape 25"/>
          <p:cNvSpPr/>
          <p:nvPr/>
        </p:nvSpPr>
        <p:spPr>
          <a:xfrm>
            <a:off x="2221863" y="1587947"/>
            <a:ext cx="193288" cy="193288"/>
          </a:xfrm>
          <a:prstGeom prst="ellipse">
            <a:avLst/>
          </a:prstGeom>
          <a:solidFill>
            <a:srgbClr val="FF5A4E"/>
          </a:solidFill>
          <a:ln/>
        </p:spPr>
      </p:sp>
      <p:sp>
        <p:nvSpPr>
          <p:cNvPr id="28" name="Shape 26"/>
          <p:cNvSpPr/>
          <p:nvPr/>
        </p:nvSpPr>
        <p:spPr>
          <a:xfrm>
            <a:off x="2221863" y="1720382"/>
            <a:ext cx="193288" cy="193288"/>
          </a:xfrm>
          <a:prstGeom prst="ellipse">
            <a:avLst/>
          </a:prstGeom>
          <a:solidFill>
            <a:srgbClr val="5F6B75"/>
          </a:solidFill>
          <a:ln/>
        </p:spPr>
      </p:sp>
      <p:sp>
        <p:nvSpPr>
          <p:cNvPr id="29" name="Shape 27"/>
          <p:cNvSpPr/>
          <p:nvPr/>
        </p:nvSpPr>
        <p:spPr>
          <a:xfrm>
            <a:off x="2221863" y="1852816"/>
            <a:ext cx="193288" cy="193288"/>
          </a:xfrm>
          <a:prstGeom prst="ellipse">
            <a:avLst/>
          </a:prstGeom>
          <a:solidFill>
            <a:srgbClr val="5F6B75"/>
          </a:solidFill>
          <a:ln/>
        </p:spPr>
      </p:sp>
      <p:sp>
        <p:nvSpPr>
          <p:cNvPr id="30" name="Shape 28"/>
          <p:cNvSpPr/>
          <p:nvPr/>
        </p:nvSpPr>
        <p:spPr>
          <a:xfrm>
            <a:off x="1986625" y="1512285"/>
            <a:ext cx="663763" cy="513313"/>
          </a:xfrm>
          <a:prstGeom prst="rect">
            <a:avLst/>
          </a:prstGeom>
          <a:ln w="19050">
            <a:solidFill>
              <a:srgbClr val="FFB02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86625" y="1338549"/>
            <a:ext cx="786384" cy="173736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2014057" y="1343121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đèn đỏ 紅燈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39496" y="3310128"/>
            <a:ext cx="3831336" cy="475488"/>
          </a:xfrm>
          <a:prstGeom prst="rect">
            <a:avLst/>
          </a:prstGeom>
          <a:solidFill>
            <a:srgbClr val="0B1F3A">
              <a:alpha val="7800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0936" y="3346704"/>
            <a:ext cx="36484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6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thứ chỉ camera mới dựng ra được: khung bao, tên loại, độ tin cậy.</a:t>
            </a:r>
            <a:endParaRPr lang="en-US" sz="1000" dirty="0"/>
          </a:p>
          <a:p>
            <a:pPr indent="0" marL="0">
              <a:lnSpc>
                <a:spcPct val="106000"/>
              </a:lnSpc>
              <a:buNone/>
            </a:pPr>
            <a:r>
              <a:rPr lang="en-US" sz="900" dirty="0">
                <a:solidFill>
                  <a:srgbClr val="D8E4E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這是只有相機做得出來的東西：框、類別的名字、還有信心分數。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What Tesla's Autopilot Sees On The Road</a:t>
            </a:r>
            <a:endParaRPr lang="en-US" sz="1050" dirty="0"/>
          </a:p>
        </p:txBody>
      </p:sp>
      <p:sp>
        <p:nvSpPr>
          <p:cNvPr id="39" name="Text 37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Carscoops　·　0:31（很短，連播兩三次）</a:t>
            </a:r>
            <a:endParaRPr lang="en-US" sz="900" dirty="0"/>
          </a:p>
        </p:txBody>
      </p:sp>
      <p:sp>
        <p:nvSpPr>
          <p:cNvPr id="40" name="Text 38">
            <a:hlinkClick r:id="rId1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https://www.youtube.com/watch?v=fKXztwtXaGo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047488" y="227975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Khung nhận dạng: xe, người, vạch kẻ — đều do camera gán nhãn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畫面上的框：車、人、車道線——都是相機貼的標籤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919472" y="2808987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047488" y="2772411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Chỉ 31 giây — xem 2–3 lần, mỗi lần chỉ nhìn một thứ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只有 31 秒——連看兩三次，每次只看一件事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19472" y="3159311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047488" y="3122735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 sát: vật ở xa thì khung có đứng yên không?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觀察題：遠處的東西，框穩不穩？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Những khung và nhãn này — chỉ camera mới tạo ra được.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畫面上這些框和標籤，只有相機給得出來。</a:t>
            </a:r>
            <a:endParaRPr lang="en-US" sz="1150" dirty="0"/>
          </a:p>
        </p:txBody>
      </p:sp>
      <p:pic>
        <p:nvPicPr>
          <p:cNvPr id="50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19</a:t>
            </a:r>
            <a:endParaRPr lang="en-US" sz="900" dirty="0"/>
          </a:p>
        </p:txBody>
      </p:sp>
      <p:sp>
        <p:nvSpPr>
          <p:cNvPr id="52" name="Text 4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　LiDAR · 光達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481328" cy="19202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-2280000">
            <a:off x="1402545" y="1505556"/>
            <a:ext cx="335768" cy="35552"/>
          </a:xfrm>
          <a:prstGeom prst="rect">
            <a:avLst/>
          </a:prstGeom>
          <a:solidFill>
            <a:srgbClr val="7ED957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 rot="-1140000">
            <a:off x="1467875" y="1625878"/>
            <a:ext cx="335768" cy="35552"/>
          </a:xfrm>
          <a:prstGeom prst="rect">
            <a:avLst/>
          </a:prstGeom>
          <a:solidFill>
            <a:srgbClr val="7ED957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90472" y="1760915"/>
            <a:ext cx="335768" cy="35552"/>
          </a:xfrm>
          <a:prstGeom prst="rect">
            <a:avLst/>
          </a:prstGeom>
          <a:solidFill>
            <a:srgbClr val="7ED957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1140000">
            <a:off x="1467875" y="1895951"/>
            <a:ext cx="335768" cy="35552"/>
          </a:xfrm>
          <a:prstGeom prst="rect">
            <a:avLst/>
          </a:prstGeom>
          <a:solidFill>
            <a:srgbClr val="7ED957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 rot="2280000">
            <a:off x="1402545" y="2016274"/>
            <a:ext cx="335768" cy="35552"/>
          </a:xfrm>
          <a:prstGeom prst="rect">
            <a:avLst/>
          </a:prstGeom>
          <a:solidFill>
            <a:srgbClr val="7ED957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967069" y="1581180"/>
            <a:ext cx="355519" cy="128382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0" name="Shape 8"/>
          <p:cNvSpPr/>
          <p:nvPr/>
        </p:nvSpPr>
        <p:spPr>
          <a:xfrm>
            <a:off x="967069" y="1640434"/>
            <a:ext cx="355519" cy="335768"/>
          </a:xfrm>
          <a:prstGeom prst="rect">
            <a:avLst/>
          </a:prstGeom>
          <a:solidFill>
            <a:srgbClr val="7ED957"/>
          </a:solidFill>
          <a:ln/>
        </p:spPr>
      </p:sp>
      <p:sp>
        <p:nvSpPr>
          <p:cNvPr id="11" name="Shape 9"/>
          <p:cNvSpPr/>
          <p:nvPr/>
        </p:nvSpPr>
        <p:spPr>
          <a:xfrm>
            <a:off x="967069" y="1907073"/>
            <a:ext cx="355519" cy="128382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2" name="Shape 10"/>
          <p:cNvSpPr/>
          <p:nvPr/>
        </p:nvSpPr>
        <p:spPr>
          <a:xfrm>
            <a:off x="967069" y="1739189"/>
            <a:ext cx="355519" cy="69129"/>
          </a:xfrm>
          <a:prstGeom prst="rect">
            <a:avLst/>
          </a:prstGeom>
          <a:solidFill>
            <a:srgbClr val="FFFFFF">
              <a:alpha val="6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1085576" y="2035454"/>
            <a:ext cx="118506" cy="138257"/>
          </a:xfrm>
          <a:prstGeom prst="rect">
            <a:avLst/>
          </a:prstGeom>
          <a:solidFill>
            <a:srgbClr val="7ED957">
              <a:alpha val="60000"/>
            </a:srgbClr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2295144" y="786384"/>
            <a:ext cx="6345936" cy="52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Bắn tia laser ra, đo thời gian nó phản xạ về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打一道雷射出去，量它反射回來的時間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295144" y="1400190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95144" y="142305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lý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原理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209544" y="1400190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= tốc độ ánh sáng × thời gian ÷ 2. Ánh sáng đi 300.000 km mỗi giây, nên phải đo thời gian cực kỳ chính xác.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 ＝ 光速 × 時間 ÷ 2。光每秒走三十萬公里，所以時間要量得極準。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295144" y="2099385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07F7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2295144" y="2122245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tính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特性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209544" y="2099385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chính xác tới cm, cho luôn hình dạng 3D. Nhưng đắt, và mưa sương làm tán xạ tia laser.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距離準到公分，還直接給出三維形狀。但很貴，而且雨霧會把雷射散射掉。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95144" y="2798579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FFB02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2295144" y="2821439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dụng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2798579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 trí và hình dạng vật cản, dựng bản đồ độ chính xác cao, và so khớp bản đồ để định vị.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障礙物的位置與形狀、建高精地圖，以及拿地圖比對來定位。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Chủ động: tự mang “đèn pin” đi, nên ban đêm cũng làm việc y như ban ngày.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主動：自己帶手電筒，所以晚上跟白天一樣好用。</a:t>
            </a:r>
            <a:endParaRPr lang="en-US" sz="1200" dirty="0"/>
          </a:p>
        </p:txBody>
      </p:sp>
      <p:pic>
        <p:nvPicPr>
          <p:cNvPr id="27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19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6　LiDAR · 光達　▶ Video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Thiết bị thật và đám mây điểm nó tạo ra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實體長這樣，以及它掃出來的點雲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0B1F3A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三週(9-24)/src/img/w3_lid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2123" y="1301348"/>
            <a:ext cx="3166083" cy="22922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3584448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Steve Jurvetson · CC BY 2.0 · Wikimedia Commons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is LiDAR remote sensing used for Autonomous vehicles?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Geospatial World　·　0:56 – 2:10</a:t>
            </a:r>
            <a:endParaRPr lang="en-US" sz="900" dirty="0"/>
          </a:p>
        </p:txBody>
      </p:sp>
      <p:sp>
        <p:nvSpPr>
          <p:cNvPr id="12" name="Text 9">
            <a:hlinkClick r:id="rId2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https://www.youtube.com/watch?v=JC94Y063x58&amp;t=56s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227975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0:56　Thiết bị quay trên nóc xe chính là vật trong ảnh bên trái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0:56　車頂那個會轉的東西，就是左邊照片這一顆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19472" y="2808987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47488" y="2772411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1:05　Mỗi giây hàng nghìn xung laser, chạm vật rồi phản xạ về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1:05　每秒幾千道雷射脈衝，碰到東西再反射回來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19472" y="330164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47488" y="3265066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1:28　Các điểm phản xạ ghép thành đám mây điểm 3D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1:28　反射點拼成 3D 點雲——每個點都是一次量時間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nói một chỗ chưa chính xác. Ai tìm ra?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影片有一句話講得不精確。誰抓得到？</a:t>
            </a:r>
            <a:endParaRPr lang="en-US" sz="1150" dirty="0"/>
          </a:p>
        </p:txBody>
      </p:sp>
      <p:pic>
        <p:nvPicPr>
          <p:cNvPr id="22" name="Image 1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19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　Radar · 雷達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481328" cy="19202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8563" y="1758940"/>
            <a:ext cx="177759" cy="177759"/>
          </a:xfrm>
          <a:prstGeom prst="ellipse">
            <a:avLst/>
          </a:prstGeom>
          <a:solidFill>
            <a:srgbClr val="FFB020"/>
          </a:solidFill>
          <a:ln/>
        </p:spPr>
      </p:sp>
      <p:sp>
        <p:nvSpPr>
          <p:cNvPr id="5" name="Shape 3"/>
          <p:cNvSpPr/>
          <p:nvPr/>
        </p:nvSpPr>
        <p:spPr>
          <a:xfrm>
            <a:off x="986820" y="1561429"/>
            <a:ext cx="237012" cy="572780"/>
          </a:xfrm>
          <a:prstGeom prst="chevron">
            <a:avLst/>
          </a:prstGeom>
          <a:ln w="31750">
            <a:solidFill>
              <a:srgbClr val="FFB02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4331" y="1482425"/>
            <a:ext cx="256764" cy="730788"/>
          </a:xfrm>
          <a:prstGeom prst="chevron">
            <a:avLst/>
          </a:prstGeom>
          <a:ln w="31750">
            <a:solidFill>
              <a:srgbClr val="FFB020">
                <a:alpha val="7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1841" y="1403421"/>
            <a:ext cx="276515" cy="888797"/>
          </a:xfrm>
          <a:prstGeom prst="chevron">
            <a:avLst/>
          </a:prstGeom>
          <a:ln w="31750">
            <a:solidFill>
              <a:srgbClr val="FFB020">
                <a:alpha val="50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95144" y="786384"/>
            <a:ext cx="6345936" cy="787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sóng vô tuyến, đo cả thời gian về lẫn thay đổi tần số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發射無線電波，同時量回來的時間和頻率變化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295144" y="1665299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95144" y="1688159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lý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原理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3209544" y="1665299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Sóng milimét 77 GHz. Chênh lệch tần số cho khoảng cách, Doppler cho tốc độ lại gần — cùng một lần quét có cả hai.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77 GHz 毫米波。頻率差給距離，都卜勒給接近速度——同一次掃描裡兩樣都有。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295144" y="2364494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07F7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295144" y="238735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tính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特性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209544" y="2364494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Gần như không sợ mưa sương, tầm xa nhất. Nhưng phân giải góc kém: hai vật cạnh nhau dễ bị gộp làm một.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幾乎不怕雨霧、距離最遠。但角解析度差：靠得近的兩個東西容易被當成一個。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95144" y="3063689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FFB02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2295144" y="3086549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dụng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3209544" y="3063689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 tự động giữ khoảng cách, phanh khẩn cấp tự động, cảnh báo điểm mù. Đây là loại phổ biến sớm nhất trên xe thương mại.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定速跟車、自動緊急煞車、盲點警示。量產車上最早普及的一種。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Sóng 77 GHz dài khoảng 4 mm — lớn hơn hạt sương rất nhiều, nên nó đi vòng qua.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77 GHz 的波長約 4 公釐——比霧滴大很多，所以它直接繞過去。</a:t>
            </a:r>
            <a:endParaRPr lang="en-US" sz="1200" dirty="0"/>
          </a:p>
        </p:txBody>
      </p:sp>
      <p:pic>
        <p:nvPicPr>
          <p:cNvPr id="21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19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6　Radar · 雷達　▶ Video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radar biết tốc độ mà không cần so vị trí hai lần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為什麼雷達不用比位置就知道速度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0B1F3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2333585"/>
            <a:ext cx="3831336" cy="1452031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30936" y="1347068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đi TỚI: sóng dội về bị ép lại → tần số cao hơn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8A7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車子靠近：回來的波被擠密 → 頻率變高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1831700"/>
            <a:ext cx="274320" cy="237744"/>
          </a:xfrm>
          <a:prstGeom prst="roundRect">
            <a:avLst>
              <a:gd name="adj" fmla="val 19231"/>
            </a:avLst>
          </a:prstGeom>
          <a:solidFill>
            <a:srgbClr val="C8D3DE"/>
          </a:solidFill>
          <a:ln/>
        </p:spPr>
      </p:sp>
      <p:sp>
        <p:nvSpPr>
          <p:cNvPr id="8" name="Shape 6"/>
          <p:cNvSpPr/>
          <p:nvPr/>
        </p:nvSpPr>
        <p:spPr>
          <a:xfrm>
            <a:off x="1069848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9304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08760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728216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947672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67128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86584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06040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25496" y="1749404"/>
            <a:ext cx="0" cy="402336"/>
          </a:xfrm>
          <a:prstGeom prst="line">
            <a:avLst/>
          </a:prstGeom>
          <a:noFill/>
          <a:ln w="20320">
            <a:solidFill>
              <a:srgbClr val="FF8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713196" y="1922043"/>
            <a:ext cx="437449" cy="133137"/>
          </a:xfrm>
          <a:prstGeom prst="roundRect">
            <a:avLst>
              <a:gd name="adj" fmla="val 206043"/>
            </a:avLst>
          </a:prstGeom>
          <a:solidFill>
            <a:srgbClr val="9FB0BE"/>
          </a:solidFill>
          <a:ln/>
        </p:spPr>
      </p:sp>
      <p:sp>
        <p:nvSpPr>
          <p:cNvPr id="18" name="Shape 16"/>
          <p:cNvSpPr/>
          <p:nvPr/>
        </p:nvSpPr>
        <p:spPr>
          <a:xfrm>
            <a:off x="3808293" y="1826945"/>
            <a:ext cx="237744" cy="104607"/>
          </a:xfrm>
          <a:prstGeom prst="trapezoid">
            <a:avLst/>
          </a:prstGeom>
          <a:solidFill>
            <a:srgbClr val="9FB0BE">
              <a:alpha val="7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3770254" y="2026650"/>
            <a:ext cx="95098" cy="95098"/>
          </a:xfrm>
          <a:prstGeom prst="ellipse">
            <a:avLst/>
          </a:prstGeom>
          <a:solidFill>
            <a:srgbClr val="9FB0BE"/>
          </a:solidFill>
          <a:ln/>
        </p:spPr>
      </p:sp>
      <p:sp>
        <p:nvSpPr>
          <p:cNvPr id="20" name="Shape 18"/>
          <p:cNvSpPr/>
          <p:nvPr/>
        </p:nvSpPr>
        <p:spPr>
          <a:xfrm>
            <a:off x="3998488" y="2026650"/>
            <a:ext cx="95098" cy="95098"/>
          </a:xfrm>
          <a:prstGeom prst="ellipse">
            <a:avLst/>
          </a:prstGeom>
          <a:solidFill>
            <a:srgbClr val="9FB0BE"/>
          </a:solidFill>
          <a:ln/>
        </p:spPr>
      </p:sp>
      <p:sp>
        <p:nvSpPr>
          <p:cNvPr id="21" name="Shape 19"/>
          <p:cNvSpPr/>
          <p:nvPr/>
        </p:nvSpPr>
        <p:spPr>
          <a:xfrm>
            <a:off x="3794028" y="2050425"/>
            <a:ext cx="47549" cy="475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Shape 20"/>
          <p:cNvSpPr/>
          <p:nvPr/>
        </p:nvSpPr>
        <p:spPr>
          <a:xfrm>
            <a:off x="4022263" y="2050425"/>
            <a:ext cx="47549" cy="475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 flipH="1">
            <a:off x="3493008" y="2224892"/>
            <a:ext cx="310896" cy="128016"/>
          </a:xfrm>
          <a:prstGeom prst="rightArrow">
            <a:avLst/>
          </a:prstGeom>
          <a:solidFill>
            <a:srgbClr val="FF8A7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" y="2401750"/>
            <a:ext cx="3648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FB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đi RA XA: sóng dội về bị kéo dài → tần số thấp hơn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7FB8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車子遠離：回來的波被拉長 → 頻率變低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85800" y="2886382"/>
            <a:ext cx="274320" cy="237744"/>
          </a:xfrm>
          <a:prstGeom prst="roundRect">
            <a:avLst>
              <a:gd name="adj" fmla="val 19231"/>
            </a:avLst>
          </a:prstGeom>
          <a:solidFill>
            <a:srgbClr val="C8D3DE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9848" y="2804086"/>
            <a:ext cx="0" cy="402336"/>
          </a:xfrm>
          <a:prstGeom prst="line">
            <a:avLst/>
          </a:prstGeom>
          <a:noFill/>
          <a:ln w="20320">
            <a:solidFill>
              <a:srgbClr val="7FB8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472184" y="2804086"/>
            <a:ext cx="0" cy="402336"/>
          </a:xfrm>
          <a:prstGeom prst="line">
            <a:avLst/>
          </a:prstGeom>
          <a:noFill/>
          <a:ln w="20320">
            <a:solidFill>
              <a:srgbClr val="7FB8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874520" y="2804086"/>
            <a:ext cx="0" cy="402336"/>
          </a:xfrm>
          <a:prstGeom prst="line">
            <a:avLst/>
          </a:prstGeom>
          <a:noFill/>
          <a:ln w="20320">
            <a:solidFill>
              <a:srgbClr val="7FB8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76856" y="2804086"/>
            <a:ext cx="0" cy="402336"/>
          </a:xfrm>
          <a:prstGeom prst="line">
            <a:avLst/>
          </a:prstGeom>
          <a:noFill/>
          <a:ln w="20320">
            <a:solidFill>
              <a:srgbClr val="7FB8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679192" y="2804086"/>
            <a:ext cx="0" cy="402336"/>
          </a:xfrm>
          <a:prstGeom prst="line">
            <a:avLst/>
          </a:prstGeom>
          <a:noFill/>
          <a:ln w="20320">
            <a:solidFill>
              <a:srgbClr val="7FB8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713196" y="2976725"/>
            <a:ext cx="437449" cy="133137"/>
          </a:xfrm>
          <a:prstGeom prst="roundRect">
            <a:avLst>
              <a:gd name="adj" fmla="val 206043"/>
            </a:avLst>
          </a:prstGeom>
          <a:solidFill>
            <a:srgbClr val="9FB0BE"/>
          </a:solidFill>
          <a:ln/>
        </p:spPr>
      </p:sp>
      <p:sp>
        <p:nvSpPr>
          <p:cNvPr id="32" name="Shape 30"/>
          <p:cNvSpPr/>
          <p:nvPr/>
        </p:nvSpPr>
        <p:spPr>
          <a:xfrm>
            <a:off x="3808293" y="2881627"/>
            <a:ext cx="237744" cy="104607"/>
          </a:xfrm>
          <a:prstGeom prst="trapezoid">
            <a:avLst/>
          </a:prstGeom>
          <a:solidFill>
            <a:srgbClr val="9FB0BE">
              <a:alpha val="7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3770254" y="3081332"/>
            <a:ext cx="95098" cy="95098"/>
          </a:xfrm>
          <a:prstGeom prst="ellipse">
            <a:avLst/>
          </a:prstGeom>
          <a:solidFill>
            <a:srgbClr val="9FB0BE"/>
          </a:solidFill>
          <a:ln/>
        </p:spPr>
      </p:sp>
      <p:sp>
        <p:nvSpPr>
          <p:cNvPr id="34" name="Shape 32"/>
          <p:cNvSpPr/>
          <p:nvPr/>
        </p:nvSpPr>
        <p:spPr>
          <a:xfrm>
            <a:off x="3998488" y="3081332"/>
            <a:ext cx="95098" cy="95098"/>
          </a:xfrm>
          <a:prstGeom prst="ellipse">
            <a:avLst/>
          </a:prstGeom>
          <a:solidFill>
            <a:srgbClr val="9FB0BE"/>
          </a:solidFill>
          <a:ln/>
        </p:spPr>
      </p:sp>
      <p:sp>
        <p:nvSpPr>
          <p:cNvPr id="35" name="Shape 33"/>
          <p:cNvSpPr/>
          <p:nvPr/>
        </p:nvSpPr>
        <p:spPr>
          <a:xfrm>
            <a:off x="3794028" y="3105107"/>
            <a:ext cx="47549" cy="475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4022263" y="3105107"/>
            <a:ext cx="47549" cy="47549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3986784" y="3279574"/>
            <a:ext cx="310896" cy="128016"/>
          </a:xfrm>
          <a:prstGeom prst="rightArrow">
            <a:avLst/>
          </a:prstGeom>
          <a:solidFill>
            <a:srgbClr val="7FB8FF"/>
          </a:solidFill>
          <a:ln/>
        </p:spPr>
      </p:sp>
      <p:sp>
        <p:nvSpPr>
          <p:cNvPr id="38" name="Shape 36"/>
          <p:cNvSpPr/>
          <p:nvPr/>
        </p:nvSpPr>
        <p:spPr>
          <a:xfrm>
            <a:off x="539496" y="3310128"/>
            <a:ext cx="3831336" cy="475488"/>
          </a:xfrm>
          <a:prstGeom prst="rect">
            <a:avLst/>
          </a:prstGeom>
          <a:solidFill>
            <a:srgbClr val="0B1F3A">
              <a:alpha val="78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Sensor Explained With Animation | Mastering Automotive Sensors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TechTrixInfo　·　</a:t>
            </a:r>
            <a:endParaRPr lang="en-US" sz="900" dirty="0"/>
          </a:p>
        </p:txBody>
      </p:sp>
      <p:sp>
        <p:nvSpPr>
          <p:cNvPr id="44" name="Text 42">
            <a:hlinkClick r:id="rId1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https://www.youtube.com/watch?v=DZ6tn8RcaBM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047488" y="227975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Bốn bước: phát sóng → chạm vật → vọng về → tính thời gian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四個步驟：發射 → 打到東西 → 彈回來 → 算時間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19472" y="2808987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047488" y="2772411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thường nằm sau lưới tản nhiệt, không cần lộ ra ngoài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雷達通常藏在水箱罩後面，不用露出來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919472" y="330164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047488" y="326506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Bẫy: video nói «thời gian cho ra cả tốc độ». Tốc độ thật ra từ đâu?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陷阱：影片說「量時間就得到速度」。速度到底哪裡來的？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thường nằm sau lưới tản nhiệt: sóng vô tuyến xuyên qua nhựa, nên ta không nhìn thấy nó.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雷達通常藏在水箱罩後面：無線電波穿得過塑膠，所以你在路上看不到它。</a:t>
            </a:r>
            <a:endParaRPr lang="en-US" sz="1150" dirty="0"/>
          </a:p>
        </p:txBody>
      </p:sp>
      <p:pic>
        <p:nvPicPr>
          <p:cNvPr id="54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55" name="Text 51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19</a:t>
            </a:r>
            <a:endParaRPr lang="en-US" sz="900" dirty="0"/>
          </a:p>
        </p:txBody>
      </p:sp>
      <p:sp>
        <p:nvSpPr>
          <p:cNvPr id="56" name="Text 52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Video · LiDAR vs Radar · 光達 vs 雷達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và radar: mỗi loại mạnh một kiểu, nên xe lắp cả hai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光達與雷達：各有所長，所以兩個都裝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0B1F3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9496" y="2333585"/>
            <a:ext cx="3831336" cy="1452031"/>
          </a:xfrm>
          <a:prstGeom prst="rect">
            <a:avLst/>
          </a:prstGeom>
          <a:solidFill>
            <a:srgbClr val="12263A"/>
          </a:solidFill>
          <a:ln/>
        </p:spPr>
      </p:sp>
      <p:sp>
        <p:nvSpPr>
          <p:cNvPr id="6" name="Shape 4"/>
          <p:cNvSpPr/>
          <p:nvPr/>
        </p:nvSpPr>
        <p:spPr>
          <a:xfrm>
            <a:off x="557784" y="1310492"/>
            <a:ext cx="3794760" cy="1173554"/>
          </a:xfrm>
          <a:prstGeom prst="roundRect">
            <a:avLst>
              <a:gd name="adj" fmla="val 5454"/>
            </a:avLst>
          </a:prstGeom>
          <a:solidFill>
            <a:srgbClr val="12263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9224" y="1337924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7ED9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trả về: một đám điểm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7ED95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光達給的：一堆點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644091" y="1657099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9" name="Shape 7"/>
          <p:cNvSpPr/>
          <p:nvPr/>
        </p:nvSpPr>
        <p:spPr>
          <a:xfrm>
            <a:off x="1577797" y="1696875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0" name="Shape 8"/>
          <p:cNvSpPr/>
          <p:nvPr/>
        </p:nvSpPr>
        <p:spPr>
          <a:xfrm>
            <a:off x="1710385" y="1696875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1" name="Shape 9"/>
          <p:cNvSpPr/>
          <p:nvPr/>
        </p:nvSpPr>
        <p:spPr>
          <a:xfrm>
            <a:off x="1551280" y="1763169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2" name="Shape 10"/>
          <p:cNvSpPr/>
          <p:nvPr/>
        </p:nvSpPr>
        <p:spPr>
          <a:xfrm>
            <a:off x="1736903" y="1763169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3" name="Shape 11"/>
          <p:cNvSpPr/>
          <p:nvPr/>
        </p:nvSpPr>
        <p:spPr>
          <a:xfrm>
            <a:off x="1644091" y="1763169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4" name="Shape 12"/>
          <p:cNvSpPr/>
          <p:nvPr/>
        </p:nvSpPr>
        <p:spPr>
          <a:xfrm>
            <a:off x="1538021" y="1869239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5" name="Shape 13"/>
          <p:cNvSpPr/>
          <p:nvPr/>
        </p:nvSpPr>
        <p:spPr>
          <a:xfrm>
            <a:off x="1644091" y="1869239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6" name="Shape 14"/>
          <p:cNvSpPr/>
          <p:nvPr/>
        </p:nvSpPr>
        <p:spPr>
          <a:xfrm>
            <a:off x="1750162" y="1869239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7" name="Shape 15"/>
          <p:cNvSpPr/>
          <p:nvPr/>
        </p:nvSpPr>
        <p:spPr>
          <a:xfrm>
            <a:off x="1524762" y="1975310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8" name="Shape 16"/>
          <p:cNvSpPr/>
          <p:nvPr/>
        </p:nvSpPr>
        <p:spPr>
          <a:xfrm>
            <a:off x="1644091" y="1975310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19" name="Shape 17"/>
          <p:cNvSpPr/>
          <p:nvPr/>
        </p:nvSpPr>
        <p:spPr>
          <a:xfrm>
            <a:off x="1763420" y="1975310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0" name="Shape 18"/>
          <p:cNvSpPr/>
          <p:nvPr/>
        </p:nvSpPr>
        <p:spPr>
          <a:xfrm>
            <a:off x="1538021" y="2081380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1" name="Shape 19"/>
          <p:cNvSpPr/>
          <p:nvPr/>
        </p:nvSpPr>
        <p:spPr>
          <a:xfrm>
            <a:off x="1644091" y="2081380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2" name="Shape 20"/>
          <p:cNvSpPr/>
          <p:nvPr/>
        </p:nvSpPr>
        <p:spPr>
          <a:xfrm>
            <a:off x="1750162" y="2081380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3" name="Shape 21"/>
          <p:cNvSpPr/>
          <p:nvPr/>
        </p:nvSpPr>
        <p:spPr>
          <a:xfrm>
            <a:off x="1564538" y="2187451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4" name="Shape 22"/>
          <p:cNvSpPr/>
          <p:nvPr/>
        </p:nvSpPr>
        <p:spPr>
          <a:xfrm>
            <a:off x="1723644" y="2187451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5" name="Shape 23"/>
          <p:cNvSpPr/>
          <p:nvPr/>
        </p:nvSpPr>
        <p:spPr>
          <a:xfrm>
            <a:off x="1577797" y="2293521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6" name="Shape 24"/>
          <p:cNvSpPr/>
          <p:nvPr/>
        </p:nvSpPr>
        <p:spPr>
          <a:xfrm>
            <a:off x="1710385" y="2293521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7" name="Shape 25"/>
          <p:cNvSpPr/>
          <p:nvPr/>
        </p:nvSpPr>
        <p:spPr>
          <a:xfrm>
            <a:off x="1577797" y="2399591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8" name="Shape 26"/>
          <p:cNvSpPr/>
          <p:nvPr/>
        </p:nvSpPr>
        <p:spPr>
          <a:xfrm>
            <a:off x="1710385" y="2399591"/>
            <a:ext cx="60350" cy="60350"/>
          </a:xfrm>
          <a:prstGeom prst="ellipse">
            <a:avLst/>
          </a:prstGeom>
          <a:solidFill>
            <a:srgbClr val="7ED957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2455164" y="1810718"/>
            <a:ext cx="1796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hình dáng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看得出形狀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7784" y="2538910"/>
            <a:ext cx="3794760" cy="1173554"/>
          </a:xfrm>
          <a:prstGeom prst="roundRect">
            <a:avLst>
              <a:gd name="adj" fmla="val 5454"/>
            </a:avLst>
          </a:prstGeom>
          <a:solidFill>
            <a:srgbClr val="12263A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9224" y="256634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Radar trả về: một cục phản xạ + tốc độ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雷達給的：一團回波，加上速度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262786" y="2967812"/>
            <a:ext cx="822960" cy="691286"/>
          </a:xfrm>
          <a:prstGeom prst="ellipse">
            <a:avLst/>
          </a:prstGeom>
          <a:solidFill>
            <a:srgbClr val="FFB020">
              <a:alpha val="38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1390802" y="3075346"/>
            <a:ext cx="566928" cy="476220"/>
          </a:xfrm>
          <a:prstGeom prst="ellipse">
            <a:avLst/>
          </a:prstGeom>
          <a:solidFill>
            <a:srgbClr val="FFB020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1509674" y="3175198"/>
            <a:ext cx="329184" cy="276515"/>
          </a:xfrm>
          <a:prstGeom prst="ellipse">
            <a:avLst/>
          </a:prstGeom>
          <a:solidFill>
            <a:srgbClr val="FFB020">
              <a:alpha val="8200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2455164" y="3039136"/>
            <a:ext cx="1796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40,0 m　−5,2 m/s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539496" y="3310128"/>
            <a:ext cx="3831336" cy="475488"/>
          </a:xfrm>
          <a:prstGeom prst="rect">
            <a:avLst/>
          </a:prstGeom>
          <a:solidFill>
            <a:srgbClr val="0B1F3A">
              <a:alpha val="78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vs RADAR Explained: The Battle Behind Self-Driving Cars</a:t>
            </a:r>
            <a:endParaRPr lang="en-US" sz="1050" dirty="0"/>
          </a:p>
        </p:txBody>
      </p:sp>
      <p:sp>
        <p:nvSpPr>
          <p:cNvPr id="41" name="Text 39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Decoded　·　2:33</a:t>
            </a:r>
            <a:endParaRPr lang="en-US" sz="900" dirty="0"/>
          </a:p>
        </p:txBody>
      </p:sp>
      <p:sp>
        <p:nvSpPr>
          <p:cNvPr id="42" name="Text 40">
            <a:hlinkClick r:id="rId1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https://www.youtube.com/watch?v=AfwYR0OpM2M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5047488" y="2279756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0:10–0:53　LiDAR: đo thế nào, mạnh ở đâu, sợ cái gì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0:10–0:53　光達：怎麼量、強在哪、怕什麼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919472" y="2666656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5047488" y="2630080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0:53–1:28　Radar: không sợ thời tiết, đo được tốc độ, nhưng thiếu chi tiết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0:53–1:28　雷達：不怕天氣、量得到速度，但細節不夠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919472" y="3159311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047488" y="3122735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hỏi: video này hoàn toàn không nhắc tới cảm biến nào?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問題：這支影片從頭到尾沒提到哪一種感測器？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phải chọn một trong hai: một loại nhìn chi tiết, một loại không sợ thời tiết.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不是二選一：一個看得細，一個不怕天氣。</a:t>
            </a:r>
            <a:endParaRPr lang="en-US" sz="1150" dirty="0"/>
          </a:p>
        </p:txBody>
      </p:sp>
      <p:pic>
        <p:nvPicPr>
          <p:cNvPr id="52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19</a:t>
            </a:r>
            <a:endParaRPr lang="en-US" sz="900" dirty="0"/>
          </a:p>
        </p:txBody>
      </p:sp>
      <p:sp>
        <p:nvSpPr>
          <p:cNvPr id="54" name="Text 50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　Siêu âm · 超音波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481328" cy="19202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0174" y="1531803"/>
            <a:ext cx="986820" cy="578267"/>
          </a:xfrm>
          <a:prstGeom prst="roundRect">
            <a:avLst>
              <a:gd name="adj" fmla="val 9488"/>
            </a:avLst>
          </a:prstGeom>
          <a:solidFill>
            <a:srgbClr val="7A3FB5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6143" y="1293693"/>
            <a:ext cx="934883" cy="204094"/>
          </a:xfrm>
          <a:prstGeom prst="roundRect">
            <a:avLst>
              <a:gd name="adj" fmla="val 41667"/>
            </a:avLst>
          </a:prstGeom>
          <a:solidFill>
            <a:srgbClr val="8FA3B5"/>
          </a:solidFill>
          <a:ln/>
        </p:spPr>
      </p:sp>
      <p:sp>
        <p:nvSpPr>
          <p:cNvPr id="6" name="Shape 4"/>
          <p:cNvSpPr/>
          <p:nvPr/>
        </p:nvSpPr>
        <p:spPr>
          <a:xfrm>
            <a:off x="875864" y="1364577"/>
            <a:ext cx="62326" cy="62326"/>
          </a:xfrm>
          <a:prstGeom prst="ellipse">
            <a:avLst/>
          </a:prstGeom>
          <a:solidFill>
            <a:srgbClr val="F4F7FA"/>
          </a:solidFill>
          <a:ln/>
        </p:spPr>
      </p:sp>
      <p:sp>
        <p:nvSpPr>
          <p:cNvPr id="7" name="Shape 5"/>
          <p:cNvSpPr/>
          <p:nvPr/>
        </p:nvSpPr>
        <p:spPr>
          <a:xfrm>
            <a:off x="1100235" y="1364577"/>
            <a:ext cx="62326" cy="62326"/>
          </a:xfrm>
          <a:prstGeom prst="ellipse">
            <a:avLst/>
          </a:prstGeom>
          <a:solidFill>
            <a:srgbClr val="F4F7FA"/>
          </a:solidFill>
          <a:ln/>
        </p:spPr>
      </p:sp>
      <p:sp>
        <p:nvSpPr>
          <p:cNvPr id="8" name="Shape 6"/>
          <p:cNvSpPr/>
          <p:nvPr/>
        </p:nvSpPr>
        <p:spPr>
          <a:xfrm>
            <a:off x="1324607" y="1364577"/>
            <a:ext cx="62326" cy="62326"/>
          </a:xfrm>
          <a:prstGeom prst="ellipse">
            <a:avLst/>
          </a:prstGeom>
          <a:solidFill>
            <a:srgbClr val="F4F7FA"/>
          </a:solidFill>
          <a:ln/>
        </p:spPr>
      </p:sp>
      <p:sp>
        <p:nvSpPr>
          <p:cNvPr id="9" name="Shape 7"/>
          <p:cNvSpPr/>
          <p:nvPr/>
        </p:nvSpPr>
        <p:spPr>
          <a:xfrm>
            <a:off x="1548979" y="1364577"/>
            <a:ext cx="62326" cy="62326"/>
          </a:xfrm>
          <a:prstGeom prst="ellipse">
            <a:avLst/>
          </a:prstGeom>
          <a:solidFill>
            <a:srgbClr val="F4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1355770" y="1939991"/>
            <a:ext cx="64922" cy="272125"/>
          </a:xfrm>
          <a:prstGeom prst="roundRect">
            <a:avLst>
              <a:gd name="adj" fmla="val 30000"/>
            </a:avLst>
          </a:prstGeom>
          <a:solidFill>
            <a:srgbClr val="3A4650"/>
          </a:solidFill>
          <a:ln/>
        </p:spPr>
      </p:sp>
      <p:sp>
        <p:nvSpPr>
          <p:cNvPr id="11" name="Shape 9"/>
          <p:cNvSpPr/>
          <p:nvPr/>
        </p:nvSpPr>
        <p:spPr>
          <a:xfrm>
            <a:off x="659282" y="1531803"/>
            <a:ext cx="0" cy="578267"/>
          </a:xfrm>
          <a:prstGeom prst="line">
            <a:avLst/>
          </a:prstGeom>
          <a:noFill/>
          <a:ln w="12700">
            <a:solidFill>
              <a:srgbClr val="6B7A88"/>
            </a:solidFill>
            <a:prstDash val="solid"/>
            <a:headEnd type="triangle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594360" y="2212116"/>
            <a:ext cx="1298448" cy="204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7A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vài mét  幾公尺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2295144" y="786384"/>
            <a:ext cx="6345936" cy="52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tiếng “bíp” ngoài ngưỡng nghe, đo tiếng vọng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發出人聽不到的「嗶」，量回音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295144" y="1400190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95144" y="142305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lý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原理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209544" y="1400190"/>
            <a:ext cx="5431536" cy="807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Sóng âm khoảng 40–50 kHz, tai người không nghe được. Âm thanh đi khoảng 340 m mỗi giây — chậm hơn ánh sáng cả triệu lần, nên mạch điện rẻ hơn nhiều.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約 40–50 kHz 的聲波，人耳聽不到。聲音每秒約 340 公尺——比光慢了上百萬倍，所以電路便宜得多。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95144" y="2272163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07F7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95144" y="2295023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tính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特性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209544" y="2272163"/>
            <a:ext cx="5431536" cy="4451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Rẻ nhất, không sợ tối. Nhưng chỉ vài mét, và bị gió, nhiệt độ ảnh hưởng.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最便宜、不怕黑。但只有幾公尺，而且會受風和溫度影響。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95144" y="2781302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FFB0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295144" y="2804162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dụng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</a:t>
            </a:r>
            <a:endParaRPr lang="en-US" sz="900" dirty="0"/>
          </a:p>
        </p:txBody>
      </p:sp>
      <p:sp>
        <p:nvSpPr>
          <p:cNvPr id="22" name="Text 20"/>
          <p:cNvSpPr txBox="1"/>
          <p:nvPr/>
        </p:nvSpPr>
        <p:spPr>
          <a:xfrm>
            <a:off x="3209544" y="2781302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Hỗ trợ đỗ xe, vùng mù quanh thân xe, tự động đỗ. Chính là hàng chấm tròn trên cản xe.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停車輔助、車身周圍盲區、自動停車。就是保險桿上那一排小圓點。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Nghe có vẻ yếu, nhưng ở khoảng cách sát xe thì nó là loại duy nhất còn thấy.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聽起來很弱，但在貼近車身的距離，只有它還看得到。</a:t>
            </a:r>
            <a:endParaRPr lang="en-US" sz="1200" dirty="0"/>
          </a:p>
        </p:txBody>
      </p:sp>
      <p:pic>
        <p:nvPicPr>
          <p:cNvPr id="26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19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6　Siêu âm · 超音波　▶ Video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Chính là những chấm tròn trên cản xe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就是保險桿上那幾個小圓點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0B1F3A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三週(9-24)/src/img/w3_us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6840" y="1301348"/>
            <a:ext cx="3436647" cy="22922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3584448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Shixart1985 · CC BY 2.0 · Wikimedia Commons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do parking sensors work? Parking tech &amp; radar explained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CarExpert　·　</a:t>
            </a:r>
            <a:endParaRPr lang="en-US" sz="900" dirty="0"/>
          </a:p>
        </p:txBody>
      </p:sp>
      <p:sp>
        <p:nvSpPr>
          <p:cNvPr id="12" name="Text 9">
            <a:hlinkClick r:id="rId2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https://www.youtube.com/watch?v=uDpaB_1kIdA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2279756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Đếm xem một xe có mấy cảm biến ở cản sau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數數看一台車後保險桿有幾顆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19472" y="2666656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47488" y="2630080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Bíp càng nhanh = càng gần. Đó là khoảng cách dịch ra âm thanh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嗶得愈快＝愈近。那是把距離翻譯成聲音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19472" y="3159311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47488" y="3122735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chỉ dùng khi đỗ xe, không dùng khi đang chạy?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為什麼只在停車時用，開車時不用？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trái: cận cảnh một cảm biến đỗ xe trên cản.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左邊照片：保險桿上一顆停車感測器的特寫。</a:t>
            </a:r>
            <a:endParaRPr lang="en-US" sz="1150" dirty="0"/>
          </a:p>
        </p:txBody>
      </p:sp>
      <p:pic>
        <p:nvPicPr>
          <p:cNvPr id="22" name="Image 1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19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　GNSS · 衛星定位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481328" cy="19202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25078" y="1442923"/>
            <a:ext cx="237012" cy="217261"/>
          </a:xfrm>
          <a:prstGeom prst="roundRect">
            <a:avLst>
              <a:gd name="adj" fmla="val 84175"/>
            </a:avLst>
          </a:prstGeom>
          <a:solidFill>
            <a:srgbClr val="9AA9B8"/>
          </a:solidFill>
          <a:ln/>
        </p:spPr>
      </p:sp>
      <p:sp>
        <p:nvSpPr>
          <p:cNvPr id="5" name="Shape 3"/>
          <p:cNvSpPr/>
          <p:nvPr/>
        </p:nvSpPr>
        <p:spPr>
          <a:xfrm>
            <a:off x="868314" y="1472550"/>
            <a:ext cx="217261" cy="158008"/>
          </a:xfrm>
          <a:prstGeom prst="rect">
            <a:avLst/>
          </a:prstGeom>
          <a:solidFill>
            <a:srgbClr val="9AA9B8">
              <a:alpha val="6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401592" y="1472550"/>
            <a:ext cx="217261" cy="158008"/>
          </a:xfrm>
          <a:prstGeom prst="rect">
            <a:avLst/>
          </a:prstGeom>
          <a:solidFill>
            <a:srgbClr val="9AA9B8">
              <a:alpha val="6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 rot="5400000">
            <a:off x="1105327" y="1739189"/>
            <a:ext cx="276515" cy="158008"/>
          </a:xfrm>
          <a:prstGeom prst="chevron">
            <a:avLst/>
          </a:prstGeom>
          <a:ln w="31750">
            <a:solidFill>
              <a:srgbClr val="9AA9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5400000">
            <a:off x="1046074" y="1897197"/>
            <a:ext cx="395021" cy="177759"/>
          </a:xfrm>
          <a:prstGeom prst="chevron">
            <a:avLst/>
          </a:prstGeom>
          <a:ln w="31750">
            <a:solidFill>
              <a:srgbClr val="9AA9B8">
                <a:alpha val="5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74455" y="2153961"/>
            <a:ext cx="138257" cy="138257"/>
          </a:xfrm>
          <a:prstGeom prst="ellipse">
            <a:avLst/>
          </a:prstGeom>
          <a:solidFill>
            <a:srgbClr val="9AA9B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95144" y="786384"/>
            <a:ext cx="6345936" cy="787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Nghe tín hiệu từ nhiều vệ tinh, tính ngược ra mình đang ở đâu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接收好幾顆衛星的訊號，反推自己在哪裡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95144" y="1665299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95144" y="1688159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lý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原理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209544" y="1665299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vệ tinh phát ra thời điểm gửi. So độ trễ của ít nhất bốn vệ tinh là tính được vị trí.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每顆衛星發出「我幾點幾分發的」。比對至少四顆的時間差就算得出位置。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95144" y="2364494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07F7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95144" y="2387354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tính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特性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209544" y="2364494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 vị trí tuyệt đối trên toàn cầu. Nhưng sai số vài mét, cập nhật chậm, và trong hầm hay giữa nhà cao tầng thì mất tín hiệu.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給的是全球通用的絕對位置。但誤差幾公尺、更新慢，隧道和高樓之間會失效。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95144" y="3063689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FFB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95144" y="3086549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dụng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209544" y="3063689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Lập lộ trình, biết mình đang trên con đường nào. Phải kết hợp IMU và bản đồ độ chính xác cao mới đủ dùng.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路線規劃、知道自己在哪一條路上。要配合慣性感測器與高精地圖才夠用。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Nó là loại duy nhất không nhìn ra ngoài. Phía trước có gì — nó hoàn toàn không biết.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它是唯一不看外面的一種。前面有什麼東西，它完全不知道。</a:t>
            </a:r>
            <a:endParaRPr lang="en-US" sz="1200" dirty="0"/>
          </a:p>
        </p:txBody>
      </p:sp>
      <p:pic>
        <p:nvPicPr>
          <p:cNvPr id="23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19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6　GNSS · 衛星定位　▶ Video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cần bốn vệ tinh: bốn mặt cầu cắt nhau tại một điểm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為什麼要四顆衛星：四個球面交在一個點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0B1F3A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三週(9-24)/src/img/w3_gns_ca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5981" y="1301348"/>
            <a:ext cx="3438366" cy="22922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3584448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do giảng viên cung cấp · 授課教師提供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Everyday Einstein: Demonstrating GPS Trilateration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Perimeter Institute　·　</a:t>
            </a:r>
            <a:endParaRPr lang="en-US" sz="900" dirty="0"/>
          </a:p>
        </p:txBody>
      </p:sp>
      <p:sp>
        <p:nvSpPr>
          <p:cNvPr id="12" name="Text 9">
            <a:hlinkClick r:id="rId2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https://www.youtube.com/watch?v=e80AzFW9Q0s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2279756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vệ tinh: chỉ biết mình nằm trên một mặt cầu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一顆衛星：只知道自己在一個球面上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19472" y="2666656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47488" y="2630080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 vệ tinh: còn hai điểm. Bốn: ra một điểm và sửa luôn đồng hồ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三顆：剩兩個點。四顆：解出一個點，還順便修正時鐘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19472" y="3159311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47488" y="3122735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Bên trái: ăng-ten GPS dán dưới kính lái — taxi, xe tải đều có một cái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左邊那顆：黏在擋風玻璃下的 GPS 天線，計程車和貨車上都有一個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đầu đến cuối nó chỉ tính xem MÌNH đang ở đâu, không hề nhìn phía trước.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它從頭到尾只在算「自己」在哪裡，完全沒有看前面有什麼。</a:t>
            </a:r>
            <a:endParaRPr lang="en-US" sz="1150" dirty="0"/>
          </a:p>
        </p:txBody>
      </p:sp>
      <p:pic>
        <p:nvPicPr>
          <p:cNvPr id="22" name="Image 1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19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　Ảnh nhiệt · 熱像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502920" y="877824"/>
            <a:ext cx="1481328" cy="1920240"/>
          </a:xfrm>
          <a:prstGeom prst="roundRect">
            <a:avLst>
              <a:gd name="adj" fmla="val 7407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44829" y="1363919"/>
            <a:ext cx="197510" cy="197510"/>
          </a:xfrm>
          <a:prstGeom prst="ellipse">
            <a:avLst/>
          </a:prstGeom>
          <a:solidFill>
            <a:srgbClr val="FF7A59"/>
          </a:solidFill>
          <a:ln/>
        </p:spPr>
      </p:sp>
      <p:sp>
        <p:nvSpPr>
          <p:cNvPr id="5" name="Shape 3"/>
          <p:cNvSpPr/>
          <p:nvPr/>
        </p:nvSpPr>
        <p:spPr>
          <a:xfrm>
            <a:off x="1085576" y="1581180"/>
            <a:ext cx="316017" cy="355519"/>
          </a:xfrm>
          <a:prstGeom prst="roundRect">
            <a:avLst>
              <a:gd name="adj" fmla="val 81018"/>
            </a:avLst>
          </a:prstGeom>
          <a:solidFill>
            <a:srgbClr val="FF7A59"/>
          </a:solidFill>
          <a:ln/>
        </p:spPr>
      </p:sp>
      <p:sp>
        <p:nvSpPr>
          <p:cNvPr id="6" name="Shape 4"/>
          <p:cNvSpPr/>
          <p:nvPr/>
        </p:nvSpPr>
        <p:spPr>
          <a:xfrm rot="960000">
            <a:off x="1031260" y="1610807"/>
            <a:ext cx="79004" cy="256764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7" name="Shape 5"/>
          <p:cNvSpPr/>
          <p:nvPr/>
        </p:nvSpPr>
        <p:spPr>
          <a:xfrm rot="-960000">
            <a:off x="1376904" y="1610807"/>
            <a:ext cx="79004" cy="256764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8" name="Shape 6"/>
          <p:cNvSpPr/>
          <p:nvPr/>
        </p:nvSpPr>
        <p:spPr>
          <a:xfrm rot="300000">
            <a:off x="1139891" y="1887322"/>
            <a:ext cx="88880" cy="355519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9" name="Shape 7"/>
          <p:cNvSpPr/>
          <p:nvPr/>
        </p:nvSpPr>
        <p:spPr>
          <a:xfrm rot="-300000">
            <a:off x="1258397" y="1887322"/>
            <a:ext cx="88880" cy="355519"/>
          </a:xfrm>
          <a:prstGeom prst="rect">
            <a:avLst/>
          </a:prstGeom>
          <a:solidFill>
            <a:srgbClr val="FF7A5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295144" y="786384"/>
            <a:ext cx="6345936" cy="522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Không nhìn ánh sáng — nhìn nhiệt do chính vật phát ra</a:t>
            </a:r>
            <a:endParaRPr lang="en-US" sz="18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它不看光——它看物體自己放出來的熱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295144" y="1400190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B1F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2295144" y="1423050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Nguyên lý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原理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3209544" y="1400190"/>
            <a:ext cx="5431536" cy="8079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Mọi vật trên 0 K đều phát ra tia hồng ngoại. Cảm biến bắt bước sóng dài 8–14 µm rồi dựng thành bản đồ nhiệt độ. Không cần bất kỳ nguồn sáng nào.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任何高於絕對零度的東西都會放出紅外線。感測器接收 8–14 微米的長波，轉成一張溫度圖。完全不需要光源。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295144" y="2272163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007F7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295144" y="2295023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Đặc tính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特性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209544" y="2272163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đêm đen, ngược sáng hay khói đều thấy được người và động vật. Nhưng độ phân giải thấp, giá cao, và không đọc được màu hay chữ.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全黑、逆光、煙霧中都看得到人和動物。但解析度低、貴，而且讀不出顏色和文字。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295144" y="2971358"/>
            <a:ext cx="786384" cy="283464"/>
          </a:xfrm>
          <a:prstGeom prst="roundRect">
            <a:avLst>
              <a:gd name="adj" fmla="val 19355"/>
            </a:avLst>
          </a:prstGeom>
          <a:solidFill>
            <a:srgbClr val="FFB02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295144" y="2994218"/>
            <a:ext cx="7863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900" b="1" dirty="0">
                <a:solidFill>
                  <a:srgbClr val="3A2A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dụng</a:t>
            </a:r>
            <a:endParaRPr lang="en-US" sz="900" dirty="0"/>
          </a:p>
          <a:p>
            <a:pPr algn="ctr" indent="0" marL="0">
              <a:lnSpc>
                <a:spcPct val="102000"/>
              </a:lnSpc>
              <a:buNone/>
            </a:pPr>
            <a:r>
              <a:rPr lang="en-US" sz="850" dirty="0">
                <a:solidFill>
                  <a:srgbClr val="3A2A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用途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3209544" y="2971358"/>
            <a:ext cx="5431536" cy="635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6000"/>
              </a:lnSpc>
              <a:buNone/>
            </a:pPr>
            <a:r>
              <a:rPr lang="en-US" sz="110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hiện người đi bộ ban đêm, phát hiện động vật. Hiện chủ yếu là hỗ trợ nhìn đêm trên xe cao cấp.</a:t>
            </a:r>
            <a:endParaRPr lang="en-US" sz="11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0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夜間行人偵測、動物偵測。目前多用在高階車款的夜視輔助。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3931920"/>
            <a:ext cx="8138160" cy="566928"/>
          </a:xfrm>
          <a:prstGeom prst="roundRect">
            <a:avLst>
              <a:gd name="adj" fmla="val 1451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5800" y="3995928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khoảng 37°C. Đêm xuống mặt đường nguội đi, chênh lệch càng lớn — nên nó còn rõ hơn.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人大約 37 度。入夜後路面涼了，溫差更大——所以它反而更清楚。</a:t>
            </a:r>
            <a:endParaRPr lang="en-US" sz="1200" dirty="0"/>
          </a:p>
        </p:txBody>
      </p:sp>
      <p:pic>
        <p:nvPicPr>
          <p:cNvPr id="23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19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36576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6　Ảnh nhiệt · 熱像　▶ Video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02920" y="676656"/>
            <a:ext cx="8138160" cy="5606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7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đêm tối, người vẫn sáng rõ</a:t>
            </a:r>
            <a:endParaRPr lang="en-US" sz="17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全黑的夜裡，人還是清清楚楚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502920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0B1F3A"/>
          </a:solidFill>
          <a:ln w="12700">
            <a:solidFill>
              <a:srgbClr val="DBE3EA"/>
            </a:solidFill>
            <a:prstDash val="solid"/>
          </a:ln>
        </p:spPr>
      </p:sp>
      <p:pic>
        <p:nvPicPr>
          <p:cNvPr id="5" name="Image 0" descr="/Users/tsengchenghsun/Class/carClass/Claude outputs/第三週(9-24)/src/img/w3_th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072" y="1301348"/>
            <a:ext cx="2940185" cy="229224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3584448"/>
            <a:ext cx="3721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Emilian Robert Vicol · CC0 · Wikimedia Commons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4736592" y="1255628"/>
            <a:ext cx="3904488" cy="2566564"/>
          </a:xfrm>
          <a:prstGeom prst="roundRect">
            <a:avLst>
              <a:gd name="adj" fmla="val 3563"/>
            </a:avLst>
          </a:prstGeom>
          <a:solidFill>
            <a:srgbClr val="F4F7FA"/>
          </a:solidFill>
          <a:ln w="12700">
            <a:solidFill>
              <a:srgbClr val="DBE3E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919472" y="1420220"/>
            <a:ext cx="347472" cy="347472"/>
          </a:xfrm>
          <a:prstGeom prst="ellipse">
            <a:avLst/>
          </a:prstGeom>
          <a:solidFill>
            <a:srgbClr val="D9463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919472" y="1465940"/>
            <a:ext cx="347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5340096" y="1401932"/>
            <a:ext cx="311810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Night Vision AI Thermal Infrared Camera for Cars (Deer &amp; Pedestrian Detection)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4919472" y="185913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Shiva Sapkota　·　</a:t>
            </a:r>
            <a:endParaRPr lang="en-US" sz="900" dirty="0"/>
          </a:p>
        </p:txBody>
      </p:sp>
      <p:sp>
        <p:nvSpPr>
          <p:cNvPr id="12" name="Text 9">
            <a:hlinkClick r:id="rId2" tooltip=""/>
          </p:cNvPr>
          <p:cNvSpPr txBox="1"/>
          <p:nvPr/>
        </p:nvSpPr>
        <p:spPr>
          <a:xfrm>
            <a:off x="4919472" y="2042012"/>
            <a:ext cx="3538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u="sng" dirty="0">
                <a:solidFill>
                  <a:srgbClr val="1F6FB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https://www.youtube.com/watch?v=_KrdROQ067c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919472" y="231633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047488" y="2279756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Ảnh trái: chỗ mặc áo dày thì tối hơn — vì quần áo cách nhiệt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左圖：衣服厚的地方比較暗——因為衣服會隔熱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919472" y="2808987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5047488" y="2772411"/>
            <a:ext cx="3429000" cy="456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Trong video: người và động vật rất nổi, nhưng biển báo thì không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影片裡：人和動物很亮，但標誌完全看不到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919472" y="3301642"/>
            <a:ext cx="36576" cy="23774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5047488" y="3265066"/>
            <a:ext cx="3429000" cy="3137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950" dirty="0">
                <a:solidFill>
                  <a:srgbClr val="1A27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với camera thường trong cùng cảnh đêm</a:t>
            </a:r>
            <a:endParaRPr lang="en-US" sz="9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跟同一個夜間場景的一般相機比一比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02920" y="3931920"/>
            <a:ext cx="8138160" cy="548640"/>
          </a:xfrm>
          <a:prstGeom prst="roundRect">
            <a:avLst>
              <a:gd name="adj" fmla="val 15000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995928"/>
            <a:ext cx="7772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15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Đây là lý do một số xe cao cấp lắp thêm ảnh nhiệt cho ban đêm.</a:t>
            </a:r>
            <a:endParaRPr lang="en-US" sz="11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05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這就是某些高階車款會多裝一顆熱像做夜視的理由。</a:t>
            </a:r>
            <a:endParaRPr lang="en-US" sz="1150" dirty="0"/>
          </a:p>
        </p:txBody>
      </p:sp>
      <p:pic>
        <p:nvPicPr>
          <p:cNvPr id="22" name="Image 1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19</a:t>
            </a:r>
            <a:endParaRPr lang="en-US" sz="900" dirty="0"/>
          </a:p>
        </p:txBody>
      </p:sp>
      <p:sp>
        <p:nvSpPr>
          <p:cNvPr id="24" name="Text 19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Lượt 1 · 第一輪上台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786384"/>
            <a:ext cx="80467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Mở phòng thí nghiệm. Kéo người đi bộ ra 30 m. Đọc to cả sáu thẻ.</a:t>
            </a:r>
            <a:endParaRPr lang="en-US" sz="2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打開感測器實驗室。把行人拖到 30 公尺。把六張卡大聲唸出來。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02920" y="1880384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7" name="Shape 5"/>
          <p:cNvSpPr/>
          <p:nvPr/>
        </p:nvSpPr>
        <p:spPr>
          <a:xfrm>
            <a:off x="667512" y="2026688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67512" y="20541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61288" y="1926104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Xe không chạy. Chỉ cần kéo vật thể, sáu thẻ tự đổi.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車不會動。只要拖物體，六張卡自己會變。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2593616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1" name="Shape 9"/>
          <p:cNvSpPr/>
          <p:nvPr/>
        </p:nvSpPr>
        <p:spPr>
          <a:xfrm>
            <a:off x="667512" y="2739920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" y="276735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61288" y="2639336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Thẻ nào ghi “vật cản chưa phân loại”? Có mấy thẻ như vậy?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哪幾張寫「未分類障礙物」？有幾張？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3306848"/>
            <a:ext cx="8138160" cy="621792"/>
          </a:xfrm>
          <a:prstGeom prst="roundRect">
            <a:avLst>
              <a:gd name="adj" fmla="val 11765"/>
            </a:avLst>
          </a:prstGeom>
          <a:solidFill>
            <a:srgbClr val="13314F"/>
          </a:solidFill>
          <a:ln/>
        </p:spPr>
      </p:sp>
      <p:sp>
        <p:nvSpPr>
          <p:cNvPr id="15" name="Shape 13"/>
          <p:cNvSpPr/>
          <p:nvPr/>
        </p:nvSpPr>
        <p:spPr>
          <a:xfrm>
            <a:off x="667512" y="3453152"/>
            <a:ext cx="329184" cy="32918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67512" y="348058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" y="3352568"/>
            <a:ext cx="72969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 mấy thẻ biết đó là NGƯỜI? Có mấy thẻ đo được KHOẢNG CÁCH?</a:t>
            </a:r>
            <a:endParaRPr lang="en-US" sz="125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5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有幾張知道那是「人」？有幾張量得到「距離」？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4056656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Đối chiếu với sáu trang vừa giảng: kết quả có đúng như nguyên lý không?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FFB02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跟剛剛那六頁對照：結果跟原理講的一樣嗎？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19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được khoảng cách không có nghĩa là biết đó là cái gì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量得到距離，不等於知道那是什麼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02920" y="131673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0B1F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67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và radar đều trả lời rất chắc chắn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00A89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光達和雷達都回答得非常肯定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847088"/>
            <a:ext cx="323697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30.0 m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67512" y="2450592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150" b="1" dirty="0">
                <a:solidFill>
                  <a:srgbClr val="AFC3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Vật cản chưa phân loại</a:t>
            </a:r>
            <a:endParaRPr lang="en-US" sz="115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1050" dirty="0">
                <a:solidFill>
                  <a:srgbClr val="8AA0B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未分類障礙物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7E9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Khoảng cách này chính xác tới từng centimet.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7E93A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這個距離準到公分，完全沒有問題。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187952" y="2295144"/>
            <a:ext cx="768096" cy="292608"/>
          </a:xfrm>
          <a:prstGeom prst="rightArrow">
            <a:avLst/>
          </a:prstGeom>
          <a:solidFill>
            <a:srgbClr val="C4CFD9"/>
          </a:solidFill>
          <a:ln/>
        </p:spPr>
      </p:sp>
      <p:sp>
        <p:nvSpPr>
          <p:cNvPr id="9" name="Shape 7"/>
          <p:cNvSpPr/>
          <p:nvPr/>
        </p:nvSpPr>
        <p:spPr>
          <a:xfrm flipH="1">
            <a:off x="4370832" y="2240280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70832" y="2240280"/>
            <a:ext cx="402336" cy="402336"/>
          </a:xfrm>
          <a:prstGeom prst="line">
            <a:avLst/>
          </a:prstGeom>
          <a:noFill/>
          <a:ln w="44450">
            <a:solidFill>
              <a:srgbClr val="D9463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316736"/>
            <a:ext cx="3566160" cy="2249424"/>
          </a:xfrm>
          <a:prstGeom prst="roundRect">
            <a:avLst>
              <a:gd name="adj" fmla="val 4065"/>
            </a:avLst>
          </a:prstGeom>
          <a:solidFill>
            <a:srgbClr val="FDECEC"/>
          </a:solidFill>
          <a:ln w="15875">
            <a:solidFill>
              <a:srgbClr val="D9463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239512" y="1444752"/>
            <a:ext cx="32369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Nhưng điều cần biết là…</a:t>
            </a:r>
            <a:endParaRPr lang="en-US" sz="105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D9463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但真正要知道的是……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21147" y="2169323"/>
            <a:ext cx="113386" cy="113386"/>
          </a:xfrm>
          <a:prstGeom prst="ellipse">
            <a:avLst/>
          </a:prstGeom>
          <a:solidFill>
            <a:srgbClr val="9AA6B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7132" y="2294047"/>
            <a:ext cx="181417" cy="204094"/>
          </a:xfrm>
          <a:prstGeom prst="roundRect">
            <a:avLst>
              <a:gd name="adj" fmla="val 141129"/>
            </a:avLst>
          </a:prstGeom>
          <a:solidFill>
            <a:srgbClr val="9AA6B0"/>
          </a:solidFill>
          <a:ln/>
        </p:spPr>
      </p:sp>
      <p:sp>
        <p:nvSpPr>
          <p:cNvPr id="15" name="Shape 13"/>
          <p:cNvSpPr/>
          <p:nvPr/>
        </p:nvSpPr>
        <p:spPr>
          <a:xfrm rot="960000">
            <a:off x="5455950" y="2311055"/>
            <a:ext cx="45354" cy="147401"/>
          </a:xfrm>
          <a:prstGeom prst="rect">
            <a:avLst/>
          </a:prstGeom>
          <a:solidFill>
            <a:srgbClr val="9AA6B0"/>
          </a:solidFill>
          <a:ln/>
        </p:spPr>
      </p:sp>
      <p:sp>
        <p:nvSpPr>
          <p:cNvPr id="16" name="Shape 14"/>
          <p:cNvSpPr/>
          <p:nvPr/>
        </p:nvSpPr>
        <p:spPr>
          <a:xfrm rot="-960000">
            <a:off x="5654375" y="2311055"/>
            <a:ext cx="45354" cy="147401"/>
          </a:xfrm>
          <a:prstGeom prst="rect">
            <a:avLst/>
          </a:prstGeom>
          <a:solidFill>
            <a:srgbClr val="9AA6B0"/>
          </a:solidFill>
          <a:ln/>
        </p:spPr>
      </p:sp>
      <p:sp>
        <p:nvSpPr>
          <p:cNvPr id="17" name="Shape 15"/>
          <p:cNvSpPr/>
          <p:nvPr/>
        </p:nvSpPr>
        <p:spPr>
          <a:xfrm rot="300000">
            <a:off x="5518313" y="2469794"/>
            <a:ext cx="51024" cy="204094"/>
          </a:xfrm>
          <a:prstGeom prst="rect">
            <a:avLst/>
          </a:prstGeom>
          <a:solidFill>
            <a:srgbClr val="9AA6B0"/>
          </a:solidFill>
          <a:ln/>
        </p:spPr>
      </p:sp>
      <p:sp>
        <p:nvSpPr>
          <p:cNvPr id="18" name="Shape 16"/>
          <p:cNvSpPr/>
          <p:nvPr/>
        </p:nvSpPr>
        <p:spPr>
          <a:xfrm rot="-300000">
            <a:off x="5586344" y="2469794"/>
            <a:ext cx="51024" cy="204094"/>
          </a:xfrm>
          <a:prstGeom prst="rect">
            <a:avLst/>
          </a:prstGeom>
          <a:solidFill>
            <a:srgbClr val="9AA6B0"/>
          </a:solidFill>
          <a:ln/>
        </p:spPr>
      </p:sp>
      <p:sp>
        <p:nvSpPr>
          <p:cNvPr id="19" name="Shape 17"/>
          <p:cNvSpPr/>
          <p:nvPr/>
        </p:nvSpPr>
        <p:spPr>
          <a:xfrm>
            <a:off x="5916168" y="2286000"/>
            <a:ext cx="384048" cy="438912"/>
          </a:xfrm>
          <a:prstGeom prst="roundRect">
            <a:avLst>
              <a:gd name="adj" fmla="val 11905"/>
            </a:avLst>
          </a:prstGeom>
          <a:solidFill>
            <a:srgbClr val="9AA6B0"/>
          </a:solidFill>
          <a:ln/>
        </p:spPr>
      </p:sp>
      <p:sp>
        <p:nvSpPr>
          <p:cNvPr id="20" name="Shape 18"/>
          <p:cNvSpPr/>
          <p:nvPr/>
        </p:nvSpPr>
        <p:spPr>
          <a:xfrm>
            <a:off x="5870448" y="2221992"/>
            <a:ext cx="475488" cy="73152"/>
          </a:xfrm>
          <a:prstGeom prst="rect">
            <a:avLst/>
          </a:prstGeom>
          <a:solidFill>
            <a:srgbClr val="8593A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513832" y="186537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946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281928" y="1883664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Người hay thùng rác?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那是人，還是垃圾桶？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239512" y="3017520"/>
            <a:ext cx="32369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A32C2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Muốn biết đó là gì thì phải hỏi camera hoặc ảnh nhiệt.</a:t>
            </a:r>
            <a:endParaRPr lang="en-US" sz="1000" dirty="0"/>
          </a:p>
          <a:p>
            <a:pPr indent="0" marL="0">
              <a:lnSpc>
                <a:spcPct val="104000"/>
              </a:lnSpc>
              <a:buNone/>
            </a:pPr>
            <a:r>
              <a:rPr lang="en-US" sz="900" dirty="0">
                <a:solidFill>
                  <a:srgbClr val="A32C2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要知道那是什麼，只能問相機或熱像。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02920" y="3913632"/>
            <a:ext cx="8138160" cy="603504"/>
          </a:xfrm>
          <a:prstGeom prst="roundRect">
            <a:avLst>
              <a:gd name="adj" fmla="val 13636"/>
            </a:avLst>
          </a:prstGeom>
          <a:solidFill>
            <a:srgbClr val="FFF6E3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97764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4000"/>
              </a:lnSpc>
              <a:buNone/>
            </a:pPr>
            <a:r>
              <a:rPr lang="en-US" sz="1200" b="1" dirty="0">
                <a:solidFill>
                  <a:srgbClr val="7A4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Vì sao phải biết đó là gì? Vì người có thể bước ra, thùng rác thì không.</a:t>
            </a:r>
            <a:endParaRPr lang="en-US" sz="1200" dirty="0"/>
          </a:p>
          <a:p>
            <a:pPr indent="0" marL="0">
              <a:lnSpc>
                <a:spcPct val="114000"/>
              </a:lnSpc>
              <a:buNone/>
            </a:pPr>
            <a:r>
              <a:rPr lang="en-US" sz="1100" dirty="0">
                <a:solidFill>
                  <a:srgbClr val="7A4E0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為什麼要知道那是什麼？因為人會突然走出來，垃圾桶不會。</a:t>
            </a:r>
            <a:endParaRPr lang="en-US" sz="1200" dirty="0"/>
          </a:p>
        </p:txBody>
      </p:sp>
      <p:pic>
        <p:nvPicPr>
          <p:cNvPr id="27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28" name="Text 24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19</a:t>
            </a:r>
            <a:endParaRPr lang="en-US" sz="900" dirty="0"/>
          </a:p>
        </p:txBody>
      </p:sp>
      <p:sp>
        <p:nvSpPr>
          <p:cNvPr id="29" name="Text 25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81381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Điểm yếu của mỗi loại, và loại nào bù cho nó</a:t>
            </a:r>
            <a:endParaRPr lang="en-US" sz="2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350" dirty="0">
                <a:solidFill>
                  <a:srgbClr val="5F718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每一種的弱點，由哪一種來補</a:t>
            </a:r>
            <a:endParaRPr lang="en-US" sz="22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133856"/>
          <a:ext cx="813816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651760"/>
                <a:gridCol w="2743200"/>
              </a:tblGrid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 yếu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弱點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 nào bị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誰有這個弱點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Loại nào bù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CFE0EC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誰來補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biết đó là cái gì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不知道那是什麼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LiDAR, radar, siêu âm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光達、雷達、超音波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Camera（người thì ảnh nhiệt cũng được）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相機（人的部分熱像也行）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đọc được màu đèn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讀不出燈色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Tất cả trừ camera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除了相機，全部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Chỉ camera. Không ai khác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只有相機。沒有別人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biết đang lại gần bao nhanh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不知道接近得多快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Camera, LiDAR, ảnh nhiệt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相機、光達、熱像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Radar, đo trực tiếp bằng Doppler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雷達，用都卜勒直接量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Vùng mù sát xe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車身周圍的盲區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 gắn trên nóc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裝車頂的光達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Siêu âm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超音波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Trời tối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天黑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Camera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相機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LiDAR, radar, ảnh nhiệt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光達、雷達、熱像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Không biết mình đang ở đâu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不知道自己在哪裡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Cả năm loại nhìn ra ngoài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往外看的那五種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A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GNSS（cộng bản đồ và IMU）</a:t>
                      </a:r>
                      <a:endParaRPr lang="en-US" sz="1200" dirty="0"/>
                    </a:p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F7183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GNSS（再加地圖與慣性感測器）</a:t>
                      </a:r>
                      <a:endParaRPr lang="en-US" sz="1200" dirty="0"/>
                    </a:p>
                  </a:txBody>
                  <a:tcPr marL="63500" marR="63500" marT="38100" marB="38100" anchor="ctr">
                    <a:lnL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B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4312421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b="1" dirty="0">
                <a:solidFill>
                  <a:srgbClr val="007F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hàng là một lý do để lắp thêm một loại nữa. Không hàng nào thừa.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00" dirty="0">
                <a:solidFill>
                  <a:srgbClr val="007F7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每一列都是多裝一種的理由。沒有一列是多餘的。</a:t>
            </a:r>
            <a:endParaRPr lang="en-US" sz="1200" dirty="0"/>
          </a:p>
        </p:txBody>
      </p:sp>
      <p:pic>
        <p:nvPicPr>
          <p:cNvPr id="6" name="Image 0" descr="/Users/tsengchenghsun/Class/carClass/Claude outputs/第三週(9-24)/src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6368" y="4718304"/>
            <a:ext cx="1097280" cy="242439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19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71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371600"/>
            <a:ext cx="4206240" cy="4206240"/>
          </a:xfrm>
          <a:prstGeom prst="ellipse">
            <a:avLst/>
          </a:prstGeom>
          <a:solidFill>
            <a:srgbClr val="13314F"/>
          </a:solidFill>
          <a:ln w="12700">
            <a:solidFill>
              <a:srgbClr val="1331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3108960"/>
            <a:ext cx="2560320" cy="2560320"/>
          </a:xfrm>
          <a:prstGeom prst="ellipse">
            <a:avLst/>
          </a:prstGeom>
          <a:solidFill>
            <a:srgbClr val="007F72">
              <a:alpha val="28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02920" y="47548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kết tiết 1 · 第一節小結</a:t>
            </a:r>
            <a:endParaRPr lang="en-US" sz="12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822960"/>
            <a:ext cx="804672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Mỗi cảm biến đo một thứ khác nhau — không phải cùng một thứ mà hơn kém độ chính xác</a:t>
            </a:r>
            <a:endParaRPr lang="en-US" sz="2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六種感測器量的是不同的東西，不是同一件事誰比較準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02920" y="1975104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22376" y="1938528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Bị động cần ánh sáng（camera）; chủ động tự phát（LiDAR, radar, siêu âm）; ảnh nhiệt đọc nhiệt của chính vật.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被動要靠光（相機）；主動自己發訊號（光達、雷達、超音波）；熱像讀物體自己的熱。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02920" y="2633472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22376" y="2596896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Đo được khoảng cách ≠ biết đó là cái gì. Màu đèn và vạch kẻ: chỉ camera.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量得到距離 ≠ 知道那是什麼。燈色和標線：只有相機。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3291840"/>
            <a:ext cx="45720" cy="512064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22376" y="3255264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Tốc độ lại gần: chỉ radar đo trực tiếp — nhưng vật băng ngang thì nó đọc gần bằng 0.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接近速度：只有雷達直接量——但橫越的時候它讀到接近 0。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02920" y="3950208"/>
            <a:ext cx="45720" cy="512064"/>
          </a:xfrm>
          <a:prstGeom prst="rect">
            <a:avLst/>
          </a:prstGeom>
          <a:solidFill>
            <a:srgbClr val="FFB0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2376" y="3913632"/>
            <a:ext cx="78638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sau: mỗi loại tốt đến đâu, và vì sao càng xa càng tệ rất nhanh.</a:t>
            </a:r>
            <a:endParaRPr lang="en-US" sz="13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AFC3D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下一節：每一種到底多強，以及為什麼一遠就壞得特別快。</a:t>
            </a:r>
            <a:endParaRPr lang="en-US" sz="13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" y="47914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19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960120" y="47914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FB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Tiết 1 · 第 1 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otes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自動駕駛原理</dc:creator>
  <cp:lastModifiedBy>自動駕駛原理</cp:lastModifiedBy>
  <cp:revision>1</cp:revision>
  <dcterms:created xsi:type="dcterms:W3CDTF">2026-09-23T09:28:53Z</dcterms:created>
  <dcterms:modified xsi:type="dcterms:W3CDTF">2026-09-23T09:28:53Z</dcterms:modified>
</cp:coreProperties>
</file>