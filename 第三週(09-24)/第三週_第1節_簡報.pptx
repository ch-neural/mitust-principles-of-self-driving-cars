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各位同學早安，我們開始第三週。
</a:t>
            </a:r>
          </a:p>
          <a:p>
            <a:pPr algn="l">
              <a:lnSpc>
                <a:spcPct val="115000"/>
              </a:lnSpc>
              <a:spcAft>
                <a:spcPts val="600"/>
              </a:spcAft>
            </a:pPr>
            <a:r>
              <a:rPr sz="1200" lang="zh-TW" dirty="0">
                <a:solidFill>
                  <a:srgbClr val="000000"/>
                </a:solidFill>
                <a:latin typeface="Arial Unicode MS"/>
                <a:ea typeface="Arial Unicode MS"/>
                <a:cs typeface="Arial Unicode MS"/>
              </a:rPr>
              <a:t>上禮拜我們認識了幾個名字：相機、光達、雷達、衛星定位。今天要把它們一個一個拆開來看，而且再加兩種——超音波和熱像，總共六種。
</a:t>
            </a:r>
          </a:p>
          <a:p>
            <a:pPr algn="l">
              <a:lnSpc>
                <a:spcPct val="115000"/>
              </a:lnSpc>
              <a:spcAft>
                <a:spcPts val="600"/>
              </a:spcAft>
            </a:pPr>
            <a:r>
              <a:rPr sz="1200" lang="zh-TW" dirty="0">
                <a:solidFill>
                  <a:srgbClr val="000000"/>
                </a:solidFill>
                <a:latin typeface="Arial Unicode MS"/>
                <a:ea typeface="Arial Unicode MS"/>
                <a:cs typeface="Arial Unicode MS"/>
              </a:rPr>
              <a:t>這一節課分成兩半。前半段每一種講一頁，講三件事：它</a:t>
            </a:r>
            <a:r>
              <a:rPr sz="1200" b="1" lang="zh-TW" dirty="0">
                <a:solidFill>
                  <a:srgbClr val="000000"/>
                </a:solidFill>
                <a:latin typeface="Arial Unicode MS"/>
                <a:ea typeface="Arial Unicode MS"/>
                <a:cs typeface="Arial Unicode MS"/>
              </a:rPr>
              <a:t>怎麼運作</a:t>
            </a:r>
            <a:r>
              <a:rPr sz="1200" lang="zh-TW" dirty="0">
                <a:solidFill>
                  <a:srgbClr val="000000"/>
                </a:solidFill>
                <a:latin typeface="Arial Unicode MS"/>
                <a:ea typeface="Arial Unicode MS"/>
                <a:cs typeface="Arial Unicode MS"/>
              </a:rPr>
              <a:t>、它的</a:t>
            </a:r>
            <a:r>
              <a:rPr sz="1200" b="1" lang="zh-TW" dirty="0">
                <a:solidFill>
                  <a:srgbClr val="000000"/>
                </a:solidFill>
                <a:latin typeface="Arial Unicode MS"/>
                <a:ea typeface="Arial Unicode MS"/>
                <a:cs typeface="Arial Unicode MS"/>
              </a:rPr>
              <a:t>特性</a:t>
            </a:r>
            <a:r>
              <a:rPr sz="1200" lang="zh-TW" dirty="0">
                <a:solidFill>
                  <a:srgbClr val="000000"/>
                </a:solidFill>
                <a:latin typeface="Arial Unicode MS"/>
                <a:ea typeface="Arial Unicode MS"/>
                <a:cs typeface="Arial Unicode MS"/>
              </a:rPr>
              <a:t>是什麼、在自駕車上</a:t>
            </a:r>
            <a:r>
              <a:rPr sz="1200" b="1" lang="zh-TW" dirty="0">
                <a:solidFill>
                  <a:srgbClr val="000000"/>
                </a:solidFill>
                <a:latin typeface="Arial Unicode MS"/>
                <a:ea typeface="Arial Unicode MS"/>
                <a:cs typeface="Arial Unicode MS"/>
              </a:rPr>
              <a:t>拿來做什麼</a:t>
            </a:r>
            <a:r>
              <a:rPr sz="1200" lang="zh-TW" dirty="0">
                <a:solidFill>
                  <a:srgbClr val="000000"/>
                </a:solidFill>
                <a:latin typeface="Arial Unicode MS"/>
                <a:ea typeface="Arial Unicode MS"/>
                <a:cs typeface="Arial Unicode MS"/>
              </a:rPr>
              <a:t>。後半段我們打開一個網頁，把剛剛講的東西實際量一遍——同一個行人站在同一個位置，這六種分別送回來什麼數字。
</a:t>
            </a:r>
          </a:p>
          <a:p>
            <a:pPr algn="l">
              <a:lnSpc>
                <a:spcPct val="115000"/>
              </a:lnSpc>
              <a:spcAft>
                <a:spcPts val="600"/>
              </a:spcAft>
            </a:pPr>
            <a:r>
              <a:rPr sz="1200" lang="zh-TW" dirty="0">
                <a:solidFill>
                  <a:srgbClr val="000000"/>
                </a:solidFill>
                <a:latin typeface="Arial Unicode MS"/>
                <a:ea typeface="Arial Unicode MS"/>
                <a:cs typeface="Arial Unicode MS"/>
              </a:rPr>
              <a:t>我先講今天的結論，這樣你們聽的時候比較有方向：這六種量的是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，不是同一件事誰比較準。有的給距離，有的告訴你那是人還是車，有的給速度，有的對前面完全不知道——它只管自己在哪裡。就像體重計和體溫計，不能問哪個比較準，因為量的不是同一件事。
</a:t>
            </a:r>
          </a:p>
          <a:p>
            <a:pPr algn="l">
              <a:lnSpc>
                <a:spcPct val="115000"/>
              </a:lnSpc>
              <a:spcAft>
                <a:spcPts val="600"/>
              </a:spcAft>
            </a:pPr>
            <a:r>
              <a:rPr sz="1200" lang="zh-TW" dirty="0">
                <a:solidFill>
                  <a:srgbClr val="000000"/>
                </a:solidFill>
                <a:latin typeface="Arial Unicode MS"/>
                <a:ea typeface="Arial Unicode MS"/>
                <a:cs typeface="Arial Unicode MS"/>
              </a:rPr>
              <a:t>下課前我希望每個人都能回答一句話：如果車上只裝一種感測器，你會少掉什麼？
</a:t>
            </a:r>
          </a:p>
          <a:p>
            <a:pPr algn="l">
              <a:lnSpc>
                <a:spcPct val="115000"/>
              </a:lnSpc>
              <a:spcAft>
                <a:spcPts val="600"/>
              </a:spcAft>
            </a:pPr>
            <a:r>
              <a:rPr sz="1200" lang="zh-TW" dirty="0">
                <a:solidFill>
                  <a:srgbClr val="000000"/>
                </a:solidFill>
                <a:latin typeface="Arial Unicode MS"/>
                <a:ea typeface="Arial Unicode MS"/>
                <a:cs typeface="Arial Unicode MS"/>
              </a:rPr>
              <a:t>前半段請認真記筆記，六張規格頁都會用到。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（開場先花兩分鐘讓全班把工具打開，不要等到要操作時才手忙腳亂。）
</a:t>
            </a:r>
          </a:p>
          <a:p>
            <a:pPr algn="l">
              <a:lnSpc>
                <a:spcPct val="115000"/>
              </a:lnSpc>
              <a:spcAft>
                <a:spcPts val="600"/>
              </a:spcAft>
            </a:pPr>
            <a:r>
              <a:rPr sz="1200" lang="zh-TW" dirty="0">
                <a:solidFill>
                  <a:srgbClr val="000000"/>
                </a:solidFill>
                <a:latin typeface="Arial Unicode MS"/>
                <a:ea typeface="Arial Unicode MS"/>
                <a:cs typeface="Arial Unicode MS"/>
              </a:rPr>
              <a:t>螢幕上這個網址，等一下三節課都會用到。有兩個方式打開：
</a:t>
            </a:r>
          </a:p>
          <a:p>
            <a:pPr algn="l">
              <a:lnSpc>
                <a:spcPct val="115000"/>
              </a:lnSpc>
              <a:spcAft>
                <a:spcPts val="600"/>
              </a:spcAft>
            </a:pPr>
            <a:r>
              <a:rPr sz="1200" lang="zh-TW" dirty="0">
                <a:solidFill>
                  <a:srgbClr val="000000"/>
                </a:solidFill>
                <a:latin typeface="Arial Unicode MS"/>
                <a:ea typeface="Arial Unicode MS"/>
                <a:cs typeface="Arial Unicode MS"/>
              </a:rPr>
              <a:t>第一，用手機相機掃右邊的 QR。大部分手機的相機 app 對準就會跳出連結，不用裝掃描程式。
</a:t>
            </a:r>
          </a:p>
          <a:p>
            <a:pPr algn="l">
              <a:lnSpc>
                <a:spcPct val="115000"/>
              </a:lnSpc>
              <a:spcAft>
                <a:spcPts val="600"/>
              </a:spcAft>
            </a:pPr>
            <a:r>
              <a:rPr sz="1200" lang="zh-TW" dirty="0">
                <a:solidFill>
                  <a:srgbClr val="000000"/>
                </a:solidFill>
                <a:latin typeface="Arial Unicode MS"/>
                <a:ea typeface="Arial Unicode MS"/>
                <a:cs typeface="Arial Unicode MS"/>
              </a:rPr>
              <a:t>第二，直接打網址。比較長，所以建議用掃的。
</a:t>
            </a:r>
          </a:p>
          <a:p>
            <a:pPr algn="l">
              <a:lnSpc>
                <a:spcPct val="115000"/>
              </a:lnSpc>
              <a:spcAft>
                <a:spcPts val="600"/>
              </a:spcAft>
            </a:pPr>
            <a:r>
              <a:rPr sz="1200" lang="zh-TW" dirty="0">
                <a:solidFill>
                  <a:srgbClr val="000000"/>
                </a:solidFill>
                <a:latin typeface="Arial Unicode MS"/>
                <a:ea typeface="Arial Unicode MS"/>
                <a:cs typeface="Arial Unicode MS"/>
              </a:rPr>
              <a:t>（如果教室網路不穩，可以請已經打開的同學用手機開熱點，或兩三個人看同一台。這個頁面只有一個檔案，第一次打開之後即使斷線也還能繼續操作——它不需要連回伺服器。）
</a:t>
            </a:r>
          </a:p>
          <a:p>
            <a:pPr algn="l">
              <a:lnSpc>
                <a:spcPct val="115000"/>
              </a:lnSpc>
              <a:spcAft>
                <a:spcPts val="600"/>
              </a:spcAft>
            </a:pPr>
            <a:r>
              <a:rPr sz="1200" lang="zh-TW" dirty="0">
                <a:solidFill>
                  <a:srgbClr val="000000"/>
                </a:solidFill>
                <a:latin typeface="Arial Unicode MS"/>
                <a:ea typeface="Arial Unicode MS"/>
                <a:cs typeface="Arial Unicode MS"/>
              </a:rPr>
              <a:t>打開之後大家會看到一張俯視圖，中間是本車，前面有幾個物體。</a:t>
            </a:r>
            <a:r>
              <a:rPr sz="1200" b="1" lang="zh-TW" dirty="0">
                <a:solidFill>
                  <a:srgbClr val="000000"/>
                </a:solidFill>
                <a:latin typeface="Arial Unicode MS"/>
                <a:ea typeface="Arial Unicode MS"/>
                <a:cs typeface="Arial Unicode MS"/>
              </a:rPr>
              <a:t>請現在就用手指拖拖看那個行人</a:t>
            </a:r>
            <a:r>
              <a:rPr sz="1200" lang="zh-TW" dirty="0">
                <a:solidFill>
                  <a:srgbClr val="000000"/>
                </a:solidFill>
                <a:latin typeface="Arial Unicode MS"/>
                <a:ea typeface="Arial Unicode MS"/>
                <a:cs typeface="Arial Unicode MS"/>
              </a:rPr>
              <a:t>，看右邊（手機是下面）的數字會不會跟著變。
</a:t>
            </a:r>
          </a:p>
          <a:p>
            <a:pPr algn="l">
              <a:lnSpc>
                <a:spcPct val="115000"/>
              </a:lnSpc>
              <a:spcAft>
                <a:spcPts val="600"/>
              </a:spcAft>
            </a:pPr>
            <a:r>
              <a:rPr sz="1200" lang="zh-TW" dirty="0">
                <a:solidFill>
                  <a:srgbClr val="000000"/>
                </a:solidFill>
                <a:latin typeface="Arial Unicode MS"/>
                <a:ea typeface="Arial Unicode MS"/>
                <a:cs typeface="Arial Unicode MS"/>
              </a:rPr>
              <a:t>手機的同學注意：畫面下方有兩個分頁，「調整參數」和「六張讀數卡」。預設在讀數卡，要改規格的時候再切過去。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（確認全班都打開了再往下。這一頁的兩分鐘花得很值得，後面每一輪上台操作都會順很多。）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第一種，相機。
</a:t>
            </a:r>
          </a:p>
          <a:p>
            <a:pPr algn="l">
              <a:lnSpc>
                <a:spcPct val="115000"/>
              </a:lnSpc>
              <a:spcAft>
                <a:spcPts val="575"/>
              </a:spcAft>
            </a:pPr>
            <a:r>
              <a:rPr sz="1150" lang="zh-TW" dirty="0">
                <a:solidFill>
                  <a:srgbClr val="000000"/>
                </a:solidFill>
                <a:latin typeface="Arial Unicode MS"/>
                <a:ea typeface="Arial Unicode MS"/>
                <a:cs typeface="Arial Unicode MS"/>
              </a:rPr>
              <a:t>原理最單純，跟你的手機一樣——鏡頭把光聚焦到感光晶片上，晶片上每一個小格子記錄那個方向的顏色和亮度。
</a:t>
            </a:r>
          </a:p>
          <a:p>
            <a:pPr algn="l">
              <a:lnSpc>
                <a:spcPct val="115000"/>
              </a:lnSpc>
              <a:spcAft>
                <a:spcPts val="575"/>
              </a:spcAft>
            </a:pPr>
            <a:r>
              <a:rPr sz="1150" lang="zh-TW" dirty="0">
                <a:solidFill>
                  <a:srgbClr val="000000"/>
                </a:solidFill>
                <a:latin typeface="Arial Unicode MS"/>
                <a:ea typeface="Arial Unicode MS"/>
                <a:cs typeface="Arial Unicode MS"/>
              </a:rPr>
              <a:t>請注意「被動」這兩個字，這是理解它所有優缺點的關鍵。相機自己不發出任何東西，它只能接收現場已經存在的光。太陽的光、路燈的光、對向車頭燈的光。沒有光，它就什麼都收不到。
</a:t>
            </a:r>
          </a:p>
          <a:p>
            <a:pPr algn="l">
              <a:lnSpc>
                <a:spcPct val="115000"/>
              </a:lnSpc>
              <a:spcAft>
                <a:spcPts val="575"/>
              </a:spcAft>
            </a:pPr>
            <a:r>
              <a:rPr sz="1150" lang="zh-TW" dirty="0">
                <a:solidFill>
                  <a:srgbClr val="000000"/>
                </a:solidFill>
                <a:latin typeface="Arial Unicode MS"/>
                <a:ea typeface="Arial Unicode MS"/>
                <a:cs typeface="Arial Unicode MS"/>
              </a:rPr>
              <a:t>特性方面：解析度最高，六種裡面它給的資訊量最大；有顏色，這是獨門的；而且最便宜，一顆幾百塊到幾千塊。
</a:t>
            </a:r>
          </a:p>
          <a:p>
            <a:pPr algn="l">
              <a:lnSpc>
                <a:spcPct val="115000"/>
              </a:lnSpc>
              <a:spcAft>
                <a:spcPts val="575"/>
              </a:spcAft>
            </a:pPr>
            <a:r>
              <a:rPr sz="1150" lang="zh-TW" dirty="0">
                <a:solidFill>
                  <a:srgbClr val="000000"/>
                </a:solidFill>
                <a:latin typeface="Arial Unicode MS"/>
                <a:ea typeface="Arial Unicode MS"/>
                <a:cs typeface="Arial Unicode MS"/>
              </a:rPr>
              <a:t>代價是距離。一張照片本身沒有距離這個資訊，它得靠幾何推算，第二節我們會仔細算這件事。
</a:t>
            </a:r>
          </a:p>
          <a:p>
            <a:pPr algn="l">
              <a:lnSpc>
                <a:spcPct val="115000"/>
              </a:lnSpc>
              <a:spcAft>
                <a:spcPts val="575"/>
              </a:spcAft>
            </a:pPr>
            <a:r>
              <a:rPr sz="1150" lang="zh-TW" dirty="0">
                <a:solidFill>
                  <a:srgbClr val="000000"/>
                </a:solidFill>
                <a:latin typeface="Arial Unicode MS"/>
                <a:ea typeface="Arial Unicode MS"/>
                <a:cs typeface="Arial Unicode MS"/>
              </a:rPr>
              <a:t>用途最重要：紅綠燈、速限標誌、車道標線、判斷那是人還是車。大家想一想這些東西有什麼共通點——
</a:t>
            </a:r>
          </a:p>
          <a:p>
            <a:pPr algn="l">
              <a:lnSpc>
                <a:spcPct val="115000"/>
              </a:lnSpc>
              <a:spcAft>
                <a:spcPts val="575"/>
              </a:spcAft>
            </a:pPr>
            <a:r>
              <a:rPr sz="1150" lang="zh-TW" dirty="0">
                <a:solidFill>
                  <a:srgbClr val="000000"/>
                </a:solidFill>
                <a:latin typeface="Arial Unicode MS"/>
                <a:ea typeface="Arial Unicode MS"/>
                <a:cs typeface="Arial Unicode MS"/>
              </a:rPr>
              <a:t>（預期答案：都是給人看的、都是顏色或文字。）
</a:t>
            </a:r>
          </a:p>
          <a:p>
            <a:pPr algn="l">
              <a:lnSpc>
                <a:spcPct val="115000"/>
              </a:lnSpc>
              <a:spcAft>
                <a:spcPts val="575"/>
              </a:spcAft>
            </a:pPr>
            <a:r>
              <a:rPr sz="1150" lang="zh-TW" dirty="0">
                <a:solidFill>
                  <a:srgbClr val="000000"/>
                </a:solidFill>
                <a:latin typeface="Arial Unicode MS"/>
                <a:ea typeface="Arial Unicode MS"/>
                <a:cs typeface="Arial Unicode MS"/>
              </a:rPr>
              <a:t>對，</a:t>
            </a:r>
            <a:r>
              <a:rPr sz="1150" b="1" lang="zh-TW" dirty="0">
                <a:solidFill>
                  <a:srgbClr val="000000"/>
                </a:solidFill>
                <a:latin typeface="Arial Unicode MS"/>
                <a:ea typeface="Arial Unicode MS"/>
                <a:cs typeface="Arial Unicode MS"/>
              </a:rPr>
              <a:t>它們全部是人類設計給人類眼睛看的</a:t>
            </a:r>
            <a:r>
              <a:rPr sz="1150" lang="zh-TW" dirty="0">
                <a:solidFill>
                  <a:srgbClr val="000000"/>
                </a:solidFill>
                <a:latin typeface="Arial Unicode MS"/>
                <a:ea typeface="Arial Unicode MS"/>
                <a:cs typeface="Arial Unicode MS"/>
              </a:rPr>
              <a:t>。所以只有一個跟人眼原理相同的感測器讀得懂。這就是為什麼 Waymo 第六代車上裝了十三顆相機，沒有任何一家敢不裝。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影片時間。這一支是特斯拉的 Autopilot 畫面，右邊是車上相機看到的東西加上它自己畫的框。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分鐘即可，不必播完。需要網路；沒網路時跳過這一頁，直接接下一種感測器。）
</a:t>
            </a:r>
          </a:p>
          <a:p>
            <a:pPr algn="l">
              <a:lnSpc>
                <a:spcPct val="115000"/>
              </a:lnSpc>
              <a:spcAft>
                <a:spcPts val="600"/>
              </a:spcAft>
            </a:pPr>
            <a:r>
              <a:rPr sz="1200" lang="zh-TW" dirty="0">
                <a:solidFill>
                  <a:srgbClr val="000000"/>
                </a:solidFill>
                <a:latin typeface="Arial Unicode MS"/>
                <a:ea typeface="Arial Unicode MS"/>
                <a:cs typeface="Arial Unicode MS"/>
              </a:rPr>
              <a:t>看的時候請帶著三個問題。
</a:t>
            </a:r>
          </a:p>
          <a:p>
            <a:pPr algn="l">
              <a:lnSpc>
                <a:spcPct val="115000"/>
              </a:lnSpc>
              <a:spcAft>
                <a:spcPts val="600"/>
              </a:spcAft>
            </a:pPr>
            <a:r>
              <a:rPr sz="1200" lang="zh-TW" dirty="0">
                <a:solidFill>
                  <a:srgbClr val="000000"/>
                </a:solidFill>
                <a:latin typeface="Arial Unicode MS"/>
                <a:ea typeface="Arial Unicode MS"/>
                <a:cs typeface="Arial Unicode MS"/>
              </a:rPr>
              <a:t>第一，畫面上那些框——車子、行人、車道線——全部是相機貼的標籤。剛剛那一頁講過，只有相機做得到這件事。
</a:t>
            </a:r>
          </a:p>
          <a:p>
            <a:pPr algn="l">
              <a:lnSpc>
                <a:spcPct val="115000"/>
              </a:lnSpc>
              <a:spcAft>
                <a:spcPts val="600"/>
              </a:spcAft>
            </a:pPr>
            <a:r>
              <a:rPr sz="1200" lang="zh-TW" dirty="0">
                <a:solidFill>
                  <a:srgbClr val="000000"/>
                </a:solidFill>
                <a:latin typeface="Arial Unicode MS"/>
                <a:ea typeface="Arial Unicode MS"/>
                <a:cs typeface="Arial Unicode MS"/>
              </a:rPr>
              <a:t>第二，注意逆光和進隧道的那幾秒。畫面會突然過曝或全黑，框就跟著亂跳。這就是「被動接收」的代價，第三節我們會用數字量它。
</a:t>
            </a:r>
          </a:p>
          <a:p>
            <a:pPr algn="l">
              <a:lnSpc>
                <a:spcPct val="115000"/>
              </a:lnSpc>
              <a:spcAft>
                <a:spcPts val="600"/>
              </a:spcAft>
            </a:pPr>
            <a:r>
              <a:rPr sz="1200" lang="zh-TW" dirty="0">
                <a:solidFill>
                  <a:srgbClr val="000000"/>
                </a:solidFill>
                <a:latin typeface="Arial Unicode MS"/>
                <a:ea typeface="Arial Unicode MS"/>
                <a:cs typeface="Arial Unicode MS"/>
              </a:rPr>
              <a:t>第三，看遠處的物體。框會跳來跳去、忽大忽小，那不是程式壞掉，那就是估距誤差。第二節我們會算出來：六十公尺的時候誤差有將近四公尺。
</a:t>
            </a:r>
          </a:p>
          <a:p>
            <a:pPr algn="l">
              <a:lnSpc>
                <a:spcPct val="115000"/>
              </a:lnSpc>
              <a:spcAft>
                <a:spcPts val="600"/>
              </a:spcAft>
            </a:pPr>
            <a:r>
              <a:rPr sz="1200" lang="zh-TW" dirty="0">
                <a:solidFill>
                  <a:srgbClr val="000000"/>
                </a:solidFill>
                <a:latin typeface="Arial Unicode MS"/>
                <a:ea typeface="Arial Unicode MS"/>
                <a:cs typeface="Arial Unicode MS"/>
              </a:rPr>
              <a:t>看完不用討論，我們繼續下一種。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第二種，光達。英文 LiDAR，Light Detection and Ranging。
</a:t>
            </a:r>
          </a:p>
          <a:p>
            <a:pPr algn="l">
              <a:lnSpc>
                <a:spcPct val="115000"/>
              </a:lnSpc>
              <a:spcAft>
                <a:spcPts val="600"/>
              </a:spcAft>
            </a:pPr>
            <a:r>
              <a:rPr sz="1200" lang="zh-TW" dirty="0">
                <a:solidFill>
                  <a:srgbClr val="000000"/>
                </a:solidFill>
                <a:latin typeface="Arial Unicode MS"/>
                <a:ea typeface="Arial Unicode MS"/>
                <a:cs typeface="Arial Unicode MS"/>
              </a:rPr>
              <a:t>原理是量時間。它打一道雷射脈衝出去，那道光碰到前面的東西會反射回來，感測器記下「出去到回來」花了多少時間。距離就等於光速乘以時間再除以二——除以二是因為光走了來回兩趟。
</a:t>
            </a:r>
          </a:p>
          <a:p>
            <a:pPr algn="l">
              <a:lnSpc>
                <a:spcPct val="115000"/>
              </a:lnSpc>
              <a:spcAft>
                <a:spcPts val="600"/>
              </a:spcAft>
            </a:pPr>
            <a:r>
              <a:rPr sz="1200" lang="zh-TW" dirty="0">
                <a:solidFill>
                  <a:srgbClr val="000000"/>
                </a:solidFill>
                <a:latin typeface="Arial Unicode MS"/>
                <a:ea typeface="Arial Unicode MS"/>
                <a:cs typeface="Arial Unicode MS"/>
              </a:rPr>
              <a:t>這裡有一件事很驚人：光每秒走三十萬公里。要量一百公尺的距離，來回兩百公尺，時間只有大約</a:t>
            </a:r>
            <a:r>
              <a:rPr sz="1200" b="1" lang="zh-TW" dirty="0">
                <a:solidFill>
                  <a:srgbClr val="000000"/>
                </a:solidFill>
                <a:latin typeface="Arial Unicode MS"/>
                <a:ea typeface="Arial Unicode MS"/>
                <a:cs typeface="Arial Unicode MS"/>
              </a:rPr>
              <a:t>零點六七微秒</a:t>
            </a:r>
            <a:r>
              <a:rPr sz="1200" lang="zh-TW" dirty="0">
                <a:solidFill>
                  <a:srgbClr val="000000"/>
                </a:solidFill>
                <a:latin typeface="Arial Unicode MS"/>
                <a:ea typeface="Arial Unicode MS"/>
                <a:cs typeface="Arial Unicode MS"/>
              </a:rPr>
              <a:t>，也就是百萬分之零點六七秒。光達的電路必須能分辨這麼短的時間差，這就是它貴的原因之一。
</a:t>
            </a:r>
          </a:p>
          <a:p>
            <a:pPr algn="l">
              <a:lnSpc>
                <a:spcPct val="115000"/>
              </a:lnSpc>
              <a:spcAft>
                <a:spcPts val="600"/>
              </a:spcAft>
            </a:pPr>
            <a:r>
              <a:rPr sz="1200" lang="zh-TW" dirty="0">
                <a:solidFill>
                  <a:srgbClr val="000000"/>
                </a:solidFill>
                <a:latin typeface="Arial Unicode MS"/>
                <a:ea typeface="Arial Unicode MS"/>
                <a:cs typeface="Arial Unicode MS"/>
              </a:rPr>
              <a:t>特性：距離準到公分級，遠比相機準。而且因為它是一顆一顆點打出去的，它直接給你三維的形狀，不用推算。
</a:t>
            </a:r>
          </a:p>
          <a:p>
            <a:pPr algn="l">
              <a:lnSpc>
                <a:spcPct val="115000"/>
              </a:lnSpc>
              <a:spcAft>
                <a:spcPts val="600"/>
              </a:spcAft>
            </a:pPr>
            <a:r>
              <a:rPr sz="1200" lang="zh-TW" dirty="0">
                <a:solidFill>
                  <a:srgbClr val="000000"/>
                </a:solidFill>
                <a:latin typeface="Arial Unicode MS"/>
                <a:ea typeface="Arial Unicode MS"/>
                <a:cs typeface="Arial Unicode MS"/>
              </a:rPr>
              <a:t>缺點兩個。第一是貴，早期一顆要幾萬美金，現在便宜很多但還是最貴的。第二是雨霧——雷射碰到空氣中的小水滴會散射，第三節我們會實際看到濃霧讓它掉一半以上。
</a:t>
            </a:r>
          </a:p>
          <a:p>
            <a:pPr algn="l">
              <a:lnSpc>
                <a:spcPct val="115000"/>
              </a:lnSpc>
              <a:spcAft>
                <a:spcPts val="600"/>
              </a:spcAft>
            </a:pPr>
            <a:r>
              <a:rPr sz="1200" lang="zh-TW" dirty="0">
                <a:solidFill>
                  <a:srgbClr val="000000"/>
                </a:solidFill>
                <a:latin typeface="Arial Unicode MS"/>
                <a:ea typeface="Arial Unicode MS"/>
                <a:cs typeface="Arial Unicode MS"/>
              </a:rPr>
              <a:t>跟相機最大的不同是：它是</a:t>
            </a:r>
            <a:r>
              <a:rPr sz="1200" b="1" lang="zh-TW" dirty="0">
                <a:solidFill>
                  <a:srgbClr val="000000"/>
                </a:solidFill>
                <a:latin typeface="Arial Unicode MS"/>
                <a:ea typeface="Arial Unicode MS"/>
                <a:cs typeface="Arial Unicode MS"/>
              </a:rPr>
              <a:t>主動</a:t>
            </a:r>
            <a:r>
              <a:rPr sz="1200" lang="zh-TW" dirty="0">
                <a:solidFill>
                  <a:srgbClr val="000000"/>
                </a:solidFill>
                <a:latin typeface="Arial Unicode MS"/>
                <a:ea typeface="Arial Unicode MS"/>
                <a:cs typeface="Arial Unicode MS"/>
              </a:rPr>
              <a:t>的，自己帶手電筒，所以晚上跟白天表現一模一樣。
</a:t>
            </a:r>
          </a:p>
          <a:p>
            <a:pPr algn="l">
              <a:lnSpc>
                <a:spcPct val="115000"/>
              </a:lnSpc>
              <a:spcAft>
                <a:spcPts val="600"/>
              </a:spcAft>
            </a:pPr>
            <a:r>
              <a:rPr sz="1200" lang="zh-TW" dirty="0">
                <a:solidFill>
                  <a:srgbClr val="000000"/>
                </a:solidFill>
                <a:latin typeface="Arial Unicode MS"/>
                <a:ea typeface="Arial Unicode MS"/>
                <a:cs typeface="Arial Unicode MS"/>
              </a:rPr>
              <a:t>用途除了看障礙物，還有一個大家可能沒想到的：</a:t>
            </a:r>
            <a:r>
              <a:rPr sz="1200" b="1" lang="zh-TW" dirty="0">
                <a:solidFill>
                  <a:srgbClr val="000000"/>
                </a:solidFill>
                <a:latin typeface="Arial Unicode MS"/>
                <a:ea typeface="Arial Unicode MS"/>
                <a:cs typeface="Arial Unicode MS"/>
              </a:rPr>
              <a:t>定位</a:t>
            </a:r>
            <a:r>
              <a:rPr sz="1200" lang="zh-TW" dirty="0">
                <a:solidFill>
                  <a:srgbClr val="000000"/>
                </a:solidFill>
                <a:latin typeface="Arial Unicode MS"/>
                <a:ea typeface="Arial Unicode MS"/>
                <a:cs typeface="Arial Unicode MS"/>
              </a:rPr>
              <a:t>。先用光達把整條路掃成一張高精地圖，之後車子開過來，把當下掃到的形狀跟地圖比對，就知道自己在哪裡，而且比 GPS 準得多。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左邊這張照片就是光達的本體，Velodyne 的 HDL-64E，早期自駕測試車頭頂上那個會轉的圓罐子。照片是 Steve Jurvetson 拍的，CC BY 2.0 授權。
</a:t>
            </a:r>
          </a:p>
          <a:p>
            <a:pPr algn="l">
              <a:lnSpc>
                <a:spcPct val="115000"/>
              </a:lnSpc>
              <a:spcAft>
                <a:spcPts val="500"/>
              </a:spcAft>
            </a:pPr>
            <a:r>
              <a:rPr sz="1000" lang="zh-TW" dirty="0">
                <a:solidFill>
                  <a:srgbClr val="000000"/>
                </a:solidFill>
                <a:latin typeface="Arial Unicode MS"/>
                <a:ea typeface="Arial Unicode MS"/>
                <a:cs typeface="Arial Unicode MS"/>
              </a:rPr>
              <a:t>（連結已設定從 0:56 開始，請播到 2:10 就停。前 56 秒是泛談，2:10 之後講的是用雷射掃路面調整懸吊，跟今天無關。旁白是英文但語速很慢；請開齒輪 → 字幕 → 自動翻譯 → 越南文。需要網路。）
</a:t>
            </a:r>
          </a:p>
          <a:p>
            <a:pPr algn="l">
              <a:lnSpc>
                <a:spcPct val="115000"/>
              </a:lnSpc>
              <a:spcAft>
                <a:spcPts val="500"/>
              </a:spcAft>
            </a:pPr>
            <a:r>
              <a:rPr sz="1000" lang="zh-TW" dirty="0">
                <a:solidFill>
                  <a:srgbClr val="000000"/>
                </a:solidFill>
                <a:latin typeface="Arial Unicode MS"/>
                <a:ea typeface="Arial Unicode MS"/>
                <a:cs typeface="Arial Unicode MS"/>
              </a:rPr>
              <a:t>（時間碼：0:56 車頂旋轉的裝置叫光達、看 360°｜1:05 每秒幾千道脈衝、碰到東西反射｜1:28 反射點拼成 3D 點雲、由車上電腦處理｜1:52 用它監看與前車的距離，決定煞車或加速。）
</a:t>
            </a:r>
          </a:p>
          <a:p>
            <a:pPr algn="l">
              <a:lnSpc>
                <a:spcPct val="115000"/>
              </a:lnSpc>
              <a:spcAft>
                <a:spcPts val="500"/>
              </a:spcAft>
            </a:pPr>
            <a:r>
              <a:rPr sz="1000" lang="zh-TW" dirty="0">
                <a:solidFill>
                  <a:srgbClr val="000000"/>
                </a:solidFill>
                <a:latin typeface="Arial Unicode MS"/>
                <a:ea typeface="Arial Unicode MS"/>
                <a:cs typeface="Arial Unicode MS"/>
              </a:rPr>
              <a:t>播之前給大家一個任務：這支影片有</a:t>
            </a:r>
            <a:r>
              <a:rPr sz="1000" b="1" lang="zh-TW" dirty="0">
                <a:solidFill>
                  <a:srgbClr val="000000"/>
                </a:solidFill>
                <a:latin typeface="Arial Unicode MS"/>
                <a:ea typeface="Arial Unicode MS"/>
                <a:cs typeface="Arial Unicode MS"/>
              </a:rPr>
              <a:t>一句話講得不精確</a:t>
            </a:r>
            <a:r>
              <a:rPr sz="1000" lang="zh-TW" dirty="0">
                <a:solidFill>
                  <a:srgbClr val="000000"/>
                </a:solidFill>
                <a:latin typeface="Arial Unicode MS"/>
                <a:ea typeface="Arial Unicode MS"/>
                <a:cs typeface="Arial Unicode MS"/>
              </a:rPr>
              <a:t>，請抓出來。
</a:t>
            </a:r>
          </a:p>
          <a:p>
            <a:pPr algn="l">
              <a:lnSpc>
                <a:spcPct val="115000"/>
              </a:lnSpc>
              <a:spcAft>
                <a:spcPts val="500"/>
              </a:spcAft>
            </a:pPr>
            <a:r>
              <a:rPr sz="1000" lang="zh-TW" dirty="0">
                <a:solidFill>
                  <a:srgbClr val="000000"/>
                </a:solidFill>
                <a:latin typeface="Arial Unicode MS"/>
                <a:ea typeface="Arial Unicode MS"/>
                <a:cs typeface="Arial Unicode MS"/>
              </a:rPr>
              <a:t>（預期答案：它說 3D 畫面是靠「量測光速」算出來的。光速是已知的常數，不用量；真正量的是</a:t>
            </a:r>
            <a:r>
              <a:rPr sz="1000" b="1" lang="zh-TW" dirty="0">
                <a:solidFill>
                  <a:srgbClr val="000000"/>
                </a:solidFill>
                <a:latin typeface="Arial Unicode MS"/>
                <a:ea typeface="Arial Unicode MS"/>
                <a:cs typeface="Arial Unicode MS"/>
              </a:rPr>
              <a:t>時間</a:t>
            </a:r>
            <a:r>
              <a:rPr sz="1000" lang="zh-TW" dirty="0">
                <a:solidFill>
                  <a:srgbClr val="000000"/>
                </a:solidFill>
                <a:latin typeface="Arial Unicode MS"/>
                <a:ea typeface="Arial Unicode MS"/>
                <a:cs typeface="Arial Unicode MS"/>
              </a:rPr>
              <a:t>。距離 ＝ 光速 × 時間 ÷ 2，剛剛那一頁才講過。）
</a:t>
            </a:r>
          </a:p>
          <a:p>
            <a:pPr algn="l">
              <a:lnSpc>
                <a:spcPct val="115000"/>
              </a:lnSpc>
              <a:spcAft>
                <a:spcPts val="500"/>
              </a:spcAft>
            </a:pPr>
            <a:r>
              <a:rPr sz="1000" lang="zh-TW" dirty="0">
                <a:solidFill>
                  <a:srgbClr val="000000"/>
                </a:solidFill>
                <a:latin typeface="Arial Unicode MS"/>
                <a:ea typeface="Arial Unicode MS"/>
                <a:cs typeface="Arial Unicode MS"/>
              </a:rPr>
              <a:t>抓到的同學很厲害。這也提醒大家，科普影片不一定每句都對。
</a:t>
            </a:r>
          </a:p>
          <a:p>
            <a:pPr algn="l">
              <a:lnSpc>
                <a:spcPct val="115000"/>
              </a:lnSpc>
              <a:spcAft>
                <a:spcPts val="500"/>
              </a:spcAft>
            </a:pPr>
            <a:r>
              <a:rPr sz="1000" lang="zh-TW" dirty="0">
                <a:solidFill>
                  <a:srgbClr val="000000"/>
                </a:solidFill>
                <a:latin typeface="Arial Unicode MS"/>
                <a:ea typeface="Arial Unicode MS"/>
                <a:cs typeface="Arial Unicode MS"/>
              </a:rPr>
              <a:t>再補一個我很喜歡的比喻，出自 Forbes 訪問 Waymo 工程師的另一支影片：在一個全黑的房間裡，</a:t>
            </a:r>
            <a:r>
              <a:rPr sz="1000" b="1" lang="zh-TW" dirty="0">
                <a:solidFill>
                  <a:srgbClr val="000000"/>
                </a:solidFill>
                <a:latin typeface="Arial Unicode MS"/>
                <a:ea typeface="Arial Unicode MS"/>
                <a:cs typeface="Arial Unicode MS"/>
              </a:rPr>
              <a:t>相機像你的眼睛，沒有光就看不到；光達像你伸出去摸的手</a:t>
            </a:r>
            <a:r>
              <a:rPr sz="1000" lang="zh-TW" dirty="0">
                <a:solidFill>
                  <a:srgbClr val="000000"/>
                </a:solidFill>
                <a:latin typeface="Arial Unicode MS"/>
                <a:ea typeface="Arial Unicode MS"/>
                <a:cs typeface="Arial Unicode MS"/>
              </a:rPr>
              <a:t>，不需要光，而且摸到的就是確切的距離。他還把點雲比喻成一塊針板——幾千根針同時往前伸，碰到東西就縮回去，縮回去的形狀就是那個東西的輪廓。
</a:t>
            </a:r>
          </a:p>
          <a:p>
            <a:pPr algn="l">
              <a:lnSpc>
                <a:spcPct val="115000"/>
              </a:lnSpc>
              <a:spcAft>
                <a:spcPts val="500"/>
              </a:spcAft>
            </a:pPr>
            <a:r>
              <a:rPr sz="1000" lang="zh-TW" dirty="0">
                <a:solidFill>
                  <a:srgbClr val="000000"/>
                </a:solidFill>
                <a:latin typeface="Arial Unicode MS"/>
                <a:ea typeface="Arial Unicode MS"/>
                <a:cs typeface="Arial Unicode MS"/>
              </a:rPr>
              <a:t>（延伸教材，適合想多了解的同學：Forbes《What Is Lidar and How Does It Help Self-Driving Cars Make Decisions?》youtube.com/watch?v=j2dt4lo0kx8，3 分 34 秒，語速較快。它還提到一種同調式光達也能直接量接近速度——所以等一下我說「只有雷達直接量得到速度」，嚴格講是指目前主流的飛時測距光達。）
</a:t>
            </a:r>
          </a:p>
          <a:p>
            <a:pPr algn="l">
              <a:lnSpc>
                <a:spcPct val="115000"/>
              </a:lnSpc>
              <a:spcAft>
                <a:spcPts val="500"/>
              </a:spcAft>
            </a:pPr>
            <a:r>
              <a:rPr sz="1000" lang="zh-TW" dirty="0">
                <a:solidFill>
                  <a:srgbClr val="000000"/>
                </a:solidFill>
                <a:latin typeface="Arial Unicode MS"/>
                <a:ea typeface="Arial Unicode MS"/>
                <a:cs typeface="Arial Unicode MS"/>
              </a:rPr>
              <a:t>看遠處的點會變稀，這個現象第二節會算出確切的數字——六十四線的光達，四十公尺外的行人身上只剩十五個點。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第三種，雷達。
</a:t>
            </a:r>
          </a:p>
          <a:p>
            <a:pPr algn="l">
              <a:lnSpc>
                <a:spcPct val="115000"/>
              </a:lnSpc>
              <a:spcAft>
                <a:spcPts val="500"/>
              </a:spcAft>
            </a:pPr>
            <a:r>
              <a:rPr sz="1000" lang="zh-TW" dirty="0">
                <a:solidFill>
                  <a:srgbClr val="000000"/>
                </a:solidFill>
                <a:latin typeface="Arial Unicode MS"/>
                <a:ea typeface="Arial Unicode MS"/>
                <a:cs typeface="Arial Unicode MS"/>
              </a:rPr>
              <a:t>原理跟光達有點像，都是發射訊號再等它回來，但雷達用的是無線電波，車用的是 77 GHz 的毫米波。
</a:t>
            </a:r>
          </a:p>
          <a:p>
            <a:pPr algn="l">
              <a:lnSpc>
                <a:spcPct val="115000"/>
              </a:lnSpc>
              <a:spcAft>
                <a:spcPts val="500"/>
              </a:spcAft>
            </a:pPr>
            <a:r>
              <a:rPr sz="1000" lang="zh-TW" dirty="0">
                <a:solidFill>
                  <a:srgbClr val="000000"/>
                </a:solidFill>
                <a:latin typeface="Arial Unicode MS"/>
                <a:ea typeface="Arial Unicode MS"/>
                <a:cs typeface="Arial Unicode MS"/>
              </a:rPr>
              <a:t>雷達比光達多做一件事。它除了量時間，還量</a:t>
            </a:r>
            <a:r>
              <a:rPr sz="1000" b="1" lang="zh-TW" dirty="0">
                <a:solidFill>
                  <a:srgbClr val="000000"/>
                </a:solidFill>
                <a:latin typeface="Arial Unicode MS"/>
                <a:ea typeface="Arial Unicode MS"/>
                <a:cs typeface="Arial Unicode MS"/>
              </a:rPr>
              <a:t>頻率</a:t>
            </a:r>
            <a:r>
              <a:rPr sz="1000" lang="zh-TW" dirty="0">
                <a:solidFill>
                  <a:srgbClr val="000000"/>
                </a:solidFill>
                <a:latin typeface="Arial Unicode MS"/>
                <a:ea typeface="Arial Unicode MS"/>
                <a:cs typeface="Arial Unicode MS"/>
              </a:rPr>
              <a:t>。如果前面那個東西正在靠近，反射回來的波會被壓縮、頻率變高；正在遠離就被拉長、頻率變低。這叫都卜勒效應。
</a:t>
            </a:r>
          </a:p>
          <a:p>
            <a:pPr algn="l">
              <a:lnSpc>
                <a:spcPct val="115000"/>
              </a:lnSpc>
              <a:spcAft>
                <a:spcPts val="500"/>
              </a:spcAft>
            </a:pPr>
            <a:r>
              <a:rPr sz="1000" lang="zh-TW" dirty="0">
                <a:solidFill>
                  <a:srgbClr val="000000"/>
                </a:solidFill>
                <a:latin typeface="Arial Unicode MS"/>
                <a:ea typeface="Arial Unicode MS"/>
                <a:cs typeface="Arial Unicode MS"/>
              </a:rPr>
              <a:t>大家有沒有聽過救護車經過的時候，聲音從高變低？那就是都卜勒效應，只是換成聲音。
</a:t>
            </a:r>
          </a:p>
          <a:p>
            <a:pPr algn="l">
              <a:lnSpc>
                <a:spcPct val="115000"/>
              </a:lnSpc>
              <a:spcAft>
                <a:spcPts val="500"/>
              </a:spcAft>
            </a:pPr>
            <a:r>
              <a:rPr sz="1000" lang="zh-TW" dirty="0">
                <a:solidFill>
                  <a:srgbClr val="000000"/>
                </a:solidFill>
                <a:latin typeface="Arial Unicode MS"/>
                <a:ea typeface="Arial Unicode MS"/>
                <a:cs typeface="Arial Unicode MS"/>
              </a:rPr>
              <a:t>所以雷達一次量測就同時得到距離和接近速度，別的感測器都要量兩次再相減才推得出來。這是它不可取代的地方。
</a:t>
            </a:r>
          </a:p>
          <a:p>
            <a:pPr algn="l">
              <a:lnSpc>
                <a:spcPct val="115000"/>
              </a:lnSpc>
              <a:spcAft>
                <a:spcPts val="500"/>
              </a:spcAft>
            </a:pPr>
            <a:r>
              <a:rPr sz="1000" b="1" lang="zh-TW" dirty="0">
                <a:solidFill>
                  <a:srgbClr val="000000"/>
                </a:solidFill>
                <a:latin typeface="Arial Unicode MS"/>
                <a:ea typeface="Arial Unicode MS"/>
                <a:cs typeface="Arial Unicode MS"/>
              </a:rPr>
              <a:t>等一下操作工具的時候，同學一定會發現一件事：拉「目標的移動」那條滑桿，六張卡只有雷達那一格在動，其他五格完全不理你。有人會以為程式壞了。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沒有壞。原因就是我們剛講的：另外五種量的是「這一瞬間的位置」——人站在三十公尺，距離就是三十公尺，跟他下一秒要往左走還是往右走完全沒關係。相機的估距誤差、光達的點數、熱像的像素，全部只跟「他現在在哪裡」有關。
</a:t>
            </a:r>
          </a:p>
          <a:p>
            <a:pPr algn="l">
              <a:lnSpc>
                <a:spcPct val="115000"/>
              </a:lnSpc>
              <a:spcAft>
                <a:spcPts val="500"/>
              </a:spcAft>
            </a:pPr>
            <a:r>
              <a:rPr sz="1000" lang="zh-TW" dirty="0">
                <a:solidFill>
                  <a:srgbClr val="000000"/>
                </a:solidFill>
                <a:latin typeface="Arial Unicode MS"/>
                <a:ea typeface="Arial Unicode MS"/>
                <a:cs typeface="Arial Unicode MS"/>
              </a:rPr>
              <a:t>雷達不一樣。它量的是回波的頻率被壓縮還是被拉長，那個量本身就是「距離正在縮短或拉長的速率」。所以你一改速度，它就立刻跳。
</a:t>
            </a:r>
          </a:p>
          <a:p>
            <a:pPr algn="l">
              <a:lnSpc>
                <a:spcPct val="115000"/>
              </a:lnSpc>
              <a:spcAft>
                <a:spcPts val="500"/>
              </a:spcAft>
            </a:pPr>
            <a:r>
              <a:rPr sz="1000" lang="zh-TW" dirty="0">
                <a:solidFill>
                  <a:srgbClr val="000000"/>
                </a:solidFill>
                <a:latin typeface="Arial Unicode MS"/>
                <a:ea typeface="Arial Unicode MS"/>
                <a:cs typeface="Arial Unicode MS"/>
              </a:rPr>
              <a:t>請大家把這句話寫下來：</a:t>
            </a:r>
            <a:r>
              <a:rPr sz="1000" b="1" lang="zh-TW" dirty="0">
                <a:solidFill>
                  <a:srgbClr val="000000"/>
                </a:solidFill>
                <a:latin typeface="Arial Unicode MS"/>
                <a:ea typeface="Arial Unicode MS"/>
                <a:cs typeface="Arial Unicode MS"/>
              </a:rPr>
              <a:t>只有雷達是直接「量」到速度的，其他感測器的速度都是「算」出來的</a:t>
            </a:r>
            <a:r>
              <a:rPr sz="1000" lang="zh-TW" dirty="0">
                <a:solidFill>
                  <a:srgbClr val="000000"/>
                </a:solidFill>
                <a:latin typeface="Arial Unicode MS"/>
                <a:ea typeface="Arial Unicode MS"/>
                <a:cs typeface="Arial Unicode MS"/>
              </a:rPr>
              <a:t>——連續拍兩張，看位置差多少，再除以時間。算出來的東西一定比量出來的慢、也比較容易被雜訊影響。
</a:t>
            </a:r>
          </a:p>
          <a:p>
            <a:pPr algn="l">
              <a:lnSpc>
                <a:spcPct val="115000"/>
              </a:lnSpc>
              <a:spcAft>
                <a:spcPts val="500"/>
              </a:spcAft>
            </a:pPr>
            <a:r>
              <a:rPr sz="1000" lang="zh-TW" dirty="0">
                <a:solidFill>
                  <a:srgbClr val="000000"/>
                </a:solidFill>
                <a:latin typeface="Arial Unicode MS"/>
                <a:ea typeface="Arial Unicode MS"/>
                <a:cs typeface="Arial Unicode MS"/>
              </a:rPr>
              <a:t>（補充給比較快的同學：現在也有 FMCW 光達可以直接量速度，但還很貴，路上的車幾乎都還沒裝。）
</a:t>
            </a:r>
          </a:p>
          <a:p>
            <a:pPr algn="l">
              <a:lnSpc>
                <a:spcPct val="115000"/>
              </a:lnSpc>
              <a:spcAft>
                <a:spcPts val="500"/>
              </a:spcAft>
            </a:pPr>
            <a:r>
              <a:rPr sz="1000" lang="zh-TW" dirty="0">
                <a:solidFill>
                  <a:srgbClr val="000000"/>
                </a:solidFill>
                <a:latin typeface="Arial Unicode MS"/>
                <a:ea typeface="Arial Unicode MS"/>
                <a:cs typeface="Arial Unicode MS"/>
              </a:rPr>
              <a:t>特性最突出的是</a:t>
            </a:r>
            <a:r>
              <a:rPr sz="1000" b="1" lang="zh-TW" dirty="0">
                <a:solidFill>
                  <a:srgbClr val="000000"/>
                </a:solidFill>
                <a:latin typeface="Arial Unicode MS"/>
                <a:ea typeface="Arial Unicode MS"/>
                <a:cs typeface="Arial Unicode MS"/>
              </a:rPr>
              <a:t>不怕雨霧</a:t>
            </a:r>
            <a:r>
              <a:rPr sz="1000" lang="zh-TW" dirty="0">
                <a:solidFill>
                  <a:srgbClr val="000000"/>
                </a:solidFill>
                <a:latin typeface="Arial Unicode MS"/>
                <a:ea typeface="Arial Unicode MS"/>
                <a:cs typeface="Arial Unicode MS"/>
              </a:rPr>
              <a:t>。為什麼？看最下面那一行：77 GHz 的波長大約四公釐，霧滴的直徑只有幾十微米，波長比障礙物大很多的時候，波會直接繞過去。就像海浪碰到一根細竹竿不會被擋住。
</a:t>
            </a:r>
          </a:p>
          <a:p>
            <a:pPr algn="l">
              <a:lnSpc>
                <a:spcPct val="115000"/>
              </a:lnSpc>
              <a:spcAft>
                <a:spcPts val="500"/>
              </a:spcAft>
            </a:pPr>
            <a:r>
              <a:rPr sz="1000" lang="zh-TW" dirty="0">
                <a:solidFill>
                  <a:srgbClr val="000000"/>
                </a:solidFill>
                <a:latin typeface="Arial Unicode MS"/>
                <a:ea typeface="Arial Unicode MS"/>
                <a:cs typeface="Arial Unicode MS"/>
              </a:rPr>
              <a:t>缺點是角解析度差。它知道「三十公尺外有東西」，但那個東西在左邊一點還是右邊一點，它分得很模糊。兩台並排的機車，雷達可能只看到一個目標。
</a:t>
            </a:r>
          </a:p>
          <a:p>
            <a:pPr algn="l">
              <a:lnSpc>
                <a:spcPct val="115000"/>
              </a:lnSpc>
              <a:spcAft>
                <a:spcPts val="500"/>
              </a:spcAft>
            </a:pPr>
            <a:r>
              <a:rPr sz="1000" lang="zh-TW" dirty="0">
                <a:solidFill>
                  <a:srgbClr val="000000"/>
                </a:solidFill>
                <a:latin typeface="Arial Unicode MS"/>
                <a:ea typeface="Arial Unicode MS"/>
                <a:cs typeface="Arial Unicode MS"/>
              </a:rPr>
              <a:t>還有一件事等一下操作時會看到：工具裡雷達的預設是</a:t>
            </a:r>
            <a:r>
              <a:rPr sz="1000" b="1" lang="zh-TW" dirty="0">
                <a:solidFill>
                  <a:srgbClr val="000000"/>
                </a:solidFill>
                <a:latin typeface="Arial Unicode MS"/>
                <a:ea typeface="Arial Unicode MS"/>
                <a:cs typeface="Arial Unicode MS"/>
              </a:rPr>
              <a:t>長距雷達</a:t>
            </a:r>
            <a:r>
              <a:rPr sz="1000" lang="zh-TW" dirty="0">
                <a:solidFill>
                  <a:srgbClr val="000000"/>
                </a:solidFill>
                <a:latin typeface="Arial Unicode MS"/>
                <a:ea typeface="Arial Unicode MS"/>
                <a:cs typeface="Arial Unicode MS"/>
              </a:rPr>
              <a:t>，兩百五十公尺，但視野只有二十度——非常窄。真車因此要另外再裝中短距雷達補兩側，那種是六十到一百公尺配九十到一百五十度。看得遠和看得廣，一顆做不到兩件事。
</a:t>
            </a:r>
          </a:p>
          <a:p>
            <a:pPr algn="l">
              <a:lnSpc>
                <a:spcPct val="115000"/>
              </a:lnSpc>
              <a:spcAft>
                <a:spcPts val="500"/>
              </a:spcAft>
            </a:pPr>
            <a:r>
              <a:rPr sz="1000" lang="zh-TW" dirty="0">
                <a:solidFill>
                  <a:srgbClr val="000000"/>
                </a:solidFill>
                <a:latin typeface="Arial Unicode MS"/>
                <a:ea typeface="Arial Unicode MS"/>
                <a:cs typeface="Arial Unicode MS"/>
              </a:rPr>
              <a:t>用途：你們家裡的車如果有定速跟車或自動煞車，那就是雷達。它是量產車上最早普及的自駕感測器，因為便宜又耐用。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這一支是雷達的動畫解說。
</a:t>
            </a:r>
          </a:p>
          <a:p>
            <a:pPr algn="l">
              <a:lnSpc>
                <a:spcPct val="115000"/>
              </a:lnSpc>
              <a:spcAft>
                <a:spcPts val="600"/>
              </a:spcAft>
            </a:pPr>
            <a:r>
              <a:rPr sz="1200" lang="zh-TW" dirty="0">
                <a:solidFill>
                  <a:srgbClr val="000000"/>
                </a:solidFill>
                <a:latin typeface="Arial Unicode MS"/>
                <a:ea typeface="Arial Unicode MS"/>
                <a:cs typeface="Arial Unicode MS"/>
              </a:rPr>
              <a:t>先說明一下：雷達的實體照片我沒有找到合適的開放授權版本，所以左邊暫時放圖示。如果老師的車有自動煞車或定速跟車，水箱罩後面或保險桿中間就有一顆，可以自己拍一張換上去——這樣學生更有感。
</a:t>
            </a:r>
          </a:p>
          <a:p>
            <a:pPr algn="l">
              <a:lnSpc>
                <a:spcPct val="115000"/>
              </a:lnSpc>
              <a:spcAft>
                <a:spcPts val="600"/>
              </a:spcAft>
            </a:pPr>
            <a:r>
              <a:rPr sz="1200" lang="zh-TW" dirty="0">
                <a:solidFill>
                  <a:srgbClr val="000000"/>
                </a:solidFill>
                <a:latin typeface="Arial Unicode MS"/>
                <a:ea typeface="Arial Unicode MS"/>
                <a:cs typeface="Arial Unicode MS"/>
              </a:rPr>
              <a:t>影片要看的重點：
</a:t>
            </a:r>
          </a:p>
          <a:p>
            <a:pPr algn="l">
              <a:lnSpc>
                <a:spcPct val="115000"/>
              </a:lnSpc>
              <a:spcAft>
                <a:spcPts val="600"/>
              </a:spcAft>
            </a:pPr>
            <a:r>
              <a:rPr sz="1200" lang="zh-TW" dirty="0">
                <a:solidFill>
                  <a:srgbClr val="000000"/>
                </a:solidFill>
                <a:latin typeface="Arial Unicode MS"/>
                <a:ea typeface="Arial Unicode MS"/>
                <a:cs typeface="Arial Unicode MS"/>
              </a:rPr>
              <a:t>第一，發出去的波和回來的波，動畫會把兩條疊在一起給你看，頻率已經不一樣了。那個差值就是速度。
</a:t>
            </a:r>
          </a:p>
          <a:p>
            <a:pPr algn="l">
              <a:lnSpc>
                <a:spcPct val="115000"/>
              </a:lnSpc>
              <a:spcAft>
                <a:spcPts val="600"/>
              </a:spcAft>
            </a:pPr>
            <a:r>
              <a:rPr sz="1200" lang="zh-TW" dirty="0">
                <a:solidFill>
                  <a:srgbClr val="000000"/>
                </a:solidFill>
                <a:latin typeface="Arial Unicode MS"/>
                <a:ea typeface="Arial Unicode MS"/>
                <a:cs typeface="Arial Unicode MS"/>
              </a:rPr>
              <a:t>第二，注意雷達在車上的位置。它通常藏在水箱罩後面，因為無線電波可以穿透塑膠，不用像相機那樣一定要露出來。這也是為什麼你在路上看不到它。
</a:t>
            </a:r>
          </a:p>
          <a:p>
            <a:pPr algn="l">
              <a:lnSpc>
                <a:spcPct val="115000"/>
              </a:lnSpc>
              <a:spcAft>
                <a:spcPts val="600"/>
              </a:spcAft>
            </a:pPr>
            <a:r>
              <a:rPr sz="1200" lang="zh-TW" dirty="0">
                <a:solidFill>
                  <a:srgbClr val="000000"/>
                </a:solidFill>
                <a:latin typeface="Arial Unicode MS"/>
                <a:ea typeface="Arial Unicode MS"/>
                <a:cs typeface="Arial Unicode MS"/>
              </a:rPr>
              <a:t>第三，看完請回想一件事：如果那個東西是橫越過去的，頻率的變化會是多少？
</a:t>
            </a:r>
          </a:p>
          <a:p>
            <a:pPr algn="l">
              <a:lnSpc>
                <a:spcPct val="115000"/>
              </a:lnSpc>
              <a:spcAft>
                <a:spcPts val="600"/>
              </a:spcAft>
            </a:pPr>
            <a:r>
              <a:rPr sz="1200" lang="zh-TW" dirty="0">
                <a:solidFill>
                  <a:srgbClr val="000000"/>
                </a:solidFill>
                <a:latin typeface="Arial Unicode MS"/>
                <a:ea typeface="Arial Unicode MS"/>
                <a:cs typeface="Arial Unicode MS"/>
              </a:rPr>
              <a:t>（預期答案：幾乎沒有變化。這個等一下上台操作時會親眼看到。）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光達和雷達都講完了，用一支兩分半的影片把這兩種放在一起比一次。
</a:t>
            </a:r>
          </a:p>
          <a:p>
            <a:pPr algn="l">
              <a:lnSpc>
                <a:spcPct val="115000"/>
              </a:lnSpc>
              <a:spcAft>
                <a:spcPts val="525"/>
              </a:spcAft>
            </a:pPr>
            <a:r>
              <a:rPr sz="1050" lang="zh-TW" dirty="0">
                <a:solidFill>
                  <a:srgbClr val="000000"/>
                </a:solidFill>
                <a:latin typeface="Arial Unicode MS"/>
                <a:ea typeface="Arial Unicode MS"/>
                <a:cs typeface="Arial Unicode MS"/>
              </a:rPr>
              <a:t>（播放前：英文旁白，只有自動產生的英文字幕。請點齒輪 → 字幕 → 自動翻譯 → 越南文。播到 2:25 可停。需要網路；沒網路就跳過。）
</a:t>
            </a:r>
          </a:p>
          <a:p>
            <a:pPr algn="l">
              <a:lnSpc>
                <a:spcPct val="115000"/>
              </a:lnSpc>
              <a:spcAft>
                <a:spcPts val="525"/>
              </a:spcAft>
            </a:pPr>
            <a:r>
              <a:rPr sz="1050" lang="zh-TW" dirty="0">
                <a:solidFill>
                  <a:srgbClr val="000000"/>
                </a:solidFill>
                <a:latin typeface="Arial Unicode MS"/>
                <a:ea typeface="Arial Unicode MS"/>
                <a:cs typeface="Arial Unicode MS"/>
              </a:rPr>
              <a:t>（時間碼，方便中途暫停：0:10 光達怎麼量｜0:38 光達的弱點｜0:53 雷達的強項｜1:14 雷達的限制｜1:28 哪個比較好｜1:51 結論。）
</a:t>
            </a:r>
          </a:p>
          <a:p>
            <a:pPr algn="l">
              <a:lnSpc>
                <a:spcPct val="115000"/>
              </a:lnSpc>
              <a:spcAft>
                <a:spcPts val="525"/>
              </a:spcAft>
            </a:pPr>
            <a:r>
              <a:rPr sz="1050" lang="zh-TW" dirty="0">
                <a:solidFill>
                  <a:srgbClr val="000000"/>
                </a:solidFill>
                <a:latin typeface="Arial Unicode MS"/>
                <a:ea typeface="Arial Unicode MS"/>
                <a:cs typeface="Arial Unicode MS"/>
              </a:rPr>
              <a:t>先給任務：邊看邊對照剛剛兩頁規格，它講的跟我們講的一不一樣？
</a:t>
            </a:r>
          </a:p>
          <a:p>
            <a:pPr algn="l">
              <a:lnSpc>
                <a:spcPct val="115000"/>
              </a:lnSpc>
              <a:spcAft>
                <a:spcPts val="525"/>
              </a:spcAft>
            </a:pPr>
            <a:r>
              <a:rPr sz="1050" lang="zh-TW" dirty="0">
                <a:solidFill>
                  <a:srgbClr val="000000"/>
                </a:solidFill>
                <a:latin typeface="Arial Unicode MS"/>
                <a:ea typeface="Arial Unicode MS"/>
                <a:cs typeface="Arial Unicode MS"/>
              </a:rPr>
              <a:t>看完問三題。
</a:t>
            </a:r>
          </a:p>
          <a:p>
            <a:pPr algn="l">
              <a:lnSpc>
                <a:spcPct val="115000"/>
              </a:lnSpc>
              <a:spcAft>
                <a:spcPts val="525"/>
              </a:spcAft>
            </a:pPr>
            <a:r>
              <a:rPr sz="1050" lang="zh-TW" dirty="0">
                <a:solidFill>
                  <a:srgbClr val="000000"/>
                </a:solidFill>
                <a:latin typeface="Arial Unicode MS"/>
                <a:ea typeface="Arial Unicode MS"/>
                <a:cs typeface="Arial Unicode MS"/>
              </a:rPr>
              <a:t>第一，影片說光達的弱點是什麼？（預期：怕雨霧雪、貴。跟第 4 張一樣，第三節會用數字量。）
</a:t>
            </a:r>
          </a:p>
          <a:p>
            <a:pPr algn="l">
              <a:lnSpc>
                <a:spcPct val="115000"/>
              </a:lnSpc>
              <a:spcAft>
                <a:spcPts val="525"/>
              </a:spcAft>
            </a:pPr>
            <a:r>
              <a:rPr sz="1050" lang="zh-TW" dirty="0">
                <a:solidFill>
                  <a:srgbClr val="000000"/>
                </a:solidFill>
                <a:latin typeface="Arial Unicode MS"/>
                <a:ea typeface="Arial Unicode MS"/>
                <a:cs typeface="Arial Unicode MS"/>
              </a:rPr>
              <a:t>第二，影片提到雷達知道前面有東西，卻分不出那是什麼。這對應今天哪個重點？（預期：量得到距離，不等於知道那是什麼。等一下上台會看到雷達那張卡只寫「未分類障礙物」。）
</a:t>
            </a:r>
          </a:p>
          <a:p>
            <a:pPr algn="l">
              <a:lnSpc>
                <a:spcPct val="115000"/>
              </a:lnSpc>
              <a:spcAft>
                <a:spcPts val="525"/>
              </a:spcAft>
            </a:pPr>
            <a:r>
              <a:rPr sz="1050" lang="zh-TW" dirty="0">
                <a:solidFill>
                  <a:srgbClr val="000000"/>
                </a:solidFill>
                <a:latin typeface="Arial Unicode MS"/>
                <a:ea typeface="Arial Unicode MS"/>
                <a:cs typeface="Arial Unicode MS"/>
              </a:rPr>
              <a:t>第三題最重要：</a:t>
            </a:r>
            <a:r>
              <a:rPr sz="1050" b="1" lang="zh-TW" dirty="0">
                <a:solidFill>
                  <a:srgbClr val="000000"/>
                </a:solidFill>
                <a:latin typeface="Arial Unicode MS"/>
                <a:ea typeface="Arial Unicode MS"/>
                <a:cs typeface="Arial Unicode MS"/>
              </a:rPr>
              <a:t>這支影片從頭到尾沒提到哪一種感測器？</a:t>
            </a:r>
            <a:r>
              <a:rPr sz="1050" lang="zh-TW" dirty="0">
                <a:solidFill>
                  <a:srgbClr val="000000"/>
                </a:solidFill>
                <a:latin typeface="Arial Unicode MS"/>
                <a:ea typeface="Arial Unicode MS"/>
                <a:cs typeface="Arial Unicode MS"/>
              </a:rPr>
              <a:t>（預期：相機。）
</a:t>
            </a:r>
          </a:p>
          <a:p>
            <a:pPr algn="l">
              <a:lnSpc>
                <a:spcPct val="115000"/>
              </a:lnSpc>
              <a:spcAft>
                <a:spcPts val="525"/>
              </a:spcAft>
            </a:pPr>
            <a:r>
              <a:rPr sz="1050" lang="zh-TW" dirty="0">
                <a:solidFill>
                  <a:srgbClr val="000000"/>
                </a:solidFill>
                <a:latin typeface="Arial Unicode MS"/>
                <a:ea typeface="Arial Unicode MS"/>
                <a:cs typeface="Arial Unicode MS"/>
              </a:rPr>
              <a:t>影片說多數自駕車是光達加雷達一起用，這不算錯，但不完整——它漏掉了數量最多、而且唯一讀得出紅綠燈的那一種。以後看這類科普影片，不只看它講了什麼，也要想它</a:t>
            </a:r>
            <a:r>
              <a:rPr sz="1050" b="1" lang="zh-TW" dirty="0">
                <a:solidFill>
                  <a:srgbClr val="000000"/>
                </a:solidFill>
                <a:latin typeface="Arial Unicode MS"/>
                <a:ea typeface="Arial Unicode MS"/>
                <a:cs typeface="Arial Unicode MS"/>
              </a:rPr>
              <a:t>沒講</a:t>
            </a:r>
            <a:r>
              <a:rPr sz="1050" lang="zh-TW" dirty="0">
                <a:solidFill>
                  <a:srgbClr val="000000"/>
                </a:solidFill>
                <a:latin typeface="Arial Unicode MS"/>
                <a:ea typeface="Arial Unicode MS"/>
                <a:cs typeface="Arial Unicode MS"/>
              </a:rPr>
              <a:t>什麼。
</a:t>
            </a:r>
          </a:p>
          <a:p>
            <a:pPr algn="l">
              <a:lnSpc>
                <a:spcPct val="115000"/>
              </a:lnSpc>
              <a:spcAft>
                <a:spcPts val="525"/>
              </a:spcAft>
            </a:pPr>
            <a:r>
              <a:rPr sz="1050" lang="zh-TW" dirty="0">
                <a:solidFill>
                  <a:srgbClr val="000000"/>
                </a:solidFill>
                <a:latin typeface="Arial Unicode MS"/>
                <a:ea typeface="Arial Unicode MS"/>
                <a:cs typeface="Arial Unicode MS"/>
              </a:rPr>
              <a:t>補充：影片描述的是車頂旋轉式光達，那只是其中一種，下禮拜會看到固定式的。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第四種，超音波。這一種大家其實每天都聽過。
</a:t>
            </a:r>
          </a:p>
          <a:p>
            <a:pPr algn="l">
              <a:lnSpc>
                <a:spcPct val="115000"/>
              </a:lnSpc>
              <a:spcAft>
                <a:spcPts val="600"/>
              </a:spcAft>
            </a:pPr>
            <a:r>
              <a:rPr sz="1200" lang="zh-TW" dirty="0">
                <a:solidFill>
                  <a:srgbClr val="000000"/>
                </a:solidFill>
                <a:latin typeface="Arial Unicode MS"/>
                <a:ea typeface="Arial Unicode MS"/>
                <a:cs typeface="Arial Unicode MS"/>
              </a:rPr>
              <a:t>停車的時候車子嗶嗶叫，就是它。
</a:t>
            </a:r>
          </a:p>
          <a:p>
            <a:pPr algn="l">
              <a:lnSpc>
                <a:spcPct val="115000"/>
              </a:lnSpc>
              <a:spcAft>
                <a:spcPts val="600"/>
              </a:spcAft>
            </a:pPr>
            <a:r>
              <a:rPr sz="1200" lang="zh-TW" dirty="0">
                <a:solidFill>
                  <a:srgbClr val="000000"/>
                </a:solidFill>
                <a:latin typeface="Arial Unicode MS"/>
                <a:ea typeface="Arial Unicode MS"/>
                <a:cs typeface="Arial Unicode MS"/>
              </a:rPr>
              <a:t>原理跟光達、雷達一樣是量時間，只是它發的是聲音——大約四十到五十千赫，超過人耳的上限，所以我們聽不到它發出去的訊號，只聽得到車機翻譯後的嗶聲。
</a:t>
            </a:r>
          </a:p>
          <a:p>
            <a:pPr algn="l">
              <a:lnSpc>
                <a:spcPct val="115000"/>
              </a:lnSpc>
              <a:spcAft>
                <a:spcPts val="600"/>
              </a:spcAft>
            </a:pPr>
            <a:r>
              <a:rPr sz="1200" lang="zh-TW" dirty="0">
                <a:solidFill>
                  <a:srgbClr val="000000"/>
                </a:solidFill>
                <a:latin typeface="Arial Unicode MS"/>
                <a:ea typeface="Arial Unicode MS"/>
                <a:cs typeface="Arial Unicode MS"/>
              </a:rPr>
              <a:t>這裡有一個很聰明的工程考量。聲音每秒只走三百四十公尺，比光慢了上百萬倍。量一公尺的距離，來回兩公尺，時間大約是</a:t>
            </a:r>
            <a:r>
              <a:rPr sz="1200" b="1" lang="zh-TW" dirty="0">
                <a:solidFill>
                  <a:srgbClr val="000000"/>
                </a:solidFill>
                <a:latin typeface="Arial Unicode MS"/>
                <a:ea typeface="Arial Unicode MS"/>
                <a:cs typeface="Arial Unicode MS"/>
              </a:rPr>
              <a:t>六毫秒</a:t>
            </a:r>
            <a:r>
              <a:rPr sz="1200" lang="zh-TW" dirty="0">
                <a:solidFill>
                  <a:srgbClr val="000000"/>
                </a:solidFill>
                <a:latin typeface="Arial Unicode MS"/>
                <a:ea typeface="Arial Unicode MS"/>
                <a:cs typeface="Arial Unicode MS"/>
              </a:rPr>
              <a:t>——這個時間長到用很便宜的電路就量得出來。所以超音波感測器一顆只要幾十塊錢，而光達要幾萬塊。
</a:t>
            </a:r>
          </a:p>
          <a:p>
            <a:pPr algn="l">
              <a:lnSpc>
                <a:spcPct val="115000"/>
              </a:lnSpc>
              <a:spcAft>
                <a:spcPts val="600"/>
              </a:spcAft>
            </a:pPr>
            <a:r>
              <a:rPr sz="1200" b="1" lang="zh-TW" dirty="0">
                <a:solidFill>
                  <a:srgbClr val="000000"/>
                </a:solidFill>
                <a:latin typeface="Arial Unicode MS"/>
                <a:ea typeface="Arial Unicode MS"/>
                <a:cs typeface="Arial Unicode MS"/>
              </a:rPr>
              <a:t>慢，在這裡反而是優點。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缺點很明顯：只有幾公尺——量產的停車感測器大約是零點一五到五點五公尺，工具裡預設四點五。聲音在空氣裡衰減得很快，而且會受風和溫度影響——溫度變了聲速就變了，距離就會算錯。
</a:t>
            </a:r>
          </a:p>
          <a:p>
            <a:pPr algn="l">
              <a:lnSpc>
                <a:spcPct val="115000"/>
              </a:lnSpc>
              <a:spcAft>
                <a:spcPts val="600"/>
              </a:spcAft>
            </a:pPr>
            <a:r>
              <a:rPr sz="1200" lang="zh-TW" dirty="0">
                <a:solidFill>
                  <a:srgbClr val="000000"/>
                </a:solidFill>
                <a:latin typeface="Arial Unicode MS"/>
                <a:ea typeface="Arial Unicode MS"/>
                <a:cs typeface="Arial Unicode MS"/>
              </a:rPr>
              <a:t>用途就是保險桿上那一排小圓點，管車身周圍那一圈。聽起來很弱對不對？可是等一下實際操作的時候你們會看到，在貼近車身的那個距離，其他五種全部看不到，只有它還在工作。
</a:t>
            </a:r>
          </a:p>
          <a:p>
            <a:pPr algn="l">
              <a:lnSpc>
                <a:spcPct val="115000"/>
              </a:lnSpc>
              <a:spcAft>
                <a:spcPts val="600"/>
              </a:spcAft>
            </a:pPr>
            <a:r>
              <a:rPr sz="1200" lang="zh-TW" dirty="0">
                <a:solidFill>
                  <a:srgbClr val="000000"/>
                </a:solidFill>
                <a:latin typeface="Arial Unicode MS"/>
                <a:ea typeface="Arial Unicode MS"/>
                <a:cs typeface="Arial Unicode MS"/>
              </a:rPr>
              <a:t>每一種感測器，都是為了補另一種的弱點而存在的。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左邊這張是停車感測器的特寫，就是保險桿上那個小圓點，照片來自 Wikimedia Commons，CC BY 2.0。
</a:t>
            </a:r>
          </a:p>
          <a:p>
            <a:pPr algn="l">
              <a:lnSpc>
                <a:spcPct val="115000"/>
              </a:lnSpc>
              <a:spcAft>
                <a:spcPts val="600"/>
              </a:spcAft>
            </a:pPr>
            <a:r>
              <a:rPr sz="1200" lang="zh-TW" dirty="0">
                <a:solidFill>
                  <a:srgbClr val="000000"/>
                </a:solidFill>
                <a:latin typeface="Arial Unicode MS"/>
                <a:ea typeface="Arial Unicode MS"/>
                <a:cs typeface="Arial Unicode MS"/>
              </a:rPr>
              <a:t>大家下課可以到停車場看看，一台車的後保險桿通常有四顆，前面也有四顆。
</a:t>
            </a:r>
          </a:p>
          <a:p>
            <a:pPr algn="l">
              <a:lnSpc>
                <a:spcPct val="115000"/>
              </a:lnSpc>
              <a:spcAft>
                <a:spcPts val="600"/>
              </a:spcAft>
            </a:pPr>
            <a:r>
              <a:rPr sz="1200" lang="zh-TW" dirty="0">
                <a:solidFill>
                  <a:srgbClr val="000000"/>
                </a:solidFill>
                <a:latin typeface="Arial Unicode MS"/>
                <a:ea typeface="Arial Unicode MS"/>
                <a:cs typeface="Arial Unicode MS"/>
              </a:rPr>
              <a:t>影片重點：
</a:t>
            </a:r>
          </a:p>
          <a:p>
            <a:pPr algn="l">
              <a:lnSpc>
                <a:spcPct val="115000"/>
              </a:lnSpc>
              <a:spcAft>
                <a:spcPts val="600"/>
              </a:spcAft>
            </a:pPr>
            <a:r>
              <a:rPr sz="1200" lang="zh-TW" dirty="0">
                <a:solidFill>
                  <a:srgbClr val="000000"/>
                </a:solidFill>
                <a:latin typeface="Arial Unicode MS"/>
                <a:ea typeface="Arial Unicode MS"/>
                <a:cs typeface="Arial Unicode MS"/>
              </a:rPr>
              <a:t>第一，數數看一台車裝幾顆。為什麼要好幾顆？因為一顆的視野只有一個錐形，要涵蓋整個車尾就得排一排。
</a:t>
            </a:r>
          </a:p>
          <a:p>
            <a:pPr algn="l">
              <a:lnSpc>
                <a:spcPct val="115000"/>
              </a:lnSpc>
              <a:spcAft>
                <a:spcPts val="600"/>
              </a:spcAft>
            </a:pPr>
            <a:r>
              <a:rPr sz="1200" lang="zh-TW" dirty="0">
                <a:solidFill>
                  <a:srgbClr val="000000"/>
                </a:solidFill>
                <a:latin typeface="Arial Unicode MS"/>
                <a:ea typeface="Arial Unicode MS"/>
                <a:cs typeface="Arial Unicode MS"/>
              </a:rPr>
              <a:t>第二，嗶嗶聲。愈近嗶得愈快，那是車子把距離翻譯成你聽得懂的東西。其實螢幕上也會畫距離，但聲音不用你低頭看。
</a:t>
            </a:r>
          </a:p>
          <a:p>
            <a:pPr algn="l">
              <a:lnSpc>
                <a:spcPct val="115000"/>
              </a:lnSpc>
              <a:spcAft>
                <a:spcPts val="600"/>
              </a:spcAft>
            </a:pPr>
            <a:r>
              <a:rPr sz="1200" lang="zh-TW" dirty="0">
                <a:solidFill>
                  <a:srgbClr val="000000"/>
                </a:solidFill>
                <a:latin typeface="Arial Unicode MS"/>
                <a:ea typeface="Arial Unicode MS"/>
                <a:cs typeface="Arial Unicode MS"/>
              </a:rPr>
              <a:t>第三，一個思考題：為什麼超音波只在停車的時候用，開車的時候不用？
</a:t>
            </a:r>
          </a:p>
          <a:p>
            <a:pPr algn="l">
              <a:lnSpc>
                <a:spcPct val="115000"/>
              </a:lnSpc>
              <a:spcAft>
                <a:spcPts val="600"/>
              </a:spcAft>
            </a:pPr>
            <a:r>
              <a:rPr sz="1200" lang="zh-TW" dirty="0">
                <a:solidFill>
                  <a:srgbClr val="000000"/>
                </a:solidFill>
                <a:latin typeface="Arial Unicode MS"/>
                <a:ea typeface="Arial Unicode MS"/>
                <a:cs typeface="Arial Unicode MS"/>
              </a:rPr>
              <a:t>（預期答案：只有幾公尺，時速五十的煞停距離要二十公尺，它根本來不及。第二節會算這個。）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第五種，衛星定位，GNSS。
</a:t>
            </a:r>
          </a:p>
          <a:p>
            <a:pPr algn="l">
              <a:lnSpc>
                <a:spcPct val="115000"/>
              </a:lnSpc>
              <a:spcAft>
                <a:spcPts val="525"/>
              </a:spcAft>
            </a:pPr>
            <a:r>
              <a:rPr sz="1050" lang="zh-TW" dirty="0">
                <a:solidFill>
                  <a:srgbClr val="000000"/>
                </a:solidFill>
                <a:latin typeface="Arial Unicode MS"/>
                <a:ea typeface="Arial Unicode MS"/>
                <a:cs typeface="Arial Unicode MS"/>
              </a:rPr>
              <a:t>我特別要把它跟前面四種分開講，因為它做的事情</a:t>
            </a:r>
            <a:r>
              <a:rPr sz="1050" b="1" lang="zh-TW" dirty="0">
                <a:solidFill>
                  <a:srgbClr val="000000"/>
                </a:solidFill>
                <a:latin typeface="Arial Unicode MS"/>
                <a:ea typeface="Arial Unicode MS"/>
                <a:cs typeface="Arial Unicode MS"/>
              </a:rPr>
              <a:t>根本不一樣</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前面四種都是往外看：前面有什麼、多遠、什麼形狀。GNSS 完全不看外面，它只回答一個問題：</a:t>
            </a:r>
            <a:r>
              <a:rPr sz="1050" b="1" lang="zh-TW" dirty="0">
                <a:solidFill>
                  <a:srgbClr val="000000"/>
                </a:solidFill>
                <a:latin typeface="Arial Unicode MS"/>
                <a:ea typeface="Arial Unicode MS"/>
                <a:cs typeface="Arial Unicode MS"/>
              </a:rPr>
              <a:t>我在哪裡</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原理是比對時間。天上每顆衛星不斷廣播「我是幾號衛星，現在幾點幾分幾秒，我在這個位置」。訊號傳到你的接收器要時間，你比對「它說幾點發的」和「我幾點收到」，就知道離那顆衛星多遠。同時收到四顆以上，就能解出自己在三維空間的位置。
</a:t>
            </a:r>
          </a:p>
          <a:p>
            <a:pPr algn="l">
              <a:lnSpc>
                <a:spcPct val="115000"/>
              </a:lnSpc>
              <a:spcAft>
                <a:spcPts val="525"/>
              </a:spcAft>
            </a:pPr>
            <a:r>
              <a:rPr sz="1050" lang="zh-TW" dirty="0">
                <a:solidFill>
                  <a:srgbClr val="000000"/>
                </a:solidFill>
                <a:latin typeface="Arial Unicode MS"/>
                <a:ea typeface="Arial Unicode MS"/>
                <a:cs typeface="Arial Unicode MS"/>
              </a:rPr>
              <a:t>為什麼要四顆不是三顆？因為還有一個未知數是你自己接收器的時鐘誤差。三顆解位置，第四顆解時間。
</a:t>
            </a:r>
          </a:p>
          <a:p>
            <a:pPr algn="l">
              <a:lnSpc>
                <a:spcPct val="115000"/>
              </a:lnSpc>
              <a:spcAft>
                <a:spcPts val="525"/>
              </a:spcAft>
            </a:pPr>
            <a:r>
              <a:rPr sz="1050" lang="zh-TW" dirty="0">
                <a:solidFill>
                  <a:srgbClr val="000000"/>
                </a:solidFill>
                <a:latin typeface="Arial Unicode MS"/>
                <a:ea typeface="Arial Unicode MS"/>
                <a:cs typeface="Arial Unicode MS"/>
              </a:rPr>
              <a:t>特性：它給的是</a:t>
            </a:r>
            <a:r>
              <a:rPr sz="1050" b="1" lang="zh-TW" dirty="0">
                <a:solidFill>
                  <a:srgbClr val="000000"/>
                </a:solidFill>
                <a:latin typeface="Arial Unicode MS"/>
                <a:ea typeface="Arial Unicode MS"/>
                <a:cs typeface="Arial Unicode MS"/>
              </a:rPr>
              <a:t>絕對位置</a:t>
            </a:r>
            <a:r>
              <a:rPr sz="1050" lang="zh-TW" dirty="0">
                <a:solidFill>
                  <a:srgbClr val="000000"/>
                </a:solidFill>
                <a:latin typeface="Arial Unicode MS"/>
                <a:ea typeface="Arial Unicode MS"/>
                <a:cs typeface="Arial Unicode MS"/>
              </a:rPr>
              <a:t>，經緯度，全世界通用。這是別人給不了的。
</a:t>
            </a:r>
          </a:p>
          <a:p>
            <a:pPr algn="l">
              <a:lnSpc>
                <a:spcPct val="115000"/>
              </a:lnSpc>
              <a:spcAft>
                <a:spcPts val="525"/>
              </a:spcAft>
            </a:pPr>
            <a:r>
              <a:rPr sz="1050" lang="zh-TW" dirty="0">
                <a:solidFill>
                  <a:srgbClr val="000000"/>
                </a:solidFill>
                <a:latin typeface="Arial Unicode MS"/>
                <a:ea typeface="Arial Unicode MS"/>
                <a:cs typeface="Arial Unicode MS"/>
              </a:rPr>
              <a:t>缺點是誤差有幾公尺。大家想一想，車道寬三點五公尺，誤差兩三公尺代表什麼？
</a:t>
            </a:r>
          </a:p>
          <a:p>
            <a:pPr algn="l">
              <a:lnSpc>
                <a:spcPct val="115000"/>
              </a:lnSpc>
              <a:spcAft>
                <a:spcPts val="525"/>
              </a:spcAft>
            </a:pPr>
            <a:r>
              <a:rPr sz="1050" lang="zh-TW" dirty="0">
                <a:solidFill>
                  <a:srgbClr val="000000"/>
                </a:solidFill>
                <a:latin typeface="Arial Unicode MS"/>
                <a:ea typeface="Arial Unicode MS"/>
                <a:cs typeface="Arial Unicode MS"/>
              </a:rPr>
              <a:t>（預期答案：分不出自己在哪一個車道。）
</a:t>
            </a:r>
          </a:p>
          <a:p>
            <a:pPr algn="l">
              <a:lnSpc>
                <a:spcPct val="115000"/>
              </a:lnSpc>
              <a:spcAft>
                <a:spcPts val="525"/>
              </a:spcAft>
            </a:pPr>
            <a:r>
              <a:rPr sz="1050" lang="zh-TW" dirty="0">
                <a:solidFill>
                  <a:srgbClr val="000000"/>
                </a:solidFill>
                <a:latin typeface="Arial Unicode MS"/>
                <a:ea typeface="Arial Unicode MS"/>
                <a:cs typeface="Arial Unicode MS"/>
              </a:rPr>
              <a:t>對。所以 GNSS 可以告訴你「你在中正路上」，但沒辦法告訴你「你在中間那個車道」。要知道車道，還是得靠相機看標線。
</a:t>
            </a:r>
          </a:p>
          <a:p>
            <a:pPr algn="l">
              <a:lnSpc>
                <a:spcPct val="115000"/>
              </a:lnSpc>
              <a:spcAft>
                <a:spcPts val="525"/>
              </a:spcAft>
            </a:pPr>
            <a:r>
              <a:rPr sz="1050" lang="zh-TW" dirty="0">
                <a:solidFill>
                  <a:srgbClr val="000000"/>
                </a:solidFill>
                <a:latin typeface="Arial Unicode MS"/>
                <a:ea typeface="Arial Unicode MS"/>
                <a:cs typeface="Arial Unicode MS"/>
              </a:rPr>
              <a:t>而且隧道裡、高樓之間會收不到訊號，這時候要靠慣性感測器暫時頂著。
</a:t>
            </a:r>
          </a:p>
          <a:p>
            <a:pPr algn="l">
              <a:lnSpc>
                <a:spcPct val="115000"/>
              </a:lnSpc>
              <a:spcAft>
                <a:spcPts val="525"/>
              </a:spcAft>
            </a:pPr>
            <a:r>
              <a:rPr sz="1050" lang="zh-TW" dirty="0">
                <a:solidFill>
                  <a:srgbClr val="000000"/>
                </a:solidFill>
                <a:latin typeface="Arial Unicode MS"/>
                <a:ea typeface="Arial Unicode MS"/>
                <a:cs typeface="Arial Unicode MS"/>
              </a:rPr>
              <a:t>最下面那句話請記住：它是唯一不看外面的一種。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左邊這張是 GNSS 天線，測量等級的那種，比手機裡面那顆準很多。照片來自 Wikimedia Commons，CC BY-SA 4.0。
</a:t>
            </a:r>
          </a:p>
          <a:p>
            <a:pPr algn="l">
              <a:lnSpc>
                <a:spcPct val="115000"/>
              </a:lnSpc>
              <a:spcAft>
                <a:spcPts val="600"/>
              </a:spcAft>
            </a:pPr>
            <a:r>
              <a:rPr sz="1200" lang="zh-TW" dirty="0">
                <a:solidFill>
                  <a:srgbClr val="000000"/>
                </a:solidFill>
                <a:latin typeface="Arial Unicode MS"/>
                <a:ea typeface="Arial Unicode MS"/>
                <a:cs typeface="Arial Unicode MS"/>
              </a:rPr>
              <a:t>影片是 Perimeter Institute 拍的——那是加拿大一間理論物理研究院，他們用實體教具示範三邊測量，講得非常清楚，適合給不熟數學的同學看。
</a:t>
            </a:r>
          </a:p>
          <a:p>
            <a:pPr algn="l">
              <a:lnSpc>
                <a:spcPct val="115000"/>
              </a:lnSpc>
              <a:spcAft>
                <a:spcPts val="600"/>
              </a:spcAft>
            </a:pPr>
            <a:r>
              <a:rPr sz="1200" lang="zh-TW" dirty="0">
                <a:solidFill>
                  <a:srgbClr val="000000"/>
                </a:solidFill>
                <a:latin typeface="Arial Unicode MS"/>
                <a:ea typeface="Arial Unicode MS"/>
                <a:cs typeface="Arial Unicode MS"/>
              </a:rPr>
              <a:t>重點：
</a:t>
            </a:r>
          </a:p>
          <a:p>
            <a:pPr algn="l">
              <a:lnSpc>
                <a:spcPct val="115000"/>
              </a:lnSpc>
              <a:spcAft>
                <a:spcPts val="600"/>
              </a:spcAft>
            </a:pPr>
            <a:r>
              <a:rPr sz="1200" lang="zh-TW" dirty="0">
                <a:solidFill>
                  <a:srgbClr val="000000"/>
                </a:solidFill>
                <a:latin typeface="Arial Unicode MS"/>
                <a:ea typeface="Arial Unicode MS"/>
                <a:cs typeface="Arial Unicode MS"/>
              </a:rPr>
              <a:t>一顆衛星，你只知道自己離它多遠，也就是在某個球面上，可能在地球任何地方。
</a:t>
            </a:r>
          </a:p>
          <a:p>
            <a:pPr algn="l">
              <a:lnSpc>
                <a:spcPct val="115000"/>
              </a:lnSpc>
              <a:spcAft>
                <a:spcPts val="600"/>
              </a:spcAft>
            </a:pPr>
            <a:r>
              <a:rPr sz="1200" lang="zh-TW" dirty="0">
                <a:solidFill>
                  <a:srgbClr val="000000"/>
                </a:solidFill>
                <a:latin typeface="Arial Unicode MS"/>
                <a:ea typeface="Arial Unicode MS"/>
                <a:cs typeface="Arial Unicode MS"/>
              </a:rPr>
              <a:t>兩顆，兩個球面相交成一個圓。
</a:t>
            </a:r>
          </a:p>
          <a:p>
            <a:pPr algn="l">
              <a:lnSpc>
                <a:spcPct val="115000"/>
              </a:lnSpc>
              <a:spcAft>
                <a:spcPts val="600"/>
              </a:spcAft>
            </a:pPr>
            <a:r>
              <a:rPr sz="1200" lang="zh-TW" dirty="0">
                <a:solidFill>
                  <a:srgbClr val="000000"/>
                </a:solidFill>
                <a:latin typeface="Arial Unicode MS"/>
                <a:ea typeface="Arial Unicode MS"/>
                <a:cs typeface="Arial Unicode MS"/>
              </a:rPr>
              <a:t>三顆，縮到兩個點，其中一個通常在外太空，可以排除。
</a:t>
            </a:r>
          </a:p>
          <a:p>
            <a:pPr algn="l">
              <a:lnSpc>
                <a:spcPct val="115000"/>
              </a:lnSpc>
              <a:spcAft>
                <a:spcPts val="600"/>
              </a:spcAft>
            </a:pPr>
            <a:r>
              <a:rPr sz="1200" lang="zh-TW" dirty="0">
                <a:solidFill>
                  <a:srgbClr val="000000"/>
                </a:solidFill>
                <a:latin typeface="Arial Unicode MS"/>
                <a:ea typeface="Arial Unicode MS"/>
                <a:cs typeface="Arial Unicode MS"/>
              </a:rPr>
              <a:t>四顆，解出唯一的點，而且第四顆還順便修正你接收器的時鐘誤差——剛剛那一頁講過這件事。
</a:t>
            </a:r>
          </a:p>
          <a:p>
            <a:pPr algn="l">
              <a:lnSpc>
                <a:spcPct val="115000"/>
              </a:lnSpc>
              <a:spcAft>
                <a:spcPts val="600"/>
              </a:spcAft>
            </a:pPr>
            <a:r>
              <a:rPr sz="1200" lang="zh-TW" dirty="0">
                <a:solidFill>
                  <a:srgbClr val="000000"/>
                </a:solidFill>
                <a:latin typeface="Arial Unicode MS"/>
                <a:ea typeface="Arial Unicode MS"/>
                <a:cs typeface="Arial Unicode MS"/>
              </a:rPr>
              <a:t>看完請記住一句話：它從頭到尾都在算自己在哪裡，完全沒有看前面有什麼。
</a:t>
            </a:r>
          </a:p>
          <a:p>
            <a:pPr algn="l">
              <a:lnSpc>
                <a:spcPct val="115000"/>
              </a:lnSpc>
              <a:spcAft>
                <a:spcPts val="600"/>
              </a:spcAft>
            </a:pPr>
            <a:r>
              <a:rPr sz="120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最後一種，熱像，也是今天唯一上禮拜完全沒提過的。
</a:t>
            </a:r>
          </a:p>
          <a:p>
            <a:pPr algn="l">
              <a:lnSpc>
                <a:spcPct val="115000"/>
              </a:lnSpc>
              <a:spcAft>
                <a:spcPts val="550"/>
              </a:spcAft>
            </a:pPr>
            <a:r>
              <a:rPr sz="1100" lang="zh-TW" dirty="0">
                <a:solidFill>
                  <a:srgbClr val="000000"/>
                </a:solidFill>
                <a:latin typeface="Arial Unicode MS"/>
                <a:ea typeface="Arial Unicode MS"/>
                <a:cs typeface="Arial Unicode MS"/>
              </a:rPr>
              <a:t>它的原理跟前面五種都不一樣，我覺得是六種裡面最漂亮的一個。
</a:t>
            </a:r>
          </a:p>
          <a:p>
            <a:pPr algn="l">
              <a:lnSpc>
                <a:spcPct val="115000"/>
              </a:lnSpc>
              <a:spcAft>
                <a:spcPts val="550"/>
              </a:spcAft>
            </a:pPr>
            <a:r>
              <a:rPr sz="1100" lang="zh-TW" dirty="0">
                <a:solidFill>
                  <a:srgbClr val="000000"/>
                </a:solidFill>
                <a:latin typeface="Arial Unicode MS"/>
                <a:ea typeface="Arial Unicode MS"/>
                <a:cs typeface="Arial Unicode MS"/>
              </a:rPr>
              <a:t>物理上，任何溫度高於絕對零度的東西都會放出電磁波，溫度愈高波長愈短。人體三十七度放出來的是八到十四微米的長波紅外線。熱像感測器就是專門接收這個波段，然後把不同的強度畫成一張溫度圖。
</a:t>
            </a:r>
          </a:p>
          <a:p>
            <a:pPr algn="l">
              <a:lnSpc>
                <a:spcPct val="115000"/>
              </a:lnSpc>
              <a:spcAft>
                <a:spcPts val="550"/>
              </a:spcAft>
            </a:pPr>
            <a:r>
              <a:rPr sz="1100" lang="zh-TW" dirty="0">
                <a:solidFill>
                  <a:srgbClr val="000000"/>
                </a:solidFill>
                <a:latin typeface="Arial Unicode MS"/>
                <a:ea typeface="Arial Unicode MS"/>
                <a:cs typeface="Arial Unicode MS"/>
              </a:rPr>
              <a:t>請注意：它</a:t>
            </a:r>
            <a:r>
              <a:rPr sz="1100" b="1" lang="zh-TW" dirty="0">
                <a:solidFill>
                  <a:srgbClr val="000000"/>
                </a:solidFill>
                <a:latin typeface="Arial Unicode MS"/>
                <a:ea typeface="Arial Unicode MS"/>
                <a:cs typeface="Arial Unicode MS"/>
              </a:rPr>
              <a:t>什麼都不發射</a:t>
            </a:r>
            <a:r>
              <a:rPr sz="1100" lang="zh-TW" dirty="0">
                <a:solidFill>
                  <a:srgbClr val="000000"/>
                </a:solidFill>
                <a:latin typeface="Arial Unicode MS"/>
                <a:ea typeface="Arial Unicode MS"/>
                <a:cs typeface="Arial Unicode MS"/>
              </a:rPr>
              <a:t>，也</a:t>
            </a:r>
            <a:r>
              <a:rPr sz="1100" b="1" lang="zh-TW" dirty="0">
                <a:solidFill>
                  <a:srgbClr val="000000"/>
                </a:solidFill>
                <a:latin typeface="Arial Unicode MS"/>
                <a:ea typeface="Arial Unicode MS"/>
                <a:cs typeface="Arial Unicode MS"/>
              </a:rPr>
              <a:t>不需要任何光源</a:t>
            </a:r>
            <a:r>
              <a:rPr sz="1100" lang="zh-TW" dirty="0">
                <a:solidFill>
                  <a:srgbClr val="000000"/>
                </a:solidFill>
                <a:latin typeface="Arial Unicode MS"/>
                <a:ea typeface="Arial Unicode MS"/>
                <a:cs typeface="Arial Unicode MS"/>
              </a:rPr>
              <a:t>。相機是被動但需要光，光達雷達主動發訊號，熱像是被動而且連光都不需要——它收的是物體自己放出來的。
</a:t>
            </a:r>
          </a:p>
          <a:p>
            <a:pPr algn="l">
              <a:lnSpc>
                <a:spcPct val="115000"/>
              </a:lnSpc>
              <a:spcAft>
                <a:spcPts val="550"/>
              </a:spcAft>
            </a:pPr>
            <a:r>
              <a:rPr sz="1100" lang="zh-TW" dirty="0">
                <a:solidFill>
                  <a:srgbClr val="000000"/>
                </a:solidFill>
                <a:latin typeface="Arial Unicode MS"/>
                <a:ea typeface="Arial Unicode MS"/>
                <a:cs typeface="Arial Unicode MS"/>
              </a:rPr>
              <a:t>所以在全黑的夜裡，一個人在熱像裡是一個清清楚楚的亮形狀。
</a:t>
            </a:r>
          </a:p>
          <a:p>
            <a:pPr algn="l">
              <a:lnSpc>
                <a:spcPct val="115000"/>
              </a:lnSpc>
              <a:spcAft>
                <a:spcPts val="550"/>
              </a:spcAft>
            </a:pPr>
            <a:r>
              <a:rPr sz="1100" lang="zh-TW" dirty="0">
                <a:solidFill>
                  <a:srgbClr val="000000"/>
                </a:solidFill>
                <a:latin typeface="Arial Unicode MS"/>
                <a:ea typeface="Arial Unicode MS"/>
                <a:cs typeface="Arial Unicode MS"/>
              </a:rPr>
              <a:t>而且最下面那句話很有意思：入夜之後路面和空氣涼下來，人和背景的溫差反而變大，所以熱像在夜間</a:t>
            </a:r>
            <a:r>
              <a:rPr sz="1100" b="1" lang="zh-TW" dirty="0">
                <a:solidFill>
                  <a:srgbClr val="000000"/>
                </a:solidFill>
                <a:latin typeface="Arial Unicode MS"/>
                <a:ea typeface="Arial Unicode MS"/>
                <a:cs typeface="Arial Unicode MS"/>
              </a:rPr>
              <a:t>比白天更清楚</a:t>
            </a:r>
            <a:r>
              <a:rPr sz="1100" lang="zh-TW" dirty="0">
                <a:solidFill>
                  <a:srgbClr val="000000"/>
                </a:solidFill>
                <a:latin typeface="Arial Unicode MS"/>
                <a:ea typeface="Arial Unicode MS"/>
                <a:cs typeface="Arial Unicode MS"/>
              </a:rPr>
              <a:t>。白天太陽把柏油路曬到五六十度，比人還燙，反而不好分辨。
</a:t>
            </a:r>
          </a:p>
          <a:p>
            <a:pPr algn="l">
              <a:lnSpc>
                <a:spcPct val="115000"/>
              </a:lnSpc>
              <a:spcAft>
                <a:spcPts val="550"/>
              </a:spcAft>
            </a:pPr>
            <a:r>
              <a:rPr sz="1100" lang="zh-TW" dirty="0">
                <a:solidFill>
                  <a:srgbClr val="000000"/>
                </a:solidFill>
                <a:latin typeface="Arial Unicode MS"/>
                <a:ea typeface="Arial Unicode MS"/>
                <a:cs typeface="Arial Unicode MS"/>
              </a:rPr>
              <a:t>缺點：第一，解析度低，通常只有三百二乘二百四，跟相機差很多。第二，貴。第三，也是最關鍵的——它讀不出紅綠燈的顏色，也看不到車道標線，因為那些東西跟背景沒有溫差。
</a:t>
            </a:r>
          </a:p>
          <a:p>
            <a:pPr algn="l">
              <a:lnSpc>
                <a:spcPct val="115000"/>
              </a:lnSpc>
              <a:spcAft>
                <a:spcPts val="550"/>
              </a:spcAft>
            </a:pPr>
            <a:r>
              <a:rPr sz="1100" lang="zh-TW" dirty="0">
                <a:solidFill>
                  <a:srgbClr val="000000"/>
                </a:solidFill>
                <a:latin typeface="Arial Unicode MS"/>
                <a:ea typeface="Arial Unicode MS"/>
                <a:cs typeface="Arial Unicode MS"/>
              </a:rPr>
              <a:t>所以熱像是補強，不是替代。目前主要用在高階車款的夜視輔助。
</a:t>
            </a:r>
          </a:p>
          <a:p>
            <a:pPr algn="l">
              <a:lnSpc>
                <a:spcPct val="115000"/>
              </a:lnSpc>
              <a:spcAft>
                <a:spcPts val="550"/>
              </a:spcAft>
            </a:pPr>
            <a:r>
              <a:rPr sz="1100" lang="zh-TW" dirty="0">
                <a:solidFill>
                  <a:srgbClr val="000000"/>
                </a:solidFill>
                <a:latin typeface="Arial Unicode MS"/>
                <a:ea typeface="Arial Unicode MS"/>
                <a:cs typeface="Arial Unicode MS"/>
              </a:rPr>
              <a:t>六種講完了。現在我們打開網頁，把剛剛講的全部量一遍。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左邊這張是熱像圖，一個人的熱影像，CC0 授權，可以自由使用。
</a:t>
            </a:r>
          </a:p>
          <a:p>
            <a:pPr algn="l">
              <a:lnSpc>
                <a:spcPct val="115000"/>
              </a:lnSpc>
              <a:spcAft>
                <a:spcPts val="575"/>
              </a:spcAft>
            </a:pPr>
            <a:r>
              <a:rPr sz="1150" lang="zh-TW" dirty="0">
                <a:solidFill>
                  <a:srgbClr val="000000"/>
                </a:solidFill>
                <a:latin typeface="Arial Unicode MS"/>
                <a:ea typeface="Arial Unicode MS"/>
                <a:cs typeface="Arial Unicode MS"/>
              </a:rPr>
              <a:t>請大家注意一個細節：衣服厚的地方顏色比較暗。為什麼？
</a:t>
            </a:r>
          </a:p>
          <a:p>
            <a:pPr algn="l">
              <a:lnSpc>
                <a:spcPct val="115000"/>
              </a:lnSpc>
              <a:spcAft>
                <a:spcPts val="575"/>
              </a:spcAft>
            </a:pPr>
            <a:r>
              <a:rPr sz="1150" lang="zh-TW" dirty="0">
                <a:solidFill>
                  <a:srgbClr val="000000"/>
                </a:solidFill>
                <a:latin typeface="Arial Unicode MS"/>
                <a:ea typeface="Arial Unicode MS"/>
                <a:cs typeface="Arial Unicode MS"/>
              </a:rPr>
              <a:t>（預期答案：衣服會隔熱，所以表面溫度比較低。）
</a:t>
            </a:r>
          </a:p>
          <a:p>
            <a:pPr algn="l">
              <a:lnSpc>
                <a:spcPct val="115000"/>
              </a:lnSpc>
              <a:spcAft>
                <a:spcPts val="575"/>
              </a:spcAft>
            </a:pPr>
            <a:r>
              <a:rPr sz="1150" lang="zh-TW" dirty="0">
                <a:solidFill>
                  <a:srgbClr val="000000"/>
                </a:solidFill>
                <a:latin typeface="Arial Unicode MS"/>
                <a:ea typeface="Arial Unicode MS"/>
                <a:cs typeface="Arial Unicode MS"/>
              </a:rPr>
              <a:t>對。這也告訴我們熱像的一個限制——它看到的是表面溫度，不是身體裡面的溫度。冬天穿很厚的人，在熱像裡會比夏天穿短袖的人暗一些。
</a:t>
            </a:r>
          </a:p>
          <a:p>
            <a:pPr algn="l">
              <a:lnSpc>
                <a:spcPct val="115000"/>
              </a:lnSpc>
              <a:spcAft>
                <a:spcPts val="575"/>
              </a:spcAft>
            </a:pPr>
            <a:r>
              <a:rPr sz="1150" lang="zh-TW" dirty="0">
                <a:solidFill>
                  <a:srgbClr val="000000"/>
                </a:solidFill>
                <a:latin typeface="Arial Unicode MS"/>
                <a:ea typeface="Arial Unicode MS"/>
                <a:cs typeface="Arial Unicode MS"/>
              </a:rPr>
              <a:t>影片是實際裝在車上的熱像夜視。重點：
</a:t>
            </a:r>
          </a:p>
          <a:p>
            <a:pPr algn="l">
              <a:lnSpc>
                <a:spcPct val="115000"/>
              </a:lnSpc>
              <a:spcAft>
                <a:spcPts val="575"/>
              </a:spcAft>
            </a:pPr>
            <a:r>
              <a:rPr sz="1150" lang="zh-TW" dirty="0">
                <a:solidFill>
                  <a:srgbClr val="000000"/>
                </a:solidFill>
                <a:latin typeface="Arial Unicode MS"/>
                <a:ea typeface="Arial Unicode MS"/>
                <a:cs typeface="Arial Unicode MS"/>
              </a:rPr>
              <a:t>第一，人和動物非常亮，鹿在路邊很遠就看得到，一般車燈根本照不到那麼遠。
</a:t>
            </a:r>
          </a:p>
          <a:p>
            <a:pPr algn="l">
              <a:lnSpc>
                <a:spcPct val="115000"/>
              </a:lnSpc>
              <a:spcAft>
                <a:spcPts val="575"/>
              </a:spcAft>
            </a:pPr>
            <a:r>
              <a:rPr sz="1150" lang="zh-TW" dirty="0">
                <a:solidFill>
                  <a:srgbClr val="000000"/>
                </a:solidFill>
                <a:latin typeface="Arial Unicode MS"/>
                <a:ea typeface="Arial Unicode MS"/>
                <a:cs typeface="Arial Unicode MS"/>
              </a:rPr>
              <a:t>第二，但是交通標誌、紅綠燈、路面標線——完全看不到。因為它們跟背景沒有溫差。
</a:t>
            </a:r>
          </a:p>
          <a:p>
            <a:pPr algn="l">
              <a:lnSpc>
                <a:spcPct val="115000"/>
              </a:lnSpc>
              <a:spcAft>
                <a:spcPts val="575"/>
              </a:spcAft>
            </a:pPr>
            <a:r>
              <a:rPr sz="1150" lang="zh-TW" dirty="0">
                <a:solidFill>
                  <a:srgbClr val="000000"/>
                </a:solidFill>
                <a:latin typeface="Arial Unicode MS"/>
                <a:ea typeface="Arial Unicode MS"/>
                <a:cs typeface="Arial Unicode MS"/>
              </a:rPr>
              <a:t>第三，如果影片有並排比較，請跟一般相機的夜間畫面對照一下，差別非常明顯。
</a:t>
            </a:r>
          </a:p>
          <a:p>
            <a:pPr algn="l">
              <a:lnSpc>
                <a:spcPct val="115000"/>
              </a:lnSpc>
              <a:spcAft>
                <a:spcPts val="575"/>
              </a:spcAft>
            </a:pPr>
            <a:r>
              <a:rPr sz="1150" lang="zh-TW" dirty="0">
                <a:solidFill>
                  <a:srgbClr val="000000"/>
                </a:solidFill>
                <a:latin typeface="Arial Unicode MS"/>
                <a:ea typeface="Arial Unicode MS"/>
                <a:cs typeface="Arial Unicode MS"/>
              </a:rPr>
              <a:t>這就是為什麼某些高階車款會多裝一顆熱像做夜視輔助，但它永遠是補強，不能取代相機。
</a:t>
            </a:r>
          </a:p>
          <a:p>
            <a:pPr algn="l">
              <a:lnSpc>
                <a:spcPct val="115000"/>
              </a:lnSpc>
              <a:spcAft>
                <a:spcPts val="575"/>
              </a:spcAft>
            </a:pPr>
            <a:r>
              <a:rPr sz="1150" lang="zh-TW" dirty="0">
                <a:solidFill>
                  <a:srgbClr val="000000"/>
                </a:solidFill>
                <a:latin typeface="Arial Unicode MS"/>
                <a:ea typeface="Arial Unicode MS"/>
                <a:cs typeface="Arial Unicode MS"/>
              </a:rPr>
              <a:t>六種講完了。現在我們打開網頁，把剛剛講的全部量一遍。
</a:t>
            </a:r>
          </a:p>
          <a:p>
            <a:pPr algn="l">
              <a:lnSpc>
                <a:spcPct val="115000"/>
              </a:lnSpc>
              <a:spcAft>
                <a:spcPts val="575"/>
              </a:spcAft>
            </a:pPr>
            <a:r>
              <a:rPr sz="1150" lang="zh-TW" dirty="0">
                <a:solidFill>
                  <a:srgbClr val="000000"/>
                </a:solidFill>
                <a:latin typeface="Arial Unicode MS"/>
                <a:ea typeface="Arial Unicode MS"/>
                <a:cs typeface="Arial Unicode MS"/>
              </a:rPr>
              <a:t>（建議播 2–3 分鐘。需要網路。）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請第一位同學上來。我先介紹一下畫面。
</a:t>
            </a:r>
          </a:p>
          <a:p>
            <a:pPr algn="l">
              <a:lnSpc>
                <a:spcPct val="115000"/>
              </a:lnSpc>
              <a:spcAft>
                <a:spcPts val="500"/>
              </a:spcAft>
            </a:pPr>
            <a:r>
              <a:rPr sz="1000" lang="zh-TW" dirty="0">
                <a:solidFill>
                  <a:srgbClr val="000000"/>
                </a:solidFill>
                <a:latin typeface="Arial Unicode MS"/>
                <a:ea typeface="Arial Unicode MS"/>
                <a:cs typeface="Arial Unicode MS"/>
              </a:rPr>
              <a:t>中間是俯視圖，最下面綠色那台是我們的車，今天它完全不會動。上面是路上的東西。操作只有一個動作：用滑鼠把東西拖走。右邊六張卡立刻跟著變。沒有開始鍵，不會撞車。這禮拜是實驗室，下禮拜才上路。
</a:t>
            </a:r>
          </a:p>
          <a:p>
            <a:pPr algn="l">
              <a:lnSpc>
                <a:spcPct val="115000"/>
              </a:lnSpc>
              <a:spcAft>
                <a:spcPts val="500"/>
              </a:spcAft>
            </a:pPr>
            <a:r>
              <a:rPr sz="1000" lang="zh-TW" dirty="0">
                <a:solidFill>
                  <a:srgbClr val="000000"/>
                </a:solidFill>
                <a:latin typeface="Arial Unicode MS"/>
                <a:ea typeface="Arial Unicode MS"/>
                <a:cs typeface="Arial Unicode MS"/>
              </a:rPr>
              <a:t>地上的圈圈每一圈十公尺，左邊有標。
</a:t>
            </a:r>
          </a:p>
          <a:p>
            <a:pPr algn="l">
              <a:lnSpc>
                <a:spcPct val="115000"/>
              </a:lnSpc>
              <a:spcAft>
                <a:spcPts val="500"/>
              </a:spcAft>
            </a:pPr>
            <a:r>
              <a:rPr sz="1000" lang="zh-TW" dirty="0">
                <a:solidFill>
                  <a:srgbClr val="000000"/>
                </a:solidFill>
                <a:latin typeface="Arial Unicode MS"/>
                <a:ea typeface="Arial Unicode MS"/>
                <a:cs typeface="Arial Unicode MS"/>
              </a:rPr>
              <a:t>請把行人拖到三十公尺，第三圈。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30.0 ± 0.33 m、類別「行人」；光達 30.0 m、28 點、「未分類障礙物」；雷達 30.0 m、+0.0 m/s、「未分類障礙物」；超音波「太遠了，超音波只到 4.5 m」；GNSS ±2.5 m 加座標；熱像 30.0 m、20 px、「人體熱訊號」。）
</a:t>
            </a:r>
          </a:p>
          <a:p>
            <a:pPr algn="l">
              <a:lnSpc>
                <a:spcPct val="115000"/>
              </a:lnSpc>
              <a:spcAft>
                <a:spcPts val="500"/>
              </a:spcAft>
            </a:pPr>
            <a:r>
              <a:rPr sz="1000" lang="zh-TW" dirty="0">
                <a:solidFill>
                  <a:srgbClr val="000000"/>
                </a:solidFill>
                <a:latin typeface="Arial Unicode MS"/>
                <a:ea typeface="Arial Unicode MS"/>
                <a:cs typeface="Arial Unicode MS"/>
              </a:rPr>
              <a:t>好，現在對照剛剛講的原理，我問三個問題。
</a:t>
            </a:r>
          </a:p>
          <a:p>
            <a:pPr algn="l">
              <a:lnSpc>
                <a:spcPct val="115000"/>
              </a:lnSpc>
              <a:spcAft>
                <a:spcPts val="500"/>
              </a:spcAft>
            </a:pPr>
            <a:r>
              <a:rPr sz="1000" lang="zh-TW" dirty="0">
                <a:solidFill>
                  <a:srgbClr val="000000"/>
                </a:solidFill>
                <a:latin typeface="Arial Unicode MS"/>
                <a:ea typeface="Arial Unicode MS"/>
                <a:cs typeface="Arial Unicode MS"/>
              </a:rPr>
              <a:t>有幾張知道那是一個</a:t>
            </a:r>
            <a:r>
              <a:rPr sz="1000" b="1" lang="zh-TW" dirty="0">
                <a:solidFill>
                  <a:srgbClr val="000000"/>
                </a:solidFill>
                <a:latin typeface="Arial Unicode MS"/>
                <a:ea typeface="Arial Unicode MS"/>
                <a:cs typeface="Arial Unicode MS"/>
              </a:rPr>
              <a:t>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（預期答案：兩張。相機和熱像。這對應相機「物體分類」和熱像「人體熱訊號」。）
</a:t>
            </a:r>
          </a:p>
          <a:p>
            <a:pPr algn="l">
              <a:lnSpc>
                <a:spcPct val="115000"/>
              </a:lnSpc>
              <a:spcAft>
                <a:spcPts val="500"/>
              </a:spcAft>
            </a:pPr>
            <a:r>
              <a:rPr sz="1000" lang="zh-TW" dirty="0">
                <a:solidFill>
                  <a:srgbClr val="000000"/>
                </a:solidFill>
                <a:latin typeface="Arial Unicode MS"/>
                <a:ea typeface="Arial Unicode MS"/>
                <a:cs typeface="Arial Unicode MS"/>
              </a:rPr>
              <a:t>有幾張量得到</a:t>
            </a:r>
            <a:r>
              <a:rPr sz="1000" b="1" lang="zh-TW" dirty="0">
                <a:solidFill>
                  <a:srgbClr val="000000"/>
                </a:solidFill>
                <a:latin typeface="Arial Unicode MS"/>
                <a:ea typeface="Arial Unicode MS"/>
                <a:cs typeface="Arial Unicode MS"/>
              </a:rPr>
              <a:t>距離</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（預期答案：四張。相機、光達、雷達、熱像。）
</a:t>
            </a:r>
          </a:p>
          <a:p>
            <a:pPr algn="l">
              <a:lnSpc>
                <a:spcPct val="115000"/>
              </a:lnSpc>
              <a:spcAft>
                <a:spcPts val="500"/>
              </a:spcAft>
            </a:pPr>
            <a:r>
              <a:rPr sz="1000" lang="zh-TW" dirty="0">
                <a:solidFill>
                  <a:srgbClr val="000000"/>
                </a:solidFill>
                <a:latin typeface="Arial Unicode MS"/>
                <a:ea typeface="Arial Unicode MS"/>
                <a:cs typeface="Arial Unicode MS"/>
              </a:rPr>
              <a:t>超音波為什麼沒有讀值？
</a:t>
            </a:r>
          </a:p>
          <a:p>
            <a:pPr algn="l">
              <a:lnSpc>
                <a:spcPct val="115000"/>
              </a:lnSpc>
              <a:spcAft>
                <a:spcPts val="500"/>
              </a:spcAft>
            </a:pPr>
            <a:r>
              <a:rPr sz="1000" lang="zh-TW" dirty="0">
                <a:solidFill>
                  <a:srgbClr val="000000"/>
                </a:solidFill>
                <a:latin typeface="Arial Unicode MS"/>
                <a:ea typeface="Arial Unicode MS"/>
                <a:cs typeface="Arial Unicode MS"/>
              </a:rPr>
              <a:t>（預期答案：它只有五公尺，剛剛那一頁講過。）
</a:t>
            </a:r>
          </a:p>
          <a:p>
            <a:pPr algn="l">
              <a:lnSpc>
                <a:spcPct val="115000"/>
              </a:lnSpc>
              <a:spcAft>
                <a:spcPts val="500"/>
              </a:spcAft>
            </a:pPr>
            <a:r>
              <a:rPr sz="1000" lang="zh-TW" dirty="0">
                <a:solidFill>
                  <a:srgbClr val="000000"/>
                </a:solidFill>
                <a:latin typeface="Arial Unicode MS"/>
                <a:ea typeface="Arial Unicode MS"/>
                <a:cs typeface="Arial Unicode MS"/>
              </a:rPr>
              <a:t>所以剛剛六頁講的原理，在畫面上一個一個都對得起來。下一頁我們把最重要的那句話講透。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這一頁我希望大家拍照。
</a:t>
            </a:r>
          </a:p>
          <a:p>
            <a:pPr algn="l">
              <a:lnSpc>
                <a:spcPct val="115000"/>
              </a:lnSpc>
              <a:spcAft>
                <a:spcPts val="600"/>
              </a:spcAft>
            </a:pPr>
            <a:r>
              <a:rPr sz="1200" lang="zh-TW" dirty="0">
                <a:solidFill>
                  <a:srgbClr val="000000"/>
                </a:solidFill>
                <a:latin typeface="Arial Unicode MS"/>
                <a:ea typeface="Arial Unicode MS"/>
                <a:cs typeface="Arial Unicode MS"/>
              </a:rPr>
              <a:t>光達的距離比相機準得多，這是事實，剛剛那一頁講過，公分級。但是準，跟知不知道那是什麼，是兩回事。光達給你的是三十公尺外有一團東西，形狀大概這樣。它不會說那是人。
</a:t>
            </a:r>
          </a:p>
          <a:p>
            <a:pPr algn="l">
              <a:lnSpc>
                <a:spcPct val="115000"/>
              </a:lnSpc>
              <a:spcAft>
                <a:spcPts val="600"/>
              </a:spcAft>
            </a:pPr>
            <a:r>
              <a:rPr sz="1200" lang="zh-TW" dirty="0">
                <a:solidFill>
                  <a:srgbClr val="000000"/>
                </a:solidFill>
                <a:latin typeface="Arial Unicode MS"/>
                <a:ea typeface="Arial Unicode MS"/>
                <a:cs typeface="Arial Unicode MS"/>
              </a:rPr>
              <a:t>有同學可能會想：那有差嗎？反正前面有東西就閃開不就好了。
</a:t>
            </a:r>
          </a:p>
          <a:p>
            <a:pPr algn="l">
              <a:lnSpc>
                <a:spcPct val="115000"/>
              </a:lnSpc>
              <a:spcAft>
                <a:spcPts val="600"/>
              </a:spcAft>
            </a:pPr>
            <a:r>
              <a:rPr sz="1200" lang="zh-TW" dirty="0">
                <a:solidFill>
                  <a:srgbClr val="000000"/>
                </a:solidFill>
                <a:latin typeface="Arial Unicode MS"/>
                <a:ea typeface="Arial Unicode MS"/>
                <a:cs typeface="Arial Unicode MS"/>
              </a:rPr>
              <a:t>差很多。我舉個例子。如果前面三十公尺是一個紙箱，車子可以維持速度，準備繞過去。如果是一個人，就完全不同了——人會突然改變方向、會走進車道、會停下來看手機。車子必須提早減速，而且要預留他可能亂走的空間。
</a:t>
            </a:r>
          </a:p>
          <a:p>
            <a:pPr algn="l">
              <a:lnSpc>
                <a:spcPct val="115000"/>
              </a:lnSpc>
              <a:spcAft>
                <a:spcPts val="600"/>
              </a:spcAft>
            </a:pPr>
            <a:r>
              <a:rPr sz="1200" lang="zh-TW" dirty="0">
                <a:solidFill>
                  <a:srgbClr val="000000"/>
                </a:solidFill>
                <a:latin typeface="Arial Unicode MS"/>
                <a:ea typeface="Arial Unicode MS"/>
                <a:cs typeface="Arial Unicode MS"/>
              </a:rPr>
              <a:t>同樣一團東西、同樣的距離，因為類別不同，該做的事完全不同。
</a:t>
            </a:r>
          </a:p>
          <a:p>
            <a:pPr algn="l">
              <a:lnSpc>
                <a:spcPct val="115000"/>
              </a:lnSpc>
              <a:spcAft>
                <a:spcPts val="600"/>
              </a:spcAft>
            </a:pPr>
            <a:r>
              <a:rPr sz="1200" lang="zh-TW" dirty="0">
                <a:solidFill>
                  <a:srgbClr val="000000"/>
                </a:solidFill>
                <a:latin typeface="Arial Unicode MS"/>
                <a:ea typeface="Arial Unicode MS"/>
                <a:cs typeface="Arial Unicode MS"/>
              </a:rPr>
              <a:t>所以「那是什麼」不是多餘的資訊，它直接決定車子要開多快。
</a:t>
            </a:r>
          </a:p>
          <a:p>
            <a:pPr algn="l">
              <a:lnSpc>
                <a:spcPct val="115000"/>
              </a:lnSpc>
              <a:spcAft>
                <a:spcPts val="600"/>
              </a:spcAft>
            </a:pPr>
            <a:r>
              <a:rPr sz="1200" lang="zh-TW" dirty="0">
                <a:solidFill>
                  <a:srgbClr val="000000"/>
                </a:solidFill>
                <a:latin typeface="Arial Unicode MS"/>
                <a:ea typeface="Arial Unicode MS"/>
                <a:cs typeface="Arial Unicode MS"/>
              </a:rPr>
              <a:t>這也解釋了為什麼不能只裝最準的那一種就好。準，和知道那是什麼，是兩個不同的能力。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我們把今天講的六種整理成一張表。讀法是：每一列都是「為什麼要多裝一種」的理由。
</a:t>
            </a:r>
          </a:p>
          <a:p>
            <a:pPr algn="l">
              <a:lnSpc>
                <a:spcPct val="115000"/>
              </a:lnSpc>
              <a:spcAft>
                <a:spcPts val="600"/>
              </a:spcAft>
            </a:pPr>
            <a:r>
              <a:rPr sz="1200" lang="zh-TW" dirty="0">
                <a:solidFill>
                  <a:srgbClr val="000000"/>
                </a:solidFill>
                <a:latin typeface="Arial Unicode MS"/>
                <a:ea typeface="Arial Unicode MS"/>
                <a:cs typeface="Arial Unicode MS"/>
              </a:rPr>
              <a:t>第一列，不知道那是什麼。光達、雷達、超音波都有這個洞，補的人是相機。
</a:t>
            </a:r>
          </a:p>
          <a:p>
            <a:pPr algn="l">
              <a:lnSpc>
                <a:spcPct val="115000"/>
              </a:lnSpc>
              <a:spcAft>
                <a:spcPts val="600"/>
              </a:spcAft>
            </a:pPr>
            <a:r>
              <a:rPr sz="1200" lang="zh-TW" dirty="0">
                <a:solidFill>
                  <a:srgbClr val="000000"/>
                </a:solidFill>
                <a:latin typeface="Arial Unicode MS"/>
                <a:ea typeface="Arial Unicode MS"/>
                <a:cs typeface="Arial Unicode MS"/>
              </a:rPr>
              <a:t>第二列，讀不出燈色。除了相機全部有這個洞，而且</a:t>
            </a:r>
            <a:r>
              <a:rPr sz="1200" b="1" lang="zh-TW" dirty="0">
                <a:solidFill>
                  <a:srgbClr val="000000"/>
                </a:solidFill>
                <a:latin typeface="Arial Unicode MS"/>
                <a:ea typeface="Arial Unicode MS"/>
                <a:cs typeface="Arial Unicode MS"/>
              </a:rPr>
              <a:t>沒有別人補得上</a:t>
            </a:r>
            <a:r>
              <a:rPr sz="1200" lang="zh-TW" dirty="0">
                <a:solidFill>
                  <a:srgbClr val="000000"/>
                </a:solidFill>
                <a:latin typeface="Arial Unicode MS"/>
                <a:ea typeface="Arial Unicode MS"/>
                <a:cs typeface="Arial Unicode MS"/>
              </a:rPr>
              <a:t>。這一列右邊只有一個答案，是六列裡唯一的。
</a:t>
            </a:r>
          </a:p>
          <a:p>
            <a:pPr algn="l">
              <a:lnSpc>
                <a:spcPct val="115000"/>
              </a:lnSpc>
              <a:spcAft>
                <a:spcPts val="600"/>
              </a:spcAft>
            </a:pPr>
            <a:r>
              <a:rPr sz="1200" lang="zh-TW" dirty="0">
                <a:solidFill>
                  <a:srgbClr val="000000"/>
                </a:solidFill>
                <a:latin typeface="Arial Unicode MS"/>
                <a:ea typeface="Arial Unicode MS"/>
                <a:cs typeface="Arial Unicode MS"/>
              </a:rPr>
              <a:t>第三列，不知道接近得多快。相機、光達、熱像都要靠追蹤推算，雷達用都卜勒直接量。
</a:t>
            </a:r>
          </a:p>
          <a:p>
            <a:pPr algn="l">
              <a:lnSpc>
                <a:spcPct val="115000"/>
              </a:lnSpc>
              <a:spcAft>
                <a:spcPts val="600"/>
              </a:spcAft>
            </a:pPr>
            <a:r>
              <a:rPr sz="1200" lang="zh-TW" dirty="0">
                <a:solidFill>
                  <a:srgbClr val="000000"/>
                </a:solidFill>
                <a:latin typeface="Arial Unicode MS"/>
                <a:ea typeface="Arial Unicode MS"/>
                <a:cs typeface="Arial Unicode MS"/>
              </a:rPr>
              <a:t>第四列，車身周圍的盲區，剛剛那位同學示範過了。
</a:t>
            </a:r>
          </a:p>
          <a:p>
            <a:pPr algn="l">
              <a:lnSpc>
                <a:spcPct val="115000"/>
              </a:lnSpc>
              <a:spcAft>
                <a:spcPts val="600"/>
              </a:spcAft>
            </a:pPr>
            <a:r>
              <a:rPr sz="1200" lang="zh-TW" dirty="0">
                <a:solidFill>
                  <a:srgbClr val="000000"/>
                </a:solidFill>
                <a:latin typeface="Arial Unicode MS"/>
                <a:ea typeface="Arial Unicode MS"/>
                <a:cs typeface="Arial Unicode MS"/>
              </a:rPr>
              <a:t>第五列，天黑。相機掛掉，另外三種沒事——因為主動和被動的差別。
</a:t>
            </a:r>
          </a:p>
          <a:p>
            <a:pPr algn="l">
              <a:lnSpc>
                <a:spcPct val="115000"/>
              </a:lnSpc>
              <a:spcAft>
                <a:spcPts val="600"/>
              </a:spcAft>
            </a:pPr>
            <a:r>
              <a:rPr sz="1200" lang="zh-TW" dirty="0">
                <a:solidFill>
                  <a:srgbClr val="000000"/>
                </a:solidFill>
                <a:latin typeface="Arial Unicode MS"/>
                <a:ea typeface="Arial Unicode MS"/>
                <a:cs typeface="Arial Unicode MS"/>
              </a:rPr>
              <a:t>第六列最特別：不知道自己在哪裡。往外看的那五種全部答不出來，只有 GNSS 可以。
</a:t>
            </a:r>
          </a:p>
          <a:p>
            <a:pPr algn="l">
              <a:lnSpc>
                <a:spcPct val="115000"/>
              </a:lnSpc>
              <a:spcAft>
                <a:spcPts val="600"/>
              </a:spcAft>
            </a:pPr>
            <a:r>
              <a:rPr sz="1200" lang="zh-TW" dirty="0">
                <a:solidFill>
                  <a:srgbClr val="000000"/>
                </a:solidFill>
                <a:latin typeface="Arial Unicode MS"/>
                <a:ea typeface="Arial Unicode MS"/>
                <a:cs typeface="Arial Unicode MS"/>
              </a:rPr>
              <a:t>大家看這張表——</a:t>
            </a:r>
            <a:r>
              <a:rPr sz="1200" b="1" lang="zh-TW" dirty="0">
                <a:solidFill>
                  <a:srgbClr val="000000"/>
                </a:solidFill>
                <a:latin typeface="Arial Unicode MS"/>
                <a:ea typeface="Arial Unicode MS"/>
                <a:cs typeface="Arial Unicode MS"/>
              </a:rPr>
              <a:t>沒有一列的右邊可以空著</a:t>
            </a:r>
            <a:r>
              <a:rPr sz="1200" lang="zh-TW" dirty="0">
                <a:solidFill>
                  <a:srgbClr val="000000"/>
                </a:solidFill>
                <a:latin typeface="Arial Unicode MS"/>
                <a:ea typeface="Arial Unicode MS"/>
                <a:cs typeface="Arial Unicode MS"/>
              </a:rPr>
              <a:t>。你如果拿掉任何一種，就有一列補不起來。
</a:t>
            </a:r>
          </a:p>
          <a:p>
            <a:pPr algn="l">
              <a:lnSpc>
                <a:spcPct val="115000"/>
              </a:lnSpc>
              <a:spcAft>
                <a:spcPts val="600"/>
              </a:spcAft>
            </a:pPr>
            <a:r>
              <a:rPr sz="1200" lang="zh-TW" dirty="0">
                <a:solidFill>
                  <a:srgbClr val="000000"/>
                </a:solidFill>
                <a:latin typeface="Arial Unicode MS"/>
                <a:ea typeface="Arial Unicode MS"/>
                <a:cs typeface="Arial Unicode MS"/>
              </a:rPr>
              <a:t>這就是真車上為什麼那麼多顆感測器：不是為了炫技，是每一顆都在補一個具體的洞。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第一節收起來。先解釋螢幕上這句標題，這是今天最重要的一句話。
</a:t>
            </a:r>
          </a:p>
          <a:p>
            <a:pPr algn="l">
              <a:lnSpc>
                <a:spcPct val="115000"/>
              </a:lnSpc>
              <a:spcAft>
                <a:spcPts val="500"/>
              </a:spcAft>
            </a:pPr>
            <a:r>
              <a:rPr sz="1000" lang="zh-TW" dirty="0">
                <a:solidFill>
                  <a:srgbClr val="000000"/>
                </a:solidFill>
                <a:latin typeface="Arial Unicode MS"/>
                <a:ea typeface="Arial Unicode MS"/>
                <a:cs typeface="Arial Unicode MS"/>
              </a:rPr>
              <a:t>很多人以為感測器的差別是「誰比較準」——光達比相機準，所以裝光達就好。不是這樣。這六種量的根本是</a:t>
            </a:r>
            <a:r>
              <a:rPr sz="1000" b="1" lang="zh-TW" dirty="0">
                <a:solidFill>
                  <a:srgbClr val="000000"/>
                </a:solidFill>
                <a:latin typeface="Arial Unicode MS"/>
                <a:ea typeface="Arial Unicode MS"/>
                <a:cs typeface="Arial Unicode MS"/>
              </a:rPr>
              <a:t>不同的東西</a:t>
            </a:r>
            <a:r>
              <a:rPr sz="1000" lang="zh-TW" dirty="0">
                <a:solidFill>
                  <a:srgbClr val="000000"/>
                </a:solidFill>
                <a:latin typeface="Arial Unicode MS"/>
                <a:ea typeface="Arial Unicode MS"/>
                <a:cs typeface="Arial Unicode MS"/>
              </a:rPr>
              <a:t>：相機給的是類別和燈色，光達給距離和形狀，雷達給接近速度，超音波管貼著車身的那幾公尺，衛星定位只管我們自己在哪，熱像看溫度。
</a:t>
            </a:r>
          </a:p>
          <a:p>
            <a:pPr algn="l">
              <a:lnSpc>
                <a:spcPct val="115000"/>
              </a:lnSpc>
              <a:spcAft>
                <a:spcPts val="500"/>
              </a:spcAft>
            </a:pPr>
            <a:r>
              <a:rPr sz="1000" lang="zh-TW" dirty="0">
                <a:solidFill>
                  <a:srgbClr val="000000"/>
                </a:solidFill>
                <a:latin typeface="Arial Unicode MS"/>
                <a:ea typeface="Arial Unicode MS"/>
                <a:cs typeface="Arial Unicode MS"/>
              </a:rPr>
              <a:t>打個比方：體重計和體溫計，你不能問哪一個比較準，因為它們量的不是同一件事。體重計再準，也量不出你有沒有發燒。同樣的道理，光達再準一百倍，也讀不出前面是紅燈。
</a:t>
            </a:r>
          </a:p>
          <a:p>
            <a:pPr algn="l">
              <a:lnSpc>
                <a:spcPct val="115000"/>
              </a:lnSpc>
              <a:spcAft>
                <a:spcPts val="500"/>
              </a:spcAft>
            </a:pPr>
            <a:r>
              <a:rPr sz="1000" lang="zh-TW" dirty="0">
                <a:solidFill>
                  <a:srgbClr val="000000"/>
                </a:solidFill>
                <a:latin typeface="Arial Unicode MS"/>
                <a:ea typeface="Arial Unicode MS"/>
                <a:cs typeface="Arial Unicode MS"/>
              </a:rPr>
              <a:t>所以車上裝六種，不是因為一種不夠準，是因為</a:t>
            </a:r>
            <a:r>
              <a:rPr sz="1000" b="1" lang="zh-TW" dirty="0">
                <a:solidFill>
                  <a:srgbClr val="000000"/>
                </a:solidFill>
                <a:latin typeface="Arial Unicode MS"/>
                <a:ea typeface="Arial Unicode MS"/>
                <a:cs typeface="Arial Unicode MS"/>
              </a:rPr>
              <a:t>少了哪一種，就少了那一種資訊，別的補不回來</a:t>
            </a:r>
            <a:r>
              <a:rPr sz="1000" lang="zh-TW" dirty="0">
                <a:solidFill>
                  <a:srgbClr val="000000"/>
                </a:solidFill>
                <a:latin typeface="Arial Unicode MS"/>
                <a:ea typeface="Arial Unicode MS"/>
                <a:cs typeface="Arial Unicode MS"/>
              </a:rPr>
              <a:t>。剛剛那張「每一種的弱點，由哪一種來補」講的就是這件事。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接下來三句是今天的重點整理。第一句，我用一句話幫大家把六種分類：</a:t>
            </a:r>
            <a:r>
              <a:rPr sz="1000" b="1" lang="zh-TW" dirty="0">
                <a:solidFill>
                  <a:srgbClr val="000000"/>
                </a:solidFill>
                <a:latin typeface="Arial Unicode MS"/>
                <a:ea typeface="Arial Unicode MS"/>
                <a:cs typeface="Arial Unicode MS"/>
              </a:rPr>
              <a:t>被動的要靠光</a:t>
            </a:r>
            <a:r>
              <a:rPr sz="1000" lang="zh-TW" dirty="0">
                <a:solidFill>
                  <a:srgbClr val="000000"/>
                </a:solidFill>
                <a:latin typeface="Arial Unicode MS"/>
                <a:ea typeface="Arial Unicode MS"/>
                <a:cs typeface="Arial Unicode MS"/>
              </a:rPr>
              <a:t>，那是相機；</a:t>
            </a:r>
            <a:r>
              <a:rPr sz="1000" b="1" lang="zh-TW" dirty="0">
                <a:solidFill>
                  <a:srgbClr val="000000"/>
                </a:solidFill>
                <a:latin typeface="Arial Unicode MS"/>
                <a:ea typeface="Arial Unicode MS"/>
                <a:cs typeface="Arial Unicode MS"/>
              </a:rPr>
              <a:t>主動的自己發訊號</a:t>
            </a:r>
            <a:r>
              <a:rPr sz="1000" lang="zh-TW" dirty="0">
                <a:solidFill>
                  <a:srgbClr val="000000"/>
                </a:solidFill>
                <a:latin typeface="Arial Unicode MS"/>
                <a:ea typeface="Arial Unicode MS"/>
                <a:cs typeface="Arial Unicode MS"/>
              </a:rPr>
              <a:t>，那是光達、雷達、超音波；</a:t>
            </a:r>
            <a:r>
              <a:rPr sz="1000" b="1" lang="zh-TW" dirty="0">
                <a:solidFill>
                  <a:srgbClr val="000000"/>
                </a:solidFill>
                <a:latin typeface="Arial Unicode MS"/>
                <a:ea typeface="Arial Unicode MS"/>
                <a:cs typeface="Arial Unicode MS"/>
              </a:rPr>
              <a:t>熱像最特別</a:t>
            </a:r>
            <a:r>
              <a:rPr sz="1000" lang="zh-TW" dirty="0">
                <a:solidFill>
                  <a:srgbClr val="000000"/>
                </a:solidFill>
                <a:latin typeface="Arial Unicode MS"/>
                <a:ea typeface="Arial Unicode MS"/>
                <a:cs typeface="Arial Unicode MS"/>
              </a:rPr>
              <a:t>，它被動但不需要光，因為它讀的是物體自己放出來的熱。
</a:t>
            </a:r>
          </a:p>
          <a:p>
            <a:pPr algn="l">
              <a:lnSpc>
                <a:spcPct val="115000"/>
              </a:lnSpc>
              <a:spcAft>
                <a:spcPts val="500"/>
              </a:spcAft>
            </a:pPr>
            <a:r>
              <a:rPr sz="1000" lang="zh-TW" dirty="0">
                <a:solidFill>
                  <a:srgbClr val="000000"/>
                </a:solidFill>
                <a:latin typeface="Arial Unicode MS"/>
                <a:ea typeface="Arial Unicode MS"/>
                <a:cs typeface="Arial Unicode MS"/>
              </a:rPr>
              <a:t>記住這個分類，第三節講天氣的時候會整個用上——為什麼天黑只有相機掛掉？因為只有它需要外面的光。
</a:t>
            </a:r>
          </a:p>
          <a:p>
            <a:pPr algn="l">
              <a:lnSpc>
                <a:spcPct val="115000"/>
              </a:lnSpc>
              <a:spcAft>
                <a:spcPts val="500"/>
              </a:spcAft>
            </a:pPr>
            <a:r>
              <a:rPr sz="1000" lang="zh-TW" dirty="0">
                <a:solidFill>
                  <a:srgbClr val="000000"/>
                </a:solidFill>
                <a:latin typeface="Arial Unicode MS"/>
                <a:ea typeface="Arial Unicode MS"/>
                <a:cs typeface="Arial Unicode MS"/>
              </a:rPr>
              <a:t>第二句：量得到距離不等於知道那是什麼。燈色和標線只有相機。
</a:t>
            </a:r>
          </a:p>
          <a:p>
            <a:pPr algn="l">
              <a:lnSpc>
                <a:spcPct val="115000"/>
              </a:lnSpc>
              <a:spcAft>
                <a:spcPts val="500"/>
              </a:spcAft>
            </a:pPr>
            <a:r>
              <a:rPr sz="1000" lang="zh-TW" dirty="0">
                <a:solidFill>
                  <a:srgbClr val="000000"/>
                </a:solidFill>
                <a:latin typeface="Arial Unicode MS"/>
                <a:ea typeface="Arial Unicode MS"/>
                <a:cs typeface="Arial Unicode MS"/>
              </a:rPr>
              <a:t>第三句：接近速度只有雷達直接量，但橫越的時候它會讀到接近零。
</a:t>
            </a:r>
          </a:p>
          <a:p>
            <a:pPr algn="l">
              <a:lnSpc>
                <a:spcPct val="115000"/>
              </a:lnSpc>
              <a:spcAft>
                <a:spcPts val="500"/>
              </a:spcAft>
            </a:pPr>
            <a:r>
              <a:rPr sz="1000" lang="zh-TW" dirty="0">
                <a:solidFill>
                  <a:srgbClr val="000000"/>
                </a:solidFill>
                <a:latin typeface="Arial Unicode MS"/>
                <a:ea typeface="Arial Unicode MS"/>
                <a:cs typeface="Arial Unicode MS"/>
              </a:rPr>
              <a:t>下一節我們換一個問題。今天一直在問「誰量得到什麼」，下一節要問「量得</a:t>
            </a:r>
            <a:r>
              <a:rPr sz="1000" b="1" lang="zh-TW" dirty="0">
                <a:solidFill>
                  <a:srgbClr val="000000"/>
                </a:solidFill>
                <a:latin typeface="Arial Unicode MS"/>
                <a:ea typeface="Arial Unicode MS"/>
                <a:cs typeface="Arial Unicode MS"/>
              </a:rPr>
              <a:t>多好</a:t>
            </a:r>
            <a:r>
              <a:rPr sz="1000" lang="zh-TW" dirty="0">
                <a:solidFill>
                  <a:srgbClr val="000000"/>
                </a:solidFill>
                <a:latin typeface="Arial Unicode MS"/>
                <a:ea typeface="Arial Unicode MS"/>
                <a:cs typeface="Arial Unicode MS"/>
              </a:rPr>
              <a:t>」。我先給大家一個提示：同一台相機，行人站二十公尺，估距誤差正負零點一五公尺；站八十公尺，誤差正負二點三三公尺。
</a:t>
            </a:r>
          </a:p>
          <a:p>
            <a:pPr algn="l">
              <a:lnSpc>
                <a:spcPct val="115000"/>
              </a:lnSpc>
              <a:spcAft>
                <a:spcPts val="500"/>
              </a:spcAft>
            </a:pPr>
            <a:r>
              <a:rPr sz="1000" lang="zh-TW" dirty="0">
                <a:solidFill>
                  <a:srgbClr val="000000"/>
                </a:solidFill>
                <a:latin typeface="Arial Unicode MS"/>
                <a:ea typeface="Arial Unicode MS"/>
                <a:cs typeface="Arial Unicode MS"/>
              </a:rPr>
              <a:t>距離四倍，誤差十六倍。為什麼？下一節見。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youtube.com/watch?v=fKXztwtXaGo"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JC94Y063x58&amp;t=56s" TargetMode="External"/><Relationship Id="rId1"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DZ6tn8RcaBM"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AfwYR0OpM2M"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uDpaB_1kIdA" TargetMode="External"/><Relationship Id="rId1" Type="http://schemas.openxmlformats.org/officeDocument/2006/relationships/image" Target="../media/image-11-1.jp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watch?v=e80AzFW9Q0s" TargetMode="External"/><Relationship Id="rId1" Type="http://schemas.openxmlformats.org/officeDocument/2006/relationships/image" Target="../media/image-13-1.jp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watch?v=_KrdROQ067c" TargetMode="External"/><Relationship Id="rId1" Type="http://schemas.openxmlformats.org/officeDocument/2006/relationships/image" Target="../media/image-15-1.jpg"/><Relationship Id="rId3"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Sáu cảm biến:</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nguyên lý, đặc tính, công dụng</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六種感測器：原理、特性、用途</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Hiểu nguyên lý trước, rồi mới kéo thử trên màn hình</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先懂原理，再到畫面上拖拖看</a:t>
            </a:r>
            <a:endParaRPr lang="en-US" sz="1450" dirty="0"/>
          </a:p>
        </p:txBody>
      </p:sp>
      <p:sp>
        <p:nvSpPr>
          <p:cNvPr id="8" name="Text 6"/>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1 節　2026/09/24（四）09:10–10:00　CH Tseng</a:t>
            </a:r>
            <a:endParaRPr lang="en-US" sz="1150" dirty="0"/>
          </a:p>
        </p:txBody>
      </p:sp>
      <p:sp>
        <p:nvSpPr>
          <p:cNvPr id="10" name="Shape 7"/>
          <p:cNvSpPr/>
          <p:nvPr/>
        </p:nvSpPr>
        <p:spPr>
          <a:xfrm>
            <a:off x="356616" y="310896"/>
            <a:ext cx="2212848" cy="749808"/>
          </a:xfrm>
          <a:prstGeom prst="roundRect">
            <a:avLst>
              <a:gd name="adj" fmla="val 9756"/>
            </a:avLst>
          </a:prstGeom>
          <a:solidFill>
            <a:srgbClr val="FFFFFF"/>
          </a:solidFill>
          <a:ln/>
        </p:spPr>
      </p:sp>
      <p:pic>
        <p:nvPicPr>
          <p:cNvPr id="11"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công cụ trên điện thoại hoặc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用你自己的手機或筆電打開這個工具</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三週(9-24)/src/img/w3_qr_lab.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MITUST-Principles-of-Self-Driving-Cars/week3/lab/</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link → kéo thử bất kỳ vật nào trên màn hình</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打開網址 → 用手指拖拖看畫面上任何一個物體</a:t>
            </a:r>
            <a:endParaRPr lang="en-US" sz="1150" dirty="0"/>
          </a:p>
        </p:txBody>
      </p:sp>
      <p:sp>
        <p:nvSpPr>
          <p:cNvPr id="11" name="Shape 8"/>
          <p:cNvSpPr/>
          <p:nvPr/>
        </p:nvSpPr>
        <p:spPr>
          <a:xfrm>
            <a:off x="539496" y="2651760"/>
            <a:ext cx="292608" cy="292608"/>
          </a:xfrm>
          <a:prstGeom prst="ellipse">
            <a:avLst/>
          </a:prstGeom>
          <a:solidFill>
            <a:srgbClr val="00A896"/>
          </a:solidFill>
          <a:ln/>
        </p:spPr>
      </p:sp>
      <p:sp>
        <p:nvSpPr>
          <p:cNvPr id="12" name="Text 9"/>
          <p:cNvSpPr txBox="1"/>
          <p:nvPr/>
        </p:nvSpPr>
        <p:spPr>
          <a:xfrm>
            <a:off x="539496" y="2660904"/>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615184"/>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Điện thoại: phía dưới có hai tab «Điều chỉnh» và «Sáu thẻ số»</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手機版：下面有「調整參數」和「六張讀數卡」兩個分頁</a:t>
            </a:r>
            <a:endParaRPr lang="en-US" sz="1150" dirty="0"/>
          </a:p>
        </p:txBody>
      </p:sp>
      <p:sp>
        <p:nvSpPr>
          <p:cNvPr id="14" name="Shape 11"/>
          <p:cNvSpPr/>
          <p:nvPr/>
        </p:nvSpPr>
        <p:spPr>
          <a:xfrm>
            <a:off x="539496" y="3145536"/>
            <a:ext cx="292608" cy="292608"/>
          </a:xfrm>
          <a:prstGeom prst="ellipse">
            <a:avLst/>
          </a:prstGeom>
          <a:solidFill>
            <a:srgbClr val="00A896"/>
          </a:solidFill>
          <a:ln/>
        </p:spPr>
      </p:sp>
      <p:sp>
        <p:nvSpPr>
          <p:cNvPr id="15" name="Text 12"/>
          <p:cNvSpPr txBox="1"/>
          <p:nvPr/>
        </p:nvSpPr>
        <p:spPr>
          <a:xfrm>
            <a:off x="539496" y="3154680"/>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108960"/>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cài gì, không cần đăng nhập. Dùng được cả khi không có mạng sau khi đã mở.</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不用安裝、不用登入。打開之後斷網也還能用。</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Cả ba tiết hôm nay đều dùng công cụ này. Mở sẵn rồi để đó.</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今天三節課都會用到這個工具。現在先打開放著。</a:t>
            </a:r>
            <a:endParaRPr lang="en-US" sz="1200" dirty="0"/>
          </a:p>
        </p:txBody>
      </p:sp>
      <p:pic>
        <p:nvPicPr>
          <p:cNvPr id="20" name="Image 1"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19</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20683"/>
            <a:ext cx="869046" cy="493776"/>
          </a:xfrm>
          <a:prstGeom prst="roundRect">
            <a:avLst>
              <a:gd name="adj" fmla="val 25926"/>
            </a:avLst>
          </a:prstGeom>
          <a:solidFill>
            <a:srgbClr val="4FA8FF"/>
          </a:solidFill>
          <a:ln/>
        </p:spPr>
      </p:sp>
      <p:sp>
        <p:nvSpPr>
          <p:cNvPr id="5" name="Shape 3"/>
          <p:cNvSpPr/>
          <p:nvPr/>
        </p:nvSpPr>
        <p:spPr>
          <a:xfrm>
            <a:off x="1006572" y="1521927"/>
            <a:ext cx="256764" cy="118506"/>
          </a:xfrm>
          <a:prstGeom prst="roundRect">
            <a:avLst>
              <a:gd name="adj" fmla="val 231482"/>
            </a:avLst>
          </a:prstGeom>
          <a:solidFill>
            <a:srgbClr val="4FA8FF"/>
          </a:solidFill>
          <a:ln/>
        </p:spPr>
      </p:sp>
      <p:sp>
        <p:nvSpPr>
          <p:cNvPr id="6" name="Shape 4"/>
          <p:cNvSpPr/>
          <p:nvPr/>
        </p:nvSpPr>
        <p:spPr>
          <a:xfrm>
            <a:off x="1085576" y="1699687"/>
            <a:ext cx="316017" cy="316017"/>
          </a:xfrm>
          <a:prstGeom prst="ellipse">
            <a:avLst/>
          </a:prstGeom>
          <a:solidFill>
            <a:srgbClr val="FFFFFF"/>
          </a:solidFill>
          <a:ln/>
        </p:spPr>
      </p:sp>
      <p:sp>
        <p:nvSpPr>
          <p:cNvPr id="7" name="Shape 5"/>
          <p:cNvSpPr/>
          <p:nvPr/>
        </p:nvSpPr>
        <p:spPr>
          <a:xfrm>
            <a:off x="1154704" y="1768815"/>
            <a:ext cx="177759" cy="177759"/>
          </a:xfrm>
          <a:prstGeom prst="ellipse">
            <a:avLst/>
          </a:prstGeom>
          <a:solidFill>
            <a:srgbClr val="4FA8FF">
              <a:alpha val="70000"/>
            </a:srgbClr>
          </a:solidFill>
          <a:ln/>
        </p:spPr>
      </p:sp>
      <p:sp>
        <p:nvSpPr>
          <p:cNvPr id="8" name="Shape 6"/>
          <p:cNvSpPr/>
          <p:nvPr/>
        </p:nvSpPr>
        <p:spPr>
          <a:xfrm>
            <a:off x="1480596" y="1679936"/>
            <a:ext cx="98755" cy="98755"/>
          </a:xfrm>
          <a:prstGeom prst="ellipse">
            <a:avLst/>
          </a:prstGeom>
          <a:solidFill>
            <a:srgbClr val="FFFFFF">
              <a:alpha val="60000"/>
            </a:srgbClr>
          </a:solidFill>
          <a:ln/>
        </p:spPr>
      </p:sp>
      <p:sp>
        <p:nvSpPr>
          <p:cNvPr id="9" name="Text 7"/>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Hứng ánh sáng có sẵn, ghi lại màu và độ sáng của từng điểm ảnh</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接收現場的光，記下每個像素的顏色與亮度</a:t>
            </a:r>
            <a:endParaRPr lang="en-US" sz="1800" dirty="0"/>
          </a:p>
        </p:txBody>
      </p:sp>
      <p:sp>
        <p:nvSpPr>
          <p:cNvPr id="10" name="Shape 8"/>
          <p:cNvSpPr/>
          <p:nvPr/>
        </p:nvSpPr>
        <p:spPr>
          <a:xfrm>
            <a:off x="2295144" y="1665299"/>
            <a:ext cx="786384" cy="283464"/>
          </a:xfrm>
          <a:prstGeom prst="roundRect">
            <a:avLst>
              <a:gd name="adj" fmla="val 19355"/>
            </a:avLst>
          </a:prstGeom>
          <a:solidFill>
            <a:srgbClr val="0B1F3A"/>
          </a:solidFill>
          <a:ln/>
        </p:spPr>
      </p:sp>
      <p:sp>
        <p:nvSpPr>
          <p:cNvPr id="11" name="Text 9"/>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2" name="Text 10"/>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Ống kính hội tụ ánh sáng lên cảm biến ảnh. Bị động — nó không tự phát ra gì cả, chỉ nhận ánh sáng của mặt trời hoặc đèn.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鏡頭把光聚焦到感光晶片上。被動——它不發出任何東西，只接收太陽或燈光。</a:t>
            </a:r>
            <a:endParaRPr lang="en-US" sz="1100" dirty="0"/>
          </a:p>
        </p:txBody>
      </p:sp>
      <p:sp>
        <p:nvSpPr>
          <p:cNvPr id="13" name="Shape 11"/>
          <p:cNvSpPr/>
          <p:nvPr/>
        </p:nvSpPr>
        <p:spPr>
          <a:xfrm>
            <a:off x="2295144" y="2296107"/>
            <a:ext cx="786384" cy="283464"/>
          </a:xfrm>
          <a:prstGeom prst="roundRect">
            <a:avLst>
              <a:gd name="adj" fmla="val 19355"/>
            </a:avLst>
          </a:prstGeom>
          <a:solidFill>
            <a:srgbClr val="007F72"/>
          </a:solidFill>
          <a:ln/>
        </p:spPr>
      </p:sp>
      <p:sp>
        <p:nvSpPr>
          <p:cNvPr id="14" name="Text 12"/>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5" name="Text 13"/>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Độ phân giải cao nhất, có màu sắc, rẻ nhất. Nhưng khoảng cách phải suy ra bằng hình học, và hết sáng là hết việc.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解析度最高、有顏色、最便宜。但距離要用幾何推算，而且沒有光就沒轍。</a:t>
            </a:r>
            <a:endParaRPr lang="en-US" sz="1100" dirty="0"/>
          </a:p>
        </p:txBody>
      </p:sp>
      <p:sp>
        <p:nvSpPr>
          <p:cNvPr id="16" name="Shape 14"/>
          <p:cNvSpPr/>
          <p:nvPr/>
        </p:nvSpPr>
        <p:spPr>
          <a:xfrm>
            <a:off x="2295144" y="2926915"/>
            <a:ext cx="786384" cy="283464"/>
          </a:xfrm>
          <a:prstGeom prst="roundRect">
            <a:avLst>
              <a:gd name="adj" fmla="val 19355"/>
            </a:avLst>
          </a:prstGeom>
          <a:solidFill>
            <a:srgbClr val="FFB020"/>
          </a:solidFill>
          <a:ln/>
        </p:spPr>
      </p:sp>
      <p:sp>
        <p:nvSpPr>
          <p:cNvPr id="17" name="Text 15"/>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8" name="Text 16"/>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Màu đèn tín hiệu, biển báo, vạch kẻ làn, phân loại vật thể. Trên xe tự lái đây là loại lắp nhiều nhất.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號誌燈色、交通標誌、車道標線、物體分類。自駕車上數量最多的一種。</a:t>
            </a:r>
            <a:endParaRPr lang="en-US" sz="1100" dirty="0"/>
          </a:p>
        </p:txBody>
      </p:sp>
      <p:sp>
        <p:nvSpPr>
          <p:cNvPr id="19"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Waymo thế hệ 6 lắp 13 camera. Không hãng nào dám bỏ camera.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Waymo 第六代裝了 13 顆相機。到目前為止，沒有一家自駕公司不裝相機。</a:t>
            </a:r>
            <a:endParaRPr lang="en-US" sz="1200" dirty="0"/>
          </a:p>
        </p:txBody>
      </p:sp>
      <p:pic>
        <p:nvPicPr>
          <p:cNvPr id="2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3" name="Text 1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19</a:t>
            </a:r>
            <a:endParaRPr lang="en-US" sz="900" dirty="0"/>
          </a:p>
        </p:txBody>
      </p:sp>
      <p:sp>
        <p:nvSpPr>
          <p:cNvPr id="24" name="Text 2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6　Camera · 相機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Camera của xe thật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真車的相機看到什麼</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851660" y="2093976"/>
            <a:ext cx="1207008" cy="685800"/>
          </a:xfrm>
          <a:prstGeom prst="roundRect">
            <a:avLst>
              <a:gd name="adj" fmla="val 18667"/>
            </a:avLst>
          </a:prstGeom>
          <a:solidFill>
            <a:srgbClr val="4FA8FF"/>
          </a:solidFill>
          <a:ln/>
        </p:spPr>
      </p:sp>
      <p:sp>
        <p:nvSpPr>
          <p:cNvPr id="6" name="Shape 4"/>
          <p:cNvSpPr/>
          <p:nvPr/>
        </p:nvSpPr>
        <p:spPr>
          <a:xfrm>
            <a:off x="2125980" y="1956816"/>
            <a:ext cx="356616" cy="164592"/>
          </a:xfrm>
          <a:prstGeom prst="roundRect">
            <a:avLst>
              <a:gd name="adj" fmla="val 166667"/>
            </a:avLst>
          </a:prstGeom>
          <a:solidFill>
            <a:srgbClr val="4FA8FF"/>
          </a:solidFill>
          <a:ln/>
        </p:spPr>
      </p:sp>
      <p:sp>
        <p:nvSpPr>
          <p:cNvPr id="7" name="Shape 5"/>
          <p:cNvSpPr/>
          <p:nvPr/>
        </p:nvSpPr>
        <p:spPr>
          <a:xfrm>
            <a:off x="2235708" y="2203704"/>
            <a:ext cx="438912" cy="438912"/>
          </a:xfrm>
          <a:prstGeom prst="ellipse">
            <a:avLst/>
          </a:prstGeom>
          <a:solidFill>
            <a:srgbClr val="FFFFFF"/>
          </a:solidFill>
          <a:ln/>
        </p:spPr>
      </p:sp>
      <p:sp>
        <p:nvSpPr>
          <p:cNvPr id="8" name="Shape 6"/>
          <p:cNvSpPr/>
          <p:nvPr/>
        </p:nvSpPr>
        <p:spPr>
          <a:xfrm>
            <a:off x="2331720" y="2299716"/>
            <a:ext cx="246888" cy="246888"/>
          </a:xfrm>
          <a:prstGeom prst="ellipse">
            <a:avLst/>
          </a:prstGeom>
          <a:solidFill>
            <a:srgbClr val="4FA8FF">
              <a:alpha val="70000"/>
            </a:srgbClr>
          </a:solidFill>
          <a:ln/>
        </p:spPr>
      </p:sp>
      <p:sp>
        <p:nvSpPr>
          <p:cNvPr id="9" name="Shape 7"/>
          <p:cNvSpPr/>
          <p:nvPr/>
        </p:nvSpPr>
        <p:spPr>
          <a:xfrm>
            <a:off x="2784348" y="2176272"/>
            <a:ext cx="137160" cy="137160"/>
          </a:xfrm>
          <a:prstGeom prst="ellipse">
            <a:avLst/>
          </a:prstGeom>
          <a:solidFill>
            <a:srgbClr val="FFFFFF">
              <a:alpha val="60000"/>
            </a:srgbClr>
          </a:solidFill>
          <a:ln/>
        </p:spPr>
      </p:sp>
      <p:sp>
        <p:nvSpPr>
          <p:cNvPr id="10" name="Text 8"/>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11" name="Shape 9"/>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2" name="Shape 10"/>
          <p:cNvSpPr/>
          <p:nvPr/>
        </p:nvSpPr>
        <p:spPr>
          <a:xfrm>
            <a:off x="4919472" y="1408176"/>
            <a:ext cx="347472" cy="347472"/>
          </a:xfrm>
          <a:prstGeom prst="ellipse">
            <a:avLst/>
          </a:prstGeom>
          <a:solidFill>
            <a:srgbClr val="D9463E"/>
          </a:solidFill>
          <a:ln/>
        </p:spPr>
      </p:sp>
      <p:sp>
        <p:nvSpPr>
          <p:cNvPr id="13" name="Text 11"/>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4" name="Text 12"/>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This Is What Tesla's Autopilot Sees On The Road</a:t>
            </a:r>
            <a:endParaRPr lang="en-US" sz="1050" dirty="0"/>
          </a:p>
        </p:txBody>
      </p:sp>
      <p:sp>
        <p:nvSpPr>
          <p:cNvPr id="15" name="Text 13"/>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Carscoops　·　</a:t>
            </a:r>
            <a:endParaRPr lang="en-US" sz="900" dirty="0"/>
          </a:p>
        </p:txBody>
      </p:sp>
      <p:sp>
        <p:nvSpPr>
          <p:cNvPr id="16" name="Text 14">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https://www.youtube.com/watch?v=fKXztwtXaGo</a:t>
            </a:r>
            <a:endParaRPr lang="en-US" sz="850" dirty="0"/>
          </a:p>
        </p:txBody>
      </p:sp>
      <p:sp>
        <p:nvSpPr>
          <p:cNvPr id="17" name="Shape 15"/>
          <p:cNvSpPr/>
          <p:nvPr/>
        </p:nvSpPr>
        <p:spPr>
          <a:xfrm>
            <a:off x="4919472" y="2304288"/>
            <a:ext cx="36576" cy="237744"/>
          </a:xfrm>
          <a:prstGeom prst="rect">
            <a:avLst/>
          </a:prstGeom>
          <a:solidFill>
            <a:srgbClr val="00A896"/>
          </a:solidFill>
          <a:ln/>
        </p:spPr>
      </p:sp>
      <p:sp>
        <p:nvSpPr>
          <p:cNvPr id="18" name="Text 16"/>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Khung nhận dạng: xe, người, vạch kẻ — đều do camera gán nhãn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畫面上的框：車、人、車道線——都是相機貼的標籤</a:t>
            </a:r>
            <a:endParaRPr lang="en-US" sz="950" dirty="0"/>
          </a:p>
        </p:txBody>
      </p:sp>
      <p:sp>
        <p:nvSpPr>
          <p:cNvPr id="19" name="Shape 17"/>
          <p:cNvSpPr/>
          <p:nvPr/>
        </p:nvSpPr>
        <p:spPr>
          <a:xfrm>
            <a:off x="4919472" y="2796943"/>
            <a:ext cx="36576" cy="237744"/>
          </a:xfrm>
          <a:prstGeom prst="rect">
            <a:avLst/>
          </a:prstGeom>
          <a:solidFill>
            <a:srgbClr val="00A896"/>
          </a:solidFill>
          <a:ln/>
        </p:spPr>
      </p:sp>
      <p:sp>
        <p:nvSpPr>
          <p:cNvPr id="20" name="Text 18"/>
          <p:cNvSpPr txBox="1"/>
          <p:nvPr/>
        </p:nvSpPr>
        <p:spPr>
          <a:xfrm>
            <a:off x="5047488" y="276036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lúc ngược sáng và lúc vào hầm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注意逆光和進隧道的那幾秒</a:t>
            </a:r>
            <a:endParaRPr lang="en-US" sz="950" dirty="0"/>
          </a:p>
        </p:txBody>
      </p:sp>
      <p:sp>
        <p:nvSpPr>
          <p:cNvPr id="21" name="Shape 19"/>
          <p:cNvSpPr/>
          <p:nvPr/>
        </p:nvSpPr>
        <p:spPr>
          <a:xfrm>
            <a:off x="4919472" y="3147267"/>
            <a:ext cx="36576" cy="237744"/>
          </a:xfrm>
          <a:prstGeom prst="rect">
            <a:avLst/>
          </a:prstGeom>
          <a:solidFill>
            <a:srgbClr val="00A896"/>
          </a:solidFill>
          <a:ln/>
        </p:spPr>
      </p:sp>
      <p:sp>
        <p:nvSpPr>
          <p:cNvPr id="22" name="Text 20"/>
          <p:cNvSpPr txBox="1"/>
          <p:nvPr/>
        </p:nvSpPr>
        <p:spPr>
          <a:xfrm>
            <a:off x="5047488" y="311069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Vật ở xa: khung nhảy qua nhảy lại — đó là sai số ước lượng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遠處的物體：框會跳來跳去——那就是估距誤差</a:t>
            </a:r>
            <a:endParaRPr lang="en-US" sz="950" dirty="0"/>
          </a:p>
        </p:txBody>
      </p:sp>
      <p:sp>
        <p:nvSpPr>
          <p:cNvPr id="23" name="Shape 21"/>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4" name="Text 22"/>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Những khung và nhãn này — chỉ camera mới tạo ra được.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畫面上這些框和標籤，只有相機給得出來。</a:t>
            </a:r>
            <a:endParaRPr lang="en-US" sz="1150" dirty="0"/>
          </a:p>
        </p:txBody>
      </p:sp>
      <p:pic>
        <p:nvPicPr>
          <p:cNvPr id="26"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7" name="Text 2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19</a:t>
            </a:r>
            <a:endParaRPr lang="en-US" sz="900" dirty="0"/>
          </a:p>
        </p:txBody>
      </p:sp>
      <p:sp>
        <p:nvSpPr>
          <p:cNvPr id="28" name="Text 2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rot="-2280000">
            <a:off x="1402545" y="1505556"/>
            <a:ext cx="335768" cy="35552"/>
          </a:xfrm>
          <a:prstGeom prst="rect">
            <a:avLst/>
          </a:prstGeom>
          <a:solidFill>
            <a:srgbClr val="7ED957">
              <a:alpha val="45000"/>
            </a:srgbClr>
          </a:solidFill>
          <a:ln/>
        </p:spPr>
      </p:sp>
      <p:sp>
        <p:nvSpPr>
          <p:cNvPr id="5" name="Shape 3"/>
          <p:cNvSpPr/>
          <p:nvPr/>
        </p:nvSpPr>
        <p:spPr>
          <a:xfrm rot="-1140000">
            <a:off x="1467875" y="1625878"/>
            <a:ext cx="335768" cy="35552"/>
          </a:xfrm>
          <a:prstGeom prst="rect">
            <a:avLst/>
          </a:prstGeom>
          <a:solidFill>
            <a:srgbClr val="7ED957">
              <a:alpha val="45000"/>
            </a:srgbClr>
          </a:solidFill>
          <a:ln/>
        </p:spPr>
      </p:sp>
      <p:sp>
        <p:nvSpPr>
          <p:cNvPr id="6" name="Shape 4"/>
          <p:cNvSpPr/>
          <p:nvPr/>
        </p:nvSpPr>
        <p:spPr>
          <a:xfrm>
            <a:off x="1490472" y="1760915"/>
            <a:ext cx="335768" cy="35552"/>
          </a:xfrm>
          <a:prstGeom prst="rect">
            <a:avLst/>
          </a:prstGeom>
          <a:solidFill>
            <a:srgbClr val="7ED957">
              <a:alpha val="45000"/>
            </a:srgbClr>
          </a:solidFill>
          <a:ln/>
        </p:spPr>
      </p:sp>
      <p:sp>
        <p:nvSpPr>
          <p:cNvPr id="7" name="Shape 5"/>
          <p:cNvSpPr/>
          <p:nvPr/>
        </p:nvSpPr>
        <p:spPr>
          <a:xfrm rot="1140000">
            <a:off x="1467875" y="1895951"/>
            <a:ext cx="335768" cy="35552"/>
          </a:xfrm>
          <a:prstGeom prst="rect">
            <a:avLst/>
          </a:prstGeom>
          <a:solidFill>
            <a:srgbClr val="7ED957">
              <a:alpha val="45000"/>
            </a:srgbClr>
          </a:solidFill>
          <a:ln/>
        </p:spPr>
      </p:sp>
      <p:sp>
        <p:nvSpPr>
          <p:cNvPr id="8" name="Shape 6"/>
          <p:cNvSpPr/>
          <p:nvPr/>
        </p:nvSpPr>
        <p:spPr>
          <a:xfrm rot="2280000">
            <a:off x="1402545" y="2016274"/>
            <a:ext cx="335768" cy="35552"/>
          </a:xfrm>
          <a:prstGeom prst="rect">
            <a:avLst/>
          </a:prstGeom>
          <a:solidFill>
            <a:srgbClr val="7ED957">
              <a:alpha val="45000"/>
            </a:srgbClr>
          </a:solidFill>
          <a:ln/>
        </p:spPr>
      </p:sp>
      <p:sp>
        <p:nvSpPr>
          <p:cNvPr id="9" name="Shape 7"/>
          <p:cNvSpPr/>
          <p:nvPr/>
        </p:nvSpPr>
        <p:spPr>
          <a:xfrm>
            <a:off x="967069" y="1581180"/>
            <a:ext cx="355519" cy="128382"/>
          </a:xfrm>
          <a:prstGeom prst="ellipse">
            <a:avLst/>
          </a:prstGeom>
          <a:solidFill>
            <a:srgbClr val="7ED957"/>
          </a:solidFill>
          <a:ln/>
        </p:spPr>
      </p:sp>
      <p:sp>
        <p:nvSpPr>
          <p:cNvPr id="10" name="Shape 8"/>
          <p:cNvSpPr/>
          <p:nvPr/>
        </p:nvSpPr>
        <p:spPr>
          <a:xfrm>
            <a:off x="967069" y="1640434"/>
            <a:ext cx="355519" cy="335768"/>
          </a:xfrm>
          <a:prstGeom prst="rect">
            <a:avLst/>
          </a:prstGeom>
          <a:solidFill>
            <a:srgbClr val="7ED957"/>
          </a:solidFill>
          <a:ln/>
        </p:spPr>
      </p:sp>
      <p:sp>
        <p:nvSpPr>
          <p:cNvPr id="11" name="Shape 9"/>
          <p:cNvSpPr/>
          <p:nvPr/>
        </p:nvSpPr>
        <p:spPr>
          <a:xfrm>
            <a:off x="967069" y="1907073"/>
            <a:ext cx="355519" cy="128382"/>
          </a:xfrm>
          <a:prstGeom prst="ellipse">
            <a:avLst/>
          </a:prstGeom>
          <a:solidFill>
            <a:srgbClr val="7ED957"/>
          </a:solidFill>
          <a:ln/>
        </p:spPr>
      </p:sp>
      <p:sp>
        <p:nvSpPr>
          <p:cNvPr id="12" name="Shape 10"/>
          <p:cNvSpPr/>
          <p:nvPr/>
        </p:nvSpPr>
        <p:spPr>
          <a:xfrm>
            <a:off x="967069" y="1739189"/>
            <a:ext cx="355519" cy="69129"/>
          </a:xfrm>
          <a:prstGeom prst="rect">
            <a:avLst/>
          </a:prstGeom>
          <a:solidFill>
            <a:srgbClr val="FFFFFF">
              <a:alpha val="65000"/>
            </a:srgbClr>
          </a:solidFill>
          <a:ln/>
        </p:spPr>
      </p:sp>
      <p:sp>
        <p:nvSpPr>
          <p:cNvPr id="13" name="Shape 11"/>
          <p:cNvSpPr/>
          <p:nvPr/>
        </p:nvSpPr>
        <p:spPr>
          <a:xfrm>
            <a:off x="1085576" y="2035454"/>
            <a:ext cx="118506" cy="138257"/>
          </a:xfrm>
          <a:prstGeom prst="rect">
            <a:avLst/>
          </a:prstGeom>
          <a:solidFill>
            <a:srgbClr val="7ED957">
              <a:alpha val="60000"/>
            </a:srgbClr>
          </a:solidFill>
          <a:ln/>
        </p:spPr>
      </p:sp>
      <p:sp>
        <p:nvSpPr>
          <p:cNvPr id="14" name="Text 12"/>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Bắn tia laser ra, đo thời gian nó phản xạ về</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打一道雷射出去，量它反射回來的時間</a:t>
            </a:r>
            <a:endParaRPr lang="en-US" sz="1800" dirty="0"/>
          </a:p>
        </p:txBody>
      </p:sp>
      <p:sp>
        <p:nvSpPr>
          <p:cNvPr id="15" name="Shape 13"/>
          <p:cNvSpPr/>
          <p:nvPr/>
        </p:nvSpPr>
        <p:spPr>
          <a:xfrm>
            <a:off x="2295144" y="1400190"/>
            <a:ext cx="786384" cy="283464"/>
          </a:xfrm>
          <a:prstGeom prst="roundRect">
            <a:avLst>
              <a:gd name="adj" fmla="val 19355"/>
            </a:avLst>
          </a:prstGeom>
          <a:solidFill>
            <a:srgbClr val="0B1F3A"/>
          </a:solidFill>
          <a:ln/>
        </p:spPr>
      </p:sp>
      <p:sp>
        <p:nvSpPr>
          <p:cNvPr id="16" name="Text 14"/>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7" name="Text 15"/>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 tốc độ ánh sáng × thời gian ÷ 2. Ánh sáng đi 300.000 km mỗi giây, nên phải đo thời gian cực kỳ chính xác.</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 ＝ 光速 × 時間 ÷ 2。光每秒走三十萬公里，所以時間要量得極準。</a:t>
            </a:r>
            <a:endParaRPr lang="en-US" sz="1100" dirty="0"/>
          </a:p>
        </p:txBody>
      </p:sp>
      <p:sp>
        <p:nvSpPr>
          <p:cNvPr id="18" name="Shape 16"/>
          <p:cNvSpPr/>
          <p:nvPr/>
        </p:nvSpPr>
        <p:spPr>
          <a:xfrm>
            <a:off x="2295144" y="2030998"/>
            <a:ext cx="786384" cy="283464"/>
          </a:xfrm>
          <a:prstGeom prst="roundRect">
            <a:avLst>
              <a:gd name="adj" fmla="val 19355"/>
            </a:avLst>
          </a:prstGeom>
          <a:solidFill>
            <a:srgbClr val="007F72"/>
          </a:solidFill>
          <a:ln/>
        </p:spPr>
      </p:sp>
      <p:sp>
        <p:nvSpPr>
          <p:cNvPr id="19" name="Text 17"/>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20" name="Text 18"/>
          <p:cNvSpPr txBox="1"/>
          <p:nvPr/>
        </p:nvSpPr>
        <p:spPr>
          <a:xfrm>
            <a:off x="3209544" y="203099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Khoảng cách chính xác tới cm, cho luôn hình dạng 3D. Nhưng đắt, và mưa sương làm tán xạ tia laser.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距離準到公分，還直接給出三維形狀。但很貴，而且雨霧會把雷射散射掉。</a:t>
            </a:r>
            <a:endParaRPr lang="en-US" sz="1100" dirty="0"/>
          </a:p>
        </p:txBody>
      </p:sp>
      <p:sp>
        <p:nvSpPr>
          <p:cNvPr id="21" name="Shape 19"/>
          <p:cNvSpPr/>
          <p:nvPr/>
        </p:nvSpPr>
        <p:spPr>
          <a:xfrm>
            <a:off x="2295144" y="2661806"/>
            <a:ext cx="786384" cy="283464"/>
          </a:xfrm>
          <a:prstGeom prst="roundRect">
            <a:avLst>
              <a:gd name="adj" fmla="val 19355"/>
            </a:avLst>
          </a:prstGeom>
          <a:solidFill>
            <a:srgbClr val="FFB020"/>
          </a:solidFill>
          <a:ln/>
        </p:spPr>
      </p:sp>
      <p:sp>
        <p:nvSpPr>
          <p:cNvPr id="22" name="Text 20"/>
          <p:cNvSpPr txBox="1"/>
          <p:nvPr/>
        </p:nvSpPr>
        <p:spPr>
          <a:xfrm>
            <a:off x="2295144" y="268466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23" name="Text 21"/>
          <p:cNvSpPr txBox="1"/>
          <p:nvPr/>
        </p:nvSpPr>
        <p:spPr>
          <a:xfrm>
            <a:off x="3209544" y="266180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Vị trí và hình dạng vật cản, dựng bản đồ độ chính xác cao, và so khớp bản đồ để định vị.</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障礙物的位置與形狀、建高精地圖，以及拿地圖比對來定位。</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Chủ động: tự mang “đèn pin” đi, nên ban đêm cũng làm việc y như ban ngày.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主動：自己帶手電筒，所以晚上跟白天一樣好用。</a:t>
            </a:r>
            <a:endParaRPr lang="en-US" sz="1200" dirty="0"/>
          </a:p>
        </p:txBody>
      </p:sp>
      <p:pic>
        <p:nvPicPr>
          <p:cNvPr id="27"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19</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6　LiDAR · 光達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Thiết bị thật và đám mây điểm nó tạo ra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實體長這樣，以及它掃出來的點雲</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lidar.jpg">    </p:cNvPr>
          <p:cNvPicPr>
            <a:picLocks noChangeAspect="1"/>
          </p:cNvPicPr>
          <p:nvPr/>
        </p:nvPicPr>
        <p:blipFill>
          <a:blip r:embed="rId1"/>
          <a:stretch>
            <a:fillRect/>
          </a:stretch>
        </p:blipFill>
        <p:spPr>
          <a:xfrm>
            <a:off x="863805" y="1289304"/>
            <a:ext cx="3182718"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Steve Jurvetson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is LiDAR remote sensing used for Autonomous vehicles?</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Geospatial World　·　0:56 – 2:10</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https://www.youtube.com/watch?v=JC94Y063x58&amp;t=56s</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0:56　Thiết bị quay trên nóc xe chính là vật trong ảnh bên trái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0:56　車頂那個會轉的東西，就是左邊照片這一顆</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1:05　Mỗi giây hàng nghìn xung laser, chạm vật rồi phản xạ về</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1:05　每秒幾千道雷射脈衝，碰到東西再反射回來</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1:28　Các điểm phản xạ ghép thành đám mây điểm 3D</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1:28　反射點拼成 3D 點雲——每個點都是一次量時間</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Video nói một chỗ chưa chính xác. Ai tìm ra?</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影片有一句話講得不精確。誰抓得到？</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48563" y="1758940"/>
            <a:ext cx="177759" cy="177759"/>
          </a:xfrm>
          <a:prstGeom prst="ellipse">
            <a:avLst/>
          </a:prstGeom>
          <a:solidFill>
            <a:srgbClr val="FFB020"/>
          </a:solidFill>
          <a:ln/>
        </p:spPr>
      </p:sp>
      <p:sp>
        <p:nvSpPr>
          <p:cNvPr id="5" name="Shape 3"/>
          <p:cNvSpPr/>
          <p:nvPr/>
        </p:nvSpPr>
        <p:spPr>
          <a:xfrm>
            <a:off x="986820" y="1561429"/>
            <a:ext cx="237012" cy="572780"/>
          </a:xfrm>
          <a:prstGeom prst="chevron">
            <a:avLst/>
          </a:prstGeom>
          <a:ln w="31750">
            <a:solidFill>
              <a:srgbClr val="FFB020"/>
            </a:solidFill>
            <a:prstDash val="solid"/>
          </a:ln>
        </p:spPr>
      </p:sp>
      <p:sp>
        <p:nvSpPr>
          <p:cNvPr id="6" name="Shape 4"/>
          <p:cNvSpPr/>
          <p:nvPr/>
        </p:nvSpPr>
        <p:spPr>
          <a:xfrm>
            <a:off x="1184331" y="1482425"/>
            <a:ext cx="256764" cy="730788"/>
          </a:xfrm>
          <a:prstGeom prst="chevron">
            <a:avLst/>
          </a:prstGeom>
          <a:ln w="31750">
            <a:solidFill>
              <a:srgbClr val="FFB020">
                <a:alpha val="75000"/>
              </a:srgbClr>
            </a:solidFill>
            <a:prstDash val="solid"/>
          </a:ln>
        </p:spPr>
      </p:sp>
      <p:sp>
        <p:nvSpPr>
          <p:cNvPr id="7" name="Shape 5"/>
          <p:cNvSpPr/>
          <p:nvPr/>
        </p:nvSpPr>
        <p:spPr>
          <a:xfrm>
            <a:off x="1381841" y="1403421"/>
            <a:ext cx="276515" cy="888797"/>
          </a:xfrm>
          <a:prstGeom prst="chevron">
            <a:avLst/>
          </a:prstGeom>
          <a:ln w="31750">
            <a:solidFill>
              <a:srgbClr val="FFB020">
                <a:alpha val="50000"/>
              </a:srgbClr>
            </a:solidFill>
            <a:prstDash val="solid"/>
          </a:ln>
        </p:spPr>
      </p:sp>
      <p:sp>
        <p:nvSpPr>
          <p:cNvPr id="8" name="Text 6"/>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sóng vô tuyến, đo cả thời gian về lẫn thay đổi tần số</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發射無線電波，同時量回來的時間和頻率變化</a:t>
            </a:r>
            <a:endParaRPr lang="en-US" sz="1800" dirty="0"/>
          </a:p>
        </p:txBody>
      </p:sp>
      <p:sp>
        <p:nvSpPr>
          <p:cNvPr id="9" name="Shape 7"/>
          <p:cNvSpPr/>
          <p:nvPr/>
        </p:nvSpPr>
        <p:spPr>
          <a:xfrm>
            <a:off x="2295144" y="1665299"/>
            <a:ext cx="786384" cy="283464"/>
          </a:xfrm>
          <a:prstGeom prst="roundRect">
            <a:avLst>
              <a:gd name="adj" fmla="val 19355"/>
            </a:avLst>
          </a:prstGeom>
          <a:solidFill>
            <a:srgbClr val="0B1F3A"/>
          </a:solidFill>
          <a:ln/>
        </p:spPr>
      </p:sp>
      <p:sp>
        <p:nvSpPr>
          <p:cNvPr id="10" name="Text 8"/>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665299"/>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hơi dùng sóng milimét 77 GHz. Thời gian cho khoảng cách; tần số lệch đi (Doppler) cho tốc độ lại gần — một lần đo có cả hai.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車用是 77 GHz 毫米波。時間給距離；頻率偏移（都卜勒）給接近速度——一次量測兩樣都有。</a:t>
            </a:r>
            <a:endParaRPr lang="en-US" sz="1100" dirty="0"/>
          </a:p>
        </p:txBody>
      </p:sp>
      <p:sp>
        <p:nvSpPr>
          <p:cNvPr id="12" name="Shape 10"/>
          <p:cNvSpPr/>
          <p:nvPr/>
        </p:nvSpPr>
        <p:spPr>
          <a:xfrm>
            <a:off x="2295144" y="2296107"/>
            <a:ext cx="786384" cy="283464"/>
          </a:xfrm>
          <a:prstGeom prst="roundRect">
            <a:avLst>
              <a:gd name="adj" fmla="val 19355"/>
            </a:avLst>
          </a:prstGeom>
          <a:solidFill>
            <a:srgbClr val="007F72"/>
          </a:solidFill>
          <a:ln/>
        </p:spPr>
      </p:sp>
      <p:sp>
        <p:nvSpPr>
          <p:cNvPr id="13" name="Text 11"/>
          <p:cNvSpPr txBox="1"/>
          <p:nvPr/>
        </p:nvSpPr>
        <p:spPr>
          <a:xfrm>
            <a:off x="2295144" y="231896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29610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Gần như không sợ mưa sương, tầm xa nhất. Nhưng phân giải góc kém: hai vật cạnh nhau dễ bị gộp làm một.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幾乎不怕雨霧、距離最遠。但角解析度差：靠得近的兩個東西容易被當成一個。</a:t>
            </a:r>
            <a:endParaRPr lang="en-US" sz="1100" dirty="0"/>
          </a:p>
        </p:txBody>
      </p:sp>
      <p:sp>
        <p:nvSpPr>
          <p:cNvPr id="15" name="Shape 13"/>
          <p:cNvSpPr/>
          <p:nvPr/>
        </p:nvSpPr>
        <p:spPr>
          <a:xfrm>
            <a:off x="2295144" y="2926915"/>
            <a:ext cx="786384" cy="283464"/>
          </a:xfrm>
          <a:prstGeom prst="roundRect">
            <a:avLst>
              <a:gd name="adj" fmla="val 19355"/>
            </a:avLst>
          </a:prstGeom>
          <a:solidFill>
            <a:srgbClr val="FFB020"/>
          </a:solidFill>
          <a:ln/>
        </p:spPr>
      </p:sp>
      <p:sp>
        <p:nvSpPr>
          <p:cNvPr id="16" name="Text 14"/>
          <p:cNvSpPr txBox="1"/>
          <p:nvPr/>
        </p:nvSpPr>
        <p:spPr>
          <a:xfrm>
            <a:off x="2295144" y="294977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292691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Ga tự động giữ khoảng cách, phanh khẩn cấp tự động, cảnh báo điểm mù. Đây là loại phổ biến sớm nhất trên xe thương mại.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定速跟車、自動緊急煞車、盲點警示。量產車上最早普及的一種。</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Sóng 77 GHz dài khoảng 4 mm — lớn hơn hạt sương rất nhiều, nên nó đi vòng qua.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77 GHz 的波長約 4 公釐——比霧滴大很多，所以它直接繞過去。</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6　Radar · 雷達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radar đo được tốc độ chỉ bằng một lần đo</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為什麼雷達一次量測就有速度</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906524" y="2286000"/>
            <a:ext cx="246888" cy="246888"/>
          </a:xfrm>
          <a:prstGeom prst="ellipse">
            <a:avLst/>
          </a:prstGeom>
          <a:solidFill>
            <a:srgbClr val="FFB020"/>
          </a:solidFill>
          <a:ln/>
        </p:spPr>
      </p:sp>
      <p:sp>
        <p:nvSpPr>
          <p:cNvPr id="6" name="Shape 4"/>
          <p:cNvSpPr/>
          <p:nvPr/>
        </p:nvSpPr>
        <p:spPr>
          <a:xfrm>
            <a:off x="2098548" y="2011680"/>
            <a:ext cx="329184" cy="795528"/>
          </a:xfrm>
          <a:prstGeom prst="chevron">
            <a:avLst/>
          </a:prstGeom>
          <a:ln w="31750">
            <a:solidFill>
              <a:srgbClr val="FFB020"/>
            </a:solidFill>
            <a:prstDash val="solid"/>
          </a:ln>
        </p:spPr>
      </p:sp>
      <p:sp>
        <p:nvSpPr>
          <p:cNvPr id="7" name="Shape 5"/>
          <p:cNvSpPr/>
          <p:nvPr/>
        </p:nvSpPr>
        <p:spPr>
          <a:xfrm>
            <a:off x="2372868" y="1901952"/>
            <a:ext cx="356616" cy="1014984"/>
          </a:xfrm>
          <a:prstGeom prst="chevron">
            <a:avLst/>
          </a:prstGeom>
          <a:ln w="31750">
            <a:solidFill>
              <a:srgbClr val="FFB020">
                <a:alpha val="75000"/>
              </a:srgbClr>
            </a:solidFill>
            <a:prstDash val="solid"/>
          </a:ln>
        </p:spPr>
      </p:sp>
      <p:sp>
        <p:nvSpPr>
          <p:cNvPr id="8" name="Shape 6"/>
          <p:cNvSpPr/>
          <p:nvPr/>
        </p:nvSpPr>
        <p:spPr>
          <a:xfrm>
            <a:off x="2647188" y="1792224"/>
            <a:ext cx="384048" cy="1234440"/>
          </a:xfrm>
          <a:prstGeom prst="chevron">
            <a:avLst/>
          </a:prstGeom>
          <a:ln w="31750">
            <a:solidFill>
              <a:srgbClr val="FFB020">
                <a:alpha val="50000"/>
              </a:srgbClr>
            </a:solidFill>
            <a:prstDash val="solid"/>
          </a:ln>
        </p:spPr>
      </p:sp>
      <p:sp>
        <p:nvSpPr>
          <p:cNvPr id="9" name="Text 7"/>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10" name="Shape 8"/>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11" name="Shape 9"/>
          <p:cNvSpPr/>
          <p:nvPr/>
        </p:nvSpPr>
        <p:spPr>
          <a:xfrm>
            <a:off x="4919472" y="1408176"/>
            <a:ext cx="347472" cy="347472"/>
          </a:xfrm>
          <a:prstGeom prst="ellipse">
            <a:avLst/>
          </a:prstGeom>
          <a:solidFill>
            <a:srgbClr val="D9463E"/>
          </a:solidFill>
          <a:ln/>
        </p:spPr>
      </p:sp>
      <p:sp>
        <p:nvSpPr>
          <p:cNvPr id="12" name="Text 10"/>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3" name="Text 11"/>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Radar Sensor Explained With Animation | Mastering Automotive Sensors</a:t>
            </a:r>
            <a:endParaRPr lang="en-US" sz="1050" dirty="0"/>
          </a:p>
        </p:txBody>
      </p:sp>
      <p:sp>
        <p:nvSpPr>
          <p:cNvPr id="14" name="Text 12"/>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TechTrixInfo　·　</a:t>
            </a:r>
            <a:endParaRPr lang="en-US" sz="900" dirty="0"/>
          </a:p>
        </p:txBody>
      </p:sp>
      <p:sp>
        <p:nvSpPr>
          <p:cNvPr id="15" name="Text 13">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https://www.youtube.com/watch?v=DZ6tn8RcaBM</a:t>
            </a:r>
            <a:endParaRPr lang="en-US" sz="850" dirty="0"/>
          </a:p>
        </p:txBody>
      </p:sp>
      <p:sp>
        <p:nvSpPr>
          <p:cNvPr id="16" name="Shape 14"/>
          <p:cNvSpPr/>
          <p:nvPr/>
        </p:nvSpPr>
        <p:spPr>
          <a:xfrm>
            <a:off x="4919472" y="2304288"/>
            <a:ext cx="36576" cy="237744"/>
          </a:xfrm>
          <a:prstGeom prst="rect">
            <a:avLst/>
          </a:prstGeom>
          <a:solidFill>
            <a:srgbClr val="00A896"/>
          </a:solidFill>
          <a:ln/>
        </p:spPr>
      </p:sp>
      <p:sp>
        <p:nvSpPr>
          <p:cNvPr id="17" name="Text 15"/>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Sóng phát ra và sóng về: tần số đã khác nhau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發出去的波和回來的波：頻率已經不一樣了</a:t>
            </a:r>
            <a:endParaRPr lang="en-US" sz="950" dirty="0"/>
          </a:p>
        </p:txBody>
      </p:sp>
      <p:sp>
        <p:nvSpPr>
          <p:cNvPr id="18" name="Shape 16"/>
          <p:cNvSpPr/>
          <p:nvPr/>
        </p:nvSpPr>
        <p:spPr>
          <a:xfrm>
            <a:off x="4919472" y="2654612"/>
            <a:ext cx="36576" cy="237744"/>
          </a:xfrm>
          <a:prstGeom prst="rect">
            <a:avLst/>
          </a:prstGeom>
          <a:solidFill>
            <a:srgbClr val="00A896"/>
          </a:solidFill>
          <a:ln/>
        </p:spPr>
      </p:sp>
      <p:sp>
        <p:nvSpPr>
          <p:cNvPr id="19" name="Text 17"/>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Radar thường nằm sau lưới tản nhiệt, không cần lộ ra ngoài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雷達通常藏在水箱罩後面，不用露出來</a:t>
            </a:r>
            <a:endParaRPr lang="en-US" sz="950" dirty="0"/>
          </a:p>
        </p:txBody>
      </p:sp>
      <p:sp>
        <p:nvSpPr>
          <p:cNvPr id="20" name="Shape 18"/>
          <p:cNvSpPr/>
          <p:nvPr/>
        </p:nvSpPr>
        <p:spPr>
          <a:xfrm>
            <a:off x="4919472" y="3147267"/>
            <a:ext cx="36576" cy="237744"/>
          </a:xfrm>
          <a:prstGeom prst="rect">
            <a:avLst/>
          </a:prstGeom>
          <a:solidFill>
            <a:srgbClr val="00A896"/>
          </a:solidFill>
          <a:ln/>
        </p:spPr>
      </p:sp>
      <p:sp>
        <p:nvSpPr>
          <p:cNvPr id="21" name="Text 19"/>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xong nhớ lại: vật băng ngang thì đọc ra bao nhiêu?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看完回想：橫越的物體會讀到多少？</a:t>
            </a:r>
            <a:endParaRPr lang="en-US" sz="950" dirty="0"/>
          </a:p>
        </p:txBody>
      </p:sp>
      <p:sp>
        <p:nvSpPr>
          <p:cNvPr id="22" name="Shape 20"/>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3" name="Text 21"/>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Radar thường nằm sau lưới tản nhiệt: sóng vô tuyến xuyên qua nhựa, nên ta không nhìn thấy nó.</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雷達通常藏在水箱罩後面：無線電波穿得過塑膠，所以你在路上看不到它。</a:t>
            </a:r>
            <a:endParaRPr lang="en-US" sz="1150" dirty="0"/>
          </a:p>
        </p:txBody>
      </p:sp>
      <p:pic>
        <p:nvPicPr>
          <p:cNvPr id="25"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26" name="Text 2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19</a:t>
            </a:r>
            <a:endParaRPr lang="en-US" sz="900" dirty="0"/>
          </a:p>
        </p:txBody>
      </p:sp>
      <p:sp>
        <p:nvSpPr>
          <p:cNvPr id="27" name="Text 2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LiDAR vs Radar · 光達 vs 雷達</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LiDAR và radar: mỗi loại mạnh một kiểu, nên xe lắp cả hai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光達與雷達：各有所長，所以兩個都裝</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rot="-2280000">
            <a:off x="1976989" y="2057185"/>
            <a:ext cx="341986" cy="36210"/>
          </a:xfrm>
          <a:prstGeom prst="rect">
            <a:avLst/>
          </a:prstGeom>
          <a:solidFill>
            <a:srgbClr val="0B1F3A">
              <a:alpha val="45000"/>
            </a:srgbClr>
          </a:solidFill>
          <a:ln/>
        </p:spPr>
      </p:sp>
      <p:sp>
        <p:nvSpPr>
          <p:cNvPr id="6" name="Shape 4"/>
          <p:cNvSpPr/>
          <p:nvPr/>
        </p:nvSpPr>
        <p:spPr>
          <a:xfrm rot="-1140000">
            <a:off x="2043528" y="2179735"/>
            <a:ext cx="341986" cy="36210"/>
          </a:xfrm>
          <a:prstGeom prst="rect">
            <a:avLst/>
          </a:prstGeom>
          <a:solidFill>
            <a:srgbClr val="0B1F3A">
              <a:alpha val="45000"/>
            </a:srgbClr>
          </a:solidFill>
          <a:ln/>
        </p:spPr>
      </p:sp>
      <p:sp>
        <p:nvSpPr>
          <p:cNvPr id="7" name="Shape 5"/>
          <p:cNvSpPr/>
          <p:nvPr/>
        </p:nvSpPr>
        <p:spPr>
          <a:xfrm>
            <a:off x="2066544" y="2317272"/>
            <a:ext cx="341986" cy="36210"/>
          </a:xfrm>
          <a:prstGeom prst="rect">
            <a:avLst/>
          </a:prstGeom>
          <a:solidFill>
            <a:srgbClr val="0B1F3A">
              <a:alpha val="45000"/>
            </a:srgbClr>
          </a:solidFill>
          <a:ln/>
        </p:spPr>
      </p:sp>
      <p:sp>
        <p:nvSpPr>
          <p:cNvPr id="8" name="Shape 6"/>
          <p:cNvSpPr/>
          <p:nvPr/>
        </p:nvSpPr>
        <p:spPr>
          <a:xfrm rot="1140000">
            <a:off x="2043528" y="2454810"/>
            <a:ext cx="341986" cy="36210"/>
          </a:xfrm>
          <a:prstGeom prst="rect">
            <a:avLst/>
          </a:prstGeom>
          <a:solidFill>
            <a:srgbClr val="0B1F3A">
              <a:alpha val="45000"/>
            </a:srgbClr>
          </a:solidFill>
          <a:ln/>
        </p:spPr>
      </p:sp>
      <p:sp>
        <p:nvSpPr>
          <p:cNvPr id="9" name="Shape 7"/>
          <p:cNvSpPr/>
          <p:nvPr/>
        </p:nvSpPr>
        <p:spPr>
          <a:xfrm rot="2280000">
            <a:off x="1976989" y="2577360"/>
            <a:ext cx="341986" cy="36210"/>
          </a:xfrm>
          <a:prstGeom prst="rect">
            <a:avLst/>
          </a:prstGeom>
          <a:solidFill>
            <a:srgbClr val="0B1F3A">
              <a:alpha val="45000"/>
            </a:srgbClr>
          </a:solidFill>
          <a:ln/>
        </p:spPr>
      </p:sp>
      <p:sp>
        <p:nvSpPr>
          <p:cNvPr id="10" name="Shape 8"/>
          <p:cNvSpPr/>
          <p:nvPr/>
        </p:nvSpPr>
        <p:spPr>
          <a:xfrm>
            <a:off x="1533449" y="2134210"/>
            <a:ext cx="362102" cy="130759"/>
          </a:xfrm>
          <a:prstGeom prst="ellipse">
            <a:avLst/>
          </a:prstGeom>
          <a:solidFill>
            <a:srgbClr val="0B1F3A"/>
          </a:solidFill>
          <a:ln/>
        </p:spPr>
      </p:sp>
      <p:sp>
        <p:nvSpPr>
          <p:cNvPr id="11" name="Shape 9"/>
          <p:cNvSpPr/>
          <p:nvPr/>
        </p:nvSpPr>
        <p:spPr>
          <a:xfrm>
            <a:off x="1533449" y="2194560"/>
            <a:ext cx="362102" cy="341986"/>
          </a:xfrm>
          <a:prstGeom prst="rect">
            <a:avLst/>
          </a:prstGeom>
          <a:solidFill>
            <a:srgbClr val="0B1F3A"/>
          </a:solidFill>
          <a:ln/>
        </p:spPr>
      </p:sp>
      <p:sp>
        <p:nvSpPr>
          <p:cNvPr id="12" name="Shape 10"/>
          <p:cNvSpPr/>
          <p:nvPr/>
        </p:nvSpPr>
        <p:spPr>
          <a:xfrm>
            <a:off x="1533449" y="2466137"/>
            <a:ext cx="362102" cy="130759"/>
          </a:xfrm>
          <a:prstGeom prst="ellipse">
            <a:avLst/>
          </a:prstGeom>
          <a:solidFill>
            <a:srgbClr val="0B1F3A"/>
          </a:solidFill>
          <a:ln/>
        </p:spPr>
      </p:sp>
      <p:sp>
        <p:nvSpPr>
          <p:cNvPr id="13" name="Shape 11"/>
          <p:cNvSpPr/>
          <p:nvPr/>
        </p:nvSpPr>
        <p:spPr>
          <a:xfrm>
            <a:off x="1533449" y="2295144"/>
            <a:ext cx="362102" cy="70409"/>
          </a:xfrm>
          <a:prstGeom prst="rect">
            <a:avLst/>
          </a:prstGeom>
          <a:solidFill>
            <a:srgbClr val="FFFFFF">
              <a:alpha val="65000"/>
            </a:srgbClr>
          </a:solidFill>
          <a:ln/>
        </p:spPr>
      </p:sp>
      <p:sp>
        <p:nvSpPr>
          <p:cNvPr id="14" name="Shape 12"/>
          <p:cNvSpPr/>
          <p:nvPr/>
        </p:nvSpPr>
        <p:spPr>
          <a:xfrm>
            <a:off x="1654150" y="2596896"/>
            <a:ext cx="120701" cy="140818"/>
          </a:xfrm>
          <a:prstGeom prst="rect">
            <a:avLst/>
          </a:prstGeom>
          <a:solidFill>
            <a:srgbClr val="0B1F3A">
              <a:alpha val="60000"/>
            </a:srgbClr>
          </a:solidFill>
          <a:ln/>
        </p:spPr>
      </p:sp>
      <p:sp>
        <p:nvSpPr>
          <p:cNvPr id="15" name="Text 13"/>
          <p:cNvSpPr txBox="1"/>
          <p:nvPr/>
        </p:nvSpPr>
        <p:spPr>
          <a:xfrm>
            <a:off x="2318004" y="2212848"/>
            <a:ext cx="274320"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6" name="Shape 14"/>
          <p:cNvSpPr/>
          <p:nvPr/>
        </p:nvSpPr>
        <p:spPr>
          <a:xfrm>
            <a:off x="2692908" y="2315261"/>
            <a:ext cx="181051" cy="181051"/>
          </a:xfrm>
          <a:prstGeom prst="ellipse">
            <a:avLst/>
          </a:prstGeom>
          <a:solidFill>
            <a:srgbClr val="0B1F3A"/>
          </a:solidFill>
          <a:ln/>
        </p:spPr>
      </p:sp>
      <p:sp>
        <p:nvSpPr>
          <p:cNvPr id="17" name="Shape 15"/>
          <p:cNvSpPr/>
          <p:nvPr/>
        </p:nvSpPr>
        <p:spPr>
          <a:xfrm>
            <a:off x="2833726" y="2114093"/>
            <a:ext cx="241402" cy="583387"/>
          </a:xfrm>
          <a:prstGeom prst="chevron">
            <a:avLst/>
          </a:prstGeom>
          <a:ln w="31750">
            <a:solidFill>
              <a:srgbClr val="0B1F3A"/>
            </a:solidFill>
            <a:prstDash val="solid"/>
          </a:ln>
        </p:spPr>
      </p:sp>
      <p:sp>
        <p:nvSpPr>
          <p:cNvPr id="18" name="Shape 16"/>
          <p:cNvSpPr/>
          <p:nvPr/>
        </p:nvSpPr>
        <p:spPr>
          <a:xfrm>
            <a:off x="3034894" y="2033626"/>
            <a:ext cx="261518" cy="744322"/>
          </a:xfrm>
          <a:prstGeom prst="chevron">
            <a:avLst/>
          </a:prstGeom>
          <a:ln w="31750">
            <a:solidFill>
              <a:srgbClr val="0B1F3A">
                <a:alpha val="75000"/>
              </a:srgbClr>
            </a:solidFill>
            <a:prstDash val="solid"/>
          </a:ln>
        </p:spPr>
      </p:sp>
      <p:sp>
        <p:nvSpPr>
          <p:cNvPr id="19" name="Shape 17"/>
          <p:cNvSpPr/>
          <p:nvPr/>
        </p:nvSpPr>
        <p:spPr>
          <a:xfrm>
            <a:off x="3236062" y="1953158"/>
            <a:ext cx="281635" cy="905256"/>
          </a:xfrm>
          <a:prstGeom prst="chevron">
            <a:avLst/>
          </a:prstGeom>
          <a:ln w="31750">
            <a:solidFill>
              <a:srgbClr val="0B1F3A">
                <a:alpha val="50000"/>
              </a:srgbClr>
            </a:solidFill>
            <a:prstDash val="solid"/>
          </a:ln>
        </p:spPr>
      </p:sp>
      <p:sp>
        <p:nvSpPr>
          <p:cNvPr id="20" name="Text 18"/>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21" name="Shape 19"/>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22" name="Shape 20"/>
          <p:cNvSpPr/>
          <p:nvPr/>
        </p:nvSpPr>
        <p:spPr>
          <a:xfrm>
            <a:off x="4919472" y="1408176"/>
            <a:ext cx="347472" cy="347472"/>
          </a:xfrm>
          <a:prstGeom prst="ellipse">
            <a:avLst/>
          </a:prstGeom>
          <a:solidFill>
            <a:srgbClr val="D9463E"/>
          </a:solidFill>
          <a:ln/>
        </p:spPr>
      </p:sp>
      <p:sp>
        <p:nvSpPr>
          <p:cNvPr id="23" name="Text 21"/>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LiDAR vs RADAR Explained: The Battle Behind Self-Driving Cars</a:t>
            </a:r>
            <a:endParaRPr lang="en-US" sz="1050" dirty="0"/>
          </a:p>
        </p:txBody>
      </p:sp>
      <p:sp>
        <p:nvSpPr>
          <p:cNvPr id="25" name="Text 23"/>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Engineering Decoded　·　2:34</a:t>
            </a:r>
            <a:endParaRPr lang="en-US" sz="900" dirty="0"/>
          </a:p>
        </p:txBody>
      </p:sp>
      <p:sp>
        <p:nvSpPr>
          <p:cNvPr id="26" name="Text 24">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https://www.youtube.com/watch?v=AfwYR0OpM2M</a:t>
            </a:r>
            <a:endParaRPr lang="en-US" sz="850" dirty="0"/>
          </a:p>
        </p:txBody>
      </p:sp>
      <p:sp>
        <p:nvSpPr>
          <p:cNvPr id="27" name="Shape 25"/>
          <p:cNvSpPr/>
          <p:nvPr/>
        </p:nvSpPr>
        <p:spPr>
          <a:xfrm>
            <a:off x="4919472" y="2304288"/>
            <a:ext cx="36576" cy="237744"/>
          </a:xfrm>
          <a:prstGeom prst="rect">
            <a:avLst/>
          </a:prstGeom>
          <a:solidFill>
            <a:srgbClr val="00A896"/>
          </a:solidFill>
          <a:ln/>
        </p:spPr>
      </p:sp>
      <p:sp>
        <p:nvSpPr>
          <p:cNvPr id="28" name="Text 26"/>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0:10–0:53　LiDAR: đo thế nào, mạnh ở đâu, sợ cái gì</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0:10–0:53　光達：怎麼量、強在哪、怕什麼</a:t>
            </a:r>
            <a:endParaRPr lang="en-US" sz="950" dirty="0"/>
          </a:p>
        </p:txBody>
      </p:sp>
      <p:sp>
        <p:nvSpPr>
          <p:cNvPr id="29" name="Shape 27"/>
          <p:cNvSpPr/>
          <p:nvPr/>
        </p:nvSpPr>
        <p:spPr>
          <a:xfrm>
            <a:off x="4919472" y="2654612"/>
            <a:ext cx="36576" cy="237744"/>
          </a:xfrm>
          <a:prstGeom prst="rect">
            <a:avLst/>
          </a:prstGeom>
          <a:solidFill>
            <a:srgbClr val="00A896"/>
          </a:solidFill>
          <a:ln/>
        </p:spPr>
      </p:sp>
      <p:sp>
        <p:nvSpPr>
          <p:cNvPr id="30" name="Text 28"/>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0:53–1:28　Radar: không sợ thời tiết, đo được tốc độ, nhưng thiếu chi tiết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0:53–1:28　雷達：不怕天氣、量得到速度，但細節不夠</a:t>
            </a:r>
            <a:endParaRPr lang="en-US" sz="950" dirty="0"/>
          </a:p>
        </p:txBody>
      </p:sp>
      <p:sp>
        <p:nvSpPr>
          <p:cNvPr id="31" name="Shape 29"/>
          <p:cNvSpPr/>
          <p:nvPr/>
        </p:nvSpPr>
        <p:spPr>
          <a:xfrm>
            <a:off x="4919472" y="3147267"/>
            <a:ext cx="36576" cy="237744"/>
          </a:xfrm>
          <a:prstGeom prst="rect">
            <a:avLst/>
          </a:prstGeom>
          <a:solidFill>
            <a:srgbClr val="00A896"/>
          </a:solidFill>
          <a:ln/>
        </p:spPr>
      </p:sp>
      <p:sp>
        <p:nvSpPr>
          <p:cNvPr id="32" name="Text 30"/>
          <p:cNvSpPr txBox="1"/>
          <p:nvPr/>
        </p:nvSpPr>
        <p:spPr>
          <a:xfrm>
            <a:off x="5047488" y="311069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video này hoàn toàn không nhắc tới cảm biến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問題：這支影片從頭到尾沒提到哪一種感測器？</a:t>
            </a:r>
            <a:endParaRPr lang="en-US" sz="950" dirty="0"/>
          </a:p>
        </p:txBody>
      </p:sp>
      <p:sp>
        <p:nvSpPr>
          <p:cNvPr id="33" name="Shape 31"/>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34" name="Text 32"/>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Không phải chọn một trong hai: một loại nhìn chi tiết, một loại không sợ thời tiết.</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不是二選一：一個看得細，一個不怕天氣。</a:t>
            </a:r>
            <a:endParaRPr lang="en-US" sz="1150" dirty="0"/>
          </a:p>
        </p:txBody>
      </p:sp>
      <p:pic>
        <p:nvPicPr>
          <p:cNvPr id="36"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37" name="Text 33"/>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19</a:t>
            </a:r>
            <a:endParaRPr lang="en-US" sz="900" dirty="0"/>
          </a:p>
        </p:txBody>
      </p:sp>
      <p:sp>
        <p:nvSpPr>
          <p:cNvPr id="38" name="Text 34"/>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809061" y="1679936"/>
            <a:ext cx="158008" cy="335768"/>
          </a:xfrm>
          <a:prstGeom prst="roundRect">
            <a:avLst>
              <a:gd name="adj" fmla="val 173611"/>
            </a:avLst>
          </a:prstGeom>
          <a:solidFill>
            <a:srgbClr val="C08BFF"/>
          </a:solidFill>
          <a:ln/>
        </p:spPr>
      </p:sp>
      <p:sp>
        <p:nvSpPr>
          <p:cNvPr id="5" name="Shape 3"/>
          <p:cNvSpPr/>
          <p:nvPr/>
        </p:nvSpPr>
        <p:spPr>
          <a:xfrm>
            <a:off x="1006572" y="1620683"/>
            <a:ext cx="217261" cy="454274"/>
          </a:xfrm>
          <a:prstGeom prst="chevron">
            <a:avLst/>
          </a:prstGeom>
          <a:ln w="31750">
            <a:solidFill>
              <a:srgbClr val="C08BFF"/>
            </a:solidFill>
            <a:prstDash val="solid"/>
          </a:ln>
        </p:spPr>
      </p:sp>
      <p:sp>
        <p:nvSpPr>
          <p:cNvPr id="6" name="Shape 4"/>
          <p:cNvSpPr/>
          <p:nvPr/>
        </p:nvSpPr>
        <p:spPr>
          <a:xfrm>
            <a:off x="1204082" y="1541678"/>
            <a:ext cx="237012" cy="612282"/>
          </a:xfrm>
          <a:prstGeom prst="chevron">
            <a:avLst/>
          </a:prstGeom>
          <a:ln w="31750">
            <a:solidFill>
              <a:srgbClr val="C08BFF">
                <a:alpha val="65000"/>
              </a:srgbClr>
            </a:solidFill>
            <a:prstDash val="solid"/>
          </a:ln>
        </p:spPr>
      </p:sp>
      <p:sp>
        <p:nvSpPr>
          <p:cNvPr id="7" name="Text 5"/>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Phát tiếng “bíp” ngoài ngưỡng nghe, đo tiếng vọng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發出人聽不到的「嗶」，量回音</a:t>
            </a:r>
            <a:endParaRPr lang="en-US" sz="1800" dirty="0"/>
          </a:p>
        </p:txBody>
      </p:sp>
      <p:sp>
        <p:nvSpPr>
          <p:cNvPr id="8" name="Shape 6"/>
          <p:cNvSpPr/>
          <p:nvPr/>
        </p:nvSpPr>
        <p:spPr>
          <a:xfrm>
            <a:off x="2295144" y="1400190"/>
            <a:ext cx="786384" cy="283464"/>
          </a:xfrm>
          <a:prstGeom prst="roundRect">
            <a:avLst>
              <a:gd name="adj" fmla="val 19355"/>
            </a:avLst>
          </a:prstGeom>
          <a:solidFill>
            <a:srgbClr val="0B1F3A"/>
          </a:solidFill>
          <a:ln/>
        </p:spPr>
      </p:sp>
      <p:sp>
        <p:nvSpPr>
          <p:cNvPr id="9" name="Text 7"/>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0" name="Text 8"/>
          <p:cNvSpPr txBox="1"/>
          <p:nvPr/>
        </p:nvSpPr>
        <p:spPr>
          <a:xfrm>
            <a:off x="3209544" y="1400190"/>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Sóng âm khoảng 40–50 kHz, tai người không nghe được. Âm thanh đi khoảng 340 m mỗi giây — chậm hơn ánh sáng cả triệu lần, nên mạch điện rẻ hơn nhiều.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約 40–50 kHz 的聲波，人耳聽不到。聲音每秒約 340 公尺——比光慢了上百萬倍，所以電路便宜得多。</a:t>
            </a:r>
            <a:endParaRPr lang="en-US" sz="1100" dirty="0"/>
          </a:p>
        </p:txBody>
      </p:sp>
      <p:sp>
        <p:nvSpPr>
          <p:cNvPr id="11" name="Shape 9"/>
          <p:cNvSpPr/>
          <p:nvPr/>
        </p:nvSpPr>
        <p:spPr>
          <a:xfrm>
            <a:off x="2295144" y="2030998"/>
            <a:ext cx="786384" cy="283464"/>
          </a:xfrm>
          <a:prstGeom prst="roundRect">
            <a:avLst>
              <a:gd name="adj" fmla="val 19355"/>
            </a:avLst>
          </a:prstGeom>
          <a:solidFill>
            <a:srgbClr val="007F72"/>
          </a:solidFill>
          <a:ln/>
        </p:spPr>
      </p:sp>
      <p:sp>
        <p:nvSpPr>
          <p:cNvPr id="12" name="Text 10"/>
          <p:cNvSpPr txBox="1"/>
          <p:nvPr/>
        </p:nvSpPr>
        <p:spPr>
          <a:xfrm>
            <a:off x="2295144" y="205385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3" name="Text 11"/>
          <p:cNvSpPr txBox="1"/>
          <p:nvPr/>
        </p:nvSpPr>
        <p:spPr>
          <a:xfrm>
            <a:off x="3209544" y="2030998"/>
            <a:ext cx="5431536" cy="43891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Rẻ nhất, không sợ tối. Nhưng chỉ vài mét, và bị gió, nhiệt độ ảnh hưởng.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最便宜、不怕黑。但只有幾公尺，而且會受風和溫度影響。</a:t>
            </a:r>
            <a:endParaRPr lang="en-US" sz="1100" dirty="0"/>
          </a:p>
        </p:txBody>
      </p:sp>
      <p:sp>
        <p:nvSpPr>
          <p:cNvPr id="14" name="Shape 12"/>
          <p:cNvSpPr/>
          <p:nvPr/>
        </p:nvSpPr>
        <p:spPr>
          <a:xfrm>
            <a:off x="2295144" y="2533918"/>
            <a:ext cx="786384" cy="283464"/>
          </a:xfrm>
          <a:prstGeom prst="roundRect">
            <a:avLst>
              <a:gd name="adj" fmla="val 19355"/>
            </a:avLst>
          </a:prstGeom>
          <a:solidFill>
            <a:srgbClr val="FFB020"/>
          </a:solidFill>
          <a:ln/>
        </p:spPr>
      </p:sp>
      <p:sp>
        <p:nvSpPr>
          <p:cNvPr id="15" name="Text 13"/>
          <p:cNvSpPr txBox="1"/>
          <p:nvPr/>
        </p:nvSpPr>
        <p:spPr>
          <a:xfrm>
            <a:off x="2295144" y="255677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6" name="Text 14"/>
          <p:cNvSpPr txBox="1"/>
          <p:nvPr/>
        </p:nvSpPr>
        <p:spPr>
          <a:xfrm>
            <a:off x="3209544" y="253391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Hỗ trợ đỗ xe, vùng mù quanh thân xe, tự động đỗ. Chính là hàng chấm tròn trên cản xe.</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停車輔助、車身周圍盲區、自動停車。就是保險桿上那一排小圓點。</a:t>
            </a:r>
            <a:endParaRPr lang="en-US" sz="1100" dirty="0"/>
          </a:p>
        </p:txBody>
      </p:sp>
      <p:sp>
        <p:nvSpPr>
          <p:cNvPr id="17" name="Shape 15"/>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6"/>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Nghe có vẻ yếu, nhưng ở khoảng cách sát xe thì nó là loại duy nhất còn thấy.</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聽起來很弱，但在貼近車身的距離，只有它還看得到。</a:t>
            </a:r>
            <a:endParaRPr lang="en-US" sz="1200" dirty="0"/>
          </a:p>
        </p:txBody>
      </p:sp>
      <p:pic>
        <p:nvPicPr>
          <p:cNvPr id="20"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1"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19</a:t>
            </a:r>
            <a:endParaRPr lang="en-US" sz="900" dirty="0"/>
          </a:p>
        </p:txBody>
      </p:sp>
      <p:sp>
        <p:nvSpPr>
          <p:cNvPr id="22"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4 / 6　Siêu âm · 超音波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Chính là những chấm tròn trên cản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就是保險桿上那幾個小圓點</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uss.jpg">    </p:cNvPr>
          <p:cNvPicPr>
            <a:picLocks noChangeAspect="1"/>
          </p:cNvPicPr>
          <p:nvPr/>
        </p:nvPicPr>
        <p:blipFill>
          <a:blip r:embed="rId1"/>
          <a:stretch>
            <a:fillRect/>
          </a:stretch>
        </p:blipFill>
        <p:spPr>
          <a:xfrm>
            <a:off x="727812" y="1289304"/>
            <a:ext cx="3454705"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Shixart1985 · CC BY 2.0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How do parking sensors work? Parking tech &amp; radar explained</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CarExpert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https://www.youtube.com/watch?v=uDpaB_1kIdA</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Đếm xem một xe có mấy cảm biến ở cản sau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數數看一台車後保險桿有幾顆</a:t>
            </a:r>
            <a:endParaRPr lang="en-US" sz="950" dirty="0"/>
          </a:p>
        </p:txBody>
      </p:sp>
      <p:sp>
        <p:nvSpPr>
          <p:cNvPr id="15" name="Shape 12"/>
          <p:cNvSpPr/>
          <p:nvPr/>
        </p:nvSpPr>
        <p:spPr>
          <a:xfrm>
            <a:off x="4919472" y="2654612"/>
            <a:ext cx="36576" cy="237744"/>
          </a:xfrm>
          <a:prstGeom prst="rect">
            <a:avLst/>
          </a:prstGeom>
          <a:solidFill>
            <a:srgbClr val="00A896"/>
          </a:solidFill>
          <a:ln/>
        </p:spPr>
      </p:sp>
      <p:sp>
        <p:nvSpPr>
          <p:cNvPr id="16" name="Text 13"/>
          <p:cNvSpPr txBox="1"/>
          <p:nvPr/>
        </p:nvSpPr>
        <p:spPr>
          <a:xfrm>
            <a:off x="5047488" y="261803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Bíp càng nhanh = càng gần. Đó là khoảng cách dịch ra âm thanh</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嗶得愈快＝愈近。那是把距離翻譯成聲音</a:t>
            </a:r>
            <a:endParaRPr lang="en-US" sz="950" dirty="0"/>
          </a:p>
        </p:txBody>
      </p:sp>
      <p:sp>
        <p:nvSpPr>
          <p:cNvPr id="17" name="Shape 14"/>
          <p:cNvSpPr/>
          <p:nvPr/>
        </p:nvSpPr>
        <p:spPr>
          <a:xfrm>
            <a:off x="4919472" y="3147267"/>
            <a:ext cx="36576" cy="237744"/>
          </a:xfrm>
          <a:prstGeom prst="rect">
            <a:avLst/>
          </a:prstGeom>
          <a:solidFill>
            <a:srgbClr val="00A896"/>
          </a:solidFill>
          <a:ln/>
        </p:spPr>
      </p:sp>
      <p:sp>
        <p:nvSpPr>
          <p:cNvPr id="18" name="Text 15"/>
          <p:cNvSpPr txBox="1"/>
          <p:nvPr/>
        </p:nvSpPr>
        <p:spPr>
          <a:xfrm>
            <a:off x="5047488" y="311069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Vì sao chỉ dùng khi đỗ xe, không dùng khi đang chạy?</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為什麼只在停車時用，開車時不用？</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Ảnh trái: cận cảnh một cảm biến đỗ xe trên cản.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左邊照片：保險桿上一顆停車感測器的特寫。</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1125078" y="1442923"/>
            <a:ext cx="237012" cy="217261"/>
          </a:xfrm>
          <a:prstGeom prst="roundRect">
            <a:avLst>
              <a:gd name="adj" fmla="val 84175"/>
            </a:avLst>
          </a:prstGeom>
          <a:solidFill>
            <a:srgbClr val="9AA9B8"/>
          </a:solidFill>
          <a:ln/>
        </p:spPr>
      </p:sp>
      <p:sp>
        <p:nvSpPr>
          <p:cNvPr id="5" name="Shape 3"/>
          <p:cNvSpPr/>
          <p:nvPr/>
        </p:nvSpPr>
        <p:spPr>
          <a:xfrm>
            <a:off x="868314" y="1472550"/>
            <a:ext cx="217261" cy="158008"/>
          </a:xfrm>
          <a:prstGeom prst="rect">
            <a:avLst/>
          </a:prstGeom>
          <a:solidFill>
            <a:srgbClr val="9AA9B8">
              <a:alpha val="60000"/>
            </a:srgbClr>
          </a:solidFill>
          <a:ln/>
        </p:spPr>
      </p:sp>
      <p:sp>
        <p:nvSpPr>
          <p:cNvPr id="6" name="Shape 4"/>
          <p:cNvSpPr/>
          <p:nvPr/>
        </p:nvSpPr>
        <p:spPr>
          <a:xfrm>
            <a:off x="1401592" y="1472550"/>
            <a:ext cx="217261" cy="158008"/>
          </a:xfrm>
          <a:prstGeom prst="rect">
            <a:avLst/>
          </a:prstGeom>
          <a:solidFill>
            <a:srgbClr val="9AA9B8">
              <a:alpha val="60000"/>
            </a:srgbClr>
          </a:solidFill>
          <a:ln/>
        </p:spPr>
      </p:sp>
      <p:sp>
        <p:nvSpPr>
          <p:cNvPr id="7" name="Shape 5"/>
          <p:cNvSpPr/>
          <p:nvPr/>
        </p:nvSpPr>
        <p:spPr>
          <a:xfrm rot="5400000">
            <a:off x="1105327" y="1739189"/>
            <a:ext cx="276515" cy="158008"/>
          </a:xfrm>
          <a:prstGeom prst="chevron">
            <a:avLst/>
          </a:prstGeom>
          <a:ln w="31750">
            <a:solidFill>
              <a:srgbClr val="9AA9B8"/>
            </a:solidFill>
            <a:prstDash val="solid"/>
          </a:ln>
        </p:spPr>
      </p:sp>
      <p:sp>
        <p:nvSpPr>
          <p:cNvPr id="8" name="Shape 6"/>
          <p:cNvSpPr/>
          <p:nvPr/>
        </p:nvSpPr>
        <p:spPr>
          <a:xfrm rot="5400000">
            <a:off x="1046074" y="1897197"/>
            <a:ext cx="395021" cy="177759"/>
          </a:xfrm>
          <a:prstGeom prst="chevron">
            <a:avLst/>
          </a:prstGeom>
          <a:ln w="31750">
            <a:solidFill>
              <a:srgbClr val="9AA9B8">
                <a:alpha val="55000"/>
              </a:srgbClr>
            </a:solidFill>
            <a:prstDash val="solid"/>
          </a:ln>
        </p:spPr>
      </p:sp>
      <p:sp>
        <p:nvSpPr>
          <p:cNvPr id="9" name="Shape 7"/>
          <p:cNvSpPr/>
          <p:nvPr/>
        </p:nvSpPr>
        <p:spPr>
          <a:xfrm>
            <a:off x="1174455" y="2153961"/>
            <a:ext cx="138257" cy="138257"/>
          </a:xfrm>
          <a:prstGeom prst="ellipse">
            <a:avLst/>
          </a:prstGeom>
          <a:solidFill>
            <a:srgbClr val="9AA9B8"/>
          </a:solidFill>
          <a:ln/>
        </p:spPr>
      </p:sp>
      <p:sp>
        <p:nvSpPr>
          <p:cNvPr id="10" name="Text 8"/>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Nghe tín hiệu từ nhiều vệ tinh, tính ngược ra mình đang ở đâu</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接收好幾顆衛星的訊號，反推自己在哪裡</a:t>
            </a:r>
            <a:endParaRPr lang="en-US" sz="1800" dirty="0"/>
          </a:p>
        </p:txBody>
      </p:sp>
      <p:sp>
        <p:nvSpPr>
          <p:cNvPr id="11" name="Shape 9"/>
          <p:cNvSpPr/>
          <p:nvPr/>
        </p:nvSpPr>
        <p:spPr>
          <a:xfrm>
            <a:off x="2295144" y="1665299"/>
            <a:ext cx="786384" cy="283464"/>
          </a:xfrm>
          <a:prstGeom prst="roundRect">
            <a:avLst>
              <a:gd name="adj" fmla="val 19355"/>
            </a:avLst>
          </a:prstGeom>
          <a:solidFill>
            <a:srgbClr val="0B1F3A"/>
          </a:solidFill>
          <a:ln/>
        </p:spPr>
      </p:sp>
      <p:sp>
        <p:nvSpPr>
          <p:cNvPr id="12" name="Text 10"/>
          <p:cNvSpPr txBox="1"/>
          <p:nvPr/>
        </p:nvSpPr>
        <p:spPr>
          <a:xfrm>
            <a:off x="2295144" y="1688159"/>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3" name="Text 11"/>
          <p:cNvSpPr txBox="1"/>
          <p:nvPr/>
        </p:nvSpPr>
        <p:spPr>
          <a:xfrm>
            <a:off x="3209544" y="1665299"/>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Mỗi vệ tinh phát ra thời điểm gửi. So sánh độ trễ của ít nhất bốn vệ tinh là tính được vị trí — giống như đo khoảng cách tới bốn điểm đã biết.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每顆衛星發出「我幾點幾分發的」。比對至少四顆的時間差就算得出位置——就像量到四個已知點的距離。</a:t>
            </a:r>
            <a:endParaRPr lang="en-US" sz="1100" dirty="0"/>
          </a:p>
        </p:txBody>
      </p:sp>
      <p:sp>
        <p:nvSpPr>
          <p:cNvPr id="14" name="Shape 12"/>
          <p:cNvSpPr/>
          <p:nvPr/>
        </p:nvSpPr>
        <p:spPr>
          <a:xfrm>
            <a:off x="2295144" y="2456087"/>
            <a:ext cx="786384" cy="283464"/>
          </a:xfrm>
          <a:prstGeom prst="roundRect">
            <a:avLst>
              <a:gd name="adj" fmla="val 19355"/>
            </a:avLst>
          </a:prstGeom>
          <a:solidFill>
            <a:srgbClr val="007F72"/>
          </a:solidFill>
          <a:ln/>
        </p:spPr>
      </p:sp>
      <p:sp>
        <p:nvSpPr>
          <p:cNvPr id="15" name="Text 13"/>
          <p:cNvSpPr txBox="1"/>
          <p:nvPr/>
        </p:nvSpPr>
        <p:spPr>
          <a:xfrm>
            <a:off x="2295144" y="2478947"/>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6" name="Text 14"/>
          <p:cNvSpPr txBox="1"/>
          <p:nvPr/>
        </p:nvSpPr>
        <p:spPr>
          <a:xfrm>
            <a:off x="3209544" y="2456087"/>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Cho vị trí tuyệt đối trên toàn cầu. Nhưng sai số vài mét, cập nhật chậm, và trong hầm hay giữa nhà cao tầng thì mất tín hiệu.</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給的是全球通用的絕對位置。但誤差幾公尺、更新慢，隧道和高樓之間會失效。</a:t>
            </a:r>
            <a:endParaRPr lang="en-US" sz="1100" dirty="0"/>
          </a:p>
        </p:txBody>
      </p:sp>
      <p:sp>
        <p:nvSpPr>
          <p:cNvPr id="17" name="Shape 15"/>
          <p:cNvSpPr/>
          <p:nvPr/>
        </p:nvSpPr>
        <p:spPr>
          <a:xfrm>
            <a:off x="2295144" y="3086895"/>
            <a:ext cx="786384" cy="283464"/>
          </a:xfrm>
          <a:prstGeom prst="roundRect">
            <a:avLst>
              <a:gd name="adj" fmla="val 19355"/>
            </a:avLst>
          </a:prstGeom>
          <a:solidFill>
            <a:srgbClr val="FFB020"/>
          </a:solidFill>
          <a:ln/>
        </p:spPr>
      </p:sp>
      <p:sp>
        <p:nvSpPr>
          <p:cNvPr id="18" name="Text 16"/>
          <p:cNvSpPr txBox="1"/>
          <p:nvPr/>
        </p:nvSpPr>
        <p:spPr>
          <a:xfrm>
            <a:off x="2295144" y="3109755"/>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9" name="Text 17"/>
          <p:cNvSpPr txBox="1"/>
          <p:nvPr/>
        </p:nvSpPr>
        <p:spPr>
          <a:xfrm>
            <a:off x="3209544" y="3086895"/>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Lập lộ trình, biết mình đang trên con đường nào. Phải kết hợp IMU và bản đồ độ chính xác cao mới đủ dùng.</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路線規劃、知道自己在哪一條路上。要配合慣性感測器與高精地圖才夠用。</a:t>
            </a:r>
            <a:endParaRPr lang="en-US" sz="1100" dirty="0"/>
          </a:p>
        </p:txBody>
      </p:sp>
      <p:sp>
        <p:nvSpPr>
          <p:cNvPr id="20" name="Shape 18"/>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1" name="Text 19"/>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Nó là loại duy nhất không nhìn ra ngoài. Phía trước có gì — nó hoàn toàn không biết.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它是唯一不看外面的一種。前面有什麼東西，它完全不知道。</a:t>
            </a:r>
            <a:endParaRPr lang="en-US" sz="1200" dirty="0"/>
          </a:p>
        </p:txBody>
      </p:sp>
      <p:pic>
        <p:nvPicPr>
          <p:cNvPr id="23"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4" name="Text 2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19</a:t>
            </a:r>
            <a:endParaRPr lang="en-US" sz="900" dirty="0"/>
          </a:p>
        </p:txBody>
      </p:sp>
      <p:sp>
        <p:nvSpPr>
          <p:cNvPr id="25" name="Text 2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5 / 6　GNSS · 衛星定位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Vì sao cần bốn vệ tinh: mỗi vệ tinh cho một mặt cầu, bốn mặt cầu cắt nhau tại một điểm</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為什麼要四顆衛星：每一顆給一個球面，四個球面交在一個點</a:t>
            </a:r>
            <a:endParaRPr lang="en-US" sz="1700" dirty="0"/>
          </a:p>
        </p:txBody>
      </p:sp>
      <p:sp>
        <p:nvSpPr>
          <p:cNvPr id="4" name="Shape 2"/>
          <p:cNvSpPr/>
          <p:nvPr/>
        </p:nvSpPr>
        <p:spPr>
          <a:xfrm>
            <a:off x="502920" y="1434675"/>
            <a:ext cx="3904488" cy="2387517"/>
          </a:xfrm>
          <a:prstGeom prst="roundRect">
            <a:avLst>
              <a:gd name="adj" fmla="val 3830"/>
            </a:avLst>
          </a:prstGeom>
          <a:solidFill>
            <a:srgbClr val="0B1F3A"/>
          </a:solidFill>
          <a:ln w="12700">
            <a:solidFill>
              <a:srgbClr val="DBE3EA"/>
            </a:solidFill>
            <a:prstDash val="solid"/>
          </a:ln>
        </p:spPr>
      </p:sp>
      <p:pic>
        <p:nvPicPr>
          <p:cNvPr id="5" name="Image 0" descr="/Users/tsengchenghsun/Class/carClass/Claude outputs/第三週(9-24)/src/img/w3_gns.jpg">    </p:cNvPr>
          <p:cNvPicPr>
            <a:picLocks noChangeAspect="1"/>
          </p:cNvPicPr>
          <p:nvPr/>
        </p:nvPicPr>
        <p:blipFill>
          <a:blip r:embed="rId1"/>
          <a:stretch>
            <a:fillRect/>
          </a:stretch>
        </p:blipFill>
        <p:spPr>
          <a:xfrm>
            <a:off x="548640" y="1635208"/>
            <a:ext cx="3813048" cy="1803572"/>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Karlbrix · CC BY-SA 4.0 · Wikimedia Commons</a:t>
            </a:r>
            <a:endParaRPr lang="en-US" sz="750" dirty="0"/>
          </a:p>
        </p:txBody>
      </p:sp>
      <p:sp>
        <p:nvSpPr>
          <p:cNvPr id="7" name="Shape 4"/>
          <p:cNvSpPr/>
          <p:nvPr/>
        </p:nvSpPr>
        <p:spPr>
          <a:xfrm>
            <a:off x="4736592" y="1434675"/>
            <a:ext cx="3904488" cy="2387517"/>
          </a:xfrm>
          <a:prstGeom prst="roundRect">
            <a:avLst>
              <a:gd name="adj" fmla="val 3830"/>
            </a:avLst>
          </a:prstGeom>
          <a:solidFill>
            <a:srgbClr val="F4F7FA"/>
          </a:solidFill>
          <a:ln w="12700">
            <a:solidFill>
              <a:srgbClr val="DBE3EA"/>
            </a:solidFill>
            <a:prstDash val="solid"/>
          </a:ln>
        </p:spPr>
      </p:sp>
      <p:sp>
        <p:nvSpPr>
          <p:cNvPr id="8" name="Shape 5"/>
          <p:cNvSpPr/>
          <p:nvPr/>
        </p:nvSpPr>
        <p:spPr>
          <a:xfrm>
            <a:off x="4919472" y="1599267"/>
            <a:ext cx="347472" cy="347472"/>
          </a:xfrm>
          <a:prstGeom prst="ellipse">
            <a:avLst/>
          </a:prstGeom>
          <a:solidFill>
            <a:srgbClr val="D9463E"/>
          </a:solidFill>
          <a:ln/>
        </p:spPr>
      </p:sp>
      <p:sp>
        <p:nvSpPr>
          <p:cNvPr id="9" name="Text 6"/>
          <p:cNvSpPr txBox="1"/>
          <p:nvPr/>
        </p:nvSpPr>
        <p:spPr>
          <a:xfrm>
            <a:off x="4919472" y="1644987"/>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580979"/>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Everyday Einstein: Demonstrating GPS Trilateration</a:t>
            </a:r>
            <a:endParaRPr lang="en-US" sz="1050" dirty="0"/>
          </a:p>
        </p:txBody>
      </p:sp>
      <p:sp>
        <p:nvSpPr>
          <p:cNvPr id="11" name="Text 8"/>
          <p:cNvSpPr txBox="1"/>
          <p:nvPr/>
        </p:nvSpPr>
        <p:spPr>
          <a:xfrm>
            <a:off x="4919472" y="2038179"/>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Perimeter Institute　·　</a:t>
            </a:r>
            <a:endParaRPr lang="en-US" sz="900" dirty="0"/>
          </a:p>
        </p:txBody>
      </p:sp>
      <p:sp>
        <p:nvSpPr>
          <p:cNvPr id="12" name="Text 9">
            <a:hlinkClick r:id="rId2" tooltip=""/>
          </p:cNvPr>
          <p:cNvSpPr txBox="1"/>
          <p:nvPr/>
        </p:nvSpPr>
        <p:spPr>
          <a:xfrm>
            <a:off x="4919472" y="2221059"/>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https://www.youtube.com/watch?v=e80AzFW9Q0s</a:t>
            </a:r>
            <a:endParaRPr lang="en-US" sz="850" dirty="0"/>
          </a:p>
        </p:txBody>
      </p:sp>
      <p:sp>
        <p:nvSpPr>
          <p:cNvPr id="13" name="Shape 10"/>
          <p:cNvSpPr/>
          <p:nvPr/>
        </p:nvSpPr>
        <p:spPr>
          <a:xfrm>
            <a:off x="4919472" y="2495379"/>
            <a:ext cx="36576" cy="237744"/>
          </a:xfrm>
          <a:prstGeom prst="rect">
            <a:avLst/>
          </a:prstGeom>
          <a:solidFill>
            <a:srgbClr val="00A896"/>
          </a:solidFill>
          <a:ln/>
        </p:spPr>
      </p:sp>
      <p:sp>
        <p:nvSpPr>
          <p:cNvPr id="14" name="Text 11"/>
          <p:cNvSpPr txBox="1"/>
          <p:nvPr/>
        </p:nvSpPr>
        <p:spPr>
          <a:xfrm>
            <a:off x="5047488" y="2458803"/>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Một vệ tinh: chỉ biết mình nằm trên một mặt cầu</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一顆衛星：只知道自己在一個球面上</a:t>
            </a:r>
            <a:endParaRPr lang="en-US" sz="950" dirty="0"/>
          </a:p>
        </p:txBody>
      </p:sp>
      <p:sp>
        <p:nvSpPr>
          <p:cNvPr id="15" name="Shape 12"/>
          <p:cNvSpPr/>
          <p:nvPr/>
        </p:nvSpPr>
        <p:spPr>
          <a:xfrm>
            <a:off x="4919472" y="2845702"/>
            <a:ext cx="36576" cy="237744"/>
          </a:xfrm>
          <a:prstGeom prst="rect">
            <a:avLst/>
          </a:prstGeom>
          <a:solidFill>
            <a:srgbClr val="00A896"/>
          </a:solidFill>
          <a:ln/>
        </p:spPr>
      </p:sp>
      <p:sp>
        <p:nvSpPr>
          <p:cNvPr id="16" name="Text 13"/>
          <p:cNvSpPr txBox="1"/>
          <p:nvPr/>
        </p:nvSpPr>
        <p:spPr>
          <a:xfrm>
            <a:off x="5047488" y="280912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Ba vệ tinh: còn hai điểm. Bốn: ra một điểm và sửa luôn đồng hồ</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三顆：剩兩個點。四顆：解出一個點，還順便修正時鐘</a:t>
            </a:r>
            <a:endParaRPr lang="en-US" sz="950" dirty="0"/>
          </a:p>
        </p:txBody>
      </p:sp>
      <p:sp>
        <p:nvSpPr>
          <p:cNvPr id="17" name="Shape 14"/>
          <p:cNvSpPr/>
          <p:nvPr/>
        </p:nvSpPr>
        <p:spPr>
          <a:xfrm>
            <a:off x="4919472" y="3338358"/>
            <a:ext cx="36576" cy="237744"/>
          </a:xfrm>
          <a:prstGeom prst="rect">
            <a:avLst/>
          </a:prstGeom>
          <a:solidFill>
            <a:srgbClr val="00A896"/>
          </a:solidFill>
          <a:ln/>
        </p:spPr>
      </p:sp>
      <p:sp>
        <p:nvSpPr>
          <p:cNvPr id="18" name="Text 15"/>
          <p:cNvSpPr txBox="1"/>
          <p:nvPr/>
        </p:nvSpPr>
        <p:spPr>
          <a:xfrm>
            <a:off x="5047488" y="330178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Ăng-ten bên trái là loại trắc địa, chính xác hơn loại trong điện thoại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左邊那個天線是測量等級的，比手機裡那顆準得多</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Từ đầu đến cuối nó chỉ tính xem MÌNH đang ở đâu, không hề nhìn phía trước.</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它從頭到尾只在算「自己」在哪裡，完全沒有看前面有什麼。</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789310" y="1620683"/>
            <a:ext cx="908548" cy="434523"/>
          </a:xfrm>
          <a:prstGeom prst="ellipse">
            <a:avLst/>
          </a:prstGeom>
          <a:solidFill>
            <a:srgbClr val="FF7A59">
              <a:alpha val="28000"/>
            </a:srgbClr>
          </a:solidFill>
          <a:ln/>
        </p:spPr>
      </p:sp>
      <p:sp>
        <p:nvSpPr>
          <p:cNvPr id="5" name="Shape 3"/>
          <p:cNvSpPr/>
          <p:nvPr/>
        </p:nvSpPr>
        <p:spPr>
          <a:xfrm>
            <a:off x="789310" y="1620683"/>
            <a:ext cx="908548" cy="434523"/>
          </a:xfrm>
          <a:prstGeom prst="ellipse">
            <a:avLst/>
          </a:prstGeom>
          <a:solidFill>
            <a:srgbClr val="FFFFFF">
              <a:alpha val="0"/>
            </a:srgbClr>
          </a:solidFill>
          <a:ln w="31750">
            <a:solidFill>
              <a:srgbClr val="FF7A59"/>
            </a:solidFill>
            <a:prstDash val="solid"/>
          </a:ln>
        </p:spPr>
      </p:sp>
      <p:sp>
        <p:nvSpPr>
          <p:cNvPr id="6" name="Shape 4"/>
          <p:cNvSpPr/>
          <p:nvPr/>
        </p:nvSpPr>
        <p:spPr>
          <a:xfrm>
            <a:off x="1105327" y="1670060"/>
            <a:ext cx="276515" cy="335768"/>
          </a:xfrm>
          <a:prstGeom prst="ellipse">
            <a:avLst/>
          </a:prstGeom>
          <a:solidFill>
            <a:srgbClr val="FF7A59"/>
          </a:solidFill>
          <a:ln/>
        </p:spPr>
      </p:sp>
      <p:sp>
        <p:nvSpPr>
          <p:cNvPr id="7" name="Shape 5"/>
          <p:cNvSpPr/>
          <p:nvPr/>
        </p:nvSpPr>
        <p:spPr>
          <a:xfrm>
            <a:off x="1184331" y="1749064"/>
            <a:ext cx="118506" cy="158008"/>
          </a:xfrm>
          <a:prstGeom prst="ellipse">
            <a:avLst/>
          </a:prstGeom>
          <a:solidFill>
            <a:srgbClr val="FFFFFF"/>
          </a:solidFill>
          <a:ln/>
        </p:spPr>
      </p:sp>
      <p:sp>
        <p:nvSpPr>
          <p:cNvPr id="8" name="Text 6"/>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Không nhìn ánh sáng — nhìn nhiệt do chính vật phát ra</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它不看光——它看物體自己放出來的熱</a:t>
            </a:r>
            <a:endParaRPr lang="en-US" sz="1800" dirty="0"/>
          </a:p>
        </p:txBody>
      </p:sp>
      <p:sp>
        <p:nvSpPr>
          <p:cNvPr id="9" name="Shape 7"/>
          <p:cNvSpPr/>
          <p:nvPr/>
        </p:nvSpPr>
        <p:spPr>
          <a:xfrm>
            <a:off x="2295144" y="1400190"/>
            <a:ext cx="786384" cy="283464"/>
          </a:xfrm>
          <a:prstGeom prst="roundRect">
            <a:avLst>
              <a:gd name="adj" fmla="val 19355"/>
            </a:avLst>
          </a:prstGeom>
          <a:solidFill>
            <a:srgbClr val="0B1F3A"/>
          </a:solidFill>
          <a:ln/>
        </p:spPr>
      </p:sp>
      <p:sp>
        <p:nvSpPr>
          <p:cNvPr id="10" name="Text 8"/>
          <p:cNvSpPr txBox="1"/>
          <p:nvPr/>
        </p:nvSpPr>
        <p:spPr>
          <a:xfrm>
            <a:off x="2295144" y="1423050"/>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Nguyên lý</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原理</a:t>
            </a:r>
            <a:endParaRPr lang="en-US" sz="900" dirty="0"/>
          </a:p>
        </p:txBody>
      </p:sp>
      <p:sp>
        <p:nvSpPr>
          <p:cNvPr id="11" name="Text 9"/>
          <p:cNvSpPr txBox="1"/>
          <p:nvPr/>
        </p:nvSpPr>
        <p:spPr>
          <a:xfrm>
            <a:off x="3209544" y="1400190"/>
            <a:ext cx="5431536" cy="72678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Mọi vật trên 0 K đều phát ra tia hồng ngoại. Cảm biến bắt bước sóng dài 8–14 µm rồi dựng thành bản đồ nhiệt độ. Không cần bất kỳ nguồn sáng nào.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任何高於絕對零度的東西都會放出紅外線。感測器接收 8–14 微米的長波，轉成一張溫度圖。完全不需要光源。</a:t>
            </a:r>
            <a:endParaRPr lang="en-US" sz="1100" dirty="0"/>
          </a:p>
        </p:txBody>
      </p:sp>
      <p:sp>
        <p:nvSpPr>
          <p:cNvPr id="12" name="Shape 10"/>
          <p:cNvSpPr/>
          <p:nvPr/>
        </p:nvSpPr>
        <p:spPr>
          <a:xfrm>
            <a:off x="2295144" y="2190978"/>
            <a:ext cx="786384" cy="283464"/>
          </a:xfrm>
          <a:prstGeom prst="roundRect">
            <a:avLst>
              <a:gd name="adj" fmla="val 19355"/>
            </a:avLst>
          </a:prstGeom>
          <a:solidFill>
            <a:srgbClr val="007F72"/>
          </a:solidFill>
          <a:ln/>
        </p:spPr>
      </p:sp>
      <p:sp>
        <p:nvSpPr>
          <p:cNvPr id="13" name="Text 11"/>
          <p:cNvSpPr txBox="1"/>
          <p:nvPr/>
        </p:nvSpPr>
        <p:spPr>
          <a:xfrm>
            <a:off x="2295144" y="2213838"/>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FFFFFF"/>
                </a:solidFill>
                <a:latin typeface="Arial" pitchFamily="34" charset="0"/>
                <a:ea typeface="Arial" pitchFamily="34" charset="-122"/>
                <a:cs typeface="Arial" pitchFamily="34" charset="-120"/>
              </a:rPr>
              <a:t>Đặc tính</a:t>
            </a:r>
            <a:endParaRPr lang="en-US" sz="900" dirty="0"/>
          </a:p>
          <a:p>
            <a:pPr algn="ctr" indent="0" marL="0">
              <a:lnSpc>
                <a:spcPct val="102000"/>
              </a:lnSpc>
              <a:buNone/>
            </a:pPr>
            <a:r>
              <a:rPr lang="en-US" sz="850" dirty="0">
                <a:solidFill>
                  <a:srgbClr val="FFFFFF"/>
                </a:solidFill>
                <a:latin typeface="微軟正黑體" pitchFamily="34" charset="0"/>
                <a:ea typeface="微軟正黑體" pitchFamily="34" charset="-122"/>
                <a:cs typeface="微軟正黑體" pitchFamily="34" charset="-120"/>
              </a:rPr>
              <a:t>特性</a:t>
            </a:r>
            <a:endParaRPr lang="en-US" sz="900" dirty="0"/>
          </a:p>
        </p:txBody>
      </p:sp>
      <p:sp>
        <p:nvSpPr>
          <p:cNvPr id="14" name="Text 12"/>
          <p:cNvSpPr txBox="1"/>
          <p:nvPr/>
        </p:nvSpPr>
        <p:spPr>
          <a:xfrm>
            <a:off x="3209544" y="2190978"/>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Trong đêm đen, ngược sáng hay khói đều thấy được người và động vật. Nhưng độ phân giải thấp, giá cao, và không đọc được màu hay chữ.</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全黑、逆光、煙霧中都看得到人和動物。但解析度低、貴，而且讀不出顏色和文字。</a:t>
            </a:r>
            <a:endParaRPr lang="en-US" sz="1100" dirty="0"/>
          </a:p>
        </p:txBody>
      </p:sp>
      <p:sp>
        <p:nvSpPr>
          <p:cNvPr id="15" name="Shape 13"/>
          <p:cNvSpPr/>
          <p:nvPr/>
        </p:nvSpPr>
        <p:spPr>
          <a:xfrm>
            <a:off x="2295144" y="2821786"/>
            <a:ext cx="786384" cy="283464"/>
          </a:xfrm>
          <a:prstGeom prst="roundRect">
            <a:avLst>
              <a:gd name="adj" fmla="val 19355"/>
            </a:avLst>
          </a:prstGeom>
          <a:solidFill>
            <a:srgbClr val="FFB020"/>
          </a:solidFill>
          <a:ln/>
        </p:spPr>
      </p:sp>
      <p:sp>
        <p:nvSpPr>
          <p:cNvPr id="16" name="Text 14"/>
          <p:cNvSpPr txBox="1"/>
          <p:nvPr/>
        </p:nvSpPr>
        <p:spPr>
          <a:xfrm>
            <a:off x="2295144" y="2844646"/>
            <a:ext cx="786384" cy="256032"/>
          </a:xfrm>
          <a:prstGeom prst="rect">
            <a:avLst/>
          </a:prstGeom>
          <a:noFill/>
          <a:ln/>
        </p:spPr>
        <p:txBody>
          <a:bodyPr wrap="square" lIns="0" tIns="0" rIns="0" bIns="0" rtlCol="0" anchor="t"/>
          <a:lstStyle/>
          <a:p>
            <a:pPr algn="ctr" indent="0" marL="0">
              <a:lnSpc>
                <a:spcPct val="102000"/>
              </a:lnSpc>
              <a:buNone/>
            </a:pPr>
            <a:r>
              <a:rPr lang="en-US" sz="900" b="1" dirty="0">
                <a:solidFill>
                  <a:srgbClr val="3A2A00"/>
                </a:solidFill>
                <a:latin typeface="Arial" pitchFamily="34" charset="0"/>
                <a:ea typeface="Arial" pitchFamily="34" charset="-122"/>
                <a:cs typeface="Arial" pitchFamily="34" charset="-120"/>
              </a:rPr>
              <a:t>Công dụng</a:t>
            </a:r>
            <a:endParaRPr lang="en-US" sz="900" dirty="0"/>
          </a:p>
          <a:p>
            <a:pPr algn="ctr" indent="0" marL="0">
              <a:lnSpc>
                <a:spcPct val="102000"/>
              </a:lnSpc>
              <a:buNone/>
            </a:pPr>
            <a:r>
              <a:rPr lang="en-US" sz="850" dirty="0">
                <a:solidFill>
                  <a:srgbClr val="3A2A00"/>
                </a:solidFill>
                <a:latin typeface="微軟正黑體" pitchFamily="34" charset="0"/>
                <a:ea typeface="微軟正黑體" pitchFamily="34" charset="-122"/>
                <a:cs typeface="微軟正黑體" pitchFamily="34" charset="-120"/>
              </a:rPr>
              <a:t>用途</a:t>
            </a:r>
            <a:endParaRPr lang="en-US" sz="900" dirty="0"/>
          </a:p>
        </p:txBody>
      </p:sp>
      <p:sp>
        <p:nvSpPr>
          <p:cNvPr id="17" name="Text 15"/>
          <p:cNvSpPr txBox="1"/>
          <p:nvPr/>
        </p:nvSpPr>
        <p:spPr>
          <a:xfrm>
            <a:off x="3209544" y="2821786"/>
            <a:ext cx="5431536" cy="566800"/>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Phát hiện người đi bộ ban đêm, phát hiện động vật. Hiện chủ yếu là hỗ trợ nhìn đêm trên xe cao cấp.</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夜間行人偵測、動物偵測。目前多用在高階車款的夜視輔助。</a:t>
            </a:r>
            <a:endParaRPr lang="en-US" sz="1100" dirty="0"/>
          </a:p>
        </p:txBody>
      </p:sp>
      <p:sp>
        <p:nvSpPr>
          <p:cNvPr id="18"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Người khoảng 37°C. Đêm xuống mặt đường nguội đi, chênh lệch càng lớn — nên nó còn rõ hơn.</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人大約 37 度。入夜後路面涼了，溫差更大——所以它反而更清楚。</a:t>
            </a:r>
            <a:endParaRPr lang="en-US" sz="1200" dirty="0"/>
          </a:p>
        </p:txBody>
      </p:sp>
      <p:pic>
        <p:nvPicPr>
          <p:cNvPr id="21"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2"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19</a:t>
            </a:r>
            <a:endParaRPr lang="en-US" sz="900" dirty="0"/>
          </a:p>
        </p:txBody>
      </p:sp>
      <p:sp>
        <p:nvSpPr>
          <p:cNvPr id="23"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6 / 6　Ảnh nhiệt · 熱像　▶ Video</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Trong đêm tối, người vẫn sáng rõ</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全黑的夜裡，人還是清清楚楚</a:t>
            </a:r>
            <a:endParaRPr lang="en-US" sz="1700" dirty="0"/>
          </a:p>
        </p:txBody>
      </p:sp>
      <p:sp>
        <p:nvSpPr>
          <p:cNvPr id="4" name="Shape 2"/>
          <p:cNvSpPr/>
          <p:nvPr/>
        </p:nvSpPr>
        <p:spPr>
          <a:xfrm>
            <a:off x="502920" y="1243584"/>
            <a:ext cx="3904488" cy="2578608"/>
          </a:xfrm>
          <a:prstGeom prst="roundRect">
            <a:avLst>
              <a:gd name="adj" fmla="val 3546"/>
            </a:avLst>
          </a:prstGeom>
          <a:solidFill>
            <a:srgbClr val="0B1F3A"/>
          </a:solidFill>
          <a:ln w="12700">
            <a:solidFill>
              <a:srgbClr val="DBE3EA"/>
            </a:solidFill>
            <a:prstDash val="solid"/>
          </a:ln>
        </p:spPr>
      </p:sp>
      <p:pic>
        <p:nvPicPr>
          <p:cNvPr id="5" name="Image 0" descr="/Users/tsengchenghsun/Class/carClass/Claude outputs/第三週(9-24)/src/img/w3_thm.jpg">    </p:cNvPr>
          <p:cNvPicPr>
            <a:picLocks noChangeAspect="1"/>
          </p:cNvPicPr>
          <p:nvPr/>
        </p:nvPicPr>
        <p:blipFill>
          <a:blip r:embed="rId1"/>
          <a:stretch>
            <a:fillRect/>
          </a:stretch>
        </p:blipFill>
        <p:spPr>
          <a:xfrm>
            <a:off x="977347" y="1289304"/>
            <a:ext cx="2955633" cy="2304288"/>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Emilian Robert Vicol · CC0 · Wikimedia Commons</a:t>
            </a:r>
            <a:endParaRPr lang="en-US" sz="750" dirty="0"/>
          </a:p>
        </p:txBody>
      </p:sp>
      <p:sp>
        <p:nvSpPr>
          <p:cNvPr id="7" name="Shape 4"/>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8" name="Shape 5"/>
          <p:cNvSpPr/>
          <p:nvPr/>
        </p:nvSpPr>
        <p:spPr>
          <a:xfrm>
            <a:off x="4919472" y="1408176"/>
            <a:ext cx="347472" cy="347472"/>
          </a:xfrm>
          <a:prstGeom prst="ellipse">
            <a:avLst/>
          </a:prstGeom>
          <a:solidFill>
            <a:srgbClr val="D9463E"/>
          </a:solidFill>
          <a:ln/>
        </p:spPr>
      </p:sp>
      <p:sp>
        <p:nvSpPr>
          <p:cNvPr id="9" name="Text 6"/>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Night Vision AI Thermal Infrared Camera for Cars (Deer &amp; Pedestrian Detection)</a:t>
            </a:r>
            <a:endParaRPr lang="en-US" sz="1050" dirty="0"/>
          </a:p>
        </p:txBody>
      </p:sp>
      <p:sp>
        <p:nvSpPr>
          <p:cNvPr id="11" name="Text 8"/>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Shiva Sapkota　·　</a:t>
            </a:r>
            <a:endParaRPr lang="en-US" sz="900" dirty="0"/>
          </a:p>
        </p:txBody>
      </p:sp>
      <p:sp>
        <p:nvSpPr>
          <p:cNvPr id="12" name="Text 9">
            <a:hlinkClick r:id="rId2"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https://www.youtube.com/watch?v=_KrdROQ067c</a:t>
            </a:r>
            <a:endParaRPr lang="en-US" sz="850" dirty="0"/>
          </a:p>
        </p:txBody>
      </p:sp>
      <p:sp>
        <p:nvSpPr>
          <p:cNvPr id="13" name="Shape 10"/>
          <p:cNvSpPr/>
          <p:nvPr/>
        </p:nvSpPr>
        <p:spPr>
          <a:xfrm>
            <a:off x="4919472" y="2304288"/>
            <a:ext cx="36576" cy="237744"/>
          </a:xfrm>
          <a:prstGeom prst="rect">
            <a:avLst/>
          </a:prstGeom>
          <a:solidFill>
            <a:srgbClr val="00A896"/>
          </a:solidFill>
          <a:ln/>
        </p:spPr>
      </p:sp>
      <p:sp>
        <p:nvSpPr>
          <p:cNvPr id="14" name="Text 11"/>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Ảnh trái: chỗ mặc áo dày thì tối hơn — vì quần áo cách nhiệt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左圖：衣服厚的地方比較暗——因為衣服會隔熱</a:t>
            </a:r>
            <a:endParaRPr lang="en-US" sz="950" dirty="0"/>
          </a:p>
        </p:txBody>
      </p:sp>
      <p:sp>
        <p:nvSpPr>
          <p:cNvPr id="15" name="Shape 12"/>
          <p:cNvSpPr/>
          <p:nvPr/>
        </p:nvSpPr>
        <p:spPr>
          <a:xfrm>
            <a:off x="4919472" y="2796943"/>
            <a:ext cx="36576" cy="237744"/>
          </a:xfrm>
          <a:prstGeom prst="rect">
            <a:avLst/>
          </a:prstGeom>
          <a:solidFill>
            <a:srgbClr val="00A896"/>
          </a:solidFill>
          <a:ln/>
        </p:spPr>
      </p:sp>
      <p:sp>
        <p:nvSpPr>
          <p:cNvPr id="16" name="Text 13"/>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video: người và động vật rất nổi, nhưng biển báo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影片裡：人和動物很亮，但標誌完全看不到</a:t>
            </a:r>
            <a:endParaRPr lang="en-US" sz="950" dirty="0"/>
          </a:p>
        </p:txBody>
      </p:sp>
      <p:sp>
        <p:nvSpPr>
          <p:cNvPr id="17" name="Shape 14"/>
          <p:cNvSpPr/>
          <p:nvPr/>
        </p:nvSpPr>
        <p:spPr>
          <a:xfrm>
            <a:off x="4919472" y="3289598"/>
            <a:ext cx="36576" cy="237744"/>
          </a:xfrm>
          <a:prstGeom prst="rect">
            <a:avLst/>
          </a:prstGeom>
          <a:solidFill>
            <a:srgbClr val="00A896"/>
          </a:solidFill>
          <a:ln/>
        </p:spPr>
      </p:sp>
      <p:sp>
        <p:nvSpPr>
          <p:cNvPr id="18" name="Text 15"/>
          <p:cNvSpPr txBox="1"/>
          <p:nvPr/>
        </p:nvSpPr>
        <p:spPr>
          <a:xfrm>
            <a:off x="5047488" y="325302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So với camera thường trong cùng cảnh đêm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跟同一個夜間場景的一般相機比一比</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Đây là lý do một số xe cao cấp lắp thêm ảnh nhiệt cho ban đêm.</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這就是某些高階車款會多裝一顆熱像做夜視的理由。</a:t>
            </a:r>
            <a:endParaRPr lang="en-US" sz="1150" dirty="0"/>
          </a:p>
        </p:txBody>
      </p:sp>
      <p:pic>
        <p:nvPicPr>
          <p:cNvPr id="22" name="Image 1" descr="/Users/tsengchenghsun/Class/carClass/Claude outputs/第三週(9-24)/src/logo.png">    </p:cNvPr>
          <p:cNvPicPr>
            <a:picLocks noChangeAspect="1"/>
          </p:cNvPicPr>
          <p:nvPr/>
        </p:nvPicPr>
        <p:blipFill>
          <a:blip r:embed="rId3"/>
          <a:stretch>
            <a:fillRect/>
          </a:stretch>
        </p:blipFill>
        <p:spPr>
          <a:xfrm>
            <a:off x="7516368" y="4718304"/>
            <a:ext cx="1097280" cy="242439"/>
          </a:xfrm>
          <a:prstGeom prst="rect">
            <a:avLst/>
          </a:prstGeom>
        </p:spPr>
      </p:pic>
      <p:sp>
        <p:nvSpPr>
          <p:cNvPr id="23" name="Text 1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19</a:t>
            </a:r>
            <a:endParaRPr lang="en-US" sz="900" dirty="0"/>
          </a:p>
        </p:txBody>
      </p:sp>
      <p:sp>
        <p:nvSpPr>
          <p:cNvPr id="24" name="Text 1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phòng thí nghiệm. Kéo người đi bộ ra 30 m. Đọc to cả sáu thẻ.</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打開感測器實驗室。把行人拖到 30 公尺。把六張卡大聲唸出來。</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Xe không chạy. Chỉ cần kéo vật thể, sáu thẻ tự đổi.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車不會動。只要拖物體，六張卡自己會變。</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nào ghi “vật cản chưa phân loại”? Có mấy thẻ như vậy?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哪幾張寫「未分類障礙物」？有幾張？</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Có mấy thẻ biết đó là NGƯỜI? Có mấy thẻ đo được KHOẢNG CÁCH?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有幾張知道那是「人」？有幾張量得到「距離」？</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Đối chiếu với sáu trang vừa giảng: kết quả có đúng như nguyên lý không?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跟剛剛那六頁對照：結果跟原理講的一樣嗎？</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19</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quan trọng nhất hôm nay · 今天最重要的一句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rot="-2280000">
            <a:off x="1286929" y="2039075"/>
            <a:ext cx="323332" cy="34235"/>
          </a:xfrm>
          <a:prstGeom prst="rect">
            <a:avLst/>
          </a:prstGeom>
          <a:solidFill>
            <a:srgbClr val="0B1F3A">
              <a:alpha val="45000"/>
            </a:srgbClr>
          </a:solidFill>
          <a:ln/>
        </p:spPr>
      </p:sp>
      <p:sp>
        <p:nvSpPr>
          <p:cNvPr id="5" name="Shape 3"/>
          <p:cNvSpPr/>
          <p:nvPr/>
        </p:nvSpPr>
        <p:spPr>
          <a:xfrm rot="-1140000">
            <a:off x="1349840" y="2154941"/>
            <a:ext cx="323332" cy="34235"/>
          </a:xfrm>
          <a:prstGeom prst="rect">
            <a:avLst/>
          </a:prstGeom>
          <a:solidFill>
            <a:srgbClr val="0B1F3A">
              <a:alpha val="45000"/>
            </a:srgbClr>
          </a:solidFill>
          <a:ln/>
        </p:spPr>
      </p:sp>
      <p:sp>
        <p:nvSpPr>
          <p:cNvPr id="6" name="Shape 4"/>
          <p:cNvSpPr/>
          <p:nvPr/>
        </p:nvSpPr>
        <p:spPr>
          <a:xfrm>
            <a:off x="1371600" y="2284976"/>
            <a:ext cx="323332" cy="34235"/>
          </a:xfrm>
          <a:prstGeom prst="rect">
            <a:avLst/>
          </a:prstGeom>
          <a:solidFill>
            <a:srgbClr val="0B1F3A">
              <a:alpha val="45000"/>
            </a:srgbClr>
          </a:solidFill>
          <a:ln/>
        </p:spPr>
      </p:sp>
      <p:sp>
        <p:nvSpPr>
          <p:cNvPr id="7" name="Shape 5"/>
          <p:cNvSpPr/>
          <p:nvPr/>
        </p:nvSpPr>
        <p:spPr>
          <a:xfrm rot="1140000">
            <a:off x="1349840" y="2415011"/>
            <a:ext cx="323332" cy="34235"/>
          </a:xfrm>
          <a:prstGeom prst="rect">
            <a:avLst/>
          </a:prstGeom>
          <a:solidFill>
            <a:srgbClr val="0B1F3A">
              <a:alpha val="45000"/>
            </a:srgbClr>
          </a:solidFill>
          <a:ln/>
        </p:spPr>
      </p:sp>
      <p:sp>
        <p:nvSpPr>
          <p:cNvPr id="8" name="Shape 6"/>
          <p:cNvSpPr/>
          <p:nvPr/>
        </p:nvSpPr>
        <p:spPr>
          <a:xfrm rot="2280000">
            <a:off x="1286929" y="2530877"/>
            <a:ext cx="323332" cy="34235"/>
          </a:xfrm>
          <a:prstGeom prst="rect">
            <a:avLst/>
          </a:prstGeom>
          <a:solidFill>
            <a:srgbClr val="0B1F3A">
              <a:alpha val="45000"/>
            </a:srgbClr>
          </a:solidFill>
          <a:ln/>
        </p:spPr>
      </p:sp>
      <p:sp>
        <p:nvSpPr>
          <p:cNvPr id="9" name="Shape 7"/>
          <p:cNvSpPr/>
          <p:nvPr/>
        </p:nvSpPr>
        <p:spPr>
          <a:xfrm>
            <a:off x="867583" y="2111898"/>
            <a:ext cx="342351" cy="123627"/>
          </a:xfrm>
          <a:prstGeom prst="ellipse">
            <a:avLst/>
          </a:prstGeom>
          <a:solidFill>
            <a:srgbClr val="0B1F3A"/>
          </a:solidFill>
          <a:ln/>
        </p:spPr>
      </p:sp>
      <p:sp>
        <p:nvSpPr>
          <p:cNvPr id="10" name="Shape 8"/>
          <p:cNvSpPr/>
          <p:nvPr/>
        </p:nvSpPr>
        <p:spPr>
          <a:xfrm>
            <a:off x="867583" y="2168957"/>
            <a:ext cx="342351" cy="323332"/>
          </a:xfrm>
          <a:prstGeom prst="rect">
            <a:avLst/>
          </a:prstGeom>
          <a:solidFill>
            <a:srgbClr val="0B1F3A"/>
          </a:solidFill>
          <a:ln/>
        </p:spPr>
      </p:sp>
      <p:sp>
        <p:nvSpPr>
          <p:cNvPr id="11" name="Shape 9"/>
          <p:cNvSpPr/>
          <p:nvPr/>
        </p:nvSpPr>
        <p:spPr>
          <a:xfrm>
            <a:off x="867583" y="2425720"/>
            <a:ext cx="342351" cy="123627"/>
          </a:xfrm>
          <a:prstGeom prst="ellipse">
            <a:avLst/>
          </a:prstGeom>
          <a:solidFill>
            <a:srgbClr val="0B1F3A"/>
          </a:solidFill>
          <a:ln/>
        </p:spPr>
      </p:sp>
      <p:sp>
        <p:nvSpPr>
          <p:cNvPr id="12" name="Shape 10"/>
          <p:cNvSpPr/>
          <p:nvPr/>
        </p:nvSpPr>
        <p:spPr>
          <a:xfrm>
            <a:off x="867583" y="2264054"/>
            <a:ext cx="342351" cy="66568"/>
          </a:xfrm>
          <a:prstGeom prst="rect">
            <a:avLst/>
          </a:prstGeom>
          <a:solidFill>
            <a:srgbClr val="FFFFFF">
              <a:alpha val="65000"/>
            </a:srgbClr>
          </a:solidFill>
          <a:ln/>
        </p:spPr>
      </p:sp>
      <p:sp>
        <p:nvSpPr>
          <p:cNvPr id="13" name="Shape 11"/>
          <p:cNvSpPr/>
          <p:nvPr/>
        </p:nvSpPr>
        <p:spPr>
          <a:xfrm>
            <a:off x="981700" y="2549347"/>
            <a:ext cx="114117" cy="133137"/>
          </a:xfrm>
          <a:prstGeom prst="rect">
            <a:avLst/>
          </a:prstGeom>
          <a:solidFill>
            <a:srgbClr val="0B1F3A">
              <a:alpha val="60000"/>
            </a:srgbClr>
          </a:solidFill>
          <a:ln/>
        </p:spPr>
      </p:sp>
      <p:sp>
        <p:nvSpPr>
          <p:cNvPr id="14" name="Text 12"/>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5" name="Shape 13"/>
          <p:cNvSpPr/>
          <p:nvPr/>
        </p:nvSpPr>
        <p:spPr>
          <a:xfrm>
            <a:off x="2226747" y="1940723"/>
            <a:ext cx="228234" cy="228234"/>
          </a:xfrm>
          <a:prstGeom prst="ellipse">
            <a:avLst/>
          </a:prstGeom>
          <a:solidFill>
            <a:srgbClr val="0B1F3A"/>
          </a:solidFill>
          <a:ln/>
        </p:spPr>
      </p:sp>
      <p:sp>
        <p:nvSpPr>
          <p:cNvPr id="16" name="Shape 14"/>
          <p:cNvSpPr/>
          <p:nvPr/>
        </p:nvSpPr>
        <p:spPr>
          <a:xfrm>
            <a:off x="2188708" y="2197486"/>
            <a:ext cx="304312" cy="342351"/>
          </a:xfrm>
          <a:prstGeom prst="roundRect">
            <a:avLst>
              <a:gd name="adj" fmla="val 90144"/>
            </a:avLst>
          </a:prstGeom>
          <a:solidFill>
            <a:srgbClr val="0B1F3A"/>
          </a:solidFill>
          <a:ln/>
        </p:spPr>
      </p:sp>
      <p:sp>
        <p:nvSpPr>
          <p:cNvPr id="17" name="Shape 15"/>
          <p:cNvSpPr/>
          <p:nvPr/>
        </p:nvSpPr>
        <p:spPr>
          <a:xfrm rot="480000">
            <a:off x="2207727" y="2530328"/>
            <a:ext cx="85588" cy="247254"/>
          </a:xfrm>
          <a:prstGeom prst="rect">
            <a:avLst/>
          </a:prstGeom>
          <a:solidFill>
            <a:srgbClr val="0B1F3A"/>
          </a:solidFill>
          <a:ln/>
        </p:spPr>
      </p:sp>
      <p:sp>
        <p:nvSpPr>
          <p:cNvPr id="18" name="Shape 16"/>
          <p:cNvSpPr/>
          <p:nvPr/>
        </p:nvSpPr>
        <p:spPr>
          <a:xfrm rot="-480000">
            <a:off x="2388413" y="2530328"/>
            <a:ext cx="85588" cy="247254"/>
          </a:xfrm>
          <a:prstGeom prst="rect">
            <a:avLst/>
          </a:prstGeom>
          <a:solidFill>
            <a:srgbClr val="0B1F3A"/>
          </a:solidFill>
          <a:ln/>
        </p:spPr>
      </p:sp>
      <p:sp>
        <p:nvSpPr>
          <p:cNvPr id="19" name="Text 1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Đo được khoảng cách không có nghĩa là biết đó là cái gì</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量得到距離，不等於知道那是什麼</a:t>
            </a:r>
            <a:endParaRPr lang="en-US" sz="2300" dirty="0"/>
          </a:p>
        </p:txBody>
      </p:sp>
      <p:sp>
        <p:nvSpPr>
          <p:cNvPr id="20" name="Text 1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và radar chỉ báo “có vật cản, cách 30 m”. Muốn biết đó là người thì cần camera hoặc ảnh nhiệt. Hai bên đo hai thứ khác nhau, chứ không phải cùng một thứ mà bên nào chính xác hơn.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光達和雷達只會說「前面 30 公尺有障礙物」。要知道那是人，得靠相機或熱像。兩邊量的是不同的東西，不是同一件事誰比較準。</a:t>
            </a:r>
            <a:endParaRPr lang="en-US" sz="1250" dirty="0"/>
          </a:p>
        </p:txBody>
      </p:sp>
      <p:sp>
        <p:nvSpPr>
          <p:cNvPr id="21" name="Shape 1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22" name="Text 2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Vì sao cần biết đó là gì? Vì người có thể bước ra, thùng rác thì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為什麼要知道那是什麼？因為人會突然走出來，垃圾桶不會。</a:t>
            </a:r>
            <a:endParaRPr lang="en-US" sz="1250" dirty="0"/>
          </a:p>
        </p:txBody>
      </p:sp>
      <p:pic>
        <p:nvPicPr>
          <p:cNvPr id="2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5" name="Text 2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19</a:t>
            </a:r>
            <a:endParaRPr lang="en-US" sz="900" dirty="0"/>
          </a:p>
        </p:txBody>
      </p:sp>
      <p:sp>
        <p:nvSpPr>
          <p:cNvPr id="26" name="Text 2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Điểm yếu của mỗi loại, và loại nào bù cho nó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每一種的弱點，由哪一種來補</a:t>
            </a:r>
            <a:endParaRPr lang="en-US" sz="2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43200"/>
                <a:gridCol w="2651760"/>
                <a:gridCol w="274320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Điểm yếu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bị</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誰有這個弱點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 nào bù</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誰來補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đó là cái gì</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不知道那是什麼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Camera（người thì ảnh nhiệt cũng được）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相機（人的部分熱像也行）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đọc được màu đèn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讀不出燈色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Tất cả trừ 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除了相機，全部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Chỉ camera. Không ai khác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只有相機。沒有別人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đang lại gần bao nhanh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不知道接近得多快</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 LiDAR,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đo trực tiếp bằng Doppler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雷達，用都卜勒直接量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Vùng mù sát xe</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車身周圍的盲區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gắn trên nóc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裝車頂的光達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Siêu âm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超音波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Trời tối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天黑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Camera</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radar, ảnh nhiệt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光達、雷達、熱像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Không biết mình đang ở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不知道自己在哪裡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Cả năm loại nhìn ra ngoài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往外看的那五種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GNSS（cộng bản đồ và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GNSS（再加地圖與慣性感測器）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24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Mỗi hàng là một lý do để lắp thêm một loại nữa. Không hàng nào thừa.</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每一列都是多裝一種的理由。沒有一列是多餘的。</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19</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Mỗi cảm biến đo một thứ khác nhau — không phải cùng một thứ mà hơn kém độ chính xác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Bị động cần ánh sáng（camera）; chủ động tự phát（LiDAR, radar, siêu âm）; ảnh nhiệt đọc nhiệt của chính vật.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被動要靠光（相機）；主動自己發訊號（光達、雷達、超音波）；熱像讀物體自己的熱。</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Đo được khoảng cách ≠ biết đó là cái gì. Màu đèn và vạch kẻ: chỉ camera.</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量得到距離 ≠ 知道那是什麼。燈色和標線：只有相機。</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Tốc độ lại gần: chỉ radar đo trực tiếp — nhưng vật băng ngang thì nó đọc gần bằng 0.</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接近速度：只有雷達直接量——但橫越的時候它讀到接近 0。</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Tiết sau: mỗi loại tốt đến đâu, và vì sao càng xa càng tệ rất nhanh.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下一節：每一種到底多強，以及為什麼一遠就壞得特別快。</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19</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2026-09-20T03:16:56Z</dcterms:created>
  <dcterms:modified xsi:type="dcterms:W3CDTF">2026-09-20T03:16:56Z</dcterms:modified>
</cp:coreProperties>
</file>