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第三節，上機。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今天這一節的題目叫「為河內配感測器」，四題，兩人一組，每組交一張紙。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先說清楚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為什麼要做這件事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前兩節我們講了三個規格、三種落差、場景三層。這些都是知識。現在要各位做的，是把這些知識變成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三個數字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而且這三個數字不是我給的，是各位自己掃出來的。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我把任務單發下去。前三題有數字，第四題是文字。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四題，照順序做，不要跳。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觀察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：什麼都不要改，先看它怎麼撞。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掃參數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：這是今天的主菜，時間也花最多。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加一個變因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：打開雨天，看你的答案還撐不撐得住。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文字題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：把今天的模擬器接回真車。這一題沒有數字，但它是四題裡面最重要的——因為它是第三章和第四章的預告。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時間是這樣分的：第一題五分鐘、第二題十五分鐘、第三題五分鐘、第四題五分鐘，最後十分鐘上台。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第一題，五分鐘。什麼都不要改，先看它怎麼撞。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這一題看起來很簡單，可是它有一個埋伏。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請各組跑三次，每次撞了就看右欄事件紀錄的最後一行，記下原因。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三次的原因一樣嗎？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答案是不一樣。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這就是重點。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同一組參數、同一個場景，跑三次可能撞在三個不同的地方——因為機車出現的位置和時間有隨機性。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（連回第二節）所以我們說「掃參數」，不只是掃參數的值，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同一組參數也要跑很多次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。跑一次就下結論，是不夠的。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如果有組別跑三次都沒撞，就多跑幾次，或者記下「跑了幾次才撞」，那也是有用的資訊。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第二題，十五分鐘，今天的主菜。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目標：調三個參數，讓車子在撞車前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撐得最久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。每組跑三次，取最好的那一次。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我先講清楚，為什麼這一題是比「撐最久」，而不是「不准撞」。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在開始調之前，請各組先做一件事：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把左邊的「固定車流」打勾，種子填一個你們自己的號碼。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為什麼？第一題各位已經看到了，同樣的參數跑三次會撞在三個不同的地方。如果每一趟的車流都不一樣，你根本分不出秒數變長是因為你調對了，還是因為這一趟運氣好。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固定車流之後按重新開始，出現的會是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一模一樣的那一批車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。這時候你改一個參數，秒數的變化就真的是那個參數造成的。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這就是第二節講的「掃參數」在真實工程裡的樣子：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先把場景鎖死，再一次只改一個變數。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真的模擬工程師每天都在做這件事。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我先告訴各位一件事，免得大家白費力氣：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在河內尖峰這個場景裡，沒有任何一組參數能保證不撞。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這不是模擬器壞了，這正是這個場景要告訴大家的事：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有些環境，用現在這些感測器規格就是搞不定。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這時候工程上的答案不是再加感測器，是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把運行範圍縮小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——降速、避開尖峰時段、或者根本不在這條路上營運。這就是第二週講的 ODD。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所以今天的題目是：在搞不定的環境裡，你能把界線推到多遠？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操作上我要提醒一件事，而且會一直重複講。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一次只改一個參數。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三個一起改，你不會知道是哪一個起了作用——這就是第二節說的「掃參數」，一次掃一維。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還有，回頭看第一節算的：時速五十，射線不能短於二十五公尺。如果有組別把射線長度拉到二十以下還在調射線數，請提醒他們那是白費力氣。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同一組參數至少要換三個種子試。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一個種子只是一個路況，換個種子結論可能就反過來。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我先給各位一組參考數字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，這是我用九個固定種子跑出來的中位數：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預設的九條、二十五公尺、一百二十度，大約撐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十五秒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三個參數全部拉到最滿，六十條、一百二十公尺、一百八十度，大約撐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二十一秒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從十五到二十一。把規格拉到最滿，只多撐六秒。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所以今天各位真正要找的不是「哪一組數字最強」，是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哪一個參數還有用、哪一個已經沒用了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。後面那件事我先留著，等上台那一頁再揭曉。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我會一組一組問：你現在改的是哪一個？為什麼改它？請各位講得出理由。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十五分鐘後，每組要交出四樣東西：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你們用的種子、撐最久的秒數、當時的三個數字，還有一句話——你改的哪一個參數最有用。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第三題，五分鐘。三個數字不要動，把雨天打開。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這一題有一個陷阱，我要各位自己踩進去。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先看兩件事，一個是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漏讀次數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變多少，一個是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射線變短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多少。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然後回答這個問題：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射線變短了，煞停距離有跟著變短嗎？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這題我一定要聽各位自己回答。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煞停距離只跟車速和路面有關，跟你的感測器一點關係都沒有。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我在白板上把兩件事分開寫。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感測器變差 → 看得比較近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煞停距離 → 完全沒變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所以雨天發生的事是：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你看得到的距離縮短了，但你需要的距離沒有縮短。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兩條線交叉了。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那怎麼辦？兩個答案，都對：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第一，降低車速。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車速降下來，需要的煞停距離也跟著降，兩條線就又分開了。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第二，加射線數。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多幾條射線，漏讀一條還有別條補上，等於用冗餘換可靠度。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如果有組別兩個都做了，那也很好，真車就是兩個都做。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第三節課的第三題，就是第一節那條公式在真實情境裡的應用。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再補一句物理。真車在濕路面上減速度只剩一半，煞停距離反而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變長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。我們的模擬器沒有模擬這件事，而這本身就是第一節講的「物理落差」的例子。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第四題，五分鐘，文字題。這一題沒有數字，但它是四題裡面最重要的。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問題：模擬器裡的「射線」，在真車上是哪一種感測器？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答案是光達，這題大部分的人會答對。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對，是光達。上週第三週我們整整花了一節課在講它。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但第二個問題才是重點：它少了哪些能力？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請各組自己寫三句話，先不要急著問我答案。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我給三個方向當提示。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它看不到顏色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。紅燈綠燈，射線分不出來。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它分不出那是人還是一根柱子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。它只知道「前面三十公尺有東西」——這句話上週第三週講過，各位應該有印象。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第三，這個最難也最重要：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它不知道那台機車下一秒要往哪裡鑽。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前兩個是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感知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的問題——第四章會講。第三個是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預測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的問題——那是第六章。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一台真的自駕車，光是「看到」還不夠，它必須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猜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別人接下來要做什麼。而在河內，猜機車的下一步，比看到它難得多。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收上來的紙我會留著。第八週講完感知之後，我會拿出來給各位對照，看看自己當初寫了什麼。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這一頁是給提早做完的組別，不是全班都要做。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模擬器上有一個新按鈕，可以把感測器從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切換成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360 度旋轉式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上週第三週我們講過旋轉式光達，這裡複習一下它的取捨。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只看前方那個扇形，可是那個扇形裡的資料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永遠是最新的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旋轉式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看得到一整圈，可是每個方向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要等它轉一圈才更新一次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。如果它每秒轉十圈，那麼你看到側面那筆資料，可能是零點一秒前的。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我問做完的那幾組一個問題。零點一秒很短，有差嗎？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大家算一下：時速五十是每秒十三點九公尺，零點一秒就是一點四公尺。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一點四公尺，差不多是一台機車的長度。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所以切到旋轉式之後，你們那三個數字還管不管用？試試看。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這個探索沒有標準答案，可是它會讓各位看到一件事：換一種感測器，整組參數可能都要重配。這正是第三章要講的。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最後十分鐘，每組上台三十秒。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把你們的三個數字調給全班看，然後說一句為什麼。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我在白板上開一個表格，記每一組撐了幾秒，還有當時的三個數字。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全部記完之後，帶全班看三件事：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有沒有兩組完全一樣？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通常沒有。這件事本身就值得講：同一個問題，不同的人配出不同的解。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撐最久的那一組，用的是哪三個數字？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現在我要揭曉剛剛保留的那件事。我先問全班一個問題。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有沒有哪一組，把射線長度愈拉愈長，秒數卻一動也不動？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通常會有人舉手。這不是你們調錯，這是真的。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我用九個固定種子實測過：射線長度四十五公尺和一百二十公尺，九個種子跑出來的秒數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一秒都沒有差，九個數字一模一樣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為什麼？回到第一節第七張那條煞停距離。這個場景的目標車速是四十公里，煞停距離十三點六公尺。所以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二十五公尺就已經夠了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。超過那個門檻之後，再長的射線，車子根本用不到——它煞車的依據是「前面十三公尺內有沒有東西」，不是「我看得到一百二十公尺」。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請大家把這一句寫下來：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規格不是愈大愈好，是要剛好跨過那個門檻。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跨過去之後再加，錢是白花的。這句話第五週讀真規格表的時候，我們會再用到一次。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那射線數和張角呢？有一點用，但是也不多。從九條加到六十條、張角從九十度開到一百八十度，中位數只從十五秒進步到二十一秒。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第三，這是最重要的一件事——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把所有數字看成一片，它們會集中在某個範圍。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我在白板上把範圍圈出來，例如射線二十到三十五條、張角一百到一百四十度；長度那一欄我只圈一個下限，二十五公尺。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那個範圍有一個名字：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河內尖峰的最低感測器規格。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它不是我給各位的，是全班一起掃出來的。而且各位現在知道，這張表上有兩種欄位：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有的是愈多愈好，有的只是一道門檻。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我把白板拍照留下來。第五週第一節開場，我會拿真正的光達規格表來跟這張照片對照。那時候各位會發現，自己掃出來的範圍，跟真實產品的規格意外地接近。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活動，四人一組，每題一分鐘。對或錯，再說一句理由。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四題我先全部唸完，再開始討論，不要一題一題來。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提示我給四個關鍵詞：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一百一十億英里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三種落差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射線會變稀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世界是照誰做的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一分鐘後我收答案，下一頁公布。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四句都錯。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而且每一句錯的方式不一樣。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錯在單位。要用里程證明，需要一百一十億英里，而且大多是無聊的直路。正確的單位是場景——這是今天第二節整節在講的事。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錯在以為模擬等於現實。三種落差：外觀、行為、物理。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（這裡給一個比喻）模擬是一個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篩子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。通過篩子不代表你安全，只代表你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拿到了上真車測試的門票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。沒通過的連門票都沒有。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錯在「愈多愈好」。張角愈大，同樣的射線數就愈稀；射線愈多，電腦算得愈慢。真車的解法是好幾顆感測器分工，不是一顆全包。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各位今天掃參數的時候已經自己撞上另一半的答案了：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射線長度過了煞停距離那個門檻之後，再加完全沒有用。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四十五公尺和一百二十公尺，九個種子跑出來一秒都不差。規格不是愈大愈好，是要剛好跨過門檻。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錯在以為工具是中立的。現成模擬器裡的世界、車輛、行為，都是照歐美做的。沒有機車海、沒有騎樓、沒有河內那種靠眼神的圓環。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這四句話就是今天三節課的總複習。如果各位都答對了，今天的課就沒有白上。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第二章到這裡結束。下週開始講眼睛和耳朵。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下週第五週，十月八日，進第三章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。第一次講相機和光達的原理與規格判讀。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有三件事。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交第三週和第四週的任務單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，每組一張。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第二，做講義 2.8 的選擇題，附錄二有答案。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第三，這件最重要：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用手機拍一張你覺得「相機會看不清楚」的路況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，逆光、下雨或夜間都可以，帶來。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下週我會把各位拍的照片投影出來一起看。那比任何教科書的例子都有效，因為那是你們自己走過的路。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第三章是整學期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最直觀的一章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，也是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最接近台灣就業市場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的一章——車用鏡頭、車用光達，台灣都有在做。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30753" y="-947729"/>
            <a:ext cx="2987610" cy="298761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04973" y="1520297"/>
            <a:ext cx="1688649" cy="1688649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681812" y="883806"/>
            <a:ext cx="4936051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9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4</a:t>
            </a:r>
            <a:endParaRPr lang="en-US" sz="890" dirty="0"/>
          </a:p>
        </p:txBody>
      </p:sp>
      <p:sp>
        <p:nvSpPr>
          <p:cNvPr id="5" name="Text 3"/>
          <p:cNvSpPr txBox="1"/>
          <p:nvPr/>
        </p:nvSpPr>
        <p:spPr>
          <a:xfrm>
            <a:off x="1681812" y="1143598"/>
            <a:ext cx="5325739" cy="628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4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Cấu hình cảm biến cho Hà Nội</a:t>
            </a:r>
            <a:endParaRPr lang="en-US" sz="241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為河內配一組感測器</a:t>
            </a:r>
            <a:endParaRPr lang="en-US" sz="2410" dirty="0"/>
          </a:p>
        </p:txBody>
      </p:sp>
      <p:sp>
        <p:nvSpPr>
          <p:cNvPr id="6" name="Shape 4"/>
          <p:cNvSpPr/>
          <p:nvPr/>
        </p:nvSpPr>
        <p:spPr>
          <a:xfrm>
            <a:off x="1681812" y="2006437"/>
            <a:ext cx="974221" cy="29227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681812" y="2149323"/>
            <a:ext cx="5065947" cy="591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câu, hai người một nhóm, một tờ giấy. Đáp án mang thẳng sang đề tài cuối kỳ.</a:t>
            </a:r>
            <a:endParaRPr lang="en-US" sz="10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9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四題，兩人一組，一張紙。答案直接帶到期末專題。</a:t>
            </a:r>
            <a:endParaRPr lang="en-US" sz="1030" dirty="0"/>
          </a:p>
        </p:txBody>
      </p:sp>
      <p:sp>
        <p:nvSpPr>
          <p:cNvPr id="8" name="Shape 6"/>
          <p:cNvSpPr/>
          <p:nvPr/>
        </p:nvSpPr>
        <p:spPr>
          <a:xfrm>
            <a:off x="1681812" y="2793278"/>
            <a:ext cx="4221622" cy="272782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772740" y="2825752"/>
            <a:ext cx="4039768" cy="207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ch-neural.github.io/MITUST-Principles-of-Self-Driving-Cars/week4/sim/</a:t>
            </a:r>
            <a:endParaRPr lang="en-US" sz="750" dirty="0"/>
          </a:p>
        </p:txBody>
      </p:sp>
      <p:sp>
        <p:nvSpPr>
          <p:cNvPr id="10" name="Text 8"/>
          <p:cNvSpPr txBox="1"/>
          <p:nvPr/>
        </p:nvSpPr>
        <p:spPr>
          <a:xfrm>
            <a:off x="1681812" y="3131008"/>
            <a:ext cx="4936051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第四週 第 3 節　2026/10/01（四）11:10–12:00　CH Tseng</a:t>
            </a:r>
            <a:endParaRPr lang="en-US" sz="820" dirty="0"/>
          </a:p>
        </p:txBody>
      </p:sp>
      <p:sp>
        <p:nvSpPr>
          <p:cNvPr id="12" name="Shape 9"/>
          <p:cNvSpPr/>
          <p:nvPr/>
        </p:nvSpPr>
        <p:spPr>
          <a:xfrm>
            <a:off x="1577895" y="247315"/>
            <a:ext cx="1571743" cy="532574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81812" y="364222"/>
            <a:ext cx="1363909" cy="3013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681812" y="234326"/>
            <a:ext cx="5780375" cy="597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câu, làm theo thứ tự</a:t>
            </a:r>
            <a:endParaRPr lang="en-US" sz="15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6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四題，照順序做</a:t>
            </a:r>
            <a:endParaRPr lang="en-US" sz="1560" dirty="0"/>
          </a:p>
        </p:txBody>
      </p:sp>
      <p:sp>
        <p:nvSpPr>
          <p:cNvPr id="3" name="Shape 1"/>
          <p:cNvSpPr/>
          <p:nvPr/>
        </p:nvSpPr>
        <p:spPr>
          <a:xfrm>
            <a:off x="1681812" y="831848"/>
            <a:ext cx="1298961" cy="193545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2162428" y="961744"/>
            <a:ext cx="337730" cy="337730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2162428" y="1033187"/>
            <a:ext cx="337730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70" dirty="0"/>
          </a:p>
        </p:txBody>
      </p:sp>
      <p:sp>
        <p:nvSpPr>
          <p:cNvPr id="6" name="Text 4"/>
          <p:cNvSpPr txBox="1"/>
          <p:nvPr/>
        </p:nvSpPr>
        <p:spPr>
          <a:xfrm>
            <a:off x="1772740" y="1364422"/>
            <a:ext cx="1117106" cy="467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99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nó đâm</a:t>
            </a:r>
            <a:endParaRPr lang="en-US" sz="99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8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先看它怎麼撞</a:t>
            </a:r>
            <a:endParaRPr lang="en-US" sz="990" dirty="0"/>
          </a:p>
        </p:txBody>
      </p:sp>
      <p:sp>
        <p:nvSpPr>
          <p:cNvPr id="7" name="Text 5"/>
          <p:cNvSpPr txBox="1"/>
          <p:nvPr/>
        </p:nvSpPr>
        <p:spPr>
          <a:xfrm>
            <a:off x="1772740" y="1858027"/>
            <a:ext cx="1117106" cy="831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Chưa đổi gì cả</a:t>
            </a:r>
            <a:endParaRPr lang="en-US" sz="7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lần va chạm đầu</a:t>
            </a:r>
            <a:endParaRPr lang="en-US" sz="7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67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什麼都不要改</a:t>
            </a:r>
            <a:endParaRPr lang="en-US" sz="7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67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記前三次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2980773" y="1481328"/>
            <a:ext cx="194844" cy="259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3175617" y="831848"/>
            <a:ext cx="1298961" cy="193545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56233" y="961744"/>
            <a:ext cx="337730" cy="33773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56233" y="1033187"/>
            <a:ext cx="337730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70" dirty="0"/>
          </a:p>
        </p:txBody>
      </p:sp>
      <p:sp>
        <p:nvSpPr>
          <p:cNvPr id="12" name="Text 10"/>
          <p:cNvSpPr txBox="1"/>
          <p:nvPr/>
        </p:nvSpPr>
        <p:spPr>
          <a:xfrm>
            <a:off x="3266544" y="1364422"/>
            <a:ext cx="1117106" cy="467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99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tham số</a:t>
            </a:r>
            <a:endParaRPr lang="en-US" sz="99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8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掃參數</a:t>
            </a:r>
            <a:endParaRPr lang="en-US" sz="990" dirty="0"/>
          </a:p>
        </p:txBody>
      </p:sp>
      <p:sp>
        <p:nvSpPr>
          <p:cNvPr id="13" name="Text 11"/>
          <p:cNvSpPr txBox="1"/>
          <p:nvPr/>
        </p:nvSpPr>
        <p:spPr>
          <a:xfrm>
            <a:off x="3266544" y="1858027"/>
            <a:ext cx="1117106" cy="831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Trụ được lâu nhất</a:t>
            </a:r>
            <a:endParaRPr lang="en-US" sz="7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lần lấy lần tốt nhất</a:t>
            </a:r>
            <a:endParaRPr lang="en-US" sz="7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67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撐最久</a:t>
            </a:r>
            <a:endParaRPr lang="en-US" sz="7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67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跑 3 次取最好</a:t>
            </a:r>
            <a:endParaRPr lang="en-US" sz="750" dirty="0"/>
          </a:p>
        </p:txBody>
      </p:sp>
      <p:sp>
        <p:nvSpPr>
          <p:cNvPr id="14" name="Text 12"/>
          <p:cNvSpPr txBox="1"/>
          <p:nvPr/>
        </p:nvSpPr>
        <p:spPr>
          <a:xfrm>
            <a:off x="4474578" y="1481328"/>
            <a:ext cx="194844" cy="259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669422" y="831848"/>
            <a:ext cx="1298961" cy="193545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150038" y="961744"/>
            <a:ext cx="337730" cy="337730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150038" y="1033187"/>
            <a:ext cx="337730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70" dirty="0"/>
          </a:p>
        </p:txBody>
      </p:sp>
      <p:sp>
        <p:nvSpPr>
          <p:cNvPr id="18" name="Text 16"/>
          <p:cNvSpPr txBox="1"/>
          <p:nvPr/>
        </p:nvSpPr>
        <p:spPr>
          <a:xfrm>
            <a:off x="4760349" y="1364422"/>
            <a:ext cx="1117106" cy="467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99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Bật mưa</a:t>
            </a:r>
            <a:endParaRPr lang="en-US" sz="99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8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打開雨天</a:t>
            </a:r>
            <a:endParaRPr lang="en-US" sz="990" dirty="0"/>
          </a:p>
        </p:txBody>
      </p:sp>
      <p:sp>
        <p:nvSpPr>
          <p:cNvPr id="19" name="Text 17"/>
          <p:cNvSpPr txBox="1"/>
          <p:nvPr/>
        </p:nvSpPr>
        <p:spPr>
          <a:xfrm>
            <a:off x="4760349" y="1858027"/>
            <a:ext cx="1117106" cy="831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Trụ được bao lâu?</a:t>
            </a:r>
            <a:endParaRPr lang="en-US" sz="7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gì, vì sao</a:t>
            </a:r>
            <a:endParaRPr lang="en-US" sz="7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67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這次撐多久？</a:t>
            </a:r>
            <a:endParaRPr lang="en-US" sz="7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67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改什麼、為什麼</a:t>
            </a:r>
            <a:endParaRPr lang="en-US" sz="750" dirty="0"/>
          </a:p>
        </p:txBody>
      </p:sp>
      <p:sp>
        <p:nvSpPr>
          <p:cNvPr id="20" name="Text 18"/>
          <p:cNvSpPr txBox="1"/>
          <p:nvPr/>
        </p:nvSpPr>
        <p:spPr>
          <a:xfrm>
            <a:off x="5968383" y="1481328"/>
            <a:ext cx="194844" cy="259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163227" y="831848"/>
            <a:ext cx="1298961" cy="193545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643842" y="961744"/>
            <a:ext cx="337730" cy="33773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43842" y="1033187"/>
            <a:ext cx="337730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70" dirty="0"/>
          </a:p>
        </p:txBody>
      </p:sp>
      <p:sp>
        <p:nvSpPr>
          <p:cNvPr id="24" name="Text 22"/>
          <p:cNvSpPr txBox="1"/>
          <p:nvPr/>
        </p:nvSpPr>
        <p:spPr>
          <a:xfrm>
            <a:off x="6254154" y="1364422"/>
            <a:ext cx="1117106" cy="467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99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chữ</a:t>
            </a:r>
            <a:endParaRPr lang="en-US" sz="99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8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文字題</a:t>
            </a:r>
            <a:endParaRPr lang="en-US" sz="990" dirty="0"/>
          </a:p>
        </p:txBody>
      </p:sp>
      <p:sp>
        <p:nvSpPr>
          <p:cNvPr id="25" name="Text 23"/>
          <p:cNvSpPr txBox="1"/>
          <p:nvPr/>
        </p:nvSpPr>
        <p:spPr>
          <a:xfrm>
            <a:off x="6254154" y="1858027"/>
            <a:ext cx="1117106" cy="831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 = cảm biến nào?</a:t>
            </a:r>
            <a:endParaRPr lang="en-US" sz="7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Thiếu gì?</a:t>
            </a:r>
            <a:endParaRPr lang="en-US" sz="7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67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射線＝哪種感測器？</a:t>
            </a:r>
            <a:endParaRPr lang="en-US" sz="7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67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少了什麼？</a:t>
            </a:r>
            <a:endParaRPr lang="en-US" sz="750" dirty="0"/>
          </a:p>
        </p:txBody>
      </p:sp>
      <p:sp>
        <p:nvSpPr>
          <p:cNvPr id="26" name="Text 24"/>
          <p:cNvSpPr txBox="1"/>
          <p:nvPr/>
        </p:nvSpPr>
        <p:spPr>
          <a:xfrm>
            <a:off x="1681812" y="2871216"/>
            <a:ext cx="5780375" cy="4026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89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đầu có con số, câu cuối viết chữ. Nộp một tờ mỗi nhóm trước khi hết giờ.</a:t>
            </a:r>
            <a:endParaRPr lang="en-US" sz="8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2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前三題有數字，最後一題寫字。每組一張紙，下課前交。</a:t>
            </a:r>
            <a:endParaRPr lang="en-US" sz="890" dirty="0"/>
          </a:p>
        </p:txBody>
      </p:sp>
      <p:pic>
        <p:nvPicPr>
          <p:cNvPr id="28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63327" y="3338842"/>
            <a:ext cx="779376" cy="172200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402536" y="3390800"/>
            <a:ext cx="584532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11</a:t>
            </a:r>
            <a:endParaRPr lang="en-US" sz="640" dirty="0"/>
          </a:p>
        </p:txBody>
      </p:sp>
      <p:sp>
        <p:nvSpPr>
          <p:cNvPr id="30" name="Text 26"/>
          <p:cNvSpPr txBox="1"/>
          <p:nvPr/>
        </p:nvSpPr>
        <p:spPr>
          <a:xfrm>
            <a:off x="2006553" y="3390800"/>
            <a:ext cx="1428857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64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30753" y="-947729"/>
            <a:ext cx="2987610" cy="298761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04973" y="1520297"/>
            <a:ext cx="1688649" cy="1688649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681812" y="364222"/>
            <a:ext cx="4806155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9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 · 第一題（5 分鐘）</a:t>
            </a:r>
            <a:endParaRPr lang="en-US" sz="890" dirty="0"/>
          </a:p>
        </p:txBody>
      </p:sp>
      <p:sp>
        <p:nvSpPr>
          <p:cNvPr id="5" name="Text 3"/>
          <p:cNvSpPr txBox="1"/>
          <p:nvPr/>
        </p:nvSpPr>
        <p:spPr>
          <a:xfrm>
            <a:off x="1681812" y="585045"/>
            <a:ext cx="5715427" cy="870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«Giờ cao điểm Hà Nội». Đừng đổi gì cả. Xem nó đâm trong tình huống nào.</a:t>
            </a:r>
            <a:endParaRPr lang="en-US" sz="16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7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按「河內尖峰」。什麼都不要改。看它撞在什麼情況。</a:t>
            </a:r>
            <a:endParaRPr lang="en-US" sz="1630" dirty="0"/>
          </a:p>
        </p:txBody>
      </p:sp>
      <p:sp>
        <p:nvSpPr>
          <p:cNvPr id="6" name="Shape 4"/>
          <p:cNvSpPr/>
          <p:nvPr/>
        </p:nvSpPr>
        <p:spPr>
          <a:xfrm>
            <a:off x="1681812" y="1362092"/>
            <a:ext cx="5780375" cy="441647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1798719" y="1466008"/>
            <a:ext cx="233813" cy="233813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798719" y="1485493"/>
            <a:ext cx="233813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2149438" y="1394566"/>
            <a:ext cx="5182853" cy="389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Chạy ba lần. Mỗi lần đâm xong đọc dòng cuối trong cột sự kiện bên phải.</a:t>
            </a:r>
            <a:endParaRPr lang="en-US" sz="89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跑三次。每次撞了就看右欄事件紀錄的最後一行。</a:t>
            </a:r>
            <a:endParaRPr lang="en-US" sz="890" dirty="0"/>
          </a:p>
        </p:txBody>
      </p:sp>
      <p:sp>
        <p:nvSpPr>
          <p:cNvPr id="10" name="Shape 8"/>
          <p:cNvSpPr/>
          <p:nvPr/>
        </p:nvSpPr>
        <p:spPr>
          <a:xfrm>
            <a:off x="1681812" y="1868686"/>
            <a:ext cx="5780375" cy="441647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1798719" y="1972603"/>
            <a:ext cx="233813" cy="233813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798719" y="1992087"/>
            <a:ext cx="233813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2149438" y="1901160"/>
            <a:ext cx="5182853" cy="389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Ghi lại nguyên nhân của ba lần: xe máy lách khe? người đi bộ? xe tải đỗ sai?</a:t>
            </a:r>
            <a:endParaRPr lang="en-US" sz="89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記下三次的原因：機車鑽縫？行人？違停的貨車？</a:t>
            </a:r>
            <a:endParaRPr lang="en-US" sz="890" dirty="0"/>
          </a:p>
        </p:txBody>
      </p:sp>
      <p:sp>
        <p:nvSpPr>
          <p:cNvPr id="14" name="Shape 12"/>
          <p:cNvSpPr/>
          <p:nvPr/>
        </p:nvSpPr>
        <p:spPr>
          <a:xfrm>
            <a:off x="1681812" y="2375281"/>
            <a:ext cx="5780375" cy="441647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1798719" y="2479198"/>
            <a:ext cx="233813" cy="233813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798719" y="2498682"/>
            <a:ext cx="233813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2149438" y="2407755"/>
            <a:ext cx="5182853" cy="389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lần có giống nhau không? Đây mới là câu hỏi thật.</a:t>
            </a:r>
            <a:endParaRPr lang="en-US" sz="89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三次的原因一樣嗎？這才是真正要問的。</a:t>
            </a:r>
            <a:endParaRPr lang="en-US" sz="890" dirty="0"/>
          </a:p>
        </p:txBody>
      </p:sp>
      <p:sp>
        <p:nvSpPr>
          <p:cNvPr id="18" name="Text 16"/>
          <p:cNvSpPr txBox="1"/>
          <p:nvPr/>
        </p:nvSpPr>
        <p:spPr>
          <a:xfrm>
            <a:off x="1681812" y="2907855"/>
            <a:ext cx="5715427" cy="324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89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tham số, ba lần ba kiểu — nên phải chạy nhiều lần.</a:t>
            </a:r>
            <a:endParaRPr lang="en-US" sz="8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2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同一組參數，三次不一樣——所以要跑很多次。</a:t>
            </a:r>
            <a:endParaRPr lang="en-US" sz="890" dirty="0"/>
          </a:p>
        </p:txBody>
      </p:sp>
      <p:sp>
        <p:nvSpPr>
          <p:cNvPr id="20" name="Text 17"/>
          <p:cNvSpPr txBox="1"/>
          <p:nvPr/>
        </p:nvSpPr>
        <p:spPr>
          <a:xfrm>
            <a:off x="1402536" y="3390800"/>
            <a:ext cx="584532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11</a:t>
            </a:r>
            <a:endParaRPr lang="en-US" sz="640" dirty="0"/>
          </a:p>
        </p:txBody>
      </p:sp>
      <p:sp>
        <p:nvSpPr>
          <p:cNvPr id="21" name="Text 18"/>
          <p:cNvSpPr txBox="1"/>
          <p:nvPr/>
        </p:nvSpPr>
        <p:spPr>
          <a:xfrm>
            <a:off x="2006553" y="3390800"/>
            <a:ext cx="1428857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6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30753" y="-947729"/>
            <a:ext cx="2987610" cy="298761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04973" y="1520297"/>
            <a:ext cx="1688649" cy="1688649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681812" y="364222"/>
            <a:ext cx="4806155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9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2 · 第二題（15 分鐘，今天的主菜）</a:t>
            </a:r>
            <a:endParaRPr lang="en-US" sz="890" dirty="0"/>
          </a:p>
        </p:txBody>
      </p:sp>
      <p:sp>
        <p:nvSpPr>
          <p:cNvPr id="5" name="Text 3"/>
          <p:cNvSpPr txBox="1"/>
          <p:nvPr/>
        </p:nvSpPr>
        <p:spPr>
          <a:xfrm>
            <a:off x="1681812" y="585045"/>
            <a:ext cx="5715427" cy="870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Chỉnh ba tham số, sao cho xe trụ được LÂU NHẤT trước khi đâm. Chạy 3 lần, lấy lần tốt nhất.</a:t>
            </a:r>
            <a:endParaRPr lang="en-US" sz="16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7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調三個參數，讓車子在撞車前撐得最久。跑三次，取最好的那一次。</a:t>
            </a:r>
            <a:endParaRPr lang="en-US" sz="1630" dirty="0"/>
          </a:p>
        </p:txBody>
      </p:sp>
      <p:sp>
        <p:nvSpPr>
          <p:cNvPr id="6" name="Shape 4"/>
          <p:cNvSpPr/>
          <p:nvPr/>
        </p:nvSpPr>
        <p:spPr>
          <a:xfrm>
            <a:off x="1681812" y="1362092"/>
            <a:ext cx="5780375" cy="441647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1798719" y="1466008"/>
            <a:ext cx="233813" cy="233813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798719" y="1485493"/>
            <a:ext cx="233813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2149438" y="1394566"/>
            <a:ext cx="5182853" cy="389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tham số: số tia · chiều dài tia · góc quét. Đổi MỘT cái một lần, đừng đổi cả ba cùng lúc.</a:t>
            </a:r>
            <a:endParaRPr lang="en-US" sz="89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三個參數：射線數・射線長度・張角。一次只改一個，不要三個一起改。</a:t>
            </a:r>
            <a:endParaRPr lang="en-US" sz="890" dirty="0"/>
          </a:p>
        </p:txBody>
      </p:sp>
      <p:sp>
        <p:nvSpPr>
          <p:cNvPr id="10" name="Shape 8"/>
          <p:cNvSpPr/>
          <p:nvPr/>
        </p:nvSpPr>
        <p:spPr>
          <a:xfrm>
            <a:off x="1681812" y="1868686"/>
            <a:ext cx="5780375" cy="441647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1798719" y="1972603"/>
            <a:ext cx="233813" cy="233813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798719" y="1992087"/>
            <a:ext cx="233813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2149438" y="1901160"/>
            <a:ext cx="5182853" cy="389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Nhắc lại tiết 1: chạy 50 km/h thì tia không được ngắn hơn 25 m.</a:t>
            </a:r>
            <a:endParaRPr lang="en-US" sz="89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提醒：第一節算過，時速 50 的話射線不能短於 25 公尺。</a:t>
            </a:r>
            <a:endParaRPr lang="en-US" sz="890" dirty="0"/>
          </a:p>
        </p:txBody>
      </p:sp>
      <p:sp>
        <p:nvSpPr>
          <p:cNvPr id="14" name="Shape 12"/>
          <p:cNvSpPr/>
          <p:nvPr/>
        </p:nvSpPr>
        <p:spPr>
          <a:xfrm>
            <a:off x="1681812" y="2375281"/>
            <a:ext cx="5780375" cy="441647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1798719" y="2479198"/>
            <a:ext cx="233813" cy="233813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798719" y="2498682"/>
            <a:ext cx="233813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2149438" y="2407755"/>
            <a:ext cx="5182853" cy="389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Nộp: số giây trụ được lâu nhất, kèm ba con số lúc đó.</a:t>
            </a:r>
            <a:endParaRPr lang="en-US" sz="89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要交的是：撐最久的那個秒數，加上當時的三個數字。</a:t>
            </a:r>
            <a:endParaRPr lang="en-US" sz="890" dirty="0"/>
          </a:p>
        </p:txBody>
      </p:sp>
      <p:sp>
        <p:nvSpPr>
          <p:cNvPr id="18" name="Text 16"/>
          <p:cNvSpPr txBox="1"/>
          <p:nvPr/>
        </p:nvSpPr>
        <p:spPr>
          <a:xfrm>
            <a:off x="1681812" y="2907855"/>
            <a:ext cx="5715427" cy="324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89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nhóm nào qua được 90 giây — kể cả khi kéo cả ba lên tối đa. Đó chính là bài học.</a:t>
            </a:r>
            <a:endParaRPr lang="en-US" sz="8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2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沒有一組能撐過 90 秒——就算三個都拉到最大也一樣。這正是這一題要教的事。</a:t>
            </a:r>
            <a:endParaRPr lang="en-US" sz="890" dirty="0"/>
          </a:p>
        </p:txBody>
      </p:sp>
      <p:sp>
        <p:nvSpPr>
          <p:cNvPr id="20" name="Text 17"/>
          <p:cNvSpPr txBox="1"/>
          <p:nvPr/>
        </p:nvSpPr>
        <p:spPr>
          <a:xfrm>
            <a:off x="1402536" y="3390800"/>
            <a:ext cx="584532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11</a:t>
            </a:r>
            <a:endParaRPr lang="en-US" sz="640" dirty="0"/>
          </a:p>
        </p:txBody>
      </p:sp>
      <p:sp>
        <p:nvSpPr>
          <p:cNvPr id="21" name="Text 18"/>
          <p:cNvSpPr txBox="1"/>
          <p:nvPr/>
        </p:nvSpPr>
        <p:spPr>
          <a:xfrm>
            <a:off x="2006553" y="3390800"/>
            <a:ext cx="1428857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64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30753" y="-947729"/>
            <a:ext cx="2987610" cy="298761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04973" y="1520297"/>
            <a:ext cx="1688649" cy="1688649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681812" y="364222"/>
            <a:ext cx="4806155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9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3 · 第三題（5 分鐘）</a:t>
            </a:r>
            <a:endParaRPr lang="en-US" sz="890" dirty="0"/>
          </a:p>
        </p:txBody>
      </p:sp>
      <p:sp>
        <p:nvSpPr>
          <p:cNvPr id="5" name="Text 3"/>
          <p:cNvSpPr txBox="1"/>
          <p:nvPr/>
        </p:nvSpPr>
        <p:spPr>
          <a:xfrm>
            <a:off x="1681812" y="585045"/>
            <a:ext cx="5715427" cy="870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nguyên ba con số vừa tìm được, bật mưa lên. Trụ được bao lâu?</a:t>
            </a:r>
            <a:endParaRPr lang="en-US" sz="16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7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三個數字不要動，把雨天打開。這次撐得了多久？</a:t>
            </a:r>
            <a:endParaRPr lang="en-US" sz="1630" dirty="0"/>
          </a:p>
        </p:txBody>
      </p:sp>
      <p:sp>
        <p:nvSpPr>
          <p:cNvPr id="6" name="Shape 4"/>
          <p:cNvSpPr/>
          <p:nvPr/>
        </p:nvSpPr>
        <p:spPr>
          <a:xfrm>
            <a:off x="1681812" y="1362092"/>
            <a:ext cx="5780375" cy="441647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1798719" y="1466008"/>
            <a:ext cx="233813" cy="233813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798719" y="1485493"/>
            <a:ext cx="233813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2149438" y="1394566"/>
            <a:ext cx="5182853" cy="389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hai thứ: số lần đọc sót, và tia bị ngắn đi bao nhiêu.</a:t>
            </a:r>
            <a:endParaRPr lang="en-US" sz="89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看兩件事：漏讀次數、射線變短多少。</a:t>
            </a:r>
            <a:endParaRPr lang="en-US" sz="890" dirty="0"/>
          </a:p>
        </p:txBody>
      </p:sp>
      <p:sp>
        <p:nvSpPr>
          <p:cNvPr id="10" name="Shape 8"/>
          <p:cNvSpPr/>
          <p:nvPr/>
        </p:nvSpPr>
        <p:spPr>
          <a:xfrm>
            <a:off x="1681812" y="1868686"/>
            <a:ext cx="5780375" cy="441647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1798719" y="1972603"/>
            <a:ext cx="233813" cy="233813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798719" y="1992087"/>
            <a:ext cx="233813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2149438" y="1901160"/>
            <a:ext cx="5182853" cy="389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 bẫy: tia ngắn đi rồi, thì quãng đường phanh có ngắn đi theo không?</a:t>
            </a:r>
            <a:endParaRPr lang="en-US" sz="89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陷阱題：射線變短了，那煞停距離有跟著變短嗎？</a:t>
            </a:r>
            <a:endParaRPr lang="en-US" sz="890" dirty="0"/>
          </a:p>
        </p:txBody>
      </p:sp>
      <p:sp>
        <p:nvSpPr>
          <p:cNvPr id="14" name="Shape 12"/>
          <p:cNvSpPr/>
          <p:nvPr/>
        </p:nvSpPr>
        <p:spPr>
          <a:xfrm>
            <a:off x="1681812" y="2375281"/>
            <a:ext cx="5780375" cy="441647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1798719" y="2479198"/>
            <a:ext cx="233813" cy="233813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798719" y="2498682"/>
            <a:ext cx="233813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2149438" y="2407755"/>
            <a:ext cx="5182853" cy="389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Ngắn đi bao nhiêu giây? Bạn đổi gì để kéo lại? Ghi lại đổi gì và VÌ SAO.</a:t>
            </a:r>
            <a:endParaRPr lang="en-US" sz="89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少撐了幾秒？你要改什麼把它拉回來？寫下改了什麼、還有為什麼。</a:t>
            </a:r>
            <a:endParaRPr lang="en-US" sz="890" dirty="0"/>
          </a:p>
        </p:txBody>
      </p:sp>
      <p:sp>
        <p:nvSpPr>
          <p:cNvPr id="18" name="Text 16"/>
          <p:cNvSpPr txBox="1"/>
          <p:nvPr/>
        </p:nvSpPr>
        <p:spPr>
          <a:xfrm>
            <a:off x="1681812" y="2907855"/>
            <a:ext cx="5715427" cy="324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89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đáp án đều đúng: giảm tốc độ, hoặc tăng số tia để bù phần đọc sót. Lý do khác nhau.</a:t>
            </a:r>
            <a:endParaRPr lang="en-US" sz="8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2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兩個答案都對：降低車速，或加射線數補漏讀。理由不一樣。</a:t>
            </a:r>
            <a:endParaRPr lang="en-US" sz="890" dirty="0"/>
          </a:p>
        </p:txBody>
      </p:sp>
      <p:sp>
        <p:nvSpPr>
          <p:cNvPr id="20" name="Text 17"/>
          <p:cNvSpPr txBox="1"/>
          <p:nvPr/>
        </p:nvSpPr>
        <p:spPr>
          <a:xfrm>
            <a:off x="1402536" y="3390800"/>
            <a:ext cx="584532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11</a:t>
            </a:r>
            <a:endParaRPr lang="en-US" sz="640" dirty="0"/>
          </a:p>
        </p:txBody>
      </p:sp>
      <p:sp>
        <p:nvSpPr>
          <p:cNvPr id="21" name="Text 18"/>
          <p:cNvSpPr txBox="1"/>
          <p:nvPr/>
        </p:nvSpPr>
        <p:spPr>
          <a:xfrm>
            <a:off x="2006553" y="3390800"/>
            <a:ext cx="1428857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64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30753" y="-947729"/>
            <a:ext cx="2987610" cy="298761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04973" y="1520297"/>
            <a:ext cx="1688649" cy="1688649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681812" y="364222"/>
            <a:ext cx="4806155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9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4 · 第四題（5 分鐘，文字題）</a:t>
            </a:r>
            <a:endParaRPr lang="en-US" sz="890" dirty="0"/>
          </a:p>
        </p:txBody>
      </p:sp>
      <p:sp>
        <p:nvSpPr>
          <p:cNvPr id="5" name="Text 3"/>
          <p:cNvSpPr txBox="1"/>
          <p:nvPr/>
        </p:nvSpPr>
        <p:spPr>
          <a:xfrm>
            <a:off x="1681812" y="585045"/>
            <a:ext cx="5715427" cy="870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«Tia» trong mô phỏng này, trên xe thật là cảm biến nào? Nó thiếu những khả năng gì?</a:t>
            </a:r>
            <a:endParaRPr lang="en-US" sz="16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7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模擬器裡的「射線」，在真車上是哪一種感測器？它少了哪些能力？</a:t>
            </a:r>
            <a:endParaRPr lang="en-US" sz="1630" dirty="0"/>
          </a:p>
        </p:txBody>
      </p:sp>
      <p:sp>
        <p:nvSpPr>
          <p:cNvPr id="6" name="Shape 4"/>
          <p:cNvSpPr/>
          <p:nvPr/>
        </p:nvSpPr>
        <p:spPr>
          <a:xfrm>
            <a:off x="1681812" y="1362092"/>
            <a:ext cx="5780375" cy="441647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1798719" y="1466008"/>
            <a:ext cx="233813" cy="233813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798719" y="1485493"/>
            <a:ext cx="233813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2149438" y="1394566"/>
            <a:ext cx="5182853" cy="389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Gợi ý: nó không thấy màu, không thấy vạch kẻ đường</a:t>
            </a:r>
            <a:endParaRPr lang="en-US" sz="89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提示：它看不到顏色、看不到車道線</a:t>
            </a:r>
            <a:endParaRPr lang="en-US" sz="890" dirty="0"/>
          </a:p>
        </p:txBody>
      </p:sp>
      <p:sp>
        <p:nvSpPr>
          <p:cNvPr id="10" name="Shape 8"/>
          <p:cNvSpPr/>
          <p:nvPr/>
        </p:nvSpPr>
        <p:spPr>
          <a:xfrm>
            <a:off x="1681812" y="1868686"/>
            <a:ext cx="5780375" cy="441647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1798719" y="1972603"/>
            <a:ext cx="233813" cy="233813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798719" y="1992087"/>
            <a:ext cx="233813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2149438" y="1901160"/>
            <a:ext cx="5182853" cy="389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Gợi ý: nó không phân biệt được người với cột điện</a:t>
            </a:r>
            <a:endParaRPr lang="en-US" sz="89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提示：它分不出那是人還是一根柱子</a:t>
            </a:r>
            <a:endParaRPr lang="en-US" sz="890" dirty="0"/>
          </a:p>
        </p:txBody>
      </p:sp>
      <p:sp>
        <p:nvSpPr>
          <p:cNvPr id="14" name="Shape 12"/>
          <p:cNvSpPr/>
          <p:nvPr/>
        </p:nvSpPr>
        <p:spPr>
          <a:xfrm>
            <a:off x="1681812" y="2375281"/>
            <a:ext cx="5780375" cy="441647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1798719" y="2479198"/>
            <a:ext cx="233813" cy="233813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798719" y="2498682"/>
            <a:ext cx="233813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2149438" y="2407755"/>
            <a:ext cx="5182853" cy="389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Gợi ý: nó không biết chiếc xe máy đó giây sau sẽ lách sang đâu</a:t>
            </a:r>
            <a:endParaRPr lang="en-US" sz="89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提示：它不知道那台機車下一秒要往哪裡鑽</a:t>
            </a:r>
            <a:endParaRPr lang="en-US" sz="890" dirty="0"/>
          </a:p>
        </p:txBody>
      </p:sp>
      <p:sp>
        <p:nvSpPr>
          <p:cNvPr id="18" name="Text 16"/>
          <p:cNvSpPr txBox="1"/>
          <p:nvPr/>
        </p:nvSpPr>
        <p:spPr>
          <a:xfrm>
            <a:off x="1681812" y="2907855"/>
            <a:ext cx="5715427" cy="324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89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ba câu. Tờ giấy này tuần 8 sẽ lấy ra đối chiếu lại.</a:t>
            </a:r>
            <a:endParaRPr lang="en-US" sz="8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2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寫三句話。這張紙第八週會拿出來對照。</a:t>
            </a:r>
            <a:endParaRPr lang="en-US" sz="890" dirty="0"/>
          </a:p>
        </p:txBody>
      </p:sp>
      <p:sp>
        <p:nvSpPr>
          <p:cNvPr id="20" name="Text 17"/>
          <p:cNvSpPr txBox="1"/>
          <p:nvPr/>
        </p:nvSpPr>
        <p:spPr>
          <a:xfrm>
            <a:off x="1402536" y="3390800"/>
            <a:ext cx="584532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11</a:t>
            </a:r>
            <a:endParaRPr lang="en-US" sz="640" dirty="0"/>
          </a:p>
        </p:txBody>
      </p:sp>
      <p:sp>
        <p:nvSpPr>
          <p:cNvPr id="21" name="Text 18"/>
          <p:cNvSpPr txBox="1"/>
          <p:nvPr/>
        </p:nvSpPr>
        <p:spPr>
          <a:xfrm>
            <a:off x="2006553" y="3390800"/>
            <a:ext cx="1428857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64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681812" y="325253"/>
            <a:ext cx="5780375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Thêm · 多一個按鈕（有做完的組別）</a:t>
            </a:r>
            <a:endParaRPr lang="en-US" sz="890" dirty="0"/>
          </a:p>
        </p:txBody>
      </p:sp>
      <p:sp>
        <p:nvSpPr>
          <p:cNvPr id="3" name="Shape 1"/>
          <p:cNvSpPr/>
          <p:nvPr/>
        </p:nvSpPr>
        <p:spPr>
          <a:xfrm>
            <a:off x="1681812" y="809116"/>
            <a:ext cx="1753597" cy="1786071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 flipV="1">
            <a:off x="1791842" y="1664430"/>
            <a:ext cx="326681" cy="188609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 flipV="1">
            <a:off x="1876052" y="1564073"/>
            <a:ext cx="242471" cy="288966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H="1" flipV="1">
            <a:off x="1989507" y="1498569"/>
            <a:ext cx="129016" cy="354469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2118523" y="1475820"/>
            <a:ext cx="0" cy="377218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118523" y="1498569"/>
            <a:ext cx="129016" cy="354469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2118523" y="1564073"/>
            <a:ext cx="242471" cy="288966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2118523" y="1664430"/>
            <a:ext cx="326681" cy="188609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83945" y="1818460"/>
            <a:ext cx="69157" cy="69157"/>
          </a:xfrm>
          <a:prstGeom prst="ellipse">
            <a:avLst/>
          </a:prstGeom>
          <a:solidFill>
            <a:srgbClr val="2E6E4E"/>
          </a:solidFill>
          <a:ln/>
        </p:spPr>
      </p:sp>
      <p:sp>
        <p:nvSpPr>
          <p:cNvPr id="12" name="Shape 10"/>
          <p:cNvSpPr/>
          <p:nvPr/>
        </p:nvSpPr>
        <p:spPr>
          <a:xfrm>
            <a:off x="2747220" y="1450673"/>
            <a:ext cx="502958" cy="502958"/>
          </a:xfrm>
          <a:prstGeom prst="donut">
            <a:avLst/>
          </a:prstGeom>
          <a:solidFill>
            <a:srgbClr val="2E6E4E">
              <a:alpha val="4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3250178" y="1702151"/>
            <a:ext cx="125739" cy="0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16486" y="1827891"/>
            <a:ext cx="108894" cy="62870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124438" y="1919938"/>
            <a:ext cx="62870" cy="108894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998699" y="1953630"/>
            <a:ext cx="0" cy="125739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H="1">
            <a:off x="2810090" y="1919938"/>
            <a:ext cx="62870" cy="108894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H="1">
            <a:off x="2672018" y="1827891"/>
            <a:ext cx="108894" cy="62870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2621481" y="1702151"/>
            <a:ext cx="125739" cy="0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H="1" flipV="1">
            <a:off x="2672018" y="1513542"/>
            <a:ext cx="108894" cy="62870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H="1" flipV="1">
            <a:off x="2810090" y="1375471"/>
            <a:ext cx="62870" cy="108894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 flipV="1">
            <a:off x="2998699" y="1324933"/>
            <a:ext cx="0" cy="125739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124438" y="1375471"/>
            <a:ext cx="62870" cy="108894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3216486" y="1513542"/>
            <a:ext cx="108894" cy="62870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64120" y="1667573"/>
            <a:ext cx="69157" cy="69157"/>
          </a:xfrm>
          <a:prstGeom prst="ellipse">
            <a:avLst/>
          </a:prstGeom>
          <a:solidFill>
            <a:srgbClr val="2E6E4E"/>
          </a:solidFill>
          <a:ln/>
        </p:spPr>
      </p:sp>
      <p:sp>
        <p:nvSpPr>
          <p:cNvPr id="26" name="Shape 24"/>
          <p:cNvSpPr/>
          <p:nvPr/>
        </p:nvSpPr>
        <p:spPr>
          <a:xfrm>
            <a:off x="2495741" y="1654804"/>
            <a:ext cx="125739" cy="94694"/>
          </a:xfrm>
          <a:prstGeom prst="rightArrow">
            <a:avLst/>
          </a:prstGeom>
          <a:solidFill>
            <a:srgbClr val="9AA6B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760150" y="963355"/>
            <a:ext cx="3702038" cy="7142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Nút mới: đổi giữa LiDAR cố định và LiDAR quay 360°</a:t>
            </a:r>
            <a:endParaRPr lang="en-US" sz="16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9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新按鈕：固定式光達 ↔ 360° 旋轉式光達</a:t>
            </a:r>
            <a:endParaRPr lang="en-US" sz="1630" dirty="0"/>
          </a:p>
        </p:txBody>
      </p:sp>
      <p:sp>
        <p:nvSpPr>
          <p:cNvPr id="28" name="Text 26"/>
          <p:cNvSpPr txBox="1"/>
          <p:nvPr/>
        </p:nvSpPr>
        <p:spPr>
          <a:xfrm>
            <a:off x="3760150" y="1742570"/>
            <a:ext cx="3702038" cy="763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Loại cố định chỉ nhìn phía trước, nhưng dữ liệu luôn mới. Loại quay nhìn được vòng quanh, nhưng mỗi hướng chỉ được cập nhật mỗi vòng một lần — lúc bạn nhìn nó, số liệu đó có thể đã cũ.</a:t>
            </a:r>
            <a:endParaRPr lang="en-US" sz="89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8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固定式只看前方，但資料永遠是最新的。旋轉式看得到一圈，但每個方向每轉一圈才更新一次——你看它的時候，那筆資料可能已經是舊的。</a:t>
            </a:r>
            <a:endParaRPr lang="en-US" sz="890" dirty="0"/>
          </a:p>
        </p:txBody>
      </p:sp>
      <p:sp>
        <p:nvSpPr>
          <p:cNvPr id="29" name="Shape 27"/>
          <p:cNvSpPr/>
          <p:nvPr/>
        </p:nvSpPr>
        <p:spPr>
          <a:xfrm>
            <a:off x="1681812" y="2806268"/>
            <a:ext cx="5780375" cy="441647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811708" y="2858226"/>
            <a:ext cx="5520583" cy="3507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89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Nhóm nào xong sớm: thử đổi sang loại quay, xem ba con số của bạn có còn dùng được không.</a:t>
            </a:r>
            <a:endParaRPr lang="en-US" sz="8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2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提早做完的組別：切到旋轉式，看你們那三個數字還管不管用。</a:t>
            </a:r>
            <a:endParaRPr lang="en-US" sz="890" dirty="0"/>
          </a:p>
        </p:txBody>
      </p:sp>
      <p:pic>
        <p:nvPicPr>
          <p:cNvPr id="32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63327" y="3338842"/>
            <a:ext cx="779376" cy="172200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1402536" y="3390800"/>
            <a:ext cx="584532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11</a:t>
            </a:r>
            <a:endParaRPr lang="en-US" sz="640" dirty="0"/>
          </a:p>
        </p:txBody>
      </p:sp>
      <p:sp>
        <p:nvSpPr>
          <p:cNvPr id="34" name="Text 30"/>
          <p:cNvSpPr txBox="1"/>
          <p:nvPr/>
        </p:nvSpPr>
        <p:spPr>
          <a:xfrm>
            <a:off x="2006553" y="3390800"/>
            <a:ext cx="1428857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64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30753" y="-947729"/>
            <a:ext cx="2987610" cy="298761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04973" y="1520297"/>
            <a:ext cx="1688649" cy="1688649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681812" y="364222"/>
            <a:ext cx="4806155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9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bảng · 上台（10 分鐘）</a:t>
            </a:r>
            <a:endParaRPr lang="en-US" sz="890" dirty="0"/>
          </a:p>
        </p:txBody>
      </p:sp>
      <p:sp>
        <p:nvSpPr>
          <p:cNvPr id="5" name="Text 3"/>
          <p:cNvSpPr txBox="1"/>
          <p:nvPr/>
        </p:nvSpPr>
        <p:spPr>
          <a:xfrm>
            <a:off x="1681812" y="585045"/>
            <a:ext cx="5715427" cy="870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nhóm 30 giây: chỉnh ba con số của nhóm cho cả lớp xem, nói một câu vì sao.</a:t>
            </a:r>
            <a:endParaRPr lang="en-US" sz="16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7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每組 30 秒：把你們的三個數字調給全班看，說一句為什麼。</a:t>
            </a:r>
            <a:endParaRPr lang="en-US" sz="1630" dirty="0"/>
          </a:p>
        </p:txBody>
      </p:sp>
      <p:sp>
        <p:nvSpPr>
          <p:cNvPr id="6" name="Shape 4"/>
          <p:cNvSpPr/>
          <p:nvPr/>
        </p:nvSpPr>
        <p:spPr>
          <a:xfrm>
            <a:off x="1681812" y="1362092"/>
            <a:ext cx="5780375" cy="441647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1798719" y="1466008"/>
            <a:ext cx="233813" cy="233813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798719" y="1485493"/>
            <a:ext cx="233813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2149438" y="1394566"/>
            <a:ext cx="5182853" cy="389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Thầy ghi lên bảng: số giây trụ được · số tia · chiều dài · góc quét</a:t>
            </a:r>
            <a:endParaRPr lang="en-US" sz="89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老師在白板上記：撐了幾秒・射線數・長度・張角</a:t>
            </a:r>
            <a:endParaRPr lang="en-US" sz="890" dirty="0"/>
          </a:p>
        </p:txBody>
      </p:sp>
      <p:sp>
        <p:nvSpPr>
          <p:cNvPr id="10" name="Shape 8"/>
          <p:cNvSpPr/>
          <p:nvPr/>
        </p:nvSpPr>
        <p:spPr>
          <a:xfrm>
            <a:off x="1681812" y="1868686"/>
            <a:ext cx="5780375" cy="441647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1798719" y="1972603"/>
            <a:ext cx="233813" cy="233813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798719" y="1992087"/>
            <a:ext cx="233813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2149438" y="1901160"/>
            <a:ext cx="5182853" cy="389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có hai nhóm nào ra giống hệt nhau không. Nhóm trụ lâu nhất dùng ba con số nào?</a:t>
            </a:r>
            <a:endParaRPr lang="en-US" sz="89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看有沒有兩組完全一樣。撐最久的那一組，用的是哪三個數字？</a:t>
            </a:r>
            <a:endParaRPr lang="en-US" sz="890" dirty="0"/>
          </a:p>
        </p:txBody>
      </p:sp>
      <p:sp>
        <p:nvSpPr>
          <p:cNvPr id="14" name="Shape 12"/>
          <p:cNvSpPr/>
          <p:nvPr/>
        </p:nvSpPr>
        <p:spPr>
          <a:xfrm>
            <a:off x="1681812" y="2375281"/>
            <a:ext cx="5780375" cy="441647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1798719" y="2479198"/>
            <a:ext cx="233813" cy="233813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798719" y="2498682"/>
            <a:ext cx="233813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2149438" y="2407755"/>
            <a:ext cx="5182853" cy="389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đáp án chuẩn — nhưng các con số sẽ tụ lại trong một khoảng.</a:t>
            </a:r>
            <a:endParaRPr lang="en-US" sz="89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沒有標準答案——但各組的數字會集中在某個範圍。</a:t>
            </a:r>
            <a:endParaRPr lang="en-US" sz="890" dirty="0"/>
          </a:p>
        </p:txBody>
      </p:sp>
      <p:sp>
        <p:nvSpPr>
          <p:cNvPr id="18" name="Text 16"/>
          <p:cNvSpPr txBox="1"/>
          <p:nvPr/>
        </p:nvSpPr>
        <p:spPr>
          <a:xfrm>
            <a:off x="1681812" y="2907855"/>
            <a:ext cx="5715427" cy="324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89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đó = «thông số tối thiểu cho giờ cao điểm Hà Nội». Tuần 5 đối chiếu bảng thật.</a:t>
            </a:r>
            <a:endParaRPr lang="en-US" sz="8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2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那個範圍就是「河內尖峰的最低感測器規格」。第五週拿真規格表來對。</a:t>
            </a:r>
            <a:endParaRPr lang="en-US" sz="890" dirty="0"/>
          </a:p>
        </p:txBody>
      </p:sp>
      <p:sp>
        <p:nvSpPr>
          <p:cNvPr id="20" name="Text 17"/>
          <p:cNvSpPr txBox="1"/>
          <p:nvPr/>
        </p:nvSpPr>
        <p:spPr>
          <a:xfrm>
            <a:off x="1402536" y="3390800"/>
            <a:ext cx="584532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11</a:t>
            </a:r>
            <a:endParaRPr lang="en-US" sz="640" dirty="0"/>
          </a:p>
        </p:txBody>
      </p:sp>
      <p:sp>
        <p:nvSpPr>
          <p:cNvPr id="21" name="Text 18"/>
          <p:cNvSpPr txBox="1"/>
          <p:nvPr/>
        </p:nvSpPr>
        <p:spPr>
          <a:xfrm>
            <a:off x="2006553" y="3390800"/>
            <a:ext cx="1428857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64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30753" y="-947729"/>
            <a:ext cx="2987610" cy="298761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04973" y="1520297"/>
            <a:ext cx="1688649" cy="1688649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681812" y="364222"/>
            <a:ext cx="4806155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9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Hoạt động · 這句話對不對（每題 1 分鐘）</a:t>
            </a:r>
            <a:endParaRPr lang="en-US" sz="890" dirty="0"/>
          </a:p>
        </p:txBody>
      </p:sp>
      <p:sp>
        <p:nvSpPr>
          <p:cNvPr id="5" name="Text 3"/>
          <p:cNvSpPr txBox="1"/>
          <p:nvPr/>
        </p:nvSpPr>
        <p:spPr>
          <a:xfrm>
            <a:off x="1681812" y="585045"/>
            <a:ext cx="5715427" cy="870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dưới đây. Đúng hay sai, và nói một câu lý do.</a:t>
            </a:r>
            <a:endParaRPr lang="en-US" sz="16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7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下面四句話。對或錯，再說一句理由。</a:t>
            </a:r>
            <a:endParaRPr lang="en-US" sz="1630" dirty="0"/>
          </a:p>
        </p:txBody>
      </p:sp>
      <p:sp>
        <p:nvSpPr>
          <p:cNvPr id="6" name="Shape 4"/>
          <p:cNvSpPr/>
          <p:nvPr/>
        </p:nvSpPr>
        <p:spPr>
          <a:xfrm>
            <a:off x="1681812" y="1362092"/>
            <a:ext cx="5780375" cy="441647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1798719" y="1466008"/>
            <a:ext cx="233813" cy="233813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798719" y="1485493"/>
            <a:ext cx="233813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2149438" y="1394566"/>
            <a:ext cx="5182853" cy="389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Xe tự lái chạy đủ nhiều km thì chứng minh được nó an toàn.</a:t>
            </a:r>
            <a:endParaRPr lang="en-US" sz="89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自駕車跑得夠多公里，就能證明它安全。</a:t>
            </a:r>
            <a:endParaRPr lang="en-US" sz="890" dirty="0"/>
          </a:p>
        </p:txBody>
      </p:sp>
      <p:sp>
        <p:nvSpPr>
          <p:cNvPr id="10" name="Shape 8"/>
          <p:cNvSpPr/>
          <p:nvPr/>
        </p:nvSpPr>
        <p:spPr>
          <a:xfrm>
            <a:off x="1681812" y="1868686"/>
            <a:ext cx="5780375" cy="441647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1798719" y="1972603"/>
            <a:ext cx="233813" cy="233813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798719" y="1992087"/>
            <a:ext cx="233813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2149438" y="1901160"/>
            <a:ext cx="5182853" cy="389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Trong mô phỏng không đâm thì xe thật cũng sẽ không đâm.</a:t>
            </a:r>
            <a:endParaRPr lang="en-US" sz="89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在模擬器裡不撞，真車就不會撞。</a:t>
            </a:r>
            <a:endParaRPr lang="en-US" sz="890" dirty="0"/>
          </a:p>
        </p:txBody>
      </p:sp>
      <p:sp>
        <p:nvSpPr>
          <p:cNvPr id="14" name="Shape 12"/>
          <p:cNvSpPr/>
          <p:nvPr/>
        </p:nvSpPr>
        <p:spPr>
          <a:xfrm>
            <a:off x="1681812" y="2375281"/>
            <a:ext cx="5780375" cy="441647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1798719" y="2479198"/>
            <a:ext cx="233813" cy="233813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798719" y="2498682"/>
            <a:ext cx="233813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2149438" y="2407755"/>
            <a:ext cx="5182853" cy="389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Càng nhiều tia càng tốt, góc quét càng rộng càng tốt.</a:t>
            </a:r>
            <a:endParaRPr lang="en-US" sz="89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射線數愈多愈好，張角愈大愈好。</a:t>
            </a:r>
            <a:endParaRPr lang="en-US" sz="890" dirty="0"/>
          </a:p>
        </p:txBody>
      </p:sp>
      <p:sp>
        <p:nvSpPr>
          <p:cNvPr id="18" name="Text 16"/>
          <p:cNvSpPr txBox="1"/>
          <p:nvPr/>
        </p:nvSpPr>
        <p:spPr>
          <a:xfrm>
            <a:off x="1681812" y="2907855"/>
            <a:ext cx="5715427" cy="324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89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Mô phỏng có sẵn là test được đường Việt Nam? Thế giới trong đó là của ai?</a:t>
            </a:r>
            <a:endParaRPr lang="en-US" sz="8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2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現成模擬器就能測越南的路況？裡面的世界是照誰做的？</a:t>
            </a:r>
            <a:endParaRPr lang="en-US" sz="890" dirty="0"/>
          </a:p>
        </p:txBody>
      </p:sp>
      <p:sp>
        <p:nvSpPr>
          <p:cNvPr id="20" name="Text 17"/>
          <p:cNvSpPr txBox="1"/>
          <p:nvPr/>
        </p:nvSpPr>
        <p:spPr>
          <a:xfrm>
            <a:off x="1402536" y="3390800"/>
            <a:ext cx="584532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11</a:t>
            </a:r>
            <a:endParaRPr lang="en-US" sz="640" dirty="0"/>
          </a:p>
        </p:txBody>
      </p:sp>
      <p:sp>
        <p:nvSpPr>
          <p:cNvPr id="21" name="Text 18"/>
          <p:cNvSpPr txBox="1"/>
          <p:nvPr/>
        </p:nvSpPr>
        <p:spPr>
          <a:xfrm>
            <a:off x="2006553" y="3390800"/>
            <a:ext cx="1428857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64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30753" y="-947729"/>
            <a:ext cx="2987610" cy="298761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04973" y="1520297"/>
            <a:ext cx="1688649" cy="1688649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681812" y="364222"/>
            <a:ext cx="4806155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9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· 答案：四句都錯</a:t>
            </a:r>
            <a:endParaRPr lang="en-US" sz="890" dirty="0"/>
          </a:p>
        </p:txBody>
      </p:sp>
      <p:sp>
        <p:nvSpPr>
          <p:cNvPr id="5" name="Text 3"/>
          <p:cNvSpPr txBox="1"/>
          <p:nvPr/>
        </p:nvSpPr>
        <p:spPr>
          <a:xfrm>
            <a:off x="1681812" y="611024"/>
            <a:ext cx="5715427" cy="7533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đều sai — và mỗi câu sai một kiểu</a:t>
            </a:r>
            <a:endParaRPr lang="en-US" sz="178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7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四句都錯——而且每一句錯的方式不一樣</a:t>
            </a:r>
            <a:endParaRPr lang="en-US" sz="1780" dirty="0"/>
          </a:p>
        </p:txBody>
      </p:sp>
      <p:sp>
        <p:nvSpPr>
          <p:cNvPr id="6" name="Shape 4"/>
          <p:cNvSpPr/>
          <p:nvPr/>
        </p:nvSpPr>
        <p:spPr>
          <a:xfrm>
            <a:off x="1681812" y="1429370"/>
            <a:ext cx="32474" cy="363709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837688" y="1403390"/>
            <a:ext cx="5585531" cy="4416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Cần 11 tỉ dặm, mà phần lớn là đường thẳng buồn tẻ. Đơn vị đúng là kịch bản.</a:t>
            </a:r>
            <a:endParaRPr lang="en-US" sz="9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要一百一十億英里，而且大多是無聊的直路。正確的單位是場景。</a:t>
            </a:r>
            <a:endParaRPr lang="en-US" sz="960" dirty="0"/>
          </a:p>
        </p:txBody>
      </p:sp>
      <p:sp>
        <p:nvSpPr>
          <p:cNvPr id="8" name="Shape 6"/>
          <p:cNvSpPr/>
          <p:nvPr/>
        </p:nvSpPr>
        <p:spPr>
          <a:xfrm>
            <a:off x="1681812" y="1935964"/>
            <a:ext cx="32474" cy="477815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837688" y="1909985"/>
            <a:ext cx="5585531" cy="555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Ba khoảng cách: hình ảnh, hành vi, vật lý. Mô phỏng là cái sàng — qua được chỉ là lấy vé lên xe thật.</a:t>
            </a:r>
            <a:endParaRPr lang="en-US" sz="9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三種落差：外觀、行為、物理。模擬是一個篩子——通過只是拿到上真車的門票。</a:t>
            </a:r>
            <a:endParaRPr lang="en-US" sz="960" dirty="0"/>
          </a:p>
        </p:txBody>
      </p:sp>
      <p:sp>
        <p:nvSpPr>
          <p:cNvPr id="10" name="Shape 8"/>
          <p:cNvSpPr/>
          <p:nvPr/>
        </p:nvSpPr>
        <p:spPr>
          <a:xfrm>
            <a:off x="1681812" y="2556665"/>
            <a:ext cx="32474" cy="477815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837688" y="2530685"/>
            <a:ext cx="5585531" cy="555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Góc rộng thì cùng số tia đó thưa đi; tia nhiều thì máy tính chậm lại. Xe thật là mấy cảm biến chia việc.</a:t>
            </a:r>
            <a:endParaRPr lang="en-US" sz="9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張角大，同樣的射線就變稀；射線多，電腦算得慢。真車是好幾顆感測器分工。</a:t>
            </a:r>
            <a:endParaRPr lang="en-US" sz="960" dirty="0"/>
          </a:p>
        </p:txBody>
      </p:sp>
      <p:sp>
        <p:nvSpPr>
          <p:cNvPr id="13" name="Text 10"/>
          <p:cNvSpPr txBox="1"/>
          <p:nvPr/>
        </p:nvSpPr>
        <p:spPr>
          <a:xfrm>
            <a:off x="1402536" y="3390800"/>
            <a:ext cx="584532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11</a:t>
            </a:r>
            <a:endParaRPr lang="en-US" sz="640" dirty="0"/>
          </a:p>
        </p:txBody>
      </p:sp>
      <p:sp>
        <p:nvSpPr>
          <p:cNvPr id="14" name="Text 11"/>
          <p:cNvSpPr txBox="1"/>
          <p:nvPr/>
        </p:nvSpPr>
        <p:spPr>
          <a:xfrm>
            <a:off x="2006553" y="3390800"/>
            <a:ext cx="1428857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64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30753" y="-947729"/>
            <a:ext cx="2987610" cy="298761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04973" y="1520297"/>
            <a:ext cx="1688649" cy="1688649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681812" y="364222"/>
            <a:ext cx="4806155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9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 · 下週預告</a:t>
            </a:r>
            <a:endParaRPr lang="en-US" sz="890" dirty="0"/>
          </a:p>
        </p:txBody>
      </p:sp>
      <p:sp>
        <p:nvSpPr>
          <p:cNvPr id="5" name="Text 3"/>
          <p:cNvSpPr txBox="1"/>
          <p:nvPr/>
        </p:nvSpPr>
        <p:spPr>
          <a:xfrm>
            <a:off x="1681812" y="611024"/>
            <a:ext cx="5715427" cy="7533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5, 8/10: vào chương 3, cảm biến</a:t>
            </a:r>
            <a:endParaRPr lang="en-US" sz="178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7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5 週，10 月 8 日：進第三章，感測器</a:t>
            </a:r>
            <a:endParaRPr lang="en-US" sz="1780" dirty="0"/>
          </a:p>
        </p:txBody>
      </p:sp>
      <p:sp>
        <p:nvSpPr>
          <p:cNvPr id="6" name="Shape 4"/>
          <p:cNvSpPr/>
          <p:nvPr/>
        </p:nvSpPr>
        <p:spPr>
          <a:xfrm>
            <a:off x="1681812" y="1429370"/>
            <a:ext cx="32474" cy="363709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837688" y="1403390"/>
            <a:ext cx="5585531" cy="4416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Nộp: phiếu bài tập tuần 3 và tuần 4, mỗi nhóm một tờ.</a:t>
            </a:r>
            <a:endParaRPr lang="en-US" sz="9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要交：第三週和第四週的任務單，每組一張。</a:t>
            </a:r>
            <a:endParaRPr lang="en-US" sz="960" dirty="0"/>
          </a:p>
        </p:txBody>
      </p:sp>
      <p:sp>
        <p:nvSpPr>
          <p:cNvPr id="8" name="Shape 6"/>
          <p:cNvSpPr/>
          <p:nvPr/>
        </p:nvSpPr>
        <p:spPr>
          <a:xfrm>
            <a:off x="1681812" y="1935964"/>
            <a:ext cx="32474" cy="363709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837688" y="1909985"/>
            <a:ext cx="5585531" cy="4416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Làm: câu trắc nghiệm ở 2.8 trong giáo trình. Đáp án ở phụ lục 2.</a:t>
            </a:r>
            <a:endParaRPr lang="en-US" sz="9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要做：講義 2.8 的選擇題。附錄二有答案。</a:t>
            </a:r>
            <a:endParaRPr lang="en-US" sz="960" dirty="0"/>
          </a:p>
        </p:txBody>
      </p:sp>
      <p:sp>
        <p:nvSpPr>
          <p:cNvPr id="10" name="Shape 8"/>
          <p:cNvSpPr/>
          <p:nvPr/>
        </p:nvSpPr>
        <p:spPr>
          <a:xfrm>
            <a:off x="1681812" y="2442559"/>
            <a:ext cx="32474" cy="363709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837688" y="2416580"/>
            <a:ext cx="5585531" cy="4416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Mang: một ảnh chụp bằng điện thoại — một tình huống bạn nghĩ camera sẽ nhìn không rõ.</a:t>
            </a:r>
            <a:endParaRPr lang="en-US" sz="9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要帶：用手機拍一張你覺得「相機會看不清楚」的路況。</a:t>
            </a:r>
            <a:endParaRPr lang="en-US" sz="960" dirty="0"/>
          </a:p>
        </p:txBody>
      </p:sp>
      <p:sp>
        <p:nvSpPr>
          <p:cNvPr id="13" name="Text 10"/>
          <p:cNvSpPr txBox="1"/>
          <p:nvPr/>
        </p:nvSpPr>
        <p:spPr>
          <a:xfrm>
            <a:off x="1402536" y="3390800"/>
            <a:ext cx="584532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11</a:t>
            </a:r>
            <a:endParaRPr lang="en-US" sz="640" dirty="0"/>
          </a:p>
        </p:txBody>
      </p:sp>
      <p:sp>
        <p:nvSpPr>
          <p:cNvPr id="14" name="Text 11"/>
          <p:cNvSpPr txBox="1"/>
          <p:nvPr/>
        </p:nvSpPr>
        <p:spPr>
          <a:xfrm>
            <a:off x="2006553" y="3390800"/>
            <a:ext cx="1428857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6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2026-09-24T08:11:43Z</dcterms:created>
  <dcterms:modified xsi:type="dcterms:W3CDTF">2026-09-24T08:11:43Z</dcterms:modified>
</cp:coreProperties>
</file>