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第三節，上機。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今天這一節的題目叫「為河內配感測器」。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每個人用自己的手機或筆電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，不分組。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先說清楚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為什麼要做這件事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前兩節我們講了三個規格、三種落差、場景三層。這些都是知識。現在要各位做的，是把這些知識變成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三個數字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而且這三個數字不是我給的，是各位自己掃出來的。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（指封面）三條就是今天的順序：先看它怎麼撞、再調參數、最後加雨天。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作業只有一張截圖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，下一頁講清楚。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三題，照順序做，不要跳。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第一題是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觀察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：什麼都不要改，先看它怎麼撞。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第二題是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掃參數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：這是今天的主菜，時間也花最多——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今天的作業就是這一題的結果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第三題是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加一個變因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：打開雨天，看你的答案還撐不撐得住。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三題做完還有一段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一起想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：把今天的模擬器接回真車。那一段不用交，但它是後面兩章的預告——下週的第三章講感測器，再來的第四章講感知。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時間是這樣分的：先看它怎麼撞五分鐘，接著我示範三分鐘，然後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調參數十三分鐘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、雨天五分鐘、一起想三分鐘，最後我再示範六分鐘。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作業講清楚。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只有一張圖：把三個數字調到撐最久，車子撞的那一刻會跳出一個視窗，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那個視窗第一行就有秒數、種子、你的三個數字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。截那個畫面，傳到課程的 LINE 群，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一個人一張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，下課前傳完就算交了。手機直接截圖；筆電的話 Windows 按 Win＋Shift＋S、Mac 按 Command＋Shift＋4，再用手機開 LINE 傳。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動手之前先確認：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每個人的模擬器都打開了嗎？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沒開的現在打開，網址在封面那一行。開好的請舉手。現在開始。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第一題，五分鐘。從選單選「河內尖峰」，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三個參數一個都不要動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——這一題唯一要改的是種子。
</a:t>
            </a:r>
          </a:p>
          <a:p>
            <a:pPr algn="l" marL="0" indent="0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先講這一題要各位看到什麼：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同一組參數，在不同的路況下，會用不同的方式失敗。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所以只跑一次就說「這組參數不行」，是不夠的。
</a:t>
            </a:r>
          </a:p>
          <a:p>
            <a:pPr algn="l" marL="0" indent="0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這一題有一個埋伏，各位很快就會遇到。先讓各組跑一次，撞了之後按「重新開始」再跑一次。
</a:t>
            </a:r>
          </a:p>
          <a:p>
            <a:pPr algn="l" marL="0" indent="0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（問全班）第二次跟第一次有什麼不一樣？
</a:t>
            </a:r>
          </a:p>
          <a:p>
            <a:pPr algn="l" marL="0" indent="0">
              <a:spcBef>
                <a:spcPts val="0"/>
              </a:spcBef>
              <a:spcAft>
                <a:spcPts val="142"/>
              </a:spcAft>
            </a:pP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答案是：一模一樣。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連撞在哪裡、第幾秒撞、診斷寫什麼，全都一樣。
</a:t>
            </a:r>
          </a:p>
          <a:p>
            <a:pPr algn="l" marL="0" indent="0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這不是壞掉，是故意的。左欄有一個「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固定車流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」，預設就打勾——同一個種子，每次生出一模一樣的那批車。不然各位等一下調完參數，根本分不出「變好」是因為參數，還是因為這次運氣好。
</a:t>
            </a:r>
          </a:p>
          <a:p>
            <a:pPr algn="l" marL="0" indent="0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所以第一題真正要改的不是參數，是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種子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：就在「固定車流」下面那個數字框。填 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跑一次、改成 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再跑一次、改成 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15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再跑一次。三次加起來不到三十秒。
</a:t>
            </a:r>
          </a:p>
          <a:p>
            <a:pPr algn="l" marL="0" indent="0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（老師手上的答案，我實際跑過：種子 3 是七點五秒，診斷「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變道中側撞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」；種子 9 是七點六秒，「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看到太晚：從側面切進來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」；種子 15 是十三秒，「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看到了但來不及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」。三個原因都不一樣。）
</a:t>
            </a:r>
          </a:p>
          <a:p>
            <a:pPr algn="l" marL="0" indent="0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三個種子的原因一樣嗎？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不一樣。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同一組參數，換一個種子就是換一個路況。
</a:t>
            </a:r>
          </a:p>
          <a:p>
            <a:pPr algn="l" marL="0" indent="0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（順帶講一件事，種子 3 的診斷剛好是「變道中側撞」。）這台車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只有在要煞車的時候才會考慮變道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，平常就算前面有東西也是直行。為什麼？因為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變道本身就是風險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，沒必要就不要變——種子 3 撞的就是這個。
</a:t>
            </a:r>
          </a:p>
          <a:p>
            <a:pPr algn="l" marL="0" indent="0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不過各位注意它有多簡單：變道只看「隔壁車道前方有沒有八公尺淨空」，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不會拿來跟現在這條比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，也不看對方的速度。真車的規劃器會把好幾條候選路徑打分數再選一條；這裡只有距離。按 H 可以看完整規則。
</a:t>
            </a:r>
          </a:p>
          <a:p>
            <a:pPr algn="l" marL="0" indent="0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（連回第二節）還記得一個邏輯場景可以展開成三千一百五十七個具體場景嗎？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一個種子，就是其中一個具體場景。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各位現在跑的是三個。
</a:t>
            </a:r>
          </a:p>
          <a:p>
            <a:pPr algn="l" marL="0" indent="0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所以掃參數不是只掃參數的值——同一組參數還要在很多個場景上跑過。跑一個場景就下結論，不夠。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動手之前我先示範一次。各位看投影幕就好，不用跟著做。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（模擬器投影出來，種子填 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，固定車流打勾。）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第一趟，什麼都不改。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按開始⋯⋯撞了，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七點七秒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。白板上記：九條、二十五公尺、一百二十度。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第二趟，只把射線數從九加到二十。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跑⋯⋯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七點七秒。沒變。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（停一下）各位可能以為「撞了就加射線」。加了一倍多，一點用都沒有。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第三趟，射線調回九，只把長度加到四十五公尺。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跑⋯⋯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七點七秒。也沒變。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第四趟，長度調回，只把張角開大到一百八十度。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跑⋯⋯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七點七秒。還是沒變。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三個參數都往「大」的方向調，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一個都沒用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第五趟，張角不開大，反過來——收窄到九十度。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跑⋯⋯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三十點七秒。四倍。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（讓他們反應一下）為什麼？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同樣九條射線，擠進更小的範圍，就變密了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，射線之間的縫隙變小。第一節那支動畫演過這件事。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所以答案是把規格調「小」。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各位手上這三個滑桿，不是愈大愈好。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（最後補一句）那射線數真的沒用嗎？我試過加到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六十條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，兩分鐘都不撞。也有效——但六十條是規格表上最貴的做法。這裡把張角收窄就做到了，一毛錢都不用多花。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請注意我做的方式：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每一趟只動一個，動完就調回來；先看診斷再決定改哪一個。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 marL="0" indent="0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現在換各位做，用你們自己的種子——答案不見得跟我這個一樣。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第二題，十三分鐘，今天的主菜，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也是今天唯一要交的作業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。目標：調三個參數，讓車子在撞車前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撐得最久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 marL="0" indent="0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先連回第二節。第二節說「模擬的用法是掃參數」，那時候掃的是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場景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——距離二十到六十、減速度三到八、車速四十到七十，展開成三千一百五十七個具體場景。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今天反過來：場景我幫各位鎖死，要掃的是規格。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三層現在是這樣：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功能場景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＝「河內尖峰」（選單選好就鎖住）；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邏輯場景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＝那一整組設定，密度七、機車海、違停、行人、晴天、時速四十（選單一次設好）；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具體場景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＝各位填的那個種子。
</a:t>
            </a:r>
          </a:p>
          <a:p>
            <a:pPr algn="l" marL="0" indent="0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所以手上唯一會動的是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射線數、長度、張角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那不是場景，那是車子的規格。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這就是為什麼「固定車流」一定要打勾：場景不鎖死，你分不出秒數變長是規格的功勞還是運氣。（第三題會打開雨天，那一題是故意讓各位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改一次邏輯場景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，看配好的規格還撐不撐得住。）我先講清楚，為什麼這一題是比「撐最久」，而不是「不准撞」。
</a:t>
            </a:r>
          </a:p>
          <a:p>
            <a:pPr algn="l" marL="0" indent="0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操作上，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種子挑一個會早撞的——三、八、九、十二、十四都可以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，這幾個用預設參數大約八秒就撞，各位才有東西可以改。（跑超過兩分鐘都不撞的就換一個。）打勾之後按重新開始，出現的會是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一模一樣的那一批車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，這時候改一個參數，秒數的變化就真的是那個參數造成的——這就是第二節說的「掃參數」在真實工程裡的樣子：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先把場景鎖死，再一次只改一個變數。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真的模擬工程師每天都在做這件事。
</a:t>
            </a:r>
          </a:p>
          <a:p>
            <a:pPr algn="l" marL="0" indent="0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我先告訴各位一件事，免得大家白費力氣：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在河內尖峰這個場景裡，沒有任何一組參數能保證不撞。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這不是模擬器壞了，這正是這個場景要告訴大家的事：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有些環境，用現在這些感測器規格就是搞不定。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這時候工程上的答案不是再加感測器，是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把運行範圍縮小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——降速、避開尖峰時段、或者根本不在這條路上營運。這就是第二週講的 ODD。所以今天的題目是：在搞不定的環境裡，你能把界線推到多遠？
</a:t>
            </a:r>
          </a:p>
          <a:p>
            <a:pPr algn="l" marL="0" indent="0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操作上我要提醒一件事，而且會一直重複講。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一次只改一個參數。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三個一起改，你不會知道是哪一個起了作用——這就是第二節說的「掃參數」，一次掃一維。還有，回頭看第一節那條公式，但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要用今天的車速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：河內尖峰跑的是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時速四十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，煞停距離十三點六公尺，射線至少要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十九公尺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（煞停再加五公尺餘裕，模擬器長度滑桿下面那行就是這樣判的）。如果有組別把長度拉到十六公尺以下還在調射線數，請提醒他們那是白費力氣。十六個種子的中位數：十四公尺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十四點五秒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、十六公尺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二十四點七秒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，十八到三十公尺全部落在二十九到五十八秒這一個雜訊帶裡、看不出差別。門檻大約在十六到十八公尺之間，跟公式算的十九公尺對得上。
</a:t>
            </a:r>
          </a:p>
          <a:p>
            <a:pPr algn="l" marL="0" indent="0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還有一件事，很重要：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調的時候用同一個種子，調好之後一定要換兩個種子驗。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一個種子只是一個路況；在那個路況撐得久，換一個可能就撐不住。驗的時候取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最差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的那一次當成績——規格要撐得住最壞的場景，不是最好的。
</a:t>
            </a:r>
          </a:p>
          <a:p>
            <a:pPr algn="l" marL="0" indent="0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參考數字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，十六個固定種子的中位數，預設是三十七點五秒：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只把射線加到六十條 → 一百二十秒（都不撞）。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只把張角拉到一百八十度 → 十五點九秒。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反而變差。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射線長度四十五和一百二十公尺 → 十六個種子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一秒不差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。這些先不要講給學生聽，等他們自己掃。你心裡有底就好：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射線數幾乎萬能，但它最貴；有些種子收窄張角就夠了。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 marL="0" indent="0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所以今天各位真正要找的不是「哪一組數字最強」，是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哪一個參數還有用、哪一個已經沒用了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。後面那件事我先留著，等揭曉那一頁再講。我會一個一個走過去問：你現在改的是哪一個？為什麼改它？請講得出理由。
</a:t>
            </a:r>
          </a:p>
          <a:p>
            <a:pPr algn="l" marL="0" indent="0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最後三分鐘提醒交作業。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流程是這樣：撐最久的那一趟跑完，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等碰撞視窗跳出來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，那一行就有秒數、種子和三個數字——截圖，傳到課程的 LINE 群。手機直接截；筆電的話 Windows 按 Win＋Shift＋S、Mac 按 Command＋Shift＋4，再用手機把 LINE 打開傳。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一個人一張，以最久的那一張為準。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第三題，五分鐘。三個數字不要動，把雨天打開。這一題有一個陷阱，我要各位自己踩進去。
</a:t>
            </a:r>
          </a:p>
          <a:p>
            <a:pPr algn="l" marL="0" indent="0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先看兩件事，一個是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漏讀次數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變多少，一個是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射線變短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多少。
</a:t>
            </a:r>
          </a:p>
          <a:p>
            <a:pPr algn="l" marL="0" indent="0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然後回答這個問題：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射線變短了，煞停距離有跟著變短嗎？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這題我一定要聽各位自己回答。
</a:t>
            </a:r>
          </a:p>
          <a:p>
            <a:pPr algn="l" marL="0" indent="0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煞停距離只跟車速和路面有關，跟你的感測器一點關係都沒有。我在白板上把兩件事分開寫。
</a:t>
            </a:r>
          </a:p>
          <a:p>
            <a:pPr algn="l" marL="0" indent="0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感測器變差 → 看得比較近
</a:t>
            </a:r>
          </a:p>
          <a:p>
            <a:pPr algn="l" marL="0" indent="0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煞停距離 → 完全沒變
</a:t>
            </a:r>
          </a:p>
          <a:p>
            <a:pPr algn="l" marL="0" indent="0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所以雨天發生的事是：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你看得到的距離縮短了，但你需要的距離沒有縮短。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兩條線交叉了。
</a:t>
            </a:r>
          </a:p>
          <a:p>
            <a:pPr algn="l" marL="0" indent="0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那怎麼辦？兩個答案，都對：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第一，降低車速。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車速降下來，需要的煞停距離也跟著降，兩條線就又分開了。
</a:t>
            </a:r>
          </a:p>
          <a:p>
            <a:pPr algn="l" marL="0" indent="0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第二，把射線長度補回來。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雨天把有效射程砍成零點五五倍：二十五公尺只剩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十三點七五公尺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，而煞停距離是十三點六——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只剩十五公分的餘裕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，兩條線就是在這裡交叉的。把長度拉到四十公尺，有效射程二十二公尺，餘裕八公尺四，交叉點就推開了。
</a:t>
            </a:r>
          </a:p>
          <a:p>
            <a:pPr algn="l" marL="0" indent="0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（這一段只給老師：如果有組別改去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加射線數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，不要直接說他錯，請他量給你看。十六個種子實測，加到二十條、四十條反而略差（中位數十五點二秒 → 十四點一、十三點七），要加到六十條才換到四秒半。射線數治的是漏讀，可是雨天真正殺死你的是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射程崩掉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——它完全不碰那十五公分的餘裕。降速和加長度才碰得到：降到三十公里，十六個種子有十三個撐滿兩分鐘。）
</a:t>
            </a:r>
          </a:p>
          <a:p>
            <a:pPr algn="l" marL="0" indent="0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如果有組別兩個都做了，那也很好，真車就是兩個都做。第三節課的第三題，就是第一節那條公式在真實情境裡的應用。
</a:t>
            </a:r>
          </a:p>
          <a:p>
            <a:pPr algn="l" marL="0" indent="0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再補一句物理。真車在濕路面上減速度只剩一半，煞停距離反而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變長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。我們的模擬器沒有模擬這件事，而這本身就是第一節講的「物理落差」的例子。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停一下，一起想三分鐘。這一段不用交，但它是今天最重要的一段。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問題：模擬器裡的「射線」，在真車上是哪一種感測器？（等一下）答案是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，大部分的人會答對——上週第三週我們整整花了一節課在講它。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更準確一點：是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光達的一層掃描線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。真光達上下分好幾層，一個行人會打到幾十個點；我們這裡只有一層、幾條。所以等一下揭曉那頁講「九條射線追不住那個行人」，那是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這支模擬器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的限制，不是真光達的。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但第二個問題才是重點：它少了哪些能力？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先不要急著聽我講，自己想三十秒。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我給三個方向。第一，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它看不到顏色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——紅燈綠燈，射線分不出來。第二，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它分不出那是人還是一根柱子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，它只知道「前面三十公尺有東西」。第三，最難也最重要：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它不知道那台機車下一秒要往哪裡鑽。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（第三句等一下「揭曉」那一頁會用實測撐起來——先不要在這裡講破。）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前兩個是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感知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的問題，第四章會講；第三個是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預測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，要到第六章。一台真的自駕車，光是「看到」還不夠，它必須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猜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別人接下來要做什麼——而在河內，猜機車的下一步比看到它難得多。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第八週講完感知，我會回來問同一個問題，各位再看自己今天想到了幾個。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這一頁是給提早做完的組別，不是全班都要做。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模擬器上有一個新按鈕，可以把感測器從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固定式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切換成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360 度旋轉式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固定式只看前方，但資料永遠是最新的。旋轉式看得到一整圈，可是每個方向要等它轉一圈才更新一次。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切過去跑同一個情境，看你們那三個數字還管不管用。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最後六分鐘，我把整個過程做一次給各位看。用的是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種子十二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，跟我前面示範那一張同一個。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第一趟，什麼都不改。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九條、二十五公尺、一百二十度。跑⋯⋯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七點七秒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，撞到行人。我不急著加規格，先看診斷——它說「變道中側撞」。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第二趟，收窄張角。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一百二十度收到九十度，射線數和長度都不動。跑⋯⋯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三十點七秒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。四倍。同樣九條射線擠進更小的範圍，就變密了。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第三趟，看新的診斷。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這次撞的是機車，前方來不及。所以我把射線長度從二十五加到三十五公尺。跑⋯⋯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一百一十九點六秒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，差零點四秒就撐滿兩分鐘。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請各位注意一件事：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我從頭到尾沒有加過一條射線。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射線數是規格表上最貴的一欄，我一毛錢都沒多花。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再給各位看一個陷阱。同樣九十度，我把射線數從九加到二十。跑⋯⋯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十四秒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。比三十點七還糟。所以不是加了就會好——加錯地方會把別的東西弄壞。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（做完最後一趟）現在最重要的一步。碰撞視窗跳出來了，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第一行就是各位要交的東西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：秒數、種子、你的三個數字，全都在那一行。我現在截這張圖，打開 LINE，傳到課程群組。就這樣，作業交完了。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還沒傳的同學現在補傳。已經傳的，剩下的時間可以再衝一次——以最好的那一張為準。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揭曉剛剛保留的那件事。先問一句：
</a:t>
            </a:r>
          </a:p>
          <a:p>
            <a:pPr algn="l" marL="0" indent="0">
              <a:spcBef>
                <a:spcPts val="0"/>
              </a:spcBef>
              <a:spcAft>
                <a:spcPts val="17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有沒有哪一組，射線長度愈拉愈長，秒數卻一動也不動？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 marL="0" indent="0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（會有人舉手。）不是調錯，是真的。十六個種子實測：射線四十五和一百二十公尺，秒數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一秒不差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 marL="0" indent="0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為什麼？煞停距離只有十三點六公尺，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二十五公尺就夠了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。超過門檻，車子根本用不到。
</a:t>
            </a:r>
          </a:p>
          <a:p>
            <a:pPr algn="l" marL="0" indent="0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另外兩個看第三張卡。十六個種子，預設三十七點五秒：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射線加到六十條，一百二十秒都不撞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張角拉到一百八十度，十五點九秒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，反而掉下來。
</a:t>
            </a:r>
          </a:p>
          <a:p>
            <a:pPr algn="l" marL="0" indent="0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張角要解釋，不然只看秒數會以為它單純沒用。十六個種子拉到一百八十度：「看到了但來不及」四次降到兩次，可是「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變道中側撞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」三升到五、「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從側面切進來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」四升到五，沒撞的從三個掉到兩個。同樣九條射線攤得更寬就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變稀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，側向的東西反而更晚才看清楚。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失敗模式是被換掉，不是被消除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，而且換來的更致命。
</a:t>
            </a:r>
          </a:p>
          <a:p>
            <a:pPr algn="l" marL="0" indent="0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現在看第四張卡。第一題種子三那個「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變道中側撞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」我回去拆開了：那個行人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就站在車子自己的車道上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，每秒往左一點六公尺；車子往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閃，撞。九條、二十四條、六十條射線各跑一次，那個行人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每次都看得一清二楚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 marL="0" indent="0">
              <a:spcBef>
                <a:spcPts val="0"/>
              </a:spcBef>
              <a:spcAft>
                <a:spcPts val="17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所以問題不在看不看得到。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射線回傳的只是一個點，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沒有速度、沒有身分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——車子不知道這一格的點和上一格的點是同一個人。（示範：拉一下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射線數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滑桿，它底下那行會直接判——九條是紅字「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追不住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」，行人要進到 1.9 公尺以內才追得住，可是決定在 13.6 公尺外就下了；拉到六十條變綠字。）
</a:t>
            </a:r>
          </a:p>
          <a:p>
            <a:pPr algn="l" marL="0" indent="0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請抄兩句。第一句：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規格不是愈大愈好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——三種欄位：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愈多愈好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（射線數）、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只是門檻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（長度）、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要跟別欄一起加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（張角）。第二句：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看得到 ≠ 知道他往哪走。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這一層叫追蹤，有自己的門檻——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六十條買得到，九條買不到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。再上面那層叫預測：他會不會突然停下來，那才是規格表上真的沒有的，第四章、第六章才講。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活動，四人一組，兩分鐘。四句一起想，對或錯，再說一句理由。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四句我先全部唸完，再開始討論，不要一句一句來。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提示我給四個關鍵詞：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一百一十億英里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三種落差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射線會變稀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世界是照誰做的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兩分鐘後我收答案，下一頁公布。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四句都錯。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而且每一句錯的方式不一樣。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錯在單位。要用里程證明，需要一百一十億英里，而且大多是無聊的直路。正確的單位是場景——這是今天第二節整節在講的事。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錯在以為模擬等於現實。三種落差：外觀、行為、物理。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（這裡給一個比喻）模擬是一個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篩子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。通過篩子不代表你安全，只代表你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拿到了上真車測試的門票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。沒通過的連門票都沒有。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錯在「愈多愈好」。張角愈大，同樣的射線數就愈稀；射線愈多，電腦算得愈慢。真車的解法是好幾顆感測器分工，不是一顆全包。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各位今天掃參數的時候已經自己撞上另一半的答案了：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射線長度過了煞停距離那個門檻之後，再加完全沒有用。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四十五公尺和一百二十公尺，十六個種子跑出來一秒都不差。規格不是愈大愈好，是要剛好跨過門檻。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第四句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錯在以為工具是中立的。現成模擬器裡的世界、車輛、行為，都是照歐美做的。沒有機車海、沒有騎樓、沒有河內那種靠眼神的圓環。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這四句話就是今天三節課的總複習。如果各位都答對了，今天的課就沒有白上。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第二章到這裡結束。下週第五週，十月八日，進第三章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感測器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下週第一節有一張投影片，標題就是「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上週那三個滑桿，在規格表的哪一行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」——今天掃出來的數字，下週拿真規格表來對。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三件事。第一，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今天的截圖下課前傳到 LINE 群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；第三週的任務單還沒交的也一起。第二，做講義 2.8 的選擇題。第三件最重要——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用手機拍一張你覺得「相機會看不清楚」的路況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帶來。
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下週我會把各位拍的照片投影出來一起看。下課。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 marL="0" indent="0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0282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73000" y="-1063125"/>
            <a:ext cx="3260250" cy="32602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36125" y="1630125"/>
            <a:ext cx="1842750" cy="18427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026925" y="467775"/>
            <a:ext cx="4890375" cy="21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4</a:t>
            </a:r>
            <a:endParaRPr lang="en-US" sz="970" dirty="0"/>
          </a:p>
        </p:txBody>
      </p:sp>
      <p:sp>
        <p:nvSpPr>
          <p:cNvPr id="5" name="Text 3"/>
          <p:cNvSpPr txBox="1"/>
          <p:nvPr/>
        </p:nvSpPr>
        <p:spPr>
          <a:xfrm>
            <a:off x="1418063" y="864675"/>
            <a:ext cx="5811750" cy="6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này các bạn tự cấu hình một bộ cảm biến (sensor) cho Hà Nội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9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這一節，各位要自己為河內配一組感測器（sensor）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18063" y="1608863"/>
            <a:ext cx="35438" cy="23388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59813" y="1573425"/>
            <a:ext cx="6059813" cy="29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của tiết này: giờ cao điểm Hà Nội, cảm biến tối thiểu phải tốt đến đâu?</a:t>
            </a:r>
            <a:endParaRPr lang="en-US" sz="89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80" dirty="0">
                <a:solidFill>
                  <a:srgbClr val="C8A85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這一節回答：河內尖峰，最低要配多好的感測器？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1418063" y="1920713"/>
            <a:ext cx="35438" cy="2338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9813" y="1885275"/>
            <a:ext cx="6059813" cy="29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Xem nó đâm trước — chưa đổi gì cả, chạy ba seed</a:t>
            </a:r>
            <a:endParaRPr lang="en-US" sz="89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8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先看它怎麼撞——什麼都不要改，跑三個種子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1418063" y="2232563"/>
            <a:ext cx="35438" cy="2338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59813" y="2197125"/>
            <a:ext cx="6059813" cy="29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Chỉnh ba con số cho nó trụ lâu nhất — đây là bài tập hôm nay</a:t>
            </a:r>
            <a:endParaRPr lang="en-US" sz="89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8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調三個參數，讓它撐最久——這就是今天的作業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1418063" y="2544413"/>
            <a:ext cx="35438" cy="2338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59813" y="2508975"/>
            <a:ext cx="6059813" cy="29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Thêm mưa — đáp án của bạn còn trụ được không?</a:t>
            </a:r>
            <a:endParaRPr lang="en-US" sz="89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8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加上雨天——你的答案還撐不撐得住？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1418063" y="3019275"/>
            <a:ext cx="4606875" cy="297675"/>
          </a:xfrm>
          <a:prstGeom prst="roundRect">
            <a:avLst>
              <a:gd name="adj" fmla="val 16667"/>
            </a:avLst>
          </a:prstGeom>
          <a:solidFill>
            <a:srgbClr val="1331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17288" y="3054713"/>
            <a:ext cx="4408425" cy="22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9F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工具｜Công cụ： ch-neural.github.io/MITUST-Principles-of-Self-Driving-Cars/week4/sim/</a:t>
            </a:r>
            <a:endParaRPr lang="en-US" sz="810" dirty="0"/>
          </a:p>
        </p:txBody>
      </p:sp>
      <p:sp>
        <p:nvSpPr>
          <p:cNvPr id="16" name="Text 14"/>
          <p:cNvSpPr txBox="1"/>
          <p:nvPr/>
        </p:nvSpPr>
        <p:spPr>
          <a:xfrm>
            <a:off x="1418063" y="3387825"/>
            <a:ext cx="5386500" cy="21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第四週 第 3 節　2026/10/01（四）11:10–12:00　CH Tseng</a:t>
            </a:r>
            <a:endParaRPr lang="en-US" sz="890" dirty="0"/>
          </a:p>
        </p:txBody>
      </p:sp>
      <p:sp>
        <p:nvSpPr>
          <p:cNvPr id="18" name="Shape 15"/>
          <p:cNvSpPr/>
          <p:nvPr/>
        </p:nvSpPr>
        <p:spPr>
          <a:xfrm>
            <a:off x="1304663" y="240975"/>
            <a:ext cx="1715175" cy="5811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9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063" y="368550"/>
            <a:ext cx="1488375" cy="328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069617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3144" y="-1050715"/>
            <a:ext cx="3222193" cy="3222193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03859" y="1611096"/>
            <a:ext cx="1821239" cy="1821239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54879" y="364248"/>
            <a:ext cx="5183527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Hôm nay làm gì · 今天要做的事</a:t>
            </a:r>
            <a:endParaRPr lang="en-US" sz="960" dirty="0"/>
          </a:p>
        </p:txBody>
      </p:sp>
      <p:sp>
        <p:nvSpPr>
          <p:cNvPr id="5" name="Text 3"/>
          <p:cNvSpPr txBox="1"/>
          <p:nvPr/>
        </p:nvSpPr>
        <p:spPr>
          <a:xfrm>
            <a:off x="1454879" y="602410"/>
            <a:ext cx="6164195" cy="77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người một máy. Bài tập chỉ một thứ: ảnh chụp màn hình lần trụ lâu nhất, gửi vào nhóm LINE.</a:t>
            </a:r>
            <a:endParaRPr lang="en-US" sz="15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每人一台手機或筆電。作業只有一樣：撐最久那一趟的最後畫面，截圖傳到課程 LINE 群。</a:t>
            </a:r>
            <a:endParaRPr lang="en-US" sz="1530" dirty="0"/>
          </a:p>
        </p:txBody>
      </p:sp>
      <p:sp>
        <p:nvSpPr>
          <p:cNvPr id="6" name="Shape 4"/>
          <p:cNvSpPr/>
          <p:nvPr/>
        </p:nvSpPr>
        <p:spPr>
          <a:xfrm>
            <a:off x="1454879" y="1387356"/>
            <a:ext cx="2970021" cy="1708751"/>
          </a:xfrm>
          <a:prstGeom prst="roundRect">
            <a:avLst>
              <a:gd name="adj" fmla="val 4099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pic>
        <p:nvPicPr>
          <p:cNvPr id="7" name="Image 0" descr="/Users/tsengchenghsun/Class/carClass/Claude outputs/第四週(10-1)/src/img/w4/sim_w4_sel_def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960" y="1436389"/>
            <a:ext cx="2769859" cy="12464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02048" y="1724316"/>
            <a:ext cx="2631366" cy="335291"/>
          </a:xfrm>
          <a:prstGeom prst="roundRect">
            <a:avLst>
              <a:gd name="adj" fmla="val 12535"/>
            </a:avLst>
          </a:prstGeom>
          <a:ln w="28575">
            <a:solidFill>
              <a:srgbClr val="D9463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24927" y="2717849"/>
            <a:ext cx="2829926" cy="336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ở đầu cột trái — ba phần đều nằm trong đây</a:t>
            </a:r>
            <a:endParaRPr lang="en-US" sz="8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73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左欄最上面這個選單——三個部分都在裡面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35043" y="1408370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35043" y="1422380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20" dirty="0"/>
          </a:p>
        </p:txBody>
      </p:sp>
      <p:sp>
        <p:nvSpPr>
          <p:cNvPr id="12" name="Text 9"/>
          <p:cNvSpPr txBox="1"/>
          <p:nvPr/>
        </p:nvSpPr>
        <p:spPr>
          <a:xfrm>
            <a:off x="4957262" y="1387356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phút · Nhìn nó đâm — chưa đổi gì cả, chạy 3 seed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 分・先看它怎麼撞——什麼都不要改，跑三個種子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4635043" y="1829343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35043" y="1843353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20" dirty="0"/>
          </a:p>
        </p:txBody>
      </p:sp>
      <p:sp>
        <p:nvSpPr>
          <p:cNvPr id="15" name="Text 12"/>
          <p:cNvSpPr txBox="1"/>
          <p:nvPr/>
        </p:nvSpPr>
        <p:spPr>
          <a:xfrm>
            <a:off x="4957262" y="1808329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phút · Chỉnh ba con số cho trụ lâu nhất　← BÀI TẬP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 分・調三個參數，撐最久　← 這一段就是作業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635043" y="2250316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635043" y="2264326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20" dirty="0"/>
          </a:p>
        </p:txBody>
      </p:sp>
      <p:sp>
        <p:nvSpPr>
          <p:cNvPr id="18" name="Text 15"/>
          <p:cNvSpPr txBox="1"/>
          <p:nvPr/>
        </p:nvSpPr>
        <p:spPr>
          <a:xfrm>
            <a:off x="4957262" y="2229302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phút · Bật mưa — đáp án của bạn còn trụ được không?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 分・打開雨天——你的答案還撐得住嗎？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4635043" y="2671289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635043" y="2685298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20" dirty="0"/>
          </a:p>
        </p:txBody>
      </p:sp>
      <p:sp>
        <p:nvSpPr>
          <p:cNvPr id="21" name="Text 18"/>
          <p:cNvSpPr txBox="1"/>
          <p:nvPr/>
        </p:nvSpPr>
        <p:spPr>
          <a:xfrm>
            <a:off x="4957262" y="2650275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phút · Cùng nghĩ: «tia» là cảm biến nào? (không nộp)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 分・一起想：「射線」是哪一種感測器？（不用交）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1454879" y="3166154"/>
            <a:ext cx="6234242" cy="434296"/>
          </a:xfrm>
          <a:prstGeom prst="roundRect">
            <a:avLst>
              <a:gd name="adj" fmla="val 12903"/>
            </a:avLst>
          </a:prstGeom>
          <a:solidFill>
            <a:srgbClr val="13314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580965" y="3201178"/>
            <a:ext cx="5982071" cy="378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88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Nộp một ảnh: màn hình va chạm của lần trụ lâu nhất — trên đó có số giây · seed · ba con số.</a:t>
            </a:r>
            <a:endParaRPr lang="en-US" sz="88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只交一張截圖：撐最久那一趟的碰撞畫面——上面有秒數・種子・三個數字。</a:t>
            </a:r>
            <a:endParaRPr lang="en-US" sz="880" dirty="0"/>
          </a:p>
        </p:txBody>
      </p:sp>
      <p:sp>
        <p:nvSpPr>
          <p:cNvPr id="25" name="Text 21"/>
          <p:cNvSpPr txBox="1"/>
          <p:nvPr/>
        </p:nvSpPr>
        <p:spPr>
          <a:xfrm>
            <a:off x="1153674" y="98067"/>
            <a:ext cx="630429" cy="19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690" dirty="0"/>
          </a:p>
        </p:txBody>
      </p:sp>
      <p:sp>
        <p:nvSpPr>
          <p:cNvPr id="26" name="Text 22"/>
          <p:cNvSpPr txBox="1"/>
          <p:nvPr/>
        </p:nvSpPr>
        <p:spPr>
          <a:xfrm>
            <a:off x="1805117" y="98067"/>
            <a:ext cx="1541049" cy="19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6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069617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3144" y="-1050715"/>
            <a:ext cx="3222193" cy="3222193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03859" y="1611096"/>
            <a:ext cx="1821239" cy="1821239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54879" y="364248"/>
            <a:ext cx="5183527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1 · 第一題（5 分鐘）</a:t>
            </a:r>
            <a:endParaRPr lang="en-US" sz="960" dirty="0"/>
          </a:p>
        </p:txBody>
      </p:sp>
      <p:sp>
        <p:nvSpPr>
          <p:cNvPr id="5" name="Text 3"/>
          <p:cNvSpPr txBox="1"/>
          <p:nvPr/>
        </p:nvSpPr>
        <p:spPr>
          <a:xfrm>
            <a:off x="1454879" y="602410"/>
            <a:ext cx="6164195" cy="77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«Hà Nội giờ cao điểm». Không đổi tham số — câu này chỉ đổi seed.</a:t>
            </a:r>
            <a:endParaRPr lang="en-US" sz="15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選「河內尖峰」。三個參數一個都不要動——這一題只改種子。</a:t>
            </a:r>
            <a:endParaRPr lang="en-US" sz="1530" dirty="0"/>
          </a:p>
        </p:txBody>
      </p:sp>
      <p:sp>
        <p:nvSpPr>
          <p:cNvPr id="6" name="Shape 4"/>
          <p:cNvSpPr/>
          <p:nvPr/>
        </p:nvSpPr>
        <p:spPr>
          <a:xfrm>
            <a:off x="1454879" y="1387356"/>
            <a:ext cx="2970021" cy="1515364"/>
          </a:xfrm>
          <a:prstGeom prst="roundRect">
            <a:avLst>
              <a:gd name="adj" fmla="val 462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pic>
        <p:nvPicPr>
          <p:cNvPr id="7" name="Image 0" descr="/Users/tsengchenghsun/Class/carClass/Claude outputs/第四週(10-1)/src/img/w4/sim_w4_sel_hano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912" y="1436389"/>
            <a:ext cx="2871954" cy="10530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52736" y="1735455"/>
            <a:ext cx="2728357" cy="347507"/>
          </a:xfrm>
          <a:prstGeom prst="roundRect">
            <a:avLst>
              <a:gd name="adj" fmla="val 12094"/>
            </a:avLst>
          </a:prstGeom>
          <a:ln w="28575">
            <a:solidFill>
              <a:srgbClr val="D9463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24927" y="2524463"/>
            <a:ext cx="2829926" cy="336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chọn mục này; tham số giữ nguyên</a:t>
            </a:r>
            <a:endParaRPr lang="en-US" sz="8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73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只選這一項；三個參數保持原樣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35043" y="1408370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35043" y="1422380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20" dirty="0"/>
          </a:p>
        </p:txBody>
      </p:sp>
      <p:sp>
        <p:nvSpPr>
          <p:cNvPr id="12" name="Text 9"/>
          <p:cNvSpPr txBox="1"/>
          <p:nvPr/>
        </p:nvSpPr>
        <p:spPr>
          <a:xfrm>
            <a:off x="4957262" y="1387356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ba lần, mỗi lần đổi «Seed» thành 3, rồi 9, rồi 15 (ô số dưới «Cố định dòng xe»).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跑三次，每次把「種子」改成 3、9、15（在「固定車流」下面那個數字框）。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4635043" y="1943725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35043" y="1957735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20" dirty="0"/>
          </a:p>
        </p:txBody>
      </p:sp>
      <p:sp>
        <p:nvSpPr>
          <p:cNvPr id="15" name="Text 12"/>
          <p:cNvSpPr txBox="1"/>
          <p:nvPr/>
        </p:nvSpPr>
        <p:spPr>
          <a:xfrm>
            <a:off x="4957262" y="1922711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lần đâm xong đọc dòng cuối cột sự kiện, chép chẩn đoán vào phiếu (câu 1).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每次撞了，碰撞視窗上就會寫診斷——把三次的診斷記在心裡。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635043" y="2479081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635043" y="2493091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20" dirty="0"/>
          </a:p>
        </p:txBody>
      </p:sp>
      <p:sp>
        <p:nvSpPr>
          <p:cNvPr id="18" name="Text 15"/>
          <p:cNvSpPr txBox="1"/>
          <p:nvPr/>
        </p:nvSpPr>
        <p:spPr>
          <a:xfrm>
            <a:off x="4957262" y="2458067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seed có giống nhau không? Đây mới là câu hỏi thật.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三個種子的原因一樣嗎？這才是真正要問的。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1454879" y="3166154"/>
            <a:ext cx="6234242" cy="434296"/>
          </a:xfrm>
          <a:prstGeom prst="roundRect">
            <a:avLst>
              <a:gd name="adj" fmla="val 12903"/>
            </a:avLst>
          </a:prstGeom>
          <a:solidFill>
            <a:srgbClr val="13314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80965" y="3201178"/>
            <a:ext cx="5982071" cy="378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88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tiêu: thấy cùng một bộ tham số hỏng theo ba kiểu khác nhau. Một seed = một kịch bản cụ thể.</a:t>
            </a:r>
            <a:endParaRPr lang="en-US" sz="88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這一題的目的：看見同一組參數會用三種不同的方式失敗。一個種子，就是一個具體場景。</a:t>
            </a:r>
            <a:endParaRPr lang="en-US" sz="880" dirty="0"/>
          </a:p>
        </p:txBody>
      </p:sp>
      <p:sp>
        <p:nvSpPr>
          <p:cNvPr id="22" name="Text 18"/>
          <p:cNvSpPr txBox="1"/>
          <p:nvPr/>
        </p:nvSpPr>
        <p:spPr>
          <a:xfrm>
            <a:off x="1153674" y="98067"/>
            <a:ext cx="630429" cy="19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690" dirty="0"/>
          </a:p>
        </p:txBody>
      </p:sp>
      <p:sp>
        <p:nvSpPr>
          <p:cNvPr id="23" name="Text 19"/>
          <p:cNvSpPr txBox="1"/>
          <p:nvPr/>
        </p:nvSpPr>
        <p:spPr>
          <a:xfrm>
            <a:off x="1805117" y="98067"/>
            <a:ext cx="1541049" cy="19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6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1068689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54054" y="224212"/>
            <a:ext cx="6235893" cy="64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69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Thầy làm mẫu: mỗi lần chỉ đổi MỘT tham số</a:t>
            </a:r>
            <a:endParaRPr lang="en-US" sz="169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我先示範一次：一次只改一個參數</a:t>
            </a:r>
            <a:endParaRPr lang="en-US" sz="1690" dirty="0"/>
          </a:p>
        </p:txBody>
      </p:sp>
      <p:sp>
        <p:nvSpPr>
          <p:cNvPr id="3" name="Shape 1"/>
          <p:cNvSpPr/>
          <p:nvPr/>
        </p:nvSpPr>
        <p:spPr>
          <a:xfrm>
            <a:off x="1454054" y="868821"/>
            <a:ext cx="6235893" cy="546516"/>
          </a:xfrm>
          <a:prstGeom prst="roundRect">
            <a:avLst>
              <a:gd name="adj" fmla="val 10256"/>
            </a:avLst>
          </a:prstGeom>
          <a:solidFill>
            <a:srgbClr val="EAF6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566160" y="924874"/>
            <a:ext cx="6011681" cy="43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12. Đổi một tham số → chạy → ghi giây → chỉnh về cũ → đổi cái tiếp theo.</a:t>
            </a:r>
            <a:endParaRPr lang="en-US" sz="8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7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種子 12。改一個參數 → 跑 → 記秒數 → 調回原值 → 換下一個。</a:t>
            </a:r>
            <a:endParaRPr lang="en-US" sz="88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54054" y="1499417"/>
          <a:ext cx="6235893" cy="700662"/>
        </p:xfrm>
        <a:graphic>
          <a:graphicData uri="http://schemas.openxmlformats.org/drawingml/2006/table">
            <a:tbl>
              <a:tblPr/>
              <a:tblGrid>
                <a:gridCol w="1926821"/>
                <a:gridCol w="560530"/>
                <a:gridCol w="560530"/>
                <a:gridCol w="560530"/>
                <a:gridCol w="2837682"/>
              </a:tblGrid>
              <a:tr h="1681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Lượt này đổi gì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這一趟改什麼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Tia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射線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Dài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長度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Góc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張角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1681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① Chuẩn — không đổi gì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① 基準：什麼都不改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 giây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7.7 秒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1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② Chỉ thêm tia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② 只加射線數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 giây — không đổi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7.7 秒——沒變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1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③ Chỉ kéo dài tia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③ 只加射線長度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45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 giây — không đổi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7.7 秒——沒變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1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④ Chỉ MỞ RỘNG góc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④ 只把張角「開大」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180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 giây — vẫn không đổi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7.7 秒——還是沒變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1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⑤ Chỉ THU HẸP góc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⑤ 只把張角「收窄」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90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30,7 giây — gấp 4 lần!</a:t>
                      </a:r>
                      <a:endParaRPr lang="en-US" sz="920" dirty="0"/>
                    </a:p>
                    <a:p>
                      <a:pPr algn="l" indent="0" marL="0">
                        <a:buNone/>
                      </a:pPr>
                      <a:r>
                        <a:rPr lang="en-US" sz="5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30.7 秒——四倍！</a:t>
                      </a:r>
                      <a:endParaRPr lang="en-US" sz="92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454054" y="3250119"/>
            <a:ext cx="6235893" cy="35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2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hẹp góc = 9 tia dồn vào phạm vi hẹp hơn = dày hơn, khe nhỏ lại. Không phải cứ to là tốt.</a:t>
            </a:r>
            <a:endParaRPr lang="en-US" sz="92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4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收窄張角 ＝ 同樣 9 條射線擠進更小的範圍 ＝ 變密、縫隙變小。不是愈大愈好。</a:t>
            </a:r>
            <a:endParaRPr lang="en-US" sz="920" dirty="0"/>
          </a:p>
        </p:txBody>
      </p:sp>
      <p:pic>
        <p:nvPicPr>
          <p:cNvPr id="8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397" y="84079"/>
            <a:ext cx="840795" cy="18577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52769" y="98093"/>
            <a:ext cx="630596" cy="19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690" dirty="0"/>
          </a:p>
        </p:txBody>
      </p:sp>
      <p:sp>
        <p:nvSpPr>
          <p:cNvPr id="10" name="Text 5"/>
          <p:cNvSpPr txBox="1"/>
          <p:nvPr/>
        </p:nvSpPr>
        <p:spPr>
          <a:xfrm>
            <a:off x="1804385" y="98093"/>
            <a:ext cx="1541457" cy="19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6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069617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3144" y="-1050715"/>
            <a:ext cx="3222193" cy="3222193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03859" y="1611096"/>
            <a:ext cx="1821239" cy="1821239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54879" y="364248"/>
            <a:ext cx="5183527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2 · 第二題＝作業（13 分鐘，今天的主菜）</a:t>
            </a:r>
            <a:endParaRPr lang="en-US" sz="960" dirty="0"/>
          </a:p>
        </p:txBody>
      </p:sp>
      <p:sp>
        <p:nvSpPr>
          <p:cNvPr id="5" name="Text 3"/>
          <p:cNvSpPr txBox="1"/>
          <p:nvPr/>
        </p:nvSpPr>
        <p:spPr>
          <a:xfrm>
            <a:off x="1454879" y="602410"/>
            <a:ext cx="6164195" cy="77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đã khoá — hôm nay chỉnh THÔNG SỐ: ba con số, cho xe trụ LÂU NHẤT.</a:t>
            </a:r>
            <a:endParaRPr lang="en-US" sz="15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場景已經鎖住——今天調的是規格：三個參數，讓車子撐得最久。</a:t>
            </a:r>
            <a:endParaRPr lang="en-US" sz="1530" dirty="0"/>
          </a:p>
        </p:txBody>
      </p:sp>
      <p:sp>
        <p:nvSpPr>
          <p:cNvPr id="6" name="Shape 4"/>
          <p:cNvSpPr/>
          <p:nvPr/>
        </p:nvSpPr>
        <p:spPr>
          <a:xfrm>
            <a:off x="1454879" y="1387356"/>
            <a:ext cx="2970021" cy="1530397"/>
          </a:xfrm>
          <a:prstGeom prst="roundRect">
            <a:avLst>
              <a:gd name="adj" fmla="val 4577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pic>
        <p:nvPicPr>
          <p:cNvPr id="7" name="Image 0" descr="/Users/tsengchenghsun/Class/carClass/Claude outputs/第四週(10-1)/src/img/w4/sim_w4l3q2_s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912" y="1436389"/>
            <a:ext cx="2871954" cy="106808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75711" y="1519700"/>
            <a:ext cx="2705381" cy="367420"/>
          </a:xfrm>
          <a:prstGeom prst="roundRect">
            <a:avLst>
              <a:gd name="adj" fmla="val 11439"/>
            </a:avLst>
          </a:prstGeom>
          <a:ln w="28575">
            <a:solidFill>
              <a:srgbClr val="D9463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75711" y="1935183"/>
            <a:ext cx="807019" cy="555403"/>
          </a:xfrm>
          <a:prstGeom prst="roundRect">
            <a:avLst>
              <a:gd name="adj" fmla="val 7567"/>
            </a:avLst>
          </a:prstGeom>
          <a:ln w="28575">
            <a:solidFill>
              <a:srgbClr val="D9463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24927" y="2539495"/>
            <a:ext cx="2829926" cy="336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hai việc này TRƯỚC khi chỉnh tham số</a:t>
            </a:r>
            <a:endParaRPr lang="en-US" sz="8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73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調參數之前，先做這兩件事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35043" y="1408370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35043" y="1422380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20" dirty="0"/>
          </a:p>
        </p:txBody>
      </p:sp>
      <p:sp>
        <p:nvSpPr>
          <p:cNvPr id="13" name="Text 10"/>
          <p:cNvSpPr txBox="1"/>
          <p:nvPr/>
        </p:nvSpPr>
        <p:spPr>
          <a:xfrm>
            <a:off x="4957262" y="1387356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Khoá kịch bản: «Hà Nội giờ cao điểm» + «Cố định dòng xe»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鎖場景：「河內尖峰」＋「固定車流」打勾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635043" y="1829343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35043" y="1843353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20" dirty="0"/>
          </a:p>
        </p:txBody>
      </p:sp>
      <p:sp>
        <p:nvSpPr>
          <p:cNvPr id="16" name="Text 13"/>
          <p:cNvSpPr txBox="1"/>
          <p:nvPr/>
        </p:nvSpPr>
        <p:spPr>
          <a:xfrm>
            <a:off x="4957262" y="1808329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3/8/9/12/14 → «Bắt đầu lại», vẫn đàn xe đó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種子填 3／8／9／12／14 →「重新開始」，還是同一批車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4635043" y="2179582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35043" y="2193591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20" dirty="0"/>
          </a:p>
        </p:txBody>
      </p:sp>
      <p:sp>
        <p:nvSpPr>
          <p:cNvPr id="19" name="Text 16"/>
          <p:cNvSpPr txBox="1"/>
          <p:nvPr/>
        </p:nvSpPr>
        <p:spPr>
          <a:xfrm>
            <a:off x="4957262" y="2158567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lần chỉ đổi MỘT tham số, ghi lại số giây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一次只改一個參數，把秒數記下來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4635043" y="2529820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635043" y="2543830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20" dirty="0"/>
          </a:p>
        </p:txBody>
      </p:sp>
      <p:sp>
        <p:nvSpPr>
          <p:cNvPr id="22" name="Text 19"/>
          <p:cNvSpPr txBox="1"/>
          <p:nvPr/>
        </p:nvSpPr>
        <p:spPr>
          <a:xfrm>
            <a:off x="4957262" y="2508806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 xong đổi 2 seed khác kiểm lại, lấy lần TỆ NHẤT. Tia ≥ 19 m.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調好換兩個種子驗，取最差那一次。射線長度不短於 19 公尺。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1454879" y="3166154"/>
            <a:ext cx="6234242" cy="434296"/>
          </a:xfrm>
          <a:prstGeom prst="roundRect">
            <a:avLst>
              <a:gd name="adj" fmla="val 12903"/>
            </a:avLst>
          </a:prstGeom>
          <a:solidFill>
            <a:srgbClr val="13314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580965" y="3201178"/>
            <a:ext cx="5982071" cy="378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88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Lần trụ lâu nhất: đợi cửa sổ va chạm hiện ra rồi chụp màn hình, gửi vào nhóm LINE. Mỗi người một ảnh.</a:t>
            </a:r>
            <a:endParaRPr lang="en-US" sz="88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撐最久那一趟：等碰撞視窗跳出來再截圖，傳到課程 LINE 群。一個人一張。</a:t>
            </a:r>
            <a:endParaRPr lang="en-US" sz="880" dirty="0"/>
          </a:p>
        </p:txBody>
      </p:sp>
      <p:sp>
        <p:nvSpPr>
          <p:cNvPr id="26" name="Text 22"/>
          <p:cNvSpPr txBox="1"/>
          <p:nvPr/>
        </p:nvSpPr>
        <p:spPr>
          <a:xfrm>
            <a:off x="1153674" y="98067"/>
            <a:ext cx="630429" cy="19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690" dirty="0"/>
          </a:p>
        </p:txBody>
      </p:sp>
      <p:sp>
        <p:nvSpPr>
          <p:cNvPr id="27" name="Text 23"/>
          <p:cNvSpPr txBox="1"/>
          <p:nvPr/>
        </p:nvSpPr>
        <p:spPr>
          <a:xfrm>
            <a:off x="1805117" y="98067"/>
            <a:ext cx="1541049" cy="19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6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069617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3144" y="-1050715"/>
            <a:ext cx="3222193" cy="3222193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03859" y="1611096"/>
            <a:ext cx="1821239" cy="1821239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54879" y="364248"/>
            <a:ext cx="5183527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3 · 第三題（5 分鐘）</a:t>
            </a:r>
            <a:endParaRPr lang="en-US" sz="960" dirty="0"/>
          </a:p>
        </p:txBody>
      </p:sp>
      <p:sp>
        <p:nvSpPr>
          <p:cNvPr id="5" name="Text 3"/>
          <p:cNvSpPr txBox="1"/>
          <p:nvPr/>
        </p:nvSpPr>
        <p:spPr>
          <a:xfrm>
            <a:off x="1454879" y="602410"/>
            <a:ext cx="6164195" cy="77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nguyên ba con số vừa tìm được, bật mưa lên.</a:t>
            </a:r>
            <a:endParaRPr lang="en-US" sz="15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三個數字不要動，把雨天打開。</a:t>
            </a:r>
            <a:endParaRPr lang="en-US" sz="1530" dirty="0"/>
          </a:p>
        </p:txBody>
      </p:sp>
      <p:sp>
        <p:nvSpPr>
          <p:cNvPr id="6" name="Shape 4"/>
          <p:cNvSpPr/>
          <p:nvPr/>
        </p:nvSpPr>
        <p:spPr>
          <a:xfrm>
            <a:off x="1454879" y="1232839"/>
            <a:ext cx="2970021" cy="1515364"/>
          </a:xfrm>
          <a:prstGeom prst="roundRect">
            <a:avLst>
              <a:gd name="adj" fmla="val 462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pic>
        <p:nvPicPr>
          <p:cNvPr id="7" name="Image 0" descr="/Users/tsengchenghsun/Class/carClass/Claude outputs/第四週(10-1)/src/img/w4/sim_w4_sel_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912" y="1281872"/>
            <a:ext cx="2871954" cy="10530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52736" y="1580938"/>
            <a:ext cx="2728357" cy="347507"/>
          </a:xfrm>
          <a:prstGeom prst="roundRect">
            <a:avLst>
              <a:gd name="adj" fmla="val 12094"/>
            </a:avLst>
          </a:prstGeom>
          <a:ln w="28575">
            <a:solidFill>
              <a:srgbClr val="D9463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24927" y="2369946"/>
            <a:ext cx="2829926" cy="336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mục này — nó giữ nguyên ba con số của bạn</a:t>
            </a:r>
            <a:endParaRPr lang="en-US" sz="8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73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選這一項——它會保留你的三個數字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35043" y="1253853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35043" y="1267863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20" dirty="0"/>
          </a:p>
        </p:txBody>
      </p:sp>
      <p:sp>
        <p:nvSpPr>
          <p:cNvPr id="12" name="Text 9"/>
          <p:cNvSpPr txBox="1"/>
          <p:nvPr/>
        </p:nvSpPr>
        <p:spPr>
          <a:xfrm>
            <a:off x="4957262" y="1232839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hai thứ: số lần đọc sót, và tia bị ngắn đi bao nhiêu.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看兩件事：漏讀次數、射線變短多少。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4635043" y="1674826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35043" y="1688836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20" dirty="0"/>
          </a:p>
        </p:txBody>
      </p:sp>
      <p:sp>
        <p:nvSpPr>
          <p:cNvPr id="15" name="Text 12"/>
          <p:cNvSpPr txBox="1"/>
          <p:nvPr/>
        </p:nvSpPr>
        <p:spPr>
          <a:xfrm>
            <a:off x="4957262" y="1653812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Bẫy: tia ngắn đi rồi, quãng đường phanh (stopping distance) có ngắn theo không?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陷阱題：射線變短了，煞停距離（stopping distance）有跟著變短嗎？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635043" y="2210182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635043" y="2224191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20" dirty="0"/>
          </a:p>
        </p:txBody>
      </p:sp>
      <p:sp>
        <p:nvSpPr>
          <p:cNvPr id="18" name="Text 15"/>
          <p:cNvSpPr txBox="1"/>
          <p:nvPr/>
        </p:nvSpPr>
        <p:spPr>
          <a:xfrm>
            <a:off x="4957262" y="2189167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Ngắn đi mấy giây? Đổi gì để kéo lại? Ghi đổi gì và VÌ SAO.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少撐了幾秒？改什麼把它拉回來？想清楚為什麼。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1454879" y="3166154"/>
            <a:ext cx="6234242" cy="434296"/>
          </a:xfrm>
          <a:prstGeom prst="roundRect">
            <a:avLst>
              <a:gd name="adj" fmla="val 12903"/>
            </a:avLst>
          </a:prstGeom>
          <a:solidFill>
            <a:srgbClr val="13314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80965" y="3201178"/>
            <a:ext cx="5982071" cy="378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88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đáp án đều đúng: giảm tốc độ, hoặc kéo dài tia để bù phần tầm đo bị mất. Lý do khác nhau.</a:t>
            </a:r>
            <a:endParaRPr lang="en-US" sz="88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兩個答案都對：降低車速，或把射線長度補回來。理由不一樣。</a:t>
            </a:r>
            <a:endParaRPr lang="en-US" sz="880" dirty="0"/>
          </a:p>
        </p:txBody>
      </p:sp>
      <p:sp>
        <p:nvSpPr>
          <p:cNvPr id="22" name="Text 18"/>
          <p:cNvSpPr txBox="1"/>
          <p:nvPr/>
        </p:nvSpPr>
        <p:spPr>
          <a:xfrm>
            <a:off x="1153674" y="98067"/>
            <a:ext cx="630429" cy="19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690" dirty="0"/>
          </a:p>
        </p:txBody>
      </p:sp>
      <p:sp>
        <p:nvSpPr>
          <p:cNvPr id="23" name="Text 19"/>
          <p:cNvSpPr txBox="1"/>
          <p:nvPr/>
        </p:nvSpPr>
        <p:spPr>
          <a:xfrm>
            <a:off x="1805117" y="98067"/>
            <a:ext cx="1541049" cy="19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6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925172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22478" y="-1094048"/>
            <a:ext cx="3355082" cy="3355082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6526" y="1677541"/>
            <a:ext cx="1896351" cy="1896351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6323" y="379270"/>
            <a:ext cx="5397306" cy="21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nghĩ · 一起想（3 分鐘，不用交）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26323" y="627254"/>
            <a:ext cx="6418418" cy="97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«Tia» trong mô phỏng (simulator) này, trên xe thật là cảm biến nào? Nó thiếu những khả năng gì?</a:t>
            </a:r>
            <a:endParaRPr lang="en-US" sz="18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模擬器（simulator）裡的「射線」，在真車上是哪一種感測器？它少了哪些能力？</a:t>
            </a:r>
            <a:endParaRPr lang="en-US" sz="1830" dirty="0"/>
          </a:p>
        </p:txBody>
      </p:sp>
      <p:sp>
        <p:nvSpPr>
          <p:cNvPr id="6" name="Shape 4"/>
          <p:cNvSpPr/>
          <p:nvPr/>
        </p:nvSpPr>
        <p:spPr>
          <a:xfrm>
            <a:off x="1326323" y="1499877"/>
            <a:ext cx="6491354" cy="495969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1457609" y="1616575"/>
            <a:ext cx="262572" cy="2625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57609" y="1638456"/>
            <a:ext cx="262572" cy="21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1851466" y="1529052"/>
            <a:ext cx="5820338" cy="437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ý: nó không thấy màu, không thấy vạch kẻ đường</a:t>
            </a: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2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提示：它看不到顏色、看不到車道線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6323" y="2068782"/>
            <a:ext cx="6491354" cy="495969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1457609" y="2185481"/>
            <a:ext cx="262572" cy="2625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57609" y="2207362"/>
            <a:ext cx="262572" cy="21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60" dirty="0"/>
          </a:p>
        </p:txBody>
      </p:sp>
      <p:sp>
        <p:nvSpPr>
          <p:cNvPr id="13" name="Text 11"/>
          <p:cNvSpPr txBox="1"/>
          <p:nvPr/>
        </p:nvSpPr>
        <p:spPr>
          <a:xfrm>
            <a:off x="1851466" y="2097957"/>
            <a:ext cx="5820338" cy="437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ý: nó không phân biệt được người với cột điện</a:t>
            </a: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2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提示：它分不出那是人還是一根柱子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26323" y="2637687"/>
            <a:ext cx="6491354" cy="495969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1457609" y="2754386"/>
            <a:ext cx="262572" cy="2625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457609" y="2776267"/>
            <a:ext cx="262572" cy="21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60" dirty="0"/>
          </a:p>
        </p:txBody>
      </p:sp>
      <p:sp>
        <p:nvSpPr>
          <p:cNvPr id="17" name="Text 15"/>
          <p:cNvSpPr txBox="1"/>
          <p:nvPr/>
        </p:nvSpPr>
        <p:spPr>
          <a:xfrm>
            <a:off x="1851466" y="2666862"/>
            <a:ext cx="5820338" cy="437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ý: nó không biết chiếc xe máy đó giây sau sẽ lách sang đâu</a:t>
            </a: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2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提示：它不知道那台機車下一秒要往哪裡鑽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326323" y="3235767"/>
            <a:ext cx="6418418" cy="364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này không phải nộp. Tuần 8 học xong tri giác, thầy sẽ hỏi lại đúng câu này.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2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這一段不用交。第八週講完感知，我會回來問同一個問題。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12696" y="102111"/>
            <a:ext cx="656429" cy="20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720" dirty="0"/>
          </a:p>
        </p:txBody>
      </p:sp>
      <p:sp>
        <p:nvSpPr>
          <p:cNvPr id="21" name="Text 18"/>
          <p:cNvSpPr txBox="1"/>
          <p:nvPr/>
        </p:nvSpPr>
        <p:spPr>
          <a:xfrm>
            <a:off x="1691006" y="102111"/>
            <a:ext cx="1604604" cy="20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069617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3144" y="-1050715"/>
            <a:ext cx="3222193" cy="3222193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03859" y="1611096"/>
            <a:ext cx="1821239" cy="1821239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54879" y="364248"/>
            <a:ext cx="5183527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· 多一個按鈕（有做完的組別）</a:t>
            </a:r>
            <a:endParaRPr lang="en-US" sz="960" dirty="0"/>
          </a:p>
        </p:txBody>
      </p:sp>
      <p:sp>
        <p:nvSpPr>
          <p:cNvPr id="5" name="Text 3"/>
          <p:cNvSpPr txBox="1"/>
          <p:nvPr/>
        </p:nvSpPr>
        <p:spPr>
          <a:xfrm>
            <a:off x="1454879" y="602410"/>
            <a:ext cx="6164195" cy="77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phỏng có thêm một nút: đổi LiDAR từ loại cố định sang loại quay 360°</a:t>
            </a:r>
            <a:endParaRPr lang="en-US" sz="15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模擬器上多了一個按鈕，可以把光達從固定式換成 360° 旋轉式</a:t>
            </a:r>
            <a:endParaRPr lang="en-US" sz="1530" dirty="0"/>
          </a:p>
        </p:txBody>
      </p:sp>
      <p:sp>
        <p:nvSpPr>
          <p:cNvPr id="6" name="Shape 4"/>
          <p:cNvSpPr/>
          <p:nvPr/>
        </p:nvSpPr>
        <p:spPr>
          <a:xfrm>
            <a:off x="1454879" y="1387356"/>
            <a:ext cx="2970021" cy="1708751"/>
          </a:xfrm>
          <a:prstGeom prst="roundRect">
            <a:avLst>
              <a:gd name="adj" fmla="val 4099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pic>
        <p:nvPicPr>
          <p:cNvPr id="7" name="Image 0" descr="/Users/tsengchenghsun/Class/carClass/Claude outputs/第四週(10-1)/src/img/w4/sim_w4_m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419" y="1436389"/>
            <a:ext cx="2792941" cy="12464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13242" y="1736780"/>
            <a:ext cx="1293132" cy="853809"/>
          </a:xfrm>
          <a:prstGeom prst="roundRect">
            <a:avLst>
              <a:gd name="adj" fmla="val 4922"/>
            </a:avLst>
          </a:prstGeom>
          <a:ln w="28575">
            <a:solidFill>
              <a:srgbClr val="D9463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62233" y="1736780"/>
            <a:ext cx="1270788" cy="853809"/>
          </a:xfrm>
          <a:prstGeom prst="roundRect">
            <a:avLst>
              <a:gd name="adj" fmla="val 4922"/>
            </a:avLst>
          </a:prstGeom>
          <a:ln w="28575">
            <a:solidFill>
              <a:srgbClr val="D9463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24927" y="2717849"/>
            <a:ext cx="2829926" cy="336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nút này ở đầu mục «Loại LiDAR»</a:t>
            </a:r>
            <a:endParaRPr lang="en-US" sz="8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73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在「光達型式（LiDAR）」最上面這兩顆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35043" y="1408370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35043" y="1422380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20" dirty="0"/>
          </a:p>
        </p:txBody>
      </p:sp>
      <p:sp>
        <p:nvSpPr>
          <p:cNvPr id="13" name="Text 10"/>
          <p:cNvSpPr txBox="1"/>
          <p:nvPr/>
        </p:nvSpPr>
        <p:spPr>
          <a:xfrm>
            <a:off x="4957262" y="1387356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Cố định (fixed): chỉ nhìn phía trước, nhưng dữ liệu luôn mới.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固定式（fixed）：只看前方，但資料永遠是最新的。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635043" y="1829343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35043" y="1843353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20" dirty="0"/>
          </a:p>
        </p:txBody>
      </p:sp>
      <p:sp>
        <p:nvSpPr>
          <p:cNvPr id="16" name="Text 13"/>
          <p:cNvSpPr txBox="1"/>
          <p:nvPr/>
        </p:nvSpPr>
        <p:spPr>
          <a:xfrm>
            <a:off x="4957262" y="1808329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Quay (spinning): nhìn được vòng quanh, nhưng mỗi hướng mỗi vòng mới cập nhật một lần.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旋轉式（spinning）：看得到一圈，但每個方向每轉一圈才更新一次。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4635043" y="2364699"/>
            <a:ext cx="238162" cy="23816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35043" y="2378708"/>
            <a:ext cx="238162" cy="21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20" dirty="0"/>
          </a:p>
        </p:txBody>
      </p:sp>
      <p:sp>
        <p:nvSpPr>
          <p:cNvPr id="19" name="Text 16"/>
          <p:cNvSpPr txBox="1"/>
          <p:nvPr/>
        </p:nvSpPr>
        <p:spPr>
          <a:xfrm>
            <a:off x="4957262" y="2343684"/>
            <a:ext cx="2731859" cy="5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Lúc bạn nhìn nó, số liệu hướng đó có thể đã cũ.</a:t>
            </a:r>
            <a:endParaRPr lang="en-US" sz="8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你看它的時候，那筆資料可能已經是舊的。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1454879" y="3166154"/>
            <a:ext cx="6234242" cy="434296"/>
          </a:xfrm>
          <a:prstGeom prst="roundRect">
            <a:avLst>
              <a:gd name="adj" fmla="val 12903"/>
            </a:avLst>
          </a:prstGeom>
          <a:solidFill>
            <a:srgbClr val="13314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580965" y="3201178"/>
            <a:ext cx="5982071" cy="378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88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xong sớm: đổi sang loại quay, xem số tia · chiều dài · góc quét (FOV) còn dùng được không.</a:t>
            </a:r>
            <a:endParaRPr lang="en-US" sz="88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提早做完的組別：切到旋轉式，看射線數、長度、張角（FOV）還管不管用。</a:t>
            </a:r>
            <a:endParaRPr lang="en-US" sz="880" dirty="0"/>
          </a:p>
        </p:txBody>
      </p:sp>
      <p:sp>
        <p:nvSpPr>
          <p:cNvPr id="23" name="Text 19"/>
          <p:cNvSpPr txBox="1"/>
          <p:nvPr/>
        </p:nvSpPr>
        <p:spPr>
          <a:xfrm>
            <a:off x="1153674" y="98067"/>
            <a:ext cx="630429" cy="19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690" dirty="0"/>
          </a:p>
        </p:txBody>
      </p:sp>
      <p:sp>
        <p:nvSpPr>
          <p:cNvPr id="24" name="Text 20"/>
          <p:cNvSpPr txBox="1"/>
          <p:nvPr/>
        </p:nvSpPr>
        <p:spPr>
          <a:xfrm>
            <a:off x="1805117" y="98067"/>
            <a:ext cx="1541049" cy="19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6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925172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22478" y="-1094048"/>
            <a:ext cx="3355082" cy="3355082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6526" y="1677541"/>
            <a:ext cx="1896351" cy="1896351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6323" y="379270"/>
            <a:ext cx="5397306" cy="21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Thầy làm mẫu · 老師示範（6 分鐘）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26323" y="627254"/>
            <a:ext cx="6418418" cy="97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seed: 7,7 → 119,6 giây, không thêm một tia nào.</a:t>
            </a:r>
            <a:endParaRPr lang="en-US" sz="18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同一個種子：7.7 → 119.6 秒，一條射線都沒加。</a:t>
            </a:r>
            <a:endParaRPr lang="en-US" sz="1830" dirty="0"/>
          </a:p>
        </p:txBody>
      </p:sp>
      <p:sp>
        <p:nvSpPr>
          <p:cNvPr id="6" name="Shape 4"/>
          <p:cNvSpPr/>
          <p:nvPr/>
        </p:nvSpPr>
        <p:spPr>
          <a:xfrm>
            <a:off x="1326323" y="1499877"/>
            <a:ext cx="6491354" cy="495969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1457609" y="1616575"/>
            <a:ext cx="262572" cy="2625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57609" y="1638456"/>
            <a:ext cx="262572" cy="21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1851466" y="1529052"/>
            <a:ext cx="5820338" cy="437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 →（góc 120°→90°）→ 30,7 →（tia 25→35 m）→ 119,6 giây</a:t>
            </a: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2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7.7 →（張角 120°→90°）→ 30.7 →（長度 25→35 m）→ 119.6 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6323" y="2068782"/>
            <a:ext cx="6491354" cy="495969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1457609" y="2185481"/>
            <a:ext cx="262572" cy="2625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57609" y="2207362"/>
            <a:ext cx="262572" cy="21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60" dirty="0"/>
          </a:p>
        </p:txBody>
      </p:sp>
      <p:sp>
        <p:nvSpPr>
          <p:cNvPr id="13" name="Text 11"/>
          <p:cNvSpPr txBox="1"/>
          <p:nvPr/>
        </p:nvSpPr>
        <p:spPr>
          <a:xfrm>
            <a:off x="1851466" y="2097957"/>
            <a:ext cx="5820338" cy="437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Bẫy: cùng 90°, thêm tia 9→20 lại tụt về 14 giây</a:t>
            </a: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2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陷阱：同樣 90°，射線數 9 加到 20，反而掉回 14 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26323" y="2637687"/>
            <a:ext cx="6491354" cy="495969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1457609" y="2754386"/>
            <a:ext cx="262572" cy="2625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457609" y="2776267"/>
            <a:ext cx="262572" cy="21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60" dirty="0"/>
          </a:p>
        </p:txBody>
      </p:sp>
      <p:sp>
        <p:nvSpPr>
          <p:cNvPr id="17" name="Text 15"/>
          <p:cNvSpPr txBox="1"/>
          <p:nvPr/>
        </p:nvSpPr>
        <p:spPr>
          <a:xfrm>
            <a:off x="1851466" y="2666862"/>
            <a:ext cx="5820338" cy="437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Cuối: đợi cửa sổ va chạm → chụp màn hình → gửi nhóm LINE</a:t>
            </a: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2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最後：等碰撞視窗跳出來 → 截圖 → 傳 LINE 群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326323" y="3235767"/>
            <a:ext cx="6418418" cy="364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chưa gửi thì gửi bây giờ; ai gửi rồi có thể chạy thêm, lấy ảnh tốt nhất.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2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還沒傳的同學現在補傳；已經傳的可以再衝一次，以最好的那一張為準。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12696" y="102111"/>
            <a:ext cx="656429" cy="20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720" dirty="0"/>
          </a:p>
        </p:txBody>
      </p:sp>
      <p:sp>
        <p:nvSpPr>
          <p:cNvPr id="21" name="Text 18"/>
          <p:cNvSpPr txBox="1"/>
          <p:nvPr/>
        </p:nvSpPr>
        <p:spPr>
          <a:xfrm>
            <a:off x="1691006" y="102111"/>
            <a:ext cx="1604604" cy="20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1000125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93031" y="300038"/>
            <a:ext cx="635793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hiện · 揭曉：射線愈拉愈長，秒數卻不動？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1393031" y="528638"/>
            <a:ext cx="6357938" cy="638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số không phải càng lớn càng tốt, mà phải vừa đủ vượt qua ngưỡng</a:t>
            </a:r>
            <a:endParaRPr lang="en-US" sz="148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規格不是愈大愈好，是要剛好跨過那個門檻</a:t>
            </a:r>
            <a:endParaRPr lang="en-US" sz="1480" dirty="0"/>
          </a:p>
        </p:txBody>
      </p:sp>
      <p:sp>
        <p:nvSpPr>
          <p:cNvPr id="4" name="Shape 2"/>
          <p:cNvSpPr/>
          <p:nvPr/>
        </p:nvSpPr>
        <p:spPr>
          <a:xfrm>
            <a:off x="1393031" y="1253548"/>
            <a:ext cx="1450181" cy="1818264"/>
          </a:xfrm>
          <a:prstGeom prst="roundRect">
            <a:avLst>
              <a:gd name="adj" fmla="val 492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3031" y="1253548"/>
            <a:ext cx="1450181" cy="42863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07331" y="1346417"/>
            <a:ext cx="1221581" cy="30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Thầy đã đo thật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老師實測</a:t>
            </a:r>
            <a:endParaRPr lang="en-US" sz="980" dirty="0"/>
          </a:p>
        </p:txBody>
      </p:sp>
      <p:sp>
        <p:nvSpPr>
          <p:cNvPr id="7" name="Text 5"/>
          <p:cNvSpPr txBox="1"/>
          <p:nvPr/>
        </p:nvSpPr>
        <p:spPr>
          <a:xfrm>
            <a:off x="1507331" y="1678933"/>
            <a:ext cx="1221581" cy="1321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seed: tia 45 m và 120 m ra số giây y hệt nhau.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十六個種子：射線 45 與 120 公尺，秒數一秒不差。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28950" y="1253548"/>
            <a:ext cx="1450181" cy="1818264"/>
          </a:xfrm>
          <a:prstGeom prst="roundRect">
            <a:avLst>
              <a:gd name="adj" fmla="val 492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28950" y="1253548"/>
            <a:ext cx="1450181" cy="42863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43250" y="1346417"/>
            <a:ext cx="1221581" cy="30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3143250" y="1678933"/>
            <a:ext cx="1221581" cy="1321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km/h → phanh 13,6 m. 25 m đã đủ; vượt ngưỡng, xe không dùng tới.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時速 40 → 煞停 13.6 公尺。25 公尺就夠，超過門檻用不到。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4869" y="1253548"/>
            <a:ext cx="1450181" cy="1818264"/>
          </a:xfrm>
          <a:prstGeom prst="roundRect">
            <a:avLst>
              <a:gd name="adj" fmla="val 492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4869" y="1253548"/>
            <a:ext cx="1450181" cy="4286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79169" y="1346417"/>
            <a:ext cx="1221581" cy="30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 và góc quét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射線數和張角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4779169" y="1678933"/>
            <a:ext cx="1221581" cy="1321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 9→60: 17,5 → 111 giây. Góc →180°: 17,5 → 15,9 giây, tệ hơn.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射線 9→60 條：17.5 → 111 秒。張角 →180°：17.5 → 15.9 秒，更糟。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0788" y="1253548"/>
            <a:ext cx="1450181" cy="1818264"/>
          </a:xfrm>
          <a:prstGeom prst="roundRect">
            <a:avLst>
              <a:gd name="adj" fmla="val 492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0788" y="1253548"/>
            <a:ext cx="1450181" cy="42863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15088" y="1346417"/>
            <a:ext cx="1221581" cy="30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Thấy ≠ biết đi đâu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看得到 ≠ 知道他往哪走</a:t>
            </a:r>
            <a:endParaRPr lang="en-US" sz="980" dirty="0"/>
          </a:p>
        </p:txBody>
      </p:sp>
      <p:sp>
        <p:nvSpPr>
          <p:cNvPr id="19" name="Text 17"/>
          <p:cNvSpPr txBox="1"/>
          <p:nvPr/>
        </p:nvSpPr>
        <p:spPr>
          <a:xfrm>
            <a:off x="6415088" y="1678933"/>
            <a:ext cx="1221581" cy="1321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đi sang TRÁI, xe cũng tránh TRÁI. 9 tia trúng đúng 1 khung.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行人往左走，車子也往左閃。9 條射線只打到 1 格。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93031" y="3128963"/>
            <a:ext cx="6357938" cy="471488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35906" y="3171825"/>
            <a:ext cx="6072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loại cột trên bảng — và một việc phải mua đủ thông số mới nói tới được: «người đó đang đi về đâu».</a:t>
            </a:r>
            <a:endParaRPr lang="en-US" sz="9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2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規格表上的三種欄位——再加一件事：規格沒跨過門檻，有些能力連談都談不上。</a:t>
            </a:r>
            <a:endParaRPr lang="en-US" sz="900" dirty="0"/>
          </a:p>
        </p:txBody>
      </p:sp>
      <p:pic>
        <p:nvPicPr>
          <p:cNvPr id="23" name="Image 0" descr="/Users/tsengchenghsun/Class/carClass/Claude outputs/第四週(10-1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8038" y="85725"/>
            <a:ext cx="857250" cy="18940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085850" y="100013"/>
            <a:ext cx="6429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700" dirty="0"/>
          </a:p>
        </p:txBody>
      </p:sp>
      <p:sp>
        <p:nvSpPr>
          <p:cNvPr id="25" name="Text 21"/>
          <p:cNvSpPr txBox="1"/>
          <p:nvPr/>
        </p:nvSpPr>
        <p:spPr>
          <a:xfrm>
            <a:off x="1750219" y="100013"/>
            <a:ext cx="1571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898071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35486" y="-1102179"/>
            <a:ext cx="3380014" cy="3380014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37664" y="1690007"/>
            <a:ext cx="1910443" cy="1910443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02204" y="382089"/>
            <a:ext cx="5437414" cy="22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· 這句話對不對（四句一起想，2 分鐘）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02204" y="631916"/>
            <a:ext cx="6466114" cy="98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câu dưới đây. Đúng hay sai, và nói một câu lý do.</a:t>
            </a:r>
            <a:endParaRPr lang="en-US" sz="1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1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下面四句話。對或錯，再說一句理由。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1302204" y="1511023"/>
            <a:ext cx="6539593" cy="455567"/>
          </a:xfrm>
          <a:prstGeom prst="roundRect">
            <a:avLst>
              <a:gd name="adj" fmla="val 12903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1434465" y="1606545"/>
            <a:ext cx="249827" cy="249827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34465" y="1621241"/>
            <a:ext cx="249827" cy="22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1831249" y="1540414"/>
            <a:ext cx="5863590" cy="39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Xe tự lái chạy đủ nhiều km thì chứng minh được nó an toàn.</a:t>
            </a:r>
            <a:endParaRPr lang="en-US" sz="92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4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自駕車跑得夠多公里，就能證明它安全。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1302204" y="2025373"/>
            <a:ext cx="6539593" cy="455567"/>
          </a:xfrm>
          <a:prstGeom prst="roundRect">
            <a:avLst>
              <a:gd name="adj" fmla="val 12903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1434465" y="2120895"/>
            <a:ext cx="249827" cy="249827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34465" y="2135591"/>
            <a:ext cx="249827" cy="22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1831249" y="2054764"/>
            <a:ext cx="5863590" cy="39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Trong mô phỏng không đâm thì xe thật cũng sẽ không đâm.</a:t>
            </a:r>
            <a:endParaRPr lang="en-US" sz="92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4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在模擬裡不撞，真車就不會撞。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302204" y="2539723"/>
            <a:ext cx="6539593" cy="455567"/>
          </a:xfrm>
          <a:prstGeom prst="roundRect">
            <a:avLst>
              <a:gd name="adj" fmla="val 12903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1434465" y="2635245"/>
            <a:ext cx="249827" cy="249827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434465" y="2649941"/>
            <a:ext cx="249827" cy="22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0" dirty="0"/>
          </a:p>
        </p:txBody>
      </p:sp>
      <p:sp>
        <p:nvSpPr>
          <p:cNvPr id="17" name="Text 15"/>
          <p:cNvSpPr txBox="1"/>
          <p:nvPr/>
        </p:nvSpPr>
        <p:spPr>
          <a:xfrm>
            <a:off x="1831249" y="2569114"/>
            <a:ext cx="5863590" cy="39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Càng nhiều tia càng tốt, góc quét càng rộng càng tốt.</a:t>
            </a:r>
            <a:endParaRPr lang="en-US" sz="92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4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射線數愈多愈好，張角愈大愈好。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1302204" y="3054073"/>
            <a:ext cx="6539593" cy="455567"/>
          </a:xfrm>
          <a:prstGeom prst="roundRect">
            <a:avLst>
              <a:gd name="adj" fmla="val 12903"/>
            </a:avLst>
          </a:prstGeom>
          <a:solidFill>
            <a:srgbClr val="13314F"/>
          </a:solidFill>
          <a:ln/>
        </p:spPr>
      </p:sp>
      <p:sp>
        <p:nvSpPr>
          <p:cNvPr id="19" name="Shape 17"/>
          <p:cNvSpPr/>
          <p:nvPr/>
        </p:nvSpPr>
        <p:spPr>
          <a:xfrm>
            <a:off x="1434465" y="3149595"/>
            <a:ext cx="249827" cy="249827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434465" y="3164291"/>
            <a:ext cx="249827" cy="22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80" dirty="0"/>
          </a:p>
        </p:txBody>
      </p:sp>
      <p:sp>
        <p:nvSpPr>
          <p:cNvPr id="21" name="Text 19"/>
          <p:cNvSpPr txBox="1"/>
          <p:nvPr/>
        </p:nvSpPr>
        <p:spPr>
          <a:xfrm>
            <a:off x="1831249" y="3083464"/>
            <a:ext cx="5863590" cy="39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Mô phỏng có sẵn là test được đường Việt Nam? Thế giới trong đó là của ai?</a:t>
            </a:r>
            <a:endParaRPr lang="en-US" sz="92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4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現成模擬器就能測越南的路況？裡面的世界是照誰做的？</a:t>
            </a:r>
            <a:endParaRPr lang="en-US" sz="920" dirty="0"/>
          </a:p>
        </p:txBody>
      </p:sp>
      <p:sp>
        <p:nvSpPr>
          <p:cNvPr id="23" name="Text 20"/>
          <p:cNvSpPr txBox="1"/>
          <p:nvPr/>
        </p:nvSpPr>
        <p:spPr>
          <a:xfrm>
            <a:off x="986246" y="102870"/>
            <a:ext cx="66130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720" dirty="0"/>
          </a:p>
        </p:txBody>
      </p:sp>
      <p:sp>
        <p:nvSpPr>
          <p:cNvPr id="24" name="Text 21"/>
          <p:cNvSpPr txBox="1"/>
          <p:nvPr/>
        </p:nvSpPr>
        <p:spPr>
          <a:xfrm>
            <a:off x="1669596" y="102870"/>
            <a:ext cx="161652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898071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35486" y="-1102179"/>
            <a:ext cx="3380014" cy="3380014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37664" y="1690007"/>
            <a:ext cx="1910443" cy="1910443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02204" y="382089"/>
            <a:ext cx="5437414" cy="22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Đáp án · 答案：四句都錯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02204" y="661307"/>
            <a:ext cx="6466114" cy="85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câu đều sai — và mỗi câu sai một kiểu</a:t>
            </a:r>
            <a:endParaRPr lang="en-US" sz="201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1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四句都錯——而且每一句錯的方式不一樣</a:t>
            </a:r>
            <a:endParaRPr lang="en-US" sz="2010" dirty="0"/>
          </a:p>
        </p:txBody>
      </p:sp>
      <p:sp>
        <p:nvSpPr>
          <p:cNvPr id="6" name="Shape 4"/>
          <p:cNvSpPr/>
          <p:nvPr/>
        </p:nvSpPr>
        <p:spPr>
          <a:xfrm>
            <a:off x="1302204" y="1498963"/>
            <a:ext cx="36739" cy="36739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78552" y="1469571"/>
            <a:ext cx="6319157" cy="45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Cần 11 tỉ dặm, mà phần lớn là đường thẳng buồn tẻ. Đơn vị đúng là kịch bản (scenario).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要一百一十億英里，而且大多是無聊的直路。正確的單位是場景（scenario）。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1302204" y="1998617"/>
            <a:ext cx="36739" cy="36739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78552" y="1969226"/>
            <a:ext cx="6319157" cy="45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Ba khoảng cách: hình ảnh, hành vi, vật lý. Mô phỏng chỉ là cái sàng lấy vé lên xe thật.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三種落差：外觀、行為、物理。模擬是篩子——通過只是拿到上真車的門票。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1302204" y="2498271"/>
            <a:ext cx="36739" cy="36739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78552" y="2468880"/>
            <a:ext cx="6319157" cy="45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Góc rộng thì tia thưa; tia nhiều thì máy chậm. Xe thật dùng mấy cảm biến chia việc.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張角大，射線就變稀；射線多，電腦算得慢。真車是好幾顆感測器分工。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1302204" y="2997926"/>
            <a:ext cx="36739" cy="48663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78552" y="2968534"/>
            <a:ext cx="6319157" cy="574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Thế giới, xe cộ, hành vi trong mô phỏng có sẵn đều làm theo Âu Mỹ — không có biển xe máy, không có vòng xuyến kiểu Hà Nội.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現成模擬器的世界、車輛、行為都是照歐美做的——沒有機車海、沒有河內那種圓環。</a:t>
            </a:r>
            <a:endParaRPr lang="en-US" sz="960" dirty="0"/>
          </a:p>
        </p:txBody>
      </p:sp>
      <p:sp>
        <p:nvSpPr>
          <p:cNvPr id="15" name="Text 12"/>
          <p:cNvSpPr txBox="1"/>
          <p:nvPr/>
        </p:nvSpPr>
        <p:spPr>
          <a:xfrm>
            <a:off x="986246" y="102870"/>
            <a:ext cx="66130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720" dirty="0"/>
          </a:p>
        </p:txBody>
      </p:sp>
      <p:sp>
        <p:nvSpPr>
          <p:cNvPr id="16" name="Text 13"/>
          <p:cNvSpPr txBox="1"/>
          <p:nvPr/>
        </p:nvSpPr>
        <p:spPr>
          <a:xfrm>
            <a:off x="1669596" y="102870"/>
            <a:ext cx="161652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898071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35486" y="-1102179"/>
            <a:ext cx="3380014" cy="3380014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37664" y="1690007"/>
            <a:ext cx="1910443" cy="1910443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02204" y="382089"/>
            <a:ext cx="5437414" cy="22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sau · 下週預告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02204" y="661307"/>
            <a:ext cx="6466114" cy="85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5, 8/10: vào chương 3, cảm biến</a:t>
            </a:r>
            <a:endParaRPr lang="en-US" sz="201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1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5 週，10 月 8 日：進第三章，感測器</a:t>
            </a:r>
            <a:endParaRPr lang="en-US" sz="2010" dirty="0"/>
          </a:p>
        </p:txBody>
      </p:sp>
      <p:sp>
        <p:nvSpPr>
          <p:cNvPr id="6" name="Shape 4"/>
          <p:cNvSpPr/>
          <p:nvPr/>
        </p:nvSpPr>
        <p:spPr>
          <a:xfrm>
            <a:off x="1302204" y="1498963"/>
            <a:ext cx="36739" cy="36739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78552" y="1469571"/>
            <a:ext cx="6319157" cy="45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Nộp: ảnh chụp hôm nay — gửi nhóm LINE trước khi hết giờ. Ai chưa nộp phiếu tuần 3 thì nộp luôn.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要交：今天的截圖，下課前傳 LINE 群。第三週的任務單還沒交的一起交。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1302204" y="1998617"/>
            <a:ext cx="36739" cy="36739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78552" y="1969226"/>
            <a:ext cx="6319157" cy="45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Làm: câu trắc nghiệm ở 2.8 trong giáo trình. Đáp án ở phụ lục 2.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要做：講義 2.8 的選擇題。附錄二有答案。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1302204" y="2498271"/>
            <a:ext cx="36739" cy="36739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78552" y="2468880"/>
            <a:ext cx="6319157" cy="45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Mang: một ảnh chụp bằng điện thoại — một tình huống bạn nghĩ camera sẽ nhìn không rõ.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要帶：用手機拍一張你覺得「相機（camera）會看不清楚」的路況。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1302204" y="3012621"/>
            <a:ext cx="6466114" cy="323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2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Ngược sáng, mưa, hoặc ban đêm đều được. Tuần sau ta sẽ đem những ảnh đó ra dùng.</a:t>
            </a:r>
            <a:endParaRPr lang="en-US" sz="92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4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逆光、下雨或夜間都可以。下週我們會拿那些照片來用。</a:t>
            </a:r>
            <a:endParaRPr lang="en-US" sz="920" dirty="0"/>
          </a:p>
        </p:txBody>
      </p:sp>
      <p:sp>
        <p:nvSpPr>
          <p:cNvPr id="14" name="Text 11"/>
          <p:cNvSpPr txBox="1"/>
          <p:nvPr/>
        </p:nvSpPr>
        <p:spPr>
          <a:xfrm>
            <a:off x="986246" y="102870"/>
            <a:ext cx="66130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720" dirty="0"/>
          </a:p>
        </p:txBody>
      </p:sp>
      <p:sp>
        <p:nvSpPr>
          <p:cNvPr id="15" name="Text 12"/>
          <p:cNvSpPr txBox="1"/>
          <p:nvPr/>
        </p:nvSpPr>
        <p:spPr>
          <a:xfrm>
            <a:off x="1669596" y="102870"/>
            <a:ext cx="161652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2026-09-29T07:24:37Z</dcterms:created>
  <dcterms:modified xsi:type="dcterms:W3CDTF">2026-09-29T07:24:37Z</dcterms:modified>
</cp:coreProperties>
</file>