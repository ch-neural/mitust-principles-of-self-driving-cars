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第三節，上機。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今天這一節的題目叫「為河內配感測器」，四題，兩人一組，每組交一張紙。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先說清楚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為什麼要做這件事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前兩節我們講了三個規格、三種落差、場景三層。這些都是知識。現在要各位做的，是把這些知識變成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三個數字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而且這三個數字不是我給的，是各位自己掃出來的。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（把任務單發下去。前三題有數字，第四題是文字。）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四題，照順序做，不要跳。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觀察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：什麼都不要改，先看它怎麼撞。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掃參數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：這是今天的主菜，時間也花最多。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加一個變因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：打開雨天，看你的答案還撐不撐得住。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文字題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：把今天的模擬器接回真車。這一題沒有數字，但它是四題裡面最重要的——因為它是第三章和第四章的預告。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（分配時間：第一題 5 分鐘、第二題 15 分鐘、第三題 5 分鐘、第四題 5 分鐘，最後 10 分鐘上台。）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第一題，五分鐘。什麼都不要改，先看它怎麼撞。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（這一題看起來很簡單，但它有一個埋伏。）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請各組跑三次，每次撞了就看右欄事件紀錄的最後一行，記下原因。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（走動巡視。學生會陸續發現三次的原因不一樣。）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三次的原因一樣嗎？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（預期答案：不一樣。）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這就是重點。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同一組參數、同一個場景，跑三次可能撞在三個不同的地方——因為機車出現的位置和時間有隨機性。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（連回第二節）所以我們說「掃參數」，不只是掃參數的值，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同一組參數也要跑很多次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。跑一次就下結論，是不夠的。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（如果有組別跑三次都沒撞，請他們多跑幾次，或者記下「跑了幾次才撞」——那也是有用的資訊。）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第二題，十五分鐘，今天的主菜。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目標：調三個參數，讓車子在撞車前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撐得最久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。每組跑三次，取最好的那一次。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（先講清楚為什麼是比「撐最久」，不是「不准撞」。）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我先告訴各位一件事，免得大家白費力氣：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在河內尖峰這個場景裡，沒有任何一組參數能保證不撞。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我自己跑過七十次，三個參數全部拉到最大，也撐不過九十秒。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（學生聽到這裡通常會愣一下，那個反應是好的。）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這不是模擬器壞了，這正是這個場景要告訴大家的事：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有些環境，用現在這些感測器規格就是搞不定。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這時候工程上的答案不是再加感測器，是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把運行範圍縮小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——降速、避開尖峰時段、或者根本不在這條路上營運。這就是第二週講的 ODD。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所以今天的題目是：在搞不定的環境裡，你能把界線推到多遠？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（操作提醒，走動時反覆強調。）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一次只改一個參數。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三個一起改，你不會知道是哪一個起了作用——這就是第二節說的「掃參數」，一次掃一維。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還有，回頭看第一節算的：時速五十，射線不能短於二十五公尺。如果有組別把射線長度拉到二十以下還在調射線數，請提醒他們那是白費力氣。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我先給各位一組參考數字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，這是我自己實測的中位數，各組跑出來會有出入：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預設的九條、二十五公尺、一百二十度，大約撐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十八秒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調到三十條、四十五公尺、一百二十度，大約撐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三十四秒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，差不多快了一倍。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所以參數是真的有用的。但是——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（這句話先不要講，留到上台那一頁再揭曉，讓學生自己去撞上這個發現：再往上拉到滿檔，並不會更好。）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（巡視時可以問各組：你現在改的是哪一個？為什麼改它？逼他們講出理由。）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十五分鐘後，每組要交出：撐最久的那個秒數，加上當時的三個數字。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第三題，五分鐘。三個數字不要動，把雨天打開。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（這一題有一個陷阱，我要各位自己踩進去。）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先看兩件事：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漏讀次數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變多少、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射線變短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多少。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然後回答這個問題：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射線變短了，煞停距離有跟著變短嗎？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（一定要讓學生自己回答。多數人會先愣一下。）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煞停距離只跟車速和路面有關，跟你的感測器一點關係都沒有。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（在白板上把兩件事分開寫：）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感測器變差 → 看得比較近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煞停距離 → 完全沒變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所以雨天發生的事是：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你看得到的距離縮短了，但你需要的距離沒有縮短。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兩條線交叉了。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那怎麼辦？兩個答案，都對：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第一，降低車速。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車速降下來，需要的煞停距離也跟著降，兩條線就又分開了。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第二，加射線數。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多幾條射線，漏讀一條還有別條補上，等於用冗餘換可靠度。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（如果有組別兩個都做了，那也很好——真車就是兩個都做。）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第三節課的第三題，就是第一節那條公式在真實情境裡的應用。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（補一句物理：真車在濕路面上減速度只剩一半，煞停距離反而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變長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。我們的模擬器沒有模擬這件事——這本身就是第一節講的「物理落差」的例子。）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第四題，五分鐘，文字題。這一題沒有數字，但它是四題裡面最重要的。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問題：模擬器裡的「射線」，在真車上是哪一種感測器？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（預期答案：光達。這題大部分人會答對。）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對，是光達。上週第三週我們整整花了一節課在講它。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但第二個問題才是重點：它少了哪些能力？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（讓各組自己寫三句話，不要急著給答案。走動看他們寫什麼。）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提示三個方向：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它看不到顏色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。紅燈綠燈，射線分不出來。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它分不出那是人還是一根柱子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。它只知道「前面三十公尺有東西」——這句話上週第三週講過，各位應該有印象。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第三，這個最難也最重要：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它不知道那台機車下一秒要往哪裡鑽。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（停一下講這第三點。）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前兩個是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感知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的問題——第四章會講。第三個是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預測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的問題——那是第六章。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一台真的自駕車，光是「看到」還不夠，它必須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猜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別人接下來要做什麼。而在河內，猜機車的下一步，比看到它難得多。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（收上來的紙留著。第八週講完感知，可以拿出來對照，讓學生看自己當初寫了什麼。）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（這一頁是給提早做完的組別，不是全班必做。）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模擬器上有一個新按鈕，可以把感測器從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切換成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360 度旋轉式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上週第三週我們講過旋轉式光達。這裡複習一下它的取捨：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：只看前方那個扇形，但那個扇形裡的資料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永遠是最新的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旋轉式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：看得到一整圈，但每個方向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每轉一圈才更新一次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。如果它每秒轉十圈，那麼你看到側面那筆資料，可能是零點一秒前的。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（問提早做完的組別）零點一秒很短，有差嗎？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（讓他們算：時速五十是每秒十三點九公尺，零點一秒就是一點四公尺。）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一點四公尺，差不多是一台機車的長度。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所以切到旋轉式之後，你們那三個數字還管不管用？試試看。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（這個探索沒有標準答案，但它會讓學生看到：換一種感測器，整組參數可能都要重配。這正是第三章要講的事。）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最後十分鐘，每組上台三十秒。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把你們的三個數字調給全班看，然後說一句為什麼。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（老師在白板上開一個表格，記每組撐了幾秒，還有當時的三個數字。）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全部記完之後，帶全班看三件事：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有沒有兩組完全一樣？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（通常沒有。這件事本身就值得講：同一個問題，不同的人配出不同的解。）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撐最久的那一組，用的是哪三個數字？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（這裡要揭曉我剛剛保留的那件事。先問全班一個問題。）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我先問各位：三個參數全部拉到最大的那一組，是不是撐最久的？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（通常不是，這個結果會讓學生意外。）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我自己實測的結果是這樣。射線三十條、長度四十五公尺、張角一百二十度，大約撐三十四秒。三個全部拉到滿檔——六十條、六十公尺——只多撐到四十二秒，沒有再進步了。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為什麼？回想第二節那張圖：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射線的數量是固定的，攤得愈廣就愈稀。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張角從一百二十度放大到一百五十度，聽起來看得更廣，可是我實測反而掉到二十七秒，因為每一條射線之間的縫變大了，機車就是從那個縫鑽進來的。反過來把張角收到九十度，也只剩二十二秒，因為側面來的車完全看不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一百二十度左右是最好的。這個「甜蜜點」不是我告訴各位的，是各位自己調出來的。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第三，這是最重要的一件事——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把所有數字看成一片，它們會集中在某個範圍。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（在白板上把範圍圈出來，例如射線 20–35 條、長度 30–50 公尺、張角 100–140 度。）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那個範圍有一個名字：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河內尖峰的最低感測器規格。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它不是我給各位的，是全班一起掃出來的。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（把白板拍照留下。第五週第一節開場，我會拿真正的光達規格表來跟這張照片對照——那時候各位會發現，自己掃出來的範圍，跟真實產品的規格意外地接近。）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活動，四人一組，每題一分鐘。對或錯，再說一句理由。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（四題都唸完再開始討論，不要一題一題來。）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提示我給四個關鍵詞：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一百一十億英里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三種落差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射線會變稀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世界是照誰做的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（一分鐘後收答案，下一頁公布。）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四句都錯。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而且每一句錯的方式不一樣。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錯在單位。要用里程證明，需要一百一十億英里，而且大多是無聊的直路。正確的單位是場景——這是今天第二節整節在講的事。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錯在以為模擬等於現實。三種落差：外觀、行為、物理。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（這裡給一個比喻）模擬是一個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篩子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。通過篩子不代表你安全，只代表你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拿到了上真車測試的門票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。沒通過的連門票都沒有。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錯在「愈多愈好」。張角愈大，同樣的射線數就愈稀；射線愈多，電腦算得愈慢。真車的解法是好幾顆感測器分工，不是一顆全包。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（各位今天掃參數的時候，應該已經自己體會到了：張角一百二十度大約撐三十四秒，放大到一百五十度反而掉到二十七秒。射線被攤稀了，機車就從縫裡鑽進來。）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錯在以為工具是中立的。現成模擬器裡的世界、車輛、行為，都是照歐美做的。沒有機車海、沒有騎樓、沒有河內那種靠眼神的圓環。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（這四句話，是今天三節課的總複習。如果各位都答對了，今天的課就沒有白上。）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第二章到這裡結束。下週開始講眼睛和耳朵。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下週第五週，十月八日，進第三章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。第一次講相機和光達的原理與規格判讀。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三件事：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交第三週和第四週的任務單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，每組一張。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第二，做講義 2.8 的選擇題，附錄二有答案。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第三，這件最重要：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用手機拍一張你覺得「相機會看不清楚」的路況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，逆光、下雨或夜間都可以，帶來。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（下週會把學生拍的照片投影出來一起看。這比任何教科書的例子都有效，因為那是他們自己走過的路。）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第三章是整學期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最直觀的一章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，也是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最接近台灣就業市場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的一章——車用鏡頭、車用光達，台灣都有在做。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20700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4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572768"/>
            <a:ext cx="7498080" cy="8854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Cấu hình cảm biến cho Hà Nội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90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為河內配一組感測器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2787554"/>
            <a:ext cx="1371600" cy="41148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2988722"/>
            <a:ext cx="7132320" cy="833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câu, hai người một nhóm, một tờ giấy. Đáp án mang thẳng sang đề tài cuối kỳ.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四題，兩人一組，一張紙。答案直接帶到期末專題。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02920" y="3895344"/>
            <a:ext cx="5943600" cy="384048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0936" y="3941064"/>
            <a:ext cx="5687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ch-neural.github.io/MITUST-Principles-of-Self-Driving-Cars/week4/sim/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37083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第四週 第 3 節　2026/10/01（四）11:10–12:00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56616" y="310896"/>
            <a:ext cx="2212848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câu, làm theo thứ tự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四題，照順序做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7957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7957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nó đâm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先看它怎麼撞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Chưa đổi gì cả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lần va chạm đầu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什麼都不要改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記前三次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3317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260604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8269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826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73405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tham số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掃參數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73405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Trụ được lâu nhất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lần lấy lần tốt nhất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撐最久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跑 3 次取最好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43484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470916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858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858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3717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Bật mưa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打開雨天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3717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Trụ được bao lâu?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gì, vì sao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這次撐多久？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改什麼、為什麼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681228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8893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8893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94029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chữ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文字題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94029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Tia = cảm biến nào?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Thiếu gì?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射線＝哪種感測器？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少了什麼？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đầu có con số, câu cuối viết chữ. Nộp một tờ mỗi nhóm trước khi hết giờ.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前三題有數字，最後一題寫字。每組一張紙，下課前交。</a:t>
            </a:r>
            <a:endParaRPr lang="en-US" sz="1250" dirty="0"/>
          </a:p>
        </p:txBody>
      </p:sp>
      <p:pic>
        <p:nvPicPr>
          <p:cNvPr id="28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11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 · 第一題（5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«Giờ cao điểm Hà Nội». Đừng đổi gì cả. Xem nó đâm trong tình huống nào.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按「河內尖峰」。什麼都不要改。看它撞在什麼情況。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Chạy ba lần. Mỗi lần đâm xong đọc dòng cuối trong cột sự kiện bên phải.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跑三次。每次撞了就看右欄事件紀錄的最後一行。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Ghi lại nguyên nhân của ba lần: xe máy lách khe? người đi bộ? xe tải đỗ sai?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記下三次的原因：機車鑽縫？行人？違停的貨車？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lần có giống nhau không? Đây mới là câu hỏi thật.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三次的原因一樣嗎？這才是真正要問的。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tham số, ba lần ba kiểu — nên phải chạy nhiều lần.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同一組參數，三次不一樣——所以要跑很多次。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11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2 · 第二題（15 分鐘，今天的主菜）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Chỉnh ba tham số, sao cho xe trụ được LÂU NHẤT trước khi đâm. Chạy 3 lần, lấy lần tốt nhất.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調三個參數，讓車子在撞車前撐得最久。跑三次，取最好的那一次。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tham số: số tia · chiều dài tia · góc quét. Đổi MỘT cái một lần, đừng đổi cả ba cùng lúc.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三個參數：射線數・射線長度・張角。一次只改一個，不要三個一起改。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Nhắc lại tiết 1: chạy 50 km/h thì tia không được ngắn hơn 25 m.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提醒：第一節算過，時速 50 的話射線不能短於 25 公尺。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Nộp: số giây trụ được lâu nhất, kèm ba con số lúc đó.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要交的是：撐最久的那個秒數，加上當時的三個數字。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nhóm nào qua được 90 giây — kể cả khi kéo cả ba lên tối đa. Đó chính là bài học.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沒有一組能撐過 90 秒——就算三個都拉到最大也一樣。這正是這一題要教的事。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11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3 · 第三題（5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 nguyên ba con số vừa tìm được, bật mưa lên. Trụ được bao lâu?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三個數字不要動，把雨天打開。這次撐得了多久？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hai thứ: số lần đọc sót, và tia bị ngắn đi bao nhiêu.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看兩件事：漏讀次數、射線變短多少。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 bẫy: tia ngắn đi rồi, thì quãng đường phanh có ngắn đi theo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陷阱題：射線變短了，那煞停距離有跟著變短嗎？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Ngắn đi bao nhiêu giây? Bạn đổi gì để kéo lại? Ghi lại đổi gì và VÌ SAO.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少撐了幾秒？你要改什麼把它拉回來？寫下改了什麼、還有為什麼。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đáp án đều đúng: giảm tốc độ, hoặc tăng số tia để bù phần đọc sót. Lý do khác nhau.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兩個答案都對：降低車速，或加射線數補漏讀。理由不一樣。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11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4 · 第四題（5 分鐘，文字題）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«Tia» trong mô phỏng này, trên xe thật là cảm biến nào? Nó thiếu những khả năng gì?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模擬器裡的「射線」，在真車上是哪一種感測器？它少了哪些能力？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Gợi ý: nó không thấy màu, không thấy vạch kẻ đường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提示：它看不到顏色、看不到車道線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Gợi ý: nó không phân biệt được người với cột điện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提示：它分不出那是人還是一根柱子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Gợi ý: nó không biết chiếc xe máy đó giây sau sẽ lách sang đâu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提示：它不知道那台機車下一秒要往哪裡鑽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ba câu. Tờ giấy này tuần 8 sẽ lấy ra đối chiếu lại.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寫三句話。這張紙第八週會拿出來對照。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11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Thêm · 多一個按鈕（有做完的組別）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H="1" flipV="1">
            <a:off x="657831" y="2306044"/>
            <a:ext cx="459932" cy="265542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 flipV="1">
            <a:off x="776389" y="2164752"/>
            <a:ext cx="341374" cy="406834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H="1" flipV="1">
            <a:off x="936121" y="2072530"/>
            <a:ext cx="181641" cy="499055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117763" y="2040502"/>
            <a:ext cx="0" cy="531084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17763" y="2072530"/>
            <a:ext cx="181641" cy="499055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117763" y="2164752"/>
            <a:ext cx="341374" cy="406834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117763" y="2306044"/>
            <a:ext cx="459932" cy="265542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69080" y="2522903"/>
            <a:ext cx="97365" cy="97365"/>
          </a:xfrm>
          <a:prstGeom prst="ellipse">
            <a:avLst/>
          </a:prstGeom>
          <a:solidFill>
            <a:srgbClr val="2E6E4E"/>
          </a:solidFill>
          <a:ln/>
        </p:spPr>
      </p:sp>
      <p:sp>
        <p:nvSpPr>
          <p:cNvPr id="12" name="Shape 10"/>
          <p:cNvSpPr/>
          <p:nvPr/>
        </p:nvSpPr>
        <p:spPr>
          <a:xfrm>
            <a:off x="2002902" y="2005096"/>
            <a:ext cx="708111" cy="708111"/>
          </a:xfrm>
          <a:prstGeom prst="donut">
            <a:avLst/>
          </a:prstGeom>
          <a:solidFill>
            <a:srgbClr val="2E6E4E">
              <a:alpha val="4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711013" y="2359152"/>
            <a:ext cx="177028" cy="0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63579" y="2536180"/>
            <a:ext cx="153311" cy="88514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33985" y="2665773"/>
            <a:ext cx="88514" cy="153311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56957" y="2713208"/>
            <a:ext cx="0" cy="177028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H="1">
            <a:off x="2091416" y="2665773"/>
            <a:ext cx="88514" cy="153311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H="1">
            <a:off x="1897026" y="2536180"/>
            <a:ext cx="153311" cy="88514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H="1">
            <a:off x="1825874" y="2359152"/>
            <a:ext cx="177028" cy="0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H="1" flipV="1">
            <a:off x="1897026" y="2093610"/>
            <a:ext cx="153311" cy="88514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H="1" flipV="1">
            <a:off x="2091416" y="1899220"/>
            <a:ext cx="88514" cy="153311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H="1" flipV="1">
            <a:off x="2356957" y="1828068"/>
            <a:ext cx="0" cy="177028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2533985" y="1899220"/>
            <a:ext cx="88514" cy="153311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2663579" y="2093610"/>
            <a:ext cx="153311" cy="88514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08275" y="2310469"/>
            <a:ext cx="97365" cy="97365"/>
          </a:xfrm>
          <a:prstGeom prst="ellipse">
            <a:avLst/>
          </a:prstGeom>
          <a:solidFill>
            <a:srgbClr val="2E6E4E"/>
          </a:solidFill>
          <a:ln/>
        </p:spPr>
      </p:sp>
      <p:sp>
        <p:nvSpPr>
          <p:cNvPr id="26" name="Shape 24"/>
          <p:cNvSpPr/>
          <p:nvPr/>
        </p:nvSpPr>
        <p:spPr>
          <a:xfrm>
            <a:off x="1648846" y="2292492"/>
            <a:ext cx="177028" cy="133320"/>
          </a:xfrm>
          <a:prstGeom prst="rightArrow">
            <a:avLst/>
          </a:prstGeom>
          <a:solidFill>
            <a:srgbClr val="9AA6B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429000" y="1319005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Nút mới: đổi giữa LiDAR cố định và LiDAR quay 360°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新按鈕：固定式光達 ↔ 360° 旋轉式光達</a:t>
            </a:r>
            <a:endParaRPr lang="en-US" sz="2300" dirty="0"/>
          </a:p>
        </p:txBody>
      </p:sp>
      <p:sp>
        <p:nvSpPr>
          <p:cNvPr id="28" name="Text 26"/>
          <p:cNvSpPr txBox="1"/>
          <p:nvPr/>
        </p:nvSpPr>
        <p:spPr>
          <a:xfrm>
            <a:off x="3429000" y="2416057"/>
            <a:ext cx="5212080" cy="107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Loại cố định chỉ nhìn phía trước, nhưng dữ liệu luôn mới. Loại quay nhìn được vòng quanh, nhưng mỗi hướng chỉ được cập nhật mỗi vòng một lần — lúc bạn nhìn nó, số liệu đó có thể đã cũ.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固定式只看前方，但資料永遠是最新的。旋轉式看得到一圈，但每個方向每轉一圈才更新一次——你看它的時候，那筆資料可能已經是舊的。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Nhóm nào xong sớm: thử đổi sang loại quay, xem ba con số của bạn có còn dùng được không.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提早做完的組別：切到旋轉式，看你們那三個數字還管不管用。</a:t>
            </a:r>
            <a:endParaRPr lang="en-US" sz="1250" dirty="0"/>
          </a:p>
        </p:txBody>
      </p:sp>
      <p:pic>
        <p:nvPicPr>
          <p:cNvPr id="32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11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Lên bảng · 上台（10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nhóm 30 giây: chỉnh ba con số của nhóm cho cả lớp xem, nói một câu vì sao.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每組 30 秒：把你們的三個數字調給全班看，說一句為什麼。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Thầy ghi lên bảng: số giây trụ được · số tia · chiều dài · góc quét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老師在白板上記：撐了幾秒・射線數・長度・張角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có hai nhóm nào ra giống hệt nhau không. Nhóm trụ lâu nhất dùng ba con số nào?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看有沒有兩組完全一樣。撐最久的那一組，用的是哪三個數字？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 đáp án chuẩn — nhưng các con số sẽ tụ lại trong một khoảng.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沒有標準答案——但各組的數字會集中在某個範圍。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đó = «thông số tối thiểu cho giờ cao điểm Hà Nội». Tuần 5 đối chiếu bảng thật.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那個範圍就是「河內尖峰的最低感測器規格」。第五週拿真規格表來對。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11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Hoạt động · 這句話對不對（每題 1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dưới đây. Đúng hay sai, và nói một câu lý do.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下面四句話。對或錯，再說一句理由。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Xe tự lái chạy đủ nhiều km thì chứng minh được nó an toàn.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自駕車跑得夠多公里，就能證明它安全。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Trong mô phỏng không đâm thì xe thật cũng sẽ không đâm.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在模擬器裡不撞，真車就不會撞。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Càng nhiều tia càng tốt, góc quét càng rộng càng tốt.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射線數愈多愈好，張角愈大愈好。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Mô phỏng có sẵn là test được đường Việt Nam? Thế giới trong đó là của ai?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現成模擬器就能測越南的路況？裡面的世界是照誰做的？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11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· 答案：四句都錯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đều sai — và mỗi câu sai một kiểu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四句都錯——而且每一句錯的方式不一樣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975104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938528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Cần 11 tỉ dặm, mà phần lớn là đường thẳng buồn tẻ. Đơn vị đúng là kịch bản.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要一百一十億英里，而且大多是無聊的直路。正確的單位是場景。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88336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517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Ba khoảng cách: hình ảnh, hành vi, vật lý. Mô phỏng là cái sàng — qua được chỉ là lấy vé lên xe thật.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三種落差：外觀、行為、物理。模擬是一個篩子——通過只是拿到上真車的門票。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62217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5256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Góc rộng thì cùng số tia đó thưa đi; tia nhiều thì máy tính chậm lại. Xe thật là mấy cảm biến chia việc.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張角大，同樣的射線就變稀；射線多，電腦算得慢。真車是好幾顆感測器分工。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11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sau · 下週預告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5, 8/10: vào chương 3, cảm biến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5 週，10 月 8 日：進第三章，感測器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975104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938528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Nộp: phiếu bài tập tuần 3 và tuần 4, mỗi nhóm một tờ.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要交：第三週和第四週的任務單，每組一張。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88336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517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Làm: câu trắc nghiệm ở 2.8 trong giáo trình. Đáp án ở phụ lục 2.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要做：講義 2.8 的選擇題。附錄二有答案。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401568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3649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Mang: một ảnh chụp bằng điện thoại — một tình huống bạn nghĩ camera sẽ nhìn không rõ.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要帶：用手機拍一張你覺得「相機會看不清楚」的路況。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11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2026-09-22T03:52:19Z</dcterms:created>
  <dcterms:modified xsi:type="dcterms:W3CDTF">2026-09-22T03:52:19Z</dcterms:modified>
</cp:coreProperties>
</file>