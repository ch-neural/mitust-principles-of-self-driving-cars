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第一節我們講了三個規格、三種落差。這一節要回答一個問題：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那到底要怎麼測，才知道一台自駕車安全？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先回想第一章那個數字——要用「跑里程」的方式證明自駕車比人安全，需要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。就算一百台車全年無休跑時速二十五英里，也要五百年。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所以里程不是好的測試單位。這一節要告訴各位，業界用的是什麼。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先講清楚為什麼里程是錯的單位。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假設有一台自駕車，在高速公路上直直跑了一萬公里，一次事故都沒有。它安全嗎？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會有人說安全，也會有人說不一定。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它只證明了一件事：它很會走直線。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真實道路上的里程，絕大部分是無聊的——直行、沒有人切進來、什麼事都沒發生。而決定一台車安不安全的，是那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幾秒鐘的罕見狀況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：小孩突然從車陣中衝出來、前車急煞、機車從右側死角鑽上來。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這裡有個殘酷的事實：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你一直跑，不保證遇得到那幾秒鐘。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有些狀況可能跑十萬公里才遇到一次。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我們回頭看第一章那個數字。這就是為什麼需要一百一十億英里——因為你得靠「跑很多」來換「碰巧遇到」。這太沒效率了。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所以問題要改成：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不是「跑了幾公里」，而是「遇過哪些狀況」。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而「狀況」這個詞，在這一行有一個正式的名字：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英文叫 scenario。。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「場景」這個詞聽起來很模糊。所以業界把它分成三層，從模糊到精確。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一層一層講，每一層我都用同一個例子：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前車急煞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就是用人話寫一句：「前車急煞」。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（問全班）這句話，不是工程師的人看得懂嗎？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答案是看得懂。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對，這就是功能場景的價值——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任何人都能參與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。安全部門、法務、甚至客服接到的客訴，都可以變成功能場景。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但它有個問題：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你沒辦法拿它來測試。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前車在幾公尺外？減速度多少？自車開多快？通通沒有。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所以功能場景的用途是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列清單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：把所有可能發生的事寫下來。這個階段愈多愈好，不怕重複。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講一個實際的例子。Waymo 的工程師每次安全員介入，都要寫一句話描述發生了什麼事。那一句話就是功能場景。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把功能場景加上參數，但每個參數不是一個值，是一個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範圍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同樣是「前車急煞」，寫成邏輯場景就變成：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前車在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二十到六十公尺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處，以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三到八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m/s² 減速，自車時速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四十到七十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（問全班）為什麼要用範圍，不直接給一個數字？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這題有點難，大家先想一下。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因為真實世界不會剛好是某個數字。前車可能在二十一公尺，也可能在五十九公尺。你要測的是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整個範圍內都安全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，不是某一個特定的點安全。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這一層最重要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，因為它是「可以交給電腦去展開」的形式。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而且，這也是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期末專題要各位寫的那一層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。等一下我會示範怎麼從功能場景寫成邏輯場景。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第三層：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把剛剛那些範圍，每一個都固定成一個值：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剛好三十五公尺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，減速度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，自車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剛好時速五十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這才是模擬器真的跑得起來的東西。跑一次，出一個結果：撞了，或沒撞。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現在關鍵的一步來了。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一個邏輯場景，可以展開成幾個具體場景？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距離二十到六十，每一公尺取一個，四十一個值。減速度三到八，每零點五取一個，十一個值。速度四十到七十，每五公里取一個，七個值。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（在白板上寫）四十一 × 十一 × 七 ＝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三千一百五十七個具體場景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而這只是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功能場景展開出來的。你有五百個功能場景，就是一百五十萬個具體場景。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這就是模擬真正的用法。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所以模擬真正的用法是什麼？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固定一個場景，把一個參數改一點點，重跑。再改一點點，再跑。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跑完三千次之後，你得到的不是「有沒有撞」，而是一條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界線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「前車在三十五公尺外、減速度六以下，我們都能停住。超過六，我們在三十公尺以內就停不住了。」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這句話我寫在白板上。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這條界線就是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能力邊界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——而能力邊界，正是第二週講的 ODD 要寫進去的東西。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（回頭連結）看到了嗎？第二週的 ODD、第三週的感測器邊界、今天的掃參數，講的是同一件事：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你要說得出自己的界線在哪裡。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最後看底下那句：這件事真實道路做不到。你沒辦法叫同一台機車，用完全一樣的角度、速度、位置，切進來三千次。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所以模擬不是「比較便宜的測試」，它是唯一做得到這件事的工具。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剛剛講的三層，聽起來很抽象。但各位上週已經全部用過了，只是不知道它們的名字。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六個預設按鈕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——「河內尖峰」「雨夜」——那就是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功能場景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。用人話講的一個狀況。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滑桿可以拉的範圍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——射線三到六十、長度十到一百二十、張角二十到一百八十——那就是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。它定義了「所有可能的組合」。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滑桿停在某一個位置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——十二條、四十公尺、九十度——那就是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具體場景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。按開始，跑一次，出一個結果。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請大家看著自己的螢幕對照一次，這比我講十遍有用。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所以第三節的任務二，各位要做的事情有一個正式名稱，叫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：河內尖峰那個場景不動，只改三個數字，找出讓車子跑得起來的那組值。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而各組找到的那組數字合起來，會落在某一個範圍——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那個範圍就是「河內尖峰的最低感測器規格」。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講了這麼多層，各位可能還是覺得抽象。我放一支影片，讓各位看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一個場景在真實世界長什麼樣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 Euro NCAP，歐洲的新車安全評鑑，官方頻道。這支測的是自動緊急煞車對腳踏車。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我們播兩分鐘。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看的時候注意一件事：Euro NCAP 的測試規程裡，那個假人腳踏車是用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固定的速度、從固定的位置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衝出來的。軌道、速度、時間點，全部都事先訂好。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那就是具體場景。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每一次測試都必須跟上一次一模一樣，否則不同車款之間沒辦法比較。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看完問兩個問題。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第一，為什麼要用假人，不用真人？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答案是危險。這就呼應第一節講的「模擬能做真實做不到的事」——在真實世界裡，他們是用假人來達到類似的效果。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第二，這個問題比較重要：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Euro NCAP 有沒有「十二台機車圍著你」的場景？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答案是沒有。它有「一台機車」的場景，而且是二〇二三年才加進去的。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所以如果一台車拿了 Euro NCAP 五顆星，它在河內就一定安全嗎？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這一句我想聽大家自己說出「不一定」，那就是下一段要講的事。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剛剛那個問題很好：Euro NCAP 沒有機車海的場景。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那場景到底是從哪裡來的？誰決定要測哪些？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三個來源。一個一個看。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第一個來源：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法規與標準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Euro NCAP 就是一個。它測自動緊急煞車，對車、對行人，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二〇二三年才加上機車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 ISO 34502，那是一個框架，規定場景應該怎麼寫——它不告訴你要測什麼，它告訴你「場景這個東西應該長什麼樣」。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（問全班）法規來的場景，優點是什麼？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答案是：明確、大家都要做、可以比較。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對。缺點呢？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這題比較難，我給一點提示。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第一，數量少。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幾十個場景，跟真實世界的複雜度比起來是九牛一毛。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第二，它永遠落後現實。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機車的場景二〇二三年才加——但機車在亞洲已經跑了幾十年了。法規是等問題出現、等事故累積、等社會有共識，才會動。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所以法規是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地板，不是天花板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。通過法規只代表你沒有低於最低標準。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第二個來源：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事故資料庫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德國有一個叫 GIDAS 的資料庫，非常詳細地記錄每一起交通事故：當時車速多少、從哪個角度撞上、視線被什麼擋住、天氣如何。美國的 NHTSA 也有類似的。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它的做法是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把真實發生過的事故還原成一個場景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，然後拿去問「如果當時是自駕車，它會不會也撞？」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（停一下）這個來源有一個很重的份量，請各位注意：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每一個場景，都真的傷過人。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不是誰在辦公室裡想像出來的。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所以當一家公司說「我們通過了三千個事故場景的測試」，那句話的意思是：三千件真實的悲劇，被拿來當成檢查表。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這也回答了一個常見的問題：為什麼自駕車的測試看起來這麼保守、這麼慢？因為它的清單是用別人的代價寫出來的。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第三個來源，也是最有意思的一個：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從實際道路上長出來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它的做法是這樣。測試車在路上跑，車上有安全員。只要安全員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手一碰方向盤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——系統就自動把那前後幾秒切出來，做成一個場景，存進資料庫。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每一次急煞，也一樣。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（問全班）為什麼要用「安全員介入」當作觸發條件？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大家想一下。答案是：安全員介入代表「有一個人覺得這台車做得不夠好」，那正是你最想蒐集的東西。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這個做法有個很漂亮的地方：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它會自己成長。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車跑得愈多，場景庫愈大；場景庫愈大，測試愈完整；測試愈完整，車開得愈好。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和 Cruise 的場景庫以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數萬計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，而且每天都在長。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我補一個今年的發展。Waymo 在二〇二六年二月發表了一套生成式的模擬模型，建立在 DeepMind 的 Genie 3 上面，可以自己「長」出沒發生過的罕見狀況——龍捲風、淹水的街道，甚至路上有一頭大象。
</a:t>
            </a:r>
          </a:p>
          <a:p>
            <a:pPr algn="l">
              <a:lnSpc>
                <a:spcPct val="115000"/>
              </a:lnSpc>
              <a:spcAft>
                <a:spcPts val="550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規模的數字也值得記一下：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每天有兩萬五千台虛擬的 Waymo 在跑，一天跑一千萬英里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。拿來跟第一章那個一百一十億英里對照——用模擬，一千多天就跑完了；用真車，要五百年。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三個來源講完了。現在把它們合起來看，會看到一個洞。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先看左邊，現成的場景庫，一萬個以上的場景，完整、驗證過、拿來就能用。聽起來很夠了。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但是——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（指右邊）各位每天在路上遇到的那件事，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哪一個場景庫裡有？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（讓學生自己說。）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先看法規標準。Euro NCAP 有「一台機車」，二〇二三年才加的，沒有「十二台圍著你」。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再看事故資料庫。GIDAS 是德國的，NHTSA 是美國的。德國和美國的街上，沒有機車海。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最後看實路收集。Waymo 是在鳳凰城和舊金山收集的，那裡也沒有機車海。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所以這一塊，三個來源都補不到。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這不是抱怨。反過來想：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如果一個問題，全世界的資料庫裡都沒有答案，而你剛好每天都在現場——那就是你的題目。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期末專題如果有人要做「台灣或越南的交通場景庫」，我非常歡迎，而且我認為那比再做一次歐美已經做過的題目有價值得多。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最後這一段是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期末專題的預習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，請各位認真聽。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還記得第一章那支河內的影片嗎？那支影片有十段字幕。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那十段字幕，就是十個功能場景。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期末專題要各位做的事，就是把它們寫成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邏輯場景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。我示範兩個。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第二段字幕：「你前方五公尺內有十二台機車。」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這是功能場景。寫成邏輯場景：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前方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三到八公尺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內，機車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八到十五台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，速度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時速十五到三十五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，橫向間距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零點五到一點五公尺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我在白板上寫出來，讓大家看清楚一句話怎麼變成四個範圍。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第四段字幕：「一台違停的貨車。」寫成：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貨車佔車道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百分之三十到六十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十到四十公尺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，旁邊車道每十公尺有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零到三台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我再示範一個。第七段「圓環，沒有號誌」，可以寫成：進入速度十到二十五公里、同時進入兩到六台、讓與不讓的機率各半。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看出規律了嗎？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每一個模糊的詞，都要變成一個帶單位的範圍。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「很多機車」不行，「八到十五台」才行。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回家作業是這樣：挑一個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的場景，自己寫一個。綠燈起步機車扇形散開、待轉區、騎樓並排停車開門——都可以。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這一題下週要收，它會影響各位期末專題的起手式。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第二節到這裡。三句話帶走。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場景三層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：功能場景用人話、邏輯場景給範圍、具體場景給一個值。期末專題要寫的是中間那一層。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模擬的用法是掃參數，找出界線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，不是拚里程。跑一萬公里證明不了什麼，把一個場景掃過三千個組合，才知道自己的邊界在哪。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場景來自三個地方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：法規、事故資料庫、實路收集。但機車海哪一個來源都沒有——那是各位的機會。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第三節上機，各位要做的事，現在有正式的名字了：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為河內這個場景，掃出一組最低的感測器規格。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fWZQGcMN3Vc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883806"/>
            <a:ext cx="4936051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1143598"/>
            <a:ext cx="5325739" cy="628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4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bằng số km là sai đơn vị</a:t>
            </a:r>
            <a:endParaRPr lang="en-US" sz="241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用「跑了幾公里」來衡量，單位就選錯了</a:t>
            </a:r>
            <a:endParaRPr lang="en-US" sz="2410" dirty="0"/>
          </a:p>
        </p:txBody>
      </p:sp>
      <p:sp>
        <p:nvSpPr>
          <p:cNvPr id="6" name="Shape 4"/>
          <p:cNvSpPr/>
          <p:nvPr/>
        </p:nvSpPr>
        <p:spPr>
          <a:xfrm>
            <a:off x="1681812" y="2006437"/>
            <a:ext cx="974221" cy="29227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681812" y="2149323"/>
            <a:ext cx="5065947" cy="591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 đúng là kịch bản — và cách dùng mô phỏng là quét tham số, không phải chạy đường dài</a:t>
            </a:r>
            <a:endParaRPr lang="en-US" sz="10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正確的單位是「場景」——模擬的用法是掃參數，不是跑里程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1681812" y="2793278"/>
            <a:ext cx="4221622" cy="272782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772740" y="2825752"/>
            <a:ext cx="4039768" cy="207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1681812" y="3131008"/>
            <a:ext cx="4936051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2 節　2026/10/01（四）10:10–11:00　CH Tseng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1577895" y="247315"/>
            <a:ext cx="1571743" cy="532574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1812" y="364222"/>
            <a:ext cx="1363909" cy="301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325253"/>
            <a:ext cx="578037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Vấn đề · 問題在哪</a:t>
            </a:r>
            <a:endParaRPr lang="en-US" sz="890" dirty="0"/>
          </a:p>
        </p:txBody>
      </p:sp>
      <p:sp>
        <p:nvSpPr>
          <p:cNvPr id="3" name="Shape 1"/>
          <p:cNvSpPr/>
          <p:nvPr/>
        </p:nvSpPr>
        <p:spPr>
          <a:xfrm>
            <a:off x="1681812" y="809116"/>
            <a:ext cx="1753597" cy="1786071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2087088" y="1260245"/>
            <a:ext cx="377218" cy="883813"/>
          </a:xfrm>
          <a:prstGeom prst="line">
            <a:avLst/>
          </a:prstGeom>
          <a:noFill/>
          <a:ln w="17780">
            <a:solidFill>
              <a:srgbClr val="9AA6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2652915" y="1260245"/>
            <a:ext cx="377218" cy="883813"/>
          </a:xfrm>
          <a:prstGeom prst="line">
            <a:avLst/>
          </a:prstGeom>
          <a:noFill/>
          <a:ln w="17780">
            <a:solidFill>
              <a:srgbClr val="9AA6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39750" y="2065146"/>
            <a:ext cx="37722" cy="78912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7" name="Shape 5"/>
          <p:cNvSpPr/>
          <p:nvPr/>
        </p:nvSpPr>
        <p:spPr>
          <a:xfrm>
            <a:off x="2543051" y="1858002"/>
            <a:ext cx="31121" cy="65102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8" name="Shape 6"/>
          <p:cNvSpPr/>
          <p:nvPr/>
        </p:nvSpPr>
        <p:spPr>
          <a:xfrm>
            <a:off x="2546351" y="1650859"/>
            <a:ext cx="24519" cy="51293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9" name="Shape 7"/>
          <p:cNvSpPr/>
          <p:nvPr/>
        </p:nvSpPr>
        <p:spPr>
          <a:xfrm>
            <a:off x="2549652" y="1443715"/>
            <a:ext cx="17918" cy="37483"/>
          </a:xfrm>
          <a:prstGeom prst="rect">
            <a:avLst/>
          </a:prstGeom>
          <a:solidFill>
            <a:srgbClr val="C8D3D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772740" y="1039292"/>
            <a:ext cx="1571743" cy="252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A33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km</a:t>
            </a:r>
            <a:endParaRPr lang="en-US" sz="710" dirty="0"/>
          </a:p>
        </p:txBody>
      </p:sp>
      <p:sp>
        <p:nvSpPr>
          <p:cNvPr id="11" name="Text 9"/>
          <p:cNvSpPr txBox="1"/>
          <p:nvPr/>
        </p:nvSpPr>
        <p:spPr>
          <a:xfrm>
            <a:off x="3760150" y="891209"/>
            <a:ext cx="3702038" cy="714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mười nghìn km đường thẳng không chứng minh được gì cả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9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在直路上跑一萬公里，什麼都證明不了</a:t>
            </a:r>
            <a:endParaRPr lang="en-US" sz="1630" dirty="0"/>
          </a:p>
        </p:txBody>
      </p:sp>
      <p:sp>
        <p:nvSpPr>
          <p:cNvPr id="12" name="Text 10"/>
          <p:cNvSpPr txBox="1"/>
          <p:nvPr/>
        </p:nvSpPr>
        <p:spPr>
          <a:xfrm>
            <a:off x="3760150" y="1670423"/>
            <a:ext cx="3702038" cy="90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lớn quãng đường trên đường thật là những đoạn buồn tẻ: đi thẳng, không ai cắt ngang, không có gì xảy ra. Thứ quyết định an toàn lại là vài giây hiếm hoi — mà chạy dài chưa chắc gặp được.</a:t>
            </a:r>
            <a:endParaRPr lang="en-US" sz="8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真實道路上的里程，絕大部分是無聊的：直行、沒人切進來、什麼都沒發生。決定安不安全的是那幾秒鐘的罕見狀況——而一直跑，不保證遇得到。</a:t>
            </a:r>
            <a:endParaRPr lang="en-US" sz="890" dirty="0"/>
          </a:p>
        </p:txBody>
      </p:sp>
      <p:sp>
        <p:nvSpPr>
          <p:cNvPr id="13" name="Shape 11"/>
          <p:cNvSpPr/>
          <p:nvPr/>
        </p:nvSpPr>
        <p:spPr>
          <a:xfrm>
            <a:off x="1681812" y="2806268"/>
            <a:ext cx="5780375" cy="441647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11708" y="2858226"/>
            <a:ext cx="5520583" cy="350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nên câu hỏi không phải «chạy được bao nhiêu km», mà là «đã gặp qua những tình huống nào».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所以問題不是「跑了幾公里」，而是「遇過哪些狀況」。</a:t>
            </a:r>
            <a:endParaRPr lang="en-US" sz="890" dirty="0"/>
          </a:p>
        </p:txBody>
      </p:sp>
      <p:pic>
        <p:nvPicPr>
          <p:cNvPr id="16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640" dirty="0"/>
          </a:p>
        </p:txBody>
      </p:sp>
      <p:sp>
        <p:nvSpPr>
          <p:cNvPr id="18" name="Text 14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6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1228031"/>
            <a:ext cx="3247402" cy="220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1481328"/>
            <a:ext cx="5195843" cy="844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0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có ba tầng</a:t>
            </a:r>
            <a:endParaRPr lang="en-US" sz="20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場景分成三層</a:t>
            </a:r>
            <a:endParaRPr lang="en-US" sz="2060" dirty="0"/>
          </a:p>
        </p:txBody>
      </p:sp>
      <p:sp>
        <p:nvSpPr>
          <p:cNvPr id="7" name="Text 4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640" dirty="0"/>
          </a:p>
        </p:txBody>
      </p:sp>
      <p:sp>
        <p:nvSpPr>
          <p:cNvPr id="8" name="Text 5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6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325253"/>
            <a:ext cx="578037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1 / 3 · 第一層</a:t>
            </a:r>
            <a:endParaRPr lang="en-US" sz="890" dirty="0"/>
          </a:p>
        </p:txBody>
      </p:sp>
      <p:sp>
        <p:nvSpPr>
          <p:cNvPr id="3" name="Shape 1"/>
          <p:cNvSpPr/>
          <p:nvPr/>
        </p:nvSpPr>
        <p:spPr>
          <a:xfrm>
            <a:off x="1681812" y="809116"/>
            <a:ext cx="1753597" cy="1786071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16335" y="1259206"/>
            <a:ext cx="684552" cy="885891"/>
          </a:xfrm>
          <a:prstGeom prst="roundRect">
            <a:avLst>
              <a:gd name="adj" fmla="val 5693"/>
            </a:avLst>
          </a:prstGeom>
          <a:solidFill>
            <a:srgbClr val="FFFFFF">
              <a:alpha val="0"/>
            </a:srgbClr>
          </a:solidFill>
          <a:ln w="31750">
            <a:solidFill>
              <a:srgbClr val="00A8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17004" y="1440411"/>
            <a:ext cx="483213" cy="50335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317004" y="1581348"/>
            <a:ext cx="483213" cy="50335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317004" y="1722285"/>
            <a:ext cx="483213" cy="50335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317004" y="1863222"/>
            <a:ext cx="483213" cy="50335"/>
          </a:xfrm>
          <a:prstGeom prst="rect">
            <a:avLst/>
          </a:prstGeom>
          <a:solidFill>
            <a:srgbClr val="00A896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317004" y="2004160"/>
            <a:ext cx="241607" cy="50335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60150" y="963355"/>
            <a:ext cx="3702038" cy="714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chức năng: viết bằng tiếng người, không có con số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9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功能場景：用人話寫，沒有數字</a:t>
            </a:r>
            <a:endParaRPr lang="en-US" sz="1630" dirty="0"/>
          </a:p>
        </p:txBody>
      </p:sp>
      <p:sp>
        <p:nvSpPr>
          <p:cNvPr id="11" name="Text 9"/>
          <p:cNvSpPr txBox="1"/>
          <p:nvPr/>
        </p:nvSpPr>
        <p:spPr>
          <a:xfrm>
            <a:off x="3760150" y="1742570"/>
            <a:ext cx="3702038" cy="763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«xe phía trước phanh gấp». Ai đọc cũng hiểu, kể cả người không làm kỹ thuật. Nhưng chưa test được, vì chưa có con số nào.</a:t>
            </a:r>
            <a:endParaRPr lang="en-US" sz="8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例子：「前車急煞」。任何人都看得懂，連不是工程師的人也懂。但還沒辦法拿來測，因為還沒有任何數字。</a:t>
            </a:r>
            <a:endParaRPr lang="en-US" sz="890" dirty="0"/>
          </a:p>
        </p:txBody>
      </p:sp>
      <p:sp>
        <p:nvSpPr>
          <p:cNvPr id="12" name="Shape 10"/>
          <p:cNvSpPr/>
          <p:nvPr/>
        </p:nvSpPr>
        <p:spPr>
          <a:xfrm>
            <a:off x="1681812" y="2806268"/>
            <a:ext cx="5780375" cy="441647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11708" y="2858226"/>
            <a:ext cx="5520583" cy="350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để làm gì: liệt kê ra hết những chuyện có thể xảy ra. Giai đoạn này càng nhiều càng tốt.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用途：把所有可能發生的事列出來。這個階段愈多愈好。</a:t>
            </a:r>
            <a:endParaRPr lang="en-US" sz="89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640" dirty="0"/>
          </a:p>
        </p:txBody>
      </p:sp>
      <p:sp>
        <p:nvSpPr>
          <p:cNvPr id="17" name="Text 13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6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325253"/>
            <a:ext cx="578037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2 / 3 · 第二層</a:t>
            </a:r>
            <a:endParaRPr lang="en-US" sz="890" dirty="0"/>
          </a:p>
        </p:txBody>
      </p:sp>
      <p:sp>
        <p:nvSpPr>
          <p:cNvPr id="3" name="Shape 1"/>
          <p:cNvSpPr/>
          <p:nvPr/>
        </p:nvSpPr>
        <p:spPr>
          <a:xfrm>
            <a:off x="1681812" y="809116"/>
            <a:ext cx="1753597" cy="1786071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92784" y="1320218"/>
            <a:ext cx="1131655" cy="69442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2196481" y="1320218"/>
            <a:ext cx="611093" cy="6944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6" name="Shape 4"/>
          <p:cNvSpPr/>
          <p:nvPr/>
        </p:nvSpPr>
        <p:spPr>
          <a:xfrm>
            <a:off x="1992784" y="1667430"/>
            <a:ext cx="1131655" cy="69442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7" name="Shape 5"/>
          <p:cNvSpPr/>
          <p:nvPr/>
        </p:nvSpPr>
        <p:spPr>
          <a:xfrm>
            <a:off x="2377546" y="1667430"/>
            <a:ext cx="633727" cy="6944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8" name="Shape 6"/>
          <p:cNvSpPr/>
          <p:nvPr/>
        </p:nvSpPr>
        <p:spPr>
          <a:xfrm>
            <a:off x="1992784" y="2014642"/>
            <a:ext cx="1131655" cy="69442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9" name="Shape 7"/>
          <p:cNvSpPr/>
          <p:nvPr/>
        </p:nvSpPr>
        <p:spPr>
          <a:xfrm>
            <a:off x="2105949" y="2014642"/>
            <a:ext cx="588460" cy="69442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60150" y="963355"/>
            <a:ext cx="3702038" cy="714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logic: thêm tham số, nhưng mỗi tham số là một KHOẢNG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9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邏輯場景：加上參數，但每個參數是一個「範圍」</a:t>
            </a:r>
            <a:endParaRPr lang="en-US" sz="1630" dirty="0"/>
          </a:p>
        </p:txBody>
      </p:sp>
      <p:sp>
        <p:nvSpPr>
          <p:cNvPr id="11" name="Text 9"/>
          <p:cNvSpPr txBox="1"/>
          <p:nvPr/>
        </p:nvSpPr>
        <p:spPr>
          <a:xfrm>
            <a:off x="3760150" y="1742570"/>
            <a:ext cx="3702038" cy="763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xe phía trước ở cách 20 đến 60 m, giảm tốc 3 đến 8 m/s², xe mình chạy 40 đến 70 km/h. Vẫn chưa test được, nhưng đã đủ chính xác để máy hiểu.</a:t>
            </a:r>
            <a:endParaRPr lang="en-US" sz="8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例子：前車在 20 到 60 公尺處，以 3 到 8 m/s² 減速，自車時速 40 到 70。還是不能直接測，但已經精確到電腦看得懂。</a:t>
            </a:r>
            <a:endParaRPr lang="en-US" sz="890" dirty="0"/>
          </a:p>
        </p:txBody>
      </p:sp>
      <p:sp>
        <p:nvSpPr>
          <p:cNvPr id="12" name="Shape 10"/>
          <p:cNvSpPr/>
          <p:nvPr/>
        </p:nvSpPr>
        <p:spPr>
          <a:xfrm>
            <a:off x="1681812" y="2806268"/>
            <a:ext cx="5780375" cy="441647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11708" y="2858226"/>
            <a:ext cx="5520583" cy="350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tầng quan trọng nhất — và cũng là tầng bài cuối kỳ yêu cầu các bạn viết.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這是最重要的一層——也是期末專題要各位寫的那一層。</a:t>
            </a:r>
            <a:endParaRPr lang="en-US" sz="89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640" dirty="0"/>
          </a:p>
        </p:txBody>
      </p:sp>
      <p:sp>
        <p:nvSpPr>
          <p:cNvPr id="17" name="Text 13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6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325253"/>
            <a:ext cx="578037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3 / 3 · 第三層</a:t>
            </a:r>
            <a:endParaRPr lang="en-US" sz="890" dirty="0"/>
          </a:p>
        </p:txBody>
      </p:sp>
      <p:sp>
        <p:nvSpPr>
          <p:cNvPr id="3" name="Shape 1"/>
          <p:cNvSpPr/>
          <p:nvPr/>
        </p:nvSpPr>
        <p:spPr>
          <a:xfrm>
            <a:off x="1681812" y="809116"/>
            <a:ext cx="1753597" cy="1786071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92784" y="1320218"/>
            <a:ext cx="1131655" cy="69442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2408105" y="1294966"/>
            <a:ext cx="119946" cy="119946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6" name="Shape 4"/>
          <p:cNvSpPr/>
          <p:nvPr/>
        </p:nvSpPr>
        <p:spPr>
          <a:xfrm>
            <a:off x="1992784" y="1667430"/>
            <a:ext cx="1131655" cy="69442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7" name="Shape 5"/>
          <p:cNvSpPr/>
          <p:nvPr/>
        </p:nvSpPr>
        <p:spPr>
          <a:xfrm>
            <a:off x="2679703" y="1642178"/>
            <a:ext cx="119946" cy="119946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8" name="Shape 6"/>
          <p:cNvSpPr/>
          <p:nvPr/>
        </p:nvSpPr>
        <p:spPr>
          <a:xfrm>
            <a:off x="1992784" y="2014642"/>
            <a:ext cx="1131655" cy="69442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9" name="Shape 7"/>
          <p:cNvSpPr/>
          <p:nvPr/>
        </p:nvSpPr>
        <p:spPr>
          <a:xfrm>
            <a:off x="2272307" y="1989391"/>
            <a:ext cx="119946" cy="119946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60150" y="963355"/>
            <a:ext cx="3702038" cy="714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cụ thể: mỗi tham số chốt đúng một giá trị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9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具體場景：每個參數固定成一個值</a:t>
            </a:r>
            <a:endParaRPr lang="en-US" sz="1630" dirty="0"/>
          </a:p>
        </p:txBody>
      </p:sp>
      <p:sp>
        <p:nvSpPr>
          <p:cNvPr id="11" name="Text 9"/>
          <p:cNvSpPr txBox="1"/>
          <p:nvPr/>
        </p:nvSpPr>
        <p:spPr>
          <a:xfrm>
            <a:off x="3760150" y="1742570"/>
            <a:ext cx="3702038" cy="763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xe phía trước cách đúng 35 m, giảm tốc đúng 6 m/s², xe mình chạy đúng 50 km/h. Đây mới là thứ chạy được trong mô phỏng — chạy một lần ra một kết quả.</a:t>
            </a:r>
            <a:endParaRPr lang="en-US" sz="8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例子：前車剛好 35 公尺，減速度剛好 6 m/s²，自車剛好時速 50。這才是模擬器真的跑得起來的東西——跑一次，出一個結果。</a:t>
            </a:r>
            <a:endParaRPr lang="en-US" sz="890" dirty="0"/>
          </a:p>
        </p:txBody>
      </p:sp>
      <p:sp>
        <p:nvSpPr>
          <p:cNvPr id="12" name="Shape 10"/>
          <p:cNvSpPr/>
          <p:nvPr/>
        </p:nvSpPr>
        <p:spPr>
          <a:xfrm>
            <a:off x="1681812" y="2806268"/>
            <a:ext cx="5780375" cy="441647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11708" y="2858226"/>
            <a:ext cx="5520583" cy="350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kịch bản logic có thể bung ra hàng nghìn, hàng chục nghìn kịch bản cụ thể.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一個邏輯場景，可以展開成成千上萬個具體場景。</a:t>
            </a:r>
            <a:endParaRPr lang="en-US" sz="89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640" dirty="0"/>
          </a:p>
        </p:txBody>
      </p:sp>
      <p:sp>
        <p:nvSpPr>
          <p:cNvPr id="17" name="Text 13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6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325253"/>
            <a:ext cx="578037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模擬真正的用法</a:t>
            </a:r>
            <a:endParaRPr lang="en-US" sz="890" dirty="0"/>
          </a:p>
        </p:txBody>
      </p:sp>
      <p:sp>
        <p:nvSpPr>
          <p:cNvPr id="3" name="Shape 1"/>
          <p:cNvSpPr/>
          <p:nvPr/>
        </p:nvSpPr>
        <p:spPr>
          <a:xfrm>
            <a:off x="1681812" y="809116"/>
            <a:ext cx="1753597" cy="1786071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92784" y="1320218"/>
            <a:ext cx="1131655" cy="69442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2171767" y="1307592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2352832" y="1307592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2533897" y="1307592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2714962" y="1307592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9" name="Shape 7"/>
          <p:cNvSpPr/>
          <p:nvPr/>
        </p:nvSpPr>
        <p:spPr>
          <a:xfrm>
            <a:off x="1992784" y="1667430"/>
            <a:ext cx="1131655" cy="69442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0" name="Shape 8"/>
          <p:cNvSpPr/>
          <p:nvPr/>
        </p:nvSpPr>
        <p:spPr>
          <a:xfrm>
            <a:off x="2171767" y="1654804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1" name="Shape 9"/>
          <p:cNvSpPr/>
          <p:nvPr/>
        </p:nvSpPr>
        <p:spPr>
          <a:xfrm>
            <a:off x="2352832" y="1654804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2" name="Shape 10"/>
          <p:cNvSpPr/>
          <p:nvPr/>
        </p:nvSpPr>
        <p:spPr>
          <a:xfrm>
            <a:off x="2533897" y="1654804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2714962" y="1654804"/>
            <a:ext cx="94694" cy="94694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" name="Shape 12"/>
          <p:cNvSpPr/>
          <p:nvPr/>
        </p:nvSpPr>
        <p:spPr>
          <a:xfrm>
            <a:off x="2830208" y="1702151"/>
            <a:ext cx="203698" cy="0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992784" y="2014642"/>
            <a:ext cx="1131655" cy="69442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2171767" y="2002016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7" name="Shape 15"/>
          <p:cNvSpPr/>
          <p:nvPr/>
        </p:nvSpPr>
        <p:spPr>
          <a:xfrm>
            <a:off x="2352832" y="2002016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8" name="Shape 16"/>
          <p:cNvSpPr/>
          <p:nvPr/>
        </p:nvSpPr>
        <p:spPr>
          <a:xfrm>
            <a:off x="2533897" y="2002016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9" name="Shape 17"/>
          <p:cNvSpPr/>
          <p:nvPr/>
        </p:nvSpPr>
        <p:spPr>
          <a:xfrm>
            <a:off x="2714962" y="2002016"/>
            <a:ext cx="94694" cy="94694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760150" y="963355"/>
            <a:ext cx="3702038" cy="714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mô phỏng không phải để chạy nhiều km, mà để quét tham số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9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模擬的用法不是跑里程，是掃參數</a:t>
            </a:r>
            <a:endParaRPr lang="en-US" sz="1630" dirty="0"/>
          </a:p>
        </p:txBody>
      </p:sp>
      <p:sp>
        <p:nvSpPr>
          <p:cNvPr id="21" name="Text 19"/>
          <p:cNvSpPr txBox="1"/>
          <p:nvPr/>
        </p:nvSpPr>
        <p:spPr>
          <a:xfrm>
            <a:off x="3760150" y="1742570"/>
            <a:ext cx="3702038" cy="763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một kịch bản, đổi một tham số một chút, chạy lại. Rồi lại đổi, lại chạy. Ba nghìn lần chạy xong, bạn biết chính xác ranh giới nằm ở đâu: đến giá trị nào thì bắt đầu đâm.</a:t>
            </a:r>
            <a:endParaRPr lang="en-US" sz="8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固定一個場景，把一個參數改一點點，重跑。再改，再跑。跑完三千次，你就知道界線在哪裡：那個值到多少就開始撞。</a:t>
            </a:r>
            <a:endParaRPr lang="en-US" sz="890" dirty="0"/>
          </a:p>
        </p:txBody>
      </p:sp>
      <p:sp>
        <p:nvSpPr>
          <p:cNvPr id="22" name="Shape 20"/>
          <p:cNvSpPr/>
          <p:nvPr/>
        </p:nvSpPr>
        <p:spPr>
          <a:xfrm>
            <a:off x="1681812" y="2806268"/>
            <a:ext cx="5780375" cy="441647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811708" y="2858226"/>
            <a:ext cx="5520583" cy="350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thật không làm được: không thể bắt cùng một xe máy tạt vào ba nghìn lần.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真實道路做不到：你沒辦法叫同一台機車切進來三千次。</a:t>
            </a:r>
            <a:endParaRPr lang="en-US" sz="890" dirty="0"/>
          </a:p>
        </p:txBody>
      </p:sp>
      <p:pic>
        <p:nvPicPr>
          <p:cNvPr id="2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640" dirty="0"/>
          </a:p>
        </p:txBody>
      </p:sp>
      <p:sp>
        <p:nvSpPr>
          <p:cNvPr id="27" name="Text 23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6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234326"/>
            <a:ext cx="5780375" cy="597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tầng đó, trong mô phỏng của ta là ba thứ bạn đã dùng rồi</a:t>
            </a:r>
            <a:endParaRPr lang="en-US" sz="15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6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這三層，在我們的模擬器裡就是三個你已經用過的東西</a:t>
            </a:r>
            <a:endParaRPr lang="en-US" sz="1560" dirty="0"/>
          </a:p>
        </p:txBody>
      </p:sp>
      <p:sp>
        <p:nvSpPr>
          <p:cNvPr id="3" name="Shape 1"/>
          <p:cNvSpPr/>
          <p:nvPr/>
        </p:nvSpPr>
        <p:spPr>
          <a:xfrm>
            <a:off x="1681812" y="965743"/>
            <a:ext cx="1796896" cy="193545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411395" y="1095639"/>
            <a:ext cx="337730" cy="33773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411395" y="1167082"/>
            <a:ext cx="337730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70" dirty="0"/>
          </a:p>
        </p:txBody>
      </p:sp>
      <p:sp>
        <p:nvSpPr>
          <p:cNvPr id="6" name="Text 4"/>
          <p:cNvSpPr txBox="1"/>
          <p:nvPr/>
        </p:nvSpPr>
        <p:spPr>
          <a:xfrm>
            <a:off x="1772740" y="1498317"/>
            <a:ext cx="1615041" cy="467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nút cài sẵn</a:t>
            </a:r>
            <a:endParaRPr lang="en-US" sz="99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六個預設按鈕</a:t>
            </a:r>
            <a:endParaRPr lang="en-US" sz="990" dirty="0"/>
          </a:p>
        </p:txBody>
      </p:sp>
      <p:sp>
        <p:nvSpPr>
          <p:cNvPr id="7" name="Text 5"/>
          <p:cNvSpPr txBox="1"/>
          <p:nvPr/>
        </p:nvSpPr>
        <p:spPr>
          <a:xfrm>
            <a:off x="1772740" y="1991922"/>
            <a:ext cx="1615041" cy="831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«Giờ cao điểm Hà Nội»</a:t>
            </a:r>
            <a:endParaRPr lang="en-US" sz="8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CHỨC NĂNG</a:t>
            </a:r>
            <a:endParaRPr lang="en-US" sz="8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「河內尖峰」「雨夜」</a:t>
            </a:r>
            <a:endParaRPr lang="en-US" sz="8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功能場景</a:t>
            </a:r>
            <a:endParaRPr lang="en-US" sz="820" dirty="0"/>
          </a:p>
        </p:txBody>
      </p:sp>
      <p:sp>
        <p:nvSpPr>
          <p:cNvPr id="8" name="Text 6"/>
          <p:cNvSpPr txBox="1"/>
          <p:nvPr/>
        </p:nvSpPr>
        <p:spPr>
          <a:xfrm>
            <a:off x="3478708" y="1615223"/>
            <a:ext cx="194844" cy="259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673552" y="965743"/>
            <a:ext cx="1796896" cy="193545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03135" y="1095639"/>
            <a:ext cx="337730" cy="33773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03135" y="1167082"/>
            <a:ext cx="337730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70" dirty="0"/>
          </a:p>
        </p:txBody>
      </p:sp>
      <p:sp>
        <p:nvSpPr>
          <p:cNvPr id="12" name="Text 10"/>
          <p:cNvSpPr txBox="1"/>
          <p:nvPr/>
        </p:nvSpPr>
        <p:spPr>
          <a:xfrm>
            <a:off x="3764479" y="1498317"/>
            <a:ext cx="1615041" cy="467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kéo được</a:t>
            </a:r>
            <a:endParaRPr lang="en-US" sz="99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滑桿的範圍</a:t>
            </a:r>
            <a:endParaRPr lang="en-US" sz="990" dirty="0"/>
          </a:p>
        </p:txBody>
      </p:sp>
      <p:sp>
        <p:nvSpPr>
          <p:cNvPr id="13" name="Text 11"/>
          <p:cNvSpPr txBox="1"/>
          <p:nvPr/>
        </p:nvSpPr>
        <p:spPr>
          <a:xfrm>
            <a:off x="3764479" y="1991922"/>
            <a:ext cx="1615041" cy="831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3–60 tia · 10–120 m · 20–180°</a:t>
            </a:r>
            <a:endParaRPr lang="en-US" sz="8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LOGIC</a:t>
            </a:r>
            <a:endParaRPr lang="en-US" sz="8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邏輯場景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5470448" y="1615223"/>
            <a:ext cx="194844" cy="259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5292" y="965743"/>
            <a:ext cx="1796896" cy="193545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94875" y="1095639"/>
            <a:ext cx="337730" cy="33773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94875" y="1167082"/>
            <a:ext cx="337730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70" dirty="0"/>
          </a:p>
        </p:txBody>
      </p:sp>
      <p:sp>
        <p:nvSpPr>
          <p:cNvPr id="18" name="Text 16"/>
          <p:cNvSpPr txBox="1"/>
          <p:nvPr/>
        </p:nvSpPr>
        <p:spPr>
          <a:xfrm>
            <a:off x="5756219" y="1498317"/>
            <a:ext cx="1615041" cy="467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Dừng ở một vị trí</a:t>
            </a:r>
            <a:endParaRPr lang="en-US" sz="99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8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停在一個位置</a:t>
            </a:r>
            <a:endParaRPr lang="en-US" sz="990" dirty="0"/>
          </a:p>
        </p:txBody>
      </p:sp>
      <p:sp>
        <p:nvSpPr>
          <p:cNvPr id="19" name="Text 17"/>
          <p:cNvSpPr txBox="1"/>
          <p:nvPr/>
        </p:nvSpPr>
        <p:spPr>
          <a:xfrm>
            <a:off x="5756219" y="1991922"/>
            <a:ext cx="1615041" cy="831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tia · 40 m · 90°</a:t>
            </a:r>
            <a:endParaRPr lang="en-US" sz="8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CỤ THỂ</a:t>
            </a:r>
            <a:endParaRPr lang="en-US" sz="8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具體場景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1681812" y="3005111"/>
            <a:ext cx="5780375" cy="402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tập 2 của tiết 3 chính là «quét tham số»: giữ nguyên giờ cao điểm Hà Nội, chỉ đổi ba con số.</a:t>
            </a:r>
            <a:endParaRPr lang="en-US" sz="8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第三節的任務二就是在「掃參數」：河內尖峰不動，只改那三個數字。</a:t>
            </a:r>
            <a:endParaRPr lang="en-US" sz="890" dirty="0"/>
          </a:p>
        </p:txBody>
      </p:sp>
      <p:pic>
        <p:nvPicPr>
          <p:cNvPr id="2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640" dirty="0"/>
          </a:p>
        </p:txBody>
      </p:sp>
      <p:sp>
        <p:nvSpPr>
          <p:cNvPr id="24" name="Text 20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6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286284"/>
            <a:ext cx="578037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一個場景在真實世界長什麼樣</a:t>
            </a:r>
            <a:endParaRPr lang="en-US" sz="920" dirty="0"/>
          </a:p>
        </p:txBody>
      </p:sp>
      <p:sp>
        <p:nvSpPr>
          <p:cNvPr id="3" name="Text 1"/>
          <p:cNvSpPr txBox="1"/>
          <p:nvPr/>
        </p:nvSpPr>
        <p:spPr>
          <a:xfrm>
            <a:off x="1681812" y="507107"/>
            <a:ext cx="5780375" cy="398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1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NCAP: cùng một kịch bản, lặp lại y hệt, cho mọi mẫu xe</a:t>
            </a:r>
            <a:endParaRPr lang="en-US" sz="121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NCAP：同一個場景，一模一樣地重複，對每一款車都做</a:t>
            </a:r>
            <a:endParaRPr lang="en-US" sz="1210" dirty="0"/>
          </a:p>
        </p:txBody>
      </p:sp>
      <p:sp>
        <p:nvSpPr>
          <p:cNvPr id="4" name="Shape 2"/>
          <p:cNvSpPr/>
          <p:nvPr/>
        </p:nvSpPr>
        <p:spPr>
          <a:xfrm>
            <a:off x="1681812" y="918340"/>
            <a:ext cx="2773281" cy="1822980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34610" y="1957065"/>
            <a:ext cx="2067686" cy="0"/>
          </a:xfrm>
          <a:prstGeom prst="line">
            <a:avLst/>
          </a:prstGeom>
          <a:noFill/>
          <a:ln w="15240">
            <a:solidFill>
              <a:srgbClr val="9AA6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08456" y="1629253"/>
            <a:ext cx="738459" cy="339691"/>
          </a:xfrm>
          <a:prstGeom prst="roundRect">
            <a:avLst>
              <a:gd name="adj" fmla="val 22000"/>
            </a:avLst>
          </a:prstGeom>
          <a:solidFill>
            <a:srgbClr val="8FA3B5"/>
          </a:solidFill>
          <a:ln/>
        </p:spPr>
      </p:sp>
      <p:sp>
        <p:nvSpPr>
          <p:cNvPr id="7" name="Shape 5"/>
          <p:cNvSpPr/>
          <p:nvPr/>
        </p:nvSpPr>
        <p:spPr>
          <a:xfrm>
            <a:off x="2389070" y="1697191"/>
            <a:ext cx="251076" cy="203815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920761" y="1799098"/>
            <a:ext cx="295384" cy="0"/>
          </a:xfrm>
          <a:prstGeom prst="line">
            <a:avLst/>
          </a:prstGeom>
          <a:noFill/>
          <a:ln w="17780">
            <a:solidFill>
              <a:srgbClr val="5F718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47074" y="1772771"/>
            <a:ext cx="184294" cy="184294"/>
          </a:xfrm>
          <a:prstGeom prst="ellipse">
            <a:avLst/>
          </a:prstGeom>
          <a:ln w="20320">
            <a:solidFill>
              <a:srgbClr val="1F4E7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91689" y="1772771"/>
            <a:ext cx="184294" cy="184294"/>
          </a:xfrm>
          <a:prstGeom prst="ellipse">
            <a:avLst/>
          </a:prstGeom>
          <a:ln w="2032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339221" y="1759607"/>
            <a:ext cx="172307" cy="105311"/>
          </a:xfrm>
          <a:prstGeom prst="line">
            <a:avLst/>
          </a:prstGeom>
          <a:noFill/>
          <a:ln w="1778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3511528" y="1759607"/>
            <a:ext cx="172307" cy="105311"/>
          </a:xfrm>
          <a:prstGeom prst="line">
            <a:avLst/>
          </a:prstGeom>
          <a:noFill/>
          <a:ln w="1778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62298" y="1562149"/>
            <a:ext cx="110769" cy="171130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/>
        </p:spPr>
      </p:sp>
      <p:sp>
        <p:nvSpPr>
          <p:cNvPr id="14" name="Shape 12"/>
          <p:cNvSpPr/>
          <p:nvPr/>
        </p:nvSpPr>
        <p:spPr>
          <a:xfrm>
            <a:off x="3452291" y="1450256"/>
            <a:ext cx="118475" cy="118475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5" name="Shape 13"/>
          <p:cNvSpPr/>
          <p:nvPr/>
        </p:nvSpPr>
        <p:spPr>
          <a:xfrm>
            <a:off x="3511528" y="2036048"/>
            <a:ext cx="0" cy="131639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1811708" y="2351632"/>
            <a:ext cx="2513489" cy="33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6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Búp bê xe đạp cắt ngang — cùng tốc độ, cùng vị trí, lần nào cũng thế.</a:t>
            </a:r>
            <a:endParaRPr lang="en-US" sz="67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64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腳踏車假人橫切過去——同樣速度、同樣位置，每次都一樣。</a:t>
            </a:r>
            <a:endParaRPr lang="en-US" sz="670" dirty="0"/>
          </a:p>
        </p:txBody>
      </p:sp>
      <p:sp>
        <p:nvSpPr>
          <p:cNvPr id="17" name="Shape 15"/>
          <p:cNvSpPr/>
          <p:nvPr/>
        </p:nvSpPr>
        <p:spPr>
          <a:xfrm>
            <a:off x="4688906" y="918340"/>
            <a:ext cx="2773281" cy="1822980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18803" y="1035246"/>
            <a:ext cx="246803" cy="246803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18803" y="1067721"/>
            <a:ext cx="246803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5117564" y="1022257"/>
            <a:ext cx="2214728" cy="298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 for cyclists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4818803" y="1346997"/>
            <a:ext cx="2513489" cy="142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NCAP（官方）　·　4:39，播 2 分鐘就夠</a:t>
            </a:r>
            <a:endParaRPr lang="en-US" sz="640" dirty="0"/>
          </a:p>
        </p:txBody>
      </p:sp>
      <p:sp>
        <p:nvSpPr>
          <p:cNvPr id="22" name="Text 20">
            <a:hlinkClick r:id="rId1" tooltip=""/>
          </p:cNvPr>
          <p:cNvSpPr txBox="1"/>
          <p:nvPr/>
        </p:nvSpPr>
        <p:spPr>
          <a:xfrm>
            <a:off x="4818803" y="1476893"/>
            <a:ext cx="2513489" cy="142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https://www.youtube.com/watch?v=fWZQGcMN3Vc</a:t>
            </a:r>
            <a:endParaRPr lang="en-US" sz="600" dirty="0"/>
          </a:p>
        </p:txBody>
      </p:sp>
      <p:sp>
        <p:nvSpPr>
          <p:cNvPr id="23" name="Shape 21"/>
          <p:cNvSpPr/>
          <p:nvPr/>
        </p:nvSpPr>
        <p:spPr>
          <a:xfrm>
            <a:off x="4818803" y="1671737"/>
            <a:ext cx="25979" cy="168865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09730" y="1645758"/>
            <a:ext cx="2435551" cy="32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67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trình quy định: búp bê xe đạp chạy ra ở đúng một tốc độ, một vị trí</a:t>
            </a:r>
            <a:endParaRPr lang="en-US" sz="67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64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測試規程訂死：假人腳踏車固定速度、固定位置衝出來</a:t>
            </a:r>
            <a:endParaRPr lang="en-US" sz="670" dirty="0"/>
          </a:p>
        </p:txBody>
      </p:sp>
      <p:sp>
        <p:nvSpPr>
          <p:cNvPr id="25" name="Shape 23"/>
          <p:cNvSpPr/>
          <p:nvPr/>
        </p:nvSpPr>
        <p:spPr>
          <a:xfrm>
            <a:off x="4818803" y="2021660"/>
            <a:ext cx="25979" cy="168865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09730" y="1995681"/>
            <a:ext cx="2435551" cy="32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67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 chính là «kịch bản cụ thể» — mỗi lần chạy đều phải giống hệt lần trước</a:t>
            </a:r>
            <a:endParaRPr lang="en-US" sz="67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64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那就是「具體場景」——每一次跑都必須跟上一次一模一樣</a:t>
            </a:r>
            <a:endParaRPr lang="en-US" sz="670" dirty="0"/>
          </a:p>
        </p:txBody>
      </p:sp>
      <p:sp>
        <p:nvSpPr>
          <p:cNvPr id="27" name="Shape 25"/>
          <p:cNvSpPr/>
          <p:nvPr/>
        </p:nvSpPr>
        <p:spPr>
          <a:xfrm>
            <a:off x="4818803" y="2371584"/>
            <a:ext cx="25979" cy="168865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909730" y="2345605"/>
            <a:ext cx="2435551" cy="32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67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vì sao phải dùng búp bê, không dùng người thật?</a:t>
            </a:r>
            <a:endParaRPr lang="en-US" sz="67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64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問題：為什麼要用假人，不用真人？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1681812" y="2819258"/>
            <a:ext cx="5780375" cy="389688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811708" y="2864721"/>
            <a:ext cx="5520583" cy="311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2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có kịch bản «một xe máy». Không có kịch bản «mười hai xe máy vây quanh bạn».</a:t>
            </a:r>
            <a:endParaRPr lang="en-US" sz="8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7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有「一台機車」的場景。沒有「十二台機車圍著你」的場景。</a:t>
            </a:r>
            <a:endParaRPr lang="en-US" sz="82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640" dirty="0"/>
          </a:p>
        </p:txBody>
      </p:sp>
      <p:sp>
        <p:nvSpPr>
          <p:cNvPr id="34" name="Text 30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6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1228031"/>
            <a:ext cx="3247402" cy="2208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1481328"/>
            <a:ext cx="5195843" cy="844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0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lấy từ đâu ra</a:t>
            </a:r>
            <a:endParaRPr lang="en-US" sz="20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場景是從哪裡來的</a:t>
            </a:r>
            <a:endParaRPr lang="en-US" sz="2060" dirty="0"/>
          </a:p>
        </p:txBody>
      </p:sp>
      <p:sp>
        <p:nvSpPr>
          <p:cNvPr id="7" name="Text 4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640" dirty="0"/>
          </a:p>
        </p:txBody>
      </p:sp>
      <p:sp>
        <p:nvSpPr>
          <p:cNvPr id="8" name="Text 5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6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325253"/>
            <a:ext cx="578037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1 / 3 · 來源之一</a:t>
            </a:r>
            <a:endParaRPr lang="en-US" sz="890" dirty="0"/>
          </a:p>
        </p:txBody>
      </p:sp>
      <p:sp>
        <p:nvSpPr>
          <p:cNvPr id="3" name="Shape 1"/>
          <p:cNvSpPr/>
          <p:nvPr/>
        </p:nvSpPr>
        <p:spPr>
          <a:xfrm>
            <a:off x="1681812" y="809116"/>
            <a:ext cx="1753597" cy="1786071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115665" y="1319607"/>
            <a:ext cx="885891" cy="241607"/>
          </a:xfrm>
          <a:prstGeom prst="triangle">
            <a:avLst/>
          </a:prstGeom>
          <a:solidFill>
            <a:srgbClr val="4FA8FF"/>
          </a:solidFill>
          <a:ln/>
        </p:spPr>
      </p:sp>
      <p:sp>
        <p:nvSpPr>
          <p:cNvPr id="5" name="Shape 3"/>
          <p:cNvSpPr/>
          <p:nvPr/>
        </p:nvSpPr>
        <p:spPr>
          <a:xfrm>
            <a:off x="2115665" y="1581348"/>
            <a:ext cx="885891" cy="70469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6" name="Shape 4"/>
          <p:cNvSpPr/>
          <p:nvPr/>
        </p:nvSpPr>
        <p:spPr>
          <a:xfrm>
            <a:off x="2216335" y="1671950"/>
            <a:ext cx="100669" cy="3221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417674" y="1671950"/>
            <a:ext cx="100669" cy="3221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619013" y="1671950"/>
            <a:ext cx="100669" cy="3221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820351" y="1671950"/>
            <a:ext cx="100669" cy="322142"/>
          </a:xfrm>
          <a:prstGeom prst="rect">
            <a:avLst/>
          </a:prstGeom>
          <a:solidFill>
            <a:srgbClr val="4FA8FF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095531" y="2004160"/>
            <a:ext cx="926159" cy="90603"/>
          </a:xfrm>
          <a:prstGeom prst="rect">
            <a:avLst/>
          </a:prstGeom>
          <a:solidFill>
            <a:srgbClr val="4FA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60150" y="963355"/>
            <a:ext cx="3702038" cy="714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quy định và tiêu chuẩn: ai muốn bán xe thì bắt buộc phải qua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9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來自法規與標準：想賣車就一定要通過</a:t>
            </a:r>
            <a:endParaRPr lang="en-US" sz="1630" dirty="0"/>
          </a:p>
        </p:txBody>
      </p:sp>
      <p:sp>
        <p:nvSpPr>
          <p:cNvPr id="12" name="Text 10"/>
          <p:cNvSpPr txBox="1"/>
          <p:nvPr/>
        </p:nvSpPr>
        <p:spPr>
          <a:xfrm>
            <a:off x="3760150" y="1742570"/>
            <a:ext cx="3702038" cy="763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kiểm tra phanh tự động với xe, với người đi bộ, và từ 2023 thêm xe máy. Còn có ISO 34502 — một bộ khung quy định kịch bản phải viết như thế nào.</a:t>
            </a:r>
            <a:endParaRPr lang="en-US" sz="8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測自動緊急煞車：對車、對行人，2023 年起加上機車。另外還有 ISO 34502，規定場景要怎麼寫的框架。</a:t>
            </a:r>
            <a:endParaRPr lang="en-US" sz="890" dirty="0"/>
          </a:p>
        </p:txBody>
      </p:sp>
      <p:sp>
        <p:nvSpPr>
          <p:cNvPr id="13" name="Shape 11"/>
          <p:cNvSpPr/>
          <p:nvPr/>
        </p:nvSpPr>
        <p:spPr>
          <a:xfrm>
            <a:off x="1681812" y="2806268"/>
            <a:ext cx="5780375" cy="441647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11708" y="2858226"/>
            <a:ext cx="5520583" cy="350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Ưu điểm: rõ ràng, ai cũng phải theo. Nhược điểm: ít, và luôn chậm hơn thực tế vài năm.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優點：明確，大家都得照做。缺點：數量少，而且永遠落後現實好幾年。</a:t>
            </a:r>
            <a:endParaRPr lang="en-US" sz="890" dirty="0"/>
          </a:p>
        </p:txBody>
      </p:sp>
      <p:pic>
        <p:nvPicPr>
          <p:cNvPr id="16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640" dirty="0"/>
          </a:p>
        </p:txBody>
      </p:sp>
      <p:sp>
        <p:nvSpPr>
          <p:cNvPr id="18" name="Text 14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6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325253"/>
            <a:ext cx="578037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2 / 3 · 來源之二</a:t>
            </a:r>
            <a:endParaRPr lang="en-US" sz="890" dirty="0"/>
          </a:p>
        </p:txBody>
      </p:sp>
      <p:sp>
        <p:nvSpPr>
          <p:cNvPr id="3" name="Shape 1"/>
          <p:cNvSpPr/>
          <p:nvPr/>
        </p:nvSpPr>
        <p:spPr>
          <a:xfrm>
            <a:off x="1681812" y="809116"/>
            <a:ext cx="1753597" cy="1786071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95531" y="1299473"/>
            <a:ext cx="926159" cy="805356"/>
          </a:xfrm>
          <a:prstGeom prst="triangle">
            <a:avLst/>
          </a:prstGeom>
          <a:solidFill>
            <a:srgbClr val="D9463E"/>
          </a:solidFill>
          <a:ln/>
        </p:spPr>
      </p:sp>
      <p:sp>
        <p:nvSpPr>
          <p:cNvPr id="5" name="Shape 3"/>
          <p:cNvSpPr/>
          <p:nvPr/>
        </p:nvSpPr>
        <p:spPr>
          <a:xfrm>
            <a:off x="2518343" y="1581348"/>
            <a:ext cx="80536" cy="26174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2508276" y="1903490"/>
            <a:ext cx="100669" cy="100669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760150" y="963355"/>
            <a:ext cx="3702038" cy="714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cơ sở dữ liệu tai nạn: lấy tai nạn thật dựng lại thành kịch bản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9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來自事故資料庫：把真實發生過的事故還原成場景</a:t>
            </a:r>
            <a:endParaRPr lang="en-US" sz="1630" dirty="0"/>
          </a:p>
        </p:txBody>
      </p:sp>
      <p:sp>
        <p:nvSpPr>
          <p:cNvPr id="8" name="Text 6"/>
          <p:cNvSpPr txBox="1"/>
          <p:nvPr/>
        </p:nvSpPr>
        <p:spPr>
          <a:xfrm>
            <a:off x="3760150" y="1742570"/>
            <a:ext cx="3702038" cy="763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GIDAS của Đức ghi chi tiết từng vụ tai nạn: xe chạy bao nhiêu, va chạm ở góc nào, tầm nhìn bị che ra sao. NHTSA của Mỹ cũng có kho tương tự.</a:t>
            </a:r>
            <a:endParaRPr lang="en-US" sz="8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德國的 GIDAS 詳細記錄每一起事故：車速多少、從哪個角度撞上、視線被什麼擋住。美國 NHTSA 也有類似的資料庫。</a:t>
            </a:r>
            <a:endParaRPr lang="en-US" sz="890" dirty="0"/>
          </a:p>
        </p:txBody>
      </p:sp>
      <p:sp>
        <p:nvSpPr>
          <p:cNvPr id="9" name="Shape 7"/>
          <p:cNvSpPr/>
          <p:nvPr/>
        </p:nvSpPr>
        <p:spPr>
          <a:xfrm>
            <a:off x="1681812" y="2806268"/>
            <a:ext cx="5780375" cy="441647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11708" y="2858226"/>
            <a:ext cx="5520583" cy="350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mạnh: mỗi kịch bản đều từng làm ai đó bị thương — không phải do ai ngồi tưởng tượng ra.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這個來源的份量在於：每一個場景都真的傷過人——不是誰坐在辦公室想出來的。</a:t>
            </a:r>
            <a:endParaRPr lang="en-US" sz="890" dirty="0"/>
          </a:p>
        </p:txBody>
      </p:sp>
      <p:pic>
        <p:nvPicPr>
          <p:cNvPr id="1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640" dirty="0"/>
          </a:p>
        </p:txBody>
      </p:sp>
      <p:sp>
        <p:nvSpPr>
          <p:cNvPr id="14" name="Text 10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6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325253"/>
            <a:ext cx="578037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3 / 3 · 來源之三</a:t>
            </a:r>
            <a:endParaRPr lang="en-US" sz="890" dirty="0"/>
          </a:p>
        </p:txBody>
      </p:sp>
      <p:sp>
        <p:nvSpPr>
          <p:cNvPr id="3" name="Shape 1"/>
          <p:cNvSpPr/>
          <p:nvPr/>
        </p:nvSpPr>
        <p:spPr>
          <a:xfrm>
            <a:off x="1681812" y="809116"/>
            <a:ext cx="1753597" cy="1786071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87088" y="1230629"/>
            <a:ext cx="943046" cy="943046"/>
          </a:xfrm>
          <a:prstGeom prst="ellipse">
            <a:avLst/>
          </a:prstGeom>
          <a:ln w="76200">
            <a:solidFill>
              <a:srgbClr val="1F6F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53101" y="1664430"/>
            <a:ext cx="811019" cy="75444"/>
          </a:xfrm>
          <a:prstGeom prst="rect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2520889" y="1702151"/>
            <a:ext cx="75444" cy="405510"/>
          </a:xfrm>
          <a:prstGeom prst="rect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2464306" y="1607847"/>
            <a:ext cx="188609" cy="188609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2803803" y="1315503"/>
            <a:ext cx="282914" cy="282914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03803" y="1315503"/>
            <a:ext cx="282914" cy="282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710" dirty="0"/>
          </a:p>
        </p:txBody>
      </p:sp>
      <p:sp>
        <p:nvSpPr>
          <p:cNvPr id="10" name="Text 8"/>
          <p:cNvSpPr txBox="1"/>
          <p:nvPr/>
        </p:nvSpPr>
        <p:spPr>
          <a:xfrm>
            <a:off x="3760150" y="963355"/>
            <a:ext cx="3702038" cy="714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đường thật: mỗi lần tài xế an toàn can thiệp là một kịch bản mới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9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來自實際道路：安全員每介入一次，就多一個場景</a:t>
            </a:r>
            <a:endParaRPr lang="en-US" sz="1630" dirty="0"/>
          </a:p>
        </p:txBody>
      </p:sp>
      <p:sp>
        <p:nvSpPr>
          <p:cNvPr id="11" name="Text 9"/>
          <p:cNvSpPr txBox="1"/>
          <p:nvPr/>
        </p:nvSpPr>
        <p:spPr>
          <a:xfrm>
            <a:off x="3760150" y="1742570"/>
            <a:ext cx="3702038" cy="763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đang chạy thử, tài xế an toàn vừa chạm vô lăng — hệ thống tự động cắt đoạn đó ra, dựng thành kịch bản, lưu vào kho. Mỗi lần phanh gấp cũng vậy.</a:t>
            </a:r>
            <a:endParaRPr lang="en-US" sz="8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測試車在路上跑，安全員手一碰方向盤——系統自動把那一段切出來，做成場景，存進資料庫。每一次急煞也一樣。</a:t>
            </a:r>
            <a:endParaRPr lang="en-US" sz="890" dirty="0"/>
          </a:p>
        </p:txBody>
      </p:sp>
      <p:sp>
        <p:nvSpPr>
          <p:cNvPr id="12" name="Shape 10"/>
          <p:cNvSpPr/>
          <p:nvPr/>
        </p:nvSpPr>
        <p:spPr>
          <a:xfrm>
            <a:off x="1681812" y="2806268"/>
            <a:ext cx="5780375" cy="441647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11708" y="2858226"/>
            <a:ext cx="5520583" cy="350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 kịch bản của Waymo và Cruise tính bằng hàng chục nghìn, và mỗi ngày vẫn dài thêm.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Waymo 和 Cruise 的場景庫以數萬計，而且每天還在增加。</a:t>
            </a:r>
            <a:endParaRPr lang="en-US" sz="890" dirty="0"/>
          </a:p>
        </p:txBody>
      </p:sp>
      <p:pic>
        <p:nvPicPr>
          <p:cNvPr id="15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640" dirty="0"/>
          </a:p>
        </p:txBody>
      </p:sp>
      <p:sp>
        <p:nvSpPr>
          <p:cNvPr id="17" name="Text 13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6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681812" y="234326"/>
            <a:ext cx="5780375" cy="597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nguồn đó đều không có cái các bạn gặp hằng ngày</a:t>
            </a:r>
            <a:endParaRPr lang="en-US" sz="15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6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這三個來源，都沒有各位每天遇到的那件事</a:t>
            </a:r>
            <a:endParaRPr lang="en-US" sz="1560" dirty="0"/>
          </a:p>
        </p:txBody>
      </p:sp>
      <p:sp>
        <p:nvSpPr>
          <p:cNvPr id="3" name="Shape 1"/>
          <p:cNvSpPr/>
          <p:nvPr/>
        </p:nvSpPr>
        <p:spPr>
          <a:xfrm>
            <a:off x="1681812" y="961744"/>
            <a:ext cx="2532973" cy="1597722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798719" y="1052671"/>
            <a:ext cx="2299161" cy="233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7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 kịch bản có sẵn cho bạn</a:t>
            </a:r>
            <a:endParaRPr lang="en-US" sz="7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67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現成的場景庫給你的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1798719" y="1338442"/>
            <a:ext cx="2299161" cy="402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10 000+</a:t>
            </a:r>
            <a:endParaRPr lang="en-US" sz="1920" dirty="0"/>
          </a:p>
        </p:txBody>
      </p:sp>
      <p:sp>
        <p:nvSpPr>
          <p:cNvPr id="6" name="Text 4"/>
          <p:cNvSpPr txBox="1"/>
          <p:nvPr/>
        </p:nvSpPr>
        <p:spPr>
          <a:xfrm>
            <a:off x="1798719" y="1767099"/>
            <a:ext cx="2299161" cy="28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82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bản, phần lớn từ Âu Mỹ</a:t>
            </a:r>
            <a:endParaRPr lang="en-US" sz="8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7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個場景，大部分來自歐美</a:t>
            </a:r>
            <a:endParaRPr lang="en-US" sz="820" dirty="0"/>
          </a:p>
        </p:txBody>
      </p:sp>
      <p:sp>
        <p:nvSpPr>
          <p:cNvPr id="7" name="Text 5"/>
          <p:cNvSpPr txBox="1"/>
          <p:nvPr/>
        </p:nvSpPr>
        <p:spPr>
          <a:xfrm>
            <a:off x="1798719" y="2169777"/>
            <a:ext cx="2299161" cy="28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71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Đầy đủ, được kiểm chứng, dùng được ngay.</a:t>
            </a:r>
            <a:endParaRPr lang="en-US" sz="71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64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完整、經過驗證、拿來就能用。</a:t>
            </a:r>
            <a:endParaRPr lang="en-US" sz="710" dirty="0"/>
          </a:p>
        </p:txBody>
      </p:sp>
      <p:sp>
        <p:nvSpPr>
          <p:cNvPr id="8" name="Shape 6"/>
          <p:cNvSpPr/>
          <p:nvPr/>
        </p:nvSpPr>
        <p:spPr>
          <a:xfrm>
            <a:off x="4299218" y="1656688"/>
            <a:ext cx="545564" cy="207834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429114" y="1617719"/>
            <a:ext cx="285771" cy="285771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29114" y="1617719"/>
            <a:ext cx="285771" cy="285771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29214" y="961744"/>
            <a:ext cx="2532973" cy="1597722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46121" y="1052671"/>
            <a:ext cx="2299161" cy="233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7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thứ bạn cần là…</a:t>
            </a:r>
            <a:endParaRPr lang="en-US" sz="7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67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但你需要的是……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353000" y="1687116"/>
            <a:ext cx="263040" cy="120998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452955" y="1711315"/>
            <a:ext cx="89433" cy="72599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755382" y="1807120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8341" y="1932879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523824" y="2002209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360552" y="1996534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222274" y="1917374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146042" y="1785940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152282" y="1637450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239323" y="1511692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383840" y="1442361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547112" y="1448036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5685390" y="1527196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5761622" y="1658630"/>
            <a:ext cx="61376" cy="50659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851476" y="1364422"/>
            <a:ext cx="1493805" cy="51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xe máy vây quanh</a:t>
            </a:r>
            <a:endParaRPr lang="en-US" sz="92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十二台機車圍著你</a:t>
            </a:r>
            <a:endParaRPr lang="en-US" sz="920" dirty="0"/>
          </a:p>
        </p:txBody>
      </p:sp>
      <p:sp>
        <p:nvSpPr>
          <p:cNvPr id="28" name="Text 26"/>
          <p:cNvSpPr txBox="1"/>
          <p:nvPr/>
        </p:nvSpPr>
        <p:spPr>
          <a:xfrm>
            <a:off x="5046121" y="2169777"/>
            <a:ext cx="2299161" cy="285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71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 NCAP có kịch bản MỘT xe máy. Không nơi nào có kịch bản này.</a:t>
            </a:r>
            <a:endParaRPr lang="en-US" sz="71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64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Euro NCAP 有「一台機車」的場景。這個場景哪裡都沒有。</a:t>
            </a:r>
            <a:endParaRPr lang="en-US" sz="710" dirty="0"/>
          </a:p>
        </p:txBody>
      </p:sp>
      <p:sp>
        <p:nvSpPr>
          <p:cNvPr id="29" name="Shape 27"/>
          <p:cNvSpPr/>
          <p:nvPr/>
        </p:nvSpPr>
        <p:spPr>
          <a:xfrm>
            <a:off x="1681812" y="2806268"/>
            <a:ext cx="5780375" cy="428657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811708" y="2851732"/>
            <a:ext cx="5520583" cy="3507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không phải lời than — đây là chỗ trống, và là cơ hội cho đề tài cuối kỳ của các bạn.</a:t>
            </a:r>
            <a:endParaRPr lang="en-US" sz="8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7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這不是抱怨——這是一個空缺，也是各位期末專題的機會。</a:t>
            </a:r>
            <a:endParaRPr lang="en-US" sz="85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3327" y="3338842"/>
            <a:ext cx="779376" cy="17220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640" dirty="0"/>
          </a:p>
        </p:txBody>
      </p:sp>
      <p:sp>
        <p:nvSpPr>
          <p:cNvPr id="34" name="Text 30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6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364222"/>
            <a:ext cx="480615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從影片字幕變成邏輯場景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585045"/>
            <a:ext cx="5715427" cy="870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Mười câu phụ đề trong video Hà Nội ở chương 1 — đó chính là mười kịch bản chức năng.</a:t>
            </a:r>
            <a:endParaRPr lang="en-US" sz="16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第一章那支河內影片的十段字幕，就是十個功能場景。</a:t>
            </a:r>
            <a:endParaRPr lang="en-US" sz="1630" dirty="0"/>
          </a:p>
        </p:txBody>
      </p:sp>
      <p:sp>
        <p:nvSpPr>
          <p:cNvPr id="6" name="Shape 4"/>
          <p:cNvSpPr/>
          <p:nvPr/>
        </p:nvSpPr>
        <p:spPr>
          <a:xfrm>
            <a:off x="1681812" y="1362092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798719" y="1466008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98719" y="1485493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149438" y="1394566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«Trước mặt bạn 5 m có 12 xe máy» → viết thành: 3–8 m, 8–15 xe, 15–35 km/h, cách nhau 0,5–1,5 m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「你前方五公尺內有十二台機車」→ 寫成：3–8 公尺內、8–15 台、時速 15–35、橫向間距 0.5–1.5 公尺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1681812" y="1868686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798719" y="1972603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798719" y="1992087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149438" y="1901160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«Một xe tải đỗ sai» → chiếm 30–60% làn, cách 10–40 m, làn bên cạnh mỗi 10 m có 0–3 xe máy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「一台違停的貨車」→ 佔車道 30–60%、距離 10–40 公尺、旁邊車道每 10 公尺 0–3 台機車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1681812" y="2375281"/>
            <a:ext cx="5780375" cy="441647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798719" y="2479198"/>
            <a:ext cx="233813" cy="233813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798719" y="2498682"/>
            <a:ext cx="233813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149438" y="2407755"/>
            <a:ext cx="5182853" cy="389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về nhà: chọn một cảnh Đài Loan, viết thành kịch bản logic như trên</a:t>
            </a:r>
            <a:endParaRPr lang="en-US" sz="89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回家作業：挑一個台灣的場景，照上面的格式寫成邏輯場景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1681812" y="2907855"/>
            <a:ext cx="5715427" cy="324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được kịch bản logic — kỹ năng cụ thể nhất của buổi hôm nay.</a:t>
            </a:r>
            <a:endParaRPr lang="en-US" sz="8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會寫邏輯場景，是今天最具體的一項技能。</a:t>
            </a:r>
            <a:endParaRPr lang="en-US" sz="890" dirty="0"/>
          </a:p>
        </p:txBody>
      </p:sp>
      <p:sp>
        <p:nvSpPr>
          <p:cNvPr id="20" name="Text 17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640" dirty="0"/>
          </a:p>
        </p:txBody>
      </p:sp>
      <p:sp>
        <p:nvSpPr>
          <p:cNvPr id="21" name="Text 18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6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30753" y="-947729"/>
            <a:ext cx="2987610" cy="298761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04973" y="1520297"/>
            <a:ext cx="1688649" cy="168864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681812" y="364222"/>
            <a:ext cx="4806155" cy="194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第二節小結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1681812" y="611024"/>
            <a:ext cx="5715427" cy="7533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lên máy</a:t>
            </a:r>
            <a:endParaRPr lang="en-US" sz="17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帶三句話上機</a:t>
            </a:r>
            <a:endParaRPr lang="en-US" sz="1780" dirty="0"/>
          </a:p>
        </p:txBody>
      </p:sp>
      <p:sp>
        <p:nvSpPr>
          <p:cNvPr id="6" name="Shape 4"/>
          <p:cNvSpPr/>
          <p:nvPr/>
        </p:nvSpPr>
        <p:spPr>
          <a:xfrm>
            <a:off x="1681812" y="1429370"/>
            <a:ext cx="32474" cy="363709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37688" y="1403390"/>
            <a:ext cx="5585531" cy="441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có ba tầng: chức năng (tiếng người) → logic (khoảng) → cụ thể (một giá trị).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場景三層：功能（人話）→ 邏輯（範圍）→ 具體（一個值）。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1681812" y="1935964"/>
            <a:ext cx="32474" cy="363709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37688" y="1909985"/>
            <a:ext cx="5585531" cy="4416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mô phỏng là quét tham số để tìm ranh giới, không phải chạy cho nhiều km.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模擬的用法是掃參數、找出界線，不是拚里程。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1681812" y="2442559"/>
            <a:ext cx="32474" cy="477815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837688" y="2416580"/>
            <a:ext cx="5585531" cy="555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đến từ quy định, cơ sở dữ liệu tai nạn và đường thật — nhưng «biển xe máy» thì không nguồn nào có.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場景來自法規、事故資料庫、實路收集——但「機車海」哪一個來源都沒有。</a:t>
            </a:r>
            <a:endParaRPr lang="en-US" sz="960" dirty="0"/>
          </a:p>
        </p:txBody>
      </p:sp>
      <p:sp>
        <p:nvSpPr>
          <p:cNvPr id="13" name="Text 10"/>
          <p:cNvSpPr txBox="1"/>
          <p:nvPr/>
        </p:nvSpPr>
        <p:spPr>
          <a:xfrm>
            <a:off x="1402536" y="3390800"/>
            <a:ext cx="584532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640" dirty="0"/>
          </a:p>
        </p:txBody>
      </p:sp>
      <p:sp>
        <p:nvSpPr>
          <p:cNvPr id="14" name="Text 11"/>
          <p:cNvSpPr txBox="1"/>
          <p:nvPr/>
        </p:nvSpPr>
        <p:spPr>
          <a:xfrm>
            <a:off x="2006553" y="3390800"/>
            <a:ext cx="1428857" cy="181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6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2026-09-24T08:11:42Z</dcterms:created>
  <dcterms:modified xsi:type="dcterms:W3CDTF">2026-09-24T08:11:42Z</dcterms:modified>
</cp:coreProperties>
</file>