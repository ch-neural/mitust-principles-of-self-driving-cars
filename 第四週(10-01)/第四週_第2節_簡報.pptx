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第二節開場。丟出一個會讓學生愣一下的說法：用里程衡量自駕車，單位就選錯了。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圈主標裡的「單位就選錯了」。先不要解釋，讓他們帶著疑問聽下一頁。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把問題講死：在直路上跑一萬公里，什麼都證明不了。這是整節的地基。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圈「一萬公里」和「什麼都證明不了」，中間畫一個問號。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會有人說安全，也會有人說不一定。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我們回頭看第一章那個數字。這就是為什麼需要一百一十億英里——因為你得靠「跑很多」來換「碰巧遇到」。這太沒效率了。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英文叫 scenario。。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段落分隔。宣告接下來要把「場景」拆成三層。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不用圈。告訴大家這三層等一下會一路用到第三節上機。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第一層：功能場景。用人話寫，完全沒有數字。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圈例句裡的形容詞，例如「一台機車」「從右邊」，指出這些都沒有數字。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答案是看得懂。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講一個實際的例子。Waymo 的工程師每次安全員介入，都要寫一句話描述發生了什麼事。那一句話就是功能場景。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第二層：邏輯場景。加上參數，但每個參數是一個範圍。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圈參數後面的範圍符號，例如「30–60 公分」的那個破折號，強調是範圍不是單一值。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這題有點難，大家先想一下。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第三層：具體場景。每個參數固定成一個值，才跑得起來。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圈固定下來的那幾個數字，跟上一頁的範圍對照著看。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本節的重點頁。模擬真正的用法是掃參數找界線，不是拚里程。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圈「掃參數」三個字，再圈下方說明裡「找出界線」。這一句第三節第二題會直接用到。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這句話我寫在白板上。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把抽象的三層接回學生手上的工具，讓他們知道自己一直在做這件事。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一步一步圈，每圈一步問「這個你上週是不是做過」。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請大家看著自己的螢幕對照一次，這比我講十遍有用。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 Euro NCAP 的影片看一個具體場景在真實世界長什麼樣。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播之前圈右邊的看點，特別是「每一次都一樣」那一條。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看的時候注意一件事：Euro NCAP 的測試規程裡，那個假人腳踏車是用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答案是危險。這就呼應第一節講的「模擬能做真實做不到的事」——在真實世界裡，他們是用假人來達到類似的效果。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答案是沒有。它有「一台機車」的場景，而且是二〇二三年才加進去的。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這一句我想聽大家自己說出「不一定」，那就是下一段要講的事。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段落分隔。從「場景是什麼」切到「場景哪裡來」。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來源一：法規與標準。想賣車就一定要通過。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圈主標的「一定要通過」，並說明這一類場景數量有限、但不能不過。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答案是：明確、大家都要做、可以比較。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這題比較難，我給一點提示。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來源二：事故資料庫。把真實發生過的事故還原成場景。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圈「還原」兩個字，強調這些場景是真的有人撞過才留下來的。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把真實發生過的事故還原成一個場景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來源三：實際道路。安全員每介入一次，就多一個場景。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圈「每介入一次」，並回頭提第一章講過的安全員角色。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它的做法是這樣。測試車在路上跑，車上有安全員。只要安全員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大家想一下。答案是：安全員介入代表「有一個人覺得這台車做得不夠好」，那正是你最想蒐集的東西。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我補一個今年的發展。Waymo 在二〇二六年二月發表了一套生成式的模擬模型，建立在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規模的數字也值得記一下：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。拿來跟第一章那個一百一十億英里對照——用模擬，一千多天就跑完了；用真車，要五百年。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本節的收尾伏筆。三個來源都補不到越南班每天遇到的那件事。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圈中間那個缺口區塊，停久一點。這一頁是要讓他們有感，不要趕。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先看左邊，現成的場景庫，一萬個以上的場景，完整、驗證過、拿來就能用。聽起來很夠了。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先看法規標準。Euro NCAP 有「一台機車」，二〇二三年才加的，沒有「十二台圍著你」。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再看事故資料庫。GIDAS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最後看實路收集。Waymo 是在鳳凰城和舊金山收集的，那裡也沒有機車海。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把方法用在自己的素材上：河內影片的十段字幕就是十個功能場景。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圈第一個例子的箭頭兩側，示範一次「人話 → 帶範圍的參數」。回家作業那條也要圈。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我在白板上寫出來，讓大家看清楚一句話怎麼變成四個範圍。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我再示範一個。第七段「圓環，沒有號誌」，可以寫成：進入速度十到二十五公里、同時進入兩到六台、讓與不讓的機率各半。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回家作業是這樣：挑一個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這一題下週要收，它會影響各位期末專題的起手式。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第二節小結，三句話帶上機。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三條一條一條圈。第二條「掃參數、找界線」要念兩次，下一節整節都在做這件事。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160629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316554"/>
            <a:ext cx="5528250" cy="64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794718" y="1378914"/>
            <a:ext cx="421601" cy="987801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427119" y="1378914"/>
            <a:ext cx="421601" cy="987801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300639" y="2278519"/>
            <a:ext cx="42160" cy="88197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2304328" y="2047003"/>
            <a:ext cx="34782" cy="7276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2308017" y="1815487"/>
            <a:ext cx="27404" cy="57328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2311706" y="1583971"/>
            <a:ext cx="20026" cy="41893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43383" y="1131964"/>
            <a:ext cx="1756671" cy="282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966459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1830" dirty="0"/>
          </a:p>
        </p:txBody>
      </p:sp>
      <p:sp>
        <p:nvSpPr>
          <p:cNvPr id="12" name="Text 10"/>
          <p:cNvSpPr txBox="1"/>
          <p:nvPr/>
        </p:nvSpPr>
        <p:spPr>
          <a:xfrm>
            <a:off x="3664629" y="1837353"/>
            <a:ext cx="4137614" cy="101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990" dirty="0"/>
          </a:p>
        </p:txBody>
      </p:sp>
      <p:sp>
        <p:nvSpPr>
          <p:cNvPr id="13" name="Shape 11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99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710" dirty="0"/>
          </a:p>
        </p:txBody>
      </p:sp>
      <p:sp>
        <p:nvSpPr>
          <p:cNvPr id="18" name="Text 14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330" dirty="0"/>
          </a:p>
        </p:txBody>
      </p:sp>
      <p:sp>
        <p:nvSpPr>
          <p:cNvPr id="7" name="Text 4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48784" y="1273079"/>
            <a:ext cx="1545870" cy="77612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48784" y="1273079"/>
            <a:ext cx="1545870" cy="776129"/>
          </a:xfrm>
          <a:prstGeom prst="roundRect">
            <a:avLst>
              <a:gd name="adj" fmla="val 4676"/>
            </a:avLst>
          </a:prstGeom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48784" y="1397259"/>
            <a:ext cx="1545870" cy="232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「前車急煞」</a:t>
            </a:r>
            <a:endParaRPr lang="en-US" sz="710" dirty="0"/>
          </a:p>
        </p:txBody>
      </p:sp>
      <p:sp>
        <p:nvSpPr>
          <p:cNvPr id="7" name="Text 5"/>
          <p:cNvSpPr txBox="1"/>
          <p:nvPr/>
        </p:nvSpPr>
        <p:spPr>
          <a:xfrm>
            <a:off x="1548784" y="1707711"/>
            <a:ext cx="1545870" cy="217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8F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誰都看得懂</a:t>
            </a:r>
            <a:endParaRPr lang="en-US" sz="560" dirty="0"/>
          </a:p>
        </p:txBody>
      </p:sp>
      <p:sp>
        <p:nvSpPr>
          <p:cNvPr id="8" name="Shape 6"/>
          <p:cNvSpPr/>
          <p:nvPr/>
        </p:nvSpPr>
        <p:spPr>
          <a:xfrm>
            <a:off x="1566350" y="2260879"/>
            <a:ext cx="456734" cy="299868"/>
          </a:xfrm>
          <a:prstGeom prst="rect">
            <a:avLst/>
          </a:prstGeom>
          <a:ln w="12700">
            <a:solidFill>
              <a:srgbClr val="D9463E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566350" y="2260879"/>
            <a:ext cx="456734" cy="29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多快</a:t>
            </a:r>
            <a:endParaRPr lang="en-US" sz="520" dirty="0"/>
          </a:p>
        </p:txBody>
      </p:sp>
      <p:sp>
        <p:nvSpPr>
          <p:cNvPr id="10" name="Shape 8"/>
          <p:cNvSpPr/>
          <p:nvPr/>
        </p:nvSpPr>
        <p:spPr>
          <a:xfrm>
            <a:off x="2102135" y="2260879"/>
            <a:ext cx="456734" cy="299868"/>
          </a:xfrm>
          <a:prstGeom prst="rect">
            <a:avLst/>
          </a:prstGeom>
          <a:ln w="12700">
            <a:solidFill>
              <a:srgbClr val="D9463E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2102135" y="2260879"/>
            <a:ext cx="456734" cy="29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多近</a:t>
            </a:r>
            <a:endParaRPr lang="en-US" sz="520" dirty="0"/>
          </a:p>
        </p:txBody>
      </p:sp>
      <p:sp>
        <p:nvSpPr>
          <p:cNvPr id="12" name="Shape 10"/>
          <p:cNvSpPr/>
          <p:nvPr/>
        </p:nvSpPr>
        <p:spPr>
          <a:xfrm>
            <a:off x="2637920" y="2260879"/>
            <a:ext cx="456734" cy="299868"/>
          </a:xfrm>
          <a:prstGeom prst="rect">
            <a:avLst/>
          </a:prstGeom>
          <a:ln w="12700">
            <a:solidFill>
              <a:srgbClr val="D9463E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2637920" y="2260879"/>
            <a:ext cx="456734" cy="2998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多急</a:t>
            </a:r>
            <a:endParaRPr lang="en-US" sz="520" dirty="0"/>
          </a:p>
        </p:txBody>
      </p:sp>
      <p:sp>
        <p:nvSpPr>
          <p:cNvPr id="14" name="Text 12"/>
          <p:cNvSpPr txBox="1"/>
          <p:nvPr/>
        </p:nvSpPr>
        <p:spPr>
          <a:xfrm>
            <a:off x="1443383" y="2578387"/>
            <a:ext cx="1756671" cy="211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三個數字都還沒有</a:t>
            </a:r>
            <a:endParaRPr lang="en-US" sz="520" dirty="0"/>
          </a:p>
        </p:txBody>
      </p:sp>
      <p:sp>
        <p:nvSpPr>
          <p:cNvPr id="15" name="Text 13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1830" dirty="0"/>
          </a:p>
        </p:txBody>
      </p:sp>
      <p:sp>
        <p:nvSpPr>
          <p:cNvPr id="16" name="Text 14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990" dirty="0"/>
          </a:p>
        </p:txBody>
      </p:sp>
      <p:sp>
        <p:nvSpPr>
          <p:cNvPr id="17" name="Shape 15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990" dirty="0"/>
          </a:p>
        </p:txBody>
      </p:sp>
      <p:pic>
        <p:nvPicPr>
          <p:cNvPr id="20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710" dirty="0"/>
          </a:p>
        </p:txBody>
      </p:sp>
      <p:sp>
        <p:nvSpPr>
          <p:cNvPr id="22" name="Text 18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916982" y="1445944"/>
            <a:ext cx="682994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119350" y="1834008"/>
            <a:ext cx="708290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1815798" y="2222073"/>
            <a:ext cx="657697" cy="77613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2153505" y="1417721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457058" y="1805785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2001729" y="2193850"/>
            <a:ext cx="134058" cy="13405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889360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091728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94097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496465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889360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091728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94097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496465" y="1819897"/>
            <a:ext cx="105836" cy="10583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5271" y="1872815"/>
            <a:ext cx="22766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889360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1728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94097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496465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1830" dirty="0"/>
          </a:p>
        </p:txBody>
      </p:sp>
      <p:sp>
        <p:nvSpPr>
          <p:cNvPr id="21" name="Text 1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99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710" dirty="0"/>
          </a:p>
        </p:txBody>
      </p:sp>
      <p:sp>
        <p:nvSpPr>
          <p:cNvPr id="27" name="Text 2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1114123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94490" y="221304"/>
            <a:ext cx="6155021" cy="63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16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1660" dirty="0"/>
          </a:p>
        </p:txBody>
      </p:sp>
      <p:sp>
        <p:nvSpPr>
          <p:cNvPr id="3" name="Shape 1"/>
          <p:cNvSpPr/>
          <p:nvPr/>
        </p:nvSpPr>
        <p:spPr>
          <a:xfrm>
            <a:off x="1494490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271359" y="1138442"/>
            <a:ext cx="359619" cy="359619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71359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1591310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1060" dirty="0"/>
          </a:p>
        </p:txBody>
      </p:sp>
      <p:sp>
        <p:nvSpPr>
          <p:cNvPr id="7" name="Text 5"/>
          <p:cNvSpPr txBox="1"/>
          <p:nvPr/>
        </p:nvSpPr>
        <p:spPr>
          <a:xfrm>
            <a:off x="1591310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870" dirty="0"/>
          </a:p>
        </p:txBody>
      </p:sp>
      <p:sp>
        <p:nvSpPr>
          <p:cNvPr id="8" name="Text 6"/>
          <p:cNvSpPr txBox="1"/>
          <p:nvPr/>
        </p:nvSpPr>
        <p:spPr>
          <a:xfrm>
            <a:off x="3407848" y="1691702"/>
            <a:ext cx="207473" cy="276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3615321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92190" y="1138442"/>
            <a:ext cx="359619" cy="359619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92190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712141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1060" dirty="0"/>
          </a:p>
        </p:txBody>
      </p:sp>
      <p:sp>
        <p:nvSpPr>
          <p:cNvPr id="13" name="Text 11"/>
          <p:cNvSpPr txBox="1"/>
          <p:nvPr/>
        </p:nvSpPr>
        <p:spPr>
          <a:xfrm>
            <a:off x="3712141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870" dirty="0"/>
          </a:p>
        </p:txBody>
      </p:sp>
      <p:sp>
        <p:nvSpPr>
          <p:cNvPr id="14" name="Text 12"/>
          <p:cNvSpPr txBox="1"/>
          <p:nvPr/>
        </p:nvSpPr>
        <p:spPr>
          <a:xfrm>
            <a:off x="5528679" y="1691702"/>
            <a:ext cx="207473" cy="276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440" dirty="0"/>
          </a:p>
        </p:txBody>
      </p:sp>
      <p:sp>
        <p:nvSpPr>
          <p:cNvPr id="15" name="Shape 13"/>
          <p:cNvSpPr/>
          <p:nvPr/>
        </p:nvSpPr>
        <p:spPr>
          <a:xfrm>
            <a:off x="5736152" y="1000127"/>
            <a:ext cx="1913359" cy="2060895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3022" y="1138442"/>
            <a:ext cx="359619" cy="359619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3022" y="1214515"/>
            <a:ext cx="359619" cy="20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5832972" y="1567218"/>
            <a:ext cx="1719717" cy="49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10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1060" dirty="0"/>
          </a:p>
        </p:txBody>
      </p:sp>
      <p:sp>
        <p:nvSpPr>
          <p:cNvPr id="19" name="Text 17"/>
          <p:cNvSpPr txBox="1"/>
          <p:nvPr/>
        </p:nvSpPr>
        <p:spPr>
          <a:xfrm>
            <a:off x="5832972" y="2092816"/>
            <a:ext cx="1719717" cy="8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87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870" dirty="0"/>
          </a:p>
        </p:txBody>
      </p:sp>
      <p:sp>
        <p:nvSpPr>
          <p:cNvPr id="20" name="Text 18"/>
          <p:cNvSpPr txBox="1"/>
          <p:nvPr/>
        </p:nvSpPr>
        <p:spPr>
          <a:xfrm>
            <a:off x="1494490" y="3171673"/>
            <a:ext cx="6155021" cy="428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95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97112" y="96821"/>
            <a:ext cx="622418" cy="193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680" dirty="0"/>
          </a:p>
        </p:txBody>
      </p:sp>
      <p:sp>
        <p:nvSpPr>
          <p:cNvPr id="24" name="Text 20"/>
          <p:cNvSpPr txBox="1"/>
          <p:nvPr/>
        </p:nvSpPr>
        <p:spPr>
          <a:xfrm>
            <a:off x="1840277" y="96821"/>
            <a:ext cx="1521466" cy="1936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2204" y="293914"/>
            <a:ext cx="6539593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1040" dirty="0"/>
          </a:p>
        </p:txBody>
      </p:sp>
      <p:sp>
        <p:nvSpPr>
          <p:cNvPr id="3" name="Text 1"/>
          <p:cNvSpPr txBox="1"/>
          <p:nvPr/>
        </p:nvSpPr>
        <p:spPr>
          <a:xfrm>
            <a:off x="1302204" y="543741"/>
            <a:ext cx="6539593" cy="45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3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370" dirty="0"/>
          </a:p>
        </p:txBody>
      </p:sp>
      <p:sp>
        <p:nvSpPr>
          <p:cNvPr id="4" name="Shape 2"/>
          <p:cNvSpPr/>
          <p:nvPr/>
        </p:nvSpPr>
        <p:spPr>
          <a:xfrm>
            <a:off x="1302204" y="1008987"/>
            <a:ext cx="3137535" cy="206241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1339" y="2184142"/>
            <a:ext cx="2339264" cy="1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84884" y="1813274"/>
            <a:ext cx="835452" cy="384307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2102356" y="1890135"/>
            <a:ext cx="284054" cy="230585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03880" y="2005427"/>
            <a:ext cx="334180" cy="1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73053" y="1975642"/>
            <a:ext cx="208499" cy="208499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2931" y="1975642"/>
            <a:ext cx="208499" cy="208499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77303" y="1960749"/>
            <a:ext cx="194938" cy="119143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372242" y="1960749"/>
            <a:ext cx="194938" cy="119143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6545" y="1737357"/>
            <a:ext cx="125318" cy="193607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3305224" y="1610767"/>
            <a:ext cx="134036" cy="134036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372242" y="2273499"/>
            <a:ext cx="1" cy="148928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449161" y="2630533"/>
            <a:ext cx="2843621" cy="382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76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4704261" y="1008987"/>
            <a:ext cx="3137535" cy="206241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1219" y="1141248"/>
            <a:ext cx="279219" cy="279219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51219" y="1177988"/>
            <a:ext cx="27921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960" dirty="0"/>
          </a:p>
        </p:txBody>
      </p:sp>
      <p:sp>
        <p:nvSpPr>
          <p:cNvPr id="20" name="Text 18"/>
          <p:cNvSpPr txBox="1"/>
          <p:nvPr/>
        </p:nvSpPr>
        <p:spPr>
          <a:xfrm>
            <a:off x="5189220" y="1126553"/>
            <a:ext cx="2505619" cy="3380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840" dirty="0"/>
          </a:p>
        </p:txBody>
      </p:sp>
      <p:sp>
        <p:nvSpPr>
          <p:cNvPr id="21" name="Text 19"/>
          <p:cNvSpPr txBox="1"/>
          <p:nvPr/>
        </p:nvSpPr>
        <p:spPr>
          <a:xfrm>
            <a:off x="4851219" y="1493945"/>
            <a:ext cx="2843621" cy="161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72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851219" y="1640903"/>
            <a:ext cx="2843621" cy="161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851219" y="1861338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4089" y="1831947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quy định: búp bê xe đạp chạy ra ở đúng một tốc độ, một vị trí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測試規程訂死：假人腳踏車固定速度、固定位置衝出來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4851219" y="2257222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4089" y="2227830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4851219" y="2653105"/>
            <a:ext cx="29391" cy="1910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4089" y="2623714"/>
            <a:ext cx="2755446" cy="366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76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7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7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1302204" y="3159579"/>
            <a:ext cx="6539593" cy="440871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49161" y="3211014"/>
            <a:ext cx="6245679" cy="352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92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330" dirty="0"/>
          </a:p>
        </p:txBody>
      </p:sp>
      <p:sp>
        <p:nvSpPr>
          <p:cNvPr id="7" name="Text 4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720" dirty="0"/>
          </a:p>
        </p:txBody>
      </p:sp>
      <p:sp>
        <p:nvSpPr>
          <p:cNvPr id="8" name="Text 5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83917" y="1167243"/>
            <a:ext cx="1475604" cy="220491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917" y="1167243"/>
            <a:ext cx="1475604" cy="220491"/>
          </a:xfrm>
          <a:prstGeom prst="roundRect">
            <a:avLst>
              <a:gd name="adj" fmla="val 9877"/>
            </a:avLst>
          </a:prstGeom>
          <a:ln w="9525">
            <a:solidFill>
              <a:srgbClr val="D6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83917" y="1167243"/>
            <a:ext cx="1475604" cy="220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4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自動緊急煞車　對車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1583917" y="1449472"/>
            <a:ext cx="1475604" cy="220491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583917" y="1449472"/>
            <a:ext cx="1475604" cy="220491"/>
          </a:xfrm>
          <a:prstGeom prst="roundRect">
            <a:avLst>
              <a:gd name="adj" fmla="val 9877"/>
            </a:avLst>
          </a:prstGeom>
          <a:ln w="9525">
            <a:solidFill>
              <a:srgbClr val="D6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83917" y="1449472"/>
            <a:ext cx="1475604" cy="220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4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自動緊急煞車　對行人</a:t>
            </a:r>
            <a:endParaRPr lang="en-US" sz="520" dirty="0"/>
          </a:p>
        </p:txBody>
      </p:sp>
      <p:sp>
        <p:nvSpPr>
          <p:cNvPr id="10" name="Shape 8"/>
          <p:cNvSpPr/>
          <p:nvPr/>
        </p:nvSpPr>
        <p:spPr>
          <a:xfrm>
            <a:off x="1583917" y="1731701"/>
            <a:ext cx="1475604" cy="220491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583917" y="1731701"/>
            <a:ext cx="1475604" cy="220491"/>
          </a:xfrm>
          <a:prstGeom prst="roundRect">
            <a:avLst>
              <a:gd name="adj" fmla="val 9877"/>
            </a:avLst>
          </a:prstGeom>
          <a:ln w="9525">
            <a:solidFill>
              <a:srgbClr val="D6DE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583917" y="1731701"/>
            <a:ext cx="1475604" cy="2204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" b="1" dirty="0">
                <a:solidFill>
                  <a:srgbClr val="4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自動緊急煞車　對機車</a:t>
            </a:r>
            <a:endParaRPr lang="en-US" sz="520" dirty="0"/>
          </a:p>
        </p:txBody>
      </p:sp>
      <p:sp>
        <p:nvSpPr>
          <p:cNvPr id="13" name="Shape 11"/>
          <p:cNvSpPr/>
          <p:nvPr/>
        </p:nvSpPr>
        <p:spPr>
          <a:xfrm>
            <a:off x="2321719" y="2049208"/>
            <a:ext cx="1" cy="141114"/>
          </a:xfrm>
          <a:prstGeom prst="line">
            <a:avLst/>
          </a:prstGeom>
          <a:noFill/>
          <a:ln w="15240">
            <a:solidFill>
              <a:srgbClr val="8FA3B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794718" y="2225600"/>
            <a:ext cx="1054003" cy="352786"/>
          </a:xfrm>
          <a:prstGeom prst="roundRect">
            <a:avLst>
              <a:gd name="adj" fmla="val 20000"/>
            </a:avLst>
          </a:prstGeom>
          <a:solidFill>
            <a:srgbClr val="2E9E6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794718" y="2225600"/>
            <a:ext cx="1054003" cy="35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全部通過才准賣</a:t>
            </a:r>
            <a:endParaRPr lang="en-US" sz="600" dirty="0"/>
          </a:p>
        </p:txBody>
      </p:sp>
      <p:sp>
        <p:nvSpPr>
          <p:cNvPr id="16" name="Text 14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1830" dirty="0"/>
          </a:p>
        </p:txBody>
      </p:sp>
      <p:sp>
        <p:nvSpPr>
          <p:cNvPr id="17" name="Text 15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990" dirty="0"/>
          </a:p>
        </p:txBody>
      </p:sp>
      <p:pic>
        <p:nvPicPr>
          <p:cNvPr id="21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710" dirty="0"/>
          </a:p>
        </p:txBody>
      </p:sp>
      <p:sp>
        <p:nvSpPr>
          <p:cNvPr id="23" name="Text 19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66350" y="1096686"/>
            <a:ext cx="1510737" cy="740851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66350" y="1096686"/>
            <a:ext cx="1510737" cy="740851"/>
          </a:xfrm>
          <a:prstGeom prst="roundRect">
            <a:avLst>
              <a:gd name="adj" fmla="val 3919"/>
            </a:avLst>
          </a:prstGeom>
          <a:ln w="12700">
            <a:solidFill>
              <a:srgbClr val="D946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66350" y="1131964"/>
            <a:ext cx="1510737" cy="194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事故紀錄 #4127</a:t>
            </a:r>
            <a:endParaRPr lang="en-US" sz="560" dirty="0"/>
          </a:p>
        </p:txBody>
      </p:sp>
      <p:sp>
        <p:nvSpPr>
          <p:cNvPr id="7" name="Text 5"/>
          <p:cNvSpPr txBox="1"/>
          <p:nvPr/>
        </p:nvSpPr>
        <p:spPr>
          <a:xfrm>
            <a:off x="1656994" y="1325996"/>
            <a:ext cx="543866" cy="15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" b="1" dirty="0">
                <a:solidFill>
                  <a:srgbClr val="8F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車速</a:t>
            </a:r>
            <a:endParaRPr lang="en-US" sz="520" dirty="0"/>
          </a:p>
        </p:txBody>
      </p:sp>
      <p:sp>
        <p:nvSpPr>
          <p:cNvPr id="8" name="Text 6"/>
          <p:cNvSpPr txBox="1"/>
          <p:nvPr/>
        </p:nvSpPr>
        <p:spPr>
          <a:xfrm>
            <a:off x="2200860" y="1325996"/>
            <a:ext cx="815798" cy="15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km/h</a:t>
            </a:r>
            <a:endParaRPr lang="en-US" sz="520" dirty="0"/>
          </a:p>
        </p:txBody>
      </p:sp>
      <p:sp>
        <p:nvSpPr>
          <p:cNvPr id="9" name="Text 7"/>
          <p:cNvSpPr txBox="1"/>
          <p:nvPr/>
        </p:nvSpPr>
        <p:spPr>
          <a:xfrm>
            <a:off x="1656994" y="1493570"/>
            <a:ext cx="543866" cy="15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" b="1" dirty="0">
                <a:solidFill>
                  <a:srgbClr val="8F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角度</a:t>
            </a:r>
            <a:endParaRPr lang="en-US" sz="520" dirty="0"/>
          </a:p>
        </p:txBody>
      </p:sp>
      <p:sp>
        <p:nvSpPr>
          <p:cNvPr id="10" name="Text 8"/>
          <p:cNvSpPr txBox="1"/>
          <p:nvPr/>
        </p:nvSpPr>
        <p:spPr>
          <a:xfrm>
            <a:off x="2200860" y="1493570"/>
            <a:ext cx="815798" cy="15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右後 35°</a:t>
            </a:r>
            <a:endParaRPr lang="en-US" sz="520" dirty="0"/>
          </a:p>
        </p:txBody>
      </p:sp>
      <p:sp>
        <p:nvSpPr>
          <p:cNvPr id="11" name="Text 9"/>
          <p:cNvSpPr txBox="1"/>
          <p:nvPr/>
        </p:nvSpPr>
        <p:spPr>
          <a:xfrm>
            <a:off x="1656994" y="1661143"/>
            <a:ext cx="543866" cy="15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" b="1" dirty="0">
                <a:solidFill>
                  <a:srgbClr val="8FA3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視線</a:t>
            </a:r>
            <a:endParaRPr lang="en-US" sz="520" dirty="0"/>
          </a:p>
        </p:txBody>
      </p:sp>
      <p:sp>
        <p:nvSpPr>
          <p:cNvPr id="12" name="Text 10"/>
          <p:cNvSpPr txBox="1"/>
          <p:nvPr/>
        </p:nvSpPr>
        <p:spPr>
          <a:xfrm>
            <a:off x="2200860" y="1661143"/>
            <a:ext cx="815798" cy="158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被貨車擋住</a:t>
            </a:r>
            <a:endParaRPr lang="en-US" sz="520" dirty="0"/>
          </a:p>
        </p:txBody>
      </p:sp>
      <p:sp>
        <p:nvSpPr>
          <p:cNvPr id="13" name="Shape 11"/>
          <p:cNvSpPr/>
          <p:nvPr/>
        </p:nvSpPr>
        <p:spPr>
          <a:xfrm>
            <a:off x="2321719" y="1908093"/>
            <a:ext cx="1" cy="176393"/>
          </a:xfrm>
          <a:prstGeom prst="line">
            <a:avLst/>
          </a:prstGeom>
          <a:noFill/>
          <a:ln w="15240">
            <a:solidFill>
              <a:srgbClr val="8FA3B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566350" y="2155044"/>
            <a:ext cx="1510737" cy="458622"/>
          </a:xfrm>
          <a:prstGeom prst="roundRect">
            <a:avLst>
              <a:gd name="adj" fmla="val 11538"/>
            </a:avLst>
          </a:prstGeom>
          <a:solidFill>
            <a:srgbClr val="D9463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66350" y="2155044"/>
            <a:ext cx="1510737" cy="458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變成一個可以重跑的場景</a:t>
            </a:r>
            <a:endParaRPr lang="en-US" sz="560" dirty="0"/>
          </a:p>
        </p:txBody>
      </p:sp>
      <p:sp>
        <p:nvSpPr>
          <p:cNvPr id="16" name="Text 14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1830" dirty="0"/>
          </a:p>
        </p:txBody>
      </p:sp>
      <p:sp>
        <p:nvSpPr>
          <p:cNvPr id="17" name="Text 15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990" dirty="0"/>
          </a:p>
        </p:txBody>
      </p:sp>
      <p:pic>
        <p:nvPicPr>
          <p:cNvPr id="21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710" dirty="0"/>
          </a:p>
        </p:txBody>
      </p:sp>
      <p:sp>
        <p:nvSpPr>
          <p:cNvPr id="23" name="Text 19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94718" y="1345814"/>
            <a:ext cx="1054003" cy="1054003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68497" y="1830655"/>
            <a:ext cx="906443" cy="84320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279559" y="1872815"/>
            <a:ext cx="84320" cy="453221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16318" y="1767414"/>
            <a:ext cx="210801" cy="210801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595759" y="1440673"/>
            <a:ext cx="316201" cy="316201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95759" y="1440673"/>
            <a:ext cx="316201" cy="316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790" dirty="0"/>
          </a:p>
        </p:txBody>
      </p:sp>
      <p:sp>
        <p:nvSpPr>
          <p:cNvPr id="10" name="Text 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1830" dirty="0"/>
          </a:p>
        </p:txBody>
      </p:sp>
      <p:sp>
        <p:nvSpPr>
          <p:cNvPr id="11" name="Text 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990" dirty="0"/>
          </a:p>
        </p:txBody>
      </p:sp>
      <p:sp>
        <p:nvSpPr>
          <p:cNvPr id="12" name="Shape 1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9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710" dirty="0"/>
          </a:p>
        </p:txBody>
      </p:sp>
      <p:sp>
        <p:nvSpPr>
          <p:cNvPr id="17" name="Text 1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132868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987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840" dirty="0"/>
          </a:p>
        </p:txBody>
      </p:sp>
      <p:sp>
        <p:nvSpPr>
          <p:cNvPr id="5" name="Text 3"/>
          <p:cNvSpPr txBox="1"/>
          <p:nvPr/>
        </p:nvSpPr>
        <p:spPr>
          <a:xfrm>
            <a:off x="1459870" y="1472249"/>
            <a:ext cx="2580080" cy="451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2150" dirty="0"/>
          </a:p>
        </p:txBody>
      </p:sp>
      <p:sp>
        <p:nvSpPr>
          <p:cNvPr id="6" name="Text 4"/>
          <p:cNvSpPr txBox="1"/>
          <p:nvPr/>
        </p:nvSpPr>
        <p:spPr>
          <a:xfrm>
            <a:off x="1459870" y="1953281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920" dirty="0"/>
          </a:p>
        </p:txBody>
      </p:sp>
      <p:sp>
        <p:nvSpPr>
          <p:cNvPr id="7" name="Text 5"/>
          <p:cNvSpPr txBox="1"/>
          <p:nvPr/>
        </p:nvSpPr>
        <p:spPr>
          <a:xfrm>
            <a:off x="145987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65889" y="1829378"/>
            <a:ext cx="612222" cy="23322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11656" y="1785648"/>
            <a:ext cx="320688" cy="320688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72860" y="1049524"/>
            <a:ext cx="2842461" cy="1792937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04050" y="1151561"/>
            <a:ext cx="2580080" cy="2623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4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84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6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840" dirty="0"/>
          </a:p>
        </p:txBody>
      </p:sp>
      <p:sp>
        <p:nvSpPr>
          <p:cNvPr id="13" name="Shape 11"/>
          <p:cNvSpPr/>
          <p:nvPr/>
        </p:nvSpPr>
        <p:spPr>
          <a:xfrm>
            <a:off x="5448425" y="1863525"/>
            <a:ext cx="295179" cy="135782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560593" y="1890681"/>
            <a:ext cx="100361" cy="8147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899971" y="19981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802296" y="213931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640121" y="2217117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456900" y="221074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301727" y="212191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216181" y="1974424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223184" y="1807791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320858" y="16666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3034" y="1588865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666254" y="1595233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821428" y="1684066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06974" y="1831558"/>
            <a:ext cx="68875" cy="5684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007807" y="1501402"/>
            <a:ext cx="1676323" cy="58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10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1040" dirty="0"/>
          </a:p>
        </p:txBody>
      </p:sp>
      <p:sp>
        <p:nvSpPr>
          <p:cNvPr id="28" name="Text 26"/>
          <p:cNvSpPr txBox="1"/>
          <p:nvPr/>
        </p:nvSpPr>
        <p:spPr>
          <a:xfrm>
            <a:off x="5104050" y="2405159"/>
            <a:ext cx="2580080" cy="32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8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72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96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720" dirty="0"/>
          </a:p>
        </p:txBody>
      </p:sp>
      <p:sp>
        <p:nvSpPr>
          <p:cNvPr id="34" name="Text 30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733403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704011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2026-09-24T08:43:46Z</dcterms:created>
  <dcterms:modified xsi:type="dcterms:W3CDTF">2026-09-24T08:43:46Z</dcterms:modified>
</cp:coreProperties>
</file>