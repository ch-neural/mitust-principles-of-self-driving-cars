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第一節我們講了三個規格、三種落差。這一節要回答一個問題：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那到底要怎麼測，才知道一台自駕車安全？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先回想第一章那個數字——要用「跑里程」的方式證明自駕車比人安全，需要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一百一十億英里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。就算一百台車全年無休跑時速二十五英里，也要五百年。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所以里程不是好的測試單位。這一節要告訴各位，業界用的是什麼。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先講清楚為什麼里程是錯的單位。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假設有一台自駕車，在高速公路上直直跑了一萬公里，一次事故都沒有。它安全嗎？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（等學生回答。會有人說安全，有人說不一定。）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它只證明了一件事：它很會走直線。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真實道路上的里程，絕大部分是無聊的——直行、沒有人切進來、什麼事都沒發生。而決定一台車安不安全的，是那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幾秒鐘的罕見狀況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：小孩突然從車陣中衝出來、前車急煞、機車從右側死角鑽上來。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這裡有個殘酷的事實：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你一直跑，不保證遇得到那幾秒鐘。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有些狀況可能跑十萬公里才遇到一次。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（回頭指第一章那個數字）這就是為什麼需要一百一十億英里——因為你得靠「跑很多」來換「碰巧遇到」。這太沒效率了。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所以問題要改成：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不是「跑了幾公里」，而是「遇過哪些狀況」。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而「狀況」這個詞，在這一行有一個正式的名字：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場景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（scenario）。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「場景」這個詞聽起來很模糊。所以業界把它分成三層，從模糊到精確。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一層一層講，每一層我都用同一個例子：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前車急煞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第一層：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功能場景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就是用人話寫一句：「前車急煞」。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（問全班）這句話，不是工程師的人看得懂嗎？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（預期答案：看得懂。）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對，這就是功能場景的價值——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任何人都能參與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。安全部門、法務、甚至客服接到的客訴，都可以變成功能場景。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但它有個問題：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你沒辦法拿它來測試。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前車在幾公尺外？減速度多少？自車開多快？通通沒有。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所以功能場景的用途是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列清單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：把所有可能發生的事寫下來。這個階段愈多愈好，不怕重複。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（一個實務例子：Waymo 的工程師每次安全駕駛介入，都要寫一句話描述發生什麼事。那一句話就是功能場景。）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第二層：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邏輯場景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把功能場景加上參數，但每個參數不是一個值，是一個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範圍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同樣是「前車急煞」，寫成邏輯場景就變成：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前車在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二十到六十公尺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處，以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三到八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m/s² 減速，自車時速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四十到七十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（問全班）為什麼要用範圍，不直接給一個數字？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（讓學生想。這題有點難。）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因為真實世界不會剛好是某個數字。前車可能在二十一公尺，也可能在五十九公尺。你要測的是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整個範圍內都安全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，不是某一個特定的點安全。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這一層最重要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，因為它是「可以交給電腦去展開」的形式。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而且，這也是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期末專題要各位寫的那一層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。等一下我會示範怎麼從功能場景寫成邏輯場景。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第三層：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具體場景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把剛剛那些範圍，每一個都固定成一個值：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前車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剛好三十五公尺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，減速度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剛好六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，自車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剛好時速五十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這才是模擬器真的跑得起來的東西。跑一次，出一個結果：撞了，或沒撞。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現在關鍵的一步來了。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一個邏輯場景，可以展開成幾個具體場景？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距離二十到六十，每一公尺取一個，四十一個值。減速度三到八，每零點五取一個，十一個值。速度四十到七十，每五公里取一個，七個值。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（在白板上寫）四十一 × 十一 × 七 ＝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三千一百五十七個具體場景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而這只是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功能場景展開出來的。你有五百個功能場景，就是一百五十萬個具體場景。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這就是模擬真正的用法。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下一頁講。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所以模擬真正的用法是什麼？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掃參數。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固定一個場景，把一個參數改一點點，重跑。再改一點點，再跑。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跑完三千次之後，你得到的不是「有沒有撞」，而是一條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界線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「前車在三十五公尺外、減速度六以下，我們都能停住。超過六，我們在三十公尺以內就停不住了。」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（這句話值得寫在白板上。）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這條界線就是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能力邊界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——而能力邊界，正是第二週講的 ODD 要寫進去的東西。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（回頭連結）看到了嗎？第二週的 ODD、第三週的感測器邊界、今天的掃參數，講的是同一件事：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你要說得出自己的界線在哪裡。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最後看底下那句：這件事真實道路做不到。你沒辦法叫同一台機車，用完全一樣的角度、速度、位置，切進來三千次。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所以模擬不是「比較便宜的測試」，它是唯一做得到這件事的工具。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剛剛講的三層，聽起來很抽象。但各位上週已經全部用過了，只是不知道它們的名字。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六個預設按鈕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——「河內尖峰」「雨夜」——那就是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功能場景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。用人話講的一個狀況。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滑桿可以拉的範圍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——射線三到六十、長度十到一百二十、張角二十到一百八十——那就是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邏輯場景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。它定義了「所有可能的組合」。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滑桿停在某一個位置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——十二條、四十公尺、九十度——那就是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具體場景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。按開始，跑一次，出一個結果。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（讓學生看著自己的螢幕對照一次，這比講十遍有用。）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所以第三節的任務二，各位要做的事情有一個正式名稱，叫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掃參數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：河內尖峰那個場景不動，只改三個數字，找出讓車子跑得起來的那組值。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而各組找到的那組數字合起來，會落在某一個範圍——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那個範圍就是「河內尖峰的最低感測器規格」。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講了這麼多層，各位可能還是覺得抽象。我放一支影片，讓各位看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一個場景在真實世界長什麼樣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 Euro NCAP，歐洲的新車安全評鑑，官方頻道。這支測的是自動緊急煞車對腳踏車。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（播 2 分鐘。沒網路就跳過，用下面的問題討論。）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看的時候注意一件事：那個假人腳踏車，是用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固定的速度、從固定的位置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衝出來的。軌道、速度、時間點，全部都事先訂好。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那就是具體場景。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每一次測試都必須跟上一次一模一樣，否則不同車款之間沒辦法比較。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看完問兩個問題。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第一，為什麼要用假人，不用真人？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（預期答案：危險。這就呼應第一節講的「模擬能做真實做不到的事」——這裡是用假人來達到類似的效果。）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第二，這個問題比較重要：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Euro NCAP 有沒有「十二台機車圍著你」的場景？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（答案：沒有。它有「一台機車」的場景，二〇二三年才加的。）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所以如果一台車拿了 Euro NCAP 五顆星，它在河內就一定安全嗎？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（讓學生自己說出「不一定」。這是下一段的引子。）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剛剛那個問題很好：Euro NCAP 沒有機車海的場景。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那場景到底是從哪裡來的？誰決定要測哪些？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三個來源。一個一個看。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第一個來源：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法規與標準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Euro NCAP 就是一個。它測自動緊急煞車，對車、對行人，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二〇二三年才加上機車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 ISO 34502，那是一個框架，規定場景應該怎麼寫——它不告訴你要測什麼，它告訴你「場景這個東西應該長什麼樣」。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（問全班）法規來的場景，優點是什麼？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（預期答案：明確、大家都要做、可以比較。）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對。缺點呢？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（這題比較難，可以提示。）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第一，數量少。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幾十個場景，跟真實世界的複雜度比起來是九牛一毛。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第二，它永遠落後現實。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機車的場景二〇二三年才加——但機車在亞洲已經跑了幾十年了。法規是等問題出現、等事故累積、等社會有共識，才會動。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所以法規是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地板，不是天花板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。通過法規只代表你沒有低於最低標準。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第二個來源：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事故資料庫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德國有一個叫 GIDAS 的資料庫，非常詳細地記錄每一起交通事故：當時車速多少、從哪個角度撞上、視線被什麼擋住、天氣如何。美國的 NHTSA 也有類似的。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做法是：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把真實發生過的事故，還原成一個場景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，然後拿去問「如果當時是自駕車，它會不會也撞？」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（停一下）這個來源有一個很重的份量，請各位注意：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每一個場景，都真的傷過人。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不是誰在辦公室裡想像出來的。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所以當一家公司說「我們通過了三千個事故場景的測試」，那句話的意思是：三千件真實的悲劇，被拿來當成檢查表。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（這裡可以停兩秒，不要急著往下講。）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這也回答了一個常見的問題：為什麼自駕車的測試看起來這麼保守、這麼慢？因為它的清單是用別人的代價寫出來的。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第三個來源，也是最有意思的一個：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從實際道路上長出來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做法是這樣：測試車在路上跑，車上有安全員。只要安全員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手一碰方向盤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——系統就自動把那前後幾秒切出來，做成一個場景，存進資料庫。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每一次急煞，也一樣。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（問全班）為什麼要用「安全員介入」當作觸發條件？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（讓學生想。答案是：因為安全員介入，代表「有一個人覺得這台車做得不夠好」。那正是你想蒐集的東西。）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這個做法有個很漂亮的地方：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它會自己成長。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車跑得愈多，場景庫愈大；場景庫愈大，測試愈完整；測試愈完整，車開得愈好。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Waymo 和 Cruise 的場景庫以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數萬計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，而且每天都在長。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（補一個今年的發展，如果時間夠：Waymo 二〇二六年二月發表了一套生成式的模擬模型，建立在 DeepMind 的 Genie 3 上面，可以自己「長」出沒發生過的罕見狀況——龍捲風、淹水的街道，甚至路上有一頭大象。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規模的數字也值得唸給學生聽：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每天有兩萬五千台虛擬的 Waymo 在跑，一天跑一千萬英里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。拿來跟第一章那個「一百一十億英里」對照——用模擬，一千多天就跑完了；用真車，要五百年。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想放影片的話：The Information 有一支三分鐘的報導，youtube.com/watch?v=93i4i9MlXx8，由 Waymo 的工程師親自說明。這支不是必播，時間不夠就跳過。）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三個來源講完了。現在把它們合起來看，會看到一個洞。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左邊：現成的場景庫，一萬個以上的場景，完整、驗證過、拿來就能用。聽起來很夠了。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但是——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（指右邊）各位每天在路上遇到的那件事，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哪一個場景庫裡有？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（讓學生自己說。）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法規標準：Euro NCAP 有「一台機車」，二〇二三年加的。沒有「十二台圍著你」。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事故資料庫：GIDAS 是德國的，NHTSA 是美國的。德國和美國的街上，沒有機車海。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實路收集：Waymo 在鳳凰城、舊金山收集。那裡也沒有機車海。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所以這一塊，三個來源都補不到。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（停一下，然後把語氣轉過來。）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這不是抱怨。反過來想：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如果一個問題，全世界的資料庫裡都沒有答案，而你剛好每天都在現場——那就是你的題目。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期末專題如果有人要做「台灣或越南的交通場景庫」，我非常歡迎，而且我認為那比再做一次歐美已經做過的題目有價值得多。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最後這一段是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期末專題的預習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，請各位認真聽。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還記得第一章那支河內的影片嗎？那支影片有十段字幕。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那十段字幕，就是十個功能場景。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期末專題要各位做的事，就是把它們寫成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邏輯場景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。我示範兩個。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第二段字幕：「你前方五公尺內有十二台機車。」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這是功能場景。寫成邏輯場景：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前方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三到八公尺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內，機車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八到十五台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，速度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時速十五到三十五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，橫向間距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零點五到一點五公尺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（在白板上寫出來，讓學生看清楚「一句話」怎麼變成「四個範圍」。）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第四段字幕：「一台違停的貨車。」寫成：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貨車佔車道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百分之三十到六十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，距離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十到四十公尺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，旁邊車道每十公尺有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零到三台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機車。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（再示範一個，如果時間夠：第七段「圓環，沒有號誌」→ 進入速度十到二十五公里、同時進入兩到六台、讓與不讓的機率各半。）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看出規律了嗎？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每一個模糊的詞，都要變成一個帶單位的範圍。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「很多機車」不行，「八到十五台」才行。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回家作業：挑一個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台灣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的場景，自己寫一個。綠燈起步機車扇形散開、待轉區、騎樓並排停車開門——都可以。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（這一題下週要收，會影響期末專題的起手式。）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第二節到這裡。三句話帶走。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場景三層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：功能場景用人話、邏輯場景給範圍、具體場景給一個值。期末專題要寫的是中間那一層。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模擬的用法是掃參數，找出界線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，不是拚里程。跑一萬公里證明不了什麼，把一個場景掃過三千個組合，才知道自己的邊界在哪。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場景來自三個地方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：法規、事故資料庫、實路收集。但機車海哪一個來源都沒有——那是各位的機會。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休息十分鐘。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第三節上機，各位要做的事，現在有正式的名字了：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為河內這個場景，掃出一組最低的感測器規格。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fWZQGcMN3Vc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2070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4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72768"/>
            <a:ext cx="7498080" cy="885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bằng số km là sai đơn vị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用「跑了幾公里」來衡量，單位就選錯了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787554"/>
            <a:ext cx="1371600" cy="411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988722"/>
            <a:ext cx="7132320" cy="83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vị đúng là kịch bản — và cách dùng mô phỏng là quét tham số, không phải chạy đường dài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正確的單位是「場景」——模擬的用法是掃參數，不是跑里程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895344"/>
            <a:ext cx="5943600" cy="384048"/>
          </a:xfrm>
          <a:prstGeom prst="roundRect">
            <a:avLst>
              <a:gd name="adj" fmla="val 16667"/>
            </a:avLst>
          </a:prstGeom>
          <a:solidFill>
            <a:srgbClr val="1331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" y="3941064"/>
            <a:ext cx="5687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工具｜Công cụ： ch-neural.github.io/MITUST-Principles-of-Self-Driving-Cars/week4/sim/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3708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第四週 第 2 節　2026/10/01（四）10:10–11:00　CH Tseng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6616" y="310896"/>
            <a:ext cx="22128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3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· 問題在哪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73506" y="1736994"/>
            <a:ext cx="531084" cy="1244316"/>
          </a:xfrm>
          <a:prstGeom prst="line">
            <a:avLst/>
          </a:prstGeom>
          <a:noFill/>
          <a:ln w="17780">
            <a:solidFill>
              <a:srgbClr val="9AA6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1870131" y="1736994"/>
            <a:ext cx="531084" cy="1244316"/>
          </a:xfrm>
          <a:prstGeom prst="line">
            <a:avLst/>
          </a:prstGeom>
          <a:noFill/>
          <a:ln w="17780">
            <a:solidFill>
              <a:srgbClr val="9AA6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0806" y="2870210"/>
            <a:ext cx="53108" cy="111100"/>
          </a:xfrm>
          <a:prstGeom prst="rect">
            <a:avLst/>
          </a:prstGeom>
          <a:solidFill>
            <a:srgbClr val="C8D3DE"/>
          </a:solidFill>
          <a:ln/>
        </p:spPr>
      </p:sp>
      <p:sp>
        <p:nvSpPr>
          <p:cNvPr id="7" name="Shape 5"/>
          <p:cNvSpPr/>
          <p:nvPr/>
        </p:nvSpPr>
        <p:spPr>
          <a:xfrm>
            <a:off x="1715453" y="2578574"/>
            <a:ext cx="43814" cy="91657"/>
          </a:xfrm>
          <a:prstGeom prst="rect">
            <a:avLst/>
          </a:prstGeom>
          <a:solidFill>
            <a:srgbClr val="C8D3DE"/>
          </a:solidFill>
          <a:ln/>
        </p:spPr>
      </p:sp>
      <p:sp>
        <p:nvSpPr>
          <p:cNvPr id="8" name="Shape 6"/>
          <p:cNvSpPr/>
          <p:nvPr/>
        </p:nvSpPr>
        <p:spPr>
          <a:xfrm>
            <a:off x="1720100" y="2286937"/>
            <a:ext cx="34520" cy="72215"/>
          </a:xfrm>
          <a:prstGeom prst="rect">
            <a:avLst/>
          </a:prstGeom>
          <a:solidFill>
            <a:srgbClr val="C8D3DE"/>
          </a:solidFill>
          <a:ln/>
        </p:spPr>
      </p:sp>
      <p:sp>
        <p:nvSpPr>
          <p:cNvPr id="9" name="Shape 7"/>
          <p:cNvSpPr/>
          <p:nvPr/>
        </p:nvSpPr>
        <p:spPr>
          <a:xfrm>
            <a:off x="1724747" y="1995301"/>
            <a:ext cx="25226" cy="52772"/>
          </a:xfrm>
          <a:prstGeom prst="rect">
            <a:avLst/>
          </a:prstGeom>
          <a:solidFill>
            <a:srgbClr val="C8D3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" y="1425915"/>
            <a:ext cx="2212848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km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217431"/>
            <a:ext cx="5212080" cy="100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mười nghìn km đường thẳng không chứng minh được gì cả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在直路上跑一萬公里，什麼都證明不了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314482"/>
            <a:ext cx="5212080" cy="1277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lớn quãng đường trên đường thật là những đoạn buồn tẻ: đi thẳng, không ai cắt ngang, không có gì xảy ra. Thứ quyết định an toàn lại là vài giây hiếm hoi — mà chạy dài chưa chắc gặp được.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真實道路上的里程，絕大部分是無聊的：直行、沒人切進來、什麼都沒發生。決定安不安全的是那幾秒鐘的罕見狀況——而一直跑，不保證遇得到。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Vậy nên câu hỏi không phải «chạy được bao nhiêu km», mà là «đã gặp qua những tình huống nào».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所以問題不是「跑了幾公里」，而是「遇過哪些狀況」。</a:t>
            </a:r>
            <a:endParaRPr lang="en-US" sz="1250" dirty="0"/>
          </a:p>
        </p:txBody>
      </p:sp>
      <p:pic>
        <p:nvPicPr>
          <p:cNvPr id="16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có ba tầng</a:t>
            </a:r>
            <a:endParaRPr lang="en-US" sz="2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場景分成三層</a:t>
            </a:r>
            <a:endParaRPr lang="en-US" sz="2900" dirty="0"/>
          </a:p>
        </p:txBody>
      </p:sp>
      <p:sp>
        <p:nvSpPr>
          <p:cNvPr id="7" name="Text 4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1 / 3 · 第一層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55471" y="1735531"/>
            <a:ext cx="963778" cy="1247242"/>
          </a:xfrm>
          <a:prstGeom prst="roundRect">
            <a:avLst>
              <a:gd name="adj" fmla="val 5693"/>
            </a:avLst>
          </a:prstGeom>
          <a:solidFill>
            <a:srgbClr val="FFFFFF">
              <a:alpha val="0"/>
            </a:srgbClr>
          </a:solidFill>
          <a:ln w="317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7203" y="1990649"/>
            <a:ext cx="680314" cy="70866"/>
          </a:xfrm>
          <a:prstGeom prst="rect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97203" y="2189074"/>
            <a:ext cx="680314" cy="70866"/>
          </a:xfrm>
          <a:prstGeom prst="rect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97203" y="2387498"/>
            <a:ext cx="680314" cy="70866"/>
          </a:xfrm>
          <a:prstGeom prst="rect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97203" y="2585923"/>
            <a:ext cx="680314" cy="70866"/>
          </a:xfrm>
          <a:prstGeom prst="rect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97203" y="2784348"/>
            <a:ext cx="340157" cy="7086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319005"/>
            <a:ext cx="5212080" cy="100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chức năng: viết bằng tiếng người, không có con số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功能場景：用人話寫，沒有數字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16057"/>
            <a:ext cx="5212080" cy="107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dụ: «xe phía trước phanh gấp». Ai đọc cũng hiểu, kể cả người không làm kỹ thuật. Nhưng chưa test được, vì chưa có con số nào.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例子：「前車急煞」。任何人都看得懂，連不是工程師的人也懂。但還沒辦法拿來測，因為還沒有任何數字。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để làm gì: liệt kê ra hết những chuyện có thể xảy ra. Giai đoạn này càng nhiều càng tốt.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用途：把所有可能發生的事列出來。這個階段愈多愈好。</a:t>
            </a:r>
            <a:endParaRPr lang="en-US" sz="1250" dirty="0"/>
          </a:p>
        </p:txBody>
      </p:sp>
      <p:pic>
        <p:nvPicPr>
          <p:cNvPr id="15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2 / 3 · 第二層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735" y="1821430"/>
            <a:ext cx="1593251" cy="97768"/>
          </a:xfrm>
          <a:prstGeom prst="roundRect">
            <a:avLst>
              <a:gd name="adj" fmla="val 50000"/>
            </a:avLst>
          </a:prstGeom>
          <a:solidFill>
            <a:srgbClr val="D5DEE6"/>
          </a:solidFill>
          <a:ln/>
        </p:spPr>
      </p:sp>
      <p:sp>
        <p:nvSpPr>
          <p:cNvPr id="5" name="Shape 3"/>
          <p:cNvSpPr/>
          <p:nvPr/>
        </p:nvSpPr>
        <p:spPr>
          <a:xfrm>
            <a:off x="1227520" y="1821430"/>
            <a:ext cx="860355" cy="977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</p:sp>
      <p:sp>
        <p:nvSpPr>
          <p:cNvPr id="6" name="Shape 4"/>
          <p:cNvSpPr/>
          <p:nvPr/>
        </p:nvSpPr>
        <p:spPr>
          <a:xfrm>
            <a:off x="940735" y="2310268"/>
            <a:ext cx="1593251" cy="97768"/>
          </a:xfrm>
          <a:prstGeom prst="roundRect">
            <a:avLst>
              <a:gd name="adj" fmla="val 50000"/>
            </a:avLst>
          </a:prstGeom>
          <a:solidFill>
            <a:srgbClr val="D5DEE6"/>
          </a:solidFill>
          <a:ln/>
        </p:spPr>
      </p:sp>
      <p:sp>
        <p:nvSpPr>
          <p:cNvPr id="7" name="Shape 5"/>
          <p:cNvSpPr/>
          <p:nvPr/>
        </p:nvSpPr>
        <p:spPr>
          <a:xfrm>
            <a:off x="1482440" y="2310268"/>
            <a:ext cx="892220" cy="977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</p:sp>
      <p:sp>
        <p:nvSpPr>
          <p:cNvPr id="8" name="Shape 6"/>
          <p:cNvSpPr/>
          <p:nvPr/>
        </p:nvSpPr>
        <p:spPr>
          <a:xfrm>
            <a:off x="940735" y="2799106"/>
            <a:ext cx="1593251" cy="97768"/>
          </a:xfrm>
          <a:prstGeom prst="roundRect">
            <a:avLst>
              <a:gd name="adj" fmla="val 50000"/>
            </a:avLst>
          </a:prstGeom>
          <a:solidFill>
            <a:srgbClr val="D5DEE6"/>
          </a:solidFill>
          <a:ln/>
        </p:spPr>
      </p:sp>
      <p:sp>
        <p:nvSpPr>
          <p:cNvPr id="9" name="Shape 7"/>
          <p:cNvSpPr/>
          <p:nvPr/>
        </p:nvSpPr>
        <p:spPr>
          <a:xfrm>
            <a:off x="1100060" y="2799106"/>
            <a:ext cx="828490" cy="977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319005"/>
            <a:ext cx="5212080" cy="100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logic: thêm tham số, nhưng mỗi tham số là một KHOẢNG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邏輯場景：加上參數，但每個參數是一個「範圍」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16057"/>
            <a:ext cx="5212080" cy="107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dụ: xe phía trước ở cách 20 đến 60 m, giảm tốc 3 đến 8 m/s², xe mình chạy 40 đến 70 km/h. Vẫn chưa test được, nhưng đã đủ chính xác để máy hiểu.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例子：前車在 20 到 60 公尺處，以 3 到 8 m/s² 減速，自車時速 40 到 70。還是不能直接測，但已經精確到電腦看得懂。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tầng quan trọng nhất — và cũng là tầng bài cuối kỳ yêu cầu các bạn viết.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這是最重要的一層——也是期末專題要各位寫的那一層。</a:t>
            </a:r>
            <a:endParaRPr lang="en-US" sz="1250" dirty="0"/>
          </a:p>
        </p:txBody>
      </p:sp>
      <p:pic>
        <p:nvPicPr>
          <p:cNvPr id="15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3 / 3 · 第三層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735" y="1821430"/>
            <a:ext cx="1593251" cy="97768"/>
          </a:xfrm>
          <a:prstGeom prst="roundRect">
            <a:avLst>
              <a:gd name="adj" fmla="val 50000"/>
            </a:avLst>
          </a:prstGeom>
          <a:solidFill>
            <a:srgbClr val="D5DEE6"/>
          </a:solidFill>
          <a:ln/>
        </p:spPr>
      </p:sp>
      <p:sp>
        <p:nvSpPr>
          <p:cNvPr id="5" name="Shape 3"/>
          <p:cNvSpPr/>
          <p:nvPr/>
        </p:nvSpPr>
        <p:spPr>
          <a:xfrm>
            <a:off x="1525464" y="1785878"/>
            <a:ext cx="168871" cy="168871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6" name="Shape 4"/>
          <p:cNvSpPr/>
          <p:nvPr/>
        </p:nvSpPr>
        <p:spPr>
          <a:xfrm>
            <a:off x="940735" y="2310268"/>
            <a:ext cx="1593251" cy="97768"/>
          </a:xfrm>
          <a:prstGeom prst="roundRect">
            <a:avLst>
              <a:gd name="adj" fmla="val 50000"/>
            </a:avLst>
          </a:prstGeom>
          <a:solidFill>
            <a:srgbClr val="D5DEE6"/>
          </a:solidFill>
          <a:ln/>
        </p:spPr>
      </p:sp>
      <p:sp>
        <p:nvSpPr>
          <p:cNvPr id="7" name="Shape 5"/>
          <p:cNvSpPr/>
          <p:nvPr/>
        </p:nvSpPr>
        <p:spPr>
          <a:xfrm>
            <a:off x="1907844" y="2274716"/>
            <a:ext cx="168871" cy="168871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8" name="Shape 6"/>
          <p:cNvSpPr/>
          <p:nvPr/>
        </p:nvSpPr>
        <p:spPr>
          <a:xfrm>
            <a:off x="940735" y="2799106"/>
            <a:ext cx="1593251" cy="97768"/>
          </a:xfrm>
          <a:prstGeom prst="roundRect">
            <a:avLst>
              <a:gd name="adj" fmla="val 50000"/>
            </a:avLst>
          </a:prstGeom>
          <a:solidFill>
            <a:srgbClr val="D5DEE6"/>
          </a:solidFill>
          <a:ln/>
        </p:spPr>
      </p:sp>
      <p:sp>
        <p:nvSpPr>
          <p:cNvPr id="9" name="Shape 7"/>
          <p:cNvSpPr/>
          <p:nvPr/>
        </p:nvSpPr>
        <p:spPr>
          <a:xfrm>
            <a:off x="1334274" y="2763555"/>
            <a:ext cx="168871" cy="168871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319005"/>
            <a:ext cx="5212080" cy="100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cụ thể: mỗi tham số chốt đúng một giá trị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具體場景：每個參數固定成一個值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16057"/>
            <a:ext cx="5212080" cy="107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dụ: xe phía trước cách đúng 35 m, giảm tốc đúng 6 m/s², xe mình chạy đúng 50 km/h. Đây mới là thứ chạy được trong mô phỏng — chạy một lần ra một kết quả.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例子：前車剛好 35 公尺，減速度剛好 6 m/s²，自車剛好時速 50。這才是模擬器真的跑得起來的東西——跑一次，出一個結果。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kịch bản logic có thể bung ra hàng nghìn, hàng chục nghìn kịch bản cụ thể.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一個邏輯場景，可以展開成成千上萬個具體場景。</a:t>
            </a:r>
            <a:endParaRPr lang="en-US" sz="1250" dirty="0"/>
          </a:p>
        </p:txBody>
      </p:sp>
      <p:pic>
        <p:nvPicPr>
          <p:cNvPr id="15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dùng · 模擬真正的用法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735" y="1821430"/>
            <a:ext cx="1593251" cy="97768"/>
          </a:xfrm>
          <a:prstGeom prst="roundRect">
            <a:avLst>
              <a:gd name="adj" fmla="val 50000"/>
            </a:avLst>
          </a:prstGeom>
          <a:solidFill>
            <a:srgbClr val="D5DEE6"/>
          </a:solidFill>
          <a:ln/>
        </p:spPr>
      </p:sp>
      <p:sp>
        <p:nvSpPr>
          <p:cNvPr id="5" name="Shape 3"/>
          <p:cNvSpPr/>
          <p:nvPr/>
        </p:nvSpPr>
        <p:spPr>
          <a:xfrm>
            <a:off x="1192725" y="1803654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6" name="Shape 4"/>
          <p:cNvSpPr/>
          <p:nvPr/>
        </p:nvSpPr>
        <p:spPr>
          <a:xfrm>
            <a:off x="1447645" y="1803654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7" name="Shape 5"/>
          <p:cNvSpPr/>
          <p:nvPr/>
        </p:nvSpPr>
        <p:spPr>
          <a:xfrm>
            <a:off x="1702565" y="1803654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8" name="Shape 6"/>
          <p:cNvSpPr/>
          <p:nvPr/>
        </p:nvSpPr>
        <p:spPr>
          <a:xfrm>
            <a:off x="1957485" y="1803654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9" name="Shape 7"/>
          <p:cNvSpPr/>
          <p:nvPr/>
        </p:nvSpPr>
        <p:spPr>
          <a:xfrm>
            <a:off x="940735" y="2310268"/>
            <a:ext cx="1593251" cy="97768"/>
          </a:xfrm>
          <a:prstGeom prst="roundRect">
            <a:avLst>
              <a:gd name="adj" fmla="val 50000"/>
            </a:avLst>
          </a:prstGeom>
          <a:solidFill>
            <a:srgbClr val="D5DEE6"/>
          </a:solidFill>
          <a:ln/>
        </p:spPr>
      </p:sp>
      <p:sp>
        <p:nvSpPr>
          <p:cNvPr id="10" name="Shape 8"/>
          <p:cNvSpPr/>
          <p:nvPr/>
        </p:nvSpPr>
        <p:spPr>
          <a:xfrm>
            <a:off x="1192725" y="2292492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645" y="2292492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2" name="Shape 10"/>
          <p:cNvSpPr/>
          <p:nvPr/>
        </p:nvSpPr>
        <p:spPr>
          <a:xfrm>
            <a:off x="1702565" y="2292492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3" name="Shape 11"/>
          <p:cNvSpPr/>
          <p:nvPr/>
        </p:nvSpPr>
        <p:spPr>
          <a:xfrm>
            <a:off x="1957485" y="2292492"/>
            <a:ext cx="133320" cy="1333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19740" y="2359152"/>
            <a:ext cx="286785" cy="0"/>
          </a:xfrm>
          <a:prstGeom prst="line">
            <a:avLst/>
          </a:prstGeom>
          <a:noFill/>
          <a:ln w="20320">
            <a:solidFill>
              <a:srgbClr val="D9463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0735" y="2799106"/>
            <a:ext cx="1593251" cy="97768"/>
          </a:xfrm>
          <a:prstGeom prst="roundRect">
            <a:avLst>
              <a:gd name="adj" fmla="val 50000"/>
            </a:avLst>
          </a:prstGeom>
          <a:solidFill>
            <a:srgbClr val="D5DEE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92725" y="2781330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645" y="2781330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702565" y="2781330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957485" y="2781330"/>
            <a:ext cx="133320" cy="133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29000" y="1319005"/>
            <a:ext cx="5212080" cy="100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mô phỏng không phải để chạy nhiều km, mà để quét tham số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模擬的用法不是跑里程，是掃參數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2416057"/>
            <a:ext cx="5212080" cy="107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nguyên một kịch bản, đổi một tham số một chút, chạy lại. Rồi lại đổi, lại chạy. Ba nghìn lần chạy xong, bạn biết chính xác ranh giới nằm ở đâu: đến giá trị nào thì bắt đầu đâm.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固定一個場景，把一個參數改一點點，重跑。再改，再跑。跑完三千次，你就知道界線在哪裡：那個值到多少就開始撞。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thật không làm được: không thể bắt cùng một xe máy tạt vào ba nghìn lần.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真實道路做不到：你沒辦法叫同一台機車切進來三千次。</a:t>
            </a:r>
            <a:endParaRPr lang="en-US" sz="1250" dirty="0"/>
          </a:p>
        </p:txBody>
      </p:sp>
      <p:pic>
        <p:nvPicPr>
          <p:cNvPr id="25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tầng đó, trong mô phỏng của ta là ba thứ bạn đã dùng rồi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這三層，在我們的模擬器裡就是三個你已經用過的東西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32236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0096" y="150524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30096" y="160583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207217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nút cài sẵn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六個預設按鈕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276711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«Giờ cao điểm Hà Nội»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CHỨC NĂNG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「河內尖峰」「雨夜」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功能場景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32760" y="223676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307080" y="132236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50524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4256" y="160583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35096" y="207217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kéo được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滑桿的範圍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35096" y="276711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3–60 tia · 10–120 m · 20–180°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LOGIC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邏輯場景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836920" y="223676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111240" y="132236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8416" y="150524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8416" y="160583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9256" y="207217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Dừng ở một vị trí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停在一個位置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39256" y="276711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tia · 40 m · 90°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CỤ THỂ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具體場景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19358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tập 2 của tiết 3 chính là «quét tham số»: giữ nguyên giờ cao điểm Hà Nội, chỉ đổi ba con số.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第三節的任務二就是在「掃參數」：河內尖峰不動，只改那三個數字。</a:t>
            </a:r>
            <a:endParaRPr lang="en-US" sz="1250" dirty="0"/>
          </a:p>
        </p:txBody>
      </p:sp>
      <p:pic>
        <p:nvPicPr>
          <p:cNvPr id="22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Video · 一個場景在真實世界長什麼樣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 NCAP: cùng một kịch bản, lặp lại y hệt, cho mọi mẫu xe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Euro NCAP：同一個場景，一模一樣地重複，對每一款車都做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622" y="2718043"/>
            <a:ext cx="2911084" cy="0"/>
          </a:xfrm>
          <a:prstGeom prst="line">
            <a:avLst/>
          </a:prstGeom>
          <a:noFill/>
          <a:ln w="15240">
            <a:solidFill>
              <a:srgbClr val="9AA6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3589" y="2256519"/>
            <a:ext cx="1039673" cy="478249"/>
          </a:xfrm>
          <a:prstGeom prst="roundRect">
            <a:avLst>
              <a:gd name="adj" fmla="val 22000"/>
            </a:avLst>
          </a:prstGeom>
          <a:solidFill>
            <a:srgbClr val="8FA3B5"/>
          </a:solidFill>
          <a:ln/>
        </p:spPr>
      </p:sp>
      <p:sp>
        <p:nvSpPr>
          <p:cNvPr id="7" name="Shape 5"/>
          <p:cNvSpPr/>
          <p:nvPr/>
        </p:nvSpPr>
        <p:spPr>
          <a:xfrm>
            <a:off x="1498665" y="2352168"/>
            <a:ext cx="353489" cy="28695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247229" y="2495643"/>
            <a:ext cx="415869" cy="0"/>
          </a:xfrm>
          <a:prstGeom prst="line">
            <a:avLst/>
          </a:prstGeom>
          <a:noFill/>
          <a:ln w="17780">
            <a:solidFill>
              <a:srgbClr val="5F718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06644" y="2458577"/>
            <a:ext cx="259466" cy="259466"/>
          </a:xfrm>
          <a:prstGeom prst="ellipse">
            <a:avLst/>
          </a:prstGeom>
          <a:ln w="2032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91825" y="2458577"/>
            <a:ext cx="259466" cy="259466"/>
          </a:xfrm>
          <a:prstGeom prst="ellipse">
            <a:avLst/>
          </a:prstGeom>
          <a:ln w="20320">
            <a:solidFill>
              <a:srgbClr val="1F4E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836377" y="2440043"/>
            <a:ext cx="242590" cy="148267"/>
          </a:xfrm>
          <a:prstGeom prst="line">
            <a:avLst/>
          </a:prstGeom>
          <a:noFill/>
          <a:ln w="17780">
            <a:solidFill>
              <a:srgbClr val="1F4E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3078968" y="2440043"/>
            <a:ext cx="242590" cy="148267"/>
          </a:xfrm>
          <a:prstGeom prst="line">
            <a:avLst/>
          </a:prstGeom>
          <a:noFill/>
          <a:ln w="17780">
            <a:solidFill>
              <a:srgbClr val="1F4E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09656" y="2162044"/>
            <a:ext cx="155951" cy="240933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/>
        </p:spPr>
      </p:sp>
      <p:sp>
        <p:nvSpPr>
          <p:cNvPr id="14" name="Shape 12"/>
          <p:cNvSpPr/>
          <p:nvPr/>
        </p:nvSpPr>
        <p:spPr>
          <a:xfrm>
            <a:off x="2995568" y="2004510"/>
            <a:ext cx="166800" cy="1668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5" name="Shape 13"/>
          <p:cNvSpPr/>
          <p:nvPr/>
        </p:nvSpPr>
        <p:spPr>
          <a:xfrm>
            <a:off x="3078968" y="2829243"/>
            <a:ext cx="0" cy="185333"/>
          </a:xfrm>
          <a:prstGeom prst="line">
            <a:avLst/>
          </a:prstGeom>
          <a:noFill/>
          <a:ln w="20320">
            <a:solidFill>
              <a:srgbClr val="D9463E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85800" y="3273552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Búp bê xe đạp cắt ngang — cùng tốc độ, cùng vị trí, lần nào cũng thế.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腳踏車假人橫切過去——同樣速度、同樣位置，每次都一樣。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 for cyclists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 NCAP（官方）　·　4:39，播 2 分鐘就夠</a:t>
            </a:r>
            <a:endParaRPr lang="en-US" sz="900" dirty="0"/>
          </a:p>
        </p:txBody>
      </p:sp>
      <p:sp>
        <p:nvSpPr>
          <p:cNvPr id="22" name="Text 20">
            <a:hlinkClick r:id="rId1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https://www.youtube.com/watch?v=fWZQGcMN3Vc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47488" y="227975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 ý: con búp bê xe đạp chạy ra ở đúng một tốc độ, đúng một vị trí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注意看：那個假人腳踏車是用固定的速度、固定的位置衝出來的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19472" y="2808987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47488" y="2772411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 chính là «kịch bản cụ thể» — mỗi lần chạy đều phải giống hệt lần trước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那就是「具體場景」——每一次跑都必須跟上一次一模一樣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30164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47488" y="326506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hỏi: vì sao phải dùng búp bê, không dùng người thật?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問題：為什麼要用假人，不用真人？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 NCAP có kịch bản «một xe máy». Không có kịch bản «mười hai xe máy vây quanh bạn».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Euro NCAP 有「一台機車」的場景。沒有「十二台機車圍著你」的場景。</a:t>
            </a:r>
            <a:endParaRPr lang="en-US" sz="1150" dirty="0"/>
          </a:p>
        </p:txBody>
      </p:sp>
      <p:pic>
        <p:nvPicPr>
          <p:cNvPr id="32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lấy từ đâu ra</a:t>
            </a:r>
            <a:endParaRPr lang="en-US" sz="2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場景是從哪裡來的</a:t>
            </a:r>
            <a:endParaRPr lang="en-US" sz="2900" dirty="0"/>
          </a:p>
        </p:txBody>
      </p:sp>
      <p:sp>
        <p:nvSpPr>
          <p:cNvPr id="7" name="Text 4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1 / 3 · 來源之一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3739" y="1820570"/>
            <a:ext cx="1247242" cy="340157"/>
          </a:xfrm>
          <a:prstGeom prst="triangle">
            <a:avLst/>
          </a:prstGeom>
          <a:solidFill>
            <a:srgbClr val="4FA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" y="2189074"/>
            <a:ext cx="1247242" cy="99212"/>
          </a:xfrm>
          <a:prstGeom prst="rect">
            <a:avLst/>
          </a:prstGeom>
          <a:solidFill>
            <a:srgbClr val="4FA8FF"/>
          </a:solidFill>
          <a:ln/>
        </p:spPr>
      </p:sp>
      <p:sp>
        <p:nvSpPr>
          <p:cNvPr id="6" name="Shape 4"/>
          <p:cNvSpPr/>
          <p:nvPr/>
        </p:nvSpPr>
        <p:spPr>
          <a:xfrm>
            <a:off x="1255471" y="2316632"/>
            <a:ext cx="141732" cy="453542"/>
          </a:xfrm>
          <a:prstGeom prst="rect">
            <a:avLst/>
          </a:prstGeom>
          <a:solidFill>
            <a:srgbClr val="4FA8FF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38935" y="2316632"/>
            <a:ext cx="141732" cy="453542"/>
          </a:xfrm>
          <a:prstGeom prst="rect">
            <a:avLst/>
          </a:prstGeom>
          <a:solidFill>
            <a:srgbClr val="4FA8F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22399" y="2316632"/>
            <a:ext cx="141732" cy="453542"/>
          </a:xfrm>
          <a:prstGeom prst="rect">
            <a:avLst/>
          </a:prstGeom>
          <a:solidFill>
            <a:srgbClr val="4FA8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05863" y="2316632"/>
            <a:ext cx="141732" cy="453542"/>
          </a:xfrm>
          <a:prstGeom prst="rect">
            <a:avLst/>
          </a:prstGeom>
          <a:solidFill>
            <a:srgbClr val="4FA8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5393" y="2784348"/>
            <a:ext cx="1303934" cy="127559"/>
          </a:xfrm>
          <a:prstGeom prst="rect">
            <a:avLst/>
          </a:prstGeom>
          <a:solidFill>
            <a:srgbClr val="4FA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319005"/>
            <a:ext cx="5212080" cy="100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quy định và tiêu chuẩn: ai muốn bán xe thì bắt buộc phải qua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來自法規與標準：想賣車就一定要通過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16057"/>
            <a:ext cx="5212080" cy="107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 NCAP kiểm tra phanh tự động với xe, với người đi bộ, và từ 2023 thêm xe máy. Còn có ISO 34502 — một bộ khung quy định kịch bản phải viết như thế nào.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Euro NCAP 測自動緊急煞車：對車、對行人，2023 年起加上機車。另外還有 ISO 34502，規定場景要怎麼寫的框架。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điểm: rõ ràng, ai cũng phải theo. Nhược điểm: ít, và luôn chậm hơn thực tế vài năm.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優點：明確，大家都得照做。缺點：數量少，而且永遠落後現實好幾年。</a:t>
            </a:r>
            <a:endParaRPr lang="en-US" sz="1250" dirty="0"/>
          </a:p>
        </p:txBody>
      </p:sp>
      <p:pic>
        <p:nvPicPr>
          <p:cNvPr id="16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2 / 3 · 來源之二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5393" y="1792224"/>
            <a:ext cx="1303934" cy="1133856"/>
          </a:xfrm>
          <a:prstGeom prst="triangle">
            <a:avLst/>
          </a:prstGeom>
          <a:solidFill>
            <a:srgbClr val="D9463E"/>
          </a:solidFill>
          <a:ln/>
        </p:spPr>
      </p:sp>
      <p:sp>
        <p:nvSpPr>
          <p:cNvPr id="5" name="Shape 3"/>
          <p:cNvSpPr/>
          <p:nvPr/>
        </p:nvSpPr>
        <p:spPr>
          <a:xfrm>
            <a:off x="1680667" y="2189074"/>
            <a:ext cx="113386" cy="368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666494" y="2642616"/>
            <a:ext cx="141732" cy="1417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319005"/>
            <a:ext cx="5212080" cy="100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cơ sở dữ liệu tai nạn: lấy tai nạn thật dựng lại thành kịch bản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來自事故資料庫：把真實發生過的事故還原成場景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416057"/>
            <a:ext cx="5212080" cy="107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GIDAS của Đức ghi chi tiết từng vụ tai nạn: xe chạy bao nhiêu, va chạm ở góc nào, tầm nhìn bị che ra sao. NHTSA của Mỹ cũng có kho tương tự.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德國的 GIDAS 詳細記錄每一起事故：車速多少、從哪個角度撞上、視線被什麼擋住。美國 NHTSA 也有類似的資料庫。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mạnh: mỗi kịch bản đều từng làm ai đó bị thương — không phải do ai ngồi tưởng tượng ra.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這個來源的份量在於：每一個場景都真的傷過人——不是誰坐在辦公室想出來的。</a:t>
            </a:r>
            <a:endParaRPr lang="en-US" sz="1250" dirty="0"/>
          </a:p>
        </p:txBody>
      </p:sp>
      <p:pic>
        <p:nvPicPr>
          <p:cNvPr id="12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3 / 3 · 來源之三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3506" y="1695298"/>
            <a:ext cx="1327709" cy="1327709"/>
          </a:xfrm>
          <a:prstGeom prst="ellipse">
            <a:avLst/>
          </a:prstGeom>
          <a:ln w="76200">
            <a:solidFill>
              <a:srgbClr val="1F6F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6445" y="2306044"/>
            <a:ext cx="1141830" cy="106217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6" name="Shape 4"/>
          <p:cNvSpPr/>
          <p:nvPr/>
        </p:nvSpPr>
        <p:spPr>
          <a:xfrm>
            <a:off x="1684252" y="2359152"/>
            <a:ext cx="106217" cy="570915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7" name="Shape 5"/>
          <p:cNvSpPr/>
          <p:nvPr/>
        </p:nvSpPr>
        <p:spPr>
          <a:xfrm>
            <a:off x="1604589" y="2226381"/>
            <a:ext cx="265542" cy="265542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8" name="Shape 6"/>
          <p:cNvSpPr/>
          <p:nvPr/>
        </p:nvSpPr>
        <p:spPr>
          <a:xfrm>
            <a:off x="2082564" y="1814791"/>
            <a:ext cx="398313" cy="398313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82564" y="1814791"/>
            <a:ext cx="398313" cy="39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319005"/>
            <a:ext cx="5212080" cy="100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đường thật: mỗi lần tài xế an toàn can thiệp là một kịch bản mới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來自實際道路：安全員每介入一次，就多一個場景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16057"/>
            <a:ext cx="5212080" cy="107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đang chạy thử, tài xế an toàn vừa chạm vô lăng — hệ thống tự động cắt đoạn đó ra, dựng thành kịch bản, lưu vào kho. Mỗi lần phanh gấp cũng vậy.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測試車在路上跑，安全員手一碰方向盤——系統自動把那一段切出來，做成場景，存進資料庫。每一次急煞也一樣。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 kịch bản của Waymo và Cruise tính bằng hàng chục nghìn, và mỗi ngày vẫn dài thêm.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Waymo 和 Cruise 的場景庫以數萬計，而且每天還在增加。</a:t>
            </a:r>
            <a:endParaRPr lang="en-US" sz="1250" dirty="0"/>
          </a:p>
        </p:txBody>
      </p:sp>
      <p:pic>
        <p:nvPicPr>
          <p:cNvPr id="15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nguồn đó đều không có cái các bạn gặp hằng ngày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這三個來源，都沒有各位每天遇到的那件事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316736"/>
            <a:ext cx="3566160" cy="2249424"/>
          </a:xfrm>
          <a:prstGeom prst="roundRect">
            <a:avLst>
              <a:gd name="adj" fmla="val 4065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7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 kịch bản có sẵn cho bạn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現成的場景庫給你的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84708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10 000+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450592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bản, phần lớn từ Âu Mỹ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個場景，大部分來自歐美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7E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Đầy đủ, được kiểm chứng, dùng được ngay.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E93A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完整、經過驗證、拿來就能用。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87952" y="2295144"/>
            <a:ext cx="768096" cy="292608"/>
          </a:xfrm>
          <a:prstGeom prst="rightArrow">
            <a:avLst/>
          </a:prstGeom>
          <a:solidFill>
            <a:srgbClr val="C4CFD9"/>
          </a:solidFill>
          <a:ln/>
        </p:spPr>
      </p:sp>
      <p:sp>
        <p:nvSpPr>
          <p:cNvPr id="9" name="Shape 7"/>
          <p:cNvSpPr/>
          <p:nvPr/>
        </p:nvSpPr>
        <p:spPr>
          <a:xfrm flipH="1">
            <a:off x="4370832" y="2240280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240280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316736"/>
            <a:ext cx="3566160" cy="2249424"/>
          </a:xfrm>
          <a:prstGeom prst="roundRect">
            <a:avLst>
              <a:gd name="adj" fmla="val 4065"/>
            </a:avLst>
          </a:prstGeom>
          <a:solidFill>
            <a:srgbClr val="FDECEC"/>
          </a:solidFill>
          <a:ln w="15875">
            <a:solidFill>
              <a:srgbClr val="D94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9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Nhưng thứ bạn cần là…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但你需要的是……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71566" y="2337984"/>
            <a:ext cx="370332" cy="170353"/>
          </a:xfrm>
          <a:prstGeom prst="roundRect">
            <a:avLst>
              <a:gd name="adj" fmla="val 22000"/>
            </a:avLst>
          </a:prstGeom>
          <a:solidFill>
            <a:srgbClr val="5F7183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2292" y="2372054"/>
            <a:ext cx="125913" cy="102212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8077" y="2506937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15533" y="2683992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12068" y="2781602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8" name="Shape 16"/>
          <p:cNvSpPr/>
          <p:nvPr/>
        </p:nvSpPr>
        <p:spPr>
          <a:xfrm>
            <a:off x="5682198" y="2773612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7518" y="2662163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80191" y="2477118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1" name="Shape 19"/>
          <p:cNvSpPr/>
          <p:nvPr/>
        </p:nvSpPr>
        <p:spPr>
          <a:xfrm>
            <a:off x="5388977" y="2268060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2" name="Shape 20"/>
          <p:cNvSpPr/>
          <p:nvPr/>
        </p:nvSpPr>
        <p:spPr>
          <a:xfrm>
            <a:off x="5511520" y="2091005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4986" y="1993395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4855" y="2001385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5" name="Shape 23"/>
          <p:cNvSpPr/>
          <p:nvPr/>
        </p:nvSpPr>
        <p:spPr>
          <a:xfrm>
            <a:off x="6139536" y="2112834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246862" y="2297879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73368" y="188366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xe máy vây quanh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十二台機車圍著你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 NCAP có kịch bản MỘT xe máy. Không nơi nào có kịch bản này.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Euro NCAP 有「一台機車」的場景。這個場景哪裡都沒有。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không phải lời than — đây là chỗ trống, và là cơ hội cho đề tài cuối kỳ của các bạn.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這不是抱怨——這是一個空缺，也是各位期末專題的機會。</a:t>
            </a:r>
            <a:endParaRPr lang="en-US" sz="1200" dirty="0"/>
          </a:p>
        </p:txBody>
      </p:sp>
      <p:pic>
        <p:nvPicPr>
          <p:cNvPr id="32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從影片字幕變成邏輯場景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Mười câu phụ đề trong video Hà Nội ở chương 1 — đó chính là mười kịch bản chức năng.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第一章那支河內影片的十段字幕，就是十個功能場景。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«Trước mặt bạn 5 m có 12 xe máy» → viết thành: 3–8 m, 8–15 xe, 15–35 km/h, cách nhau 0,5–1,5 m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「你前方五公尺內有十二台機車」→ 寫成：3–8 公尺內、8–15 台、時速 15–35、橫向間距 0.5–1.5 公尺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«Một xe tải đỗ sai» → chiếm 30–60% làn, cách 10–40 m, làn bên cạnh mỗi 10 m có 0–3 xe máy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「一台違停的貨車」→ 佔車道 30–60%、距離 10–40 公尺、旁邊車道每 10 公尺 0–3 台機車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về nhà: chọn một cảnh Đài Loan, viết thành kịch bản logic như trên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回家作業：挑一個台灣的場景，照上面的格式寫成邏輯場景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được kịch bản logic — kỹ năng cụ thể nhất của buổi hôm nay.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會寫邏輯場景，是今天最具體的一項技能。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第二節小結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 ba câu này lên máy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帶三句話上機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75104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93852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có ba tầng: chức năng (tiếng người) → logic (khoảng) → cụ thể (một giá trị).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場景三層：功能（人話）→ 邏輯（範圍）→ 具體（一個值）。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88336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6517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dùng mô phỏng là quét tham số để tìm ranh giới, không phải chạy cho nhiều km.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模擬的用法是掃參數、找出界線，不是拚里程。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401568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364992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đến từ quy định, cơ sở dữ liệu tai nạn và đường thật — nhưng «biển xe máy» thì không nguồn nào có.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場景來自法規、事故資料庫、實路收集——但「機車海」哪一個來源都沒有。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2026-09-22T03:52:19Z</dcterms:created>
  <dcterms:modified xsi:type="dcterms:W3CDTF">2026-09-22T03:52:19Z</dcterms:modified>
</cp:coreProperties>
</file>