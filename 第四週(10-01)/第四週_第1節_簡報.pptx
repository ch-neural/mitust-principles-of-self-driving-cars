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（確認全班都打開了再往下。沒帶筆電的同學，請跟隔壁併桌。）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（預期答案：機車會從兩條射線中間鑽過去，車子看不到。）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（如果上週有同學缺席：請他等一下上機時把射線數拉到 3，跑一次河內尖峰，就知道了。）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（等學生回答。上週第三週剛講過這題。）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（預期答案：裝好幾顆，分工。）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（除以十二這件事，每一屆都會有人問，所以下面把它拆開講。老師可以先問全班：為什麼是除以十二，不是除以六？）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（分兩步講，兩步都在白板上寫出來。）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（如果學生問為什麼是平方，可以補一句：速度變兩倍的時候，煞的時間變兩倍、平均速度也變兩倍，兩個都變兩倍，所以距離變四倍。）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反應：十三點九乘零點三，四點二公尺。
</a:t>
            </a:r>
          </a:p>
          <a:p>
            <a:pPr algn="l">
              <a:lnSpc>
                <a:spcPct val="115000"/>
              </a:lnSpc>
              <a:spcAft>
                <a:spcPts val="500"/>
              </a:spcAft>
            </a:pPr>
            <a:r>
              <a:rPr sz="1000" lang="zh-TW" dirty="0">
                <a:solidFill>
                  <a:srgbClr val="000000"/>
                </a:solidFill>
                <a:latin typeface="Arial Unicode MS"/>
                <a:ea typeface="Arial Unicode MS"/>
                <a:cs typeface="Arial Unicode MS"/>
              </a:rPr>
              <a:t>煞車：十三點九平方除以十二，十六點一公尺。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（請在白板上把這三行寫出來，讓同學跟著按一次計算機。）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（讓同學自己挑一個速度算一次，對答案。）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（讓他們猜。答案是雷達，還有高階的長距光達。但這是第三章的內容，今天先不展開——留一個鉤子就好。）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（播 2 分鐘左右。沒有網路就跳過，用截圖講。）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（預期答案：都是參數、都是規則、都不是真的。）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第二種：</a:t>
            </a:r>
            <a:r>
              <a:rPr sz="1100" b="1" lang="zh-TW" dirty="0">
                <a:solidFill>
                  <a:srgbClr val="000000"/>
                </a:solidFill>
                <a:latin typeface="Arial Unicode MS"/>
                <a:ea typeface="Arial Unicode MS"/>
                <a:cs typeface="Arial Unicode MS"/>
              </a:rPr>
              <a:t>行為落差</a:t>
            </a:r>
            <a:r>
              <a:rPr sz="1100" lang="zh-TW" dirty="0">
                <a:solidFill>
                  <a:srgbClr val="000000"/>
                </a:solidFill>
                <a:latin typeface="Arial Unicode MS"/>
                <a:ea typeface="Arial Unicode MS"/>
                <a:cs typeface="Arial Unicode MS"/>
              </a:rPr>
              <a:t>。這一種對各位來說最有感覺。
</a:t>
            </a:r>
          </a:p>
          <a:p>
            <a:pPr algn="l">
              <a:lnSpc>
                <a:spcPct val="115000"/>
              </a:lnSpc>
              <a:spcAft>
                <a:spcPts val="550"/>
              </a:spcAft>
            </a:pPr>
            <a:r>
              <a:rPr sz="11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50"/>
              </a:spcAft>
            </a:pPr>
            <a:r>
              <a:rPr sz="1100" lang="zh-TW" dirty="0">
                <a:solidFill>
                  <a:srgbClr val="000000"/>
                </a:solidFill>
                <a:latin typeface="Arial Unicode MS"/>
                <a:ea typeface="Arial Unicode MS"/>
                <a:cs typeface="Arial Unicode MS"/>
              </a:rPr>
              <a:t>（問全班）真實世界的機車是這樣嗎？
</a:t>
            </a:r>
          </a:p>
          <a:p>
            <a:pPr algn="l">
              <a:lnSpc>
                <a:spcPct val="115000"/>
              </a:lnSpc>
              <a:spcAft>
                <a:spcPts val="550"/>
              </a:spcAft>
            </a:pPr>
            <a:r>
              <a:rPr sz="1100" lang="zh-TW" dirty="0">
                <a:solidFill>
                  <a:srgbClr val="000000"/>
                </a:solidFill>
                <a:latin typeface="Arial Unicode MS"/>
                <a:ea typeface="Arial Unicode MS"/>
                <a:cs typeface="Arial Unicode MS"/>
              </a:rPr>
              <a:t>（讓他們笑。這裡就是要他們笑。）
</a:t>
            </a:r>
          </a:p>
          <a:p>
            <a:pPr algn="l">
              <a:lnSpc>
                <a:spcPct val="115000"/>
              </a:lnSpc>
              <a:spcAft>
                <a:spcPts val="550"/>
              </a:spcAft>
            </a:pPr>
            <a:r>
              <a:rPr sz="11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50"/>
              </a:spcAft>
            </a:pPr>
            <a:r>
              <a:rPr sz="1100" lang="zh-TW" dirty="0">
                <a:solidFill>
                  <a:srgbClr val="000000"/>
                </a:solidFill>
                <a:latin typeface="Arial Unicode MS"/>
                <a:ea typeface="Arial Unicode MS"/>
                <a:cs typeface="Arial Unicode MS"/>
              </a:rPr>
              <a:t>所以會發生一件很諷刺的事：</a:t>
            </a:r>
            <a:r>
              <a:rPr sz="1100" b="1" lang="zh-TW" dirty="0">
                <a:solidFill>
                  <a:srgbClr val="000000"/>
                </a:solidFill>
                <a:latin typeface="Arial Unicode MS"/>
                <a:ea typeface="Arial Unicode MS"/>
                <a:cs typeface="Arial Unicode MS"/>
              </a:rPr>
              <a:t>一台在模擬裡表現完美的自駕車，丟到真的河內街頭，可能完全動不了</a:t>
            </a:r>
            <a:r>
              <a:rPr sz="1100" lang="zh-TW" dirty="0">
                <a:solidFill>
                  <a:srgbClr val="000000"/>
                </a:solidFill>
                <a:latin typeface="Arial Unicode MS"/>
                <a:ea typeface="Arial Unicode MS"/>
                <a:cs typeface="Arial Unicode MS"/>
              </a:rPr>
              <a:t>——因為它學到的規則，在那裡不適用。
</a:t>
            </a:r>
          </a:p>
          <a:p>
            <a:pPr algn="l">
              <a:lnSpc>
                <a:spcPct val="115000"/>
              </a:lnSpc>
              <a:spcAft>
                <a:spcPts val="550"/>
              </a:spcAft>
            </a:pPr>
            <a:r>
              <a:rPr sz="1100" lang="zh-TW" dirty="0">
                <a:solidFill>
                  <a:srgbClr val="000000"/>
                </a:solidFill>
                <a:latin typeface="Arial Unicode MS"/>
                <a:ea typeface="Arial Unicode MS"/>
                <a:cs typeface="Arial Unicode MS"/>
              </a:rPr>
              <a:t>解法是什麼？把</a:t>
            </a:r>
            <a:r>
              <a:rPr sz="1100" b="1" lang="zh-TW" dirty="0">
                <a:solidFill>
                  <a:srgbClr val="000000"/>
                </a:solidFill>
                <a:latin typeface="Arial Unicode MS"/>
                <a:ea typeface="Arial Unicode MS"/>
                <a:cs typeface="Arial Unicode MS"/>
              </a:rPr>
              <a:t>真實道路上錄到的軌跡回放進模擬</a:t>
            </a:r>
            <a:r>
              <a:rPr sz="11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50"/>
              </a:spcAft>
            </a:pPr>
            <a:r>
              <a:rPr sz="1100" lang="zh-TW" dirty="0">
                <a:solidFill>
                  <a:srgbClr val="000000"/>
                </a:solidFill>
                <a:latin typeface="Arial Unicode MS"/>
                <a:ea typeface="Arial Unicode MS"/>
                <a:cs typeface="Arial Unicode MS"/>
              </a:rPr>
              <a:t>但這裡有個問題留給各位想：</a:t>
            </a:r>
            <a:r>
              <a:rPr sz="1100" b="1" lang="zh-TW" dirty="0">
                <a:solidFill>
                  <a:srgbClr val="000000"/>
                </a:solidFill>
                <a:latin typeface="Arial Unicode MS"/>
                <a:ea typeface="Arial Unicode MS"/>
                <a:cs typeface="Arial Unicode MS"/>
              </a:rPr>
              <a:t>要回放河內的軌跡，你得先有河內的軌跡。</a:t>
            </a:r>
            <a:r>
              <a:rPr sz="1100" lang="zh-TW" dirty="0">
                <a:solidFill>
                  <a:srgbClr val="000000"/>
                </a:solidFill>
                <a:latin typeface="Arial Unicode MS"/>
                <a:ea typeface="Arial Unicode MS"/>
                <a:cs typeface="Arial Unicode MS"/>
              </a:rPr>
              <a:t>誰有？
</a:t>
            </a:r>
          </a:p>
          <a:p>
            <a:pPr algn="l">
              <a:lnSpc>
                <a:spcPct val="115000"/>
              </a:lnSpc>
              <a:spcAft>
                <a:spcPts val="550"/>
              </a:spcAft>
            </a:pPr>
            <a:r>
              <a:rPr sz="1100" lang="zh-TW" dirty="0">
                <a:solidFill>
                  <a:srgbClr val="000000"/>
                </a:solidFill>
                <a:latin typeface="Arial Unicode MS"/>
                <a:ea typeface="Arial Unicode MS"/>
                <a:cs typeface="Arial Unicode MS"/>
              </a:rPr>
              <a:t>（預期答案：要自己去收。）
</a:t>
            </a:r>
          </a:p>
          <a:p>
            <a:pPr algn="l">
              <a:lnSpc>
                <a:spcPct val="115000"/>
              </a:lnSpc>
              <a:spcAft>
                <a:spcPts val="550"/>
              </a:spcAft>
            </a:pPr>
            <a:r>
              <a:rPr sz="1100" lang="zh-TW" dirty="0">
                <a:solidFill>
                  <a:srgbClr val="000000"/>
                </a:solidFill>
                <a:latin typeface="Arial Unicode MS"/>
                <a:ea typeface="Arial Unicode MS"/>
                <a:cs typeface="Arial Unicode MS"/>
              </a:rPr>
              <a:t>對。這就是為什麼「做一個台灣或越南的交通行為模型」是很有價值的題目——</a:t>
            </a:r>
            <a:r>
              <a:rPr sz="11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（預期答案：比較難煞。）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（回頭指剛剛那張表）所以那張表的數字，只在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（讓學生自己說出來。）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（這句話值得寫在白板上：模擬做不到的，真車做得到；真車做不到的，模擬做得到。兩個都要。）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（讓各組各講一個自己遇過的，寫在白板上，分三欄。這就是下一頁的討論。）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（四分鐘。每組講一件，老師在白板上分三欄記：外觀、行為、物理。）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（預期：多數人猜行為，而且答對。）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（學生講的例子，大部分會落在「行為」那一欄——鑽車縫、逆向、闖紅燈、路口不打方向燈、外送機車突然停下。這很正常，因為行為最有感。）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17</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17</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17</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17</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17</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17</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17</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43584"/>
            <a:ext cx="3904488" cy="2578608"/>
          </a:xfrm>
          <a:prstGeom prst="roundRect">
            <a:avLst>
              <a:gd name="adj" fmla="val 3546"/>
            </a:avLst>
          </a:prstGeom>
          <a:solidFill>
            <a:srgbClr val="5C7186"/>
          </a:solidFill>
          <a:ln w="12700">
            <a:solidFill>
              <a:srgbClr val="DBE3EA"/>
            </a:solidFill>
            <a:prstDash val="solid"/>
          </a:ln>
        </p:spPr>
      </p:sp>
      <p:sp>
        <p:nvSpPr>
          <p:cNvPr id="5" name="Shape 3"/>
          <p:cNvSpPr/>
          <p:nvPr/>
        </p:nvSpPr>
        <p:spPr>
          <a:xfrm>
            <a:off x="539496" y="2326599"/>
            <a:ext cx="3831336" cy="1459017"/>
          </a:xfrm>
          <a:prstGeom prst="rect">
            <a:avLst/>
          </a:prstGeom>
          <a:solidFill>
            <a:srgbClr val="4A5763"/>
          </a:solidFill>
          <a:ln/>
        </p:spPr>
      </p:sp>
      <p:sp>
        <p:nvSpPr>
          <p:cNvPr id="6" name="Shape 4"/>
          <p:cNvSpPr/>
          <p:nvPr/>
        </p:nvSpPr>
        <p:spPr>
          <a:xfrm flipH="1">
            <a:off x="815279" y="2326599"/>
            <a:ext cx="1548445" cy="1440729"/>
          </a:xfrm>
          <a:prstGeom prst="line">
            <a:avLst/>
          </a:prstGeom>
          <a:noFill/>
          <a:ln w="25400">
            <a:solidFill>
              <a:srgbClr val="E8EDF2">
                <a:alpha val="45000"/>
              </a:srgbClr>
            </a:solidFill>
            <a:prstDash val="solid"/>
          </a:ln>
        </p:spPr>
      </p:sp>
      <p:sp>
        <p:nvSpPr>
          <p:cNvPr id="7" name="Shape 5"/>
          <p:cNvSpPr/>
          <p:nvPr/>
        </p:nvSpPr>
        <p:spPr>
          <a:xfrm>
            <a:off x="2546604" y="2326599"/>
            <a:ext cx="1548445" cy="1440729"/>
          </a:xfrm>
          <a:prstGeom prst="line">
            <a:avLst/>
          </a:prstGeom>
          <a:noFill/>
          <a:ln w="25400">
            <a:solidFill>
              <a:srgbClr val="E8EDF2">
                <a:alpha val="45000"/>
              </a:srgbClr>
            </a:solidFill>
            <a:prstDash val="solid"/>
          </a:ln>
        </p:spPr>
      </p:sp>
      <p:sp>
        <p:nvSpPr>
          <p:cNvPr id="8" name="Shape 6"/>
          <p:cNvSpPr/>
          <p:nvPr/>
        </p:nvSpPr>
        <p:spPr>
          <a:xfrm>
            <a:off x="1393526" y="2504049"/>
            <a:ext cx="144815" cy="144815"/>
          </a:xfrm>
          <a:prstGeom prst="ellipse">
            <a:avLst/>
          </a:prstGeom>
          <a:solidFill>
            <a:srgbClr val="D8E4EC"/>
          </a:solidFill>
          <a:ln/>
        </p:spPr>
      </p:sp>
      <p:sp>
        <p:nvSpPr>
          <p:cNvPr id="9" name="Shape 7"/>
          <p:cNvSpPr/>
          <p:nvPr/>
        </p:nvSpPr>
        <p:spPr>
          <a:xfrm>
            <a:off x="1350081" y="2663345"/>
            <a:ext cx="231703" cy="260666"/>
          </a:xfrm>
          <a:prstGeom prst="roundRect">
            <a:avLst>
              <a:gd name="adj" fmla="val 110500"/>
            </a:avLst>
          </a:prstGeom>
          <a:solidFill>
            <a:srgbClr val="D8E4EC"/>
          </a:solidFill>
          <a:ln/>
        </p:spPr>
      </p:sp>
      <p:sp>
        <p:nvSpPr>
          <p:cNvPr id="10" name="Shape 8"/>
          <p:cNvSpPr/>
          <p:nvPr/>
        </p:nvSpPr>
        <p:spPr>
          <a:xfrm rot="960000">
            <a:off x="1310257" y="2685067"/>
            <a:ext cx="57926" cy="188259"/>
          </a:xfrm>
          <a:prstGeom prst="rect">
            <a:avLst/>
          </a:prstGeom>
          <a:solidFill>
            <a:srgbClr val="D8E4EC"/>
          </a:solidFill>
          <a:ln/>
        </p:spPr>
      </p:sp>
      <p:sp>
        <p:nvSpPr>
          <p:cNvPr id="11" name="Shape 9"/>
          <p:cNvSpPr/>
          <p:nvPr/>
        </p:nvSpPr>
        <p:spPr>
          <a:xfrm rot="-960000">
            <a:off x="1563683" y="2685067"/>
            <a:ext cx="57926" cy="188259"/>
          </a:xfrm>
          <a:prstGeom prst="rect">
            <a:avLst/>
          </a:prstGeom>
          <a:solidFill>
            <a:srgbClr val="D8E4EC"/>
          </a:solidFill>
          <a:ln/>
        </p:spPr>
      </p:sp>
      <p:sp>
        <p:nvSpPr>
          <p:cNvPr id="12" name="Shape 10"/>
          <p:cNvSpPr/>
          <p:nvPr/>
        </p:nvSpPr>
        <p:spPr>
          <a:xfrm rot="300000">
            <a:off x="1389905" y="2887808"/>
            <a:ext cx="65167" cy="260666"/>
          </a:xfrm>
          <a:prstGeom prst="rect">
            <a:avLst/>
          </a:prstGeom>
          <a:solidFill>
            <a:srgbClr val="D8E4EC"/>
          </a:solidFill>
          <a:ln/>
        </p:spPr>
      </p:sp>
      <p:sp>
        <p:nvSpPr>
          <p:cNvPr id="13" name="Shape 11"/>
          <p:cNvSpPr/>
          <p:nvPr/>
        </p:nvSpPr>
        <p:spPr>
          <a:xfrm rot="-300000">
            <a:off x="1476794" y="2887808"/>
            <a:ext cx="65167" cy="260666"/>
          </a:xfrm>
          <a:prstGeom prst="rect">
            <a:avLst/>
          </a:prstGeom>
          <a:solidFill>
            <a:srgbClr val="D8E4EC"/>
          </a:solidFill>
          <a:ln/>
        </p:spPr>
      </p:sp>
      <p:sp>
        <p:nvSpPr>
          <p:cNvPr id="14" name="Shape 12"/>
          <p:cNvSpPr/>
          <p:nvPr/>
        </p:nvSpPr>
        <p:spPr>
          <a:xfrm>
            <a:off x="971459" y="2378172"/>
            <a:ext cx="858987" cy="928299"/>
          </a:xfrm>
          <a:prstGeom prst="rect">
            <a:avLst/>
          </a:prstGeom>
          <a:ln w="19050">
            <a:solidFill>
              <a:srgbClr val="6FD08C"/>
            </a:solidFill>
            <a:prstDash val="solid"/>
          </a:ln>
        </p:spPr>
      </p:sp>
      <p:sp>
        <p:nvSpPr>
          <p:cNvPr id="15" name="Shape 13"/>
          <p:cNvSpPr/>
          <p:nvPr/>
        </p:nvSpPr>
        <p:spPr>
          <a:xfrm>
            <a:off x="971459" y="2204436"/>
            <a:ext cx="858987" cy="173736"/>
          </a:xfrm>
          <a:prstGeom prst="rect">
            <a:avLst/>
          </a:prstGeom>
          <a:solidFill>
            <a:srgbClr val="6FD08C"/>
          </a:solidFill>
          <a:ln/>
        </p:spPr>
      </p:sp>
      <p:sp>
        <p:nvSpPr>
          <p:cNvPr id="16" name="Text 14"/>
          <p:cNvSpPr txBox="1"/>
          <p:nvPr/>
        </p:nvSpPr>
        <p:spPr>
          <a:xfrm>
            <a:off x="998891" y="2209008"/>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6802" y="2863527"/>
            <a:ext cx="592131" cy="180214"/>
          </a:xfrm>
          <a:prstGeom prst="roundRect">
            <a:avLst>
              <a:gd name="adj" fmla="val 152219"/>
            </a:avLst>
          </a:prstGeom>
          <a:solidFill>
            <a:srgbClr val="C8D3DE"/>
          </a:solidFill>
          <a:ln/>
        </p:spPr>
      </p:sp>
      <p:sp>
        <p:nvSpPr>
          <p:cNvPr id="18" name="Shape 16"/>
          <p:cNvSpPr/>
          <p:nvPr/>
        </p:nvSpPr>
        <p:spPr>
          <a:xfrm>
            <a:off x="3165526" y="2734803"/>
            <a:ext cx="321810" cy="141597"/>
          </a:xfrm>
          <a:prstGeom prst="trapezoid">
            <a:avLst/>
          </a:prstGeom>
          <a:solidFill>
            <a:srgbClr val="C8D3DE">
              <a:alpha val="70000"/>
            </a:srgbClr>
          </a:solidFill>
          <a:ln/>
        </p:spPr>
      </p:sp>
      <p:sp>
        <p:nvSpPr>
          <p:cNvPr id="19" name="Shape 17"/>
          <p:cNvSpPr/>
          <p:nvPr/>
        </p:nvSpPr>
        <p:spPr>
          <a:xfrm>
            <a:off x="3114036" y="3005124"/>
            <a:ext cx="128724" cy="128724"/>
          </a:xfrm>
          <a:prstGeom prst="ellipse">
            <a:avLst/>
          </a:prstGeom>
          <a:solidFill>
            <a:srgbClr val="C8D3DE"/>
          </a:solidFill>
          <a:ln/>
        </p:spPr>
      </p:sp>
      <p:sp>
        <p:nvSpPr>
          <p:cNvPr id="20" name="Shape 18"/>
          <p:cNvSpPr/>
          <p:nvPr/>
        </p:nvSpPr>
        <p:spPr>
          <a:xfrm>
            <a:off x="3422974" y="3005124"/>
            <a:ext cx="128724" cy="128724"/>
          </a:xfrm>
          <a:prstGeom prst="ellipse">
            <a:avLst/>
          </a:prstGeom>
          <a:solidFill>
            <a:srgbClr val="C8D3DE"/>
          </a:solidFill>
          <a:ln/>
        </p:spPr>
      </p:sp>
      <p:sp>
        <p:nvSpPr>
          <p:cNvPr id="21" name="Shape 19"/>
          <p:cNvSpPr/>
          <p:nvPr/>
        </p:nvSpPr>
        <p:spPr>
          <a:xfrm>
            <a:off x="3146217" y="3037305"/>
            <a:ext cx="64362" cy="64362"/>
          </a:xfrm>
          <a:prstGeom prst="ellipse">
            <a:avLst/>
          </a:prstGeom>
          <a:solidFill>
            <a:srgbClr val="FFFFFF"/>
          </a:solidFill>
          <a:ln/>
        </p:spPr>
      </p:sp>
      <p:sp>
        <p:nvSpPr>
          <p:cNvPr id="22" name="Shape 20"/>
          <p:cNvSpPr/>
          <p:nvPr/>
        </p:nvSpPr>
        <p:spPr>
          <a:xfrm>
            <a:off x="3455155" y="3037305"/>
            <a:ext cx="64362" cy="64362"/>
          </a:xfrm>
          <a:prstGeom prst="ellipse">
            <a:avLst/>
          </a:prstGeom>
          <a:solidFill>
            <a:srgbClr val="FFFFFF"/>
          </a:solidFill>
          <a:ln/>
        </p:spPr>
      </p:sp>
      <p:sp>
        <p:nvSpPr>
          <p:cNvPr id="23" name="Shape 21"/>
          <p:cNvSpPr/>
          <p:nvPr/>
        </p:nvSpPr>
        <p:spPr>
          <a:xfrm>
            <a:off x="2689433" y="2481316"/>
            <a:ext cx="1171346" cy="825155"/>
          </a:xfrm>
          <a:prstGeom prst="rect">
            <a:avLst/>
          </a:prstGeom>
          <a:ln w="19050">
            <a:solidFill>
              <a:srgbClr val="4FA8FF"/>
            </a:solidFill>
            <a:prstDash val="solid"/>
          </a:ln>
        </p:spPr>
      </p:sp>
      <p:sp>
        <p:nvSpPr>
          <p:cNvPr id="24" name="Shape 22"/>
          <p:cNvSpPr/>
          <p:nvPr/>
        </p:nvSpPr>
        <p:spPr>
          <a:xfrm>
            <a:off x="2689433" y="2307580"/>
            <a:ext cx="1171346" cy="173736"/>
          </a:xfrm>
          <a:prstGeom prst="rect">
            <a:avLst/>
          </a:prstGeom>
          <a:solidFill>
            <a:srgbClr val="4FA8FF"/>
          </a:solidFill>
          <a:ln/>
        </p:spPr>
      </p:sp>
      <p:sp>
        <p:nvSpPr>
          <p:cNvPr id="25" name="Text 23"/>
          <p:cNvSpPr txBox="1"/>
          <p:nvPr/>
        </p:nvSpPr>
        <p:spPr>
          <a:xfrm>
            <a:off x="2716865" y="2312152"/>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11759"/>
            <a:ext cx="345157" cy="443521"/>
          </a:xfrm>
          <a:prstGeom prst="roundRect">
            <a:avLst>
              <a:gd name="adj" fmla="val 10597"/>
            </a:avLst>
          </a:prstGeom>
          <a:solidFill>
            <a:srgbClr val="2B3945"/>
          </a:solidFill>
          <a:ln/>
        </p:spPr>
      </p:sp>
      <p:sp>
        <p:nvSpPr>
          <p:cNvPr id="27" name="Shape 25"/>
          <p:cNvSpPr/>
          <p:nvPr/>
        </p:nvSpPr>
        <p:spPr>
          <a:xfrm>
            <a:off x="2221863" y="1551676"/>
            <a:ext cx="193288" cy="193288"/>
          </a:xfrm>
          <a:prstGeom prst="ellipse">
            <a:avLst/>
          </a:prstGeom>
          <a:solidFill>
            <a:srgbClr val="FF5A4E"/>
          </a:solidFill>
          <a:ln/>
        </p:spPr>
      </p:sp>
      <p:sp>
        <p:nvSpPr>
          <p:cNvPr id="28" name="Shape 26"/>
          <p:cNvSpPr/>
          <p:nvPr/>
        </p:nvSpPr>
        <p:spPr>
          <a:xfrm>
            <a:off x="2221863" y="1684732"/>
            <a:ext cx="193288" cy="193288"/>
          </a:xfrm>
          <a:prstGeom prst="ellipse">
            <a:avLst/>
          </a:prstGeom>
          <a:solidFill>
            <a:srgbClr val="5F6B75"/>
          </a:solidFill>
          <a:ln/>
        </p:spPr>
      </p:sp>
      <p:sp>
        <p:nvSpPr>
          <p:cNvPr id="29" name="Shape 27"/>
          <p:cNvSpPr/>
          <p:nvPr/>
        </p:nvSpPr>
        <p:spPr>
          <a:xfrm>
            <a:off x="2221863" y="1817788"/>
            <a:ext cx="193288" cy="193288"/>
          </a:xfrm>
          <a:prstGeom prst="ellipse">
            <a:avLst/>
          </a:prstGeom>
          <a:solidFill>
            <a:srgbClr val="5F6B75"/>
          </a:solidFill>
          <a:ln/>
        </p:spPr>
      </p:sp>
      <p:sp>
        <p:nvSpPr>
          <p:cNvPr id="30" name="Shape 28"/>
          <p:cNvSpPr/>
          <p:nvPr/>
        </p:nvSpPr>
        <p:spPr>
          <a:xfrm>
            <a:off x="1986625" y="1475659"/>
            <a:ext cx="663763" cy="515722"/>
          </a:xfrm>
          <a:prstGeom prst="rect">
            <a:avLst/>
          </a:prstGeom>
          <a:ln w="19050">
            <a:solidFill>
              <a:srgbClr val="FFB020"/>
            </a:solidFill>
            <a:prstDash val="solid"/>
          </a:ln>
        </p:spPr>
      </p:sp>
      <p:sp>
        <p:nvSpPr>
          <p:cNvPr id="31" name="Shape 29"/>
          <p:cNvSpPr/>
          <p:nvPr/>
        </p:nvSpPr>
        <p:spPr>
          <a:xfrm>
            <a:off x="1986625" y="1301923"/>
            <a:ext cx="786384" cy="173736"/>
          </a:xfrm>
          <a:prstGeom prst="rect">
            <a:avLst/>
          </a:prstGeom>
          <a:solidFill>
            <a:srgbClr val="FFB020"/>
          </a:solidFill>
          <a:ln/>
        </p:spPr>
      </p:sp>
      <p:sp>
        <p:nvSpPr>
          <p:cNvPr id="32" name="Text 30"/>
          <p:cNvSpPr txBox="1"/>
          <p:nvPr/>
        </p:nvSpPr>
        <p:spPr>
          <a:xfrm>
            <a:off x="2014057" y="130649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cái mà camera nhìn thấy.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示意圖，畫的是相機看到的畫面。在 CARLA 裡，天氣、光線、行人、號誌全都可以調。</a:t>
            </a:r>
            <a:endParaRPr lang="en-US" sz="1000" dirty="0"/>
          </a:p>
        </p:txBody>
      </p:sp>
      <p:sp>
        <p:nvSpPr>
          <p:cNvPr id="35" name="Shape 33"/>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36" name="Shape 34"/>
          <p:cNvSpPr/>
          <p:nvPr/>
        </p:nvSpPr>
        <p:spPr>
          <a:xfrm>
            <a:off x="4919472" y="1408176"/>
            <a:ext cx="347472" cy="347472"/>
          </a:xfrm>
          <a:prstGeom prst="ellipse">
            <a:avLst/>
          </a:prstGeom>
          <a:solidFill>
            <a:srgbClr val="D9463E"/>
          </a:solidFill>
          <a:ln/>
        </p:spPr>
      </p:sp>
      <p:sp>
        <p:nvSpPr>
          <p:cNvPr id="37" name="Text 35"/>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≈2:00</a:t>
            </a:r>
            <a:endParaRPr lang="en-US" sz="900" dirty="0"/>
          </a:p>
        </p:txBody>
      </p:sp>
      <p:sp>
        <p:nvSpPr>
          <p:cNvPr id="40" name="Text 38">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04288"/>
            <a:ext cx="36576" cy="237744"/>
          </a:xfrm>
          <a:prstGeom prst="rect">
            <a:avLst/>
          </a:prstGeom>
          <a:solidFill>
            <a:srgbClr val="00A896"/>
          </a:solidFill>
          <a:ln/>
        </p:spPr>
      </p:sp>
      <p:sp>
        <p:nvSpPr>
          <p:cNvPr id="42" name="Text 40"/>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3" name="Shape 41"/>
          <p:cNvSpPr/>
          <p:nvPr/>
        </p:nvSpPr>
        <p:spPr>
          <a:xfrm>
            <a:off x="4919472" y="2796943"/>
            <a:ext cx="36576" cy="237744"/>
          </a:xfrm>
          <a:prstGeom prst="rect">
            <a:avLst/>
          </a:prstGeom>
          <a:solidFill>
            <a:srgbClr val="00A896"/>
          </a:solidFill>
          <a:ln/>
        </p:spPr>
      </p:sp>
      <p:sp>
        <p:nvSpPr>
          <p:cNvPr id="44" name="Text 42"/>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5" name="Shape 43"/>
          <p:cNvSpPr/>
          <p:nvPr/>
        </p:nvSpPr>
        <p:spPr>
          <a:xfrm>
            <a:off x="4919472" y="3289598"/>
            <a:ext cx="36576" cy="237744"/>
          </a:xfrm>
          <a:prstGeom prst="rect">
            <a:avLst/>
          </a:prstGeom>
          <a:solidFill>
            <a:srgbClr val="00A896"/>
          </a:solidFill>
          <a:ln/>
        </p:spPr>
      </p:sp>
      <p:sp>
        <p:nvSpPr>
          <p:cNvPr id="46" name="Text 44"/>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17</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17</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17</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17</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17</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17</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17</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17</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17</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2026-09-21T15:15:03Z</dcterms:created>
  <dcterms:modified xsi:type="dcterms:W3CDTF">2026-09-21T15:15:03Z</dcterms:modified>
</cp:coreProperties>
</file>