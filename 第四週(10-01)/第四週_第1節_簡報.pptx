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各位早。
</a:t>
            </a:r>
          </a:p>
          <a:p>
            <a:pPr algn="l">
              <a:lnSpc>
                <a:spcPct val="115000"/>
              </a:lnSpc>
              <a:spcAft>
                <a:spcPts val="600"/>
              </a:spcAft>
            </a:pPr>
            <a:r>
              <a:rPr sz="1200" lang="zh-TW" dirty="0">
                <a:solidFill>
                  <a:srgbClr val="000000"/>
                </a:solidFill>
                <a:latin typeface="Arial Unicode MS"/>
                <a:ea typeface="Arial Unicode MS"/>
                <a:cs typeface="Arial Unicode MS"/>
              </a:rPr>
              <a:t>上週各位第一次讓車子在模擬器裡跑起來，也發現了一件怪事：</a:t>
            </a:r>
            <a:r>
              <a:rPr sz="1200" b="1" lang="zh-TW" dirty="0">
                <a:solidFill>
                  <a:srgbClr val="000000"/>
                </a:solidFill>
                <a:latin typeface="Arial Unicode MS"/>
                <a:ea typeface="Arial Unicode MS"/>
                <a:cs typeface="Arial Unicode MS"/>
              </a:rPr>
              <a:t>同一組參數，有時候撞、有時候不撞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600"/>
              </a:spcAft>
            </a:pPr>
            <a:r>
              <a:rPr sz="12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600"/>
              </a:spcAft>
            </a:pPr>
            <a:r>
              <a:rPr sz="12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600"/>
              </a:spcAft>
            </a:pPr>
            <a:r>
              <a:rPr sz="1200" lang="zh-TW" dirty="0">
                <a:solidFill>
                  <a:srgbClr val="000000"/>
                </a:solidFill>
                <a:latin typeface="Arial Unicode MS"/>
                <a:ea typeface="Arial Unicode MS"/>
                <a:cs typeface="Arial Unicode MS"/>
              </a:rPr>
              <a:t>第三，什麼叫「場景」——這是下一節的主題。
</a:t>
            </a:r>
          </a:p>
          <a:p>
            <a:pPr algn="l">
              <a:lnSpc>
                <a:spcPct val="115000"/>
              </a:lnSpc>
              <a:spcAft>
                <a:spcPts val="600"/>
              </a:spcAft>
            </a:pPr>
            <a:r>
              <a:rPr sz="12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600"/>
              </a:spcAft>
            </a:pPr>
            <a:r>
              <a:rPr sz="12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我們花兩分鐘先把它打開，不要等到第三節才手忙腳亂。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600"/>
              </a:spcAft>
            </a:pPr>
            <a:r>
              <a:rPr sz="1200" lang="zh-TW" dirty="0">
                <a:solidFill>
                  <a:srgbClr val="000000"/>
                </a:solidFill>
                <a:latin typeface="Arial Unicode MS"/>
                <a:ea typeface="Arial Unicode MS"/>
                <a:cs typeface="Arial Unicode MS"/>
              </a:rPr>
              <a:t>我們的模擬器可以從一條拉到六十條。真車的光達呢？</a:t>
            </a:r>
            <a:r>
              <a:rPr sz="1200" b="1" lang="zh-TW" dirty="0">
                <a:solidFill>
                  <a:srgbClr val="000000"/>
                </a:solidFill>
                <a:latin typeface="Arial Unicode MS"/>
                <a:ea typeface="Arial Unicode MS"/>
                <a:cs typeface="Arial Unicode MS"/>
              </a:rPr>
              <a:t>每秒幾十萬到幾百萬個點</a:t>
            </a:r>
            <a:r>
              <a:rPr sz="12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600"/>
              </a:spcAft>
            </a:pPr>
            <a:r>
              <a:rPr sz="12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600"/>
              </a:spcAft>
            </a:pPr>
            <a:r>
              <a:rPr sz="1200" lang="zh-TW" dirty="0">
                <a:solidFill>
                  <a:srgbClr val="000000"/>
                </a:solidFill>
                <a:latin typeface="Arial Unicode MS"/>
                <a:ea typeface="Arial Unicode MS"/>
                <a:cs typeface="Arial Unicode MS"/>
              </a:rPr>
              <a:t>可能會有人說，機車會從兩條射線中間鑽過去，車子就看不到。對，就是這樣。
</a:t>
            </a:r>
          </a:p>
          <a:p>
            <a:pPr algn="l">
              <a:lnSpc>
                <a:spcPct val="115000"/>
              </a:lnSpc>
              <a:spcAft>
                <a:spcPts val="600"/>
              </a:spcAft>
            </a:pPr>
            <a:r>
              <a:rPr sz="12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600"/>
              </a:spcAft>
            </a:pPr>
            <a:r>
              <a:rPr sz="1200" lang="zh-TW" dirty="0">
                <a:solidFill>
                  <a:srgbClr val="000000"/>
                </a:solidFill>
                <a:latin typeface="Arial Unicode MS"/>
                <a:ea typeface="Arial Unicode MS"/>
                <a:cs typeface="Arial Unicode MS"/>
              </a:rPr>
              <a:t>上週缺席的同學，等一下上機的時候把射線數拉到三，跑一次河內尖峰，馬上就知道了。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，就是這顆感測器看得到幾公尺。
</a:t>
            </a:r>
          </a:p>
          <a:p>
            <a:pPr algn="l">
              <a:lnSpc>
                <a:spcPct val="115000"/>
              </a:lnSpc>
              <a:spcAft>
                <a:spcPts val="6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600"/>
              </a:spcAft>
            </a:pPr>
            <a:r>
              <a:rPr sz="1200" lang="zh-TW" dirty="0">
                <a:solidFill>
                  <a:srgbClr val="000000"/>
                </a:solidFill>
                <a:latin typeface="Arial Unicode MS"/>
                <a:ea typeface="Arial Unicode MS"/>
                <a:cs typeface="Arial Unicode MS"/>
              </a:rPr>
              <a:t>這個數字有一個很硬的下限，</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。為什麼？
</a:t>
            </a:r>
          </a:p>
          <a:p>
            <a:pPr algn="l">
              <a:lnSpc>
                <a:spcPct val="115000"/>
              </a:lnSpc>
              <a:spcAft>
                <a:spcPts val="600"/>
              </a:spcAft>
            </a:pPr>
            <a:r>
              <a:rPr sz="1200" lang="zh-TW" dirty="0">
                <a:solidFill>
                  <a:srgbClr val="000000"/>
                </a:solidFill>
                <a:latin typeface="Arial Unicode MS"/>
                <a:ea typeface="Arial Unicode MS"/>
                <a:cs typeface="Arial Unicode MS"/>
              </a:rPr>
              <a:t>（等學生想一下。）
</a:t>
            </a:r>
          </a:p>
          <a:p>
            <a:pPr algn="l">
              <a:lnSpc>
                <a:spcPct val="115000"/>
              </a:lnSpc>
              <a:spcAft>
                <a:spcPts val="600"/>
              </a:spcAft>
            </a:pPr>
            <a:r>
              <a:rPr sz="12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600"/>
              </a:spcAft>
            </a:pPr>
            <a:r>
              <a:rPr sz="1200" lang="zh-TW" dirty="0">
                <a:solidFill>
                  <a:srgbClr val="000000"/>
                </a:solidFill>
                <a:latin typeface="Arial Unicode MS"/>
                <a:ea typeface="Arial Unicode MS"/>
                <a:cs typeface="Arial Unicode MS"/>
              </a:rPr>
              <a:t>我們先停在這裡，下一頁就用上週那條煞停距離的公式，把這個下限算出來。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15000"/>
              </a:lnSpc>
              <a:spcAft>
                <a:spcPts val="600"/>
              </a:spcAft>
            </a:pPr>
            <a:r>
              <a:rPr sz="12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600"/>
              </a:spcAft>
            </a:pPr>
            <a:r>
              <a:rPr sz="1200" lang="zh-TW" dirty="0">
                <a:solidFill>
                  <a:srgbClr val="000000"/>
                </a:solidFill>
                <a:latin typeface="Arial Unicode MS"/>
                <a:ea typeface="Arial Unicode MS"/>
                <a:cs typeface="Arial Unicode MS"/>
              </a:rPr>
              <a:t>這題上週剛講過，大家想一下。
</a:t>
            </a:r>
          </a:p>
          <a:p>
            <a:pPr algn="l">
              <a:lnSpc>
                <a:spcPct val="115000"/>
              </a:lnSpc>
              <a:spcAft>
                <a:spcPts val="6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600"/>
              </a:spcAft>
            </a:pPr>
            <a:r>
              <a:rPr sz="1200" lang="zh-TW" dirty="0">
                <a:solidFill>
                  <a:srgbClr val="000000"/>
                </a:solidFill>
                <a:latin typeface="Arial Unicode MS"/>
                <a:ea typeface="Arial Unicode MS"/>
                <a:cs typeface="Arial Unicode MS"/>
              </a:rPr>
              <a:t>所以真車的做法是什麼？
</a:t>
            </a:r>
          </a:p>
          <a:p>
            <a:pPr algn="l">
              <a:lnSpc>
                <a:spcPct val="115000"/>
              </a:lnSpc>
              <a:spcAft>
                <a:spcPts val="600"/>
              </a:spcAft>
            </a:pPr>
            <a:r>
              <a:rPr sz="1200" lang="zh-TW" dirty="0">
                <a:solidFill>
                  <a:srgbClr val="000000"/>
                </a:solidFill>
                <a:latin typeface="Arial Unicode MS"/>
                <a:ea typeface="Arial Unicode MS"/>
                <a:cs typeface="Arial Unicode MS"/>
              </a:rPr>
              <a:t>答案是裝好幾顆，分工。
</a:t>
            </a:r>
          </a:p>
          <a:p>
            <a:pPr algn="l">
              <a:lnSpc>
                <a:spcPct val="115000"/>
              </a:lnSpc>
              <a:spcAft>
                <a:spcPts val="600"/>
              </a:spcAft>
            </a:pPr>
            <a:r>
              <a:rPr sz="12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6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除以十二這件事，每一屆都會有人問，所以我把它拆開講。先問大家一句：為什麼是除以十二，不是除以六？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分兩步，兩步我都寫在白板上。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如果有人問為什麼是平方，我再補一句：速度變兩倍的時候，煞的時間變兩倍、平均速度也變兩倍，兩個都變兩倍，所以距離變四倍。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反應距離是十三點九乘零點三，得到四點二公尺。煞車距離是十三點九平方除以十二，得到十六點一公尺。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我把這三行寫在白板上，大家跟著按一次計算機。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剛剛那條公式算完了，我們用一支三分半的影片，把同樣兩段距離再看一次。
</a:t>
            </a:r>
          </a:p>
          <a:p>
            <a:pPr algn="l">
              <a:lnSpc>
                <a:spcPct val="115000"/>
              </a:lnSpc>
              <a:spcAft>
                <a:spcPts val="500"/>
              </a:spcAft>
            </a:pPr>
            <a:r>
              <a:rPr sz="1000" lang="zh-TW" dirty="0">
                <a:solidFill>
                  <a:srgbClr val="000000"/>
                </a:solidFill>
                <a:latin typeface="Arial Unicode MS"/>
                <a:ea typeface="Arial Unicode MS"/>
                <a:cs typeface="Arial Unicode MS"/>
              </a:rPr>
              <a:t>這一支是英文旁白，請大家點播放器右下角的齒輪，字幕，自動翻譯，選越南文。我們播到兩分半就停，後面是英國考試的內容，我們用不到。
</a:t>
            </a:r>
          </a:p>
          <a:p>
            <a:pPr algn="l">
              <a:lnSpc>
                <a:spcPct val="115000"/>
              </a:lnSpc>
              <a:spcAft>
                <a:spcPts val="500"/>
              </a:spcAft>
            </a:pPr>
            <a:r>
              <a:rPr sz="1000" lang="zh-TW" dirty="0">
                <a:solidFill>
                  <a:srgbClr val="000000"/>
                </a:solidFill>
                <a:latin typeface="Arial Unicode MS"/>
                <a:ea typeface="Arial Unicode MS"/>
                <a:cs typeface="Arial Unicode MS"/>
              </a:rPr>
              <a:t>播之前先給任務：這支影片會把煞停距離拆成兩段，請各位對照剛剛白板上寫的那三行，看它拆的跟我們拆的一不一樣。
</a:t>
            </a:r>
          </a:p>
          <a:p>
            <a:pPr algn="l">
              <a:lnSpc>
                <a:spcPct val="115000"/>
              </a:lnSpc>
              <a:spcAft>
                <a:spcPts val="500"/>
              </a:spcAft>
            </a:pPr>
            <a:r>
              <a:rPr sz="1000" lang="zh-TW" dirty="0">
                <a:solidFill>
                  <a:srgbClr val="000000"/>
                </a:solidFill>
                <a:latin typeface="Arial Unicode MS"/>
                <a:ea typeface="Arial Unicode MS"/>
                <a:cs typeface="Arial Unicode MS"/>
              </a:rPr>
              <a:t>我先講影片的順序，這樣大家知道要看哪裡。
</a:t>
            </a:r>
          </a:p>
          <a:p>
            <a:pPr algn="l">
              <a:lnSpc>
                <a:spcPct val="115000"/>
              </a:lnSpc>
              <a:spcAft>
                <a:spcPts val="500"/>
              </a:spcAft>
            </a:pPr>
            <a:r>
              <a:rPr sz="1000" lang="zh-TW" dirty="0">
                <a:solidFill>
                  <a:srgbClr val="000000"/>
                </a:solidFill>
                <a:latin typeface="Arial Unicode MS"/>
                <a:ea typeface="Arial Unicode MS"/>
                <a:cs typeface="Arial Unicode MS"/>
              </a:rPr>
              <a:t>開頭它先問，為什麼車子開快就比較難停、下雨也比較難停。
</a:t>
            </a:r>
          </a:p>
          <a:p>
            <a:pPr algn="l">
              <a:lnSpc>
                <a:spcPct val="115000"/>
              </a:lnSpc>
              <a:spcAft>
                <a:spcPts val="500"/>
              </a:spcAft>
            </a:pPr>
            <a:r>
              <a:rPr sz="1000" lang="zh-TW" dirty="0">
                <a:solidFill>
                  <a:srgbClr val="000000"/>
                </a:solidFill>
                <a:latin typeface="Arial Unicode MS"/>
                <a:ea typeface="Arial Unicode MS"/>
                <a:cs typeface="Arial Unicode MS"/>
              </a:rPr>
              <a:t>零分二十秒講停車距離的定義：從駕駛看到東西，到車子完全停下來，總共走了多遠。
</a:t>
            </a:r>
          </a:p>
          <a:p>
            <a:pPr algn="l">
              <a:lnSpc>
                <a:spcPct val="115000"/>
              </a:lnSpc>
              <a:spcAft>
                <a:spcPts val="500"/>
              </a:spcAft>
            </a:pPr>
            <a:r>
              <a:rPr sz="1000" lang="zh-TW" dirty="0">
                <a:solidFill>
                  <a:srgbClr val="000000"/>
                </a:solidFill>
                <a:latin typeface="Arial Unicode MS"/>
                <a:ea typeface="Arial Unicode MS"/>
                <a:cs typeface="Arial Unicode MS"/>
              </a:rPr>
              <a:t>三十秒開始講第一段，反應距離，也就是反應時間乘上速度。影響它的是疲勞、喝酒、滑手機、大聲的音樂，這些都讓人反應變慢。
</a:t>
            </a:r>
          </a:p>
          <a:p>
            <a:pPr algn="l">
              <a:lnSpc>
                <a:spcPct val="115000"/>
              </a:lnSpc>
              <a:spcAft>
                <a:spcPts val="500"/>
              </a:spcAft>
            </a:pPr>
            <a:r>
              <a:rPr sz="1000" lang="zh-TW" dirty="0">
                <a:solidFill>
                  <a:srgbClr val="000000"/>
                </a:solidFill>
                <a:latin typeface="Arial Unicode MS"/>
                <a:ea typeface="Arial Unicode MS"/>
                <a:cs typeface="Arial Unicode MS"/>
              </a:rPr>
              <a:t>一分零五秒有一句話最關鍵：</a:t>
            </a:r>
            <a:r>
              <a:rPr sz="1000" b="1" lang="zh-TW" dirty="0">
                <a:solidFill>
                  <a:srgbClr val="000000"/>
                </a:solidFill>
                <a:latin typeface="Arial Unicode MS"/>
                <a:ea typeface="Arial Unicode MS"/>
                <a:cs typeface="Arial Unicode MS"/>
              </a:rPr>
              <a:t>速度不會改變你的反應時間，可是同樣的時間你會跑得更遠。</a:t>
            </a:r>
            <a:r>
              <a:rPr sz="1000" lang="zh-TW" dirty="0">
                <a:solidFill>
                  <a:srgbClr val="000000"/>
                </a:solidFill>
                <a:latin typeface="Arial Unicode MS"/>
                <a:ea typeface="Arial Unicode MS"/>
                <a:cs typeface="Arial Unicode MS"/>
              </a:rPr>
              <a:t>在高速公路上，還沒踩下煞車就已經過了四個車身。
</a:t>
            </a:r>
          </a:p>
          <a:p>
            <a:pPr algn="l">
              <a:lnSpc>
                <a:spcPct val="115000"/>
              </a:lnSpc>
              <a:spcAft>
                <a:spcPts val="500"/>
              </a:spcAft>
            </a:pPr>
            <a:r>
              <a:rPr sz="1000" lang="zh-TW" dirty="0">
                <a:solidFill>
                  <a:srgbClr val="000000"/>
                </a:solidFill>
                <a:latin typeface="Arial Unicode MS"/>
                <a:ea typeface="Arial Unicode MS"/>
                <a:cs typeface="Arial Unicode MS"/>
              </a:rPr>
              <a:t>一分二十秒開始講第二段，煞車距離，腳踩下去之後還要跑多遠。車速愈快、車子愈重就愈長，因為動能要先消耗掉。
</a:t>
            </a:r>
          </a:p>
          <a:p>
            <a:pPr algn="l">
              <a:lnSpc>
                <a:spcPct val="115000"/>
              </a:lnSpc>
              <a:spcAft>
                <a:spcPts val="500"/>
              </a:spcAft>
            </a:pPr>
            <a:r>
              <a:rPr sz="1000" lang="zh-TW" dirty="0">
                <a:solidFill>
                  <a:srgbClr val="000000"/>
                </a:solidFill>
                <a:latin typeface="Arial Unicode MS"/>
                <a:ea typeface="Arial Unicode MS"/>
                <a:cs typeface="Arial Unicode MS"/>
              </a:rPr>
              <a:t>一分五十秒講路面條件：結冰、下雨、落葉，還有煞車和輪胎本身的狀況。
</a:t>
            </a:r>
          </a:p>
          <a:p>
            <a:pPr algn="l">
              <a:lnSpc>
                <a:spcPct val="115000"/>
              </a:lnSpc>
              <a:spcAft>
                <a:spcPts val="500"/>
              </a:spcAft>
            </a:pPr>
            <a:r>
              <a:rPr sz="1000" lang="zh-TW" dirty="0">
                <a:solidFill>
                  <a:srgbClr val="000000"/>
                </a:solidFill>
                <a:latin typeface="Arial Unicode MS"/>
                <a:ea typeface="Arial Unicode MS"/>
                <a:cs typeface="Arial Unicode MS"/>
              </a:rPr>
              <a:t>兩分十秒之後是考題練習，我們就停在那裡。
</a:t>
            </a:r>
          </a:p>
          <a:p>
            <a:pPr algn="l">
              <a:lnSpc>
                <a:spcPct val="115000"/>
              </a:lnSpc>
              <a:spcAft>
                <a:spcPts val="500"/>
              </a:spcAft>
            </a:pPr>
            <a:r>
              <a:rPr sz="1000" lang="zh-TW" dirty="0">
                <a:solidFill>
                  <a:srgbClr val="000000"/>
                </a:solidFill>
                <a:latin typeface="Arial Unicode MS"/>
                <a:ea typeface="Arial Unicode MS"/>
                <a:cs typeface="Arial Unicode MS"/>
              </a:rPr>
              <a:t>看完問三個問題。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影片把煞停距離拆成哪兩段？</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答案是反應距離和煞車距離，跟我們剛剛算的一樣。
</a:t>
            </a:r>
          </a:p>
          <a:p>
            <a:pPr algn="l">
              <a:lnSpc>
                <a:spcPct val="115000"/>
              </a:lnSpc>
              <a:spcAft>
                <a:spcPts val="500"/>
              </a:spcAft>
            </a:pPr>
            <a:r>
              <a:rPr sz="1000" lang="zh-TW" dirty="0">
                <a:solidFill>
                  <a:srgbClr val="000000"/>
                </a:solidFill>
                <a:latin typeface="Arial Unicode MS"/>
                <a:ea typeface="Arial Unicode MS"/>
                <a:cs typeface="Arial Unicode MS"/>
              </a:rPr>
              <a:t>第二，這題是重點：</a:t>
            </a:r>
            <a:r>
              <a:rPr sz="1000" b="1" lang="zh-TW" dirty="0">
                <a:solidFill>
                  <a:srgbClr val="000000"/>
                </a:solidFill>
                <a:latin typeface="Arial Unicode MS"/>
                <a:ea typeface="Arial Unicode MS"/>
                <a:cs typeface="Arial Unicode MS"/>
              </a:rPr>
              <a:t>哪一段是跟速度的平方成正比？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答案是煞車距離。反應距離只是速度乘一個固定的時間，速度變兩倍它就變兩倍；煞車距離是速度變兩倍就變四倍。
</a:t>
            </a:r>
          </a:p>
          <a:p>
            <a:pPr algn="l">
              <a:lnSpc>
                <a:spcPct val="115000"/>
              </a:lnSpc>
              <a:spcAft>
                <a:spcPts val="500"/>
              </a:spcAft>
            </a:pPr>
            <a:r>
              <a:rPr sz="1000" lang="zh-TW" dirty="0">
                <a:solidFill>
                  <a:srgbClr val="000000"/>
                </a:solidFill>
                <a:latin typeface="Arial Unicode MS"/>
                <a:ea typeface="Arial Unicode MS"/>
                <a:cs typeface="Arial Unicode MS"/>
              </a:rPr>
              <a:t>對。所以車速一高，真正吃掉距離的是</a:t>
            </a:r>
            <a:r>
              <a:rPr sz="1000" b="1" lang="zh-TW" dirty="0">
                <a:solidFill>
                  <a:srgbClr val="000000"/>
                </a:solidFill>
                <a:latin typeface="Arial Unicode MS"/>
                <a:ea typeface="Arial Unicode MS"/>
                <a:cs typeface="Arial Unicode MS"/>
              </a:rPr>
              <a:t>後面那一段</a:t>
            </a:r>
            <a:r>
              <a:rPr sz="1000" lang="zh-TW" dirty="0">
                <a:solidFill>
                  <a:srgbClr val="000000"/>
                </a:solidFill>
                <a:latin typeface="Arial Unicode MS"/>
                <a:ea typeface="Arial Unicode MS"/>
                <a:cs typeface="Arial Unicode MS"/>
              </a:rPr>
              <a:t>。這也是為什麼我們那張表上，時速八十要的射線長度比時速四十多那麼多。
</a:t>
            </a:r>
          </a:p>
          <a:p>
            <a:pPr algn="l">
              <a:lnSpc>
                <a:spcPct val="115000"/>
              </a:lnSpc>
              <a:spcAft>
                <a:spcPts val="500"/>
              </a:spcAft>
            </a:pPr>
            <a:r>
              <a:rPr sz="1000" lang="zh-TW" dirty="0">
                <a:solidFill>
                  <a:srgbClr val="000000"/>
                </a:solidFill>
                <a:latin typeface="Arial Unicode MS"/>
                <a:ea typeface="Arial Unicode MS"/>
                <a:cs typeface="Arial Unicode MS"/>
              </a:rPr>
              <a:t>第三，</a:t>
            </a:r>
            <a:r>
              <a:rPr sz="1000" b="1" lang="zh-TW" dirty="0">
                <a:solidFill>
                  <a:srgbClr val="000000"/>
                </a:solidFill>
                <a:latin typeface="Arial Unicode MS"/>
                <a:ea typeface="Arial Unicode MS"/>
                <a:cs typeface="Arial Unicode MS"/>
              </a:rPr>
              <a:t>影片說路面濕的時候煞車距離會變長。那對感測器有什麼影響？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大家想一下。答案是需要看得更遠，因為停下來要更長的距離。
</a:t>
            </a:r>
          </a:p>
          <a:p>
            <a:pPr algn="l">
              <a:lnSpc>
                <a:spcPct val="115000"/>
              </a:lnSpc>
              <a:spcAft>
                <a:spcPts val="500"/>
              </a:spcAft>
            </a:pPr>
            <a:r>
              <a:rPr sz="1000" lang="zh-TW" dirty="0">
                <a:solidFill>
                  <a:srgbClr val="000000"/>
                </a:solidFill>
                <a:latin typeface="Arial Unicode MS"/>
                <a:ea typeface="Arial Unicode MS"/>
                <a:cs typeface="Arial Unicode MS"/>
              </a:rPr>
              <a:t>這句話請記住——</a:t>
            </a:r>
            <a:r>
              <a:rPr sz="1000" b="1" lang="zh-TW" dirty="0">
                <a:solidFill>
                  <a:srgbClr val="000000"/>
                </a:solidFill>
                <a:latin typeface="Arial Unicode MS"/>
                <a:ea typeface="Arial Unicode MS"/>
                <a:cs typeface="Arial Unicode MS"/>
              </a:rPr>
              <a:t>第三節任務三，各位會把雨天打開，然後會發現兩件事同時發生：射線變短，而煞車距離變長。</a:t>
            </a:r>
            <a:r>
              <a:rPr sz="1000" lang="zh-TW" dirty="0">
                <a:solidFill>
                  <a:srgbClr val="000000"/>
                </a:solidFill>
                <a:latin typeface="Arial Unicode MS"/>
                <a:ea typeface="Arial Unicode MS"/>
                <a:cs typeface="Arial Unicode MS"/>
              </a:rPr>
              <a:t>兩邊一起往壞的方向走。那一題的陷阱就在這裡。
</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600"/>
              </a:spcAft>
            </a:pPr>
            <a:r>
              <a:rPr sz="1200" lang="zh-TW" dirty="0">
                <a:solidFill>
                  <a:srgbClr val="000000"/>
                </a:solidFill>
                <a:latin typeface="Arial Unicode MS"/>
                <a:ea typeface="Arial Unicode MS"/>
                <a:cs typeface="Arial Unicode MS"/>
              </a:rPr>
              <a:t>請大家自己挑一個速度算一次，再跟表上對答案。
</a:t>
            </a:r>
          </a:p>
          <a:p>
            <a:pPr algn="l">
              <a:lnSpc>
                <a:spcPct val="115000"/>
              </a:lnSpc>
              <a:spcAft>
                <a:spcPts val="600"/>
              </a:spcAft>
            </a:pPr>
            <a:r>
              <a:rPr sz="1200" lang="zh-TW" dirty="0">
                <a:solidFill>
                  <a:srgbClr val="000000"/>
                </a:solidFill>
                <a:latin typeface="Arial Unicode MS"/>
                <a:ea typeface="Arial Unicode MS"/>
                <a:cs typeface="Arial Unicode MS"/>
              </a:rPr>
              <a:t>請看</a:t>
            </a:r>
            <a:r>
              <a:rPr sz="1200" b="1" lang="zh-TW" dirty="0">
                <a:solidFill>
                  <a:srgbClr val="000000"/>
                </a:solidFill>
                <a:latin typeface="Arial Unicode MS"/>
                <a:ea typeface="Arial Unicode MS"/>
                <a:cs typeface="Arial Unicode MS"/>
              </a:rPr>
              <a:t>從時速三十到時速八十</a:t>
            </a:r>
            <a:r>
              <a:rPr sz="1200" lang="zh-TW" dirty="0">
                <a:solidFill>
                  <a:srgbClr val="000000"/>
                </a:solidFill>
                <a:latin typeface="Arial Unicode MS"/>
                <a:ea typeface="Arial Unicode MS"/>
                <a:cs typeface="Arial Unicode MS"/>
              </a:rPr>
              <a:t>：速度增加不到三倍，煞停距離從八公尺變成四十八公尺，</a:t>
            </a:r>
            <a:r>
              <a:rPr sz="1200" b="1" lang="zh-TW" dirty="0">
                <a:solidFill>
                  <a:srgbClr val="000000"/>
                </a:solidFill>
                <a:latin typeface="Arial Unicode MS"/>
                <a:ea typeface="Arial Unicode MS"/>
                <a:cs typeface="Arial Unicode MS"/>
              </a:rPr>
              <a:t>六倍</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600"/>
              </a:spcAft>
            </a:pPr>
            <a:r>
              <a:rPr sz="1200" lang="zh-TW" dirty="0">
                <a:solidFill>
                  <a:srgbClr val="000000"/>
                </a:solidFill>
                <a:latin typeface="Arial Unicode MS"/>
                <a:ea typeface="Arial Unicode MS"/>
                <a:cs typeface="Arial Unicode MS"/>
              </a:rPr>
              <a:t>今天上機用的是時速五十那一列，射線至少二十五公尺。各位等一下調參數的時候，</a:t>
            </a:r>
            <a:r>
              <a:rPr sz="1200" b="1" lang="zh-TW" dirty="0">
                <a:solidFill>
                  <a:srgbClr val="000000"/>
                </a:solidFill>
                <a:latin typeface="Arial Unicode MS"/>
                <a:ea typeface="Arial Unicode MS"/>
                <a:cs typeface="Arial Unicode MS"/>
              </a:rPr>
              <a:t>射線長度不要低於二十五</a:t>
            </a:r>
            <a:r>
              <a:rPr sz="1200" lang="zh-TW" dirty="0">
                <a:solidFill>
                  <a:srgbClr val="000000"/>
                </a:solidFill>
                <a:latin typeface="Arial Unicode MS"/>
                <a:ea typeface="Arial Unicode MS"/>
                <a:cs typeface="Arial Unicode MS"/>
              </a:rPr>
              <a:t>，否則你調再多射線數都沒用。
</a:t>
            </a:r>
          </a:p>
          <a:p>
            <a:pPr algn="l">
              <a:lnSpc>
                <a:spcPct val="115000"/>
              </a:lnSpc>
              <a:spcAft>
                <a:spcPts val="600"/>
              </a:spcAft>
            </a:pPr>
            <a:r>
              <a:rPr sz="12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600"/>
              </a:spcAft>
            </a:pPr>
            <a:r>
              <a:rPr sz="1200" lang="zh-TW" dirty="0">
                <a:solidFill>
                  <a:srgbClr val="000000"/>
                </a:solidFill>
                <a:latin typeface="Arial Unicode MS"/>
                <a:ea typeface="Arial Unicode MS"/>
                <a:cs typeface="Arial Unicode MS"/>
              </a:rPr>
              <a:t>（問全班）什麼感測器做得到兩百公尺？
</a:t>
            </a:r>
          </a:p>
          <a:p>
            <a:pPr algn="l">
              <a:lnSpc>
                <a:spcPct val="115000"/>
              </a:lnSpc>
              <a:spcAft>
                <a:spcPts val="600"/>
              </a:spcAft>
            </a:pPr>
            <a:r>
              <a:rPr sz="1200" lang="zh-TW" dirty="0">
                <a:solidFill>
                  <a:srgbClr val="000000"/>
                </a:solidFill>
                <a:latin typeface="Arial Unicode MS"/>
                <a:ea typeface="Arial Unicode MS"/>
                <a:cs typeface="Arial Unicode MS"/>
              </a:rPr>
              <a:t>大家猜猜看。答案是雷達，還有高階的長距光達。不過那是第三章的內容，今天先不展開。
</a:t>
            </a:r>
          </a:p>
          <a:p>
            <a:pPr algn="l">
              <a:lnSpc>
                <a:spcPct val="115000"/>
              </a:lnSpc>
              <a:spcAft>
                <a:spcPts val="600"/>
              </a:spcAft>
            </a:pPr>
            <a:r>
              <a:rPr sz="1200" lang="zh-TW" dirty="0">
                <a:solidFill>
                  <a:srgbClr val="000000"/>
                </a:solidFill>
                <a:latin typeface="Arial Unicode MS"/>
                <a:ea typeface="Arial Unicode MS"/>
                <a:cs typeface="Arial Unicode MS"/>
              </a:rPr>
              <a:t>還有一件事要補：</a:t>
            </a:r>
            <a:r>
              <a:rPr sz="1200" b="1" lang="zh-TW" dirty="0">
                <a:solidFill>
                  <a:srgbClr val="000000"/>
                </a:solidFill>
                <a:latin typeface="Arial Unicode MS"/>
                <a:ea typeface="Arial Unicode MS"/>
                <a:cs typeface="Arial Unicode MS"/>
              </a:rPr>
              <a:t>濕路面的減速度只有一半</a:t>
            </a:r>
            <a:r>
              <a:rPr sz="12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我們播兩分鐘左右就好。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第一，影片裡會看到白天、晚上、下雨、起霧，也會看到車很多和車很少的路口。</a:t>
            </a:r>
            <a:r>
              <a:rPr sz="1000" b="1" lang="zh-TW" dirty="0">
                <a:solidFill>
                  <a:srgbClr val="000000"/>
                </a:solidFill>
                <a:latin typeface="Arial Unicode MS"/>
                <a:ea typeface="Arial Unicode MS"/>
                <a:cs typeface="Arial Unicode MS"/>
              </a:rPr>
              <a:t>那些全部都是參數調出來的</a:t>
            </a:r>
            <a:r>
              <a:rPr sz="1000" lang="zh-TW" dirty="0">
                <a:solidFill>
                  <a:srgbClr val="000000"/>
                </a:solidFill>
                <a:latin typeface="Arial Unicode MS"/>
                <a:ea typeface="Arial Unicode MS"/>
                <a:cs typeface="Arial Unicode MS"/>
              </a:rPr>
              <a:t>——天氣、一天中的時間、車流密度，跟我們的滑桿是同一個概念，只是它的滑桿多得多。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第二，CARLA 也會把</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一起模擬出來。也就是說，它連感測器看到什麼都算給你。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大家大概會說：畫面精細很多、有真的城市、有天氣。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答案是：都是參數、都是規則、都不是真的。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，英文叫 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它的做法是在模擬裡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第二種：</a:t>
            </a:r>
            <a:r>
              <a:rPr sz="1150" b="1" lang="zh-TW" dirty="0">
                <a:solidFill>
                  <a:srgbClr val="000000"/>
                </a:solidFill>
                <a:latin typeface="Arial Unicode MS"/>
                <a:ea typeface="Arial Unicode MS"/>
                <a:cs typeface="Arial Unicode MS"/>
              </a:rPr>
              <a:t>行為落差</a:t>
            </a:r>
            <a:r>
              <a:rPr sz="1150" lang="zh-TW" dirty="0">
                <a:solidFill>
                  <a:srgbClr val="000000"/>
                </a:solidFill>
                <a:latin typeface="Arial Unicode MS"/>
                <a:ea typeface="Arial Unicode MS"/>
                <a:cs typeface="Arial Unicode MS"/>
              </a:rPr>
              <a:t>。這一種對各位來說最有感覺。
</a:t>
            </a:r>
          </a:p>
          <a:p>
            <a:pPr algn="l">
              <a:lnSpc>
                <a:spcPct val="115000"/>
              </a:lnSpc>
              <a:spcAft>
                <a:spcPts val="575"/>
              </a:spcAft>
            </a:pPr>
            <a:r>
              <a:rPr sz="115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75"/>
              </a:spcAft>
            </a:pPr>
            <a:r>
              <a:rPr sz="1150" lang="zh-TW" dirty="0">
                <a:solidFill>
                  <a:srgbClr val="000000"/>
                </a:solidFill>
                <a:latin typeface="Arial Unicode MS"/>
                <a:ea typeface="Arial Unicode MS"/>
                <a:cs typeface="Arial Unicode MS"/>
              </a:rPr>
              <a:t>（問全班）真實世界的機車是這樣嗎？
</a:t>
            </a:r>
          </a:p>
          <a:p>
            <a:pPr algn="l">
              <a:lnSpc>
                <a:spcPct val="115000"/>
              </a:lnSpc>
              <a:spcAft>
                <a:spcPts val="575"/>
              </a:spcAft>
            </a:pPr>
            <a:r>
              <a:rPr sz="115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75"/>
              </a:spcAft>
            </a:pPr>
            <a:r>
              <a:rPr sz="1150" lang="zh-TW" dirty="0">
                <a:solidFill>
                  <a:srgbClr val="000000"/>
                </a:solidFill>
                <a:latin typeface="Arial Unicode MS"/>
                <a:ea typeface="Arial Unicode MS"/>
                <a:cs typeface="Arial Unicode MS"/>
              </a:rPr>
              <a:t>所以會發生一件很諷刺的事：</a:t>
            </a:r>
            <a:r>
              <a:rPr sz="1150" b="1" lang="zh-TW" dirty="0">
                <a:solidFill>
                  <a:srgbClr val="000000"/>
                </a:solidFill>
                <a:latin typeface="Arial Unicode MS"/>
                <a:ea typeface="Arial Unicode MS"/>
                <a:cs typeface="Arial Unicode MS"/>
              </a:rPr>
              <a:t>一台在模擬裡表現完美的自駕車，丟到真的河內街頭，可能完全動不了</a:t>
            </a:r>
            <a:r>
              <a:rPr sz="1150" lang="zh-TW" dirty="0">
                <a:solidFill>
                  <a:srgbClr val="000000"/>
                </a:solidFill>
                <a:latin typeface="Arial Unicode MS"/>
                <a:ea typeface="Arial Unicode MS"/>
                <a:cs typeface="Arial Unicode MS"/>
              </a:rPr>
              <a:t>——因為它學到的規則，在那裡不適用。
</a:t>
            </a:r>
          </a:p>
          <a:p>
            <a:pPr algn="l">
              <a:lnSpc>
                <a:spcPct val="115000"/>
              </a:lnSpc>
              <a:spcAft>
                <a:spcPts val="575"/>
              </a:spcAft>
            </a:pPr>
            <a:r>
              <a:rPr sz="1150" lang="zh-TW" dirty="0">
                <a:solidFill>
                  <a:srgbClr val="000000"/>
                </a:solidFill>
                <a:latin typeface="Arial Unicode MS"/>
                <a:ea typeface="Arial Unicode MS"/>
                <a:cs typeface="Arial Unicode MS"/>
              </a:rPr>
              <a:t>解法是什麼？把</a:t>
            </a:r>
            <a:r>
              <a:rPr sz="1150" b="1" lang="zh-TW" dirty="0">
                <a:solidFill>
                  <a:srgbClr val="000000"/>
                </a:solidFill>
                <a:latin typeface="Arial Unicode MS"/>
                <a:ea typeface="Arial Unicode MS"/>
                <a:cs typeface="Arial Unicode MS"/>
              </a:rPr>
              <a:t>真實道路上錄到的軌跡回放進模擬</a:t>
            </a:r>
            <a:r>
              <a:rPr sz="115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75"/>
              </a:spcAft>
            </a:pPr>
            <a:r>
              <a:rPr sz="1150" lang="zh-TW" dirty="0">
                <a:solidFill>
                  <a:srgbClr val="000000"/>
                </a:solidFill>
                <a:latin typeface="Arial Unicode MS"/>
                <a:ea typeface="Arial Unicode MS"/>
                <a:cs typeface="Arial Unicode MS"/>
              </a:rPr>
              <a:t>但這裡有個問題留給各位想：</a:t>
            </a:r>
            <a:r>
              <a:rPr sz="1150" b="1" lang="zh-TW" dirty="0">
                <a:solidFill>
                  <a:srgbClr val="000000"/>
                </a:solidFill>
                <a:latin typeface="Arial Unicode MS"/>
                <a:ea typeface="Arial Unicode MS"/>
                <a:cs typeface="Arial Unicode MS"/>
              </a:rPr>
              <a:t>要回放河內的軌跡，你得先有河內的軌跡。</a:t>
            </a:r>
            <a:r>
              <a:rPr sz="1150" lang="zh-TW" dirty="0">
                <a:solidFill>
                  <a:srgbClr val="000000"/>
                </a:solidFill>
                <a:latin typeface="Arial Unicode MS"/>
                <a:ea typeface="Arial Unicode MS"/>
                <a:cs typeface="Arial Unicode MS"/>
              </a:rPr>
              <a:t>誰有？
</a:t>
            </a:r>
          </a:p>
          <a:p>
            <a:pPr algn="l">
              <a:lnSpc>
                <a:spcPct val="115000"/>
              </a:lnSpc>
              <a:spcAft>
                <a:spcPts val="575"/>
              </a:spcAft>
            </a:pPr>
            <a:r>
              <a:rPr sz="1150" lang="zh-TW" dirty="0">
                <a:solidFill>
                  <a:srgbClr val="000000"/>
                </a:solidFill>
                <a:latin typeface="Arial Unicode MS"/>
                <a:ea typeface="Arial Unicode MS"/>
                <a:cs typeface="Arial Unicode MS"/>
              </a:rPr>
              <a:t>答案是：要自己去收。
</a:t>
            </a:r>
          </a:p>
          <a:p>
            <a:pPr algn="l">
              <a:lnSpc>
                <a:spcPct val="115000"/>
              </a:lnSpc>
              <a:spcAft>
                <a:spcPts val="575"/>
              </a:spcAft>
            </a:pPr>
            <a:r>
              <a:rPr sz="1150" lang="zh-TW" dirty="0">
                <a:solidFill>
                  <a:srgbClr val="000000"/>
                </a:solidFill>
                <a:latin typeface="Arial Unicode MS"/>
                <a:ea typeface="Arial Unicode MS"/>
                <a:cs typeface="Arial Unicode MS"/>
              </a:rPr>
              <a:t>對。這就是為什麼「做一個台灣或越南的交通行為模型」是很有價值的題目——</a:t>
            </a:r>
            <a:r>
              <a:rPr sz="115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第三種：</a:t>
            </a:r>
            <a:r>
              <a:rPr sz="1100" b="1" lang="zh-TW" dirty="0">
                <a:solidFill>
                  <a:srgbClr val="000000"/>
                </a:solidFill>
                <a:latin typeface="Arial Unicode MS"/>
                <a:ea typeface="Arial Unicode MS"/>
                <a:cs typeface="Arial Unicode MS"/>
              </a:rPr>
              <a:t>物理落差</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100" b="1" lang="zh-TW" dirty="0">
                <a:solidFill>
                  <a:srgbClr val="000000"/>
                </a:solidFill>
                <a:latin typeface="Arial Unicode MS"/>
                <a:ea typeface="Arial Unicode MS"/>
                <a:cs typeface="Arial Unicode MS"/>
              </a:rPr>
              <a:t>近似值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我們的模擬器更簡化：減速度就是一個固定的數字，</a:t>
            </a:r>
            <a:r>
              <a:rPr sz="1100" b="1" lang="zh-TW" dirty="0">
                <a:solidFill>
                  <a:srgbClr val="000000"/>
                </a:solidFill>
                <a:latin typeface="Arial Unicode MS"/>
                <a:ea typeface="Arial Unicode MS"/>
                <a:cs typeface="Arial Unicode MS"/>
              </a:rPr>
              <a:t>六</a:t>
            </a:r>
            <a:r>
              <a:rPr sz="11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50"/>
              </a:spcAft>
            </a:pPr>
            <a:r>
              <a:rPr sz="1100" lang="zh-TW" dirty="0">
                <a:solidFill>
                  <a:srgbClr val="000000"/>
                </a:solidFill>
                <a:latin typeface="Arial Unicode MS"/>
                <a:ea typeface="Arial Unicode MS"/>
                <a:cs typeface="Arial Unicode MS"/>
              </a:rPr>
              <a:t>真車呢？
</a:t>
            </a:r>
          </a:p>
          <a:p>
            <a:pPr algn="l">
              <a:lnSpc>
                <a:spcPct val="115000"/>
              </a:lnSpc>
              <a:spcAft>
                <a:spcPts val="550"/>
              </a:spcAft>
            </a:pPr>
            <a:r>
              <a:rPr sz="1100" lang="zh-TW" dirty="0">
                <a:solidFill>
                  <a:srgbClr val="000000"/>
                </a:solidFill>
                <a:latin typeface="Arial Unicode MS"/>
                <a:ea typeface="Arial Unicode MS"/>
                <a:cs typeface="Arial Unicode MS"/>
              </a:rPr>
              <a:t>（問全班）下雨天煞車，煞得住嗎？
</a:t>
            </a:r>
          </a:p>
          <a:p>
            <a:pPr algn="l">
              <a:lnSpc>
                <a:spcPct val="115000"/>
              </a:lnSpc>
              <a:spcAft>
                <a:spcPts val="550"/>
              </a:spcAft>
            </a:pPr>
            <a:r>
              <a:rPr sz="1100" lang="zh-TW" dirty="0">
                <a:solidFill>
                  <a:srgbClr val="000000"/>
                </a:solidFill>
                <a:latin typeface="Arial Unicode MS"/>
                <a:ea typeface="Arial Unicode MS"/>
                <a:cs typeface="Arial Unicode MS"/>
              </a:rPr>
              <a:t>答案是比較難煞。
</a:t>
            </a:r>
          </a:p>
          <a:p>
            <a:pPr algn="l">
              <a:lnSpc>
                <a:spcPct val="115000"/>
              </a:lnSpc>
              <a:spcAft>
                <a:spcPts val="550"/>
              </a:spcAft>
            </a:pPr>
            <a:r>
              <a:rPr sz="1100" b="1" lang="zh-TW" dirty="0">
                <a:solidFill>
                  <a:srgbClr val="000000"/>
                </a:solidFill>
                <a:latin typeface="Arial Unicode MS"/>
                <a:ea typeface="Arial Unicode MS"/>
                <a:cs typeface="Arial Unicode MS"/>
              </a:rPr>
              <a:t>濕路面的減速度大約只剩一半。</a:t>
            </a:r>
            <a:r>
              <a:rPr sz="11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50"/>
              </a:spcAft>
            </a:pPr>
            <a:r>
              <a:rPr sz="1100" lang="zh-TW" dirty="0">
                <a:solidFill>
                  <a:srgbClr val="000000"/>
                </a:solidFill>
                <a:latin typeface="Arial Unicode MS"/>
                <a:ea typeface="Arial Unicode MS"/>
                <a:cs typeface="Arial Unicode MS"/>
              </a:rPr>
              <a:t>我們回頭看剛剛那張表。所以那張表的數字，只在</a:t>
            </a:r>
            <a:r>
              <a:rPr sz="1100" b="1" lang="zh-TW" dirty="0">
                <a:solidFill>
                  <a:srgbClr val="000000"/>
                </a:solidFill>
                <a:latin typeface="Arial Unicode MS"/>
                <a:ea typeface="Arial Unicode MS"/>
                <a:cs typeface="Arial Unicode MS"/>
              </a:rPr>
              <a:t>乾的柏油路</a:t>
            </a:r>
            <a:r>
              <a:rPr sz="11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50"/>
              </a:spcAft>
            </a:pPr>
            <a:r>
              <a:rPr sz="1100" lang="zh-TW" dirty="0">
                <a:solidFill>
                  <a:srgbClr val="000000"/>
                </a:solidFill>
                <a:latin typeface="Arial Unicode MS"/>
                <a:ea typeface="Arial Unicode MS"/>
                <a:cs typeface="Arial Unicode MS"/>
              </a:rPr>
              <a:t>第三節各位打開雨天的時候會親眼看到這件事——而且會發現一個陷阱：</a:t>
            </a:r>
            <a:r>
              <a:rPr sz="11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75"/>
              </a:spcAft>
            </a:pPr>
            <a:r>
              <a:rPr sz="1150" b="1" lang="zh-TW" dirty="0">
                <a:solidFill>
                  <a:srgbClr val="000000"/>
                </a:solidFill>
                <a:latin typeface="Arial Unicode MS"/>
                <a:ea typeface="Arial Unicode MS"/>
                <a:cs typeface="Arial Unicode MS"/>
              </a:rPr>
              <a:t>模擬能做兩件真實世界做不到的事。</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第一件：</a:t>
            </a:r>
            <a:r>
              <a:rPr sz="1150" b="1" lang="zh-TW" dirty="0">
                <a:solidFill>
                  <a:srgbClr val="000000"/>
                </a:solidFill>
                <a:latin typeface="Arial Unicode MS"/>
                <a:ea typeface="Arial Unicode MS"/>
                <a:cs typeface="Arial Unicode MS"/>
              </a:rPr>
              <a:t>同一個情況重跑一萬次，每次只改一個參數。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75"/>
              </a:spcAft>
            </a:pPr>
            <a:r>
              <a:rPr sz="115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75"/>
              </a:spcAft>
            </a:pPr>
            <a:r>
              <a:rPr sz="1150" lang="zh-TW" dirty="0">
                <a:solidFill>
                  <a:srgbClr val="000000"/>
                </a:solidFill>
                <a:latin typeface="Arial Unicode MS"/>
                <a:ea typeface="Arial Unicode MS"/>
                <a:cs typeface="Arial Unicode MS"/>
              </a:rPr>
              <a:t>第二件，這件更重要：</a:t>
            </a:r>
            <a:r>
              <a:rPr sz="1150" b="1" lang="zh-TW" dirty="0">
                <a:solidFill>
                  <a:srgbClr val="000000"/>
                </a:solidFill>
                <a:latin typeface="Arial Unicode MS"/>
                <a:ea typeface="Arial Unicode MS"/>
                <a:cs typeface="Arial Unicode MS"/>
              </a:rPr>
              <a:t>讓行人剛好在最糟的時間點走出來。</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
</a:t>
            </a:r>
          </a:p>
          <a:p>
            <a:pPr algn="l">
              <a:lnSpc>
                <a:spcPct val="115000"/>
              </a:lnSpc>
              <a:spcAft>
                <a:spcPts val="575"/>
              </a:spcAft>
            </a:pPr>
            <a:r>
              <a:rPr sz="1150" lang="zh-TW" dirty="0">
                <a:solidFill>
                  <a:srgbClr val="000000"/>
                </a:solidFill>
                <a:latin typeface="Arial Unicode MS"/>
                <a:ea typeface="Arial Unicode MS"/>
                <a:cs typeface="Arial Unicode MS"/>
              </a:rPr>
              <a:t>這一句我想聽大家自己說出來。
</a:t>
            </a:r>
          </a:p>
          <a:p>
            <a:pPr algn="l">
              <a:lnSpc>
                <a:spcPct val="115000"/>
              </a:lnSpc>
              <a:spcAft>
                <a:spcPts val="575"/>
              </a:spcAft>
            </a:pPr>
            <a:r>
              <a:rPr sz="1150" lang="zh-TW" dirty="0">
                <a:solidFill>
                  <a:srgbClr val="000000"/>
                </a:solidFill>
                <a:latin typeface="Arial Unicode MS"/>
                <a:ea typeface="Arial Unicode MS"/>
                <a:cs typeface="Arial Unicode MS"/>
              </a:rPr>
              <a:t>技術上做得到，但</a:t>
            </a:r>
            <a:r>
              <a:rPr sz="1150" b="1" lang="zh-TW" dirty="0">
                <a:solidFill>
                  <a:srgbClr val="000000"/>
                </a:solidFill>
                <a:latin typeface="Arial Unicode MS"/>
                <a:ea typeface="Arial Unicode MS"/>
                <a:cs typeface="Arial Unicode MS"/>
              </a:rPr>
              <a:t>不可以做</a:t>
            </a:r>
            <a:r>
              <a:rPr sz="115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75"/>
              </a:spcAft>
            </a:pPr>
            <a:r>
              <a:rPr sz="1150" lang="zh-TW" dirty="0">
                <a:solidFill>
                  <a:srgbClr val="000000"/>
                </a:solidFill>
                <a:latin typeface="Arial Unicode MS"/>
                <a:ea typeface="Arial Unicode MS"/>
                <a:cs typeface="Arial Unicode MS"/>
              </a:rPr>
              <a:t>所以模擬不是「比較差的真實」，它是</a:t>
            </a:r>
            <a:r>
              <a:rPr sz="1150" b="1" lang="zh-TW" dirty="0">
                <a:solidFill>
                  <a:srgbClr val="000000"/>
                </a:solidFill>
                <a:latin typeface="Arial Unicode MS"/>
                <a:ea typeface="Arial Unicode MS"/>
                <a:cs typeface="Arial Unicode MS"/>
              </a:rPr>
              <a:t>另一種工具</a:t>
            </a:r>
            <a:r>
              <a:rPr sz="1150" lang="zh-TW" dirty="0">
                <a:solidFill>
                  <a:srgbClr val="000000"/>
                </a:solidFill>
                <a:latin typeface="Arial Unicode MS"/>
                <a:ea typeface="Arial Unicode MS"/>
                <a:cs typeface="Arial Unicode MS"/>
              </a:rPr>
              <a:t>。有些事只有它做得到。
</a:t>
            </a:r>
          </a:p>
          <a:p>
            <a:pPr algn="l">
              <a:lnSpc>
                <a:spcPct val="115000"/>
              </a:lnSpc>
              <a:spcAft>
                <a:spcPts val="575"/>
              </a:spcAft>
            </a:pPr>
            <a:r>
              <a:rPr sz="115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剛剛那三種落差，在台灣和越南</a:t>
            </a:r>
            <a:r>
              <a:rPr sz="1100" b="1" lang="zh-TW" dirty="0">
                <a:solidFill>
                  <a:srgbClr val="000000"/>
                </a:solidFill>
                <a:latin typeface="Arial Unicode MS"/>
                <a:ea typeface="Arial Unicode MS"/>
                <a:cs typeface="Arial Unicode MS"/>
              </a:rPr>
              <a:t>更大</a:t>
            </a:r>
            <a:r>
              <a:rPr sz="1100" lang="zh-TW" dirty="0">
                <a:solidFill>
                  <a:srgbClr val="000000"/>
                </a:solidFill>
                <a:latin typeface="Arial Unicode MS"/>
                <a:ea typeface="Arial Unicode MS"/>
                <a:cs typeface="Arial Unicode MS"/>
              </a:rPr>
              <a:t>。原因很單純：
</a:t>
            </a:r>
          </a:p>
          <a:p>
            <a:pPr algn="l">
              <a:lnSpc>
                <a:spcPct val="115000"/>
              </a:lnSpc>
              <a:spcAft>
                <a:spcPts val="550"/>
              </a:spcAft>
            </a:pPr>
            <a:r>
              <a:rPr sz="1100" lang="zh-TW" dirty="0">
                <a:solidFill>
                  <a:srgbClr val="000000"/>
                </a:solidFill>
                <a:latin typeface="Arial Unicode MS"/>
                <a:ea typeface="Arial Unicode MS"/>
                <a:cs typeface="Arial Unicode MS"/>
              </a:rPr>
              <a:t>現成的模擬器，裡面的世界、車輛、行為，</a:t>
            </a:r>
            <a:r>
              <a:rPr sz="1100" b="1" lang="zh-TW" dirty="0">
                <a:solidFill>
                  <a:srgbClr val="000000"/>
                </a:solidFill>
                <a:latin typeface="Arial Unicode MS"/>
                <a:ea typeface="Arial Unicode MS"/>
                <a:cs typeface="Arial Unicode MS"/>
              </a:rPr>
              <a:t>都是照歐美做的</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一欄一欄看。
</a:t>
            </a:r>
          </a:p>
          <a:p>
            <a:pPr algn="l">
              <a:lnSpc>
                <a:spcPct val="115000"/>
              </a:lnSpc>
              <a:spcAft>
                <a:spcPts val="550"/>
              </a:spcAft>
            </a:pPr>
            <a:r>
              <a:rPr sz="1100" b="1" lang="zh-TW" dirty="0">
                <a:solidFill>
                  <a:srgbClr val="000000"/>
                </a:solidFill>
                <a:latin typeface="Arial Unicode MS"/>
                <a:ea typeface="Arial Unicode MS"/>
                <a:cs typeface="Arial Unicode MS"/>
              </a:rPr>
              <a:t>外觀</a:t>
            </a:r>
            <a:r>
              <a:rPr sz="11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50"/>
              </a:spcAft>
            </a:pPr>
            <a:r>
              <a:rPr sz="1100" b="1" lang="zh-TW" dirty="0">
                <a:solidFill>
                  <a:srgbClr val="000000"/>
                </a:solidFill>
                <a:latin typeface="Arial Unicode MS"/>
                <a:ea typeface="Arial Unicode MS"/>
                <a:cs typeface="Arial Unicode MS"/>
              </a:rPr>
              <a:t>行為</a:t>
            </a:r>
            <a:r>
              <a:rPr sz="11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100" b="1" lang="zh-TW" dirty="0">
                <a:solidFill>
                  <a:srgbClr val="000000"/>
                </a:solidFill>
                <a:latin typeface="Arial Unicode MS"/>
                <a:ea typeface="Arial Unicode MS"/>
                <a:cs typeface="Arial Unicode MS"/>
              </a:rPr>
              <a:t>這種行為模型，現成的模擬器裡根本沒有。</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b="1" lang="zh-TW" dirty="0">
                <a:solidFill>
                  <a:srgbClr val="000000"/>
                </a:solidFill>
                <a:latin typeface="Arial Unicode MS"/>
                <a:ea typeface="Arial Unicode MS"/>
                <a:cs typeface="Arial Unicode MS"/>
              </a:rPr>
              <a:t>物理</a:t>
            </a:r>
            <a:r>
              <a:rPr sz="11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50"/>
              </a:spcAft>
            </a:pPr>
            <a:r>
              <a:rPr sz="1100" lang="zh-TW" dirty="0">
                <a:solidFill>
                  <a:srgbClr val="000000"/>
                </a:solidFill>
                <a:latin typeface="Arial Unicode MS"/>
                <a:ea typeface="Arial Unicode MS"/>
                <a:cs typeface="Arial Unicode MS"/>
              </a:rPr>
              <a:t>等一下請各組各講一個自己遇過的，我寫在白板上，分成三欄。這就是下一頁的討論。
</a:t>
            </a:r>
          </a:p>
          <a:p>
            <a:pPr algn="l">
              <a:lnSpc>
                <a:spcPct val="115000"/>
              </a:lnSpc>
              <a:spcAft>
                <a:spcPts val="550"/>
              </a:spcAft>
            </a:pPr>
            <a:r>
              <a:rPr sz="1100" lang="zh-TW" dirty="0">
                <a:solidFill>
                  <a:srgbClr val="000000"/>
                </a:solidFill>
                <a:latin typeface="Arial Unicode MS"/>
                <a:ea typeface="Arial Unicode MS"/>
                <a:cs typeface="Arial Unicode MS"/>
              </a:rPr>
              <a:t>所以看最下面那句話。這不是抱怨，這是機會：</a:t>
            </a:r>
            <a:r>
              <a:rPr sz="11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這是上週的回家作業，現在收。
</a:t>
            </a:r>
          </a:p>
          <a:p>
            <a:pPr algn="l">
              <a:lnSpc>
                <a:spcPct val="115000"/>
              </a:lnSpc>
              <a:spcAft>
                <a:spcPts val="525"/>
              </a:spcAft>
            </a:pPr>
            <a:r>
              <a:rPr sz="1050" lang="zh-TW" dirty="0">
                <a:solidFill>
                  <a:srgbClr val="000000"/>
                </a:solidFill>
                <a:latin typeface="Arial Unicode MS"/>
                <a:ea typeface="Arial Unicode MS"/>
                <a:cs typeface="Arial Unicode MS"/>
              </a:rPr>
              <a:t>四分鐘，每一組講一件，我在白板上分三欄記下來：外觀、行為、物理。
</a:t>
            </a:r>
          </a:p>
          <a:p>
            <a:pPr algn="l">
              <a:lnSpc>
                <a:spcPct val="115000"/>
              </a:lnSpc>
              <a:spcAft>
                <a:spcPts val="525"/>
              </a:spcAft>
            </a:pPr>
            <a:r>
              <a:rPr sz="1050" lang="zh-TW" dirty="0">
                <a:solidFill>
                  <a:srgbClr val="000000"/>
                </a:solidFill>
                <a:latin typeface="Arial Unicode MS"/>
                <a:ea typeface="Arial Unicode MS"/>
                <a:cs typeface="Arial Unicode MS"/>
              </a:rPr>
              <a:t>先讓全班猜一下：</a:t>
            </a:r>
            <a:r>
              <a:rPr sz="1050" b="1" lang="zh-TW" dirty="0">
                <a:solidFill>
                  <a:srgbClr val="000000"/>
                </a:solidFill>
                <a:latin typeface="Arial Unicode MS"/>
                <a:ea typeface="Arial Unicode MS"/>
                <a:cs typeface="Arial Unicode MS"/>
              </a:rPr>
              <a:t>哪一欄會最滿？</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大部分的人會猜行為，而且會猜對。
</a:t>
            </a:r>
          </a:p>
          <a:p>
            <a:pPr algn="l">
              <a:lnSpc>
                <a:spcPct val="115000"/>
              </a:lnSpc>
              <a:spcAft>
                <a:spcPts val="525"/>
              </a:spcAft>
            </a:pPr>
            <a:r>
              <a:rPr sz="1050" lang="zh-TW" dirty="0">
                <a:solidFill>
                  <a:srgbClr val="000000"/>
                </a:solidFill>
                <a:latin typeface="Arial Unicode MS"/>
                <a:ea typeface="Arial Unicode MS"/>
                <a:cs typeface="Arial Unicode MS"/>
              </a:rPr>
              <a:t>開始。
</a:t>
            </a:r>
          </a:p>
          <a:p>
            <a:pPr algn="l">
              <a:lnSpc>
                <a:spcPct val="115000"/>
              </a:lnSpc>
              <a:spcAft>
                <a:spcPts val="525"/>
              </a:spcAft>
            </a:pPr>
            <a:r>
              <a:rPr sz="10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a:lnSpc>
                <a:spcPct val="115000"/>
              </a:lnSpc>
              <a:spcAft>
                <a:spcPts val="525"/>
              </a:spcAft>
            </a:pPr>
            <a:r>
              <a:rPr sz="1050" b="1" lang="zh-TW" dirty="0">
                <a:solidFill>
                  <a:srgbClr val="000000"/>
                </a:solidFill>
                <a:latin typeface="Arial Unicode MS"/>
                <a:ea typeface="Arial Unicode MS"/>
                <a:cs typeface="Arial Unicode MS"/>
              </a:rPr>
              <a:t>老師要主動補一到兩個「物理」的例子</a:t>
            </a:r>
            <a:r>
              <a:rPr sz="1050" lang="zh-TW" dirty="0">
                <a:solidFill>
                  <a:srgbClr val="000000"/>
                </a:solidFill>
                <a:latin typeface="Arial Unicode MS"/>
                <a:ea typeface="Arial Unicode MS"/>
                <a:cs typeface="Arial Unicode MS"/>
              </a:rPr>
              <a:t>，因為學生通常想不到：
</a:t>
            </a:r>
          </a:p>
          <a:p>
            <a:pPr algn="l">
              <a:lnSpc>
                <a:spcPct val="115000"/>
              </a:lnSpc>
              <a:spcAft>
                <a:spcPts val="525"/>
              </a:spcAft>
            </a:pPr>
            <a:r>
              <a:rPr sz="10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25"/>
              </a:spcAft>
            </a:pPr>
            <a:r>
              <a:rPr sz="10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25"/>
              </a:spcAft>
            </a:pPr>
            <a:r>
              <a:rPr sz="1050" lang="zh-TW" dirty="0">
                <a:solidFill>
                  <a:srgbClr val="000000"/>
                </a:solidFill>
                <a:latin typeface="Arial Unicode MS"/>
                <a:ea typeface="Arial Unicode MS"/>
                <a:cs typeface="Arial Unicode MS"/>
              </a:rPr>
              <a:t>（補完之後說）看白板：三欄都有東西，而且都是各位自己講出來的。</a:t>
            </a:r>
            <a:r>
              <a:rPr sz="1050" b="1" lang="zh-TW" dirty="0">
                <a:solidFill>
                  <a:srgbClr val="000000"/>
                </a:solidFill>
                <a:latin typeface="Arial Unicode MS"/>
                <a:ea typeface="Arial Unicode MS"/>
                <a:cs typeface="Arial Unicode MS"/>
              </a:rPr>
              <a:t>這張白板就是台灣和越南版模擬器缺的東西清單。</a:t>
            </a:r>
            <a:r>
              <a:rPr sz="105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第一節到這裡。三句話帶走。
</a:t>
            </a:r>
          </a:p>
          <a:p>
            <a:pPr algn="l">
              <a:lnSpc>
                <a:spcPct val="115000"/>
              </a:lnSpc>
              <a:spcAft>
                <a:spcPts val="6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6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6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600"/>
              </a:spcAft>
            </a:pPr>
            <a:r>
              <a:rPr sz="1200" lang="zh-TW" dirty="0">
                <a:solidFill>
                  <a:srgbClr val="000000"/>
                </a:solidFill>
                <a:latin typeface="Arial Unicode MS"/>
                <a:ea typeface="Arial Unicode MS"/>
                <a:cs typeface="Arial Unicode MS"/>
              </a:rPr>
              <a:t>休息十分鐘。
</a:t>
            </a:r>
          </a:p>
          <a:p>
            <a:pPr algn="l">
              <a:lnSpc>
                <a:spcPct val="115000"/>
              </a:lnSpc>
              <a:spcAft>
                <a:spcPts val="6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6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1418063" y="935550"/>
            <a:ext cx="5386500"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4</a:t>
            </a:r>
            <a:endParaRPr lang="en-US" sz="970" dirty="0"/>
          </a:p>
        </p:txBody>
      </p:sp>
      <p:sp>
        <p:nvSpPr>
          <p:cNvPr id="5" name="Text 3"/>
          <p:cNvSpPr txBox="1"/>
          <p:nvPr/>
        </p:nvSpPr>
        <p:spPr>
          <a:xfrm>
            <a:off x="1418063" y="1219050"/>
            <a:ext cx="5811750" cy="965055"/>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Ba thanh trượt tuần trước</a:t>
            </a:r>
            <a:endParaRPr lang="en-US" sz="2330" dirty="0"/>
          </a:p>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chính là ba dòng trong bảng thông số</a:t>
            </a:r>
            <a:endParaRPr lang="en-US" sz="2330" dirty="0"/>
          </a:p>
          <a:p>
            <a:pPr indent="0" marL="0">
              <a:lnSpc>
                <a:spcPct val="118000"/>
              </a:lnSpc>
              <a:buNone/>
            </a:pPr>
            <a:r>
              <a:rPr lang="en-US" sz="132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2330" dirty="0"/>
          </a:p>
        </p:txBody>
      </p:sp>
      <p:sp>
        <p:nvSpPr>
          <p:cNvPr id="6" name="Shape 4"/>
          <p:cNvSpPr/>
          <p:nvPr/>
        </p:nvSpPr>
        <p:spPr>
          <a:xfrm>
            <a:off x="1418063" y="2331867"/>
            <a:ext cx="1063125" cy="31894"/>
          </a:xfrm>
          <a:prstGeom prst="rect">
            <a:avLst/>
          </a:prstGeom>
          <a:solidFill>
            <a:srgbClr val="FFB020"/>
          </a:solidFill>
          <a:ln/>
        </p:spPr>
      </p:sp>
      <p:sp>
        <p:nvSpPr>
          <p:cNvPr id="7" name="Text 5"/>
          <p:cNvSpPr txBox="1"/>
          <p:nvPr/>
        </p:nvSpPr>
        <p:spPr>
          <a:xfrm>
            <a:off x="1418063" y="2487792"/>
            <a:ext cx="5528250" cy="474783"/>
          </a:xfrm>
          <a:prstGeom prst="rect">
            <a:avLst/>
          </a:prstGeom>
          <a:noFill/>
          <a:ln/>
        </p:spPr>
        <p:txBody>
          <a:bodyPr wrap="square" lIns="0" tIns="0" rIns="0" bIns="0" rtlCol="0" anchor="t"/>
          <a:lstStyle/>
          <a:p>
            <a:pPr indent="0" marL="0">
              <a:lnSpc>
                <a:spcPct val="120000"/>
              </a:lnSpc>
              <a:buNone/>
            </a:pPr>
            <a:r>
              <a:rPr lang="en-US" sz="112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120" dirty="0"/>
          </a:p>
          <a:p>
            <a:pPr indent="0" marL="0">
              <a:lnSpc>
                <a:spcPct val="120000"/>
              </a:lnSpc>
              <a:buNone/>
            </a:pPr>
            <a:r>
              <a:rPr lang="en-US" sz="97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120" dirty="0"/>
          </a:p>
        </p:txBody>
      </p:sp>
      <p:sp>
        <p:nvSpPr>
          <p:cNvPr id="8" name="Shape 6"/>
          <p:cNvSpPr/>
          <p:nvPr/>
        </p:nvSpPr>
        <p:spPr>
          <a:xfrm>
            <a:off x="1418063" y="3019275"/>
            <a:ext cx="4606875" cy="297675"/>
          </a:xfrm>
          <a:prstGeom prst="roundRect">
            <a:avLst>
              <a:gd name="adj" fmla="val 16667"/>
            </a:avLst>
          </a:prstGeom>
          <a:solidFill>
            <a:srgbClr val="13314F"/>
          </a:solidFill>
          <a:ln/>
        </p:spPr>
      </p:sp>
      <p:sp>
        <p:nvSpPr>
          <p:cNvPr id="9" name="Text 7"/>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810" dirty="0"/>
          </a:p>
        </p:txBody>
      </p:sp>
      <p:sp>
        <p:nvSpPr>
          <p:cNvPr id="10" name="Text 8"/>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90" dirty="0"/>
          </a:p>
        </p:txBody>
      </p:sp>
      <p:sp>
        <p:nvSpPr>
          <p:cNvPr id="12" name="Shape 9"/>
          <p:cNvSpPr/>
          <p:nvPr/>
        </p:nvSpPr>
        <p:spPr>
          <a:xfrm>
            <a:off x="1304663" y="240975"/>
            <a:ext cx="1715175" cy="581175"/>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Mở mô phỏng trên máy tính của bạn</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在你的筆電上打開模擬器</a:t>
            </a:r>
            <a:endParaRPr lang="en-US" sz="1750" dirty="0"/>
          </a:p>
        </p:txBody>
      </p:sp>
      <p:sp>
        <p:nvSpPr>
          <p:cNvPr id="3" name="Shape 1"/>
          <p:cNvSpPr/>
          <p:nvPr/>
        </p:nvSpPr>
        <p:spPr>
          <a:xfrm>
            <a:off x="6000519" y="903757"/>
            <a:ext cx="1916839" cy="209175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029672" y="2733135"/>
            <a:ext cx="1858532" cy="247804"/>
          </a:xfrm>
          <a:prstGeom prst="rect">
            <a:avLst/>
          </a:prstGeom>
          <a:noFill/>
          <a:ln/>
        </p:spPr>
        <p:txBody>
          <a:bodyPr wrap="square" lIns="0" tIns="0" rIns="0" bIns="0" rtlCol="0" anchor="t"/>
          <a:lstStyle/>
          <a:p>
            <a:pPr algn="ctr" indent="0" marL="0">
              <a:lnSpc>
                <a:spcPct val="105000"/>
              </a:lnSpc>
              <a:buNone/>
            </a:pPr>
            <a:r>
              <a:rPr lang="en-US" sz="840" b="1" dirty="0">
                <a:solidFill>
                  <a:srgbClr val="5F7183"/>
                </a:solidFill>
                <a:latin typeface="Arial" pitchFamily="34" charset="0"/>
                <a:ea typeface="Arial" pitchFamily="34" charset="-122"/>
                <a:cs typeface="Arial" pitchFamily="34" charset="-120"/>
              </a:rPr>
              <a:t>Quét mã QR bằng camera điện thoại</a:t>
            </a:r>
            <a:endParaRPr lang="en-US" sz="840" dirty="0"/>
          </a:p>
          <a:p>
            <a:pPr algn="ctr" indent="0" marL="0">
              <a:lnSpc>
                <a:spcPct val="105000"/>
              </a:lnSpc>
              <a:buNone/>
            </a:pPr>
            <a:r>
              <a:rPr lang="en-US" sz="760" dirty="0">
                <a:solidFill>
                  <a:srgbClr val="5F7183"/>
                </a:solidFill>
                <a:latin typeface="微軟正黑體" pitchFamily="34" charset="0"/>
                <a:ea typeface="微軟正黑體" pitchFamily="34" charset="-122"/>
                <a:cs typeface="微軟正黑體" pitchFamily="34" charset="-120"/>
              </a:rPr>
              <a:t>用手機相機掃這個 QR</a:t>
            </a:r>
            <a:endParaRPr lang="en-US" sz="840" dirty="0"/>
          </a:p>
        </p:txBody>
      </p:sp>
      <p:sp>
        <p:nvSpPr>
          <p:cNvPr id="6" name="Shape 3"/>
          <p:cNvSpPr/>
          <p:nvPr/>
        </p:nvSpPr>
        <p:spPr>
          <a:xfrm>
            <a:off x="1328680" y="903757"/>
            <a:ext cx="4526072" cy="670529"/>
          </a:xfrm>
          <a:prstGeom prst="roundRect">
            <a:avLst>
              <a:gd name="adj" fmla="val 9783"/>
            </a:avLst>
          </a:prstGeom>
          <a:solidFill>
            <a:srgbClr val="0B1F3A"/>
          </a:solidFill>
          <a:ln/>
        </p:spPr>
      </p:sp>
      <p:sp>
        <p:nvSpPr>
          <p:cNvPr id="7" name="Text 4"/>
          <p:cNvSpPr txBox="1"/>
          <p:nvPr/>
        </p:nvSpPr>
        <p:spPr>
          <a:xfrm>
            <a:off x="1445293" y="976640"/>
            <a:ext cx="4292844" cy="52476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https://ch-neural.github.io/</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MITUST-Principles-of-Self-Driving-Cars/week4/sim/</a:t>
            </a:r>
            <a:endParaRPr lang="en-US" sz="1000" dirty="0"/>
          </a:p>
        </p:txBody>
      </p:sp>
      <p:sp>
        <p:nvSpPr>
          <p:cNvPr id="8" name="Shape 5"/>
          <p:cNvSpPr/>
          <p:nvPr/>
        </p:nvSpPr>
        <p:spPr>
          <a:xfrm>
            <a:off x="1357833" y="1720053"/>
            <a:ext cx="233228" cy="233228"/>
          </a:xfrm>
          <a:prstGeom prst="ellipse">
            <a:avLst/>
          </a:prstGeom>
          <a:solidFill>
            <a:srgbClr val="00A896"/>
          </a:solidFill>
          <a:ln/>
        </p:spPr>
      </p:sp>
      <p:sp>
        <p:nvSpPr>
          <p:cNvPr id="9" name="Text 6"/>
          <p:cNvSpPr txBox="1"/>
          <p:nvPr/>
        </p:nvSpPr>
        <p:spPr>
          <a:xfrm>
            <a:off x="1357833" y="1727341"/>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1</a:t>
            </a:r>
            <a:endParaRPr lang="en-US" sz="880" dirty="0"/>
          </a:p>
        </p:txBody>
      </p:sp>
      <p:sp>
        <p:nvSpPr>
          <p:cNvPr id="10" name="Text 7"/>
          <p:cNvSpPr txBox="1"/>
          <p:nvPr/>
        </p:nvSpPr>
        <p:spPr>
          <a:xfrm>
            <a:off x="1678521" y="1690900"/>
            <a:ext cx="4117924" cy="364418"/>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920" dirty="0"/>
          </a:p>
        </p:txBody>
      </p:sp>
      <p:sp>
        <p:nvSpPr>
          <p:cNvPr id="11" name="Shape 8"/>
          <p:cNvSpPr/>
          <p:nvPr/>
        </p:nvSpPr>
        <p:spPr>
          <a:xfrm>
            <a:off x="1357833" y="2188239"/>
            <a:ext cx="233228" cy="233228"/>
          </a:xfrm>
          <a:prstGeom prst="ellipse">
            <a:avLst/>
          </a:prstGeom>
          <a:solidFill>
            <a:srgbClr val="00A896"/>
          </a:solidFill>
          <a:ln/>
        </p:spPr>
      </p:sp>
      <p:sp>
        <p:nvSpPr>
          <p:cNvPr id="12" name="Text 9"/>
          <p:cNvSpPr txBox="1"/>
          <p:nvPr/>
        </p:nvSpPr>
        <p:spPr>
          <a:xfrm>
            <a:off x="1357833" y="2195527"/>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2</a:t>
            </a:r>
            <a:endParaRPr lang="en-US" sz="880" dirty="0"/>
          </a:p>
        </p:txBody>
      </p:sp>
      <p:sp>
        <p:nvSpPr>
          <p:cNvPr id="13" name="Text 10"/>
          <p:cNvSpPr txBox="1"/>
          <p:nvPr/>
        </p:nvSpPr>
        <p:spPr>
          <a:xfrm>
            <a:off x="1678521" y="2159085"/>
            <a:ext cx="4117924" cy="364418"/>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Mở xong bấm «Bắt đầu» cho xe chạy thử một vòng</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920" dirty="0"/>
          </a:p>
        </p:txBody>
      </p:sp>
      <p:sp>
        <p:nvSpPr>
          <p:cNvPr id="14" name="Shape 11"/>
          <p:cNvSpPr/>
          <p:nvPr/>
        </p:nvSpPr>
        <p:spPr>
          <a:xfrm>
            <a:off x="1357833" y="2581810"/>
            <a:ext cx="233228" cy="233228"/>
          </a:xfrm>
          <a:prstGeom prst="ellipse">
            <a:avLst/>
          </a:prstGeom>
          <a:solidFill>
            <a:srgbClr val="00A896"/>
          </a:solidFill>
          <a:ln/>
        </p:spPr>
      </p:sp>
      <p:sp>
        <p:nvSpPr>
          <p:cNvPr id="15" name="Text 12"/>
          <p:cNvSpPr txBox="1"/>
          <p:nvPr/>
        </p:nvSpPr>
        <p:spPr>
          <a:xfrm>
            <a:off x="1357833" y="2589098"/>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3</a:t>
            </a:r>
            <a:endParaRPr lang="en-US" sz="880" dirty="0"/>
          </a:p>
        </p:txBody>
      </p:sp>
      <p:sp>
        <p:nvSpPr>
          <p:cNvPr id="16" name="Text 13"/>
          <p:cNvSpPr txBox="1"/>
          <p:nvPr/>
        </p:nvSpPr>
        <p:spPr>
          <a:xfrm>
            <a:off x="1678521" y="2552657"/>
            <a:ext cx="4117924" cy="364418"/>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920" dirty="0"/>
          </a:p>
        </p:txBody>
      </p:sp>
      <p:sp>
        <p:nvSpPr>
          <p:cNvPr id="17" name="Shape 14"/>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96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882128" y="109728"/>
            <a:ext cx="1097280" cy="242439"/>
          </a:xfrm>
          <a:prstGeom prst="rect">
            <a:avLst/>
          </a:prstGeom>
        </p:spPr>
      </p:pic>
      <p:sp>
        <p:nvSpPr>
          <p:cNvPr id="21" name="Text 16"/>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2 / 18</a:t>
            </a:r>
            <a:endParaRPr lang="en-US" sz="720" dirty="0"/>
          </a:p>
        </p:txBody>
      </p:sp>
      <p:sp>
        <p:nvSpPr>
          <p:cNvPr id="22" name="Text 17"/>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Ba thanh trượt, ba thông số thật</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三個滑桿，三個真的規格</a:t>
            </a:r>
            <a:endParaRPr lang="en-US" sz="2330" dirty="0"/>
          </a:p>
        </p:txBody>
      </p:sp>
      <p:sp>
        <p:nvSpPr>
          <p:cNvPr id="7" name="Text 4"/>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3 / 18</a:t>
            </a:r>
            <a:endParaRPr lang="en-US" sz="720" dirty="0"/>
          </a:p>
        </p:txBody>
      </p:sp>
      <p:sp>
        <p:nvSpPr>
          <p:cNvPr id="8" name="Text 5"/>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1 / 3　Số tia · 射線數</a:t>
            </a:r>
            <a:endParaRPr lang="en-US" sz="1040" dirty="0"/>
          </a:p>
        </p:txBody>
      </p:sp>
      <p:sp>
        <p:nvSpPr>
          <p:cNvPr id="3" name="Shape 1"/>
          <p:cNvSpPr/>
          <p:nvPr/>
        </p:nvSpPr>
        <p:spPr>
          <a:xfrm>
            <a:off x="1315495" y="702527"/>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554940" y="956372"/>
            <a:ext cx="571459" cy="514544"/>
          </a:xfrm>
          <a:prstGeom prst="line">
            <a:avLst/>
          </a:prstGeom>
          <a:noFill/>
          <a:ln w="17780">
            <a:solidFill>
              <a:srgbClr val="2E6E4E"/>
            </a:solidFill>
            <a:prstDash val="solid"/>
          </a:ln>
        </p:spPr>
      </p:sp>
      <p:sp>
        <p:nvSpPr>
          <p:cNvPr id="5" name="Shape 3"/>
          <p:cNvSpPr/>
          <p:nvPr/>
        </p:nvSpPr>
        <p:spPr>
          <a:xfrm flipV="1">
            <a:off x="1554940" y="1109904"/>
            <a:ext cx="678964" cy="361011"/>
          </a:xfrm>
          <a:prstGeom prst="line">
            <a:avLst/>
          </a:prstGeom>
          <a:noFill/>
          <a:ln w="17780">
            <a:solidFill>
              <a:srgbClr val="2E6E4E"/>
            </a:solidFill>
            <a:prstDash val="solid"/>
          </a:ln>
        </p:spPr>
      </p:sp>
      <p:sp>
        <p:nvSpPr>
          <p:cNvPr id="6" name="Shape 4"/>
          <p:cNvSpPr/>
          <p:nvPr/>
        </p:nvSpPr>
        <p:spPr>
          <a:xfrm flipV="1">
            <a:off x="1554940" y="1284884"/>
            <a:ext cx="746132" cy="186032"/>
          </a:xfrm>
          <a:prstGeom prst="line">
            <a:avLst/>
          </a:prstGeom>
          <a:noFill/>
          <a:ln w="17780">
            <a:solidFill>
              <a:srgbClr val="2E6E4E"/>
            </a:solidFill>
            <a:prstDash val="solid"/>
          </a:ln>
        </p:spPr>
      </p:sp>
      <p:sp>
        <p:nvSpPr>
          <p:cNvPr id="7" name="Shape 5"/>
          <p:cNvSpPr/>
          <p:nvPr/>
        </p:nvSpPr>
        <p:spPr>
          <a:xfrm>
            <a:off x="1554940" y="1470916"/>
            <a:ext cx="768975" cy="1"/>
          </a:xfrm>
          <a:prstGeom prst="line">
            <a:avLst/>
          </a:prstGeom>
          <a:noFill/>
          <a:ln w="17780">
            <a:solidFill>
              <a:srgbClr val="2E6E4E"/>
            </a:solidFill>
            <a:prstDash val="solid"/>
          </a:ln>
        </p:spPr>
      </p:sp>
      <p:sp>
        <p:nvSpPr>
          <p:cNvPr id="8" name="Shape 6"/>
          <p:cNvSpPr/>
          <p:nvPr/>
        </p:nvSpPr>
        <p:spPr>
          <a:xfrm>
            <a:off x="1554940" y="1470916"/>
            <a:ext cx="678964" cy="361011"/>
          </a:xfrm>
          <a:prstGeom prst="line">
            <a:avLst/>
          </a:prstGeom>
          <a:noFill/>
          <a:ln w="17780">
            <a:solidFill>
              <a:srgbClr val="2E6E4E"/>
            </a:solidFill>
            <a:prstDash val="solid"/>
          </a:ln>
        </p:spPr>
      </p:sp>
      <p:sp>
        <p:nvSpPr>
          <p:cNvPr id="9" name="Shape 7"/>
          <p:cNvSpPr/>
          <p:nvPr/>
        </p:nvSpPr>
        <p:spPr>
          <a:xfrm>
            <a:off x="1554940" y="1470916"/>
            <a:ext cx="571459" cy="514544"/>
          </a:xfrm>
          <a:prstGeom prst="line">
            <a:avLst/>
          </a:prstGeom>
          <a:noFill/>
          <a:ln w="17780">
            <a:solidFill>
              <a:srgbClr val="2E6E4E"/>
            </a:solidFill>
            <a:prstDash val="solid"/>
          </a:ln>
        </p:spPr>
      </p:sp>
      <p:sp>
        <p:nvSpPr>
          <p:cNvPr id="10" name="Shape 8"/>
          <p:cNvSpPr/>
          <p:nvPr/>
        </p:nvSpPr>
        <p:spPr>
          <a:xfrm>
            <a:off x="1518570" y="1434545"/>
            <a:ext cx="72741" cy="72741"/>
          </a:xfrm>
          <a:prstGeom prst="ellipse">
            <a:avLst/>
          </a:prstGeom>
          <a:solidFill>
            <a:srgbClr val="2E6E4E"/>
          </a:solidFill>
          <a:ln/>
        </p:spPr>
      </p:sp>
      <p:sp>
        <p:nvSpPr>
          <p:cNvPr id="11" name="Shape 9"/>
          <p:cNvSpPr/>
          <p:nvPr/>
        </p:nvSpPr>
        <p:spPr>
          <a:xfrm>
            <a:off x="2040198" y="1552900"/>
            <a:ext cx="103916" cy="103916"/>
          </a:xfrm>
          <a:prstGeom prst="roundRect">
            <a:avLst>
              <a:gd name="adj" fmla="val 20000"/>
            </a:avLst>
          </a:prstGeom>
          <a:solidFill>
            <a:srgbClr val="D9463E"/>
          </a:solidFill>
          <a:ln/>
        </p:spPr>
      </p:sp>
      <p:sp>
        <p:nvSpPr>
          <p:cNvPr id="12" name="Text 10"/>
          <p:cNvSpPr txBox="1"/>
          <p:nvPr/>
        </p:nvSpPr>
        <p:spPr>
          <a:xfrm>
            <a:off x="2749821" y="629347"/>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440" dirty="0"/>
          </a:p>
        </p:txBody>
      </p:sp>
      <p:sp>
        <p:nvSpPr>
          <p:cNvPr id="13" name="Shape 11"/>
          <p:cNvSpPr/>
          <p:nvPr/>
        </p:nvSpPr>
        <p:spPr>
          <a:xfrm>
            <a:off x="2749821" y="1332747"/>
            <a:ext cx="848887" cy="320216"/>
          </a:xfrm>
          <a:prstGeom prst="roundRect">
            <a:avLst>
              <a:gd name="adj" fmla="val 13712"/>
            </a:avLst>
          </a:prstGeom>
          <a:solidFill>
            <a:srgbClr val="0B1F3A"/>
          </a:solidFill>
          <a:ln/>
        </p:spPr>
      </p:sp>
      <p:sp>
        <p:nvSpPr>
          <p:cNvPr id="14" name="Text 12"/>
          <p:cNvSpPr txBox="1"/>
          <p:nvPr/>
        </p:nvSpPr>
        <p:spPr>
          <a:xfrm>
            <a:off x="2793729" y="13620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15" name="Text 13"/>
          <p:cNvSpPr txBox="1"/>
          <p:nvPr/>
        </p:nvSpPr>
        <p:spPr>
          <a:xfrm>
            <a:off x="3715795" y="13327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Resolution · độ phân giải</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Resolution　解析度</a:t>
            </a:r>
            <a:endParaRPr lang="en-US" sz="880" dirty="0"/>
          </a:p>
        </p:txBody>
      </p:sp>
      <p:sp>
        <p:nvSpPr>
          <p:cNvPr id="16" name="Shape 14"/>
          <p:cNvSpPr/>
          <p:nvPr/>
        </p:nvSpPr>
        <p:spPr>
          <a:xfrm>
            <a:off x="2749821" y="1748097"/>
            <a:ext cx="848887" cy="320216"/>
          </a:xfrm>
          <a:prstGeom prst="roundRect">
            <a:avLst>
              <a:gd name="adj" fmla="val 13712"/>
            </a:avLst>
          </a:prstGeom>
          <a:solidFill>
            <a:srgbClr val="007F72"/>
          </a:solidFill>
          <a:ln/>
        </p:spPr>
      </p:sp>
      <p:sp>
        <p:nvSpPr>
          <p:cNvPr id="17" name="Text 15"/>
          <p:cNvSpPr txBox="1"/>
          <p:nvPr/>
        </p:nvSpPr>
        <p:spPr>
          <a:xfrm>
            <a:off x="2793729" y="177736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我們的模擬器</a:t>
            </a:r>
            <a:endParaRPr lang="en-US" sz="720" dirty="0"/>
          </a:p>
        </p:txBody>
      </p:sp>
      <p:sp>
        <p:nvSpPr>
          <p:cNvPr id="18" name="Text 16"/>
          <p:cNvSpPr txBox="1"/>
          <p:nvPr/>
        </p:nvSpPr>
        <p:spPr>
          <a:xfrm>
            <a:off x="3715795" y="174809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3 đến 60 tia, bạn tự kéo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3 到 60 條，自己拉</a:t>
            </a:r>
            <a:endParaRPr lang="en-US" sz="880" dirty="0"/>
          </a:p>
        </p:txBody>
      </p:sp>
      <p:sp>
        <p:nvSpPr>
          <p:cNvPr id="19" name="Shape 17"/>
          <p:cNvSpPr/>
          <p:nvPr/>
        </p:nvSpPr>
        <p:spPr>
          <a:xfrm>
            <a:off x="2749821" y="2163448"/>
            <a:ext cx="848887" cy="320216"/>
          </a:xfrm>
          <a:prstGeom prst="roundRect">
            <a:avLst>
              <a:gd name="adj" fmla="val 13712"/>
            </a:avLst>
          </a:prstGeom>
          <a:solidFill>
            <a:srgbClr val="FFB020"/>
          </a:solidFill>
          <a:ln/>
        </p:spPr>
      </p:sp>
      <p:sp>
        <p:nvSpPr>
          <p:cNvPr id="20" name="Text 18"/>
          <p:cNvSpPr txBox="1"/>
          <p:nvPr/>
        </p:nvSpPr>
        <p:spPr>
          <a:xfrm>
            <a:off x="2793729" y="219272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Xe thật</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真車</a:t>
            </a:r>
            <a:endParaRPr lang="en-US" sz="720" dirty="0"/>
          </a:p>
        </p:txBody>
      </p:sp>
      <p:sp>
        <p:nvSpPr>
          <p:cNvPr id="21" name="Text 19"/>
          <p:cNvSpPr txBox="1"/>
          <p:nvPr/>
        </p:nvSpPr>
        <p:spPr>
          <a:xfrm>
            <a:off x="3715795" y="216344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880" dirty="0"/>
          </a:p>
        </p:txBody>
      </p:sp>
      <p:sp>
        <p:nvSpPr>
          <p:cNvPr id="22" name="Shape 20"/>
          <p:cNvSpPr/>
          <p:nvPr/>
        </p:nvSpPr>
        <p:spPr>
          <a:xfrm>
            <a:off x="2749821" y="2578798"/>
            <a:ext cx="848887" cy="320216"/>
          </a:xfrm>
          <a:prstGeom prst="roundRect">
            <a:avLst>
              <a:gd name="adj" fmla="val 13712"/>
            </a:avLst>
          </a:prstGeom>
          <a:solidFill>
            <a:srgbClr val="0B1F3A"/>
          </a:solidFill>
          <a:ln/>
        </p:spPr>
      </p:sp>
      <p:sp>
        <p:nvSpPr>
          <p:cNvPr id="23" name="Text 21"/>
          <p:cNvSpPr txBox="1"/>
          <p:nvPr/>
        </p:nvSpPr>
        <p:spPr>
          <a:xfrm>
            <a:off x="2793729" y="260807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nhỏ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調小會怎樣</a:t>
            </a:r>
            <a:endParaRPr lang="en-US" sz="720" dirty="0"/>
          </a:p>
        </p:txBody>
      </p:sp>
      <p:sp>
        <p:nvSpPr>
          <p:cNvPr id="24" name="Text 22"/>
          <p:cNvSpPr txBox="1"/>
          <p:nvPr/>
        </p:nvSpPr>
        <p:spPr>
          <a:xfrm>
            <a:off x="3715795" y="257879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880" dirty="0"/>
          </a:p>
        </p:txBody>
      </p:sp>
      <p:sp>
        <p:nvSpPr>
          <p:cNvPr id="25" name="Shape 23"/>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26" name="Text 24"/>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96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29" name="Text 25"/>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4 / 18</a:t>
            </a:r>
            <a:endParaRPr lang="en-US" sz="720" dirty="0"/>
          </a:p>
        </p:txBody>
      </p:sp>
      <p:sp>
        <p:nvSpPr>
          <p:cNvPr id="30" name="Text 26"/>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2 / 3　Chiều dài tia · 射線長度</a:t>
            </a:r>
            <a:endParaRPr lang="en-US" sz="1040" dirty="0"/>
          </a:p>
        </p:txBody>
      </p:sp>
      <p:sp>
        <p:nvSpPr>
          <p:cNvPr id="3" name="Shape 1"/>
          <p:cNvSpPr/>
          <p:nvPr/>
        </p:nvSpPr>
        <p:spPr>
          <a:xfrm>
            <a:off x="1315495" y="702527"/>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440633" y="1495223"/>
            <a:ext cx="249397" cy="114723"/>
          </a:xfrm>
          <a:prstGeom prst="roundRect">
            <a:avLst>
              <a:gd name="adj" fmla="val 22000"/>
            </a:avLst>
          </a:prstGeom>
          <a:solidFill>
            <a:srgbClr val="8FA3B5"/>
          </a:solidFill>
          <a:ln/>
        </p:spPr>
      </p:sp>
      <p:sp>
        <p:nvSpPr>
          <p:cNvPr id="5" name="Shape 3"/>
          <p:cNvSpPr/>
          <p:nvPr/>
        </p:nvSpPr>
        <p:spPr>
          <a:xfrm>
            <a:off x="1535404" y="1518167"/>
            <a:ext cx="84795" cy="68833"/>
          </a:xfrm>
          <a:prstGeom prst="roundRect">
            <a:avLst>
              <a:gd name="adj" fmla="val 23333"/>
            </a:avLst>
          </a:prstGeom>
          <a:solidFill>
            <a:srgbClr val="FFFFFF"/>
          </a:solidFill>
          <a:ln/>
        </p:spPr>
      </p:sp>
      <p:sp>
        <p:nvSpPr>
          <p:cNvPr id="6" name="Shape 4"/>
          <p:cNvSpPr/>
          <p:nvPr/>
        </p:nvSpPr>
        <p:spPr>
          <a:xfrm>
            <a:off x="1721204" y="1552584"/>
            <a:ext cx="519577" cy="1"/>
          </a:xfrm>
          <a:prstGeom prst="line">
            <a:avLst/>
          </a:prstGeom>
          <a:noFill/>
          <a:ln w="20320">
            <a:solidFill>
              <a:srgbClr val="8A5A00"/>
            </a:solidFill>
            <a:prstDash val="solid"/>
            <a:tailEnd type="triangle"/>
          </a:ln>
        </p:spPr>
      </p:sp>
      <p:sp>
        <p:nvSpPr>
          <p:cNvPr id="7" name="Shape 5"/>
          <p:cNvSpPr/>
          <p:nvPr/>
        </p:nvSpPr>
        <p:spPr>
          <a:xfrm>
            <a:off x="1851099" y="1484527"/>
            <a:ext cx="1" cy="136114"/>
          </a:xfrm>
          <a:prstGeom prst="line">
            <a:avLst/>
          </a:prstGeom>
          <a:noFill/>
          <a:ln w="12700">
            <a:solidFill>
              <a:srgbClr val="8A5A00"/>
            </a:solidFill>
            <a:prstDash val="solid"/>
          </a:ln>
        </p:spPr>
      </p:sp>
      <p:sp>
        <p:nvSpPr>
          <p:cNvPr id="8" name="Shape 6"/>
          <p:cNvSpPr/>
          <p:nvPr/>
        </p:nvSpPr>
        <p:spPr>
          <a:xfrm>
            <a:off x="1980993" y="1484527"/>
            <a:ext cx="1" cy="136114"/>
          </a:xfrm>
          <a:prstGeom prst="line">
            <a:avLst/>
          </a:prstGeom>
          <a:noFill/>
          <a:ln w="12700">
            <a:solidFill>
              <a:srgbClr val="8A5A00"/>
            </a:solidFill>
            <a:prstDash val="solid"/>
          </a:ln>
        </p:spPr>
      </p:sp>
      <p:sp>
        <p:nvSpPr>
          <p:cNvPr id="9" name="Shape 7"/>
          <p:cNvSpPr/>
          <p:nvPr/>
        </p:nvSpPr>
        <p:spPr>
          <a:xfrm>
            <a:off x="2110887" y="1484527"/>
            <a:ext cx="1" cy="136114"/>
          </a:xfrm>
          <a:prstGeom prst="line">
            <a:avLst/>
          </a:prstGeom>
          <a:noFill/>
          <a:ln w="12700">
            <a:solidFill>
              <a:srgbClr val="8A5A00"/>
            </a:solidFill>
            <a:prstDash val="solid"/>
          </a:ln>
        </p:spPr>
      </p:sp>
      <p:sp>
        <p:nvSpPr>
          <p:cNvPr id="10" name="Shape 8"/>
          <p:cNvSpPr/>
          <p:nvPr/>
        </p:nvSpPr>
        <p:spPr>
          <a:xfrm>
            <a:off x="2230390" y="1402858"/>
            <a:ext cx="72741" cy="299452"/>
          </a:xfrm>
          <a:prstGeom prst="roundRect">
            <a:avLst>
              <a:gd name="adj" fmla="val 21429"/>
            </a:avLst>
          </a:prstGeom>
          <a:solidFill>
            <a:srgbClr val="D9463E"/>
          </a:solidFill>
          <a:ln/>
        </p:spPr>
      </p:sp>
      <p:sp>
        <p:nvSpPr>
          <p:cNvPr id="11" name="Text 9"/>
          <p:cNvSpPr txBox="1"/>
          <p:nvPr/>
        </p:nvSpPr>
        <p:spPr>
          <a:xfrm>
            <a:off x="2749821" y="629347"/>
            <a:ext cx="5078684" cy="418052"/>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440" dirty="0"/>
          </a:p>
        </p:txBody>
      </p:sp>
      <p:sp>
        <p:nvSpPr>
          <p:cNvPr id="12" name="Shape 10"/>
          <p:cNvSpPr/>
          <p:nvPr/>
        </p:nvSpPr>
        <p:spPr>
          <a:xfrm>
            <a:off x="2749821" y="1120579"/>
            <a:ext cx="848887" cy="320216"/>
          </a:xfrm>
          <a:prstGeom prst="roundRect">
            <a:avLst>
              <a:gd name="adj" fmla="val 13712"/>
            </a:avLst>
          </a:prstGeom>
          <a:solidFill>
            <a:srgbClr val="0B1F3A"/>
          </a:solidFill>
          <a:ln/>
        </p:spPr>
      </p:sp>
      <p:sp>
        <p:nvSpPr>
          <p:cNvPr id="13" name="Text 11"/>
          <p:cNvSpPr txBox="1"/>
          <p:nvPr/>
        </p:nvSpPr>
        <p:spPr>
          <a:xfrm>
            <a:off x="2793729" y="114985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14" name="Text 12"/>
          <p:cNvSpPr txBox="1"/>
          <p:nvPr/>
        </p:nvSpPr>
        <p:spPr>
          <a:xfrm>
            <a:off x="3715795" y="112057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Range · tầm đo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Range　測距範圍</a:t>
            </a:r>
            <a:endParaRPr lang="en-US" sz="880" dirty="0"/>
          </a:p>
        </p:txBody>
      </p:sp>
      <p:sp>
        <p:nvSpPr>
          <p:cNvPr id="15" name="Shape 13"/>
          <p:cNvSpPr/>
          <p:nvPr/>
        </p:nvSpPr>
        <p:spPr>
          <a:xfrm>
            <a:off x="2749821" y="1535929"/>
            <a:ext cx="848887" cy="320216"/>
          </a:xfrm>
          <a:prstGeom prst="roundRect">
            <a:avLst>
              <a:gd name="adj" fmla="val 13712"/>
            </a:avLst>
          </a:prstGeom>
          <a:solidFill>
            <a:srgbClr val="007F72"/>
          </a:solidFill>
          <a:ln/>
        </p:spPr>
      </p:sp>
      <p:sp>
        <p:nvSpPr>
          <p:cNvPr id="16" name="Text 14"/>
          <p:cNvSpPr txBox="1"/>
          <p:nvPr/>
        </p:nvSpPr>
        <p:spPr>
          <a:xfrm>
            <a:off x="2793729" y="156520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我們的模擬器</a:t>
            </a:r>
            <a:endParaRPr lang="en-US" sz="720" dirty="0"/>
          </a:p>
        </p:txBody>
      </p:sp>
      <p:sp>
        <p:nvSpPr>
          <p:cNvPr id="17" name="Text 15"/>
          <p:cNvSpPr txBox="1"/>
          <p:nvPr/>
        </p:nvSpPr>
        <p:spPr>
          <a:xfrm>
            <a:off x="3715795" y="153592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10 đến 120 m</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10 到 120 公尺</a:t>
            </a:r>
            <a:endParaRPr lang="en-US" sz="880" dirty="0"/>
          </a:p>
        </p:txBody>
      </p:sp>
      <p:sp>
        <p:nvSpPr>
          <p:cNvPr id="18" name="Shape 16"/>
          <p:cNvSpPr/>
          <p:nvPr/>
        </p:nvSpPr>
        <p:spPr>
          <a:xfrm>
            <a:off x="2749821" y="1951279"/>
            <a:ext cx="848887" cy="320216"/>
          </a:xfrm>
          <a:prstGeom prst="roundRect">
            <a:avLst>
              <a:gd name="adj" fmla="val 13712"/>
            </a:avLst>
          </a:prstGeom>
          <a:solidFill>
            <a:srgbClr val="FFB020"/>
          </a:solidFill>
          <a:ln/>
        </p:spPr>
      </p:sp>
      <p:sp>
        <p:nvSpPr>
          <p:cNvPr id="19" name="Text 17"/>
          <p:cNvSpPr txBox="1"/>
          <p:nvPr/>
        </p:nvSpPr>
        <p:spPr>
          <a:xfrm>
            <a:off x="2793729" y="198055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LiDAR xe thật</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真車的光達</a:t>
            </a:r>
            <a:endParaRPr lang="en-US" sz="720" dirty="0"/>
          </a:p>
        </p:txBody>
      </p:sp>
      <p:sp>
        <p:nvSpPr>
          <p:cNvPr id="20" name="Text 18"/>
          <p:cNvSpPr txBox="1"/>
          <p:nvPr/>
        </p:nvSpPr>
        <p:spPr>
          <a:xfrm>
            <a:off x="3715795" y="195127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150 đến 300 m</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150 到 300 公尺</a:t>
            </a:r>
            <a:endParaRPr lang="en-US" sz="880" dirty="0"/>
          </a:p>
        </p:txBody>
      </p:sp>
      <p:sp>
        <p:nvSpPr>
          <p:cNvPr id="21" name="Shape 19"/>
          <p:cNvSpPr/>
          <p:nvPr/>
        </p:nvSpPr>
        <p:spPr>
          <a:xfrm>
            <a:off x="2749821" y="2366630"/>
            <a:ext cx="848887" cy="320216"/>
          </a:xfrm>
          <a:prstGeom prst="roundRect">
            <a:avLst>
              <a:gd name="adj" fmla="val 13712"/>
            </a:avLst>
          </a:prstGeom>
          <a:solidFill>
            <a:srgbClr val="0B1F3A"/>
          </a:solidFill>
          <a:ln/>
        </p:spPr>
      </p:sp>
      <p:sp>
        <p:nvSpPr>
          <p:cNvPr id="22" name="Text 20"/>
          <p:cNvSpPr txBox="1"/>
          <p:nvPr/>
        </p:nvSpPr>
        <p:spPr>
          <a:xfrm>
            <a:off x="2793729" y="239590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Ngắn quá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太短會怎樣</a:t>
            </a:r>
            <a:endParaRPr lang="en-US" sz="720" dirty="0"/>
          </a:p>
        </p:txBody>
      </p:sp>
      <p:sp>
        <p:nvSpPr>
          <p:cNvPr id="23" name="Text 21"/>
          <p:cNvSpPr txBox="1"/>
          <p:nvPr/>
        </p:nvSpPr>
        <p:spPr>
          <a:xfrm>
            <a:off x="3715795" y="236663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Thấy rồi cũng phanh không kịp — chắc chắn đâm</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看到了也煞不住——一定撞</a:t>
            </a:r>
            <a:endParaRPr lang="en-US" sz="880" dirty="0"/>
          </a:p>
        </p:txBody>
      </p:sp>
      <p:sp>
        <p:nvSpPr>
          <p:cNvPr id="24" name="Shape 22"/>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960" dirty="0"/>
          </a:p>
        </p:txBody>
      </p:sp>
      <p:pic>
        <p:nvPicPr>
          <p:cNvPr id="27"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28" name="Text 24"/>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5 / 18</a:t>
            </a:r>
            <a:endParaRPr lang="en-US" sz="720" dirty="0"/>
          </a:p>
        </p:txBody>
      </p:sp>
      <p:sp>
        <p:nvSpPr>
          <p:cNvPr id="29" name="Text 25"/>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3 / 3　Góc quét · 張角</a:t>
            </a:r>
            <a:endParaRPr lang="en-US" sz="1040" dirty="0"/>
          </a:p>
        </p:txBody>
      </p:sp>
      <p:sp>
        <p:nvSpPr>
          <p:cNvPr id="3" name="Shape 1"/>
          <p:cNvSpPr/>
          <p:nvPr/>
        </p:nvSpPr>
        <p:spPr>
          <a:xfrm>
            <a:off x="1315495" y="702527"/>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H="1" flipV="1">
            <a:off x="1649463" y="815016"/>
            <a:ext cx="258789" cy="383670"/>
          </a:xfrm>
          <a:prstGeom prst="line">
            <a:avLst/>
          </a:prstGeom>
          <a:noFill/>
          <a:ln w="15240">
            <a:solidFill>
              <a:srgbClr val="1F4E79"/>
            </a:solidFill>
            <a:prstDash val="solid"/>
          </a:ln>
        </p:spPr>
      </p:sp>
      <p:sp>
        <p:nvSpPr>
          <p:cNvPr id="5" name="Shape 3"/>
          <p:cNvSpPr/>
          <p:nvPr/>
        </p:nvSpPr>
        <p:spPr>
          <a:xfrm flipH="1" flipV="1">
            <a:off x="1772946" y="756118"/>
            <a:ext cx="135307" cy="442568"/>
          </a:xfrm>
          <a:prstGeom prst="line">
            <a:avLst/>
          </a:prstGeom>
          <a:noFill/>
          <a:ln w="15240">
            <a:solidFill>
              <a:srgbClr val="1F4E79"/>
            </a:solidFill>
            <a:prstDash val="solid"/>
          </a:ln>
        </p:spPr>
      </p:sp>
      <p:sp>
        <p:nvSpPr>
          <p:cNvPr id="6" name="Shape 4"/>
          <p:cNvSpPr/>
          <p:nvPr/>
        </p:nvSpPr>
        <p:spPr>
          <a:xfrm flipV="1">
            <a:off x="1908252" y="735897"/>
            <a:ext cx="1" cy="462790"/>
          </a:xfrm>
          <a:prstGeom prst="line">
            <a:avLst/>
          </a:prstGeom>
          <a:noFill/>
          <a:ln w="15240">
            <a:solidFill>
              <a:srgbClr val="1F4E79"/>
            </a:solidFill>
            <a:prstDash val="solid"/>
          </a:ln>
        </p:spPr>
      </p:sp>
      <p:sp>
        <p:nvSpPr>
          <p:cNvPr id="7" name="Shape 5"/>
          <p:cNvSpPr/>
          <p:nvPr/>
        </p:nvSpPr>
        <p:spPr>
          <a:xfrm flipV="1">
            <a:off x="1908252" y="756118"/>
            <a:ext cx="135307" cy="442568"/>
          </a:xfrm>
          <a:prstGeom prst="line">
            <a:avLst/>
          </a:prstGeom>
          <a:noFill/>
          <a:ln w="15240">
            <a:solidFill>
              <a:srgbClr val="1F4E79"/>
            </a:solidFill>
            <a:prstDash val="solid"/>
          </a:ln>
        </p:spPr>
      </p:sp>
      <p:sp>
        <p:nvSpPr>
          <p:cNvPr id="8" name="Shape 6"/>
          <p:cNvSpPr/>
          <p:nvPr/>
        </p:nvSpPr>
        <p:spPr>
          <a:xfrm flipV="1">
            <a:off x="1908252" y="815016"/>
            <a:ext cx="258789" cy="383670"/>
          </a:xfrm>
          <a:prstGeom prst="line">
            <a:avLst/>
          </a:prstGeom>
          <a:noFill/>
          <a:ln w="15240">
            <a:solidFill>
              <a:srgbClr val="1F4E79"/>
            </a:solidFill>
            <a:prstDash val="solid"/>
          </a:ln>
        </p:spPr>
      </p:sp>
      <p:sp>
        <p:nvSpPr>
          <p:cNvPr id="9" name="Shape 7"/>
          <p:cNvSpPr/>
          <p:nvPr/>
        </p:nvSpPr>
        <p:spPr>
          <a:xfrm>
            <a:off x="1879156" y="1169590"/>
            <a:ext cx="58193" cy="58193"/>
          </a:xfrm>
          <a:prstGeom prst="ellipse">
            <a:avLst/>
          </a:prstGeom>
          <a:solidFill>
            <a:srgbClr val="1F4E79"/>
          </a:solidFill>
          <a:ln/>
        </p:spPr>
      </p:sp>
      <p:sp>
        <p:nvSpPr>
          <p:cNvPr id="10" name="Shape 8"/>
          <p:cNvSpPr/>
          <p:nvPr/>
        </p:nvSpPr>
        <p:spPr>
          <a:xfrm flipH="1" flipV="1">
            <a:off x="1455576" y="1755817"/>
            <a:ext cx="452676" cy="96219"/>
          </a:xfrm>
          <a:prstGeom prst="line">
            <a:avLst/>
          </a:prstGeom>
          <a:noFill/>
          <a:ln w="15240">
            <a:solidFill>
              <a:srgbClr val="1F4E79"/>
            </a:solidFill>
            <a:prstDash val="solid"/>
          </a:ln>
        </p:spPr>
      </p:sp>
      <p:sp>
        <p:nvSpPr>
          <p:cNvPr id="11" name="Shape 9"/>
          <p:cNvSpPr/>
          <p:nvPr/>
        </p:nvSpPr>
        <p:spPr>
          <a:xfrm flipH="1" flipV="1">
            <a:off x="1617009" y="1492381"/>
            <a:ext cx="291243" cy="359655"/>
          </a:xfrm>
          <a:prstGeom prst="line">
            <a:avLst/>
          </a:prstGeom>
          <a:noFill/>
          <a:ln w="15240">
            <a:solidFill>
              <a:srgbClr val="1F4E79"/>
            </a:solidFill>
            <a:prstDash val="solid"/>
          </a:ln>
        </p:spPr>
      </p:sp>
      <p:sp>
        <p:nvSpPr>
          <p:cNvPr id="12" name="Shape 10"/>
          <p:cNvSpPr/>
          <p:nvPr/>
        </p:nvSpPr>
        <p:spPr>
          <a:xfrm flipV="1">
            <a:off x="1908252" y="1389247"/>
            <a:ext cx="1" cy="462790"/>
          </a:xfrm>
          <a:prstGeom prst="line">
            <a:avLst/>
          </a:prstGeom>
          <a:noFill/>
          <a:ln w="15240">
            <a:solidFill>
              <a:srgbClr val="1F4E79"/>
            </a:solidFill>
            <a:prstDash val="solid"/>
          </a:ln>
        </p:spPr>
      </p:sp>
      <p:sp>
        <p:nvSpPr>
          <p:cNvPr id="13" name="Shape 11"/>
          <p:cNvSpPr/>
          <p:nvPr/>
        </p:nvSpPr>
        <p:spPr>
          <a:xfrm flipV="1">
            <a:off x="1908252" y="1492381"/>
            <a:ext cx="291243" cy="359655"/>
          </a:xfrm>
          <a:prstGeom prst="line">
            <a:avLst/>
          </a:prstGeom>
          <a:noFill/>
          <a:ln w="15240">
            <a:solidFill>
              <a:srgbClr val="1F4E79"/>
            </a:solidFill>
            <a:prstDash val="solid"/>
          </a:ln>
        </p:spPr>
      </p:sp>
      <p:sp>
        <p:nvSpPr>
          <p:cNvPr id="14" name="Shape 12"/>
          <p:cNvSpPr/>
          <p:nvPr/>
        </p:nvSpPr>
        <p:spPr>
          <a:xfrm flipV="1">
            <a:off x="1908252" y="1755817"/>
            <a:ext cx="452676" cy="96219"/>
          </a:xfrm>
          <a:prstGeom prst="line">
            <a:avLst/>
          </a:prstGeom>
          <a:noFill/>
          <a:ln w="15240">
            <a:solidFill>
              <a:srgbClr val="1F4E79"/>
            </a:solidFill>
            <a:prstDash val="solid"/>
          </a:ln>
        </p:spPr>
      </p:sp>
      <p:sp>
        <p:nvSpPr>
          <p:cNvPr id="15" name="Shape 13"/>
          <p:cNvSpPr/>
          <p:nvPr/>
        </p:nvSpPr>
        <p:spPr>
          <a:xfrm>
            <a:off x="1879156" y="1822940"/>
            <a:ext cx="58193" cy="58193"/>
          </a:xfrm>
          <a:prstGeom prst="ellipse">
            <a:avLst/>
          </a:prstGeom>
          <a:solidFill>
            <a:srgbClr val="1F4E79"/>
          </a:solidFill>
          <a:ln/>
        </p:spPr>
      </p:sp>
      <p:sp>
        <p:nvSpPr>
          <p:cNvPr id="16" name="Text 14"/>
          <p:cNvSpPr txBox="1"/>
          <p:nvPr/>
        </p:nvSpPr>
        <p:spPr>
          <a:xfrm>
            <a:off x="2749821" y="629347"/>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張角 ＝ 視野：左右能看多寬</a:t>
            </a:r>
            <a:endParaRPr lang="en-US" sz="1440" dirty="0"/>
          </a:p>
        </p:txBody>
      </p:sp>
      <p:sp>
        <p:nvSpPr>
          <p:cNvPr id="17" name="Shape 15"/>
          <p:cNvSpPr/>
          <p:nvPr/>
        </p:nvSpPr>
        <p:spPr>
          <a:xfrm>
            <a:off x="2749821" y="1332747"/>
            <a:ext cx="848887" cy="320216"/>
          </a:xfrm>
          <a:prstGeom prst="roundRect">
            <a:avLst>
              <a:gd name="adj" fmla="val 13712"/>
            </a:avLst>
          </a:prstGeom>
          <a:solidFill>
            <a:srgbClr val="0B1F3A"/>
          </a:solidFill>
          <a:ln/>
        </p:spPr>
      </p:sp>
      <p:sp>
        <p:nvSpPr>
          <p:cNvPr id="18" name="Text 16"/>
          <p:cNvSpPr txBox="1"/>
          <p:nvPr/>
        </p:nvSpPr>
        <p:spPr>
          <a:xfrm>
            <a:off x="2793729" y="13620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19" name="Text 17"/>
          <p:cNvSpPr txBox="1"/>
          <p:nvPr/>
        </p:nvSpPr>
        <p:spPr>
          <a:xfrm>
            <a:off x="3715795" y="13327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Field of view (FOV) · góc nhìn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Field of view（FOV）　視野</a:t>
            </a:r>
            <a:endParaRPr lang="en-US" sz="880" dirty="0"/>
          </a:p>
        </p:txBody>
      </p:sp>
      <p:sp>
        <p:nvSpPr>
          <p:cNvPr id="20" name="Shape 18"/>
          <p:cNvSpPr/>
          <p:nvPr/>
        </p:nvSpPr>
        <p:spPr>
          <a:xfrm>
            <a:off x="2749821" y="1748097"/>
            <a:ext cx="848887" cy="320216"/>
          </a:xfrm>
          <a:prstGeom prst="roundRect">
            <a:avLst>
              <a:gd name="adj" fmla="val 13712"/>
            </a:avLst>
          </a:prstGeom>
          <a:solidFill>
            <a:srgbClr val="007F72"/>
          </a:solidFill>
          <a:ln/>
        </p:spPr>
      </p:sp>
      <p:sp>
        <p:nvSpPr>
          <p:cNvPr id="21" name="Text 19"/>
          <p:cNvSpPr txBox="1"/>
          <p:nvPr/>
        </p:nvSpPr>
        <p:spPr>
          <a:xfrm>
            <a:off x="2793729" y="177736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我們的模擬器</a:t>
            </a:r>
            <a:endParaRPr lang="en-US" sz="720" dirty="0"/>
          </a:p>
        </p:txBody>
      </p:sp>
      <p:sp>
        <p:nvSpPr>
          <p:cNvPr id="22" name="Text 20"/>
          <p:cNvSpPr txBox="1"/>
          <p:nvPr/>
        </p:nvSpPr>
        <p:spPr>
          <a:xfrm>
            <a:off x="3715795" y="174809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20° đến 180°</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20° 到 180°</a:t>
            </a:r>
            <a:endParaRPr lang="en-US" sz="880" dirty="0"/>
          </a:p>
        </p:txBody>
      </p:sp>
      <p:sp>
        <p:nvSpPr>
          <p:cNvPr id="23" name="Shape 21"/>
          <p:cNvSpPr/>
          <p:nvPr/>
        </p:nvSpPr>
        <p:spPr>
          <a:xfrm>
            <a:off x="2749821" y="2163448"/>
            <a:ext cx="848887" cy="320216"/>
          </a:xfrm>
          <a:prstGeom prst="roundRect">
            <a:avLst>
              <a:gd name="adj" fmla="val 13712"/>
            </a:avLst>
          </a:prstGeom>
          <a:solidFill>
            <a:srgbClr val="FFB020"/>
          </a:solidFill>
          <a:ln/>
        </p:spPr>
      </p:sp>
      <p:sp>
        <p:nvSpPr>
          <p:cNvPr id="24" name="Text 22"/>
          <p:cNvSpPr txBox="1"/>
          <p:nvPr/>
        </p:nvSpPr>
        <p:spPr>
          <a:xfrm>
            <a:off x="2793729" y="219272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Kéo hẹp thì sao</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調窄會怎樣</a:t>
            </a:r>
            <a:endParaRPr lang="en-US" sz="720" dirty="0"/>
          </a:p>
        </p:txBody>
      </p:sp>
      <p:sp>
        <p:nvSpPr>
          <p:cNvPr id="25" name="Text 23"/>
          <p:cNvSpPr txBox="1"/>
          <p:nvPr/>
        </p:nvSpPr>
        <p:spPr>
          <a:xfrm>
            <a:off x="3715795" y="216344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Xe máy tạt từ bên hông vào hoàn toàn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880" dirty="0"/>
          </a:p>
        </p:txBody>
      </p:sp>
      <p:sp>
        <p:nvSpPr>
          <p:cNvPr id="26" name="Shape 24"/>
          <p:cNvSpPr/>
          <p:nvPr/>
        </p:nvSpPr>
        <p:spPr>
          <a:xfrm>
            <a:off x="2749821" y="2578798"/>
            <a:ext cx="848887" cy="320216"/>
          </a:xfrm>
          <a:prstGeom prst="roundRect">
            <a:avLst>
              <a:gd name="adj" fmla="val 13712"/>
            </a:avLst>
          </a:prstGeom>
          <a:solidFill>
            <a:srgbClr val="0B1F3A"/>
          </a:solidFill>
          <a:ln/>
        </p:spPr>
      </p:sp>
      <p:sp>
        <p:nvSpPr>
          <p:cNvPr id="27" name="Text 25"/>
          <p:cNvSpPr txBox="1"/>
          <p:nvPr/>
        </p:nvSpPr>
        <p:spPr>
          <a:xfrm>
            <a:off x="2793729" y="260807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rộng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調寬會怎樣</a:t>
            </a:r>
            <a:endParaRPr lang="en-US" sz="720" dirty="0"/>
          </a:p>
        </p:txBody>
      </p:sp>
      <p:sp>
        <p:nvSpPr>
          <p:cNvPr id="28" name="Text 26"/>
          <p:cNvSpPr txBox="1"/>
          <p:nvPr/>
        </p:nvSpPr>
        <p:spPr>
          <a:xfrm>
            <a:off x="3715795" y="257879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880" dirty="0"/>
          </a:p>
        </p:txBody>
      </p:sp>
      <p:sp>
        <p:nvSpPr>
          <p:cNvPr id="29" name="Shape 27"/>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0" name="Text 28"/>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960" dirty="0"/>
          </a:p>
        </p:txBody>
      </p:sp>
      <p:pic>
        <p:nvPicPr>
          <p:cNvPr id="32"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33" name="Text 29"/>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6 / 18</a:t>
            </a:r>
            <a:endParaRPr lang="en-US" sz="720" dirty="0"/>
          </a:p>
        </p:txBody>
      </p:sp>
      <p:sp>
        <p:nvSpPr>
          <p:cNvPr id="34" name="Text 30"/>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1750" dirty="0"/>
          </a:p>
        </p:txBody>
      </p:sp>
      <p:sp>
        <p:nvSpPr>
          <p:cNvPr id="3" name="Shape 1"/>
          <p:cNvSpPr/>
          <p:nvPr/>
        </p:nvSpPr>
        <p:spPr>
          <a:xfrm>
            <a:off x="1328680" y="903757"/>
            <a:ext cx="4008598" cy="2142778"/>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1430717" y="2813307"/>
            <a:ext cx="3804524" cy="1"/>
          </a:xfrm>
          <a:prstGeom prst="line">
            <a:avLst/>
          </a:prstGeom>
          <a:noFill/>
          <a:ln w="25400">
            <a:solidFill>
              <a:srgbClr val="1A2733"/>
            </a:solidFill>
            <a:prstDash val="solid"/>
          </a:ln>
        </p:spPr>
      </p:sp>
      <p:sp>
        <p:nvSpPr>
          <p:cNvPr id="5" name="Shape 3"/>
          <p:cNvSpPr/>
          <p:nvPr/>
        </p:nvSpPr>
        <p:spPr>
          <a:xfrm>
            <a:off x="1561907" y="2478043"/>
            <a:ext cx="262381" cy="116614"/>
          </a:xfrm>
          <a:prstGeom prst="roundRect">
            <a:avLst>
              <a:gd name="adj" fmla="val 18750"/>
            </a:avLst>
          </a:prstGeom>
          <a:solidFill>
            <a:srgbClr val="D9E2EA"/>
          </a:solidFill>
          <a:ln/>
        </p:spPr>
      </p:sp>
      <p:sp>
        <p:nvSpPr>
          <p:cNvPr id="6" name="Shape 4"/>
          <p:cNvSpPr/>
          <p:nvPr/>
        </p:nvSpPr>
        <p:spPr>
          <a:xfrm>
            <a:off x="1503600" y="2594656"/>
            <a:ext cx="378995" cy="218651"/>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1547330" y="2762289"/>
            <a:ext cx="102037" cy="102037"/>
          </a:xfrm>
          <a:prstGeom prst="ellipse">
            <a:avLst/>
          </a:prstGeom>
          <a:solidFill>
            <a:srgbClr val="5F7183"/>
          </a:solidFill>
          <a:ln/>
        </p:spPr>
      </p:sp>
      <p:sp>
        <p:nvSpPr>
          <p:cNvPr id="8" name="Shape 6"/>
          <p:cNvSpPr/>
          <p:nvPr/>
        </p:nvSpPr>
        <p:spPr>
          <a:xfrm>
            <a:off x="1736828" y="2762289"/>
            <a:ext cx="102037" cy="102037"/>
          </a:xfrm>
          <a:prstGeom prst="ellipse">
            <a:avLst/>
          </a:prstGeom>
          <a:solidFill>
            <a:srgbClr val="5F7183"/>
          </a:solidFill>
          <a:ln/>
        </p:spPr>
      </p:sp>
      <p:sp>
        <p:nvSpPr>
          <p:cNvPr id="9" name="Shape 7"/>
          <p:cNvSpPr/>
          <p:nvPr/>
        </p:nvSpPr>
        <p:spPr>
          <a:xfrm>
            <a:off x="5060320" y="2384752"/>
            <a:ext cx="87460" cy="87460"/>
          </a:xfrm>
          <a:prstGeom prst="ellipse">
            <a:avLst/>
          </a:prstGeom>
          <a:solidFill>
            <a:srgbClr val="007F72"/>
          </a:solidFill>
          <a:ln/>
        </p:spPr>
      </p:sp>
      <p:sp>
        <p:nvSpPr>
          <p:cNvPr id="10" name="Shape 8"/>
          <p:cNvSpPr/>
          <p:nvPr/>
        </p:nvSpPr>
        <p:spPr>
          <a:xfrm>
            <a:off x="5034082" y="2480958"/>
            <a:ext cx="139937" cy="157428"/>
          </a:xfrm>
          <a:prstGeom prst="roundRect">
            <a:avLst>
              <a:gd name="adj" fmla="val 145833"/>
            </a:avLst>
          </a:prstGeom>
          <a:solidFill>
            <a:srgbClr val="007F72"/>
          </a:solidFill>
          <a:ln/>
        </p:spPr>
      </p:sp>
      <p:sp>
        <p:nvSpPr>
          <p:cNvPr id="11" name="Shape 9"/>
          <p:cNvSpPr/>
          <p:nvPr/>
        </p:nvSpPr>
        <p:spPr>
          <a:xfrm rot="960000">
            <a:off x="5010030" y="2494077"/>
            <a:ext cx="34984" cy="113698"/>
          </a:xfrm>
          <a:prstGeom prst="rect">
            <a:avLst/>
          </a:prstGeom>
          <a:solidFill>
            <a:srgbClr val="007F72"/>
          </a:solidFill>
          <a:ln/>
        </p:spPr>
      </p:sp>
      <p:sp>
        <p:nvSpPr>
          <p:cNvPr id="12" name="Shape 10"/>
          <p:cNvSpPr/>
          <p:nvPr/>
        </p:nvSpPr>
        <p:spPr>
          <a:xfrm rot="-960000">
            <a:off x="5163086" y="2494077"/>
            <a:ext cx="34984" cy="113698"/>
          </a:xfrm>
          <a:prstGeom prst="rect">
            <a:avLst/>
          </a:prstGeom>
          <a:solidFill>
            <a:srgbClr val="007F72"/>
          </a:solidFill>
          <a:ln/>
        </p:spPr>
      </p:sp>
      <p:sp>
        <p:nvSpPr>
          <p:cNvPr id="13" name="Shape 11"/>
          <p:cNvSpPr/>
          <p:nvPr/>
        </p:nvSpPr>
        <p:spPr>
          <a:xfrm rot="300000">
            <a:off x="5058134" y="2616521"/>
            <a:ext cx="39357" cy="157428"/>
          </a:xfrm>
          <a:prstGeom prst="rect">
            <a:avLst/>
          </a:prstGeom>
          <a:solidFill>
            <a:srgbClr val="007F72"/>
          </a:solidFill>
          <a:ln/>
        </p:spPr>
      </p:sp>
      <p:sp>
        <p:nvSpPr>
          <p:cNvPr id="14" name="Shape 12"/>
          <p:cNvSpPr/>
          <p:nvPr/>
        </p:nvSpPr>
        <p:spPr>
          <a:xfrm rot="-300000">
            <a:off x="5110610" y="2616521"/>
            <a:ext cx="39357" cy="157428"/>
          </a:xfrm>
          <a:prstGeom prst="rect">
            <a:avLst/>
          </a:prstGeom>
          <a:solidFill>
            <a:srgbClr val="007F72"/>
          </a:solidFill>
          <a:ln/>
        </p:spPr>
      </p:sp>
      <p:sp>
        <p:nvSpPr>
          <p:cNvPr id="15" name="Shape 13"/>
          <p:cNvSpPr/>
          <p:nvPr/>
        </p:nvSpPr>
        <p:spPr>
          <a:xfrm>
            <a:off x="1940902" y="1326482"/>
            <a:ext cx="594127" cy="218651"/>
          </a:xfrm>
          <a:prstGeom prst="rect">
            <a:avLst/>
          </a:prstGeom>
          <a:solidFill>
            <a:srgbClr val="E8A317"/>
          </a:solidFill>
          <a:ln/>
        </p:spPr>
      </p:sp>
      <p:sp>
        <p:nvSpPr>
          <p:cNvPr id="16" name="Text 14"/>
          <p:cNvSpPr txBox="1"/>
          <p:nvPr/>
        </p:nvSpPr>
        <p:spPr>
          <a:xfrm>
            <a:off x="1940902" y="1348347"/>
            <a:ext cx="594127" cy="174921"/>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4.2 m</a:t>
            </a:r>
            <a:endParaRPr lang="en-US" sz="920" dirty="0"/>
          </a:p>
        </p:txBody>
      </p:sp>
      <p:sp>
        <p:nvSpPr>
          <p:cNvPr id="17" name="Text 15"/>
          <p:cNvSpPr txBox="1"/>
          <p:nvPr/>
        </p:nvSpPr>
        <p:spPr>
          <a:xfrm>
            <a:off x="1795135" y="976640"/>
            <a:ext cx="885662" cy="320688"/>
          </a:xfrm>
          <a:prstGeom prst="rect">
            <a:avLst/>
          </a:prstGeom>
          <a:noFill/>
          <a:ln/>
        </p:spPr>
        <p:txBody>
          <a:bodyPr wrap="square" lIns="0" tIns="0" rIns="0" bIns="0" rtlCol="0" anchor="t"/>
          <a:lstStyle/>
          <a:p>
            <a:pPr algn="ctr" indent="0" marL="0">
              <a:lnSpc>
                <a:spcPct val="105000"/>
              </a:lnSpc>
              <a:buNone/>
            </a:pPr>
            <a:r>
              <a:rPr lang="en-US" sz="840" b="1" dirty="0">
                <a:solidFill>
                  <a:srgbClr val="E8A317"/>
                </a:solidFill>
                <a:latin typeface="Arial" pitchFamily="34" charset="0"/>
                <a:ea typeface="Arial" pitchFamily="34" charset="-122"/>
                <a:cs typeface="Arial" pitchFamily="34" charset="-120"/>
              </a:rPr>
              <a:t>Phản ứng</a:t>
            </a:r>
            <a:endParaRPr lang="en-US" sz="840" dirty="0"/>
          </a:p>
          <a:p>
            <a:pPr algn="ctr" indent="0" marL="0">
              <a:lnSpc>
                <a:spcPct val="105000"/>
              </a:lnSpc>
              <a:buNone/>
            </a:pPr>
            <a:r>
              <a:rPr lang="en-US" sz="760" dirty="0">
                <a:solidFill>
                  <a:srgbClr val="E8A317"/>
                </a:solidFill>
                <a:latin typeface="微軟正黑體" pitchFamily="34" charset="0"/>
                <a:ea typeface="微軟正黑體" pitchFamily="34" charset="-122"/>
                <a:cs typeface="微軟正黑體" pitchFamily="34" charset="-120"/>
              </a:rPr>
              <a:t>反應距離</a:t>
            </a:r>
            <a:endParaRPr lang="en-US" sz="840" dirty="0"/>
          </a:p>
        </p:txBody>
      </p:sp>
      <p:sp>
        <p:nvSpPr>
          <p:cNvPr id="18" name="Text 16"/>
          <p:cNvSpPr txBox="1"/>
          <p:nvPr/>
        </p:nvSpPr>
        <p:spPr>
          <a:xfrm>
            <a:off x="1751405" y="1603439"/>
            <a:ext cx="973122" cy="364418"/>
          </a:xfrm>
          <a:prstGeom prst="rect">
            <a:avLst/>
          </a:prstGeom>
          <a:noFill/>
          <a:ln/>
        </p:spPr>
        <p:txBody>
          <a:bodyPr wrap="square" lIns="0" tIns="0" rIns="0" bIns="0" rtlCol="0" anchor="t"/>
          <a:lstStyle/>
          <a:p>
            <a:pPr algn="ctr" indent="0" marL="0">
              <a:lnSpc>
                <a:spcPct val="104000"/>
              </a:lnSpc>
              <a:buNone/>
            </a:pPr>
            <a:r>
              <a:rPr lang="en-US" sz="760" b="1" dirty="0">
                <a:solidFill>
                  <a:srgbClr val="5F7183"/>
                </a:solidFill>
                <a:latin typeface="Arial" pitchFamily="34" charset="0"/>
                <a:ea typeface="Arial" pitchFamily="34" charset="-122"/>
                <a:cs typeface="Arial" pitchFamily="34" charset="-120"/>
              </a:rPr>
              <a:t>0,3 s — chân chưa chạm phanh</a:t>
            </a:r>
            <a:endParaRPr lang="en-US" sz="760" dirty="0"/>
          </a:p>
          <a:p>
            <a:pPr algn="ctr" indent="0" marL="0">
              <a:lnSpc>
                <a:spcPct val="104000"/>
              </a:lnSpc>
              <a:buNone/>
            </a:pPr>
            <a:r>
              <a:rPr lang="en-US" sz="700" dirty="0">
                <a:solidFill>
                  <a:srgbClr val="5F7183"/>
                </a:solidFill>
                <a:latin typeface="微軟正黑體" pitchFamily="34" charset="0"/>
                <a:ea typeface="微軟正黑體" pitchFamily="34" charset="-122"/>
                <a:cs typeface="微軟正黑體" pitchFamily="34" charset="-120"/>
              </a:rPr>
              <a:t>0.3 秒，腳還沒踩到</a:t>
            </a:r>
            <a:endParaRPr lang="en-US" sz="760" dirty="0"/>
          </a:p>
        </p:txBody>
      </p:sp>
      <p:sp>
        <p:nvSpPr>
          <p:cNvPr id="19" name="Shape 17"/>
          <p:cNvSpPr/>
          <p:nvPr/>
        </p:nvSpPr>
        <p:spPr>
          <a:xfrm>
            <a:off x="2535029" y="1326482"/>
            <a:ext cx="2277487" cy="218651"/>
          </a:xfrm>
          <a:prstGeom prst="rect">
            <a:avLst/>
          </a:prstGeom>
          <a:solidFill>
            <a:srgbClr val="D9463E"/>
          </a:solidFill>
          <a:ln/>
        </p:spPr>
      </p:sp>
      <p:sp>
        <p:nvSpPr>
          <p:cNvPr id="20" name="Text 18"/>
          <p:cNvSpPr txBox="1"/>
          <p:nvPr/>
        </p:nvSpPr>
        <p:spPr>
          <a:xfrm>
            <a:off x="2535029" y="1348347"/>
            <a:ext cx="2277487" cy="174921"/>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16.1 m</a:t>
            </a:r>
            <a:endParaRPr lang="en-US" sz="920" dirty="0"/>
          </a:p>
        </p:txBody>
      </p:sp>
      <p:sp>
        <p:nvSpPr>
          <p:cNvPr id="21" name="Text 19"/>
          <p:cNvSpPr txBox="1"/>
          <p:nvPr/>
        </p:nvSpPr>
        <p:spPr>
          <a:xfrm>
            <a:off x="2389262" y="976640"/>
            <a:ext cx="2569021" cy="320688"/>
          </a:xfrm>
          <a:prstGeom prst="rect">
            <a:avLst/>
          </a:prstGeom>
          <a:noFill/>
          <a:ln/>
        </p:spPr>
        <p:txBody>
          <a:bodyPr wrap="square" lIns="0" tIns="0" rIns="0" bIns="0" rtlCol="0" anchor="t"/>
          <a:lstStyle/>
          <a:p>
            <a:pPr algn="ctr" indent="0" marL="0">
              <a:lnSpc>
                <a:spcPct val="105000"/>
              </a:lnSpc>
              <a:buNone/>
            </a:pPr>
            <a:r>
              <a:rPr lang="en-US" sz="840" b="1" dirty="0">
                <a:solidFill>
                  <a:srgbClr val="D9463E"/>
                </a:solidFill>
                <a:latin typeface="Arial" pitchFamily="34" charset="0"/>
                <a:ea typeface="Arial" pitchFamily="34" charset="-122"/>
                <a:cs typeface="Arial" pitchFamily="34" charset="-120"/>
              </a:rPr>
              <a:t>Phanh</a:t>
            </a:r>
            <a:endParaRPr lang="en-US" sz="840" dirty="0"/>
          </a:p>
          <a:p>
            <a:pPr algn="ctr" indent="0" marL="0">
              <a:lnSpc>
                <a:spcPct val="105000"/>
              </a:lnSpc>
              <a:buNone/>
            </a:pPr>
            <a:r>
              <a:rPr lang="en-US" sz="760" dirty="0">
                <a:solidFill>
                  <a:srgbClr val="D9463E"/>
                </a:solidFill>
                <a:latin typeface="微軟正黑體" pitchFamily="34" charset="0"/>
                <a:ea typeface="微軟正黑體" pitchFamily="34" charset="-122"/>
                <a:cs typeface="微軟正黑體" pitchFamily="34" charset="-120"/>
              </a:rPr>
              <a:t>煞車距離</a:t>
            </a:r>
            <a:endParaRPr lang="en-US" sz="840" dirty="0"/>
          </a:p>
        </p:txBody>
      </p:sp>
      <p:sp>
        <p:nvSpPr>
          <p:cNvPr id="22" name="Text 20"/>
          <p:cNvSpPr txBox="1"/>
          <p:nvPr/>
        </p:nvSpPr>
        <p:spPr>
          <a:xfrm>
            <a:off x="2345532" y="1603439"/>
            <a:ext cx="2656481" cy="364418"/>
          </a:xfrm>
          <a:prstGeom prst="rect">
            <a:avLst/>
          </a:prstGeom>
          <a:noFill/>
          <a:ln/>
        </p:spPr>
        <p:txBody>
          <a:bodyPr wrap="square" lIns="0" tIns="0" rIns="0" bIns="0" rtlCol="0" anchor="t"/>
          <a:lstStyle/>
          <a:p>
            <a:pPr algn="ctr" indent="0" marL="0">
              <a:lnSpc>
                <a:spcPct val="104000"/>
              </a:lnSpc>
              <a:buNone/>
            </a:pPr>
            <a:r>
              <a:rPr lang="en-US" sz="760" b="1" dirty="0">
                <a:solidFill>
                  <a:srgbClr val="5F7183"/>
                </a:solidFill>
                <a:latin typeface="Arial" pitchFamily="34" charset="0"/>
                <a:ea typeface="Arial" pitchFamily="34" charset="-122"/>
                <a:cs typeface="Arial" pitchFamily="34" charset="-120"/>
              </a:rPr>
              <a:t>Tỉ lệ với BÌNH PHƯƠNG tốc độ</a:t>
            </a:r>
            <a:endParaRPr lang="en-US" sz="760" dirty="0"/>
          </a:p>
          <a:p>
            <a:pPr algn="ctr" indent="0" marL="0">
              <a:lnSpc>
                <a:spcPct val="104000"/>
              </a:lnSpc>
              <a:buNone/>
            </a:pPr>
            <a:r>
              <a:rPr lang="en-US" sz="700" dirty="0">
                <a:solidFill>
                  <a:srgbClr val="5F7183"/>
                </a:solidFill>
                <a:latin typeface="微軟正黑體" pitchFamily="34" charset="0"/>
                <a:ea typeface="微軟正黑體" pitchFamily="34" charset="-122"/>
                <a:cs typeface="微軟正黑體" pitchFamily="34" charset="-120"/>
              </a:rPr>
              <a:t>跟速度的平方成正比</a:t>
            </a:r>
            <a:endParaRPr lang="en-US" sz="760" dirty="0"/>
          </a:p>
        </p:txBody>
      </p:sp>
      <p:sp>
        <p:nvSpPr>
          <p:cNvPr id="23" name="Shape 21"/>
          <p:cNvSpPr/>
          <p:nvPr/>
        </p:nvSpPr>
        <p:spPr>
          <a:xfrm>
            <a:off x="2535029" y="1282751"/>
            <a:ext cx="1" cy="306111"/>
          </a:xfrm>
          <a:prstGeom prst="line">
            <a:avLst/>
          </a:prstGeom>
          <a:noFill/>
          <a:ln w="19050">
            <a:solidFill>
              <a:srgbClr val="FFFFFF"/>
            </a:solidFill>
            <a:prstDash val="solid"/>
          </a:ln>
        </p:spPr>
      </p:sp>
      <p:sp>
        <p:nvSpPr>
          <p:cNvPr id="24" name="Shape 22"/>
          <p:cNvSpPr/>
          <p:nvPr/>
        </p:nvSpPr>
        <p:spPr>
          <a:xfrm>
            <a:off x="1940902" y="2055318"/>
            <a:ext cx="2871614" cy="1"/>
          </a:xfrm>
          <a:prstGeom prst="line">
            <a:avLst/>
          </a:prstGeom>
          <a:noFill/>
          <a:ln w="12700">
            <a:solidFill>
              <a:srgbClr val="0B1F3A"/>
            </a:solidFill>
            <a:prstDash val="dash"/>
          </a:ln>
        </p:spPr>
      </p:sp>
      <p:sp>
        <p:nvSpPr>
          <p:cNvPr id="25" name="Text 23"/>
          <p:cNvSpPr txBox="1"/>
          <p:nvPr/>
        </p:nvSpPr>
        <p:spPr>
          <a:xfrm>
            <a:off x="1722251" y="2084471"/>
            <a:ext cx="3308916" cy="262381"/>
          </a:xfrm>
          <a:prstGeom prst="rect">
            <a:avLst/>
          </a:prstGeom>
          <a:noFill/>
          <a:ln/>
        </p:spPr>
        <p:txBody>
          <a:bodyPr wrap="square" lIns="0" tIns="0" rIns="0" bIns="0" rtlCol="0" anchor="t"/>
          <a:lstStyle/>
          <a:p>
            <a:pPr algn="ctr" indent="0" marL="0">
              <a:lnSpc>
                <a:spcPct val="106000"/>
              </a:lnSpc>
              <a:buNone/>
            </a:pPr>
            <a:r>
              <a:rPr lang="en-US" sz="920" b="1" dirty="0">
                <a:solidFill>
                  <a:srgbClr val="0B1F3A"/>
                </a:solidFill>
                <a:latin typeface="Arial" pitchFamily="34" charset="0"/>
                <a:ea typeface="Arial" pitchFamily="34" charset="-122"/>
                <a:cs typeface="Arial" pitchFamily="34" charset="-120"/>
              </a:rPr>
              <a:t>Tổng 20 m　→　tia phải ≥ 25 m</a:t>
            </a:r>
            <a:endParaRPr lang="en-US" sz="920" dirty="0"/>
          </a:p>
          <a:p>
            <a:pPr algn="ctr" indent="0" marL="0">
              <a:lnSpc>
                <a:spcPct val="106000"/>
              </a:lnSpc>
              <a:buNone/>
            </a:pPr>
            <a:r>
              <a:rPr lang="en-US" sz="84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920" dirty="0"/>
          </a:p>
        </p:txBody>
      </p:sp>
      <p:sp>
        <p:nvSpPr>
          <p:cNvPr id="26" name="Shape 24"/>
          <p:cNvSpPr/>
          <p:nvPr/>
        </p:nvSpPr>
        <p:spPr>
          <a:xfrm>
            <a:off x="5541352" y="903757"/>
            <a:ext cx="2273968" cy="495609"/>
          </a:xfrm>
          <a:prstGeom prst="roundRect">
            <a:avLst>
              <a:gd name="adj" fmla="val 11765"/>
            </a:avLst>
          </a:prstGeom>
          <a:solidFill>
            <a:srgbClr val="0B1F3A"/>
          </a:solidFill>
          <a:ln/>
        </p:spPr>
      </p:sp>
      <p:sp>
        <p:nvSpPr>
          <p:cNvPr id="27" name="Text 25"/>
          <p:cNvSpPr txBox="1"/>
          <p:nvPr/>
        </p:nvSpPr>
        <p:spPr>
          <a:xfrm>
            <a:off x="5643389" y="962064"/>
            <a:ext cx="2069894" cy="408148"/>
          </a:xfrm>
          <a:prstGeom prst="rect">
            <a:avLst/>
          </a:prstGeom>
          <a:noFill/>
          <a:ln/>
        </p:spPr>
        <p:txBody>
          <a:bodyPr wrap="square" lIns="0" tIns="0" rIns="0" bIns="0" rtlCol="0" anchor="t"/>
          <a:lstStyle/>
          <a:p>
            <a:pPr indent="0" marL="0">
              <a:lnSpc>
                <a:spcPct val="108000"/>
              </a:lnSpc>
              <a:buNone/>
            </a:pPr>
            <a:r>
              <a:rPr lang="en-US" sz="960" b="1" dirty="0">
                <a:solidFill>
                  <a:srgbClr val="FFFFFF"/>
                </a:solidFill>
                <a:latin typeface="Arial" pitchFamily="34" charset="0"/>
                <a:ea typeface="Arial" pitchFamily="34" charset="-122"/>
                <a:cs typeface="Arial" pitchFamily="34" charset="-120"/>
              </a:rPr>
              <a:t>Phanh = v × 0,3 + v² ÷ 12</a:t>
            </a:r>
            <a:endParaRPr lang="en-US" sz="960" dirty="0"/>
          </a:p>
          <a:p>
            <a:pPr indent="0" marL="0">
              <a:lnSpc>
                <a:spcPct val="108000"/>
              </a:lnSpc>
              <a:buNone/>
            </a:pPr>
            <a:r>
              <a:rPr lang="en-US" sz="800" dirty="0">
                <a:solidFill>
                  <a:srgbClr val="AFC3D4"/>
                </a:solidFill>
                <a:latin typeface="微軟正黑體" pitchFamily="34" charset="0"/>
                <a:ea typeface="微軟正黑體" pitchFamily="34" charset="-122"/>
                <a:cs typeface="微軟正黑體" pitchFamily="34" charset="-120"/>
              </a:rPr>
              <a:t>煞停距離 ＝ v × 0.3 ＋ v² ÷ 12</a:t>
            </a:r>
            <a:endParaRPr lang="en-US" sz="960" dirty="0"/>
          </a:p>
        </p:txBody>
      </p:sp>
      <p:sp>
        <p:nvSpPr>
          <p:cNvPr id="28" name="Shape 26"/>
          <p:cNvSpPr/>
          <p:nvPr/>
        </p:nvSpPr>
        <p:spPr>
          <a:xfrm>
            <a:off x="5541352" y="1472249"/>
            <a:ext cx="2273968" cy="495609"/>
          </a:xfrm>
          <a:prstGeom prst="roundRect">
            <a:avLst>
              <a:gd name="adj" fmla="val 11765"/>
            </a:avLst>
          </a:prstGeom>
          <a:solidFill>
            <a:srgbClr val="EAF6F4"/>
          </a:solidFill>
          <a:ln/>
        </p:spPr>
      </p:sp>
      <p:sp>
        <p:nvSpPr>
          <p:cNvPr id="29" name="Text 27"/>
          <p:cNvSpPr txBox="1"/>
          <p:nvPr/>
        </p:nvSpPr>
        <p:spPr>
          <a:xfrm>
            <a:off x="5643389" y="1530556"/>
            <a:ext cx="2069894" cy="408148"/>
          </a:xfrm>
          <a:prstGeom prst="rect">
            <a:avLst/>
          </a:prstGeom>
          <a:noFill/>
          <a:ln/>
        </p:spPr>
        <p:txBody>
          <a:bodyPr wrap="square" lIns="0" tIns="0" rIns="0" bIns="0" rtlCol="0" anchor="t"/>
          <a:lstStyle/>
          <a:p>
            <a:pPr indent="0" marL="0">
              <a:lnSpc>
                <a:spcPct val="108000"/>
              </a:lnSpc>
              <a:buNone/>
            </a:pPr>
            <a:r>
              <a:rPr lang="en-US" sz="960" b="1" dirty="0">
                <a:solidFill>
                  <a:srgbClr val="007F72"/>
                </a:solidFill>
                <a:latin typeface="Arial" pitchFamily="34" charset="0"/>
                <a:ea typeface="Arial" pitchFamily="34" charset="-122"/>
                <a:cs typeface="Arial" pitchFamily="34" charset="-120"/>
              </a:rPr>
              <a:t>Chia 12 vì giảm tốc lấy 6 m/s²</a:t>
            </a:r>
            <a:endParaRPr lang="en-US" sz="960" dirty="0"/>
          </a:p>
          <a:p>
            <a:pPr indent="0" marL="0">
              <a:lnSpc>
                <a:spcPct val="108000"/>
              </a:lnSpc>
              <a:buNone/>
            </a:pPr>
            <a:r>
              <a:rPr lang="en-US" sz="800" dirty="0">
                <a:solidFill>
                  <a:srgbClr val="007F72"/>
                </a:solidFill>
                <a:latin typeface="微軟正黑體" pitchFamily="34" charset="0"/>
                <a:ea typeface="微軟正黑體" pitchFamily="34" charset="-122"/>
                <a:cs typeface="微軟正黑體" pitchFamily="34" charset="-120"/>
              </a:rPr>
              <a:t>除以 12：減速度取 6</a:t>
            </a:r>
            <a:endParaRPr lang="en-US" sz="960" dirty="0"/>
          </a:p>
        </p:txBody>
      </p:sp>
      <p:sp>
        <p:nvSpPr>
          <p:cNvPr id="30" name="Text 28"/>
          <p:cNvSpPr txBox="1"/>
          <p:nvPr/>
        </p:nvSpPr>
        <p:spPr>
          <a:xfrm>
            <a:off x="5541352" y="2069894"/>
            <a:ext cx="2273968" cy="291534"/>
          </a:xfrm>
          <a:prstGeom prst="rect">
            <a:avLst/>
          </a:prstGeom>
          <a:noFill/>
          <a:ln/>
        </p:spPr>
        <p:txBody>
          <a:bodyPr wrap="square" lIns="0" tIns="0" rIns="0" bIns="0" rtlCol="0" anchor="t"/>
          <a:lstStyle/>
          <a:p>
            <a:pPr indent="0" marL="0">
              <a:lnSpc>
                <a:spcPct val="105000"/>
              </a:lnSpc>
              <a:buNone/>
            </a:pPr>
            <a:r>
              <a:rPr lang="en-US" sz="840" b="1" dirty="0">
                <a:solidFill>
                  <a:srgbClr val="0B1F3A"/>
                </a:solidFill>
                <a:latin typeface="Arial" pitchFamily="34" charset="0"/>
                <a:ea typeface="Arial" pitchFamily="34" charset="-122"/>
                <a:cs typeface="Arial" pitchFamily="34" charset="-120"/>
              </a:rPr>
              <a:t>Ví dụ 50 km/h = 13,9 m/s</a:t>
            </a:r>
            <a:endParaRPr lang="en-US" sz="840" dirty="0"/>
          </a:p>
          <a:p>
            <a:pPr indent="0" marL="0">
              <a:lnSpc>
                <a:spcPct val="105000"/>
              </a:lnSpc>
              <a:buNone/>
            </a:pPr>
            <a:r>
              <a:rPr lang="en-US" sz="8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840" dirty="0"/>
          </a:p>
        </p:txBody>
      </p:sp>
      <p:sp>
        <p:nvSpPr>
          <p:cNvPr id="31" name="Text 29"/>
          <p:cNvSpPr txBox="1"/>
          <p:nvPr/>
        </p:nvSpPr>
        <p:spPr>
          <a:xfrm>
            <a:off x="5541352" y="2376005"/>
            <a:ext cx="2273968" cy="196786"/>
          </a:xfrm>
          <a:prstGeom prst="rect">
            <a:avLst/>
          </a:prstGeom>
          <a:noFill/>
          <a:ln/>
        </p:spPr>
        <p:txBody>
          <a:bodyPr wrap="square" lIns="0" tIns="0" rIns="0" bIns="0" rtlCol="0" anchor="ctr"/>
          <a:lstStyle/>
          <a:p>
            <a:pPr indent="0" marL="0">
              <a:buNone/>
            </a:pPr>
            <a:r>
              <a:rPr lang="en-US" sz="880" dirty="0">
                <a:solidFill>
                  <a:srgbClr val="1A2733"/>
                </a:solidFill>
                <a:latin typeface="Arial" pitchFamily="34" charset="0"/>
                <a:ea typeface="Arial" pitchFamily="34" charset="-122"/>
                <a:cs typeface="Arial" pitchFamily="34" charset="-120"/>
              </a:rPr>
              <a:t>13,9 × 0,3 = 4,2 m</a:t>
            </a:r>
            <a:endParaRPr lang="en-US" sz="880" dirty="0"/>
          </a:p>
        </p:txBody>
      </p:sp>
      <p:sp>
        <p:nvSpPr>
          <p:cNvPr id="32" name="Text 30"/>
          <p:cNvSpPr txBox="1"/>
          <p:nvPr/>
        </p:nvSpPr>
        <p:spPr>
          <a:xfrm>
            <a:off x="5541352" y="2572791"/>
            <a:ext cx="2273968" cy="196786"/>
          </a:xfrm>
          <a:prstGeom prst="rect">
            <a:avLst/>
          </a:prstGeom>
          <a:noFill/>
          <a:ln/>
        </p:spPr>
        <p:txBody>
          <a:bodyPr wrap="square" lIns="0" tIns="0" rIns="0" bIns="0" rtlCol="0" anchor="ctr"/>
          <a:lstStyle/>
          <a:p>
            <a:pPr indent="0" marL="0">
              <a:buNone/>
            </a:pPr>
            <a:r>
              <a:rPr lang="en-US" sz="880" dirty="0">
                <a:solidFill>
                  <a:srgbClr val="1A2733"/>
                </a:solidFill>
                <a:latin typeface="Arial" pitchFamily="34" charset="0"/>
                <a:ea typeface="Arial" pitchFamily="34" charset="-122"/>
                <a:cs typeface="Arial" pitchFamily="34" charset="-120"/>
              </a:rPr>
              <a:t>13,9² ÷ 12 = 16,1 m</a:t>
            </a:r>
            <a:endParaRPr lang="en-US" sz="880" dirty="0"/>
          </a:p>
        </p:txBody>
      </p:sp>
      <p:sp>
        <p:nvSpPr>
          <p:cNvPr id="33" name="Text 31"/>
          <p:cNvSpPr txBox="1"/>
          <p:nvPr/>
        </p:nvSpPr>
        <p:spPr>
          <a:xfrm>
            <a:off x="5541352" y="2769577"/>
            <a:ext cx="2273968" cy="196786"/>
          </a:xfrm>
          <a:prstGeom prst="rect">
            <a:avLst/>
          </a:prstGeom>
          <a:noFill/>
          <a:ln/>
        </p:spPr>
        <p:txBody>
          <a:bodyPr wrap="square" lIns="0" tIns="0" rIns="0" bIns="0" rtlCol="0" anchor="ctr"/>
          <a:lstStyle/>
          <a:p>
            <a:pPr indent="0" marL="0">
              <a:buNone/>
            </a:pPr>
            <a:r>
              <a:rPr lang="en-US" sz="880" b="1" dirty="0">
                <a:solidFill>
                  <a:srgbClr val="D9463E"/>
                </a:solidFill>
                <a:latin typeface="Arial" pitchFamily="34" charset="0"/>
                <a:ea typeface="Arial" pitchFamily="34" charset="-122"/>
                <a:cs typeface="Arial" pitchFamily="34" charset="-120"/>
              </a:rPr>
              <a:t>4,2 + 16,1 ≈ 20 m → tia ≥ 25 m</a:t>
            </a:r>
            <a:endParaRPr lang="en-US" sz="880" dirty="0"/>
          </a:p>
        </p:txBody>
      </p:sp>
      <p:sp>
        <p:nvSpPr>
          <p:cNvPr id="34" name="Shape 32"/>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96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38" name="Text 34"/>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7 / 18</a:t>
            </a:r>
            <a:endParaRPr lang="en-US" sz="720" dirty="0"/>
          </a:p>
        </p:txBody>
      </p:sp>
      <p:sp>
        <p:nvSpPr>
          <p:cNvPr id="39" name="Text 35"/>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煞停距離：為什麼看到了還是停不下來</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Hai đoạn đó, video này giảng lại một lần nữa</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剛剛那兩段距離，這支影片再講一次</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1701339" y="1350142"/>
            <a:ext cx="835452" cy="208499"/>
          </a:xfrm>
          <a:prstGeom prst="rect">
            <a:avLst/>
          </a:prstGeom>
          <a:noFill/>
          <a:ln/>
        </p:spPr>
        <p:txBody>
          <a:bodyPr wrap="square" lIns="0" tIns="0" rIns="0" bIns="0" rtlCol="0" anchor="ctr"/>
          <a:lstStyle/>
          <a:p>
            <a:pPr algn="l" indent="0" marL="0">
              <a:buNone/>
            </a:pPr>
            <a:r>
              <a:rPr lang="en-US" sz="720" b="1" dirty="0">
                <a:solidFill>
                  <a:srgbClr val="6FA8DC"/>
                </a:solidFill>
                <a:latin typeface="Arial" pitchFamily="34" charset="0"/>
                <a:ea typeface="Arial" pitchFamily="34" charset="-122"/>
                <a:cs typeface="Arial" pitchFamily="34" charset="-120"/>
              </a:rPr>
              <a:t>khô  乾</a:t>
            </a:r>
            <a:endParaRPr lang="en-US" sz="720" dirty="0"/>
          </a:p>
        </p:txBody>
      </p:sp>
      <p:sp>
        <p:nvSpPr>
          <p:cNvPr id="6" name="Shape 4"/>
          <p:cNvSpPr/>
          <p:nvPr/>
        </p:nvSpPr>
        <p:spPr>
          <a:xfrm>
            <a:off x="1701339" y="1562492"/>
            <a:ext cx="501271" cy="230585"/>
          </a:xfrm>
          <a:prstGeom prst="roundRect">
            <a:avLst>
              <a:gd name="adj" fmla="val 22000"/>
            </a:avLst>
          </a:prstGeom>
          <a:solidFill>
            <a:srgbClr val="8FA3B5"/>
          </a:solidFill>
          <a:ln/>
        </p:spPr>
      </p:sp>
      <p:sp>
        <p:nvSpPr>
          <p:cNvPr id="7" name="Shape 5"/>
          <p:cNvSpPr/>
          <p:nvPr/>
        </p:nvSpPr>
        <p:spPr>
          <a:xfrm>
            <a:off x="1891822" y="1608609"/>
            <a:ext cx="170432" cy="138351"/>
          </a:xfrm>
          <a:prstGeom prst="roundRect">
            <a:avLst>
              <a:gd name="adj" fmla="val 23333"/>
            </a:avLst>
          </a:prstGeom>
          <a:solidFill>
            <a:srgbClr val="FFFFFF"/>
          </a:solidFill>
          <a:ln/>
        </p:spPr>
      </p:sp>
      <p:sp>
        <p:nvSpPr>
          <p:cNvPr id="8" name="Shape 6"/>
          <p:cNvSpPr/>
          <p:nvPr/>
        </p:nvSpPr>
        <p:spPr>
          <a:xfrm>
            <a:off x="2258307" y="1677785"/>
            <a:ext cx="1058238" cy="1"/>
          </a:xfrm>
          <a:prstGeom prst="line">
            <a:avLst/>
          </a:prstGeom>
          <a:noFill/>
          <a:ln w="63500">
            <a:solidFill>
              <a:srgbClr val="6FA8DC"/>
            </a:solidFill>
            <a:prstDash val="solid"/>
          </a:ln>
        </p:spPr>
      </p:sp>
      <p:sp>
        <p:nvSpPr>
          <p:cNvPr id="9" name="Shape 7"/>
          <p:cNvSpPr/>
          <p:nvPr/>
        </p:nvSpPr>
        <p:spPr>
          <a:xfrm>
            <a:off x="3316545" y="1543749"/>
            <a:ext cx="97469" cy="268071"/>
          </a:xfrm>
          <a:prstGeom prst="roundRect">
            <a:avLst>
              <a:gd name="adj" fmla="val 34286"/>
            </a:avLst>
          </a:prstGeom>
          <a:solidFill>
            <a:srgbClr val="3A4650"/>
          </a:solidFill>
          <a:ln/>
        </p:spPr>
      </p:sp>
      <p:sp>
        <p:nvSpPr>
          <p:cNvPr id="10" name="Text 8"/>
          <p:cNvSpPr txBox="1"/>
          <p:nvPr/>
        </p:nvSpPr>
        <p:spPr>
          <a:xfrm>
            <a:off x="1701339" y="1886285"/>
            <a:ext cx="835452" cy="208499"/>
          </a:xfrm>
          <a:prstGeom prst="rect">
            <a:avLst/>
          </a:prstGeom>
          <a:noFill/>
          <a:ln/>
        </p:spPr>
        <p:txBody>
          <a:bodyPr wrap="square" lIns="0" tIns="0" rIns="0" bIns="0" rtlCol="0" anchor="ctr"/>
          <a:lstStyle/>
          <a:p>
            <a:pPr algn="l" indent="0" marL="0">
              <a:buNone/>
            </a:pPr>
            <a:r>
              <a:rPr lang="en-US" sz="720" b="1" dirty="0">
                <a:solidFill>
                  <a:srgbClr val="D9463E"/>
                </a:solidFill>
                <a:latin typeface="Arial" pitchFamily="34" charset="0"/>
                <a:ea typeface="Arial" pitchFamily="34" charset="-122"/>
                <a:cs typeface="Arial" pitchFamily="34" charset="-120"/>
              </a:rPr>
              <a:t>ướt  濕</a:t>
            </a:r>
            <a:endParaRPr lang="en-US" sz="720" dirty="0"/>
          </a:p>
        </p:txBody>
      </p:sp>
      <p:sp>
        <p:nvSpPr>
          <p:cNvPr id="11" name="Shape 9"/>
          <p:cNvSpPr/>
          <p:nvPr/>
        </p:nvSpPr>
        <p:spPr>
          <a:xfrm>
            <a:off x="1701339" y="2098635"/>
            <a:ext cx="501271" cy="230585"/>
          </a:xfrm>
          <a:prstGeom prst="roundRect">
            <a:avLst>
              <a:gd name="adj" fmla="val 22000"/>
            </a:avLst>
          </a:prstGeom>
          <a:solidFill>
            <a:srgbClr val="8FA3B5"/>
          </a:solidFill>
          <a:ln/>
        </p:spPr>
      </p:sp>
      <p:sp>
        <p:nvSpPr>
          <p:cNvPr id="12" name="Shape 10"/>
          <p:cNvSpPr/>
          <p:nvPr/>
        </p:nvSpPr>
        <p:spPr>
          <a:xfrm>
            <a:off x="1891822" y="2144752"/>
            <a:ext cx="170432" cy="138351"/>
          </a:xfrm>
          <a:prstGeom prst="roundRect">
            <a:avLst>
              <a:gd name="adj" fmla="val 23333"/>
            </a:avLst>
          </a:prstGeom>
          <a:solidFill>
            <a:srgbClr val="FFFFFF"/>
          </a:solidFill>
          <a:ln/>
        </p:spPr>
      </p:sp>
      <p:sp>
        <p:nvSpPr>
          <p:cNvPr id="13" name="Shape 11"/>
          <p:cNvSpPr/>
          <p:nvPr/>
        </p:nvSpPr>
        <p:spPr>
          <a:xfrm>
            <a:off x="2258307" y="2213928"/>
            <a:ext cx="1726599" cy="1"/>
          </a:xfrm>
          <a:prstGeom prst="line">
            <a:avLst/>
          </a:prstGeom>
          <a:noFill/>
          <a:ln w="63500">
            <a:solidFill>
              <a:srgbClr val="D9463E"/>
            </a:solidFill>
            <a:prstDash val="solid"/>
          </a:ln>
        </p:spPr>
      </p:sp>
      <p:sp>
        <p:nvSpPr>
          <p:cNvPr id="14" name="Shape 12"/>
          <p:cNvSpPr/>
          <p:nvPr/>
        </p:nvSpPr>
        <p:spPr>
          <a:xfrm>
            <a:off x="3984906" y="2079892"/>
            <a:ext cx="97469" cy="268071"/>
          </a:xfrm>
          <a:prstGeom prst="roundRect">
            <a:avLst>
              <a:gd name="adj" fmla="val 34286"/>
            </a:avLst>
          </a:prstGeom>
          <a:solidFill>
            <a:srgbClr val="3A4650"/>
          </a:solidFill>
          <a:ln/>
        </p:spPr>
      </p:sp>
      <p:sp>
        <p:nvSpPr>
          <p:cNvPr id="15" name="Text 13"/>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760" dirty="0"/>
          </a:p>
        </p:txBody>
      </p:sp>
      <p:sp>
        <p:nvSpPr>
          <p:cNvPr id="16" name="Shape 14"/>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51219" y="1141248"/>
            <a:ext cx="279219" cy="279219"/>
          </a:xfrm>
          <a:prstGeom prst="ellipse">
            <a:avLst/>
          </a:prstGeom>
          <a:solidFill>
            <a:srgbClr val="D9463E"/>
          </a:solidFill>
          <a:ln/>
        </p:spPr>
      </p:sp>
      <p:sp>
        <p:nvSpPr>
          <p:cNvPr id="18" name="Text 16"/>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9" name="Text 17"/>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Stopping Distance | Forces &amp; Motion | Physics</a:t>
            </a:r>
            <a:endParaRPr lang="en-US" sz="840" dirty="0"/>
          </a:p>
        </p:txBody>
      </p:sp>
      <p:sp>
        <p:nvSpPr>
          <p:cNvPr id="20" name="Text 18"/>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FuseSchool（教育頻道）　·　3:44，播到 2:30</a:t>
            </a:r>
            <a:endParaRPr lang="en-US" sz="720" dirty="0"/>
          </a:p>
        </p:txBody>
      </p:sp>
      <p:sp>
        <p:nvSpPr>
          <p:cNvPr id="21" name="Text 19">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80" dirty="0"/>
          </a:p>
        </p:txBody>
      </p:sp>
      <p:sp>
        <p:nvSpPr>
          <p:cNvPr id="22" name="Shape 20"/>
          <p:cNvSpPr/>
          <p:nvPr/>
        </p:nvSpPr>
        <p:spPr>
          <a:xfrm>
            <a:off x="4851219" y="1861338"/>
            <a:ext cx="29391" cy="191044"/>
          </a:xfrm>
          <a:prstGeom prst="rect">
            <a:avLst/>
          </a:prstGeom>
          <a:solidFill>
            <a:srgbClr val="00A896"/>
          </a:solidFill>
          <a:ln/>
        </p:spPr>
      </p:sp>
      <p:sp>
        <p:nvSpPr>
          <p:cNvPr id="23" name="Text 21"/>
          <p:cNvSpPr txBox="1"/>
          <p:nvPr/>
        </p:nvSpPr>
        <p:spPr>
          <a:xfrm>
            <a:off x="4954089" y="1831947"/>
            <a:ext cx="2755446" cy="474846"/>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0:20–1:20　Quãng đường suy nghĩ: thời gian phản ứng × tốc độ. Mệt, dùng điện thoại thì dài thêm.</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0:20–1:20　反應距離：反應時間 × 速度。疲勞、滑手機都會變長。</a:t>
            </a:r>
            <a:endParaRPr lang="en-US" sz="760" dirty="0"/>
          </a:p>
        </p:txBody>
      </p:sp>
      <p:sp>
        <p:nvSpPr>
          <p:cNvPr id="24" name="Shape 22"/>
          <p:cNvSpPr/>
          <p:nvPr/>
        </p:nvSpPr>
        <p:spPr>
          <a:xfrm>
            <a:off x="4851219" y="2365576"/>
            <a:ext cx="29391" cy="191044"/>
          </a:xfrm>
          <a:prstGeom prst="rect">
            <a:avLst/>
          </a:prstGeom>
          <a:solidFill>
            <a:srgbClr val="00A896"/>
          </a:solidFill>
          <a:ln/>
        </p:spPr>
      </p:sp>
      <p:sp>
        <p:nvSpPr>
          <p:cNvPr id="25" name="Text 23"/>
          <p:cNvSpPr txBox="1"/>
          <p:nvPr/>
        </p:nvSpPr>
        <p:spPr>
          <a:xfrm>
            <a:off x="4954089" y="2336185"/>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1:20–2:10　Quãng đường phanh: nhanh hơn hoặc nặng hơn thì dài hơn; đường ướt cũng dài hơn.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1:20–2:10　煞車距離：車速快、車子重就變長；路面濕也變長。</a:t>
            </a:r>
            <a:endParaRPr lang="en-US" sz="760" dirty="0"/>
          </a:p>
        </p:txBody>
      </p:sp>
      <p:sp>
        <p:nvSpPr>
          <p:cNvPr id="26" name="Shape 24"/>
          <p:cNvSpPr/>
          <p:nvPr/>
        </p:nvSpPr>
        <p:spPr>
          <a:xfrm>
            <a:off x="4851219" y="2761460"/>
            <a:ext cx="29391" cy="191044"/>
          </a:xfrm>
          <a:prstGeom prst="rect">
            <a:avLst/>
          </a:prstGeom>
          <a:solidFill>
            <a:srgbClr val="00A896"/>
          </a:solidFill>
          <a:ln/>
        </p:spPr>
      </p:sp>
      <p:sp>
        <p:nvSpPr>
          <p:cNvPr id="27" name="Text 25"/>
          <p:cNvSpPr txBox="1"/>
          <p:nvPr/>
        </p:nvSpPr>
        <p:spPr>
          <a:xfrm>
            <a:off x="4954089" y="2732068"/>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760" dirty="0"/>
          </a:p>
        </p:txBody>
      </p:sp>
      <p:sp>
        <p:nvSpPr>
          <p:cNvPr id="28" name="Shape 26"/>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9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882128" y="109728"/>
            <a:ext cx="1097280" cy="242439"/>
          </a:xfrm>
          <a:prstGeom prst="rect">
            <a:avLst/>
          </a:prstGeom>
        </p:spPr>
      </p:pic>
      <p:sp>
        <p:nvSpPr>
          <p:cNvPr id="32" name="Text 28"/>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8 / 18</a:t>
            </a:r>
            <a:endParaRPr lang="en-US" sz="720" dirty="0"/>
          </a:p>
        </p:txBody>
      </p:sp>
      <p:sp>
        <p:nvSpPr>
          <p:cNvPr id="33" name="Text 29"/>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1107444" y="0"/>
          <a:ext cx="1" cy="1"/>
          <a:chOff x="0" y="0"/>
          <a:chExt cx="0" cy="0"/>
        </a:xfrm>
      </p:grpSpPr>
      <p:sp>
        <p:nvSpPr>
          <p:cNvPr id="2" name="Text 0"/>
          <p:cNvSpPr txBox="1"/>
          <p:nvPr/>
        </p:nvSpPr>
        <p:spPr>
          <a:xfrm>
            <a:off x="1488546" y="221732"/>
            <a:ext cx="6166909" cy="637478"/>
          </a:xfrm>
          <a:prstGeom prst="rect">
            <a:avLst/>
          </a:prstGeom>
          <a:noFill/>
          <a:ln/>
        </p:spPr>
        <p:txBody>
          <a:bodyPr wrap="square" lIns="0" tIns="0" rIns="0" bIns="0" rtlCol="0" anchor="t"/>
          <a:lstStyle/>
          <a:p>
            <a:pPr indent="0" marL="0">
              <a:lnSpc>
                <a:spcPct val="116000"/>
              </a:lnSpc>
              <a:buNone/>
            </a:pPr>
            <a:r>
              <a:rPr lang="en-US" sz="167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1670" dirty="0"/>
          </a:p>
          <a:p>
            <a:pPr indent="0" marL="0">
              <a:lnSpc>
                <a:spcPct val="116000"/>
              </a:lnSpc>
              <a:buNone/>
            </a:pPr>
            <a:r>
              <a:rPr lang="en-US" sz="102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1670" dirty="0"/>
          </a:p>
        </p:txBody>
      </p:sp>
      <p:sp>
        <p:nvSpPr>
          <p:cNvPr id="3" name="Shape 1"/>
          <p:cNvSpPr/>
          <p:nvPr/>
        </p:nvSpPr>
        <p:spPr>
          <a:xfrm>
            <a:off x="1488546" y="859210"/>
            <a:ext cx="6166909" cy="540471"/>
          </a:xfrm>
          <a:prstGeom prst="roundRect">
            <a:avLst>
              <a:gd name="adj" fmla="val 10256"/>
            </a:avLst>
          </a:prstGeom>
          <a:solidFill>
            <a:srgbClr val="EAF6F4"/>
          </a:solidFill>
          <a:ln/>
        </p:spPr>
      </p:sp>
      <p:sp>
        <p:nvSpPr>
          <p:cNvPr id="4" name="Text 2"/>
          <p:cNvSpPr txBox="1"/>
          <p:nvPr/>
        </p:nvSpPr>
        <p:spPr>
          <a:xfrm>
            <a:off x="1599411" y="914643"/>
            <a:ext cx="5945177" cy="429605"/>
          </a:xfrm>
          <a:prstGeom prst="rect">
            <a:avLst/>
          </a:prstGeom>
          <a:noFill/>
          <a:ln/>
        </p:spPr>
        <p:txBody>
          <a:bodyPr wrap="square" lIns="0" tIns="0" rIns="0" bIns="0" rtlCol="0" anchor="t"/>
          <a:lstStyle/>
          <a:p>
            <a:pPr indent="0" marL="0">
              <a:lnSpc>
                <a:spcPct val="110000"/>
              </a:lnSpc>
              <a:buNone/>
            </a:pPr>
            <a:r>
              <a:rPr lang="en-US" sz="87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870" dirty="0"/>
          </a:p>
          <a:p>
            <a:pPr indent="0" marL="0">
              <a:lnSpc>
                <a:spcPct val="110000"/>
              </a:lnSpc>
              <a:buNone/>
            </a:pPr>
            <a:r>
              <a:rPr lang="en-US" sz="76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87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488546" y="1482830"/>
          <a:ext cx="6166909" cy="692911"/>
        </p:xfrm>
        <a:graphic>
          <a:graphicData uri="http://schemas.openxmlformats.org/drawingml/2006/table">
            <a:tbl>
              <a:tblPr/>
              <a:tblGrid>
                <a:gridCol w="914400"/>
                <a:gridCol w="914400"/>
                <a:gridCol w="1005840"/>
                <a:gridCol w="1051560"/>
                <a:gridCol w="4251960"/>
              </a:tblGrid>
              <a:tr h="420624">
                <a:tc>
                  <a:txBody>
                    <a:bodyPr/>
                    <a:lstStyle/>
                    <a:p>
                      <a:pPr algn="l" indent="0" marL="0">
                        <a:buNone/>
                      </a:pPr>
                      <a:r>
                        <a:rPr lang="en-US" sz="830" b="1" dirty="0">
                          <a:solidFill>
                            <a:srgbClr val="FFFFFF"/>
                          </a:solidFill>
                          <a:latin typeface="Arial" pitchFamily="34" charset="0"/>
                          <a:ea typeface="Arial" pitchFamily="34" charset="-122"/>
                          <a:cs typeface="Arial" pitchFamily="34" charset="-120"/>
                        </a:rPr>
                        <a:t>Tốc độ</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車速</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30" b="1" dirty="0">
                          <a:solidFill>
                            <a:srgbClr val="FFFFFF"/>
                          </a:solidFill>
                          <a:latin typeface="Arial" pitchFamily="34" charset="0"/>
                          <a:ea typeface="Arial" pitchFamily="34" charset="-122"/>
                          <a:cs typeface="Arial" pitchFamily="34" charset="-120"/>
                        </a:rPr>
                        <a:t>m/s</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每秒公尺</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30" b="1" dirty="0">
                          <a:solidFill>
                            <a:srgbClr val="FFFFFF"/>
                          </a:solidFill>
                          <a:latin typeface="Arial" pitchFamily="34" charset="0"/>
                          <a:ea typeface="Arial" pitchFamily="34" charset="-122"/>
                          <a:cs typeface="Arial" pitchFamily="34" charset="-120"/>
                        </a:rPr>
                        <a:t>Phanh</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煞停距離</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30" b="1" dirty="0">
                          <a:solidFill>
                            <a:srgbClr val="FFFFFF"/>
                          </a:solidFill>
                          <a:latin typeface="Arial" pitchFamily="34" charset="0"/>
                          <a:ea typeface="Arial" pitchFamily="34" charset="-122"/>
                          <a:cs typeface="Arial" pitchFamily="34" charset="-120"/>
                        </a:rPr>
                        <a:t>Tia tối thiểu</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射線至少</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30" b="1" dirty="0">
                          <a:solidFill>
                            <a:srgbClr val="FFFFFF"/>
                          </a:solidFill>
                          <a:latin typeface="Arial" pitchFamily="34" charset="0"/>
                          <a:ea typeface="Arial" pitchFamily="34" charset="-122"/>
                          <a:cs typeface="Arial" pitchFamily="34" charset="-120"/>
                        </a:rPr>
                        <a:t>Ở đâu gặp tốc độ này</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什麼地方會開到這個速度</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830" b="1" dirty="0">
                          <a:solidFill>
                            <a:srgbClr val="0B1F3A"/>
                          </a:solidFill>
                          <a:latin typeface="Arial" pitchFamily="34" charset="0"/>
                          <a:ea typeface="Arial" pitchFamily="34" charset="-122"/>
                          <a:cs typeface="Arial" pitchFamily="34" charset="-120"/>
                        </a:rPr>
                        <a:t>30 km/h</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時速 30</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8,3</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8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10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Trong ngõ, khu dân cư, trường học</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巷弄、社區、學校周邊</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830" b="1" dirty="0">
                          <a:solidFill>
                            <a:srgbClr val="0B1F3A"/>
                          </a:solidFill>
                          <a:latin typeface="Arial" pitchFamily="34" charset="0"/>
                          <a:ea typeface="Arial" pitchFamily="34" charset="-122"/>
                          <a:cs typeface="Arial" pitchFamily="34" charset="-120"/>
                        </a:rPr>
                        <a:t>50 km/h</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時速 50</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13,9</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20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25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830" b="1" dirty="0">
                          <a:solidFill>
                            <a:srgbClr val="0B1F3A"/>
                          </a:solidFill>
                          <a:latin typeface="Arial" pitchFamily="34" charset="0"/>
                          <a:ea typeface="Arial" pitchFamily="34" charset="-122"/>
                          <a:cs typeface="Arial" pitchFamily="34" charset="-120"/>
                        </a:rPr>
                        <a:t>60 km/h</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時速 60</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16,7</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28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35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Đường lớn, đường vành đai</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大馬路、外環道</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830" b="1" dirty="0">
                          <a:solidFill>
                            <a:srgbClr val="0B1F3A"/>
                          </a:solidFill>
                          <a:latin typeface="Arial" pitchFamily="34" charset="0"/>
                          <a:ea typeface="Arial" pitchFamily="34" charset="-122"/>
                          <a:cs typeface="Arial" pitchFamily="34" charset="-120"/>
                        </a:rPr>
                        <a:t>80 km/h</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時速 80</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22,2</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48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60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Đường cao tốc chậm</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快速道路</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488546" y="3253994"/>
            <a:ext cx="6166909" cy="346456"/>
          </a:xfrm>
          <a:prstGeom prst="rect">
            <a:avLst/>
          </a:prstGeom>
          <a:noFill/>
          <a:ln/>
        </p:spPr>
        <p:txBody>
          <a:bodyPr wrap="square" lIns="0" tIns="0" rIns="0" bIns="0" rtlCol="0" anchor="t"/>
          <a:lstStyle/>
          <a:p>
            <a:pPr indent="0" marL="0">
              <a:lnSpc>
                <a:spcPct val="116000"/>
              </a:lnSpc>
              <a:buNone/>
            </a:pPr>
            <a:r>
              <a:rPr lang="en-US" sz="91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910" dirty="0"/>
          </a:p>
          <a:p>
            <a:pPr indent="0" marL="0">
              <a:lnSpc>
                <a:spcPct val="116000"/>
              </a:lnSpc>
              <a:buNone/>
            </a:pPr>
            <a:r>
              <a:rPr lang="en-US" sz="83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91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190594" y="97008"/>
            <a:ext cx="623620" cy="194015"/>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9 / 18</a:t>
            </a:r>
            <a:endParaRPr lang="en-US" sz="680" dirty="0"/>
          </a:p>
        </p:txBody>
      </p:sp>
      <p:sp>
        <p:nvSpPr>
          <p:cNvPr id="10" name="Text 5"/>
          <p:cNvSpPr txBox="1"/>
          <p:nvPr/>
        </p:nvSpPr>
        <p:spPr>
          <a:xfrm>
            <a:off x="1835001" y="97008"/>
            <a:ext cx="1524404" cy="194015"/>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Tiết 1 · 第 1 節</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真正的自駕模擬器長什麼樣</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370" dirty="0"/>
          </a:p>
        </p:txBody>
      </p:sp>
      <p:sp>
        <p:nvSpPr>
          <p:cNvPr id="4" name="Shape 2"/>
          <p:cNvSpPr/>
          <p:nvPr/>
        </p:nvSpPr>
        <p:spPr>
          <a:xfrm>
            <a:off x="1302204" y="1008987"/>
            <a:ext cx="3137535" cy="2062418"/>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331595" y="1875202"/>
            <a:ext cx="3078752" cy="1166811"/>
          </a:xfrm>
          <a:prstGeom prst="rect">
            <a:avLst/>
          </a:prstGeom>
          <a:solidFill>
            <a:srgbClr val="4A5763"/>
          </a:solidFill>
          <a:ln/>
        </p:spPr>
      </p:sp>
      <p:sp>
        <p:nvSpPr>
          <p:cNvPr id="6" name="Shape 4"/>
          <p:cNvSpPr/>
          <p:nvPr/>
        </p:nvSpPr>
        <p:spPr>
          <a:xfrm flipH="1">
            <a:off x="1553206" y="1875202"/>
            <a:ext cx="1244286" cy="1152115"/>
          </a:xfrm>
          <a:prstGeom prst="line">
            <a:avLst/>
          </a:prstGeom>
          <a:noFill/>
          <a:ln w="25400">
            <a:solidFill>
              <a:srgbClr val="E8EDF2">
                <a:alpha val="45000"/>
              </a:srgbClr>
            </a:solidFill>
            <a:prstDash val="solid"/>
          </a:ln>
        </p:spPr>
      </p:sp>
      <p:sp>
        <p:nvSpPr>
          <p:cNvPr id="7" name="Shape 5"/>
          <p:cNvSpPr/>
          <p:nvPr/>
        </p:nvSpPr>
        <p:spPr>
          <a:xfrm>
            <a:off x="2944450" y="1875202"/>
            <a:ext cx="1244286" cy="1152115"/>
          </a:xfrm>
          <a:prstGeom prst="line">
            <a:avLst/>
          </a:prstGeom>
          <a:noFill/>
          <a:ln w="25400">
            <a:solidFill>
              <a:srgbClr val="E8EDF2">
                <a:alpha val="45000"/>
              </a:srgbClr>
            </a:solidFill>
            <a:prstDash val="solid"/>
          </a:ln>
        </p:spPr>
      </p:sp>
      <p:sp>
        <p:nvSpPr>
          <p:cNvPr id="8" name="Shape 6"/>
          <p:cNvSpPr/>
          <p:nvPr/>
        </p:nvSpPr>
        <p:spPr>
          <a:xfrm>
            <a:off x="2017897" y="2017130"/>
            <a:ext cx="115825" cy="115825"/>
          </a:xfrm>
          <a:prstGeom prst="ellipse">
            <a:avLst/>
          </a:prstGeom>
          <a:solidFill>
            <a:srgbClr val="D8E4EC"/>
          </a:solidFill>
          <a:ln/>
        </p:spPr>
      </p:sp>
      <p:sp>
        <p:nvSpPr>
          <p:cNvPr id="9" name="Shape 7"/>
          <p:cNvSpPr/>
          <p:nvPr/>
        </p:nvSpPr>
        <p:spPr>
          <a:xfrm>
            <a:off x="1983149" y="2144538"/>
            <a:ext cx="185320" cy="208486"/>
          </a:xfrm>
          <a:prstGeom prst="roundRect">
            <a:avLst>
              <a:gd name="adj" fmla="val 111019"/>
            </a:avLst>
          </a:prstGeom>
          <a:solidFill>
            <a:srgbClr val="D8E4EC"/>
          </a:solidFill>
          <a:ln/>
        </p:spPr>
      </p:sp>
      <p:sp>
        <p:nvSpPr>
          <p:cNvPr id="10" name="Shape 8"/>
          <p:cNvSpPr/>
          <p:nvPr/>
        </p:nvSpPr>
        <p:spPr>
          <a:xfrm rot="960000">
            <a:off x="1951297" y="2161911"/>
            <a:ext cx="46330" cy="150573"/>
          </a:xfrm>
          <a:prstGeom prst="rect">
            <a:avLst/>
          </a:prstGeom>
          <a:solidFill>
            <a:srgbClr val="D8E4EC"/>
          </a:solidFill>
          <a:ln/>
        </p:spPr>
      </p:sp>
      <p:sp>
        <p:nvSpPr>
          <p:cNvPr id="11" name="Shape 9"/>
          <p:cNvSpPr/>
          <p:nvPr/>
        </p:nvSpPr>
        <p:spPr>
          <a:xfrm rot="-960000">
            <a:off x="2153992" y="2161911"/>
            <a:ext cx="46330" cy="150573"/>
          </a:xfrm>
          <a:prstGeom prst="rect">
            <a:avLst/>
          </a:prstGeom>
          <a:solidFill>
            <a:srgbClr val="D8E4EC"/>
          </a:solidFill>
          <a:ln/>
        </p:spPr>
      </p:sp>
      <p:sp>
        <p:nvSpPr>
          <p:cNvPr id="12" name="Shape 10"/>
          <p:cNvSpPr/>
          <p:nvPr/>
        </p:nvSpPr>
        <p:spPr>
          <a:xfrm rot="300000">
            <a:off x="2015001" y="2324067"/>
            <a:ext cx="52121" cy="208486"/>
          </a:xfrm>
          <a:prstGeom prst="rect">
            <a:avLst/>
          </a:prstGeom>
          <a:solidFill>
            <a:srgbClr val="D8E4EC"/>
          </a:solidFill>
          <a:ln/>
        </p:spPr>
      </p:sp>
      <p:sp>
        <p:nvSpPr>
          <p:cNvPr id="13" name="Shape 11"/>
          <p:cNvSpPr/>
          <p:nvPr/>
        </p:nvSpPr>
        <p:spPr>
          <a:xfrm rot="-300000">
            <a:off x="2084496" y="2324067"/>
            <a:ext cx="52121" cy="208486"/>
          </a:xfrm>
          <a:prstGeom prst="rect">
            <a:avLst/>
          </a:prstGeom>
          <a:solidFill>
            <a:srgbClr val="D8E4EC"/>
          </a:solidFill>
          <a:ln/>
        </p:spPr>
      </p:sp>
      <p:sp>
        <p:nvSpPr>
          <p:cNvPr id="14" name="Shape 12"/>
          <p:cNvSpPr/>
          <p:nvPr/>
        </p:nvSpPr>
        <p:spPr>
          <a:xfrm>
            <a:off x="1678708" y="1916450"/>
            <a:ext cx="690257" cy="742470"/>
          </a:xfrm>
          <a:prstGeom prst="rect">
            <a:avLst/>
          </a:prstGeom>
          <a:ln w="19050">
            <a:solidFill>
              <a:srgbClr val="6FD08C"/>
            </a:solidFill>
            <a:prstDash val="solid"/>
          </a:ln>
        </p:spPr>
      </p:sp>
      <p:sp>
        <p:nvSpPr>
          <p:cNvPr id="15" name="Shape 13"/>
          <p:cNvSpPr/>
          <p:nvPr/>
        </p:nvSpPr>
        <p:spPr>
          <a:xfrm>
            <a:off x="1678708" y="1776841"/>
            <a:ext cx="690257" cy="139609"/>
          </a:xfrm>
          <a:prstGeom prst="rect">
            <a:avLst/>
          </a:prstGeom>
          <a:solidFill>
            <a:srgbClr val="6FD08C"/>
          </a:solidFill>
          <a:ln/>
        </p:spPr>
      </p:sp>
      <p:sp>
        <p:nvSpPr>
          <p:cNvPr id="16" name="Text 14"/>
          <p:cNvSpPr txBox="1"/>
          <p:nvPr/>
        </p:nvSpPr>
        <p:spPr>
          <a:xfrm>
            <a:off x="1700752" y="1780515"/>
            <a:ext cx="690257"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người 行人</a:t>
            </a:r>
            <a:endParaRPr lang="en-US" sz="640" dirty="0"/>
          </a:p>
        </p:txBody>
      </p:sp>
      <p:sp>
        <p:nvSpPr>
          <p:cNvPr id="17" name="Shape 15"/>
          <p:cNvSpPr/>
          <p:nvPr/>
        </p:nvSpPr>
        <p:spPr>
          <a:xfrm>
            <a:off x="3339253" y="2304647"/>
            <a:ext cx="473597" cy="144138"/>
          </a:xfrm>
          <a:prstGeom prst="roundRect">
            <a:avLst>
              <a:gd name="adj" fmla="val 152934"/>
            </a:avLst>
          </a:prstGeom>
          <a:solidFill>
            <a:srgbClr val="C8D3DE"/>
          </a:solidFill>
          <a:ln/>
        </p:spPr>
      </p:sp>
      <p:sp>
        <p:nvSpPr>
          <p:cNvPr id="18" name="Shape 16"/>
          <p:cNvSpPr/>
          <p:nvPr/>
        </p:nvSpPr>
        <p:spPr>
          <a:xfrm>
            <a:off x="3442209" y="2201691"/>
            <a:ext cx="257390" cy="113251"/>
          </a:xfrm>
          <a:prstGeom prst="trapezoid">
            <a:avLst/>
          </a:prstGeom>
          <a:solidFill>
            <a:srgbClr val="C8D3DE">
              <a:alpha val="70000"/>
            </a:srgbClr>
          </a:solidFill>
          <a:ln/>
        </p:spPr>
      </p:sp>
      <p:sp>
        <p:nvSpPr>
          <p:cNvPr id="19" name="Shape 17"/>
          <p:cNvSpPr/>
          <p:nvPr/>
        </p:nvSpPr>
        <p:spPr>
          <a:xfrm>
            <a:off x="3401027" y="2417898"/>
            <a:ext cx="102956" cy="102956"/>
          </a:xfrm>
          <a:prstGeom prst="ellipse">
            <a:avLst/>
          </a:prstGeom>
          <a:solidFill>
            <a:srgbClr val="C8D3DE"/>
          </a:solidFill>
          <a:ln/>
        </p:spPr>
      </p:sp>
      <p:sp>
        <p:nvSpPr>
          <p:cNvPr id="20" name="Shape 18"/>
          <p:cNvSpPr/>
          <p:nvPr/>
        </p:nvSpPr>
        <p:spPr>
          <a:xfrm>
            <a:off x="3648121" y="2417898"/>
            <a:ext cx="102956" cy="102956"/>
          </a:xfrm>
          <a:prstGeom prst="ellipse">
            <a:avLst/>
          </a:prstGeom>
          <a:solidFill>
            <a:srgbClr val="C8D3DE"/>
          </a:solidFill>
          <a:ln/>
        </p:spPr>
      </p:sp>
      <p:sp>
        <p:nvSpPr>
          <p:cNvPr id="21" name="Shape 19"/>
          <p:cNvSpPr/>
          <p:nvPr/>
        </p:nvSpPr>
        <p:spPr>
          <a:xfrm>
            <a:off x="3426765" y="2443637"/>
            <a:ext cx="51478" cy="51478"/>
          </a:xfrm>
          <a:prstGeom prst="ellipse">
            <a:avLst/>
          </a:prstGeom>
          <a:solidFill>
            <a:srgbClr val="FFFFFF"/>
          </a:solidFill>
          <a:ln/>
        </p:spPr>
      </p:sp>
      <p:sp>
        <p:nvSpPr>
          <p:cNvPr id="22" name="Shape 20"/>
          <p:cNvSpPr/>
          <p:nvPr/>
        </p:nvSpPr>
        <p:spPr>
          <a:xfrm>
            <a:off x="3673859" y="2443637"/>
            <a:ext cx="51478" cy="51478"/>
          </a:xfrm>
          <a:prstGeom prst="ellipse">
            <a:avLst/>
          </a:prstGeom>
          <a:solidFill>
            <a:srgbClr val="FFFFFF"/>
          </a:solidFill>
          <a:ln/>
        </p:spPr>
      </p:sp>
      <p:sp>
        <p:nvSpPr>
          <p:cNvPr id="23" name="Shape 21"/>
          <p:cNvSpPr/>
          <p:nvPr/>
        </p:nvSpPr>
        <p:spPr>
          <a:xfrm>
            <a:off x="3059223" y="1998947"/>
            <a:ext cx="941260" cy="659973"/>
          </a:xfrm>
          <a:prstGeom prst="rect">
            <a:avLst/>
          </a:prstGeom>
          <a:ln w="19050">
            <a:solidFill>
              <a:srgbClr val="4FA8FF"/>
            </a:solidFill>
            <a:prstDash val="solid"/>
          </a:ln>
        </p:spPr>
      </p:sp>
      <p:sp>
        <p:nvSpPr>
          <p:cNvPr id="24" name="Shape 22"/>
          <p:cNvSpPr/>
          <p:nvPr/>
        </p:nvSpPr>
        <p:spPr>
          <a:xfrm>
            <a:off x="3059223" y="1859338"/>
            <a:ext cx="941260" cy="139609"/>
          </a:xfrm>
          <a:prstGeom prst="rect">
            <a:avLst/>
          </a:prstGeom>
          <a:solidFill>
            <a:srgbClr val="4FA8FF"/>
          </a:solidFill>
          <a:ln/>
        </p:spPr>
      </p:sp>
      <p:sp>
        <p:nvSpPr>
          <p:cNvPr id="25" name="Text 23"/>
          <p:cNvSpPr txBox="1"/>
          <p:nvPr/>
        </p:nvSpPr>
        <p:spPr>
          <a:xfrm>
            <a:off x="3081267" y="1863012"/>
            <a:ext cx="941260"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ô tô 汽車</a:t>
            </a:r>
            <a:endParaRPr lang="en-US" sz="640" dirty="0"/>
          </a:p>
        </p:txBody>
      </p:sp>
      <p:sp>
        <p:nvSpPr>
          <p:cNvPr id="26" name="Shape 24"/>
          <p:cNvSpPr/>
          <p:nvPr/>
        </p:nvSpPr>
        <p:spPr>
          <a:xfrm>
            <a:off x="2622479" y="1223478"/>
            <a:ext cx="277358" cy="354736"/>
          </a:xfrm>
          <a:prstGeom prst="roundRect">
            <a:avLst>
              <a:gd name="adj" fmla="val 10597"/>
            </a:avLst>
          </a:prstGeom>
          <a:solidFill>
            <a:srgbClr val="2B3945"/>
          </a:solidFill>
          <a:ln/>
        </p:spPr>
      </p:sp>
      <p:sp>
        <p:nvSpPr>
          <p:cNvPr id="27" name="Shape 25"/>
          <p:cNvSpPr/>
          <p:nvPr/>
        </p:nvSpPr>
        <p:spPr>
          <a:xfrm>
            <a:off x="2683497" y="1255404"/>
            <a:ext cx="155321" cy="155321"/>
          </a:xfrm>
          <a:prstGeom prst="ellipse">
            <a:avLst/>
          </a:prstGeom>
          <a:solidFill>
            <a:srgbClr val="FF5A4E"/>
          </a:solidFill>
          <a:ln/>
        </p:spPr>
      </p:sp>
      <p:sp>
        <p:nvSpPr>
          <p:cNvPr id="28" name="Shape 26"/>
          <p:cNvSpPr/>
          <p:nvPr/>
        </p:nvSpPr>
        <p:spPr>
          <a:xfrm>
            <a:off x="2683497" y="1361825"/>
            <a:ext cx="155321" cy="155321"/>
          </a:xfrm>
          <a:prstGeom prst="ellipse">
            <a:avLst/>
          </a:prstGeom>
          <a:solidFill>
            <a:srgbClr val="5F6B75"/>
          </a:solidFill>
          <a:ln/>
        </p:spPr>
      </p:sp>
      <p:sp>
        <p:nvSpPr>
          <p:cNvPr id="29" name="Shape 27"/>
          <p:cNvSpPr/>
          <p:nvPr/>
        </p:nvSpPr>
        <p:spPr>
          <a:xfrm>
            <a:off x="2683497" y="1468246"/>
            <a:ext cx="155321" cy="155321"/>
          </a:xfrm>
          <a:prstGeom prst="ellipse">
            <a:avLst/>
          </a:prstGeom>
          <a:solidFill>
            <a:srgbClr val="5F6B75"/>
          </a:solidFill>
          <a:ln/>
        </p:spPr>
      </p:sp>
      <p:sp>
        <p:nvSpPr>
          <p:cNvPr id="30" name="Shape 28"/>
          <p:cNvSpPr/>
          <p:nvPr/>
        </p:nvSpPr>
        <p:spPr>
          <a:xfrm>
            <a:off x="2494467" y="1194605"/>
            <a:ext cx="533381" cy="412484"/>
          </a:xfrm>
          <a:prstGeom prst="rect">
            <a:avLst/>
          </a:prstGeom>
          <a:ln w="19050">
            <a:solidFill>
              <a:srgbClr val="FFB020"/>
            </a:solidFill>
            <a:prstDash val="solid"/>
          </a:ln>
        </p:spPr>
      </p:sp>
      <p:sp>
        <p:nvSpPr>
          <p:cNvPr id="31" name="Shape 29"/>
          <p:cNvSpPr/>
          <p:nvPr/>
        </p:nvSpPr>
        <p:spPr>
          <a:xfrm>
            <a:off x="2494467" y="1054995"/>
            <a:ext cx="631916" cy="139609"/>
          </a:xfrm>
          <a:prstGeom prst="rect">
            <a:avLst/>
          </a:prstGeom>
          <a:solidFill>
            <a:srgbClr val="FFB020"/>
          </a:solidFill>
          <a:ln/>
        </p:spPr>
      </p:sp>
      <p:sp>
        <p:nvSpPr>
          <p:cNvPr id="32" name="Text 30"/>
          <p:cNvSpPr txBox="1"/>
          <p:nvPr/>
        </p:nvSpPr>
        <p:spPr>
          <a:xfrm>
            <a:off x="2516510" y="1058669"/>
            <a:ext cx="631916"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đèn 號誌</a:t>
            </a:r>
            <a:endParaRPr lang="en-US" sz="640" dirty="0"/>
          </a:p>
        </p:txBody>
      </p:sp>
      <p:sp>
        <p:nvSpPr>
          <p:cNvPr id="33" name="Shape 31"/>
          <p:cNvSpPr/>
          <p:nvPr/>
        </p:nvSpPr>
        <p:spPr>
          <a:xfrm>
            <a:off x="1331595" y="2659924"/>
            <a:ext cx="3078752" cy="382089"/>
          </a:xfrm>
          <a:prstGeom prst="rect">
            <a:avLst/>
          </a:prstGeom>
          <a:solidFill>
            <a:srgbClr val="0B1F3A">
              <a:alpha val="78000"/>
            </a:srgbClr>
          </a:solidFill>
          <a:ln/>
        </p:spPr>
      </p:sp>
      <p:sp>
        <p:nvSpPr>
          <p:cNvPr id="34" name="Text 32"/>
          <p:cNvSpPr txBox="1"/>
          <p:nvPr/>
        </p:nvSpPr>
        <p:spPr>
          <a:xfrm>
            <a:off x="1405074" y="2689316"/>
            <a:ext cx="2931795" cy="323306"/>
          </a:xfrm>
          <a:prstGeom prst="rect">
            <a:avLst/>
          </a:prstGeom>
          <a:noFill/>
          <a:ln/>
        </p:spPr>
        <p:txBody>
          <a:bodyPr wrap="square" lIns="0" tIns="0" rIns="0" bIns="0" rtlCol="0" anchor="t"/>
          <a:lstStyle/>
          <a:p>
            <a:pPr indent="0" marL="0">
              <a:lnSpc>
                <a:spcPct val="106000"/>
              </a:lnSpc>
              <a:buNone/>
            </a:pPr>
            <a:r>
              <a:rPr lang="en-US" sz="8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800" dirty="0"/>
          </a:p>
          <a:p>
            <a:pPr indent="0" marL="0">
              <a:lnSpc>
                <a:spcPct val="106000"/>
              </a:lnSpc>
              <a:buNone/>
            </a:pPr>
            <a:r>
              <a:rPr lang="en-US" sz="72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800" dirty="0"/>
          </a:p>
        </p:txBody>
      </p:sp>
      <p:sp>
        <p:nvSpPr>
          <p:cNvPr id="35" name="Shape 33"/>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51219" y="1141248"/>
            <a:ext cx="279219" cy="279219"/>
          </a:xfrm>
          <a:prstGeom prst="ellipse">
            <a:avLst/>
          </a:prstGeom>
          <a:solidFill>
            <a:srgbClr val="D9463E"/>
          </a:solidFill>
          <a:ln/>
        </p:spPr>
      </p:sp>
      <p:sp>
        <p:nvSpPr>
          <p:cNvPr id="37" name="Text 35"/>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38" name="Text 36"/>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CARLA 0.9.14</a:t>
            </a:r>
            <a:endParaRPr lang="en-US" sz="840" dirty="0"/>
          </a:p>
        </p:txBody>
      </p:sp>
      <p:sp>
        <p:nvSpPr>
          <p:cNvPr id="39" name="Text 37"/>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CARLA Simulator（官方）　·　3:33，播 2 分鐘就夠</a:t>
            </a:r>
            <a:endParaRPr lang="en-US" sz="720" dirty="0"/>
          </a:p>
        </p:txBody>
      </p:sp>
      <p:sp>
        <p:nvSpPr>
          <p:cNvPr id="40" name="Text 38">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80" dirty="0"/>
          </a:p>
        </p:txBody>
      </p:sp>
      <p:sp>
        <p:nvSpPr>
          <p:cNvPr id="41" name="Shape 39"/>
          <p:cNvSpPr/>
          <p:nvPr/>
        </p:nvSpPr>
        <p:spPr>
          <a:xfrm>
            <a:off x="4851219" y="1861338"/>
            <a:ext cx="29391" cy="191044"/>
          </a:xfrm>
          <a:prstGeom prst="rect">
            <a:avLst/>
          </a:prstGeom>
          <a:solidFill>
            <a:srgbClr val="00A896"/>
          </a:solidFill>
          <a:ln/>
        </p:spPr>
      </p:sp>
      <p:sp>
        <p:nvSpPr>
          <p:cNvPr id="42" name="Text 40"/>
          <p:cNvSpPr txBox="1"/>
          <p:nvPr/>
        </p:nvSpPr>
        <p:spPr>
          <a:xfrm>
            <a:off x="4954089" y="1831947"/>
            <a:ext cx="2755446" cy="474846"/>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CARLA, thời tiết, giờ trong ngày, mật độ xe đều là tham số chỉnh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裡的天氣、一天中的時間、車流密度，全部都是可以調的參數</a:t>
            </a:r>
            <a:endParaRPr lang="en-US" sz="760" dirty="0"/>
          </a:p>
        </p:txBody>
      </p:sp>
      <p:sp>
        <p:nvSpPr>
          <p:cNvPr id="43" name="Shape 41"/>
          <p:cNvSpPr/>
          <p:nvPr/>
        </p:nvSpPr>
        <p:spPr>
          <a:xfrm>
            <a:off x="4851219" y="2365576"/>
            <a:ext cx="29391" cy="191044"/>
          </a:xfrm>
          <a:prstGeom prst="rect">
            <a:avLst/>
          </a:prstGeom>
          <a:solidFill>
            <a:srgbClr val="00A896"/>
          </a:solidFill>
          <a:ln/>
        </p:spPr>
      </p:sp>
      <p:sp>
        <p:nvSpPr>
          <p:cNvPr id="44" name="Text 42"/>
          <p:cNvSpPr txBox="1"/>
          <p:nvPr/>
        </p:nvSpPr>
        <p:spPr>
          <a:xfrm>
            <a:off x="4954089" y="2336185"/>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CARLA mô phỏng được cả ảnh camera lẫn đám điểm LiDAR</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連相機影像和光達點雲都模擬得出來</a:t>
            </a:r>
            <a:endParaRPr lang="en-US" sz="760" dirty="0"/>
          </a:p>
        </p:txBody>
      </p:sp>
      <p:sp>
        <p:nvSpPr>
          <p:cNvPr id="45" name="Shape 43"/>
          <p:cNvSpPr/>
          <p:nvPr/>
        </p:nvSpPr>
        <p:spPr>
          <a:xfrm>
            <a:off x="4851219" y="2647086"/>
            <a:ext cx="29391" cy="191044"/>
          </a:xfrm>
          <a:prstGeom prst="rect">
            <a:avLst/>
          </a:prstGeom>
          <a:solidFill>
            <a:srgbClr val="00A896"/>
          </a:solidFill>
          <a:ln/>
        </p:spPr>
      </p:sp>
      <p:sp>
        <p:nvSpPr>
          <p:cNvPr id="46" name="Text 44"/>
          <p:cNvSpPr txBox="1"/>
          <p:nvPr/>
        </p:nvSpPr>
        <p:spPr>
          <a:xfrm>
            <a:off x="4954089" y="2617694"/>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760" dirty="0"/>
          </a:p>
        </p:txBody>
      </p:sp>
      <p:sp>
        <p:nvSpPr>
          <p:cNvPr id="47" name="Shape 45"/>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9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882128" y="109728"/>
            <a:ext cx="1097280" cy="242439"/>
          </a:xfrm>
          <a:prstGeom prst="rect">
            <a:avLst/>
          </a:prstGeom>
        </p:spPr>
      </p:pic>
      <p:sp>
        <p:nvSpPr>
          <p:cNvPr id="51" name="Text 47"/>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10 / 18</a:t>
            </a:r>
            <a:endParaRPr lang="en-US" sz="720" dirty="0"/>
          </a:p>
        </p:txBody>
      </p:sp>
      <p:sp>
        <p:nvSpPr>
          <p:cNvPr id="52" name="Text 48"/>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Vì sao chạy tốt trong mô phỏng vẫn chưa đủ</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330" dirty="0"/>
          </a:p>
        </p:txBody>
      </p:sp>
      <p:sp>
        <p:nvSpPr>
          <p:cNvPr id="7" name="Text 4"/>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11 / 18</a:t>
            </a:r>
            <a:endParaRPr lang="en-US" sz="720" dirty="0"/>
          </a:p>
        </p:txBody>
      </p:sp>
      <p:sp>
        <p:nvSpPr>
          <p:cNvPr id="8" name="Text 5"/>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Khoảng cách 1 / 3 · 落差之一</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826657" y="1625284"/>
            <a:ext cx="990124" cy="562570"/>
          </a:xfrm>
          <a:prstGeom prst="roundRect">
            <a:avLst>
              <a:gd name="adj" fmla="val 18065"/>
            </a:avLst>
          </a:prstGeom>
          <a:solidFill>
            <a:srgbClr val="4FA8FF"/>
          </a:solidFill>
          <a:ln/>
        </p:spPr>
      </p:sp>
      <p:sp>
        <p:nvSpPr>
          <p:cNvPr id="5" name="Shape 3"/>
          <p:cNvSpPr/>
          <p:nvPr/>
        </p:nvSpPr>
        <p:spPr>
          <a:xfrm>
            <a:off x="2051685" y="1512770"/>
            <a:ext cx="292536" cy="135017"/>
          </a:xfrm>
          <a:prstGeom prst="roundRect">
            <a:avLst>
              <a:gd name="adj" fmla="val 161291"/>
            </a:avLst>
          </a:prstGeom>
          <a:solidFill>
            <a:srgbClr val="4FA8FF"/>
          </a:solidFill>
          <a:ln/>
        </p:spPr>
      </p:sp>
      <p:sp>
        <p:nvSpPr>
          <p:cNvPr id="6" name="Shape 4"/>
          <p:cNvSpPr/>
          <p:nvPr/>
        </p:nvSpPr>
        <p:spPr>
          <a:xfrm>
            <a:off x="2141696" y="1715295"/>
            <a:ext cx="360045" cy="360045"/>
          </a:xfrm>
          <a:prstGeom prst="ellipse">
            <a:avLst/>
          </a:prstGeom>
          <a:solidFill>
            <a:srgbClr val="FFFFFF"/>
          </a:solidFill>
          <a:ln/>
        </p:spPr>
      </p:sp>
      <p:sp>
        <p:nvSpPr>
          <p:cNvPr id="7" name="Shape 5"/>
          <p:cNvSpPr/>
          <p:nvPr/>
        </p:nvSpPr>
        <p:spPr>
          <a:xfrm>
            <a:off x="2220456" y="1794055"/>
            <a:ext cx="202526" cy="202526"/>
          </a:xfrm>
          <a:prstGeom prst="ellipse">
            <a:avLst/>
          </a:prstGeom>
          <a:solidFill>
            <a:srgbClr val="4FA8FF">
              <a:alpha val="70000"/>
            </a:srgbClr>
          </a:solidFill>
          <a:ln/>
        </p:spPr>
      </p:sp>
      <p:sp>
        <p:nvSpPr>
          <p:cNvPr id="8" name="Shape 6"/>
          <p:cNvSpPr/>
          <p:nvPr/>
        </p:nvSpPr>
        <p:spPr>
          <a:xfrm>
            <a:off x="2591753" y="1692792"/>
            <a:ext cx="112514" cy="112514"/>
          </a:xfrm>
          <a:prstGeom prst="ellipse">
            <a:avLst/>
          </a:prstGeom>
          <a:solidFill>
            <a:srgbClr val="FFFFFF">
              <a:alpha val="60000"/>
            </a:srgbClr>
          </a:solidFill>
          <a:ln/>
        </p:spPr>
      </p:sp>
      <p:sp>
        <p:nvSpPr>
          <p:cNvPr id="9" name="Text 7"/>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830" dirty="0"/>
          </a:p>
        </p:txBody>
      </p:sp>
      <p:sp>
        <p:nvSpPr>
          <p:cNvPr id="10" name="Text 8"/>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990" dirty="0"/>
          </a:p>
        </p:txBody>
      </p:sp>
      <p:sp>
        <p:nvSpPr>
          <p:cNvPr id="11" name="Shape 9"/>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99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12 / 18</a:t>
            </a:r>
            <a:endParaRPr lang="en-US" sz="710" dirty="0"/>
          </a:p>
        </p:txBody>
      </p:sp>
      <p:sp>
        <p:nvSpPr>
          <p:cNvPr id="16" name="Text 12"/>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Khoảng cách 2 / 3 · 落差之二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1F4E79"/>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1830" dirty="0"/>
          </a:p>
        </p:txBody>
      </p:sp>
      <p:sp>
        <p:nvSpPr>
          <p:cNvPr id="14" name="Text 12"/>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99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13 / 18</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Khoảng cách 3 / 3 · 落差之三</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804154" y="1805306"/>
            <a:ext cx="1035129" cy="315040"/>
          </a:xfrm>
          <a:prstGeom prst="roundRect">
            <a:avLst>
              <a:gd name="adj" fmla="val 69124"/>
            </a:avLst>
          </a:prstGeom>
          <a:solidFill>
            <a:srgbClr val="9FB0BE"/>
          </a:solidFill>
          <a:ln/>
        </p:spPr>
      </p:sp>
      <p:sp>
        <p:nvSpPr>
          <p:cNvPr id="5" name="Shape 3"/>
          <p:cNvSpPr/>
          <p:nvPr/>
        </p:nvSpPr>
        <p:spPr>
          <a:xfrm>
            <a:off x="2029182" y="1580278"/>
            <a:ext cx="562570" cy="247531"/>
          </a:xfrm>
          <a:prstGeom prst="trapezoid">
            <a:avLst/>
          </a:prstGeom>
          <a:solidFill>
            <a:srgbClr val="9FB0BE">
              <a:alpha val="70000"/>
            </a:srgbClr>
          </a:solidFill>
          <a:ln/>
        </p:spPr>
      </p:sp>
      <p:sp>
        <p:nvSpPr>
          <p:cNvPr id="6" name="Shape 4"/>
          <p:cNvSpPr/>
          <p:nvPr/>
        </p:nvSpPr>
        <p:spPr>
          <a:xfrm>
            <a:off x="1939171" y="2052837"/>
            <a:ext cx="225028" cy="225028"/>
          </a:xfrm>
          <a:prstGeom prst="ellipse">
            <a:avLst/>
          </a:prstGeom>
          <a:solidFill>
            <a:srgbClr val="9FB0BE"/>
          </a:solidFill>
          <a:ln/>
        </p:spPr>
      </p:sp>
      <p:sp>
        <p:nvSpPr>
          <p:cNvPr id="7" name="Shape 5"/>
          <p:cNvSpPr/>
          <p:nvPr/>
        </p:nvSpPr>
        <p:spPr>
          <a:xfrm>
            <a:off x="2479239" y="2052837"/>
            <a:ext cx="225028" cy="225028"/>
          </a:xfrm>
          <a:prstGeom prst="ellipse">
            <a:avLst/>
          </a:prstGeom>
          <a:solidFill>
            <a:srgbClr val="9FB0BE"/>
          </a:solidFill>
          <a:ln/>
        </p:spPr>
      </p:sp>
      <p:sp>
        <p:nvSpPr>
          <p:cNvPr id="8" name="Shape 6"/>
          <p:cNvSpPr/>
          <p:nvPr/>
        </p:nvSpPr>
        <p:spPr>
          <a:xfrm>
            <a:off x="1995428" y="2109094"/>
            <a:ext cx="112514" cy="112514"/>
          </a:xfrm>
          <a:prstGeom prst="ellipse">
            <a:avLst/>
          </a:prstGeom>
          <a:solidFill>
            <a:srgbClr val="FFFFFF"/>
          </a:solidFill>
          <a:ln/>
        </p:spPr>
      </p:sp>
      <p:sp>
        <p:nvSpPr>
          <p:cNvPr id="9" name="Shape 7"/>
          <p:cNvSpPr/>
          <p:nvPr/>
        </p:nvSpPr>
        <p:spPr>
          <a:xfrm>
            <a:off x="2535496" y="2109094"/>
            <a:ext cx="112514" cy="112514"/>
          </a:xfrm>
          <a:prstGeom prst="ellipse">
            <a:avLst/>
          </a:prstGeom>
          <a:solidFill>
            <a:srgbClr val="FFFFFF"/>
          </a:solidFill>
          <a:ln/>
        </p:spPr>
      </p:sp>
      <p:sp>
        <p:nvSpPr>
          <p:cNvPr id="10" name="Text 8"/>
          <p:cNvSpPr txBox="1"/>
          <p:nvPr/>
        </p:nvSpPr>
        <p:spPr>
          <a:xfrm>
            <a:off x="3664629" y="962427"/>
            <a:ext cx="4137614" cy="967639"/>
          </a:xfrm>
          <a:prstGeom prst="rect">
            <a:avLst/>
          </a:prstGeom>
          <a:noFill/>
          <a:ln/>
        </p:spPr>
        <p:txBody>
          <a:bodyPr wrap="square" lIns="0" tIns="0" rIns="0" bIns="0" rtlCol="0" anchor="t"/>
          <a:lstStyle/>
          <a:p>
            <a:pPr indent="0" marL="0">
              <a:lnSpc>
                <a:spcPct val="120000"/>
              </a:lnSpc>
              <a:buNone/>
            </a:pPr>
            <a:r>
              <a:rPr lang="en-US" sz="159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159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1590" dirty="0"/>
          </a:p>
        </p:txBody>
      </p:sp>
      <p:sp>
        <p:nvSpPr>
          <p:cNvPr id="11" name="Text 9"/>
          <p:cNvSpPr txBox="1"/>
          <p:nvPr/>
        </p:nvSpPr>
        <p:spPr>
          <a:xfrm>
            <a:off x="3664629" y="2002655"/>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990" dirty="0"/>
          </a:p>
        </p:txBody>
      </p:sp>
      <p:sp>
        <p:nvSpPr>
          <p:cNvPr id="12" name="Shape 10"/>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99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16" name="Text 12"/>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14 / 18</a:t>
            </a:r>
            <a:endParaRPr lang="en-US" sz="710" dirty="0"/>
          </a:p>
        </p:txBody>
      </p:sp>
      <p:sp>
        <p:nvSpPr>
          <p:cNvPr id="17" name="Text 13"/>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Ngược lại · 反過來看</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128485" y="1749340"/>
            <a:ext cx="737802" cy="599736"/>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2005518" y="1625864"/>
            <a:ext cx="737802" cy="599736"/>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882551" y="1502390"/>
            <a:ext cx="737802" cy="599736"/>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759584" y="1378914"/>
            <a:ext cx="737802" cy="599736"/>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1443383" y="2296158"/>
            <a:ext cx="1756671" cy="317508"/>
          </a:xfrm>
          <a:prstGeom prst="rect">
            <a:avLst/>
          </a:prstGeom>
          <a:noFill/>
          <a:ln/>
        </p:spPr>
        <p:txBody>
          <a:bodyPr wrap="square" lIns="0" tIns="0" rIns="0" bIns="0" rtlCol="0" anchor="ctr"/>
          <a:lstStyle/>
          <a:p>
            <a:pPr algn="ctr" indent="0" marL="0">
              <a:buNone/>
            </a:pPr>
            <a:r>
              <a:rPr lang="en-US" sz="870" b="1" dirty="0">
                <a:solidFill>
                  <a:srgbClr val="00A896"/>
                </a:solidFill>
                <a:latin typeface="Arial" pitchFamily="34" charset="0"/>
                <a:ea typeface="Arial" pitchFamily="34" charset="-122"/>
                <a:cs typeface="Arial" pitchFamily="34" charset="-120"/>
              </a:rPr>
              <a:t>× 10 000</a:t>
            </a:r>
            <a:endParaRPr lang="en-US" sz="870" dirty="0"/>
          </a:p>
        </p:txBody>
      </p:sp>
      <p:sp>
        <p:nvSpPr>
          <p:cNvPr id="9" name="Text 7"/>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1830" dirty="0"/>
          </a:p>
        </p:txBody>
      </p:sp>
      <p:sp>
        <p:nvSpPr>
          <p:cNvPr id="10" name="Text 8"/>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990" dirty="0"/>
          </a:p>
        </p:txBody>
      </p:sp>
      <p:sp>
        <p:nvSpPr>
          <p:cNvPr id="11" name="Shape 9"/>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99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15 / 18</a:t>
            </a:r>
            <a:endParaRPr lang="en-US" sz="710" dirty="0"/>
          </a:p>
        </p:txBody>
      </p:sp>
      <p:sp>
        <p:nvSpPr>
          <p:cNvPr id="16" name="Text 12"/>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951450" y="0"/>
          <a:ext cx="1" cy="1"/>
          <a:chOff x="0" y="0"/>
          <a:chExt cx="0" cy="0"/>
        </a:xfrm>
      </p:grpSpPr>
      <p:sp>
        <p:nvSpPr>
          <p:cNvPr id="2" name="Text 0"/>
          <p:cNvSpPr txBox="1"/>
          <p:nvPr/>
        </p:nvSpPr>
        <p:spPr>
          <a:xfrm>
            <a:off x="1349711" y="231715"/>
            <a:ext cx="6444579" cy="666181"/>
          </a:xfrm>
          <a:prstGeom prst="rect">
            <a:avLst/>
          </a:prstGeom>
          <a:noFill/>
          <a:ln/>
        </p:spPr>
        <p:txBody>
          <a:bodyPr wrap="square" lIns="0" tIns="0" rIns="0" bIns="0" rtlCol="0" anchor="t"/>
          <a:lstStyle/>
          <a:p>
            <a:pPr indent="0" marL="0">
              <a:lnSpc>
                <a:spcPct val="116000"/>
              </a:lnSpc>
              <a:buNone/>
            </a:pPr>
            <a:r>
              <a:rPr lang="en-US" sz="174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740" dirty="0"/>
          </a:p>
          <a:p>
            <a:pPr indent="0" marL="0">
              <a:lnSpc>
                <a:spcPct val="116000"/>
              </a:lnSpc>
              <a:buNone/>
            </a:pPr>
            <a:r>
              <a:rPr lang="en-US" sz="107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740" dirty="0"/>
          </a:p>
        </p:txBody>
      </p:sp>
      <p:sp>
        <p:nvSpPr>
          <p:cNvPr id="3" name="Shape 1"/>
          <p:cNvSpPr/>
          <p:nvPr/>
        </p:nvSpPr>
        <p:spPr>
          <a:xfrm>
            <a:off x="1349711" y="897896"/>
            <a:ext cx="6444579" cy="564806"/>
          </a:xfrm>
          <a:prstGeom prst="roundRect">
            <a:avLst>
              <a:gd name="adj" fmla="val 10256"/>
            </a:avLst>
          </a:prstGeom>
          <a:solidFill>
            <a:srgbClr val="EAF6F4"/>
          </a:solidFill>
          <a:ln/>
        </p:spPr>
      </p:sp>
      <p:sp>
        <p:nvSpPr>
          <p:cNvPr id="4" name="Text 2"/>
          <p:cNvSpPr txBox="1"/>
          <p:nvPr/>
        </p:nvSpPr>
        <p:spPr>
          <a:xfrm>
            <a:off x="1465568" y="955825"/>
            <a:ext cx="6212864" cy="448948"/>
          </a:xfrm>
          <a:prstGeom prst="rect">
            <a:avLst/>
          </a:prstGeom>
          <a:noFill/>
          <a:ln/>
        </p:spPr>
        <p:txBody>
          <a:bodyPr wrap="square" lIns="0" tIns="0" rIns="0" bIns="0" rtlCol="0" anchor="t"/>
          <a:lstStyle/>
          <a:p>
            <a:pPr indent="0" marL="0">
              <a:lnSpc>
                <a:spcPct val="110000"/>
              </a:lnSpc>
              <a:buNone/>
            </a:pPr>
            <a:r>
              <a:rPr lang="en-US" sz="91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910" dirty="0"/>
          </a:p>
          <a:p>
            <a:pPr indent="0" marL="0">
              <a:lnSpc>
                <a:spcPct val="110000"/>
              </a:lnSpc>
              <a:buNone/>
            </a:pPr>
            <a:r>
              <a:rPr lang="en-US" sz="79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91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49711" y="1549595"/>
          <a:ext cx="6444579" cy="724110"/>
        </p:xfrm>
        <a:graphic>
          <a:graphicData uri="http://schemas.openxmlformats.org/drawingml/2006/table">
            <a:tbl>
              <a:tblPr/>
              <a:tblGrid>
                <a:gridCol w="1371600"/>
                <a:gridCol w="3383280"/>
                <a:gridCol w="3383280"/>
              </a:tblGrid>
              <a:tr h="457200">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Loại</a:t>
                      </a:r>
                      <a:endParaRPr lang="en-US" sz="95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哪一種</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Ở Đài Loan</a:t>
                      </a:r>
                      <a:endParaRPr lang="en-US" sz="95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台灣</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Ở Việt Nam</a:t>
                      </a:r>
                      <a:endParaRPr lang="en-US" sz="95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越南</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Hình ảnh</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外觀</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Hàng quán vỉa hè, ngã tư không có vạch kẻ</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路邊攤、沒有標線的路口</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Hành vi</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行為</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Đèn xanh, hai mươi xe máy toả ra hình quạt</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Vật lý</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物理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Mặt đường vá chằng chịt, nắp cống</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補丁路面、人孔蓋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Đường hỏng, ngập nước sâu nông khác nhau</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49711" y="3238395"/>
            <a:ext cx="6444579" cy="362055"/>
          </a:xfrm>
          <a:prstGeom prst="rect">
            <a:avLst/>
          </a:prstGeom>
          <a:noFill/>
          <a:ln/>
        </p:spPr>
        <p:txBody>
          <a:bodyPr wrap="square" lIns="0" tIns="0" rIns="0" bIns="0" rtlCol="0" anchor="t"/>
          <a:lstStyle/>
          <a:p>
            <a:pPr indent="0" marL="0">
              <a:lnSpc>
                <a:spcPct val="116000"/>
              </a:lnSpc>
              <a:buNone/>
            </a:pPr>
            <a:r>
              <a:rPr lang="en-US" sz="95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950" dirty="0"/>
          </a:p>
          <a:p>
            <a:pPr indent="0" marL="0">
              <a:lnSpc>
                <a:spcPct val="116000"/>
              </a:lnSpc>
              <a:buNone/>
            </a:pPr>
            <a:r>
              <a:rPr lang="en-US" sz="87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95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38343" y="101375"/>
            <a:ext cx="651699" cy="2027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16 / 18</a:t>
            </a:r>
            <a:endParaRPr lang="en-US" sz="710" dirty="0"/>
          </a:p>
        </p:txBody>
      </p:sp>
      <p:sp>
        <p:nvSpPr>
          <p:cNvPr id="10" name="Text 5"/>
          <p:cNvSpPr txBox="1"/>
          <p:nvPr/>
        </p:nvSpPr>
        <p:spPr>
          <a:xfrm>
            <a:off x="1711766" y="101375"/>
            <a:ext cx="1593042" cy="2027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Thảo luận · 討論（上週的回家作業）</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36345"/>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105250"/>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74156"/>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17 / 18</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1 · 第一節小結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sang tiết 2</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帶三句話進第二節</a:t>
            </a:r>
            <a:endParaRPr lang="en-US" sz="2010" dirty="0"/>
          </a:p>
        </p:txBody>
      </p:sp>
      <p:sp>
        <p:nvSpPr>
          <p:cNvPr id="6" name="Shape 4"/>
          <p:cNvSpPr/>
          <p:nvPr/>
        </p:nvSpPr>
        <p:spPr>
          <a:xfrm>
            <a:off x="1302204" y="1587137"/>
            <a:ext cx="36739" cy="540573"/>
          </a:xfrm>
          <a:prstGeom prst="rect">
            <a:avLst/>
          </a:prstGeom>
          <a:solidFill>
            <a:srgbClr val="00A896"/>
          </a:solidFill>
          <a:ln/>
        </p:spPr>
      </p:sp>
      <p:sp>
        <p:nvSpPr>
          <p:cNvPr id="7" name="Text 5"/>
          <p:cNvSpPr txBox="1"/>
          <p:nvPr/>
        </p:nvSpPr>
        <p:spPr>
          <a:xfrm>
            <a:off x="1478552" y="1557746"/>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080" dirty="0"/>
          </a:p>
        </p:txBody>
      </p:sp>
      <p:sp>
        <p:nvSpPr>
          <p:cNvPr id="8" name="Shape 6"/>
          <p:cNvSpPr/>
          <p:nvPr/>
        </p:nvSpPr>
        <p:spPr>
          <a:xfrm>
            <a:off x="1302204" y="2289363"/>
            <a:ext cx="36739" cy="540573"/>
          </a:xfrm>
          <a:prstGeom prst="rect">
            <a:avLst/>
          </a:prstGeom>
          <a:solidFill>
            <a:srgbClr val="FFB020"/>
          </a:solidFill>
          <a:ln/>
        </p:spPr>
      </p:sp>
      <p:sp>
        <p:nvSpPr>
          <p:cNvPr id="9" name="Text 7"/>
          <p:cNvSpPr txBox="1"/>
          <p:nvPr/>
        </p:nvSpPr>
        <p:spPr>
          <a:xfrm>
            <a:off x="1478552" y="2259972"/>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080" dirty="0"/>
          </a:p>
        </p:txBody>
      </p:sp>
      <p:sp>
        <p:nvSpPr>
          <p:cNvPr id="10" name="Shape 8"/>
          <p:cNvSpPr/>
          <p:nvPr/>
        </p:nvSpPr>
        <p:spPr>
          <a:xfrm>
            <a:off x="1302204" y="2991589"/>
            <a:ext cx="36739" cy="540573"/>
          </a:xfrm>
          <a:prstGeom prst="rect">
            <a:avLst/>
          </a:prstGeom>
          <a:solidFill>
            <a:srgbClr val="00A896"/>
          </a:solidFill>
          <a:ln/>
        </p:spPr>
      </p:sp>
      <p:sp>
        <p:nvSpPr>
          <p:cNvPr id="11" name="Text 9"/>
          <p:cNvSpPr txBox="1"/>
          <p:nvPr/>
        </p:nvSpPr>
        <p:spPr>
          <a:xfrm>
            <a:off x="1478552" y="2962197"/>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080" dirty="0"/>
          </a:p>
        </p:txBody>
      </p:sp>
      <p:sp>
        <p:nvSpPr>
          <p:cNvPr id="13" name="Text 10"/>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18 / 18</a:t>
            </a:r>
            <a:endParaRPr lang="en-US" sz="720" dirty="0"/>
          </a:p>
        </p:txBody>
      </p:sp>
      <p:sp>
        <p:nvSpPr>
          <p:cNvPr id="14" name="Text 11"/>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2026-09-24T08:18:22Z</dcterms:created>
  <dcterms:modified xsi:type="dcterms:W3CDTF">2026-09-24T08:18:22Z</dcterms:modified>
</cp:coreProperties>
</file>