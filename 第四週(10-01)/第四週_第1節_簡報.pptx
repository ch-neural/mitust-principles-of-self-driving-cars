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各位早。
</a:t>
            </a:r>
          </a:p>
          <a:p>
            <a:pPr algn="l">
              <a:lnSpc>
                <a:spcPct val="100000"/>
              </a:lnSpc>
              <a:spcAft>
                <a:spcPts val="4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a:lnSpc>
                <a:spcPct val="100000"/>
              </a:lnSpc>
              <a:spcAft>
                <a:spcPts val="4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a:lnSpc>
                <a:spcPct val="100000"/>
              </a:lnSpc>
              <a:spcAft>
                <a:spcPts val="4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a:lnSpc>
                <a:spcPct val="100000"/>
              </a:lnSpc>
              <a:spcAft>
                <a:spcPts val="4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a:lnSpc>
                <a:spcPct val="100000"/>
              </a:lnSpc>
              <a:spcAft>
                <a:spcPts val="4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今天三節要做三件事，我先講一遍，各位心裡有個底。
</a:t>
            </a:r>
          </a:p>
          <a:p>
            <a:pPr algn="l">
              <a:lnSpc>
                <a:spcPct val="100000"/>
              </a:lnSpc>
              <a:spcAft>
                <a:spcPts val="4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a:lnSpc>
                <a:spcPct val="100000"/>
              </a:lnSpc>
              <a:spcAft>
                <a:spcPts val="4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a:lnSpc>
                <a:spcPct val="100000"/>
              </a:lnSpc>
              <a:spcAft>
                <a:spcPts val="4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a:lnSpc>
                <a:spcPct val="100000"/>
              </a:lnSpc>
              <a:spcAft>
                <a:spcPts val="4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00000"/>
              </a:lnSpc>
              <a:spcAft>
                <a:spcPts val="4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a:lnSpc>
                <a:spcPct val="100000"/>
              </a:lnSpc>
              <a:spcAft>
                <a:spcPts val="4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00000"/>
              </a:lnSpc>
              <a:spcAft>
                <a:spcPts val="400"/>
              </a:spcAft>
            </a:pPr>
            <a:r>
              <a:rPr sz="1200" lang="zh-TW" dirty="0">
                <a:solidFill>
                  <a:srgbClr val="000000"/>
                </a:solidFill>
                <a:latin typeface="Arial Unicode MS"/>
                <a:ea typeface="Arial Unicode MS"/>
                <a:cs typeface="Arial Unicode MS"/>
              </a:rPr>
              <a:t>打開之後車子就會自己跑，不用按任何按鈕。
</a:t>
            </a:r>
          </a:p>
          <a:p>
            <a:pPr algn="l">
              <a:lnSpc>
                <a:spcPct val="100000"/>
              </a:lnSpc>
              <a:spcAft>
                <a:spcPts val="4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a:lnSpc>
                <a:spcPct val="100000"/>
              </a:lnSpc>
              <a:spcAft>
                <a:spcPts val="4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a:lnSpc>
                <a:spcPct val="100000"/>
              </a:lnSpc>
              <a:spcAft>
                <a:spcPts val="4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a:lnSpc>
                <a:spcPct val="100000"/>
              </a:lnSpc>
              <a:spcAft>
                <a:spcPts val="400"/>
              </a:spcAft>
            </a:pPr>
            <a:r>
              <a:rPr sz="1200" lang="zh-TW" dirty="0">
                <a:solidFill>
                  <a:srgbClr val="000000"/>
                </a:solidFill>
                <a:latin typeface="Arial Unicode MS"/>
                <a:ea typeface="Arial Unicode MS"/>
                <a:cs typeface="Arial Unicode MS"/>
              </a:rPr>
              <a:t>一句話交代過去：</a:t>
            </a:r>
            <a:r>
              <a:rPr sz="1200" b="1" lang="zh-TW" dirty="0">
                <a:solidFill>
                  <a:srgbClr val="000000"/>
                </a:solidFill>
                <a:latin typeface="Arial Unicode MS"/>
                <a:ea typeface="Arial Unicode MS"/>
                <a:cs typeface="Arial Unicode MS"/>
              </a:rPr>
              <a:t>這幾條射線就是上週講的光達</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但我要先講清楚一件事，免得各位誤會：</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看多遠、看多寬、看多細——相機、雷達也都要回答，只是規格表上的名字不一樣。所以今天學的不是「光達怎麼看」，是「任何感測器都要交代的三個數字」。
</a:t>
            </a:r>
          </a:p>
          <a:p>
            <a:pPr algn="l">
              <a:lnSpc>
                <a:spcPct val="100000"/>
              </a:lnSpc>
              <a:spcAft>
                <a:spcPts val="400"/>
              </a:spcAft>
            </a:pPr>
            <a:r>
              <a:rPr sz="1200" lang="zh-TW" dirty="0">
                <a:solidFill>
                  <a:srgbClr val="000000"/>
                </a:solidFill>
                <a:latin typeface="Arial Unicode MS"/>
                <a:ea typeface="Arial Unicode MS"/>
                <a:cs typeface="Arial Unicode MS"/>
              </a:rPr>
              <a:t>那為什麼先挑光達？因為它的規格最乾淨——三個數字，每一個都拉得動、算得出來。相機和雷達沒這麼直白，要等第三章，也就是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這一頁半分鐘。先講為什麼是這三個。
</a:t>
            </a:r>
          </a:p>
          <a:p>
            <a:pPr algn="l">
              <a:lnSpc>
                <a:spcPct val="100000"/>
              </a:lnSpc>
              <a:spcAft>
                <a:spcPts val="4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a:lnSpc>
                <a:spcPct val="100000"/>
              </a:lnSpc>
              <a:spcAft>
                <a:spcPts val="4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a:lnSpc>
                <a:spcPct val="100000"/>
              </a:lnSpc>
              <a:spcAft>
                <a:spcPts val="4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00000"/>
              </a:lnSpc>
              <a:spcAft>
                <a:spcPts val="4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a:lnSpc>
                <a:spcPct val="100000"/>
              </a:lnSpc>
              <a:spcAft>
                <a:spcPts val="4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a:lnSpc>
                <a:spcPct val="100000"/>
              </a:lnSpc>
              <a:spcAft>
                <a:spcPts val="4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a:lnSpc>
                <a:spcPct val="100000"/>
              </a:lnSpc>
              <a:spcAft>
                <a:spcPts val="4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a:lnSpc>
                <a:spcPct val="100000"/>
              </a:lnSpc>
              <a:spcAft>
                <a:spcPts val="4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a:lnSpc>
                <a:spcPct val="100000"/>
              </a:lnSpc>
              <a:spcAft>
                <a:spcPts val="4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00000"/>
              </a:lnSpc>
              <a:spcAft>
                <a:spcPts val="4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a:lnSpc>
                <a:spcPct val="100000"/>
              </a:lnSpc>
              <a:spcAft>
                <a:spcPts val="4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00000"/>
              </a:lnSpc>
              <a:spcAft>
                <a:spcPts val="4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a:lnSpc>
                <a:spcPct val="100000"/>
              </a:lnSpc>
              <a:spcAft>
                <a:spcPts val="400"/>
              </a:spcAft>
            </a:pPr>
            <a:r>
              <a:rPr sz="1200" lang="zh-TW" dirty="0">
                <a:solidFill>
                  <a:srgbClr val="000000"/>
                </a:solidFill>
                <a:latin typeface="Arial Unicode MS"/>
                <a:ea typeface="Arial Unicode MS"/>
                <a:cs typeface="Arial Unicode MS"/>
              </a:rPr>
              <a:t>調窄會怎樣？從側面切進來的機車完全看不到。
</a:t>
            </a:r>
          </a:p>
          <a:p>
            <a:pPr algn="l">
              <a:lnSpc>
                <a:spcPct val="100000"/>
              </a:lnSpc>
              <a:spcAft>
                <a:spcPts val="4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調寬會怎樣？這題上週剛講過，大家想一下。
</a:t>
            </a:r>
          </a:p>
          <a:p>
            <a:pPr algn="l">
              <a:lnSpc>
                <a:spcPct val="100000"/>
              </a:lnSpc>
              <a:spcAft>
                <a:spcPts val="4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a:lnSpc>
                <a:spcPct val="100000"/>
              </a:lnSpc>
              <a:spcAft>
                <a:spcPts val="4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a:lnSpc>
                <a:spcPct val="100000"/>
              </a:lnSpc>
              <a:spcAft>
                <a:spcPts val="4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在往下講之前，先把問題講清楚。
</a:t>
            </a:r>
          </a:p>
          <a:p>
            <a:pPr algn="l">
              <a:lnSpc>
                <a:spcPct val="100000"/>
              </a:lnSpc>
              <a:spcAft>
                <a:spcPts val="4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先問一個問題，各位心裡估一下。
</a:t>
            </a:r>
          </a:p>
          <a:p>
            <a:pPr algn="l">
              <a:lnSpc>
                <a:spcPct val="100000"/>
              </a:lnSpc>
              <a:spcAft>
                <a:spcPts val="4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（讓學生猜，通常會猜得太短。）
</a:t>
            </a:r>
          </a:p>
          <a:p>
            <a:pPr algn="l">
              <a:lnSpc>
                <a:spcPct val="100000"/>
              </a:lnSpc>
              <a:spcAft>
                <a:spcPts val="4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a:lnSpc>
                <a:spcPct val="100000"/>
              </a:lnSpc>
              <a:spcAft>
                <a:spcPts val="400"/>
              </a:spcAft>
            </a:pPr>
            <a:r>
              <a:rPr sz="1200" lang="zh-TW" dirty="0">
                <a:solidFill>
                  <a:srgbClr val="000000"/>
                </a:solidFill>
                <a:latin typeface="Arial Unicode MS"/>
                <a:ea typeface="Arial Unicode MS"/>
                <a:cs typeface="Arial Unicode MS"/>
              </a:rPr>
              <a:t>這個距離分成兩段。
</a:t>
            </a:r>
          </a:p>
          <a:p>
            <a:pPr algn="l">
              <a:lnSpc>
                <a:spcPct val="100000"/>
              </a:lnSpc>
              <a:spcAft>
                <a:spcPts val="4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上全力煞車的值，大約零點六個重力加速度。</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a:lnSpc>
                <a:spcPct val="100000"/>
              </a:lnSpc>
              <a:spcAft>
                <a:spcPts val="4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第二段，煞車距離。拆成兩步，跟著螢幕上那三步算。
</a:t>
            </a:r>
          </a:p>
          <a:p>
            <a:pPr algn="l">
              <a:lnSpc>
                <a:spcPct val="100000"/>
              </a:lnSpc>
              <a:spcAft>
                <a:spcPts val="4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時速五十是每秒十三點九公尺，每過一秒減掉六——就是上一頁那個減速度——所以大約</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，是從十三點九一路掉到零。所以要用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。速度是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從十三點九掉到零，所以平均就是頭尾相加除以二——十三點九加零，再除以二，大約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注意那個除以二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時速五十要先除以三點六變成十三點九，再代進去。直接把五十代進去會算出兩百公尺，那是錯的。
</a:t>
            </a:r>
          </a:p>
          <a:p>
            <a:pPr algn="l">
              <a:lnSpc>
                <a:spcPct val="100000"/>
              </a:lnSpc>
              <a:spcAft>
                <a:spcPts val="400"/>
              </a:spcAft>
            </a:pPr>
            <a:r>
              <a:rPr sz="1200" lang="zh-TW" dirty="0">
                <a:solidFill>
                  <a:srgbClr val="000000"/>
                </a:solidFill>
                <a:latin typeface="Arial Unicode MS"/>
                <a:ea typeface="Arial Unicode MS"/>
                <a:cs typeface="Arial Unicode MS"/>
              </a:rPr>
              <a:t>合起來就是速度除以二、再乘速度除以六，也就是平方除以十二。
</a:t>
            </a:r>
          </a:p>
          <a:p>
            <a:pPr algn="l">
              <a:lnSpc>
                <a:spcPct val="100000"/>
              </a:lnSpc>
              <a:spcAft>
                <a:spcPts val="400"/>
              </a:spcAft>
            </a:pPr>
            <a:r>
              <a:rPr sz="1200" lang="zh-TW" dirty="0">
                <a:solidFill>
                  <a:srgbClr val="000000"/>
                </a:solidFill>
                <a:latin typeface="Arial Unicode MS"/>
                <a:ea typeface="Arial Unicode MS"/>
                <a:cs typeface="Arial Unicode MS"/>
              </a:rPr>
              <a:t>如果有人問為什麼是平方：速度變兩倍，煞的時間變兩倍、平均速度也變兩倍，兩個都變兩倍，所以距離變四倍。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把兩段加起來。
</a:t>
            </a:r>
          </a:p>
          <a:p>
            <a:pPr algn="l">
              <a:lnSpc>
                <a:spcPct val="100000"/>
              </a:lnSpc>
              <a:spcAft>
                <a:spcPts val="4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a:lnSpc>
                <a:spcPct val="100000"/>
              </a:lnSpc>
              <a:spcAft>
                <a:spcPts val="4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a:lnSpc>
                <a:spcPct val="100000"/>
              </a:lnSpc>
              <a:spcAft>
                <a:spcPts val="4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用一支影片把同樣兩段距離再看一次。
</a:t>
            </a:r>
          </a:p>
          <a:p>
            <a:pPr algn="l">
              <a:lnSpc>
                <a:spcPct val="100000"/>
              </a:lnSpc>
              <a:spcAft>
                <a:spcPts val="4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a:lnSpc>
                <a:spcPct val="100000"/>
              </a:lnSpc>
              <a:spcAft>
                <a:spcPts val="4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看完問三個問題。
</a:t>
            </a:r>
          </a:p>
          <a:p>
            <a:pPr algn="l">
              <a:lnSpc>
                <a:spcPct val="100000"/>
              </a:lnSpc>
              <a:spcAft>
                <a:spcPts val="400"/>
              </a:spcAft>
            </a:pPr>
            <a:r>
              <a:rPr sz="1200" lang="zh-TW" dirty="0">
                <a:solidFill>
                  <a:srgbClr val="000000"/>
                </a:solidFill>
                <a:latin typeface="Arial Unicode MS"/>
                <a:ea typeface="Arial Unicode MS"/>
                <a:cs typeface="Arial Unicode MS"/>
              </a:rPr>
              <a:t>第一，它把煞停距離拆成哪兩段？答案跟我們一樣。
</a:t>
            </a:r>
          </a:p>
          <a:p>
            <a:pPr algn="l">
              <a:lnSpc>
                <a:spcPct val="100000"/>
              </a:lnSpc>
              <a:spcAft>
                <a:spcPts val="4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a:lnSpc>
                <a:spcPct val="100000"/>
              </a:lnSpc>
              <a:spcAft>
                <a:spcPts val="4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a:lnSpc>
                <a:spcPct val="100000"/>
              </a:lnSpc>
              <a:spcAft>
                <a:spcPts val="4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這張表把那條公式，五個常見車速各算一次。
</a:t>
            </a:r>
          </a:p>
          <a:p>
            <a:pPr algn="l">
              <a:lnSpc>
                <a:spcPct val="100000"/>
              </a:lnSpc>
              <a:spcAft>
                <a:spcPts val="4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a:lnSpc>
                <a:spcPct val="100000"/>
              </a:lnSpc>
              <a:spcAft>
                <a:spcPts val="4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a:lnSpc>
                <a:spcPct val="100000"/>
              </a:lnSpc>
              <a:spcAft>
                <a:spcPts val="4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a:lnSpc>
                <a:spcPct val="100000"/>
              </a:lnSpc>
              <a:spcAft>
                <a:spcPts val="4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a:lnSpc>
                <a:spcPct val="100000"/>
              </a:lnSpc>
              <a:spcAft>
                <a:spcPts val="4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看的時候注意三件事，都寫在右邊。
</a:t>
            </a:r>
          </a:p>
          <a:p>
            <a:pPr algn="l">
              <a:lnSpc>
                <a:spcPct val="100000"/>
              </a:lnSpc>
              <a:spcAft>
                <a:spcPts val="4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a:lnSpc>
                <a:spcPct val="100000"/>
              </a:lnSpc>
              <a:spcAft>
                <a:spcPts val="400"/>
              </a:spcAft>
            </a:pPr>
            <a:r>
              <a:rPr sz="1200" lang="zh-TW" dirty="0">
                <a:solidFill>
                  <a:srgbClr val="000000"/>
                </a:solidFill>
                <a:latin typeface="Arial Unicode MS"/>
                <a:ea typeface="Arial Unicode MS"/>
                <a:cs typeface="Arial Unicode MS"/>
              </a:rPr>
              <a:t>第二，它連相機影像和光達點雲都算給你。
</a:t>
            </a:r>
          </a:p>
          <a:p>
            <a:pPr algn="l">
              <a:lnSpc>
                <a:spcPct val="100000"/>
              </a:lnSpc>
              <a:spcAft>
                <a:spcPts val="4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a:lnSpc>
                <a:spcPct val="100000"/>
              </a:lnSpc>
              <a:spcAft>
                <a:spcPts val="400"/>
              </a:spcAft>
            </a:pPr>
            <a:r>
              <a:rPr sz="1200" lang="zh-TW" dirty="0">
                <a:solidFill>
                  <a:srgbClr val="000000"/>
                </a:solidFill>
                <a:latin typeface="Arial Unicode MS"/>
                <a:ea typeface="Arial Unicode MS"/>
                <a:cs typeface="Arial Unicode MS"/>
              </a:rPr>
              <a:t>看完問一句：CARLA 跟我們的瀏覽器模擬器，哪裡是一樣的？
</a:t>
            </a:r>
          </a:p>
          <a:p>
            <a:pPr algn="l">
              <a:lnSpc>
                <a:spcPct val="100000"/>
              </a:lnSpc>
              <a:spcAft>
                <a:spcPts val="4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
</a:t>
            </a:r>
          </a:p>
          <a:p>
            <a:pPr algn="l">
              <a:lnSpc>
                <a:spcPct val="100000"/>
              </a:lnSpc>
              <a:spcAft>
                <a:spcPts val="4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a:lnSpc>
                <a:spcPct val="100000"/>
              </a:lnSpc>
              <a:spcAft>
                <a:spcPts val="4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00000"/>
              </a:lnSpc>
              <a:spcAft>
                <a:spcPts val="4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a:lnSpc>
                <a:spcPct val="100000"/>
              </a:lnSpc>
              <a:spcAft>
                <a:spcPts val="4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a:lnSpc>
                <a:spcPct val="100000"/>
              </a:lnSpc>
              <a:spcAft>
                <a:spcPts val="4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a:lnSpc>
                <a:spcPct val="100000"/>
              </a:lnSpc>
              <a:spcAft>
                <a:spcPts val="4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a:lnSpc>
                <a:spcPct val="100000"/>
              </a:lnSpc>
              <a:spcAft>
                <a:spcPts val="400"/>
              </a:spcAft>
            </a:pPr>
            <a:r>
              <a:rPr sz="1200" lang="zh-TW" dirty="0">
                <a:solidFill>
                  <a:srgbClr val="000000"/>
                </a:solidFill>
                <a:latin typeface="Arial Unicode MS"/>
                <a:ea typeface="Arial Unicode MS"/>
                <a:cs typeface="Arial Unicode MS"/>
              </a:rPr>
              <a:t>為什麼要這樣做？（等學生想。）
</a:t>
            </a:r>
          </a:p>
          <a:p>
            <a:pPr algn="l">
              <a:lnSpc>
                <a:spcPct val="100000"/>
              </a:lnSpc>
              <a:spcAft>
                <a:spcPts val="4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a:lnSpc>
                <a:spcPct val="100000"/>
              </a:lnSpc>
              <a:spcAft>
                <a:spcPts val="4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a:lnSpc>
                <a:spcPct val="100000"/>
              </a:lnSpc>
              <a:spcAft>
                <a:spcPts val="4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a:lnSpc>
                <a:spcPct val="100000"/>
              </a:lnSpc>
              <a:spcAft>
                <a:spcPts val="4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a:lnSpc>
                <a:spcPct val="100000"/>
              </a:lnSpc>
              <a:spcAft>
                <a:spcPts val="400"/>
              </a:spcAft>
            </a:pPr>
            <a:r>
              <a:rPr sz="1200" lang="zh-TW" dirty="0">
                <a:solidFill>
                  <a:srgbClr val="000000"/>
                </a:solidFill>
                <a:latin typeface="Arial Unicode MS"/>
                <a:ea typeface="Arial Unicode MS"/>
                <a:cs typeface="Arial Unicode MS"/>
              </a:rPr>
              <a:t>（問全班）真實世界的機車是這樣嗎？
</a:t>
            </a:r>
          </a:p>
          <a:p>
            <a:pPr algn="l">
              <a:lnSpc>
                <a:spcPct val="100000"/>
              </a:lnSpc>
              <a:spcAft>
                <a:spcPts val="400"/>
              </a:spcAft>
            </a:pPr>
            <a:r>
              <a:rPr sz="1200" lang="zh-TW" dirty="0">
                <a:solidFill>
                  <a:srgbClr val="000000"/>
                </a:solidFill>
                <a:latin typeface="Arial Unicode MS"/>
                <a:ea typeface="Arial Unicode MS"/>
                <a:cs typeface="Arial Unicode MS"/>
              </a:rPr>
              <a:t>不是。鑽縫、紅燈前擠到最前面、沒有標線的路口靠眼神。
</a:t>
            </a:r>
          </a:p>
          <a:p>
            <a:pPr algn="l">
              <a:lnSpc>
                <a:spcPct val="100000"/>
              </a:lnSpc>
              <a:spcAft>
                <a:spcPts val="4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a:lnSpc>
                <a:spcPct val="100000"/>
              </a:lnSpc>
              <a:spcAft>
                <a:spcPts val="4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a:lnSpc>
                <a:spcPct val="100000"/>
              </a:lnSpc>
              <a:spcAft>
                <a:spcPts val="4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a:lnSpc>
                <a:spcPct val="100000"/>
              </a:lnSpc>
              <a:spcAft>
                <a:spcPts val="400"/>
              </a:spcAft>
            </a:pPr>
            <a:r>
              <a:rPr sz="1200" lang="zh-TW" dirty="0">
                <a:solidFill>
                  <a:srgbClr val="000000"/>
                </a:solidFill>
                <a:latin typeface="Arial Unicode MS"/>
                <a:ea typeface="Arial Unicode MS"/>
                <a:cs typeface="Arial Unicode MS"/>
              </a:rPr>
              <a:t>（等學生回答。）
</a:t>
            </a:r>
          </a:p>
          <a:p>
            <a:pPr algn="l">
              <a:lnSpc>
                <a:spcPct val="100000"/>
              </a:lnSpc>
              <a:spcAft>
                <a:spcPts val="4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a:lnSpc>
                <a:spcPct val="100000"/>
              </a:lnSpc>
              <a:spcAft>
                <a:spcPts val="4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a:lnSpc>
                <a:spcPct val="100000"/>
              </a:lnSpc>
              <a:spcAft>
                <a:spcPts val="4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（問全班）下雨天煞車，煞得住嗎？
</a:t>
            </a:r>
          </a:p>
          <a:p>
            <a:pPr algn="l">
              <a:lnSpc>
                <a:spcPct val="100000"/>
              </a:lnSpc>
              <a:spcAft>
                <a:spcPts val="4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a:lnSpc>
                <a:spcPct val="100000"/>
              </a:lnSpc>
              <a:spcAft>
                <a:spcPts val="4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講了三種落差，好像模擬一無是處。反過來也要講。
</a:t>
            </a:r>
          </a:p>
          <a:p>
            <a:pPr algn="l">
              <a:lnSpc>
                <a:spcPct val="100000"/>
              </a:lnSpc>
              <a:spcAft>
                <a:spcPts val="4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a:lnSpc>
                <a:spcPct val="100000"/>
              </a:lnSpc>
              <a:spcAft>
                <a:spcPts val="4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a:lnSpc>
                <a:spcPct val="100000"/>
              </a:lnSpc>
              <a:spcAft>
                <a:spcPts val="400"/>
              </a:spcAft>
            </a:pPr>
            <a:r>
              <a:rPr sz="1200" lang="zh-TW" dirty="0">
                <a:solidFill>
                  <a:srgbClr val="000000"/>
                </a:solidFill>
                <a:latin typeface="Arial Unicode MS"/>
                <a:ea typeface="Arial Unicode MS"/>
                <a:cs typeface="Arial Unicode MS"/>
              </a:rPr>
              <a:t>這一句我想聽大家自己說出來。
</a:t>
            </a:r>
          </a:p>
          <a:p>
            <a:pPr algn="l">
              <a:lnSpc>
                <a:spcPct val="100000"/>
              </a:lnSpc>
              <a:spcAft>
                <a:spcPts val="4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a:lnSpc>
                <a:spcPct val="100000"/>
              </a:lnSpc>
              <a:spcAft>
                <a:spcPts val="4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一欄一欄看。
</a:t>
            </a:r>
          </a:p>
          <a:p>
            <a:pPr algn="l">
              <a:lnSpc>
                <a:spcPct val="100000"/>
              </a:lnSpc>
              <a:spcAft>
                <a:spcPts val="4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a:lnSpc>
                <a:spcPct val="100000"/>
              </a:lnSpc>
              <a:spcAft>
                <a:spcPts val="4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a:lnSpc>
                <a:spcPct val="100000"/>
              </a:lnSpc>
              <a:spcAft>
                <a:spcPts val="4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383"/>
              </a:spcAft>
            </a:pPr>
            <a:r>
              <a:rPr sz="1150" lang="zh-TW" dirty="0">
                <a:solidFill>
                  <a:srgbClr val="000000"/>
                </a:solidFill>
                <a:latin typeface="Arial Unicode MS"/>
                <a:ea typeface="Arial Unicode MS"/>
                <a:cs typeface="Arial Unicode MS"/>
              </a:rPr>
              <a:t>現在做一個四分鐘的討論。
</a:t>
            </a:r>
          </a:p>
          <a:p>
            <a:pPr algn="l">
              <a:lnSpc>
                <a:spcPct val="100000"/>
              </a:lnSpc>
              <a:spcAft>
                <a:spcPts val="383"/>
              </a:spcAft>
            </a:pPr>
            <a:r>
              <a:rPr sz="1150" lang="zh-TW" dirty="0">
                <a:solidFill>
                  <a:srgbClr val="000000"/>
                </a:solidFill>
                <a:latin typeface="Arial Unicode MS"/>
                <a:ea typeface="Arial Unicode MS"/>
                <a:cs typeface="Arial Unicode MS"/>
              </a:rPr>
              <a:t>每一組講一件，我在白板上分三欄記下來：外觀、行為、物理。
</a:t>
            </a:r>
          </a:p>
          <a:p>
            <a:pPr algn="l">
              <a:lnSpc>
                <a:spcPct val="100000"/>
              </a:lnSpc>
              <a:spcAft>
                <a:spcPts val="383"/>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a:lnSpc>
                <a:spcPct val="100000"/>
              </a:lnSpc>
              <a:spcAft>
                <a:spcPts val="383"/>
              </a:spcAft>
            </a:pPr>
            <a:r>
              <a:rPr sz="1150" lang="zh-TW" dirty="0">
                <a:solidFill>
                  <a:srgbClr val="000000"/>
                </a:solidFill>
                <a:latin typeface="Arial Unicode MS"/>
                <a:ea typeface="Arial Unicode MS"/>
                <a:cs typeface="Arial Unicode MS"/>
              </a:rPr>
              <a:t>大部分的人會猜行為，而且會猜對。
</a:t>
            </a:r>
          </a:p>
          <a:p>
            <a:pPr algn="l">
              <a:lnSpc>
                <a:spcPct val="100000"/>
              </a:lnSpc>
              <a:spcAft>
                <a:spcPts val="383"/>
              </a:spcAft>
            </a:pPr>
            <a:r>
              <a:rPr sz="1150" lang="zh-TW" dirty="0">
                <a:solidFill>
                  <a:srgbClr val="000000"/>
                </a:solidFill>
                <a:latin typeface="Arial Unicode MS"/>
                <a:ea typeface="Arial Unicode MS"/>
                <a:cs typeface="Arial Unicode MS"/>
              </a:rPr>
              <a:t>開始。
</a:t>
            </a:r>
          </a:p>
          <a:p>
            <a:pPr algn="l">
              <a:lnSpc>
                <a:spcPct val="100000"/>
              </a:lnSpc>
              <a:spcAft>
                <a:spcPts val="383"/>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00000"/>
              </a:lnSpc>
              <a:spcAft>
                <a:spcPts val="383"/>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a:lnSpc>
                <a:spcPct val="100000"/>
              </a:lnSpc>
              <a:spcAft>
                <a:spcPts val="383"/>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00000"/>
              </a:lnSpc>
              <a:spcAft>
                <a:spcPts val="383"/>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00000"/>
              </a:lnSpc>
              <a:spcAft>
                <a:spcPts val="383"/>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拍張照留著——上面每一條，都是一個還沒有人做過的題目。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第一節到這裡。三句話帶走。
</a:t>
            </a:r>
          </a:p>
          <a:p>
            <a:pPr algn="l">
              <a:lnSpc>
                <a:spcPct val="100000"/>
              </a:lnSpc>
              <a:spcAft>
                <a:spcPts val="4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00000"/>
              </a:lnSpc>
              <a:spcAft>
                <a:spcPts val="4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00000"/>
              </a:lnSpc>
              <a:spcAft>
                <a:spcPts val="4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00000"/>
              </a:lnSpc>
              <a:spcAft>
                <a:spcPts val="4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a:lnSpc>
                <a:spcPct val="100000"/>
              </a:lnSpc>
              <a:spcAft>
                <a:spcPts val="4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00000"/>
              </a:lnSpc>
              <a:spcAft>
                <a:spcPts val="4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3 / 28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4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5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28</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7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9 / 28</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10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11 / 28</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12 / 28</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 (trang trước).</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6 ≈ 2,3 giây</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6（上一頁那個數字）。</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6 ≈ 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14 / 28</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15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16 / 28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17 / 28</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18 / 28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19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20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28</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23 / 28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24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28</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28</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27 / 28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28 / 28</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2026-09-28T05:46:25Z</dcterms:created>
  <dcterms:modified xsi:type="dcterms:W3CDTF">2026-09-28T05:46:25Z</dcterms:modified>
</cp:coreProperties>
</file>