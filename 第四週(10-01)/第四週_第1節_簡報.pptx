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theme/theme2.xml" ContentType="application/vnd.openxmlformats-officedocument.them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sldSz cx="9144000" cy="5143500"/>
  <p:notesSz cx="7560000" cy="106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投影片影像版面配置區 3"/>
          <p:cNvSpPr>
            <a:spLocks noGrp="1" noRot="1" noChangeAspect="1"/>
          </p:cNvSpPr>
          <p:nvPr>
            <p:ph type="sldImg" idx="2"/>
          </p:nvPr>
        </p:nvSpPr>
        <p:spPr>
          <a:xfrm>
            <a:off x="540000" y="540000"/>
            <a:ext cx="6480000" cy="3645000"/>
          </a:xfrm>
          <a:prstGeom prst="rect">
            <a:avLst/>
          </a:prstGeom>
          <a:noFill/>
          <a:ln w="12700">
            <a:solidFill>
              <a:prstClr val="black"/>
            </a:solidFill>
          </a:ln>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5" name="備忘稿版面配置區 4"/>
          <p:cNvSpPr>
            <a:spLocks noGrp="1"/>
          </p:cNvSpPr>
          <p:nvPr>
            <p:ph type="body" idx="3"/>
          </p:nvPr>
        </p:nvSpPr>
        <p:spPr>
          <a:xfrm>
            <a:off x="540000" y="4440000"/>
            <a:ext cx="6480000" cy="55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7" name="投影片編號版面配置區 6"/>
          <p:cNvSpPr>
            <a:spLocks noGrp="1"/>
          </p:cNvSpPr>
          <p:nvPr>
            <p:ph type="sldNum" idx="5"/>
          </p:nvPr>
        </p:nvSpPr>
        <p:spPr>
          <a:xfrm>
            <a:off x="6500000" y="10200000"/>
            <a:ext cx="500000" cy="3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Tree>
    <p:extLst>
      <p:ext uri="{BB962C8B-B14F-4D97-AF65-F5344CB8AC3E}">
        <p14:creationId xmlns:p14="http://schemas.microsoft.com/office/powerpoint/2010/main" val="7429581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Unicode MS"/>
        <a:ea typeface="Arial Unicode MS"/>
        <a:cs typeface="Arial Unicode MS"/>
      </a:defRPr>
    </a:lvl1pPr>
    <a:lvl2pPr marL="457200" algn="l" defTabSz="914400" rtl="0" eaLnBrk="1" latinLnBrk="0" hangingPunct="1">
      <a:defRPr sz="1200" kern="1200">
        <a:solidFill>
          <a:schemeClr val="tx1"/>
        </a:solidFill>
        <a:latin typeface="Arial Unicode MS"/>
        <a:ea typeface="Arial Unicode MS"/>
        <a:cs typeface="Arial Unicode MS"/>
      </a:defRPr>
    </a:lvl2pPr>
    <a:lvl3pPr marL="914400" algn="l" defTabSz="914400" rtl="0" eaLnBrk="1" latinLnBrk="0" hangingPunct="1">
      <a:defRPr sz="1200" kern="1200">
        <a:solidFill>
          <a:schemeClr val="tx1"/>
        </a:solidFill>
        <a:latin typeface="Arial Unicode MS"/>
        <a:ea typeface="Arial Unicode MS"/>
        <a:cs typeface="Arial Unicode MS"/>
      </a:defRPr>
    </a:lvl3pPr>
    <a:lvl4pPr marL="1371600" algn="l" defTabSz="914400" rtl="0" eaLnBrk="1" latinLnBrk="0" hangingPunct="1">
      <a:defRPr sz="1200" kern="1200">
        <a:solidFill>
          <a:schemeClr val="tx1"/>
        </a:solidFill>
        <a:latin typeface="Arial Unicode MS"/>
        <a:ea typeface="Arial Unicode MS"/>
        <a:cs typeface="Arial Unicode MS"/>
      </a:defRPr>
    </a:lvl4pPr>
    <a:lvl5pPr marL="1828800" algn="l" defTabSz="914400" rtl="0" eaLnBrk="1" latinLnBrk="0" hangingPunct="1">
      <a:defRPr sz="1200" kern="1200">
        <a:solidFill>
          <a:schemeClr val="tx1"/>
        </a:solidFill>
        <a:latin typeface="Arial Unicode MS"/>
        <a:ea typeface="Arial Unicode MS"/>
        <a:cs typeface="Arial Unicode MS"/>
      </a:defRPr>
    </a:lvl5pPr>
    <a:lvl6pPr marL="2286000" algn="l" defTabSz="914400" rtl="0" eaLnBrk="1" latinLnBrk="0" hangingPunct="1">
      <a:defRPr sz="1200" kern="1200">
        <a:solidFill>
          <a:schemeClr val="tx1"/>
        </a:solidFill>
        <a:latin typeface="Arial Unicode MS"/>
        <a:ea typeface="Arial Unicode MS"/>
        <a:cs typeface="Arial Unicode MS"/>
      </a:defRPr>
    </a:lvl6pPr>
    <a:lvl7pPr marL="2743200" algn="l" defTabSz="914400" rtl="0" eaLnBrk="1" latinLnBrk="0" hangingPunct="1">
      <a:defRPr sz="1200" kern="1200">
        <a:solidFill>
          <a:schemeClr val="tx1"/>
        </a:solidFill>
        <a:latin typeface="Arial Unicode MS"/>
        <a:ea typeface="Arial Unicode MS"/>
        <a:cs typeface="Arial Unicode MS"/>
      </a:defRPr>
    </a:lvl7pPr>
    <a:lvl8pPr marL="3200400" algn="l" defTabSz="914400" rtl="0" eaLnBrk="1" latinLnBrk="0" hangingPunct="1">
      <a:defRPr sz="1200" kern="1200">
        <a:solidFill>
          <a:schemeClr val="tx1"/>
        </a:solidFill>
        <a:latin typeface="Arial Unicode MS"/>
        <a:ea typeface="Arial Unicode MS"/>
        <a:cs typeface="Arial Unicode MS"/>
      </a:defRPr>
    </a:lvl8pPr>
    <a:lvl9pPr marL="3657600" algn="l" defTabSz="914400" rtl="0" eaLnBrk="1" latinLnBrk="0" hangingPunct="1">
      <a:defRPr sz="1200" kern="1200">
        <a:solidFill>
          <a:schemeClr val="tx1"/>
        </a:solidFill>
        <a:latin typeface="Arial Unicode MS"/>
        <a:ea typeface="Arial Unicode MS"/>
        <a:cs typeface="Arial Unicode M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b="1" lang="zh-TW" dirty="0">
                <a:solidFill>
                  <a:srgbClr val="000000"/>
                </a:solidFill>
                <a:latin typeface="Arial Unicode MS"/>
                <a:ea typeface="Arial Unicode MS"/>
                <a:cs typeface="Arial Unicode MS"/>
              </a:rPr>
              <a:t>▍這一張要做什麼</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開場定調。這一週要做的事只有一句：上週各位用手拉的三個滑桿，就是真規格表上的三行。
</a:t>
            </a:r>
          </a:p>
          <a:p>
            <a:pPr algn="l">
              <a:lnSpc>
                <a:spcPct val="115000"/>
              </a:lnSpc>
              <a:spcAft>
                <a:spcPts val="500"/>
              </a:spcAft>
            </a:pPr>
            <a:r>
              <a:rPr sz="1000" b="1" lang="zh-TW" dirty="0">
                <a:solidFill>
                  <a:srgbClr val="000000"/>
                </a:solidFill>
                <a:latin typeface="Arial Unicode MS"/>
                <a:ea typeface="Arial Unicode MS"/>
                <a:cs typeface="Arial Unicode MS"/>
              </a:rPr>
              <a:t>▍畫面上圈這裡</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圈主標裡的「三個滑桿」和「規格表上的三行」，告訴全班這兩件事今天要接起來。
</a:t>
            </a:r>
          </a:p>
          <a:p>
            <a:pPr algn="l">
              <a:lnSpc>
                <a:spcPct val="115000"/>
              </a:lnSpc>
              <a:spcAft>
                <a:spcPts val="500"/>
              </a:spcAft>
            </a:pPr>
            <a:r>
              <a:rPr sz="1000" b="1" lang="zh-TW" dirty="0">
                <a:solidFill>
                  <a:srgbClr val="000000"/>
                </a:solidFill>
                <a:latin typeface="Arial Unicode MS"/>
                <a:ea typeface="Arial Unicode MS"/>
                <a:cs typeface="Arial Unicode MS"/>
              </a:rPr>
              <a:t>▍以下照著唸</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各位早。
</a:t>
            </a:r>
          </a:p>
          <a:p>
            <a:pPr algn="l">
              <a:lnSpc>
                <a:spcPct val="115000"/>
              </a:lnSpc>
              <a:spcAft>
                <a:spcPts val="500"/>
              </a:spcAft>
            </a:pPr>
            <a:r>
              <a:rPr sz="1000" lang="zh-TW" dirty="0">
                <a:solidFill>
                  <a:srgbClr val="000000"/>
                </a:solidFill>
                <a:latin typeface="Arial Unicode MS"/>
                <a:ea typeface="Arial Unicode MS"/>
                <a:cs typeface="Arial Unicode MS"/>
              </a:rPr>
              <a:t>上週各位第一次讓車子在模擬器裡跑起來，也發現了一件怪事：</a:t>
            </a:r>
            <a:r>
              <a:rPr sz="1000" b="1" lang="zh-TW" dirty="0">
                <a:solidFill>
                  <a:srgbClr val="000000"/>
                </a:solidFill>
                <a:latin typeface="Arial Unicode MS"/>
                <a:ea typeface="Arial Unicode MS"/>
                <a:cs typeface="Arial Unicode MS"/>
              </a:rPr>
              <a:t>同一組參數，有時候撞、有時候不撞</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今天要做的事，是把上週看到的東西接到真車上。三件事：
</a:t>
            </a:r>
          </a:p>
          <a:p>
            <a:pPr algn="l">
              <a:lnSpc>
                <a:spcPct val="115000"/>
              </a:lnSpc>
              <a:spcAft>
                <a:spcPts val="500"/>
              </a:spcAft>
            </a:pPr>
            <a:r>
              <a:rPr sz="1000" lang="zh-TW" dirty="0">
                <a:solidFill>
                  <a:srgbClr val="000000"/>
                </a:solidFill>
                <a:latin typeface="Arial Unicode MS"/>
                <a:ea typeface="Arial Unicode MS"/>
                <a:cs typeface="Arial Unicode MS"/>
              </a:rPr>
              <a:t>第一，上週那三個滑桿，在真車的規格表上各自叫什麼名字。
</a:t>
            </a:r>
          </a:p>
          <a:p>
            <a:pPr algn="l">
              <a:lnSpc>
                <a:spcPct val="115000"/>
              </a:lnSpc>
              <a:spcAft>
                <a:spcPts val="500"/>
              </a:spcAft>
            </a:pPr>
            <a:r>
              <a:rPr sz="1000" lang="zh-TW" dirty="0">
                <a:solidFill>
                  <a:srgbClr val="000000"/>
                </a:solidFill>
                <a:latin typeface="Arial Unicode MS"/>
                <a:ea typeface="Arial Unicode MS"/>
                <a:cs typeface="Arial Unicode MS"/>
              </a:rPr>
              <a:t>第二，在模擬裡跑得好，為什麼搬到真車上一定會退步。
</a:t>
            </a:r>
          </a:p>
          <a:p>
            <a:pPr algn="l">
              <a:lnSpc>
                <a:spcPct val="115000"/>
              </a:lnSpc>
              <a:spcAft>
                <a:spcPts val="500"/>
              </a:spcAft>
            </a:pPr>
            <a:r>
              <a:rPr sz="1000" lang="zh-TW" dirty="0">
                <a:solidFill>
                  <a:srgbClr val="000000"/>
                </a:solidFill>
                <a:latin typeface="Arial Unicode MS"/>
                <a:ea typeface="Arial Unicode MS"/>
                <a:cs typeface="Arial Unicode MS"/>
              </a:rPr>
              <a:t>第三，什麼叫「場景」——這是下一節的主題。
</a:t>
            </a:r>
          </a:p>
          <a:p>
            <a:pPr algn="l">
              <a:lnSpc>
                <a:spcPct val="115000"/>
              </a:lnSpc>
              <a:spcAft>
                <a:spcPts val="500"/>
              </a:spcAft>
            </a:pPr>
            <a:r>
              <a:rPr sz="1000" lang="zh-TW" dirty="0">
                <a:solidFill>
                  <a:srgbClr val="000000"/>
                </a:solidFill>
                <a:latin typeface="Arial Unicode MS"/>
                <a:ea typeface="Arial Unicode MS"/>
                <a:cs typeface="Arial Unicode MS"/>
              </a:rPr>
              <a:t>最後一節上機，各位要為河內配一組感測器，那個答案會一路帶到期末專題。
</a:t>
            </a:r>
          </a:p>
          <a:p>
            <a:pPr algn="l">
              <a:lnSpc>
                <a:spcPct val="115000"/>
              </a:lnSpc>
              <a:spcAft>
                <a:spcPts val="500"/>
              </a:spcAft>
            </a:pPr>
            <a:r>
              <a:rPr sz="1000" lang="zh-TW" dirty="0">
                <a:solidFill>
                  <a:srgbClr val="000000"/>
                </a:solidFill>
                <a:latin typeface="Arial Unicode MS"/>
                <a:ea typeface="Arial Unicode MS"/>
                <a:cs typeface="Arial Unicode MS"/>
              </a:rPr>
              <a:t>今天一樣要用模擬器，網址和 QR 在下一頁，請先打開放著。</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a:t>
            </a:r>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lnSpc>
                <a:spcPct val="115000"/>
              </a:lnSpc>
              <a:spcAft>
                <a:spcPts val="600"/>
              </a:spcAft>
            </a:pPr>
            <a:r>
              <a:rPr sz="1200" lang="zh-TW" dirty="0">
                <a:solidFill>
                  <a:srgbClr val="000000"/>
                </a:solidFill>
                <a:latin typeface="Arial Unicode MS"/>
                <a:ea typeface="Arial Unicode MS"/>
                <a:cs typeface="Arial Unicode MS"/>
              </a:rPr>
              <a:t>讓每個人先把模擬器打開，確認全班畫面一致再往下走。這一頁不要趕。
</a:t>
            </a:r>
          </a:p>
          <a:p>
            <a:pPr algn="l">
              <a:lnSpc>
                <a:spcPct val="115000"/>
              </a:lnSpc>
              <a:spcAft>
                <a:spcPts val="6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lnSpc>
                <a:spcPct val="115000"/>
              </a:lnSpc>
              <a:spcAft>
                <a:spcPts val="600"/>
              </a:spcAft>
            </a:pPr>
            <a:r>
              <a:rPr sz="1200" lang="zh-TW" dirty="0">
                <a:solidFill>
                  <a:srgbClr val="000000"/>
                </a:solidFill>
                <a:latin typeface="Arial Unicode MS"/>
                <a:ea typeface="Arial Unicode MS"/>
                <a:cs typeface="Arial Unicode MS"/>
              </a:rPr>
              <a:t>圈網址與 QR 碼，再圈下方的操作步驟。等到全班都舉手示意打開了才翻頁。
</a:t>
            </a:r>
          </a:p>
          <a:p>
            <a:pPr algn="l">
              <a:lnSpc>
                <a:spcPct val="115000"/>
              </a:lnSpc>
              <a:spcAft>
                <a:spcPts val="6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lnSpc>
                <a:spcPct val="115000"/>
              </a:lnSpc>
              <a:spcAft>
                <a:spcPts val="600"/>
              </a:spcAft>
            </a:pPr>
            <a:r>
              <a:rPr sz="1200" lang="zh-TW" dirty="0">
                <a:solidFill>
                  <a:srgbClr val="000000"/>
                </a:solidFill>
                <a:latin typeface="Arial Unicode MS"/>
                <a:ea typeface="Arial Unicode MS"/>
                <a:cs typeface="Arial Unicode MS"/>
              </a:rPr>
              <a:t>我們花兩分鐘先把它打開，不要等到第三節才手忙腳亂。
</a:t>
            </a:r>
          </a:p>
          <a:p>
            <a:pPr algn="l">
              <a:lnSpc>
                <a:spcPct val="115000"/>
              </a:lnSpc>
              <a:spcAft>
                <a:spcPts val="600"/>
              </a:spcAft>
            </a:pPr>
            <a:r>
              <a:rPr sz="1200" lang="zh-TW" dirty="0">
                <a:solidFill>
                  <a:srgbClr val="000000"/>
                </a:solidFill>
                <a:latin typeface="Arial Unicode MS"/>
                <a:ea typeface="Arial Unicode MS"/>
                <a:cs typeface="Arial Unicode MS"/>
              </a:rPr>
              <a:t>網址跟上週一樣的那支模擬器，但我加了一個新東西，第三節會用到。
</a:t>
            </a:r>
          </a:p>
          <a:p>
            <a:pPr algn="l">
              <a:lnSpc>
                <a:spcPct val="115000"/>
              </a:lnSpc>
              <a:spcAft>
                <a:spcPts val="600"/>
              </a:spcAft>
            </a:pPr>
            <a:r>
              <a:rPr sz="1200" lang="zh-TW" dirty="0">
                <a:solidFill>
                  <a:srgbClr val="000000"/>
                </a:solidFill>
                <a:latin typeface="Arial Unicode MS"/>
                <a:ea typeface="Arial Unicode MS"/>
                <a:cs typeface="Arial Unicode MS"/>
              </a:rPr>
              <a:t>這週</a:t>
            </a:r>
            <a:r>
              <a:rPr sz="1200" b="1" lang="zh-TW" dirty="0">
                <a:solidFill>
                  <a:srgbClr val="000000"/>
                </a:solidFill>
                <a:latin typeface="Arial Unicode MS"/>
                <a:ea typeface="Arial Unicode MS"/>
                <a:cs typeface="Arial Unicode MS"/>
              </a:rPr>
              <a:t>建議用筆電</a:t>
            </a:r>
            <a:r>
              <a:rPr sz="1200" lang="zh-TW" dirty="0">
                <a:solidFill>
                  <a:srgbClr val="000000"/>
                </a:solidFill>
                <a:latin typeface="Arial Unicode MS"/>
                <a:ea typeface="Arial Unicode MS"/>
                <a:cs typeface="Arial Unicode MS"/>
              </a:rPr>
              <a:t>，不要用手機。理由很簡單：今天要一邊看車子跑、一邊調三個滑桿、還要記數字，手機螢幕太小。
</a:t>
            </a:r>
          </a:p>
          <a:p>
            <a:pPr algn="l">
              <a:lnSpc>
                <a:spcPct val="115000"/>
              </a:lnSpc>
              <a:spcAft>
                <a:spcPts val="600"/>
              </a:spcAft>
            </a:pPr>
            <a:r>
              <a:rPr sz="1200" lang="zh-TW" dirty="0">
                <a:solidFill>
                  <a:srgbClr val="000000"/>
                </a:solidFill>
                <a:latin typeface="Arial Unicode MS"/>
                <a:ea typeface="Arial Unicode MS"/>
                <a:cs typeface="Arial Unicode MS"/>
              </a:rPr>
              <a:t>打開之後先按「開始」，讓車子跑一圈，確認畫面會動。
</a:t>
            </a:r>
          </a:p>
          <a:p>
            <a:pPr algn="l">
              <a:lnSpc>
                <a:spcPct val="115000"/>
              </a:lnSpc>
              <a:spcAft>
                <a:spcPts val="600"/>
              </a:spcAft>
            </a:pPr>
            <a:r>
              <a:rPr sz="1200" lang="zh-TW" dirty="0">
                <a:solidFill>
                  <a:srgbClr val="000000"/>
                </a:solidFill>
                <a:latin typeface="Arial Unicode MS"/>
                <a:ea typeface="Arial Unicode MS"/>
                <a:cs typeface="Arial Unicode MS"/>
              </a:rPr>
              <a:t>沒帶筆電的同學，請跟隔壁的同學併桌一起看。等全部的人都打開了我們再往下。</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2</a:t>
            </a:r>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lnSpc>
                <a:spcPct val="115000"/>
              </a:lnSpc>
              <a:spcAft>
                <a:spcPts val="600"/>
              </a:spcAft>
            </a:pPr>
            <a:r>
              <a:rPr sz="1200" lang="zh-TW" dirty="0">
                <a:solidFill>
                  <a:srgbClr val="000000"/>
                </a:solidFill>
                <a:latin typeface="Arial Unicode MS"/>
                <a:ea typeface="Arial Unicode MS"/>
                <a:cs typeface="Arial Unicode MS"/>
              </a:rPr>
              <a:t>段落分隔。宣告第一段要處理的問題。
</a:t>
            </a:r>
          </a:p>
          <a:p>
            <a:pPr algn="l">
              <a:lnSpc>
                <a:spcPct val="115000"/>
              </a:lnSpc>
              <a:spcAft>
                <a:spcPts val="6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lnSpc>
                <a:spcPct val="115000"/>
              </a:lnSpc>
              <a:spcAft>
                <a:spcPts val="600"/>
              </a:spcAft>
            </a:pPr>
            <a:r>
              <a:rPr sz="1200" lang="zh-TW" dirty="0">
                <a:solidFill>
                  <a:srgbClr val="000000"/>
                </a:solidFill>
                <a:latin typeface="Arial Unicode MS"/>
                <a:ea typeface="Arial Unicode MS"/>
                <a:cs typeface="Arial Unicode MS"/>
              </a:rPr>
              <a:t>不用圈。停兩秒，讓大家換一個檔。
</a:t>
            </a:r>
          </a:p>
          <a:p>
            <a:pPr algn="l">
              <a:lnSpc>
                <a:spcPct val="115000"/>
              </a:lnSpc>
              <a:spcAft>
                <a:spcPts val="6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lnSpc>
                <a:spcPct val="115000"/>
              </a:lnSpc>
              <a:spcAft>
                <a:spcPts val="600"/>
              </a:spcAft>
            </a:pPr>
            <a:r>
              <a:rPr sz="1200" lang="zh-TW" dirty="0">
                <a:solidFill>
                  <a:srgbClr val="000000"/>
                </a:solidFill>
                <a:latin typeface="Arial Unicode MS"/>
                <a:ea typeface="Arial Unicode MS"/>
                <a:cs typeface="Arial Unicode MS"/>
              </a:rPr>
              <a:t>第一段。上週各位調的三個滑桿，在真車的規格表上叫什麼名字。
</a:t>
            </a:r>
          </a:p>
          <a:p>
            <a:pPr algn="l">
              <a:lnSpc>
                <a:spcPct val="115000"/>
              </a:lnSpc>
              <a:spcAft>
                <a:spcPts val="600"/>
              </a:spcAft>
            </a:pPr>
            <a:r>
              <a:rPr sz="1200" lang="zh-TW" dirty="0">
                <a:solidFill>
                  <a:srgbClr val="000000"/>
                </a:solidFill>
                <a:latin typeface="Arial Unicode MS"/>
                <a:ea typeface="Arial Unicode MS"/>
                <a:cs typeface="Arial Unicode MS"/>
              </a:rPr>
              <a:t>一個一個來，每一個我都會問各位一個問題。</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3</a:t>
            </a:r>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b="1" lang="zh-TW" dirty="0">
                <a:solidFill>
                  <a:srgbClr val="000000"/>
                </a:solidFill>
                <a:latin typeface="Arial Unicode MS"/>
                <a:ea typeface="Arial Unicode MS"/>
                <a:cs typeface="Arial Unicode MS"/>
              </a:rPr>
              <a:t>▍這一張要做什麼</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把模擬器的「射線數」對到規格表上的 Resolution，並帶出「射線之間有縫」這個關鍵。
</a:t>
            </a:r>
          </a:p>
          <a:p>
            <a:pPr algn="l">
              <a:lnSpc>
                <a:spcPct val="115000"/>
              </a:lnSpc>
              <a:spcAft>
                <a:spcPts val="500"/>
              </a:spcAft>
            </a:pPr>
            <a:r>
              <a:rPr sz="1000" b="1" lang="zh-TW" dirty="0">
                <a:solidFill>
                  <a:srgbClr val="000000"/>
                </a:solidFill>
                <a:latin typeface="Arial Unicode MS"/>
                <a:ea typeface="Arial Unicode MS"/>
                <a:cs typeface="Arial Unicode MS"/>
              </a:rPr>
              <a:t>▍畫面上圈這裡</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圈左邊扇形圖裡兩條射線之間的空隙，再圈右邊最後一列「調小會怎樣」。
</a:t>
            </a:r>
          </a:p>
          <a:p>
            <a:pPr algn="l">
              <a:lnSpc>
                <a:spcPct val="115000"/>
              </a:lnSpc>
              <a:spcAft>
                <a:spcPts val="500"/>
              </a:spcAft>
            </a:pPr>
            <a:r>
              <a:rPr sz="1000" b="1" lang="zh-TW" dirty="0">
                <a:solidFill>
                  <a:srgbClr val="000000"/>
                </a:solidFill>
                <a:latin typeface="Arial Unicode MS"/>
                <a:ea typeface="Arial Unicode MS"/>
                <a:cs typeface="Arial Unicode MS"/>
              </a:rPr>
              <a:t>▍以下照著唸</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第一個滑桿：</a:t>
            </a:r>
            <a:r>
              <a:rPr sz="1000" b="1" lang="zh-TW" dirty="0">
                <a:solidFill>
                  <a:srgbClr val="000000"/>
                </a:solidFill>
                <a:latin typeface="Arial Unicode MS"/>
                <a:ea typeface="Arial Unicode MS"/>
                <a:cs typeface="Arial Unicode MS"/>
              </a:rPr>
              <a:t>射線數</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規格表上它叫 </a:t>
            </a:r>
            <a:r>
              <a:rPr sz="1000" b="1" lang="zh-TW" dirty="0">
                <a:solidFill>
                  <a:srgbClr val="000000"/>
                </a:solidFill>
                <a:latin typeface="Arial Unicode MS"/>
                <a:ea typeface="Arial Unicode MS"/>
                <a:cs typeface="Arial Unicode MS"/>
              </a:rPr>
              <a:t>Resolution，解析度</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意思很直接：同樣一個視野，你切成幾個方向去看。切得愈細，看得愈清楚。
</a:t>
            </a:r>
          </a:p>
          <a:p>
            <a:pPr algn="l">
              <a:lnSpc>
                <a:spcPct val="115000"/>
              </a:lnSpc>
              <a:spcAft>
                <a:spcPts val="500"/>
              </a:spcAft>
            </a:pPr>
            <a:r>
              <a:rPr sz="1000" lang="zh-TW" dirty="0">
                <a:solidFill>
                  <a:srgbClr val="000000"/>
                </a:solidFill>
                <a:latin typeface="Arial Unicode MS"/>
                <a:ea typeface="Arial Unicode MS"/>
                <a:cs typeface="Arial Unicode MS"/>
              </a:rPr>
              <a:t>我們的模擬器可以從一條拉到六十條。真車的光達呢？</a:t>
            </a:r>
            <a:r>
              <a:rPr sz="1000" b="1" lang="zh-TW" dirty="0">
                <a:solidFill>
                  <a:srgbClr val="000000"/>
                </a:solidFill>
                <a:latin typeface="Arial Unicode MS"/>
                <a:ea typeface="Arial Unicode MS"/>
                <a:cs typeface="Arial Unicode MS"/>
              </a:rPr>
              <a:t>每秒幾十萬到幾百萬個點</a:t>
            </a:r>
            <a:r>
              <a:rPr sz="1000" lang="zh-TW" dirty="0">
                <a:solidFill>
                  <a:srgbClr val="000000"/>
                </a:solidFill>
                <a:latin typeface="Arial Unicode MS"/>
                <a:ea typeface="Arial Unicode MS"/>
                <a:cs typeface="Arial Unicode MS"/>
              </a:rPr>
              <a:t>。差好幾個數量級——所以我們的模擬器是很簡化的版本，這件事等一下會再講。
</a:t>
            </a:r>
          </a:p>
          <a:p>
            <a:pPr algn="l">
              <a:lnSpc>
                <a:spcPct val="115000"/>
              </a:lnSpc>
              <a:spcAft>
                <a:spcPts val="500"/>
              </a:spcAft>
            </a:pPr>
            <a:r>
              <a:rPr sz="1000" lang="zh-TW" dirty="0">
                <a:solidFill>
                  <a:srgbClr val="000000"/>
                </a:solidFill>
                <a:latin typeface="Arial Unicode MS"/>
                <a:ea typeface="Arial Unicode MS"/>
                <a:cs typeface="Arial Unicode MS"/>
              </a:rPr>
              <a:t>（問全班）射線數調小會發生什麼事？上週各位已經看過了。
</a:t>
            </a:r>
          </a:p>
          <a:p>
            <a:pPr algn="l">
              <a:lnSpc>
                <a:spcPct val="115000"/>
              </a:lnSpc>
              <a:spcAft>
                <a:spcPts val="500"/>
              </a:spcAft>
            </a:pPr>
            <a:r>
              <a:rPr sz="1000" lang="zh-TW" dirty="0">
                <a:solidFill>
                  <a:srgbClr val="000000"/>
                </a:solidFill>
                <a:latin typeface="Arial Unicode MS"/>
                <a:ea typeface="Arial Unicode MS"/>
                <a:cs typeface="Arial Unicode MS"/>
              </a:rPr>
              <a:t>可能會有人說，機車會從兩條射線中間鑽過去，車子就看不到。對，就是這樣。
</a:t>
            </a:r>
          </a:p>
          <a:p>
            <a:pPr algn="l">
              <a:lnSpc>
                <a:spcPct val="115000"/>
              </a:lnSpc>
              <a:spcAft>
                <a:spcPts val="500"/>
              </a:spcAft>
            </a:pPr>
            <a:r>
              <a:rPr sz="1000" lang="zh-TW" dirty="0">
                <a:solidFill>
                  <a:srgbClr val="000000"/>
                </a:solidFill>
                <a:latin typeface="Arial Unicode MS"/>
                <a:ea typeface="Arial Unicode MS"/>
                <a:cs typeface="Arial Unicode MS"/>
              </a:rPr>
              <a:t>對。射線之間有縫，縫愈寬，愈小的東西愈容易整個掉進去。這跟上一週第三週我們算光達線束數是同一件事——只是那時候算的是垂直方向，這裡是水平方向。
</a:t>
            </a:r>
          </a:p>
          <a:p>
            <a:pPr algn="l">
              <a:lnSpc>
                <a:spcPct val="115000"/>
              </a:lnSpc>
              <a:spcAft>
                <a:spcPts val="500"/>
              </a:spcAft>
            </a:pPr>
            <a:r>
              <a:rPr sz="1000" lang="zh-TW" dirty="0">
                <a:solidFill>
                  <a:srgbClr val="000000"/>
                </a:solidFill>
                <a:latin typeface="Arial Unicode MS"/>
                <a:ea typeface="Arial Unicode MS"/>
                <a:cs typeface="Arial Unicode MS"/>
              </a:rPr>
              <a:t>上週缺席的同學，等一下上機的時候把射線數拉到三，跑一次河內尖峰，馬上就知道了。</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4</a:t>
            </a:r>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50"/>
              </a:spcAft>
            </a:pPr>
            <a:r>
              <a:rPr sz="1100" b="1" lang="zh-TW" dirty="0">
                <a:solidFill>
                  <a:srgbClr val="000000"/>
                </a:solidFill>
                <a:latin typeface="Arial Unicode MS"/>
                <a:ea typeface="Arial Unicode MS"/>
                <a:cs typeface="Arial Unicode MS"/>
              </a:rPr>
              <a:t>▍這一張要做什麼</a:t>
            </a:r>
            <a:r>
              <a:rPr sz="1100" lang="zh-TW" dirty="0">
                <a:solidFill>
                  <a:srgbClr val="000000"/>
                </a:solidFill>
                <a:latin typeface="Arial Unicode MS"/>
                <a:ea typeface="Arial Unicode MS"/>
                <a:cs typeface="Arial Unicode MS"/>
              </a:rPr>
              <a:t>
</a:t>
            </a:r>
          </a:p>
          <a:p>
            <a:pPr algn="l">
              <a:lnSpc>
                <a:spcPct val="115000"/>
              </a:lnSpc>
              <a:spcAft>
                <a:spcPts val="550"/>
              </a:spcAft>
            </a:pPr>
            <a:r>
              <a:rPr sz="1100" lang="zh-TW" dirty="0">
                <a:solidFill>
                  <a:srgbClr val="000000"/>
                </a:solidFill>
                <a:latin typeface="Arial Unicode MS"/>
                <a:ea typeface="Arial Unicode MS"/>
                <a:cs typeface="Arial Unicode MS"/>
              </a:rPr>
              <a:t>把「射線長度」對到 Range，並且先埋下伏筆：這個數字有一個不能自己決定的下限。
</a:t>
            </a:r>
          </a:p>
          <a:p>
            <a:pPr algn="l">
              <a:lnSpc>
                <a:spcPct val="115000"/>
              </a:lnSpc>
              <a:spcAft>
                <a:spcPts val="550"/>
              </a:spcAft>
            </a:pPr>
            <a:r>
              <a:rPr sz="1100" b="1" lang="zh-TW" dirty="0">
                <a:solidFill>
                  <a:srgbClr val="000000"/>
                </a:solidFill>
                <a:latin typeface="Arial Unicode MS"/>
                <a:ea typeface="Arial Unicode MS"/>
                <a:cs typeface="Arial Unicode MS"/>
              </a:rPr>
              <a:t>▍畫面上圈這裡</a:t>
            </a:r>
            <a:r>
              <a:rPr sz="1100" lang="zh-TW" dirty="0">
                <a:solidFill>
                  <a:srgbClr val="000000"/>
                </a:solidFill>
                <a:latin typeface="Arial Unicode MS"/>
                <a:ea typeface="Arial Unicode MS"/>
                <a:cs typeface="Arial Unicode MS"/>
              </a:rPr>
              <a:t>
</a:t>
            </a:r>
          </a:p>
          <a:p>
            <a:pPr algn="l">
              <a:lnSpc>
                <a:spcPct val="115000"/>
              </a:lnSpc>
              <a:spcAft>
                <a:spcPts val="550"/>
              </a:spcAft>
            </a:pPr>
            <a:r>
              <a:rPr sz="1100" lang="zh-TW" dirty="0">
                <a:solidFill>
                  <a:srgbClr val="000000"/>
                </a:solidFill>
                <a:latin typeface="Arial Unicode MS"/>
                <a:ea typeface="Arial Unicode MS"/>
                <a:cs typeface="Arial Unicode MS"/>
              </a:rPr>
              <a:t>圈右邊「我們的模擬器」與「真車的光達」兩列的數字，讓大家看到差了一個數量級。
</a:t>
            </a:r>
          </a:p>
          <a:p>
            <a:pPr algn="l">
              <a:lnSpc>
                <a:spcPct val="115000"/>
              </a:lnSpc>
              <a:spcAft>
                <a:spcPts val="550"/>
              </a:spcAft>
            </a:pPr>
            <a:r>
              <a:rPr sz="1100" b="1" lang="zh-TW" dirty="0">
                <a:solidFill>
                  <a:srgbClr val="000000"/>
                </a:solidFill>
                <a:latin typeface="Arial Unicode MS"/>
                <a:ea typeface="Arial Unicode MS"/>
                <a:cs typeface="Arial Unicode MS"/>
              </a:rPr>
              <a:t>▍以下照著唸</a:t>
            </a:r>
            <a:r>
              <a:rPr sz="1100" lang="zh-TW" dirty="0">
                <a:solidFill>
                  <a:srgbClr val="000000"/>
                </a:solidFill>
                <a:latin typeface="Arial Unicode MS"/>
                <a:ea typeface="Arial Unicode MS"/>
                <a:cs typeface="Arial Unicode MS"/>
              </a:rPr>
              <a:t>
</a:t>
            </a:r>
          </a:p>
          <a:p>
            <a:pPr algn="l">
              <a:lnSpc>
                <a:spcPct val="115000"/>
              </a:lnSpc>
              <a:spcAft>
                <a:spcPts val="550"/>
              </a:spcAft>
            </a:pPr>
            <a:r>
              <a:rPr sz="1100" lang="zh-TW" dirty="0">
                <a:solidFill>
                  <a:srgbClr val="000000"/>
                </a:solidFill>
                <a:latin typeface="Arial Unicode MS"/>
                <a:ea typeface="Arial Unicode MS"/>
                <a:cs typeface="Arial Unicode MS"/>
              </a:rPr>
              <a:t>第二個滑桿：</a:t>
            </a:r>
            <a:r>
              <a:rPr sz="1100" b="1" lang="zh-TW" dirty="0">
                <a:solidFill>
                  <a:srgbClr val="000000"/>
                </a:solidFill>
                <a:latin typeface="Arial Unicode MS"/>
                <a:ea typeface="Arial Unicode MS"/>
                <a:cs typeface="Arial Unicode MS"/>
              </a:rPr>
              <a:t>射線長度</a:t>
            </a:r>
            <a:r>
              <a:rPr sz="1100" lang="zh-TW" dirty="0">
                <a:solidFill>
                  <a:srgbClr val="000000"/>
                </a:solidFill>
                <a:latin typeface="Arial Unicode MS"/>
                <a:ea typeface="Arial Unicode MS"/>
                <a:cs typeface="Arial Unicode MS"/>
              </a:rPr>
              <a:t>。
</a:t>
            </a:r>
          </a:p>
          <a:p>
            <a:pPr algn="l">
              <a:lnSpc>
                <a:spcPct val="115000"/>
              </a:lnSpc>
              <a:spcAft>
                <a:spcPts val="550"/>
              </a:spcAft>
            </a:pPr>
            <a:r>
              <a:rPr sz="1100" lang="zh-TW" dirty="0">
                <a:solidFill>
                  <a:srgbClr val="000000"/>
                </a:solidFill>
                <a:latin typeface="Arial Unicode MS"/>
                <a:ea typeface="Arial Unicode MS"/>
                <a:cs typeface="Arial Unicode MS"/>
              </a:rPr>
              <a:t>規格表上叫 </a:t>
            </a:r>
            <a:r>
              <a:rPr sz="1100" b="1" lang="zh-TW" dirty="0">
                <a:solidFill>
                  <a:srgbClr val="000000"/>
                </a:solidFill>
                <a:latin typeface="Arial Unicode MS"/>
                <a:ea typeface="Arial Unicode MS"/>
                <a:cs typeface="Arial Unicode MS"/>
              </a:rPr>
              <a:t>Range，測距範圍</a:t>
            </a:r>
            <a:r>
              <a:rPr sz="1100" lang="zh-TW" dirty="0">
                <a:solidFill>
                  <a:srgbClr val="000000"/>
                </a:solidFill>
                <a:latin typeface="Arial Unicode MS"/>
                <a:ea typeface="Arial Unicode MS"/>
                <a:cs typeface="Arial Unicode MS"/>
              </a:rPr>
              <a:t>，就是這顆感測器看得到幾公尺。
</a:t>
            </a:r>
          </a:p>
          <a:p>
            <a:pPr algn="l">
              <a:lnSpc>
                <a:spcPct val="115000"/>
              </a:lnSpc>
              <a:spcAft>
                <a:spcPts val="550"/>
              </a:spcAft>
            </a:pPr>
            <a:r>
              <a:rPr sz="1100" lang="zh-TW" dirty="0">
                <a:solidFill>
                  <a:srgbClr val="000000"/>
                </a:solidFill>
                <a:latin typeface="Arial Unicode MS"/>
                <a:ea typeface="Arial Unicode MS"/>
                <a:cs typeface="Arial Unicode MS"/>
              </a:rPr>
              <a:t>我們的模擬器是十到一百二十公尺。真車的光達大約一百五十到三百公尺。
</a:t>
            </a:r>
          </a:p>
          <a:p>
            <a:pPr algn="l">
              <a:lnSpc>
                <a:spcPct val="115000"/>
              </a:lnSpc>
              <a:spcAft>
                <a:spcPts val="550"/>
              </a:spcAft>
            </a:pPr>
            <a:r>
              <a:rPr sz="1100" lang="zh-TW" dirty="0">
                <a:solidFill>
                  <a:srgbClr val="000000"/>
                </a:solidFill>
                <a:latin typeface="Arial Unicode MS"/>
                <a:ea typeface="Arial Unicode MS"/>
                <a:cs typeface="Arial Unicode MS"/>
              </a:rPr>
              <a:t>這個數字有一個很硬的下限，</a:t>
            </a:r>
            <a:r>
              <a:rPr sz="1100" b="1" lang="zh-TW" dirty="0">
                <a:solidFill>
                  <a:srgbClr val="000000"/>
                </a:solidFill>
                <a:latin typeface="Arial Unicode MS"/>
                <a:ea typeface="Arial Unicode MS"/>
                <a:cs typeface="Arial Unicode MS"/>
              </a:rPr>
              <a:t>不是你想選多少就多少</a:t>
            </a:r>
            <a:r>
              <a:rPr sz="1100" lang="zh-TW" dirty="0">
                <a:solidFill>
                  <a:srgbClr val="000000"/>
                </a:solidFill>
                <a:latin typeface="Arial Unicode MS"/>
                <a:ea typeface="Arial Unicode MS"/>
                <a:cs typeface="Arial Unicode MS"/>
              </a:rPr>
              <a:t>。為什麼？
</a:t>
            </a:r>
          </a:p>
          <a:p>
            <a:pPr algn="l">
              <a:lnSpc>
                <a:spcPct val="115000"/>
              </a:lnSpc>
              <a:spcAft>
                <a:spcPts val="550"/>
              </a:spcAft>
            </a:pPr>
            <a:r>
              <a:rPr sz="1100" lang="zh-TW" dirty="0">
                <a:solidFill>
                  <a:srgbClr val="000000"/>
                </a:solidFill>
                <a:latin typeface="Arial Unicode MS"/>
                <a:ea typeface="Arial Unicode MS"/>
                <a:cs typeface="Arial Unicode MS"/>
              </a:rPr>
              <a:t>（等學生想一下。）
</a:t>
            </a:r>
          </a:p>
          <a:p>
            <a:pPr algn="l">
              <a:lnSpc>
                <a:spcPct val="115000"/>
              </a:lnSpc>
              <a:spcAft>
                <a:spcPts val="550"/>
              </a:spcAft>
            </a:pPr>
            <a:r>
              <a:rPr sz="1100" lang="zh-TW" dirty="0">
                <a:solidFill>
                  <a:srgbClr val="000000"/>
                </a:solidFill>
                <a:latin typeface="Arial Unicode MS"/>
                <a:ea typeface="Arial Unicode MS"/>
                <a:cs typeface="Arial Unicode MS"/>
              </a:rPr>
              <a:t>因為如果你看到的時候已經來不及煞車，看到跟沒看到是一樣的。
</a:t>
            </a:r>
          </a:p>
          <a:p>
            <a:pPr algn="l">
              <a:lnSpc>
                <a:spcPct val="115000"/>
              </a:lnSpc>
              <a:spcAft>
                <a:spcPts val="550"/>
              </a:spcAft>
            </a:pPr>
            <a:r>
              <a:rPr sz="1100" lang="zh-TW" dirty="0">
                <a:solidFill>
                  <a:srgbClr val="000000"/>
                </a:solidFill>
                <a:latin typeface="Arial Unicode MS"/>
                <a:ea typeface="Arial Unicode MS"/>
                <a:cs typeface="Arial Unicode MS"/>
              </a:rPr>
              <a:t>我們先停在這裡，下一頁就用上週那條煞停距離的公式，把這個下限算出來。</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5</a:t>
            </a:r>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b="1" lang="zh-TW" dirty="0">
                <a:solidFill>
                  <a:srgbClr val="000000"/>
                </a:solidFill>
                <a:latin typeface="Arial Unicode MS"/>
                <a:ea typeface="Arial Unicode MS"/>
                <a:cs typeface="Arial Unicode MS"/>
              </a:rPr>
              <a:t>▍這一張要做什麼</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把「張角」對到 FOV，並帶出「同樣的射線攤得愈廣就愈稀」。
</a:t>
            </a:r>
          </a:p>
          <a:p>
            <a:pPr algn="l">
              <a:lnSpc>
                <a:spcPct val="115000"/>
              </a:lnSpc>
              <a:spcAft>
                <a:spcPts val="500"/>
              </a:spcAft>
            </a:pPr>
            <a:r>
              <a:rPr sz="1000" b="1" lang="zh-TW" dirty="0">
                <a:solidFill>
                  <a:srgbClr val="000000"/>
                </a:solidFill>
                <a:latin typeface="Arial Unicode MS"/>
                <a:ea typeface="Arial Unicode MS"/>
                <a:cs typeface="Arial Unicode MS"/>
              </a:rPr>
              <a:t>▍畫面上圈這裡</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圈「調寬會怎樣」那一列，再回頭指左邊圖上射線之間變寬的縫。
</a:t>
            </a:r>
          </a:p>
          <a:p>
            <a:pPr algn="l">
              <a:lnSpc>
                <a:spcPct val="115000"/>
              </a:lnSpc>
              <a:spcAft>
                <a:spcPts val="500"/>
              </a:spcAft>
            </a:pPr>
            <a:r>
              <a:rPr sz="1000" b="1" lang="zh-TW" dirty="0">
                <a:solidFill>
                  <a:srgbClr val="000000"/>
                </a:solidFill>
                <a:latin typeface="Arial Unicode MS"/>
                <a:ea typeface="Arial Unicode MS"/>
                <a:cs typeface="Arial Unicode MS"/>
              </a:rPr>
              <a:t>▍以下照著唸</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第三個滑桿：</a:t>
            </a:r>
            <a:r>
              <a:rPr sz="1000" b="1" lang="zh-TW" dirty="0">
                <a:solidFill>
                  <a:srgbClr val="000000"/>
                </a:solidFill>
                <a:latin typeface="Arial Unicode MS"/>
                <a:ea typeface="Arial Unicode MS"/>
                <a:cs typeface="Arial Unicode MS"/>
              </a:rPr>
              <a:t>張角</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規格表上叫 </a:t>
            </a:r>
            <a:r>
              <a:rPr sz="1000" b="1" lang="zh-TW" dirty="0">
                <a:solidFill>
                  <a:srgbClr val="000000"/>
                </a:solidFill>
                <a:latin typeface="Arial Unicode MS"/>
                <a:ea typeface="Arial Unicode MS"/>
                <a:cs typeface="Arial Unicode MS"/>
              </a:rPr>
              <a:t>Field of view，視野</a:t>
            </a:r>
            <a:r>
              <a:rPr sz="1000" lang="zh-TW" dirty="0">
                <a:solidFill>
                  <a:srgbClr val="000000"/>
                </a:solidFill>
                <a:latin typeface="Arial Unicode MS"/>
                <a:ea typeface="Arial Unicode MS"/>
                <a:cs typeface="Arial Unicode MS"/>
              </a:rPr>
              <a:t>，簡稱 FOV。
</a:t>
            </a:r>
          </a:p>
          <a:p>
            <a:pPr algn="l">
              <a:lnSpc>
                <a:spcPct val="115000"/>
              </a:lnSpc>
              <a:spcAft>
                <a:spcPts val="500"/>
              </a:spcAft>
            </a:pPr>
            <a:r>
              <a:rPr sz="1000" lang="zh-TW" dirty="0">
                <a:solidFill>
                  <a:srgbClr val="000000"/>
                </a:solidFill>
                <a:latin typeface="Arial Unicode MS"/>
                <a:ea typeface="Arial Unicode MS"/>
                <a:cs typeface="Arial Unicode MS"/>
              </a:rPr>
              <a:t>調窄會怎樣？從側面切進來的機車看不到。調寬會怎樣？
</a:t>
            </a:r>
          </a:p>
          <a:p>
            <a:pPr algn="l">
              <a:lnSpc>
                <a:spcPct val="115000"/>
              </a:lnSpc>
              <a:spcAft>
                <a:spcPts val="500"/>
              </a:spcAft>
            </a:pPr>
            <a:r>
              <a:rPr sz="1000" lang="zh-TW" dirty="0">
                <a:solidFill>
                  <a:srgbClr val="000000"/>
                </a:solidFill>
                <a:latin typeface="Arial Unicode MS"/>
                <a:ea typeface="Arial Unicode MS"/>
                <a:cs typeface="Arial Unicode MS"/>
              </a:rPr>
              <a:t>這題上週剛講過，大家想一下。
</a:t>
            </a:r>
          </a:p>
          <a:p>
            <a:pPr algn="l">
              <a:lnSpc>
                <a:spcPct val="115000"/>
              </a:lnSpc>
              <a:spcAft>
                <a:spcPts val="500"/>
              </a:spcAft>
            </a:pPr>
            <a:r>
              <a:rPr sz="1000" lang="zh-TW" dirty="0">
                <a:solidFill>
                  <a:srgbClr val="000000"/>
                </a:solidFill>
                <a:latin typeface="Arial Unicode MS"/>
                <a:ea typeface="Arial Unicode MS"/>
                <a:cs typeface="Arial Unicode MS"/>
              </a:rPr>
              <a:t>對——</a:t>
            </a:r>
            <a:r>
              <a:rPr sz="1000" b="1" lang="zh-TW" dirty="0">
                <a:solidFill>
                  <a:srgbClr val="000000"/>
                </a:solidFill>
                <a:latin typeface="Arial Unicode MS"/>
                <a:ea typeface="Arial Unicode MS"/>
                <a:cs typeface="Arial Unicode MS"/>
              </a:rPr>
              <a:t>同樣的射線數被攤開，每個方向就變稀</a:t>
            </a:r>
            <a:r>
              <a:rPr sz="1000" lang="zh-TW" dirty="0">
                <a:solidFill>
                  <a:srgbClr val="000000"/>
                </a:solidFill>
                <a:latin typeface="Arial Unicode MS"/>
                <a:ea typeface="Arial Unicode MS"/>
                <a:cs typeface="Arial Unicode MS"/>
              </a:rPr>
              <a:t>。這跟上一週那張「同樣那些射線，攤得愈廣就愈稀」的圖是同一件事。
</a:t>
            </a:r>
          </a:p>
          <a:p>
            <a:pPr algn="l">
              <a:lnSpc>
                <a:spcPct val="115000"/>
              </a:lnSpc>
              <a:spcAft>
                <a:spcPts val="500"/>
              </a:spcAft>
            </a:pPr>
            <a:r>
              <a:rPr sz="1000" lang="zh-TW" dirty="0">
                <a:solidFill>
                  <a:srgbClr val="000000"/>
                </a:solidFill>
                <a:latin typeface="Arial Unicode MS"/>
                <a:ea typeface="Arial Unicode MS"/>
                <a:cs typeface="Arial Unicode MS"/>
              </a:rPr>
              <a:t>所以真車的做法是什麼？
</a:t>
            </a:r>
          </a:p>
          <a:p>
            <a:pPr algn="l">
              <a:lnSpc>
                <a:spcPct val="115000"/>
              </a:lnSpc>
              <a:spcAft>
                <a:spcPts val="500"/>
              </a:spcAft>
            </a:pPr>
            <a:r>
              <a:rPr sz="1000" lang="zh-TW" dirty="0">
                <a:solidFill>
                  <a:srgbClr val="000000"/>
                </a:solidFill>
                <a:latin typeface="Arial Unicode MS"/>
                <a:ea typeface="Arial Unicode MS"/>
                <a:cs typeface="Arial Unicode MS"/>
              </a:rPr>
              <a:t>答案是裝好幾顆，分工。
</a:t>
            </a:r>
          </a:p>
          <a:p>
            <a:pPr algn="l">
              <a:lnSpc>
                <a:spcPct val="115000"/>
              </a:lnSpc>
              <a:spcAft>
                <a:spcPts val="500"/>
              </a:spcAft>
            </a:pPr>
            <a:r>
              <a:rPr sz="1000" lang="zh-TW" dirty="0">
                <a:solidFill>
                  <a:srgbClr val="000000"/>
                </a:solidFill>
                <a:latin typeface="Arial Unicode MS"/>
                <a:ea typeface="Arial Unicode MS"/>
                <a:cs typeface="Arial Unicode MS"/>
              </a:rPr>
              <a:t>對。一顆看遠的窄視野，幾顆看近的廣視野，不是一顆全包。
</a:t>
            </a:r>
          </a:p>
          <a:p>
            <a:pPr algn="l">
              <a:lnSpc>
                <a:spcPct val="115000"/>
              </a:lnSpc>
              <a:spcAft>
                <a:spcPts val="500"/>
              </a:spcAft>
            </a:pPr>
            <a:r>
              <a:rPr sz="1000" b="1" lang="zh-TW" dirty="0">
                <a:solidFill>
                  <a:srgbClr val="000000"/>
                </a:solidFill>
                <a:latin typeface="Arial Unicode MS"/>
                <a:ea typeface="Arial Unicode MS"/>
                <a:cs typeface="Arial Unicode MS"/>
              </a:rPr>
              <a:t>第五週我會拿真正的光達規格表來讀給各位看。</a:t>
            </a:r>
            <a:r>
              <a:rPr sz="1000" lang="zh-TW" dirty="0">
                <a:solidFill>
                  <a:srgbClr val="000000"/>
                </a:solidFill>
                <a:latin typeface="Arial Unicode MS"/>
                <a:ea typeface="Arial Unicode MS"/>
                <a:cs typeface="Arial Unicode MS"/>
              </a:rPr>
              <a:t>上面就是這三個數字，再加一個「更新率」——每秒掃幾次。那是第三個規格，今天先不談。</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6</a:t>
            </a:r>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b="1" lang="zh-TW" dirty="0">
                <a:solidFill>
                  <a:srgbClr val="000000"/>
                </a:solidFill>
                <a:latin typeface="Arial Unicode MS"/>
                <a:ea typeface="Arial Unicode MS"/>
                <a:cs typeface="Arial Unicode MS"/>
              </a:rPr>
              <a:t>▍這一張要做什麼</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本節的重點頁。用煞停距離算出射線長度的硬下限——這不是設計選擇，是物理逼出來的。
</a:t>
            </a:r>
          </a:p>
          <a:p>
            <a:pPr algn="l">
              <a:lnSpc>
                <a:spcPct val="115000"/>
              </a:lnSpc>
              <a:spcAft>
                <a:spcPts val="500"/>
              </a:spcAft>
            </a:pPr>
            <a:r>
              <a:rPr sz="1000" b="1" lang="zh-TW" dirty="0">
                <a:solidFill>
                  <a:srgbClr val="000000"/>
                </a:solidFill>
                <a:latin typeface="Arial Unicode MS"/>
                <a:ea typeface="Arial Unicode MS"/>
                <a:cs typeface="Arial Unicode MS"/>
              </a:rPr>
              <a:t>▍畫面上圈這裡</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先圈公式裡的反應距離那一段，再圈煞車距離那一段，最後圈總和那個數字。
</a:t>
            </a:r>
          </a:p>
          <a:p>
            <a:pPr algn="l">
              <a:lnSpc>
                <a:spcPct val="115000"/>
              </a:lnSpc>
              <a:spcAft>
                <a:spcPts val="500"/>
              </a:spcAft>
            </a:pPr>
            <a:r>
              <a:rPr sz="1000" b="1" lang="zh-TW" dirty="0">
                <a:solidFill>
                  <a:srgbClr val="000000"/>
                </a:solidFill>
                <a:latin typeface="Arial Unicode MS"/>
                <a:ea typeface="Arial Unicode MS"/>
                <a:cs typeface="Arial Unicode MS"/>
              </a:rPr>
              <a:t>▍以下照著唸</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這一頁把「射線至少要多長」算出來。用的是上週第一章那條煞停距離的公式。
</a:t>
            </a:r>
          </a:p>
          <a:p>
            <a:pPr algn="l">
              <a:lnSpc>
                <a:spcPct val="115000"/>
              </a:lnSpc>
              <a:spcAft>
                <a:spcPts val="500"/>
              </a:spcAft>
            </a:pPr>
            <a:r>
              <a:rPr sz="1000" lang="zh-TW" dirty="0">
                <a:solidFill>
                  <a:srgbClr val="000000"/>
                </a:solidFill>
                <a:latin typeface="Arial Unicode MS"/>
                <a:ea typeface="Arial Unicode MS"/>
                <a:cs typeface="Arial Unicode MS"/>
              </a:rPr>
              <a:t>煞停距離分成兩段：
</a:t>
            </a:r>
          </a:p>
          <a:p>
            <a:pPr algn="l">
              <a:lnSpc>
                <a:spcPct val="115000"/>
              </a:lnSpc>
              <a:spcAft>
                <a:spcPts val="500"/>
              </a:spcAft>
            </a:pPr>
            <a:r>
              <a:rPr sz="1000" b="1" lang="zh-TW" dirty="0">
                <a:solidFill>
                  <a:srgbClr val="000000"/>
                </a:solidFill>
                <a:latin typeface="Arial Unicode MS"/>
                <a:ea typeface="Arial Unicode MS"/>
                <a:cs typeface="Arial Unicode MS"/>
              </a:rPr>
              <a:t>第一段是反應距離。</a:t>
            </a:r>
            <a:r>
              <a:rPr sz="1000" lang="zh-TW" dirty="0">
                <a:solidFill>
                  <a:srgbClr val="000000"/>
                </a:solidFill>
                <a:latin typeface="Arial Unicode MS"/>
                <a:ea typeface="Arial Unicode MS"/>
                <a:cs typeface="Arial Unicode MS"/>
              </a:rPr>
              <a:t>從你看到，到你的腳真的踩下去，中間有時間。我們用零點三秒。這段時間車子是</a:t>
            </a:r>
            <a:r>
              <a:rPr sz="1000" b="1" lang="zh-TW" dirty="0">
                <a:solidFill>
                  <a:srgbClr val="000000"/>
                </a:solidFill>
                <a:latin typeface="Arial Unicode MS"/>
                <a:ea typeface="Arial Unicode MS"/>
                <a:cs typeface="Arial Unicode MS"/>
              </a:rPr>
              <a:t>全速前進</a:t>
            </a:r>
            <a:r>
              <a:rPr sz="1000" lang="zh-TW" dirty="0">
                <a:solidFill>
                  <a:srgbClr val="000000"/>
                </a:solidFill>
                <a:latin typeface="Arial Unicode MS"/>
                <a:ea typeface="Arial Unicode MS"/>
                <a:cs typeface="Arial Unicode MS"/>
              </a:rPr>
              <a:t>的，一點都沒有慢下來。
</a:t>
            </a:r>
          </a:p>
          <a:p>
            <a:pPr algn="l">
              <a:lnSpc>
                <a:spcPct val="115000"/>
              </a:lnSpc>
              <a:spcAft>
                <a:spcPts val="500"/>
              </a:spcAft>
            </a:pPr>
            <a:r>
              <a:rPr sz="1000" b="1" lang="zh-TW" dirty="0">
                <a:solidFill>
                  <a:srgbClr val="000000"/>
                </a:solidFill>
                <a:latin typeface="Arial Unicode MS"/>
                <a:ea typeface="Arial Unicode MS"/>
                <a:cs typeface="Arial Unicode MS"/>
              </a:rPr>
              <a:t>第二段是煞車距離。</a:t>
            </a:r>
            <a:r>
              <a:rPr sz="1000" lang="zh-TW" dirty="0">
                <a:solidFill>
                  <a:srgbClr val="000000"/>
                </a:solidFill>
                <a:latin typeface="Arial Unicode MS"/>
                <a:ea typeface="Arial Unicode MS"/>
                <a:cs typeface="Arial Unicode MS"/>
              </a:rPr>
              <a:t>煞車開始作用到完全停住。這段跟速度的</a:t>
            </a:r>
            <a:r>
              <a:rPr sz="1000" b="1" lang="zh-TW" dirty="0">
                <a:solidFill>
                  <a:srgbClr val="000000"/>
                </a:solidFill>
                <a:latin typeface="Arial Unicode MS"/>
                <a:ea typeface="Arial Unicode MS"/>
                <a:cs typeface="Arial Unicode MS"/>
              </a:rPr>
              <a:t>平方</a:t>
            </a:r>
            <a:r>
              <a:rPr sz="1000" lang="zh-TW" dirty="0">
                <a:solidFill>
                  <a:srgbClr val="000000"/>
                </a:solidFill>
                <a:latin typeface="Arial Unicode MS"/>
                <a:ea typeface="Arial Unicode MS"/>
                <a:cs typeface="Arial Unicode MS"/>
              </a:rPr>
              <a:t>成正比——所以速度變兩倍，這一段變四倍。
</a:t>
            </a:r>
          </a:p>
          <a:p>
            <a:pPr algn="l">
              <a:lnSpc>
                <a:spcPct val="115000"/>
              </a:lnSpc>
              <a:spcAft>
                <a:spcPts val="500"/>
              </a:spcAft>
            </a:pPr>
            <a:r>
              <a:rPr sz="1000" lang="zh-TW" dirty="0">
                <a:solidFill>
                  <a:srgbClr val="000000"/>
                </a:solidFill>
                <a:latin typeface="Arial Unicode MS"/>
                <a:ea typeface="Arial Unicode MS"/>
                <a:cs typeface="Arial Unicode MS"/>
              </a:rPr>
              <a:t>除以十二這件事，每一屆都會有人問，所以我把它拆開講。先問大家一句：為什麼是除以十二，不是除以六？
</a:t>
            </a:r>
          </a:p>
          <a:p>
            <a:pPr algn="l">
              <a:lnSpc>
                <a:spcPct val="115000"/>
              </a:lnSpc>
              <a:spcAft>
                <a:spcPts val="500"/>
              </a:spcAft>
            </a:pPr>
            <a:r>
              <a:rPr sz="1000" lang="zh-TW" dirty="0">
                <a:solidFill>
                  <a:srgbClr val="000000"/>
                </a:solidFill>
                <a:latin typeface="Arial Unicode MS"/>
                <a:ea typeface="Arial Unicode MS"/>
                <a:cs typeface="Arial Unicode MS"/>
              </a:rPr>
              <a:t>那個十二是</a:t>
            </a:r>
            <a:r>
              <a:rPr sz="1000" b="1" lang="zh-TW" dirty="0">
                <a:solidFill>
                  <a:srgbClr val="000000"/>
                </a:solidFill>
                <a:latin typeface="Arial Unicode MS"/>
                <a:ea typeface="Arial Unicode MS"/>
                <a:cs typeface="Arial Unicode MS"/>
              </a:rPr>
              <a:t>二乘六</a:t>
            </a:r>
            <a:r>
              <a:rPr sz="1000" lang="zh-TW" dirty="0">
                <a:solidFill>
                  <a:srgbClr val="000000"/>
                </a:solidFill>
                <a:latin typeface="Arial Unicode MS"/>
                <a:ea typeface="Arial Unicode MS"/>
                <a:cs typeface="Arial Unicode MS"/>
              </a:rPr>
              <a:t>。六是減速度，那個二是從哪裡來的？
</a:t>
            </a:r>
          </a:p>
          <a:p>
            <a:pPr algn="l">
              <a:lnSpc>
                <a:spcPct val="115000"/>
              </a:lnSpc>
              <a:spcAft>
                <a:spcPts val="500"/>
              </a:spcAft>
            </a:pPr>
            <a:r>
              <a:rPr sz="1000" lang="zh-TW" dirty="0">
                <a:solidFill>
                  <a:srgbClr val="000000"/>
                </a:solidFill>
                <a:latin typeface="Arial Unicode MS"/>
                <a:ea typeface="Arial Unicode MS"/>
                <a:cs typeface="Arial Unicode MS"/>
              </a:rPr>
              <a:t>分兩步，兩步我都寫在白板上。
</a:t>
            </a:r>
          </a:p>
          <a:p>
            <a:pPr algn="l">
              <a:lnSpc>
                <a:spcPct val="115000"/>
              </a:lnSpc>
              <a:spcAft>
                <a:spcPts val="500"/>
              </a:spcAft>
            </a:pPr>
            <a:r>
              <a:rPr sz="1000" b="1" lang="zh-TW" dirty="0">
                <a:solidFill>
                  <a:srgbClr val="000000"/>
                </a:solidFill>
                <a:latin typeface="Arial Unicode MS"/>
                <a:ea typeface="Arial Unicode MS"/>
                <a:cs typeface="Arial Unicode MS"/>
              </a:rPr>
              <a:t>第一步，煞多久才停？</a:t>
            </a:r>
            <a:r>
              <a:rPr sz="1000" lang="zh-TW" dirty="0">
                <a:solidFill>
                  <a:srgbClr val="000000"/>
                </a:solidFill>
                <a:latin typeface="Arial Unicode MS"/>
                <a:ea typeface="Arial Unicode MS"/>
                <a:cs typeface="Arial Unicode MS"/>
              </a:rPr>
              <a:t>時速五十是每秒十三點九公尺。每過一秒速度減掉六，所以十三點九除以六，大約</a:t>
            </a:r>
            <a:r>
              <a:rPr sz="1000" b="1" lang="zh-TW" dirty="0">
                <a:solidFill>
                  <a:srgbClr val="000000"/>
                </a:solidFill>
                <a:latin typeface="Arial Unicode MS"/>
                <a:ea typeface="Arial Unicode MS"/>
                <a:cs typeface="Arial Unicode MS"/>
              </a:rPr>
              <a:t>兩點三秒</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b="1" lang="zh-TW" dirty="0">
                <a:solidFill>
                  <a:srgbClr val="000000"/>
                </a:solidFill>
                <a:latin typeface="Arial Unicode MS"/>
                <a:ea typeface="Arial Unicode MS"/>
                <a:cs typeface="Arial Unicode MS"/>
              </a:rPr>
              <a:t>第二步，這兩點三秒跑了多遠？</a:t>
            </a:r>
            <a:r>
              <a:rPr sz="1000" lang="zh-TW" dirty="0">
                <a:solidFill>
                  <a:srgbClr val="000000"/>
                </a:solidFill>
                <a:latin typeface="Arial Unicode MS"/>
                <a:ea typeface="Arial Unicode MS"/>
                <a:cs typeface="Arial Unicode MS"/>
              </a:rPr>
              <a:t>注意，這段時間車子</a:t>
            </a:r>
            <a:r>
              <a:rPr sz="1000" b="1" lang="zh-TW" dirty="0">
                <a:solidFill>
                  <a:srgbClr val="000000"/>
                </a:solidFill>
                <a:latin typeface="Arial Unicode MS"/>
                <a:ea typeface="Arial Unicode MS"/>
                <a:cs typeface="Arial Unicode MS"/>
              </a:rPr>
              <a:t>不是用時速五十一路衝到停</a:t>
            </a:r>
            <a:r>
              <a:rPr sz="1000" lang="zh-TW" dirty="0">
                <a:solidFill>
                  <a:srgbClr val="000000"/>
                </a:solidFill>
                <a:latin typeface="Arial Unicode MS"/>
                <a:ea typeface="Arial Unicode MS"/>
                <a:cs typeface="Arial Unicode MS"/>
              </a:rPr>
              <a:t>，是從十三點九一路掉到零。所以要用</a:t>
            </a:r>
            <a:r>
              <a:rPr sz="1000" b="1" lang="zh-TW" dirty="0">
                <a:solidFill>
                  <a:srgbClr val="000000"/>
                </a:solidFill>
                <a:latin typeface="Arial Unicode MS"/>
                <a:ea typeface="Arial Unicode MS"/>
                <a:cs typeface="Arial Unicode MS"/>
              </a:rPr>
              <a:t>平均速度</a:t>
            </a:r>
            <a:r>
              <a:rPr sz="1000" lang="zh-TW" dirty="0">
                <a:solidFill>
                  <a:srgbClr val="000000"/>
                </a:solidFill>
                <a:latin typeface="Arial Unicode MS"/>
                <a:ea typeface="Arial Unicode MS"/>
                <a:cs typeface="Arial Unicode MS"/>
              </a:rPr>
              <a:t>，也就是十三點九的一半，大約六點九五。六點九五乘兩點三，大約</a:t>
            </a:r>
            <a:r>
              <a:rPr sz="1000" b="1" lang="zh-TW" dirty="0">
                <a:solidFill>
                  <a:srgbClr val="000000"/>
                </a:solidFill>
                <a:latin typeface="Arial Unicode MS"/>
                <a:ea typeface="Arial Unicode MS"/>
                <a:cs typeface="Arial Unicode MS"/>
              </a:rPr>
              <a:t>十六公尺</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把這兩步合起來寫成一條式子：距離等於「速度除以二」再乘「速度除以六」，也就是速度平方除以二乘六，除以十二。
</a:t>
            </a:r>
          </a:p>
          <a:p>
            <a:pPr algn="l">
              <a:lnSpc>
                <a:spcPct val="115000"/>
              </a:lnSpc>
              <a:spcAft>
                <a:spcPts val="500"/>
              </a:spcAft>
            </a:pPr>
            <a:r>
              <a:rPr sz="1000" b="1" lang="zh-TW" dirty="0">
                <a:solidFill>
                  <a:srgbClr val="000000"/>
                </a:solidFill>
                <a:latin typeface="Arial Unicode MS"/>
                <a:ea typeface="Arial Unicode MS"/>
                <a:cs typeface="Arial Unicode MS"/>
              </a:rPr>
              <a:t>所以那個二的意思是：煞車的時候平均速度只有原來的一半。</a:t>
            </a:r>
            <a:r>
              <a:rPr sz="1000" lang="zh-TW" dirty="0">
                <a:solidFill>
                  <a:srgbClr val="000000"/>
                </a:solidFill>
                <a:latin typeface="Arial Unicode MS"/>
                <a:ea typeface="Arial Unicode MS"/>
                <a:cs typeface="Arial Unicode MS"/>
              </a:rPr>
              <a:t>那個六才是減速度。兩個分母乘起來才是十二。
</a:t>
            </a:r>
          </a:p>
          <a:p>
            <a:pPr algn="l">
              <a:lnSpc>
                <a:spcPct val="115000"/>
              </a:lnSpc>
              <a:spcAft>
                <a:spcPts val="500"/>
              </a:spcAft>
            </a:pPr>
            <a:r>
              <a:rPr sz="1000" lang="zh-TW" dirty="0">
                <a:solidFill>
                  <a:srgbClr val="000000"/>
                </a:solidFill>
                <a:latin typeface="Arial Unicode MS"/>
                <a:ea typeface="Arial Unicode MS"/>
                <a:cs typeface="Arial Unicode MS"/>
              </a:rPr>
              <a:t>如果有人問為什麼是平方，我再補一句：速度變兩倍的時候，煞的時間變兩倍、平均速度也變兩倍，兩個都變兩倍，所以距離變四倍。
</a:t>
            </a:r>
          </a:p>
          <a:p>
            <a:pPr algn="l">
              <a:lnSpc>
                <a:spcPct val="115000"/>
              </a:lnSpc>
              <a:spcAft>
                <a:spcPts val="500"/>
              </a:spcAft>
            </a:pPr>
            <a:r>
              <a:rPr sz="1000" lang="zh-TW" dirty="0">
                <a:solidFill>
                  <a:srgbClr val="000000"/>
                </a:solidFill>
                <a:latin typeface="Arial Unicode MS"/>
                <a:ea typeface="Arial Unicode MS"/>
                <a:cs typeface="Arial Unicode MS"/>
              </a:rPr>
              <a:t>代時速五十。五十公里等於每秒十三點九公尺。
</a:t>
            </a:r>
          </a:p>
          <a:p>
            <a:pPr algn="l">
              <a:lnSpc>
                <a:spcPct val="115000"/>
              </a:lnSpc>
              <a:spcAft>
                <a:spcPts val="500"/>
              </a:spcAft>
            </a:pPr>
            <a:r>
              <a:rPr sz="1000" lang="zh-TW" dirty="0">
                <a:solidFill>
                  <a:srgbClr val="000000"/>
                </a:solidFill>
                <a:latin typeface="Arial Unicode MS"/>
                <a:ea typeface="Arial Unicode MS"/>
                <a:cs typeface="Arial Unicode MS"/>
              </a:rPr>
              <a:t>反應距離是十三點九乘零點三，得到四點二公尺。煞車距離是十三點九平方除以十二，得到十六點一公尺。
</a:t>
            </a:r>
          </a:p>
          <a:p>
            <a:pPr algn="l">
              <a:lnSpc>
                <a:spcPct val="115000"/>
              </a:lnSpc>
              <a:spcAft>
                <a:spcPts val="500"/>
              </a:spcAft>
            </a:pPr>
            <a:r>
              <a:rPr sz="1000" lang="zh-TW" dirty="0">
                <a:solidFill>
                  <a:srgbClr val="000000"/>
                </a:solidFill>
                <a:latin typeface="Arial Unicode MS"/>
                <a:ea typeface="Arial Unicode MS"/>
                <a:cs typeface="Arial Unicode MS"/>
              </a:rPr>
              <a:t>加起來，大約</a:t>
            </a:r>
            <a:r>
              <a:rPr sz="1000" b="1" lang="zh-TW" dirty="0">
                <a:solidFill>
                  <a:srgbClr val="000000"/>
                </a:solidFill>
                <a:latin typeface="Arial Unicode MS"/>
                <a:ea typeface="Arial Unicode MS"/>
                <a:cs typeface="Arial Unicode MS"/>
              </a:rPr>
              <a:t>二十公尺</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所以射線至少要二十五公尺——多給五公尺的餘裕。
</a:t>
            </a:r>
          </a:p>
          <a:p>
            <a:pPr algn="l">
              <a:lnSpc>
                <a:spcPct val="115000"/>
              </a:lnSpc>
              <a:spcAft>
                <a:spcPts val="500"/>
              </a:spcAft>
            </a:pPr>
            <a:r>
              <a:rPr sz="1000" lang="zh-TW" dirty="0">
                <a:solidFill>
                  <a:srgbClr val="000000"/>
                </a:solidFill>
                <a:latin typeface="Arial Unicode MS"/>
                <a:ea typeface="Arial Unicode MS"/>
                <a:cs typeface="Arial Unicode MS"/>
              </a:rPr>
              <a:t>我把這三行寫在白板上，大家跟著按一次計算機。
</a:t>
            </a:r>
          </a:p>
          <a:p>
            <a:pPr algn="l">
              <a:lnSpc>
                <a:spcPct val="115000"/>
              </a:lnSpc>
              <a:spcAft>
                <a:spcPts val="500"/>
              </a:spcAft>
            </a:pPr>
            <a:r>
              <a:rPr sz="1000" lang="zh-TW" dirty="0">
                <a:solidFill>
                  <a:srgbClr val="000000"/>
                </a:solidFill>
                <a:latin typeface="Arial Unicode MS"/>
                <a:ea typeface="Arial Unicode MS"/>
                <a:cs typeface="Arial Unicode MS"/>
              </a:rPr>
              <a:t>現在看圖右邊那句話：</a:t>
            </a:r>
            <a:r>
              <a:rPr sz="1000" b="1" lang="zh-TW" dirty="0">
                <a:solidFill>
                  <a:srgbClr val="000000"/>
                </a:solidFill>
                <a:latin typeface="Arial Unicode MS"/>
                <a:ea typeface="Arial Unicode MS"/>
                <a:cs typeface="Arial Unicode MS"/>
              </a:rPr>
              <a:t>比這個距離晚看到，就一定撞</a:t>
            </a:r>
            <a:r>
              <a:rPr sz="1000" lang="zh-TW" dirty="0">
                <a:solidFill>
                  <a:srgbClr val="000000"/>
                </a:solidFill>
                <a:latin typeface="Arial Unicode MS"/>
                <a:ea typeface="Arial Unicode MS"/>
                <a:cs typeface="Arial Unicode MS"/>
              </a:rPr>
              <a:t>。不是「可能撞」，是一定。因為物理上已經停不下來了。
</a:t>
            </a:r>
          </a:p>
          <a:p>
            <a:pPr algn="l">
              <a:lnSpc>
                <a:spcPct val="115000"/>
              </a:lnSpc>
              <a:spcAft>
                <a:spcPts val="500"/>
              </a:spcAft>
            </a:pPr>
            <a:r>
              <a:rPr sz="1000" lang="zh-TW" dirty="0">
                <a:solidFill>
                  <a:srgbClr val="000000"/>
                </a:solidFill>
                <a:latin typeface="Arial Unicode MS"/>
                <a:ea typeface="Arial Unicode MS"/>
                <a:cs typeface="Arial Unicode MS"/>
              </a:rPr>
              <a:t>這是今天第一個硬下限。感測器的規格不是想選多少就選多少，是</a:t>
            </a:r>
            <a:r>
              <a:rPr sz="1000" b="1" lang="zh-TW" dirty="0">
                <a:solidFill>
                  <a:srgbClr val="000000"/>
                </a:solidFill>
                <a:latin typeface="Arial Unicode MS"/>
                <a:ea typeface="Arial Unicode MS"/>
                <a:cs typeface="Arial Unicode MS"/>
              </a:rPr>
              <a:t>被車速逼出來的</a:t>
            </a:r>
            <a:r>
              <a:rPr sz="1000" lang="zh-TW" dirty="0">
                <a:solidFill>
                  <a:srgbClr val="000000"/>
                </a:solidFill>
                <a:latin typeface="Arial Unicode MS"/>
                <a:ea typeface="Arial Unicode MS"/>
                <a:cs typeface="Arial Unicode MS"/>
              </a:rPr>
              <a:t>。</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7</a:t>
            </a:r>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b="1" lang="zh-TW" dirty="0">
                <a:solidFill>
                  <a:srgbClr val="000000"/>
                </a:solidFill>
                <a:latin typeface="Arial Unicode MS"/>
                <a:ea typeface="Arial Unicode MS"/>
                <a:cs typeface="Arial Unicode MS"/>
              </a:rPr>
              <a:t>▍這一張要做什麼</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用一支教育頻道的影片，把剛剛拆的兩段距離再講一次，並帶到路面濕會更長。
</a:t>
            </a:r>
          </a:p>
          <a:p>
            <a:pPr algn="l">
              <a:lnSpc>
                <a:spcPct val="115000"/>
              </a:lnSpc>
              <a:spcAft>
                <a:spcPts val="500"/>
              </a:spcAft>
            </a:pPr>
            <a:r>
              <a:rPr sz="1000" b="1" lang="zh-TW" dirty="0">
                <a:solidFill>
                  <a:srgbClr val="000000"/>
                </a:solidFill>
                <a:latin typeface="Arial Unicode MS"/>
                <a:ea typeface="Arial Unicode MS"/>
                <a:cs typeface="Arial Unicode MS"/>
              </a:rPr>
              <a:t>▍畫面上圈這裡</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播之前圈右邊的三條看點。播到 2:30 就停，回來對答案。
</a:t>
            </a:r>
          </a:p>
          <a:p>
            <a:pPr algn="l">
              <a:lnSpc>
                <a:spcPct val="115000"/>
              </a:lnSpc>
              <a:spcAft>
                <a:spcPts val="500"/>
              </a:spcAft>
            </a:pPr>
            <a:r>
              <a:rPr sz="1000" b="1" lang="zh-TW" dirty="0">
                <a:solidFill>
                  <a:srgbClr val="000000"/>
                </a:solidFill>
                <a:latin typeface="Arial Unicode MS"/>
                <a:ea typeface="Arial Unicode MS"/>
                <a:cs typeface="Arial Unicode MS"/>
              </a:rPr>
              <a:t>▍以下照著唸</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剛剛那條公式算完了，我們用一支三分半的影片，把同樣兩段距離再看一次。
</a:t>
            </a:r>
          </a:p>
          <a:p>
            <a:pPr algn="l">
              <a:lnSpc>
                <a:spcPct val="115000"/>
              </a:lnSpc>
              <a:spcAft>
                <a:spcPts val="500"/>
              </a:spcAft>
            </a:pPr>
            <a:r>
              <a:rPr sz="1000" lang="zh-TW" dirty="0">
                <a:solidFill>
                  <a:srgbClr val="000000"/>
                </a:solidFill>
                <a:latin typeface="Arial Unicode MS"/>
                <a:ea typeface="Arial Unicode MS"/>
                <a:cs typeface="Arial Unicode MS"/>
              </a:rPr>
              <a:t>這一支是英文旁白，請大家點播放器右下角的齒輪，字幕，自動翻譯，選越南文。我們播到兩分半就停，後面是英國考試的內容，我們用不到。
</a:t>
            </a:r>
          </a:p>
          <a:p>
            <a:pPr algn="l">
              <a:lnSpc>
                <a:spcPct val="115000"/>
              </a:lnSpc>
              <a:spcAft>
                <a:spcPts val="500"/>
              </a:spcAft>
            </a:pPr>
            <a:r>
              <a:rPr sz="1000" lang="zh-TW" dirty="0">
                <a:solidFill>
                  <a:srgbClr val="000000"/>
                </a:solidFill>
                <a:latin typeface="Arial Unicode MS"/>
                <a:ea typeface="Arial Unicode MS"/>
                <a:cs typeface="Arial Unicode MS"/>
              </a:rPr>
              <a:t>播之前先給任務：這支影片會把煞停距離拆成兩段，請各位對照剛剛白板上寫的那三行，看它拆的跟我們拆的一不一樣。
</a:t>
            </a:r>
          </a:p>
          <a:p>
            <a:pPr algn="l">
              <a:lnSpc>
                <a:spcPct val="115000"/>
              </a:lnSpc>
              <a:spcAft>
                <a:spcPts val="500"/>
              </a:spcAft>
            </a:pPr>
            <a:r>
              <a:rPr sz="1000" lang="zh-TW" dirty="0">
                <a:solidFill>
                  <a:srgbClr val="000000"/>
                </a:solidFill>
                <a:latin typeface="Arial Unicode MS"/>
                <a:ea typeface="Arial Unicode MS"/>
                <a:cs typeface="Arial Unicode MS"/>
              </a:rPr>
              <a:t>我先講影片的順序，這樣大家知道要看哪裡。
</a:t>
            </a:r>
          </a:p>
          <a:p>
            <a:pPr algn="l">
              <a:lnSpc>
                <a:spcPct val="115000"/>
              </a:lnSpc>
              <a:spcAft>
                <a:spcPts val="500"/>
              </a:spcAft>
            </a:pPr>
            <a:r>
              <a:rPr sz="1000" lang="zh-TW" dirty="0">
                <a:solidFill>
                  <a:srgbClr val="000000"/>
                </a:solidFill>
                <a:latin typeface="Arial Unicode MS"/>
                <a:ea typeface="Arial Unicode MS"/>
                <a:cs typeface="Arial Unicode MS"/>
              </a:rPr>
              <a:t>開頭它先問，為什麼車子開快就比較難停、下雨也比較難停。
</a:t>
            </a:r>
          </a:p>
          <a:p>
            <a:pPr algn="l">
              <a:lnSpc>
                <a:spcPct val="115000"/>
              </a:lnSpc>
              <a:spcAft>
                <a:spcPts val="500"/>
              </a:spcAft>
            </a:pPr>
            <a:r>
              <a:rPr sz="1000" lang="zh-TW" dirty="0">
                <a:solidFill>
                  <a:srgbClr val="000000"/>
                </a:solidFill>
                <a:latin typeface="Arial Unicode MS"/>
                <a:ea typeface="Arial Unicode MS"/>
                <a:cs typeface="Arial Unicode MS"/>
              </a:rPr>
              <a:t>零分二十秒講停車距離的定義：從駕駛看到東西，到車子完全停下來，總共走了多遠。
</a:t>
            </a:r>
          </a:p>
          <a:p>
            <a:pPr algn="l">
              <a:lnSpc>
                <a:spcPct val="115000"/>
              </a:lnSpc>
              <a:spcAft>
                <a:spcPts val="500"/>
              </a:spcAft>
            </a:pPr>
            <a:r>
              <a:rPr sz="1000" lang="zh-TW" dirty="0">
                <a:solidFill>
                  <a:srgbClr val="000000"/>
                </a:solidFill>
                <a:latin typeface="Arial Unicode MS"/>
                <a:ea typeface="Arial Unicode MS"/>
                <a:cs typeface="Arial Unicode MS"/>
              </a:rPr>
              <a:t>三十秒開始講第一段，反應距離，也就是反應時間乘上速度。影響它的是疲勞、喝酒、滑手機、大聲的音樂，這些都讓人反應變慢。
</a:t>
            </a:r>
          </a:p>
          <a:p>
            <a:pPr algn="l">
              <a:lnSpc>
                <a:spcPct val="115000"/>
              </a:lnSpc>
              <a:spcAft>
                <a:spcPts val="500"/>
              </a:spcAft>
            </a:pPr>
            <a:r>
              <a:rPr sz="1000" lang="zh-TW" dirty="0">
                <a:solidFill>
                  <a:srgbClr val="000000"/>
                </a:solidFill>
                <a:latin typeface="Arial Unicode MS"/>
                <a:ea typeface="Arial Unicode MS"/>
                <a:cs typeface="Arial Unicode MS"/>
              </a:rPr>
              <a:t>一分零五秒有一句話最關鍵：</a:t>
            </a:r>
            <a:r>
              <a:rPr sz="1000" b="1" lang="zh-TW" dirty="0">
                <a:solidFill>
                  <a:srgbClr val="000000"/>
                </a:solidFill>
                <a:latin typeface="Arial Unicode MS"/>
                <a:ea typeface="Arial Unicode MS"/>
                <a:cs typeface="Arial Unicode MS"/>
              </a:rPr>
              <a:t>速度不會改變你的反應時間，可是同樣的時間你會跑得更遠。</a:t>
            </a:r>
            <a:r>
              <a:rPr sz="1000" lang="zh-TW" dirty="0">
                <a:solidFill>
                  <a:srgbClr val="000000"/>
                </a:solidFill>
                <a:latin typeface="Arial Unicode MS"/>
                <a:ea typeface="Arial Unicode MS"/>
                <a:cs typeface="Arial Unicode MS"/>
              </a:rPr>
              <a:t>在高速公路上，還沒踩下煞車就已經過了四個車身。
</a:t>
            </a:r>
          </a:p>
          <a:p>
            <a:pPr algn="l">
              <a:lnSpc>
                <a:spcPct val="115000"/>
              </a:lnSpc>
              <a:spcAft>
                <a:spcPts val="500"/>
              </a:spcAft>
            </a:pPr>
            <a:r>
              <a:rPr sz="1000" lang="zh-TW" dirty="0">
                <a:solidFill>
                  <a:srgbClr val="000000"/>
                </a:solidFill>
                <a:latin typeface="Arial Unicode MS"/>
                <a:ea typeface="Arial Unicode MS"/>
                <a:cs typeface="Arial Unicode MS"/>
              </a:rPr>
              <a:t>一分二十秒開始講第二段，煞車距離，腳踩下去之後還要跑多遠。車速愈快、車子愈重就愈長，因為動能要先消耗掉。
</a:t>
            </a:r>
          </a:p>
          <a:p>
            <a:pPr algn="l">
              <a:lnSpc>
                <a:spcPct val="115000"/>
              </a:lnSpc>
              <a:spcAft>
                <a:spcPts val="500"/>
              </a:spcAft>
            </a:pPr>
            <a:r>
              <a:rPr sz="1000" lang="zh-TW" dirty="0">
                <a:solidFill>
                  <a:srgbClr val="000000"/>
                </a:solidFill>
                <a:latin typeface="Arial Unicode MS"/>
                <a:ea typeface="Arial Unicode MS"/>
                <a:cs typeface="Arial Unicode MS"/>
              </a:rPr>
              <a:t>一分五十秒講路面條件：結冰、下雨、落葉，還有煞車和輪胎本身的狀況。
</a:t>
            </a:r>
          </a:p>
          <a:p>
            <a:pPr algn="l">
              <a:lnSpc>
                <a:spcPct val="115000"/>
              </a:lnSpc>
              <a:spcAft>
                <a:spcPts val="500"/>
              </a:spcAft>
            </a:pPr>
            <a:r>
              <a:rPr sz="1000" lang="zh-TW" dirty="0">
                <a:solidFill>
                  <a:srgbClr val="000000"/>
                </a:solidFill>
                <a:latin typeface="Arial Unicode MS"/>
                <a:ea typeface="Arial Unicode MS"/>
                <a:cs typeface="Arial Unicode MS"/>
              </a:rPr>
              <a:t>兩分十秒之後是考題練習，我們就停在那裡。
</a:t>
            </a:r>
          </a:p>
          <a:p>
            <a:pPr algn="l">
              <a:lnSpc>
                <a:spcPct val="115000"/>
              </a:lnSpc>
              <a:spcAft>
                <a:spcPts val="500"/>
              </a:spcAft>
            </a:pPr>
            <a:r>
              <a:rPr sz="1000" lang="zh-TW" dirty="0">
                <a:solidFill>
                  <a:srgbClr val="000000"/>
                </a:solidFill>
                <a:latin typeface="Arial Unicode MS"/>
                <a:ea typeface="Arial Unicode MS"/>
                <a:cs typeface="Arial Unicode MS"/>
              </a:rPr>
              <a:t>看完問三個問題。
</a:t>
            </a:r>
          </a:p>
          <a:p>
            <a:pPr algn="l">
              <a:lnSpc>
                <a:spcPct val="115000"/>
              </a:lnSpc>
              <a:spcAft>
                <a:spcPts val="500"/>
              </a:spcAft>
            </a:pPr>
            <a:r>
              <a:rPr sz="1000" lang="zh-TW" dirty="0">
                <a:solidFill>
                  <a:srgbClr val="000000"/>
                </a:solidFill>
                <a:latin typeface="Arial Unicode MS"/>
                <a:ea typeface="Arial Unicode MS"/>
                <a:cs typeface="Arial Unicode MS"/>
              </a:rPr>
              <a:t>第一，</a:t>
            </a:r>
            <a:r>
              <a:rPr sz="1000" b="1" lang="zh-TW" dirty="0">
                <a:solidFill>
                  <a:srgbClr val="000000"/>
                </a:solidFill>
                <a:latin typeface="Arial Unicode MS"/>
                <a:ea typeface="Arial Unicode MS"/>
                <a:cs typeface="Arial Unicode MS"/>
              </a:rPr>
              <a:t>影片把煞停距離拆成哪兩段？</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答案是反應距離和煞車距離，跟我們剛剛算的一樣。
</a:t>
            </a:r>
          </a:p>
          <a:p>
            <a:pPr algn="l">
              <a:lnSpc>
                <a:spcPct val="115000"/>
              </a:lnSpc>
              <a:spcAft>
                <a:spcPts val="500"/>
              </a:spcAft>
            </a:pPr>
            <a:r>
              <a:rPr sz="1000" lang="zh-TW" dirty="0">
                <a:solidFill>
                  <a:srgbClr val="000000"/>
                </a:solidFill>
                <a:latin typeface="Arial Unicode MS"/>
                <a:ea typeface="Arial Unicode MS"/>
                <a:cs typeface="Arial Unicode MS"/>
              </a:rPr>
              <a:t>第二，這題是重點：</a:t>
            </a:r>
            <a:r>
              <a:rPr sz="1000" b="1" lang="zh-TW" dirty="0">
                <a:solidFill>
                  <a:srgbClr val="000000"/>
                </a:solidFill>
                <a:latin typeface="Arial Unicode MS"/>
                <a:ea typeface="Arial Unicode MS"/>
                <a:cs typeface="Arial Unicode MS"/>
              </a:rPr>
              <a:t>哪一段是跟速度的平方成正比？</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答案是煞車距離。反應距離只是速度乘一個固定的時間，速度變兩倍它就變兩倍；煞車距離是速度變兩倍就變四倍。
</a:t>
            </a:r>
          </a:p>
          <a:p>
            <a:pPr algn="l">
              <a:lnSpc>
                <a:spcPct val="115000"/>
              </a:lnSpc>
              <a:spcAft>
                <a:spcPts val="500"/>
              </a:spcAft>
            </a:pPr>
            <a:r>
              <a:rPr sz="1000" lang="zh-TW" dirty="0">
                <a:solidFill>
                  <a:srgbClr val="000000"/>
                </a:solidFill>
                <a:latin typeface="Arial Unicode MS"/>
                <a:ea typeface="Arial Unicode MS"/>
                <a:cs typeface="Arial Unicode MS"/>
              </a:rPr>
              <a:t>對。所以車速一高，真正吃掉距離的是</a:t>
            </a:r>
            <a:r>
              <a:rPr sz="1000" b="1" lang="zh-TW" dirty="0">
                <a:solidFill>
                  <a:srgbClr val="000000"/>
                </a:solidFill>
                <a:latin typeface="Arial Unicode MS"/>
                <a:ea typeface="Arial Unicode MS"/>
                <a:cs typeface="Arial Unicode MS"/>
              </a:rPr>
              <a:t>後面那一段</a:t>
            </a:r>
            <a:r>
              <a:rPr sz="1000" lang="zh-TW" dirty="0">
                <a:solidFill>
                  <a:srgbClr val="000000"/>
                </a:solidFill>
                <a:latin typeface="Arial Unicode MS"/>
                <a:ea typeface="Arial Unicode MS"/>
                <a:cs typeface="Arial Unicode MS"/>
              </a:rPr>
              <a:t>。這也是為什麼我們那張表上，時速八十要的射線長度比時速四十多那麼多。
</a:t>
            </a:r>
          </a:p>
          <a:p>
            <a:pPr algn="l">
              <a:lnSpc>
                <a:spcPct val="115000"/>
              </a:lnSpc>
              <a:spcAft>
                <a:spcPts val="500"/>
              </a:spcAft>
            </a:pPr>
            <a:r>
              <a:rPr sz="1000" lang="zh-TW" dirty="0">
                <a:solidFill>
                  <a:srgbClr val="000000"/>
                </a:solidFill>
                <a:latin typeface="Arial Unicode MS"/>
                <a:ea typeface="Arial Unicode MS"/>
                <a:cs typeface="Arial Unicode MS"/>
              </a:rPr>
              <a:t>第三，</a:t>
            </a:r>
            <a:r>
              <a:rPr sz="1000" b="1" lang="zh-TW" dirty="0">
                <a:solidFill>
                  <a:srgbClr val="000000"/>
                </a:solidFill>
                <a:latin typeface="Arial Unicode MS"/>
                <a:ea typeface="Arial Unicode MS"/>
                <a:cs typeface="Arial Unicode MS"/>
              </a:rPr>
              <a:t>影片說路面濕的時候煞車距離會變長。那對感測器有什麼影響？</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大家想一下。答案是需要看得更遠，因為停下來要更長的距離。
</a:t>
            </a:r>
          </a:p>
          <a:p>
            <a:pPr algn="l">
              <a:lnSpc>
                <a:spcPct val="115000"/>
              </a:lnSpc>
              <a:spcAft>
                <a:spcPts val="500"/>
              </a:spcAft>
            </a:pPr>
            <a:r>
              <a:rPr sz="1000" lang="zh-TW" dirty="0">
                <a:solidFill>
                  <a:srgbClr val="000000"/>
                </a:solidFill>
                <a:latin typeface="Arial Unicode MS"/>
                <a:ea typeface="Arial Unicode MS"/>
                <a:cs typeface="Arial Unicode MS"/>
              </a:rPr>
              <a:t>這句話請記住——</a:t>
            </a:r>
            <a:r>
              <a:rPr sz="1000" b="1" lang="zh-TW" dirty="0">
                <a:solidFill>
                  <a:srgbClr val="000000"/>
                </a:solidFill>
                <a:latin typeface="Arial Unicode MS"/>
                <a:ea typeface="Arial Unicode MS"/>
                <a:cs typeface="Arial Unicode MS"/>
              </a:rPr>
              <a:t>第三節任務三，各位會把雨天打開，然後會發現兩件事同時發生：射線變短，而煞車距離變長。</a:t>
            </a:r>
            <a:r>
              <a:rPr sz="1000" lang="zh-TW" dirty="0">
                <a:solidFill>
                  <a:srgbClr val="000000"/>
                </a:solidFill>
                <a:latin typeface="Arial Unicode MS"/>
                <a:ea typeface="Arial Unicode MS"/>
                <a:cs typeface="Arial Unicode MS"/>
              </a:rPr>
              <a:t>兩邊一起往壞的方向走。那一題的陷阱就在這裡。
</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8</a:t>
            </a:r>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b="1" lang="zh-TW" dirty="0">
                <a:solidFill>
                  <a:srgbClr val="000000"/>
                </a:solidFill>
                <a:latin typeface="Arial Unicode MS"/>
                <a:ea typeface="Arial Unicode MS"/>
                <a:cs typeface="Arial Unicode MS"/>
              </a:rPr>
              <a:t>▍這一張要做什麼</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把公式變成一張可以直接查的表，讓學生知道自己等一下該把長度調到多少。
</a:t>
            </a:r>
          </a:p>
          <a:p>
            <a:pPr algn="l">
              <a:lnSpc>
                <a:spcPct val="115000"/>
              </a:lnSpc>
              <a:spcAft>
                <a:spcPts val="500"/>
              </a:spcAft>
            </a:pPr>
            <a:r>
              <a:rPr sz="1000" b="1" lang="zh-TW" dirty="0">
                <a:solidFill>
                  <a:srgbClr val="000000"/>
                </a:solidFill>
                <a:latin typeface="Arial Unicode MS"/>
                <a:ea typeface="Arial Unicode MS"/>
                <a:cs typeface="Arial Unicode MS"/>
              </a:rPr>
              <a:t>▍畫面上圈這裡</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圈時速 50 那一列——那是模擬器的預設值；再圈最右邊那一欄的最低要求。
</a:t>
            </a:r>
          </a:p>
          <a:p>
            <a:pPr algn="l">
              <a:lnSpc>
                <a:spcPct val="115000"/>
              </a:lnSpc>
              <a:spcAft>
                <a:spcPts val="500"/>
              </a:spcAft>
            </a:pPr>
            <a:r>
              <a:rPr sz="1000" b="1" lang="zh-TW" dirty="0">
                <a:solidFill>
                  <a:srgbClr val="000000"/>
                </a:solidFill>
                <a:latin typeface="Arial Unicode MS"/>
                <a:ea typeface="Arial Unicode MS"/>
                <a:cs typeface="Arial Unicode MS"/>
              </a:rPr>
              <a:t>▍以下照著唸</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把四個常見的車速代進去，結果就是這張表。
</a:t>
            </a:r>
          </a:p>
          <a:p>
            <a:pPr algn="l">
              <a:lnSpc>
                <a:spcPct val="115000"/>
              </a:lnSpc>
              <a:spcAft>
                <a:spcPts val="500"/>
              </a:spcAft>
            </a:pPr>
            <a:r>
              <a:rPr sz="1000" lang="zh-TW" dirty="0">
                <a:solidFill>
                  <a:srgbClr val="000000"/>
                </a:solidFill>
                <a:latin typeface="Arial Unicode MS"/>
                <a:ea typeface="Arial Unicode MS"/>
                <a:cs typeface="Arial Unicode MS"/>
              </a:rPr>
              <a:t>請大家自己挑一個速度算一次，再跟表上對答案。
</a:t>
            </a:r>
          </a:p>
          <a:p>
            <a:pPr algn="l">
              <a:lnSpc>
                <a:spcPct val="115000"/>
              </a:lnSpc>
              <a:spcAft>
                <a:spcPts val="500"/>
              </a:spcAft>
            </a:pPr>
            <a:r>
              <a:rPr sz="1000" lang="zh-TW" dirty="0">
                <a:solidFill>
                  <a:srgbClr val="000000"/>
                </a:solidFill>
                <a:latin typeface="Arial Unicode MS"/>
                <a:ea typeface="Arial Unicode MS"/>
                <a:cs typeface="Arial Unicode MS"/>
              </a:rPr>
              <a:t>請看</a:t>
            </a:r>
            <a:r>
              <a:rPr sz="1000" b="1" lang="zh-TW" dirty="0">
                <a:solidFill>
                  <a:srgbClr val="000000"/>
                </a:solidFill>
                <a:latin typeface="Arial Unicode MS"/>
                <a:ea typeface="Arial Unicode MS"/>
                <a:cs typeface="Arial Unicode MS"/>
              </a:rPr>
              <a:t>從時速三十到時速八十</a:t>
            </a:r>
            <a:r>
              <a:rPr sz="1000" lang="zh-TW" dirty="0">
                <a:solidFill>
                  <a:srgbClr val="000000"/>
                </a:solidFill>
                <a:latin typeface="Arial Unicode MS"/>
                <a:ea typeface="Arial Unicode MS"/>
                <a:cs typeface="Arial Unicode MS"/>
              </a:rPr>
              <a:t>：速度增加不到三倍，煞停距離從八公尺變成四十八公尺，</a:t>
            </a:r>
            <a:r>
              <a:rPr sz="1000" b="1" lang="zh-TW" dirty="0">
                <a:solidFill>
                  <a:srgbClr val="000000"/>
                </a:solidFill>
                <a:latin typeface="Arial Unicode MS"/>
                <a:ea typeface="Arial Unicode MS"/>
                <a:cs typeface="Arial Unicode MS"/>
              </a:rPr>
              <a:t>六倍</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為什麼？因為公式裡有平方那一項。速度愈快，平方那一項愈主導。
</a:t>
            </a:r>
          </a:p>
          <a:p>
            <a:pPr algn="l">
              <a:lnSpc>
                <a:spcPct val="115000"/>
              </a:lnSpc>
              <a:spcAft>
                <a:spcPts val="500"/>
              </a:spcAft>
            </a:pPr>
            <a:r>
              <a:rPr sz="1000" lang="zh-TW" dirty="0">
                <a:solidFill>
                  <a:srgbClr val="000000"/>
                </a:solidFill>
                <a:latin typeface="Arial Unicode MS"/>
                <a:ea typeface="Arial Unicode MS"/>
                <a:cs typeface="Arial Unicode MS"/>
              </a:rPr>
              <a:t>今天上機用的是時速五十那一列，射線至少二十五公尺。各位等一下調參數的時候，</a:t>
            </a:r>
            <a:r>
              <a:rPr sz="1000" b="1" lang="zh-TW" dirty="0">
                <a:solidFill>
                  <a:srgbClr val="000000"/>
                </a:solidFill>
                <a:latin typeface="Arial Unicode MS"/>
                <a:ea typeface="Arial Unicode MS"/>
                <a:cs typeface="Arial Unicode MS"/>
              </a:rPr>
              <a:t>射線長度不要低於二十五</a:t>
            </a:r>
            <a:r>
              <a:rPr sz="1000" lang="zh-TW" dirty="0">
                <a:solidFill>
                  <a:srgbClr val="000000"/>
                </a:solidFill>
                <a:latin typeface="Arial Unicode MS"/>
                <a:ea typeface="Arial Unicode MS"/>
                <a:cs typeface="Arial Unicode MS"/>
              </a:rPr>
              <a:t>，否則你調再多射線數都沒用。
</a:t>
            </a:r>
          </a:p>
          <a:p>
            <a:pPr algn="l">
              <a:lnSpc>
                <a:spcPct val="115000"/>
              </a:lnSpc>
              <a:spcAft>
                <a:spcPts val="500"/>
              </a:spcAft>
            </a:pPr>
            <a:r>
              <a:rPr sz="1000" lang="zh-TW" dirty="0">
                <a:solidFill>
                  <a:srgbClr val="000000"/>
                </a:solidFill>
                <a:latin typeface="Arial Unicode MS"/>
                <a:ea typeface="Arial Unicode MS"/>
                <a:cs typeface="Arial Unicode MS"/>
              </a:rPr>
              <a:t>最後看底下那行字。真車開到時速一百，需要兩百公尺以上的可靠偵測距離。
</a:t>
            </a:r>
          </a:p>
          <a:p>
            <a:pPr algn="l">
              <a:lnSpc>
                <a:spcPct val="115000"/>
              </a:lnSpc>
              <a:spcAft>
                <a:spcPts val="500"/>
              </a:spcAft>
            </a:pPr>
            <a:r>
              <a:rPr sz="1000" lang="zh-TW" dirty="0">
                <a:solidFill>
                  <a:srgbClr val="000000"/>
                </a:solidFill>
                <a:latin typeface="Arial Unicode MS"/>
                <a:ea typeface="Arial Unicode MS"/>
                <a:cs typeface="Arial Unicode MS"/>
              </a:rPr>
              <a:t>（問全班）什麼感測器做得到兩百公尺？
</a:t>
            </a:r>
          </a:p>
          <a:p>
            <a:pPr algn="l">
              <a:lnSpc>
                <a:spcPct val="115000"/>
              </a:lnSpc>
              <a:spcAft>
                <a:spcPts val="500"/>
              </a:spcAft>
            </a:pPr>
            <a:r>
              <a:rPr sz="1000" lang="zh-TW" dirty="0">
                <a:solidFill>
                  <a:srgbClr val="000000"/>
                </a:solidFill>
                <a:latin typeface="Arial Unicode MS"/>
                <a:ea typeface="Arial Unicode MS"/>
                <a:cs typeface="Arial Unicode MS"/>
              </a:rPr>
              <a:t>大家猜猜看。答案是雷達，還有高階的長距光達。不過那是第三章的內容，今天先不展開。
</a:t>
            </a:r>
          </a:p>
          <a:p>
            <a:pPr algn="l">
              <a:lnSpc>
                <a:spcPct val="115000"/>
              </a:lnSpc>
              <a:spcAft>
                <a:spcPts val="500"/>
              </a:spcAft>
            </a:pPr>
            <a:r>
              <a:rPr sz="1000" lang="zh-TW" dirty="0">
                <a:solidFill>
                  <a:srgbClr val="000000"/>
                </a:solidFill>
                <a:latin typeface="Arial Unicode MS"/>
                <a:ea typeface="Arial Unicode MS"/>
                <a:cs typeface="Arial Unicode MS"/>
              </a:rPr>
              <a:t>還有一件事要補：</a:t>
            </a:r>
            <a:r>
              <a:rPr sz="1000" b="1" lang="zh-TW" dirty="0">
                <a:solidFill>
                  <a:srgbClr val="000000"/>
                </a:solidFill>
                <a:latin typeface="Arial Unicode MS"/>
                <a:ea typeface="Arial Unicode MS"/>
                <a:cs typeface="Arial Unicode MS"/>
              </a:rPr>
              <a:t>濕路面的減速度只有一半</a:t>
            </a:r>
            <a:r>
              <a:rPr sz="1000" lang="zh-TW" dirty="0">
                <a:solidFill>
                  <a:srgbClr val="000000"/>
                </a:solidFill>
                <a:latin typeface="Arial Unicode MS"/>
                <a:ea typeface="Arial Unicode MS"/>
                <a:cs typeface="Arial Unicode MS"/>
              </a:rPr>
              <a:t>。減速度剩三，煞車那一項就變兩倍。時速五十的煞停距離從二十公尺變成三十六公尺。這件事第三節打開雨天的時候會再遇到。</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9</a:t>
            </a:r>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b="1" lang="zh-TW" dirty="0">
                <a:solidFill>
                  <a:srgbClr val="000000"/>
                </a:solidFill>
                <a:latin typeface="Arial Unicode MS"/>
                <a:ea typeface="Arial Unicode MS"/>
                <a:cs typeface="Arial Unicode MS"/>
              </a:rPr>
              <a:t>▍這一張要做什麼</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讓學生看業界真的在用的模擬器，再回頭問我們的差在哪、哪裡是一樣的。
</a:t>
            </a:r>
          </a:p>
          <a:p>
            <a:pPr algn="l">
              <a:lnSpc>
                <a:spcPct val="115000"/>
              </a:lnSpc>
              <a:spcAft>
                <a:spcPts val="500"/>
              </a:spcAft>
            </a:pPr>
            <a:r>
              <a:rPr sz="1000" b="1" lang="zh-TW" dirty="0">
                <a:solidFill>
                  <a:srgbClr val="000000"/>
                </a:solidFill>
                <a:latin typeface="Arial Unicode MS"/>
                <a:ea typeface="Arial Unicode MS"/>
                <a:cs typeface="Arial Unicode MS"/>
              </a:rPr>
              <a:t>▍畫面上圈這裡</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播之前圈右邊的三條看點，特別是第三條「它一樣是假的」。
</a:t>
            </a:r>
          </a:p>
          <a:p>
            <a:pPr algn="l">
              <a:lnSpc>
                <a:spcPct val="115000"/>
              </a:lnSpc>
              <a:spcAft>
                <a:spcPts val="500"/>
              </a:spcAft>
            </a:pPr>
            <a:r>
              <a:rPr sz="1000" b="1" lang="zh-TW" dirty="0">
                <a:solidFill>
                  <a:srgbClr val="000000"/>
                </a:solidFill>
                <a:latin typeface="Arial Unicode MS"/>
                <a:ea typeface="Arial Unicode MS"/>
                <a:cs typeface="Arial Unicode MS"/>
              </a:rPr>
              <a:t>▍以下照著唸</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各位可能會覺得：我們那個模擬器只有幾條線，也太陽春了吧。
</a:t>
            </a:r>
          </a:p>
          <a:p>
            <a:pPr algn="l">
              <a:lnSpc>
                <a:spcPct val="115000"/>
              </a:lnSpc>
              <a:spcAft>
                <a:spcPts val="500"/>
              </a:spcAft>
            </a:pPr>
            <a:r>
              <a:rPr sz="1000" lang="zh-TW" dirty="0">
                <a:solidFill>
                  <a:srgbClr val="000000"/>
                </a:solidFill>
                <a:latin typeface="Arial Unicode MS"/>
                <a:ea typeface="Arial Unicode MS"/>
                <a:cs typeface="Arial Unicode MS"/>
              </a:rPr>
              <a:t>對，它是很陽春。所以我放一支影片，讓各位看看</a:t>
            </a:r>
            <a:r>
              <a:rPr sz="1000" b="1" lang="zh-TW" dirty="0">
                <a:solidFill>
                  <a:srgbClr val="000000"/>
                </a:solidFill>
                <a:latin typeface="Arial Unicode MS"/>
                <a:ea typeface="Arial Unicode MS"/>
                <a:cs typeface="Arial Unicode MS"/>
              </a:rPr>
              <a:t>業界真的在用的模擬器</a:t>
            </a:r>
            <a:r>
              <a:rPr sz="1000" lang="zh-TW" dirty="0">
                <a:solidFill>
                  <a:srgbClr val="000000"/>
                </a:solidFill>
                <a:latin typeface="Arial Unicode MS"/>
                <a:ea typeface="Arial Unicode MS"/>
                <a:cs typeface="Arial Unicode MS"/>
              </a:rPr>
              <a:t>長什麼樣。
</a:t>
            </a:r>
          </a:p>
          <a:p>
            <a:pPr algn="l">
              <a:lnSpc>
                <a:spcPct val="115000"/>
              </a:lnSpc>
              <a:spcAft>
                <a:spcPts val="500"/>
              </a:spcAft>
            </a:pPr>
            <a:r>
              <a:rPr sz="1000" lang="zh-TW" dirty="0">
                <a:solidFill>
                  <a:srgbClr val="000000"/>
                </a:solidFill>
                <a:latin typeface="Arial Unicode MS"/>
                <a:ea typeface="Arial Unicode MS"/>
                <a:cs typeface="Arial Unicode MS"/>
              </a:rPr>
              <a:t>這是 CARLA，開源的自駕模擬器，很多大學和公司拿它做研究。這支是它的版本發布影片，官方頻道的。
</a:t>
            </a:r>
          </a:p>
          <a:p>
            <a:pPr algn="l">
              <a:lnSpc>
                <a:spcPct val="115000"/>
              </a:lnSpc>
              <a:spcAft>
                <a:spcPts val="500"/>
              </a:spcAft>
            </a:pPr>
            <a:r>
              <a:rPr sz="1000" lang="zh-TW" dirty="0">
                <a:solidFill>
                  <a:srgbClr val="000000"/>
                </a:solidFill>
                <a:latin typeface="Arial Unicode MS"/>
                <a:ea typeface="Arial Unicode MS"/>
                <a:cs typeface="Arial Unicode MS"/>
              </a:rPr>
              <a:t>我們播兩分鐘左右就好。
</a:t>
            </a:r>
          </a:p>
          <a:p>
            <a:pPr algn="l">
              <a:lnSpc>
                <a:spcPct val="115000"/>
              </a:lnSpc>
              <a:spcAft>
                <a:spcPts val="500"/>
              </a:spcAft>
            </a:pPr>
            <a:r>
              <a:rPr sz="1000" lang="zh-TW" dirty="0">
                <a:solidFill>
                  <a:srgbClr val="000000"/>
                </a:solidFill>
                <a:latin typeface="Arial Unicode MS"/>
                <a:ea typeface="Arial Unicode MS"/>
                <a:cs typeface="Arial Unicode MS"/>
              </a:rPr>
              <a:t>看的時候請注意三件事：
</a:t>
            </a:r>
          </a:p>
          <a:p>
            <a:pPr algn="l">
              <a:lnSpc>
                <a:spcPct val="115000"/>
              </a:lnSpc>
              <a:spcAft>
                <a:spcPts val="500"/>
              </a:spcAft>
            </a:pPr>
            <a:r>
              <a:rPr sz="1000" lang="zh-TW" dirty="0">
                <a:solidFill>
                  <a:srgbClr val="000000"/>
                </a:solidFill>
                <a:latin typeface="Arial Unicode MS"/>
                <a:ea typeface="Arial Unicode MS"/>
                <a:cs typeface="Arial Unicode MS"/>
              </a:rPr>
              <a:t>第一，影片裡會看到白天、晚上、下雨、起霧，也會看到車很多和車很少的路口。</a:t>
            </a:r>
            <a:r>
              <a:rPr sz="1000" b="1" lang="zh-TW" dirty="0">
                <a:solidFill>
                  <a:srgbClr val="000000"/>
                </a:solidFill>
                <a:latin typeface="Arial Unicode MS"/>
                <a:ea typeface="Arial Unicode MS"/>
                <a:cs typeface="Arial Unicode MS"/>
              </a:rPr>
              <a:t>那些全部都是參數調出來的</a:t>
            </a:r>
            <a:r>
              <a:rPr sz="1000" lang="zh-TW" dirty="0">
                <a:solidFill>
                  <a:srgbClr val="000000"/>
                </a:solidFill>
                <a:latin typeface="Arial Unicode MS"/>
                <a:ea typeface="Arial Unicode MS"/>
                <a:cs typeface="Arial Unicode MS"/>
              </a:rPr>
              <a:t>——天氣、一天中的時間、車流密度，跟我們的滑桿是同一個概念，只是它的滑桿多得多。
</a:t>
            </a:r>
          </a:p>
          <a:p>
            <a:pPr algn="l">
              <a:lnSpc>
                <a:spcPct val="115000"/>
              </a:lnSpc>
              <a:spcAft>
                <a:spcPts val="500"/>
              </a:spcAft>
            </a:pPr>
            <a:r>
              <a:rPr sz="1000" lang="zh-TW" dirty="0">
                <a:solidFill>
                  <a:srgbClr val="000000"/>
                </a:solidFill>
                <a:latin typeface="Arial Unicode MS"/>
                <a:ea typeface="Arial Unicode MS"/>
                <a:cs typeface="Arial Unicode MS"/>
              </a:rPr>
              <a:t>第二，CARLA 也會把</a:t>
            </a:r>
            <a:r>
              <a:rPr sz="1000" b="1" lang="zh-TW" dirty="0">
                <a:solidFill>
                  <a:srgbClr val="000000"/>
                </a:solidFill>
                <a:latin typeface="Arial Unicode MS"/>
                <a:ea typeface="Arial Unicode MS"/>
                <a:cs typeface="Arial Unicode MS"/>
              </a:rPr>
              <a:t>相機影像</a:t>
            </a:r>
            <a:r>
              <a:rPr sz="1000" lang="zh-TW" dirty="0">
                <a:solidFill>
                  <a:srgbClr val="000000"/>
                </a:solidFill>
                <a:latin typeface="Arial Unicode MS"/>
                <a:ea typeface="Arial Unicode MS"/>
                <a:cs typeface="Arial Unicode MS"/>
              </a:rPr>
              <a:t>和</a:t>
            </a:r>
            <a:r>
              <a:rPr sz="1000" b="1" lang="zh-TW" dirty="0">
                <a:solidFill>
                  <a:srgbClr val="000000"/>
                </a:solidFill>
                <a:latin typeface="Arial Unicode MS"/>
                <a:ea typeface="Arial Unicode MS"/>
                <a:cs typeface="Arial Unicode MS"/>
              </a:rPr>
              <a:t>光達點雲</a:t>
            </a:r>
            <a:r>
              <a:rPr sz="1000" lang="zh-TW" dirty="0">
                <a:solidFill>
                  <a:srgbClr val="000000"/>
                </a:solidFill>
                <a:latin typeface="Arial Unicode MS"/>
                <a:ea typeface="Arial Unicode MS"/>
                <a:cs typeface="Arial Unicode MS"/>
              </a:rPr>
              <a:t>一起模擬出來。也就是說，它連感測器看到什麼都算給你。
</a:t>
            </a:r>
          </a:p>
          <a:p>
            <a:pPr algn="l">
              <a:lnSpc>
                <a:spcPct val="115000"/>
              </a:lnSpc>
              <a:spcAft>
                <a:spcPts val="500"/>
              </a:spcAft>
            </a:pPr>
            <a:r>
              <a:rPr sz="1000" lang="zh-TW" dirty="0">
                <a:solidFill>
                  <a:srgbClr val="000000"/>
                </a:solidFill>
                <a:latin typeface="Arial Unicode MS"/>
                <a:ea typeface="Arial Unicode MS"/>
                <a:cs typeface="Arial Unicode MS"/>
              </a:rPr>
              <a:t>第三，這是重點——</a:t>
            </a:r>
            <a:r>
              <a:rPr sz="1000" b="1" lang="zh-TW" dirty="0">
                <a:solidFill>
                  <a:srgbClr val="000000"/>
                </a:solidFill>
                <a:latin typeface="Arial Unicode MS"/>
                <a:ea typeface="Arial Unicode MS"/>
                <a:cs typeface="Arial Unicode MS"/>
              </a:rPr>
              <a:t>它一樣是假的</a:t>
            </a:r>
            <a:r>
              <a:rPr sz="1000" lang="zh-TW" dirty="0">
                <a:solidFill>
                  <a:srgbClr val="000000"/>
                </a:solidFill>
                <a:latin typeface="Arial Unicode MS"/>
                <a:ea typeface="Arial Unicode MS"/>
                <a:cs typeface="Arial Unicode MS"/>
              </a:rPr>
              <a:t>。畫面很漂亮，但那些行人、那些車的行為，都是程式寫出來的規則。
</a:t>
            </a:r>
          </a:p>
          <a:p>
            <a:pPr algn="l">
              <a:lnSpc>
                <a:spcPct val="115000"/>
              </a:lnSpc>
              <a:spcAft>
                <a:spcPts val="500"/>
              </a:spcAft>
            </a:pPr>
            <a:r>
              <a:rPr sz="1000" lang="zh-TW" dirty="0">
                <a:solidFill>
                  <a:srgbClr val="000000"/>
                </a:solidFill>
                <a:latin typeface="Arial Unicode MS"/>
                <a:ea typeface="Arial Unicode MS"/>
                <a:cs typeface="Arial Unicode MS"/>
              </a:rPr>
              <a:t>看完問一句：它跟我們的模擬器差在哪裡？
</a:t>
            </a:r>
          </a:p>
          <a:p>
            <a:pPr algn="l">
              <a:lnSpc>
                <a:spcPct val="115000"/>
              </a:lnSpc>
              <a:spcAft>
                <a:spcPts val="500"/>
              </a:spcAft>
            </a:pPr>
            <a:r>
              <a:rPr sz="1000" lang="zh-TW" dirty="0">
                <a:solidFill>
                  <a:srgbClr val="000000"/>
                </a:solidFill>
                <a:latin typeface="Arial Unicode MS"/>
                <a:ea typeface="Arial Unicode MS"/>
                <a:cs typeface="Arial Unicode MS"/>
              </a:rPr>
              <a:t>大家大概會說：畫面精細很多、有真的城市、有天氣。
</a:t>
            </a:r>
          </a:p>
          <a:p>
            <a:pPr algn="l">
              <a:lnSpc>
                <a:spcPct val="115000"/>
              </a:lnSpc>
              <a:spcAft>
                <a:spcPts val="500"/>
              </a:spcAft>
            </a:pPr>
            <a:r>
              <a:rPr sz="1000" lang="zh-TW" dirty="0">
                <a:solidFill>
                  <a:srgbClr val="000000"/>
                </a:solidFill>
                <a:latin typeface="Arial Unicode MS"/>
                <a:ea typeface="Arial Unicode MS"/>
                <a:cs typeface="Arial Unicode MS"/>
              </a:rPr>
              <a:t>那哪裡是一樣的？
</a:t>
            </a:r>
          </a:p>
          <a:p>
            <a:pPr algn="l">
              <a:lnSpc>
                <a:spcPct val="115000"/>
              </a:lnSpc>
              <a:spcAft>
                <a:spcPts val="500"/>
              </a:spcAft>
            </a:pPr>
            <a:r>
              <a:rPr sz="1000" lang="zh-TW" dirty="0">
                <a:solidFill>
                  <a:srgbClr val="000000"/>
                </a:solidFill>
                <a:latin typeface="Arial Unicode MS"/>
                <a:ea typeface="Arial Unicode MS"/>
                <a:cs typeface="Arial Unicode MS"/>
              </a:rPr>
              <a:t>答案是：都是參數、都是規則、都不是真的。
</a:t>
            </a:r>
          </a:p>
          <a:p>
            <a:pPr algn="l">
              <a:lnSpc>
                <a:spcPct val="115000"/>
              </a:lnSpc>
              <a:spcAft>
                <a:spcPts val="500"/>
              </a:spcAft>
            </a:pPr>
            <a:r>
              <a:rPr sz="1000" b="1" lang="zh-TW" dirty="0">
                <a:solidFill>
                  <a:srgbClr val="000000"/>
                </a:solidFill>
                <a:latin typeface="Arial Unicode MS"/>
                <a:ea typeface="Arial Unicode MS"/>
                <a:cs typeface="Arial Unicode MS"/>
              </a:rPr>
              <a:t>對，這就是下一段要講的事。</a:t>
            </a:r>
            <a:r>
              <a:rPr sz="1000" lang="zh-TW" dirty="0">
                <a:solidFill>
                  <a:srgbClr val="000000"/>
                </a:solidFill>
                <a:latin typeface="Arial Unicode MS"/>
                <a:ea typeface="Arial Unicode MS"/>
                <a:cs typeface="Arial Unicode MS"/>
              </a:rPr>
              <a:t>畫面再漂亮，它跟真實世界之間還是有差距。而且那個差距，是做自駕最麻煩的問題之一。</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10</a:t>
            </a:r>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lnSpc>
                <a:spcPct val="115000"/>
              </a:lnSpc>
              <a:spcAft>
                <a:spcPts val="600"/>
              </a:spcAft>
            </a:pPr>
            <a:r>
              <a:rPr sz="1200" lang="zh-TW" dirty="0">
                <a:solidFill>
                  <a:srgbClr val="000000"/>
                </a:solidFill>
                <a:latin typeface="Arial Unicode MS"/>
                <a:ea typeface="Arial Unicode MS"/>
                <a:cs typeface="Arial Unicode MS"/>
              </a:rPr>
              <a:t>段落分隔。從「怎麼調參數」切換到「模擬到底能不能信」。
</a:t>
            </a:r>
          </a:p>
          <a:p>
            <a:pPr algn="l">
              <a:lnSpc>
                <a:spcPct val="115000"/>
              </a:lnSpc>
              <a:spcAft>
                <a:spcPts val="6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lnSpc>
                <a:spcPct val="115000"/>
              </a:lnSpc>
              <a:spcAft>
                <a:spcPts val="600"/>
              </a:spcAft>
            </a:pPr>
            <a:r>
              <a:rPr sz="1200" lang="zh-TW" dirty="0">
                <a:solidFill>
                  <a:srgbClr val="000000"/>
                </a:solidFill>
                <a:latin typeface="Arial Unicode MS"/>
                <a:ea typeface="Arial Unicode MS"/>
                <a:cs typeface="Arial Unicode MS"/>
              </a:rPr>
              <a:t>不用圈。這裡語氣要放慢，這一段是今天的核心。
</a:t>
            </a:r>
          </a:p>
          <a:p>
            <a:pPr algn="l">
              <a:lnSpc>
                <a:spcPct val="115000"/>
              </a:lnSpc>
              <a:spcAft>
                <a:spcPts val="6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lnSpc>
                <a:spcPct val="115000"/>
              </a:lnSpc>
              <a:spcAft>
                <a:spcPts val="600"/>
              </a:spcAft>
            </a:pPr>
            <a:r>
              <a:rPr sz="1200" lang="zh-TW" dirty="0">
                <a:solidFill>
                  <a:srgbClr val="000000"/>
                </a:solidFill>
                <a:latin typeface="Arial Unicode MS"/>
                <a:ea typeface="Arial Unicode MS"/>
                <a:cs typeface="Arial Unicode MS"/>
              </a:rPr>
              <a:t>第二段。
</a:t>
            </a:r>
          </a:p>
          <a:p>
            <a:pPr algn="l">
              <a:lnSpc>
                <a:spcPct val="115000"/>
              </a:lnSpc>
              <a:spcAft>
                <a:spcPts val="600"/>
              </a:spcAft>
            </a:pPr>
            <a:r>
              <a:rPr sz="1200" lang="zh-TW" dirty="0">
                <a:solidFill>
                  <a:srgbClr val="000000"/>
                </a:solidFill>
                <a:latin typeface="Arial Unicode MS"/>
                <a:ea typeface="Arial Unicode MS"/>
                <a:cs typeface="Arial Unicode MS"/>
              </a:rPr>
              <a:t>在模擬裡跑得好的東西，搬到真車上</a:t>
            </a:r>
            <a:r>
              <a:rPr sz="1200" b="1" lang="zh-TW" dirty="0">
                <a:solidFill>
                  <a:srgbClr val="000000"/>
                </a:solidFill>
                <a:latin typeface="Arial Unicode MS"/>
                <a:ea typeface="Arial Unicode MS"/>
                <a:cs typeface="Arial Unicode MS"/>
              </a:rPr>
              <a:t>一定會退步</a:t>
            </a:r>
            <a:r>
              <a:rPr sz="1200" lang="zh-TW" dirty="0">
                <a:solidFill>
                  <a:srgbClr val="000000"/>
                </a:solidFill>
                <a:latin typeface="Arial Unicode MS"/>
                <a:ea typeface="Arial Unicode MS"/>
                <a:cs typeface="Arial Unicode MS"/>
              </a:rPr>
              <a:t>。這件事有名字，英文叫 </a:t>
            </a:r>
            <a:r>
              <a:rPr sz="1200" b="1" lang="zh-TW" dirty="0">
                <a:solidFill>
                  <a:srgbClr val="000000"/>
                </a:solidFill>
                <a:latin typeface="Arial Unicode MS"/>
                <a:ea typeface="Arial Unicode MS"/>
                <a:cs typeface="Arial Unicode MS"/>
              </a:rPr>
              <a:t>sim-to-real gap</a:t>
            </a:r>
            <a:r>
              <a:rPr sz="1200" lang="zh-TW" dirty="0">
                <a:solidFill>
                  <a:srgbClr val="000000"/>
                </a:solidFill>
                <a:latin typeface="Arial Unicode MS"/>
                <a:ea typeface="Arial Unicode MS"/>
                <a:cs typeface="Arial Unicode MS"/>
              </a:rPr>
              <a:t>，模擬到現實的落差。
</a:t>
            </a:r>
          </a:p>
          <a:p>
            <a:pPr algn="l">
              <a:lnSpc>
                <a:spcPct val="115000"/>
              </a:lnSpc>
              <a:spcAft>
                <a:spcPts val="600"/>
              </a:spcAft>
            </a:pPr>
            <a:r>
              <a:rPr sz="1200" lang="zh-TW" dirty="0">
                <a:solidFill>
                  <a:srgbClr val="000000"/>
                </a:solidFill>
                <a:latin typeface="Arial Unicode MS"/>
                <a:ea typeface="Arial Unicode MS"/>
                <a:cs typeface="Arial Unicode MS"/>
              </a:rPr>
              <a:t>它分成三種。我一種一種講，每一種都給各位一個例子。</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11</a:t>
            </a:r>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b="1" lang="zh-TW" dirty="0">
                <a:solidFill>
                  <a:srgbClr val="000000"/>
                </a:solidFill>
                <a:latin typeface="Arial Unicode MS"/>
                <a:ea typeface="Arial Unicode MS"/>
                <a:cs typeface="Arial Unicode MS"/>
              </a:rPr>
              <a:t>▍這一張要做什麼</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三種落差的第一種：外觀。模擬畫出來的影像跟真相機拍到的不一樣。
</a:t>
            </a:r>
          </a:p>
          <a:p>
            <a:pPr algn="l">
              <a:lnSpc>
                <a:spcPct val="115000"/>
              </a:lnSpc>
              <a:spcAft>
                <a:spcPts val="500"/>
              </a:spcAft>
            </a:pPr>
            <a:r>
              <a:rPr sz="1000" b="1" lang="zh-TW" dirty="0">
                <a:solidFill>
                  <a:srgbClr val="000000"/>
                </a:solidFill>
                <a:latin typeface="Arial Unicode MS"/>
                <a:ea typeface="Arial Unicode MS"/>
                <a:cs typeface="Arial Unicode MS"/>
              </a:rPr>
              <a:t>▍畫面上圈這裡</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圈主標上的「外觀落差」，再圈下方說明裡的具體例子。
</a:t>
            </a:r>
          </a:p>
          <a:p>
            <a:pPr algn="l">
              <a:lnSpc>
                <a:spcPct val="115000"/>
              </a:lnSpc>
              <a:spcAft>
                <a:spcPts val="500"/>
              </a:spcAft>
            </a:pPr>
            <a:r>
              <a:rPr sz="1000" b="1" lang="zh-TW" dirty="0">
                <a:solidFill>
                  <a:srgbClr val="000000"/>
                </a:solidFill>
                <a:latin typeface="Arial Unicode MS"/>
                <a:ea typeface="Arial Unicode MS"/>
                <a:cs typeface="Arial Unicode MS"/>
              </a:rPr>
              <a:t>▍以下照著唸</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第一種：</a:t>
            </a:r>
            <a:r>
              <a:rPr sz="1000" b="1" lang="zh-TW" dirty="0">
                <a:solidFill>
                  <a:srgbClr val="000000"/>
                </a:solidFill>
                <a:latin typeface="Arial Unicode MS"/>
                <a:ea typeface="Arial Unicode MS"/>
                <a:cs typeface="Arial Unicode MS"/>
              </a:rPr>
              <a:t>外觀落差</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模擬器畫出來的畫面，跟真的相機拍到的不一樣。差在三個地方：光線、材質、雜訊。
</a:t>
            </a:r>
          </a:p>
          <a:p>
            <a:pPr algn="l">
              <a:lnSpc>
                <a:spcPct val="115000"/>
              </a:lnSpc>
              <a:spcAft>
                <a:spcPts val="500"/>
              </a:spcAft>
            </a:pPr>
            <a:r>
              <a:rPr sz="1000" lang="zh-TW" dirty="0">
                <a:solidFill>
                  <a:srgbClr val="000000"/>
                </a:solidFill>
                <a:latin typeface="Arial Unicode MS"/>
                <a:ea typeface="Arial Unicode MS"/>
                <a:cs typeface="Arial Unicode MS"/>
              </a:rPr>
              <a:t>舉個例子。模擬器畫一台紅色的車，那個紅色是乾淨的、均勻的。真相機拍到的紅色車呢？上面有灰塵、有反光、有旁邊招牌的倒影、可能還有一塊沒洗掉的鳥屎。
</a:t>
            </a:r>
          </a:p>
          <a:p>
            <a:pPr algn="l">
              <a:lnSpc>
                <a:spcPct val="115000"/>
              </a:lnSpc>
              <a:spcAft>
                <a:spcPts val="500"/>
              </a:spcAft>
            </a:pPr>
            <a:r>
              <a:rPr sz="1000" lang="zh-TW" dirty="0">
                <a:solidFill>
                  <a:srgbClr val="000000"/>
                </a:solidFill>
                <a:latin typeface="Arial Unicode MS"/>
                <a:ea typeface="Arial Unicode MS"/>
                <a:cs typeface="Arial Unicode MS"/>
              </a:rPr>
              <a:t>（停一下）這聽起來很瑣碎，但對電腦來說差很多。</a:t>
            </a:r>
            <a:r>
              <a:rPr sz="1000" b="1" lang="zh-TW" dirty="0">
                <a:solidFill>
                  <a:srgbClr val="000000"/>
                </a:solidFill>
                <a:latin typeface="Arial Unicode MS"/>
                <a:ea typeface="Arial Unicode MS"/>
                <a:cs typeface="Arial Unicode MS"/>
              </a:rPr>
              <a:t>在乾淨的紅色上訓練出來的偵測器，遇到髒的紅色就可能認不出來。</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那怎麼辦？有一個很聰明的解法，叫 </a:t>
            </a:r>
            <a:r>
              <a:rPr sz="1000" b="1" lang="zh-TW" dirty="0">
                <a:solidFill>
                  <a:srgbClr val="000000"/>
                </a:solidFill>
                <a:latin typeface="Arial Unicode MS"/>
                <a:ea typeface="Arial Unicode MS"/>
                <a:cs typeface="Arial Unicode MS"/>
              </a:rPr>
              <a:t>域隨機化</a:t>
            </a:r>
            <a:r>
              <a:rPr sz="1000" lang="zh-TW" dirty="0">
                <a:solidFill>
                  <a:srgbClr val="000000"/>
                </a:solidFill>
                <a:latin typeface="Arial Unicode MS"/>
                <a:ea typeface="Arial Unicode MS"/>
                <a:cs typeface="Arial Unicode MS"/>
              </a:rPr>
              <a:t>，英文叫 domain randomization。。
</a:t>
            </a:r>
          </a:p>
          <a:p>
            <a:pPr algn="l">
              <a:lnSpc>
                <a:spcPct val="115000"/>
              </a:lnSpc>
              <a:spcAft>
                <a:spcPts val="500"/>
              </a:spcAft>
            </a:pPr>
            <a:r>
              <a:rPr sz="1000" lang="zh-TW" dirty="0">
                <a:solidFill>
                  <a:srgbClr val="000000"/>
                </a:solidFill>
                <a:latin typeface="Arial Unicode MS"/>
                <a:ea typeface="Arial Unicode MS"/>
                <a:cs typeface="Arial Unicode MS"/>
              </a:rPr>
              <a:t>它的做法是在模擬裡</a:t>
            </a:r>
            <a:r>
              <a:rPr sz="1000" b="1" lang="zh-TW" dirty="0">
                <a:solidFill>
                  <a:srgbClr val="000000"/>
                </a:solidFill>
                <a:latin typeface="Arial Unicode MS"/>
                <a:ea typeface="Arial Unicode MS"/>
                <a:cs typeface="Arial Unicode MS"/>
              </a:rPr>
              <a:t>故意把光線和材質亂改</a:t>
            </a:r>
            <a:r>
              <a:rPr sz="1000" lang="zh-TW" dirty="0">
                <a:solidFill>
                  <a:srgbClr val="000000"/>
                </a:solidFill>
                <a:latin typeface="Arial Unicode MS"/>
                <a:ea typeface="Arial Unicode MS"/>
                <a:cs typeface="Arial Unicode MS"/>
              </a:rPr>
              <a:t>。紅色車有時候偏橘、有時候偏紫，光線有時候很亮、有時候很暗，地面材質一直換。
</a:t>
            </a:r>
          </a:p>
          <a:p>
            <a:pPr algn="l">
              <a:lnSpc>
                <a:spcPct val="115000"/>
              </a:lnSpc>
              <a:spcAft>
                <a:spcPts val="500"/>
              </a:spcAft>
            </a:pPr>
            <a:r>
              <a:rPr sz="1000" lang="zh-TW" dirty="0">
                <a:solidFill>
                  <a:srgbClr val="000000"/>
                </a:solidFill>
                <a:latin typeface="Arial Unicode MS"/>
                <a:ea typeface="Arial Unicode MS"/>
                <a:cs typeface="Arial Unicode MS"/>
              </a:rPr>
              <a:t>為什麼要這樣做？
</a:t>
            </a:r>
          </a:p>
          <a:p>
            <a:pPr algn="l">
              <a:lnSpc>
                <a:spcPct val="115000"/>
              </a:lnSpc>
              <a:spcAft>
                <a:spcPts val="500"/>
              </a:spcAft>
            </a:pPr>
            <a:r>
              <a:rPr sz="1000" lang="zh-TW" dirty="0">
                <a:solidFill>
                  <a:srgbClr val="000000"/>
                </a:solidFill>
                <a:latin typeface="Arial Unicode MS"/>
                <a:ea typeface="Arial Unicode MS"/>
                <a:cs typeface="Arial Unicode MS"/>
              </a:rPr>
              <a:t>（等學生想。）
</a:t>
            </a:r>
          </a:p>
          <a:p>
            <a:pPr algn="l">
              <a:lnSpc>
                <a:spcPct val="115000"/>
              </a:lnSpc>
              <a:spcAft>
                <a:spcPts val="500"/>
              </a:spcAft>
            </a:pPr>
            <a:r>
              <a:rPr sz="1000" lang="zh-TW" dirty="0">
                <a:solidFill>
                  <a:srgbClr val="000000"/>
                </a:solidFill>
                <a:latin typeface="Arial Unicode MS"/>
                <a:ea typeface="Arial Unicode MS"/>
                <a:cs typeface="Arial Unicode MS"/>
              </a:rPr>
              <a:t>因為你逼模型看過各式各樣奇怪的紅色之後，它就不會把「那個特定的紅」當成判斷依據，它只好去學車子的</a:t>
            </a:r>
            <a:r>
              <a:rPr sz="1000" b="1" lang="zh-TW" dirty="0">
                <a:solidFill>
                  <a:srgbClr val="000000"/>
                </a:solidFill>
                <a:latin typeface="Arial Unicode MS"/>
                <a:ea typeface="Arial Unicode MS"/>
                <a:cs typeface="Arial Unicode MS"/>
              </a:rPr>
              <a:t>形狀</a:t>
            </a:r>
            <a:r>
              <a:rPr sz="1000" lang="zh-TW" dirty="0">
                <a:solidFill>
                  <a:srgbClr val="000000"/>
                </a:solidFill>
                <a:latin typeface="Arial Unicode MS"/>
                <a:ea typeface="Arial Unicode MS"/>
                <a:cs typeface="Arial Unicode MS"/>
              </a:rPr>
              <a:t>。而形狀在真實世界裡是不會變的。
</a:t>
            </a:r>
          </a:p>
          <a:p>
            <a:pPr algn="l">
              <a:lnSpc>
                <a:spcPct val="115000"/>
              </a:lnSpc>
              <a:spcAft>
                <a:spcPts val="500"/>
              </a:spcAft>
            </a:pPr>
            <a:r>
              <a:rPr sz="1000" lang="zh-TW" dirty="0">
                <a:solidFill>
                  <a:srgbClr val="000000"/>
                </a:solidFill>
                <a:latin typeface="Arial Unicode MS"/>
                <a:ea typeface="Arial Unicode MS"/>
                <a:cs typeface="Arial Unicode MS"/>
              </a:rPr>
              <a:t>這就是域隨機化的邏輯：</a:t>
            </a:r>
            <a:r>
              <a:rPr sz="1000" b="1" lang="zh-TW" dirty="0">
                <a:solidFill>
                  <a:srgbClr val="000000"/>
                </a:solidFill>
                <a:latin typeface="Arial Unicode MS"/>
                <a:ea typeface="Arial Unicode MS"/>
                <a:cs typeface="Arial Unicode MS"/>
              </a:rPr>
              <a:t>與其把模擬做得跟現實一模一樣（做不到），不如讓模擬亂到現實只是其中一種情況。</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12</a:t>
            </a:r>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b="1" lang="zh-TW" dirty="0">
                <a:solidFill>
                  <a:srgbClr val="000000"/>
                </a:solidFill>
                <a:latin typeface="Arial Unicode MS"/>
                <a:ea typeface="Arial Unicode MS"/>
                <a:cs typeface="Arial Unicode MS"/>
              </a:rPr>
              <a:t>▍這一張要做什麼</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第二種：行為。模擬裡的車照規則走，真實世界的人不照規則走。
</a:t>
            </a:r>
          </a:p>
          <a:p>
            <a:pPr algn="l">
              <a:lnSpc>
                <a:spcPct val="115000"/>
              </a:lnSpc>
              <a:spcAft>
                <a:spcPts val="500"/>
              </a:spcAft>
            </a:pPr>
            <a:r>
              <a:rPr sz="1000" b="1" lang="zh-TW" dirty="0">
                <a:solidFill>
                  <a:srgbClr val="000000"/>
                </a:solidFill>
                <a:latin typeface="Arial Unicode MS"/>
                <a:ea typeface="Arial Unicode MS"/>
                <a:cs typeface="Arial Unicode MS"/>
              </a:rPr>
              <a:t>▍畫面上圈這裡</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圈「不照規則走」這幾個字。這一條越南班最有感，可以停下來讓他們舉例。
</a:t>
            </a:r>
          </a:p>
          <a:p>
            <a:pPr algn="l">
              <a:lnSpc>
                <a:spcPct val="115000"/>
              </a:lnSpc>
              <a:spcAft>
                <a:spcPts val="500"/>
              </a:spcAft>
            </a:pPr>
            <a:r>
              <a:rPr sz="1000" b="1" lang="zh-TW" dirty="0">
                <a:solidFill>
                  <a:srgbClr val="000000"/>
                </a:solidFill>
                <a:latin typeface="Arial Unicode MS"/>
                <a:ea typeface="Arial Unicode MS"/>
                <a:cs typeface="Arial Unicode MS"/>
              </a:rPr>
              <a:t>▍以下照著唸</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第二種：</a:t>
            </a:r>
            <a:r>
              <a:rPr sz="1000" b="1" lang="zh-TW" dirty="0">
                <a:solidFill>
                  <a:srgbClr val="000000"/>
                </a:solidFill>
                <a:latin typeface="Arial Unicode MS"/>
                <a:ea typeface="Arial Unicode MS"/>
                <a:cs typeface="Arial Unicode MS"/>
              </a:rPr>
              <a:t>行為落差</a:t>
            </a:r>
            <a:r>
              <a:rPr sz="1000" lang="zh-TW" dirty="0">
                <a:solidFill>
                  <a:srgbClr val="000000"/>
                </a:solidFill>
                <a:latin typeface="Arial Unicode MS"/>
                <a:ea typeface="Arial Unicode MS"/>
                <a:cs typeface="Arial Unicode MS"/>
              </a:rPr>
              <a:t>。這一種對各位來說最有感覺。
</a:t>
            </a:r>
          </a:p>
          <a:p>
            <a:pPr algn="l">
              <a:lnSpc>
                <a:spcPct val="115000"/>
              </a:lnSpc>
              <a:spcAft>
                <a:spcPts val="500"/>
              </a:spcAft>
            </a:pPr>
            <a:r>
              <a:rPr sz="1000" lang="zh-TW" dirty="0">
                <a:solidFill>
                  <a:srgbClr val="000000"/>
                </a:solidFill>
                <a:latin typeface="Arial Unicode MS"/>
                <a:ea typeface="Arial Unicode MS"/>
                <a:cs typeface="Arial Unicode MS"/>
              </a:rPr>
              <a:t>模擬裡的車在做什麼？待在車道中間、跟前車保持安全距離、要變換車道的時候先打方向燈。
</a:t>
            </a:r>
          </a:p>
          <a:p>
            <a:pPr algn="l">
              <a:lnSpc>
                <a:spcPct val="115000"/>
              </a:lnSpc>
              <a:spcAft>
                <a:spcPts val="500"/>
              </a:spcAft>
            </a:pPr>
            <a:r>
              <a:rPr sz="1000" lang="zh-TW" dirty="0">
                <a:solidFill>
                  <a:srgbClr val="000000"/>
                </a:solidFill>
                <a:latin typeface="Arial Unicode MS"/>
                <a:ea typeface="Arial Unicode MS"/>
                <a:cs typeface="Arial Unicode MS"/>
              </a:rPr>
              <a:t>（問全班）真實世界的機車是這樣嗎？
</a:t>
            </a:r>
          </a:p>
          <a:p>
            <a:pPr algn="l">
              <a:lnSpc>
                <a:spcPct val="115000"/>
              </a:lnSpc>
              <a:spcAft>
                <a:spcPts val="500"/>
              </a:spcAft>
            </a:pPr>
            <a:r>
              <a:rPr sz="1000" lang="zh-TW" dirty="0">
                <a:solidFill>
                  <a:srgbClr val="000000"/>
                </a:solidFill>
                <a:latin typeface="Arial Unicode MS"/>
                <a:ea typeface="Arial Unicode MS"/>
                <a:cs typeface="Arial Unicode MS"/>
              </a:rPr>
              <a:t>不是。真實世界的機車會鑽縫、會在紅燈前擠到最前面、會在沒有標線的路口靠眼神決定誰先走。
</a:t>
            </a:r>
          </a:p>
          <a:p>
            <a:pPr algn="l">
              <a:lnSpc>
                <a:spcPct val="115000"/>
              </a:lnSpc>
              <a:spcAft>
                <a:spcPts val="500"/>
              </a:spcAft>
            </a:pPr>
            <a:r>
              <a:rPr sz="1000" lang="zh-TW" dirty="0">
                <a:solidFill>
                  <a:srgbClr val="000000"/>
                </a:solidFill>
                <a:latin typeface="Arial Unicode MS"/>
                <a:ea typeface="Arial Unicode MS"/>
                <a:cs typeface="Arial Unicode MS"/>
              </a:rPr>
              <a:t>所以會發生一件很諷刺的事：</a:t>
            </a:r>
            <a:r>
              <a:rPr sz="1000" b="1" lang="zh-TW" dirty="0">
                <a:solidFill>
                  <a:srgbClr val="000000"/>
                </a:solidFill>
                <a:latin typeface="Arial Unicode MS"/>
                <a:ea typeface="Arial Unicode MS"/>
                <a:cs typeface="Arial Unicode MS"/>
              </a:rPr>
              <a:t>一台在模擬裡表現完美的自駕車，丟到真的河內街頭，可能完全動不了</a:t>
            </a:r>
            <a:r>
              <a:rPr sz="1000" lang="zh-TW" dirty="0">
                <a:solidFill>
                  <a:srgbClr val="000000"/>
                </a:solidFill>
                <a:latin typeface="Arial Unicode MS"/>
                <a:ea typeface="Arial Unicode MS"/>
                <a:cs typeface="Arial Unicode MS"/>
              </a:rPr>
              <a:t>——因為它學到的規則，在那裡不適用。
</a:t>
            </a:r>
          </a:p>
          <a:p>
            <a:pPr algn="l">
              <a:lnSpc>
                <a:spcPct val="115000"/>
              </a:lnSpc>
              <a:spcAft>
                <a:spcPts val="500"/>
              </a:spcAft>
            </a:pPr>
            <a:r>
              <a:rPr sz="1000" lang="zh-TW" dirty="0">
                <a:solidFill>
                  <a:srgbClr val="000000"/>
                </a:solidFill>
                <a:latin typeface="Arial Unicode MS"/>
                <a:ea typeface="Arial Unicode MS"/>
                <a:cs typeface="Arial Unicode MS"/>
              </a:rPr>
              <a:t>解法是什麼？把</a:t>
            </a:r>
            <a:r>
              <a:rPr sz="1000" b="1" lang="zh-TW" dirty="0">
                <a:solidFill>
                  <a:srgbClr val="000000"/>
                </a:solidFill>
                <a:latin typeface="Arial Unicode MS"/>
                <a:ea typeface="Arial Unicode MS"/>
                <a:cs typeface="Arial Unicode MS"/>
              </a:rPr>
              <a:t>真實道路上錄到的軌跡回放進模擬</a:t>
            </a:r>
            <a:r>
              <a:rPr sz="1000" lang="zh-TW" dirty="0">
                <a:solidFill>
                  <a:srgbClr val="000000"/>
                </a:solidFill>
                <a:latin typeface="Arial Unicode MS"/>
                <a:ea typeface="Arial Unicode MS"/>
                <a:cs typeface="Arial Unicode MS"/>
              </a:rPr>
              <a:t>。也就是說，不要用程式寫出來的假車，用真人騎過的真軌跡。
</a:t>
            </a:r>
          </a:p>
          <a:p>
            <a:pPr algn="l">
              <a:lnSpc>
                <a:spcPct val="115000"/>
              </a:lnSpc>
              <a:spcAft>
                <a:spcPts val="500"/>
              </a:spcAft>
            </a:pPr>
            <a:r>
              <a:rPr sz="1000" lang="zh-TW" dirty="0">
                <a:solidFill>
                  <a:srgbClr val="000000"/>
                </a:solidFill>
                <a:latin typeface="Arial Unicode MS"/>
                <a:ea typeface="Arial Unicode MS"/>
                <a:cs typeface="Arial Unicode MS"/>
              </a:rPr>
              <a:t>但這裡有個問題留給各位想：</a:t>
            </a:r>
            <a:r>
              <a:rPr sz="1000" b="1" lang="zh-TW" dirty="0">
                <a:solidFill>
                  <a:srgbClr val="000000"/>
                </a:solidFill>
                <a:latin typeface="Arial Unicode MS"/>
                <a:ea typeface="Arial Unicode MS"/>
                <a:cs typeface="Arial Unicode MS"/>
              </a:rPr>
              <a:t>要回放河內的軌跡，你得先有河內的軌跡。</a:t>
            </a:r>
            <a:r>
              <a:rPr sz="1000" lang="zh-TW" dirty="0">
                <a:solidFill>
                  <a:srgbClr val="000000"/>
                </a:solidFill>
                <a:latin typeface="Arial Unicode MS"/>
                <a:ea typeface="Arial Unicode MS"/>
                <a:cs typeface="Arial Unicode MS"/>
              </a:rPr>
              <a:t>誰有？
</a:t>
            </a:r>
          </a:p>
          <a:p>
            <a:pPr algn="l">
              <a:lnSpc>
                <a:spcPct val="115000"/>
              </a:lnSpc>
              <a:spcAft>
                <a:spcPts val="500"/>
              </a:spcAft>
            </a:pPr>
            <a:r>
              <a:rPr sz="1000" lang="zh-TW" dirty="0">
                <a:solidFill>
                  <a:srgbClr val="000000"/>
                </a:solidFill>
                <a:latin typeface="Arial Unicode MS"/>
                <a:ea typeface="Arial Unicode MS"/>
                <a:cs typeface="Arial Unicode MS"/>
              </a:rPr>
              <a:t>答案是：要自己去收。
</a:t>
            </a:r>
          </a:p>
          <a:p>
            <a:pPr algn="l">
              <a:lnSpc>
                <a:spcPct val="115000"/>
              </a:lnSpc>
              <a:spcAft>
                <a:spcPts val="500"/>
              </a:spcAft>
            </a:pPr>
            <a:r>
              <a:rPr sz="1000" lang="zh-TW" dirty="0">
                <a:solidFill>
                  <a:srgbClr val="000000"/>
                </a:solidFill>
                <a:latin typeface="Arial Unicode MS"/>
                <a:ea typeface="Arial Unicode MS"/>
                <a:cs typeface="Arial Unicode MS"/>
              </a:rPr>
              <a:t>對。這就是為什麼「做一個台灣或越南的交通行為模型」是很有價值的題目——</a:t>
            </a:r>
            <a:r>
              <a:rPr sz="1000" b="1" lang="zh-TW" dirty="0">
                <a:solidFill>
                  <a:srgbClr val="000000"/>
                </a:solidFill>
                <a:latin typeface="Arial Unicode MS"/>
                <a:ea typeface="Arial Unicode MS"/>
                <a:cs typeface="Arial Unicode MS"/>
              </a:rPr>
              <a:t>那個資料只有你們收得到。</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13</a:t>
            </a:r>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b="1" lang="zh-TW" dirty="0">
                <a:solidFill>
                  <a:srgbClr val="000000"/>
                </a:solidFill>
                <a:latin typeface="Arial Unicode MS"/>
                <a:ea typeface="Arial Unicode MS"/>
                <a:cs typeface="Arial Unicode MS"/>
              </a:rPr>
              <a:t>▍這一張要做什麼</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第三種：物理。輪胎、懸吊、煞車延遲在模擬裡都只是近似值。
</a:t>
            </a:r>
          </a:p>
          <a:p>
            <a:pPr algn="l">
              <a:lnSpc>
                <a:spcPct val="115000"/>
              </a:lnSpc>
              <a:spcAft>
                <a:spcPts val="500"/>
              </a:spcAft>
            </a:pPr>
            <a:r>
              <a:rPr sz="1000" b="1" lang="zh-TW" dirty="0">
                <a:solidFill>
                  <a:srgbClr val="000000"/>
                </a:solidFill>
                <a:latin typeface="Arial Unicode MS"/>
                <a:ea typeface="Arial Unicode MS"/>
                <a:cs typeface="Arial Unicode MS"/>
              </a:rPr>
              <a:t>▍畫面上圈這裡</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圈「近似值」三個字，並回頭指第 7 張那條煞停公式——那也是近似的。
</a:t>
            </a:r>
          </a:p>
          <a:p>
            <a:pPr algn="l">
              <a:lnSpc>
                <a:spcPct val="115000"/>
              </a:lnSpc>
              <a:spcAft>
                <a:spcPts val="500"/>
              </a:spcAft>
            </a:pPr>
            <a:r>
              <a:rPr sz="1000" b="1" lang="zh-TW" dirty="0">
                <a:solidFill>
                  <a:srgbClr val="000000"/>
                </a:solidFill>
                <a:latin typeface="Arial Unicode MS"/>
                <a:ea typeface="Arial Unicode MS"/>
                <a:cs typeface="Arial Unicode MS"/>
              </a:rPr>
              <a:t>▍以下照著唸</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第三種：</a:t>
            </a:r>
            <a:r>
              <a:rPr sz="1000" b="1" lang="zh-TW" dirty="0">
                <a:solidFill>
                  <a:srgbClr val="000000"/>
                </a:solidFill>
                <a:latin typeface="Arial Unicode MS"/>
                <a:ea typeface="Arial Unicode MS"/>
                <a:cs typeface="Arial Unicode MS"/>
              </a:rPr>
              <a:t>物理落差</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輪胎怎麼抓地、懸吊怎麼吸收震動、煞車踩下去到真的減速中間有多少延遲——這些在模擬裡都是</a:t>
            </a:r>
            <a:r>
              <a:rPr sz="1000" b="1" lang="zh-TW" dirty="0">
                <a:solidFill>
                  <a:srgbClr val="000000"/>
                </a:solidFill>
                <a:latin typeface="Arial Unicode MS"/>
                <a:ea typeface="Arial Unicode MS"/>
                <a:cs typeface="Arial Unicode MS"/>
              </a:rPr>
              <a:t>近似值</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我們的模擬器更簡化：減速度就是一個固定的數字，</a:t>
            </a:r>
            <a:r>
              <a:rPr sz="1000" b="1" lang="zh-TW" dirty="0">
                <a:solidFill>
                  <a:srgbClr val="000000"/>
                </a:solidFill>
                <a:latin typeface="Arial Unicode MS"/>
                <a:ea typeface="Arial Unicode MS"/>
                <a:cs typeface="Arial Unicode MS"/>
              </a:rPr>
              <a:t>六</a:t>
            </a:r>
            <a:r>
              <a:rPr sz="1000" lang="zh-TW" dirty="0">
                <a:solidFill>
                  <a:srgbClr val="000000"/>
                </a:solidFill>
                <a:latin typeface="Arial Unicode MS"/>
                <a:ea typeface="Arial Unicode MS"/>
                <a:cs typeface="Arial Unicode MS"/>
              </a:rPr>
              <a:t>。不管什麼路面、什麼輪胎、什麼天氣，都是六。
</a:t>
            </a:r>
          </a:p>
          <a:p>
            <a:pPr algn="l">
              <a:lnSpc>
                <a:spcPct val="115000"/>
              </a:lnSpc>
              <a:spcAft>
                <a:spcPts val="500"/>
              </a:spcAft>
            </a:pPr>
            <a:r>
              <a:rPr sz="1000" lang="zh-TW" dirty="0">
                <a:solidFill>
                  <a:srgbClr val="000000"/>
                </a:solidFill>
                <a:latin typeface="Arial Unicode MS"/>
                <a:ea typeface="Arial Unicode MS"/>
                <a:cs typeface="Arial Unicode MS"/>
              </a:rPr>
              <a:t>真車呢？
</a:t>
            </a:r>
          </a:p>
          <a:p>
            <a:pPr algn="l">
              <a:lnSpc>
                <a:spcPct val="115000"/>
              </a:lnSpc>
              <a:spcAft>
                <a:spcPts val="500"/>
              </a:spcAft>
            </a:pPr>
            <a:r>
              <a:rPr sz="1000" lang="zh-TW" dirty="0">
                <a:solidFill>
                  <a:srgbClr val="000000"/>
                </a:solidFill>
                <a:latin typeface="Arial Unicode MS"/>
                <a:ea typeface="Arial Unicode MS"/>
                <a:cs typeface="Arial Unicode MS"/>
              </a:rPr>
              <a:t>（問全班）下雨天煞車，煞得住嗎？
</a:t>
            </a:r>
          </a:p>
          <a:p>
            <a:pPr algn="l">
              <a:lnSpc>
                <a:spcPct val="115000"/>
              </a:lnSpc>
              <a:spcAft>
                <a:spcPts val="500"/>
              </a:spcAft>
            </a:pPr>
            <a:r>
              <a:rPr sz="1000" lang="zh-TW" dirty="0">
                <a:solidFill>
                  <a:srgbClr val="000000"/>
                </a:solidFill>
                <a:latin typeface="Arial Unicode MS"/>
                <a:ea typeface="Arial Unicode MS"/>
                <a:cs typeface="Arial Unicode MS"/>
              </a:rPr>
              <a:t>答案是比較難煞。
</a:t>
            </a:r>
          </a:p>
          <a:p>
            <a:pPr algn="l">
              <a:lnSpc>
                <a:spcPct val="115000"/>
              </a:lnSpc>
              <a:spcAft>
                <a:spcPts val="500"/>
              </a:spcAft>
            </a:pPr>
            <a:r>
              <a:rPr sz="1000" b="1" lang="zh-TW" dirty="0">
                <a:solidFill>
                  <a:srgbClr val="000000"/>
                </a:solidFill>
                <a:latin typeface="Arial Unicode MS"/>
                <a:ea typeface="Arial Unicode MS"/>
                <a:cs typeface="Arial Unicode MS"/>
              </a:rPr>
              <a:t>濕路面的減速度大約只剩一半。</a:t>
            </a:r>
            <a:r>
              <a:rPr sz="1000" lang="zh-TW" dirty="0">
                <a:solidFill>
                  <a:srgbClr val="000000"/>
                </a:solidFill>
                <a:latin typeface="Arial Unicode MS"/>
                <a:ea typeface="Arial Unicode MS"/>
                <a:cs typeface="Arial Unicode MS"/>
              </a:rPr>
              <a:t>減速度剩三，煞車那一項就變兩倍。時速五十的煞停距離，從二十公尺變成三十六公尺。
</a:t>
            </a:r>
          </a:p>
          <a:p>
            <a:pPr algn="l">
              <a:lnSpc>
                <a:spcPct val="115000"/>
              </a:lnSpc>
              <a:spcAft>
                <a:spcPts val="500"/>
              </a:spcAft>
            </a:pPr>
            <a:r>
              <a:rPr sz="1000" lang="zh-TW" dirty="0">
                <a:solidFill>
                  <a:srgbClr val="000000"/>
                </a:solidFill>
                <a:latin typeface="Arial Unicode MS"/>
                <a:ea typeface="Arial Unicode MS"/>
                <a:cs typeface="Arial Unicode MS"/>
              </a:rPr>
              <a:t>我們回頭看剛剛那張表。所以那張表的數字，只在</a:t>
            </a:r>
            <a:r>
              <a:rPr sz="1000" b="1" lang="zh-TW" dirty="0">
                <a:solidFill>
                  <a:srgbClr val="000000"/>
                </a:solidFill>
                <a:latin typeface="Arial Unicode MS"/>
                <a:ea typeface="Arial Unicode MS"/>
                <a:cs typeface="Arial Unicode MS"/>
              </a:rPr>
              <a:t>乾的柏油路</a:t>
            </a:r>
            <a:r>
              <a:rPr sz="1000" lang="zh-TW" dirty="0">
                <a:solidFill>
                  <a:srgbClr val="000000"/>
                </a:solidFill>
                <a:latin typeface="Arial Unicode MS"/>
                <a:ea typeface="Arial Unicode MS"/>
                <a:cs typeface="Arial Unicode MS"/>
              </a:rPr>
              <a:t>上成立。下雨天，那一欄的數字要乘上一點八倍左右。
</a:t>
            </a:r>
          </a:p>
          <a:p>
            <a:pPr algn="l">
              <a:lnSpc>
                <a:spcPct val="115000"/>
              </a:lnSpc>
              <a:spcAft>
                <a:spcPts val="500"/>
              </a:spcAft>
            </a:pPr>
            <a:r>
              <a:rPr sz="1000" lang="zh-TW" dirty="0">
                <a:solidFill>
                  <a:srgbClr val="000000"/>
                </a:solidFill>
                <a:latin typeface="Arial Unicode MS"/>
                <a:ea typeface="Arial Unicode MS"/>
                <a:cs typeface="Arial Unicode MS"/>
              </a:rPr>
              <a:t>第三節各位打開雨天的時候會親眼看到這件事——而且會發現一個陷阱：</a:t>
            </a:r>
            <a:r>
              <a:rPr sz="1000" b="1" lang="zh-TW" dirty="0">
                <a:solidFill>
                  <a:srgbClr val="000000"/>
                </a:solidFill>
                <a:latin typeface="Arial Unicode MS"/>
                <a:ea typeface="Arial Unicode MS"/>
                <a:cs typeface="Arial Unicode MS"/>
              </a:rPr>
              <a:t>射線變短了，但煞停距離沒有變短。</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14</a:t>
            </a:r>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b="1" lang="zh-TW" dirty="0">
                <a:solidFill>
                  <a:srgbClr val="000000"/>
                </a:solidFill>
                <a:latin typeface="Arial Unicode MS"/>
                <a:ea typeface="Arial Unicode MS"/>
                <a:cs typeface="Arial Unicode MS"/>
              </a:rPr>
              <a:t>▍這一張要做什麼</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平衡一下：不是要否定模擬。模擬能做真實世界做不到的事。
</a:t>
            </a:r>
          </a:p>
          <a:p>
            <a:pPr algn="l">
              <a:lnSpc>
                <a:spcPct val="115000"/>
              </a:lnSpc>
              <a:spcAft>
                <a:spcPts val="500"/>
              </a:spcAft>
            </a:pPr>
            <a:r>
              <a:rPr sz="1000" b="1" lang="zh-TW" dirty="0">
                <a:solidFill>
                  <a:srgbClr val="000000"/>
                </a:solidFill>
                <a:latin typeface="Arial Unicode MS"/>
                <a:ea typeface="Arial Unicode MS"/>
                <a:cs typeface="Arial Unicode MS"/>
              </a:rPr>
              <a:t>▍畫面上圈這裡</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圈主標「做不到的事」，再圈下方舉的例子，例如危險場景可以重複跑一千次。
</a:t>
            </a:r>
          </a:p>
          <a:p>
            <a:pPr algn="l">
              <a:lnSpc>
                <a:spcPct val="115000"/>
              </a:lnSpc>
              <a:spcAft>
                <a:spcPts val="500"/>
              </a:spcAft>
            </a:pPr>
            <a:r>
              <a:rPr sz="1000" b="1" lang="zh-TW" dirty="0">
                <a:solidFill>
                  <a:srgbClr val="000000"/>
                </a:solidFill>
                <a:latin typeface="Arial Unicode MS"/>
                <a:ea typeface="Arial Unicode MS"/>
                <a:cs typeface="Arial Unicode MS"/>
              </a:rPr>
              <a:t>▍以下照著唸</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講了三種落差，好像模擬一無是處。反過來也要講。
</a:t>
            </a:r>
          </a:p>
          <a:p>
            <a:pPr algn="l">
              <a:lnSpc>
                <a:spcPct val="115000"/>
              </a:lnSpc>
              <a:spcAft>
                <a:spcPts val="500"/>
              </a:spcAft>
            </a:pPr>
            <a:r>
              <a:rPr sz="1000" b="1" lang="zh-TW" dirty="0">
                <a:solidFill>
                  <a:srgbClr val="000000"/>
                </a:solidFill>
                <a:latin typeface="Arial Unicode MS"/>
                <a:ea typeface="Arial Unicode MS"/>
                <a:cs typeface="Arial Unicode MS"/>
              </a:rPr>
              <a:t>模擬能做兩件真實世界做不到的事。</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第一件：</a:t>
            </a:r>
            <a:r>
              <a:rPr sz="1000" b="1" lang="zh-TW" dirty="0">
                <a:solidFill>
                  <a:srgbClr val="000000"/>
                </a:solidFill>
                <a:latin typeface="Arial Unicode MS"/>
                <a:ea typeface="Arial Unicode MS"/>
                <a:cs typeface="Arial Unicode MS"/>
              </a:rPr>
              <a:t>同一個情況重跑一萬次，每次只改一個參數。</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真實世界能嗎？不能。你沒辦法讓同一台機車，用完全一樣的角度、完全一樣的速度，從完全一樣的位置切進來一萬次。
</a:t>
            </a:r>
          </a:p>
          <a:p>
            <a:pPr algn="l">
              <a:lnSpc>
                <a:spcPct val="115000"/>
              </a:lnSpc>
              <a:spcAft>
                <a:spcPts val="500"/>
              </a:spcAft>
            </a:pPr>
            <a:r>
              <a:rPr sz="1000" lang="zh-TW" dirty="0">
                <a:solidFill>
                  <a:srgbClr val="000000"/>
                </a:solidFill>
                <a:latin typeface="Arial Unicode MS"/>
                <a:ea typeface="Arial Unicode MS"/>
                <a:cs typeface="Arial Unicode MS"/>
              </a:rPr>
              <a:t>這件事下一節講「場景」的時候會再展開，那才是模擬真正的用法。
</a:t>
            </a:r>
          </a:p>
          <a:p>
            <a:pPr algn="l">
              <a:lnSpc>
                <a:spcPct val="115000"/>
              </a:lnSpc>
              <a:spcAft>
                <a:spcPts val="500"/>
              </a:spcAft>
            </a:pPr>
            <a:r>
              <a:rPr sz="1000" lang="zh-TW" dirty="0">
                <a:solidFill>
                  <a:srgbClr val="000000"/>
                </a:solidFill>
                <a:latin typeface="Arial Unicode MS"/>
                <a:ea typeface="Arial Unicode MS"/>
                <a:cs typeface="Arial Unicode MS"/>
              </a:rPr>
              <a:t>第二件，這件更重要：</a:t>
            </a:r>
            <a:r>
              <a:rPr sz="1000" b="1" lang="zh-TW" dirty="0">
                <a:solidFill>
                  <a:srgbClr val="000000"/>
                </a:solidFill>
                <a:latin typeface="Arial Unicode MS"/>
                <a:ea typeface="Arial Unicode MS"/>
                <a:cs typeface="Arial Unicode MS"/>
              </a:rPr>
              <a:t>讓行人剛好在最糟的時間點走出來。</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真實世界能嗎？
</a:t>
            </a:r>
          </a:p>
          <a:p>
            <a:pPr algn="l">
              <a:lnSpc>
                <a:spcPct val="115000"/>
              </a:lnSpc>
              <a:spcAft>
                <a:spcPts val="500"/>
              </a:spcAft>
            </a:pPr>
            <a:r>
              <a:rPr sz="1000" lang="zh-TW" dirty="0">
                <a:solidFill>
                  <a:srgbClr val="000000"/>
                </a:solidFill>
                <a:latin typeface="Arial Unicode MS"/>
                <a:ea typeface="Arial Unicode MS"/>
                <a:cs typeface="Arial Unicode MS"/>
              </a:rPr>
              <a:t>這一句我想聽大家自己說出來。
</a:t>
            </a:r>
          </a:p>
          <a:p>
            <a:pPr algn="l">
              <a:lnSpc>
                <a:spcPct val="115000"/>
              </a:lnSpc>
              <a:spcAft>
                <a:spcPts val="500"/>
              </a:spcAft>
            </a:pPr>
            <a:r>
              <a:rPr sz="1000" lang="zh-TW" dirty="0">
                <a:solidFill>
                  <a:srgbClr val="000000"/>
                </a:solidFill>
                <a:latin typeface="Arial Unicode MS"/>
                <a:ea typeface="Arial Unicode MS"/>
                <a:cs typeface="Arial Unicode MS"/>
              </a:rPr>
              <a:t>技術上做得到，但</a:t>
            </a:r>
            <a:r>
              <a:rPr sz="1000" b="1" lang="zh-TW" dirty="0">
                <a:solidFill>
                  <a:srgbClr val="000000"/>
                </a:solidFill>
                <a:latin typeface="Arial Unicode MS"/>
                <a:ea typeface="Arial Unicode MS"/>
                <a:cs typeface="Arial Unicode MS"/>
              </a:rPr>
              <a:t>不可以做</a:t>
            </a:r>
            <a:r>
              <a:rPr sz="1000" lang="zh-TW" dirty="0">
                <a:solidFill>
                  <a:srgbClr val="000000"/>
                </a:solidFill>
                <a:latin typeface="Arial Unicode MS"/>
                <a:ea typeface="Arial Unicode MS"/>
                <a:cs typeface="Arial Unicode MS"/>
              </a:rPr>
              <a:t>。你不能為了測試，讓一個真人冒生命危險。
</a:t>
            </a:r>
          </a:p>
          <a:p>
            <a:pPr algn="l">
              <a:lnSpc>
                <a:spcPct val="115000"/>
              </a:lnSpc>
              <a:spcAft>
                <a:spcPts val="500"/>
              </a:spcAft>
            </a:pPr>
            <a:r>
              <a:rPr sz="1000" lang="zh-TW" dirty="0">
                <a:solidFill>
                  <a:srgbClr val="000000"/>
                </a:solidFill>
                <a:latin typeface="Arial Unicode MS"/>
                <a:ea typeface="Arial Unicode MS"/>
                <a:cs typeface="Arial Unicode MS"/>
              </a:rPr>
              <a:t>所以模擬不是「比較差的真實」，它是</a:t>
            </a:r>
            <a:r>
              <a:rPr sz="1000" b="1" lang="zh-TW" dirty="0">
                <a:solidFill>
                  <a:srgbClr val="000000"/>
                </a:solidFill>
                <a:latin typeface="Arial Unicode MS"/>
                <a:ea typeface="Arial Unicode MS"/>
                <a:cs typeface="Arial Unicode MS"/>
              </a:rPr>
              <a:t>另一種工具</a:t>
            </a:r>
            <a:r>
              <a:rPr sz="1000" lang="zh-TW" dirty="0">
                <a:solidFill>
                  <a:srgbClr val="000000"/>
                </a:solidFill>
                <a:latin typeface="Arial Unicode MS"/>
                <a:ea typeface="Arial Unicode MS"/>
                <a:cs typeface="Arial Unicode MS"/>
              </a:rPr>
              <a:t>。有些事只有它做得到。
</a:t>
            </a:r>
          </a:p>
          <a:p>
            <a:pPr algn="l">
              <a:lnSpc>
                <a:spcPct val="115000"/>
              </a:lnSpc>
              <a:spcAft>
                <a:spcPts val="500"/>
              </a:spcAft>
            </a:pPr>
            <a:r>
              <a:rPr sz="1000" lang="zh-TW" dirty="0">
                <a:solidFill>
                  <a:srgbClr val="000000"/>
                </a:solidFill>
                <a:latin typeface="Arial Unicode MS"/>
                <a:ea typeface="Arial Unicode MS"/>
                <a:cs typeface="Arial Unicode MS"/>
              </a:rPr>
              <a:t>這句話我寫在白板上：模擬做不到的，真車做得到；真車做不到的，模擬做得到。兩個都要。</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15</a:t>
            </a:r>
          </a:p>
        </p:txBody>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b="1" lang="zh-TW" dirty="0">
                <a:solidFill>
                  <a:srgbClr val="000000"/>
                </a:solidFill>
                <a:latin typeface="Arial Unicode MS"/>
                <a:ea typeface="Arial Unicode MS"/>
                <a:cs typeface="Arial Unicode MS"/>
              </a:rPr>
              <a:t>▍這一張要做什麼</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把三種落差拉回台灣與越南的路況，讓它變成跟學生有關的事。
</a:t>
            </a:r>
          </a:p>
          <a:p>
            <a:pPr algn="l">
              <a:lnSpc>
                <a:spcPct val="115000"/>
              </a:lnSpc>
              <a:spcAft>
                <a:spcPts val="500"/>
              </a:spcAft>
            </a:pPr>
            <a:r>
              <a:rPr sz="1000" b="1" lang="zh-TW" dirty="0">
                <a:solidFill>
                  <a:srgbClr val="000000"/>
                </a:solidFill>
                <a:latin typeface="Arial Unicode MS"/>
                <a:ea typeface="Arial Unicode MS"/>
                <a:cs typeface="Arial Unicode MS"/>
              </a:rPr>
              <a:t>▍畫面上圈這裡</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一列一列圈，每圈一列問一次「你們覺得這裡是不是更嚴重」。
</a:t>
            </a:r>
          </a:p>
          <a:p>
            <a:pPr algn="l">
              <a:lnSpc>
                <a:spcPct val="115000"/>
              </a:lnSpc>
              <a:spcAft>
                <a:spcPts val="500"/>
              </a:spcAft>
            </a:pPr>
            <a:r>
              <a:rPr sz="1000" b="1" lang="zh-TW" dirty="0">
                <a:solidFill>
                  <a:srgbClr val="000000"/>
                </a:solidFill>
                <a:latin typeface="Arial Unicode MS"/>
                <a:ea typeface="Arial Unicode MS"/>
                <a:cs typeface="Arial Unicode MS"/>
              </a:rPr>
              <a:t>▍以下照著唸</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剛剛那三種落差，在台灣和越南</a:t>
            </a:r>
            <a:r>
              <a:rPr sz="1000" b="1" lang="zh-TW" dirty="0">
                <a:solidFill>
                  <a:srgbClr val="000000"/>
                </a:solidFill>
                <a:latin typeface="Arial Unicode MS"/>
                <a:ea typeface="Arial Unicode MS"/>
                <a:cs typeface="Arial Unicode MS"/>
              </a:rPr>
              <a:t>更大</a:t>
            </a:r>
            <a:r>
              <a:rPr sz="1000" lang="zh-TW" dirty="0">
                <a:solidFill>
                  <a:srgbClr val="000000"/>
                </a:solidFill>
                <a:latin typeface="Arial Unicode MS"/>
                <a:ea typeface="Arial Unicode MS"/>
                <a:cs typeface="Arial Unicode MS"/>
              </a:rPr>
              <a:t>。原因很單純：
</a:t>
            </a:r>
          </a:p>
          <a:p>
            <a:pPr algn="l">
              <a:lnSpc>
                <a:spcPct val="115000"/>
              </a:lnSpc>
              <a:spcAft>
                <a:spcPts val="500"/>
              </a:spcAft>
            </a:pPr>
            <a:r>
              <a:rPr sz="1000" lang="zh-TW" dirty="0">
                <a:solidFill>
                  <a:srgbClr val="000000"/>
                </a:solidFill>
                <a:latin typeface="Arial Unicode MS"/>
                <a:ea typeface="Arial Unicode MS"/>
                <a:cs typeface="Arial Unicode MS"/>
              </a:rPr>
              <a:t>現成的模擬器，裡面的世界、車輛、行為，</a:t>
            </a:r>
            <a:r>
              <a:rPr sz="1000" b="1" lang="zh-TW" dirty="0">
                <a:solidFill>
                  <a:srgbClr val="000000"/>
                </a:solidFill>
                <a:latin typeface="Arial Unicode MS"/>
                <a:ea typeface="Arial Unicode MS"/>
                <a:cs typeface="Arial Unicode MS"/>
              </a:rPr>
              <a:t>都是照歐美做的</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一欄一欄看。
</a:t>
            </a:r>
          </a:p>
          <a:p>
            <a:pPr algn="l">
              <a:lnSpc>
                <a:spcPct val="115000"/>
              </a:lnSpc>
              <a:spcAft>
                <a:spcPts val="500"/>
              </a:spcAft>
            </a:pPr>
            <a:r>
              <a:rPr sz="1000" b="1" lang="zh-TW" dirty="0">
                <a:solidFill>
                  <a:srgbClr val="000000"/>
                </a:solidFill>
                <a:latin typeface="Arial Unicode MS"/>
                <a:ea typeface="Arial Unicode MS"/>
                <a:cs typeface="Arial Unicode MS"/>
              </a:rPr>
              <a:t>外觀</a:t>
            </a:r>
            <a:r>
              <a:rPr sz="1000" lang="zh-TW" dirty="0">
                <a:solidFill>
                  <a:srgbClr val="000000"/>
                </a:solidFill>
                <a:latin typeface="Arial Unicode MS"/>
                <a:ea typeface="Arial Unicode MS"/>
                <a:cs typeface="Arial Unicode MS"/>
              </a:rPr>
              <a:t>這一欄。CARLA 裡有騎樓嗎？沒有。有滿街的招牌嗎？沒有。有機車待轉區嗎？沒有。越南的路邊攤、沒有標線的路口，更是沒有。
</a:t>
            </a:r>
          </a:p>
          <a:p>
            <a:pPr algn="l">
              <a:lnSpc>
                <a:spcPct val="115000"/>
              </a:lnSpc>
              <a:spcAft>
                <a:spcPts val="500"/>
              </a:spcAft>
            </a:pPr>
            <a:r>
              <a:rPr sz="1000" b="1" lang="zh-TW" dirty="0">
                <a:solidFill>
                  <a:srgbClr val="000000"/>
                </a:solidFill>
                <a:latin typeface="Arial Unicode MS"/>
                <a:ea typeface="Arial Unicode MS"/>
                <a:cs typeface="Arial Unicode MS"/>
              </a:rPr>
              <a:t>行為</a:t>
            </a:r>
            <a:r>
              <a:rPr sz="1000" lang="zh-TW" dirty="0">
                <a:solidFill>
                  <a:srgbClr val="000000"/>
                </a:solidFill>
                <a:latin typeface="Arial Unicode MS"/>
                <a:ea typeface="Arial Unicode MS"/>
                <a:cs typeface="Arial Unicode MS"/>
              </a:rPr>
              <a:t>這一欄。這是差最多的。歐美的模擬器裡，機車是「偶爾出現的一台」。台灣綠燈起步是二十台機車扇形散開；越南是五公尺內十二台互相鑽，圓環靠眼神決定誰先走。</a:t>
            </a:r>
            <a:r>
              <a:rPr sz="1000" b="1" lang="zh-TW" dirty="0">
                <a:solidFill>
                  <a:srgbClr val="000000"/>
                </a:solidFill>
                <a:latin typeface="Arial Unicode MS"/>
                <a:ea typeface="Arial Unicode MS"/>
                <a:cs typeface="Arial Unicode MS"/>
              </a:rPr>
              <a:t>這種行為模型，現成的模擬器裡根本沒有。</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b="1" lang="zh-TW" dirty="0">
                <a:solidFill>
                  <a:srgbClr val="000000"/>
                </a:solidFill>
                <a:latin typeface="Arial Unicode MS"/>
                <a:ea typeface="Arial Unicode MS"/>
                <a:cs typeface="Arial Unicode MS"/>
              </a:rPr>
              <a:t>物理</a:t>
            </a:r>
            <a:r>
              <a:rPr sz="1000" lang="zh-TW" dirty="0">
                <a:solidFill>
                  <a:srgbClr val="000000"/>
                </a:solidFill>
                <a:latin typeface="Arial Unicode MS"/>
                <a:ea typeface="Arial Unicode MS"/>
                <a:cs typeface="Arial Unicode MS"/>
              </a:rPr>
              <a:t>這一欄。補丁路面、人孔蓋、深淺不一的積水——這些會影響抓地力，而模擬器裡的地面是一整片完美的平面。
</a:t>
            </a:r>
          </a:p>
          <a:p>
            <a:pPr algn="l">
              <a:lnSpc>
                <a:spcPct val="115000"/>
              </a:lnSpc>
              <a:spcAft>
                <a:spcPts val="500"/>
              </a:spcAft>
            </a:pPr>
            <a:r>
              <a:rPr sz="1000" lang="zh-TW" dirty="0">
                <a:solidFill>
                  <a:srgbClr val="000000"/>
                </a:solidFill>
                <a:latin typeface="Arial Unicode MS"/>
                <a:ea typeface="Arial Unicode MS"/>
                <a:cs typeface="Arial Unicode MS"/>
              </a:rPr>
              <a:t>等一下請各組各講一個自己遇過的，我寫在白板上，分成三欄。這就是下一頁的討論。
</a:t>
            </a:r>
          </a:p>
          <a:p>
            <a:pPr algn="l">
              <a:lnSpc>
                <a:spcPct val="115000"/>
              </a:lnSpc>
              <a:spcAft>
                <a:spcPts val="500"/>
              </a:spcAft>
            </a:pPr>
            <a:r>
              <a:rPr sz="1000" lang="zh-TW" dirty="0">
                <a:solidFill>
                  <a:srgbClr val="000000"/>
                </a:solidFill>
                <a:latin typeface="Arial Unicode MS"/>
                <a:ea typeface="Arial Unicode MS"/>
                <a:cs typeface="Arial Unicode MS"/>
              </a:rPr>
              <a:t>所以看最下面那句話。這不是抱怨，這是機會：</a:t>
            </a:r>
            <a:r>
              <a:rPr sz="1000" b="1" lang="zh-TW" dirty="0">
                <a:solidFill>
                  <a:srgbClr val="000000"/>
                </a:solidFill>
                <a:latin typeface="Arial Unicode MS"/>
                <a:ea typeface="Arial Unicode MS"/>
                <a:cs typeface="Arial Unicode MS"/>
              </a:rPr>
              <a:t>「做一個台灣或越南的交通行為模型」是很有價值的題目，因為那份資料只有各位收得到。</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期末專題如果有人想做這個方向，我很歡迎。</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16</a:t>
            </a:r>
          </a:p>
        </p:txBody>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b="1" lang="zh-TW" dirty="0">
                <a:solidFill>
                  <a:srgbClr val="000000"/>
                </a:solidFill>
                <a:latin typeface="Arial Unicode MS"/>
                <a:ea typeface="Arial Unicode MS"/>
                <a:cs typeface="Arial Unicode MS"/>
              </a:rPr>
              <a:t>▍這一張要做什麼</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上週回家作業的討論。讓學生自己說出模擬裡不會出現的東西。
</a:t>
            </a:r>
          </a:p>
          <a:p>
            <a:pPr algn="l">
              <a:lnSpc>
                <a:spcPct val="115000"/>
              </a:lnSpc>
              <a:spcAft>
                <a:spcPts val="500"/>
              </a:spcAft>
            </a:pPr>
            <a:r>
              <a:rPr sz="1000" b="1" lang="zh-TW" dirty="0">
                <a:solidFill>
                  <a:srgbClr val="000000"/>
                </a:solidFill>
                <a:latin typeface="Arial Unicode MS"/>
                <a:ea typeface="Arial Unicode MS"/>
                <a:cs typeface="Arial Unicode MS"/>
              </a:rPr>
              <a:t>▍畫面上圈這裡</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圈題目那一句，再圈第三條「猜猜看哪一欄會最滿」。白板分三欄記，這張白板要拍照留著。
</a:t>
            </a:r>
          </a:p>
          <a:p>
            <a:pPr algn="l">
              <a:lnSpc>
                <a:spcPct val="115000"/>
              </a:lnSpc>
              <a:spcAft>
                <a:spcPts val="500"/>
              </a:spcAft>
            </a:pPr>
            <a:r>
              <a:rPr sz="1000" b="1" lang="zh-TW" dirty="0">
                <a:solidFill>
                  <a:srgbClr val="000000"/>
                </a:solidFill>
                <a:latin typeface="Arial Unicode MS"/>
                <a:ea typeface="Arial Unicode MS"/>
                <a:cs typeface="Arial Unicode MS"/>
              </a:rPr>
              <a:t>▍以下照著唸</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這是上週的回家作業，現在收。
</a:t>
            </a:r>
          </a:p>
          <a:p>
            <a:pPr algn="l">
              <a:lnSpc>
                <a:spcPct val="115000"/>
              </a:lnSpc>
              <a:spcAft>
                <a:spcPts val="500"/>
              </a:spcAft>
            </a:pPr>
            <a:r>
              <a:rPr sz="1000" lang="zh-TW" dirty="0">
                <a:solidFill>
                  <a:srgbClr val="000000"/>
                </a:solidFill>
                <a:latin typeface="Arial Unicode MS"/>
                <a:ea typeface="Arial Unicode MS"/>
                <a:cs typeface="Arial Unicode MS"/>
              </a:rPr>
              <a:t>四分鐘，每一組講一件，我在白板上分三欄記下來：外觀、行為、物理。
</a:t>
            </a:r>
          </a:p>
          <a:p>
            <a:pPr algn="l">
              <a:lnSpc>
                <a:spcPct val="115000"/>
              </a:lnSpc>
              <a:spcAft>
                <a:spcPts val="500"/>
              </a:spcAft>
            </a:pPr>
            <a:r>
              <a:rPr sz="1000" lang="zh-TW" dirty="0">
                <a:solidFill>
                  <a:srgbClr val="000000"/>
                </a:solidFill>
                <a:latin typeface="Arial Unicode MS"/>
                <a:ea typeface="Arial Unicode MS"/>
                <a:cs typeface="Arial Unicode MS"/>
              </a:rPr>
              <a:t>先讓全班猜一下：</a:t>
            </a:r>
            <a:r>
              <a:rPr sz="1000" b="1" lang="zh-TW" dirty="0">
                <a:solidFill>
                  <a:srgbClr val="000000"/>
                </a:solidFill>
                <a:latin typeface="Arial Unicode MS"/>
                <a:ea typeface="Arial Unicode MS"/>
                <a:cs typeface="Arial Unicode MS"/>
              </a:rPr>
              <a:t>哪一欄會最滿？</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大部分的人會猜行為，而且會猜對。
</a:t>
            </a:r>
          </a:p>
          <a:p>
            <a:pPr algn="l">
              <a:lnSpc>
                <a:spcPct val="115000"/>
              </a:lnSpc>
              <a:spcAft>
                <a:spcPts val="500"/>
              </a:spcAft>
            </a:pPr>
            <a:r>
              <a:rPr sz="1000" lang="zh-TW" dirty="0">
                <a:solidFill>
                  <a:srgbClr val="000000"/>
                </a:solidFill>
                <a:latin typeface="Arial Unicode MS"/>
                <a:ea typeface="Arial Unicode MS"/>
                <a:cs typeface="Arial Unicode MS"/>
              </a:rPr>
              <a:t>開始。
</a:t>
            </a:r>
          </a:p>
          <a:p>
            <a:pPr algn="l">
              <a:lnSpc>
                <a:spcPct val="115000"/>
              </a:lnSpc>
              <a:spcAft>
                <a:spcPts val="500"/>
              </a:spcAft>
            </a:pPr>
            <a:r>
              <a:rPr sz="1000" lang="zh-TW" dirty="0">
                <a:solidFill>
                  <a:srgbClr val="000000"/>
                </a:solidFill>
                <a:latin typeface="Arial Unicode MS"/>
                <a:ea typeface="Arial Unicode MS"/>
                <a:cs typeface="Arial Unicode MS"/>
              </a:rPr>
              <a:t>大家講的例子，大部分會落在「行為」那一欄：鑽車縫、逆向、闖紅燈、路口不打方向燈、外送機車突然停下。這很正常，因為行為最有感。
</a:t>
            </a:r>
          </a:p>
          <a:p>
            <a:pPr algn="l">
              <a:lnSpc>
                <a:spcPct val="115000"/>
              </a:lnSpc>
              <a:spcAft>
                <a:spcPts val="500"/>
              </a:spcAft>
            </a:pPr>
            <a:r>
              <a:rPr sz="1000" b="1" lang="zh-TW" dirty="0">
                <a:solidFill>
                  <a:srgbClr val="000000"/>
                </a:solidFill>
                <a:latin typeface="Arial Unicode MS"/>
                <a:ea typeface="Arial Unicode MS"/>
                <a:cs typeface="Arial Unicode MS"/>
              </a:rPr>
              <a:t>老師要主動補一到兩個「物理」的例子</a:t>
            </a:r>
            <a:r>
              <a:rPr sz="1000" lang="zh-TW" dirty="0">
                <a:solidFill>
                  <a:srgbClr val="000000"/>
                </a:solidFill>
                <a:latin typeface="Arial Unicode MS"/>
                <a:ea typeface="Arial Unicode MS"/>
                <a:cs typeface="Arial Unicode MS"/>
              </a:rPr>
              <a:t>，因為學生通常想不到：
</a:t>
            </a:r>
          </a:p>
          <a:p>
            <a:pPr algn="l">
              <a:lnSpc>
                <a:spcPct val="115000"/>
              </a:lnSpc>
              <a:spcAft>
                <a:spcPts val="500"/>
              </a:spcAft>
            </a:pPr>
            <a:r>
              <a:rPr sz="1000" lang="zh-TW" dirty="0">
                <a:solidFill>
                  <a:srgbClr val="000000"/>
                </a:solidFill>
                <a:latin typeface="Arial Unicode MS"/>
                <a:ea typeface="Arial Unicode MS"/>
                <a:cs typeface="Arial Unicode MS"/>
              </a:rPr>
              <a:t>「人孔蓋。下雨天的人孔蓋很滑，機車壓過去會打滑。模擬器裡的地面是一整片，沒有人孔蓋這種東西。」
</a:t>
            </a:r>
          </a:p>
          <a:p>
            <a:pPr algn="l">
              <a:lnSpc>
                <a:spcPct val="115000"/>
              </a:lnSpc>
              <a:spcAft>
                <a:spcPts val="500"/>
              </a:spcAft>
            </a:pPr>
            <a:r>
              <a:rPr sz="1000" lang="zh-TW" dirty="0">
                <a:solidFill>
                  <a:srgbClr val="000000"/>
                </a:solidFill>
                <a:latin typeface="Arial Unicode MS"/>
                <a:ea typeface="Arial Unicode MS"/>
                <a:cs typeface="Arial Unicode MS"/>
              </a:rPr>
              <a:t>「積水。你看到一個水窪，你不知道它是兩公分還是二十公分深。模擬器裡沒有水窪，就算有，也不會有深度不確定這件事。」
</a:t>
            </a:r>
          </a:p>
          <a:p>
            <a:pPr algn="l">
              <a:lnSpc>
                <a:spcPct val="115000"/>
              </a:lnSpc>
              <a:spcAft>
                <a:spcPts val="500"/>
              </a:spcAft>
            </a:pPr>
            <a:r>
              <a:rPr sz="1000" lang="zh-TW" dirty="0">
                <a:solidFill>
                  <a:srgbClr val="000000"/>
                </a:solidFill>
                <a:latin typeface="Arial Unicode MS"/>
                <a:ea typeface="Arial Unicode MS"/>
                <a:cs typeface="Arial Unicode MS"/>
              </a:rPr>
              <a:t>（補完之後說）看白板：三欄都有東西，而且都是各位自己講出來的。</a:t>
            </a:r>
            <a:r>
              <a:rPr sz="1000" b="1" lang="zh-TW" dirty="0">
                <a:solidFill>
                  <a:srgbClr val="000000"/>
                </a:solidFill>
                <a:latin typeface="Arial Unicode MS"/>
                <a:ea typeface="Arial Unicode MS"/>
                <a:cs typeface="Arial Unicode MS"/>
              </a:rPr>
              <a:t>這張白板就是台灣和越南版模擬器缺的東西清單。</a:t>
            </a:r>
            <a:r>
              <a:rPr sz="1000" lang="zh-TW" dirty="0">
                <a:solidFill>
                  <a:srgbClr val="000000"/>
                </a:solidFill>
                <a:latin typeface="Arial Unicode MS"/>
                <a:ea typeface="Arial Unicode MS"/>
                <a:cs typeface="Arial Unicode MS"/>
              </a:rPr>
              <a:t>拍張照留著，期末專題選題的時候會用到。</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17</a:t>
            </a:r>
          </a:p>
        </p:txBody>
      </p:sp>
    </p:spTree>
  </p:cSld>
  <p:clrMapOvr>
    <a:masterClrMapping/>
  </p:clrMapOvr>
</p:notes>
</file>

<file path=ppt/notesSlides/notesSlide1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b="1" lang="zh-TW" dirty="0">
                <a:solidFill>
                  <a:srgbClr val="000000"/>
                </a:solidFill>
                <a:latin typeface="Arial Unicode MS"/>
                <a:ea typeface="Arial Unicode MS"/>
                <a:cs typeface="Arial Unicode MS"/>
              </a:rPr>
              <a:t>▍這一張要做什麼</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第一節小結。三句話帶進第二節。
</a:t>
            </a:r>
          </a:p>
          <a:p>
            <a:pPr algn="l">
              <a:lnSpc>
                <a:spcPct val="115000"/>
              </a:lnSpc>
              <a:spcAft>
                <a:spcPts val="500"/>
              </a:spcAft>
            </a:pPr>
            <a:r>
              <a:rPr sz="1000" b="1" lang="zh-TW" dirty="0">
                <a:solidFill>
                  <a:srgbClr val="000000"/>
                </a:solidFill>
                <a:latin typeface="Arial Unicode MS"/>
                <a:ea typeface="Arial Unicode MS"/>
                <a:cs typeface="Arial Unicode MS"/>
              </a:rPr>
              <a:t>▍畫面上圈這裡</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三條一條一條圈，圈完念一次。特別停在第二條的「二十五公尺」。
</a:t>
            </a:r>
          </a:p>
          <a:p>
            <a:pPr algn="l">
              <a:lnSpc>
                <a:spcPct val="115000"/>
              </a:lnSpc>
              <a:spcAft>
                <a:spcPts val="500"/>
              </a:spcAft>
            </a:pPr>
            <a:r>
              <a:rPr sz="1000" b="1" lang="zh-TW" dirty="0">
                <a:solidFill>
                  <a:srgbClr val="000000"/>
                </a:solidFill>
                <a:latin typeface="Arial Unicode MS"/>
                <a:ea typeface="Arial Unicode MS"/>
                <a:cs typeface="Arial Unicode MS"/>
              </a:rPr>
              <a:t>▍以下照著唸</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第一節到這裡。三句話帶走。
</a:t>
            </a:r>
          </a:p>
          <a:p>
            <a:pPr algn="l">
              <a:lnSpc>
                <a:spcPct val="115000"/>
              </a:lnSpc>
              <a:spcAft>
                <a:spcPts val="500"/>
              </a:spcAft>
            </a:pPr>
            <a:r>
              <a:rPr sz="1000" lang="zh-TW" dirty="0">
                <a:solidFill>
                  <a:srgbClr val="000000"/>
                </a:solidFill>
                <a:latin typeface="Arial Unicode MS"/>
                <a:ea typeface="Arial Unicode MS"/>
                <a:cs typeface="Arial Unicode MS"/>
              </a:rPr>
              <a:t>第一句，</a:t>
            </a:r>
            <a:r>
              <a:rPr sz="1000" b="1" lang="zh-TW" dirty="0">
                <a:solidFill>
                  <a:srgbClr val="000000"/>
                </a:solidFill>
                <a:latin typeface="Arial Unicode MS"/>
                <a:ea typeface="Arial Unicode MS"/>
                <a:cs typeface="Arial Unicode MS"/>
              </a:rPr>
              <a:t>三個滑桿就是三個規格</a:t>
            </a:r>
            <a:r>
              <a:rPr sz="1000" lang="zh-TW" dirty="0">
                <a:solidFill>
                  <a:srgbClr val="000000"/>
                </a:solidFill>
                <a:latin typeface="Arial Unicode MS"/>
                <a:ea typeface="Arial Unicode MS"/>
                <a:cs typeface="Arial Unicode MS"/>
              </a:rPr>
              <a:t>：射線數是解析度、長度是測距範圍、張角是視野。第五週我拿真的規格表來，各位會發現上面就是這三個數字。
</a:t>
            </a:r>
          </a:p>
          <a:p>
            <a:pPr algn="l">
              <a:lnSpc>
                <a:spcPct val="115000"/>
              </a:lnSpc>
              <a:spcAft>
                <a:spcPts val="500"/>
              </a:spcAft>
            </a:pPr>
            <a:r>
              <a:rPr sz="1000" lang="zh-TW" dirty="0">
                <a:solidFill>
                  <a:srgbClr val="000000"/>
                </a:solidFill>
                <a:latin typeface="Arial Unicode MS"/>
                <a:ea typeface="Arial Unicode MS"/>
                <a:cs typeface="Arial Unicode MS"/>
              </a:rPr>
              <a:t>第二句，</a:t>
            </a:r>
            <a:r>
              <a:rPr sz="1000" b="1" lang="zh-TW" dirty="0">
                <a:solidFill>
                  <a:srgbClr val="000000"/>
                </a:solidFill>
                <a:latin typeface="Arial Unicode MS"/>
                <a:ea typeface="Arial Unicode MS"/>
                <a:cs typeface="Arial Unicode MS"/>
              </a:rPr>
              <a:t>煞停距離決定射線至少要多長</a:t>
            </a:r>
            <a:r>
              <a:rPr sz="1000" lang="zh-TW" dirty="0">
                <a:solidFill>
                  <a:srgbClr val="000000"/>
                </a:solidFill>
                <a:latin typeface="Arial Unicode MS"/>
                <a:ea typeface="Arial Unicode MS"/>
                <a:cs typeface="Arial Unicode MS"/>
              </a:rPr>
              <a:t>。時速五十，至少二十五公尺。這是被物理逼出來的下限，不是喜好問題。
</a:t>
            </a:r>
          </a:p>
          <a:p>
            <a:pPr algn="l">
              <a:lnSpc>
                <a:spcPct val="115000"/>
              </a:lnSpc>
              <a:spcAft>
                <a:spcPts val="500"/>
              </a:spcAft>
            </a:pPr>
            <a:r>
              <a:rPr sz="1000" lang="zh-TW" dirty="0">
                <a:solidFill>
                  <a:srgbClr val="000000"/>
                </a:solidFill>
                <a:latin typeface="Arial Unicode MS"/>
                <a:ea typeface="Arial Unicode MS"/>
                <a:cs typeface="Arial Unicode MS"/>
              </a:rPr>
              <a:t>第三句，</a:t>
            </a:r>
            <a:r>
              <a:rPr sz="1000" b="1" lang="zh-TW" dirty="0">
                <a:solidFill>
                  <a:srgbClr val="000000"/>
                </a:solidFill>
                <a:latin typeface="Arial Unicode MS"/>
                <a:ea typeface="Arial Unicode MS"/>
                <a:cs typeface="Arial Unicode MS"/>
              </a:rPr>
              <a:t>三種落差：外觀、行為、物理</a:t>
            </a:r>
            <a:r>
              <a:rPr sz="1000" lang="zh-TW" dirty="0">
                <a:solidFill>
                  <a:srgbClr val="000000"/>
                </a:solidFill>
                <a:latin typeface="Arial Unicode MS"/>
                <a:ea typeface="Arial Unicode MS"/>
                <a:cs typeface="Arial Unicode MS"/>
              </a:rPr>
              <a:t>。而且在台灣和越南都更大，因為現成的模擬器是照歐美做的。
</a:t>
            </a:r>
          </a:p>
          <a:p>
            <a:pPr algn="l">
              <a:lnSpc>
                <a:spcPct val="115000"/>
              </a:lnSpc>
              <a:spcAft>
                <a:spcPts val="500"/>
              </a:spcAft>
            </a:pPr>
            <a:r>
              <a:rPr sz="1000" lang="zh-TW" dirty="0">
                <a:solidFill>
                  <a:srgbClr val="000000"/>
                </a:solidFill>
                <a:latin typeface="Arial Unicode MS"/>
                <a:ea typeface="Arial Unicode MS"/>
                <a:cs typeface="Arial Unicode MS"/>
              </a:rPr>
              <a:t>休息十分鐘。
</a:t>
            </a:r>
          </a:p>
          <a:p>
            <a:pPr algn="l">
              <a:lnSpc>
                <a:spcPct val="115000"/>
              </a:lnSpc>
              <a:spcAft>
                <a:spcPts val="500"/>
              </a:spcAft>
            </a:pPr>
            <a:r>
              <a:rPr sz="1000" lang="zh-TW" dirty="0">
                <a:solidFill>
                  <a:srgbClr val="000000"/>
                </a:solidFill>
                <a:latin typeface="Arial Unicode MS"/>
                <a:ea typeface="Arial Unicode MS"/>
                <a:cs typeface="Arial Unicode MS"/>
              </a:rPr>
              <a:t>第二節我要問各位一個問題：如果「跑了幾公里」不是一個好的測試單位，那什麼才是？
</a:t>
            </a:r>
          </a:p>
          <a:p>
            <a:pPr algn="l">
              <a:lnSpc>
                <a:spcPct val="115000"/>
              </a:lnSpc>
              <a:spcAft>
                <a:spcPts val="500"/>
              </a:spcAft>
            </a:pPr>
            <a:r>
              <a:rPr sz="1000" lang="zh-TW" dirty="0">
                <a:solidFill>
                  <a:srgbClr val="000000"/>
                </a:solidFill>
                <a:latin typeface="Arial Unicode MS"/>
                <a:ea typeface="Arial Unicode MS"/>
                <a:cs typeface="Arial Unicode MS"/>
              </a:rPr>
              <a:t>第二節的主題就是「場景」。</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18</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www.youtube.com/watch?v=HTANxqGQcfI" TargetMode="External"/><Relationship Id="rId2" Type="http://schemas.openxmlformats.org/officeDocument/2006/relationships/image" Target="../media/image-8-1.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www.youtube.com/watch?v=AZhzZy57XeU" TargetMode="External"/><Relationship Id="rId2" Type="http://schemas.openxmlformats.org/officeDocument/2006/relationships/image" Target="../media/image-10-1.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1028250" y="0"/>
          <a:ext cx="1" cy="1"/>
          <a:chOff x="0" y="0"/>
          <a:chExt cx="0" cy="0"/>
        </a:xfrm>
      </p:grpSpPr>
      <p:sp>
        <p:nvSpPr>
          <p:cNvPr id="2" name="Shape 0"/>
          <p:cNvSpPr/>
          <p:nvPr/>
        </p:nvSpPr>
        <p:spPr>
          <a:xfrm>
            <a:off x="6273000" y="-1063125"/>
            <a:ext cx="3260250" cy="3260250"/>
          </a:xfrm>
          <a:prstGeom prst="ellipse">
            <a:avLst/>
          </a:prstGeom>
          <a:solidFill>
            <a:srgbClr val="13314F"/>
          </a:solidFill>
          <a:ln w="12700">
            <a:solidFill>
              <a:srgbClr val="13314F"/>
            </a:solidFill>
            <a:prstDash val="solid"/>
          </a:ln>
        </p:spPr>
      </p:sp>
      <p:sp>
        <p:nvSpPr>
          <p:cNvPr id="3" name="Shape 1"/>
          <p:cNvSpPr/>
          <p:nvPr/>
        </p:nvSpPr>
        <p:spPr>
          <a:xfrm>
            <a:off x="7336125" y="1630125"/>
            <a:ext cx="1842750" cy="1842750"/>
          </a:xfrm>
          <a:prstGeom prst="ellipse">
            <a:avLst/>
          </a:prstGeom>
          <a:solidFill>
            <a:srgbClr val="007F72">
              <a:alpha val="28000"/>
            </a:srgbClr>
          </a:solidFill>
          <a:ln/>
        </p:spPr>
      </p:sp>
      <p:sp>
        <p:nvSpPr>
          <p:cNvPr id="4" name="Text 2"/>
          <p:cNvSpPr txBox="1"/>
          <p:nvPr/>
        </p:nvSpPr>
        <p:spPr>
          <a:xfrm>
            <a:off x="1418063" y="935550"/>
            <a:ext cx="5386500" cy="212625"/>
          </a:xfrm>
          <a:prstGeom prst="rect">
            <a:avLst/>
          </a:prstGeom>
          <a:noFill/>
          <a:ln/>
        </p:spPr>
        <p:txBody>
          <a:bodyPr wrap="square" lIns="0" tIns="0" rIns="0" bIns="0" rtlCol="0" anchor="ctr"/>
          <a:lstStyle/>
          <a:p>
            <a:pPr indent="0" marL="0">
              <a:buNone/>
            </a:pPr>
            <a:r>
              <a:rPr lang="en-US" sz="970" b="1" dirty="0">
                <a:solidFill>
                  <a:srgbClr val="00A896"/>
                </a:solidFill>
                <a:latin typeface="Arial" pitchFamily="34" charset="0"/>
                <a:ea typeface="Arial" pitchFamily="34" charset="-122"/>
                <a:cs typeface="Arial" pitchFamily="34" charset="-120"/>
              </a:rPr>
              <a:t>MITUST · Nguyên lý xe tự lái · Tuần 4</a:t>
            </a:r>
            <a:endParaRPr lang="en-US" sz="970" dirty="0"/>
          </a:p>
        </p:txBody>
      </p:sp>
      <p:sp>
        <p:nvSpPr>
          <p:cNvPr id="5" name="Text 3"/>
          <p:cNvSpPr txBox="1"/>
          <p:nvPr/>
        </p:nvSpPr>
        <p:spPr>
          <a:xfrm>
            <a:off x="1418063" y="1219050"/>
            <a:ext cx="5811750" cy="965055"/>
          </a:xfrm>
          <a:prstGeom prst="rect">
            <a:avLst/>
          </a:prstGeom>
          <a:noFill/>
          <a:ln/>
        </p:spPr>
        <p:txBody>
          <a:bodyPr wrap="square" lIns="0" tIns="0" rIns="0" bIns="0" rtlCol="0" anchor="t"/>
          <a:lstStyle/>
          <a:p>
            <a:pPr indent="0" marL="0">
              <a:lnSpc>
                <a:spcPct val="118000"/>
              </a:lnSpc>
              <a:buNone/>
            </a:pPr>
            <a:r>
              <a:rPr lang="en-US" sz="2330" b="1" dirty="0">
                <a:solidFill>
                  <a:srgbClr val="FFFFFF"/>
                </a:solidFill>
                <a:latin typeface="Arial" pitchFamily="34" charset="0"/>
                <a:ea typeface="Arial" pitchFamily="34" charset="-122"/>
                <a:cs typeface="Arial" pitchFamily="34" charset="-120"/>
              </a:rPr>
              <a:t>Ba thanh trượt tuần trước</a:t>
            </a:r>
            <a:endParaRPr lang="en-US" sz="2330" dirty="0"/>
          </a:p>
          <a:p>
            <a:pPr indent="0" marL="0">
              <a:lnSpc>
                <a:spcPct val="118000"/>
              </a:lnSpc>
              <a:buNone/>
            </a:pPr>
            <a:r>
              <a:rPr lang="en-US" sz="2330" b="1" dirty="0">
                <a:solidFill>
                  <a:srgbClr val="FFFFFF"/>
                </a:solidFill>
                <a:latin typeface="Arial" pitchFamily="34" charset="0"/>
                <a:ea typeface="Arial" pitchFamily="34" charset="-122"/>
                <a:cs typeface="Arial" pitchFamily="34" charset="-120"/>
              </a:rPr>
              <a:t>chính là ba dòng trong bảng thông số</a:t>
            </a:r>
            <a:endParaRPr lang="en-US" sz="2330" dirty="0"/>
          </a:p>
          <a:p>
            <a:pPr indent="0" marL="0">
              <a:lnSpc>
                <a:spcPct val="118000"/>
              </a:lnSpc>
              <a:buNone/>
            </a:pPr>
            <a:r>
              <a:rPr lang="en-US" sz="1320" dirty="0">
                <a:solidFill>
                  <a:srgbClr val="C8D6E2"/>
                </a:solidFill>
                <a:latin typeface="微軟正黑體" pitchFamily="34" charset="0"/>
                <a:ea typeface="微軟正黑體" pitchFamily="34" charset="-122"/>
                <a:cs typeface="微軟正黑體" pitchFamily="34" charset="-120"/>
              </a:rPr>
              <a:t>上週你們拉的三個滑桿，就是規格表上的三行</a:t>
            </a:r>
            <a:endParaRPr lang="en-US" sz="2330" dirty="0"/>
          </a:p>
        </p:txBody>
      </p:sp>
      <p:sp>
        <p:nvSpPr>
          <p:cNvPr id="6" name="Shape 4"/>
          <p:cNvSpPr/>
          <p:nvPr/>
        </p:nvSpPr>
        <p:spPr>
          <a:xfrm>
            <a:off x="1418063" y="2331867"/>
            <a:ext cx="1063125" cy="31894"/>
          </a:xfrm>
          <a:prstGeom prst="rect">
            <a:avLst/>
          </a:prstGeom>
          <a:solidFill>
            <a:srgbClr val="FFB020"/>
          </a:solidFill>
          <a:ln/>
        </p:spPr>
      </p:sp>
      <p:sp>
        <p:nvSpPr>
          <p:cNvPr id="7" name="Text 5"/>
          <p:cNvSpPr txBox="1"/>
          <p:nvPr/>
        </p:nvSpPr>
        <p:spPr>
          <a:xfrm>
            <a:off x="1418063" y="2487792"/>
            <a:ext cx="5528250" cy="474783"/>
          </a:xfrm>
          <a:prstGeom prst="rect">
            <a:avLst/>
          </a:prstGeom>
          <a:noFill/>
          <a:ln/>
        </p:spPr>
        <p:txBody>
          <a:bodyPr wrap="square" lIns="0" tIns="0" rIns="0" bIns="0" rtlCol="0" anchor="t"/>
          <a:lstStyle/>
          <a:p>
            <a:pPr indent="0" marL="0">
              <a:lnSpc>
                <a:spcPct val="120000"/>
              </a:lnSpc>
              <a:buNone/>
            </a:pPr>
            <a:r>
              <a:rPr lang="en-US" sz="1120" dirty="0">
                <a:solidFill>
                  <a:srgbClr val="C8D6E2"/>
                </a:solidFill>
                <a:latin typeface="Arial" pitchFamily="34" charset="0"/>
                <a:ea typeface="Arial" pitchFamily="34" charset="-122"/>
                <a:cs typeface="Arial" pitchFamily="34" charset="-120"/>
              </a:rPr>
              <a:t>Và: vì sao chạy tốt trong mô phỏng không có nghĩa là chạy được ngoài đường</a:t>
            </a:r>
            <a:endParaRPr lang="en-US" sz="1120" dirty="0"/>
          </a:p>
          <a:p>
            <a:pPr indent="0" marL="0">
              <a:lnSpc>
                <a:spcPct val="120000"/>
              </a:lnSpc>
              <a:buNone/>
            </a:pPr>
            <a:r>
              <a:rPr lang="en-US" sz="970" dirty="0">
                <a:solidFill>
                  <a:srgbClr val="8AA0B4"/>
                </a:solidFill>
                <a:latin typeface="微軟正黑體" pitchFamily="34" charset="0"/>
                <a:ea typeface="微軟正黑體" pitchFamily="34" charset="-122"/>
                <a:cs typeface="微軟正黑體" pitchFamily="34" charset="-120"/>
              </a:rPr>
              <a:t>還有：為什麼在模擬裡跑得好，不代表真車上路也可以</a:t>
            </a:r>
            <a:endParaRPr lang="en-US" sz="1120" dirty="0"/>
          </a:p>
        </p:txBody>
      </p:sp>
      <p:sp>
        <p:nvSpPr>
          <p:cNvPr id="8" name="Shape 6"/>
          <p:cNvSpPr/>
          <p:nvPr/>
        </p:nvSpPr>
        <p:spPr>
          <a:xfrm>
            <a:off x="1418063" y="3019275"/>
            <a:ext cx="4606875" cy="297675"/>
          </a:xfrm>
          <a:prstGeom prst="roundRect">
            <a:avLst>
              <a:gd name="adj" fmla="val 16667"/>
            </a:avLst>
          </a:prstGeom>
          <a:solidFill>
            <a:srgbClr val="13314F"/>
          </a:solidFill>
          <a:ln/>
        </p:spPr>
      </p:sp>
      <p:sp>
        <p:nvSpPr>
          <p:cNvPr id="9" name="Text 7"/>
          <p:cNvSpPr txBox="1"/>
          <p:nvPr/>
        </p:nvSpPr>
        <p:spPr>
          <a:xfrm>
            <a:off x="1517288" y="3054713"/>
            <a:ext cx="4408425" cy="226800"/>
          </a:xfrm>
          <a:prstGeom prst="rect">
            <a:avLst/>
          </a:prstGeom>
          <a:noFill/>
          <a:ln/>
        </p:spPr>
        <p:txBody>
          <a:bodyPr wrap="square" lIns="0" tIns="0" rIns="0" bIns="0" rtlCol="0" anchor="ctr"/>
          <a:lstStyle/>
          <a:p>
            <a:pPr indent="0" marL="0">
              <a:buNone/>
            </a:pPr>
            <a:r>
              <a:rPr lang="en-US" sz="810" b="1" dirty="0">
                <a:solidFill>
                  <a:srgbClr val="9FD6CE"/>
                </a:solidFill>
                <a:latin typeface="Arial" pitchFamily="34" charset="0"/>
                <a:ea typeface="Arial" pitchFamily="34" charset="-122"/>
                <a:cs typeface="Arial" pitchFamily="34" charset="-120"/>
              </a:rPr>
              <a:t>工具｜Công cụ： ch-neural.github.io/MITUST-Principles-of-Self-Driving-Cars/week4/sim/</a:t>
            </a:r>
            <a:endParaRPr lang="en-US" sz="810" dirty="0"/>
          </a:p>
        </p:txBody>
      </p:sp>
      <p:sp>
        <p:nvSpPr>
          <p:cNvPr id="10" name="Text 8"/>
          <p:cNvSpPr txBox="1"/>
          <p:nvPr/>
        </p:nvSpPr>
        <p:spPr>
          <a:xfrm>
            <a:off x="1418063" y="3387825"/>
            <a:ext cx="5386500" cy="212625"/>
          </a:xfrm>
          <a:prstGeom prst="rect">
            <a:avLst/>
          </a:prstGeom>
          <a:noFill/>
          <a:ln/>
        </p:spPr>
        <p:txBody>
          <a:bodyPr wrap="square" lIns="0" tIns="0" rIns="0" bIns="0" rtlCol="0" anchor="ctr"/>
          <a:lstStyle/>
          <a:p>
            <a:pPr indent="0" marL="0">
              <a:buNone/>
            </a:pPr>
            <a:r>
              <a:rPr lang="en-US" sz="890" dirty="0">
                <a:solidFill>
                  <a:srgbClr val="8AA0B4"/>
                </a:solidFill>
                <a:latin typeface="微軟正黑體" pitchFamily="34" charset="0"/>
                <a:ea typeface="微軟正黑體" pitchFamily="34" charset="-122"/>
                <a:cs typeface="微軟正黑體" pitchFamily="34" charset="-120"/>
              </a:rPr>
              <a:t>第四週 第 1 節　2026/10/01（四）09:10–10:00　CH Tseng</a:t>
            </a:r>
            <a:endParaRPr lang="en-US" sz="890" dirty="0"/>
          </a:p>
        </p:txBody>
      </p:sp>
      <p:sp>
        <p:nvSpPr>
          <p:cNvPr id="12" name="Shape 9"/>
          <p:cNvSpPr/>
          <p:nvPr/>
        </p:nvSpPr>
        <p:spPr>
          <a:xfrm>
            <a:off x="1304663" y="240975"/>
            <a:ext cx="1715175" cy="581175"/>
          </a:xfrm>
          <a:prstGeom prst="roundRect">
            <a:avLst>
              <a:gd name="adj" fmla="val 9756"/>
            </a:avLst>
          </a:prstGeom>
          <a:solidFill>
            <a:srgbClr val="FFFFFF"/>
          </a:solidFill>
          <a:ln/>
        </p:spPr>
      </p:sp>
      <p:pic>
        <p:nvPicPr>
          <p:cNvPr id="13" name="Image 0" descr="/Users/tsengchenghsun/Class/carClass/Claude outputs/第四週(10-1)/src/logo.png">    </p:cNvPr>
          <p:cNvPicPr>
            <a:picLocks noChangeAspect="1"/>
          </p:cNvPicPr>
          <p:nvPr/>
        </p:nvPicPr>
        <p:blipFill>
          <a:blip r:embed="rId1"/>
          <a:stretch>
            <a:fillRect/>
          </a:stretch>
        </p:blipFill>
        <p:spPr>
          <a:xfrm>
            <a:off x="502920" y="475488"/>
            <a:ext cx="1920240" cy="42426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927820" y="0"/>
          <a:ext cx="1" cy="1"/>
          <a:chOff x="0" y="0"/>
          <a:chExt cx="0" cy="0"/>
        </a:xfrm>
      </p:grpSpPr>
      <p:sp>
        <p:nvSpPr>
          <p:cNvPr id="2" name="Text 0"/>
          <p:cNvSpPr txBox="1"/>
          <p:nvPr/>
        </p:nvSpPr>
        <p:spPr>
          <a:xfrm>
            <a:off x="1328680" y="233228"/>
            <a:ext cx="6486641" cy="670529"/>
          </a:xfrm>
          <a:prstGeom prst="rect">
            <a:avLst/>
          </a:prstGeom>
          <a:noFill/>
          <a:ln/>
        </p:spPr>
        <p:txBody>
          <a:bodyPr wrap="square" lIns="0" tIns="0" rIns="0" bIns="0" rtlCol="0" anchor="t"/>
          <a:lstStyle/>
          <a:p>
            <a:pPr indent="0" marL="0">
              <a:lnSpc>
                <a:spcPct val="116000"/>
              </a:lnSpc>
              <a:buNone/>
            </a:pPr>
            <a:r>
              <a:rPr lang="en-US" sz="1750" b="1" dirty="0">
                <a:solidFill>
                  <a:srgbClr val="0B1F3A"/>
                </a:solidFill>
                <a:latin typeface="Arial" pitchFamily="34" charset="0"/>
                <a:ea typeface="Arial" pitchFamily="34" charset="-122"/>
                <a:cs typeface="Arial" pitchFamily="34" charset="-120"/>
              </a:rPr>
              <a:t>Mở mô phỏng trên máy tính của bạn</a:t>
            </a:r>
            <a:endParaRPr lang="en-US" sz="1750" dirty="0"/>
          </a:p>
          <a:p>
            <a:pPr indent="0" marL="0">
              <a:lnSpc>
                <a:spcPct val="116000"/>
              </a:lnSpc>
              <a:buNone/>
            </a:pPr>
            <a:r>
              <a:rPr lang="en-US" sz="1080" dirty="0">
                <a:solidFill>
                  <a:srgbClr val="5F7183"/>
                </a:solidFill>
                <a:latin typeface="微軟正黑體" pitchFamily="34" charset="0"/>
                <a:ea typeface="微軟正黑體" pitchFamily="34" charset="-122"/>
                <a:cs typeface="微軟正黑體" pitchFamily="34" charset="-120"/>
              </a:rPr>
              <a:t>在你的筆電上打開模擬器</a:t>
            </a:r>
            <a:endParaRPr lang="en-US" sz="1750" dirty="0"/>
          </a:p>
        </p:txBody>
      </p:sp>
      <p:sp>
        <p:nvSpPr>
          <p:cNvPr id="3" name="Shape 1"/>
          <p:cNvSpPr/>
          <p:nvPr/>
        </p:nvSpPr>
        <p:spPr>
          <a:xfrm>
            <a:off x="6000519" y="903757"/>
            <a:ext cx="1916839" cy="2091759"/>
          </a:xfrm>
          <a:prstGeom prst="roundRect">
            <a:avLst>
              <a:gd name="adj" fmla="val 3802"/>
            </a:avLst>
          </a:prstGeom>
          <a:solidFill>
            <a:srgbClr val="FFFFFF"/>
          </a:solidFill>
          <a:ln w="12700">
            <a:solidFill>
              <a:srgbClr val="DBE3EA"/>
            </a:solidFill>
            <a:prstDash val="solid"/>
          </a:ln>
        </p:spPr>
      </p:sp>
      <p:pic>
        <p:nvPicPr>
          <p:cNvPr id="4" name="Image 0" descr="/Users/tsengchenghsun/Class/carClass/Claude outputs/第四週(10-1)/src/img/w4_qr_sim.png">    </p:cNvPr>
          <p:cNvPicPr>
            <a:picLocks noChangeAspect="1"/>
          </p:cNvPicPr>
          <p:nvPr/>
        </p:nvPicPr>
        <p:blipFill>
          <a:blip r:embed="rId1"/>
          <a:stretch>
            <a:fillRect/>
          </a:stretch>
        </p:blipFill>
        <p:spPr>
          <a:xfrm>
            <a:off x="6492240" y="1243584"/>
            <a:ext cx="2148840" cy="2148840"/>
          </a:xfrm>
          <a:prstGeom prst="rect">
            <a:avLst/>
          </a:prstGeom>
        </p:spPr>
      </p:pic>
      <p:sp>
        <p:nvSpPr>
          <p:cNvPr id="5" name="Text 2"/>
          <p:cNvSpPr txBox="1"/>
          <p:nvPr/>
        </p:nvSpPr>
        <p:spPr>
          <a:xfrm>
            <a:off x="6029672" y="2733135"/>
            <a:ext cx="1858532" cy="247804"/>
          </a:xfrm>
          <a:prstGeom prst="rect">
            <a:avLst/>
          </a:prstGeom>
          <a:noFill/>
          <a:ln/>
        </p:spPr>
        <p:txBody>
          <a:bodyPr wrap="square" lIns="0" tIns="0" rIns="0" bIns="0" rtlCol="0" anchor="t"/>
          <a:lstStyle/>
          <a:p>
            <a:pPr algn="ctr" indent="0" marL="0">
              <a:lnSpc>
                <a:spcPct val="105000"/>
              </a:lnSpc>
              <a:buNone/>
            </a:pPr>
            <a:r>
              <a:rPr lang="en-US" sz="840" b="1" dirty="0">
                <a:solidFill>
                  <a:srgbClr val="5F7183"/>
                </a:solidFill>
                <a:latin typeface="Arial" pitchFamily="34" charset="0"/>
                <a:ea typeface="Arial" pitchFamily="34" charset="-122"/>
                <a:cs typeface="Arial" pitchFamily="34" charset="-120"/>
              </a:rPr>
              <a:t>Quét mã QR bằng camera điện thoại</a:t>
            </a:r>
            <a:endParaRPr lang="en-US" sz="840" dirty="0"/>
          </a:p>
          <a:p>
            <a:pPr algn="ctr" indent="0" marL="0">
              <a:lnSpc>
                <a:spcPct val="105000"/>
              </a:lnSpc>
              <a:buNone/>
            </a:pPr>
            <a:r>
              <a:rPr lang="en-US" sz="760" dirty="0">
                <a:solidFill>
                  <a:srgbClr val="5F7183"/>
                </a:solidFill>
                <a:latin typeface="微軟正黑體" pitchFamily="34" charset="0"/>
                <a:ea typeface="微軟正黑體" pitchFamily="34" charset="-122"/>
                <a:cs typeface="微軟正黑體" pitchFamily="34" charset="-120"/>
              </a:rPr>
              <a:t>用手機相機掃這個 QR</a:t>
            </a:r>
            <a:endParaRPr lang="en-US" sz="840" dirty="0"/>
          </a:p>
        </p:txBody>
      </p:sp>
      <p:sp>
        <p:nvSpPr>
          <p:cNvPr id="6" name="Shape 3"/>
          <p:cNvSpPr/>
          <p:nvPr/>
        </p:nvSpPr>
        <p:spPr>
          <a:xfrm>
            <a:off x="1328680" y="903757"/>
            <a:ext cx="4526072" cy="670529"/>
          </a:xfrm>
          <a:prstGeom prst="roundRect">
            <a:avLst>
              <a:gd name="adj" fmla="val 9783"/>
            </a:avLst>
          </a:prstGeom>
          <a:solidFill>
            <a:srgbClr val="0B1F3A"/>
          </a:solidFill>
          <a:ln/>
        </p:spPr>
      </p:sp>
      <p:sp>
        <p:nvSpPr>
          <p:cNvPr id="7" name="Text 4"/>
          <p:cNvSpPr txBox="1"/>
          <p:nvPr/>
        </p:nvSpPr>
        <p:spPr>
          <a:xfrm>
            <a:off x="1445293" y="976640"/>
            <a:ext cx="4292844" cy="524762"/>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https://ch-neural.github.io/</a:t>
            </a:r>
            <a:endParaRPr lang="en-US" sz="1000" dirty="0"/>
          </a:p>
          <a:p>
            <a:pPr algn="ctr" indent="0" marL="0">
              <a:buNone/>
            </a:pPr>
            <a:r>
              <a:rPr lang="en-US" sz="1000" b="1" dirty="0">
                <a:solidFill>
                  <a:srgbClr val="FFFFFF"/>
                </a:solidFill>
                <a:latin typeface="Arial" pitchFamily="34" charset="0"/>
                <a:ea typeface="Arial" pitchFamily="34" charset="-122"/>
                <a:cs typeface="Arial" pitchFamily="34" charset="-120"/>
              </a:rPr>
              <a:t>MITUST-Principles-of-Self-Driving-Cars/week4/sim/</a:t>
            </a:r>
            <a:endParaRPr lang="en-US" sz="1000" dirty="0"/>
          </a:p>
        </p:txBody>
      </p:sp>
      <p:sp>
        <p:nvSpPr>
          <p:cNvPr id="8" name="Shape 5"/>
          <p:cNvSpPr/>
          <p:nvPr/>
        </p:nvSpPr>
        <p:spPr>
          <a:xfrm>
            <a:off x="1357833" y="1720053"/>
            <a:ext cx="233228" cy="233228"/>
          </a:xfrm>
          <a:prstGeom prst="ellipse">
            <a:avLst/>
          </a:prstGeom>
          <a:solidFill>
            <a:srgbClr val="00A896"/>
          </a:solidFill>
          <a:ln/>
        </p:spPr>
      </p:sp>
      <p:sp>
        <p:nvSpPr>
          <p:cNvPr id="9" name="Text 6"/>
          <p:cNvSpPr txBox="1"/>
          <p:nvPr/>
        </p:nvSpPr>
        <p:spPr>
          <a:xfrm>
            <a:off x="1357833" y="1727341"/>
            <a:ext cx="233228" cy="218651"/>
          </a:xfrm>
          <a:prstGeom prst="rect">
            <a:avLst/>
          </a:prstGeom>
          <a:noFill/>
          <a:ln/>
        </p:spPr>
        <p:txBody>
          <a:bodyPr wrap="square" lIns="0" tIns="0" rIns="0" bIns="0" rtlCol="0" anchor="ctr"/>
          <a:lstStyle/>
          <a:p>
            <a:pPr algn="ctr" indent="0" marL="0">
              <a:buNone/>
            </a:pPr>
            <a:r>
              <a:rPr lang="en-US" sz="880" b="1" dirty="0">
                <a:solidFill>
                  <a:srgbClr val="FFFFFF"/>
                </a:solidFill>
                <a:latin typeface="Arial" pitchFamily="34" charset="0"/>
                <a:ea typeface="Arial" pitchFamily="34" charset="-122"/>
                <a:cs typeface="Arial" pitchFamily="34" charset="-120"/>
              </a:rPr>
              <a:t>1</a:t>
            </a:r>
            <a:endParaRPr lang="en-US" sz="880" dirty="0"/>
          </a:p>
        </p:txBody>
      </p:sp>
      <p:sp>
        <p:nvSpPr>
          <p:cNvPr id="10" name="Text 7"/>
          <p:cNvSpPr txBox="1"/>
          <p:nvPr/>
        </p:nvSpPr>
        <p:spPr>
          <a:xfrm>
            <a:off x="1678521" y="1690900"/>
            <a:ext cx="4117924" cy="364418"/>
          </a:xfrm>
          <a:prstGeom prst="rect">
            <a:avLst/>
          </a:prstGeom>
          <a:noFill/>
          <a:ln/>
        </p:spPr>
        <p:txBody>
          <a:bodyPr wrap="square" lIns="0" tIns="0" rIns="0" bIns="0" rtlCol="0" anchor="t"/>
          <a:lstStyle/>
          <a:p>
            <a:pPr indent="0" marL="0">
              <a:lnSpc>
                <a:spcPct val="108000"/>
              </a:lnSpc>
              <a:buNone/>
            </a:pPr>
            <a:r>
              <a:rPr lang="en-US" sz="920" b="1" dirty="0">
                <a:solidFill>
                  <a:srgbClr val="1A2733"/>
                </a:solidFill>
                <a:latin typeface="Arial" pitchFamily="34" charset="0"/>
                <a:ea typeface="Arial" pitchFamily="34" charset="-122"/>
                <a:cs typeface="Arial" pitchFamily="34" charset="-120"/>
              </a:rPr>
              <a:t>Tuần này nên dùng máy tính: có bàn phím và màn hình rộng thì chỉnh thanh trượt dễ hơn nhiều</a:t>
            </a:r>
            <a:endParaRPr lang="en-US" sz="920" dirty="0"/>
          </a:p>
          <a:p>
            <a:pPr indent="0" marL="0">
              <a:lnSpc>
                <a:spcPct val="108000"/>
              </a:lnSpc>
              <a:buNone/>
            </a:pPr>
            <a:r>
              <a:rPr lang="en-US" sz="840" dirty="0">
                <a:solidFill>
                  <a:srgbClr val="5F7183"/>
                </a:solidFill>
                <a:latin typeface="微軟正黑體" pitchFamily="34" charset="0"/>
                <a:ea typeface="微軟正黑體" pitchFamily="34" charset="-122"/>
                <a:cs typeface="微軟正黑體" pitchFamily="34" charset="-120"/>
              </a:rPr>
              <a:t>這週建議用筆電：有鍵盤和大螢幕，調滑桿容易得多</a:t>
            </a:r>
            <a:endParaRPr lang="en-US" sz="920" dirty="0"/>
          </a:p>
        </p:txBody>
      </p:sp>
      <p:sp>
        <p:nvSpPr>
          <p:cNvPr id="11" name="Shape 8"/>
          <p:cNvSpPr/>
          <p:nvPr/>
        </p:nvSpPr>
        <p:spPr>
          <a:xfrm>
            <a:off x="1357833" y="2188239"/>
            <a:ext cx="233228" cy="233228"/>
          </a:xfrm>
          <a:prstGeom prst="ellipse">
            <a:avLst/>
          </a:prstGeom>
          <a:solidFill>
            <a:srgbClr val="00A896"/>
          </a:solidFill>
          <a:ln/>
        </p:spPr>
      </p:sp>
      <p:sp>
        <p:nvSpPr>
          <p:cNvPr id="12" name="Text 9"/>
          <p:cNvSpPr txBox="1"/>
          <p:nvPr/>
        </p:nvSpPr>
        <p:spPr>
          <a:xfrm>
            <a:off x="1357833" y="2195527"/>
            <a:ext cx="233228" cy="218651"/>
          </a:xfrm>
          <a:prstGeom prst="rect">
            <a:avLst/>
          </a:prstGeom>
          <a:noFill/>
          <a:ln/>
        </p:spPr>
        <p:txBody>
          <a:bodyPr wrap="square" lIns="0" tIns="0" rIns="0" bIns="0" rtlCol="0" anchor="ctr"/>
          <a:lstStyle/>
          <a:p>
            <a:pPr algn="ctr" indent="0" marL="0">
              <a:buNone/>
            </a:pPr>
            <a:r>
              <a:rPr lang="en-US" sz="880" b="1" dirty="0">
                <a:solidFill>
                  <a:srgbClr val="FFFFFF"/>
                </a:solidFill>
                <a:latin typeface="Arial" pitchFamily="34" charset="0"/>
                <a:ea typeface="Arial" pitchFamily="34" charset="-122"/>
                <a:cs typeface="Arial" pitchFamily="34" charset="-120"/>
              </a:rPr>
              <a:t>2</a:t>
            </a:r>
            <a:endParaRPr lang="en-US" sz="880" dirty="0"/>
          </a:p>
        </p:txBody>
      </p:sp>
      <p:sp>
        <p:nvSpPr>
          <p:cNvPr id="13" name="Text 10"/>
          <p:cNvSpPr txBox="1"/>
          <p:nvPr/>
        </p:nvSpPr>
        <p:spPr>
          <a:xfrm>
            <a:off x="1678521" y="2159085"/>
            <a:ext cx="4117924" cy="364418"/>
          </a:xfrm>
          <a:prstGeom prst="rect">
            <a:avLst/>
          </a:prstGeom>
          <a:noFill/>
          <a:ln/>
        </p:spPr>
        <p:txBody>
          <a:bodyPr wrap="square" lIns="0" tIns="0" rIns="0" bIns="0" rtlCol="0" anchor="t"/>
          <a:lstStyle/>
          <a:p>
            <a:pPr indent="0" marL="0">
              <a:lnSpc>
                <a:spcPct val="108000"/>
              </a:lnSpc>
              <a:buNone/>
            </a:pPr>
            <a:r>
              <a:rPr lang="en-US" sz="920" b="1" dirty="0">
                <a:solidFill>
                  <a:srgbClr val="1A2733"/>
                </a:solidFill>
                <a:latin typeface="Arial" pitchFamily="34" charset="0"/>
                <a:ea typeface="Arial" pitchFamily="34" charset="-122"/>
                <a:cs typeface="Arial" pitchFamily="34" charset="-120"/>
              </a:rPr>
              <a:t>Mở xong bấm «Bắt đầu» cho xe chạy thử một vòng</a:t>
            </a:r>
            <a:endParaRPr lang="en-US" sz="920" dirty="0"/>
          </a:p>
          <a:p>
            <a:pPr indent="0" marL="0">
              <a:lnSpc>
                <a:spcPct val="108000"/>
              </a:lnSpc>
              <a:buNone/>
            </a:pPr>
            <a:r>
              <a:rPr lang="en-US" sz="840" dirty="0">
                <a:solidFill>
                  <a:srgbClr val="5F7183"/>
                </a:solidFill>
                <a:latin typeface="微軟正黑體" pitchFamily="34" charset="0"/>
                <a:ea typeface="微軟正黑體" pitchFamily="34" charset="-122"/>
                <a:cs typeface="微軟正黑體" pitchFamily="34" charset="-120"/>
              </a:rPr>
              <a:t>打開之後按「開始」，先讓車子跑一圈看看</a:t>
            </a:r>
            <a:endParaRPr lang="en-US" sz="920" dirty="0"/>
          </a:p>
        </p:txBody>
      </p:sp>
      <p:sp>
        <p:nvSpPr>
          <p:cNvPr id="14" name="Shape 11"/>
          <p:cNvSpPr/>
          <p:nvPr/>
        </p:nvSpPr>
        <p:spPr>
          <a:xfrm>
            <a:off x="1357833" y="2581810"/>
            <a:ext cx="233228" cy="233228"/>
          </a:xfrm>
          <a:prstGeom prst="ellipse">
            <a:avLst/>
          </a:prstGeom>
          <a:solidFill>
            <a:srgbClr val="00A896"/>
          </a:solidFill>
          <a:ln/>
        </p:spPr>
      </p:sp>
      <p:sp>
        <p:nvSpPr>
          <p:cNvPr id="15" name="Text 12"/>
          <p:cNvSpPr txBox="1"/>
          <p:nvPr/>
        </p:nvSpPr>
        <p:spPr>
          <a:xfrm>
            <a:off x="1357833" y="2589098"/>
            <a:ext cx="233228" cy="218651"/>
          </a:xfrm>
          <a:prstGeom prst="rect">
            <a:avLst/>
          </a:prstGeom>
          <a:noFill/>
          <a:ln/>
        </p:spPr>
        <p:txBody>
          <a:bodyPr wrap="square" lIns="0" tIns="0" rIns="0" bIns="0" rtlCol="0" anchor="ctr"/>
          <a:lstStyle/>
          <a:p>
            <a:pPr algn="ctr" indent="0" marL="0">
              <a:buNone/>
            </a:pPr>
            <a:r>
              <a:rPr lang="en-US" sz="880" b="1" dirty="0">
                <a:solidFill>
                  <a:srgbClr val="FFFFFF"/>
                </a:solidFill>
                <a:latin typeface="Arial" pitchFamily="34" charset="0"/>
                <a:ea typeface="Arial" pitchFamily="34" charset="-122"/>
                <a:cs typeface="Arial" pitchFamily="34" charset="-120"/>
              </a:rPr>
              <a:t>3</a:t>
            </a:r>
            <a:endParaRPr lang="en-US" sz="880" dirty="0"/>
          </a:p>
        </p:txBody>
      </p:sp>
      <p:sp>
        <p:nvSpPr>
          <p:cNvPr id="16" name="Text 13"/>
          <p:cNvSpPr txBox="1"/>
          <p:nvPr/>
        </p:nvSpPr>
        <p:spPr>
          <a:xfrm>
            <a:off x="1678521" y="2552657"/>
            <a:ext cx="4117924" cy="364418"/>
          </a:xfrm>
          <a:prstGeom prst="rect">
            <a:avLst/>
          </a:prstGeom>
          <a:noFill/>
          <a:ln/>
        </p:spPr>
        <p:txBody>
          <a:bodyPr wrap="square" lIns="0" tIns="0" rIns="0" bIns="0" rtlCol="0" anchor="t"/>
          <a:lstStyle/>
          <a:p>
            <a:pPr indent="0" marL="0">
              <a:lnSpc>
                <a:spcPct val="108000"/>
              </a:lnSpc>
              <a:buNone/>
            </a:pPr>
            <a:r>
              <a:rPr lang="en-US" sz="920" b="1" dirty="0">
                <a:solidFill>
                  <a:srgbClr val="1A2733"/>
                </a:solidFill>
                <a:latin typeface="Arial" pitchFamily="34" charset="0"/>
                <a:ea typeface="Arial" pitchFamily="34" charset="-122"/>
                <a:cs typeface="Arial" pitchFamily="34" charset="-120"/>
              </a:rPr>
              <a:t>Không cần mạng sau khi đã mở — tiết 3 lên máy sẽ dùng suốt 50 phút</a:t>
            </a:r>
            <a:endParaRPr lang="en-US" sz="920" dirty="0"/>
          </a:p>
          <a:p>
            <a:pPr indent="0" marL="0">
              <a:lnSpc>
                <a:spcPct val="108000"/>
              </a:lnSpc>
              <a:buNone/>
            </a:pPr>
            <a:r>
              <a:rPr lang="en-US" sz="840" dirty="0">
                <a:solidFill>
                  <a:srgbClr val="5F7183"/>
                </a:solidFill>
                <a:latin typeface="微軟正黑體" pitchFamily="34" charset="0"/>
                <a:ea typeface="微軟正黑體" pitchFamily="34" charset="-122"/>
                <a:cs typeface="微軟正黑體" pitchFamily="34" charset="-120"/>
              </a:rPr>
              <a:t>打開之後不需要網路——第三節上機會用它整整 50 分鐘</a:t>
            </a:r>
            <a:endParaRPr lang="en-US" sz="920" dirty="0"/>
          </a:p>
        </p:txBody>
      </p:sp>
      <p:sp>
        <p:nvSpPr>
          <p:cNvPr id="17" name="Shape 14"/>
          <p:cNvSpPr/>
          <p:nvPr/>
        </p:nvSpPr>
        <p:spPr>
          <a:xfrm>
            <a:off x="1328680" y="3119418"/>
            <a:ext cx="6486641" cy="481032"/>
          </a:xfrm>
          <a:prstGeom prst="roundRect">
            <a:avLst>
              <a:gd name="adj" fmla="val 13636"/>
            </a:avLst>
          </a:prstGeom>
          <a:solidFill>
            <a:srgbClr val="FFF6E3"/>
          </a:solidFill>
          <a:ln w="12700">
            <a:solidFill>
              <a:srgbClr val="FFB020"/>
            </a:solidFill>
            <a:prstDash val="solid"/>
          </a:ln>
        </p:spPr>
      </p:sp>
      <p:sp>
        <p:nvSpPr>
          <p:cNvPr id="18" name="Text 15"/>
          <p:cNvSpPr txBox="1"/>
          <p:nvPr/>
        </p:nvSpPr>
        <p:spPr>
          <a:xfrm>
            <a:off x="1474447" y="3170437"/>
            <a:ext cx="6195106" cy="393571"/>
          </a:xfrm>
          <a:prstGeom prst="rect">
            <a:avLst/>
          </a:prstGeom>
          <a:noFill/>
          <a:ln/>
        </p:spPr>
        <p:txBody>
          <a:bodyPr wrap="square" lIns="0" tIns="0" rIns="0" bIns="0" rtlCol="0" anchor="t"/>
          <a:lstStyle/>
          <a:p>
            <a:pPr indent="0" marL="0">
              <a:lnSpc>
                <a:spcPct val="114000"/>
              </a:lnSpc>
              <a:buNone/>
            </a:pPr>
            <a:r>
              <a:rPr lang="en-US" sz="960" b="1" dirty="0">
                <a:solidFill>
                  <a:srgbClr val="7A4E00"/>
                </a:solidFill>
                <a:latin typeface="Arial" pitchFamily="34" charset="0"/>
                <a:ea typeface="Arial" pitchFamily="34" charset="-122"/>
                <a:cs typeface="Arial" pitchFamily="34" charset="-120"/>
              </a:rPr>
              <a:t>Đây là mô phỏng của tuần trước, có thêm một nút mới mà cuối buổi ta sẽ dùng tới.</a:t>
            </a:r>
            <a:endParaRPr lang="en-US" sz="960" dirty="0"/>
          </a:p>
          <a:p>
            <a:pPr indent="0" marL="0">
              <a:lnSpc>
                <a:spcPct val="114000"/>
              </a:lnSpc>
              <a:buNone/>
            </a:pPr>
            <a:r>
              <a:rPr lang="en-US" sz="880" dirty="0">
                <a:solidFill>
                  <a:srgbClr val="7A4E00"/>
                </a:solidFill>
                <a:latin typeface="微軟正黑體" pitchFamily="34" charset="0"/>
                <a:ea typeface="微軟正黑體" pitchFamily="34" charset="-122"/>
                <a:cs typeface="微軟正黑體" pitchFamily="34" charset="-120"/>
              </a:rPr>
              <a:t>就是上週那個模擬器，多了一個按鈕，今天最後會用到。</a:t>
            </a:r>
            <a:endParaRPr lang="en-US" sz="960" dirty="0"/>
          </a:p>
        </p:txBody>
      </p:sp>
      <p:pic>
        <p:nvPicPr>
          <p:cNvPr id="20" name="Image 1" descr="/Users/tsengchenghsun/Class/carClass/Claude outputs/第四週(10-1)/src/logo.png">    </p:cNvPr>
          <p:cNvPicPr>
            <a:picLocks noChangeAspect="1"/>
          </p:cNvPicPr>
          <p:nvPr/>
        </p:nvPicPr>
        <p:blipFill>
          <a:blip r:embed="rId2"/>
          <a:stretch>
            <a:fillRect/>
          </a:stretch>
        </p:blipFill>
        <p:spPr>
          <a:xfrm>
            <a:off x="7882128" y="109728"/>
            <a:ext cx="1097280" cy="242439"/>
          </a:xfrm>
          <a:prstGeom prst="rect">
            <a:avLst/>
          </a:prstGeom>
        </p:spPr>
      </p:pic>
      <p:sp>
        <p:nvSpPr>
          <p:cNvPr id="21" name="Text 16"/>
          <p:cNvSpPr txBox="1"/>
          <p:nvPr/>
        </p:nvSpPr>
        <p:spPr>
          <a:xfrm>
            <a:off x="1015280" y="102037"/>
            <a:ext cx="655952" cy="204074"/>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2 / 18</a:t>
            </a:r>
            <a:endParaRPr lang="en-US" sz="720" dirty="0"/>
          </a:p>
        </p:txBody>
      </p:sp>
      <p:sp>
        <p:nvSpPr>
          <p:cNvPr id="22" name="Text 17"/>
          <p:cNvSpPr txBox="1"/>
          <p:nvPr/>
        </p:nvSpPr>
        <p:spPr>
          <a:xfrm>
            <a:off x="1693098" y="102037"/>
            <a:ext cx="1603439" cy="204074"/>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Tiết 1 · 第 1 節</a:t>
            </a:r>
            <a:endParaRPr lang="en-US" sz="7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F3A"/>
        </a:solidFill>
      </p:bgPr>
    </p:bg>
    <p:spTree>
      <p:nvGrpSpPr>
        <p:cNvPr id="1" name=""/>
        <p:cNvGrpSpPr/>
        <p:nvPr/>
      </p:nvGrpSpPr>
      <p:grpSpPr>
        <a:xfrm>
          <a:off x="898071" y="0"/>
          <a:ext cx="1" cy="1"/>
          <a:chOff x="0" y="0"/>
          <a:chExt cx="0" cy="0"/>
        </a:xfrm>
      </p:grpSpPr>
      <p:sp>
        <p:nvSpPr>
          <p:cNvPr id="2" name="Shape 0"/>
          <p:cNvSpPr/>
          <p:nvPr/>
        </p:nvSpPr>
        <p:spPr>
          <a:xfrm>
            <a:off x="6335486" y="-1102179"/>
            <a:ext cx="3380014" cy="3380014"/>
          </a:xfrm>
          <a:prstGeom prst="ellipse">
            <a:avLst/>
          </a:prstGeom>
          <a:solidFill>
            <a:srgbClr val="13314F"/>
          </a:solidFill>
          <a:ln w="12700">
            <a:solidFill>
              <a:srgbClr val="13314F"/>
            </a:solidFill>
            <a:prstDash val="solid"/>
          </a:ln>
        </p:spPr>
      </p:sp>
      <p:sp>
        <p:nvSpPr>
          <p:cNvPr id="3" name="Shape 1"/>
          <p:cNvSpPr/>
          <p:nvPr/>
        </p:nvSpPr>
        <p:spPr>
          <a:xfrm>
            <a:off x="7437664" y="1690007"/>
            <a:ext cx="1910443" cy="1910443"/>
          </a:xfrm>
          <a:prstGeom prst="ellipse">
            <a:avLst/>
          </a:prstGeom>
          <a:solidFill>
            <a:srgbClr val="007F72">
              <a:alpha val="28000"/>
            </a:srgbClr>
          </a:solidFill>
          <a:ln/>
        </p:spPr>
      </p:sp>
      <p:sp>
        <p:nvSpPr>
          <p:cNvPr id="4" name="Text 2"/>
          <p:cNvSpPr txBox="1"/>
          <p:nvPr/>
        </p:nvSpPr>
        <p:spPr>
          <a:xfrm>
            <a:off x="1302204" y="1359354"/>
            <a:ext cx="3673929" cy="249827"/>
          </a:xfrm>
          <a:prstGeom prst="rect">
            <a:avLst/>
          </a:prstGeom>
          <a:noFill/>
          <a:ln/>
        </p:spPr>
        <p:txBody>
          <a:bodyPr wrap="square" lIns="0" tIns="0" rIns="0" bIns="0" rtlCol="0" anchor="ctr"/>
          <a:lstStyle/>
          <a:p>
            <a:pPr indent="0" marL="0">
              <a:buNone/>
            </a:pPr>
            <a:endParaRPr lang="en-US" sz="1080" dirty="0"/>
          </a:p>
        </p:txBody>
      </p:sp>
      <p:sp>
        <p:nvSpPr>
          <p:cNvPr id="5" name="Text 3"/>
          <p:cNvSpPr txBox="1"/>
          <p:nvPr/>
        </p:nvSpPr>
        <p:spPr>
          <a:xfrm>
            <a:off x="1302204" y="1645920"/>
            <a:ext cx="5878286" cy="955221"/>
          </a:xfrm>
          <a:prstGeom prst="rect">
            <a:avLst/>
          </a:prstGeom>
          <a:noFill/>
          <a:ln/>
        </p:spPr>
        <p:txBody>
          <a:bodyPr wrap="square" lIns="0" tIns="0" rIns="0" bIns="0" rtlCol="0" anchor="t"/>
          <a:lstStyle/>
          <a:p>
            <a:pPr indent="0" marL="0">
              <a:lnSpc>
                <a:spcPct val="118000"/>
              </a:lnSpc>
              <a:buNone/>
            </a:pPr>
            <a:r>
              <a:rPr lang="en-US" sz="2330" b="1" dirty="0">
                <a:solidFill>
                  <a:srgbClr val="FFFFFF"/>
                </a:solidFill>
                <a:latin typeface="Arial" pitchFamily="34" charset="0"/>
                <a:ea typeface="Arial" pitchFamily="34" charset="-122"/>
                <a:cs typeface="Arial" pitchFamily="34" charset="-120"/>
              </a:rPr>
              <a:t>Ba thanh trượt, ba thông số thật</a:t>
            </a:r>
            <a:endParaRPr lang="en-US" sz="2330" dirty="0"/>
          </a:p>
          <a:p>
            <a:pPr indent="0" marL="0">
              <a:lnSpc>
                <a:spcPct val="118000"/>
              </a:lnSpc>
              <a:buNone/>
            </a:pPr>
            <a:r>
              <a:rPr lang="en-US" sz="1370" dirty="0">
                <a:solidFill>
                  <a:srgbClr val="AFC3D4"/>
                </a:solidFill>
                <a:latin typeface="微軟正黑體" pitchFamily="34" charset="0"/>
                <a:ea typeface="微軟正黑體" pitchFamily="34" charset="-122"/>
                <a:cs typeface="微軟正黑體" pitchFamily="34" charset="-120"/>
              </a:rPr>
              <a:t>三個滑桿，三個真的規格</a:t>
            </a:r>
            <a:endParaRPr lang="en-US" sz="2330" dirty="0"/>
          </a:p>
        </p:txBody>
      </p:sp>
      <p:sp>
        <p:nvSpPr>
          <p:cNvPr id="7" name="Text 4"/>
          <p:cNvSpPr txBox="1"/>
          <p:nvPr/>
        </p:nvSpPr>
        <p:spPr>
          <a:xfrm>
            <a:off x="986246" y="102870"/>
            <a:ext cx="661307" cy="205740"/>
          </a:xfrm>
          <a:prstGeom prst="rect">
            <a:avLst/>
          </a:prstGeom>
          <a:noFill/>
          <a:ln/>
        </p:spPr>
        <p:txBody>
          <a:bodyPr wrap="square" lIns="0" tIns="0" rIns="0" bIns="0" rtlCol="0" anchor="ctr"/>
          <a:lstStyle/>
          <a:p>
            <a:pPr indent="0" marL="0">
              <a:buNone/>
            </a:pPr>
            <a:r>
              <a:rPr lang="en-US" sz="720" dirty="0">
                <a:solidFill>
                  <a:srgbClr val="9FB3C8"/>
                </a:solidFill>
                <a:latin typeface="Arial" pitchFamily="34" charset="0"/>
                <a:ea typeface="Arial" pitchFamily="34" charset="-122"/>
                <a:cs typeface="Arial" pitchFamily="34" charset="-120"/>
              </a:rPr>
              <a:t>3 / 18</a:t>
            </a:r>
            <a:endParaRPr lang="en-US" sz="720" dirty="0"/>
          </a:p>
        </p:txBody>
      </p:sp>
      <p:sp>
        <p:nvSpPr>
          <p:cNvPr id="8" name="Text 5"/>
          <p:cNvSpPr txBox="1"/>
          <p:nvPr/>
        </p:nvSpPr>
        <p:spPr>
          <a:xfrm>
            <a:off x="1669596" y="102870"/>
            <a:ext cx="1616529" cy="205740"/>
          </a:xfrm>
          <a:prstGeom prst="rect">
            <a:avLst/>
          </a:prstGeom>
          <a:noFill/>
          <a:ln/>
        </p:spPr>
        <p:txBody>
          <a:bodyPr wrap="square" lIns="0" tIns="0" rIns="0" bIns="0" rtlCol="0" anchor="ctr"/>
          <a:lstStyle/>
          <a:p>
            <a:pPr indent="0" marL="0">
              <a:buNone/>
            </a:pPr>
            <a:r>
              <a:rPr lang="en-US" sz="720" dirty="0">
                <a:solidFill>
                  <a:srgbClr val="9FB3C8"/>
                </a:solidFill>
                <a:latin typeface="Arial" pitchFamily="34" charset="0"/>
                <a:ea typeface="Arial" pitchFamily="34" charset="-122"/>
                <a:cs typeface="Arial" pitchFamily="34" charset="-120"/>
              </a:rPr>
              <a:t>Tiết 1 · 第 1 節</a:t>
            </a:r>
            <a:endParaRPr lang="en-US" sz="7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913006" y="0"/>
          <a:ext cx="1" cy="1"/>
          <a:chOff x="0" y="0"/>
          <a:chExt cx="0" cy="0"/>
        </a:xfrm>
      </p:grpSpPr>
      <p:sp>
        <p:nvSpPr>
          <p:cNvPr id="2" name="Text 0"/>
          <p:cNvSpPr txBox="1"/>
          <p:nvPr/>
        </p:nvSpPr>
        <p:spPr>
          <a:xfrm>
            <a:off x="1315495" y="292720"/>
            <a:ext cx="6513009" cy="219540"/>
          </a:xfrm>
          <a:prstGeom prst="rect">
            <a:avLst/>
          </a:prstGeom>
          <a:noFill/>
          <a:ln/>
        </p:spPr>
        <p:txBody>
          <a:bodyPr wrap="square" lIns="0" tIns="0" rIns="0" bIns="0" rtlCol="0" anchor="ctr"/>
          <a:lstStyle/>
          <a:p>
            <a:pPr indent="0" marL="0">
              <a:buNone/>
            </a:pPr>
            <a:r>
              <a:rPr lang="en-US" sz="1040" b="1" dirty="0">
                <a:solidFill>
                  <a:srgbClr val="007F72"/>
                </a:solidFill>
                <a:latin typeface="Arial" pitchFamily="34" charset="0"/>
                <a:ea typeface="Arial" pitchFamily="34" charset="-122"/>
                <a:cs typeface="Arial" pitchFamily="34" charset="-120"/>
              </a:rPr>
              <a:t>1 / 3　Số tia · 射線數</a:t>
            </a:r>
            <a:endParaRPr lang="en-US" sz="1040" dirty="0"/>
          </a:p>
        </p:txBody>
      </p:sp>
      <p:sp>
        <p:nvSpPr>
          <p:cNvPr id="3" name="Shape 1"/>
          <p:cNvSpPr/>
          <p:nvPr/>
        </p:nvSpPr>
        <p:spPr>
          <a:xfrm>
            <a:off x="1315495" y="702527"/>
            <a:ext cx="1185514" cy="1536777"/>
          </a:xfrm>
          <a:prstGeom prst="roundRect">
            <a:avLst>
              <a:gd name="adj" fmla="val 7407"/>
            </a:avLst>
          </a:prstGeom>
          <a:solidFill>
            <a:srgbClr val="F4F7FA"/>
          </a:solidFill>
          <a:ln w="12700">
            <a:solidFill>
              <a:srgbClr val="DBE3EA"/>
            </a:solidFill>
            <a:prstDash val="solid"/>
          </a:ln>
        </p:spPr>
      </p:sp>
      <p:sp>
        <p:nvSpPr>
          <p:cNvPr id="4" name="Shape 2"/>
          <p:cNvSpPr/>
          <p:nvPr/>
        </p:nvSpPr>
        <p:spPr>
          <a:xfrm flipV="1">
            <a:off x="1617290" y="902752"/>
            <a:ext cx="523032" cy="255100"/>
          </a:xfrm>
          <a:prstGeom prst="line">
            <a:avLst/>
          </a:prstGeom>
          <a:noFill/>
          <a:ln w="13970">
            <a:solidFill>
              <a:srgbClr val="2E6E4E"/>
            </a:solidFill>
            <a:prstDash val="solid"/>
          </a:ln>
        </p:spPr>
      </p:sp>
      <p:sp>
        <p:nvSpPr>
          <p:cNvPr id="5" name="Shape 3"/>
          <p:cNvSpPr/>
          <p:nvPr/>
        </p:nvSpPr>
        <p:spPr>
          <a:xfrm flipV="1">
            <a:off x="1617290" y="1070164"/>
            <a:ext cx="575282" cy="87688"/>
          </a:xfrm>
          <a:prstGeom prst="line">
            <a:avLst/>
          </a:prstGeom>
          <a:noFill/>
          <a:ln w="13970">
            <a:solidFill>
              <a:srgbClr val="2E6E4E"/>
            </a:solidFill>
            <a:prstDash val="solid"/>
          </a:ln>
        </p:spPr>
      </p:sp>
      <p:sp>
        <p:nvSpPr>
          <p:cNvPr id="6" name="Shape 4"/>
          <p:cNvSpPr/>
          <p:nvPr/>
        </p:nvSpPr>
        <p:spPr>
          <a:xfrm>
            <a:off x="1617290" y="1157852"/>
            <a:ext cx="575282" cy="87688"/>
          </a:xfrm>
          <a:prstGeom prst="line">
            <a:avLst/>
          </a:prstGeom>
          <a:noFill/>
          <a:ln w="13970">
            <a:solidFill>
              <a:srgbClr val="2E6E4E"/>
            </a:solidFill>
            <a:prstDash val="solid"/>
          </a:ln>
        </p:spPr>
      </p:sp>
      <p:sp>
        <p:nvSpPr>
          <p:cNvPr id="7" name="Shape 5"/>
          <p:cNvSpPr/>
          <p:nvPr/>
        </p:nvSpPr>
        <p:spPr>
          <a:xfrm>
            <a:off x="1617290" y="1157852"/>
            <a:ext cx="523032" cy="255100"/>
          </a:xfrm>
          <a:prstGeom prst="line">
            <a:avLst/>
          </a:prstGeom>
          <a:noFill/>
          <a:ln w="13970">
            <a:solidFill>
              <a:srgbClr val="2E6E4E"/>
            </a:solidFill>
            <a:prstDash val="solid"/>
          </a:ln>
        </p:spPr>
      </p:sp>
      <p:sp>
        <p:nvSpPr>
          <p:cNvPr id="8" name="Shape 6"/>
          <p:cNvSpPr/>
          <p:nvPr/>
        </p:nvSpPr>
        <p:spPr>
          <a:xfrm>
            <a:off x="1588193" y="1128756"/>
            <a:ext cx="58193" cy="58193"/>
          </a:xfrm>
          <a:prstGeom prst="ellipse">
            <a:avLst/>
          </a:prstGeom>
          <a:solidFill>
            <a:srgbClr val="2E6E4E"/>
          </a:solidFill>
          <a:ln/>
        </p:spPr>
      </p:sp>
      <p:sp>
        <p:nvSpPr>
          <p:cNvPr id="9" name="Shape 7"/>
          <p:cNvSpPr/>
          <p:nvPr/>
        </p:nvSpPr>
        <p:spPr>
          <a:xfrm>
            <a:off x="2047707" y="1111090"/>
            <a:ext cx="93524" cy="93524"/>
          </a:xfrm>
          <a:prstGeom prst="roundRect">
            <a:avLst>
              <a:gd name="adj" fmla="val 22222"/>
            </a:avLst>
          </a:prstGeom>
          <a:solidFill>
            <a:srgbClr val="D9463E"/>
          </a:solidFill>
          <a:ln/>
        </p:spPr>
      </p:sp>
      <p:sp>
        <p:nvSpPr>
          <p:cNvPr id="10" name="Text 8"/>
          <p:cNvSpPr txBox="1"/>
          <p:nvPr/>
        </p:nvSpPr>
        <p:spPr>
          <a:xfrm>
            <a:off x="1388675" y="1021737"/>
            <a:ext cx="207831" cy="272229"/>
          </a:xfrm>
          <a:prstGeom prst="rect">
            <a:avLst/>
          </a:prstGeom>
          <a:noFill/>
          <a:ln/>
        </p:spPr>
        <p:txBody>
          <a:bodyPr wrap="square" lIns="0" tIns="0" rIns="0" bIns="0" rtlCol="0" anchor="ctr"/>
          <a:lstStyle/>
          <a:p>
            <a:pPr algn="ctr" indent="0" marL="0">
              <a:buNone/>
            </a:pPr>
            <a:r>
              <a:rPr lang="en-US" sz="560" b="1" dirty="0">
                <a:solidFill>
                  <a:srgbClr val="2E6E4E"/>
                </a:solidFill>
                <a:latin typeface="Arial" pitchFamily="34" charset="0"/>
                <a:ea typeface="Arial" pitchFamily="34" charset="-122"/>
                <a:cs typeface="Arial" pitchFamily="34" charset="-120"/>
              </a:rPr>
              <a:t>4 條</a:t>
            </a:r>
            <a:endParaRPr lang="en-US" sz="560" dirty="0"/>
          </a:p>
        </p:txBody>
      </p:sp>
      <p:sp>
        <p:nvSpPr>
          <p:cNvPr id="11" name="Text 9"/>
          <p:cNvSpPr txBox="1"/>
          <p:nvPr/>
        </p:nvSpPr>
        <p:spPr>
          <a:xfrm>
            <a:off x="2125643" y="1035349"/>
            <a:ext cx="249397" cy="245006"/>
          </a:xfrm>
          <a:prstGeom prst="rect">
            <a:avLst/>
          </a:prstGeom>
          <a:noFill/>
          <a:ln/>
        </p:spPr>
        <p:txBody>
          <a:bodyPr wrap="square" lIns="0" tIns="0" rIns="0" bIns="0" rtlCol="0" anchor="ctr"/>
          <a:lstStyle/>
          <a:p>
            <a:pPr algn="l" indent="0" marL="0">
              <a:buNone/>
            </a:pPr>
            <a:r>
              <a:rPr lang="en-US" sz="560" b="1" dirty="0">
                <a:solidFill>
                  <a:srgbClr val="D9463E"/>
                </a:solidFill>
                <a:latin typeface="Arial" pitchFamily="34" charset="0"/>
                <a:ea typeface="Arial" pitchFamily="34" charset="-122"/>
                <a:cs typeface="Arial" pitchFamily="34" charset="-120"/>
              </a:rPr>
              <a:t>漏掉</a:t>
            </a:r>
            <a:endParaRPr lang="en-US" sz="560" dirty="0"/>
          </a:p>
        </p:txBody>
      </p:sp>
      <p:sp>
        <p:nvSpPr>
          <p:cNvPr id="12" name="Shape 10"/>
          <p:cNvSpPr/>
          <p:nvPr/>
        </p:nvSpPr>
        <p:spPr>
          <a:xfrm flipV="1">
            <a:off x="1617290" y="1528879"/>
            <a:ext cx="523032" cy="255100"/>
          </a:xfrm>
          <a:prstGeom prst="line">
            <a:avLst/>
          </a:prstGeom>
          <a:noFill/>
          <a:ln w="13970">
            <a:solidFill>
              <a:srgbClr val="2E6E4E"/>
            </a:solidFill>
            <a:prstDash val="solid"/>
          </a:ln>
        </p:spPr>
      </p:sp>
      <p:sp>
        <p:nvSpPr>
          <p:cNvPr id="13" name="Shape 11"/>
          <p:cNvSpPr/>
          <p:nvPr/>
        </p:nvSpPr>
        <p:spPr>
          <a:xfrm flipV="1">
            <a:off x="1617290" y="1589728"/>
            <a:ext cx="548548" cy="194251"/>
          </a:xfrm>
          <a:prstGeom prst="line">
            <a:avLst/>
          </a:prstGeom>
          <a:noFill/>
          <a:ln w="13970">
            <a:solidFill>
              <a:srgbClr val="2E6E4E"/>
            </a:solidFill>
            <a:prstDash val="solid"/>
          </a:ln>
        </p:spPr>
      </p:sp>
      <p:sp>
        <p:nvSpPr>
          <p:cNvPr id="14" name="Shape 12"/>
          <p:cNvSpPr/>
          <p:nvPr/>
        </p:nvSpPr>
        <p:spPr>
          <a:xfrm flipV="1">
            <a:off x="1617290" y="1653074"/>
            <a:ext cx="567012" cy="130905"/>
          </a:xfrm>
          <a:prstGeom prst="line">
            <a:avLst/>
          </a:prstGeom>
          <a:noFill/>
          <a:ln w="13970">
            <a:solidFill>
              <a:srgbClr val="2E6E4E"/>
            </a:solidFill>
            <a:prstDash val="solid"/>
          </a:ln>
        </p:spPr>
      </p:sp>
      <p:sp>
        <p:nvSpPr>
          <p:cNvPr id="15" name="Shape 13"/>
          <p:cNvSpPr/>
          <p:nvPr/>
        </p:nvSpPr>
        <p:spPr>
          <a:xfrm flipV="1">
            <a:off x="1617290" y="1718103"/>
            <a:ext cx="578186" cy="65876"/>
          </a:xfrm>
          <a:prstGeom prst="line">
            <a:avLst/>
          </a:prstGeom>
          <a:noFill/>
          <a:ln w="13970">
            <a:solidFill>
              <a:srgbClr val="2E6E4E"/>
            </a:solidFill>
            <a:prstDash val="solid"/>
          </a:ln>
        </p:spPr>
      </p:sp>
      <p:sp>
        <p:nvSpPr>
          <p:cNvPr id="16" name="Shape 14"/>
          <p:cNvSpPr/>
          <p:nvPr/>
        </p:nvSpPr>
        <p:spPr>
          <a:xfrm>
            <a:off x="1617290" y="1783979"/>
            <a:ext cx="581926" cy="1"/>
          </a:xfrm>
          <a:prstGeom prst="line">
            <a:avLst/>
          </a:prstGeom>
          <a:noFill/>
          <a:ln w="13970">
            <a:solidFill>
              <a:srgbClr val="2E6E4E"/>
            </a:solidFill>
            <a:prstDash val="solid"/>
          </a:ln>
        </p:spPr>
      </p:sp>
      <p:sp>
        <p:nvSpPr>
          <p:cNvPr id="17" name="Shape 15"/>
          <p:cNvSpPr/>
          <p:nvPr/>
        </p:nvSpPr>
        <p:spPr>
          <a:xfrm>
            <a:off x="1617290" y="1783979"/>
            <a:ext cx="578186" cy="65876"/>
          </a:xfrm>
          <a:prstGeom prst="line">
            <a:avLst/>
          </a:prstGeom>
          <a:noFill/>
          <a:ln w="13970">
            <a:solidFill>
              <a:srgbClr val="2E6E4E"/>
            </a:solidFill>
            <a:prstDash val="solid"/>
          </a:ln>
        </p:spPr>
      </p:sp>
      <p:sp>
        <p:nvSpPr>
          <p:cNvPr id="18" name="Shape 16"/>
          <p:cNvSpPr/>
          <p:nvPr/>
        </p:nvSpPr>
        <p:spPr>
          <a:xfrm>
            <a:off x="1617290" y="1783979"/>
            <a:ext cx="567012" cy="130905"/>
          </a:xfrm>
          <a:prstGeom prst="line">
            <a:avLst/>
          </a:prstGeom>
          <a:noFill/>
          <a:ln w="13970">
            <a:solidFill>
              <a:srgbClr val="2E6E4E"/>
            </a:solidFill>
            <a:prstDash val="solid"/>
          </a:ln>
        </p:spPr>
      </p:sp>
      <p:sp>
        <p:nvSpPr>
          <p:cNvPr id="19" name="Shape 17"/>
          <p:cNvSpPr/>
          <p:nvPr/>
        </p:nvSpPr>
        <p:spPr>
          <a:xfrm>
            <a:off x="1617290" y="1783979"/>
            <a:ext cx="548548" cy="194251"/>
          </a:xfrm>
          <a:prstGeom prst="line">
            <a:avLst/>
          </a:prstGeom>
          <a:noFill/>
          <a:ln w="13970">
            <a:solidFill>
              <a:srgbClr val="2E6E4E"/>
            </a:solidFill>
            <a:prstDash val="solid"/>
          </a:ln>
        </p:spPr>
      </p:sp>
      <p:sp>
        <p:nvSpPr>
          <p:cNvPr id="20" name="Shape 18"/>
          <p:cNvSpPr/>
          <p:nvPr/>
        </p:nvSpPr>
        <p:spPr>
          <a:xfrm>
            <a:off x="1617290" y="1783979"/>
            <a:ext cx="523032" cy="255100"/>
          </a:xfrm>
          <a:prstGeom prst="line">
            <a:avLst/>
          </a:prstGeom>
          <a:noFill/>
          <a:ln w="13970">
            <a:solidFill>
              <a:srgbClr val="2E6E4E"/>
            </a:solidFill>
            <a:prstDash val="solid"/>
          </a:ln>
        </p:spPr>
      </p:sp>
      <p:sp>
        <p:nvSpPr>
          <p:cNvPr id="21" name="Shape 19"/>
          <p:cNvSpPr/>
          <p:nvPr/>
        </p:nvSpPr>
        <p:spPr>
          <a:xfrm>
            <a:off x="1588193" y="1754883"/>
            <a:ext cx="58193" cy="58193"/>
          </a:xfrm>
          <a:prstGeom prst="ellipse">
            <a:avLst/>
          </a:prstGeom>
          <a:solidFill>
            <a:srgbClr val="2E6E4E"/>
          </a:solidFill>
          <a:ln/>
        </p:spPr>
      </p:sp>
      <p:sp>
        <p:nvSpPr>
          <p:cNvPr id="22" name="Shape 20"/>
          <p:cNvSpPr/>
          <p:nvPr/>
        </p:nvSpPr>
        <p:spPr>
          <a:xfrm>
            <a:off x="2047707" y="1737217"/>
            <a:ext cx="93524" cy="93524"/>
          </a:xfrm>
          <a:prstGeom prst="roundRect">
            <a:avLst>
              <a:gd name="adj" fmla="val 22222"/>
            </a:avLst>
          </a:prstGeom>
          <a:solidFill>
            <a:srgbClr val="2E9E6B"/>
          </a:solidFill>
          <a:ln/>
        </p:spPr>
      </p:sp>
      <p:sp>
        <p:nvSpPr>
          <p:cNvPr id="23" name="Text 21"/>
          <p:cNvSpPr txBox="1"/>
          <p:nvPr/>
        </p:nvSpPr>
        <p:spPr>
          <a:xfrm>
            <a:off x="1388675" y="1647865"/>
            <a:ext cx="207831" cy="272229"/>
          </a:xfrm>
          <a:prstGeom prst="rect">
            <a:avLst/>
          </a:prstGeom>
          <a:noFill/>
          <a:ln/>
        </p:spPr>
        <p:txBody>
          <a:bodyPr wrap="square" lIns="0" tIns="0" rIns="0" bIns="0" rtlCol="0" anchor="ctr"/>
          <a:lstStyle/>
          <a:p>
            <a:pPr algn="ctr" indent="0" marL="0">
              <a:buNone/>
            </a:pPr>
            <a:r>
              <a:rPr lang="en-US" sz="560" b="1" dirty="0">
                <a:solidFill>
                  <a:srgbClr val="2E6E4E"/>
                </a:solidFill>
                <a:latin typeface="Arial" pitchFamily="34" charset="0"/>
                <a:ea typeface="Arial" pitchFamily="34" charset="-122"/>
                <a:cs typeface="Arial" pitchFamily="34" charset="-120"/>
              </a:rPr>
              <a:t>9 條</a:t>
            </a:r>
            <a:endParaRPr lang="en-US" sz="560" dirty="0"/>
          </a:p>
        </p:txBody>
      </p:sp>
      <p:sp>
        <p:nvSpPr>
          <p:cNvPr id="24" name="Text 22"/>
          <p:cNvSpPr txBox="1"/>
          <p:nvPr/>
        </p:nvSpPr>
        <p:spPr>
          <a:xfrm>
            <a:off x="2125643" y="1661476"/>
            <a:ext cx="249397" cy="245006"/>
          </a:xfrm>
          <a:prstGeom prst="rect">
            <a:avLst/>
          </a:prstGeom>
          <a:noFill/>
          <a:ln/>
        </p:spPr>
        <p:txBody>
          <a:bodyPr wrap="square" lIns="0" tIns="0" rIns="0" bIns="0" rtlCol="0" anchor="ctr"/>
          <a:lstStyle/>
          <a:p>
            <a:pPr algn="l" indent="0" marL="0">
              <a:buNone/>
            </a:pPr>
            <a:r>
              <a:rPr lang="en-US" sz="560" b="1" dirty="0">
                <a:solidFill>
                  <a:srgbClr val="2E9E6B"/>
                </a:solidFill>
                <a:latin typeface="Arial" pitchFamily="34" charset="0"/>
                <a:ea typeface="Arial" pitchFamily="34" charset="-122"/>
                <a:cs typeface="Arial" pitchFamily="34" charset="-120"/>
              </a:rPr>
              <a:t>打到</a:t>
            </a:r>
            <a:endParaRPr lang="en-US" sz="560" dirty="0"/>
          </a:p>
        </p:txBody>
      </p:sp>
      <p:sp>
        <p:nvSpPr>
          <p:cNvPr id="25" name="Text 23"/>
          <p:cNvSpPr txBox="1"/>
          <p:nvPr/>
        </p:nvSpPr>
        <p:spPr>
          <a:xfrm>
            <a:off x="2749821" y="629347"/>
            <a:ext cx="5078684" cy="630220"/>
          </a:xfrm>
          <a:prstGeom prst="rect">
            <a:avLst/>
          </a:prstGeom>
          <a:noFill/>
          <a:ln/>
        </p:spPr>
        <p:txBody>
          <a:bodyPr wrap="square" lIns="0" tIns="0" rIns="0" bIns="0" rtlCol="0" anchor="t"/>
          <a:lstStyle/>
          <a:p>
            <a:pPr indent="0" marL="0">
              <a:lnSpc>
                <a:spcPct val="116000"/>
              </a:lnSpc>
              <a:buNone/>
            </a:pPr>
            <a:r>
              <a:rPr lang="en-US" sz="1440" b="1" dirty="0">
                <a:solidFill>
                  <a:srgbClr val="0B1F3A"/>
                </a:solidFill>
                <a:latin typeface="Arial" pitchFamily="34" charset="0"/>
                <a:ea typeface="Arial" pitchFamily="34" charset="-122"/>
                <a:cs typeface="Arial" pitchFamily="34" charset="-120"/>
              </a:rPr>
              <a:t>Số tia = độ phân giải: cùng một góc nhìn, chia được thành bao nhiêu hướng</a:t>
            </a:r>
            <a:endParaRPr lang="en-US" sz="1440" dirty="0"/>
          </a:p>
          <a:p>
            <a:pPr indent="0" marL="0">
              <a:lnSpc>
                <a:spcPct val="116000"/>
              </a:lnSpc>
              <a:buNone/>
            </a:pPr>
            <a:r>
              <a:rPr lang="en-US" sz="1000" dirty="0">
                <a:solidFill>
                  <a:srgbClr val="007F72"/>
                </a:solidFill>
                <a:latin typeface="微軟正黑體" pitchFamily="34" charset="0"/>
                <a:ea typeface="微軟正黑體" pitchFamily="34" charset="-122"/>
                <a:cs typeface="微軟正黑體" pitchFamily="34" charset="-120"/>
              </a:rPr>
              <a:t>射線數 ＝ 解析度：同樣的視野，切成幾個方向去看</a:t>
            </a:r>
            <a:endParaRPr lang="en-US" sz="1440" dirty="0"/>
          </a:p>
        </p:txBody>
      </p:sp>
      <p:sp>
        <p:nvSpPr>
          <p:cNvPr id="26" name="Shape 24"/>
          <p:cNvSpPr/>
          <p:nvPr/>
        </p:nvSpPr>
        <p:spPr>
          <a:xfrm>
            <a:off x="2749821" y="1332747"/>
            <a:ext cx="848887" cy="320216"/>
          </a:xfrm>
          <a:prstGeom prst="roundRect">
            <a:avLst>
              <a:gd name="adj" fmla="val 13712"/>
            </a:avLst>
          </a:prstGeom>
          <a:solidFill>
            <a:srgbClr val="0B1F3A"/>
          </a:solidFill>
          <a:ln/>
        </p:spPr>
      </p:sp>
      <p:sp>
        <p:nvSpPr>
          <p:cNvPr id="27" name="Text 25"/>
          <p:cNvSpPr txBox="1"/>
          <p:nvPr/>
        </p:nvSpPr>
        <p:spPr>
          <a:xfrm>
            <a:off x="2793729" y="1362019"/>
            <a:ext cx="761071" cy="276308"/>
          </a:xfrm>
          <a:prstGeom prst="rect">
            <a:avLst/>
          </a:prstGeom>
          <a:noFill/>
          <a:ln/>
        </p:spPr>
        <p:txBody>
          <a:bodyPr wrap="square" lIns="0" tIns="0" rIns="0" bIns="0" rtlCol="0" anchor="t"/>
          <a:lstStyle/>
          <a:p>
            <a:pPr algn="ctr" indent="0" marL="0">
              <a:lnSpc>
                <a:spcPct val="106000"/>
              </a:lnSpc>
              <a:buNone/>
            </a:pPr>
            <a:r>
              <a:rPr lang="en-US" sz="720" b="1" dirty="0">
                <a:solidFill>
                  <a:srgbClr val="FFFFFF"/>
                </a:solidFill>
                <a:latin typeface="Arial" pitchFamily="34" charset="0"/>
                <a:ea typeface="Arial" pitchFamily="34" charset="-122"/>
                <a:cs typeface="Arial" pitchFamily="34" charset="-120"/>
              </a:rPr>
              <a:t>Tên thông số</a:t>
            </a:r>
            <a:endParaRPr lang="en-US" sz="720" dirty="0"/>
          </a:p>
          <a:p>
            <a:pPr algn="ctr" indent="0" marL="0">
              <a:lnSpc>
                <a:spcPct val="106000"/>
              </a:lnSpc>
              <a:buNone/>
            </a:pPr>
            <a:r>
              <a:rPr lang="en-US" sz="680" dirty="0">
                <a:solidFill>
                  <a:srgbClr val="FFFFFF"/>
                </a:solidFill>
                <a:latin typeface="微軟正黑體" pitchFamily="34" charset="0"/>
                <a:ea typeface="微軟正黑體" pitchFamily="34" charset="-122"/>
                <a:cs typeface="微軟正黑體" pitchFamily="34" charset="-120"/>
              </a:rPr>
              <a:t>規格表上叫</a:t>
            </a:r>
            <a:endParaRPr lang="en-US" sz="720" dirty="0"/>
          </a:p>
        </p:txBody>
      </p:sp>
      <p:sp>
        <p:nvSpPr>
          <p:cNvPr id="28" name="Text 26"/>
          <p:cNvSpPr txBox="1"/>
          <p:nvPr/>
        </p:nvSpPr>
        <p:spPr>
          <a:xfrm>
            <a:off x="3715795" y="1332747"/>
            <a:ext cx="4112709" cy="364124"/>
          </a:xfrm>
          <a:prstGeom prst="rect">
            <a:avLst/>
          </a:prstGeom>
          <a:noFill/>
          <a:ln/>
        </p:spPr>
        <p:txBody>
          <a:bodyPr wrap="square" lIns="0" tIns="0" rIns="0" bIns="0" rtlCol="0" anchor="t"/>
          <a:lstStyle/>
          <a:p>
            <a:pPr indent="0" marL="0">
              <a:lnSpc>
                <a:spcPct val="126000"/>
              </a:lnSpc>
              <a:buNone/>
            </a:pPr>
            <a:r>
              <a:rPr lang="en-US" sz="880" dirty="0">
                <a:solidFill>
                  <a:srgbClr val="1A2733"/>
                </a:solidFill>
                <a:latin typeface="Arial" pitchFamily="34" charset="0"/>
                <a:ea typeface="Arial" pitchFamily="34" charset="-122"/>
                <a:cs typeface="Arial" pitchFamily="34" charset="-120"/>
              </a:rPr>
              <a:t>Resolution · độ phân giải</a:t>
            </a:r>
            <a:endParaRPr lang="en-US" sz="880" dirty="0"/>
          </a:p>
          <a:p>
            <a:pPr indent="0" marL="0">
              <a:lnSpc>
                <a:spcPct val="126000"/>
              </a:lnSpc>
              <a:buNone/>
            </a:pPr>
            <a:r>
              <a:rPr lang="en-US" sz="800" dirty="0">
                <a:solidFill>
                  <a:srgbClr val="5F7183"/>
                </a:solidFill>
                <a:latin typeface="微軟正黑體" pitchFamily="34" charset="0"/>
                <a:ea typeface="微軟正黑體" pitchFamily="34" charset="-122"/>
                <a:cs typeface="微軟正黑體" pitchFamily="34" charset="-120"/>
              </a:rPr>
              <a:t>Resolution　解析度</a:t>
            </a:r>
            <a:endParaRPr lang="en-US" sz="880" dirty="0"/>
          </a:p>
        </p:txBody>
      </p:sp>
      <p:sp>
        <p:nvSpPr>
          <p:cNvPr id="29" name="Shape 27"/>
          <p:cNvSpPr/>
          <p:nvPr/>
        </p:nvSpPr>
        <p:spPr>
          <a:xfrm>
            <a:off x="2749821" y="1748097"/>
            <a:ext cx="848887" cy="320216"/>
          </a:xfrm>
          <a:prstGeom prst="roundRect">
            <a:avLst>
              <a:gd name="adj" fmla="val 13712"/>
            </a:avLst>
          </a:prstGeom>
          <a:solidFill>
            <a:srgbClr val="007F72"/>
          </a:solidFill>
          <a:ln/>
        </p:spPr>
      </p:sp>
      <p:sp>
        <p:nvSpPr>
          <p:cNvPr id="30" name="Text 28"/>
          <p:cNvSpPr txBox="1"/>
          <p:nvPr/>
        </p:nvSpPr>
        <p:spPr>
          <a:xfrm>
            <a:off x="2793729" y="1777369"/>
            <a:ext cx="761071" cy="276308"/>
          </a:xfrm>
          <a:prstGeom prst="rect">
            <a:avLst/>
          </a:prstGeom>
          <a:noFill/>
          <a:ln/>
        </p:spPr>
        <p:txBody>
          <a:bodyPr wrap="square" lIns="0" tIns="0" rIns="0" bIns="0" rtlCol="0" anchor="t"/>
          <a:lstStyle/>
          <a:p>
            <a:pPr algn="ctr" indent="0" marL="0">
              <a:lnSpc>
                <a:spcPct val="106000"/>
              </a:lnSpc>
              <a:buNone/>
            </a:pPr>
            <a:r>
              <a:rPr lang="en-US" sz="720" b="1" dirty="0">
                <a:solidFill>
                  <a:srgbClr val="FFFFFF"/>
                </a:solidFill>
                <a:latin typeface="Arial" pitchFamily="34" charset="0"/>
                <a:ea typeface="Arial" pitchFamily="34" charset="-122"/>
                <a:cs typeface="Arial" pitchFamily="34" charset="-120"/>
              </a:rPr>
              <a:t>Mô phỏng của ta</a:t>
            </a:r>
            <a:endParaRPr lang="en-US" sz="720" dirty="0"/>
          </a:p>
          <a:p>
            <a:pPr algn="ctr" indent="0" marL="0">
              <a:lnSpc>
                <a:spcPct val="106000"/>
              </a:lnSpc>
              <a:buNone/>
            </a:pPr>
            <a:r>
              <a:rPr lang="en-US" sz="680" dirty="0">
                <a:solidFill>
                  <a:srgbClr val="FFFFFF"/>
                </a:solidFill>
                <a:latin typeface="微軟正黑體" pitchFamily="34" charset="0"/>
                <a:ea typeface="微軟正黑體" pitchFamily="34" charset="-122"/>
                <a:cs typeface="微軟正黑體" pitchFamily="34" charset="-120"/>
              </a:rPr>
              <a:t>我們的模擬器</a:t>
            </a:r>
            <a:endParaRPr lang="en-US" sz="720" dirty="0"/>
          </a:p>
        </p:txBody>
      </p:sp>
      <p:sp>
        <p:nvSpPr>
          <p:cNvPr id="31" name="Text 29"/>
          <p:cNvSpPr txBox="1"/>
          <p:nvPr/>
        </p:nvSpPr>
        <p:spPr>
          <a:xfrm>
            <a:off x="3715795" y="1748097"/>
            <a:ext cx="4112709" cy="364124"/>
          </a:xfrm>
          <a:prstGeom prst="rect">
            <a:avLst/>
          </a:prstGeom>
          <a:noFill/>
          <a:ln/>
        </p:spPr>
        <p:txBody>
          <a:bodyPr wrap="square" lIns="0" tIns="0" rIns="0" bIns="0" rtlCol="0" anchor="t"/>
          <a:lstStyle/>
          <a:p>
            <a:pPr indent="0" marL="0">
              <a:lnSpc>
                <a:spcPct val="126000"/>
              </a:lnSpc>
              <a:buNone/>
            </a:pPr>
            <a:r>
              <a:rPr lang="en-US" sz="880" dirty="0">
                <a:solidFill>
                  <a:srgbClr val="1A2733"/>
                </a:solidFill>
                <a:latin typeface="Arial" pitchFamily="34" charset="0"/>
                <a:ea typeface="Arial" pitchFamily="34" charset="-122"/>
                <a:cs typeface="Arial" pitchFamily="34" charset="-120"/>
              </a:rPr>
              <a:t>3 đến 60 tia, bạn tự kéo</a:t>
            </a:r>
            <a:endParaRPr lang="en-US" sz="880" dirty="0"/>
          </a:p>
          <a:p>
            <a:pPr indent="0" marL="0">
              <a:lnSpc>
                <a:spcPct val="126000"/>
              </a:lnSpc>
              <a:buNone/>
            </a:pPr>
            <a:r>
              <a:rPr lang="en-US" sz="800" dirty="0">
                <a:solidFill>
                  <a:srgbClr val="5F7183"/>
                </a:solidFill>
                <a:latin typeface="微軟正黑體" pitchFamily="34" charset="0"/>
                <a:ea typeface="微軟正黑體" pitchFamily="34" charset="-122"/>
                <a:cs typeface="微軟正黑體" pitchFamily="34" charset="-120"/>
              </a:rPr>
              <a:t>3 到 60 條，自己拉</a:t>
            </a:r>
            <a:endParaRPr lang="en-US" sz="880" dirty="0"/>
          </a:p>
        </p:txBody>
      </p:sp>
      <p:sp>
        <p:nvSpPr>
          <p:cNvPr id="32" name="Shape 30"/>
          <p:cNvSpPr/>
          <p:nvPr/>
        </p:nvSpPr>
        <p:spPr>
          <a:xfrm>
            <a:off x="2749821" y="2163448"/>
            <a:ext cx="848887" cy="320216"/>
          </a:xfrm>
          <a:prstGeom prst="roundRect">
            <a:avLst>
              <a:gd name="adj" fmla="val 13712"/>
            </a:avLst>
          </a:prstGeom>
          <a:solidFill>
            <a:srgbClr val="FFB020"/>
          </a:solidFill>
          <a:ln/>
        </p:spPr>
      </p:sp>
      <p:sp>
        <p:nvSpPr>
          <p:cNvPr id="33" name="Text 31"/>
          <p:cNvSpPr txBox="1"/>
          <p:nvPr/>
        </p:nvSpPr>
        <p:spPr>
          <a:xfrm>
            <a:off x="2793729" y="2192720"/>
            <a:ext cx="761071" cy="276308"/>
          </a:xfrm>
          <a:prstGeom prst="rect">
            <a:avLst/>
          </a:prstGeom>
          <a:noFill/>
          <a:ln/>
        </p:spPr>
        <p:txBody>
          <a:bodyPr wrap="square" lIns="0" tIns="0" rIns="0" bIns="0" rtlCol="0" anchor="t"/>
          <a:lstStyle/>
          <a:p>
            <a:pPr algn="ctr" indent="0" marL="0">
              <a:lnSpc>
                <a:spcPct val="106000"/>
              </a:lnSpc>
              <a:buNone/>
            </a:pPr>
            <a:r>
              <a:rPr lang="en-US" sz="720" b="1" dirty="0">
                <a:solidFill>
                  <a:srgbClr val="3A2A00"/>
                </a:solidFill>
                <a:latin typeface="Arial" pitchFamily="34" charset="0"/>
                <a:ea typeface="Arial" pitchFamily="34" charset="-122"/>
                <a:cs typeface="Arial" pitchFamily="34" charset="-120"/>
              </a:rPr>
              <a:t>Xe thật</a:t>
            </a:r>
            <a:endParaRPr lang="en-US" sz="720" dirty="0"/>
          </a:p>
          <a:p>
            <a:pPr algn="ctr" indent="0" marL="0">
              <a:lnSpc>
                <a:spcPct val="106000"/>
              </a:lnSpc>
              <a:buNone/>
            </a:pPr>
            <a:r>
              <a:rPr lang="en-US" sz="680" dirty="0">
                <a:solidFill>
                  <a:srgbClr val="3A2A00"/>
                </a:solidFill>
                <a:latin typeface="微軟正黑體" pitchFamily="34" charset="0"/>
                <a:ea typeface="微軟正黑體" pitchFamily="34" charset="-122"/>
                <a:cs typeface="微軟正黑體" pitchFamily="34" charset="-120"/>
              </a:rPr>
              <a:t>真車</a:t>
            </a:r>
            <a:endParaRPr lang="en-US" sz="720" dirty="0"/>
          </a:p>
        </p:txBody>
      </p:sp>
      <p:sp>
        <p:nvSpPr>
          <p:cNvPr id="34" name="Text 32"/>
          <p:cNvSpPr txBox="1"/>
          <p:nvPr/>
        </p:nvSpPr>
        <p:spPr>
          <a:xfrm>
            <a:off x="3715795" y="2163448"/>
            <a:ext cx="4112709" cy="364124"/>
          </a:xfrm>
          <a:prstGeom prst="rect">
            <a:avLst/>
          </a:prstGeom>
          <a:noFill/>
          <a:ln/>
        </p:spPr>
        <p:txBody>
          <a:bodyPr wrap="square" lIns="0" tIns="0" rIns="0" bIns="0" rtlCol="0" anchor="t"/>
          <a:lstStyle/>
          <a:p>
            <a:pPr indent="0" marL="0">
              <a:lnSpc>
                <a:spcPct val="126000"/>
              </a:lnSpc>
              <a:buNone/>
            </a:pPr>
            <a:r>
              <a:rPr lang="en-US" sz="880" dirty="0">
                <a:solidFill>
                  <a:srgbClr val="1A2733"/>
                </a:solidFill>
                <a:latin typeface="Arial" pitchFamily="34" charset="0"/>
                <a:ea typeface="Arial" pitchFamily="34" charset="-122"/>
                <a:cs typeface="Arial" pitchFamily="34" charset="-120"/>
              </a:rPr>
              <a:t>LiDAR bắn vài trăm nghìn đến vài triệu điểm mỗi giây</a:t>
            </a:r>
            <a:endParaRPr lang="en-US" sz="880" dirty="0"/>
          </a:p>
          <a:p>
            <a:pPr indent="0" marL="0">
              <a:lnSpc>
                <a:spcPct val="126000"/>
              </a:lnSpc>
              <a:buNone/>
            </a:pPr>
            <a:r>
              <a:rPr lang="en-US" sz="800" dirty="0">
                <a:solidFill>
                  <a:srgbClr val="5F7183"/>
                </a:solidFill>
                <a:latin typeface="微軟正黑體" pitchFamily="34" charset="0"/>
                <a:ea typeface="微軟正黑體" pitchFamily="34" charset="-122"/>
                <a:cs typeface="微軟正黑體" pitchFamily="34" charset="-120"/>
              </a:rPr>
              <a:t>光達每秒打幾十萬到幾百萬個點</a:t>
            </a:r>
            <a:endParaRPr lang="en-US" sz="880" dirty="0"/>
          </a:p>
        </p:txBody>
      </p:sp>
      <p:sp>
        <p:nvSpPr>
          <p:cNvPr id="35" name="Shape 33"/>
          <p:cNvSpPr/>
          <p:nvPr/>
        </p:nvSpPr>
        <p:spPr>
          <a:xfrm>
            <a:off x="2749821" y="2578798"/>
            <a:ext cx="848887" cy="320216"/>
          </a:xfrm>
          <a:prstGeom prst="roundRect">
            <a:avLst>
              <a:gd name="adj" fmla="val 13712"/>
            </a:avLst>
          </a:prstGeom>
          <a:solidFill>
            <a:srgbClr val="0B1F3A"/>
          </a:solidFill>
          <a:ln/>
        </p:spPr>
      </p:sp>
      <p:sp>
        <p:nvSpPr>
          <p:cNvPr id="36" name="Text 34"/>
          <p:cNvSpPr txBox="1"/>
          <p:nvPr/>
        </p:nvSpPr>
        <p:spPr>
          <a:xfrm>
            <a:off x="2793729" y="2608070"/>
            <a:ext cx="761071" cy="276308"/>
          </a:xfrm>
          <a:prstGeom prst="rect">
            <a:avLst/>
          </a:prstGeom>
          <a:noFill/>
          <a:ln/>
        </p:spPr>
        <p:txBody>
          <a:bodyPr wrap="square" lIns="0" tIns="0" rIns="0" bIns="0" rtlCol="0" anchor="t"/>
          <a:lstStyle/>
          <a:p>
            <a:pPr algn="ctr" indent="0" marL="0">
              <a:lnSpc>
                <a:spcPct val="106000"/>
              </a:lnSpc>
              <a:buNone/>
            </a:pPr>
            <a:r>
              <a:rPr lang="en-US" sz="720" b="1" dirty="0">
                <a:solidFill>
                  <a:srgbClr val="FFFFFF"/>
                </a:solidFill>
                <a:latin typeface="Arial" pitchFamily="34" charset="0"/>
                <a:ea typeface="Arial" pitchFamily="34" charset="-122"/>
                <a:cs typeface="Arial" pitchFamily="34" charset="-120"/>
              </a:rPr>
              <a:t>Kéo nhỏ thì sao</a:t>
            </a:r>
            <a:endParaRPr lang="en-US" sz="720" dirty="0"/>
          </a:p>
          <a:p>
            <a:pPr algn="ctr" indent="0" marL="0">
              <a:lnSpc>
                <a:spcPct val="106000"/>
              </a:lnSpc>
              <a:buNone/>
            </a:pPr>
            <a:r>
              <a:rPr lang="en-US" sz="680" dirty="0">
                <a:solidFill>
                  <a:srgbClr val="FFFFFF"/>
                </a:solidFill>
                <a:latin typeface="微軟正黑體" pitchFamily="34" charset="0"/>
                <a:ea typeface="微軟正黑體" pitchFamily="34" charset="-122"/>
                <a:cs typeface="微軟正黑體" pitchFamily="34" charset="-120"/>
              </a:rPr>
              <a:t>調小會怎樣</a:t>
            </a:r>
            <a:endParaRPr lang="en-US" sz="720" dirty="0"/>
          </a:p>
        </p:txBody>
      </p:sp>
      <p:sp>
        <p:nvSpPr>
          <p:cNvPr id="37" name="Text 35"/>
          <p:cNvSpPr txBox="1"/>
          <p:nvPr/>
        </p:nvSpPr>
        <p:spPr>
          <a:xfrm>
            <a:off x="3715795" y="2578798"/>
            <a:ext cx="4112709" cy="364124"/>
          </a:xfrm>
          <a:prstGeom prst="rect">
            <a:avLst/>
          </a:prstGeom>
          <a:noFill/>
          <a:ln/>
        </p:spPr>
        <p:txBody>
          <a:bodyPr wrap="square" lIns="0" tIns="0" rIns="0" bIns="0" rtlCol="0" anchor="t"/>
          <a:lstStyle/>
          <a:p>
            <a:pPr indent="0" marL="0">
              <a:lnSpc>
                <a:spcPct val="126000"/>
              </a:lnSpc>
              <a:buNone/>
            </a:pPr>
            <a:r>
              <a:rPr lang="en-US" sz="880" dirty="0">
                <a:solidFill>
                  <a:srgbClr val="1A2733"/>
                </a:solidFill>
                <a:latin typeface="Arial" pitchFamily="34" charset="0"/>
                <a:ea typeface="Arial" pitchFamily="34" charset="-122"/>
                <a:cs typeface="Arial" pitchFamily="34" charset="-120"/>
              </a:rPr>
              <a:t>Khe giữa hai tia rộng ra, xe máy lách qua khe thì không thấy</a:t>
            </a:r>
            <a:endParaRPr lang="en-US" sz="880" dirty="0"/>
          </a:p>
          <a:p>
            <a:pPr indent="0" marL="0">
              <a:lnSpc>
                <a:spcPct val="126000"/>
              </a:lnSpc>
              <a:buNone/>
            </a:pPr>
            <a:r>
              <a:rPr lang="en-US" sz="800" dirty="0">
                <a:solidFill>
                  <a:srgbClr val="5F7183"/>
                </a:solidFill>
                <a:latin typeface="微軟正黑體" pitchFamily="34" charset="0"/>
                <a:ea typeface="微軟正黑體" pitchFamily="34" charset="-122"/>
                <a:cs typeface="微軟正黑體" pitchFamily="34" charset="-120"/>
              </a:rPr>
              <a:t>射線之間的縫變寬，機車從縫裡鑽過去就看不到</a:t>
            </a:r>
            <a:endParaRPr lang="en-US" sz="880" dirty="0"/>
          </a:p>
        </p:txBody>
      </p:sp>
      <p:sp>
        <p:nvSpPr>
          <p:cNvPr id="38" name="Shape 36"/>
          <p:cNvSpPr/>
          <p:nvPr/>
        </p:nvSpPr>
        <p:spPr>
          <a:xfrm>
            <a:off x="1315495" y="3146735"/>
            <a:ext cx="6513009" cy="453715"/>
          </a:xfrm>
          <a:prstGeom prst="roundRect">
            <a:avLst>
              <a:gd name="adj" fmla="val 14516"/>
            </a:avLst>
          </a:prstGeom>
          <a:solidFill>
            <a:srgbClr val="FFF6E3"/>
          </a:solidFill>
          <a:ln w="12700">
            <a:solidFill>
              <a:srgbClr val="FFB020"/>
            </a:solidFill>
            <a:prstDash val="solid"/>
          </a:ln>
        </p:spPr>
      </p:sp>
      <p:sp>
        <p:nvSpPr>
          <p:cNvPr id="39" name="Text 37"/>
          <p:cNvSpPr txBox="1"/>
          <p:nvPr/>
        </p:nvSpPr>
        <p:spPr>
          <a:xfrm>
            <a:off x="1461855" y="3197961"/>
            <a:ext cx="6220290" cy="365899"/>
          </a:xfrm>
          <a:prstGeom prst="rect">
            <a:avLst/>
          </a:prstGeom>
          <a:noFill/>
          <a:ln/>
        </p:spPr>
        <p:txBody>
          <a:bodyPr wrap="square" lIns="0" tIns="0" rIns="0" bIns="0" rtlCol="0" anchor="t"/>
          <a:lstStyle/>
          <a:p>
            <a:pPr indent="0" marL="0">
              <a:lnSpc>
                <a:spcPct val="116000"/>
              </a:lnSpc>
              <a:buNone/>
            </a:pPr>
            <a:r>
              <a:rPr lang="en-US" sz="960" b="1" dirty="0">
                <a:solidFill>
                  <a:srgbClr val="7A4E00"/>
                </a:solidFill>
                <a:latin typeface="Arial" pitchFamily="34" charset="0"/>
                <a:ea typeface="Arial" pitchFamily="34" charset="-122"/>
                <a:cs typeface="Arial" pitchFamily="34" charset="-120"/>
              </a:rPr>
              <a:t>Tuần trước đã thấy: 3 tia thì xe máy biến mất giữa hai tia.</a:t>
            </a:r>
            <a:endParaRPr lang="en-US" sz="960" dirty="0"/>
          </a:p>
          <a:p>
            <a:pPr indent="0" marL="0">
              <a:lnSpc>
                <a:spcPct val="116000"/>
              </a:lnSpc>
              <a:buNone/>
            </a:pPr>
            <a:r>
              <a:rPr lang="en-US" sz="880" dirty="0">
                <a:solidFill>
                  <a:srgbClr val="7A4E00"/>
                </a:solidFill>
                <a:latin typeface="微軟正黑體" pitchFamily="34" charset="0"/>
                <a:ea typeface="微軟正黑體" pitchFamily="34" charset="-122"/>
                <a:cs typeface="微軟正黑體" pitchFamily="34" charset="-120"/>
              </a:rPr>
              <a:t>上週各位已經看過：只剩 3 條射線的時候，機車會從兩條線中間消失。</a:t>
            </a:r>
            <a:endParaRPr lang="en-US" sz="960" dirty="0"/>
          </a:p>
        </p:txBody>
      </p:sp>
      <p:pic>
        <p:nvPicPr>
          <p:cNvPr id="41" name="Image 0" descr="/Users/tsengchenghsun/Class/carClass/Claude outputs/第四週(10-1)/src/logo.png">    </p:cNvPr>
          <p:cNvPicPr>
            <a:picLocks noChangeAspect="1"/>
          </p:cNvPicPr>
          <p:nvPr/>
        </p:nvPicPr>
        <p:blipFill>
          <a:blip r:embed="rId1"/>
          <a:stretch>
            <a:fillRect/>
          </a:stretch>
        </p:blipFill>
        <p:spPr>
          <a:xfrm>
            <a:off x="7882128" y="109728"/>
            <a:ext cx="1097280" cy="242439"/>
          </a:xfrm>
          <a:prstGeom prst="rect">
            <a:avLst/>
          </a:prstGeom>
        </p:spPr>
      </p:pic>
      <p:sp>
        <p:nvSpPr>
          <p:cNvPr id="42" name="Text 38"/>
          <p:cNvSpPr txBox="1"/>
          <p:nvPr/>
        </p:nvSpPr>
        <p:spPr>
          <a:xfrm>
            <a:off x="1000822" y="102452"/>
            <a:ext cx="658619" cy="204904"/>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4 / 18</a:t>
            </a:r>
            <a:endParaRPr lang="en-US" sz="720" dirty="0"/>
          </a:p>
        </p:txBody>
      </p:sp>
      <p:sp>
        <p:nvSpPr>
          <p:cNvPr id="43" name="Text 39"/>
          <p:cNvSpPr txBox="1"/>
          <p:nvPr/>
        </p:nvSpPr>
        <p:spPr>
          <a:xfrm>
            <a:off x="1681395" y="102452"/>
            <a:ext cx="1609957" cy="204904"/>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Tiết 1 · 第 1 節</a:t>
            </a:r>
            <a:endParaRPr lang="en-US" sz="7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913006" y="0"/>
          <a:ext cx="1" cy="1"/>
          <a:chOff x="0" y="0"/>
          <a:chExt cx="0" cy="0"/>
        </a:xfrm>
      </p:grpSpPr>
      <p:sp>
        <p:nvSpPr>
          <p:cNvPr id="2" name="Text 0"/>
          <p:cNvSpPr txBox="1"/>
          <p:nvPr/>
        </p:nvSpPr>
        <p:spPr>
          <a:xfrm>
            <a:off x="1315495" y="292720"/>
            <a:ext cx="6513009" cy="219540"/>
          </a:xfrm>
          <a:prstGeom prst="rect">
            <a:avLst/>
          </a:prstGeom>
          <a:noFill/>
          <a:ln/>
        </p:spPr>
        <p:txBody>
          <a:bodyPr wrap="square" lIns="0" tIns="0" rIns="0" bIns="0" rtlCol="0" anchor="ctr"/>
          <a:lstStyle/>
          <a:p>
            <a:pPr indent="0" marL="0">
              <a:buNone/>
            </a:pPr>
            <a:r>
              <a:rPr lang="en-US" sz="1040" b="1" dirty="0">
                <a:solidFill>
                  <a:srgbClr val="007F72"/>
                </a:solidFill>
                <a:latin typeface="Arial" pitchFamily="34" charset="0"/>
                <a:ea typeface="Arial" pitchFamily="34" charset="-122"/>
                <a:cs typeface="Arial" pitchFamily="34" charset="-120"/>
              </a:rPr>
              <a:t>2 / 3　Chiều dài tia · 射線長度</a:t>
            </a:r>
            <a:endParaRPr lang="en-US" sz="1040" dirty="0"/>
          </a:p>
        </p:txBody>
      </p:sp>
      <p:sp>
        <p:nvSpPr>
          <p:cNvPr id="3" name="Shape 1"/>
          <p:cNvSpPr/>
          <p:nvPr/>
        </p:nvSpPr>
        <p:spPr>
          <a:xfrm>
            <a:off x="1315495" y="702527"/>
            <a:ext cx="1185514" cy="1536777"/>
          </a:xfrm>
          <a:prstGeom prst="roundRect">
            <a:avLst>
              <a:gd name="adj" fmla="val 7407"/>
            </a:avLst>
          </a:prstGeom>
          <a:solidFill>
            <a:srgbClr val="F4F7FA"/>
          </a:solidFill>
          <a:ln w="12700">
            <a:solidFill>
              <a:srgbClr val="DBE3EA"/>
            </a:solidFill>
            <a:prstDash val="solid"/>
          </a:ln>
        </p:spPr>
      </p:sp>
      <p:sp>
        <p:nvSpPr>
          <p:cNvPr id="4" name="Shape 2"/>
          <p:cNvSpPr/>
          <p:nvPr/>
        </p:nvSpPr>
        <p:spPr>
          <a:xfrm>
            <a:off x="1409458" y="1051554"/>
            <a:ext cx="166265" cy="76482"/>
          </a:xfrm>
          <a:prstGeom prst="roundRect">
            <a:avLst>
              <a:gd name="adj" fmla="val 22000"/>
            </a:avLst>
          </a:prstGeom>
          <a:solidFill>
            <a:srgbClr val="8FA3B5"/>
          </a:solidFill>
          <a:ln/>
        </p:spPr>
      </p:sp>
      <p:sp>
        <p:nvSpPr>
          <p:cNvPr id="5" name="Shape 3"/>
          <p:cNvSpPr/>
          <p:nvPr/>
        </p:nvSpPr>
        <p:spPr>
          <a:xfrm>
            <a:off x="1472639" y="1066850"/>
            <a:ext cx="56530" cy="45889"/>
          </a:xfrm>
          <a:prstGeom prst="roundRect">
            <a:avLst>
              <a:gd name="adj" fmla="val 23334"/>
            </a:avLst>
          </a:prstGeom>
          <a:solidFill>
            <a:srgbClr val="FFFFFF"/>
          </a:solidFill>
          <a:ln/>
        </p:spPr>
      </p:sp>
      <p:sp>
        <p:nvSpPr>
          <p:cNvPr id="6" name="Shape 4"/>
          <p:cNvSpPr/>
          <p:nvPr/>
        </p:nvSpPr>
        <p:spPr>
          <a:xfrm>
            <a:off x="1575723" y="1014931"/>
            <a:ext cx="254385" cy="74863"/>
          </a:xfrm>
          <a:prstGeom prst="roundRect">
            <a:avLst>
              <a:gd name="adj" fmla="val 21818"/>
            </a:avLst>
          </a:prstGeom>
          <a:solidFill>
            <a:srgbClr val="8A5A00"/>
          </a:solidFill>
          <a:ln/>
        </p:spPr>
      </p:sp>
      <p:sp>
        <p:nvSpPr>
          <p:cNvPr id="7" name="Text 5"/>
          <p:cNvSpPr txBox="1"/>
          <p:nvPr/>
        </p:nvSpPr>
        <p:spPr>
          <a:xfrm>
            <a:off x="1575723" y="878817"/>
            <a:ext cx="311746" cy="136114"/>
          </a:xfrm>
          <a:prstGeom prst="rect">
            <a:avLst/>
          </a:prstGeom>
          <a:noFill/>
          <a:ln/>
        </p:spPr>
        <p:txBody>
          <a:bodyPr wrap="square" lIns="0" tIns="0" rIns="0" bIns="0" rtlCol="0" anchor="ctr"/>
          <a:lstStyle/>
          <a:p>
            <a:pPr algn="l" indent="0" marL="0">
              <a:buNone/>
            </a:pPr>
            <a:r>
              <a:rPr lang="en-US" sz="520" b="1" dirty="0">
                <a:solidFill>
                  <a:srgbClr val="8A5A00"/>
                </a:solidFill>
                <a:latin typeface="Arial" pitchFamily="34" charset="0"/>
                <a:ea typeface="Arial" pitchFamily="34" charset="-122"/>
                <a:cs typeface="Arial" pitchFamily="34" charset="-120"/>
              </a:rPr>
              <a:t>射線</a:t>
            </a:r>
            <a:endParaRPr lang="en-US" sz="520" dirty="0"/>
          </a:p>
        </p:txBody>
      </p:sp>
      <p:sp>
        <p:nvSpPr>
          <p:cNvPr id="8" name="Shape 6"/>
          <p:cNvSpPr/>
          <p:nvPr/>
        </p:nvSpPr>
        <p:spPr>
          <a:xfrm>
            <a:off x="1575723" y="1110212"/>
            <a:ext cx="418987" cy="61251"/>
          </a:xfrm>
          <a:prstGeom prst="roundRect">
            <a:avLst>
              <a:gd name="adj" fmla="val 26667"/>
            </a:avLst>
          </a:prstGeom>
          <a:solidFill>
            <a:srgbClr val="D9463E"/>
          </a:solidFill>
          <a:ln/>
        </p:spPr>
      </p:sp>
      <p:sp>
        <p:nvSpPr>
          <p:cNvPr id="9" name="Text 7"/>
          <p:cNvSpPr txBox="1"/>
          <p:nvPr/>
        </p:nvSpPr>
        <p:spPr>
          <a:xfrm>
            <a:off x="1575723" y="1191880"/>
            <a:ext cx="311746" cy="136114"/>
          </a:xfrm>
          <a:prstGeom prst="rect">
            <a:avLst/>
          </a:prstGeom>
          <a:noFill/>
          <a:ln/>
        </p:spPr>
        <p:txBody>
          <a:bodyPr wrap="square" lIns="0" tIns="0" rIns="0" bIns="0" rtlCol="0" anchor="ctr"/>
          <a:lstStyle/>
          <a:p>
            <a:pPr algn="l" indent="0" marL="0">
              <a:buNone/>
            </a:pPr>
            <a:r>
              <a:rPr lang="en-US" sz="520" b="1" dirty="0">
                <a:solidFill>
                  <a:srgbClr val="D9463E"/>
                </a:solidFill>
                <a:latin typeface="Arial" pitchFamily="34" charset="0"/>
                <a:ea typeface="Arial" pitchFamily="34" charset="-122"/>
                <a:cs typeface="Arial" pitchFamily="34" charset="-120"/>
              </a:rPr>
              <a:t>煞停</a:t>
            </a:r>
            <a:endParaRPr lang="en-US" sz="520" dirty="0"/>
          </a:p>
        </p:txBody>
      </p:sp>
      <p:sp>
        <p:nvSpPr>
          <p:cNvPr id="10" name="Text 8"/>
          <p:cNvSpPr txBox="1"/>
          <p:nvPr/>
        </p:nvSpPr>
        <p:spPr>
          <a:xfrm>
            <a:off x="2282348" y="1008126"/>
            <a:ext cx="145482" cy="163337"/>
          </a:xfrm>
          <a:prstGeom prst="rect">
            <a:avLst/>
          </a:prstGeom>
          <a:noFill/>
          <a:ln/>
        </p:spPr>
        <p:txBody>
          <a:bodyPr wrap="square" lIns="0" tIns="0" rIns="0" bIns="0" rtlCol="0" anchor="ctr"/>
          <a:lstStyle/>
          <a:p>
            <a:pPr algn="ctr" indent="0" marL="0">
              <a:buNone/>
            </a:pPr>
            <a:r>
              <a:rPr lang="en-US" sz="600" b="1" dirty="0">
                <a:solidFill>
                  <a:srgbClr val="D9463E"/>
                </a:solidFill>
                <a:latin typeface="Arial" pitchFamily="34" charset="0"/>
                <a:ea typeface="Arial" pitchFamily="34" charset="-122"/>
                <a:cs typeface="Arial" pitchFamily="34" charset="-120"/>
              </a:rPr>
              <a:t>不夠</a:t>
            </a:r>
            <a:endParaRPr lang="en-US" sz="600" dirty="0"/>
          </a:p>
        </p:txBody>
      </p:sp>
      <p:sp>
        <p:nvSpPr>
          <p:cNvPr id="11" name="Shape 9"/>
          <p:cNvSpPr/>
          <p:nvPr/>
        </p:nvSpPr>
        <p:spPr>
          <a:xfrm>
            <a:off x="1409458" y="1650458"/>
            <a:ext cx="166265" cy="76482"/>
          </a:xfrm>
          <a:prstGeom prst="roundRect">
            <a:avLst>
              <a:gd name="adj" fmla="val 22000"/>
            </a:avLst>
          </a:prstGeom>
          <a:solidFill>
            <a:srgbClr val="8FA3B5"/>
          </a:solidFill>
          <a:ln/>
        </p:spPr>
      </p:sp>
      <p:sp>
        <p:nvSpPr>
          <p:cNvPr id="12" name="Shape 10"/>
          <p:cNvSpPr/>
          <p:nvPr/>
        </p:nvSpPr>
        <p:spPr>
          <a:xfrm>
            <a:off x="1472639" y="1665755"/>
            <a:ext cx="56530" cy="45889"/>
          </a:xfrm>
          <a:prstGeom prst="roundRect">
            <a:avLst>
              <a:gd name="adj" fmla="val 23334"/>
            </a:avLst>
          </a:prstGeom>
          <a:solidFill>
            <a:srgbClr val="FFFFFF"/>
          </a:solidFill>
          <a:ln/>
        </p:spPr>
      </p:sp>
      <p:sp>
        <p:nvSpPr>
          <p:cNvPr id="13" name="Shape 11"/>
          <p:cNvSpPr/>
          <p:nvPr/>
        </p:nvSpPr>
        <p:spPr>
          <a:xfrm>
            <a:off x="1575723" y="1613836"/>
            <a:ext cx="538697" cy="74863"/>
          </a:xfrm>
          <a:prstGeom prst="roundRect">
            <a:avLst>
              <a:gd name="adj" fmla="val 21818"/>
            </a:avLst>
          </a:prstGeom>
          <a:solidFill>
            <a:srgbClr val="8A5A00"/>
          </a:solidFill>
          <a:ln/>
        </p:spPr>
      </p:sp>
      <p:sp>
        <p:nvSpPr>
          <p:cNvPr id="14" name="Text 12"/>
          <p:cNvSpPr txBox="1"/>
          <p:nvPr/>
        </p:nvSpPr>
        <p:spPr>
          <a:xfrm>
            <a:off x="1575723" y="1477721"/>
            <a:ext cx="311746" cy="136114"/>
          </a:xfrm>
          <a:prstGeom prst="rect">
            <a:avLst/>
          </a:prstGeom>
          <a:noFill/>
          <a:ln/>
        </p:spPr>
        <p:txBody>
          <a:bodyPr wrap="square" lIns="0" tIns="0" rIns="0" bIns="0" rtlCol="0" anchor="ctr"/>
          <a:lstStyle/>
          <a:p>
            <a:pPr algn="l" indent="0" marL="0">
              <a:buNone/>
            </a:pPr>
            <a:r>
              <a:rPr lang="en-US" sz="520" b="1" dirty="0">
                <a:solidFill>
                  <a:srgbClr val="8A5A00"/>
                </a:solidFill>
                <a:latin typeface="Arial" pitchFamily="34" charset="0"/>
                <a:ea typeface="Arial" pitchFamily="34" charset="-122"/>
                <a:cs typeface="Arial" pitchFamily="34" charset="-120"/>
              </a:rPr>
              <a:t>射線</a:t>
            </a:r>
            <a:endParaRPr lang="en-US" sz="520" dirty="0"/>
          </a:p>
        </p:txBody>
      </p:sp>
      <p:sp>
        <p:nvSpPr>
          <p:cNvPr id="15" name="Shape 13"/>
          <p:cNvSpPr/>
          <p:nvPr/>
        </p:nvSpPr>
        <p:spPr>
          <a:xfrm>
            <a:off x="1575723" y="1709116"/>
            <a:ext cx="418987" cy="61251"/>
          </a:xfrm>
          <a:prstGeom prst="roundRect">
            <a:avLst>
              <a:gd name="adj" fmla="val 26667"/>
            </a:avLst>
          </a:prstGeom>
          <a:solidFill>
            <a:srgbClr val="D9463E"/>
          </a:solidFill>
          <a:ln/>
        </p:spPr>
      </p:sp>
      <p:sp>
        <p:nvSpPr>
          <p:cNvPr id="16" name="Text 14"/>
          <p:cNvSpPr txBox="1"/>
          <p:nvPr/>
        </p:nvSpPr>
        <p:spPr>
          <a:xfrm>
            <a:off x="1575723" y="1790785"/>
            <a:ext cx="311746" cy="136114"/>
          </a:xfrm>
          <a:prstGeom prst="rect">
            <a:avLst/>
          </a:prstGeom>
          <a:noFill/>
          <a:ln/>
        </p:spPr>
        <p:txBody>
          <a:bodyPr wrap="square" lIns="0" tIns="0" rIns="0" bIns="0" rtlCol="0" anchor="ctr"/>
          <a:lstStyle/>
          <a:p>
            <a:pPr algn="l" indent="0" marL="0">
              <a:buNone/>
            </a:pPr>
            <a:r>
              <a:rPr lang="en-US" sz="520" b="1" dirty="0">
                <a:solidFill>
                  <a:srgbClr val="D9463E"/>
                </a:solidFill>
                <a:latin typeface="Arial" pitchFamily="34" charset="0"/>
                <a:ea typeface="Arial" pitchFamily="34" charset="-122"/>
                <a:cs typeface="Arial" pitchFamily="34" charset="-120"/>
              </a:rPr>
              <a:t>煞停</a:t>
            </a:r>
            <a:endParaRPr lang="en-US" sz="520" dirty="0"/>
          </a:p>
        </p:txBody>
      </p:sp>
      <p:sp>
        <p:nvSpPr>
          <p:cNvPr id="17" name="Text 15"/>
          <p:cNvSpPr txBox="1"/>
          <p:nvPr/>
        </p:nvSpPr>
        <p:spPr>
          <a:xfrm>
            <a:off x="2282348" y="1607030"/>
            <a:ext cx="145482" cy="163337"/>
          </a:xfrm>
          <a:prstGeom prst="rect">
            <a:avLst/>
          </a:prstGeom>
          <a:noFill/>
          <a:ln/>
        </p:spPr>
        <p:txBody>
          <a:bodyPr wrap="square" lIns="0" tIns="0" rIns="0" bIns="0" rtlCol="0" anchor="ctr"/>
          <a:lstStyle/>
          <a:p>
            <a:pPr algn="ctr" indent="0" marL="0">
              <a:buNone/>
            </a:pPr>
            <a:r>
              <a:rPr lang="en-US" sz="600" b="1" dirty="0">
                <a:solidFill>
                  <a:srgbClr val="2E9E6B"/>
                </a:solidFill>
                <a:latin typeface="Arial" pitchFamily="34" charset="0"/>
                <a:ea typeface="Arial" pitchFamily="34" charset="-122"/>
                <a:cs typeface="Arial" pitchFamily="34" charset="-120"/>
              </a:rPr>
              <a:t>夠</a:t>
            </a:r>
            <a:endParaRPr lang="en-US" sz="600" dirty="0"/>
          </a:p>
        </p:txBody>
      </p:sp>
      <p:sp>
        <p:nvSpPr>
          <p:cNvPr id="18" name="Text 16"/>
          <p:cNvSpPr txBox="1"/>
          <p:nvPr/>
        </p:nvSpPr>
        <p:spPr>
          <a:xfrm>
            <a:off x="2749821" y="629347"/>
            <a:ext cx="5078684" cy="418052"/>
          </a:xfrm>
          <a:prstGeom prst="rect">
            <a:avLst/>
          </a:prstGeom>
          <a:noFill/>
          <a:ln/>
        </p:spPr>
        <p:txBody>
          <a:bodyPr wrap="square" lIns="0" tIns="0" rIns="0" bIns="0" rtlCol="0" anchor="t"/>
          <a:lstStyle/>
          <a:p>
            <a:pPr indent="0" marL="0">
              <a:lnSpc>
                <a:spcPct val="116000"/>
              </a:lnSpc>
              <a:buNone/>
            </a:pPr>
            <a:r>
              <a:rPr lang="en-US" sz="1440" b="1" dirty="0">
                <a:solidFill>
                  <a:srgbClr val="0B1F3A"/>
                </a:solidFill>
                <a:latin typeface="Arial" pitchFamily="34" charset="0"/>
                <a:ea typeface="Arial" pitchFamily="34" charset="-122"/>
                <a:cs typeface="Arial" pitchFamily="34" charset="-120"/>
              </a:rPr>
              <a:t>Chiều dài tia = tầm đo: nhìn được xa bao nhiêu mét</a:t>
            </a:r>
            <a:endParaRPr lang="en-US" sz="1440" dirty="0"/>
          </a:p>
          <a:p>
            <a:pPr indent="0" marL="0">
              <a:lnSpc>
                <a:spcPct val="116000"/>
              </a:lnSpc>
              <a:buNone/>
            </a:pPr>
            <a:r>
              <a:rPr lang="en-US" sz="1000" dirty="0">
                <a:solidFill>
                  <a:srgbClr val="007F72"/>
                </a:solidFill>
                <a:latin typeface="微軟正黑體" pitchFamily="34" charset="0"/>
                <a:ea typeface="微軟正黑體" pitchFamily="34" charset="-122"/>
                <a:cs typeface="微軟正黑體" pitchFamily="34" charset="-120"/>
              </a:rPr>
              <a:t>射線長度 ＝ 測距範圍：看得到幾公尺</a:t>
            </a:r>
            <a:endParaRPr lang="en-US" sz="1440" dirty="0"/>
          </a:p>
        </p:txBody>
      </p:sp>
      <p:sp>
        <p:nvSpPr>
          <p:cNvPr id="19" name="Shape 17"/>
          <p:cNvSpPr/>
          <p:nvPr/>
        </p:nvSpPr>
        <p:spPr>
          <a:xfrm>
            <a:off x="2749821" y="1120579"/>
            <a:ext cx="848887" cy="320216"/>
          </a:xfrm>
          <a:prstGeom prst="roundRect">
            <a:avLst>
              <a:gd name="adj" fmla="val 13712"/>
            </a:avLst>
          </a:prstGeom>
          <a:solidFill>
            <a:srgbClr val="0B1F3A"/>
          </a:solidFill>
          <a:ln/>
        </p:spPr>
      </p:sp>
      <p:sp>
        <p:nvSpPr>
          <p:cNvPr id="20" name="Text 18"/>
          <p:cNvSpPr txBox="1"/>
          <p:nvPr/>
        </p:nvSpPr>
        <p:spPr>
          <a:xfrm>
            <a:off x="2793729" y="1149851"/>
            <a:ext cx="761071" cy="276308"/>
          </a:xfrm>
          <a:prstGeom prst="rect">
            <a:avLst/>
          </a:prstGeom>
          <a:noFill/>
          <a:ln/>
        </p:spPr>
        <p:txBody>
          <a:bodyPr wrap="square" lIns="0" tIns="0" rIns="0" bIns="0" rtlCol="0" anchor="t"/>
          <a:lstStyle/>
          <a:p>
            <a:pPr algn="ctr" indent="0" marL="0">
              <a:lnSpc>
                <a:spcPct val="106000"/>
              </a:lnSpc>
              <a:buNone/>
            </a:pPr>
            <a:r>
              <a:rPr lang="en-US" sz="720" b="1" dirty="0">
                <a:solidFill>
                  <a:srgbClr val="FFFFFF"/>
                </a:solidFill>
                <a:latin typeface="Arial" pitchFamily="34" charset="0"/>
                <a:ea typeface="Arial" pitchFamily="34" charset="-122"/>
                <a:cs typeface="Arial" pitchFamily="34" charset="-120"/>
              </a:rPr>
              <a:t>Tên thông số</a:t>
            </a:r>
            <a:endParaRPr lang="en-US" sz="720" dirty="0"/>
          </a:p>
          <a:p>
            <a:pPr algn="ctr" indent="0" marL="0">
              <a:lnSpc>
                <a:spcPct val="106000"/>
              </a:lnSpc>
              <a:buNone/>
            </a:pPr>
            <a:r>
              <a:rPr lang="en-US" sz="680" dirty="0">
                <a:solidFill>
                  <a:srgbClr val="FFFFFF"/>
                </a:solidFill>
                <a:latin typeface="微軟正黑體" pitchFamily="34" charset="0"/>
                <a:ea typeface="微軟正黑體" pitchFamily="34" charset="-122"/>
                <a:cs typeface="微軟正黑體" pitchFamily="34" charset="-120"/>
              </a:rPr>
              <a:t>規格表上叫</a:t>
            </a:r>
            <a:endParaRPr lang="en-US" sz="720" dirty="0"/>
          </a:p>
        </p:txBody>
      </p:sp>
      <p:sp>
        <p:nvSpPr>
          <p:cNvPr id="21" name="Text 19"/>
          <p:cNvSpPr txBox="1"/>
          <p:nvPr/>
        </p:nvSpPr>
        <p:spPr>
          <a:xfrm>
            <a:off x="3715795" y="1120579"/>
            <a:ext cx="4112709" cy="364124"/>
          </a:xfrm>
          <a:prstGeom prst="rect">
            <a:avLst/>
          </a:prstGeom>
          <a:noFill/>
          <a:ln/>
        </p:spPr>
        <p:txBody>
          <a:bodyPr wrap="square" lIns="0" tIns="0" rIns="0" bIns="0" rtlCol="0" anchor="t"/>
          <a:lstStyle/>
          <a:p>
            <a:pPr indent="0" marL="0">
              <a:lnSpc>
                <a:spcPct val="126000"/>
              </a:lnSpc>
              <a:buNone/>
            </a:pPr>
            <a:r>
              <a:rPr lang="en-US" sz="880" dirty="0">
                <a:solidFill>
                  <a:srgbClr val="1A2733"/>
                </a:solidFill>
                <a:latin typeface="Arial" pitchFamily="34" charset="0"/>
                <a:ea typeface="Arial" pitchFamily="34" charset="-122"/>
                <a:cs typeface="Arial" pitchFamily="34" charset="-120"/>
              </a:rPr>
              <a:t>Range · tầm đo</a:t>
            </a:r>
            <a:endParaRPr lang="en-US" sz="880" dirty="0"/>
          </a:p>
          <a:p>
            <a:pPr indent="0" marL="0">
              <a:lnSpc>
                <a:spcPct val="126000"/>
              </a:lnSpc>
              <a:buNone/>
            </a:pPr>
            <a:r>
              <a:rPr lang="en-US" sz="800" dirty="0">
                <a:solidFill>
                  <a:srgbClr val="5F7183"/>
                </a:solidFill>
                <a:latin typeface="微軟正黑體" pitchFamily="34" charset="0"/>
                <a:ea typeface="微軟正黑體" pitchFamily="34" charset="-122"/>
                <a:cs typeface="微軟正黑體" pitchFamily="34" charset="-120"/>
              </a:rPr>
              <a:t>Range　測距範圍</a:t>
            </a:r>
            <a:endParaRPr lang="en-US" sz="880" dirty="0"/>
          </a:p>
        </p:txBody>
      </p:sp>
      <p:sp>
        <p:nvSpPr>
          <p:cNvPr id="22" name="Shape 20"/>
          <p:cNvSpPr/>
          <p:nvPr/>
        </p:nvSpPr>
        <p:spPr>
          <a:xfrm>
            <a:off x="2749821" y="1535929"/>
            <a:ext cx="848887" cy="320216"/>
          </a:xfrm>
          <a:prstGeom prst="roundRect">
            <a:avLst>
              <a:gd name="adj" fmla="val 13712"/>
            </a:avLst>
          </a:prstGeom>
          <a:solidFill>
            <a:srgbClr val="007F72"/>
          </a:solidFill>
          <a:ln/>
        </p:spPr>
      </p:sp>
      <p:sp>
        <p:nvSpPr>
          <p:cNvPr id="23" name="Text 21"/>
          <p:cNvSpPr txBox="1"/>
          <p:nvPr/>
        </p:nvSpPr>
        <p:spPr>
          <a:xfrm>
            <a:off x="2793729" y="1565201"/>
            <a:ext cx="761071" cy="276308"/>
          </a:xfrm>
          <a:prstGeom prst="rect">
            <a:avLst/>
          </a:prstGeom>
          <a:noFill/>
          <a:ln/>
        </p:spPr>
        <p:txBody>
          <a:bodyPr wrap="square" lIns="0" tIns="0" rIns="0" bIns="0" rtlCol="0" anchor="t"/>
          <a:lstStyle/>
          <a:p>
            <a:pPr algn="ctr" indent="0" marL="0">
              <a:lnSpc>
                <a:spcPct val="106000"/>
              </a:lnSpc>
              <a:buNone/>
            </a:pPr>
            <a:r>
              <a:rPr lang="en-US" sz="720" b="1" dirty="0">
                <a:solidFill>
                  <a:srgbClr val="FFFFFF"/>
                </a:solidFill>
                <a:latin typeface="Arial" pitchFamily="34" charset="0"/>
                <a:ea typeface="Arial" pitchFamily="34" charset="-122"/>
                <a:cs typeface="Arial" pitchFamily="34" charset="-120"/>
              </a:rPr>
              <a:t>Mô phỏng của ta</a:t>
            </a:r>
            <a:endParaRPr lang="en-US" sz="720" dirty="0"/>
          </a:p>
          <a:p>
            <a:pPr algn="ctr" indent="0" marL="0">
              <a:lnSpc>
                <a:spcPct val="106000"/>
              </a:lnSpc>
              <a:buNone/>
            </a:pPr>
            <a:r>
              <a:rPr lang="en-US" sz="680" dirty="0">
                <a:solidFill>
                  <a:srgbClr val="FFFFFF"/>
                </a:solidFill>
                <a:latin typeface="微軟正黑體" pitchFamily="34" charset="0"/>
                <a:ea typeface="微軟正黑體" pitchFamily="34" charset="-122"/>
                <a:cs typeface="微軟正黑體" pitchFamily="34" charset="-120"/>
              </a:rPr>
              <a:t>我們的模擬器</a:t>
            </a:r>
            <a:endParaRPr lang="en-US" sz="720" dirty="0"/>
          </a:p>
        </p:txBody>
      </p:sp>
      <p:sp>
        <p:nvSpPr>
          <p:cNvPr id="24" name="Text 22"/>
          <p:cNvSpPr txBox="1"/>
          <p:nvPr/>
        </p:nvSpPr>
        <p:spPr>
          <a:xfrm>
            <a:off x="3715795" y="1535929"/>
            <a:ext cx="4112709" cy="364124"/>
          </a:xfrm>
          <a:prstGeom prst="rect">
            <a:avLst/>
          </a:prstGeom>
          <a:noFill/>
          <a:ln/>
        </p:spPr>
        <p:txBody>
          <a:bodyPr wrap="square" lIns="0" tIns="0" rIns="0" bIns="0" rtlCol="0" anchor="t"/>
          <a:lstStyle/>
          <a:p>
            <a:pPr indent="0" marL="0">
              <a:lnSpc>
                <a:spcPct val="126000"/>
              </a:lnSpc>
              <a:buNone/>
            </a:pPr>
            <a:r>
              <a:rPr lang="en-US" sz="880" dirty="0">
                <a:solidFill>
                  <a:srgbClr val="1A2733"/>
                </a:solidFill>
                <a:latin typeface="Arial" pitchFamily="34" charset="0"/>
                <a:ea typeface="Arial" pitchFamily="34" charset="-122"/>
                <a:cs typeface="Arial" pitchFamily="34" charset="-120"/>
              </a:rPr>
              <a:t>10 đến 120 m</a:t>
            </a:r>
            <a:endParaRPr lang="en-US" sz="880" dirty="0"/>
          </a:p>
          <a:p>
            <a:pPr indent="0" marL="0">
              <a:lnSpc>
                <a:spcPct val="126000"/>
              </a:lnSpc>
              <a:buNone/>
            </a:pPr>
            <a:r>
              <a:rPr lang="en-US" sz="800" dirty="0">
                <a:solidFill>
                  <a:srgbClr val="5F7183"/>
                </a:solidFill>
                <a:latin typeface="微軟正黑體" pitchFamily="34" charset="0"/>
                <a:ea typeface="微軟正黑體" pitchFamily="34" charset="-122"/>
                <a:cs typeface="微軟正黑體" pitchFamily="34" charset="-120"/>
              </a:rPr>
              <a:t>10 到 120 公尺</a:t>
            </a:r>
            <a:endParaRPr lang="en-US" sz="880" dirty="0"/>
          </a:p>
        </p:txBody>
      </p:sp>
      <p:sp>
        <p:nvSpPr>
          <p:cNvPr id="25" name="Shape 23"/>
          <p:cNvSpPr/>
          <p:nvPr/>
        </p:nvSpPr>
        <p:spPr>
          <a:xfrm>
            <a:off x="2749821" y="1951279"/>
            <a:ext cx="848887" cy="320216"/>
          </a:xfrm>
          <a:prstGeom prst="roundRect">
            <a:avLst>
              <a:gd name="adj" fmla="val 13712"/>
            </a:avLst>
          </a:prstGeom>
          <a:solidFill>
            <a:srgbClr val="FFB020"/>
          </a:solidFill>
          <a:ln/>
        </p:spPr>
      </p:sp>
      <p:sp>
        <p:nvSpPr>
          <p:cNvPr id="26" name="Text 24"/>
          <p:cNvSpPr txBox="1"/>
          <p:nvPr/>
        </p:nvSpPr>
        <p:spPr>
          <a:xfrm>
            <a:off x="2793729" y="1980551"/>
            <a:ext cx="761071" cy="276308"/>
          </a:xfrm>
          <a:prstGeom prst="rect">
            <a:avLst/>
          </a:prstGeom>
          <a:noFill/>
          <a:ln/>
        </p:spPr>
        <p:txBody>
          <a:bodyPr wrap="square" lIns="0" tIns="0" rIns="0" bIns="0" rtlCol="0" anchor="t"/>
          <a:lstStyle/>
          <a:p>
            <a:pPr algn="ctr" indent="0" marL="0">
              <a:lnSpc>
                <a:spcPct val="106000"/>
              </a:lnSpc>
              <a:buNone/>
            </a:pPr>
            <a:r>
              <a:rPr lang="en-US" sz="720" b="1" dirty="0">
                <a:solidFill>
                  <a:srgbClr val="3A2A00"/>
                </a:solidFill>
                <a:latin typeface="Arial" pitchFamily="34" charset="0"/>
                <a:ea typeface="Arial" pitchFamily="34" charset="-122"/>
                <a:cs typeface="Arial" pitchFamily="34" charset="-120"/>
              </a:rPr>
              <a:t>LiDAR xe thật</a:t>
            </a:r>
            <a:endParaRPr lang="en-US" sz="720" dirty="0"/>
          </a:p>
          <a:p>
            <a:pPr algn="ctr" indent="0" marL="0">
              <a:lnSpc>
                <a:spcPct val="106000"/>
              </a:lnSpc>
              <a:buNone/>
            </a:pPr>
            <a:r>
              <a:rPr lang="en-US" sz="680" dirty="0">
                <a:solidFill>
                  <a:srgbClr val="3A2A00"/>
                </a:solidFill>
                <a:latin typeface="微軟正黑體" pitchFamily="34" charset="0"/>
                <a:ea typeface="微軟正黑體" pitchFamily="34" charset="-122"/>
                <a:cs typeface="微軟正黑體" pitchFamily="34" charset="-120"/>
              </a:rPr>
              <a:t>真車的光達</a:t>
            </a:r>
            <a:endParaRPr lang="en-US" sz="720" dirty="0"/>
          </a:p>
        </p:txBody>
      </p:sp>
      <p:sp>
        <p:nvSpPr>
          <p:cNvPr id="27" name="Text 25"/>
          <p:cNvSpPr txBox="1"/>
          <p:nvPr/>
        </p:nvSpPr>
        <p:spPr>
          <a:xfrm>
            <a:off x="3715795" y="1951279"/>
            <a:ext cx="4112709" cy="364124"/>
          </a:xfrm>
          <a:prstGeom prst="rect">
            <a:avLst/>
          </a:prstGeom>
          <a:noFill/>
          <a:ln/>
        </p:spPr>
        <p:txBody>
          <a:bodyPr wrap="square" lIns="0" tIns="0" rIns="0" bIns="0" rtlCol="0" anchor="t"/>
          <a:lstStyle/>
          <a:p>
            <a:pPr indent="0" marL="0">
              <a:lnSpc>
                <a:spcPct val="126000"/>
              </a:lnSpc>
              <a:buNone/>
            </a:pPr>
            <a:r>
              <a:rPr lang="en-US" sz="880" dirty="0">
                <a:solidFill>
                  <a:srgbClr val="1A2733"/>
                </a:solidFill>
                <a:latin typeface="Arial" pitchFamily="34" charset="0"/>
                <a:ea typeface="Arial" pitchFamily="34" charset="-122"/>
                <a:cs typeface="Arial" pitchFamily="34" charset="-120"/>
              </a:rPr>
              <a:t>150 đến 300 m</a:t>
            </a:r>
            <a:endParaRPr lang="en-US" sz="880" dirty="0"/>
          </a:p>
          <a:p>
            <a:pPr indent="0" marL="0">
              <a:lnSpc>
                <a:spcPct val="126000"/>
              </a:lnSpc>
              <a:buNone/>
            </a:pPr>
            <a:r>
              <a:rPr lang="en-US" sz="800" dirty="0">
                <a:solidFill>
                  <a:srgbClr val="5F7183"/>
                </a:solidFill>
                <a:latin typeface="微軟正黑體" pitchFamily="34" charset="0"/>
                <a:ea typeface="微軟正黑體" pitchFamily="34" charset="-122"/>
                <a:cs typeface="微軟正黑體" pitchFamily="34" charset="-120"/>
              </a:rPr>
              <a:t>150 到 300 公尺</a:t>
            </a:r>
            <a:endParaRPr lang="en-US" sz="880" dirty="0"/>
          </a:p>
        </p:txBody>
      </p:sp>
      <p:sp>
        <p:nvSpPr>
          <p:cNvPr id="28" name="Shape 26"/>
          <p:cNvSpPr/>
          <p:nvPr/>
        </p:nvSpPr>
        <p:spPr>
          <a:xfrm>
            <a:off x="2749821" y="2366630"/>
            <a:ext cx="848887" cy="320216"/>
          </a:xfrm>
          <a:prstGeom prst="roundRect">
            <a:avLst>
              <a:gd name="adj" fmla="val 13712"/>
            </a:avLst>
          </a:prstGeom>
          <a:solidFill>
            <a:srgbClr val="0B1F3A"/>
          </a:solidFill>
          <a:ln/>
        </p:spPr>
      </p:sp>
      <p:sp>
        <p:nvSpPr>
          <p:cNvPr id="29" name="Text 27"/>
          <p:cNvSpPr txBox="1"/>
          <p:nvPr/>
        </p:nvSpPr>
        <p:spPr>
          <a:xfrm>
            <a:off x="2793729" y="2395902"/>
            <a:ext cx="761071" cy="276308"/>
          </a:xfrm>
          <a:prstGeom prst="rect">
            <a:avLst/>
          </a:prstGeom>
          <a:noFill/>
          <a:ln/>
        </p:spPr>
        <p:txBody>
          <a:bodyPr wrap="square" lIns="0" tIns="0" rIns="0" bIns="0" rtlCol="0" anchor="t"/>
          <a:lstStyle/>
          <a:p>
            <a:pPr algn="ctr" indent="0" marL="0">
              <a:lnSpc>
                <a:spcPct val="106000"/>
              </a:lnSpc>
              <a:buNone/>
            </a:pPr>
            <a:r>
              <a:rPr lang="en-US" sz="720" b="1" dirty="0">
                <a:solidFill>
                  <a:srgbClr val="FFFFFF"/>
                </a:solidFill>
                <a:latin typeface="Arial" pitchFamily="34" charset="0"/>
                <a:ea typeface="Arial" pitchFamily="34" charset="-122"/>
                <a:cs typeface="Arial" pitchFamily="34" charset="-120"/>
              </a:rPr>
              <a:t>Ngắn quá thì sao</a:t>
            </a:r>
            <a:endParaRPr lang="en-US" sz="720" dirty="0"/>
          </a:p>
          <a:p>
            <a:pPr algn="ctr" indent="0" marL="0">
              <a:lnSpc>
                <a:spcPct val="106000"/>
              </a:lnSpc>
              <a:buNone/>
            </a:pPr>
            <a:r>
              <a:rPr lang="en-US" sz="680" dirty="0">
                <a:solidFill>
                  <a:srgbClr val="FFFFFF"/>
                </a:solidFill>
                <a:latin typeface="微軟正黑體" pitchFamily="34" charset="0"/>
                <a:ea typeface="微軟正黑體" pitchFamily="34" charset="-122"/>
                <a:cs typeface="微軟正黑體" pitchFamily="34" charset="-120"/>
              </a:rPr>
              <a:t>太短會怎樣</a:t>
            </a:r>
            <a:endParaRPr lang="en-US" sz="720" dirty="0"/>
          </a:p>
        </p:txBody>
      </p:sp>
      <p:sp>
        <p:nvSpPr>
          <p:cNvPr id="30" name="Text 28"/>
          <p:cNvSpPr txBox="1"/>
          <p:nvPr/>
        </p:nvSpPr>
        <p:spPr>
          <a:xfrm>
            <a:off x="3715795" y="2366630"/>
            <a:ext cx="4112709" cy="364124"/>
          </a:xfrm>
          <a:prstGeom prst="rect">
            <a:avLst/>
          </a:prstGeom>
          <a:noFill/>
          <a:ln/>
        </p:spPr>
        <p:txBody>
          <a:bodyPr wrap="square" lIns="0" tIns="0" rIns="0" bIns="0" rtlCol="0" anchor="t"/>
          <a:lstStyle/>
          <a:p>
            <a:pPr indent="0" marL="0">
              <a:lnSpc>
                <a:spcPct val="126000"/>
              </a:lnSpc>
              <a:buNone/>
            </a:pPr>
            <a:r>
              <a:rPr lang="en-US" sz="880" dirty="0">
                <a:solidFill>
                  <a:srgbClr val="1A2733"/>
                </a:solidFill>
                <a:latin typeface="Arial" pitchFamily="34" charset="0"/>
                <a:ea typeface="Arial" pitchFamily="34" charset="-122"/>
                <a:cs typeface="Arial" pitchFamily="34" charset="-120"/>
              </a:rPr>
              <a:t>Thấy rồi cũng phanh không kịp — chắc chắn đâm</a:t>
            </a:r>
            <a:endParaRPr lang="en-US" sz="880" dirty="0"/>
          </a:p>
          <a:p>
            <a:pPr indent="0" marL="0">
              <a:lnSpc>
                <a:spcPct val="126000"/>
              </a:lnSpc>
              <a:buNone/>
            </a:pPr>
            <a:r>
              <a:rPr lang="en-US" sz="800" dirty="0">
                <a:solidFill>
                  <a:srgbClr val="5F7183"/>
                </a:solidFill>
                <a:latin typeface="微軟正黑體" pitchFamily="34" charset="0"/>
                <a:ea typeface="微軟正黑體" pitchFamily="34" charset="-122"/>
                <a:cs typeface="微軟正黑體" pitchFamily="34" charset="-120"/>
              </a:rPr>
              <a:t>看到了也煞不住——一定撞</a:t>
            </a:r>
            <a:endParaRPr lang="en-US" sz="880" dirty="0"/>
          </a:p>
        </p:txBody>
      </p:sp>
      <p:sp>
        <p:nvSpPr>
          <p:cNvPr id="31" name="Shape 29"/>
          <p:cNvSpPr/>
          <p:nvPr/>
        </p:nvSpPr>
        <p:spPr>
          <a:xfrm>
            <a:off x="1315495" y="3146735"/>
            <a:ext cx="6513009" cy="453715"/>
          </a:xfrm>
          <a:prstGeom prst="roundRect">
            <a:avLst>
              <a:gd name="adj" fmla="val 14516"/>
            </a:avLst>
          </a:prstGeom>
          <a:solidFill>
            <a:srgbClr val="FFF6E3"/>
          </a:solidFill>
          <a:ln w="12700">
            <a:solidFill>
              <a:srgbClr val="FFB020"/>
            </a:solidFill>
            <a:prstDash val="solid"/>
          </a:ln>
        </p:spPr>
      </p:sp>
      <p:sp>
        <p:nvSpPr>
          <p:cNvPr id="32" name="Text 30"/>
          <p:cNvSpPr txBox="1"/>
          <p:nvPr/>
        </p:nvSpPr>
        <p:spPr>
          <a:xfrm>
            <a:off x="1461855" y="3197961"/>
            <a:ext cx="6220290" cy="365899"/>
          </a:xfrm>
          <a:prstGeom prst="rect">
            <a:avLst/>
          </a:prstGeom>
          <a:noFill/>
          <a:ln/>
        </p:spPr>
        <p:txBody>
          <a:bodyPr wrap="square" lIns="0" tIns="0" rIns="0" bIns="0" rtlCol="0" anchor="t"/>
          <a:lstStyle/>
          <a:p>
            <a:pPr indent="0" marL="0">
              <a:lnSpc>
                <a:spcPct val="116000"/>
              </a:lnSpc>
              <a:buNone/>
            </a:pPr>
            <a:r>
              <a:rPr lang="en-US" sz="960" b="1" dirty="0">
                <a:solidFill>
                  <a:srgbClr val="7A4E00"/>
                </a:solidFill>
                <a:latin typeface="Arial" pitchFamily="34" charset="0"/>
                <a:ea typeface="Arial" pitchFamily="34" charset="-122"/>
                <a:cs typeface="Arial" pitchFamily="34" charset="-120"/>
              </a:rPr>
              <a:t>Con số này không được tự chọn: quãng đường phanh quyết định nó. Trang sau tính.</a:t>
            </a:r>
            <a:endParaRPr lang="en-US" sz="960" dirty="0"/>
          </a:p>
          <a:p>
            <a:pPr indent="0" marL="0">
              <a:lnSpc>
                <a:spcPct val="116000"/>
              </a:lnSpc>
              <a:buNone/>
            </a:pPr>
            <a:r>
              <a:rPr lang="en-US" sz="880" dirty="0">
                <a:solidFill>
                  <a:srgbClr val="7A4E00"/>
                </a:solidFill>
                <a:latin typeface="微軟正黑體" pitchFamily="34" charset="0"/>
                <a:ea typeface="微軟正黑體" pitchFamily="34" charset="-122"/>
                <a:cs typeface="微軟正黑體" pitchFamily="34" charset="-120"/>
              </a:rPr>
              <a:t>這個數字不能隨便選：煞停距離決定它。下一頁就算給你看。</a:t>
            </a:r>
            <a:endParaRPr lang="en-US" sz="960" dirty="0"/>
          </a:p>
        </p:txBody>
      </p:sp>
      <p:pic>
        <p:nvPicPr>
          <p:cNvPr id="34" name="Image 0" descr="/Users/tsengchenghsun/Class/carClass/Claude outputs/第四週(10-1)/src/logo.png">    </p:cNvPr>
          <p:cNvPicPr>
            <a:picLocks noChangeAspect="1"/>
          </p:cNvPicPr>
          <p:nvPr/>
        </p:nvPicPr>
        <p:blipFill>
          <a:blip r:embed="rId1"/>
          <a:stretch>
            <a:fillRect/>
          </a:stretch>
        </p:blipFill>
        <p:spPr>
          <a:xfrm>
            <a:off x="7882128" y="109728"/>
            <a:ext cx="1097280" cy="242439"/>
          </a:xfrm>
          <a:prstGeom prst="rect">
            <a:avLst/>
          </a:prstGeom>
        </p:spPr>
      </p:pic>
      <p:sp>
        <p:nvSpPr>
          <p:cNvPr id="35" name="Text 31"/>
          <p:cNvSpPr txBox="1"/>
          <p:nvPr/>
        </p:nvSpPr>
        <p:spPr>
          <a:xfrm>
            <a:off x="1000822" y="102452"/>
            <a:ext cx="658619" cy="204904"/>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5 / 18</a:t>
            </a:r>
            <a:endParaRPr lang="en-US" sz="720" dirty="0"/>
          </a:p>
        </p:txBody>
      </p:sp>
      <p:sp>
        <p:nvSpPr>
          <p:cNvPr id="36" name="Text 32"/>
          <p:cNvSpPr txBox="1"/>
          <p:nvPr/>
        </p:nvSpPr>
        <p:spPr>
          <a:xfrm>
            <a:off x="1681395" y="102452"/>
            <a:ext cx="1609957" cy="204904"/>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Tiết 1 · 第 1 節</a:t>
            </a:r>
            <a:endParaRPr lang="en-US" sz="7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913006" y="0"/>
          <a:ext cx="1" cy="1"/>
          <a:chOff x="0" y="0"/>
          <a:chExt cx="0" cy="0"/>
        </a:xfrm>
      </p:grpSpPr>
      <p:sp>
        <p:nvSpPr>
          <p:cNvPr id="2" name="Text 0"/>
          <p:cNvSpPr txBox="1"/>
          <p:nvPr/>
        </p:nvSpPr>
        <p:spPr>
          <a:xfrm>
            <a:off x="1315495" y="292720"/>
            <a:ext cx="6513009" cy="219540"/>
          </a:xfrm>
          <a:prstGeom prst="rect">
            <a:avLst/>
          </a:prstGeom>
          <a:noFill/>
          <a:ln/>
        </p:spPr>
        <p:txBody>
          <a:bodyPr wrap="square" lIns="0" tIns="0" rIns="0" bIns="0" rtlCol="0" anchor="ctr"/>
          <a:lstStyle/>
          <a:p>
            <a:pPr indent="0" marL="0">
              <a:buNone/>
            </a:pPr>
            <a:r>
              <a:rPr lang="en-US" sz="1040" b="1" dirty="0">
                <a:solidFill>
                  <a:srgbClr val="007F72"/>
                </a:solidFill>
                <a:latin typeface="Arial" pitchFamily="34" charset="0"/>
                <a:ea typeface="Arial" pitchFamily="34" charset="-122"/>
                <a:cs typeface="Arial" pitchFamily="34" charset="-120"/>
              </a:rPr>
              <a:t>3 / 3　Góc quét · 張角</a:t>
            </a:r>
            <a:endParaRPr lang="en-US" sz="1040" dirty="0"/>
          </a:p>
        </p:txBody>
      </p:sp>
      <p:sp>
        <p:nvSpPr>
          <p:cNvPr id="3" name="Shape 1"/>
          <p:cNvSpPr/>
          <p:nvPr/>
        </p:nvSpPr>
        <p:spPr>
          <a:xfrm>
            <a:off x="1315495" y="702527"/>
            <a:ext cx="1185514" cy="1536777"/>
          </a:xfrm>
          <a:prstGeom prst="roundRect">
            <a:avLst>
              <a:gd name="adj" fmla="val 7407"/>
            </a:avLst>
          </a:prstGeom>
          <a:solidFill>
            <a:srgbClr val="F4F7FA"/>
          </a:solidFill>
          <a:ln w="12700">
            <a:solidFill>
              <a:srgbClr val="DBE3EA"/>
            </a:solidFill>
            <a:prstDash val="solid"/>
          </a:ln>
        </p:spPr>
      </p:sp>
      <p:sp>
        <p:nvSpPr>
          <p:cNvPr id="4" name="Shape 2"/>
          <p:cNvSpPr/>
          <p:nvPr/>
        </p:nvSpPr>
        <p:spPr>
          <a:xfrm flipV="1">
            <a:off x="1638073" y="990872"/>
            <a:ext cx="513913" cy="166980"/>
          </a:xfrm>
          <a:prstGeom prst="line">
            <a:avLst/>
          </a:prstGeom>
          <a:noFill/>
          <a:ln w="13970">
            <a:solidFill>
              <a:srgbClr val="1F4E79"/>
            </a:solidFill>
            <a:prstDash val="solid"/>
          </a:ln>
        </p:spPr>
      </p:sp>
      <p:sp>
        <p:nvSpPr>
          <p:cNvPr id="5" name="Shape 3"/>
          <p:cNvSpPr/>
          <p:nvPr/>
        </p:nvSpPr>
        <p:spPr>
          <a:xfrm flipV="1">
            <a:off x="1638073" y="1045505"/>
            <a:ext cx="528552" cy="112348"/>
          </a:xfrm>
          <a:prstGeom prst="line">
            <a:avLst/>
          </a:prstGeom>
          <a:noFill/>
          <a:ln w="13970">
            <a:solidFill>
              <a:srgbClr val="1F4E79"/>
            </a:solidFill>
            <a:prstDash val="solid"/>
          </a:ln>
        </p:spPr>
      </p:sp>
      <p:sp>
        <p:nvSpPr>
          <p:cNvPr id="6" name="Shape 4"/>
          <p:cNvSpPr/>
          <p:nvPr/>
        </p:nvSpPr>
        <p:spPr>
          <a:xfrm flipV="1">
            <a:off x="1638073" y="1101369"/>
            <a:ext cx="537400" cy="56483"/>
          </a:xfrm>
          <a:prstGeom prst="line">
            <a:avLst/>
          </a:prstGeom>
          <a:noFill/>
          <a:ln w="13970">
            <a:solidFill>
              <a:srgbClr val="1F4E79"/>
            </a:solidFill>
            <a:prstDash val="solid"/>
          </a:ln>
        </p:spPr>
      </p:sp>
      <p:sp>
        <p:nvSpPr>
          <p:cNvPr id="7" name="Shape 5"/>
          <p:cNvSpPr/>
          <p:nvPr/>
        </p:nvSpPr>
        <p:spPr>
          <a:xfrm>
            <a:off x="1638073" y="1157852"/>
            <a:ext cx="540360" cy="1"/>
          </a:xfrm>
          <a:prstGeom prst="line">
            <a:avLst/>
          </a:prstGeom>
          <a:noFill/>
          <a:ln w="13970">
            <a:solidFill>
              <a:srgbClr val="1F4E79"/>
            </a:solidFill>
            <a:prstDash val="solid"/>
          </a:ln>
        </p:spPr>
      </p:sp>
      <p:sp>
        <p:nvSpPr>
          <p:cNvPr id="8" name="Shape 6"/>
          <p:cNvSpPr/>
          <p:nvPr/>
        </p:nvSpPr>
        <p:spPr>
          <a:xfrm>
            <a:off x="1638073" y="1157852"/>
            <a:ext cx="537400" cy="56483"/>
          </a:xfrm>
          <a:prstGeom prst="line">
            <a:avLst/>
          </a:prstGeom>
          <a:noFill/>
          <a:ln w="13970">
            <a:solidFill>
              <a:srgbClr val="1F4E79"/>
            </a:solidFill>
            <a:prstDash val="solid"/>
          </a:ln>
        </p:spPr>
      </p:sp>
      <p:sp>
        <p:nvSpPr>
          <p:cNvPr id="9" name="Shape 7"/>
          <p:cNvSpPr/>
          <p:nvPr/>
        </p:nvSpPr>
        <p:spPr>
          <a:xfrm>
            <a:off x="1638073" y="1157852"/>
            <a:ext cx="528552" cy="112348"/>
          </a:xfrm>
          <a:prstGeom prst="line">
            <a:avLst/>
          </a:prstGeom>
          <a:noFill/>
          <a:ln w="13970">
            <a:solidFill>
              <a:srgbClr val="1F4E79"/>
            </a:solidFill>
            <a:prstDash val="solid"/>
          </a:ln>
        </p:spPr>
      </p:sp>
      <p:sp>
        <p:nvSpPr>
          <p:cNvPr id="10" name="Shape 8"/>
          <p:cNvSpPr/>
          <p:nvPr/>
        </p:nvSpPr>
        <p:spPr>
          <a:xfrm>
            <a:off x="1638073" y="1157852"/>
            <a:ext cx="513913" cy="166980"/>
          </a:xfrm>
          <a:prstGeom prst="line">
            <a:avLst/>
          </a:prstGeom>
          <a:noFill/>
          <a:ln w="13970">
            <a:solidFill>
              <a:srgbClr val="1F4E79"/>
            </a:solidFill>
            <a:prstDash val="solid"/>
          </a:ln>
        </p:spPr>
      </p:sp>
      <p:sp>
        <p:nvSpPr>
          <p:cNvPr id="11" name="Shape 9"/>
          <p:cNvSpPr/>
          <p:nvPr/>
        </p:nvSpPr>
        <p:spPr>
          <a:xfrm>
            <a:off x="1608976" y="1128756"/>
            <a:ext cx="58193" cy="58193"/>
          </a:xfrm>
          <a:prstGeom prst="ellipse">
            <a:avLst/>
          </a:prstGeom>
          <a:solidFill>
            <a:srgbClr val="1F4E79"/>
          </a:solidFill>
          <a:ln/>
        </p:spPr>
      </p:sp>
      <p:sp>
        <p:nvSpPr>
          <p:cNvPr id="12" name="Text 10"/>
          <p:cNvSpPr txBox="1"/>
          <p:nvPr/>
        </p:nvSpPr>
        <p:spPr>
          <a:xfrm>
            <a:off x="1388675" y="1035349"/>
            <a:ext cx="187048" cy="245006"/>
          </a:xfrm>
          <a:prstGeom prst="rect">
            <a:avLst/>
          </a:prstGeom>
          <a:noFill/>
          <a:ln/>
        </p:spPr>
        <p:txBody>
          <a:bodyPr wrap="square" lIns="0" tIns="0" rIns="0" bIns="0" rtlCol="0" anchor="ctr"/>
          <a:lstStyle/>
          <a:p>
            <a:pPr algn="ctr" indent="0" marL="0">
              <a:buNone/>
            </a:pPr>
            <a:r>
              <a:rPr lang="en-US" sz="600" b="1" dirty="0">
                <a:solidFill>
                  <a:srgbClr val="1F4E79"/>
                </a:solidFill>
                <a:latin typeface="Arial" pitchFamily="34" charset="0"/>
                <a:ea typeface="Arial" pitchFamily="34" charset="-122"/>
                <a:cs typeface="Arial" pitchFamily="34" charset="-120"/>
              </a:rPr>
              <a:t>窄</a:t>
            </a:r>
            <a:endParaRPr lang="en-US" sz="600" dirty="0"/>
          </a:p>
        </p:txBody>
      </p:sp>
      <p:sp>
        <p:nvSpPr>
          <p:cNvPr id="13" name="Shape 11"/>
          <p:cNvSpPr/>
          <p:nvPr/>
        </p:nvSpPr>
        <p:spPr>
          <a:xfrm flipV="1">
            <a:off x="1638073" y="1306869"/>
            <a:ext cx="253684" cy="477110"/>
          </a:xfrm>
          <a:prstGeom prst="line">
            <a:avLst/>
          </a:prstGeom>
          <a:noFill/>
          <a:ln w="13970">
            <a:solidFill>
              <a:srgbClr val="1F4E79"/>
            </a:solidFill>
            <a:prstDash val="solid"/>
          </a:ln>
        </p:spPr>
      </p:sp>
      <p:sp>
        <p:nvSpPr>
          <p:cNvPr id="14" name="Shape 12"/>
          <p:cNvSpPr/>
          <p:nvPr/>
        </p:nvSpPr>
        <p:spPr>
          <a:xfrm flipV="1">
            <a:off x="1638073" y="1427104"/>
            <a:ext cx="405746" cy="356875"/>
          </a:xfrm>
          <a:prstGeom prst="line">
            <a:avLst/>
          </a:prstGeom>
          <a:noFill/>
          <a:ln w="13970">
            <a:solidFill>
              <a:srgbClr val="1F4E79"/>
            </a:solidFill>
            <a:prstDash val="solid"/>
          </a:ln>
        </p:spPr>
      </p:sp>
      <p:sp>
        <p:nvSpPr>
          <p:cNvPr id="15" name="Shape 13"/>
          <p:cNvSpPr/>
          <p:nvPr/>
        </p:nvSpPr>
        <p:spPr>
          <a:xfrm flipV="1">
            <a:off x="1638073" y="1593269"/>
            <a:ext cx="505588" cy="190709"/>
          </a:xfrm>
          <a:prstGeom prst="line">
            <a:avLst/>
          </a:prstGeom>
          <a:noFill/>
          <a:ln w="13970">
            <a:solidFill>
              <a:srgbClr val="1F4E79"/>
            </a:solidFill>
            <a:prstDash val="solid"/>
          </a:ln>
        </p:spPr>
      </p:sp>
      <p:sp>
        <p:nvSpPr>
          <p:cNvPr id="16" name="Shape 14"/>
          <p:cNvSpPr/>
          <p:nvPr/>
        </p:nvSpPr>
        <p:spPr>
          <a:xfrm>
            <a:off x="1638073" y="1783979"/>
            <a:ext cx="540360" cy="1"/>
          </a:xfrm>
          <a:prstGeom prst="line">
            <a:avLst/>
          </a:prstGeom>
          <a:noFill/>
          <a:ln w="13970">
            <a:solidFill>
              <a:srgbClr val="1F4E79"/>
            </a:solidFill>
            <a:prstDash val="solid"/>
          </a:ln>
        </p:spPr>
      </p:sp>
      <p:sp>
        <p:nvSpPr>
          <p:cNvPr id="17" name="Shape 15"/>
          <p:cNvSpPr/>
          <p:nvPr/>
        </p:nvSpPr>
        <p:spPr>
          <a:xfrm>
            <a:off x="1638073" y="1783979"/>
            <a:ext cx="505588" cy="190709"/>
          </a:xfrm>
          <a:prstGeom prst="line">
            <a:avLst/>
          </a:prstGeom>
          <a:noFill/>
          <a:ln w="13970">
            <a:solidFill>
              <a:srgbClr val="1F4E79"/>
            </a:solidFill>
            <a:prstDash val="solid"/>
          </a:ln>
        </p:spPr>
      </p:sp>
      <p:sp>
        <p:nvSpPr>
          <p:cNvPr id="18" name="Shape 16"/>
          <p:cNvSpPr/>
          <p:nvPr/>
        </p:nvSpPr>
        <p:spPr>
          <a:xfrm>
            <a:off x="1638073" y="1783979"/>
            <a:ext cx="405746" cy="356875"/>
          </a:xfrm>
          <a:prstGeom prst="line">
            <a:avLst/>
          </a:prstGeom>
          <a:noFill/>
          <a:ln w="13970">
            <a:solidFill>
              <a:srgbClr val="1F4E79"/>
            </a:solidFill>
            <a:prstDash val="solid"/>
          </a:ln>
        </p:spPr>
      </p:sp>
      <p:sp>
        <p:nvSpPr>
          <p:cNvPr id="19" name="Shape 17"/>
          <p:cNvSpPr/>
          <p:nvPr/>
        </p:nvSpPr>
        <p:spPr>
          <a:xfrm>
            <a:off x="1638073" y="1783979"/>
            <a:ext cx="253684" cy="477110"/>
          </a:xfrm>
          <a:prstGeom prst="line">
            <a:avLst/>
          </a:prstGeom>
          <a:noFill/>
          <a:ln w="13970">
            <a:solidFill>
              <a:srgbClr val="1F4E79"/>
            </a:solidFill>
            <a:prstDash val="solid"/>
          </a:ln>
        </p:spPr>
      </p:sp>
      <p:sp>
        <p:nvSpPr>
          <p:cNvPr id="20" name="Shape 18"/>
          <p:cNvSpPr/>
          <p:nvPr/>
        </p:nvSpPr>
        <p:spPr>
          <a:xfrm>
            <a:off x="1608976" y="1754883"/>
            <a:ext cx="58193" cy="58193"/>
          </a:xfrm>
          <a:prstGeom prst="ellipse">
            <a:avLst/>
          </a:prstGeom>
          <a:solidFill>
            <a:srgbClr val="1F4E79"/>
          </a:solidFill>
          <a:ln/>
        </p:spPr>
      </p:sp>
      <p:sp>
        <p:nvSpPr>
          <p:cNvPr id="21" name="Text 19"/>
          <p:cNvSpPr txBox="1"/>
          <p:nvPr/>
        </p:nvSpPr>
        <p:spPr>
          <a:xfrm>
            <a:off x="1388675" y="1661476"/>
            <a:ext cx="187048" cy="245006"/>
          </a:xfrm>
          <a:prstGeom prst="rect">
            <a:avLst/>
          </a:prstGeom>
          <a:noFill/>
          <a:ln/>
        </p:spPr>
        <p:txBody>
          <a:bodyPr wrap="square" lIns="0" tIns="0" rIns="0" bIns="0" rtlCol="0" anchor="ctr"/>
          <a:lstStyle/>
          <a:p>
            <a:pPr algn="ctr" indent="0" marL="0">
              <a:buNone/>
            </a:pPr>
            <a:r>
              <a:rPr lang="en-US" sz="600" b="1" dirty="0">
                <a:solidFill>
                  <a:srgbClr val="1F4E79"/>
                </a:solidFill>
                <a:latin typeface="Arial" pitchFamily="34" charset="0"/>
                <a:ea typeface="Arial" pitchFamily="34" charset="-122"/>
                <a:cs typeface="Arial" pitchFamily="34" charset="-120"/>
              </a:rPr>
              <a:t>寬</a:t>
            </a:r>
            <a:endParaRPr lang="en-US" sz="600" dirty="0"/>
          </a:p>
        </p:txBody>
      </p:sp>
      <p:sp>
        <p:nvSpPr>
          <p:cNvPr id="22" name="Shape 20"/>
          <p:cNvSpPr/>
          <p:nvPr/>
        </p:nvSpPr>
        <p:spPr>
          <a:xfrm>
            <a:off x="2021783" y="1819954"/>
            <a:ext cx="83132" cy="83132"/>
          </a:xfrm>
          <a:prstGeom prst="roundRect">
            <a:avLst>
              <a:gd name="adj" fmla="val 22500"/>
            </a:avLst>
          </a:prstGeom>
          <a:solidFill>
            <a:srgbClr val="D9463E"/>
          </a:solidFill>
          <a:ln/>
        </p:spPr>
      </p:sp>
      <p:sp>
        <p:nvSpPr>
          <p:cNvPr id="23" name="Text 21"/>
          <p:cNvSpPr txBox="1"/>
          <p:nvPr/>
        </p:nvSpPr>
        <p:spPr>
          <a:xfrm>
            <a:off x="2032951" y="1974539"/>
            <a:ext cx="394878" cy="190561"/>
          </a:xfrm>
          <a:prstGeom prst="rect">
            <a:avLst/>
          </a:prstGeom>
          <a:noFill/>
          <a:ln/>
        </p:spPr>
        <p:txBody>
          <a:bodyPr wrap="square" lIns="0" tIns="0" rIns="0" bIns="0" rtlCol="0" anchor="ctr"/>
          <a:lstStyle/>
          <a:p>
            <a:pPr algn="ctr" indent="0" marL="0">
              <a:buNone/>
            </a:pPr>
            <a:r>
              <a:rPr lang="en-US" sz="520" b="1" dirty="0">
                <a:solidFill>
                  <a:srgbClr val="D9463E"/>
                </a:solidFill>
                <a:latin typeface="Arial" pitchFamily="34" charset="0"/>
                <a:ea typeface="Arial" pitchFamily="34" charset="-122"/>
                <a:cs typeface="Arial" pitchFamily="34" charset="-120"/>
              </a:rPr>
              <a:t>縫變寬</a:t>
            </a:r>
            <a:endParaRPr lang="en-US" sz="520" dirty="0"/>
          </a:p>
        </p:txBody>
      </p:sp>
      <p:sp>
        <p:nvSpPr>
          <p:cNvPr id="24" name="Text 22"/>
          <p:cNvSpPr txBox="1"/>
          <p:nvPr/>
        </p:nvSpPr>
        <p:spPr>
          <a:xfrm>
            <a:off x="2749821" y="629347"/>
            <a:ext cx="5078684" cy="630220"/>
          </a:xfrm>
          <a:prstGeom prst="rect">
            <a:avLst/>
          </a:prstGeom>
          <a:noFill/>
          <a:ln/>
        </p:spPr>
        <p:txBody>
          <a:bodyPr wrap="square" lIns="0" tIns="0" rIns="0" bIns="0" rtlCol="0" anchor="t"/>
          <a:lstStyle/>
          <a:p>
            <a:pPr indent="0" marL="0">
              <a:lnSpc>
                <a:spcPct val="116000"/>
              </a:lnSpc>
              <a:buNone/>
            </a:pPr>
            <a:r>
              <a:rPr lang="en-US" sz="1440" b="1" dirty="0">
                <a:solidFill>
                  <a:srgbClr val="0B1F3A"/>
                </a:solidFill>
                <a:latin typeface="Arial" pitchFamily="34" charset="0"/>
                <a:ea typeface="Arial" pitchFamily="34" charset="-122"/>
                <a:cs typeface="Arial" pitchFamily="34" charset="-120"/>
              </a:rPr>
              <a:t>Góc quét = góc nhìn: nhìn được rộng bao nhiêu sang hai bên</a:t>
            </a:r>
            <a:endParaRPr lang="en-US" sz="1440" dirty="0"/>
          </a:p>
          <a:p>
            <a:pPr indent="0" marL="0">
              <a:lnSpc>
                <a:spcPct val="116000"/>
              </a:lnSpc>
              <a:buNone/>
            </a:pPr>
            <a:r>
              <a:rPr lang="en-US" sz="1000" dirty="0">
                <a:solidFill>
                  <a:srgbClr val="007F72"/>
                </a:solidFill>
                <a:latin typeface="微軟正黑體" pitchFamily="34" charset="0"/>
                <a:ea typeface="微軟正黑體" pitchFamily="34" charset="-122"/>
                <a:cs typeface="微軟正黑體" pitchFamily="34" charset="-120"/>
              </a:rPr>
              <a:t>張角 ＝ 視野：左右能看多寬</a:t>
            </a:r>
            <a:endParaRPr lang="en-US" sz="1440" dirty="0"/>
          </a:p>
        </p:txBody>
      </p:sp>
      <p:sp>
        <p:nvSpPr>
          <p:cNvPr id="25" name="Shape 23"/>
          <p:cNvSpPr/>
          <p:nvPr/>
        </p:nvSpPr>
        <p:spPr>
          <a:xfrm>
            <a:off x="2749821" y="1332747"/>
            <a:ext cx="848887" cy="320216"/>
          </a:xfrm>
          <a:prstGeom prst="roundRect">
            <a:avLst>
              <a:gd name="adj" fmla="val 13712"/>
            </a:avLst>
          </a:prstGeom>
          <a:solidFill>
            <a:srgbClr val="0B1F3A"/>
          </a:solidFill>
          <a:ln/>
        </p:spPr>
      </p:sp>
      <p:sp>
        <p:nvSpPr>
          <p:cNvPr id="26" name="Text 24"/>
          <p:cNvSpPr txBox="1"/>
          <p:nvPr/>
        </p:nvSpPr>
        <p:spPr>
          <a:xfrm>
            <a:off x="2793729" y="1362019"/>
            <a:ext cx="761071" cy="276308"/>
          </a:xfrm>
          <a:prstGeom prst="rect">
            <a:avLst/>
          </a:prstGeom>
          <a:noFill/>
          <a:ln/>
        </p:spPr>
        <p:txBody>
          <a:bodyPr wrap="square" lIns="0" tIns="0" rIns="0" bIns="0" rtlCol="0" anchor="t"/>
          <a:lstStyle/>
          <a:p>
            <a:pPr algn="ctr" indent="0" marL="0">
              <a:lnSpc>
                <a:spcPct val="106000"/>
              </a:lnSpc>
              <a:buNone/>
            </a:pPr>
            <a:r>
              <a:rPr lang="en-US" sz="720" b="1" dirty="0">
                <a:solidFill>
                  <a:srgbClr val="FFFFFF"/>
                </a:solidFill>
                <a:latin typeface="Arial" pitchFamily="34" charset="0"/>
                <a:ea typeface="Arial" pitchFamily="34" charset="-122"/>
                <a:cs typeface="Arial" pitchFamily="34" charset="-120"/>
              </a:rPr>
              <a:t>Tên thông số</a:t>
            </a:r>
            <a:endParaRPr lang="en-US" sz="720" dirty="0"/>
          </a:p>
          <a:p>
            <a:pPr algn="ctr" indent="0" marL="0">
              <a:lnSpc>
                <a:spcPct val="106000"/>
              </a:lnSpc>
              <a:buNone/>
            </a:pPr>
            <a:r>
              <a:rPr lang="en-US" sz="680" dirty="0">
                <a:solidFill>
                  <a:srgbClr val="FFFFFF"/>
                </a:solidFill>
                <a:latin typeface="微軟正黑體" pitchFamily="34" charset="0"/>
                <a:ea typeface="微軟正黑體" pitchFamily="34" charset="-122"/>
                <a:cs typeface="微軟正黑體" pitchFamily="34" charset="-120"/>
              </a:rPr>
              <a:t>規格表上叫</a:t>
            </a:r>
            <a:endParaRPr lang="en-US" sz="720" dirty="0"/>
          </a:p>
        </p:txBody>
      </p:sp>
      <p:sp>
        <p:nvSpPr>
          <p:cNvPr id="27" name="Text 25"/>
          <p:cNvSpPr txBox="1"/>
          <p:nvPr/>
        </p:nvSpPr>
        <p:spPr>
          <a:xfrm>
            <a:off x="3715795" y="1332747"/>
            <a:ext cx="4112709" cy="364124"/>
          </a:xfrm>
          <a:prstGeom prst="rect">
            <a:avLst/>
          </a:prstGeom>
          <a:noFill/>
          <a:ln/>
        </p:spPr>
        <p:txBody>
          <a:bodyPr wrap="square" lIns="0" tIns="0" rIns="0" bIns="0" rtlCol="0" anchor="t"/>
          <a:lstStyle/>
          <a:p>
            <a:pPr indent="0" marL="0">
              <a:lnSpc>
                <a:spcPct val="126000"/>
              </a:lnSpc>
              <a:buNone/>
            </a:pPr>
            <a:r>
              <a:rPr lang="en-US" sz="880" dirty="0">
                <a:solidFill>
                  <a:srgbClr val="1A2733"/>
                </a:solidFill>
                <a:latin typeface="Arial" pitchFamily="34" charset="0"/>
                <a:ea typeface="Arial" pitchFamily="34" charset="-122"/>
                <a:cs typeface="Arial" pitchFamily="34" charset="-120"/>
              </a:rPr>
              <a:t>Field of view (FOV) · góc nhìn</a:t>
            </a:r>
            <a:endParaRPr lang="en-US" sz="880" dirty="0"/>
          </a:p>
          <a:p>
            <a:pPr indent="0" marL="0">
              <a:lnSpc>
                <a:spcPct val="126000"/>
              </a:lnSpc>
              <a:buNone/>
            </a:pPr>
            <a:r>
              <a:rPr lang="en-US" sz="800" dirty="0">
                <a:solidFill>
                  <a:srgbClr val="5F7183"/>
                </a:solidFill>
                <a:latin typeface="微軟正黑體" pitchFamily="34" charset="0"/>
                <a:ea typeface="微軟正黑體" pitchFamily="34" charset="-122"/>
                <a:cs typeface="微軟正黑體" pitchFamily="34" charset="-120"/>
              </a:rPr>
              <a:t>Field of view（FOV）　視野</a:t>
            </a:r>
            <a:endParaRPr lang="en-US" sz="880" dirty="0"/>
          </a:p>
        </p:txBody>
      </p:sp>
      <p:sp>
        <p:nvSpPr>
          <p:cNvPr id="28" name="Shape 26"/>
          <p:cNvSpPr/>
          <p:nvPr/>
        </p:nvSpPr>
        <p:spPr>
          <a:xfrm>
            <a:off x="2749821" y="1748097"/>
            <a:ext cx="848887" cy="320216"/>
          </a:xfrm>
          <a:prstGeom prst="roundRect">
            <a:avLst>
              <a:gd name="adj" fmla="val 13712"/>
            </a:avLst>
          </a:prstGeom>
          <a:solidFill>
            <a:srgbClr val="007F72"/>
          </a:solidFill>
          <a:ln/>
        </p:spPr>
      </p:sp>
      <p:sp>
        <p:nvSpPr>
          <p:cNvPr id="29" name="Text 27"/>
          <p:cNvSpPr txBox="1"/>
          <p:nvPr/>
        </p:nvSpPr>
        <p:spPr>
          <a:xfrm>
            <a:off x="2793729" y="1777369"/>
            <a:ext cx="761071" cy="276308"/>
          </a:xfrm>
          <a:prstGeom prst="rect">
            <a:avLst/>
          </a:prstGeom>
          <a:noFill/>
          <a:ln/>
        </p:spPr>
        <p:txBody>
          <a:bodyPr wrap="square" lIns="0" tIns="0" rIns="0" bIns="0" rtlCol="0" anchor="t"/>
          <a:lstStyle/>
          <a:p>
            <a:pPr algn="ctr" indent="0" marL="0">
              <a:lnSpc>
                <a:spcPct val="106000"/>
              </a:lnSpc>
              <a:buNone/>
            </a:pPr>
            <a:r>
              <a:rPr lang="en-US" sz="720" b="1" dirty="0">
                <a:solidFill>
                  <a:srgbClr val="FFFFFF"/>
                </a:solidFill>
                <a:latin typeface="Arial" pitchFamily="34" charset="0"/>
                <a:ea typeface="Arial" pitchFamily="34" charset="-122"/>
                <a:cs typeface="Arial" pitchFamily="34" charset="-120"/>
              </a:rPr>
              <a:t>Mô phỏng của ta</a:t>
            </a:r>
            <a:endParaRPr lang="en-US" sz="720" dirty="0"/>
          </a:p>
          <a:p>
            <a:pPr algn="ctr" indent="0" marL="0">
              <a:lnSpc>
                <a:spcPct val="106000"/>
              </a:lnSpc>
              <a:buNone/>
            </a:pPr>
            <a:r>
              <a:rPr lang="en-US" sz="680" dirty="0">
                <a:solidFill>
                  <a:srgbClr val="FFFFFF"/>
                </a:solidFill>
                <a:latin typeface="微軟正黑體" pitchFamily="34" charset="0"/>
                <a:ea typeface="微軟正黑體" pitchFamily="34" charset="-122"/>
                <a:cs typeface="微軟正黑體" pitchFamily="34" charset="-120"/>
              </a:rPr>
              <a:t>我們的模擬器</a:t>
            </a:r>
            <a:endParaRPr lang="en-US" sz="720" dirty="0"/>
          </a:p>
        </p:txBody>
      </p:sp>
      <p:sp>
        <p:nvSpPr>
          <p:cNvPr id="30" name="Text 28"/>
          <p:cNvSpPr txBox="1"/>
          <p:nvPr/>
        </p:nvSpPr>
        <p:spPr>
          <a:xfrm>
            <a:off x="3715795" y="1748097"/>
            <a:ext cx="4112709" cy="364124"/>
          </a:xfrm>
          <a:prstGeom prst="rect">
            <a:avLst/>
          </a:prstGeom>
          <a:noFill/>
          <a:ln/>
        </p:spPr>
        <p:txBody>
          <a:bodyPr wrap="square" lIns="0" tIns="0" rIns="0" bIns="0" rtlCol="0" anchor="t"/>
          <a:lstStyle/>
          <a:p>
            <a:pPr indent="0" marL="0">
              <a:lnSpc>
                <a:spcPct val="126000"/>
              </a:lnSpc>
              <a:buNone/>
            </a:pPr>
            <a:r>
              <a:rPr lang="en-US" sz="880" dirty="0">
                <a:solidFill>
                  <a:srgbClr val="1A2733"/>
                </a:solidFill>
                <a:latin typeface="Arial" pitchFamily="34" charset="0"/>
                <a:ea typeface="Arial" pitchFamily="34" charset="-122"/>
                <a:cs typeface="Arial" pitchFamily="34" charset="-120"/>
              </a:rPr>
              <a:t>20° đến 180°</a:t>
            </a:r>
            <a:endParaRPr lang="en-US" sz="880" dirty="0"/>
          </a:p>
          <a:p>
            <a:pPr indent="0" marL="0">
              <a:lnSpc>
                <a:spcPct val="126000"/>
              </a:lnSpc>
              <a:buNone/>
            </a:pPr>
            <a:r>
              <a:rPr lang="en-US" sz="800" dirty="0">
                <a:solidFill>
                  <a:srgbClr val="5F7183"/>
                </a:solidFill>
                <a:latin typeface="微軟正黑體" pitchFamily="34" charset="0"/>
                <a:ea typeface="微軟正黑體" pitchFamily="34" charset="-122"/>
                <a:cs typeface="微軟正黑體" pitchFamily="34" charset="-120"/>
              </a:rPr>
              <a:t>20° 到 180°</a:t>
            </a:r>
            <a:endParaRPr lang="en-US" sz="880" dirty="0"/>
          </a:p>
        </p:txBody>
      </p:sp>
      <p:sp>
        <p:nvSpPr>
          <p:cNvPr id="31" name="Shape 29"/>
          <p:cNvSpPr/>
          <p:nvPr/>
        </p:nvSpPr>
        <p:spPr>
          <a:xfrm>
            <a:off x="2749821" y="2163448"/>
            <a:ext cx="848887" cy="320216"/>
          </a:xfrm>
          <a:prstGeom prst="roundRect">
            <a:avLst>
              <a:gd name="adj" fmla="val 13712"/>
            </a:avLst>
          </a:prstGeom>
          <a:solidFill>
            <a:srgbClr val="FFB020"/>
          </a:solidFill>
          <a:ln/>
        </p:spPr>
      </p:sp>
      <p:sp>
        <p:nvSpPr>
          <p:cNvPr id="32" name="Text 30"/>
          <p:cNvSpPr txBox="1"/>
          <p:nvPr/>
        </p:nvSpPr>
        <p:spPr>
          <a:xfrm>
            <a:off x="2793729" y="2192720"/>
            <a:ext cx="761071" cy="276308"/>
          </a:xfrm>
          <a:prstGeom prst="rect">
            <a:avLst/>
          </a:prstGeom>
          <a:noFill/>
          <a:ln/>
        </p:spPr>
        <p:txBody>
          <a:bodyPr wrap="square" lIns="0" tIns="0" rIns="0" bIns="0" rtlCol="0" anchor="t"/>
          <a:lstStyle/>
          <a:p>
            <a:pPr algn="ctr" indent="0" marL="0">
              <a:lnSpc>
                <a:spcPct val="106000"/>
              </a:lnSpc>
              <a:buNone/>
            </a:pPr>
            <a:r>
              <a:rPr lang="en-US" sz="720" b="1" dirty="0">
                <a:solidFill>
                  <a:srgbClr val="3A2A00"/>
                </a:solidFill>
                <a:latin typeface="Arial" pitchFamily="34" charset="0"/>
                <a:ea typeface="Arial" pitchFamily="34" charset="-122"/>
                <a:cs typeface="Arial" pitchFamily="34" charset="-120"/>
              </a:rPr>
              <a:t>Kéo hẹp thì sao</a:t>
            </a:r>
            <a:endParaRPr lang="en-US" sz="720" dirty="0"/>
          </a:p>
          <a:p>
            <a:pPr algn="ctr" indent="0" marL="0">
              <a:lnSpc>
                <a:spcPct val="106000"/>
              </a:lnSpc>
              <a:buNone/>
            </a:pPr>
            <a:r>
              <a:rPr lang="en-US" sz="680" dirty="0">
                <a:solidFill>
                  <a:srgbClr val="3A2A00"/>
                </a:solidFill>
                <a:latin typeface="微軟正黑體" pitchFamily="34" charset="0"/>
                <a:ea typeface="微軟正黑體" pitchFamily="34" charset="-122"/>
                <a:cs typeface="微軟正黑體" pitchFamily="34" charset="-120"/>
              </a:rPr>
              <a:t>調窄會怎樣</a:t>
            </a:r>
            <a:endParaRPr lang="en-US" sz="720" dirty="0"/>
          </a:p>
        </p:txBody>
      </p:sp>
      <p:sp>
        <p:nvSpPr>
          <p:cNvPr id="33" name="Text 31"/>
          <p:cNvSpPr txBox="1"/>
          <p:nvPr/>
        </p:nvSpPr>
        <p:spPr>
          <a:xfrm>
            <a:off x="3715795" y="2163448"/>
            <a:ext cx="4112709" cy="364124"/>
          </a:xfrm>
          <a:prstGeom prst="rect">
            <a:avLst/>
          </a:prstGeom>
          <a:noFill/>
          <a:ln/>
        </p:spPr>
        <p:txBody>
          <a:bodyPr wrap="square" lIns="0" tIns="0" rIns="0" bIns="0" rtlCol="0" anchor="t"/>
          <a:lstStyle/>
          <a:p>
            <a:pPr indent="0" marL="0">
              <a:lnSpc>
                <a:spcPct val="126000"/>
              </a:lnSpc>
              <a:buNone/>
            </a:pPr>
            <a:r>
              <a:rPr lang="en-US" sz="880" dirty="0">
                <a:solidFill>
                  <a:srgbClr val="1A2733"/>
                </a:solidFill>
                <a:latin typeface="Arial" pitchFamily="34" charset="0"/>
                <a:ea typeface="Arial" pitchFamily="34" charset="-122"/>
                <a:cs typeface="Arial" pitchFamily="34" charset="-120"/>
              </a:rPr>
              <a:t>Xe máy tạt từ bên hông vào hoàn toàn không thấy</a:t>
            </a:r>
            <a:endParaRPr lang="en-US" sz="880" dirty="0"/>
          </a:p>
          <a:p>
            <a:pPr indent="0" marL="0">
              <a:lnSpc>
                <a:spcPct val="126000"/>
              </a:lnSpc>
              <a:buNone/>
            </a:pPr>
            <a:r>
              <a:rPr lang="en-US" sz="800" dirty="0">
                <a:solidFill>
                  <a:srgbClr val="5F7183"/>
                </a:solidFill>
                <a:latin typeface="微軟正黑體" pitchFamily="34" charset="0"/>
                <a:ea typeface="微軟正黑體" pitchFamily="34" charset="-122"/>
                <a:cs typeface="微軟正黑體" pitchFamily="34" charset="-120"/>
              </a:rPr>
              <a:t>從側面切進來的機車完全看不到</a:t>
            </a:r>
            <a:endParaRPr lang="en-US" sz="880" dirty="0"/>
          </a:p>
        </p:txBody>
      </p:sp>
      <p:sp>
        <p:nvSpPr>
          <p:cNvPr id="34" name="Shape 32"/>
          <p:cNvSpPr/>
          <p:nvPr/>
        </p:nvSpPr>
        <p:spPr>
          <a:xfrm>
            <a:off x="2749821" y="2578798"/>
            <a:ext cx="848887" cy="320216"/>
          </a:xfrm>
          <a:prstGeom prst="roundRect">
            <a:avLst>
              <a:gd name="adj" fmla="val 13712"/>
            </a:avLst>
          </a:prstGeom>
          <a:solidFill>
            <a:srgbClr val="0B1F3A"/>
          </a:solidFill>
          <a:ln/>
        </p:spPr>
      </p:sp>
      <p:sp>
        <p:nvSpPr>
          <p:cNvPr id="35" name="Text 33"/>
          <p:cNvSpPr txBox="1"/>
          <p:nvPr/>
        </p:nvSpPr>
        <p:spPr>
          <a:xfrm>
            <a:off x="2793729" y="2608070"/>
            <a:ext cx="761071" cy="276308"/>
          </a:xfrm>
          <a:prstGeom prst="rect">
            <a:avLst/>
          </a:prstGeom>
          <a:noFill/>
          <a:ln/>
        </p:spPr>
        <p:txBody>
          <a:bodyPr wrap="square" lIns="0" tIns="0" rIns="0" bIns="0" rtlCol="0" anchor="t"/>
          <a:lstStyle/>
          <a:p>
            <a:pPr algn="ctr" indent="0" marL="0">
              <a:lnSpc>
                <a:spcPct val="106000"/>
              </a:lnSpc>
              <a:buNone/>
            </a:pPr>
            <a:r>
              <a:rPr lang="en-US" sz="720" b="1" dirty="0">
                <a:solidFill>
                  <a:srgbClr val="FFFFFF"/>
                </a:solidFill>
                <a:latin typeface="Arial" pitchFamily="34" charset="0"/>
                <a:ea typeface="Arial" pitchFamily="34" charset="-122"/>
                <a:cs typeface="Arial" pitchFamily="34" charset="-120"/>
              </a:rPr>
              <a:t>Kéo rộng thì sao</a:t>
            </a:r>
            <a:endParaRPr lang="en-US" sz="720" dirty="0"/>
          </a:p>
          <a:p>
            <a:pPr algn="ctr" indent="0" marL="0">
              <a:lnSpc>
                <a:spcPct val="106000"/>
              </a:lnSpc>
              <a:buNone/>
            </a:pPr>
            <a:r>
              <a:rPr lang="en-US" sz="680" dirty="0">
                <a:solidFill>
                  <a:srgbClr val="FFFFFF"/>
                </a:solidFill>
                <a:latin typeface="微軟正黑體" pitchFamily="34" charset="0"/>
                <a:ea typeface="微軟正黑體" pitchFamily="34" charset="-122"/>
                <a:cs typeface="微軟正黑體" pitchFamily="34" charset="-120"/>
              </a:rPr>
              <a:t>調寬會怎樣</a:t>
            </a:r>
            <a:endParaRPr lang="en-US" sz="720" dirty="0"/>
          </a:p>
        </p:txBody>
      </p:sp>
      <p:sp>
        <p:nvSpPr>
          <p:cNvPr id="36" name="Text 34"/>
          <p:cNvSpPr txBox="1"/>
          <p:nvPr/>
        </p:nvSpPr>
        <p:spPr>
          <a:xfrm>
            <a:off x="3715795" y="2578798"/>
            <a:ext cx="4112709" cy="364124"/>
          </a:xfrm>
          <a:prstGeom prst="rect">
            <a:avLst/>
          </a:prstGeom>
          <a:noFill/>
          <a:ln/>
        </p:spPr>
        <p:txBody>
          <a:bodyPr wrap="square" lIns="0" tIns="0" rIns="0" bIns="0" rtlCol="0" anchor="t"/>
          <a:lstStyle/>
          <a:p>
            <a:pPr indent="0" marL="0">
              <a:lnSpc>
                <a:spcPct val="126000"/>
              </a:lnSpc>
              <a:buNone/>
            </a:pPr>
            <a:r>
              <a:rPr lang="en-US" sz="880" dirty="0">
                <a:solidFill>
                  <a:srgbClr val="1A2733"/>
                </a:solidFill>
                <a:latin typeface="Arial" pitchFamily="34" charset="0"/>
                <a:ea typeface="Arial" pitchFamily="34" charset="-122"/>
                <a:cs typeface="Arial" pitchFamily="34" charset="-120"/>
              </a:rPr>
              <a:t>Cùng số tia đó bị trải mỏng ra — mỗi hướng thưa hơn</a:t>
            </a:r>
            <a:endParaRPr lang="en-US" sz="880" dirty="0"/>
          </a:p>
          <a:p>
            <a:pPr indent="0" marL="0">
              <a:lnSpc>
                <a:spcPct val="126000"/>
              </a:lnSpc>
              <a:buNone/>
            </a:pPr>
            <a:r>
              <a:rPr lang="en-US" sz="800" dirty="0">
                <a:solidFill>
                  <a:srgbClr val="5F7183"/>
                </a:solidFill>
                <a:latin typeface="微軟正黑體" pitchFamily="34" charset="0"/>
                <a:ea typeface="微軟正黑體" pitchFamily="34" charset="-122"/>
                <a:cs typeface="微軟正黑體" pitchFamily="34" charset="-120"/>
              </a:rPr>
              <a:t>同樣的射線數被攤開——每個方向變稀</a:t>
            </a:r>
            <a:endParaRPr lang="en-US" sz="880" dirty="0"/>
          </a:p>
        </p:txBody>
      </p:sp>
      <p:sp>
        <p:nvSpPr>
          <p:cNvPr id="37" name="Shape 35"/>
          <p:cNvSpPr/>
          <p:nvPr/>
        </p:nvSpPr>
        <p:spPr>
          <a:xfrm>
            <a:off x="1315495" y="3146735"/>
            <a:ext cx="6513009" cy="453715"/>
          </a:xfrm>
          <a:prstGeom prst="roundRect">
            <a:avLst>
              <a:gd name="adj" fmla="val 14516"/>
            </a:avLst>
          </a:prstGeom>
          <a:solidFill>
            <a:srgbClr val="FFF6E3"/>
          </a:solidFill>
          <a:ln w="12700">
            <a:solidFill>
              <a:srgbClr val="FFB020"/>
            </a:solidFill>
            <a:prstDash val="solid"/>
          </a:ln>
        </p:spPr>
      </p:sp>
      <p:sp>
        <p:nvSpPr>
          <p:cNvPr id="38" name="Text 36"/>
          <p:cNvSpPr txBox="1"/>
          <p:nvPr/>
        </p:nvSpPr>
        <p:spPr>
          <a:xfrm>
            <a:off x="1461855" y="3197961"/>
            <a:ext cx="6220290" cy="365899"/>
          </a:xfrm>
          <a:prstGeom prst="rect">
            <a:avLst/>
          </a:prstGeom>
          <a:noFill/>
          <a:ln/>
        </p:spPr>
        <p:txBody>
          <a:bodyPr wrap="square" lIns="0" tIns="0" rIns="0" bIns="0" rtlCol="0" anchor="t"/>
          <a:lstStyle/>
          <a:p>
            <a:pPr indent="0" marL="0">
              <a:lnSpc>
                <a:spcPct val="116000"/>
              </a:lnSpc>
              <a:buNone/>
            </a:pPr>
            <a:r>
              <a:rPr lang="en-US" sz="960" b="1" dirty="0">
                <a:solidFill>
                  <a:srgbClr val="7A4E00"/>
                </a:solidFill>
                <a:latin typeface="Arial" pitchFamily="34" charset="0"/>
                <a:ea typeface="Arial" pitchFamily="34" charset="-122"/>
                <a:cs typeface="Arial" pitchFamily="34" charset="-120"/>
              </a:rPr>
              <a:t>Đây chính là bài của tuần 3: cùng một ngân sách, rộng và rõ chỉ chọn được một.</a:t>
            </a:r>
            <a:endParaRPr lang="en-US" sz="960" dirty="0"/>
          </a:p>
          <a:p>
            <a:pPr indent="0" marL="0">
              <a:lnSpc>
                <a:spcPct val="116000"/>
              </a:lnSpc>
              <a:buNone/>
            </a:pPr>
            <a:r>
              <a:rPr lang="en-US" sz="880" dirty="0">
                <a:solidFill>
                  <a:srgbClr val="7A4E00"/>
                </a:solidFill>
                <a:latin typeface="微軟正黑體" pitchFamily="34" charset="0"/>
                <a:ea typeface="微軟正黑體" pitchFamily="34" charset="-122"/>
                <a:cs typeface="微軟正黑體" pitchFamily="34" charset="-120"/>
              </a:rPr>
              <a:t>這就是第三週那一頁：同一份預算，看得廣和看得清只能選一個。</a:t>
            </a:r>
            <a:endParaRPr lang="en-US" sz="960" dirty="0"/>
          </a:p>
        </p:txBody>
      </p:sp>
      <p:pic>
        <p:nvPicPr>
          <p:cNvPr id="40" name="Image 0" descr="/Users/tsengchenghsun/Class/carClass/Claude outputs/第四週(10-1)/src/logo.png">    </p:cNvPr>
          <p:cNvPicPr>
            <a:picLocks noChangeAspect="1"/>
          </p:cNvPicPr>
          <p:nvPr/>
        </p:nvPicPr>
        <p:blipFill>
          <a:blip r:embed="rId1"/>
          <a:stretch>
            <a:fillRect/>
          </a:stretch>
        </p:blipFill>
        <p:spPr>
          <a:xfrm>
            <a:off x="7882128" y="109728"/>
            <a:ext cx="1097280" cy="242439"/>
          </a:xfrm>
          <a:prstGeom prst="rect">
            <a:avLst/>
          </a:prstGeom>
        </p:spPr>
      </p:pic>
      <p:sp>
        <p:nvSpPr>
          <p:cNvPr id="41" name="Text 37"/>
          <p:cNvSpPr txBox="1"/>
          <p:nvPr/>
        </p:nvSpPr>
        <p:spPr>
          <a:xfrm>
            <a:off x="1000822" y="102452"/>
            <a:ext cx="658619" cy="204904"/>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6 / 18</a:t>
            </a:r>
            <a:endParaRPr lang="en-US" sz="720" dirty="0"/>
          </a:p>
        </p:txBody>
      </p:sp>
      <p:sp>
        <p:nvSpPr>
          <p:cNvPr id="42" name="Text 38"/>
          <p:cNvSpPr txBox="1"/>
          <p:nvPr/>
        </p:nvSpPr>
        <p:spPr>
          <a:xfrm>
            <a:off x="1681395" y="102452"/>
            <a:ext cx="1609957" cy="204904"/>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Tiết 1 · 第 1 節</a:t>
            </a:r>
            <a:endParaRPr lang="en-US" sz="7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927820" y="0"/>
          <a:ext cx="1" cy="1"/>
          <a:chOff x="0" y="0"/>
          <a:chExt cx="0" cy="0"/>
        </a:xfrm>
      </p:grpSpPr>
      <p:sp>
        <p:nvSpPr>
          <p:cNvPr id="2" name="Text 0"/>
          <p:cNvSpPr txBox="1"/>
          <p:nvPr/>
        </p:nvSpPr>
        <p:spPr>
          <a:xfrm>
            <a:off x="1328680" y="233228"/>
            <a:ext cx="6486641" cy="670529"/>
          </a:xfrm>
          <a:prstGeom prst="rect">
            <a:avLst/>
          </a:prstGeom>
          <a:noFill/>
          <a:ln/>
        </p:spPr>
        <p:txBody>
          <a:bodyPr wrap="square" lIns="0" tIns="0" rIns="0" bIns="0" rtlCol="0" anchor="t"/>
          <a:lstStyle/>
          <a:p>
            <a:pPr indent="0" marL="0">
              <a:lnSpc>
                <a:spcPct val="116000"/>
              </a:lnSpc>
              <a:buNone/>
            </a:pPr>
            <a:r>
              <a:rPr lang="en-US" sz="1750" b="1" dirty="0">
                <a:solidFill>
                  <a:srgbClr val="0B1F3A"/>
                </a:solidFill>
                <a:latin typeface="Arial" pitchFamily="34" charset="0"/>
                <a:ea typeface="Arial" pitchFamily="34" charset="-122"/>
                <a:cs typeface="Arial" pitchFamily="34" charset="-120"/>
              </a:rPr>
              <a:t>Quãng đường phanh quyết định tia phải dài bao nhiêu</a:t>
            </a:r>
            <a:endParaRPr lang="en-US" sz="1750" dirty="0"/>
          </a:p>
          <a:p>
            <a:pPr indent="0" marL="0">
              <a:lnSpc>
                <a:spcPct val="116000"/>
              </a:lnSpc>
              <a:buNone/>
            </a:pPr>
            <a:r>
              <a:rPr lang="en-US" sz="1080" dirty="0">
                <a:solidFill>
                  <a:srgbClr val="5F7183"/>
                </a:solidFill>
                <a:latin typeface="微軟正黑體" pitchFamily="34" charset="0"/>
                <a:ea typeface="微軟正黑體" pitchFamily="34" charset="-122"/>
                <a:cs typeface="微軟正黑體" pitchFamily="34" charset="-120"/>
              </a:rPr>
              <a:t>煞停距離決定了射線至少要多長</a:t>
            </a:r>
            <a:endParaRPr lang="en-US" sz="1750" dirty="0"/>
          </a:p>
        </p:txBody>
      </p:sp>
      <p:sp>
        <p:nvSpPr>
          <p:cNvPr id="3" name="Shape 1"/>
          <p:cNvSpPr/>
          <p:nvPr/>
        </p:nvSpPr>
        <p:spPr>
          <a:xfrm>
            <a:off x="1328680" y="903757"/>
            <a:ext cx="4008598" cy="2142778"/>
          </a:xfrm>
          <a:prstGeom prst="roundRect">
            <a:avLst>
              <a:gd name="adj" fmla="val 3401"/>
            </a:avLst>
          </a:prstGeom>
          <a:solidFill>
            <a:srgbClr val="F4F7FA"/>
          </a:solidFill>
          <a:ln w="12700">
            <a:solidFill>
              <a:srgbClr val="DBE3EA"/>
            </a:solidFill>
            <a:prstDash val="solid"/>
          </a:ln>
        </p:spPr>
      </p:sp>
      <p:sp>
        <p:nvSpPr>
          <p:cNvPr id="4" name="Shape 2"/>
          <p:cNvSpPr/>
          <p:nvPr/>
        </p:nvSpPr>
        <p:spPr>
          <a:xfrm>
            <a:off x="1430717" y="2813307"/>
            <a:ext cx="3804524" cy="1"/>
          </a:xfrm>
          <a:prstGeom prst="line">
            <a:avLst/>
          </a:prstGeom>
          <a:noFill/>
          <a:ln w="25400">
            <a:solidFill>
              <a:srgbClr val="1A2733"/>
            </a:solidFill>
            <a:prstDash val="solid"/>
          </a:ln>
        </p:spPr>
      </p:sp>
      <p:sp>
        <p:nvSpPr>
          <p:cNvPr id="5" name="Shape 3"/>
          <p:cNvSpPr/>
          <p:nvPr/>
        </p:nvSpPr>
        <p:spPr>
          <a:xfrm>
            <a:off x="1561907" y="2478043"/>
            <a:ext cx="262381" cy="116614"/>
          </a:xfrm>
          <a:prstGeom prst="roundRect">
            <a:avLst>
              <a:gd name="adj" fmla="val 18750"/>
            </a:avLst>
          </a:prstGeom>
          <a:solidFill>
            <a:srgbClr val="D9E2EA"/>
          </a:solidFill>
          <a:ln/>
        </p:spPr>
      </p:sp>
      <p:sp>
        <p:nvSpPr>
          <p:cNvPr id="6" name="Shape 4"/>
          <p:cNvSpPr/>
          <p:nvPr/>
        </p:nvSpPr>
        <p:spPr>
          <a:xfrm>
            <a:off x="1503600" y="2594656"/>
            <a:ext cx="378995" cy="218651"/>
          </a:xfrm>
          <a:prstGeom prst="roundRect">
            <a:avLst>
              <a:gd name="adj" fmla="val 13333"/>
            </a:avLst>
          </a:prstGeom>
          <a:solidFill>
            <a:srgbClr val="C8D3DE"/>
          </a:solidFill>
          <a:ln w="8890">
            <a:solidFill>
              <a:srgbClr val="5F7183"/>
            </a:solidFill>
            <a:prstDash val="solid"/>
          </a:ln>
        </p:spPr>
      </p:sp>
      <p:sp>
        <p:nvSpPr>
          <p:cNvPr id="7" name="Shape 5"/>
          <p:cNvSpPr/>
          <p:nvPr/>
        </p:nvSpPr>
        <p:spPr>
          <a:xfrm>
            <a:off x="1547330" y="2762289"/>
            <a:ext cx="102037" cy="102037"/>
          </a:xfrm>
          <a:prstGeom prst="ellipse">
            <a:avLst/>
          </a:prstGeom>
          <a:solidFill>
            <a:srgbClr val="5F7183"/>
          </a:solidFill>
          <a:ln/>
        </p:spPr>
      </p:sp>
      <p:sp>
        <p:nvSpPr>
          <p:cNvPr id="8" name="Shape 6"/>
          <p:cNvSpPr/>
          <p:nvPr/>
        </p:nvSpPr>
        <p:spPr>
          <a:xfrm>
            <a:off x="1736828" y="2762289"/>
            <a:ext cx="102037" cy="102037"/>
          </a:xfrm>
          <a:prstGeom prst="ellipse">
            <a:avLst/>
          </a:prstGeom>
          <a:solidFill>
            <a:srgbClr val="5F7183"/>
          </a:solidFill>
          <a:ln/>
        </p:spPr>
      </p:sp>
      <p:sp>
        <p:nvSpPr>
          <p:cNvPr id="9" name="Shape 7"/>
          <p:cNvSpPr/>
          <p:nvPr/>
        </p:nvSpPr>
        <p:spPr>
          <a:xfrm>
            <a:off x="5060320" y="2384752"/>
            <a:ext cx="87460" cy="87460"/>
          </a:xfrm>
          <a:prstGeom prst="ellipse">
            <a:avLst/>
          </a:prstGeom>
          <a:solidFill>
            <a:srgbClr val="007F72"/>
          </a:solidFill>
          <a:ln/>
        </p:spPr>
      </p:sp>
      <p:sp>
        <p:nvSpPr>
          <p:cNvPr id="10" name="Shape 8"/>
          <p:cNvSpPr/>
          <p:nvPr/>
        </p:nvSpPr>
        <p:spPr>
          <a:xfrm>
            <a:off x="5034082" y="2480958"/>
            <a:ext cx="139937" cy="157428"/>
          </a:xfrm>
          <a:prstGeom prst="roundRect">
            <a:avLst>
              <a:gd name="adj" fmla="val 145833"/>
            </a:avLst>
          </a:prstGeom>
          <a:solidFill>
            <a:srgbClr val="007F72"/>
          </a:solidFill>
          <a:ln/>
        </p:spPr>
      </p:sp>
      <p:sp>
        <p:nvSpPr>
          <p:cNvPr id="11" name="Shape 9"/>
          <p:cNvSpPr/>
          <p:nvPr/>
        </p:nvSpPr>
        <p:spPr>
          <a:xfrm rot="960000">
            <a:off x="5010030" y="2494077"/>
            <a:ext cx="34984" cy="113698"/>
          </a:xfrm>
          <a:prstGeom prst="rect">
            <a:avLst/>
          </a:prstGeom>
          <a:solidFill>
            <a:srgbClr val="007F72"/>
          </a:solidFill>
          <a:ln/>
        </p:spPr>
      </p:sp>
      <p:sp>
        <p:nvSpPr>
          <p:cNvPr id="12" name="Shape 10"/>
          <p:cNvSpPr/>
          <p:nvPr/>
        </p:nvSpPr>
        <p:spPr>
          <a:xfrm rot="-960000">
            <a:off x="5163086" y="2494077"/>
            <a:ext cx="34984" cy="113698"/>
          </a:xfrm>
          <a:prstGeom prst="rect">
            <a:avLst/>
          </a:prstGeom>
          <a:solidFill>
            <a:srgbClr val="007F72"/>
          </a:solidFill>
          <a:ln/>
        </p:spPr>
      </p:sp>
      <p:sp>
        <p:nvSpPr>
          <p:cNvPr id="13" name="Shape 11"/>
          <p:cNvSpPr/>
          <p:nvPr/>
        </p:nvSpPr>
        <p:spPr>
          <a:xfrm rot="300000">
            <a:off x="5058134" y="2616521"/>
            <a:ext cx="39357" cy="157428"/>
          </a:xfrm>
          <a:prstGeom prst="rect">
            <a:avLst/>
          </a:prstGeom>
          <a:solidFill>
            <a:srgbClr val="007F72"/>
          </a:solidFill>
          <a:ln/>
        </p:spPr>
      </p:sp>
      <p:sp>
        <p:nvSpPr>
          <p:cNvPr id="14" name="Shape 12"/>
          <p:cNvSpPr/>
          <p:nvPr/>
        </p:nvSpPr>
        <p:spPr>
          <a:xfrm rot="-300000">
            <a:off x="5110610" y="2616521"/>
            <a:ext cx="39357" cy="157428"/>
          </a:xfrm>
          <a:prstGeom prst="rect">
            <a:avLst/>
          </a:prstGeom>
          <a:solidFill>
            <a:srgbClr val="007F72"/>
          </a:solidFill>
          <a:ln/>
        </p:spPr>
      </p:sp>
      <p:sp>
        <p:nvSpPr>
          <p:cNvPr id="15" name="Shape 13"/>
          <p:cNvSpPr/>
          <p:nvPr/>
        </p:nvSpPr>
        <p:spPr>
          <a:xfrm>
            <a:off x="1940902" y="1326482"/>
            <a:ext cx="594127" cy="218651"/>
          </a:xfrm>
          <a:prstGeom prst="rect">
            <a:avLst/>
          </a:prstGeom>
          <a:solidFill>
            <a:srgbClr val="E8A317"/>
          </a:solidFill>
          <a:ln/>
        </p:spPr>
      </p:sp>
      <p:sp>
        <p:nvSpPr>
          <p:cNvPr id="16" name="Text 14"/>
          <p:cNvSpPr txBox="1"/>
          <p:nvPr/>
        </p:nvSpPr>
        <p:spPr>
          <a:xfrm>
            <a:off x="1940902" y="1348347"/>
            <a:ext cx="594127" cy="174921"/>
          </a:xfrm>
          <a:prstGeom prst="rect">
            <a:avLst/>
          </a:prstGeom>
          <a:noFill/>
          <a:ln/>
        </p:spPr>
        <p:txBody>
          <a:bodyPr wrap="square" lIns="0" tIns="0" rIns="0" bIns="0" rtlCol="0" anchor="ctr"/>
          <a:lstStyle/>
          <a:p>
            <a:pPr algn="ctr" indent="0" marL="0">
              <a:buNone/>
            </a:pPr>
            <a:r>
              <a:rPr lang="en-US" sz="920" b="1" dirty="0">
                <a:solidFill>
                  <a:srgbClr val="FFFFFF"/>
                </a:solidFill>
                <a:latin typeface="Arial" pitchFamily="34" charset="0"/>
                <a:ea typeface="Arial" pitchFamily="34" charset="-122"/>
                <a:cs typeface="Arial" pitchFamily="34" charset="-120"/>
              </a:rPr>
              <a:t>4.2 m</a:t>
            </a:r>
            <a:endParaRPr lang="en-US" sz="920" dirty="0"/>
          </a:p>
        </p:txBody>
      </p:sp>
      <p:sp>
        <p:nvSpPr>
          <p:cNvPr id="17" name="Text 15"/>
          <p:cNvSpPr txBox="1"/>
          <p:nvPr/>
        </p:nvSpPr>
        <p:spPr>
          <a:xfrm>
            <a:off x="1795135" y="976640"/>
            <a:ext cx="885662" cy="320688"/>
          </a:xfrm>
          <a:prstGeom prst="rect">
            <a:avLst/>
          </a:prstGeom>
          <a:noFill/>
          <a:ln/>
        </p:spPr>
        <p:txBody>
          <a:bodyPr wrap="square" lIns="0" tIns="0" rIns="0" bIns="0" rtlCol="0" anchor="t"/>
          <a:lstStyle/>
          <a:p>
            <a:pPr algn="ctr" indent="0" marL="0">
              <a:lnSpc>
                <a:spcPct val="105000"/>
              </a:lnSpc>
              <a:buNone/>
            </a:pPr>
            <a:r>
              <a:rPr lang="en-US" sz="840" b="1" dirty="0">
                <a:solidFill>
                  <a:srgbClr val="E8A317"/>
                </a:solidFill>
                <a:latin typeface="Arial" pitchFamily="34" charset="0"/>
                <a:ea typeface="Arial" pitchFamily="34" charset="-122"/>
                <a:cs typeface="Arial" pitchFamily="34" charset="-120"/>
              </a:rPr>
              <a:t>Phản ứng</a:t>
            </a:r>
            <a:endParaRPr lang="en-US" sz="840" dirty="0"/>
          </a:p>
          <a:p>
            <a:pPr algn="ctr" indent="0" marL="0">
              <a:lnSpc>
                <a:spcPct val="105000"/>
              </a:lnSpc>
              <a:buNone/>
            </a:pPr>
            <a:r>
              <a:rPr lang="en-US" sz="760" dirty="0">
                <a:solidFill>
                  <a:srgbClr val="E8A317"/>
                </a:solidFill>
                <a:latin typeface="微軟正黑體" pitchFamily="34" charset="0"/>
                <a:ea typeface="微軟正黑體" pitchFamily="34" charset="-122"/>
                <a:cs typeface="微軟正黑體" pitchFamily="34" charset="-120"/>
              </a:rPr>
              <a:t>反應距離</a:t>
            </a:r>
            <a:endParaRPr lang="en-US" sz="840" dirty="0"/>
          </a:p>
        </p:txBody>
      </p:sp>
      <p:sp>
        <p:nvSpPr>
          <p:cNvPr id="18" name="Text 16"/>
          <p:cNvSpPr txBox="1"/>
          <p:nvPr/>
        </p:nvSpPr>
        <p:spPr>
          <a:xfrm>
            <a:off x="1751405" y="1603439"/>
            <a:ext cx="973122" cy="364418"/>
          </a:xfrm>
          <a:prstGeom prst="rect">
            <a:avLst/>
          </a:prstGeom>
          <a:noFill/>
          <a:ln/>
        </p:spPr>
        <p:txBody>
          <a:bodyPr wrap="square" lIns="0" tIns="0" rIns="0" bIns="0" rtlCol="0" anchor="t"/>
          <a:lstStyle/>
          <a:p>
            <a:pPr algn="ctr" indent="0" marL="0">
              <a:lnSpc>
                <a:spcPct val="104000"/>
              </a:lnSpc>
              <a:buNone/>
            </a:pPr>
            <a:r>
              <a:rPr lang="en-US" sz="760" b="1" dirty="0">
                <a:solidFill>
                  <a:srgbClr val="5F7183"/>
                </a:solidFill>
                <a:latin typeface="Arial" pitchFamily="34" charset="0"/>
                <a:ea typeface="Arial" pitchFamily="34" charset="-122"/>
                <a:cs typeface="Arial" pitchFamily="34" charset="-120"/>
              </a:rPr>
              <a:t>0,3 s — chân chưa chạm phanh</a:t>
            </a:r>
            <a:endParaRPr lang="en-US" sz="760" dirty="0"/>
          </a:p>
          <a:p>
            <a:pPr algn="ctr" indent="0" marL="0">
              <a:lnSpc>
                <a:spcPct val="104000"/>
              </a:lnSpc>
              <a:buNone/>
            </a:pPr>
            <a:r>
              <a:rPr lang="en-US" sz="700" dirty="0">
                <a:solidFill>
                  <a:srgbClr val="5F7183"/>
                </a:solidFill>
                <a:latin typeface="微軟正黑體" pitchFamily="34" charset="0"/>
                <a:ea typeface="微軟正黑體" pitchFamily="34" charset="-122"/>
                <a:cs typeface="微軟正黑體" pitchFamily="34" charset="-120"/>
              </a:rPr>
              <a:t>0.3 秒，腳還沒踩到</a:t>
            </a:r>
            <a:endParaRPr lang="en-US" sz="760" dirty="0"/>
          </a:p>
        </p:txBody>
      </p:sp>
      <p:sp>
        <p:nvSpPr>
          <p:cNvPr id="19" name="Shape 17"/>
          <p:cNvSpPr/>
          <p:nvPr/>
        </p:nvSpPr>
        <p:spPr>
          <a:xfrm>
            <a:off x="2535029" y="1326482"/>
            <a:ext cx="2277487" cy="218651"/>
          </a:xfrm>
          <a:prstGeom prst="rect">
            <a:avLst/>
          </a:prstGeom>
          <a:solidFill>
            <a:srgbClr val="D9463E"/>
          </a:solidFill>
          <a:ln/>
        </p:spPr>
      </p:sp>
      <p:sp>
        <p:nvSpPr>
          <p:cNvPr id="20" name="Text 18"/>
          <p:cNvSpPr txBox="1"/>
          <p:nvPr/>
        </p:nvSpPr>
        <p:spPr>
          <a:xfrm>
            <a:off x="2535029" y="1348347"/>
            <a:ext cx="2277487" cy="174921"/>
          </a:xfrm>
          <a:prstGeom prst="rect">
            <a:avLst/>
          </a:prstGeom>
          <a:noFill/>
          <a:ln/>
        </p:spPr>
        <p:txBody>
          <a:bodyPr wrap="square" lIns="0" tIns="0" rIns="0" bIns="0" rtlCol="0" anchor="ctr"/>
          <a:lstStyle/>
          <a:p>
            <a:pPr algn="ctr" indent="0" marL="0">
              <a:buNone/>
            </a:pPr>
            <a:r>
              <a:rPr lang="en-US" sz="920" b="1" dirty="0">
                <a:solidFill>
                  <a:srgbClr val="FFFFFF"/>
                </a:solidFill>
                <a:latin typeface="Arial" pitchFamily="34" charset="0"/>
                <a:ea typeface="Arial" pitchFamily="34" charset="-122"/>
                <a:cs typeface="Arial" pitchFamily="34" charset="-120"/>
              </a:rPr>
              <a:t>16.1 m</a:t>
            </a:r>
            <a:endParaRPr lang="en-US" sz="920" dirty="0"/>
          </a:p>
        </p:txBody>
      </p:sp>
      <p:sp>
        <p:nvSpPr>
          <p:cNvPr id="21" name="Text 19"/>
          <p:cNvSpPr txBox="1"/>
          <p:nvPr/>
        </p:nvSpPr>
        <p:spPr>
          <a:xfrm>
            <a:off x="2389262" y="976640"/>
            <a:ext cx="2569021" cy="320688"/>
          </a:xfrm>
          <a:prstGeom prst="rect">
            <a:avLst/>
          </a:prstGeom>
          <a:noFill/>
          <a:ln/>
        </p:spPr>
        <p:txBody>
          <a:bodyPr wrap="square" lIns="0" tIns="0" rIns="0" bIns="0" rtlCol="0" anchor="t"/>
          <a:lstStyle/>
          <a:p>
            <a:pPr algn="ctr" indent="0" marL="0">
              <a:lnSpc>
                <a:spcPct val="105000"/>
              </a:lnSpc>
              <a:buNone/>
            </a:pPr>
            <a:r>
              <a:rPr lang="en-US" sz="840" b="1" dirty="0">
                <a:solidFill>
                  <a:srgbClr val="D9463E"/>
                </a:solidFill>
                <a:latin typeface="Arial" pitchFamily="34" charset="0"/>
                <a:ea typeface="Arial" pitchFamily="34" charset="-122"/>
                <a:cs typeface="Arial" pitchFamily="34" charset="-120"/>
              </a:rPr>
              <a:t>Phanh</a:t>
            </a:r>
            <a:endParaRPr lang="en-US" sz="840" dirty="0"/>
          </a:p>
          <a:p>
            <a:pPr algn="ctr" indent="0" marL="0">
              <a:lnSpc>
                <a:spcPct val="105000"/>
              </a:lnSpc>
              <a:buNone/>
            </a:pPr>
            <a:r>
              <a:rPr lang="en-US" sz="760" dirty="0">
                <a:solidFill>
                  <a:srgbClr val="D9463E"/>
                </a:solidFill>
                <a:latin typeface="微軟正黑體" pitchFamily="34" charset="0"/>
                <a:ea typeface="微軟正黑體" pitchFamily="34" charset="-122"/>
                <a:cs typeface="微軟正黑體" pitchFamily="34" charset="-120"/>
              </a:rPr>
              <a:t>煞車距離</a:t>
            </a:r>
            <a:endParaRPr lang="en-US" sz="840" dirty="0"/>
          </a:p>
        </p:txBody>
      </p:sp>
      <p:sp>
        <p:nvSpPr>
          <p:cNvPr id="22" name="Text 20"/>
          <p:cNvSpPr txBox="1"/>
          <p:nvPr/>
        </p:nvSpPr>
        <p:spPr>
          <a:xfrm>
            <a:off x="2345532" y="1603439"/>
            <a:ext cx="2656481" cy="364418"/>
          </a:xfrm>
          <a:prstGeom prst="rect">
            <a:avLst/>
          </a:prstGeom>
          <a:noFill/>
          <a:ln/>
        </p:spPr>
        <p:txBody>
          <a:bodyPr wrap="square" lIns="0" tIns="0" rIns="0" bIns="0" rtlCol="0" anchor="t"/>
          <a:lstStyle/>
          <a:p>
            <a:pPr algn="ctr" indent="0" marL="0">
              <a:lnSpc>
                <a:spcPct val="104000"/>
              </a:lnSpc>
              <a:buNone/>
            </a:pPr>
            <a:r>
              <a:rPr lang="en-US" sz="760" b="1" dirty="0">
                <a:solidFill>
                  <a:srgbClr val="5F7183"/>
                </a:solidFill>
                <a:latin typeface="Arial" pitchFamily="34" charset="0"/>
                <a:ea typeface="Arial" pitchFamily="34" charset="-122"/>
                <a:cs typeface="Arial" pitchFamily="34" charset="-120"/>
              </a:rPr>
              <a:t>Tỉ lệ với BÌNH PHƯƠNG tốc độ</a:t>
            </a:r>
            <a:endParaRPr lang="en-US" sz="760" dirty="0"/>
          </a:p>
          <a:p>
            <a:pPr algn="ctr" indent="0" marL="0">
              <a:lnSpc>
                <a:spcPct val="104000"/>
              </a:lnSpc>
              <a:buNone/>
            </a:pPr>
            <a:r>
              <a:rPr lang="en-US" sz="700" dirty="0">
                <a:solidFill>
                  <a:srgbClr val="5F7183"/>
                </a:solidFill>
                <a:latin typeface="微軟正黑體" pitchFamily="34" charset="0"/>
                <a:ea typeface="微軟正黑體" pitchFamily="34" charset="-122"/>
                <a:cs typeface="微軟正黑體" pitchFamily="34" charset="-120"/>
              </a:rPr>
              <a:t>跟速度的平方成正比</a:t>
            </a:r>
            <a:endParaRPr lang="en-US" sz="760" dirty="0"/>
          </a:p>
        </p:txBody>
      </p:sp>
      <p:sp>
        <p:nvSpPr>
          <p:cNvPr id="23" name="Shape 21"/>
          <p:cNvSpPr/>
          <p:nvPr/>
        </p:nvSpPr>
        <p:spPr>
          <a:xfrm>
            <a:off x="2535029" y="1282751"/>
            <a:ext cx="1" cy="306111"/>
          </a:xfrm>
          <a:prstGeom prst="line">
            <a:avLst/>
          </a:prstGeom>
          <a:noFill/>
          <a:ln w="19050">
            <a:solidFill>
              <a:srgbClr val="FFFFFF"/>
            </a:solidFill>
            <a:prstDash val="solid"/>
          </a:ln>
        </p:spPr>
      </p:sp>
      <p:sp>
        <p:nvSpPr>
          <p:cNvPr id="24" name="Shape 22"/>
          <p:cNvSpPr/>
          <p:nvPr/>
        </p:nvSpPr>
        <p:spPr>
          <a:xfrm>
            <a:off x="1940902" y="2055318"/>
            <a:ext cx="2871614" cy="1"/>
          </a:xfrm>
          <a:prstGeom prst="line">
            <a:avLst/>
          </a:prstGeom>
          <a:noFill/>
          <a:ln w="12700">
            <a:solidFill>
              <a:srgbClr val="0B1F3A"/>
            </a:solidFill>
            <a:prstDash val="dash"/>
          </a:ln>
        </p:spPr>
      </p:sp>
      <p:sp>
        <p:nvSpPr>
          <p:cNvPr id="25" name="Text 23"/>
          <p:cNvSpPr txBox="1"/>
          <p:nvPr/>
        </p:nvSpPr>
        <p:spPr>
          <a:xfrm>
            <a:off x="1722251" y="2084471"/>
            <a:ext cx="3308916" cy="262381"/>
          </a:xfrm>
          <a:prstGeom prst="rect">
            <a:avLst/>
          </a:prstGeom>
          <a:noFill/>
          <a:ln/>
        </p:spPr>
        <p:txBody>
          <a:bodyPr wrap="square" lIns="0" tIns="0" rIns="0" bIns="0" rtlCol="0" anchor="t"/>
          <a:lstStyle/>
          <a:p>
            <a:pPr algn="ctr" indent="0" marL="0">
              <a:lnSpc>
                <a:spcPct val="106000"/>
              </a:lnSpc>
              <a:buNone/>
            </a:pPr>
            <a:r>
              <a:rPr lang="en-US" sz="920" b="1" dirty="0">
                <a:solidFill>
                  <a:srgbClr val="0B1F3A"/>
                </a:solidFill>
                <a:latin typeface="Arial" pitchFamily="34" charset="0"/>
                <a:ea typeface="Arial" pitchFamily="34" charset="-122"/>
                <a:cs typeface="Arial" pitchFamily="34" charset="-120"/>
              </a:rPr>
              <a:t>Tổng 20 m　→　tia phải ≥ 25 m</a:t>
            </a:r>
            <a:endParaRPr lang="en-US" sz="920" dirty="0"/>
          </a:p>
          <a:p>
            <a:pPr algn="ctr" indent="0" marL="0">
              <a:lnSpc>
                <a:spcPct val="106000"/>
              </a:lnSpc>
              <a:buNone/>
            </a:pPr>
            <a:r>
              <a:rPr lang="en-US" sz="840" dirty="0">
                <a:solidFill>
                  <a:srgbClr val="0B1F3A"/>
                </a:solidFill>
                <a:latin typeface="微軟正黑體" pitchFamily="34" charset="0"/>
                <a:ea typeface="微軟正黑體" pitchFamily="34" charset="-122"/>
                <a:cs typeface="微軟正黑體" pitchFamily="34" charset="-120"/>
              </a:rPr>
              <a:t>合計 20 公尺　→　射線至少 25 公尺</a:t>
            </a:r>
            <a:endParaRPr lang="en-US" sz="920" dirty="0"/>
          </a:p>
        </p:txBody>
      </p:sp>
      <p:sp>
        <p:nvSpPr>
          <p:cNvPr id="26" name="Shape 24"/>
          <p:cNvSpPr/>
          <p:nvPr/>
        </p:nvSpPr>
        <p:spPr>
          <a:xfrm>
            <a:off x="5541352" y="903757"/>
            <a:ext cx="2273968" cy="495609"/>
          </a:xfrm>
          <a:prstGeom prst="roundRect">
            <a:avLst>
              <a:gd name="adj" fmla="val 11765"/>
            </a:avLst>
          </a:prstGeom>
          <a:solidFill>
            <a:srgbClr val="0B1F3A"/>
          </a:solidFill>
          <a:ln/>
        </p:spPr>
      </p:sp>
      <p:sp>
        <p:nvSpPr>
          <p:cNvPr id="27" name="Text 25"/>
          <p:cNvSpPr txBox="1"/>
          <p:nvPr/>
        </p:nvSpPr>
        <p:spPr>
          <a:xfrm>
            <a:off x="5643389" y="962064"/>
            <a:ext cx="2069894" cy="408148"/>
          </a:xfrm>
          <a:prstGeom prst="rect">
            <a:avLst/>
          </a:prstGeom>
          <a:noFill/>
          <a:ln/>
        </p:spPr>
        <p:txBody>
          <a:bodyPr wrap="square" lIns="0" tIns="0" rIns="0" bIns="0" rtlCol="0" anchor="t"/>
          <a:lstStyle/>
          <a:p>
            <a:pPr indent="0" marL="0">
              <a:lnSpc>
                <a:spcPct val="108000"/>
              </a:lnSpc>
              <a:buNone/>
            </a:pPr>
            <a:r>
              <a:rPr lang="en-US" sz="960" b="1" dirty="0">
                <a:solidFill>
                  <a:srgbClr val="FFFFFF"/>
                </a:solidFill>
                <a:latin typeface="Arial" pitchFamily="34" charset="0"/>
                <a:ea typeface="Arial" pitchFamily="34" charset="-122"/>
                <a:cs typeface="Arial" pitchFamily="34" charset="-120"/>
              </a:rPr>
              <a:t>Phanh = v × 0,3 + v² ÷ 12</a:t>
            </a:r>
            <a:endParaRPr lang="en-US" sz="960" dirty="0"/>
          </a:p>
          <a:p>
            <a:pPr indent="0" marL="0">
              <a:lnSpc>
                <a:spcPct val="108000"/>
              </a:lnSpc>
              <a:buNone/>
            </a:pPr>
            <a:r>
              <a:rPr lang="en-US" sz="800" dirty="0">
                <a:solidFill>
                  <a:srgbClr val="AFC3D4"/>
                </a:solidFill>
                <a:latin typeface="微軟正黑體" pitchFamily="34" charset="0"/>
                <a:ea typeface="微軟正黑體" pitchFamily="34" charset="-122"/>
                <a:cs typeface="微軟正黑體" pitchFamily="34" charset="-120"/>
              </a:rPr>
              <a:t>煞停距離 ＝ v × 0.3 ＋ v² ÷ 12</a:t>
            </a:r>
            <a:endParaRPr lang="en-US" sz="960" dirty="0"/>
          </a:p>
        </p:txBody>
      </p:sp>
      <p:sp>
        <p:nvSpPr>
          <p:cNvPr id="28" name="Shape 26"/>
          <p:cNvSpPr/>
          <p:nvPr/>
        </p:nvSpPr>
        <p:spPr>
          <a:xfrm>
            <a:off x="5541352" y="1472249"/>
            <a:ext cx="2273968" cy="495609"/>
          </a:xfrm>
          <a:prstGeom prst="roundRect">
            <a:avLst>
              <a:gd name="adj" fmla="val 11765"/>
            </a:avLst>
          </a:prstGeom>
          <a:solidFill>
            <a:srgbClr val="EAF6F4"/>
          </a:solidFill>
          <a:ln/>
        </p:spPr>
      </p:sp>
      <p:sp>
        <p:nvSpPr>
          <p:cNvPr id="29" name="Text 27"/>
          <p:cNvSpPr txBox="1"/>
          <p:nvPr/>
        </p:nvSpPr>
        <p:spPr>
          <a:xfrm>
            <a:off x="5643389" y="1530556"/>
            <a:ext cx="2069894" cy="408148"/>
          </a:xfrm>
          <a:prstGeom prst="rect">
            <a:avLst/>
          </a:prstGeom>
          <a:noFill/>
          <a:ln/>
        </p:spPr>
        <p:txBody>
          <a:bodyPr wrap="square" lIns="0" tIns="0" rIns="0" bIns="0" rtlCol="0" anchor="t"/>
          <a:lstStyle/>
          <a:p>
            <a:pPr indent="0" marL="0">
              <a:lnSpc>
                <a:spcPct val="108000"/>
              </a:lnSpc>
              <a:buNone/>
            </a:pPr>
            <a:r>
              <a:rPr lang="en-US" sz="960" b="1" dirty="0">
                <a:solidFill>
                  <a:srgbClr val="007F72"/>
                </a:solidFill>
                <a:latin typeface="Arial" pitchFamily="34" charset="0"/>
                <a:ea typeface="Arial" pitchFamily="34" charset="-122"/>
                <a:cs typeface="Arial" pitchFamily="34" charset="-120"/>
              </a:rPr>
              <a:t>Chia 12 vì giảm tốc lấy 6 m/s²</a:t>
            </a:r>
            <a:endParaRPr lang="en-US" sz="960" dirty="0"/>
          </a:p>
          <a:p>
            <a:pPr indent="0" marL="0">
              <a:lnSpc>
                <a:spcPct val="108000"/>
              </a:lnSpc>
              <a:buNone/>
            </a:pPr>
            <a:r>
              <a:rPr lang="en-US" sz="800" dirty="0">
                <a:solidFill>
                  <a:srgbClr val="007F72"/>
                </a:solidFill>
                <a:latin typeface="微軟正黑體" pitchFamily="34" charset="0"/>
                <a:ea typeface="微軟正黑體" pitchFamily="34" charset="-122"/>
                <a:cs typeface="微軟正黑體" pitchFamily="34" charset="-120"/>
              </a:rPr>
              <a:t>除以 12：減速度取 6</a:t>
            </a:r>
            <a:endParaRPr lang="en-US" sz="960" dirty="0"/>
          </a:p>
        </p:txBody>
      </p:sp>
      <p:sp>
        <p:nvSpPr>
          <p:cNvPr id="30" name="Text 28"/>
          <p:cNvSpPr txBox="1"/>
          <p:nvPr/>
        </p:nvSpPr>
        <p:spPr>
          <a:xfrm>
            <a:off x="5541352" y="2069894"/>
            <a:ext cx="2273968" cy="291534"/>
          </a:xfrm>
          <a:prstGeom prst="rect">
            <a:avLst/>
          </a:prstGeom>
          <a:noFill/>
          <a:ln/>
        </p:spPr>
        <p:txBody>
          <a:bodyPr wrap="square" lIns="0" tIns="0" rIns="0" bIns="0" rtlCol="0" anchor="t"/>
          <a:lstStyle/>
          <a:p>
            <a:pPr indent="0" marL="0">
              <a:lnSpc>
                <a:spcPct val="105000"/>
              </a:lnSpc>
              <a:buNone/>
            </a:pPr>
            <a:r>
              <a:rPr lang="en-US" sz="840" b="1" dirty="0">
                <a:solidFill>
                  <a:srgbClr val="0B1F3A"/>
                </a:solidFill>
                <a:latin typeface="Arial" pitchFamily="34" charset="0"/>
                <a:ea typeface="Arial" pitchFamily="34" charset="-122"/>
                <a:cs typeface="Arial" pitchFamily="34" charset="-120"/>
              </a:rPr>
              <a:t>Ví dụ 50 km/h = 13,9 m/s</a:t>
            </a:r>
            <a:endParaRPr lang="en-US" sz="840" dirty="0"/>
          </a:p>
          <a:p>
            <a:pPr indent="0" marL="0">
              <a:lnSpc>
                <a:spcPct val="105000"/>
              </a:lnSpc>
              <a:buNone/>
            </a:pPr>
            <a:r>
              <a:rPr lang="en-US" sz="800" dirty="0">
                <a:solidFill>
                  <a:srgbClr val="0B1F3A"/>
                </a:solidFill>
                <a:latin typeface="微軟正黑體" pitchFamily="34" charset="0"/>
                <a:ea typeface="微軟正黑體" pitchFamily="34" charset="-122"/>
                <a:cs typeface="微軟正黑體" pitchFamily="34" charset="-120"/>
              </a:rPr>
              <a:t>代數字：時速 50 ＝ 每秒 13.9 公尺</a:t>
            </a:r>
            <a:endParaRPr lang="en-US" sz="840" dirty="0"/>
          </a:p>
        </p:txBody>
      </p:sp>
      <p:sp>
        <p:nvSpPr>
          <p:cNvPr id="31" name="Text 29"/>
          <p:cNvSpPr txBox="1"/>
          <p:nvPr/>
        </p:nvSpPr>
        <p:spPr>
          <a:xfrm>
            <a:off x="5541352" y="2376005"/>
            <a:ext cx="2273968" cy="196786"/>
          </a:xfrm>
          <a:prstGeom prst="rect">
            <a:avLst/>
          </a:prstGeom>
          <a:noFill/>
          <a:ln/>
        </p:spPr>
        <p:txBody>
          <a:bodyPr wrap="square" lIns="0" tIns="0" rIns="0" bIns="0" rtlCol="0" anchor="ctr"/>
          <a:lstStyle/>
          <a:p>
            <a:pPr indent="0" marL="0">
              <a:buNone/>
            </a:pPr>
            <a:r>
              <a:rPr lang="en-US" sz="880" dirty="0">
                <a:solidFill>
                  <a:srgbClr val="1A2733"/>
                </a:solidFill>
                <a:latin typeface="Arial" pitchFamily="34" charset="0"/>
                <a:ea typeface="Arial" pitchFamily="34" charset="-122"/>
                <a:cs typeface="Arial" pitchFamily="34" charset="-120"/>
              </a:rPr>
              <a:t>13,9 × 0,3 = 4,2 m</a:t>
            </a:r>
            <a:endParaRPr lang="en-US" sz="880" dirty="0"/>
          </a:p>
        </p:txBody>
      </p:sp>
      <p:sp>
        <p:nvSpPr>
          <p:cNvPr id="32" name="Text 30"/>
          <p:cNvSpPr txBox="1"/>
          <p:nvPr/>
        </p:nvSpPr>
        <p:spPr>
          <a:xfrm>
            <a:off x="5541352" y="2572791"/>
            <a:ext cx="2273968" cy="196786"/>
          </a:xfrm>
          <a:prstGeom prst="rect">
            <a:avLst/>
          </a:prstGeom>
          <a:noFill/>
          <a:ln/>
        </p:spPr>
        <p:txBody>
          <a:bodyPr wrap="square" lIns="0" tIns="0" rIns="0" bIns="0" rtlCol="0" anchor="ctr"/>
          <a:lstStyle/>
          <a:p>
            <a:pPr indent="0" marL="0">
              <a:buNone/>
            </a:pPr>
            <a:r>
              <a:rPr lang="en-US" sz="880" dirty="0">
                <a:solidFill>
                  <a:srgbClr val="1A2733"/>
                </a:solidFill>
                <a:latin typeface="Arial" pitchFamily="34" charset="0"/>
                <a:ea typeface="Arial" pitchFamily="34" charset="-122"/>
                <a:cs typeface="Arial" pitchFamily="34" charset="-120"/>
              </a:rPr>
              <a:t>13,9² ÷ 12 = 16,1 m</a:t>
            </a:r>
            <a:endParaRPr lang="en-US" sz="880" dirty="0"/>
          </a:p>
        </p:txBody>
      </p:sp>
      <p:sp>
        <p:nvSpPr>
          <p:cNvPr id="33" name="Text 31"/>
          <p:cNvSpPr txBox="1"/>
          <p:nvPr/>
        </p:nvSpPr>
        <p:spPr>
          <a:xfrm>
            <a:off x="5541352" y="2769577"/>
            <a:ext cx="2273968" cy="196786"/>
          </a:xfrm>
          <a:prstGeom prst="rect">
            <a:avLst/>
          </a:prstGeom>
          <a:noFill/>
          <a:ln/>
        </p:spPr>
        <p:txBody>
          <a:bodyPr wrap="square" lIns="0" tIns="0" rIns="0" bIns="0" rtlCol="0" anchor="ctr"/>
          <a:lstStyle/>
          <a:p>
            <a:pPr indent="0" marL="0">
              <a:buNone/>
            </a:pPr>
            <a:r>
              <a:rPr lang="en-US" sz="880" b="1" dirty="0">
                <a:solidFill>
                  <a:srgbClr val="D9463E"/>
                </a:solidFill>
                <a:latin typeface="Arial" pitchFamily="34" charset="0"/>
                <a:ea typeface="Arial" pitchFamily="34" charset="-122"/>
                <a:cs typeface="Arial" pitchFamily="34" charset="-120"/>
              </a:rPr>
              <a:t>4,2 + 16,1 ≈ 20 m → tia ≥ 25 m</a:t>
            </a:r>
            <a:endParaRPr lang="en-US" sz="880" dirty="0"/>
          </a:p>
        </p:txBody>
      </p:sp>
      <p:sp>
        <p:nvSpPr>
          <p:cNvPr id="34" name="Shape 32"/>
          <p:cNvSpPr/>
          <p:nvPr/>
        </p:nvSpPr>
        <p:spPr>
          <a:xfrm>
            <a:off x="1328680" y="3119418"/>
            <a:ext cx="6486641" cy="481032"/>
          </a:xfrm>
          <a:prstGeom prst="roundRect">
            <a:avLst>
              <a:gd name="adj" fmla="val 13636"/>
            </a:avLst>
          </a:prstGeom>
          <a:solidFill>
            <a:srgbClr val="FFF6E3"/>
          </a:solidFill>
          <a:ln w="12700">
            <a:solidFill>
              <a:srgbClr val="FFB020"/>
            </a:solidFill>
            <a:prstDash val="solid"/>
          </a:ln>
        </p:spPr>
      </p:sp>
      <p:sp>
        <p:nvSpPr>
          <p:cNvPr id="35" name="Text 33"/>
          <p:cNvSpPr txBox="1"/>
          <p:nvPr/>
        </p:nvSpPr>
        <p:spPr>
          <a:xfrm>
            <a:off x="1474447" y="3170437"/>
            <a:ext cx="6195106" cy="393571"/>
          </a:xfrm>
          <a:prstGeom prst="rect">
            <a:avLst/>
          </a:prstGeom>
          <a:noFill/>
          <a:ln/>
        </p:spPr>
        <p:txBody>
          <a:bodyPr wrap="square" lIns="0" tIns="0" rIns="0" bIns="0" rtlCol="0" anchor="t"/>
          <a:lstStyle/>
          <a:p>
            <a:pPr indent="0" marL="0">
              <a:lnSpc>
                <a:spcPct val="114000"/>
              </a:lnSpc>
              <a:buNone/>
            </a:pPr>
            <a:r>
              <a:rPr lang="en-US" sz="960" b="1" dirty="0">
                <a:solidFill>
                  <a:srgbClr val="7A4E00"/>
                </a:solidFill>
                <a:latin typeface="Arial" pitchFamily="34" charset="0"/>
                <a:ea typeface="Arial" pitchFamily="34" charset="-122"/>
                <a:cs typeface="Arial" pitchFamily="34" charset="-120"/>
              </a:rPr>
              <a:t>Tia ngắn hơn quãng đường phanh thì thấy cũng vô ích. Giới hạn cứng.</a:t>
            </a:r>
            <a:endParaRPr lang="en-US" sz="960" dirty="0"/>
          </a:p>
          <a:p>
            <a:pPr indent="0" marL="0">
              <a:lnSpc>
                <a:spcPct val="114000"/>
              </a:lnSpc>
              <a:buNone/>
            </a:pPr>
            <a:r>
              <a:rPr lang="en-US" sz="880" dirty="0">
                <a:solidFill>
                  <a:srgbClr val="7A4E00"/>
                </a:solidFill>
                <a:latin typeface="微軟正黑體" pitchFamily="34" charset="0"/>
                <a:ea typeface="微軟正黑體" pitchFamily="34" charset="-122"/>
                <a:cs typeface="微軟正黑體" pitchFamily="34" charset="-120"/>
              </a:rPr>
              <a:t>射線比煞停距離短，看到也沒用。這是硬下限。</a:t>
            </a:r>
            <a:endParaRPr lang="en-US" sz="960" dirty="0"/>
          </a:p>
        </p:txBody>
      </p:sp>
      <p:pic>
        <p:nvPicPr>
          <p:cNvPr id="37" name="Image 0" descr="/Users/tsengchenghsun/Class/carClass/Claude outputs/第四週(10-1)/src/logo.png">    </p:cNvPr>
          <p:cNvPicPr>
            <a:picLocks noChangeAspect="1"/>
          </p:cNvPicPr>
          <p:nvPr/>
        </p:nvPicPr>
        <p:blipFill>
          <a:blip r:embed="rId1"/>
          <a:stretch>
            <a:fillRect/>
          </a:stretch>
        </p:blipFill>
        <p:spPr>
          <a:xfrm>
            <a:off x="7882128" y="109728"/>
            <a:ext cx="1097280" cy="242439"/>
          </a:xfrm>
          <a:prstGeom prst="rect">
            <a:avLst/>
          </a:prstGeom>
        </p:spPr>
      </p:pic>
      <p:sp>
        <p:nvSpPr>
          <p:cNvPr id="38" name="Text 34"/>
          <p:cNvSpPr txBox="1"/>
          <p:nvPr/>
        </p:nvSpPr>
        <p:spPr>
          <a:xfrm>
            <a:off x="1015280" y="102037"/>
            <a:ext cx="655952" cy="204074"/>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7 / 18</a:t>
            </a:r>
            <a:endParaRPr lang="en-US" sz="720" dirty="0"/>
          </a:p>
        </p:txBody>
      </p:sp>
      <p:sp>
        <p:nvSpPr>
          <p:cNvPr id="39" name="Text 35"/>
          <p:cNvSpPr txBox="1"/>
          <p:nvPr/>
        </p:nvSpPr>
        <p:spPr>
          <a:xfrm>
            <a:off x="1693098" y="102037"/>
            <a:ext cx="1603439" cy="204074"/>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Tiết 1 · 第 1 節</a:t>
            </a:r>
            <a:endParaRPr lang="en-US" sz="7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898071" y="0"/>
          <a:ext cx="1" cy="1"/>
          <a:chOff x="0" y="0"/>
          <a:chExt cx="0" cy="0"/>
        </a:xfrm>
      </p:grpSpPr>
      <p:sp>
        <p:nvSpPr>
          <p:cNvPr id="2" name="Text 0"/>
          <p:cNvSpPr txBox="1"/>
          <p:nvPr/>
        </p:nvSpPr>
        <p:spPr>
          <a:xfrm>
            <a:off x="1302204" y="293914"/>
            <a:ext cx="6539593" cy="220436"/>
          </a:xfrm>
          <a:prstGeom prst="rect">
            <a:avLst/>
          </a:prstGeom>
          <a:noFill/>
          <a:ln/>
        </p:spPr>
        <p:txBody>
          <a:bodyPr wrap="square" lIns="0" tIns="0" rIns="0" bIns="0" rtlCol="0" anchor="ctr"/>
          <a:lstStyle/>
          <a:p>
            <a:pPr indent="0" marL="0">
              <a:buNone/>
            </a:pPr>
            <a:r>
              <a:rPr lang="en-US" sz="1040" b="1" dirty="0">
                <a:solidFill>
                  <a:srgbClr val="007F72"/>
                </a:solidFill>
                <a:latin typeface="Arial" pitchFamily="34" charset="0"/>
                <a:ea typeface="Arial" pitchFamily="34" charset="-122"/>
                <a:cs typeface="Arial" pitchFamily="34" charset="-120"/>
              </a:rPr>
              <a:t>▶ Video · 煞停距離：為什麼看到了還是停不下來</a:t>
            </a:r>
            <a:endParaRPr lang="en-US" sz="1040" dirty="0"/>
          </a:p>
        </p:txBody>
      </p:sp>
      <p:sp>
        <p:nvSpPr>
          <p:cNvPr id="3" name="Text 1"/>
          <p:cNvSpPr txBox="1"/>
          <p:nvPr/>
        </p:nvSpPr>
        <p:spPr>
          <a:xfrm>
            <a:off x="1302204" y="543741"/>
            <a:ext cx="6539593" cy="450550"/>
          </a:xfrm>
          <a:prstGeom prst="rect">
            <a:avLst/>
          </a:prstGeom>
          <a:noFill/>
          <a:ln/>
        </p:spPr>
        <p:txBody>
          <a:bodyPr wrap="square" lIns="0" tIns="0" rIns="0" bIns="0" rtlCol="0" anchor="t"/>
          <a:lstStyle/>
          <a:p>
            <a:pPr indent="0" marL="0">
              <a:lnSpc>
                <a:spcPct val="116000"/>
              </a:lnSpc>
              <a:buNone/>
            </a:pPr>
            <a:r>
              <a:rPr lang="en-US" sz="1370" b="1" dirty="0">
                <a:solidFill>
                  <a:srgbClr val="0B1F3A"/>
                </a:solidFill>
                <a:latin typeface="Arial" pitchFamily="34" charset="0"/>
                <a:ea typeface="Arial" pitchFamily="34" charset="-122"/>
                <a:cs typeface="Arial" pitchFamily="34" charset="-120"/>
              </a:rPr>
              <a:t>Hai đoạn đó, video này giảng lại một lần nữa</a:t>
            </a:r>
            <a:endParaRPr lang="en-US" sz="1370" dirty="0"/>
          </a:p>
          <a:p>
            <a:pPr indent="0" marL="0">
              <a:lnSpc>
                <a:spcPct val="116000"/>
              </a:lnSpc>
              <a:buNone/>
            </a:pPr>
            <a:r>
              <a:rPr lang="en-US" sz="1000" dirty="0">
                <a:solidFill>
                  <a:srgbClr val="5F7183"/>
                </a:solidFill>
                <a:latin typeface="微軟正黑體" pitchFamily="34" charset="0"/>
                <a:ea typeface="微軟正黑體" pitchFamily="34" charset="-122"/>
                <a:cs typeface="微軟正黑體" pitchFamily="34" charset="-120"/>
              </a:rPr>
              <a:t>剛剛那兩段距離，這支影片再講一次</a:t>
            </a:r>
            <a:endParaRPr lang="en-US" sz="1370" dirty="0"/>
          </a:p>
        </p:txBody>
      </p:sp>
      <p:sp>
        <p:nvSpPr>
          <p:cNvPr id="4" name="Shape 2"/>
          <p:cNvSpPr/>
          <p:nvPr/>
        </p:nvSpPr>
        <p:spPr>
          <a:xfrm>
            <a:off x="1302204" y="1008987"/>
            <a:ext cx="3137535" cy="2062418"/>
          </a:xfrm>
          <a:prstGeom prst="roundRect">
            <a:avLst>
              <a:gd name="adj" fmla="val 3563"/>
            </a:avLst>
          </a:prstGeom>
          <a:solidFill>
            <a:srgbClr val="F4F7FA"/>
          </a:solidFill>
          <a:ln w="12700">
            <a:solidFill>
              <a:srgbClr val="DBE3EA"/>
            </a:solidFill>
            <a:prstDash val="solid"/>
          </a:ln>
        </p:spPr>
      </p:sp>
      <p:sp>
        <p:nvSpPr>
          <p:cNvPr id="5" name="Text 3"/>
          <p:cNvSpPr txBox="1"/>
          <p:nvPr/>
        </p:nvSpPr>
        <p:spPr>
          <a:xfrm>
            <a:off x="1701339" y="1350142"/>
            <a:ext cx="835452" cy="208499"/>
          </a:xfrm>
          <a:prstGeom prst="rect">
            <a:avLst/>
          </a:prstGeom>
          <a:noFill/>
          <a:ln/>
        </p:spPr>
        <p:txBody>
          <a:bodyPr wrap="square" lIns="0" tIns="0" rIns="0" bIns="0" rtlCol="0" anchor="ctr"/>
          <a:lstStyle/>
          <a:p>
            <a:pPr algn="l" indent="0" marL="0">
              <a:buNone/>
            </a:pPr>
            <a:r>
              <a:rPr lang="en-US" sz="720" b="1" dirty="0">
                <a:solidFill>
                  <a:srgbClr val="6FA8DC"/>
                </a:solidFill>
                <a:latin typeface="Arial" pitchFamily="34" charset="0"/>
                <a:ea typeface="Arial" pitchFamily="34" charset="-122"/>
                <a:cs typeface="Arial" pitchFamily="34" charset="-120"/>
              </a:rPr>
              <a:t>khô  乾</a:t>
            </a:r>
            <a:endParaRPr lang="en-US" sz="720" dirty="0"/>
          </a:p>
        </p:txBody>
      </p:sp>
      <p:sp>
        <p:nvSpPr>
          <p:cNvPr id="6" name="Shape 4"/>
          <p:cNvSpPr/>
          <p:nvPr/>
        </p:nvSpPr>
        <p:spPr>
          <a:xfrm>
            <a:off x="1701339" y="1562492"/>
            <a:ext cx="501271" cy="230585"/>
          </a:xfrm>
          <a:prstGeom prst="roundRect">
            <a:avLst>
              <a:gd name="adj" fmla="val 22000"/>
            </a:avLst>
          </a:prstGeom>
          <a:solidFill>
            <a:srgbClr val="8FA3B5"/>
          </a:solidFill>
          <a:ln/>
        </p:spPr>
      </p:sp>
      <p:sp>
        <p:nvSpPr>
          <p:cNvPr id="7" name="Shape 5"/>
          <p:cNvSpPr/>
          <p:nvPr/>
        </p:nvSpPr>
        <p:spPr>
          <a:xfrm>
            <a:off x="1891822" y="1608609"/>
            <a:ext cx="170432" cy="138351"/>
          </a:xfrm>
          <a:prstGeom prst="roundRect">
            <a:avLst>
              <a:gd name="adj" fmla="val 23333"/>
            </a:avLst>
          </a:prstGeom>
          <a:solidFill>
            <a:srgbClr val="FFFFFF"/>
          </a:solidFill>
          <a:ln/>
        </p:spPr>
      </p:sp>
      <p:sp>
        <p:nvSpPr>
          <p:cNvPr id="8" name="Shape 6"/>
          <p:cNvSpPr/>
          <p:nvPr/>
        </p:nvSpPr>
        <p:spPr>
          <a:xfrm>
            <a:off x="2258307" y="1677785"/>
            <a:ext cx="1058238" cy="1"/>
          </a:xfrm>
          <a:prstGeom prst="line">
            <a:avLst/>
          </a:prstGeom>
          <a:noFill/>
          <a:ln w="63500">
            <a:solidFill>
              <a:srgbClr val="6FA8DC"/>
            </a:solidFill>
            <a:prstDash val="solid"/>
          </a:ln>
        </p:spPr>
      </p:sp>
      <p:sp>
        <p:nvSpPr>
          <p:cNvPr id="9" name="Shape 7"/>
          <p:cNvSpPr/>
          <p:nvPr/>
        </p:nvSpPr>
        <p:spPr>
          <a:xfrm>
            <a:off x="3316545" y="1543749"/>
            <a:ext cx="97469" cy="268071"/>
          </a:xfrm>
          <a:prstGeom prst="roundRect">
            <a:avLst>
              <a:gd name="adj" fmla="val 34286"/>
            </a:avLst>
          </a:prstGeom>
          <a:solidFill>
            <a:srgbClr val="3A4650"/>
          </a:solidFill>
          <a:ln/>
        </p:spPr>
      </p:sp>
      <p:sp>
        <p:nvSpPr>
          <p:cNvPr id="10" name="Text 8"/>
          <p:cNvSpPr txBox="1"/>
          <p:nvPr/>
        </p:nvSpPr>
        <p:spPr>
          <a:xfrm>
            <a:off x="1701339" y="1886285"/>
            <a:ext cx="835452" cy="208499"/>
          </a:xfrm>
          <a:prstGeom prst="rect">
            <a:avLst/>
          </a:prstGeom>
          <a:noFill/>
          <a:ln/>
        </p:spPr>
        <p:txBody>
          <a:bodyPr wrap="square" lIns="0" tIns="0" rIns="0" bIns="0" rtlCol="0" anchor="ctr"/>
          <a:lstStyle/>
          <a:p>
            <a:pPr algn="l" indent="0" marL="0">
              <a:buNone/>
            </a:pPr>
            <a:r>
              <a:rPr lang="en-US" sz="720" b="1" dirty="0">
                <a:solidFill>
                  <a:srgbClr val="D9463E"/>
                </a:solidFill>
                <a:latin typeface="Arial" pitchFamily="34" charset="0"/>
                <a:ea typeface="Arial" pitchFamily="34" charset="-122"/>
                <a:cs typeface="Arial" pitchFamily="34" charset="-120"/>
              </a:rPr>
              <a:t>ướt  濕</a:t>
            </a:r>
            <a:endParaRPr lang="en-US" sz="720" dirty="0"/>
          </a:p>
        </p:txBody>
      </p:sp>
      <p:sp>
        <p:nvSpPr>
          <p:cNvPr id="11" name="Shape 9"/>
          <p:cNvSpPr/>
          <p:nvPr/>
        </p:nvSpPr>
        <p:spPr>
          <a:xfrm>
            <a:off x="1701339" y="2098635"/>
            <a:ext cx="501271" cy="230585"/>
          </a:xfrm>
          <a:prstGeom prst="roundRect">
            <a:avLst>
              <a:gd name="adj" fmla="val 22000"/>
            </a:avLst>
          </a:prstGeom>
          <a:solidFill>
            <a:srgbClr val="8FA3B5"/>
          </a:solidFill>
          <a:ln/>
        </p:spPr>
      </p:sp>
      <p:sp>
        <p:nvSpPr>
          <p:cNvPr id="12" name="Shape 10"/>
          <p:cNvSpPr/>
          <p:nvPr/>
        </p:nvSpPr>
        <p:spPr>
          <a:xfrm>
            <a:off x="1891822" y="2144752"/>
            <a:ext cx="170432" cy="138351"/>
          </a:xfrm>
          <a:prstGeom prst="roundRect">
            <a:avLst>
              <a:gd name="adj" fmla="val 23333"/>
            </a:avLst>
          </a:prstGeom>
          <a:solidFill>
            <a:srgbClr val="FFFFFF"/>
          </a:solidFill>
          <a:ln/>
        </p:spPr>
      </p:sp>
      <p:sp>
        <p:nvSpPr>
          <p:cNvPr id="13" name="Shape 11"/>
          <p:cNvSpPr/>
          <p:nvPr/>
        </p:nvSpPr>
        <p:spPr>
          <a:xfrm>
            <a:off x="2258307" y="2213928"/>
            <a:ext cx="1726599" cy="1"/>
          </a:xfrm>
          <a:prstGeom prst="line">
            <a:avLst/>
          </a:prstGeom>
          <a:noFill/>
          <a:ln w="63500">
            <a:solidFill>
              <a:srgbClr val="D9463E"/>
            </a:solidFill>
            <a:prstDash val="solid"/>
          </a:ln>
        </p:spPr>
      </p:sp>
      <p:sp>
        <p:nvSpPr>
          <p:cNvPr id="14" name="Shape 12"/>
          <p:cNvSpPr/>
          <p:nvPr/>
        </p:nvSpPr>
        <p:spPr>
          <a:xfrm>
            <a:off x="3984906" y="2079892"/>
            <a:ext cx="97469" cy="268071"/>
          </a:xfrm>
          <a:prstGeom prst="roundRect">
            <a:avLst>
              <a:gd name="adj" fmla="val 34286"/>
            </a:avLst>
          </a:prstGeom>
          <a:solidFill>
            <a:srgbClr val="3A4650"/>
          </a:solidFill>
          <a:ln/>
        </p:spPr>
      </p:sp>
      <p:sp>
        <p:nvSpPr>
          <p:cNvPr id="15" name="Text 13"/>
          <p:cNvSpPr txBox="1"/>
          <p:nvPr/>
        </p:nvSpPr>
        <p:spPr>
          <a:xfrm>
            <a:off x="1449161" y="2630533"/>
            <a:ext cx="2843621" cy="382089"/>
          </a:xfrm>
          <a:prstGeom prst="rect">
            <a:avLst/>
          </a:prstGeom>
          <a:noFill/>
          <a:ln/>
        </p:spPr>
        <p:txBody>
          <a:bodyPr wrap="square" lIns="0" tIns="0" rIns="0" bIns="0" rtlCol="0" anchor="t"/>
          <a:lstStyle/>
          <a:p>
            <a:pPr algn="ctr" indent="0" marL="0">
              <a:lnSpc>
                <a:spcPct val="110000"/>
              </a:lnSpc>
              <a:buNone/>
            </a:pPr>
            <a:r>
              <a:rPr lang="en-US" sz="760" dirty="0">
                <a:solidFill>
                  <a:srgbClr val="5F7183"/>
                </a:solidFill>
                <a:latin typeface="Arial" pitchFamily="34" charset="0"/>
                <a:ea typeface="Arial" pitchFamily="34" charset="-122"/>
                <a:cs typeface="Arial" pitchFamily="34" charset="-120"/>
              </a:rPr>
              <a:t>Cùng tốc độ, đường ướt thì quãng đường phanh dài hơn hẳn — tiết 3 các bạn sẽ tự thấy.</a:t>
            </a:r>
            <a:endParaRPr lang="en-US" sz="760" dirty="0"/>
          </a:p>
          <a:p>
            <a:pPr algn="ctr" indent="0" marL="0">
              <a:lnSpc>
                <a:spcPct val="110000"/>
              </a:lnSpc>
              <a:buNone/>
            </a:pPr>
            <a:r>
              <a:rPr lang="en-US" sz="720" dirty="0">
                <a:solidFill>
                  <a:srgbClr val="5F7183"/>
                </a:solidFill>
                <a:latin typeface="微軟正黑體" pitchFamily="34" charset="0"/>
                <a:ea typeface="微軟正黑體" pitchFamily="34" charset="-122"/>
                <a:cs typeface="微軟正黑體" pitchFamily="34" charset="-120"/>
              </a:rPr>
              <a:t>同樣的車速，濕路面的煞車距離長得多——第三節各位會自己看到。</a:t>
            </a:r>
            <a:endParaRPr lang="en-US" sz="760" dirty="0"/>
          </a:p>
        </p:txBody>
      </p:sp>
      <p:sp>
        <p:nvSpPr>
          <p:cNvPr id="16" name="Shape 14"/>
          <p:cNvSpPr/>
          <p:nvPr/>
        </p:nvSpPr>
        <p:spPr>
          <a:xfrm>
            <a:off x="4704261" y="1008987"/>
            <a:ext cx="3137535" cy="2062418"/>
          </a:xfrm>
          <a:prstGeom prst="roundRect">
            <a:avLst>
              <a:gd name="adj" fmla="val 3563"/>
            </a:avLst>
          </a:prstGeom>
          <a:solidFill>
            <a:srgbClr val="F4F7FA"/>
          </a:solidFill>
          <a:ln w="12700">
            <a:solidFill>
              <a:srgbClr val="DBE3EA"/>
            </a:solidFill>
            <a:prstDash val="solid"/>
          </a:ln>
        </p:spPr>
      </p:sp>
      <p:sp>
        <p:nvSpPr>
          <p:cNvPr id="17" name="Shape 15"/>
          <p:cNvSpPr/>
          <p:nvPr/>
        </p:nvSpPr>
        <p:spPr>
          <a:xfrm>
            <a:off x="4851219" y="1141248"/>
            <a:ext cx="279219" cy="279219"/>
          </a:xfrm>
          <a:prstGeom prst="ellipse">
            <a:avLst/>
          </a:prstGeom>
          <a:solidFill>
            <a:srgbClr val="D9463E"/>
          </a:solidFill>
          <a:ln/>
        </p:spPr>
      </p:sp>
      <p:sp>
        <p:nvSpPr>
          <p:cNvPr id="18" name="Text 16"/>
          <p:cNvSpPr txBox="1"/>
          <p:nvPr/>
        </p:nvSpPr>
        <p:spPr>
          <a:xfrm>
            <a:off x="4851219" y="1177988"/>
            <a:ext cx="279219" cy="205740"/>
          </a:xfrm>
          <a:prstGeom prst="rect">
            <a:avLst/>
          </a:prstGeom>
          <a:noFill/>
          <a:ln/>
        </p:spPr>
        <p:txBody>
          <a:bodyPr wrap="square" lIns="0" tIns="0" rIns="0" bIns="0" rtlCol="0" anchor="ctr"/>
          <a:lstStyle/>
          <a:p>
            <a:pPr algn="ctr" indent="0" marL="0">
              <a:buNone/>
            </a:pPr>
            <a:r>
              <a:rPr lang="en-US" sz="960" b="1" dirty="0">
                <a:solidFill>
                  <a:srgbClr val="FFFFFF"/>
                </a:solidFill>
                <a:latin typeface="Arial" pitchFamily="34" charset="0"/>
                <a:ea typeface="Arial" pitchFamily="34" charset="-122"/>
                <a:cs typeface="Arial" pitchFamily="34" charset="-120"/>
              </a:rPr>
              <a:t>▶</a:t>
            </a:r>
            <a:endParaRPr lang="en-US" sz="960" dirty="0"/>
          </a:p>
        </p:txBody>
      </p:sp>
      <p:sp>
        <p:nvSpPr>
          <p:cNvPr id="19" name="Text 17"/>
          <p:cNvSpPr txBox="1"/>
          <p:nvPr/>
        </p:nvSpPr>
        <p:spPr>
          <a:xfrm>
            <a:off x="5189220" y="1126553"/>
            <a:ext cx="2505619" cy="338001"/>
          </a:xfrm>
          <a:prstGeom prst="rect">
            <a:avLst/>
          </a:prstGeom>
          <a:noFill/>
          <a:ln/>
        </p:spPr>
        <p:txBody>
          <a:bodyPr wrap="square" lIns="0" tIns="0" rIns="0" bIns="0" rtlCol="0" anchor="ctr"/>
          <a:lstStyle/>
          <a:p>
            <a:pPr indent="0" marL="0">
              <a:buNone/>
            </a:pPr>
            <a:r>
              <a:rPr lang="en-US" sz="840" b="1" dirty="0">
                <a:solidFill>
                  <a:srgbClr val="0B1F3A"/>
                </a:solidFill>
                <a:latin typeface="Arial" pitchFamily="34" charset="0"/>
                <a:ea typeface="Arial" pitchFamily="34" charset="-122"/>
                <a:cs typeface="Arial" pitchFamily="34" charset="-120"/>
              </a:rPr>
              <a:t>Stopping Distance | Forces &amp; Motion | Physics</a:t>
            </a:r>
            <a:endParaRPr lang="en-US" sz="840" dirty="0"/>
          </a:p>
        </p:txBody>
      </p:sp>
      <p:sp>
        <p:nvSpPr>
          <p:cNvPr id="20" name="Text 18"/>
          <p:cNvSpPr txBox="1"/>
          <p:nvPr/>
        </p:nvSpPr>
        <p:spPr>
          <a:xfrm>
            <a:off x="4851219" y="1493945"/>
            <a:ext cx="2843621" cy="161653"/>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FuseSchool（教育頻道）　·　3:44，播到 2:30</a:t>
            </a:r>
            <a:endParaRPr lang="en-US" sz="720" dirty="0"/>
          </a:p>
        </p:txBody>
      </p:sp>
      <p:sp>
        <p:nvSpPr>
          <p:cNvPr id="21" name="Text 19">
            <a:hlinkClick r:id="rId1" tooltip=""/>
          </p:cNvPr>
          <p:cNvSpPr txBox="1"/>
          <p:nvPr/>
        </p:nvSpPr>
        <p:spPr>
          <a:xfrm>
            <a:off x="4851219" y="1640903"/>
            <a:ext cx="2843621" cy="161653"/>
          </a:xfrm>
          <a:prstGeom prst="rect">
            <a:avLst/>
          </a:prstGeom>
          <a:noFill/>
          <a:ln/>
        </p:spPr>
        <p:txBody>
          <a:bodyPr wrap="square" lIns="0" tIns="0" rIns="0" bIns="0" rtlCol="0" anchor="ctr"/>
          <a:lstStyle/>
          <a:p>
            <a:pPr indent="0" marL="0">
              <a:buNone/>
            </a:pPr>
            <a:r>
              <a:rPr lang="en-US" sz="680" u="sng" dirty="0">
                <a:solidFill>
                  <a:srgbClr val="1F6FBF"/>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https://www.youtube.com/watch?v=HTANxqGQcfI</a:t>
            </a:r>
            <a:endParaRPr lang="en-US" sz="680" dirty="0"/>
          </a:p>
        </p:txBody>
      </p:sp>
      <p:sp>
        <p:nvSpPr>
          <p:cNvPr id="22" name="Shape 20"/>
          <p:cNvSpPr/>
          <p:nvPr/>
        </p:nvSpPr>
        <p:spPr>
          <a:xfrm>
            <a:off x="4851219" y="1861338"/>
            <a:ext cx="29391" cy="191044"/>
          </a:xfrm>
          <a:prstGeom prst="rect">
            <a:avLst/>
          </a:prstGeom>
          <a:solidFill>
            <a:srgbClr val="00A896"/>
          </a:solidFill>
          <a:ln/>
        </p:spPr>
      </p:sp>
      <p:sp>
        <p:nvSpPr>
          <p:cNvPr id="23" name="Text 21"/>
          <p:cNvSpPr txBox="1"/>
          <p:nvPr/>
        </p:nvSpPr>
        <p:spPr>
          <a:xfrm>
            <a:off x="4954089" y="1831947"/>
            <a:ext cx="2755446" cy="474846"/>
          </a:xfrm>
          <a:prstGeom prst="rect">
            <a:avLst/>
          </a:prstGeom>
          <a:noFill/>
          <a:ln/>
        </p:spPr>
        <p:txBody>
          <a:bodyPr wrap="square" lIns="0" tIns="0" rIns="0" bIns="0" rtlCol="0" anchor="t"/>
          <a:lstStyle/>
          <a:p>
            <a:pPr indent="0" marL="0">
              <a:lnSpc>
                <a:spcPct val="118000"/>
              </a:lnSpc>
              <a:buNone/>
            </a:pPr>
            <a:r>
              <a:rPr lang="en-US" sz="760" dirty="0">
                <a:solidFill>
                  <a:srgbClr val="1A2733"/>
                </a:solidFill>
                <a:latin typeface="Arial" pitchFamily="34" charset="0"/>
                <a:ea typeface="Arial" pitchFamily="34" charset="-122"/>
                <a:cs typeface="Arial" pitchFamily="34" charset="-120"/>
              </a:rPr>
              <a:t>0:20–1:20　Quãng đường suy nghĩ: thời gian phản ứng × tốc độ. Mệt, dùng điện thoại thì dài thêm.</a:t>
            </a:r>
            <a:endParaRPr lang="en-US" sz="760" dirty="0"/>
          </a:p>
          <a:p>
            <a:pPr indent="0" marL="0">
              <a:lnSpc>
                <a:spcPct val="118000"/>
              </a:lnSpc>
              <a:buNone/>
            </a:pPr>
            <a:r>
              <a:rPr lang="en-US" sz="720" dirty="0">
                <a:solidFill>
                  <a:srgbClr val="5F7183"/>
                </a:solidFill>
                <a:latin typeface="微軟正黑體" pitchFamily="34" charset="0"/>
                <a:ea typeface="微軟正黑體" pitchFamily="34" charset="-122"/>
                <a:cs typeface="微軟正黑體" pitchFamily="34" charset="-120"/>
              </a:rPr>
              <a:t>0:20–1:20　反應距離：反應時間 × 速度。疲勞、滑手機都會變長。</a:t>
            </a:r>
            <a:endParaRPr lang="en-US" sz="760" dirty="0"/>
          </a:p>
        </p:txBody>
      </p:sp>
      <p:sp>
        <p:nvSpPr>
          <p:cNvPr id="24" name="Shape 22"/>
          <p:cNvSpPr/>
          <p:nvPr/>
        </p:nvSpPr>
        <p:spPr>
          <a:xfrm>
            <a:off x="4851219" y="2365576"/>
            <a:ext cx="29391" cy="191044"/>
          </a:xfrm>
          <a:prstGeom prst="rect">
            <a:avLst/>
          </a:prstGeom>
          <a:solidFill>
            <a:srgbClr val="00A896"/>
          </a:solidFill>
          <a:ln/>
        </p:spPr>
      </p:sp>
      <p:sp>
        <p:nvSpPr>
          <p:cNvPr id="25" name="Text 23"/>
          <p:cNvSpPr txBox="1"/>
          <p:nvPr/>
        </p:nvSpPr>
        <p:spPr>
          <a:xfrm>
            <a:off x="4954089" y="2336185"/>
            <a:ext cx="2755446" cy="366492"/>
          </a:xfrm>
          <a:prstGeom prst="rect">
            <a:avLst/>
          </a:prstGeom>
          <a:noFill/>
          <a:ln/>
        </p:spPr>
        <p:txBody>
          <a:bodyPr wrap="square" lIns="0" tIns="0" rIns="0" bIns="0" rtlCol="0" anchor="t"/>
          <a:lstStyle/>
          <a:p>
            <a:pPr indent="0" marL="0">
              <a:lnSpc>
                <a:spcPct val="118000"/>
              </a:lnSpc>
              <a:buNone/>
            </a:pPr>
            <a:r>
              <a:rPr lang="en-US" sz="760" dirty="0">
                <a:solidFill>
                  <a:srgbClr val="1A2733"/>
                </a:solidFill>
                <a:latin typeface="Arial" pitchFamily="34" charset="0"/>
                <a:ea typeface="Arial" pitchFamily="34" charset="-122"/>
                <a:cs typeface="Arial" pitchFamily="34" charset="-120"/>
              </a:rPr>
              <a:t>1:20–2:10　Quãng đường phanh: nhanh hơn hoặc nặng hơn thì dài hơn; đường ướt cũng dài hơn.</a:t>
            </a:r>
            <a:endParaRPr lang="en-US" sz="760" dirty="0"/>
          </a:p>
          <a:p>
            <a:pPr indent="0" marL="0">
              <a:lnSpc>
                <a:spcPct val="118000"/>
              </a:lnSpc>
              <a:buNone/>
            </a:pPr>
            <a:r>
              <a:rPr lang="en-US" sz="720" dirty="0">
                <a:solidFill>
                  <a:srgbClr val="5F7183"/>
                </a:solidFill>
                <a:latin typeface="微軟正黑體" pitchFamily="34" charset="0"/>
                <a:ea typeface="微軟正黑體" pitchFamily="34" charset="-122"/>
                <a:cs typeface="微軟正黑體" pitchFamily="34" charset="-120"/>
              </a:rPr>
              <a:t>1:20–2:10　煞車距離：車速快、車子重就變長；路面濕也變長。</a:t>
            </a:r>
            <a:endParaRPr lang="en-US" sz="760" dirty="0"/>
          </a:p>
        </p:txBody>
      </p:sp>
      <p:sp>
        <p:nvSpPr>
          <p:cNvPr id="26" name="Shape 24"/>
          <p:cNvSpPr/>
          <p:nvPr/>
        </p:nvSpPr>
        <p:spPr>
          <a:xfrm>
            <a:off x="4851219" y="2761460"/>
            <a:ext cx="29391" cy="191044"/>
          </a:xfrm>
          <a:prstGeom prst="rect">
            <a:avLst/>
          </a:prstGeom>
          <a:solidFill>
            <a:srgbClr val="00A896"/>
          </a:solidFill>
          <a:ln/>
        </p:spPr>
      </p:sp>
      <p:sp>
        <p:nvSpPr>
          <p:cNvPr id="27" name="Text 25"/>
          <p:cNvSpPr txBox="1"/>
          <p:nvPr/>
        </p:nvSpPr>
        <p:spPr>
          <a:xfrm>
            <a:off x="4954089" y="2732068"/>
            <a:ext cx="2755446" cy="252119"/>
          </a:xfrm>
          <a:prstGeom prst="rect">
            <a:avLst/>
          </a:prstGeom>
          <a:noFill/>
          <a:ln/>
        </p:spPr>
        <p:txBody>
          <a:bodyPr wrap="square" lIns="0" tIns="0" rIns="0" bIns="0" rtlCol="0" anchor="t"/>
          <a:lstStyle/>
          <a:p>
            <a:pPr indent="0" marL="0">
              <a:lnSpc>
                <a:spcPct val="118000"/>
              </a:lnSpc>
              <a:buNone/>
            </a:pPr>
            <a:r>
              <a:rPr lang="en-US" sz="760" dirty="0">
                <a:solidFill>
                  <a:srgbClr val="1A2733"/>
                </a:solidFill>
                <a:latin typeface="Arial" pitchFamily="34" charset="0"/>
                <a:ea typeface="Arial" pitchFamily="34" charset="-122"/>
                <a:cs typeface="Arial" pitchFamily="34" charset="-120"/>
              </a:rPr>
              <a:t>Câu hỏi: đoạn nào dài ra theo BÌNH PHƯƠNG của tốc độ?</a:t>
            </a:r>
            <a:endParaRPr lang="en-US" sz="760" dirty="0"/>
          </a:p>
          <a:p>
            <a:pPr indent="0" marL="0">
              <a:lnSpc>
                <a:spcPct val="118000"/>
              </a:lnSpc>
              <a:buNone/>
            </a:pPr>
            <a:r>
              <a:rPr lang="en-US" sz="720" dirty="0">
                <a:solidFill>
                  <a:srgbClr val="5F7183"/>
                </a:solidFill>
                <a:latin typeface="微軟正黑體" pitchFamily="34" charset="0"/>
                <a:ea typeface="微軟正黑體" pitchFamily="34" charset="-122"/>
                <a:cs typeface="微軟正黑體" pitchFamily="34" charset="-120"/>
              </a:rPr>
              <a:t>問題：哪一段是跟速度的平方成正比？</a:t>
            </a:r>
            <a:endParaRPr lang="en-US" sz="760" dirty="0"/>
          </a:p>
        </p:txBody>
      </p:sp>
      <p:sp>
        <p:nvSpPr>
          <p:cNvPr id="28" name="Shape 26"/>
          <p:cNvSpPr/>
          <p:nvPr/>
        </p:nvSpPr>
        <p:spPr>
          <a:xfrm>
            <a:off x="1302204" y="3159579"/>
            <a:ext cx="6539593" cy="440871"/>
          </a:xfrm>
          <a:prstGeom prst="roundRect">
            <a:avLst>
              <a:gd name="adj" fmla="val 15000"/>
            </a:avLst>
          </a:prstGeom>
          <a:solidFill>
            <a:srgbClr val="FFF6E3"/>
          </a:solidFill>
          <a:ln w="12700">
            <a:solidFill>
              <a:srgbClr val="FFB020"/>
            </a:solidFill>
            <a:prstDash val="solid"/>
          </a:ln>
        </p:spPr>
      </p:sp>
      <p:sp>
        <p:nvSpPr>
          <p:cNvPr id="29" name="Text 27"/>
          <p:cNvSpPr txBox="1"/>
          <p:nvPr/>
        </p:nvSpPr>
        <p:spPr>
          <a:xfrm>
            <a:off x="1449161" y="3211014"/>
            <a:ext cx="6245679" cy="352697"/>
          </a:xfrm>
          <a:prstGeom prst="rect">
            <a:avLst/>
          </a:prstGeom>
          <a:noFill/>
          <a:ln/>
        </p:spPr>
        <p:txBody>
          <a:bodyPr wrap="square" lIns="0" tIns="0" rIns="0" bIns="0" rtlCol="0" anchor="t"/>
          <a:lstStyle/>
          <a:p>
            <a:pPr indent="0" marL="0">
              <a:lnSpc>
                <a:spcPct val="114000"/>
              </a:lnSpc>
              <a:buNone/>
            </a:pPr>
            <a:r>
              <a:rPr lang="en-US" sz="920" b="1" dirty="0">
                <a:solidFill>
                  <a:srgbClr val="7A4E00"/>
                </a:solidFill>
                <a:latin typeface="Arial" pitchFamily="34" charset="0"/>
                <a:ea typeface="Arial" pitchFamily="34" charset="-122"/>
                <a:cs typeface="Arial" pitchFamily="34" charset="-120"/>
              </a:rPr>
              <a:t>Lời tiếng Anh. Bật phụ đề → Dịch tự động → Tiếng Việt. Dừng ở 2:30.</a:t>
            </a:r>
            <a:endParaRPr lang="en-US" sz="920" dirty="0"/>
          </a:p>
          <a:p>
            <a:pPr indent="0" marL="0">
              <a:lnSpc>
                <a:spcPct val="114000"/>
              </a:lnSpc>
              <a:buNone/>
            </a:pPr>
            <a:r>
              <a:rPr lang="en-US" sz="840" dirty="0">
                <a:solidFill>
                  <a:srgbClr val="7A4E00"/>
                </a:solidFill>
                <a:latin typeface="微軟正黑體" pitchFamily="34" charset="0"/>
                <a:ea typeface="微軟正黑體" pitchFamily="34" charset="-122"/>
                <a:cs typeface="微軟正黑體" pitchFamily="34" charset="-120"/>
              </a:rPr>
              <a:t>英文旁白。請開字幕 → 自動翻譯 → 越南文。播到 2:30 就停。</a:t>
            </a:r>
            <a:endParaRPr lang="en-US" sz="920" dirty="0"/>
          </a:p>
        </p:txBody>
      </p:sp>
      <p:pic>
        <p:nvPicPr>
          <p:cNvPr id="31" name="Image 0" descr="/Users/tsengchenghsun/Class/carClass/Claude outputs/第四週(10-1)/src/logo.png">    </p:cNvPr>
          <p:cNvPicPr>
            <a:picLocks noChangeAspect="1"/>
          </p:cNvPicPr>
          <p:nvPr/>
        </p:nvPicPr>
        <p:blipFill>
          <a:blip r:embed="rId2"/>
          <a:stretch>
            <a:fillRect/>
          </a:stretch>
        </p:blipFill>
        <p:spPr>
          <a:xfrm>
            <a:off x="7882128" y="109728"/>
            <a:ext cx="1097280" cy="242439"/>
          </a:xfrm>
          <a:prstGeom prst="rect">
            <a:avLst/>
          </a:prstGeom>
        </p:spPr>
      </p:pic>
      <p:sp>
        <p:nvSpPr>
          <p:cNvPr id="32" name="Text 28"/>
          <p:cNvSpPr txBox="1"/>
          <p:nvPr/>
        </p:nvSpPr>
        <p:spPr>
          <a:xfrm>
            <a:off x="986246" y="102870"/>
            <a:ext cx="661307" cy="205740"/>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8 / 18</a:t>
            </a:r>
            <a:endParaRPr lang="en-US" sz="720" dirty="0"/>
          </a:p>
        </p:txBody>
      </p:sp>
      <p:sp>
        <p:nvSpPr>
          <p:cNvPr id="33" name="Text 29"/>
          <p:cNvSpPr txBox="1"/>
          <p:nvPr/>
        </p:nvSpPr>
        <p:spPr>
          <a:xfrm>
            <a:off x="1669596" y="102870"/>
            <a:ext cx="1616529" cy="205740"/>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Tiết 1 · 第 1 節</a:t>
            </a:r>
            <a:endParaRPr lang="en-US" sz="7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984082" y="0"/>
          <a:ext cx="1" cy="1"/>
          <a:chOff x="0" y="0"/>
          <a:chExt cx="0" cy="0"/>
        </a:xfrm>
      </p:grpSpPr>
      <p:sp>
        <p:nvSpPr>
          <p:cNvPr id="2" name="Text 0"/>
          <p:cNvSpPr txBox="1"/>
          <p:nvPr/>
        </p:nvSpPr>
        <p:spPr>
          <a:xfrm>
            <a:off x="1378753" y="229627"/>
            <a:ext cx="6386494" cy="660177"/>
          </a:xfrm>
          <a:prstGeom prst="rect">
            <a:avLst/>
          </a:prstGeom>
          <a:noFill/>
          <a:ln/>
        </p:spPr>
        <p:txBody>
          <a:bodyPr wrap="square" lIns="0" tIns="0" rIns="0" bIns="0" rtlCol="0" anchor="t"/>
          <a:lstStyle/>
          <a:p>
            <a:pPr indent="0" marL="0">
              <a:lnSpc>
                <a:spcPct val="116000"/>
              </a:lnSpc>
              <a:buNone/>
            </a:pPr>
            <a:r>
              <a:rPr lang="en-US" sz="1730" b="1" dirty="0">
                <a:solidFill>
                  <a:srgbClr val="0B1F3A"/>
                </a:solidFill>
                <a:latin typeface="Arial" pitchFamily="34" charset="0"/>
                <a:ea typeface="Arial" pitchFamily="34" charset="-122"/>
                <a:cs typeface="Arial" pitchFamily="34" charset="-120"/>
              </a:rPr>
              <a:t>Bốn tốc độ, bốn yêu cầu tối thiểu cho chiều dài tia</a:t>
            </a:r>
            <a:endParaRPr lang="en-US" sz="1730" dirty="0"/>
          </a:p>
          <a:p>
            <a:pPr indent="0" marL="0">
              <a:lnSpc>
                <a:spcPct val="116000"/>
              </a:lnSpc>
              <a:buNone/>
            </a:pPr>
            <a:r>
              <a:rPr lang="en-US" sz="1060" dirty="0">
                <a:solidFill>
                  <a:srgbClr val="5F7183"/>
                </a:solidFill>
                <a:latin typeface="微軟正黑體" pitchFamily="34" charset="0"/>
                <a:ea typeface="微軟正黑體" pitchFamily="34" charset="-122"/>
                <a:cs typeface="微軟正黑體" pitchFamily="34" charset="-120"/>
              </a:rPr>
              <a:t>四個車速，射線長度的四個最低要求</a:t>
            </a:r>
            <a:endParaRPr lang="en-US" sz="1730" dirty="0"/>
          </a:p>
        </p:txBody>
      </p:sp>
      <p:sp>
        <p:nvSpPr>
          <p:cNvPr id="3" name="Shape 1"/>
          <p:cNvSpPr/>
          <p:nvPr/>
        </p:nvSpPr>
        <p:spPr>
          <a:xfrm>
            <a:off x="1378753" y="889804"/>
            <a:ext cx="6386494" cy="559715"/>
          </a:xfrm>
          <a:prstGeom prst="roundRect">
            <a:avLst>
              <a:gd name="adj" fmla="val 10256"/>
            </a:avLst>
          </a:prstGeom>
          <a:solidFill>
            <a:srgbClr val="EAF6F4"/>
          </a:solidFill>
          <a:ln/>
        </p:spPr>
      </p:sp>
      <p:sp>
        <p:nvSpPr>
          <p:cNvPr id="4" name="Text 2"/>
          <p:cNvSpPr txBox="1"/>
          <p:nvPr/>
        </p:nvSpPr>
        <p:spPr>
          <a:xfrm>
            <a:off x="1493566" y="947210"/>
            <a:ext cx="6156868" cy="444902"/>
          </a:xfrm>
          <a:prstGeom prst="rect">
            <a:avLst/>
          </a:prstGeom>
          <a:noFill/>
          <a:ln/>
        </p:spPr>
        <p:txBody>
          <a:bodyPr wrap="square" lIns="0" tIns="0" rIns="0" bIns="0" rtlCol="0" anchor="t"/>
          <a:lstStyle/>
          <a:p>
            <a:pPr indent="0" marL="0">
              <a:lnSpc>
                <a:spcPct val="110000"/>
              </a:lnSpc>
              <a:buNone/>
            </a:pPr>
            <a:r>
              <a:rPr lang="en-US" sz="900" b="1" dirty="0">
                <a:solidFill>
                  <a:srgbClr val="007F72"/>
                </a:solidFill>
                <a:latin typeface="Arial" pitchFamily="34" charset="0"/>
                <a:ea typeface="Arial" pitchFamily="34" charset="-122"/>
                <a:cs typeface="Arial" pitchFamily="34" charset="-120"/>
              </a:rPr>
              <a:t>Tính bằng công thức trang trước. Cột cuối đã cộng thêm 5 m dự phòng.</a:t>
            </a:r>
            <a:endParaRPr lang="en-US" sz="900" dirty="0"/>
          </a:p>
          <a:p>
            <a:pPr indent="0" marL="0">
              <a:lnSpc>
                <a:spcPct val="110000"/>
              </a:lnSpc>
              <a:buNone/>
            </a:pPr>
            <a:r>
              <a:rPr lang="en-US" sz="780" dirty="0">
                <a:solidFill>
                  <a:srgbClr val="007F72"/>
                </a:solidFill>
                <a:latin typeface="微軟正黑體" pitchFamily="34" charset="0"/>
                <a:ea typeface="微軟正黑體" pitchFamily="34" charset="-122"/>
                <a:cs typeface="微軟正黑體" pitchFamily="34" charset="-120"/>
              </a:rPr>
              <a:t>用上一頁那條公式算出來的。最後一欄已經加了 5 公尺餘裕。</a:t>
            </a:r>
            <a:endParaRPr lang="en-US" sz="9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1378753" y="1535629"/>
          <a:ext cx="6386494" cy="717584"/>
        </p:xfrm>
        <a:graphic>
          <a:graphicData uri="http://schemas.openxmlformats.org/drawingml/2006/table">
            <a:tbl>
              <a:tblPr/>
              <a:tblGrid>
                <a:gridCol w="717584"/>
                <a:gridCol w="717584"/>
                <a:gridCol w="789342"/>
                <a:gridCol w="825221"/>
                <a:gridCol w="3336764"/>
              </a:tblGrid>
              <a:tr h="272682">
                <a:tc>
                  <a:txBody>
                    <a:bodyPr/>
                    <a:lstStyle/>
                    <a:p>
                      <a:pPr algn="l" indent="0" marL="0">
                        <a:buNone/>
                      </a:pPr>
                      <a:r>
                        <a:rPr lang="en-US" sz="780" b="1" dirty="0">
                          <a:solidFill>
                            <a:srgbClr val="FFFFFF"/>
                          </a:solidFill>
                          <a:latin typeface="Arial" pitchFamily="34" charset="0"/>
                          <a:ea typeface="Arial" pitchFamily="34" charset="-122"/>
                          <a:cs typeface="Arial" pitchFamily="34" charset="-120"/>
                        </a:rPr>
                        <a:t>Tốc độ</a:t>
                      </a:r>
                      <a:endParaRPr lang="en-US" sz="940" dirty="0"/>
                    </a:p>
                    <a:p>
                      <a:pPr algn="l" indent="0" marL="0">
                        <a:buNone/>
                      </a:pPr>
                      <a:r>
                        <a:rPr lang="en-US" sz="670" dirty="0">
                          <a:solidFill>
                            <a:srgbClr val="CFE0EC"/>
                          </a:solidFill>
                          <a:latin typeface="微軟正黑體" pitchFamily="34" charset="0"/>
                          <a:ea typeface="微軟正黑體" pitchFamily="34" charset="-122"/>
                          <a:cs typeface="微軟正黑體" pitchFamily="34" charset="-120"/>
                        </a:rPr>
                        <a:t>車速</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780" b="1" dirty="0">
                          <a:solidFill>
                            <a:srgbClr val="FFFFFF"/>
                          </a:solidFill>
                          <a:latin typeface="Arial" pitchFamily="34" charset="0"/>
                          <a:ea typeface="Arial" pitchFamily="34" charset="-122"/>
                          <a:cs typeface="Arial" pitchFamily="34" charset="-120"/>
                        </a:rPr>
                        <a:t>m/s</a:t>
                      </a:r>
                      <a:endParaRPr lang="en-US" sz="940" dirty="0"/>
                    </a:p>
                    <a:p>
                      <a:pPr algn="l" indent="0" marL="0">
                        <a:buNone/>
                      </a:pPr>
                      <a:r>
                        <a:rPr lang="en-US" sz="670" dirty="0">
                          <a:solidFill>
                            <a:srgbClr val="CFE0EC"/>
                          </a:solidFill>
                          <a:latin typeface="微軟正黑體" pitchFamily="34" charset="0"/>
                          <a:ea typeface="微軟正黑體" pitchFamily="34" charset="-122"/>
                          <a:cs typeface="微軟正黑體" pitchFamily="34" charset="-120"/>
                        </a:rPr>
                        <a:t>每秒公尺</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780" b="1" dirty="0">
                          <a:solidFill>
                            <a:srgbClr val="FFFFFF"/>
                          </a:solidFill>
                          <a:latin typeface="Arial" pitchFamily="34" charset="0"/>
                          <a:ea typeface="Arial" pitchFamily="34" charset="-122"/>
                          <a:cs typeface="Arial" pitchFamily="34" charset="-120"/>
                        </a:rPr>
                        <a:t>Phanh</a:t>
                      </a:r>
                      <a:endParaRPr lang="en-US" sz="940" dirty="0"/>
                    </a:p>
                    <a:p>
                      <a:pPr algn="l" indent="0" marL="0">
                        <a:buNone/>
                      </a:pPr>
                      <a:r>
                        <a:rPr lang="en-US" sz="670" dirty="0">
                          <a:solidFill>
                            <a:srgbClr val="CFE0EC"/>
                          </a:solidFill>
                          <a:latin typeface="微軟正黑體" pitchFamily="34" charset="0"/>
                          <a:ea typeface="微軟正黑體" pitchFamily="34" charset="-122"/>
                          <a:cs typeface="微軟正黑體" pitchFamily="34" charset="-120"/>
                        </a:rPr>
                        <a:t>煞停距離</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780" b="1" dirty="0">
                          <a:solidFill>
                            <a:srgbClr val="FFFFFF"/>
                          </a:solidFill>
                          <a:latin typeface="Arial" pitchFamily="34" charset="0"/>
                          <a:ea typeface="Arial" pitchFamily="34" charset="-122"/>
                          <a:cs typeface="Arial" pitchFamily="34" charset="-120"/>
                        </a:rPr>
                        <a:t>Tia tối thiểu</a:t>
                      </a:r>
                      <a:endParaRPr lang="en-US" sz="940" dirty="0"/>
                    </a:p>
                    <a:p>
                      <a:pPr algn="l" indent="0" marL="0">
                        <a:buNone/>
                      </a:pPr>
                      <a:r>
                        <a:rPr lang="en-US" sz="670" dirty="0">
                          <a:solidFill>
                            <a:srgbClr val="CFE0EC"/>
                          </a:solidFill>
                          <a:latin typeface="微軟正黑體" pitchFamily="34" charset="0"/>
                          <a:ea typeface="微軟正黑體" pitchFamily="34" charset="-122"/>
                          <a:cs typeface="微軟正黑體" pitchFamily="34" charset="-120"/>
                        </a:rPr>
                        <a:t>射線至少</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780" b="1" dirty="0">
                          <a:solidFill>
                            <a:srgbClr val="FFFFFF"/>
                          </a:solidFill>
                          <a:latin typeface="Arial" pitchFamily="34" charset="0"/>
                          <a:ea typeface="Arial" pitchFamily="34" charset="-122"/>
                          <a:cs typeface="Arial" pitchFamily="34" charset="-120"/>
                        </a:rPr>
                        <a:t>Ở đâu gặp tốc độ này</a:t>
                      </a:r>
                      <a:endParaRPr lang="en-US" sz="940" dirty="0"/>
                    </a:p>
                    <a:p>
                      <a:pPr algn="l" indent="0" marL="0">
                        <a:buNone/>
                      </a:pPr>
                      <a:r>
                        <a:rPr lang="en-US" sz="670" dirty="0">
                          <a:solidFill>
                            <a:srgbClr val="CFE0EC"/>
                          </a:solidFill>
                          <a:latin typeface="微軟正黑體" pitchFamily="34" charset="0"/>
                          <a:ea typeface="微軟正黑體" pitchFamily="34" charset="-122"/>
                          <a:cs typeface="微軟正黑體" pitchFamily="34" charset="-120"/>
                        </a:rPr>
                        <a:t>什麼地方會開到這個速度</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272682">
                <a:tc>
                  <a:txBody>
                    <a:bodyPr/>
                    <a:lstStyle/>
                    <a:p>
                      <a:pPr algn="l" indent="0" marL="0">
                        <a:buNone/>
                      </a:pPr>
                      <a:r>
                        <a:rPr lang="en-US" sz="780" b="1" dirty="0">
                          <a:solidFill>
                            <a:srgbClr val="0B1F3A"/>
                          </a:solidFill>
                          <a:latin typeface="Arial" pitchFamily="34" charset="0"/>
                          <a:ea typeface="Arial" pitchFamily="34" charset="-122"/>
                          <a:cs typeface="Arial" pitchFamily="34" charset="-120"/>
                        </a:rPr>
                        <a:t>30 km/h</a:t>
                      </a:r>
                      <a:endParaRPr lang="en-US" sz="940" dirty="0"/>
                    </a:p>
                    <a:p>
                      <a:pPr algn="l" indent="0" marL="0">
                        <a:buNone/>
                      </a:pPr>
                      <a:r>
                        <a:rPr lang="en-US" sz="670" dirty="0">
                          <a:solidFill>
                            <a:srgbClr val="5F7183"/>
                          </a:solidFill>
                          <a:latin typeface="微軟正黑體" pitchFamily="34" charset="0"/>
                          <a:ea typeface="微軟正黑體" pitchFamily="34" charset="-122"/>
                          <a:cs typeface="微軟正黑體" pitchFamily="34" charset="-120"/>
                        </a:rPr>
                        <a:t>時速 30</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780" dirty="0">
                          <a:solidFill>
                            <a:srgbClr val="1A2733"/>
                          </a:solidFill>
                          <a:latin typeface="Arial" pitchFamily="34" charset="0"/>
                          <a:ea typeface="Arial" pitchFamily="34" charset="-122"/>
                          <a:cs typeface="Arial" pitchFamily="34" charset="-120"/>
                        </a:rPr>
                        <a:t>8,3</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780" dirty="0">
                          <a:solidFill>
                            <a:srgbClr val="1A2733"/>
                          </a:solidFill>
                          <a:latin typeface="Arial" pitchFamily="34" charset="0"/>
                          <a:ea typeface="Arial" pitchFamily="34" charset="-122"/>
                          <a:cs typeface="Arial" pitchFamily="34" charset="-120"/>
                        </a:rPr>
                        <a:t>8 m</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780" dirty="0">
                          <a:solidFill>
                            <a:srgbClr val="1A2733"/>
                          </a:solidFill>
                          <a:latin typeface="Arial" pitchFamily="34" charset="0"/>
                          <a:ea typeface="Arial" pitchFamily="34" charset="-122"/>
                          <a:cs typeface="Arial" pitchFamily="34" charset="-120"/>
                        </a:rPr>
                        <a:t>10 m</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780" dirty="0">
                          <a:solidFill>
                            <a:srgbClr val="1A2733"/>
                          </a:solidFill>
                          <a:latin typeface="Arial" pitchFamily="34" charset="0"/>
                          <a:ea typeface="Arial" pitchFamily="34" charset="-122"/>
                          <a:cs typeface="Arial" pitchFamily="34" charset="-120"/>
                        </a:rPr>
                        <a:t>Trong ngõ, khu dân cư, trường học</a:t>
                      </a:r>
                      <a:endParaRPr lang="en-US" sz="940" dirty="0"/>
                    </a:p>
                    <a:p>
                      <a:pPr algn="l" indent="0" marL="0">
                        <a:buNone/>
                      </a:pPr>
                      <a:r>
                        <a:rPr lang="en-US" sz="670" dirty="0">
                          <a:solidFill>
                            <a:srgbClr val="5F7183"/>
                          </a:solidFill>
                          <a:latin typeface="微軟正黑體" pitchFamily="34" charset="0"/>
                          <a:ea typeface="微軟正黑體" pitchFamily="34" charset="-122"/>
                          <a:cs typeface="微軟正黑體" pitchFamily="34" charset="-120"/>
                        </a:rPr>
                        <a:t>巷弄、社區、學校周邊</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72682">
                <a:tc>
                  <a:txBody>
                    <a:bodyPr/>
                    <a:lstStyle/>
                    <a:p>
                      <a:pPr algn="l" indent="0" marL="0">
                        <a:buNone/>
                      </a:pPr>
                      <a:r>
                        <a:rPr lang="en-US" sz="780" b="1" dirty="0">
                          <a:solidFill>
                            <a:srgbClr val="0B1F3A"/>
                          </a:solidFill>
                          <a:latin typeface="Arial" pitchFamily="34" charset="0"/>
                          <a:ea typeface="Arial" pitchFamily="34" charset="-122"/>
                          <a:cs typeface="Arial" pitchFamily="34" charset="-120"/>
                        </a:rPr>
                        <a:t>50 km/h</a:t>
                      </a:r>
                      <a:endParaRPr lang="en-US" sz="940" dirty="0"/>
                    </a:p>
                    <a:p>
                      <a:pPr algn="l" indent="0" marL="0">
                        <a:buNone/>
                      </a:pPr>
                      <a:r>
                        <a:rPr lang="en-US" sz="670" dirty="0">
                          <a:solidFill>
                            <a:srgbClr val="5F7183"/>
                          </a:solidFill>
                          <a:latin typeface="微軟正黑體" pitchFamily="34" charset="0"/>
                          <a:ea typeface="微軟正黑體" pitchFamily="34" charset="-122"/>
                          <a:cs typeface="微軟正黑體" pitchFamily="34" charset="-120"/>
                        </a:rPr>
                        <a:t>時速 50</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780" dirty="0">
                          <a:solidFill>
                            <a:srgbClr val="1A2733"/>
                          </a:solidFill>
                          <a:latin typeface="Arial" pitchFamily="34" charset="0"/>
                          <a:ea typeface="Arial" pitchFamily="34" charset="-122"/>
                          <a:cs typeface="Arial" pitchFamily="34" charset="-120"/>
                        </a:rPr>
                        <a:t>13,9</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780" dirty="0">
                          <a:solidFill>
                            <a:srgbClr val="1A2733"/>
                          </a:solidFill>
                          <a:latin typeface="Arial" pitchFamily="34" charset="0"/>
                          <a:ea typeface="Arial" pitchFamily="34" charset="-122"/>
                          <a:cs typeface="Arial" pitchFamily="34" charset="-120"/>
                        </a:rPr>
                        <a:t>20 m</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780" dirty="0">
                          <a:solidFill>
                            <a:srgbClr val="1A2733"/>
                          </a:solidFill>
                          <a:latin typeface="Arial" pitchFamily="34" charset="0"/>
                          <a:ea typeface="Arial" pitchFamily="34" charset="-122"/>
                          <a:cs typeface="Arial" pitchFamily="34" charset="-120"/>
                        </a:rPr>
                        <a:t>25 m</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780" dirty="0">
                          <a:solidFill>
                            <a:srgbClr val="1A2733"/>
                          </a:solidFill>
                          <a:latin typeface="Arial" pitchFamily="34" charset="0"/>
                          <a:ea typeface="Arial" pitchFamily="34" charset="-122"/>
                          <a:cs typeface="Arial" pitchFamily="34" charset="-120"/>
                        </a:rPr>
                        <a:t>Đường phố bình thường — tốc độ của bài tập hôm nay</a:t>
                      </a:r>
                      <a:endParaRPr lang="en-US" sz="940" dirty="0"/>
                    </a:p>
                    <a:p>
                      <a:pPr algn="l" indent="0" marL="0">
                        <a:buNone/>
                      </a:pPr>
                      <a:r>
                        <a:rPr lang="en-US" sz="670" dirty="0">
                          <a:solidFill>
                            <a:srgbClr val="5F7183"/>
                          </a:solidFill>
                          <a:latin typeface="微軟正黑體" pitchFamily="34" charset="0"/>
                          <a:ea typeface="微軟正黑體" pitchFamily="34" charset="-122"/>
                          <a:cs typeface="微軟正黑體" pitchFamily="34" charset="-120"/>
                        </a:rPr>
                        <a:t>一般市區道路——今天上機用的就是這個</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72682">
                <a:tc>
                  <a:txBody>
                    <a:bodyPr/>
                    <a:lstStyle/>
                    <a:p>
                      <a:pPr algn="l" indent="0" marL="0">
                        <a:buNone/>
                      </a:pPr>
                      <a:r>
                        <a:rPr lang="en-US" sz="780" b="1" dirty="0">
                          <a:solidFill>
                            <a:srgbClr val="0B1F3A"/>
                          </a:solidFill>
                          <a:latin typeface="Arial" pitchFamily="34" charset="0"/>
                          <a:ea typeface="Arial" pitchFamily="34" charset="-122"/>
                          <a:cs typeface="Arial" pitchFamily="34" charset="-120"/>
                        </a:rPr>
                        <a:t>60 km/h</a:t>
                      </a:r>
                      <a:endParaRPr lang="en-US" sz="940" dirty="0"/>
                    </a:p>
                    <a:p>
                      <a:pPr algn="l" indent="0" marL="0">
                        <a:buNone/>
                      </a:pPr>
                      <a:r>
                        <a:rPr lang="en-US" sz="670" dirty="0">
                          <a:solidFill>
                            <a:srgbClr val="5F7183"/>
                          </a:solidFill>
                          <a:latin typeface="微軟正黑體" pitchFamily="34" charset="0"/>
                          <a:ea typeface="微軟正黑體" pitchFamily="34" charset="-122"/>
                          <a:cs typeface="微軟正黑體" pitchFamily="34" charset="-120"/>
                        </a:rPr>
                        <a:t>時速 60</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780" dirty="0">
                          <a:solidFill>
                            <a:srgbClr val="1A2733"/>
                          </a:solidFill>
                          <a:latin typeface="Arial" pitchFamily="34" charset="0"/>
                          <a:ea typeface="Arial" pitchFamily="34" charset="-122"/>
                          <a:cs typeface="Arial" pitchFamily="34" charset="-120"/>
                        </a:rPr>
                        <a:t>16,7</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780" dirty="0">
                          <a:solidFill>
                            <a:srgbClr val="1A2733"/>
                          </a:solidFill>
                          <a:latin typeface="Arial" pitchFamily="34" charset="0"/>
                          <a:ea typeface="Arial" pitchFamily="34" charset="-122"/>
                          <a:cs typeface="Arial" pitchFamily="34" charset="-120"/>
                        </a:rPr>
                        <a:t>28 m</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780" dirty="0">
                          <a:solidFill>
                            <a:srgbClr val="1A2733"/>
                          </a:solidFill>
                          <a:latin typeface="Arial" pitchFamily="34" charset="0"/>
                          <a:ea typeface="Arial" pitchFamily="34" charset="-122"/>
                          <a:cs typeface="Arial" pitchFamily="34" charset="-120"/>
                        </a:rPr>
                        <a:t>35 m</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780" dirty="0">
                          <a:solidFill>
                            <a:srgbClr val="1A2733"/>
                          </a:solidFill>
                          <a:latin typeface="Arial" pitchFamily="34" charset="0"/>
                          <a:ea typeface="Arial" pitchFamily="34" charset="-122"/>
                          <a:cs typeface="Arial" pitchFamily="34" charset="-120"/>
                        </a:rPr>
                        <a:t>Đường lớn, đường vành đai</a:t>
                      </a:r>
                      <a:endParaRPr lang="en-US" sz="940" dirty="0"/>
                    </a:p>
                    <a:p>
                      <a:pPr algn="l" indent="0" marL="0">
                        <a:buNone/>
                      </a:pPr>
                      <a:r>
                        <a:rPr lang="en-US" sz="670" dirty="0">
                          <a:solidFill>
                            <a:srgbClr val="5F7183"/>
                          </a:solidFill>
                          <a:latin typeface="微軟正黑體" pitchFamily="34" charset="0"/>
                          <a:ea typeface="微軟正黑體" pitchFamily="34" charset="-122"/>
                          <a:cs typeface="微軟正黑體" pitchFamily="34" charset="-120"/>
                        </a:rPr>
                        <a:t>大馬路、外環道</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72682">
                <a:tc>
                  <a:txBody>
                    <a:bodyPr/>
                    <a:lstStyle/>
                    <a:p>
                      <a:pPr algn="l" indent="0" marL="0">
                        <a:buNone/>
                      </a:pPr>
                      <a:r>
                        <a:rPr lang="en-US" sz="780" b="1" dirty="0">
                          <a:solidFill>
                            <a:srgbClr val="0B1F3A"/>
                          </a:solidFill>
                          <a:latin typeface="Arial" pitchFamily="34" charset="0"/>
                          <a:ea typeface="Arial" pitchFamily="34" charset="-122"/>
                          <a:cs typeface="Arial" pitchFamily="34" charset="-120"/>
                        </a:rPr>
                        <a:t>80 km/h</a:t>
                      </a:r>
                      <a:endParaRPr lang="en-US" sz="940" dirty="0"/>
                    </a:p>
                    <a:p>
                      <a:pPr algn="l" indent="0" marL="0">
                        <a:buNone/>
                      </a:pPr>
                      <a:r>
                        <a:rPr lang="en-US" sz="670" dirty="0">
                          <a:solidFill>
                            <a:srgbClr val="5F7183"/>
                          </a:solidFill>
                          <a:latin typeface="微軟正黑體" pitchFamily="34" charset="0"/>
                          <a:ea typeface="微軟正黑體" pitchFamily="34" charset="-122"/>
                          <a:cs typeface="微軟正黑體" pitchFamily="34" charset="-120"/>
                        </a:rPr>
                        <a:t>時速 80</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780" dirty="0">
                          <a:solidFill>
                            <a:srgbClr val="1A2733"/>
                          </a:solidFill>
                          <a:latin typeface="Arial" pitchFamily="34" charset="0"/>
                          <a:ea typeface="Arial" pitchFamily="34" charset="-122"/>
                          <a:cs typeface="Arial" pitchFamily="34" charset="-120"/>
                        </a:rPr>
                        <a:t>22,2</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780" dirty="0">
                          <a:solidFill>
                            <a:srgbClr val="1A2733"/>
                          </a:solidFill>
                          <a:latin typeface="Arial" pitchFamily="34" charset="0"/>
                          <a:ea typeface="Arial" pitchFamily="34" charset="-122"/>
                          <a:cs typeface="Arial" pitchFamily="34" charset="-120"/>
                        </a:rPr>
                        <a:t>48 m</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780" dirty="0">
                          <a:solidFill>
                            <a:srgbClr val="1A2733"/>
                          </a:solidFill>
                          <a:latin typeface="Arial" pitchFamily="34" charset="0"/>
                          <a:ea typeface="Arial" pitchFamily="34" charset="-122"/>
                          <a:cs typeface="Arial" pitchFamily="34" charset="-120"/>
                        </a:rPr>
                        <a:t>60 m</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780" dirty="0">
                          <a:solidFill>
                            <a:srgbClr val="1A2733"/>
                          </a:solidFill>
                          <a:latin typeface="Arial" pitchFamily="34" charset="0"/>
                          <a:ea typeface="Arial" pitchFamily="34" charset="-122"/>
                          <a:cs typeface="Arial" pitchFamily="34" charset="-120"/>
                        </a:rPr>
                        <a:t>Đường cao tốc chậm</a:t>
                      </a:r>
                      <a:endParaRPr lang="en-US" sz="940" dirty="0"/>
                    </a:p>
                    <a:p>
                      <a:pPr algn="l" indent="0" marL="0">
                        <a:buNone/>
                      </a:pPr>
                      <a:r>
                        <a:rPr lang="en-US" sz="670" dirty="0">
                          <a:solidFill>
                            <a:srgbClr val="5F7183"/>
                          </a:solidFill>
                          <a:latin typeface="微軟正黑體" pitchFamily="34" charset="0"/>
                          <a:ea typeface="微軟正黑體" pitchFamily="34" charset="-122"/>
                          <a:cs typeface="微軟正黑體" pitchFamily="34" charset="-120"/>
                        </a:rPr>
                        <a:t>快速道路</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6" name="Text 3"/>
          <p:cNvSpPr txBox="1"/>
          <p:nvPr/>
        </p:nvSpPr>
        <p:spPr>
          <a:xfrm>
            <a:off x="1378753" y="3241658"/>
            <a:ext cx="6386494" cy="358792"/>
          </a:xfrm>
          <a:prstGeom prst="rect">
            <a:avLst/>
          </a:prstGeom>
          <a:noFill/>
          <a:ln/>
        </p:spPr>
        <p:txBody>
          <a:bodyPr wrap="square" lIns="0" tIns="0" rIns="0" bIns="0" rtlCol="0" anchor="t"/>
          <a:lstStyle/>
          <a:p>
            <a:pPr indent="0" marL="0">
              <a:lnSpc>
                <a:spcPct val="116000"/>
              </a:lnSpc>
              <a:buNone/>
            </a:pPr>
            <a:r>
              <a:rPr lang="en-US" sz="940" b="1" dirty="0">
                <a:solidFill>
                  <a:srgbClr val="007F72"/>
                </a:solidFill>
                <a:latin typeface="Arial" pitchFamily="34" charset="0"/>
                <a:ea typeface="Arial" pitchFamily="34" charset="-122"/>
                <a:cs typeface="Arial" pitchFamily="34" charset="-120"/>
              </a:rPr>
              <a:t>Xe thật 100 km/h cần hơn 200 m. Cảm biến nào làm được? Câu hỏi của chương 3.</a:t>
            </a:r>
            <a:endParaRPr lang="en-US" sz="940" dirty="0"/>
          </a:p>
          <a:p>
            <a:pPr indent="0" marL="0">
              <a:lnSpc>
                <a:spcPct val="116000"/>
              </a:lnSpc>
              <a:buNone/>
            </a:pPr>
            <a:r>
              <a:rPr lang="en-US" sz="860" dirty="0">
                <a:solidFill>
                  <a:srgbClr val="007F72"/>
                </a:solidFill>
                <a:latin typeface="微軟正黑體" pitchFamily="34" charset="0"/>
                <a:ea typeface="微軟正黑體" pitchFamily="34" charset="-122"/>
                <a:cs typeface="微軟正黑體" pitchFamily="34" charset="-120"/>
              </a:rPr>
              <a:t>真車時速 100 需要 200 公尺以上。哪一種感測器做得到？第三章的問題。</a:t>
            </a:r>
            <a:endParaRPr lang="en-US" sz="940" dirty="0"/>
          </a:p>
        </p:txBody>
      </p:sp>
      <p:pic>
        <p:nvPicPr>
          <p:cNvPr id="8" name="Image 0" descr="/Users/tsengchenghsun/Class/carClass/Claude outputs/第四週(10-1)/src/logo.png">    </p:cNvPr>
          <p:cNvPicPr>
            <a:picLocks noChangeAspect="1"/>
          </p:cNvPicPr>
          <p:nvPr/>
        </p:nvPicPr>
        <p:blipFill>
          <a:blip r:embed="rId1"/>
          <a:stretch>
            <a:fillRect/>
          </a:stretch>
        </p:blipFill>
        <p:spPr>
          <a:xfrm>
            <a:off x="7882128" y="109728"/>
            <a:ext cx="1097280" cy="242439"/>
          </a:xfrm>
          <a:prstGeom prst="rect">
            <a:avLst/>
          </a:prstGeom>
        </p:spPr>
      </p:pic>
      <p:sp>
        <p:nvSpPr>
          <p:cNvPr id="9" name="Text 4"/>
          <p:cNvSpPr txBox="1"/>
          <p:nvPr/>
        </p:nvSpPr>
        <p:spPr>
          <a:xfrm>
            <a:off x="1070192" y="100462"/>
            <a:ext cx="645825" cy="200923"/>
          </a:xfrm>
          <a:prstGeom prst="rect">
            <a:avLst/>
          </a:prstGeom>
          <a:noFill/>
          <a:ln/>
        </p:spPr>
        <p:txBody>
          <a:bodyPr wrap="square" lIns="0" tIns="0" rIns="0" bIns="0" rtlCol="0" anchor="ctr"/>
          <a:lstStyle/>
          <a:p>
            <a:pPr indent="0" marL="0">
              <a:buNone/>
            </a:pPr>
            <a:r>
              <a:rPr lang="en-US" sz="710" dirty="0">
                <a:solidFill>
                  <a:srgbClr val="5F7183"/>
                </a:solidFill>
                <a:latin typeface="Arial" pitchFamily="34" charset="0"/>
                <a:ea typeface="Arial" pitchFamily="34" charset="-122"/>
                <a:cs typeface="Arial" pitchFamily="34" charset="-120"/>
              </a:rPr>
              <a:t>9 / 18</a:t>
            </a:r>
            <a:endParaRPr lang="en-US" sz="710" dirty="0"/>
          </a:p>
        </p:txBody>
      </p:sp>
      <p:sp>
        <p:nvSpPr>
          <p:cNvPr id="10" name="Text 5"/>
          <p:cNvSpPr txBox="1"/>
          <p:nvPr/>
        </p:nvSpPr>
        <p:spPr>
          <a:xfrm>
            <a:off x="1737545" y="100462"/>
            <a:ext cx="1578684" cy="200923"/>
          </a:xfrm>
          <a:prstGeom prst="rect">
            <a:avLst/>
          </a:prstGeom>
          <a:noFill/>
          <a:ln/>
        </p:spPr>
        <p:txBody>
          <a:bodyPr wrap="square" lIns="0" tIns="0" rIns="0" bIns="0" rtlCol="0" anchor="ctr"/>
          <a:lstStyle/>
          <a:p>
            <a:pPr indent="0" marL="0">
              <a:buNone/>
            </a:pPr>
            <a:r>
              <a:rPr lang="en-US" sz="710" dirty="0">
                <a:solidFill>
                  <a:srgbClr val="5F7183"/>
                </a:solidFill>
                <a:latin typeface="Arial" pitchFamily="34" charset="0"/>
                <a:ea typeface="Arial" pitchFamily="34" charset="-122"/>
                <a:cs typeface="Arial" pitchFamily="34" charset="-120"/>
              </a:rPr>
              <a:t>Tiết 1 · 第 1 節</a:t>
            </a:r>
            <a:endParaRPr lang="en-US" sz="71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898071" y="0"/>
          <a:ext cx="1" cy="1"/>
          <a:chOff x="0" y="0"/>
          <a:chExt cx="0" cy="0"/>
        </a:xfrm>
      </p:grpSpPr>
      <p:sp>
        <p:nvSpPr>
          <p:cNvPr id="2" name="Text 0"/>
          <p:cNvSpPr txBox="1"/>
          <p:nvPr/>
        </p:nvSpPr>
        <p:spPr>
          <a:xfrm>
            <a:off x="1302204" y="293914"/>
            <a:ext cx="6539593" cy="220436"/>
          </a:xfrm>
          <a:prstGeom prst="rect">
            <a:avLst/>
          </a:prstGeom>
          <a:noFill/>
          <a:ln/>
        </p:spPr>
        <p:txBody>
          <a:bodyPr wrap="square" lIns="0" tIns="0" rIns="0" bIns="0" rtlCol="0" anchor="ctr"/>
          <a:lstStyle/>
          <a:p>
            <a:pPr indent="0" marL="0">
              <a:buNone/>
            </a:pPr>
            <a:r>
              <a:rPr lang="en-US" sz="1040" b="1" dirty="0">
                <a:solidFill>
                  <a:srgbClr val="007F72"/>
                </a:solidFill>
                <a:latin typeface="Arial" pitchFamily="34" charset="0"/>
                <a:ea typeface="Arial" pitchFamily="34" charset="-122"/>
                <a:cs typeface="Arial" pitchFamily="34" charset="-120"/>
              </a:rPr>
              <a:t>▶ Video · 真正的自駕模擬器長什麼樣</a:t>
            </a:r>
            <a:endParaRPr lang="en-US" sz="1040" dirty="0"/>
          </a:p>
        </p:txBody>
      </p:sp>
      <p:sp>
        <p:nvSpPr>
          <p:cNvPr id="3" name="Text 1"/>
          <p:cNvSpPr txBox="1"/>
          <p:nvPr/>
        </p:nvSpPr>
        <p:spPr>
          <a:xfrm>
            <a:off x="1302204" y="543741"/>
            <a:ext cx="6539593" cy="450550"/>
          </a:xfrm>
          <a:prstGeom prst="rect">
            <a:avLst/>
          </a:prstGeom>
          <a:noFill/>
          <a:ln/>
        </p:spPr>
        <p:txBody>
          <a:bodyPr wrap="square" lIns="0" tIns="0" rIns="0" bIns="0" rtlCol="0" anchor="t"/>
          <a:lstStyle/>
          <a:p>
            <a:pPr indent="0" marL="0">
              <a:lnSpc>
                <a:spcPct val="116000"/>
              </a:lnSpc>
              <a:buNone/>
            </a:pPr>
            <a:r>
              <a:rPr lang="en-US" sz="1370" b="1" dirty="0">
                <a:solidFill>
                  <a:srgbClr val="0B1F3A"/>
                </a:solidFill>
                <a:latin typeface="Arial" pitchFamily="34" charset="0"/>
                <a:ea typeface="Arial" pitchFamily="34" charset="-122"/>
                <a:cs typeface="Arial" pitchFamily="34" charset="-120"/>
              </a:rPr>
              <a:t>Mô phỏng của ta rất đơn giản — đây là loại mà ngành thật sự dùng</a:t>
            </a:r>
            <a:endParaRPr lang="en-US" sz="1370" dirty="0"/>
          </a:p>
          <a:p>
            <a:pPr indent="0" marL="0">
              <a:lnSpc>
                <a:spcPct val="116000"/>
              </a:lnSpc>
              <a:buNone/>
            </a:pPr>
            <a:r>
              <a:rPr lang="en-US" sz="1000" dirty="0">
                <a:solidFill>
                  <a:srgbClr val="5F7183"/>
                </a:solidFill>
                <a:latin typeface="微軟正黑體" pitchFamily="34" charset="0"/>
                <a:ea typeface="微軟正黑體" pitchFamily="34" charset="-122"/>
                <a:cs typeface="微軟正黑體" pitchFamily="34" charset="-120"/>
              </a:rPr>
              <a:t>我們的模擬器很簡單——這是業界真的在用的那種</a:t>
            </a:r>
            <a:endParaRPr lang="en-US" sz="1370" dirty="0"/>
          </a:p>
        </p:txBody>
      </p:sp>
      <p:sp>
        <p:nvSpPr>
          <p:cNvPr id="4" name="Shape 2"/>
          <p:cNvSpPr/>
          <p:nvPr/>
        </p:nvSpPr>
        <p:spPr>
          <a:xfrm>
            <a:off x="1302204" y="1008987"/>
            <a:ext cx="3137535" cy="2062418"/>
          </a:xfrm>
          <a:prstGeom prst="roundRect">
            <a:avLst>
              <a:gd name="adj" fmla="val 3563"/>
            </a:avLst>
          </a:prstGeom>
          <a:solidFill>
            <a:srgbClr val="5C7186"/>
          </a:solidFill>
          <a:ln w="12700">
            <a:solidFill>
              <a:srgbClr val="DBE3EA"/>
            </a:solidFill>
            <a:prstDash val="solid"/>
          </a:ln>
        </p:spPr>
      </p:sp>
      <p:sp>
        <p:nvSpPr>
          <p:cNvPr id="5" name="Shape 3"/>
          <p:cNvSpPr/>
          <p:nvPr/>
        </p:nvSpPr>
        <p:spPr>
          <a:xfrm>
            <a:off x="1331595" y="1875202"/>
            <a:ext cx="3078752" cy="1166811"/>
          </a:xfrm>
          <a:prstGeom prst="rect">
            <a:avLst/>
          </a:prstGeom>
          <a:solidFill>
            <a:srgbClr val="4A5763"/>
          </a:solidFill>
          <a:ln/>
        </p:spPr>
      </p:sp>
      <p:sp>
        <p:nvSpPr>
          <p:cNvPr id="6" name="Shape 4"/>
          <p:cNvSpPr/>
          <p:nvPr/>
        </p:nvSpPr>
        <p:spPr>
          <a:xfrm flipH="1">
            <a:off x="1553206" y="1875202"/>
            <a:ext cx="1244286" cy="1152115"/>
          </a:xfrm>
          <a:prstGeom prst="line">
            <a:avLst/>
          </a:prstGeom>
          <a:noFill/>
          <a:ln w="25400">
            <a:solidFill>
              <a:srgbClr val="E8EDF2">
                <a:alpha val="45000"/>
              </a:srgbClr>
            </a:solidFill>
            <a:prstDash val="solid"/>
          </a:ln>
        </p:spPr>
      </p:sp>
      <p:sp>
        <p:nvSpPr>
          <p:cNvPr id="7" name="Shape 5"/>
          <p:cNvSpPr/>
          <p:nvPr/>
        </p:nvSpPr>
        <p:spPr>
          <a:xfrm>
            <a:off x="2944450" y="1875202"/>
            <a:ext cx="1244286" cy="1152115"/>
          </a:xfrm>
          <a:prstGeom prst="line">
            <a:avLst/>
          </a:prstGeom>
          <a:noFill/>
          <a:ln w="25400">
            <a:solidFill>
              <a:srgbClr val="E8EDF2">
                <a:alpha val="45000"/>
              </a:srgbClr>
            </a:solidFill>
            <a:prstDash val="solid"/>
          </a:ln>
        </p:spPr>
      </p:sp>
      <p:sp>
        <p:nvSpPr>
          <p:cNvPr id="8" name="Shape 6"/>
          <p:cNvSpPr/>
          <p:nvPr/>
        </p:nvSpPr>
        <p:spPr>
          <a:xfrm>
            <a:off x="2017897" y="2017130"/>
            <a:ext cx="115825" cy="115825"/>
          </a:xfrm>
          <a:prstGeom prst="ellipse">
            <a:avLst/>
          </a:prstGeom>
          <a:solidFill>
            <a:srgbClr val="D8E4EC"/>
          </a:solidFill>
          <a:ln/>
        </p:spPr>
      </p:sp>
      <p:sp>
        <p:nvSpPr>
          <p:cNvPr id="9" name="Shape 7"/>
          <p:cNvSpPr/>
          <p:nvPr/>
        </p:nvSpPr>
        <p:spPr>
          <a:xfrm>
            <a:off x="1983149" y="2144538"/>
            <a:ext cx="185320" cy="208486"/>
          </a:xfrm>
          <a:prstGeom prst="roundRect">
            <a:avLst>
              <a:gd name="adj" fmla="val 111019"/>
            </a:avLst>
          </a:prstGeom>
          <a:solidFill>
            <a:srgbClr val="D8E4EC"/>
          </a:solidFill>
          <a:ln/>
        </p:spPr>
      </p:sp>
      <p:sp>
        <p:nvSpPr>
          <p:cNvPr id="10" name="Shape 8"/>
          <p:cNvSpPr/>
          <p:nvPr/>
        </p:nvSpPr>
        <p:spPr>
          <a:xfrm rot="960000">
            <a:off x="1951297" y="2161911"/>
            <a:ext cx="46330" cy="150573"/>
          </a:xfrm>
          <a:prstGeom prst="rect">
            <a:avLst/>
          </a:prstGeom>
          <a:solidFill>
            <a:srgbClr val="D8E4EC"/>
          </a:solidFill>
          <a:ln/>
        </p:spPr>
      </p:sp>
      <p:sp>
        <p:nvSpPr>
          <p:cNvPr id="11" name="Shape 9"/>
          <p:cNvSpPr/>
          <p:nvPr/>
        </p:nvSpPr>
        <p:spPr>
          <a:xfrm rot="-960000">
            <a:off x="2153992" y="2161911"/>
            <a:ext cx="46330" cy="150573"/>
          </a:xfrm>
          <a:prstGeom prst="rect">
            <a:avLst/>
          </a:prstGeom>
          <a:solidFill>
            <a:srgbClr val="D8E4EC"/>
          </a:solidFill>
          <a:ln/>
        </p:spPr>
      </p:sp>
      <p:sp>
        <p:nvSpPr>
          <p:cNvPr id="12" name="Shape 10"/>
          <p:cNvSpPr/>
          <p:nvPr/>
        </p:nvSpPr>
        <p:spPr>
          <a:xfrm rot="300000">
            <a:off x="2015001" y="2324067"/>
            <a:ext cx="52121" cy="208486"/>
          </a:xfrm>
          <a:prstGeom prst="rect">
            <a:avLst/>
          </a:prstGeom>
          <a:solidFill>
            <a:srgbClr val="D8E4EC"/>
          </a:solidFill>
          <a:ln/>
        </p:spPr>
      </p:sp>
      <p:sp>
        <p:nvSpPr>
          <p:cNvPr id="13" name="Shape 11"/>
          <p:cNvSpPr/>
          <p:nvPr/>
        </p:nvSpPr>
        <p:spPr>
          <a:xfrm rot="-300000">
            <a:off x="2084496" y="2324067"/>
            <a:ext cx="52121" cy="208486"/>
          </a:xfrm>
          <a:prstGeom prst="rect">
            <a:avLst/>
          </a:prstGeom>
          <a:solidFill>
            <a:srgbClr val="D8E4EC"/>
          </a:solidFill>
          <a:ln/>
        </p:spPr>
      </p:sp>
      <p:sp>
        <p:nvSpPr>
          <p:cNvPr id="14" name="Shape 12"/>
          <p:cNvSpPr/>
          <p:nvPr/>
        </p:nvSpPr>
        <p:spPr>
          <a:xfrm>
            <a:off x="1678708" y="1916450"/>
            <a:ext cx="690257" cy="742470"/>
          </a:xfrm>
          <a:prstGeom prst="rect">
            <a:avLst/>
          </a:prstGeom>
          <a:ln w="19050">
            <a:solidFill>
              <a:srgbClr val="6FD08C"/>
            </a:solidFill>
            <a:prstDash val="solid"/>
          </a:ln>
        </p:spPr>
      </p:sp>
      <p:sp>
        <p:nvSpPr>
          <p:cNvPr id="15" name="Shape 13"/>
          <p:cNvSpPr/>
          <p:nvPr/>
        </p:nvSpPr>
        <p:spPr>
          <a:xfrm>
            <a:off x="1678708" y="1776841"/>
            <a:ext cx="690257" cy="139609"/>
          </a:xfrm>
          <a:prstGeom prst="rect">
            <a:avLst/>
          </a:prstGeom>
          <a:solidFill>
            <a:srgbClr val="6FD08C"/>
          </a:solidFill>
          <a:ln/>
        </p:spPr>
      </p:sp>
      <p:sp>
        <p:nvSpPr>
          <p:cNvPr id="16" name="Text 14"/>
          <p:cNvSpPr txBox="1"/>
          <p:nvPr/>
        </p:nvSpPr>
        <p:spPr>
          <a:xfrm>
            <a:off x="1700752" y="1780515"/>
            <a:ext cx="690257" cy="132261"/>
          </a:xfrm>
          <a:prstGeom prst="rect">
            <a:avLst/>
          </a:prstGeom>
          <a:noFill/>
          <a:ln/>
        </p:spPr>
        <p:txBody>
          <a:bodyPr wrap="square" lIns="0" tIns="0" rIns="0" bIns="0" rtlCol="0" anchor="ctr"/>
          <a:lstStyle/>
          <a:p>
            <a:pPr indent="0" marL="0">
              <a:buNone/>
            </a:pPr>
            <a:r>
              <a:rPr lang="en-US" sz="640" b="1" dirty="0">
                <a:solidFill>
                  <a:srgbClr val="0B1F3A"/>
                </a:solidFill>
                <a:latin typeface="Arial" pitchFamily="34" charset="0"/>
                <a:ea typeface="Arial" pitchFamily="34" charset="-122"/>
                <a:cs typeface="Arial" pitchFamily="34" charset="-120"/>
              </a:rPr>
              <a:t>người 行人</a:t>
            </a:r>
            <a:endParaRPr lang="en-US" sz="640" dirty="0"/>
          </a:p>
        </p:txBody>
      </p:sp>
      <p:sp>
        <p:nvSpPr>
          <p:cNvPr id="17" name="Shape 15"/>
          <p:cNvSpPr/>
          <p:nvPr/>
        </p:nvSpPr>
        <p:spPr>
          <a:xfrm>
            <a:off x="3339253" y="2304647"/>
            <a:ext cx="473597" cy="144138"/>
          </a:xfrm>
          <a:prstGeom prst="roundRect">
            <a:avLst>
              <a:gd name="adj" fmla="val 152934"/>
            </a:avLst>
          </a:prstGeom>
          <a:solidFill>
            <a:srgbClr val="C8D3DE"/>
          </a:solidFill>
          <a:ln/>
        </p:spPr>
      </p:sp>
      <p:sp>
        <p:nvSpPr>
          <p:cNvPr id="18" name="Shape 16"/>
          <p:cNvSpPr/>
          <p:nvPr/>
        </p:nvSpPr>
        <p:spPr>
          <a:xfrm>
            <a:off x="3442209" y="2201691"/>
            <a:ext cx="257390" cy="113251"/>
          </a:xfrm>
          <a:prstGeom prst="trapezoid">
            <a:avLst/>
          </a:prstGeom>
          <a:solidFill>
            <a:srgbClr val="C8D3DE">
              <a:alpha val="70000"/>
            </a:srgbClr>
          </a:solidFill>
          <a:ln/>
        </p:spPr>
      </p:sp>
      <p:sp>
        <p:nvSpPr>
          <p:cNvPr id="19" name="Shape 17"/>
          <p:cNvSpPr/>
          <p:nvPr/>
        </p:nvSpPr>
        <p:spPr>
          <a:xfrm>
            <a:off x="3401027" y="2417898"/>
            <a:ext cx="102956" cy="102956"/>
          </a:xfrm>
          <a:prstGeom prst="ellipse">
            <a:avLst/>
          </a:prstGeom>
          <a:solidFill>
            <a:srgbClr val="C8D3DE"/>
          </a:solidFill>
          <a:ln/>
        </p:spPr>
      </p:sp>
      <p:sp>
        <p:nvSpPr>
          <p:cNvPr id="20" name="Shape 18"/>
          <p:cNvSpPr/>
          <p:nvPr/>
        </p:nvSpPr>
        <p:spPr>
          <a:xfrm>
            <a:off x="3648121" y="2417898"/>
            <a:ext cx="102956" cy="102956"/>
          </a:xfrm>
          <a:prstGeom prst="ellipse">
            <a:avLst/>
          </a:prstGeom>
          <a:solidFill>
            <a:srgbClr val="C8D3DE"/>
          </a:solidFill>
          <a:ln/>
        </p:spPr>
      </p:sp>
      <p:sp>
        <p:nvSpPr>
          <p:cNvPr id="21" name="Shape 19"/>
          <p:cNvSpPr/>
          <p:nvPr/>
        </p:nvSpPr>
        <p:spPr>
          <a:xfrm>
            <a:off x="3426765" y="2443637"/>
            <a:ext cx="51478" cy="51478"/>
          </a:xfrm>
          <a:prstGeom prst="ellipse">
            <a:avLst/>
          </a:prstGeom>
          <a:solidFill>
            <a:srgbClr val="FFFFFF"/>
          </a:solidFill>
          <a:ln/>
        </p:spPr>
      </p:sp>
      <p:sp>
        <p:nvSpPr>
          <p:cNvPr id="22" name="Shape 20"/>
          <p:cNvSpPr/>
          <p:nvPr/>
        </p:nvSpPr>
        <p:spPr>
          <a:xfrm>
            <a:off x="3673859" y="2443637"/>
            <a:ext cx="51478" cy="51478"/>
          </a:xfrm>
          <a:prstGeom prst="ellipse">
            <a:avLst/>
          </a:prstGeom>
          <a:solidFill>
            <a:srgbClr val="FFFFFF"/>
          </a:solidFill>
          <a:ln/>
        </p:spPr>
      </p:sp>
      <p:sp>
        <p:nvSpPr>
          <p:cNvPr id="23" name="Shape 21"/>
          <p:cNvSpPr/>
          <p:nvPr/>
        </p:nvSpPr>
        <p:spPr>
          <a:xfrm>
            <a:off x="3059223" y="1998947"/>
            <a:ext cx="941260" cy="659973"/>
          </a:xfrm>
          <a:prstGeom prst="rect">
            <a:avLst/>
          </a:prstGeom>
          <a:ln w="19050">
            <a:solidFill>
              <a:srgbClr val="4FA8FF"/>
            </a:solidFill>
            <a:prstDash val="solid"/>
          </a:ln>
        </p:spPr>
      </p:sp>
      <p:sp>
        <p:nvSpPr>
          <p:cNvPr id="24" name="Shape 22"/>
          <p:cNvSpPr/>
          <p:nvPr/>
        </p:nvSpPr>
        <p:spPr>
          <a:xfrm>
            <a:off x="3059223" y="1859338"/>
            <a:ext cx="941260" cy="139609"/>
          </a:xfrm>
          <a:prstGeom prst="rect">
            <a:avLst/>
          </a:prstGeom>
          <a:solidFill>
            <a:srgbClr val="4FA8FF"/>
          </a:solidFill>
          <a:ln/>
        </p:spPr>
      </p:sp>
      <p:sp>
        <p:nvSpPr>
          <p:cNvPr id="25" name="Text 23"/>
          <p:cNvSpPr txBox="1"/>
          <p:nvPr/>
        </p:nvSpPr>
        <p:spPr>
          <a:xfrm>
            <a:off x="3081267" y="1863012"/>
            <a:ext cx="941260" cy="132261"/>
          </a:xfrm>
          <a:prstGeom prst="rect">
            <a:avLst/>
          </a:prstGeom>
          <a:noFill/>
          <a:ln/>
        </p:spPr>
        <p:txBody>
          <a:bodyPr wrap="square" lIns="0" tIns="0" rIns="0" bIns="0" rtlCol="0" anchor="ctr"/>
          <a:lstStyle/>
          <a:p>
            <a:pPr indent="0" marL="0">
              <a:buNone/>
            </a:pPr>
            <a:r>
              <a:rPr lang="en-US" sz="640" b="1" dirty="0">
                <a:solidFill>
                  <a:srgbClr val="0B1F3A"/>
                </a:solidFill>
                <a:latin typeface="Arial" pitchFamily="34" charset="0"/>
                <a:ea typeface="Arial" pitchFamily="34" charset="-122"/>
                <a:cs typeface="Arial" pitchFamily="34" charset="-120"/>
              </a:rPr>
              <a:t>ô tô 汽車</a:t>
            </a:r>
            <a:endParaRPr lang="en-US" sz="640" dirty="0"/>
          </a:p>
        </p:txBody>
      </p:sp>
      <p:sp>
        <p:nvSpPr>
          <p:cNvPr id="26" name="Shape 24"/>
          <p:cNvSpPr/>
          <p:nvPr/>
        </p:nvSpPr>
        <p:spPr>
          <a:xfrm>
            <a:off x="2622479" y="1223478"/>
            <a:ext cx="277358" cy="354736"/>
          </a:xfrm>
          <a:prstGeom prst="roundRect">
            <a:avLst>
              <a:gd name="adj" fmla="val 10597"/>
            </a:avLst>
          </a:prstGeom>
          <a:solidFill>
            <a:srgbClr val="2B3945"/>
          </a:solidFill>
          <a:ln/>
        </p:spPr>
      </p:sp>
      <p:sp>
        <p:nvSpPr>
          <p:cNvPr id="27" name="Shape 25"/>
          <p:cNvSpPr/>
          <p:nvPr/>
        </p:nvSpPr>
        <p:spPr>
          <a:xfrm>
            <a:off x="2683497" y="1255404"/>
            <a:ext cx="155321" cy="155321"/>
          </a:xfrm>
          <a:prstGeom prst="ellipse">
            <a:avLst/>
          </a:prstGeom>
          <a:solidFill>
            <a:srgbClr val="FF5A4E"/>
          </a:solidFill>
          <a:ln/>
        </p:spPr>
      </p:sp>
      <p:sp>
        <p:nvSpPr>
          <p:cNvPr id="28" name="Shape 26"/>
          <p:cNvSpPr/>
          <p:nvPr/>
        </p:nvSpPr>
        <p:spPr>
          <a:xfrm>
            <a:off x="2683497" y="1361825"/>
            <a:ext cx="155321" cy="155321"/>
          </a:xfrm>
          <a:prstGeom prst="ellipse">
            <a:avLst/>
          </a:prstGeom>
          <a:solidFill>
            <a:srgbClr val="5F6B75"/>
          </a:solidFill>
          <a:ln/>
        </p:spPr>
      </p:sp>
      <p:sp>
        <p:nvSpPr>
          <p:cNvPr id="29" name="Shape 27"/>
          <p:cNvSpPr/>
          <p:nvPr/>
        </p:nvSpPr>
        <p:spPr>
          <a:xfrm>
            <a:off x="2683497" y="1468246"/>
            <a:ext cx="155321" cy="155321"/>
          </a:xfrm>
          <a:prstGeom prst="ellipse">
            <a:avLst/>
          </a:prstGeom>
          <a:solidFill>
            <a:srgbClr val="5F6B75"/>
          </a:solidFill>
          <a:ln/>
        </p:spPr>
      </p:sp>
      <p:sp>
        <p:nvSpPr>
          <p:cNvPr id="30" name="Shape 28"/>
          <p:cNvSpPr/>
          <p:nvPr/>
        </p:nvSpPr>
        <p:spPr>
          <a:xfrm>
            <a:off x="2494467" y="1194605"/>
            <a:ext cx="533381" cy="412484"/>
          </a:xfrm>
          <a:prstGeom prst="rect">
            <a:avLst/>
          </a:prstGeom>
          <a:ln w="19050">
            <a:solidFill>
              <a:srgbClr val="FFB020"/>
            </a:solidFill>
            <a:prstDash val="solid"/>
          </a:ln>
        </p:spPr>
      </p:sp>
      <p:sp>
        <p:nvSpPr>
          <p:cNvPr id="31" name="Shape 29"/>
          <p:cNvSpPr/>
          <p:nvPr/>
        </p:nvSpPr>
        <p:spPr>
          <a:xfrm>
            <a:off x="2494467" y="1054995"/>
            <a:ext cx="631916" cy="139609"/>
          </a:xfrm>
          <a:prstGeom prst="rect">
            <a:avLst/>
          </a:prstGeom>
          <a:solidFill>
            <a:srgbClr val="FFB020"/>
          </a:solidFill>
          <a:ln/>
        </p:spPr>
      </p:sp>
      <p:sp>
        <p:nvSpPr>
          <p:cNvPr id="32" name="Text 30"/>
          <p:cNvSpPr txBox="1"/>
          <p:nvPr/>
        </p:nvSpPr>
        <p:spPr>
          <a:xfrm>
            <a:off x="2516510" y="1058669"/>
            <a:ext cx="631916" cy="132261"/>
          </a:xfrm>
          <a:prstGeom prst="rect">
            <a:avLst/>
          </a:prstGeom>
          <a:noFill/>
          <a:ln/>
        </p:spPr>
        <p:txBody>
          <a:bodyPr wrap="square" lIns="0" tIns="0" rIns="0" bIns="0" rtlCol="0" anchor="ctr"/>
          <a:lstStyle/>
          <a:p>
            <a:pPr indent="0" marL="0">
              <a:buNone/>
            </a:pPr>
            <a:r>
              <a:rPr lang="en-US" sz="640" b="1" dirty="0">
                <a:solidFill>
                  <a:srgbClr val="0B1F3A"/>
                </a:solidFill>
                <a:latin typeface="Arial" pitchFamily="34" charset="0"/>
                <a:ea typeface="Arial" pitchFamily="34" charset="-122"/>
                <a:cs typeface="Arial" pitchFamily="34" charset="-120"/>
              </a:rPr>
              <a:t>đèn 號誌</a:t>
            </a:r>
            <a:endParaRPr lang="en-US" sz="640" dirty="0"/>
          </a:p>
        </p:txBody>
      </p:sp>
      <p:sp>
        <p:nvSpPr>
          <p:cNvPr id="33" name="Shape 31"/>
          <p:cNvSpPr/>
          <p:nvPr/>
        </p:nvSpPr>
        <p:spPr>
          <a:xfrm>
            <a:off x="1331595" y="2659924"/>
            <a:ext cx="3078752" cy="382089"/>
          </a:xfrm>
          <a:prstGeom prst="rect">
            <a:avLst/>
          </a:prstGeom>
          <a:solidFill>
            <a:srgbClr val="0B1F3A">
              <a:alpha val="78000"/>
            </a:srgbClr>
          </a:solidFill>
          <a:ln/>
        </p:spPr>
      </p:sp>
      <p:sp>
        <p:nvSpPr>
          <p:cNvPr id="34" name="Text 32"/>
          <p:cNvSpPr txBox="1"/>
          <p:nvPr/>
        </p:nvSpPr>
        <p:spPr>
          <a:xfrm>
            <a:off x="1405074" y="2689316"/>
            <a:ext cx="2931795" cy="323306"/>
          </a:xfrm>
          <a:prstGeom prst="rect">
            <a:avLst/>
          </a:prstGeom>
          <a:noFill/>
          <a:ln/>
        </p:spPr>
        <p:txBody>
          <a:bodyPr wrap="square" lIns="0" tIns="0" rIns="0" bIns="0" rtlCol="0" anchor="t"/>
          <a:lstStyle/>
          <a:p>
            <a:pPr indent="0" marL="0">
              <a:lnSpc>
                <a:spcPct val="106000"/>
              </a:lnSpc>
              <a:buNone/>
            </a:pPr>
            <a:r>
              <a:rPr lang="en-US" sz="800" b="1" dirty="0">
                <a:solidFill>
                  <a:srgbClr val="FFFFFF"/>
                </a:solidFill>
                <a:latin typeface="Arial" pitchFamily="34" charset="0"/>
                <a:ea typeface="Arial" pitchFamily="34" charset="-122"/>
                <a:cs typeface="Arial" pitchFamily="34" charset="-120"/>
              </a:rPr>
              <a:t>Hình minh hoạ. Trong CARLA: thời tiết, ánh sáng, người đi bộ, đèn tín hiệu đều chỉnh được.</a:t>
            </a:r>
            <a:endParaRPr lang="en-US" sz="800" dirty="0"/>
          </a:p>
          <a:p>
            <a:pPr indent="0" marL="0">
              <a:lnSpc>
                <a:spcPct val="106000"/>
              </a:lnSpc>
              <a:buNone/>
            </a:pPr>
            <a:r>
              <a:rPr lang="en-US" sz="720" dirty="0">
                <a:solidFill>
                  <a:srgbClr val="D8E4EC"/>
                </a:solidFill>
                <a:latin typeface="微軟正黑體" pitchFamily="34" charset="0"/>
                <a:ea typeface="微軟正黑體" pitchFamily="34" charset="-122"/>
                <a:cs typeface="微軟正黑體" pitchFamily="34" charset="-120"/>
              </a:rPr>
              <a:t>示意圖。在 CARLA 裡，天氣、光線、行人、號誌全都可以調。</a:t>
            </a:r>
            <a:endParaRPr lang="en-US" sz="800" dirty="0"/>
          </a:p>
        </p:txBody>
      </p:sp>
      <p:sp>
        <p:nvSpPr>
          <p:cNvPr id="35" name="Shape 33"/>
          <p:cNvSpPr/>
          <p:nvPr/>
        </p:nvSpPr>
        <p:spPr>
          <a:xfrm>
            <a:off x="4704261" y="1008987"/>
            <a:ext cx="3137535" cy="2062418"/>
          </a:xfrm>
          <a:prstGeom prst="roundRect">
            <a:avLst>
              <a:gd name="adj" fmla="val 3563"/>
            </a:avLst>
          </a:prstGeom>
          <a:solidFill>
            <a:srgbClr val="F4F7FA"/>
          </a:solidFill>
          <a:ln w="12700">
            <a:solidFill>
              <a:srgbClr val="DBE3EA"/>
            </a:solidFill>
            <a:prstDash val="solid"/>
          </a:ln>
        </p:spPr>
      </p:sp>
      <p:sp>
        <p:nvSpPr>
          <p:cNvPr id="36" name="Shape 34"/>
          <p:cNvSpPr/>
          <p:nvPr/>
        </p:nvSpPr>
        <p:spPr>
          <a:xfrm>
            <a:off x="4851219" y="1141248"/>
            <a:ext cx="279219" cy="279219"/>
          </a:xfrm>
          <a:prstGeom prst="ellipse">
            <a:avLst/>
          </a:prstGeom>
          <a:solidFill>
            <a:srgbClr val="D9463E"/>
          </a:solidFill>
          <a:ln/>
        </p:spPr>
      </p:sp>
      <p:sp>
        <p:nvSpPr>
          <p:cNvPr id="37" name="Text 35"/>
          <p:cNvSpPr txBox="1"/>
          <p:nvPr/>
        </p:nvSpPr>
        <p:spPr>
          <a:xfrm>
            <a:off x="4851219" y="1177988"/>
            <a:ext cx="279219" cy="205740"/>
          </a:xfrm>
          <a:prstGeom prst="rect">
            <a:avLst/>
          </a:prstGeom>
          <a:noFill/>
          <a:ln/>
        </p:spPr>
        <p:txBody>
          <a:bodyPr wrap="square" lIns="0" tIns="0" rIns="0" bIns="0" rtlCol="0" anchor="ctr"/>
          <a:lstStyle/>
          <a:p>
            <a:pPr algn="ctr" indent="0" marL="0">
              <a:buNone/>
            </a:pPr>
            <a:r>
              <a:rPr lang="en-US" sz="960" b="1" dirty="0">
                <a:solidFill>
                  <a:srgbClr val="FFFFFF"/>
                </a:solidFill>
                <a:latin typeface="Arial" pitchFamily="34" charset="0"/>
                <a:ea typeface="Arial" pitchFamily="34" charset="-122"/>
                <a:cs typeface="Arial" pitchFamily="34" charset="-120"/>
              </a:rPr>
              <a:t>▶</a:t>
            </a:r>
            <a:endParaRPr lang="en-US" sz="960" dirty="0"/>
          </a:p>
        </p:txBody>
      </p:sp>
      <p:sp>
        <p:nvSpPr>
          <p:cNvPr id="38" name="Text 36"/>
          <p:cNvSpPr txBox="1"/>
          <p:nvPr/>
        </p:nvSpPr>
        <p:spPr>
          <a:xfrm>
            <a:off x="5189220" y="1126553"/>
            <a:ext cx="2505619" cy="338001"/>
          </a:xfrm>
          <a:prstGeom prst="rect">
            <a:avLst/>
          </a:prstGeom>
          <a:noFill/>
          <a:ln/>
        </p:spPr>
        <p:txBody>
          <a:bodyPr wrap="square" lIns="0" tIns="0" rIns="0" bIns="0" rtlCol="0" anchor="ctr"/>
          <a:lstStyle/>
          <a:p>
            <a:pPr indent="0" marL="0">
              <a:buNone/>
            </a:pPr>
            <a:r>
              <a:rPr lang="en-US" sz="840" b="1" dirty="0">
                <a:solidFill>
                  <a:srgbClr val="0B1F3A"/>
                </a:solidFill>
                <a:latin typeface="Arial" pitchFamily="34" charset="0"/>
                <a:ea typeface="Arial" pitchFamily="34" charset="-122"/>
                <a:cs typeface="Arial" pitchFamily="34" charset="-120"/>
              </a:rPr>
              <a:t>CARLA 0.9.14</a:t>
            </a:r>
            <a:endParaRPr lang="en-US" sz="840" dirty="0"/>
          </a:p>
        </p:txBody>
      </p:sp>
      <p:sp>
        <p:nvSpPr>
          <p:cNvPr id="39" name="Text 37"/>
          <p:cNvSpPr txBox="1"/>
          <p:nvPr/>
        </p:nvSpPr>
        <p:spPr>
          <a:xfrm>
            <a:off x="4851219" y="1493945"/>
            <a:ext cx="2843621" cy="161653"/>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CARLA Simulator（官方）　·　3:33，播 2 分鐘就夠</a:t>
            </a:r>
            <a:endParaRPr lang="en-US" sz="720" dirty="0"/>
          </a:p>
        </p:txBody>
      </p:sp>
      <p:sp>
        <p:nvSpPr>
          <p:cNvPr id="40" name="Text 38">
            <a:hlinkClick r:id="rId1" tooltip=""/>
          </p:cNvPr>
          <p:cNvSpPr txBox="1"/>
          <p:nvPr/>
        </p:nvSpPr>
        <p:spPr>
          <a:xfrm>
            <a:off x="4851219" y="1640903"/>
            <a:ext cx="2843621" cy="161653"/>
          </a:xfrm>
          <a:prstGeom prst="rect">
            <a:avLst/>
          </a:prstGeom>
          <a:noFill/>
          <a:ln/>
        </p:spPr>
        <p:txBody>
          <a:bodyPr wrap="square" lIns="0" tIns="0" rIns="0" bIns="0" rtlCol="0" anchor="ctr"/>
          <a:lstStyle/>
          <a:p>
            <a:pPr indent="0" marL="0">
              <a:buNone/>
            </a:pPr>
            <a:r>
              <a:rPr lang="en-US" sz="680" u="sng" dirty="0">
                <a:solidFill>
                  <a:srgbClr val="1F6FBF"/>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https://www.youtube.com/watch?v=AZhzZy57XeU</a:t>
            </a:r>
            <a:endParaRPr lang="en-US" sz="680" dirty="0"/>
          </a:p>
        </p:txBody>
      </p:sp>
      <p:sp>
        <p:nvSpPr>
          <p:cNvPr id="41" name="Shape 39"/>
          <p:cNvSpPr/>
          <p:nvPr/>
        </p:nvSpPr>
        <p:spPr>
          <a:xfrm>
            <a:off x="4851219" y="1861338"/>
            <a:ext cx="29391" cy="191044"/>
          </a:xfrm>
          <a:prstGeom prst="rect">
            <a:avLst/>
          </a:prstGeom>
          <a:solidFill>
            <a:srgbClr val="00A896"/>
          </a:solidFill>
          <a:ln/>
        </p:spPr>
      </p:sp>
      <p:sp>
        <p:nvSpPr>
          <p:cNvPr id="42" name="Text 40"/>
          <p:cNvSpPr txBox="1"/>
          <p:nvPr/>
        </p:nvSpPr>
        <p:spPr>
          <a:xfrm>
            <a:off x="4954089" y="1831947"/>
            <a:ext cx="2755446" cy="474846"/>
          </a:xfrm>
          <a:prstGeom prst="rect">
            <a:avLst/>
          </a:prstGeom>
          <a:noFill/>
          <a:ln/>
        </p:spPr>
        <p:txBody>
          <a:bodyPr wrap="square" lIns="0" tIns="0" rIns="0" bIns="0" rtlCol="0" anchor="t"/>
          <a:lstStyle/>
          <a:p>
            <a:pPr indent="0" marL="0">
              <a:lnSpc>
                <a:spcPct val="118000"/>
              </a:lnSpc>
              <a:buNone/>
            </a:pPr>
            <a:r>
              <a:rPr lang="en-US" sz="760" dirty="0">
                <a:solidFill>
                  <a:srgbClr val="1A2733"/>
                </a:solidFill>
                <a:latin typeface="Arial" pitchFamily="34" charset="0"/>
                <a:ea typeface="Arial" pitchFamily="34" charset="-122"/>
                <a:cs typeface="Arial" pitchFamily="34" charset="-120"/>
              </a:rPr>
              <a:t>Trong CARLA, thời tiết, giờ trong ngày, mật độ xe đều là tham số chỉnh được</a:t>
            </a:r>
            <a:endParaRPr lang="en-US" sz="760" dirty="0"/>
          </a:p>
          <a:p>
            <a:pPr indent="0" marL="0">
              <a:lnSpc>
                <a:spcPct val="118000"/>
              </a:lnSpc>
              <a:buNone/>
            </a:pPr>
            <a:r>
              <a:rPr lang="en-US" sz="720" dirty="0">
                <a:solidFill>
                  <a:srgbClr val="5F7183"/>
                </a:solidFill>
                <a:latin typeface="微軟正黑體" pitchFamily="34" charset="0"/>
                <a:ea typeface="微軟正黑體" pitchFamily="34" charset="-122"/>
                <a:cs typeface="微軟正黑體" pitchFamily="34" charset="-120"/>
              </a:rPr>
              <a:t>CARLA 裡的天氣、一天中的時間、車流密度，全部都是可以調的參數</a:t>
            </a:r>
            <a:endParaRPr lang="en-US" sz="760" dirty="0"/>
          </a:p>
        </p:txBody>
      </p:sp>
      <p:sp>
        <p:nvSpPr>
          <p:cNvPr id="43" name="Shape 41"/>
          <p:cNvSpPr/>
          <p:nvPr/>
        </p:nvSpPr>
        <p:spPr>
          <a:xfrm>
            <a:off x="4851219" y="2365576"/>
            <a:ext cx="29391" cy="191044"/>
          </a:xfrm>
          <a:prstGeom prst="rect">
            <a:avLst/>
          </a:prstGeom>
          <a:solidFill>
            <a:srgbClr val="00A896"/>
          </a:solidFill>
          <a:ln/>
        </p:spPr>
      </p:sp>
      <p:sp>
        <p:nvSpPr>
          <p:cNvPr id="44" name="Text 42"/>
          <p:cNvSpPr txBox="1"/>
          <p:nvPr/>
        </p:nvSpPr>
        <p:spPr>
          <a:xfrm>
            <a:off x="4954089" y="2336185"/>
            <a:ext cx="2755446" cy="252119"/>
          </a:xfrm>
          <a:prstGeom prst="rect">
            <a:avLst/>
          </a:prstGeom>
          <a:noFill/>
          <a:ln/>
        </p:spPr>
        <p:txBody>
          <a:bodyPr wrap="square" lIns="0" tIns="0" rIns="0" bIns="0" rtlCol="0" anchor="t"/>
          <a:lstStyle/>
          <a:p>
            <a:pPr indent="0" marL="0">
              <a:lnSpc>
                <a:spcPct val="118000"/>
              </a:lnSpc>
              <a:buNone/>
            </a:pPr>
            <a:r>
              <a:rPr lang="en-US" sz="760" dirty="0">
                <a:solidFill>
                  <a:srgbClr val="1A2733"/>
                </a:solidFill>
                <a:latin typeface="Arial" pitchFamily="34" charset="0"/>
                <a:ea typeface="Arial" pitchFamily="34" charset="-122"/>
                <a:cs typeface="Arial" pitchFamily="34" charset="-120"/>
              </a:rPr>
              <a:t>CARLA mô phỏng được cả ảnh camera lẫn đám điểm LiDAR</a:t>
            </a:r>
            <a:endParaRPr lang="en-US" sz="760" dirty="0"/>
          </a:p>
          <a:p>
            <a:pPr indent="0" marL="0">
              <a:lnSpc>
                <a:spcPct val="118000"/>
              </a:lnSpc>
              <a:buNone/>
            </a:pPr>
            <a:r>
              <a:rPr lang="en-US" sz="720" dirty="0">
                <a:solidFill>
                  <a:srgbClr val="5F7183"/>
                </a:solidFill>
                <a:latin typeface="微軟正黑體" pitchFamily="34" charset="0"/>
                <a:ea typeface="微軟正黑體" pitchFamily="34" charset="-122"/>
                <a:cs typeface="微軟正黑體" pitchFamily="34" charset="-120"/>
              </a:rPr>
              <a:t>CARLA 連相機影像和光達點雲都模擬得出來</a:t>
            </a:r>
            <a:endParaRPr lang="en-US" sz="760" dirty="0"/>
          </a:p>
        </p:txBody>
      </p:sp>
      <p:sp>
        <p:nvSpPr>
          <p:cNvPr id="45" name="Shape 43"/>
          <p:cNvSpPr/>
          <p:nvPr/>
        </p:nvSpPr>
        <p:spPr>
          <a:xfrm>
            <a:off x="4851219" y="2647086"/>
            <a:ext cx="29391" cy="191044"/>
          </a:xfrm>
          <a:prstGeom prst="rect">
            <a:avLst/>
          </a:prstGeom>
          <a:solidFill>
            <a:srgbClr val="00A896"/>
          </a:solidFill>
          <a:ln/>
        </p:spPr>
      </p:sp>
      <p:sp>
        <p:nvSpPr>
          <p:cNvPr id="46" name="Text 44"/>
          <p:cNvSpPr txBox="1"/>
          <p:nvPr/>
        </p:nvSpPr>
        <p:spPr>
          <a:xfrm>
            <a:off x="4954089" y="2617694"/>
            <a:ext cx="2755446" cy="366492"/>
          </a:xfrm>
          <a:prstGeom prst="rect">
            <a:avLst/>
          </a:prstGeom>
          <a:noFill/>
          <a:ln/>
        </p:spPr>
        <p:txBody>
          <a:bodyPr wrap="square" lIns="0" tIns="0" rIns="0" bIns="0" rtlCol="0" anchor="t"/>
          <a:lstStyle/>
          <a:p>
            <a:pPr indent="0" marL="0">
              <a:lnSpc>
                <a:spcPct val="118000"/>
              </a:lnSpc>
              <a:buNone/>
            </a:pPr>
            <a:r>
              <a:rPr lang="en-US" sz="760" dirty="0">
                <a:solidFill>
                  <a:srgbClr val="1A2733"/>
                </a:solidFill>
                <a:latin typeface="Arial" pitchFamily="34" charset="0"/>
                <a:ea typeface="Arial" pitchFamily="34" charset="-122"/>
                <a:cs typeface="Arial" pitchFamily="34" charset="-120"/>
              </a:rPr>
              <a:t>Câu hỏi: nó khác mô phỏng của ta ở chỗ nào? Và giống ở chỗ nào?</a:t>
            </a:r>
            <a:endParaRPr lang="en-US" sz="760" dirty="0"/>
          </a:p>
          <a:p>
            <a:pPr indent="0" marL="0">
              <a:lnSpc>
                <a:spcPct val="118000"/>
              </a:lnSpc>
              <a:buNone/>
            </a:pPr>
            <a:r>
              <a:rPr lang="en-US" sz="720" dirty="0">
                <a:solidFill>
                  <a:srgbClr val="5F7183"/>
                </a:solidFill>
                <a:latin typeface="微軟正黑體" pitchFamily="34" charset="0"/>
                <a:ea typeface="微軟正黑體" pitchFamily="34" charset="-122"/>
                <a:cs typeface="微軟正黑體" pitchFamily="34" charset="-120"/>
              </a:rPr>
              <a:t>問題：它跟我們的模擬器差在哪？又有哪裡是一樣的？</a:t>
            </a:r>
            <a:endParaRPr lang="en-US" sz="760" dirty="0"/>
          </a:p>
        </p:txBody>
      </p:sp>
      <p:sp>
        <p:nvSpPr>
          <p:cNvPr id="47" name="Shape 45"/>
          <p:cNvSpPr/>
          <p:nvPr/>
        </p:nvSpPr>
        <p:spPr>
          <a:xfrm>
            <a:off x="1302204" y="3159579"/>
            <a:ext cx="6539593" cy="440871"/>
          </a:xfrm>
          <a:prstGeom prst="roundRect">
            <a:avLst>
              <a:gd name="adj" fmla="val 15000"/>
            </a:avLst>
          </a:prstGeom>
          <a:solidFill>
            <a:srgbClr val="FFF6E3"/>
          </a:solidFill>
          <a:ln w="12700">
            <a:solidFill>
              <a:srgbClr val="FFB020"/>
            </a:solidFill>
            <a:prstDash val="solid"/>
          </a:ln>
        </p:spPr>
      </p:sp>
      <p:sp>
        <p:nvSpPr>
          <p:cNvPr id="48" name="Text 46"/>
          <p:cNvSpPr txBox="1"/>
          <p:nvPr/>
        </p:nvSpPr>
        <p:spPr>
          <a:xfrm>
            <a:off x="1449161" y="3211014"/>
            <a:ext cx="6245679" cy="352697"/>
          </a:xfrm>
          <a:prstGeom prst="rect">
            <a:avLst/>
          </a:prstGeom>
          <a:noFill/>
          <a:ln/>
        </p:spPr>
        <p:txBody>
          <a:bodyPr wrap="square" lIns="0" tIns="0" rIns="0" bIns="0" rtlCol="0" anchor="t"/>
          <a:lstStyle/>
          <a:p>
            <a:pPr indent="0" marL="0">
              <a:lnSpc>
                <a:spcPct val="114000"/>
              </a:lnSpc>
              <a:buNone/>
            </a:pPr>
            <a:r>
              <a:rPr lang="en-US" sz="920" b="1" dirty="0">
                <a:solidFill>
                  <a:srgbClr val="7A4E00"/>
                </a:solidFill>
                <a:latin typeface="Arial" pitchFamily="34" charset="0"/>
                <a:ea typeface="Arial" pitchFamily="34" charset="-122"/>
                <a:cs typeface="Arial" pitchFamily="34" charset="-120"/>
              </a:rPr>
              <a:t>CARLA là mã nguồn mở, miễn phí, chạy được trên máy tính cá nhân có card đồ hoạ.</a:t>
            </a:r>
            <a:endParaRPr lang="en-US" sz="920" dirty="0"/>
          </a:p>
          <a:p>
            <a:pPr indent="0" marL="0">
              <a:lnSpc>
                <a:spcPct val="114000"/>
              </a:lnSpc>
              <a:buNone/>
            </a:pPr>
            <a:r>
              <a:rPr lang="en-US" sz="840" dirty="0">
                <a:solidFill>
                  <a:srgbClr val="7A4E00"/>
                </a:solidFill>
                <a:latin typeface="微軟正黑體" pitchFamily="34" charset="0"/>
                <a:ea typeface="微軟正黑體" pitchFamily="34" charset="-122"/>
                <a:cs typeface="微軟正黑體" pitchFamily="34" charset="-120"/>
              </a:rPr>
              <a:t>CARLA 是開源免費的，有顯示卡的個人電腦就跑得動。</a:t>
            </a:r>
            <a:endParaRPr lang="en-US" sz="920" dirty="0"/>
          </a:p>
        </p:txBody>
      </p:sp>
      <p:pic>
        <p:nvPicPr>
          <p:cNvPr id="50" name="Image 0" descr="/Users/tsengchenghsun/Class/carClass/Claude outputs/第四週(10-1)/src/logo.png">    </p:cNvPr>
          <p:cNvPicPr>
            <a:picLocks noChangeAspect="1"/>
          </p:cNvPicPr>
          <p:nvPr/>
        </p:nvPicPr>
        <p:blipFill>
          <a:blip r:embed="rId2"/>
          <a:stretch>
            <a:fillRect/>
          </a:stretch>
        </p:blipFill>
        <p:spPr>
          <a:xfrm>
            <a:off x="7882128" y="109728"/>
            <a:ext cx="1097280" cy="242439"/>
          </a:xfrm>
          <a:prstGeom prst="rect">
            <a:avLst/>
          </a:prstGeom>
        </p:spPr>
      </p:pic>
      <p:sp>
        <p:nvSpPr>
          <p:cNvPr id="51" name="Text 47"/>
          <p:cNvSpPr txBox="1"/>
          <p:nvPr/>
        </p:nvSpPr>
        <p:spPr>
          <a:xfrm>
            <a:off x="986246" y="102870"/>
            <a:ext cx="661307" cy="205740"/>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10 / 18</a:t>
            </a:r>
            <a:endParaRPr lang="en-US" sz="720" dirty="0"/>
          </a:p>
        </p:txBody>
      </p:sp>
      <p:sp>
        <p:nvSpPr>
          <p:cNvPr id="52" name="Text 48"/>
          <p:cNvSpPr txBox="1"/>
          <p:nvPr/>
        </p:nvSpPr>
        <p:spPr>
          <a:xfrm>
            <a:off x="1669596" y="102870"/>
            <a:ext cx="1616529" cy="205740"/>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Tiết 1 · 第 1 節</a:t>
            </a:r>
            <a:endParaRPr lang="en-US" sz="7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1F3A"/>
        </a:solidFill>
      </p:bgPr>
    </p:bg>
    <p:spTree>
      <p:nvGrpSpPr>
        <p:cNvPr id="1" name=""/>
        <p:cNvGrpSpPr/>
        <p:nvPr/>
      </p:nvGrpSpPr>
      <p:grpSpPr>
        <a:xfrm>
          <a:off x="898071" y="0"/>
          <a:ext cx="1" cy="1"/>
          <a:chOff x="0" y="0"/>
          <a:chExt cx="0" cy="0"/>
        </a:xfrm>
      </p:grpSpPr>
      <p:sp>
        <p:nvSpPr>
          <p:cNvPr id="2" name="Shape 0"/>
          <p:cNvSpPr/>
          <p:nvPr/>
        </p:nvSpPr>
        <p:spPr>
          <a:xfrm>
            <a:off x="6335486" y="-1102179"/>
            <a:ext cx="3380014" cy="3380014"/>
          </a:xfrm>
          <a:prstGeom prst="ellipse">
            <a:avLst/>
          </a:prstGeom>
          <a:solidFill>
            <a:srgbClr val="13314F"/>
          </a:solidFill>
          <a:ln w="12700">
            <a:solidFill>
              <a:srgbClr val="13314F"/>
            </a:solidFill>
            <a:prstDash val="solid"/>
          </a:ln>
        </p:spPr>
      </p:sp>
      <p:sp>
        <p:nvSpPr>
          <p:cNvPr id="3" name="Shape 1"/>
          <p:cNvSpPr/>
          <p:nvPr/>
        </p:nvSpPr>
        <p:spPr>
          <a:xfrm>
            <a:off x="7437664" y="1690007"/>
            <a:ext cx="1910443" cy="1910443"/>
          </a:xfrm>
          <a:prstGeom prst="ellipse">
            <a:avLst/>
          </a:prstGeom>
          <a:solidFill>
            <a:srgbClr val="007F72">
              <a:alpha val="28000"/>
            </a:srgbClr>
          </a:solidFill>
          <a:ln/>
        </p:spPr>
      </p:sp>
      <p:sp>
        <p:nvSpPr>
          <p:cNvPr id="4" name="Text 2"/>
          <p:cNvSpPr txBox="1"/>
          <p:nvPr/>
        </p:nvSpPr>
        <p:spPr>
          <a:xfrm>
            <a:off x="1302204" y="1359354"/>
            <a:ext cx="3673929" cy="249827"/>
          </a:xfrm>
          <a:prstGeom prst="rect">
            <a:avLst/>
          </a:prstGeom>
          <a:noFill/>
          <a:ln/>
        </p:spPr>
        <p:txBody>
          <a:bodyPr wrap="square" lIns="0" tIns="0" rIns="0" bIns="0" rtlCol="0" anchor="ctr"/>
          <a:lstStyle/>
          <a:p>
            <a:pPr indent="0" marL="0">
              <a:buNone/>
            </a:pPr>
            <a:endParaRPr lang="en-US" sz="1080" dirty="0"/>
          </a:p>
        </p:txBody>
      </p:sp>
      <p:sp>
        <p:nvSpPr>
          <p:cNvPr id="5" name="Text 3"/>
          <p:cNvSpPr txBox="1"/>
          <p:nvPr/>
        </p:nvSpPr>
        <p:spPr>
          <a:xfrm>
            <a:off x="1302204" y="1645920"/>
            <a:ext cx="5878286" cy="955221"/>
          </a:xfrm>
          <a:prstGeom prst="rect">
            <a:avLst/>
          </a:prstGeom>
          <a:noFill/>
          <a:ln/>
        </p:spPr>
        <p:txBody>
          <a:bodyPr wrap="square" lIns="0" tIns="0" rIns="0" bIns="0" rtlCol="0" anchor="t"/>
          <a:lstStyle/>
          <a:p>
            <a:pPr indent="0" marL="0">
              <a:lnSpc>
                <a:spcPct val="118000"/>
              </a:lnSpc>
              <a:buNone/>
            </a:pPr>
            <a:r>
              <a:rPr lang="en-US" sz="2330" b="1" dirty="0">
                <a:solidFill>
                  <a:srgbClr val="FFFFFF"/>
                </a:solidFill>
                <a:latin typeface="Arial" pitchFamily="34" charset="0"/>
                <a:ea typeface="Arial" pitchFamily="34" charset="-122"/>
                <a:cs typeface="Arial" pitchFamily="34" charset="-120"/>
              </a:rPr>
              <a:t>Vì sao chạy tốt trong mô phỏng vẫn chưa đủ</a:t>
            </a:r>
            <a:endParaRPr lang="en-US" sz="2330" dirty="0"/>
          </a:p>
          <a:p>
            <a:pPr indent="0" marL="0">
              <a:lnSpc>
                <a:spcPct val="118000"/>
              </a:lnSpc>
              <a:buNone/>
            </a:pPr>
            <a:r>
              <a:rPr lang="en-US" sz="1370" dirty="0">
                <a:solidFill>
                  <a:srgbClr val="AFC3D4"/>
                </a:solidFill>
                <a:latin typeface="微軟正黑體" pitchFamily="34" charset="0"/>
                <a:ea typeface="微軟正黑體" pitchFamily="34" charset="-122"/>
                <a:cs typeface="微軟正黑體" pitchFamily="34" charset="-120"/>
              </a:rPr>
              <a:t>為什麼在模擬裡跑得好還不夠</a:t>
            </a:r>
            <a:endParaRPr lang="en-US" sz="2330" dirty="0"/>
          </a:p>
        </p:txBody>
      </p:sp>
      <p:sp>
        <p:nvSpPr>
          <p:cNvPr id="7" name="Text 4"/>
          <p:cNvSpPr txBox="1"/>
          <p:nvPr/>
        </p:nvSpPr>
        <p:spPr>
          <a:xfrm>
            <a:off x="986246" y="102870"/>
            <a:ext cx="661307" cy="205740"/>
          </a:xfrm>
          <a:prstGeom prst="rect">
            <a:avLst/>
          </a:prstGeom>
          <a:noFill/>
          <a:ln/>
        </p:spPr>
        <p:txBody>
          <a:bodyPr wrap="square" lIns="0" tIns="0" rIns="0" bIns="0" rtlCol="0" anchor="ctr"/>
          <a:lstStyle/>
          <a:p>
            <a:pPr indent="0" marL="0">
              <a:buNone/>
            </a:pPr>
            <a:r>
              <a:rPr lang="en-US" sz="720" dirty="0">
                <a:solidFill>
                  <a:srgbClr val="9FB3C8"/>
                </a:solidFill>
                <a:latin typeface="Arial" pitchFamily="34" charset="0"/>
                <a:ea typeface="Arial" pitchFamily="34" charset="-122"/>
                <a:cs typeface="Arial" pitchFamily="34" charset="-120"/>
              </a:rPr>
              <a:t>11 / 18</a:t>
            </a:r>
            <a:endParaRPr lang="en-US" sz="720" dirty="0"/>
          </a:p>
        </p:txBody>
      </p:sp>
      <p:sp>
        <p:nvSpPr>
          <p:cNvPr id="8" name="Text 5"/>
          <p:cNvSpPr txBox="1"/>
          <p:nvPr/>
        </p:nvSpPr>
        <p:spPr>
          <a:xfrm>
            <a:off x="1669596" y="102870"/>
            <a:ext cx="1616529" cy="205740"/>
          </a:xfrm>
          <a:prstGeom prst="rect">
            <a:avLst/>
          </a:prstGeom>
          <a:noFill/>
          <a:ln/>
        </p:spPr>
        <p:txBody>
          <a:bodyPr wrap="square" lIns="0" tIns="0" rIns="0" bIns="0" rtlCol="0" anchor="ctr"/>
          <a:lstStyle/>
          <a:p>
            <a:pPr indent="0" marL="0">
              <a:buNone/>
            </a:pPr>
            <a:r>
              <a:rPr lang="en-US" sz="720" dirty="0">
                <a:solidFill>
                  <a:srgbClr val="9FB3C8"/>
                </a:solidFill>
                <a:latin typeface="Arial" pitchFamily="34" charset="0"/>
                <a:ea typeface="Arial" pitchFamily="34" charset="-122"/>
                <a:cs typeface="Arial" pitchFamily="34" charset="-120"/>
              </a:rPr>
              <a:t>Tiết 1 · 第 1 節</a:t>
            </a:r>
            <a:endParaRPr lang="en-US" sz="7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942514" y="0"/>
          <a:ext cx="1" cy="1"/>
          <a:chOff x="0" y="0"/>
          <a:chExt cx="0" cy="0"/>
        </a:xfrm>
      </p:grpSpPr>
      <p:sp>
        <p:nvSpPr>
          <p:cNvPr id="2" name="Text 0"/>
          <p:cNvSpPr txBox="1"/>
          <p:nvPr/>
        </p:nvSpPr>
        <p:spPr>
          <a:xfrm>
            <a:off x="1341758" y="333913"/>
            <a:ext cx="6460485" cy="217769"/>
          </a:xfrm>
          <a:prstGeom prst="rect">
            <a:avLst/>
          </a:prstGeom>
          <a:noFill/>
          <a:ln/>
        </p:spPr>
        <p:txBody>
          <a:bodyPr wrap="square" lIns="0" tIns="0" rIns="0" bIns="0" rtlCol="0" anchor="ctr"/>
          <a:lstStyle/>
          <a:p>
            <a:pPr indent="0" marL="0">
              <a:buNone/>
            </a:pPr>
            <a:r>
              <a:rPr lang="en-US" sz="990" b="1" dirty="0">
                <a:solidFill>
                  <a:srgbClr val="007F72"/>
                </a:solidFill>
                <a:latin typeface="Arial" pitchFamily="34" charset="0"/>
                <a:ea typeface="Arial" pitchFamily="34" charset="-122"/>
                <a:cs typeface="Arial" pitchFamily="34" charset="-120"/>
              </a:rPr>
              <a:t>Khoảng cách 1 / 3 · 落差之一</a:t>
            </a:r>
            <a:endParaRPr lang="en-US" sz="990" dirty="0"/>
          </a:p>
        </p:txBody>
      </p:sp>
      <p:sp>
        <p:nvSpPr>
          <p:cNvPr id="3" name="Shape 1"/>
          <p:cNvSpPr/>
          <p:nvPr/>
        </p:nvSpPr>
        <p:spPr>
          <a:xfrm>
            <a:off x="1341758" y="874706"/>
            <a:ext cx="1959922" cy="1996217"/>
          </a:xfrm>
          <a:prstGeom prst="roundRect">
            <a:avLst>
              <a:gd name="adj" fmla="val 4444"/>
            </a:avLst>
          </a:prstGeom>
          <a:solidFill>
            <a:srgbClr val="F4F7FA"/>
          </a:solidFill>
          <a:ln w="12700">
            <a:solidFill>
              <a:srgbClr val="DBE3EA"/>
            </a:solidFill>
            <a:prstDash val="solid"/>
          </a:ln>
        </p:spPr>
      </p:sp>
      <p:sp>
        <p:nvSpPr>
          <p:cNvPr id="4" name="Shape 2"/>
          <p:cNvSpPr/>
          <p:nvPr/>
        </p:nvSpPr>
        <p:spPr>
          <a:xfrm>
            <a:off x="1513650" y="1378914"/>
            <a:ext cx="667535" cy="740851"/>
          </a:xfrm>
          <a:prstGeom prst="roundRect">
            <a:avLst>
              <a:gd name="adj" fmla="val 5285"/>
            </a:avLst>
          </a:prstGeom>
          <a:solidFill>
            <a:srgbClr val="9FB6C9"/>
          </a:solidFill>
          <a:ln/>
        </p:spPr>
      </p:sp>
      <p:sp>
        <p:nvSpPr>
          <p:cNvPr id="5" name="Shape 3"/>
          <p:cNvSpPr/>
          <p:nvPr/>
        </p:nvSpPr>
        <p:spPr>
          <a:xfrm>
            <a:off x="1593754" y="1764156"/>
            <a:ext cx="200261" cy="251889"/>
          </a:xfrm>
          <a:prstGeom prst="roundRect">
            <a:avLst>
              <a:gd name="adj" fmla="val 13212"/>
            </a:avLst>
          </a:prstGeom>
          <a:solidFill>
            <a:srgbClr val="C8D6E2"/>
          </a:solidFill>
          <a:ln/>
        </p:spPr>
      </p:sp>
      <p:sp>
        <p:nvSpPr>
          <p:cNvPr id="6" name="Shape 4"/>
          <p:cNvSpPr/>
          <p:nvPr/>
        </p:nvSpPr>
        <p:spPr>
          <a:xfrm>
            <a:off x="1874119" y="1675255"/>
            <a:ext cx="200261" cy="340791"/>
          </a:xfrm>
          <a:prstGeom prst="roundRect">
            <a:avLst>
              <a:gd name="adj" fmla="val 13212"/>
            </a:avLst>
          </a:prstGeom>
          <a:solidFill>
            <a:srgbClr val="D8E3EC"/>
          </a:solidFill>
          <a:ln/>
        </p:spPr>
      </p:sp>
      <p:sp>
        <p:nvSpPr>
          <p:cNvPr id="7" name="Text 5"/>
          <p:cNvSpPr txBox="1"/>
          <p:nvPr/>
        </p:nvSpPr>
        <p:spPr>
          <a:xfrm>
            <a:off x="1513650" y="2155044"/>
            <a:ext cx="667535" cy="246950"/>
          </a:xfrm>
          <a:prstGeom prst="rect">
            <a:avLst/>
          </a:prstGeom>
          <a:noFill/>
          <a:ln/>
        </p:spPr>
        <p:txBody>
          <a:bodyPr wrap="square" lIns="0" tIns="0" rIns="0" bIns="0" rtlCol="0" anchor="ctr"/>
          <a:lstStyle/>
          <a:p>
            <a:pPr algn="ctr" indent="0" marL="0">
              <a:buNone/>
            </a:pPr>
            <a:r>
              <a:rPr lang="en-US" sz="600" b="1" dirty="0">
                <a:solidFill>
                  <a:srgbClr val="4FA8FF"/>
                </a:solidFill>
                <a:latin typeface="Arial" pitchFamily="34" charset="0"/>
                <a:ea typeface="Arial" pitchFamily="34" charset="-122"/>
                <a:cs typeface="Arial" pitchFamily="34" charset="-120"/>
              </a:rPr>
              <a:t>模擬</a:t>
            </a:r>
            <a:endParaRPr lang="en-US" sz="600" dirty="0"/>
          </a:p>
        </p:txBody>
      </p:sp>
      <p:sp>
        <p:nvSpPr>
          <p:cNvPr id="8" name="Shape 6"/>
          <p:cNvSpPr/>
          <p:nvPr/>
        </p:nvSpPr>
        <p:spPr>
          <a:xfrm>
            <a:off x="2462253" y="1378914"/>
            <a:ext cx="667535" cy="740851"/>
          </a:xfrm>
          <a:prstGeom prst="roundRect">
            <a:avLst>
              <a:gd name="adj" fmla="val 5285"/>
            </a:avLst>
          </a:prstGeom>
          <a:solidFill>
            <a:srgbClr val="6E7E8C"/>
          </a:solidFill>
          <a:ln/>
        </p:spPr>
      </p:sp>
      <p:sp>
        <p:nvSpPr>
          <p:cNvPr id="9" name="Shape 7"/>
          <p:cNvSpPr/>
          <p:nvPr/>
        </p:nvSpPr>
        <p:spPr>
          <a:xfrm>
            <a:off x="2542357" y="1764156"/>
            <a:ext cx="200261" cy="251889"/>
          </a:xfrm>
          <a:prstGeom prst="roundRect">
            <a:avLst>
              <a:gd name="adj" fmla="val 13212"/>
            </a:avLst>
          </a:prstGeom>
          <a:solidFill>
            <a:srgbClr val="8A97A2"/>
          </a:solidFill>
          <a:ln/>
        </p:spPr>
      </p:sp>
      <p:sp>
        <p:nvSpPr>
          <p:cNvPr id="10" name="Shape 8"/>
          <p:cNvSpPr/>
          <p:nvPr/>
        </p:nvSpPr>
        <p:spPr>
          <a:xfrm>
            <a:off x="2822721" y="1675255"/>
            <a:ext cx="200261" cy="340791"/>
          </a:xfrm>
          <a:prstGeom prst="roundRect">
            <a:avLst>
              <a:gd name="adj" fmla="val 13212"/>
            </a:avLst>
          </a:prstGeom>
          <a:solidFill>
            <a:srgbClr val="94A2AE"/>
          </a:solidFill>
          <a:ln/>
        </p:spPr>
      </p:sp>
      <p:sp>
        <p:nvSpPr>
          <p:cNvPr id="11" name="Shape 9"/>
          <p:cNvSpPr/>
          <p:nvPr/>
        </p:nvSpPr>
        <p:spPr>
          <a:xfrm>
            <a:off x="2501602" y="1438946"/>
            <a:ext cx="28107" cy="28107"/>
          </a:xfrm>
          <a:prstGeom prst="ellipse">
            <a:avLst/>
          </a:prstGeom>
          <a:solidFill>
            <a:srgbClr val="E8EEF3"/>
          </a:solidFill>
          <a:ln/>
        </p:spPr>
      </p:sp>
      <p:sp>
        <p:nvSpPr>
          <p:cNvPr id="12" name="Shape 10"/>
          <p:cNvSpPr/>
          <p:nvPr/>
        </p:nvSpPr>
        <p:spPr>
          <a:xfrm>
            <a:off x="2858429" y="1768213"/>
            <a:ext cx="28107" cy="28107"/>
          </a:xfrm>
          <a:prstGeom prst="ellipse">
            <a:avLst/>
          </a:prstGeom>
          <a:solidFill>
            <a:srgbClr val="E8EEF3"/>
          </a:solidFill>
          <a:ln/>
        </p:spPr>
      </p:sp>
      <p:sp>
        <p:nvSpPr>
          <p:cNvPr id="13" name="Shape 11"/>
          <p:cNvSpPr/>
          <p:nvPr/>
        </p:nvSpPr>
        <p:spPr>
          <a:xfrm>
            <a:off x="2654528" y="1504799"/>
            <a:ext cx="28107" cy="28107"/>
          </a:xfrm>
          <a:prstGeom prst="ellipse">
            <a:avLst/>
          </a:prstGeom>
          <a:solidFill>
            <a:srgbClr val="E8EEF3"/>
          </a:solidFill>
          <a:ln/>
        </p:spPr>
      </p:sp>
      <p:sp>
        <p:nvSpPr>
          <p:cNvPr id="14" name="Shape 12"/>
          <p:cNvSpPr/>
          <p:nvPr/>
        </p:nvSpPr>
        <p:spPr>
          <a:xfrm>
            <a:off x="3011356" y="1834066"/>
            <a:ext cx="28107" cy="28107"/>
          </a:xfrm>
          <a:prstGeom prst="ellipse">
            <a:avLst/>
          </a:prstGeom>
          <a:solidFill>
            <a:srgbClr val="E8EEF3"/>
          </a:solidFill>
          <a:ln/>
        </p:spPr>
      </p:sp>
      <p:sp>
        <p:nvSpPr>
          <p:cNvPr id="15" name="Shape 13"/>
          <p:cNvSpPr/>
          <p:nvPr/>
        </p:nvSpPr>
        <p:spPr>
          <a:xfrm>
            <a:off x="2807455" y="1570653"/>
            <a:ext cx="28107" cy="28107"/>
          </a:xfrm>
          <a:prstGeom prst="ellipse">
            <a:avLst/>
          </a:prstGeom>
          <a:solidFill>
            <a:srgbClr val="E8EEF3"/>
          </a:solidFill>
          <a:ln/>
        </p:spPr>
      </p:sp>
      <p:sp>
        <p:nvSpPr>
          <p:cNvPr id="16" name="Shape 14"/>
          <p:cNvSpPr/>
          <p:nvPr/>
        </p:nvSpPr>
        <p:spPr>
          <a:xfrm>
            <a:off x="2603552" y="1899920"/>
            <a:ext cx="28107" cy="28107"/>
          </a:xfrm>
          <a:prstGeom prst="ellipse">
            <a:avLst/>
          </a:prstGeom>
          <a:solidFill>
            <a:srgbClr val="E8EEF3"/>
          </a:solidFill>
          <a:ln/>
        </p:spPr>
      </p:sp>
      <p:sp>
        <p:nvSpPr>
          <p:cNvPr id="17" name="Shape 15"/>
          <p:cNvSpPr/>
          <p:nvPr/>
        </p:nvSpPr>
        <p:spPr>
          <a:xfrm>
            <a:off x="2960380" y="1636506"/>
            <a:ext cx="28107" cy="28107"/>
          </a:xfrm>
          <a:prstGeom prst="ellipse">
            <a:avLst/>
          </a:prstGeom>
          <a:solidFill>
            <a:srgbClr val="E8EEF3"/>
          </a:solidFill>
          <a:ln/>
        </p:spPr>
      </p:sp>
      <p:sp>
        <p:nvSpPr>
          <p:cNvPr id="18" name="Shape 16"/>
          <p:cNvSpPr/>
          <p:nvPr/>
        </p:nvSpPr>
        <p:spPr>
          <a:xfrm>
            <a:off x="2756479" y="1965773"/>
            <a:ext cx="28107" cy="28107"/>
          </a:xfrm>
          <a:prstGeom prst="ellipse">
            <a:avLst/>
          </a:prstGeom>
          <a:solidFill>
            <a:srgbClr val="E8EEF3"/>
          </a:solidFill>
          <a:ln/>
        </p:spPr>
      </p:sp>
      <p:sp>
        <p:nvSpPr>
          <p:cNvPr id="19" name="Shape 17"/>
          <p:cNvSpPr/>
          <p:nvPr/>
        </p:nvSpPr>
        <p:spPr>
          <a:xfrm>
            <a:off x="2552577" y="1702360"/>
            <a:ext cx="28107" cy="28107"/>
          </a:xfrm>
          <a:prstGeom prst="ellipse">
            <a:avLst/>
          </a:prstGeom>
          <a:solidFill>
            <a:srgbClr val="E8EEF3"/>
          </a:solidFill>
          <a:ln/>
        </p:spPr>
      </p:sp>
      <p:sp>
        <p:nvSpPr>
          <p:cNvPr id="20" name="Shape 18"/>
          <p:cNvSpPr/>
          <p:nvPr/>
        </p:nvSpPr>
        <p:spPr>
          <a:xfrm>
            <a:off x="2909405" y="1438946"/>
            <a:ext cx="28107" cy="28107"/>
          </a:xfrm>
          <a:prstGeom prst="ellipse">
            <a:avLst/>
          </a:prstGeom>
          <a:solidFill>
            <a:srgbClr val="E8EEF3"/>
          </a:solidFill>
          <a:ln/>
        </p:spPr>
      </p:sp>
      <p:sp>
        <p:nvSpPr>
          <p:cNvPr id="21" name="Shape 19"/>
          <p:cNvSpPr/>
          <p:nvPr/>
        </p:nvSpPr>
        <p:spPr>
          <a:xfrm>
            <a:off x="2705504" y="1768213"/>
            <a:ext cx="28107" cy="28107"/>
          </a:xfrm>
          <a:prstGeom prst="ellipse">
            <a:avLst/>
          </a:prstGeom>
          <a:solidFill>
            <a:srgbClr val="E8EEF3"/>
          </a:solidFill>
          <a:ln/>
        </p:spPr>
      </p:sp>
      <p:sp>
        <p:nvSpPr>
          <p:cNvPr id="22" name="Shape 20"/>
          <p:cNvSpPr/>
          <p:nvPr/>
        </p:nvSpPr>
        <p:spPr>
          <a:xfrm>
            <a:off x="2501602" y="1504799"/>
            <a:ext cx="28107" cy="28107"/>
          </a:xfrm>
          <a:prstGeom prst="ellipse">
            <a:avLst/>
          </a:prstGeom>
          <a:solidFill>
            <a:srgbClr val="E8EEF3"/>
          </a:solidFill>
          <a:ln/>
        </p:spPr>
      </p:sp>
      <p:sp>
        <p:nvSpPr>
          <p:cNvPr id="23" name="Shape 21"/>
          <p:cNvSpPr/>
          <p:nvPr/>
        </p:nvSpPr>
        <p:spPr>
          <a:xfrm>
            <a:off x="2858429" y="1834066"/>
            <a:ext cx="28107" cy="28107"/>
          </a:xfrm>
          <a:prstGeom prst="ellipse">
            <a:avLst/>
          </a:prstGeom>
          <a:solidFill>
            <a:srgbClr val="E8EEF3"/>
          </a:solidFill>
          <a:ln/>
        </p:spPr>
      </p:sp>
      <p:sp>
        <p:nvSpPr>
          <p:cNvPr id="24" name="Shape 22"/>
          <p:cNvSpPr/>
          <p:nvPr/>
        </p:nvSpPr>
        <p:spPr>
          <a:xfrm>
            <a:off x="2654528" y="1570653"/>
            <a:ext cx="28107" cy="28107"/>
          </a:xfrm>
          <a:prstGeom prst="ellipse">
            <a:avLst/>
          </a:prstGeom>
          <a:solidFill>
            <a:srgbClr val="E8EEF3"/>
          </a:solidFill>
          <a:ln/>
        </p:spPr>
      </p:sp>
      <p:sp>
        <p:nvSpPr>
          <p:cNvPr id="25" name="Shape 23"/>
          <p:cNvSpPr/>
          <p:nvPr/>
        </p:nvSpPr>
        <p:spPr>
          <a:xfrm>
            <a:off x="3011356" y="1899920"/>
            <a:ext cx="28107" cy="28107"/>
          </a:xfrm>
          <a:prstGeom prst="ellipse">
            <a:avLst/>
          </a:prstGeom>
          <a:solidFill>
            <a:srgbClr val="E8EEF3"/>
          </a:solidFill>
          <a:ln/>
        </p:spPr>
      </p:sp>
      <p:sp>
        <p:nvSpPr>
          <p:cNvPr id="26" name="Shape 24"/>
          <p:cNvSpPr/>
          <p:nvPr/>
        </p:nvSpPr>
        <p:spPr>
          <a:xfrm>
            <a:off x="2807455" y="1636506"/>
            <a:ext cx="28107" cy="28107"/>
          </a:xfrm>
          <a:prstGeom prst="ellipse">
            <a:avLst/>
          </a:prstGeom>
          <a:solidFill>
            <a:srgbClr val="E8EEF3"/>
          </a:solidFill>
          <a:ln/>
        </p:spPr>
      </p:sp>
      <p:sp>
        <p:nvSpPr>
          <p:cNvPr id="27" name="Shape 25"/>
          <p:cNvSpPr/>
          <p:nvPr/>
        </p:nvSpPr>
        <p:spPr>
          <a:xfrm>
            <a:off x="2895097" y="1424433"/>
            <a:ext cx="175667" cy="175667"/>
          </a:xfrm>
          <a:prstGeom prst="ellipse">
            <a:avLst/>
          </a:prstGeom>
          <a:solidFill>
            <a:srgbClr val="F3E2A8"/>
          </a:solidFill>
          <a:ln/>
        </p:spPr>
      </p:sp>
      <p:sp>
        <p:nvSpPr>
          <p:cNvPr id="28" name="Text 26"/>
          <p:cNvSpPr txBox="1"/>
          <p:nvPr/>
        </p:nvSpPr>
        <p:spPr>
          <a:xfrm>
            <a:off x="2462253" y="2155044"/>
            <a:ext cx="667535" cy="246950"/>
          </a:xfrm>
          <a:prstGeom prst="rect">
            <a:avLst/>
          </a:prstGeom>
          <a:noFill/>
          <a:ln/>
        </p:spPr>
        <p:txBody>
          <a:bodyPr wrap="square" lIns="0" tIns="0" rIns="0" bIns="0" rtlCol="0" anchor="ctr"/>
          <a:lstStyle/>
          <a:p>
            <a:pPr algn="ctr" indent="0" marL="0">
              <a:buNone/>
            </a:pPr>
            <a:r>
              <a:rPr lang="en-US" sz="600" b="1" dirty="0">
                <a:solidFill>
                  <a:srgbClr val="4FA8FF"/>
                </a:solidFill>
                <a:latin typeface="Arial" pitchFamily="34" charset="0"/>
                <a:ea typeface="Arial" pitchFamily="34" charset="-122"/>
                <a:cs typeface="Arial" pitchFamily="34" charset="-120"/>
              </a:rPr>
              <a:t>真車</a:t>
            </a:r>
            <a:endParaRPr lang="en-US" sz="600" dirty="0"/>
          </a:p>
        </p:txBody>
      </p:sp>
      <p:sp>
        <p:nvSpPr>
          <p:cNvPr id="29" name="Text 27"/>
          <p:cNvSpPr txBox="1"/>
          <p:nvPr/>
        </p:nvSpPr>
        <p:spPr>
          <a:xfrm>
            <a:off x="2181185" y="1601169"/>
            <a:ext cx="281068" cy="352786"/>
          </a:xfrm>
          <a:prstGeom prst="rect">
            <a:avLst/>
          </a:prstGeom>
          <a:noFill/>
          <a:ln/>
        </p:spPr>
        <p:txBody>
          <a:bodyPr wrap="square" lIns="0" tIns="0" rIns="0" bIns="0" rtlCol="0" anchor="ctr"/>
          <a:lstStyle/>
          <a:p>
            <a:pPr algn="ctr" indent="0" marL="0">
              <a:buNone/>
            </a:pPr>
            <a:r>
              <a:rPr lang="en-US" sz="1110" b="1" dirty="0">
                <a:solidFill>
                  <a:srgbClr val="D9463E"/>
                </a:solidFill>
                <a:latin typeface="Arial" pitchFamily="34" charset="0"/>
                <a:ea typeface="Arial" pitchFamily="34" charset="-122"/>
                <a:cs typeface="Arial" pitchFamily="34" charset="-120"/>
              </a:rPr>
              <a:t>≠</a:t>
            </a:r>
            <a:endParaRPr lang="en-US" sz="1110" dirty="0"/>
          </a:p>
        </p:txBody>
      </p:sp>
      <p:sp>
        <p:nvSpPr>
          <p:cNvPr id="30" name="Text 28"/>
          <p:cNvSpPr txBox="1"/>
          <p:nvPr/>
        </p:nvSpPr>
        <p:spPr>
          <a:xfrm>
            <a:off x="1443383" y="2437272"/>
            <a:ext cx="1756671" cy="246950"/>
          </a:xfrm>
          <a:prstGeom prst="rect">
            <a:avLst/>
          </a:prstGeom>
          <a:noFill/>
          <a:ln/>
        </p:spPr>
        <p:txBody>
          <a:bodyPr wrap="square" lIns="0" tIns="0" rIns="0" bIns="0" rtlCol="0" anchor="ctr"/>
          <a:lstStyle/>
          <a:p>
            <a:pPr algn="ctr" indent="0" marL="0">
              <a:buNone/>
            </a:pPr>
            <a:r>
              <a:rPr lang="en-US" sz="560" b="1" dirty="0">
                <a:solidFill>
                  <a:srgbClr val="4FA8FF"/>
                </a:solidFill>
                <a:latin typeface="Arial" pitchFamily="34" charset="0"/>
                <a:ea typeface="Arial" pitchFamily="34" charset="-122"/>
                <a:cs typeface="Arial" pitchFamily="34" charset="-120"/>
              </a:rPr>
              <a:t>同一個路口，兩種畫面</a:t>
            </a:r>
            <a:endParaRPr lang="en-US" sz="560" dirty="0"/>
          </a:p>
        </p:txBody>
      </p:sp>
      <p:sp>
        <p:nvSpPr>
          <p:cNvPr id="31" name="Text 29"/>
          <p:cNvSpPr txBox="1"/>
          <p:nvPr/>
        </p:nvSpPr>
        <p:spPr>
          <a:xfrm>
            <a:off x="3664629" y="907998"/>
            <a:ext cx="4137614" cy="1076497"/>
          </a:xfrm>
          <a:prstGeom prst="rect">
            <a:avLst/>
          </a:prstGeom>
          <a:noFill/>
          <a:ln/>
        </p:spPr>
        <p:txBody>
          <a:bodyPr wrap="square" lIns="0" tIns="0" rIns="0" bIns="0" rtlCol="0" anchor="t"/>
          <a:lstStyle/>
          <a:p>
            <a:pPr indent="0" marL="0">
              <a:lnSpc>
                <a:spcPct val="120000"/>
              </a:lnSpc>
              <a:buNone/>
            </a:pPr>
            <a:r>
              <a:rPr lang="en-US" sz="1830" b="1" dirty="0">
                <a:solidFill>
                  <a:srgbClr val="0B1F3A"/>
                </a:solidFill>
                <a:latin typeface="Arial" pitchFamily="34" charset="0"/>
                <a:ea typeface="Arial" pitchFamily="34" charset="-122"/>
                <a:cs typeface="Arial" pitchFamily="34" charset="-120"/>
              </a:rPr>
              <a:t>Khoảng cách về hình ảnh: ảnh mô phỏng vẽ ra không giống ảnh camera thật chụp</a:t>
            </a:r>
            <a:endParaRPr lang="en-US" sz="1830" dirty="0"/>
          </a:p>
          <a:p>
            <a:pPr indent="0" marL="0">
              <a:lnSpc>
                <a:spcPct val="120000"/>
              </a:lnSpc>
              <a:buNone/>
            </a:pPr>
            <a:r>
              <a:rPr lang="en-US" sz="1110" dirty="0">
                <a:solidFill>
                  <a:srgbClr val="007F72"/>
                </a:solidFill>
                <a:latin typeface="微軟正黑體" pitchFamily="34" charset="0"/>
                <a:ea typeface="微軟正黑體" pitchFamily="34" charset="-122"/>
                <a:cs typeface="微軟正黑體" pitchFamily="34" charset="-120"/>
              </a:rPr>
              <a:t>外觀落差：模擬畫出來的影像，跟真相機拍到的不一樣</a:t>
            </a:r>
            <a:endParaRPr lang="en-US" sz="1830" dirty="0"/>
          </a:p>
        </p:txBody>
      </p:sp>
      <p:sp>
        <p:nvSpPr>
          <p:cNvPr id="32" name="Text 30"/>
          <p:cNvSpPr txBox="1"/>
          <p:nvPr/>
        </p:nvSpPr>
        <p:spPr>
          <a:xfrm>
            <a:off x="3664629" y="2057084"/>
            <a:ext cx="4137614" cy="853137"/>
          </a:xfrm>
          <a:prstGeom prst="rect">
            <a:avLst/>
          </a:prstGeom>
          <a:noFill/>
          <a:ln/>
        </p:spPr>
        <p:txBody>
          <a:bodyPr wrap="square" lIns="0" tIns="0" rIns="0" bIns="0" rtlCol="0" anchor="t"/>
          <a:lstStyle/>
          <a:p>
            <a:pPr indent="0" marL="0">
              <a:lnSpc>
                <a:spcPct val="128000"/>
              </a:lnSpc>
              <a:buNone/>
            </a:pPr>
            <a:r>
              <a:rPr lang="en-US" sz="990" dirty="0">
                <a:solidFill>
                  <a:srgbClr val="5F7183"/>
                </a:solidFill>
                <a:latin typeface="Arial" pitchFamily="34" charset="0"/>
                <a:ea typeface="Arial" pitchFamily="34" charset="-122"/>
                <a:cs typeface="Arial" pitchFamily="34" charset="-120"/>
              </a:rPr>
              <a:t>Ánh sáng, chất liệu bề mặt, nhiễu của cảm biến — cả ba đều khác. Một bộ nhận dạng huấn luyện trên ảnh mô phỏng, đem sang xe thật thì độ chính xác tụt xuống.</a:t>
            </a:r>
            <a:endParaRPr lang="en-US" sz="990" dirty="0"/>
          </a:p>
          <a:p>
            <a:pPr indent="0" marL="0">
              <a:lnSpc>
                <a:spcPct val="128000"/>
              </a:lnSpc>
              <a:buNone/>
            </a:pPr>
            <a:r>
              <a:rPr lang="en-US" sz="910" dirty="0">
                <a:solidFill>
                  <a:srgbClr val="5F7183"/>
                </a:solidFill>
                <a:latin typeface="微軟正黑體" pitchFamily="34" charset="0"/>
                <a:ea typeface="微軟正黑體" pitchFamily="34" charset="-122"/>
                <a:cs typeface="微軟正黑體" pitchFamily="34" charset="-120"/>
              </a:rPr>
              <a:t>光線、材質表面、感測器的雜訊——三個都不一樣。拿模擬影像訓練出來的偵測器，搬到真車上精度會掉。</a:t>
            </a:r>
            <a:endParaRPr lang="en-US" sz="990" dirty="0"/>
          </a:p>
        </p:txBody>
      </p:sp>
      <p:sp>
        <p:nvSpPr>
          <p:cNvPr id="33" name="Shape 31"/>
          <p:cNvSpPr/>
          <p:nvPr/>
        </p:nvSpPr>
        <p:spPr>
          <a:xfrm>
            <a:off x="1341758" y="3106840"/>
            <a:ext cx="6460485" cy="493610"/>
          </a:xfrm>
          <a:prstGeom prst="roundRect">
            <a:avLst>
              <a:gd name="adj" fmla="val 13235"/>
            </a:avLst>
          </a:prstGeom>
          <a:solidFill>
            <a:srgbClr val="FFF6E3"/>
          </a:solidFill>
          <a:ln w="12700">
            <a:solidFill>
              <a:srgbClr val="FFB020"/>
            </a:solidFill>
            <a:prstDash val="solid"/>
          </a:ln>
        </p:spPr>
      </p:sp>
      <p:sp>
        <p:nvSpPr>
          <p:cNvPr id="34" name="Text 32"/>
          <p:cNvSpPr txBox="1"/>
          <p:nvPr/>
        </p:nvSpPr>
        <p:spPr>
          <a:xfrm>
            <a:off x="1486937" y="3164912"/>
            <a:ext cx="6170126" cy="391984"/>
          </a:xfrm>
          <a:prstGeom prst="rect">
            <a:avLst/>
          </a:prstGeom>
          <a:noFill/>
          <a:ln/>
        </p:spPr>
        <p:txBody>
          <a:bodyPr wrap="square" lIns="0" tIns="0" rIns="0" bIns="0" rtlCol="0" anchor="t"/>
          <a:lstStyle/>
          <a:p>
            <a:pPr indent="0" marL="0">
              <a:lnSpc>
                <a:spcPct val="116000"/>
              </a:lnSpc>
              <a:buNone/>
            </a:pPr>
            <a:r>
              <a:rPr lang="en-US" sz="990" b="1" dirty="0">
                <a:solidFill>
                  <a:srgbClr val="7A4E00"/>
                </a:solidFill>
                <a:latin typeface="Arial" pitchFamily="34" charset="0"/>
                <a:ea typeface="Arial" pitchFamily="34" charset="-122"/>
                <a:cs typeface="Arial" pitchFamily="34" charset="-120"/>
              </a:rPr>
              <a:t>Cách chữa: domain randomization — đổi loạn ánh sáng, chất liệu trong mô phỏng.</a:t>
            </a:r>
            <a:endParaRPr lang="en-US" sz="990" dirty="0"/>
          </a:p>
          <a:p>
            <a:pPr indent="0" marL="0">
              <a:lnSpc>
                <a:spcPct val="116000"/>
              </a:lnSpc>
              <a:buNone/>
            </a:pPr>
            <a:r>
              <a:rPr lang="en-US" sz="910" dirty="0">
                <a:solidFill>
                  <a:srgbClr val="7A4E00"/>
                </a:solidFill>
                <a:latin typeface="微軟正黑體" pitchFamily="34" charset="0"/>
                <a:ea typeface="微軟正黑體" pitchFamily="34" charset="-122"/>
                <a:cs typeface="微軟正黑體" pitchFamily="34" charset="-120"/>
              </a:rPr>
              <a:t>解法叫「域隨機化」：在模擬裡故意把光線和材質亂改。</a:t>
            </a:r>
            <a:endParaRPr lang="en-US" sz="990" dirty="0"/>
          </a:p>
        </p:txBody>
      </p:sp>
      <p:pic>
        <p:nvPicPr>
          <p:cNvPr id="36" name="Image 0" descr="/Users/tsengchenghsun/Class/carClass/Claude outputs/第四週(10-1)/src/logo.png">    </p:cNvPr>
          <p:cNvPicPr>
            <a:picLocks noChangeAspect="1"/>
          </p:cNvPicPr>
          <p:nvPr/>
        </p:nvPicPr>
        <p:blipFill>
          <a:blip r:embed="rId1"/>
          <a:stretch>
            <a:fillRect/>
          </a:stretch>
        </p:blipFill>
        <p:spPr>
          <a:xfrm>
            <a:off x="7882128" y="109728"/>
            <a:ext cx="1097280" cy="242439"/>
          </a:xfrm>
          <a:prstGeom prst="rect">
            <a:avLst/>
          </a:prstGeom>
        </p:spPr>
      </p:pic>
      <p:sp>
        <p:nvSpPr>
          <p:cNvPr id="37" name="Text 33"/>
          <p:cNvSpPr txBox="1"/>
          <p:nvPr/>
        </p:nvSpPr>
        <p:spPr>
          <a:xfrm>
            <a:off x="1029622" y="101626"/>
            <a:ext cx="653307" cy="203251"/>
          </a:xfrm>
          <a:prstGeom prst="rect">
            <a:avLst/>
          </a:prstGeom>
          <a:noFill/>
          <a:ln/>
        </p:spPr>
        <p:txBody>
          <a:bodyPr wrap="square" lIns="0" tIns="0" rIns="0" bIns="0" rtlCol="0" anchor="ctr"/>
          <a:lstStyle/>
          <a:p>
            <a:pPr indent="0" marL="0">
              <a:buNone/>
            </a:pPr>
            <a:r>
              <a:rPr lang="en-US" sz="710" dirty="0">
                <a:solidFill>
                  <a:srgbClr val="5F7183"/>
                </a:solidFill>
                <a:latin typeface="Arial" pitchFamily="34" charset="0"/>
                <a:ea typeface="Arial" pitchFamily="34" charset="-122"/>
                <a:cs typeface="Arial" pitchFamily="34" charset="-120"/>
              </a:rPr>
              <a:t>12 / 18</a:t>
            </a:r>
            <a:endParaRPr lang="en-US" sz="710" dirty="0"/>
          </a:p>
        </p:txBody>
      </p:sp>
      <p:sp>
        <p:nvSpPr>
          <p:cNvPr id="38" name="Text 34"/>
          <p:cNvSpPr txBox="1"/>
          <p:nvPr/>
        </p:nvSpPr>
        <p:spPr>
          <a:xfrm>
            <a:off x="1704706" y="101626"/>
            <a:ext cx="1596974" cy="203251"/>
          </a:xfrm>
          <a:prstGeom prst="rect">
            <a:avLst/>
          </a:prstGeom>
          <a:noFill/>
          <a:ln/>
        </p:spPr>
        <p:txBody>
          <a:bodyPr wrap="square" lIns="0" tIns="0" rIns="0" bIns="0" rtlCol="0" anchor="ctr"/>
          <a:lstStyle/>
          <a:p>
            <a:pPr indent="0" marL="0">
              <a:buNone/>
            </a:pPr>
            <a:r>
              <a:rPr lang="en-US" sz="710" dirty="0">
                <a:solidFill>
                  <a:srgbClr val="5F7183"/>
                </a:solidFill>
                <a:latin typeface="Arial" pitchFamily="34" charset="0"/>
                <a:ea typeface="Arial" pitchFamily="34" charset="-122"/>
                <a:cs typeface="Arial" pitchFamily="34" charset="-120"/>
              </a:rPr>
              <a:t>Tiết 1 · 第 1 節</a:t>
            </a:r>
            <a:endParaRPr lang="en-US" sz="71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942514" y="0"/>
          <a:ext cx="1" cy="1"/>
          <a:chOff x="0" y="0"/>
          <a:chExt cx="0" cy="0"/>
        </a:xfrm>
      </p:grpSpPr>
      <p:sp>
        <p:nvSpPr>
          <p:cNvPr id="2" name="Text 0"/>
          <p:cNvSpPr txBox="1"/>
          <p:nvPr/>
        </p:nvSpPr>
        <p:spPr>
          <a:xfrm>
            <a:off x="1341758" y="333913"/>
            <a:ext cx="6460485" cy="217769"/>
          </a:xfrm>
          <a:prstGeom prst="rect">
            <a:avLst/>
          </a:prstGeom>
          <a:noFill/>
          <a:ln/>
        </p:spPr>
        <p:txBody>
          <a:bodyPr wrap="square" lIns="0" tIns="0" rIns="0" bIns="0" rtlCol="0" anchor="ctr"/>
          <a:lstStyle/>
          <a:p>
            <a:pPr indent="0" marL="0">
              <a:buNone/>
            </a:pPr>
            <a:r>
              <a:rPr lang="en-US" sz="990" b="1" dirty="0">
                <a:solidFill>
                  <a:srgbClr val="007F72"/>
                </a:solidFill>
                <a:latin typeface="Arial" pitchFamily="34" charset="0"/>
                <a:ea typeface="Arial" pitchFamily="34" charset="-122"/>
                <a:cs typeface="Arial" pitchFamily="34" charset="-120"/>
              </a:rPr>
              <a:t>Khoảng cách 2 / 3 · 落差之二</a:t>
            </a:r>
            <a:endParaRPr lang="en-US" sz="990" dirty="0"/>
          </a:p>
        </p:txBody>
      </p:sp>
      <p:sp>
        <p:nvSpPr>
          <p:cNvPr id="3" name="Shape 1"/>
          <p:cNvSpPr/>
          <p:nvPr/>
        </p:nvSpPr>
        <p:spPr>
          <a:xfrm>
            <a:off x="1341758" y="874706"/>
            <a:ext cx="1959922" cy="1996217"/>
          </a:xfrm>
          <a:prstGeom prst="roundRect">
            <a:avLst>
              <a:gd name="adj" fmla="val 4444"/>
            </a:avLst>
          </a:prstGeom>
          <a:solidFill>
            <a:srgbClr val="F4F7FA"/>
          </a:solidFill>
          <a:ln w="12700">
            <a:solidFill>
              <a:srgbClr val="DBE3EA"/>
            </a:solidFill>
            <a:prstDash val="solid"/>
          </a:ln>
        </p:spPr>
      </p:sp>
      <p:sp>
        <p:nvSpPr>
          <p:cNvPr id="4" name="Shape 2"/>
          <p:cNvSpPr/>
          <p:nvPr/>
        </p:nvSpPr>
        <p:spPr>
          <a:xfrm>
            <a:off x="1654184" y="1590586"/>
            <a:ext cx="1335070" cy="1"/>
          </a:xfrm>
          <a:prstGeom prst="line">
            <a:avLst/>
          </a:prstGeom>
          <a:noFill/>
          <a:ln w="12700">
            <a:solidFill>
              <a:srgbClr val="9AA6B0"/>
            </a:solidFill>
            <a:prstDash val="dash"/>
          </a:ln>
        </p:spPr>
      </p:sp>
      <p:sp>
        <p:nvSpPr>
          <p:cNvPr id="5" name="Shape 3"/>
          <p:cNvSpPr/>
          <p:nvPr/>
        </p:nvSpPr>
        <p:spPr>
          <a:xfrm>
            <a:off x="1654184" y="1802257"/>
            <a:ext cx="1335070" cy="1"/>
          </a:xfrm>
          <a:prstGeom prst="line">
            <a:avLst/>
          </a:prstGeom>
          <a:noFill/>
          <a:ln w="12700">
            <a:solidFill>
              <a:srgbClr val="9AA6B0"/>
            </a:solidFill>
            <a:prstDash val="dash"/>
          </a:ln>
        </p:spPr>
      </p:sp>
      <p:sp>
        <p:nvSpPr>
          <p:cNvPr id="6" name="Shape 4"/>
          <p:cNvSpPr/>
          <p:nvPr/>
        </p:nvSpPr>
        <p:spPr>
          <a:xfrm>
            <a:off x="1654184" y="1696422"/>
            <a:ext cx="1229670" cy="1"/>
          </a:xfrm>
          <a:prstGeom prst="line">
            <a:avLst/>
          </a:prstGeom>
          <a:noFill/>
          <a:ln w="25400">
            <a:solidFill>
              <a:srgbClr val="1F4E79"/>
            </a:solidFill>
            <a:prstDash val="solid"/>
            <a:tailEnd type="triangle"/>
          </a:ln>
        </p:spPr>
      </p:sp>
      <p:sp>
        <p:nvSpPr>
          <p:cNvPr id="7" name="Shape 5"/>
          <p:cNvSpPr/>
          <p:nvPr/>
        </p:nvSpPr>
        <p:spPr>
          <a:xfrm>
            <a:off x="1654184" y="2260879"/>
            <a:ext cx="1335070" cy="1"/>
          </a:xfrm>
          <a:prstGeom prst="line">
            <a:avLst/>
          </a:prstGeom>
          <a:noFill/>
          <a:ln w="12700">
            <a:solidFill>
              <a:srgbClr val="9AA6B0"/>
            </a:solidFill>
            <a:prstDash val="dash"/>
          </a:ln>
        </p:spPr>
      </p:sp>
      <p:sp>
        <p:nvSpPr>
          <p:cNvPr id="8" name="Shape 6"/>
          <p:cNvSpPr/>
          <p:nvPr/>
        </p:nvSpPr>
        <p:spPr>
          <a:xfrm>
            <a:off x="1654184" y="2472551"/>
            <a:ext cx="1335070" cy="1"/>
          </a:xfrm>
          <a:prstGeom prst="line">
            <a:avLst/>
          </a:prstGeom>
          <a:noFill/>
          <a:ln w="12700">
            <a:solidFill>
              <a:srgbClr val="9AA6B0"/>
            </a:solidFill>
            <a:prstDash val="dash"/>
          </a:ln>
        </p:spPr>
      </p:sp>
      <p:sp>
        <p:nvSpPr>
          <p:cNvPr id="9" name="Shape 7"/>
          <p:cNvSpPr/>
          <p:nvPr/>
        </p:nvSpPr>
        <p:spPr>
          <a:xfrm flipV="1">
            <a:off x="1654184" y="2296158"/>
            <a:ext cx="333767" cy="141114"/>
          </a:xfrm>
          <a:prstGeom prst="line">
            <a:avLst/>
          </a:prstGeom>
          <a:noFill/>
          <a:ln w="25400">
            <a:solidFill>
              <a:srgbClr val="D9463E"/>
            </a:solidFill>
            <a:prstDash val="solid"/>
          </a:ln>
        </p:spPr>
      </p:sp>
      <p:sp>
        <p:nvSpPr>
          <p:cNvPr id="10" name="Shape 8"/>
          <p:cNvSpPr/>
          <p:nvPr/>
        </p:nvSpPr>
        <p:spPr>
          <a:xfrm>
            <a:off x="1987951" y="2296158"/>
            <a:ext cx="333767" cy="158753"/>
          </a:xfrm>
          <a:prstGeom prst="line">
            <a:avLst/>
          </a:prstGeom>
          <a:noFill/>
          <a:ln w="25400">
            <a:solidFill>
              <a:srgbClr val="D9463E"/>
            </a:solidFill>
            <a:prstDash val="solid"/>
          </a:ln>
        </p:spPr>
      </p:sp>
      <p:sp>
        <p:nvSpPr>
          <p:cNvPr id="11" name="Shape 9"/>
          <p:cNvSpPr/>
          <p:nvPr/>
        </p:nvSpPr>
        <p:spPr>
          <a:xfrm flipV="1">
            <a:off x="2321719" y="2225600"/>
            <a:ext cx="333767" cy="229311"/>
          </a:xfrm>
          <a:prstGeom prst="line">
            <a:avLst/>
          </a:prstGeom>
          <a:noFill/>
          <a:ln w="25400">
            <a:solidFill>
              <a:srgbClr val="D9463E"/>
            </a:solidFill>
            <a:prstDash val="solid"/>
          </a:ln>
        </p:spPr>
      </p:sp>
      <p:sp>
        <p:nvSpPr>
          <p:cNvPr id="12" name="Shape 10"/>
          <p:cNvSpPr/>
          <p:nvPr/>
        </p:nvSpPr>
        <p:spPr>
          <a:xfrm>
            <a:off x="2655486" y="2225600"/>
            <a:ext cx="228367" cy="141114"/>
          </a:xfrm>
          <a:prstGeom prst="line">
            <a:avLst/>
          </a:prstGeom>
          <a:noFill/>
          <a:ln w="25400">
            <a:solidFill>
              <a:srgbClr val="D9463E"/>
            </a:solidFill>
            <a:prstDash val="solid"/>
            <a:tailEnd type="triangle"/>
          </a:ln>
        </p:spPr>
      </p:sp>
      <p:sp>
        <p:nvSpPr>
          <p:cNvPr id="13" name="Text 11"/>
          <p:cNvSpPr txBox="1"/>
          <p:nvPr/>
        </p:nvSpPr>
        <p:spPr>
          <a:xfrm>
            <a:off x="3664629" y="907998"/>
            <a:ext cx="4137614" cy="1076497"/>
          </a:xfrm>
          <a:prstGeom prst="rect">
            <a:avLst/>
          </a:prstGeom>
          <a:noFill/>
          <a:ln/>
        </p:spPr>
        <p:txBody>
          <a:bodyPr wrap="square" lIns="0" tIns="0" rIns="0" bIns="0" rtlCol="0" anchor="t"/>
          <a:lstStyle/>
          <a:p>
            <a:pPr indent="0" marL="0">
              <a:lnSpc>
                <a:spcPct val="120000"/>
              </a:lnSpc>
              <a:buNone/>
            </a:pPr>
            <a:r>
              <a:rPr lang="en-US" sz="1830" b="1" dirty="0">
                <a:solidFill>
                  <a:srgbClr val="0B1F3A"/>
                </a:solidFill>
                <a:latin typeface="Arial" pitchFamily="34" charset="0"/>
                <a:ea typeface="Arial" pitchFamily="34" charset="-122"/>
                <a:cs typeface="Arial" pitchFamily="34" charset="-120"/>
              </a:rPr>
              <a:t>Khoảng cách về hành vi: trong mô phỏng ai cũng đi đúng luật, ngoài đường thì không</a:t>
            </a:r>
            <a:endParaRPr lang="en-US" sz="1830" dirty="0"/>
          </a:p>
          <a:p>
            <a:pPr indent="0" marL="0">
              <a:lnSpc>
                <a:spcPct val="120000"/>
              </a:lnSpc>
              <a:buNone/>
            </a:pPr>
            <a:r>
              <a:rPr lang="en-US" sz="1110" dirty="0">
                <a:solidFill>
                  <a:srgbClr val="007F72"/>
                </a:solidFill>
                <a:latin typeface="微軟正黑體" pitchFamily="34" charset="0"/>
                <a:ea typeface="微軟正黑體" pitchFamily="34" charset="-122"/>
                <a:cs typeface="微軟正黑體" pitchFamily="34" charset="-120"/>
              </a:rPr>
              <a:t>行為落差：模擬裡的車都照規則走，真實世界的人不照規則走</a:t>
            </a:r>
            <a:endParaRPr lang="en-US" sz="1830" dirty="0"/>
          </a:p>
        </p:txBody>
      </p:sp>
      <p:sp>
        <p:nvSpPr>
          <p:cNvPr id="14" name="Text 12"/>
          <p:cNvSpPr txBox="1"/>
          <p:nvPr/>
        </p:nvSpPr>
        <p:spPr>
          <a:xfrm>
            <a:off x="3664629" y="2057084"/>
            <a:ext cx="4137614" cy="853137"/>
          </a:xfrm>
          <a:prstGeom prst="rect">
            <a:avLst/>
          </a:prstGeom>
          <a:noFill/>
          <a:ln/>
        </p:spPr>
        <p:txBody>
          <a:bodyPr wrap="square" lIns="0" tIns="0" rIns="0" bIns="0" rtlCol="0" anchor="t"/>
          <a:lstStyle/>
          <a:p>
            <a:pPr indent="0" marL="0">
              <a:lnSpc>
                <a:spcPct val="128000"/>
              </a:lnSpc>
              <a:buNone/>
            </a:pPr>
            <a:r>
              <a:rPr lang="en-US" sz="990" dirty="0">
                <a:solidFill>
                  <a:srgbClr val="5F7183"/>
                </a:solidFill>
                <a:latin typeface="Arial" pitchFamily="34" charset="0"/>
                <a:ea typeface="Arial" pitchFamily="34" charset="-122"/>
                <a:cs typeface="Arial" pitchFamily="34" charset="-120"/>
              </a:rPr>
              <a:t>Xe trong mô phỏng giữ làn, giữ khoảng cách, bật xi-nhan rồi mới chuyển làn. Một chiếc xe tự lái hoàn hảo trong mô phỏng, gặp dòng xe máy thật ở Hà Nội có thể hỏng hoàn toàn.</a:t>
            </a:r>
            <a:endParaRPr lang="en-US" sz="990" dirty="0"/>
          </a:p>
          <a:p>
            <a:pPr indent="0" marL="0">
              <a:lnSpc>
                <a:spcPct val="128000"/>
              </a:lnSpc>
              <a:buNone/>
            </a:pPr>
            <a:r>
              <a:rPr lang="en-US" sz="910" dirty="0">
                <a:solidFill>
                  <a:srgbClr val="5F7183"/>
                </a:solidFill>
                <a:latin typeface="微軟正黑體" pitchFamily="34" charset="0"/>
                <a:ea typeface="微軟正黑體" pitchFamily="34" charset="-122"/>
                <a:cs typeface="微軟正黑體" pitchFamily="34" charset="-120"/>
              </a:rPr>
              <a:t>模擬裡的車乖乖待在車道、保持距離、打了方向燈才變換車道。在模擬裡完美的自駕車，遇到真的河內機車流，可能完全失效。</a:t>
            </a:r>
            <a:endParaRPr lang="en-US" sz="990" dirty="0"/>
          </a:p>
        </p:txBody>
      </p:sp>
      <p:sp>
        <p:nvSpPr>
          <p:cNvPr id="15" name="Shape 13"/>
          <p:cNvSpPr/>
          <p:nvPr/>
        </p:nvSpPr>
        <p:spPr>
          <a:xfrm>
            <a:off x="1341758" y="3106840"/>
            <a:ext cx="6460485" cy="493610"/>
          </a:xfrm>
          <a:prstGeom prst="roundRect">
            <a:avLst>
              <a:gd name="adj" fmla="val 13235"/>
            </a:avLst>
          </a:prstGeom>
          <a:solidFill>
            <a:srgbClr val="FFF6E3"/>
          </a:solidFill>
          <a:ln w="12700">
            <a:solidFill>
              <a:srgbClr val="FFB020"/>
            </a:solidFill>
            <a:prstDash val="solid"/>
          </a:ln>
        </p:spPr>
      </p:sp>
      <p:sp>
        <p:nvSpPr>
          <p:cNvPr id="16" name="Text 14"/>
          <p:cNvSpPr txBox="1"/>
          <p:nvPr/>
        </p:nvSpPr>
        <p:spPr>
          <a:xfrm>
            <a:off x="1486937" y="3164912"/>
            <a:ext cx="6170126" cy="391984"/>
          </a:xfrm>
          <a:prstGeom prst="rect">
            <a:avLst/>
          </a:prstGeom>
          <a:noFill/>
          <a:ln/>
        </p:spPr>
        <p:txBody>
          <a:bodyPr wrap="square" lIns="0" tIns="0" rIns="0" bIns="0" rtlCol="0" anchor="t"/>
          <a:lstStyle/>
          <a:p>
            <a:pPr indent="0" marL="0">
              <a:lnSpc>
                <a:spcPct val="116000"/>
              </a:lnSpc>
              <a:buNone/>
            </a:pPr>
            <a:r>
              <a:rPr lang="en-US" sz="990" b="1" dirty="0">
                <a:solidFill>
                  <a:srgbClr val="7A4E00"/>
                </a:solidFill>
                <a:latin typeface="Arial" pitchFamily="34" charset="0"/>
                <a:ea typeface="Arial" pitchFamily="34" charset="-122"/>
                <a:cs typeface="Arial" pitchFamily="34" charset="-120"/>
              </a:rPr>
              <a:t>Cách chữa: ghi lại quỹ đạo thật ngoài đường rồi phát lại vào trong mô phỏng.</a:t>
            </a:r>
            <a:endParaRPr lang="en-US" sz="990" dirty="0"/>
          </a:p>
          <a:p>
            <a:pPr indent="0" marL="0">
              <a:lnSpc>
                <a:spcPct val="116000"/>
              </a:lnSpc>
              <a:buNone/>
            </a:pPr>
            <a:r>
              <a:rPr lang="en-US" sz="910" dirty="0">
                <a:solidFill>
                  <a:srgbClr val="7A4E00"/>
                </a:solidFill>
                <a:latin typeface="微軟正黑體" pitchFamily="34" charset="0"/>
                <a:ea typeface="微軟正黑體" pitchFamily="34" charset="-122"/>
                <a:cs typeface="微軟正黑體" pitchFamily="34" charset="-120"/>
              </a:rPr>
              <a:t>解法：把實際道路上錄到的軌跡，回放進模擬裡。</a:t>
            </a:r>
            <a:endParaRPr lang="en-US" sz="990" dirty="0"/>
          </a:p>
        </p:txBody>
      </p:sp>
      <p:pic>
        <p:nvPicPr>
          <p:cNvPr id="18" name="Image 0" descr="/Users/tsengchenghsun/Class/carClass/Claude outputs/第四週(10-1)/src/logo.png">    </p:cNvPr>
          <p:cNvPicPr>
            <a:picLocks noChangeAspect="1"/>
          </p:cNvPicPr>
          <p:nvPr/>
        </p:nvPicPr>
        <p:blipFill>
          <a:blip r:embed="rId1"/>
          <a:stretch>
            <a:fillRect/>
          </a:stretch>
        </p:blipFill>
        <p:spPr>
          <a:xfrm>
            <a:off x="7882128" y="109728"/>
            <a:ext cx="1097280" cy="242439"/>
          </a:xfrm>
          <a:prstGeom prst="rect">
            <a:avLst/>
          </a:prstGeom>
        </p:spPr>
      </p:pic>
      <p:sp>
        <p:nvSpPr>
          <p:cNvPr id="19" name="Text 15"/>
          <p:cNvSpPr txBox="1"/>
          <p:nvPr/>
        </p:nvSpPr>
        <p:spPr>
          <a:xfrm>
            <a:off x="1029622" y="101626"/>
            <a:ext cx="653307" cy="203251"/>
          </a:xfrm>
          <a:prstGeom prst="rect">
            <a:avLst/>
          </a:prstGeom>
          <a:noFill/>
          <a:ln/>
        </p:spPr>
        <p:txBody>
          <a:bodyPr wrap="square" lIns="0" tIns="0" rIns="0" bIns="0" rtlCol="0" anchor="ctr"/>
          <a:lstStyle/>
          <a:p>
            <a:pPr indent="0" marL="0">
              <a:buNone/>
            </a:pPr>
            <a:r>
              <a:rPr lang="en-US" sz="710" dirty="0">
                <a:solidFill>
                  <a:srgbClr val="5F7183"/>
                </a:solidFill>
                <a:latin typeface="Arial" pitchFamily="34" charset="0"/>
                <a:ea typeface="Arial" pitchFamily="34" charset="-122"/>
                <a:cs typeface="Arial" pitchFamily="34" charset="-120"/>
              </a:rPr>
              <a:t>13 / 18</a:t>
            </a:r>
            <a:endParaRPr lang="en-US" sz="710" dirty="0"/>
          </a:p>
        </p:txBody>
      </p:sp>
      <p:sp>
        <p:nvSpPr>
          <p:cNvPr id="20" name="Text 16"/>
          <p:cNvSpPr txBox="1"/>
          <p:nvPr/>
        </p:nvSpPr>
        <p:spPr>
          <a:xfrm>
            <a:off x="1704706" y="101626"/>
            <a:ext cx="1596974" cy="203251"/>
          </a:xfrm>
          <a:prstGeom prst="rect">
            <a:avLst/>
          </a:prstGeom>
          <a:noFill/>
          <a:ln/>
        </p:spPr>
        <p:txBody>
          <a:bodyPr wrap="square" lIns="0" tIns="0" rIns="0" bIns="0" rtlCol="0" anchor="ctr"/>
          <a:lstStyle/>
          <a:p>
            <a:pPr indent="0" marL="0">
              <a:buNone/>
            </a:pPr>
            <a:r>
              <a:rPr lang="en-US" sz="710" dirty="0">
                <a:solidFill>
                  <a:srgbClr val="5F7183"/>
                </a:solidFill>
                <a:latin typeface="Arial" pitchFamily="34" charset="0"/>
                <a:ea typeface="Arial" pitchFamily="34" charset="-122"/>
                <a:cs typeface="Arial" pitchFamily="34" charset="-120"/>
              </a:rPr>
              <a:t>Tiết 1 · 第 1 節</a:t>
            </a:r>
            <a:endParaRPr lang="en-US" sz="71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942514" y="0"/>
          <a:ext cx="1" cy="1"/>
          <a:chOff x="0" y="0"/>
          <a:chExt cx="0" cy="0"/>
        </a:xfrm>
      </p:grpSpPr>
      <p:sp>
        <p:nvSpPr>
          <p:cNvPr id="2" name="Text 0"/>
          <p:cNvSpPr txBox="1"/>
          <p:nvPr/>
        </p:nvSpPr>
        <p:spPr>
          <a:xfrm>
            <a:off x="1341758" y="333913"/>
            <a:ext cx="6460485" cy="217769"/>
          </a:xfrm>
          <a:prstGeom prst="rect">
            <a:avLst/>
          </a:prstGeom>
          <a:noFill/>
          <a:ln/>
        </p:spPr>
        <p:txBody>
          <a:bodyPr wrap="square" lIns="0" tIns="0" rIns="0" bIns="0" rtlCol="0" anchor="ctr"/>
          <a:lstStyle/>
          <a:p>
            <a:pPr indent="0" marL="0">
              <a:buNone/>
            </a:pPr>
            <a:r>
              <a:rPr lang="en-US" sz="990" b="1" dirty="0">
                <a:solidFill>
                  <a:srgbClr val="007F72"/>
                </a:solidFill>
                <a:latin typeface="Arial" pitchFamily="34" charset="0"/>
                <a:ea typeface="Arial" pitchFamily="34" charset="-122"/>
                <a:cs typeface="Arial" pitchFamily="34" charset="-120"/>
              </a:rPr>
              <a:t>Khoảng cách 3 / 3 · 落差之三</a:t>
            </a:r>
            <a:endParaRPr lang="en-US" sz="990" dirty="0"/>
          </a:p>
        </p:txBody>
      </p:sp>
      <p:sp>
        <p:nvSpPr>
          <p:cNvPr id="3" name="Shape 1"/>
          <p:cNvSpPr/>
          <p:nvPr/>
        </p:nvSpPr>
        <p:spPr>
          <a:xfrm>
            <a:off x="1341758" y="874706"/>
            <a:ext cx="1959922" cy="1996217"/>
          </a:xfrm>
          <a:prstGeom prst="roundRect">
            <a:avLst>
              <a:gd name="adj" fmla="val 4444"/>
            </a:avLst>
          </a:prstGeom>
          <a:solidFill>
            <a:srgbClr val="F4F7FA"/>
          </a:solidFill>
          <a:ln w="12700">
            <a:solidFill>
              <a:srgbClr val="DBE3EA"/>
            </a:solidFill>
            <a:prstDash val="solid"/>
          </a:ln>
        </p:spPr>
      </p:sp>
      <p:sp>
        <p:nvSpPr>
          <p:cNvPr id="4" name="Shape 2"/>
          <p:cNvSpPr/>
          <p:nvPr/>
        </p:nvSpPr>
        <p:spPr>
          <a:xfrm>
            <a:off x="1724451" y="2260879"/>
            <a:ext cx="1299937" cy="1"/>
          </a:xfrm>
          <a:prstGeom prst="line">
            <a:avLst/>
          </a:prstGeom>
          <a:noFill/>
          <a:ln w="12700">
            <a:solidFill>
              <a:srgbClr val="8FA3B5"/>
            </a:solidFill>
            <a:prstDash val="solid"/>
          </a:ln>
        </p:spPr>
      </p:sp>
      <p:sp>
        <p:nvSpPr>
          <p:cNvPr id="5" name="Shape 3"/>
          <p:cNvSpPr/>
          <p:nvPr/>
        </p:nvSpPr>
        <p:spPr>
          <a:xfrm flipV="1">
            <a:off x="1724451" y="1449472"/>
            <a:ext cx="1" cy="811408"/>
          </a:xfrm>
          <a:prstGeom prst="line">
            <a:avLst/>
          </a:prstGeom>
          <a:noFill/>
          <a:ln w="12700">
            <a:solidFill>
              <a:srgbClr val="8FA3B5"/>
            </a:solidFill>
            <a:prstDash val="solid"/>
          </a:ln>
        </p:spPr>
      </p:sp>
      <p:sp>
        <p:nvSpPr>
          <p:cNvPr id="6" name="Text 4"/>
          <p:cNvSpPr txBox="1"/>
          <p:nvPr/>
        </p:nvSpPr>
        <p:spPr>
          <a:xfrm>
            <a:off x="1724451" y="2313797"/>
            <a:ext cx="1299937" cy="211672"/>
          </a:xfrm>
          <a:prstGeom prst="rect">
            <a:avLst/>
          </a:prstGeom>
          <a:noFill/>
          <a:ln/>
        </p:spPr>
        <p:txBody>
          <a:bodyPr wrap="square" lIns="0" tIns="0" rIns="0" bIns="0" rtlCol="0" anchor="ctr"/>
          <a:lstStyle/>
          <a:p>
            <a:pPr algn="ctr" indent="0" marL="0">
              <a:buNone/>
            </a:pPr>
            <a:r>
              <a:rPr lang="en-US" sz="520" b="1" dirty="0">
                <a:solidFill>
                  <a:srgbClr val="8FA3B5"/>
                </a:solidFill>
                <a:latin typeface="Arial" pitchFamily="34" charset="0"/>
                <a:ea typeface="Arial" pitchFamily="34" charset="-122"/>
                <a:cs typeface="Arial" pitchFamily="34" charset="-120"/>
              </a:rPr>
              <a:t>時間</a:t>
            </a:r>
            <a:endParaRPr lang="en-US" sz="520" dirty="0"/>
          </a:p>
        </p:txBody>
      </p:sp>
      <p:sp>
        <p:nvSpPr>
          <p:cNvPr id="7" name="Text 5"/>
          <p:cNvSpPr txBox="1"/>
          <p:nvPr/>
        </p:nvSpPr>
        <p:spPr>
          <a:xfrm>
            <a:off x="1443383" y="1220161"/>
            <a:ext cx="878336" cy="211672"/>
          </a:xfrm>
          <a:prstGeom prst="rect">
            <a:avLst/>
          </a:prstGeom>
          <a:noFill/>
          <a:ln/>
        </p:spPr>
        <p:txBody>
          <a:bodyPr wrap="square" lIns="0" tIns="0" rIns="0" bIns="0" rtlCol="0" anchor="ctr"/>
          <a:lstStyle/>
          <a:p>
            <a:pPr algn="l" indent="0" marL="0">
              <a:buNone/>
            </a:pPr>
            <a:r>
              <a:rPr lang="en-US" sz="520" b="1" dirty="0">
                <a:solidFill>
                  <a:srgbClr val="8FA3B5"/>
                </a:solidFill>
                <a:latin typeface="Arial" pitchFamily="34" charset="0"/>
                <a:ea typeface="Arial" pitchFamily="34" charset="-122"/>
                <a:cs typeface="Arial" pitchFamily="34" charset="-120"/>
              </a:rPr>
              <a:t>減速度</a:t>
            </a:r>
            <a:endParaRPr lang="en-US" sz="520" dirty="0"/>
          </a:p>
        </p:txBody>
      </p:sp>
      <p:sp>
        <p:nvSpPr>
          <p:cNvPr id="8" name="Shape 6"/>
          <p:cNvSpPr/>
          <p:nvPr/>
        </p:nvSpPr>
        <p:spPr>
          <a:xfrm flipV="1">
            <a:off x="1828445" y="1595525"/>
            <a:ext cx="1" cy="665354"/>
          </a:xfrm>
          <a:prstGeom prst="line">
            <a:avLst/>
          </a:prstGeom>
          <a:noFill/>
          <a:ln w="20320">
            <a:solidFill>
              <a:srgbClr val="9FB0BE"/>
            </a:solidFill>
            <a:prstDash val="solid"/>
          </a:ln>
        </p:spPr>
      </p:sp>
      <p:sp>
        <p:nvSpPr>
          <p:cNvPr id="9" name="Shape 7"/>
          <p:cNvSpPr/>
          <p:nvPr/>
        </p:nvSpPr>
        <p:spPr>
          <a:xfrm>
            <a:off x="1828445" y="1595525"/>
            <a:ext cx="1091947" cy="1"/>
          </a:xfrm>
          <a:prstGeom prst="line">
            <a:avLst/>
          </a:prstGeom>
          <a:noFill/>
          <a:ln w="20320">
            <a:solidFill>
              <a:srgbClr val="9FB0BE"/>
            </a:solidFill>
            <a:prstDash val="solid"/>
          </a:ln>
        </p:spPr>
      </p:sp>
      <p:sp>
        <p:nvSpPr>
          <p:cNvPr id="10" name="Text 8"/>
          <p:cNvSpPr txBox="1"/>
          <p:nvPr/>
        </p:nvSpPr>
        <p:spPr>
          <a:xfrm>
            <a:off x="1984438" y="1465699"/>
            <a:ext cx="1039949" cy="211672"/>
          </a:xfrm>
          <a:prstGeom prst="rect">
            <a:avLst/>
          </a:prstGeom>
          <a:noFill/>
          <a:ln/>
        </p:spPr>
        <p:txBody>
          <a:bodyPr wrap="square" lIns="0" tIns="0" rIns="0" bIns="0" rtlCol="0" anchor="ctr"/>
          <a:lstStyle/>
          <a:p>
            <a:pPr algn="l" indent="0" marL="0">
              <a:buNone/>
            </a:pPr>
            <a:r>
              <a:rPr lang="en-US" sz="520" b="1" dirty="0">
                <a:solidFill>
                  <a:srgbClr val="9FB0BE"/>
                </a:solidFill>
                <a:latin typeface="Arial" pitchFamily="34" charset="0"/>
                <a:ea typeface="Arial" pitchFamily="34" charset="-122"/>
                <a:cs typeface="Arial" pitchFamily="34" charset="-120"/>
              </a:rPr>
              <a:t>模擬 6 m/s²</a:t>
            </a:r>
            <a:endParaRPr lang="en-US" sz="520" dirty="0"/>
          </a:p>
        </p:txBody>
      </p:sp>
      <p:sp>
        <p:nvSpPr>
          <p:cNvPr id="11" name="Shape 9"/>
          <p:cNvSpPr/>
          <p:nvPr/>
        </p:nvSpPr>
        <p:spPr>
          <a:xfrm>
            <a:off x="1828445" y="2260879"/>
            <a:ext cx="259988" cy="1"/>
          </a:xfrm>
          <a:prstGeom prst="line">
            <a:avLst/>
          </a:prstGeom>
          <a:noFill/>
          <a:ln w="20320">
            <a:solidFill>
              <a:srgbClr val="D9463E"/>
            </a:solidFill>
            <a:prstDash val="solid"/>
          </a:ln>
        </p:spPr>
      </p:sp>
      <p:sp>
        <p:nvSpPr>
          <p:cNvPr id="12" name="Shape 10"/>
          <p:cNvSpPr/>
          <p:nvPr/>
        </p:nvSpPr>
        <p:spPr>
          <a:xfrm flipV="1">
            <a:off x="2088433" y="1790263"/>
            <a:ext cx="337984" cy="470616"/>
          </a:xfrm>
          <a:prstGeom prst="line">
            <a:avLst/>
          </a:prstGeom>
          <a:noFill/>
          <a:ln w="20320">
            <a:solidFill>
              <a:srgbClr val="D9463E"/>
            </a:solidFill>
            <a:prstDash val="solid"/>
          </a:ln>
        </p:spPr>
      </p:sp>
      <p:sp>
        <p:nvSpPr>
          <p:cNvPr id="13" name="Shape 11"/>
          <p:cNvSpPr/>
          <p:nvPr/>
        </p:nvSpPr>
        <p:spPr>
          <a:xfrm>
            <a:off x="2426417" y="1790263"/>
            <a:ext cx="493976" cy="1"/>
          </a:xfrm>
          <a:prstGeom prst="line">
            <a:avLst/>
          </a:prstGeom>
          <a:noFill/>
          <a:ln w="20320">
            <a:solidFill>
              <a:srgbClr val="D9463E"/>
            </a:solidFill>
            <a:prstDash val="solid"/>
          </a:ln>
        </p:spPr>
      </p:sp>
      <p:sp>
        <p:nvSpPr>
          <p:cNvPr id="14" name="Text 12"/>
          <p:cNvSpPr txBox="1"/>
          <p:nvPr/>
        </p:nvSpPr>
        <p:spPr>
          <a:xfrm>
            <a:off x="1724451" y="1903860"/>
            <a:ext cx="1299937" cy="211672"/>
          </a:xfrm>
          <a:prstGeom prst="rect">
            <a:avLst/>
          </a:prstGeom>
          <a:noFill/>
          <a:ln/>
        </p:spPr>
        <p:txBody>
          <a:bodyPr wrap="square" lIns="0" tIns="0" rIns="0" bIns="0" rtlCol="0" anchor="ctr"/>
          <a:lstStyle/>
          <a:p>
            <a:pPr algn="l" indent="0" marL="0">
              <a:buNone/>
            </a:pPr>
            <a:r>
              <a:rPr lang="en-US" sz="520" b="1" dirty="0">
                <a:solidFill>
                  <a:srgbClr val="D9463E"/>
                </a:solidFill>
                <a:latin typeface="Arial" pitchFamily="34" charset="0"/>
                <a:ea typeface="Arial" pitchFamily="34" charset="-122"/>
                <a:cs typeface="Arial" pitchFamily="34" charset="-120"/>
              </a:rPr>
              <a:t>真車：有延遲，而且到不了</a:t>
            </a:r>
            <a:endParaRPr lang="en-US" sz="520" dirty="0"/>
          </a:p>
        </p:txBody>
      </p:sp>
      <p:sp>
        <p:nvSpPr>
          <p:cNvPr id="15" name="Text 13"/>
          <p:cNvSpPr txBox="1"/>
          <p:nvPr/>
        </p:nvSpPr>
        <p:spPr>
          <a:xfrm>
            <a:off x="3664629" y="962427"/>
            <a:ext cx="4137614" cy="967639"/>
          </a:xfrm>
          <a:prstGeom prst="rect">
            <a:avLst/>
          </a:prstGeom>
          <a:noFill/>
          <a:ln/>
        </p:spPr>
        <p:txBody>
          <a:bodyPr wrap="square" lIns="0" tIns="0" rIns="0" bIns="0" rtlCol="0" anchor="t"/>
          <a:lstStyle/>
          <a:p>
            <a:pPr indent="0" marL="0">
              <a:lnSpc>
                <a:spcPct val="120000"/>
              </a:lnSpc>
              <a:buNone/>
            </a:pPr>
            <a:r>
              <a:rPr lang="en-US" sz="1590" b="1" dirty="0">
                <a:solidFill>
                  <a:srgbClr val="0B1F3A"/>
                </a:solidFill>
                <a:latin typeface="Arial" pitchFamily="34" charset="0"/>
                <a:ea typeface="Arial" pitchFamily="34" charset="-122"/>
                <a:cs typeface="Arial" pitchFamily="34" charset="-120"/>
              </a:rPr>
              <a:t>Khoảng cách về vật lý: lốp, giảm xóc, độ trễ phanh trong mô phỏng đều chỉ là gần đúng</a:t>
            </a:r>
            <a:endParaRPr lang="en-US" sz="1590" dirty="0"/>
          </a:p>
          <a:p>
            <a:pPr indent="0" marL="0">
              <a:lnSpc>
                <a:spcPct val="120000"/>
              </a:lnSpc>
              <a:buNone/>
            </a:pPr>
            <a:r>
              <a:rPr lang="en-US" sz="1110" dirty="0">
                <a:solidFill>
                  <a:srgbClr val="007F72"/>
                </a:solidFill>
                <a:latin typeface="微軟正黑體" pitchFamily="34" charset="0"/>
                <a:ea typeface="微軟正黑體" pitchFamily="34" charset="-122"/>
                <a:cs typeface="微軟正黑體" pitchFamily="34" charset="-120"/>
              </a:rPr>
              <a:t>物理落差：輪胎、懸吊、煞車延遲，在模擬裡都只是近似值</a:t>
            </a:r>
            <a:endParaRPr lang="en-US" sz="1590" dirty="0"/>
          </a:p>
        </p:txBody>
      </p:sp>
      <p:sp>
        <p:nvSpPr>
          <p:cNvPr id="16" name="Text 14"/>
          <p:cNvSpPr txBox="1"/>
          <p:nvPr/>
        </p:nvSpPr>
        <p:spPr>
          <a:xfrm>
            <a:off x="3664629" y="2002655"/>
            <a:ext cx="4137614" cy="853137"/>
          </a:xfrm>
          <a:prstGeom prst="rect">
            <a:avLst/>
          </a:prstGeom>
          <a:noFill/>
          <a:ln/>
        </p:spPr>
        <p:txBody>
          <a:bodyPr wrap="square" lIns="0" tIns="0" rIns="0" bIns="0" rtlCol="0" anchor="t"/>
          <a:lstStyle/>
          <a:p>
            <a:pPr indent="0" marL="0">
              <a:lnSpc>
                <a:spcPct val="128000"/>
              </a:lnSpc>
              <a:buNone/>
            </a:pPr>
            <a:r>
              <a:rPr lang="en-US" sz="990" dirty="0">
                <a:solidFill>
                  <a:srgbClr val="5F7183"/>
                </a:solidFill>
                <a:latin typeface="Arial" pitchFamily="34" charset="0"/>
                <a:ea typeface="Arial" pitchFamily="34" charset="-122"/>
                <a:cs typeface="Arial" pitchFamily="34" charset="-120"/>
              </a:rPr>
              <a:t>Mô phỏng của ta dùng một con số cố định: giảm tốc 6 m/s². Xe thật trên mặt đường ướt chỉ còn một nửa, nên quãng đường phanh dài gần gấp đôi.</a:t>
            </a:r>
            <a:endParaRPr lang="en-US" sz="990" dirty="0"/>
          </a:p>
          <a:p>
            <a:pPr indent="0" marL="0">
              <a:lnSpc>
                <a:spcPct val="128000"/>
              </a:lnSpc>
              <a:buNone/>
            </a:pPr>
            <a:r>
              <a:rPr lang="en-US" sz="910" dirty="0">
                <a:solidFill>
                  <a:srgbClr val="5F7183"/>
                </a:solidFill>
                <a:latin typeface="微軟正黑體" pitchFamily="34" charset="0"/>
                <a:ea typeface="微軟正黑體" pitchFamily="34" charset="-122"/>
                <a:cs typeface="微軟正黑體" pitchFamily="34" charset="-120"/>
              </a:rPr>
              <a:t>我們的模擬器用一個固定的數字：減速度 6 m/s²。真車在濕路面上只剩一半，所以煞停距離幾乎加倍。</a:t>
            </a:r>
            <a:endParaRPr lang="en-US" sz="990" dirty="0"/>
          </a:p>
        </p:txBody>
      </p:sp>
      <p:sp>
        <p:nvSpPr>
          <p:cNvPr id="17" name="Shape 15"/>
          <p:cNvSpPr/>
          <p:nvPr/>
        </p:nvSpPr>
        <p:spPr>
          <a:xfrm>
            <a:off x="1341758" y="3106840"/>
            <a:ext cx="6460485" cy="493610"/>
          </a:xfrm>
          <a:prstGeom prst="roundRect">
            <a:avLst>
              <a:gd name="adj" fmla="val 13235"/>
            </a:avLst>
          </a:prstGeom>
          <a:solidFill>
            <a:srgbClr val="FFF6E3"/>
          </a:solidFill>
          <a:ln w="12700">
            <a:solidFill>
              <a:srgbClr val="FFB020"/>
            </a:solidFill>
            <a:prstDash val="solid"/>
          </a:ln>
        </p:spPr>
      </p:sp>
      <p:sp>
        <p:nvSpPr>
          <p:cNvPr id="18" name="Text 16"/>
          <p:cNvSpPr txBox="1"/>
          <p:nvPr/>
        </p:nvSpPr>
        <p:spPr>
          <a:xfrm>
            <a:off x="1486937" y="3164912"/>
            <a:ext cx="6170126" cy="391984"/>
          </a:xfrm>
          <a:prstGeom prst="rect">
            <a:avLst/>
          </a:prstGeom>
          <a:noFill/>
          <a:ln/>
        </p:spPr>
        <p:txBody>
          <a:bodyPr wrap="square" lIns="0" tIns="0" rIns="0" bIns="0" rtlCol="0" anchor="t"/>
          <a:lstStyle/>
          <a:p>
            <a:pPr indent="0" marL="0">
              <a:lnSpc>
                <a:spcPct val="116000"/>
              </a:lnSpc>
              <a:buNone/>
            </a:pPr>
            <a:r>
              <a:rPr lang="en-US" sz="990" b="1" dirty="0">
                <a:solidFill>
                  <a:srgbClr val="7A4E00"/>
                </a:solidFill>
                <a:latin typeface="Arial" pitchFamily="34" charset="0"/>
                <a:ea typeface="Arial" pitchFamily="34" charset="-122"/>
                <a:cs typeface="Arial" pitchFamily="34" charset="-120"/>
              </a:rPr>
              <a:t>Tiết 3 khi bật mưa, các bạn sẽ gặp đúng chuyện này.</a:t>
            </a:r>
            <a:endParaRPr lang="en-US" sz="990" dirty="0"/>
          </a:p>
          <a:p>
            <a:pPr indent="0" marL="0">
              <a:lnSpc>
                <a:spcPct val="116000"/>
              </a:lnSpc>
              <a:buNone/>
            </a:pPr>
            <a:r>
              <a:rPr lang="en-US" sz="910" dirty="0">
                <a:solidFill>
                  <a:srgbClr val="7A4E00"/>
                </a:solidFill>
                <a:latin typeface="微軟正黑體" pitchFamily="34" charset="0"/>
                <a:ea typeface="微軟正黑體" pitchFamily="34" charset="-122"/>
                <a:cs typeface="微軟正黑體" pitchFamily="34" charset="-120"/>
              </a:rPr>
              <a:t>第三節打開雨天的時候，各位就會遇到這件事。</a:t>
            </a:r>
            <a:endParaRPr lang="en-US" sz="990" dirty="0"/>
          </a:p>
        </p:txBody>
      </p:sp>
      <p:pic>
        <p:nvPicPr>
          <p:cNvPr id="20" name="Image 0" descr="/Users/tsengchenghsun/Class/carClass/Claude outputs/第四週(10-1)/src/logo.png">    </p:cNvPr>
          <p:cNvPicPr>
            <a:picLocks noChangeAspect="1"/>
          </p:cNvPicPr>
          <p:nvPr/>
        </p:nvPicPr>
        <p:blipFill>
          <a:blip r:embed="rId1"/>
          <a:stretch>
            <a:fillRect/>
          </a:stretch>
        </p:blipFill>
        <p:spPr>
          <a:xfrm>
            <a:off x="7882128" y="109728"/>
            <a:ext cx="1097280" cy="242439"/>
          </a:xfrm>
          <a:prstGeom prst="rect">
            <a:avLst/>
          </a:prstGeom>
        </p:spPr>
      </p:pic>
      <p:sp>
        <p:nvSpPr>
          <p:cNvPr id="21" name="Text 17"/>
          <p:cNvSpPr txBox="1"/>
          <p:nvPr/>
        </p:nvSpPr>
        <p:spPr>
          <a:xfrm>
            <a:off x="1029622" y="101626"/>
            <a:ext cx="653307" cy="203251"/>
          </a:xfrm>
          <a:prstGeom prst="rect">
            <a:avLst/>
          </a:prstGeom>
          <a:noFill/>
          <a:ln/>
        </p:spPr>
        <p:txBody>
          <a:bodyPr wrap="square" lIns="0" tIns="0" rIns="0" bIns="0" rtlCol="0" anchor="ctr"/>
          <a:lstStyle/>
          <a:p>
            <a:pPr indent="0" marL="0">
              <a:buNone/>
            </a:pPr>
            <a:r>
              <a:rPr lang="en-US" sz="710" dirty="0">
                <a:solidFill>
                  <a:srgbClr val="5F7183"/>
                </a:solidFill>
                <a:latin typeface="Arial" pitchFamily="34" charset="0"/>
                <a:ea typeface="Arial" pitchFamily="34" charset="-122"/>
                <a:cs typeface="Arial" pitchFamily="34" charset="-120"/>
              </a:rPr>
              <a:t>14 / 18</a:t>
            </a:r>
            <a:endParaRPr lang="en-US" sz="710" dirty="0"/>
          </a:p>
        </p:txBody>
      </p:sp>
      <p:sp>
        <p:nvSpPr>
          <p:cNvPr id="22" name="Text 18"/>
          <p:cNvSpPr txBox="1"/>
          <p:nvPr/>
        </p:nvSpPr>
        <p:spPr>
          <a:xfrm>
            <a:off x="1704706" y="101626"/>
            <a:ext cx="1596974" cy="203251"/>
          </a:xfrm>
          <a:prstGeom prst="rect">
            <a:avLst/>
          </a:prstGeom>
          <a:noFill/>
          <a:ln/>
        </p:spPr>
        <p:txBody>
          <a:bodyPr wrap="square" lIns="0" tIns="0" rIns="0" bIns="0" rtlCol="0" anchor="ctr"/>
          <a:lstStyle/>
          <a:p>
            <a:pPr indent="0" marL="0">
              <a:buNone/>
            </a:pPr>
            <a:r>
              <a:rPr lang="en-US" sz="710" dirty="0">
                <a:solidFill>
                  <a:srgbClr val="5F7183"/>
                </a:solidFill>
                <a:latin typeface="Arial" pitchFamily="34" charset="0"/>
                <a:ea typeface="Arial" pitchFamily="34" charset="-122"/>
                <a:cs typeface="Arial" pitchFamily="34" charset="-120"/>
              </a:rPr>
              <a:t>Tiết 1 · 第 1 節</a:t>
            </a:r>
            <a:endParaRPr lang="en-US" sz="71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942514" y="0"/>
          <a:ext cx="1" cy="1"/>
          <a:chOff x="0" y="0"/>
          <a:chExt cx="0" cy="0"/>
        </a:xfrm>
      </p:grpSpPr>
      <p:sp>
        <p:nvSpPr>
          <p:cNvPr id="2" name="Text 0"/>
          <p:cNvSpPr txBox="1"/>
          <p:nvPr/>
        </p:nvSpPr>
        <p:spPr>
          <a:xfrm>
            <a:off x="1341758" y="333913"/>
            <a:ext cx="6460485" cy="217769"/>
          </a:xfrm>
          <a:prstGeom prst="rect">
            <a:avLst/>
          </a:prstGeom>
          <a:noFill/>
          <a:ln/>
        </p:spPr>
        <p:txBody>
          <a:bodyPr wrap="square" lIns="0" tIns="0" rIns="0" bIns="0" rtlCol="0" anchor="ctr"/>
          <a:lstStyle/>
          <a:p>
            <a:pPr indent="0" marL="0">
              <a:buNone/>
            </a:pPr>
            <a:r>
              <a:rPr lang="en-US" sz="990" b="1" dirty="0">
                <a:solidFill>
                  <a:srgbClr val="007F72"/>
                </a:solidFill>
                <a:latin typeface="Arial" pitchFamily="34" charset="0"/>
                <a:ea typeface="Arial" pitchFamily="34" charset="-122"/>
                <a:cs typeface="Arial" pitchFamily="34" charset="-120"/>
              </a:rPr>
              <a:t>Ngược lại · 反過來看</a:t>
            </a:r>
            <a:endParaRPr lang="en-US" sz="990" dirty="0"/>
          </a:p>
        </p:txBody>
      </p:sp>
      <p:sp>
        <p:nvSpPr>
          <p:cNvPr id="3" name="Shape 1"/>
          <p:cNvSpPr/>
          <p:nvPr/>
        </p:nvSpPr>
        <p:spPr>
          <a:xfrm>
            <a:off x="1341758" y="874706"/>
            <a:ext cx="1959922" cy="1996217"/>
          </a:xfrm>
          <a:prstGeom prst="roundRect">
            <a:avLst>
              <a:gd name="adj" fmla="val 4444"/>
            </a:avLst>
          </a:prstGeom>
          <a:solidFill>
            <a:srgbClr val="F4F7FA"/>
          </a:solidFill>
          <a:ln w="12700">
            <a:solidFill>
              <a:srgbClr val="DBE3EA"/>
            </a:solidFill>
            <a:prstDash val="solid"/>
          </a:ln>
        </p:spPr>
      </p:sp>
      <p:sp>
        <p:nvSpPr>
          <p:cNvPr id="4" name="Shape 2"/>
          <p:cNvSpPr/>
          <p:nvPr/>
        </p:nvSpPr>
        <p:spPr>
          <a:xfrm>
            <a:off x="2128485" y="1749340"/>
            <a:ext cx="737802" cy="599736"/>
          </a:xfrm>
          <a:prstGeom prst="roundRect">
            <a:avLst>
              <a:gd name="adj" fmla="val 6052"/>
            </a:avLst>
          </a:prstGeom>
          <a:solidFill>
            <a:srgbClr val="C8D3DE"/>
          </a:solidFill>
          <a:ln w="15240">
            <a:solidFill>
              <a:srgbClr val="F4F7FA"/>
            </a:solidFill>
            <a:prstDash val="solid"/>
          </a:ln>
        </p:spPr>
      </p:sp>
      <p:sp>
        <p:nvSpPr>
          <p:cNvPr id="5" name="Shape 3"/>
          <p:cNvSpPr/>
          <p:nvPr/>
        </p:nvSpPr>
        <p:spPr>
          <a:xfrm>
            <a:off x="2005518" y="1625864"/>
            <a:ext cx="737802" cy="599736"/>
          </a:xfrm>
          <a:prstGeom prst="roundRect">
            <a:avLst>
              <a:gd name="adj" fmla="val 6052"/>
            </a:avLst>
          </a:prstGeom>
          <a:solidFill>
            <a:srgbClr val="C8D3DE"/>
          </a:solidFill>
          <a:ln w="15240">
            <a:solidFill>
              <a:srgbClr val="F4F7FA"/>
            </a:solidFill>
            <a:prstDash val="solid"/>
          </a:ln>
        </p:spPr>
      </p:sp>
      <p:sp>
        <p:nvSpPr>
          <p:cNvPr id="6" name="Shape 4"/>
          <p:cNvSpPr/>
          <p:nvPr/>
        </p:nvSpPr>
        <p:spPr>
          <a:xfrm>
            <a:off x="1882551" y="1502390"/>
            <a:ext cx="737802" cy="599736"/>
          </a:xfrm>
          <a:prstGeom prst="roundRect">
            <a:avLst>
              <a:gd name="adj" fmla="val 6052"/>
            </a:avLst>
          </a:prstGeom>
          <a:solidFill>
            <a:srgbClr val="C8D3DE"/>
          </a:solidFill>
          <a:ln w="15240">
            <a:solidFill>
              <a:srgbClr val="F4F7FA"/>
            </a:solidFill>
            <a:prstDash val="solid"/>
          </a:ln>
        </p:spPr>
      </p:sp>
      <p:sp>
        <p:nvSpPr>
          <p:cNvPr id="7" name="Shape 5"/>
          <p:cNvSpPr/>
          <p:nvPr/>
        </p:nvSpPr>
        <p:spPr>
          <a:xfrm>
            <a:off x="1759584" y="1378914"/>
            <a:ext cx="737802" cy="599736"/>
          </a:xfrm>
          <a:prstGeom prst="roundRect">
            <a:avLst>
              <a:gd name="adj" fmla="val 6052"/>
            </a:avLst>
          </a:prstGeom>
          <a:solidFill>
            <a:srgbClr val="00A896"/>
          </a:solidFill>
          <a:ln w="15240">
            <a:solidFill>
              <a:srgbClr val="F4F7FA"/>
            </a:solidFill>
            <a:prstDash val="solid"/>
          </a:ln>
        </p:spPr>
      </p:sp>
      <p:sp>
        <p:nvSpPr>
          <p:cNvPr id="8" name="Text 6"/>
          <p:cNvSpPr txBox="1"/>
          <p:nvPr/>
        </p:nvSpPr>
        <p:spPr>
          <a:xfrm>
            <a:off x="1443383" y="2296158"/>
            <a:ext cx="1756671" cy="317508"/>
          </a:xfrm>
          <a:prstGeom prst="rect">
            <a:avLst/>
          </a:prstGeom>
          <a:noFill/>
          <a:ln/>
        </p:spPr>
        <p:txBody>
          <a:bodyPr wrap="square" lIns="0" tIns="0" rIns="0" bIns="0" rtlCol="0" anchor="ctr"/>
          <a:lstStyle/>
          <a:p>
            <a:pPr algn="ctr" indent="0" marL="0">
              <a:buNone/>
            </a:pPr>
            <a:r>
              <a:rPr lang="en-US" sz="870" b="1" dirty="0">
                <a:solidFill>
                  <a:srgbClr val="00A896"/>
                </a:solidFill>
                <a:latin typeface="Arial" pitchFamily="34" charset="0"/>
                <a:ea typeface="Arial" pitchFamily="34" charset="-122"/>
                <a:cs typeface="Arial" pitchFamily="34" charset="-120"/>
              </a:rPr>
              <a:t>× 10 000</a:t>
            </a:r>
            <a:endParaRPr lang="en-US" sz="870" dirty="0"/>
          </a:p>
        </p:txBody>
      </p:sp>
      <p:sp>
        <p:nvSpPr>
          <p:cNvPr id="9" name="Text 7"/>
          <p:cNvSpPr txBox="1"/>
          <p:nvPr/>
        </p:nvSpPr>
        <p:spPr>
          <a:xfrm>
            <a:off x="3664629" y="1047093"/>
            <a:ext cx="4137614" cy="798305"/>
          </a:xfrm>
          <a:prstGeom prst="rect">
            <a:avLst/>
          </a:prstGeom>
          <a:noFill/>
          <a:ln/>
        </p:spPr>
        <p:txBody>
          <a:bodyPr wrap="square" lIns="0" tIns="0" rIns="0" bIns="0" rtlCol="0" anchor="t"/>
          <a:lstStyle/>
          <a:p>
            <a:pPr indent="0" marL="0">
              <a:lnSpc>
                <a:spcPct val="120000"/>
              </a:lnSpc>
              <a:buNone/>
            </a:pPr>
            <a:r>
              <a:rPr lang="en-US" sz="1830" b="1" dirty="0">
                <a:solidFill>
                  <a:srgbClr val="0B1F3A"/>
                </a:solidFill>
                <a:latin typeface="Arial" pitchFamily="34" charset="0"/>
                <a:ea typeface="Arial" pitchFamily="34" charset="-122"/>
                <a:cs typeface="Arial" pitchFamily="34" charset="-120"/>
              </a:rPr>
              <a:t>Mô phỏng làm được những việc mà ngoài đường thật không làm được</a:t>
            </a:r>
            <a:endParaRPr lang="en-US" sz="1830" dirty="0"/>
          </a:p>
          <a:p>
            <a:pPr indent="0" marL="0">
              <a:lnSpc>
                <a:spcPct val="120000"/>
              </a:lnSpc>
              <a:buNone/>
            </a:pPr>
            <a:r>
              <a:rPr lang="en-US" sz="1110" dirty="0">
                <a:solidFill>
                  <a:srgbClr val="007F72"/>
                </a:solidFill>
                <a:latin typeface="微軟正黑體" pitchFamily="34" charset="0"/>
                <a:ea typeface="微軟正黑體" pitchFamily="34" charset="-122"/>
                <a:cs typeface="微軟正黑體" pitchFamily="34" charset="-120"/>
              </a:rPr>
              <a:t>模擬能做到一些真實世界做不到的事</a:t>
            </a:r>
            <a:endParaRPr lang="en-US" sz="1830" dirty="0"/>
          </a:p>
        </p:txBody>
      </p:sp>
      <p:sp>
        <p:nvSpPr>
          <p:cNvPr id="10" name="Text 8"/>
          <p:cNvSpPr txBox="1"/>
          <p:nvPr/>
        </p:nvSpPr>
        <p:spPr>
          <a:xfrm>
            <a:off x="3664629" y="1917989"/>
            <a:ext cx="4137614" cy="853137"/>
          </a:xfrm>
          <a:prstGeom prst="rect">
            <a:avLst/>
          </a:prstGeom>
          <a:noFill/>
          <a:ln/>
        </p:spPr>
        <p:txBody>
          <a:bodyPr wrap="square" lIns="0" tIns="0" rIns="0" bIns="0" rtlCol="0" anchor="t"/>
          <a:lstStyle/>
          <a:p>
            <a:pPr indent="0" marL="0">
              <a:lnSpc>
                <a:spcPct val="128000"/>
              </a:lnSpc>
              <a:buNone/>
            </a:pPr>
            <a:r>
              <a:rPr lang="en-US" sz="990" dirty="0">
                <a:solidFill>
                  <a:srgbClr val="5F7183"/>
                </a:solidFill>
                <a:latin typeface="Arial" pitchFamily="34" charset="0"/>
                <a:ea typeface="Arial" pitchFamily="34" charset="-122"/>
                <a:cs typeface="Arial" pitchFamily="34" charset="-120"/>
              </a:rPr>
              <a:t>Chạy lại cùng một tình huống mười nghìn lần, mỗi lần đổi một tham số. Cho người đi bộ bước ra đúng vào thời điểm xấu nhất. Ngoài đường thật thì vừa không làm được, vừa không được phép làm.</a:t>
            </a:r>
            <a:endParaRPr lang="en-US" sz="990" dirty="0"/>
          </a:p>
          <a:p>
            <a:pPr indent="0" marL="0">
              <a:lnSpc>
                <a:spcPct val="128000"/>
              </a:lnSpc>
              <a:buNone/>
            </a:pPr>
            <a:r>
              <a:rPr lang="en-US" sz="910" dirty="0">
                <a:solidFill>
                  <a:srgbClr val="5F7183"/>
                </a:solidFill>
                <a:latin typeface="微軟正黑體" pitchFamily="34" charset="0"/>
                <a:ea typeface="微軟正黑體" pitchFamily="34" charset="-122"/>
                <a:cs typeface="微軟正黑體" pitchFamily="34" charset="-120"/>
              </a:rPr>
              <a:t>同一個情況重跑一萬次，每次只改一個參數。讓行人剛好在最糟的時間點走出來。這兩件事在真實世界既做不到，也不可以做。</a:t>
            </a:r>
            <a:endParaRPr lang="en-US" sz="990" dirty="0"/>
          </a:p>
        </p:txBody>
      </p:sp>
      <p:sp>
        <p:nvSpPr>
          <p:cNvPr id="11" name="Shape 9"/>
          <p:cNvSpPr/>
          <p:nvPr/>
        </p:nvSpPr>
        <p:spPr>
          <a:xfrm>
            <a:off x="1341758" y="3106840"/>
            <a:ext cx="6460485" cy="493610"/>
          </a:xfrm>
          <a:prstGeom prst="roundRect">
            <a:avLst>
              <a:gd name="adj" fmla="val 13235"/>
            </a:avLst>
          </a:prstGeom>
          <a:solidFill>
            <a:srgbClr val="FFF6E3"/>
          </a:solidFill>
          <a:ln w="12700">
            <a:solidFill>
              <a:srgbClr val="FFB020"/>
            </a:solidFill>
            <a:prstDash val="solid"/>
          </a:ln>
        </p:spPr>
      </p:sp>
      <p:sp>
        <p:nvSpPr>
          <p:cNvPr id="12" name="Text 10"/>
          <p:cNvSpPr txBox="1"/>
          <p:nvPr/>
        </p:nvSpPr>
        <p:spPr>
          <a:xfrm>
            <a:off x="1486937" y="3164912"/>
            <a:ext cx="6170126" cy="391984"/>
          </a:xfrm>
          <a:prstGeom prst="rect">
            <a:avLst/>
          </a:prstGeom>
          <a:noFill/>
          <a:ln/>
        </p:spPr>
        <p:txBody>
          <a:bodyPr wrap="square" lIns="0" tIns="0" rIns="0" bIns="0" rtlCol="0" anchor="t"/>
          <a:lstStyle/>
          <a:p>
            <a:pPr indent="0" marL="0">
              <a:lnSpc>
                <a:spcPct val="116000"/>
              </a:lnSpc>
              <a:buNone/>
            </a:pPr>
            <a:r>
              <a:rPr lang="en-US" sz="990" b="1" dirty="0">
                <a:solidFill>
                  <a:srgbClr val="7A4E00"/>
                </a:solidFill>
                <a:latin typeface="Arial" pitchFamily="34" charset="0"/>
                <a:ea typeface="Arial" pitchFamily="34" charset="-122"/>
                <a:cs typeface="Arial" pitchFamily="34" charset="-120"/>
              </a:rPr>
              <a:t>Nên đừng nghĩ mô phỏng là bản thay thế kém hơn — nó là một công cụ khác, làm được việc khác.</a:t>
            </a:r>
            <a:endParaRPr lang="en-US" sz="990" dirty="0"/>
          </a:p>
          <a:p>
            <a:pPr indent="0" marL="0">
              <a:lnSpc>
                <a:spcPct val="116000"/>
              </a:lnSpc>
              <a:buNone/>
            </a:pPr>
            <a:r>
              <a:rPr lang="en-US" sz="910" dirty="0">
                <a:solidFill>
                  <a:srgbClr val="7A4E00"/>
                </a:solidFill>
                <a:latin typeface="微軟正黑體" pitchFamily="34" charset="0"/>
                <a:ea typeface="微軟正黑體" pitchFamily="34" charset="-122"/>
                <a:cs typeface="微軟正黑體" pitchFamily="34" charset="-120"/>
              </a:rPr>
              <a:t>所以不要把模擬看成「比較差的替代品」——它是另一種工具，做的是另一件事。</a:t>
            </a:r>
            <a:endParaRPr lang="en-US" sz="990" dirty="0"/>
          </a:p>
        </p:txBody>
      </p:sp>
      <p:pic>
        <p:nvPicPr>
          <p:cNvPr id="14" name="Image 0" descr="/Users/tsengchenghsun/Class/carClass/Claude outputs/第四週(10-1)/src/logo.png">    </p:cNvPr>
          <p:cNvPicPr>
            <a:picLocks noChangeAspect="1"/>
          </p:cNvPicPr>
          <p:nvPr/>
        </p:nvPicPr>
        <p:blipFill>
          <a:blip r:embed="rId1"/>
          <a:stretch>
            <a:fillRect/>
          </a:stretch>
        </p:blipFill>
        <p:spPr>
          <a:xfrm>
            <a:off x="7882128" y="109728"/>
            <a:ext cx="1097280" cy="242439"/>
          </a:xfrm>
          <a:prstGeom prst="rect">
            <a:avLst/>
          </a:prstGeom>
        </p:spPr>
      </p:pic>
      <p:sp>
        <p:nvSpPr>
          <p:cNvPr id="15" name="Text 11"/>
          <p:cNvSpPr txBox="1"/>
          <p:nvPr/>
        </p:nvSpPr>
        <p:spPr>
          <a:xfrm>
            <a:off x="1029622" y="101626"/>
            <a:ext cx="653307" cy="203251"/>
          </a:xfrm>
          <a:prstGeom prst="rect">
            <a:avLst/>
          </a:prstGeom>
          <a:noFill/>
          <a:ln/>
        </p:spPr>
        <p:txBody>
          <a:bodyPr wrap="square" lIns="0" tIns="0" rIns="0" bIns="0" rtlCol="0" anchor="ctr"/>
          <a:lstStyle/>
          <a:p>
            <a:pPr indent="0" marL="0">
              <a:buNone/>
            </a:pPr>
            <a:r>
              <a:rPr lang="en-US" sz="710" dirty="0">
                <a:solidFill>
                  <a:srgbClr val="5F7183"/>
                </a:solidFill>
                <a:latin typeface="Arial" pitchFamily="34" charset="0"/>
                <a:ea typeface="Arial" pitchFamily="34" charset="-122"/>
                <a:cs typeface="Arial" pitchFamily="34" charset="-120"/>
              </a:rPr>
              <a:t>15 / 18</a:t>
            </a:r>
            <a:endParaRPr lang="en-US" sz="710" dirty="0"/>
          </a:p>
        </p:txBody>
      </p:sp>
      <p:sp>
        <p:nvSpPr>
          <p:cNvPr id="16" name="Text 12"/>
          <p:cNvSpPr txBox="1"/>
          <p:nvPr/>
        </p:nvSpPr>
        <p:spPr>
          <a:xfrm>
            <a:off x="1704706" y="101626"/>
            <a:ext cx="1596974" cy="203251"/>
          </a:xfrm>
          <a:prstGeom prst="rect">
            <a:avLst/>
          </a:prstGeom>
          <a:noFill/>
          <a:ln/>
        </p:spPr>
        <p:txBody>
          <a:bodyPr wrap="square" lIns="0" tIns="0" rIns="0" bIns="0" rtlCol="0" anchor="ctr"/>
          <a:lstStyle/>
          <a:p>
            <a:pPr indent="0" marL="0">
              <a:buNone/>
            </a:pPr>
            <a:r>
              <a:rPr lang="en-US" sz="710" dirty="0">
                <a:solidFill>
                  <a:srgbClr val="5F7183"/>
                </a:solidFill>
                <a:latin typeface="Arial" pitchFamily="34" charset="0"/>
                <a:ea typeface="Arial" pitchFamily="34" charset="-122"/>
                <a:cs typeface="Arial" pitchFamily="34" charset="-120"/>
              </a:rPr>
              <a:t>Tiết 1 · 第 1 節</a:t>
            </a:r>
            <a:endParaRPr lang="en-US" sz="71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982752" y="0"/>
          <a:ext cx="1" cy="1"/>
          <a:chOff x="0" y="0"/>
          <a:chExt cx="0" cy="0"/>
        </a:xfrm>
      </p:grpSpPr>
      <p:sp>
        <p:nvSpPr>
          <p:cNvPr id="2" name="Text 0"/>
          <p:cNvSpPr txBox="1"/>
          <p:nvPr/>
        </p:nvSpPr>
        <p:spPr>
          <a:xfrm>
            <a:off x="1377569" y="229712"/>
            <a:ext cx="6388862" cy="660422"/>
          </a:xfrm>
          <a:prstGeom prst="rect">
            <a:avLst/>
          </a:prstGeom>
          <a:noFill/>
          <a:ln/>
        </p:spPr>
        <p:txBody>
          <a:bodyPr wrap="square" lIns="0" tIns="0" rIns="0" bIns="0" rtlCol="0" anchor="t"/>
          <a:lstStyle/>
          <a:p>
            <a:pPr indent="0" marL="0">
              <a:lnSpc>
                <a:spcPct val="116000"/>
              </a:lnSpc>
              <a:buNone/>
            </a:pPr>
            <a:r>
              <a:rPr lang="en-US" sz="1730" b="1" dirty="0">
                <a:solidFill>
                  <a:srgbClr val="0B1F3A"/>
                </a:solidFill>
                <a:latin typeface="Arial" pitchFamily="34" charset="0"/>
                <a:ea typeface="Arial" pitchFamily="34" charset="-122"/>
                <a:cs typeface="Arial" pitchFamily="34" charset="-120"/>
              </a:rPr>
              <a:t>Ở Đài Loan và Việt Nam, cả ba khoảng cách đều lớn hơn</a:t>
            </a:r>
            <a:endParaRPr lang="en-US" sz="1730" dirty="0"/>
          </a:p>
          <a:p>
            <a:pPr indent="0" marL="0">
              <a:lnSpc>
                <a:spcPct val="116000"/>
              </a:lnSpc>
              <a:buNone/>
            </a:pPr>
            <a:r>
              <a:rPr lang="en-US" sz="1060" dirty="0">
                <a:solidFill>
                  <a:srgbClr val="5F7183"/>
                </a:solidFill>
                <a:latin typeface="微軟正黑體" pitchFamily="34" charset="0"/>
                <a:ea typeface="微軟正黑體" pitchFamily="34" charset="-122"/>
                <a:cs typeface="微軟正黑體" pitchFamily="34" charset="-120"/>
              </a:rPr>
              <a:t>在台灣和越南，這三種落差都更大</a:t>
            </a:r>
            <a:endParaRPr lang="en-US" sz="1730" dirty="0"/>
          </a:p>
        </p:txBody>
      </p:sp>
      <p:sp>
        <p:nvSpPr>
          <p:cNvPr id="3" name="Shape 1"/>
          <p:cNvSpPr/>
          <p:nvPr/>
        </p:nvSpPr>
        <p:spPr>
          <a:xfrm>
            <a:off x="1377569" y="890134"/>
            <a:ext cx="6388862" cy="559923"/>
          </a:xfrm>
          <a:prstGeom prst="roundRect">
            <a:avLst>
              <a:gd name="adj" fmla="val 10256"/>
            </a:avLst>
          </a:prstGeom>
          <a:solidFill>
            <a:srgbClr val="EAF6F4"/>
          </a:solidFill>
          <a:ln/>
        </p:spPr>
      </p:sp>
      <p:sp>
        <p:nvSpPr>
          <p:cNvPr id="4" name="Text 2"/>
          <p:cNvSpPr txBox="1"/>
          <p:nvPr/>
        </p:nvSpPr>
        <p:spPr>
          <a:xfrm>
            <a:off x="1492425" y="947562"/>
            <a:ext cx="6159150" cy="445067"/>
          </a:xfrm>
          <a:prstGeom prst="rect">
            <a:avLst/>
          </a:prstGeom>
          <a:noFill/>
          <a:ln/>
        </p:spPr>
        <p:txBody>
          <a:bodyPr wrap="square" lIns="0" tIns="0" rIns="0" bIns="0" rtlCol="0" anchor="t"/>
          <a:lstStyle/>
          <a:p>
            <a:pPr indent="0" marL="0">
              <a:lnSpc>
                <a:spcPct val="110000"/>
              </a:lnSpc>
              <a:buNone/>
            </a:pPr>
            <a:r>
              <a:rPr lang="en-US" sz="900" b="1" dirty="0">
                <a:solidFill>
                  <a:srgbClr val="007F72"/>
                </a:solidFill>
                <a:latin typeface="Arial" pitchFamily="34" charset="0"/>
                <a:ea typeface="Arial" pitchFamily="34" charset="-122"/>
                <a:cs typeface="Arial" pitchFamily="34" charset="-120"/>
              </a:rPr>
              <a:t>Vì thế giới, xe cộ và hành vi trong các mô phỏng có sẵn đều được làm theo Âu Mỹ.</a:t>
            </a:r>
            <a:endParaRPr lang="en-US" sz="900" dirty="0"/>
          </a:p>
          <a:p>
            <a:pPr indent="0" marL="0">
              <a:lnSpc>
                <a:spcPct val="110000"/>
              </a:lnSpc>
              <a:buNone/>
            </a:pPr>
            <a:r>
              <a:rPr lang="en-US" sz="790" dirty="0">
                <a:solidFill>
                  <a:srgbClr val="007F72"/>
                </a:solidFill>
                <a:latin typeface="微軟正黑體" pitchFamily="34" charset="0"/>
                <a:ea typeface="微軟正黑體" pitchFamily="34" charset="-122"/>
                <a:cs typeface="微軟正黑體" pitchFamily="34" charset="-120"/>
              </a:rPr>
              <a:t>因為現成模擬器裡的世界、車輛、行為，都是照歐美做的。</a:t>
            </a:r>
            <a:endParaRPr lang="en-US" sz="9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1377569" y="1536198"/>
          <a:ext cx="6388862" cy="717850"/>
        </p:xfrm>
        <a:graphic>
          <a:graphicData uri="http://schemas.openxmlformats.org/drawingml/2006/table">
            <a:tbl>
              <a:tblPr/>
              <a:tblGrid>
                <a:gridCol w="1076774"/>
                <a:gridCol w="2656044"/>
                <a:gridCol w="2656044"/>
              </a:tblGrid>
              <a:tr h="315854">
                <a:tc>
                  <a:txBody>
                    <a:bodyPr/>
                    <a:lstStyle/>
                    <a:p>
                      <a:pPr algn="l" indent="0" marL="0">
                        <a:buNone/>
                      </a:pPr>
                      <a:r>
                        <a:rPr lang="en-US" sz="790" b="1" dirty="0">
                          <a:solidFill>
                            <a:srgbClr val="FFFFFF"/>
                          </a:solidFill>
                          <a:latin typeface="Arial" pitchFamily="34" charset="0"/>
                          <a:ea typeface="Arial" pitchFamily="34" charset="-122"/>
                          <a:cs typeface="Arial" pitchFamily="34" charset="-120"/>
                        </a:rPr>
                        <a:t>Loại</a:t>
                      </a:r>
                      <a:endParaRPr lang="en-US" sz="940" dirty="0"/>
                    </a:p>
                    <a:p>
                      <a:pPr algn="l" indent="0" marL="0">
                        <a:buNone/>
                      </a:pPr>
                      <a:r>
                        <a:rPr lang="en-US" sz="670" dirty="0">
                          <a:solidFill>
                            <a:srgbClr val="CFE0EC"/>
                          </a:solidFill>
                          <a:latin typeface="微軟正黑體" pitchFamily="34" charset="0"/>
                          <a:ea typeface="微軟正黑體" pitchFamily="34" charset="-122"/>
                          <a:cs typeface="微軟正黑體" pitchFamily="34" charset="-120"/>
                        </a:rPr>
                        <a:t>哪一種</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790" b="1" dirty="0">
                          <a:solidFill>
                            <a:srgbClr val="FFFFFF"/>
                          </a:solidFill>
                          <a:latin typeface="Arial" pitchFamily="34" charset="0"/>
                          <a:ea typeface="Arial" pitchFamily="34" charset="-122"/>
                          <a:cs typeface="Arial" pitchFamily="34" charset="-120"/>
                        </a:rPr>
                        <a:t>Ở Đài Loan</a:t>
                      </a:r>
                      <a:endParaRPr lang="en-US" sz="940" dirty="0"/>
                    </a:p>
                    <a:p>
                      <a:pPr algn="l" indent="0" marL="0">
                        <a:buNone/>
                      </a:pPr>
                      <a:r>
                        <a:rPr lang="en-US" sz="670" dirty="0">
                          <a:solidFill>
                            <a:srgbClr val="CFE0EC"/>
                          </a:solidFill>
                          <a:latin typeface="微軟正黑體" pitchFamily="34" charset="0"/>
                          <a:ea typeface="微軟正黑體" pitchFamily="34" charset="-122"/>
                          <a:cs typeface="微軟正黑體" pitchFamily="34" charset="-120"/>
                        </a:rPr>
                        <a:t>台灣</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790" b="1" dirty="0">
                          <a:solidFill>
                            <a:srgbClr val="FFFFFF"/>
                          </a:solidFill>
                          <a:latin typeface="Arial" pitchFamily="34" charset="0"/>
                          <a:ea typeface="Arial" pitchFamily="34" charset="-122"/>
                          <a:cs typeface="Arial" pitchFamily="34" charset="-120"/>
                        </a:rPr>
                        <a:t>Ở Việt Nam</a:t>
                      </a:r>
                      <a:endParaRPr lang="en-US" sz="940" dirty="0"/>
                    </a:p>
                    <a:p>
                      <a:pPr algn="l" indent="0" marL="0">
                        <a:buNone/>
                      </a:pPr>
                      <a:r>
                        <a:rPr lang="en-US" sz="670" dirty="0">
                          <a:solidFill>
                            <a:srgbClr val="CFE0EC"/>
                          </a:solidFill>
                          <a:latin typeface="微軟正黑體" pitchFamily="34" charset="0"/>
                          <a:ea typeface="微軟正黑體" pitchFamily="34" charset="-122"/>
                          <a:cs typeface="微軟正黑體" pitchFamily="34" charset="-120"/>
                        </a:rPr>
                        <a:t>越南</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315854">
                <a:tc>
                  <a:txBody>
                    <a:bodyPr/>
                    <a:lstStyle/>
                    <a:p>
                      <a:pPr algn="l" indent="0" marL="0">
                        <a:buNone/>
                      </a:pPr>
                      <a:r>
                        <a:rPr lang="en-US" sz="790" b="1" dirty="0">
                          <a:solidFill>
                            <a:srgbClr val="0B1F3A"/>
                          </a:solidFill>
                          <a:latin typeface="Arial" pitchFamily="34" charset="0"/>
                          <a:ea typeface="Arial" pitchFamily="34" charset="-122"/>
                          <a:cs typeface="Arial" pitchFamily="34" charset="-120"/>
                        </a:rPr>
                        <a:t>Hình ảnh</a:t>
                      </a:r>
                      <a:endParaRPr lang="en-US" sz="940" dirty="0"/>
                    </a:p>
                    <a:p>
                      <a:pPr algn="l" indent="0" marL="0">
                        <a:buNone/>
                      </a:pPr>
                      <a:r>
                        <a:rPr lang="en-US" sz="670" dirty="0">
                          <a:solidFill>
                            <a:srgbClr val="5F7183"/>
                          </a:solidFill>
                          <a:latin typeface="微軟正黑體" pitchFamily="34" charset="0"/>
                          <a:ea typeface="微軟正黑體" pitchFamily="34" charset="-122"/>
                          <a:cs typeface="微軟正黑體" pitchFamily="34" charset="-120"/>
                        </a:rPr>
                        <a:t>外觀</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790" dirty="0">
                          <a:solidFill>
                            <a:srgbClr val="1A2733"/>
                          </a:solidFill>
                          <a:latin typeface="Arial" pitchFamily="34" charset="0"/>
                          <a:ea typeface="Arial" pitchFamily="34" charset="-122"/>
                          <a:cs typeface="Arial" pitchFamily="34" charset="-120"/>
                        </a:rPr>
                        <a:t>Mái hiên, biển hiệu chi chít, ô chờ rẽ trái của xe máy</a:t>
                      </a:r>
                      <a:endParaRPr lang="en-US" sz="940" dirty="0"/>
                    </a:p>
                    <a:p>
                      <a:pPr algn="l" indent="0" marL="0">
                        <a:buNone/>
                      </a:pPr>
                      <a:r>
                        <a:rPr lang="en-US" sz="670" dirty="0">
                          <a:solidFill>
                            <a:srgbClr val="5F7183"/>
                          </a:solidFill>
                          <a:latin typeface="微軟正黑體" pitchFamily="34" charset="0"/>
                          <a:ea typeface="微軟正黑體" pitchFamily="34" charset="-122"/>
                          <a:cs typeface="微軟正黑體" pitchFamily="34" charset="-120"/>
                        </a:rPr>
                        <a:t>騎樓、滿街招牌、機車待轉區</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790" dirty="0">
                          <a:solidFill>
                            <a:srgbClr val="1A2733"/>
                          </a:solidFill>
                          <a:latin typeface="Arial" pitchFamily="34" charset="0"/>
                          <a:ea typeface="Arial" pitchFamily="34" charset="-122"/>
                          <a:cs typeface="Arial" pitchFamily="34" charset="-120"/>
                        </a:rPr>
                        <a:t>Hàng quán vỉa hè, ngã tư không có vạch kẻ</a:t>
                      </a:r>
                      <a:endParaRPr lang="en-US" sz="940" dirty="0"/>
                    </a:p>
                    <a:p>
                      <a:pPr algn="l" indent="0" marL="0">
                        <a:buNone/>
                      </a:pPr>
                      <a:r>
                        <a:rPr lang="en-US" sz="670" dirty="0">
                          <a:solidFill>
                            <a:srgbClr val="5F7183"/>
                          </a:solidFill>
                          <a:latin typeface="微軟正黑體" pitchFamily="34" charset="0"/>
                          <a:ea typeface="微軟正黑體" pitchFamily="34" charset="-122"/>
                          <a:cs typeface="微軟正黑體" pitchFamily="34" charset="-120"/>
                        </a:rPr>
                        <a:t>路邊攤、沒有標線的路口</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15854">
                <a:tc>
                  <a:txBody>
                    <a:bodyPr/>
                    <a:lstStyle/>
                    <a:p>
                      <a:pPr algn="l" indent="0" marL="0">
                        <a:buNone/>
                      </a:pPr>
                      <a:r>
                        <a:rPr lang="en-US" sz="790" b="1" dirty="0">
                          <a:solidFill>
                            <a:srgbClr val="0B1F3A"/>
                          </a:solidFill>
                          <a:latin typeface="Arial" pitchFamily="34" charset="0"/>
                          <a:ea typeface="Arial" pitchFamily="34" charset="-122"/>
                          <a:cs typeface="Arial" pitchFamily="34" charset="-120"/>
                        </a:rPr>
                        <a:t>Hành vi</a:t>
                      </a:r>
                      <a:endParaRPr lang="en-US" sz="940" dirty="0"/>
                    </a:p>
                    <a:p>
                      <a:pPr algn="l" indent="0" marL="0">
                        <a:buNone/>
                      </a:pPr>
                      <a:r>
                        <a:rPr lang="en-US" sz="670" dirty="0">
                          <a:solidFill>
                            <a:srgbClr val="5F7183"/>
                          </a:solidFill>
                          <a:latin typeface="微軟正黑體" pitchFamily="34" charset="0"/>
                          <a:ea typeface="微軟正黑體" pitchFamily="34" charset="-122"/>
                          <a:cs typeface="微軟正黑體" pitchFamily="34" charset="-120"/>
                        </a:rPr>
                        <a:t>行為</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790" dirty="0">
                          <a:solidFill>
                            <a:srgbClr val="1A2733"/>
                          </a:solidFill>
                          <a:latin typeface="Arial" pitchFamily="34" charset="0"/>
                          <a:ea typeface="Arial" pitchFamily="34" charset="-122"/>
                          <a:cs typeface="Arial" pitchFamily="34" charset="-120"/>
                        </a:rPr>
                        <a:t>Đèn xanh, hai mươi xe máy toả ra hình quạt</a:t>
                      </a:r>
                      <a:endParaRPr lang="en-US" sz="940" dirty="0"/>
                    </a:p>
                    <a:p>
                      <a:pPr algn="l" indent="0" marL="0">
                        <a:buNone/>
                      </a:pPr>
                      <a:r>
                        <a:rPr lang="en-US" sz="670" dirty="0">
                          <a:solidFill>
                            <a:srgbClr val="5F7183"/>
                          </a:solidFill>
                          <a:latin typeface="微軟正黑體" pitchFamily="34" charset="0"/>
                          <a:ea typeface="微軟正黑體" pitchFamily="34" charset="-122"/>
                          <a:cs typeface="微軟正黑體" pitchFamily="34" charset="-120"/>
                        </a:rPr>
                        <a:t>綠燈起步，二十台機車扇形散開</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790" dirty="0">
                          <a:solidFill>
                            <a:srgbClr val="1A2733"/>
                          </a:solidFill>
                          <a:latin typeface="Arial" pitchFamily="34" charset="0"/>
                          <a:ea typeface="Arial" pitchFamily="34" charset="-122"/>
                          <a:cs typeface="Arial" pitchFamily="34" charset="-120"/>
                        </a:rPr>
                        <a:t>Trong 5 m có 12 xe máy lách nhau; vòng xuyến đi bằng ánh mắt</a:t>
                      </a:r>
                      <a:endParaRPr lang="en-US" sz="940" dirty="0"/>
                    </a:p>
                    <a:p>
                      <a:pPr algn="l" indent="0" marL="0">
                        <a:buNone/>
                      </a:pPr>
                      <a:r>
                        <a:rPr lang="en-US" sz="670" dirty="0">
                          <a:solidFill>
                            <a:srgbClr val="5F7183"/>
                          </a:solidFill>
                          <a:latin typeface="微軟正黑體" pitchFamily="34" charset="0"/>
                          <a:ea typeface="微軟正黑體" pitchFamily="34" charset="-122"/>
                          <a:cs typeface="微軟正黑體" pitchFamily="34" charset="-120"/>
                        </a:rPr>
                        <a:t>五公尺內十二台機車互鑽；圓環靠眼神</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15854">
                <a:tc>
                  <a:txBody>
                    <a:bodyPr/>
                    <a:lstStyle/>
                    <a:p>
                      <a:pPr algn="l" indent="0" marL="0">
                        <a:buNone/>
                      </a:pPr>
                      <a:r>
                        <a:rPr lang="en-US" sz="790" b="1" dirty="0">
                          <a:solidFill>
                            <a:srgbClr val="0B1F3A"/>
                          </a:solidFill>
                          <a:latin typeface="Arial" pitchFamily="34" charset="0"/>
                          <a:ea typeface="Arial" pitchFamily="34" charset="-122"/>
                          <a:cs typeface="Arial" pitchFamily="34" charset="-120"/>
                        </a:rPr>
                        <a:t>Vật lý</a:t>
                      </a:r>
                      <a:endParaRPr lang="en-US" sz="940" dirty="0"/>
                    </a:p>
                    <a:p>
                      <a:pPr algn="l" indent="0" marL="0">
                        <a:buNone/>
                      </a:pPr>
                      <a:r>
                        <a:rPr lang="en-US" sz="670" dirty="0">
                          <a:solidFill>
                            <a:srgbClr val="5F7183"/>
                          </a:solidFill>
                          <a:latin typeface="微軟正黑體" pitchFamily="34" charset="0"/>
                          <a:ea typeface="微軟正黑體" pitchFamily="34" charset="-122"/>
                          <a:cs typeface="微軟正黑體" pitchFamily="34" charset="-120"/>
                        </a:rPr>
                        <a:t>物理</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790" dirty="0">
                          <a:solidFill>
                            <a:srgbClr val="1A2733"/>
                          </a:solidFill>
                          <a:latin typeface="Arial" pitchFamily="34" charset="0"/>
                          <a:ea typeface="Arial" pitchFamily="34" charset="-122"/>
                          <a:cs typeface="Arial" pitchFamily="34" charset="-120"/>
                        </a:rPr>
                        <a:t>Mặt đường vá chằng chịt, nắp cống</a:t>
                      </a:r>
                      <a:endParaRPr lang="en-US" sz="940" dirty="0"/>
                    </a:p>
                    <a:p>
                      <a:pPr algn="l" indent="0" marL="0">
                        <a:buNone/>
                      </a:pPr>
                      <a:r>
                        <a:rPr lang="en-US" sz="670" dirty="0">
                          <a:solidFill>
                            <a:srgbClr val="5F7183"/>
                          </a:solidFill>
                          <a:latin typeface="微軟正黑體" pitchFamily="34" charset="0"/>
                          <a:ea typeface="微軟正黑體" pitchFamily="34" charset="-122"/>
                          <a:cs typeface="微軟正黑體" pitchFamily="34" charset="-120"/>
                        </a:rPr>
                        <a:t>補丁路面、人孔蓋</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790" dirty="0">
                          <a:solidFill>
                            <a:srgbClr val="1A2733"/>
                          </a:solidFill>
                          <a:latin typeface="Arial" pitchFamily="34" charset="0"/>
                          <a:ea typeface="Arial" pitchFamily="34" charset="-122"/>
                          <a:cs typeface="Arial" pitchFamily="34" charset="-120"/>
                        </a:rPr>
                        <a:t>Đường hỏng, ngập nước sâu nông khác nhau</a:t>
                      </a:r>
                      <a:endParaRPr lang="en-US" sz="940" dirty="0"/>
                    </a:p>
                    <a:p>
                      <a:pPr algn="l" indent="0" marL="0">
                        <a:buNone/>
                      </a:pPr>
                      <a:r>
                        <a:rPr lang="en-US" sz="670" dirty="0">
                          <a:solidFill>
                            <a:srgbClr val="5F7183"/>
                          </a:solidFill>
                          <a:latin typeface="微軟正黑體" pitchFamily="34" charset="0"/>
                          <a:ea typeface="微軟正黑體" pitchFamily="34" charset="-122"/>
                          <a:cs typeface="微軟正黑體" pitchFamily="34" charset="-120"/>
                        </a:rPr>
                        <a:t>破損路面、深淺不一的積水</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6" name="Text 3"/>
          <p:cNvSpPr txBox="1"/>
          <p:nvPr/>
        </p:nvSpPr>
        <p:spPr>
          <a:xfrm>
            <a:off x="1377569" y="3241525"/>
            <a:ext cx="6388862" cy="358925"/>
          </a:xfrm>
          <a:prstGeom prst="rect">
            <a:avLst/>
          </a:prstGeom>
          <a:noFill/>
          <a:ln/>
        </p:spPr>
        <p:txBody>
          <a:bodyPr wrap="square" lIns="0" tIns="0" rIns="0" bIns="0" rtlCol="0" anchor="t"/>
          <a:lstStyle/>
          <a:p>
            <a:pPr indent="0" marL="0">
              <a:lnSpc>
                <a:spcPct val="116000"/>
              </a:lnSpc>
              <a:buNone/>
            </a:pPr>
            <a:r>
              <a:rPr lang="en-US" sz="940" b="1" dirty="0">
                <a:solidFill>
                  <a:srgbClr val="007F72"/>
                </a:solidFill>
                <a:latin typeface="Arial" pitchFamily="34" charset="0"/>
                <a:ea typeface="Arial" pitchFamily="34" charset="-122"/>
                <a:cs typeface="Arial" pitchFamily="34" charset="-120"/>
              </a:rPr>
              <a:t>Mô hình hành vi giao thông Đài Loan / Việt Nam: dữ liệu đó chỉ các bạn thu được.</a:t>
            </a:r>
            <a:endParaRPr lang="en-US" sz="940" dirty="0"/>
          </a:p>
          <a:p>
            <a:pPr indent="0" marL="0">
              <a:lnSpc>
                <a:spcPct val="116000"/>
              </a:lnSpc>
              <a:buNone/>
            </a:pPr>
            <a:r>
              <a:rPr lang="en-US" sz="860" dirty="0">
                <a:solidFill>
                  <a:srgbClr val="007F72"/>
                </a:solidFill>
                <a:latin typeface="微軟正黑體" pitchFamily="34" charset="0"/>
                <a:ea typeface="微軟正黑體" pitchFamily="34" charset="-122"/>
                <a:cs typeface="微軟正黑體" pitchFamily="34" charset="-120"/>
              </a:rPr>
              <a:t>台灣或越南的交通行為模型：那份資料只有各位收得到。</a:t>
            </a:r>
            <a:endParaRPr lang="en-US" sz="940" dirty="0"/>
          </a:p>
        </p:txBody>
      </p:sp>
      <p:pic>
        <p:nvPicPr>
          <p:cNvPr id="8" name="Image 0" descr="/Users/tsengchenghsun/Class/carClass/Claude outputs/第四週(10-1)/src/logo.png">    </p:cNvPr>
          <p:cNvPicPr>
            <a:picLocks noChangeAspect="1"/>
          </p:cNvPicPr>
          <p:nvPr/>
        </p:nvPicPr>
        <p:blipFill>
          <a:blip r:embed="rId1"/>
          <a:stretch>
            <a:fillRect/>
          </a:stretch>
        </p:blipFill>
        <p:spPr>
          <a:xfrm>
            <a:off x="7882128" y="109728"/>
            <a:ext cx="1097280" cy="242439"/>
          </a:xfrm>
          <a:prstGeom prst="rect">
            <a:avLst/>
          </a:prstGeom>
        </p:spPr>
      </p:pic>
      <p:sp>
        <p:nvSpPr>
          <p:cNvPr id="9" name="Text 4"/>
          <p:cNvSpPr txBox="1"/>
          <p:nvPr/>
        </p:nvSpPr>
        <p:spPr>
          <a:xfrm>
            <a:off x="1068894" y="100499"/>
            <a:ext cx="646065" cy="200998"/>
          </a:xfrm>
          <a:prstGeom prst="rect">
            <a:avLst/>
          </a:prstGeom>
          <a:noFill/>
          <a:ln/>
        </p:spPr>
        <p:txBody>
          <a:bodyPr wrap="square" lIns="0" tIns="0" rIns="0" bIns="0" rtlCol="0" anchor="ctr"/>
          <a:lstStyle/>
          <a:p>
            <a:pPr indent="0" marL="0">
              <a:buNone/>
            </a:pPr>
            <a:r>
              <a:rPr lang="en-US" sz="710" dirty="0">
                <a:solidFill>
                  <a:srgbClr val="5F7183"/>
                </a:solidFill>
                <a:latin typeface="Arial" pitchFamily="34" charset="0"/>
                <a:ea typeface="Arial" pitchFamily="34" charset="-122"/>
                <a:cs typeface="Arial" pitchFamily="34" charset="-120"/>
              </a:rPr>
              <a:t>16 / 18</a:t>
            </a:r>
            <a:endParaRPr lang="en-US" sz="710" dirty="0"/>
          </a:p>
        </p:txBody>
      </p:sp>
      <p:sp>
        <p:nvSpPr>
          <p:cNvPr id="10" name="Text 5"/>
          <p:cNvSpPr txBox="1"/>
          <p:nvPr/>
        </p:nvSpPr>
        <p:spPr>
          <a:xfrm>
            <a:off x="1736494" y="100499"/>
            <a:ext cx="1579269" cy="200998"/>
          </a:xfrm>
          <a:prstGeom prst="rect">
            <a:avLst/>
          </a:prstGeom>
          <a:noFill/>
          <a:ln/>
        </p:spPr>
        <p:txBody>
          <a:bodyPr wrap="square" lIns="0" tIns="0" rIns="0" bIns="0" rtlCol="0" anchor="ctr"/>
          <a:lstStyle/>
          <a:p>
            <a:pPr indent="0" marL="0">
              <a:buNone/>
            </a:pPr>
            <a:r>
              <a:rPr lang="en-US" sz="710" dirty="0">
                <a:solidFill>
                  <a:srgbClr val="5F7183"/>
                </a:solidFill>
                <a:latin typeface="Arial" pitchFamily="34" charset="0"/>
                <a:ea typeface="Arial" pitchFamily="34" charset="-122"/>
                <a:cs typeface="Arial" pitchFamily="34" charset="-120"/>
              </a:rPr>
              <a:t>Tiết 1 · 第 1 節</a:t>
            </a:r>
            <a:endParaRPr lang="en-US" sz="71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B1F3A"/>
        </a:solidFill>
      </p:bgPr>
    </p:bg>
    <p:spTree>
      <p:nvGrpSpPr>
        <p:cNvPr id="1" name=""/>
        <p:cNvGrpSpPr/>
        <p:nvPr/>
      </p:nvGrpSpPr>
      <p:grpSpPr>
        <a:xfrm>
          <a:off x="925172" y="0"/>
          <a:ext cx="1" cy="1"/>
          <a:chOff x="0" y="0"/>
          <a:chExt cx="0" cy="0"/>
        </a:xfrm>
      </p:grpSpPr>
      <p:sp>
        <p:nvSpPr>
          <p:cNvPr id="2" name="Shape 0"/>
          <p:cNvSpPr/>
          <p:nvPr/>
        </p:nvSpPr>
        <p:spPr>
          <a:xfrm>
            <a:off x="6322478" y="-1094048"/>
            <a:ext cx="3355082" cy="3355082"/>
          </a:xfrm>
          <a:prstGeom prst="ellipse">
            <a:avLst/>
          </a:prstGeom>
          <a:solidFill>
            <a:srgbClr val="13314F"/>
          </a:solidFill>
          <a:ln w="12700">
            <a:solidFill>
              <a:srgbClr val="13314F"/>
            </a:solidFill>
            <a:prstDash val="solid"/>
          </a:ln>
        </p:spPr>
      </p:sp>
      <p:sp>
        <p:nvSpPr>
          <p:cNvPr id="3" name="Shape 1"/>
          <p:cNvSpPr/>
          <p:nvPr/>
        </p:nvSpPr>
        <p:spPr>
          <a:xfrm>
            <a:off x="7416526" y="1677541"/>
            <a:ext cx="1896351" cy="1896351"/>
          </a:xfrm>
          <a:prstGeom prst="ellipse">
            <a:avLst/>
          </a:prstGeom>
          <a:solidFill>
            <a:srgbClr val="007F72">
              <a:alpha val="28000"/>
            </a:srgbClr>
          </a:solidFill>
          <a:ln/>
        </p:spPr>
      </p:sp>
      <p:sp>
        <p:nvSpPr>
          <p:cNvPr id="4" name="Text 2"/>
          <p:cNvSpPr txBox="1"/>
          <p:nvPr/>
        </p:nvSpPr>
        <p:spPr>
          <a:xfrm>
            <a:off x="1326323" y="379270"/>
            <a:ext cx="5397306" cy="218810"/>
          </a:xfrm>
          <a:prstGeom prst="rect">
            <a:avLst/>
          </a:prstGeom>
          <a:noFill/>
          <a:ln/>
        </p:spPr>
        <p:txBody>
          <a:bodyPr wrap="square" lIns="0" tIns="0" rIns="0" bIns="0" rtlCol="0" anchor="ctr"/>
          <a:lstStyle/>
          <a:p>
            <a:pPr indent="0" marL="0">
              <a:buNone/>
            </a:pPr>
            <a:r>
              <a:rPr lang="en-US" sz="1000" b="1" dirty="0">
                <a:solidFill>
                  <a:srgbClr val="FFB020"/>
                </a:solidFill>
                <a:latin typeface="Arial" pitchFamily="34" charset="0"/>
                <a:ea typeface="Arial" pitchFamily="34" charset="-122"/>
                <a:cs typeface="Arial" pitchFamily="34" charset="-120"/>
              </a:rPr>
              <a:t>Thảo luận · 討論（上週的回家作業）</a:t>
            </a:r>
            <a:endParaRPr lang="en-US" sz="1000" dirty="0"/>
          </a:p>
        </p:txBody>
      </p:sp>
      <p:sp>
        <p:nvSpPr>
          <p:cNvPr id="5" name="Text 3"/>
          <p:cNvSpPr txBox="1"/>
          <p:nvPr/>
        </p:nvSpPr>
        <p:spPr>
          <a:xfrm>
            <a:off x="1326323" y="627254"/>
            <a:ext cx="6418418" cy="977350"/>
          </a:xfrm>
          <a:prstGeom prst="rect">
            <a:avLst/>
          </a:prstGeom>
          <a:noFill/>
          <a:ln/>
        </p:spPr>
        <p:txBody>
          <a:bodyPr wrap="square" lIns="0" tIns="0" rIns="0" bIns="0" rtlCol="0" anchor="t"/>
          <a:lstStyle/>
          <a:p>
            <a:pPr indent="0" marL="0">
              <a:lnSpc>
                <a:spcPct val="120000"/>
              </a:lnSpc>
              <a:buNone/>
            </a:pPr>
            <a:r>
              <a:rPr lang="en-US" sz="1830" b="1" dirty="0">
                <a:solidFill>
                  <a:srgbClr val="FFFFFF"/>
                </a:solidFill>
                <a:latin typeface="Arial" pitchFamily="34" charset="0"/>
                <a:ea typeface="Arial" pitchFamily="34" charset="-122"/>
                <a:cs typeface="Arial" pitchFamily="34" charset="-120"/>
              </a:rPr>
              <a:t>Kể một chuyện bạn gặp hằng ngày trên đường, mà trong mô phỏng chắc chắn không có.</a:t>
            </a:r>
            <a:endParaRPr lang="en-US" sz="1830" dirty="0"/>
          </a:p>
          <a:p>
            <a:pPr indent="0" marL="0">
              <a:lnSpc>
                <a:spcPct val="120000"/>
              </a:lnSpc>
              <a:buNone/>
            </a:pPr>
            <a:r>
              <a:rPr lang="en-US" sz="1200" dirty="0">
                <a:solidFill>
                  <a:srgbClr val="AFC3D4"/>
                </a:solidFill>
                <a:latin typeface="微軟正黑體" pitchFamily="34" charset="0"/>
                <a:ea typeface="微軟正黑體" pitchFamily="34" charset="-122"/>
                <a:cs typeface="微軟正黑體" pitchFamily="34" charset="-120"/>
              </a:rPr>
              <a:t>講一件你每天在路上會遇到、但模擬裡一定不會出現的事。</a:t>
            </a:r>
            <a:endParaRPr lang="en-US" sz="1830" dirty="0"/>
          </a:p>
        </p:txBody>
      </p:sp>
      <p:sp>
        <p:nvSpPr>
          <p:cNvPr id="6" name="Shape 4"/>
          <p:cNvSpPr/>
          <p:nvPr/>
        </p:nvSpPr>
        <p:spPr>
          <a:xfrm>
            <a:off x="1326323" y="1499877"/>
            <a:ext cx="6491354" cy="495969"/>
          </a:xfrm>
          <a:prstGeom prst="roundRect">
            <a:avLst>
              <a:gd name="adj" fmla="val 11765"/>
            </a:avLst>
          </a:prstGeom>
          <a:solidFill>
            <a:srgbClr val="13314F"/>
          </a:solidFill>
          <a:ln/>
        </p:spPr>
      </p:sp>
      <p:sp>
        <p:nvSpPr>
          <p:cNvPr id="7" name="Shape 5"/>
          <p:cNvSpPr/>
          <p:nvPr/>
        </p:nvSpPr>
        <p:spPr>
          <a:xfrm>
            <a:off x="1457609" y="1616575"/>
            <a:ext cx="262572" cy="262572"/>
          </a:xfrm>
          <a:prstGeom prst="ellipse">
            <a:avLst/>
          </a:prstGeom>
          <a:solidFill>
            <a:srgbClr val="00A896"/>
          </a:solidFill>
          <a:ln/>
        </p:spPr>
      </p:sp>
      <p:sp>
        <p:nvSpPr>
          <p:cNvPr id="8" name="Text 6"/>
          <p:cNvSpPr txBox="1"/>
          <p:nvPr/>
        </p:nvSpPr>
        <p:spPr>
          <a:xfrm>
            <a:off x="1457609" y="1638456"/>
            <a:ext cx="262572" cy="218810"/>
          </a:xfrm>
          <a:prstGeom prst="rect">
            <a:avLst/>
          </a:prstGeom>
          <a:noFill/>
          <a:ln/>
        </p:spPr>
        <p:txBody>
          <a:bodyPr wrap="square" lIns="0" tIns="0" rIns="0" bIns="0" rtlCol="0" anchor="ctr"/>
          <a:lstStyle/>
          <a:p>
            <a:pPr algn="ctr" indent="0" marL="0">
              <a:buNone/>
            </a:pPr>
            <a:r>
              <a:rPr lang="en-US" sz="960" b="1" dirty="0">
                <a:solidFill>
                  <a:srgbClr val="FFFFFF"/>
                </a:solidFill>
                <a:latin typeface="Arial" pitchFamily="34" charset="0"/>
                <a:ea typeface="Arial" pitchFamily="34" charset="-122"/>
                <a:cs typeface="Arial" pitchFamily="34" charset="-120"/>
              </a:rPr>
              <a:t>1</a:t>
            </a:r>
            <a:endParaRPr lang="en-US" sz="960" dirty="0"/>
          </a:p>
        </p:txBody>
      </p:sp>
      <p:sp>
        <p:nvSpPr>
          <p:cNvPr id="9" name="Text 7"/>
          <p:cNvSpPr txBox="1"/>
          <p:nvPr/>
        </p:nvSpPr>
        <p:spPr>
          <a:xfrm>
            <a:off x="1851466" y="1536345"/>
            <a:ext cx="5820338" cy="437619"/>
          </a:xfrm>
          <a:prstGeom prst="rect">
            <a:avLst/>
          </a:prstGeom>
          <a:noFill/>
          <a:ln/>
        </p:spPr>
        <p:txBody>
          <a:bodyPr wrap="square" lIns="0" tIns="0" rIns="0" bIns="0" rtlCol="0" anchor="t"/>
          <a:lstStyle/>
          <a:p>
            <a:pPr indent="0" marL="0">
              <a:lnSpc>
                <a:spcPct val="114000"/>
              </a:lnSpc>
              <a:buNone/>
            </a:pPr>
            <a:r>
              <a:rPr lang="en-US" sz="1000" b="1" dirty="0">
                <a:solidFill>
                  <a:srgbClr val="FFFFFF"/>
                </a:solidFill>
                <a:latin typeface="Arial" pitchFamily="34" charset="0"/>
                <a:ea typeface="Arial" pitchFamily="34" charset="-122"/>
                <a:cs typeface="Arial" pitchFamily="34" charset="-120"/>
              </a:rPr>
              <a:t>Mỗi nhóm một chuyện. Nói cụ thể, đừng nói chung chung.</a:t>
            </a:r>
            <a:endParaRPr lang="en-US" sz="1000" dirty="0"/>
          </a:p>
          <a:p>
            <a:pPr indent="0" marL="0">
              <a:lnSpc>
                <a:spcPct val="114000"/>
              </a:lnSpc>
              <a:buNone/>
            </a:pPr>
            <a:r>
              <a:rPr lang="en-US" sz="920" dirty="0">
                <a:solidFill>
                  <a:srgbClr val="AFC3D4"/>
                </a:solidFill>
                <a:latin typeface="微軟正黑體" pitchFamily="34" charset="0"/>
                <a:ea typeface="微軟正黑體" pitchFamily="34" charset="-122"/>
                <a:cs typeface="微軟正黑體" pitchFamily="34" charset="-120"/>
              </a:rPr>
              <a:t>每組講一件。要講具體的，不要講「交通很亂」這種。</a:t>
            </a:r>
            <a:endParaRPr lang="en-US" sz="1000" dirty="0"/>
          </a:p>
        </p:txBody>
      </p:sp>
      <p:sp>
        <p:nvSpPr>
          <p:cNvPr id="10" name="Shape 8"/>
          <p:cNvSpPr/>
          <p:nvPr/>
        </p:nvSpPr>
        <p:spPr>
          <a:xfrm>
            <a:off x="1326323" y="2068782"/>
            <a:ext cx="6491354" cy="495969"/>
          </a:xfrm>
          <a:prstGeom prst="roundRect">
            <a:avLst>
              <a:gd name="adj" fmla="val 11765"/>
            </a:avLst>
          </a:prstGeom>
          <a:solidFill>
            <a:srgbClr val="13314F"/>
          </a:solidFill>
          <a:ln/>
        </p:spPr>
      </p:sp>
      <p:sp>
        <p:nvSpPr>
          <p:cNvPr id="11" name="Shape 9"/>
          <p:cNvSpPr/>
          <p:nvPr/>
        </p:nvSpPr>
        <p:spPr>
          <a:xfrm>
            <a:off x="1457609" y="2185481"/>
            <a:ext cx="262572" cy="262572"/>
          </a:xfrm>
          <a:prstGeom prst="ellipse">
            <a:avLst/>
          </a:prstGeom>
          <a:solidFill>
            <a:srgbClr val="00A896"/>
          </a:solidFill>
          <a:ln/>
        </p:spPr>
      </p:sp>
      <p:sp>
        <p:nvSpPr>
          <p:cNvPr id="12" name="Text 10"/>
          <p:cNvSpPr txBox="1"/>
          <p:nvPr/>
        </p:nvSpPr>
        <p:spPr>
          <a:xfrm>
            <a:off x="1457609" y="2207362"/>
            <a:ext cx="262572" cy="218810"/>
          </a:xfrm>
          <a:prstGeom prst="rect">
            <a:avLst/>
          </a:prstGeom>
          <a:noFill/>
          <a:ln/>
        </p:spPr>
        <p:txBody>
          <a:bodyPr wrap="square" lIns="0" tIns="0" rIns="0" bIns="0" rtlCol="0" anchor="ctr"/>
          <a:lstStyle/>
          <a:p>
            <a:pPr algn="ctr" indent="0" marL="0">
              <a:buNone/>
            </a:pPr>
            <a:r>
              <a:rPr lang="en-US" sz="960" b="1" dirty="0">
                <a:solidFill>
                  <a:srgbClr val="FFFFFF"/>
                </a:solidFill>
                <a:latin typeface="Arial" pitchFamily="34" charset="0"/>
                <a:ea typeface="Arial" pitchFamily="34" charset="-122"/>
                <a:cs typeface="Arial" pitchFamily="34" charset="-120"/>
              </a:rPr>
              <a:t>2</a:t>
            </a:r>
            <a:endParaRPr lang="en-US" sz="960" dirty="0"/>
          </a:p>
        </p:txBody>
      </p:sp>
      <p:sp>
        <p:nvSpPr>
          <p:cNvPr id="13" name="Text 11"/>
          <p:cNvSpPr txBox="1"/>
          <p:nvPr/>
        </p:nvSpPr>
        <p:spPr>
          <a:xfrm>
            <a:off x="1851466" y="2105250"/>
            <a:ext cx="5820338" cy="437619"/>
          </a:xfrm>
          <a:prstGeom prst="rect">
            <a:avLst/>
          </a:prstGeom>
          <a:noFill/>
          <a:ln/>
        </p:spPr>
        <p:txBody>
          <a:bodyPr wrap="square" lIns="0" tIns="0" rIns="0" bIns="0" rtlCol="0" anchor="t"/>
          <a:lstStyle/>
          <a:p>
            <a:pPr indent="0" marL="0">
              <a:lnSpc>
                <a:spcPct val="114000"/>
              </a:lnSpc>
              <a:buNone/>
            </a:pPr>
            <a:r>
              <a:rPr lang="en-US" sz="1000" b="1" dirty="0">
                <a:solidFill>
                  <a:srgbClr val="FFFFFF"/>
                </a:solidFill>
                <a:latin typeface="Arial" pitchFamily="34" charset="0"/>
                <a:ea typeface="Arial" pitchFamily="34" charset="-122"/>
                <a:cs typeface="Arial" pitchFamily="34" charset="-120"/>
              </a:rPr>
              <a:t>Thầy sẽ xếp vào ba cột trên bảng: hình ảnh · hành vi · vật lý</a:t>
            </a:r>
            <a:endParaRPr lang="en-US" sz="1000" dirty="0"/>
          </a:p>
          <a:p>
            <a:pPr indent="0" marL="0">
              <a:lnSpc>
                <a:spcPct val="114000"/>
              </a:lnSpc>
              <a:buNone/>
            </a:pPr>
            <a:r>
              <a:rPr lang="en-US" sz="920" dirty="0">
                <a:solidFill>
                  <a:srgbClr val="AFC3D4"/>
                </a:solidFill>
                <a:latin typeface="微軟正黑體" pitchFamily="34" charset="0"/>
                <a:ea typeface="微軟正黑體" pitchFamily="34" charset="-122"/>
                <a:cs typeface="微軟正黑體" pitchFamily="34" charset="-120"/>
              </a:rPr>
              <a:t>老師把它寫到白板的三欄裡：外觀・行為・物理</a:t>
            </a:r>
            <a:endParaRPr lang="en-US" sz="1000" dirty="0"/>
          </a:p>
        </p:txBody>
      </p:sp>
      <p:sp>
        <p:nvSpPr>
          <p:cNvPr id="14" name="Shape 12"/>
          <p:cNvSpPr/>
          <p:nvPr/>
        </p:nvSpPr>
        <p:spPr>
          <a:xfrm>
            <a:off x="1326323" y="2637687"/>
            <a:ext cx="6491354" cy="495969"/>
          </a:xfrm>
          <a:prstGeom prst="roundRect">
            <a:avLst>
              <a:gd name="adj" fmla="val 11765"/>
            </a:avLst>
          </a:prstGeom>
          <a:solidFill>
            <a:srgbClr val="13314F"/>
          </a:solidFill>
          <a:ln/>
        </p:spPr>
      </p:sp>
      <p:sp>
        <p:nvSpPr>
          <p:cNvPr id="15" name="Shape 13"/>
          <p:cNvSpPr/>
          <p:nvPr/>
        </p:nvSpPr>
        <p:spPr>
          <a:xfrm>
            <a:off x="1457609" y="2754386"/>
            <a:ext cx="262572" cy="262572"/>
          </a:xfrm>
          <a:prstGeom prst="ellipse">
            <a:avLst/>
          </a:prstGeom>
          <a:solidFill>
            <a:srgbClr val="00A896"/>
          </a:solidFill>
          <a:ln/>
        </p:spPr>
      </p:sp>
      <p:sp>
        <p:nvSpPr>
          <p:cNvPr id="16" name="Text 14"/>
          <p:cNvSpPr txBox="1"/>
          <p:nvPr/>
        </p:nvSpPr>
        <p:spPr>
          <a:xfrm>
            <a:off x="1457609" y="2776267"/>
            <a:ext cx="262572" cy="218810"/>
          </a:xfrm>
          <a:prstGeom prst="rect">
            <a:avLst/>
          </a:prstGeom>
          <a:noFill/>
          <a:ln/>
        </p:spPr>
        <p:txBody>
          <a:bodyPr wrap="square" lIns="0" tIns="0" rIns="0" bIns="0" rtlCol="0" anchor="ctr"/>
          <a:lstStyle/>
          <a:p>
            <a:pPr algn="ctr" indent="0" marL="0">
              <a:buNone/>
            </a:pPr>
            <a:r>
              <a:rPr lang="en-US" sz="960" b="1" dirty="0">
                <a:solidFill>
                  <a:srgbClr val="FFFFFF"/>
                </a:solidFill>
                <a:latin typeface="Arial" pitchFamily="34" charset="0"/>
                <a:ea typeface="Arial" pitchFamily="34" charset="-122"/>
                <a:cs typeface="Arial" pitchFamily="34" charset="-120"/>
              </a:rPr>
              <a:t>3</a:t>
            </a:r>
            <a:endParaRPr lang="en-US" sz="960" dirty="0"/>
          </a:p>
        </p:txBody>
      </p:sp>
      <p:sp>
        <p:nvSpPr>
          <p:cNvPr id="17" name="Text 15"/>
          <p:cNvSpPr txBox="1"/>
          <p:nvPr/>
        </p:nvSpPr>
        <p:spPr>
          <a:xfrm>
            <a:off x="1851466" y="2674156"/>
            <a:ext cx="5820338" cy="437619"/>
          </a:xfrm>
          <a:prstGeom prst="rect">
            <a:avLst/>
          </a:prstGeom>
          <a:noFill/>
          <a:ln/>
        </p:spPr>
        <p:txBody>
          <a:bodyPr wrap="square" lIns="0" tIns="0" rIns="0" bIns="0" rtlCol="0" anchor="t"/>
          <a:lstStyle/>
          <a:p>
            <a:pPr indent="0" marL="0">
              <a:lnSpc>
                <a:spcPct val="114000"/>
              </a:lnSpc>
              <a:buNone/>
            </a:pPr>
            <a:r>
              <a:rPr lang="en-US" sz="1000" b="1" dirty="0">
                <a:solidFill>
                  <a:srgbClr val="FFFFFF"/>
                </a:solidFill>
                <a:latin typeface="Arial" pitchFamily="34" charset="0"/>
                <a:ea typeface="Arial" pitchFamily="34" charset="-122"/>
                <a:cs typeface="Arial" pitchFamily="34" charset="-120"/>
              </a:rPr>
              <a:t>Cột nào sẽ đầy nhất? Đoán thử trước khi bắt đầu.</a:t>
            </a:r>
            <a:endParaRPr lang="en-US" sz="1000" dirty="0"/>
          </a:p>
          <a:p>
            <a:pPr indent="0" marL="0">
              <a:lnSpc>
                <a:spcPct val="114000"/>
              </a:lnSpc>
              <a:buNone/>
            </a:pPr>
            <a:r>
              <a:rPr lang="en-US" sz="920" dirty="0">
                <a:solidFill>
                  <a:srgbClr val="AFC3D4"/>
                </a:solidFill>
                <a:latin typeface="微軟正黑體" pitchFamily="34" charset="0"/>
                <a:ea typeface="微軟正黑體" pitchFamily="34" charset="-122"/>
                <a:cs typeface="微軟正黑體" pitchFamily="34" charset="-120"/>
              </a:rPr>
              <a:t>猜猜看哪一欄會最滿？先猜再開始。</a:t>
            </a:r>
            <a:endParaRPr lang="en-US" sz="1000" dirty="0"/>
          </a:p>
        </p:txBody>
      </p:sp>
      <p:sp>
        <p:nvSpPr>
          <p:cNvPr id="18" name="Text 16"/>
          <p:cNvSpPr txBox="1"/>
          <p:nvPr/>
        </p:nvSpPr>
        <p:spPr>
          <a:xfrm>
            <a:off x="1326323" y="3235767"/>
            <a:ext cx="6418418" cy="364683"/>
          </a:xfrm>
          <a:prstGeom prst="rect">
            <a:avLst/>
          </a:prstGeom>
          <a:noFill/>
          <a:ln/>
        </p:spPr>
        <p:txBody>
          <a:bodyPr wrap="square" lIns="0" tIns="0" rIns="0" bIns="0" rtlCol="0" anchor="t"/>
          <a:lstStyle/>
          <a:p>
            <a:pPr indent="0" marL="0">
              <a:lnSpc>
                <a:spcPct val="116000"/>
              </a:lnSpc>
              <a:buNone/>
            </a:pPr>
            <a:r>
              <a:rPr lang="en-US" sz="1000" b="1" dirty="0">
                <a:solidFill>
                  <a:srgbClr val="FFB020"/>
                </a:solidFill>
                <a:latin typeface="Arial" pitchFamily="34" charset="0"/>
                <a:ea typeface="Arial" pitchFamily="34" charset="-122"/>
                <a:cs typeface="Arial" pitchFamily="34" charset="-120"/>
              </a:rPr>
              <a:t>Giữ lại bảng này — làm đề tài cuối kỳ sẽ dùng đến.</a:t>
            </a:r>
            <a:endParaRPr lang="en-US" sz="1000" dirty="0"/>
          </a:p>
          <a:p>
            <a:pPr indent="0" marL="0">
              <a:lnSpc>
                <a:spcPct val="116000"/>
              </a:lnSpc>
              <a:buNone/>
            </a:pPr>
            <a:r>
              <a:rPr lang="en-US" sz="920" dirty="0">
                <a:solidFill>
                  <a:srgbClr val="FFB020"/>
                </a:solidFill>
                <a:latin typeface="微軟正黑體" pitchFamily="34" charset="0"/>
                <a:ea typeface="微軟正黑體" pitchFamily="34" charset="-122"/>
                <a:cs typeface="微軟正黑體" pitchFamily="34" charset="-120"/>
              </a:rPr>
              <a:t>這張白板留著，期末專題選題會用到。</a:t>
            </a:r>
            <a:endParaRPr lang="en-US" sz="1000" dirty="0"/>
          </a:p>
        </p:txBody>
      </p:sp>
      <p:sp>
        <p:nvSpPr>
          <p:cNvPr id="20" name="Text 17"/>
          <p:cNvSpPr txBox="1"/>
          <p:nvPr/>
        </p:nvSpPr>
        <p:spPr>
          <a:xfrm>
            <a:off x="1012696" y="102111"/>
            <a:ext cx="656429" cy="204222"/>
          </a:xfrm>
          <a:prstGeom prst="rect">
            <a:avLst/>
          </a:prstGeom>
          <a:noFill/>
          <a:ln/>
        </p:spPr>
        <p:txBody>
          <a:bodyPr wrap="square" lIns="0" tIns="0" rIns="0" bIns="0" rtlCol="0" anchor="ctr"/>
          <a:lstStyle/>
          <a:p>
            <a:pPr indent="0" marL="0">
              <a:buNone/>
            </a:pPr>
            <a:r>
              <a:rPr lang="en-US" sz="720" dirty="0">
                <a:solidFill>
                  <a:srgbClr val="9FB3C8"/>
                </a:solidFill>
                <a:latin typeface="Arial" pitchFamily="34" charset="0"/>
                <a:ea typeface="Arial" pitchFamily="34" charset="-122"/>
                <a:cs typeface="Arial" pitchFamily="34" charset="-120"/>
              </a:rPr>
              <a:t>17 / 18</a:t>
            </a:r>
            <a:endParaRPr lang="en-US" sz="720" dirty="0"/>
          </a:p>
        </p:txBody>
      </p:sp>
      <p:sp>
        <p:nvSpPr>
          <p:cNvPr id="21" name="Text 18"/>
          <p:cNvSpPr txBox="1"/>
          <p:nvPr/>
        </p:nvSpPr>
        <p:spPr>
          <a:xfrm>
            <a:off x="1691006" y="102111"/>
            <a:ext cx="1604604" cy="204222"/>
          </a:xfrm>
          <a:prstGeom prst="rect">
            <a:avLst/>
          </a:prstGeom>
          <a:noFill/>
          <a:ln/>
        </p:spPr>
        <p:txBody>
          <a:bodyPr wrap="square" lIns="0" tIns="0" rIns="0" bIns="0" rtlCol="0" anchor="ctr"/>
          <a:lstStyle/>
          <a:p>
            <a:pPr indent="0" marL="0">
              <a:buNone/>
            </a:pPr>
            <a:r>
              <a:rPr lang="en-US" sz="720" dirty="0">
                <a:solidFill>
                  <a:srgbClr val="9FB3C8"/>
                </a:solidFill>
                <a:latin typeface="Arial" pitchFamily="34" charset="0"/>
                <a:ea typeface="Arial" pitchFamily="34" charset="-122"/>
                <a:cs typeface="Arial" pitchFamily="34" charset="-120"/>
              </a:rPr>
              <a:t>Tiết 1 · 第 1 節</a:t>
            </a:r>
            <a:endParaRPr lang="en-US" sz="7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B1F3A"/>
        </a:solidFill>
      </p:bgPr>
    </p:bg>
    <p:spTree>
      <p:nvGrpSpPr>
        <p:cNvPr id="1" name=""/>
        <p:cNvGrpSpPr/>
        <p:nvPr/>
      </p:nvGrpSpPr>
      <p:grpSpPr>
        <a:xfrm>
          <a:off x="898071" y="0"/>
          <a:ext cx="1" cy="1"/>
          <a:chOff x="0" y="0"/>
          <a:chExt cx="0" cy="0"/>
        </a:xfrm>
      </p:grpSpPr>
      <p:sp>
        <p:nvSpPr>
          <p:cNvPr id="2" name="Shape 0"/>
          <p:cNvSpPr/>
          <p:nvPr/>
        </p:nvSpPr>
        <p:spPr>
          <a:xfrm>
            <a:off x="6335486" y="-1102179"/>
            <a:ext cx="3380014" cy="3380014"/>
          </a:xfrm>
          <a:prstGeom prst="ellipse">
            <a:avLst/>
          </a:prstGeom>
          <a:solidFill>
            <a:srgbClr val="13314F"/>
          </a:solidFill>
          <a:ln w="12700">
            <a:solidFill>
              <a:srgbClr val="13314F"/>
            </a:solidFill>
            <a:prstDash val="solid"/>
          </a:ln>
        </p:spPr>
      </p:sp>
      <p:sp>
        <p:nvSpPr>
          <p:cNvPr id="3" name="Shape 1"/>
          <p:cNvSpPr/>
          <p:nvPr/>
        </p:nvSpPr>
        <p:spPr>
          <a:xfrm>
            <a:off x="7437664" y="1690007"/>
            <a:ext cx="1910443" cy="1910443"/>
          </a:xfrm>
          <a:prstGeom prst="ellipse">
            <a:avLst/>
          </a:prstGeom>
          <a:solidFill>
            <a:srgbClr val="007F72">
              <a:alpha val="28000"/>
            </a:srgbClr>
          </a:solidFill>
          <a:ln/>
        </p:spPr>
      </p:sp>
      <p:sp>
        <p:nvSpPr>
          <p:cNvPr id="4" name="Text 2"/>
          <p:cNvSpPr txBox="1"/>
          <p:nvPr/>
        </p:nvSpPr>
        <p:spPr>
          <a:xfrm>
            <a:off x="1302204" y="382089"/>
            <a:ext cx="5437414" cy="220436"/>
          </a:xfrm>
          <a:prstGeom prst="rect">
            <a:avLst/>
          </a:prstGeom>
          <a:noFill/>
          <a:ln/>
        </p:spPr>
        <p:txBody>
          <a:bodyPr wrap="square" lIns="0" tIns="0" rIns="0" bIns="0" rtlCol="0" anchor="ctr"/>
          <a:lstStyle/>
          <a:p>
            <a:pPr indent="0" marL="0">
              <a:buNone/>
            </a:pPr>
            <a:r>
              <a:rPr lang="en-US" sz="1000" b="1" dirty="0">
                <a:solidFill>
                  <a:srgbClr val="FFB020"/>
                </a:solidFill>
                <a:latin typeface="Arial" pitchFamily="34" charset="0"/>
                <a:ea typeface="Arial" pitchFamily="34" charset="-122"/>
                <a:cs typeface="Arial" pitchFamily="34" charset="-120"/>
              </a:rPr>
              <a:t>Tiết 1 · 第一節小結</a:t>
            </a:r>
            <a:endParaRPr lang="en-US" sz="1000" dirty="0"/>
          </a:p>
        </p:txBody>
      </p:sp>
      <p:sp>
        <p:nvSpPr>
          <p:cNvPr id="5" name="Text 3"/>
          <p:cNvSpPr txBox="1"/>
          <p:nvPr/>
        </p:nvSpPr>
        <p:spPr>
          <a:xfrm>
            <a:off x="1302204" y="661307"/>
            <a:ext cx="6466114" cy="852351"/>
          </a:xfrm>
          <a:prstGeom prst="rect">
            <a:avLst/>
          </a:prstGeom>
          <a:noFill/>
          <a:ln/>
        </p:spPr>
        <p:txBody>
          <a:bodyPr wrap="square" lIns="0" tIns="0" rIns="0" bIns="0" rtlCol="0" anchor="t"/>
          <a:lstStyle/>
          <a:p>
            <a:pPr indent="0" marL="0">
              <a:lnSpc>
                <a:spcPct val="120000"/>
              </a:lnSpc>
              <a:buNone/>
            </a:pPr>
            <a:r>
              <a:rPr lang="en-US" sz="2010" b="1" dirty="0">
                <a:solidFill>
                  <a:srgbClr val="FFFFFF"/>
                </a:solidFill>
                <a:latin typeface="Arial" pitchFamily="34" charset="0"/>
                <a:ea typeface="Arial" pitchFamily="34" charset="-122"/>
                <a:cs typeface="Arial" pitchFamily="34" charset="-120"/>
              </a:rPr>
              <a:t>Mang ba câu này sang tiết 2</a:t>
            </a:r>
            <a:endParaRPr lang="en-US" sz="2010" dirty="0"/>
          </a:p>
          <a:p>
            <a:pPr indent="0" marL="0">
              <a:lnSpc>
                <a:spcPct val="120000"/>
              </a:lnSpc>
              <a:buNone/>
            </a:pPr>
            <a:r>
              <a:rPr lang="en-US" sz="1210" dirty="0">
                <a:solidFill>
                  <a:srgbClr val="AFC3D4"/>
                </a:solidFill>
                <a:latin typeface="微軟正黑體" pitchFamily="34" charset="0"/>
                <a:ea typeface="微軟正黑體" pitchFamily="34" charset="-122"/>
                <a:cs typeface="微軟正黑體" pitchFamily="34" charset="-120"/>
              </a:rPr>
              <a:t>帶三句話進第二節</a:t>
            </a:r>
            <a:endParaRPr lang="en-US" sz="2010" dirty="0"/>
          </a:p>
        </p:txBody>
      </p:sp>
      <p:sp>
        <p:nvSpPr>
          <p:cNvPr id="6" name="Shape 4"/>
          <p:cNvSpPr/>
          <p:nvPr/>
        </p:nvSpPr>
        <p:spPr>
          <a:xfrm>
            <a:off x="1302204" y="1587137"/>
            <a:ext cx="36739" cy="540573"/>
          </a:xfrm>
          <a:prstGeom prst="rect">
            <a:avLst/>
          </a:prstGeom>
          <a:solidFill>
            <a:srgbClr val="00A896"/>
          </a:solidFill>
          <a:ln/>
        </p:spPr>
      </p:sp>
      <p:sp>
        <p:nvSpPr>
          <p:cNvPr id="7" name="Text 5"/>
          <p:cNvSpPr txBox="1"/>
          <p:nvPr/>
        </p:nvSpPr>
        <p:spPr>
          <a:xfrm>
            <a:off x="1478552" y="1557746"/>
            <a:ext cx="6319157" cy="628747"/>
          </a:xfrm>
          <a:prstGeom prst="rect">
            <a:avLst/>
          </a:prstGeom>
          <a:noFill/>
          <a:ln/>
        </p:spPr>
        <p:txBody>
          <a:bodyPr wrap="square" lIns="0" tIns="0" rIns="0" bIns="0" rtlCol="0" anchor="t"/>
          <a:lstStyle/>
          <a:p>
            <a:pPr indent="0" marL="0">
              <a:lnSpc>
                <a:spcPct val="118000"/>
              </a:lnSpc>
              <a:buNone/>
            </a:pPr>
            <a:r>
              <a:rPr lang="en-US" sz="1080" b="1" dirty="0">
                <a:solidFill>
                  <a:srgbClr val="FFFFFF"/>
                </a:solidFill>
                <a:latin typeface="Arial" pitchFamily="34" charset="0"/>
                <a:ea typeface="Arial" pitchFamily="34" charset="-122"/>
                <a:cs typeface="Arial" pitchFamily="34" charset="-120"/>
              </a:rPr>
              <a:t>Ba thanh trượt = ba thông số: số tia là độ phân giải, chiều dài là tầm đo, góc quét là góc nhìn.</a:t>
            </a:r>
            <a:endParaRPr lang="en-US" sz="1080" dirty="0"/>
          </a:p>
          <a:p>
            <a:pPr indent="0" marL="0">
              <a:lnSpc>
                <a:spcPct val="118000"/>
              </a:lnSpc>
              <a:buNone/>
            </a:pPr>
            <a:r>
              <a:rPr lang="en-US" sz="960" dirty="0">
                <a:solidFill>
                  <a:srgbClr val="AFC3D4"/>
                </a:solidFill>
                <a:latin typeface="微軟正黑體" pitchFamily="34" charset="0"/>
                <a:ea typeface="微軟正黑體" pitchFamily="34" charset="-122"/>
                <a:cs typeface="微軟正黑體" pitchFamily="34" charset="-120"/>
              </a:rPr>
              <a:t>三個滑桿就是三個規格：射線數是解析度、長度是測距、張角是視野。</a:t>
            </a:r>
            <a:endParaRPr lang="en-US" sz="1080" dirty="0"/>
          </a:p>
        </p:txBody>
      </p:sp>
      <p:sp>
        <p:nvSpPr>
          <p:cNvPr id="8" name="Shape 6"/>
          <p:cNvSpPr/>
          <p:nvPr/>
        </p:nvSpPr>
        <p:spPr>
          <a:xfrm>
            <a:off x="1302204" y="2289363"/>
            <a:ext cx="36739" cy="540573"/>
          </a:xfrm>
          <a:prstGeom prst="rect">
            <a:avLst/>
          </a:prstGeom>
          <a:solidFill>
            <a:srgbClr val="FFB020"/>
          </a:solidFill>
          <a:ln/>
        </p:spPr>
      </p:sp>
      <p:sp>
        <p:nvSpPr>
          <p:cNvPr id="9" name="Text 7"/>
          <p:cNvSpPr txBox="1"/>
          <p:nvPr/>
        </p:nvSpPr>
        <p:spPr>
          <a:xfrm>
            <a:off x="1478552" y="2259972"/>
            <a:ext cx="6319157" cy="628747"/>
          </a:xfrm>
          <a:prstGeom prst="rect">
            <a:avLst/>
          </a:prstGeom>
          <a:noFill/>
          <a:ln/>
        </p:spPr>
        <p:txBody>
          <a:bodyPr wrap="square" lIns="0" tIns="0" rIns="0" bIns="0" rtlCol="0" anchor="t"/>
          <a:lstStyle/>
          <a:p>
            <a:pPr indent="0" marL="0">
              <a:lnSpc>
                <a:spcPct val="118000"/>
              </a:lnSpc>
              <a:buNone/>
            </a:pPr>
            <a:r>
              <a:rPr lang="en-US" sz="1080" b="1" dirty="0">
                <a:solidFill>
                  <a:srgbClr val="FFFFFF"/>
                </a:solidFill>
                <a:latin typeface="Arial" pitchFamily="34" charset="0"/>
                <a:ea typeface="Arial" pitchFamily="34" charset="-122"/>
                <a:cs typeface="Arial" pitchFamily="34" charset="-120"/>
              </a:rPr>
              <a:t>Quãng đường phanh quyết định tia phải dài bao nhiêu — 50 km/h thì ít nhất 25 m. Đây là giới hạn cứng.</a:t>
            </a:r>
            <a:endParaRPr lang="en-US" sz="1080" dirty="0"/>
          </a:p>
          <a:p>
            <a:pPr indent="0" marL="0">
              <a:lnSpc>
                <a:spcPct val="118000"/>
              </a:lnSpc>
              <a:buNone/>
            </a:pPr>
            <a:r>
              <a:rPr lang="en-US" sz="960" dirty="0">
                <a:solidFill>
                  <a:srgbClr val="AFC3D4"/>
                </a:solidFill>
                <a:latin typeface="微軟正黑體" pitchFamily="34" charset="0"/>
                <a:ea typeface="微軟正黑體" pitchFamily="34" charset="-122"/>
                <a:cs typeface="微軟正黑體" pitchFamily="34" charset="-120"/>
              </a:rPr>
              <a:t>煞停距離決定射線至少要多長——時速 50 至少 25 公尺。這是硬下限。</a:t>
            </a:r>
            <a:endParaRPr lang="en-US" sz="1080" dirty="0"/>
          </a:p>
        </p:txBody>
      </p:sp>
      <p:sp>
        <p:nvSpPr>
          <p:cNvPr id="10" name="Shape 8"/>
          <p:cNvSpPr/>
          <p:nvPr/>
        </p:nvSpPr>
        <p:spPr>
          <a:xfrm>
            <a:off x="1302204" y="2991589"/>
            <a:ext cx="36739" cy="540573"/>
          </a:xfrm>
          <a:prstGeom prst="rect">
            <a:avLst/>
          </a:prstGeom>
          <a:solidFill>
            <a:srgbClr val="00A896"/>
          </a:solidFill>
          <a:ln/>
        </p:spPr>
      </p:sp>
      <p:sp>
        <p:nvSpPr>
          <p:cNvPr id="11" name="Text 9"/>
          <p:cNvSpPr txBox="1"/>
          <p:nvPr/>
        </p:nvSpPr>
        <p:spPr>
          <a:xfrm>
            <a:off x="1478552" y="2962197"/>
            <a:ext cx="6319157" cy="628747"/>
          </a:xfrm>
          <a:prstGeom prst="rect">
            <a:avLst/>
          </a:prstGeom>
          <a:noFill/>
          <a:ln/>
        </p:spPr>
        <p:txBody>
          <a:bodyPr wrap="square" lIns="0" tIns="0" rIns="0" bIns="0" rtlCol="0" anchor="t"/>
          <a:lstStyle/>
          <a:p>
            <a:pPr indent="0" marL="0">
              <a:lnSpc>
                <a:spcPct val="118000"/>
              </a:lnSpc>
              <a:buNone/>
            </a:pPr>
            <a:r>
              <a:rPr lang="en-US" sz="1080" b="1" dirty="0">
                <a:solidFill>
                  <a:srgbClr val="FFFFFF"/>
                </a:solidFill>
                <a:latin typeface="Arial" pitchFamily="34" charset="0"/>
                <a:ea typeface="Arial" pitchFamily="34" charset="-122"/>
                <a:cs typeface="Arial" pitchFamily="34" charset="-120"/>
              </a:rPr>
              <a:t>Ba khoảng cách mô phỏng–hiện thực: hình ảnh, hành vi, vật lý. Ở Đài Loan và Việt Nam đều lớn hơn.</a:t>
            </a:r>
            <a:endParaRPr lang="en-US" sz="1080" dirty="0"/>
          </a:p>
          <a:p>
            <a:pPr indent="0" marL="0">
              <a:lnSpc>
                <a:spcPct val="118000"/>
              </a:lnSpc>
              <a:buNone/>
            </a:pPr>
            <a:r>
              <a:rPr lang="en-US" sz="960" dirty="0">
                <a:solidFill>
                  <a:srgbClr val="AFC3D4"/>
                </a:solidFill>
                <a:latin typeface="微軟正黑體" pitchFamily="34" charset="0"/>
                <a:ea typeface="微軟正黑體" pitchFamily="34" charset="-122"/>
                <a:cs typeface="微軟正黑體" pitchFamily="34" charset="-120"/>
              </a:rPr>
              <a:t>模擬與現實的三種落差：外觀、行為、物理。在台灣和越南都更大。</a:t>
            </a:r>
            <a:endParaRPr lang="en-US" sz="1080" dirty="0"/>
          </a:p>
        </p:txBody>
      </p:sp>
      <p:sp>
        <p:nvSpPr>
          <p:cNvPr id="13" name="Text 10"/>
          <p:cNvSpPr txBox="1"/>
          <p:nvPr/>
        </p:nvSpPr>
        <p:spPr>
          <a:xfrm>
            <a:off x="986246" y="102870"/>
            <a:ext cx="661307" cy="205740"/>
          </a:xfrm>
          <a:prstGeom prst="rect">
            <a:avLst/>
          </a:prstGeom>
          <a:noFill/>
          <a:ln/>
        </p:spPr>
        <p:txBody>
          <a:bodyPr wrap="square" lIns="0" tIns="0" rIns="0" bIns="0" rtlCol="0" anchor="ctr"/>
          <a:lstStyle/>
          <a:p>
            <a:pPr indent="0" marL="0">
              <a:buNone/>
            </a:pPr>
            <a:r>
              <a:rPr lang="en-US" sz="720" dirty="0">
                <a:solidFill>
                  <a:srgbClr val="9FB3C8"/>
                </a:solidFill>
                <a:latin typeface="Arial" pitchFamily="34" charset="0"/>
                <a:ea typeface="Arial" pitchFamily="34" charset="-122"/>
                <a:cs typeface="Arial" pitchFamily="34" charset="-120"/>
              </a:rPr>
              <a:t>18 / 18</a:t>
            </a:r>
            <a:endParaRPr lang="en-US" sz="720" dirty="0"/>
          </a:p>
        </p:txBody>
      </p:sp>
      <p:sp>
        <p:nvSpPr>
          <p:cNvPr id="14" name="Text 11"/>
          <p:cNvSpPr txBox="1"/>
          <p:nvPr/>
        </p:nvSpPr>
        <p:spPr>
          <a:xfrm>
            <a:off x="1669596" y="102870"/>
            <a:ext cx="1616529" cy="205740"/>
          </a:xfrm>
          <a:prstGeom prst="rect">
            <a:avLst/>
          </a:prstGeom>
          <a:noFill/>
          <a:ln/>
        </p:spPr>
        <p:txBody>
          <a:bodyPr wrap="square" lIns="0" tIns="0" rIns="0" bIns="0" rtlCol="0" anchor="ctr"/>
          <a:lstStyle/>
          <a:p>
            <a:pPr indent="0" marL="0">
              <a:buNone/>
            </a:pPr>
            <a:r>
              <a:rPr lang="en-US" sz="720" dirty="0">
                <a:solidFill>
                  <a:srgbClr val="9FB3C8"/>
                </a:solidFill>
                <a:latin typeface="Arial" pitchFamily="34" charset="0"/>
                <a:ea typeface="Arial" pitchFamily="34" charset="-122"/>
                <a:cs typeface="Arial" pitchFamily="34" charset="-120"/>
              </a:rPr>
              <a:t>Tiết 1 · 第 1 節</a:t>
            </a:r>
            <a:endParaRPr lang="en-US" sz="7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Notes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自動駕駛原理</dc:creator>
  <cp:lastModifiedBy>自動駕駛原理</cp:lastModifiedBy>
  <cp:revision>1</cp:revision>
  <dcterms:created xsi:type="dcterms:W3CDTF">2026-09-24T08:43:44Z</dcterms:created>
  <dcterms:modified xsi:type="dcterms:W3CDTF">2026-09-24T08:43:44Z</dcterms:modified>
</cp:coreProperties>
</file>