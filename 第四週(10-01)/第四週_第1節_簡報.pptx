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（開場先花兩分鐘讓全班打開，不要等到第三節才手忙腳亂。）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（確認全班都打開了再往下。沒帶筆電的同學，請跟隔壁併桌。）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（預期答案：機車會從兩條射線中間鑽過去，車子看不到。）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（如果上週有同學缺席：請他等一下上機時把射線數拉到 3，跑一次河內尖峰，就知道了。）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（等學生回答。上週第三週剛講過這題。）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（預期答案：裝好幾顆，分工。）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（除以十二這件事，每一屆都會有人問，所以下面把它拆開講。老師可以先問全班：為什麼是除以十二，不是除以六？）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（分兩步講，兩步都在白板上寫出來。）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（如果學生問為什麼是平方，可以補一句：速度變兩倍的時候，煞的時間變兩倍、平均速度也變兩倍，兩個都變兩倍，所以距離變四倍。）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反應：十三點九乘零點三，四點二公尺。
</a:t>
            </a:r>
          </a:p>
          <a:p>
            <a:pPr algn="l">
              <a:lnSpc>
                <a:spcPct val="115000"/>
              </a:lnSpc>
              <a:spcAft>
                <a:spcPts val="500"/>
              </a:spcAft>
            </a:pPr>
            <a:r>
              <a:rPr sz="1000" lang="zh-TW" dirty="0">
                <a:solidFill>
                  <a:srgbClr val="000000"/>
                </a:solidFill>
                <a:latin typeface="Arial Unicode MS"/>
                <a:ea typeface="Arial Unicode MS"/>
                <a:cs typeface="Arial Unicode MS"/>
              </a:rPr>
              <a:t>煞車：十三點九平方除以十二，十六點一公尺。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（請在白板上把這三行寫出來，讓同學跟著按一次計算機。）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（播放前先設定：英文旁白，請點播放器齒輪 → 字幕 → 自動翻譯 → 越南文。播到 2:30 就停，後面是英國考試的內容，我們用不到。需要網路；沒網路就跳過這一頁，直接講下面的三個問題。）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（影片內容，方便中途暫停：
</a:t>
            </a:r>
          </a:p>
          <a:p>
            <a:pPr algn="l">
              <a:lnSpc>
                <a:spcPct val="115000"/>
              </a:lnSpc>
              <a:spcAft>
                <a:spcPts val="500"/>
              </a:spcAft>
            </a:pPr>
            <a:r>
              <a:rPr sz="1000" lang="zh-TW" dirty="0">
                <a:solidFill>
                  <a:srgbClr val="000000"/>
                </a:solidFill>
                <a:latin typeface="Arial Unicode MS"/>
                <a:ea typeface="Arial Unicode MS"/>
                <a:cs typeface="Arial Unicode MS"/>
              </a:rPr>
              <a:t>0:00 開場，問為什麼車子開快就比較難停、下雨也比較難停。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0:20 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0:30 第一段，反應距離：反應時間乘上速度。影響因素是疲勞、喝酒、滑手機、大聲的音樂——這些都讓人反應變慢。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1:05 關鍵一句：</a:t>
            </a:r>
            <a:r>
              <a:rPr sz="1000" b="1" lang="zh-TW" dirty="0">
                <a:solidFill>
                  <a:srgbClr val="000000"/>
                </a:solidFill>
                <a:latin typeface="Arial Unicode MS"/>
                <a:ea typeface="Arial Unicode MS"/>
                <a:cs typeface="Arial Unicode MS"/>
              </a:rPr>
              <a:t>速度不會改變你的反應時間，但是同樣的時間你會跑得更遠。</a:t>
            </a:r>
            <a:r>
              <a:rPr sz="1000" lang="zh-TW" dirty="0">
                <a:solidFill>
                  <a:srgbClr val="000000"/>
                </a:solidFill>
                <a:latin typeface="Arial Unicode MS"/>
                <a:ea typeface="Arial Unicode MS"/>
                <a:cs typeface="Arial Unicode MS"/>
              </a:rPr>
              <a:t>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1:20 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1:50 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2:10 之後是考題練習，可以停了。）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（預期答案：反應距離、煞車距離。跟我們剛剛算的一樣。）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（預期答案：煞車距離。反應距離只是速度乘一個固定的時間，速度變兩倍它就變兩倍；煞車距離是速度變兩倍就變四倍。）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（讓學生想一下。預期答案：需要看得更遠，因為停下來要更長的距離。）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a:p>
            <a:pPr algn="l">
              <a:lnSpc>
                <a:spcPct val="115000"/>
              </a:lnSpc>
              <a:spcAft>
                <a:spcPts val="500"/>
              </a:spcAft>
            </a:pPr>
            <a:r>
              <a:rPr sz="1000" lang="zh-TW" dirty="0">
                <a:solidFill>
                  <a:srgbClr val="000000"/>
                </a:solidFill>
                <a:latin typeface="Arial Unicode MS"/>
                <a:ea typeface="Arial Unicode MS"/>
                <a:cs typeface="Arial Unicode MS"/>
              </a:rPr>
              <a:t>（如果時間緊，這一頁可以直接跳過，三個問題留到第三節打開雨天的時候再問。）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（讓同學自己挑一個速度算一次，對答案。）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（讓他們猜。答案是雷達，還有高階的長距光達。但這是第三章的內容，今天先不展開——留一個鉤子就好。）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（播 2 分鐘左右。沒有網路就跳過，用截圖講。）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天氣、一天中的時間、車流密度，全部都是參數</a:t>
            </a:r>
            <a:r>
              <a:rPr sz="1000" lang="zh-TW" dirty="0">
                <a:solidFill>
                  <a:srgbClr val="000000"/>
                </a:solidFill>
                <a:latin typeface="Arial Unicode MS"/>
                <a:ea typeface="Arial Unicode MS"/>
                <a:cs typeface="Arial Unicode MS"/>
              </a:rPr>
              <a:t>。跟我們的滑桿是同一個概念，只是它的滑桿多得多。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第二，畫面角落那些小視窗，是它模擬出來的</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。也就是說，它連感測器看到什麼都一起模擬了。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（預期答案：都是參數、都是規則、都不是真的。）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第二種：</a:t>
            </a:r>
            <a:r>
              <a:rPr sz="1100" b="1" lang="zh-TW" dirty="0">
                <a:solidFill>
                  <a:srgbClr val="000000"/>
                </a:solidFill>
                <a:latin typeface="Arial Unicode MS"/>
                <a:ea typeface="Arial Unicode MS"/>
                <a:cs typeface="Arial Unicode MS"/>
              </a:rPr>
              <a:t>行為落差</a:t>
            </a:r>
            <a:r>
              <a:rPr sz="1100" lang="zh-TW" dirty="0">
                <a:solidFill>
                  <a:srgbClr val="000000"/>
                </a:solidFill>
                <a:latin typeface="Arial Unicode MS"/>
                <a:ea typeface="Arial Unicode MS"/>
                <a:cs typeface="Arial Unicode MS"/>
              </a:rPr>
              <a:t>。這一種對各位來說最有感覺。
</a:t>
            </a:r>
          </a:p>
          <a:p>
            <a:pPr algn="l">
              <a:lnSpc>
                <a:spcPct val="115000"/>
              </a:lnSpc>
              <a:spcAft>
                <a:spcPts val="550"/>
              </a:spcAft>
            </a:pPr>
            <a:r>
              <a:rPr sz="110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50"/>
              </a:spcAft>
            </a:pPr>
            <a:r>
              <a:rPr sz="1100" lang="zh-TW" dirty="0">
                <a:solidFill>
                  <a:srgbClr val="000000"/>
                </a:solidFill>
                <a:latin typeface="Arial Unicode MS"/>
                <a:ea typeface="Arial Unicode MS"/>
                <a:cs typeface="Arial Unicode MS"/>
              </a:rPr>
              <a:t>（問全班）真實世界的機車是這樣嗎？
</a:t>
            </a:r>
          </a:p>
          <a:p>
            <a:pPr algn="l">
              <a:lnSpc>
                <a:spcPct val="115000"/>
              </a:lnSpc>
              <a:spcAft>
                <a:spcPts val="550"/>
              </a:spcAft>
            </a:pPr>
            <a:r>
              <a:rPr sz="1100" lang="zh-TW" dirty="0">
                <a:solidFill>
                  <a:srgbClr val="000000"/>
                </a:solidFill>
                <a:latin typeface="Arial Unicode MS"/>
                <a:ea typeface="Arial Unicode MS"/>
                <a:cs typeface="Arial Unicode MS"/>
              </a:rPr>
              <a:t>（讓他們笑。這裡就是要他們笑。）
</a:t>
            </a:r>
          </a:p>
          <a:p>
            <a:pPr algn="l">
              <a:lnSpc>
                <a:spcPct val="115000"/>
              </a:lnSpc>
              <a:spcAft>
                <a:spcPts val="550"/>
              </a:spcAft>
            </a:pPr>
            <a:r>
              <a:rPr sz="110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50"/>
              </a:spcAft>
            </a:pPr>
            <a:r>
              <a:rPr sz="1100" lang="zh-TW" dirty="0">
                <a:solidFill>
                  <a:srgbClr val="000000"/>
                </a:solidFill>
                <a:latin typeface="Arial Unicode MS"/>
                <a:ea typeface="Arial Unicode MS"/>
                <a:cs typeface="Arial Unicode MS"/>
              </a:rPr>
              <a:t>所以會發生一件很諷刺的事：</a:t>
            </a:r>
            <a:r>
              <a:rPr sz="1100" b="1" lang="zh-TW" dirty="0">
                <a:solidFill>
                  <a:srgbClr val="000000"/>
                </a:solidFill>
                <a:latin typeface="Arial Unicode MS"/>
                <a:ea typeface="Arial Unicode MS"/>
                <a:cs typeface="Arial Unicode MS"/>
              </a:rPr>
              <a:t>一台在模擬裡表現完美的自駕車，丟到真的河內街頭，可能完全動不了</a:t>
            </a:r>
            <a:r>
              <a:rPr sz="1100" lang="zh-TW" dirty="0">
                <a:solidFill>
                  <a:srgbClr val="000000"/>
                </a:solidFill>
                <a:latin typeface="Arial Unicode MS"/>
                <a:ea typeface="Arial Unicode MS"/>
                <a:cs typeface="Arial Unicode MS"/>
              </a:rPr>
              <a:t>——因為它學到的規則，在那裡不適用。
</a:t>
            </a:r>
          </a:p>
          <a:p>
            <a:pPr algn="l">
              <a:lnSpc>
                <a:spcPct val="115000"/>
              </a:lnSpc>
              <a:spcAft>
                <a:spcPts val="550"/>
              </a:spcAft>
            </a:pPr>
            <a:r>
              <a:rPr sz="1100" lang="zh-TW" dirty="0">
                <a:solidFill>
                  <a:srgbClr val="000000"/>
                </a:solidFill>
                <a:latin typeface="Arial Unicode MS"/>
                <a:ea typeface="Arial Unicode MS"/>
                <a:cs typeface="Arial Unicode MS"/>
              </a:rPr>
              <a:t>解法是什麼？把</a:t>
            </a:r>
            <a:r>
              <a:rPr sz="1100" b="1" lang="zh-TW" dirty="0">
                <a:solidFill>
                  <a:srgbClr val="000000"/>
                </a:solidFill>
                <a:latin typeface="Arial Unicode MS"/>
                <a:ea typeface="Arial Unicode MS"/>
                <a:cs typeface="Arial Unicode MS"/>
              </a:rPr>
              <a:t>真實道路上錄到的軌跡回放進模擬</a:t>
            </a:r>
            <a:r>
              <a:rPr sz="110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50"/>
              </a:spcAft>
            </a:pPr>
            <a:r>
              <a:rPr sz="1100" lang="zh-TW" dirty="0">
                <a:solidFill>
                  <a:srgbClr val="000000"/>
                </a:solidFill>
                <a:latin typeface="Arial Unicode MS"/>
                <a:ea typeface="Arial Unicode MS"/>
                <a:cs typeface="Arial Unicode MS"/>
              </a:rPr>
              <a:t>但這裡有個問題留給各位想：</a:t>
            </a:r>
            <a:r>
              <a:rPr sz="1100" b="1" lang="zh-TW" dirty="0">
                <a:solidFill>
                  <a:srgbClr val="000000"/>
                </a:solidFill>
                <a:latin typeface="Arial Unicode MS"/>
                <a:ea typeface="Arial Unicode MS"/>
                <a:cs typeface="Arial Unicode MS"/>
              </a:rPr>
              <a:t>要回放河內的軌跡，你得先有河內的軌跡。</a:t>
            </a:r>
            <a:r>
              <a:rPr sz="1100" lang="zh-TW" dirty="0">
                <a:solidFill>
                  <a:srgbClr val="000000"/>
                </a:solidFill>
                <a:latin typeface="Arial Unicode MS"/>
                <a:ea typeface="Arial Unicode MS"/>
                <a:cs typeface="Arial Unicode MS"/>
              </a:rPr>
              <a:t>誰有？
</a:t>
            </a:r>
          </a:p>
          <a:p>
            <a:pPr algn="l">
              <a:lnSpc>
                <a:spcPct val="115000"/>
              </a:lnSpc>
              <a:spcAft>
                <a:spcPts val="550"/>
              </a:spcAft>
            </a:pPr>
            <a:r>
              <a:rPr sz="1100" lang="zh-TW" dirty="0">
                <a:solidFill>
                  <a:srgbClr val="000000"/>
                </a:solidFill>
                <a:latin typeface="Arial Unicode MS"/>
                <a:ea typeface="Arial Unicode MS"/>
                <a:cs typeface="Arial Unicode MS"/>
              </a:rPr>
              <a:t>（預期答案：要自己去收。）
</a:t>
            </a:r>
          </a:p>
          <a:p>
            <a:pPr algn="l">
              <a:lnSpc>
                <a:spcPct val="115000"/>
              </a:lnSpc>
              <a:spcAft>
                <a:spcPts val="550"/>
              </a:spcAft>
            </a:pPr>
            <a:r>
              <a:rPr sz="1100" lang="zh-TW" dirty="0">
                <a:solidFill>
                  <a:srgbClr val="000000"/>
                </a:solidFill>
                <a:latin typeface="Arial Unicode MS"/>
                <a:ea typeface="Arial Unicode MS"/>
                <a:cs typeface="Arial Unicode MS"/>
              </a:rPr>
              <a:t>對。這就是為什麼「做一個台灣或越南的交通行為模型」是很有價值的題目——</a:t>
            </a:r>
            <a:r>
              <a:rPr sz="110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（預期答案：比較難煞。）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（回頭指剛剛那張表）所以那張表的數字，只在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（讓學生自己說出來。）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（這句話值得寫在白板上：模擬做不到的，真車做得到；真車做不到的，模擬做得到。兩個都要。）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（讓各組各講一個自己遇過的，寫在白板上，分三欄。這就是下一頁的討論。）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（四分鐘。每組講一件，老師在白板上分三欄記：外觀、行為、物理。）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（預期：多數人猜行為，而且答對。）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（學生講的例子，大部分會落在「行為」那一欄——鑽車縫、逆向、闖紅燈、路口不打方向燈、外送機車突然停下。這很正常，因為行為最有感。）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943828"/>
            <a:ext cx="36576" cy="237744"/>
          </a:xfrm>
          <a:prstGeom prst="rect">
            <a:avLst/>
          </a:prstGeom>
          <a:solidFill>
            <a:srgbClr val="00A896"/>
          </a:solidFill>
          <a:ln/>
        </p:spPr>
      </p:sp>
      <p:sp>
        <p:nvSpPr>
          <p:cNvPr id="25" name="Text 23"/>
          <p:cNvSpPr txBox="1"/>
          <p:nvPr/>
        </p:nvSpPr>
        <p:spPr>
          <a:xfrm>
            <a:off x="5047488" y="290725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436483"/>
            <a:ext cx="36576" cy="237744"/>
          </a:xfrm>
          <a:prstGeom prst="rect">
            <a:avLst/>
          </a:prstGeom>
          <a:solidFill>
            <a:srgbClr val="00A896"/>
          </a:solidFill>
          <a:ln/>
        </p:spPr>
      </p:sp>
      <p:sp>
        <p:nvSpPr>
          <p:cNvPr id="27" name="Text 25"/>
          <p:cNvSpPr txBox="1"/>
          <p:nvPr/>
        </p:nvSpPr>
        <p:spPr>
          <a:xfrm>
            <a:off x="5047488" y="339990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Chú ý: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注意看：天氣、一天中的時間、車流密度，全部都是可以調的參數</a:t>
            </a:r>
            <a:endParaRPr lang="en-US" sz="950" dirty="0"/>
          </a:p>
        </p:txBody>
      </p:sp>
      <p:sp>
        <p:nvSpPr>
          <p:cNvPr id="43" name="Shape 41"/>
          <p:cNvSpPr/>
          <p:nvPr/>
        </p:nvSpPr>
        <p:spPr>
          <a:xfrm>
            <a:off x="4919472" y="2808987"/>
            <a:ext cx="36576" cy="237744"/>
          </a:xfrm>
          <a:prstGeom prst="rect">
            <a:avLst/>
          </a:prstGeom>
          <a:solidFill>
            <a:srgbClr val="00A896"/>
          </a:solidFill>
          <a:ln/>
        </p:spPr>
      </p:sp>
      <p:sp>
        <p:nvSpPr>
          <p:cNvPr id="44" name="Text 42"/>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Xem cả ô cửa sổ nhỏ: đó là ảnh camera và đám điểm LiDAR mô phỏng ra</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也看那些小視窗：那是模擬出來的相機影像和光達點雲</a:t>
            </a:r>
            <a:endParaRPr lang="en-US" sz="950" dirty="0"/>
          </a:p>
        </p:txBody>
      </p:sp>
      <p:sp>
        <p:nvSpPr>
          <p:cNvPr id="45" name="Shape 43"/>
          <p:cNvSpPr/>
          <p:nvPr/>
        </p:nvSpPr>
        <p:spPr>
          <a:xfrm>
            <a:off x="4919472" y="3301642"/>
            <a:ext cx="36576" cy="237744"/>
          </a:xfrm>
          <a:prstGeom prst="rect">
            <a:avLst/>
          </a:prstGeom>
          <a:solidFill>
            <a:srgbClr val="00A896"/>
          </a:solidFill>
          <a:ln/>
        </p:spPr>
      </p:sp>
      <p:sp>
        <p:nvSpPr>
          <p:cNvPr id="46" name="Text 44"/>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2026-09-22T03:52:19Z</dcterms:created>
  <dcterms:modified xsi:type="dcterms:W3CDTF">2026-09-22T03:52:19Z</dcterms:modified>
</cp:coreProperties>
</file>