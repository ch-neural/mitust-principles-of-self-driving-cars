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各位早。
</a:t>
            </a:r>
          </a:p>
          <a:p>
            <a:pPr algn="l">
              <a:lnSpc>
                <a:spcPct val="100000"/>
              </a:lnSpc>
              <a:spcAft>
                <a:spcPts val="4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a:lnSpc>
                <a:spcPct val="100000"/>
              </a:lnSpc>
              <a:spcAft>
                <a:spcPts val="4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a:lnSpc>
                <a:spcPct val="100000"/>
              </a:lnSpc>
              <a:spcAft>
                <a:spcPts val="4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a:lnSpc>
                <a:spcPct val="100000"/>
              </a:lnSpc>
              <a:spcAft>
                <a:spcPts val="4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a:lnSpc>
                <a:spcPct val="100000"/>
              </a:lnSpc>
              <a:spcAft>
                <a:spcPts val="4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今天三節要做三件事，我先講一遍，各位心裡有個底。
</a:t>
            </a:r>
          </a:p>
          <a:p>
            <a:pPr algn="l">
              <a:lnSpc>
                <a:spcPct val="100000"/>
              </a:lnSpc>
              <a:spcAft>
                <a:spcPts val="4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a:lnSpc>
                <a:spcPct val="100000"/>
              </a:lnSpc>
              <a:spcAft>
                <a:spcPts val="4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a:lnSpc>
                <a:spcPct val="100000"/>
              </a:lnSpc>
              <a:spcAft>
                <a:spcPts val="4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a:lnSpc>
                <a:spcPct val="100000"/>
              </a:lnSpc>
              <a:spcAft>
                <a:spcPts val="4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00000"/>
              </a:lnSpc>
              <a:spcAft>
                <a:spcPts val="4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a:lnSpc>
                <a:spcPct val="100000"/>
              </a:lnSpc>
              <a:spcAft>
                <a:spcPts val="4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00000"/>
              </a:lnSpc>
              <a:spcAft>
                <a:spcPts val="400"/>
              </a:spcAft>
            </a:pPr>
            <a:r>
              <a:rPr sz="1200" lang="zh-TW" dirty="0">
                <a:solidFill>
                  <a:srgbClr val="000000"/>
                </a:solidFill>
                <a:latin typeface="Arial Unicode MS"/>
                <a:ea typeface="Arial Unicode MS"/>
                <a:cs typeface="Arial Unicode MS"/>
              </a:rPr>
              <a:t>打開之後車子就會自己跑，不用按任何按鈕。
</a:t>
            </a:r>
          </a:p>
          <a:p>
            <a:pPr algn="l">
              <a:lnSpc>
                <a:spcPct val="100000"/>
              </a:lnSpc>
              <a:spcAft>
                <a:spcPts val="4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a:lnSpc>
                <a:spcPct val="100000"/>
              </a:lnSpc>
              <a:spcAft>
                <a:spcPts val="4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a:lnSpc>
                <a:spcPct val="100000"/>
              </a:lnSpc>
              <a:spcAft>
                <a:spcPts val="4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第一段。模擬器上那三個滑桿，在真車的規格表上叫什麼名字。
</a:t>
            </a:r>
          </a:p>
          <a:p>
            <a:pPr algn="l">
              <a:lnSpc>
                <a:spcPct val="100000"/>
              </a:lnSpc>
              <a:spcAft>
                <a:spcPts val="400"/>
              </a:spcAft>
            </a:pPr>
            <a:r>
              <a:rPr sz="1200" lang="zh-TW" dirty="0">
                <a:solidFill>
                  <a:srgbClr val="000000"/>
                </a:solidFill>
                <a:latin typeface="Arial Unicode MS"/>
                <a:ea typeface="Arial Unicode MS"/>
                <a:cs typeface="Arial Unicode MS"/>
              </a:rPr>
              <a:t>先交代一件事：</a:t>
            </a:r>
            <a:r>
              <a:rPr sz="1200" b="1" lang="zh-TW" dirty="0">
                <a:solidFill>
                  <a:srgbClr val="000000"/>
                </a:solidFill>
                <a:latin typeface="Arial Unicode MS"/>
                <a:ea typeface="Arial Unicode MS"/>
                <a:cs typeface="Arial Unicode MS"/>
              </a:rPr>
              <a:t>這幾條射線是上週那個光達的簡化版</a:t>
            </a:r>
            <a:r>
              <a:rPr sz="1200" lang="zh-TW" dirty="0">
                <a:solidFill>
                  <a:srgbClr val="000000"/>
                </a:solidFill>
                <a:latin typeface="Arial Unicode MS"/>
                <a:ea typeface="Arial Unicode MS"/>
                <a:cs typeface="Arial Unicode MS"/>
              </a:rPr>
              <a:t>——真光達上下分好幾層、一層打幾百個點，我們只留</a:t>
            </a:r>
            <a:r>
              <a:rPr sz="1200" b="1" lang="zh-TW" dirty="0">
                <a:solidFill>
                  <a:srgbClr val="000000"/>
                </a:solidFill>
                <a:latin typeface="Arial Unicode MS"/>
                <a:ea typeface="Arial Unicode MS"/>
                <a:cs typeface="Arial Unicode MS"/>
              </a:rPr>
              <a:t>一層、幾條</a:t>
            </a:r>
            <a:r>
              <a:rPr sz="1200" lang="zh-TW" dirty="0">
                <a:solidFill>
                  <a:srgbClr val="000000"/>
                </a:solidFill>
                <a:latin typeface="Arial Unicode MS"/>
                <a:ea typeface="Arial Unicode MS"/>
                <a:cs typeface="Arial Unicode MS"/>
              </a:rPr>
              <a:t>，為的是讓各位拉得動、算得出來。
</a:t>
            </a:r>
          </a:p>
          <a:p>
            <a:pPr algn="l">
              <a:lnSpc>
                <a:spcPct val="100000"/>
              </a:lnSpc>
              <a:spcAft>
                <a:spcPts val="400"/>
              </a:spcAft>
            </a:pPr>
            <a:r>
              <a:rPr sz="1200" lang="zh-TW" dirty="0">
                <a:solidFill>
                  <a:srgbClr val="000000"/>
                </a:solidFill>
                <a:latin typeface="Arial Unicode MS"/>
                <a:ea typeface="Arial Unicode MS"/>
                <a:cs typeface="Arial Unicode MS"/>
              </a:rPr>
              <a:t>免得誤會，還要講清楚：</a:t>
            </a:r>
            <a:r>
              <a:rPr sz="1200" b="1" lang="zh-TW" dirty="0">
                <a:solidFill>
                  <a:srgbClr val="000000"/>
                </a:solidFill>
                <a:latin typeface="Arial Unicode MS"/>
                <a:ea typeface="Arial Unicode MS"/>
                <a:cs typeface="Arial Unicode MS"/>
              </a:rPr>
              <a:t>接下來問的那三件事，不是光達專屬的。</a:t>
            </a:r>
            <a:r>
              <a:rPr sz="1200" lang="zh-TW" dirty="0">
                <a:solidFill>
                  <a:srgbClr val="000000"/>
                </a:solidFill>
                <a:latin typeface="Arial Unicode MS"/>
                <a:ea typeface="Arial Unicode MS"/>
                <a:cs typeface="Arial Unicode MS"/>
              </a:rPr>
              <a:t>看多遠、看多寬、看多細——相機、雷達也都要回答，只是規格表上名字不一樣。今天學的不是「光達怎麼看」，是「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為什麼先挑光達？因為它的規格最乾淨——三個數字都拉得動、算得出來。相機和雷達沒這麼直白，要等第三章，也就是</a:t>
            </a:r>
            <a:r>
              <a:rPr sz="1200" b="1" lang="zh-TW" dirty="0">
                <a:solidFill>
                  <a:srgbClr val="000000"/>
                </a:solidFill>
                <a:latin typeface="Arial Unicode MS"/>
                <a:ea typeface="Arial Unicode MS"/>
                <a:cs typeface="Arial Unicode MS"/>
              </a:rPr>
              <a:t>下週開始的第五到第七週</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這一頁半分鐘。先講為什麼是這三個。
</a:t>
            </a:r>
          </a:p>
          <a:p>
            <a:pPr algn="l">
              <a:lnSpc>
                <a:spcPct val="100000"/>
              </a:lnSpc>
              <a:spcAft>
                <a:spcPts val="4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a:lnSpc>
                <a:spcPct val="100000"/>
              </a:lnSpc>
              <a:spcAft>
                <a:spcPts val="4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a:lnSpc>
                <a:spcPct val="100000"/>
              </a:lnSpc>
              <a:spcAft>
                <a:spcPts val="4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00000"/>
              </a:lnSpc>
              <a:spcAft>
                <a:spcPts val="4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a:lnSpc>
                <a:spcPct val="100000"/>
              </a:lnSpc>
              <a:spcAft>
                <a:spcPts val="4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a:lnSpc>
                <a:spcPct val="100000"/>
              </a:lnSpc>
              <a:spcAft>
                <a:spcPts val="4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a:lnSpc>
                <a:spcPct val="100000"/>
              </a:lnSpc>
              <a:spcAft>
                <a:spcPts val="4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a:lnSpc>
                <a:spcPct val="100000"/>
              </a:lnSpc>
              <a:spcAft>
                <a:spcPts val="4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a:lnSpc>
                <a:spcPct val="100000"/>
              </a:lnSpc>
              <a:spcAft>
                <a:spcPts val="4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00000"/>
              </a:lnSpc>
              <a:spcAft>
                <a:spcPts val="4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a:lnSpc>
                <a:spcPct val="100000"/>
              </a:lnSpc>
              <a:spcAft>
                <a:spcPts val="4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00000"/>
              </a:lnSpc>
              <a:spcAft>
                <a:spcPts val="4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a:lnSpc>
                <a:spcPct val="100000"/>
              </a:lnSpc>
              <a:spcAft>
                <a:spcPts val="400"/>
              </a:spcAft>
            </a:pPr>
            <a:r>
              <a:rPr sz="1200" lang="zh-TW" dirty="0">
                <a:solidFill>
                  <a:srgbClr val="000000"/>
                </a:solidFill>
                <a:latin typeface="Arial Unicode MS"/>
                <a:ea typeface="Arial Unicode MS"/>
                <a:cs typeface="Arial Unicode MS"/>
              </a:rPr>
              <a:t>調窄會怎樣？從側面切進來的機車完全看不到。
</a:t>
            </a:r>
          </a:p>
          <a:p>
            <a:pPr algn="l">
              <a:lnSpc>
                <a:spcPct val="100000"/>
              </a:lnSpc>
              <a:spcAft>
                <a:spcPts val="4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調寬會怎樣？這題上週剛講過，大家想一下。
</a:t>
            </a:r>
          </a:p>
          <a:p>
            <a:pPr algn="l">
              <a:lnSpc>
                <a:spcPct val="100000"/>
              </a:lnSpc>
              <a:spcAft>
                <a:spcPts val="4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a:lnSpc>
                <a:spcPct val="100000"/>
              </a:lnSpc>
              <a:spcAft>
                <a:spcPts val="4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a:lnSpc>
                <a:spcPct val="100000"/>
              </a:lnSpc>
              <a:spcAft>
                <a:spcPts val="4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在往下講之前，先把問題講清楚。
</a:t>
            </a:r>
          </a:p>
          <a:p>
            <a:pPr algn="l">
              <a:lnSpc>
                <a:spcPct val="100000"/>
              </a:lnSpc>
              <a:spcAft>
                <a:spcPts val="4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先問一個問題，各位心裡估一下。
</a:t>
            </a:r>
          </a:p>
          <a:p>
            <a:pPr algn="l">
              <a:lnSpc>
                <a:spcPct val="100000"/>
              </a:lnSpc>
              <a:spcAft>
                <a:spcPts val="4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（讓學生猜，通常會猜得太短。）
</a:t>
            </a:r>
          </a:p>
          <a:p>
            <a:pPr algn="l">
              <a:lnSpc>
                <a:spcPct val="100000"/>
              </a:lnSpc>
              <a:spcAft>
                <a:spcPts val="4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a:lnSpc>
                <a:spcPct val="100000"/>
              </a:lnSpc>
              <a:spcAft>
                <a:spcPts val="400"/>
              </a:spcAft>
            </a:pPr>
            <a:r>
              <a:rPr sz="1200" lang="zh-TW" dirty="0">
                <a:solidFill>
                  <a:srgbClr val="000000"/>
                </a:solidFill>
                <a:latin typeface="Arial Unicode MS"/>
                <a:ea typeface="Arial Unicode MS"/>
                <a:cs typeface="Arial Unicode MS"/>
              </a:rPr>
              <a:t>這個距離分成兩段。
</a:t>
            </a:r>
          </a:p>
          <a:p>
            <a:pPr algn="l">
              <a:lnSpc>
                <a:spcPct val="100000"/>
              </a:lnSpc>
              <a:spcAft>
                <a:spcPts val="4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a:lnSpc>
                <a:spcPct val="100000"/>
              </a:lnSpc>
              <a:spcAft>
                <a:spcPts val="4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第二段，煞車距離。拆成兩步，跟著螢幕上那三步算。
</a:t>
            </a:r>
          </a:p>
          <a:p>
            <a:pPr algn="l">
              <a:lnSpc>
                <a:spcPct val="100000"/>
              </a:lnSpc>
              <a:spcAft>
                <a:spcPts val="4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時速五十是每秒十三點九公尺，每過一秒減掉六——就是上一頁那個減速度。跟著螢幕上那一行數一次：十三點九、</a:t>
            </a:r>
            <a:r>
              <a:rPr sz="1200" b="1" lang="zh-TW" dirty="0">
                <a:solidFill>
                  <a:srgbClr val="000000"/>
                </a:solidFill>
                <a:latin typeface="Arial Unicode MS"/>
                <a:ea typeface="Arial Unicode MS"/>
                <a:cs typeface="Arial Unicode MS"/>
              </a:rPr>
              <a:t>七點九</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一點九</a:t>
            </a:r>
            <a:r>
              <a:rPr sz="1200" lang="zh-TW" dirty="0">
                <a:solidFill>
                  <a:srgbClr val="000000"/>
                </a:solidFill>
                <a:latin typeface="Arial Unicode MS"/>
                <a:ea typeface="Arial Unicode MS"/>
                <a:cs typeface="Arial Unicode MS"/>
              </a:rPr>
              <a:t>、零。</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就停住了，也就是十三點九除以六。
</a:t>
            </a:r>
          </a:p>
          <a:p>
            <a:pPr algn="l">
              <a:lnSpc>
                <a:spcPct val="100000"/>
              </a:lnSpc>
              <a:spcAft>
                <a:spcPts val="4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。而且它是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掉下來的，所以平均就是頭尾相加除以二，大約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時速五十要先除以三點六變成十三點九再代進去；直接代五十會算出兩百公尺，那是錯的。
</a:t>
            </a:r>
          </a:p>
          <a:p>
            <a:pPr algn="l">
              <a:lnSpc>
                <a:spcPct val="100000"/>
              </a:lnSpc>
              <a:spcAft>
                <a:spcPts val="400"/>
              </a:spcAft>
            </a:pPr>
            <a:r>
              <a:rPr sz="1200" lang="zh-TW" dirty="0">
                <a:solidFill>
                  <a:srgbClr val="000000"/>
                </a:solidFill>
                <a:latin typeface="Arial Unicode MS"/>
                <a:ea typeface="Arial Unicode MS"/>
                <a:cs typeface="Arial Unicode MS"/>
              </a:rPr>
              <a:t>合起來就是速度除以二、再乘速度除以六，也就是平方除以十二。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把兩段加起來。
</a:t>
            </a:r>
          </a:p>
          <a:p>
            <a:pPr algn="l">
              <a:lnSpc>
                <a:spcPct val="100000"/>
              </a:lnSpc>
              <a:spcAft>
                <a:spcPts val="4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a:lnSpc>
                <a:spcPct val="100000"/>
              </a:lnSpc>
              <a:spcAft>
                <a:spcPts val="4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a:lnSpc>
                <a:spcPct val="100000"/>
              </a:lnSpc>
              <a:spcAft>
                <a:spcPts val="4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用一支影片把同樣兩段距離再看一次。
</a:t>
            </a:r>
          </a:p>
          <a:p>
            <a:pPr algn="l">
              <a:lnSpc>
                <a:spcPct val="100000"/>
              </a:lnSpc>
              <a:spcAft>
                <a:spcPts val="4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a:lnSpc>
                <a:spcPct val="100000"/>
              </a:lnSpc>
              <a:spcAft>
                <a:spcPts val="4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看完問三個問題。
</a:t>
            </a:r>
          </a:p>
          <a:p>
            <a:pPr algn="l">
              <a:lnSpc>
                <a:spcPct val="100000"/>
              </a:lnSpc>
              <a:spcAft>
                <a:spcPts val="400"/>
              </a:spcAft>
            </a:pPr>
            <a:r>
              <a:rPr sz="1200" lang="zh-TW" dirty="0">
                <a:solidFill>
                  <a:srgbClr val="000000"/>
                </a:solidFill>
                <a:latin typeface="Arial Unicode MS"/>
                <a:ea typeface="Arial Unicode MS"/>
                <a:cs typeface="Arial Unicode MS"/>
              </a:rPr>
              <a:t>第一，它把煞停距離拆成哪兩段？答案跟我們一樣。
</a:t>
            </a:r>
          </a:p>
          <a:p>
            <a:pPr algn="l">
              <a:lnSpc>
                <a:spcPct val="100000"/>
              </a:lnSpc>
              <a:spcAft>
                <a:spcPts val="4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a:lnSpc>
                <a:spcPct val="100000"/>
              </a:lnSpc>
              <a:spcAft>
                <a:spcPts val="4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a:lnSpc>
                <a:spcPct val="100000"/>
              </a:lnSpc>
              <a:spcAft>
                <a:spcPts val="4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這張表把那條公式，五個常見車速各算一次。
</a:t>
            </a:r>
          </a:p>
          <a:p>
            <a:pPr algn="l">
              <a:lnSpc>
                <a:spcPct val="100000"/>
              </a:lnSpc>
              <a:spcAft>
                <a:spcPts val="4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a:lnSpc>
                <a:spcPct val="100000"/>
              </a:lnSpc>
              <a:spcAft>
                <a:spcPts val="4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a:lnSpc>
                <a:spcPct val="100000"/>
              </a:lnSpc>
              <a:spcAft>
                <a:spcPts val="4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a:lnSpc>
                <a:spcPct val="100000"/>
              </a:lnSpc>
              <a:spcAft>
                <a:spcPts val="4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a:lnSpc>
                <a:spcPct val="100000"/>
              </a:lnSpc>
              <a:spcAft>
                <a:spcPts val="4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看的時候注意三件事，都寫在右邊。
</a:t>
            </a:r>
          </a:p>
          <a:p>
            <a:pPr algn="l">
              <a:lnSpc>
                <a:spcPct val="100000"/>
              </a:lnSpc>
              <a:spcAft>
                <a:spcPts val="4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a:lnSpc>
                <a:spcPct val="100000"/>
              </a:lnSpc>
              <a:spcAft>
                <a:spcPts val="400"/>
              </a:spcAft>
            </a:pPr>
            <a:r>
              <a:rPr sz="1200" lang="zh-TW" dirty="0">
                <a:solidFill>
                  <a:srgbClr val="000000"/>
                </a:solidFill>
                <a:latin typeface="Arial Unicode MS"/>
                <a:ea typeface="Arial Unicode MS"/>
                <a:cs typeface="Arial Unicode MS"/>
              </a:rPr>
              <a:t>第二，它連相機影像和光達點雲都算給你。
</a:t>
            </a:r>
          </a:p>
          <a:p>
            <a:pPr algn="l">
              <a:lnSpc>
                <a:spcPct val="100000"/>
              </a:lnSpc>
              <a:spcAft>
                <a:spcPts val="4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a:lnSpc>
                <a:spcPct val="100000"/>
              </a:lnSpc>
              <a:spcAft>
                <a:spcPts val="400"/>
              </a:spcAft>
            </a:pPr>
            <a:r>
              <a:rPr sz="1200" lang="zh-TW" dirty="0">
                <a:solidFill>
                  <a:srgbClr val="000000"/>
                </a:solidFill>
                <a:latin typeface="Arial Unicode MS"/>
                <a:ea typeface="Arial Unicode MS"/>
                <a:cs typeface="Arial Unicode MS"/>
              </a:rPr>
              <a:t>看完問一句：CARLA 跟我們的瀏覽器模擬器，哪裡是一樣的？
</a:t>
            </a:r>
          </a:p>
          <a:p>
            <a:pPr algn="l">
              <a:lnSpc>
                <a:spcPct val="100000"/>
              </a:lnSpc>
              <a:spcAft>
                <a:spcPts val="4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
</a:t>
            </a:r>
          </a:p>
          <a:p>
            <a:pPr algn="l">
              <a:lnSpc>
                <a:spcPct val="100000"/>
              </a:lnSpc>
              <a:spcAft>
                <a:spcPts val="4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a:lnSpc>
                <a:spcPct val="100000"/>
              </a:lnSpc>
              <a:spcAft>
                <a:spcPts val="4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00000"/>
              </a:lnSpc>
              <a:spcAft>
                <a:spcPts val="4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a:lnSpc>
                <a:spcPct val="100000"/>
              </a:lnSpc>
              <a:spcAft>
                <a:spcPts val="4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a:lnSpc>
                <a:spcPct val="100000"/>
              </a:lnSpc>
              <a:spcAft>
                <a:spcPts val="4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a:lnSpc>
                <a:spcPct val="100000"/>
              </a:lnSpc>
              <a:spcAft>
                <a:spcPts val="4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a:lnSpc>
                <a:spcPct val="100000"/>
              </a:lnSpc>
              <a:spcAft>
                <a:spcPts val="400"/>
              </a:spcAft>
            </a:pPr>
            <a:r>
              <a:rPr sz="1200" lang="zh-TW" dirty="0">
                <a:solidFill>
                  <a:srgbClr val="000000"/>
                </a:solidFill>
                <a:latin typeface="Arial Unicode MS"/>
                <a:ea typeface="Arial Unicode MS"/>
                <a:cs typeface="Arial Unicode MS"/>
              </a:rPr>
              <a:t>為什麼要這樣做？（等學生想。）
</a:t>
            </a:r>
          </a:p>
          <a:p>
            <a:pPr algn="l">
              <a:lnSpc>
                <a:spcPct val="100000"/>
              </a:lnSpc>
              <a:spcAft>
                <a:spcPts val="4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a:lnSpc>
                <a:spcPct val="100000"/>
              </a:lnSpc>
              <a:spcAft>
                <a:spcPts val="4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a:lnSpc>
                <a:spcPct val="100000"/>
              </a:lnSpc>
              <a:spcAft>
                <a:spcPts val="4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a:lnSpc>
                <a:spcPct val="100000"/>
              </a:lnSpc>
              <a:spcAft>
                <a:spcPts val="4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a:lnSpc>
                <a:spcPct val="100000"/>
              </a:lnSpc>
              <a:spcAft>
                <a:spcPts val="400"/>
              </a:spcAft>
            </a:pPr>
            <a:r>
              <a:rPr sz="1200" lang="zh-TW" dirty="0">
                <a:solidFill>
                  <a:srgbClr val="000000"/>
                </a:solidFill>
                <a:latin typeface="Arial Unicode MS"/>
                <a:ea typeface="Arial Unicode MS"/>
                <a:cs typeface="Arial Unicode MS"/>
              </a:rPr>
              <a:t>（問全班）真實世界的機車是這樣嗎？
</a:t>
            </a:r>
          </a:p>
          <a:p>
            <a:pPr algn="l">
              <a:lnSpc>
                <a:spcPct val="100000"/>
              </a:lnSpc>
              <a:spcAft>
                <a:spcPts val="400"/>
              </a:spcAft>
            </a:pPr>
            <a:r>
              <a:rPr sz="1200" lang="zh-TW" dirty="0">
                <a:solidFill>
                  <a:srgbClr val="000000"/>
                </a:solidFill>
                <a:latin typeface="Arial Unicode MS"/>
                <a:ea typeface="Arial Unicode MS"/>
                <a:cs typeface="Arial Unicode MS"/>
              </a:rPr>
              <a:t>不是。鑽縫、紅燈前擠到最前面、沒有標線的路口靠眼神。
</a:t>
            </a:r>
          </a:p>
          <a:p>
            <a:pPr algn="l">
              <a:lnSpc>
                <a:spcPct val="100000"/>
              </a:lnSpc>
              <a:spcAft>
                <a:spcPts val="4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a:lnSpc>
                <a:spcPct val="100000"/>
              </a:lnSpc>
              <a:spcAft>
                <a:spcPts val="4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a:lnSpc>
                <a:spcPct val="100000"/>
              </a:lnSpc>
              <a:spcAft>
                <a:spcPts val="4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a:lnSpc>
                <a:spcPct val="100000"/>
              </a:lnSpc>
              <a:spcAft>
                <a:spcPts val="400"/>
              </a:spcAft>
            </a:pPr>
            <a:r>
              <a:rPr sz="1200" lang="zh-TW" dirty="0">
                <a:solidFill>
                  <a:srgbClr val="000000"/>
                </a:solidFill>
                <a:latin typeface="Arial Unicode MS"/>
                <a:ea typeface="Arial Unicode MS"/>
                <a:cs typeface="Arial Unicode MS"/>
              </a:rPr>
              <a:t>（等學生回答。）
</a:t>
            </a:r>
          </a:p>
          <a:p>
            <a:pPr algn="l">
              <a:lnSpc>
                <a:spcPct val="100000"/>
              </a:lnSpc>
              <a:spcAft>
                <a:spcPts val="4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a:lnSpc>
                <a:spcPct val="100000"/>
              </a:lnSpc>
              <a:spcAft>
                <a:spcPts val="4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a:lnSpc>
                <a:spcPct val="100000"/>
              </a:lnSpc>
              <a:spcAft>
                <a:spcPts val="4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（問全班）下雨天煞車，煞得住嗎？
</a:t>
            </a:r>
          </a:p>
          <a:p>
            <a:pPr algn="l">
              <a:lnSpc>
                <a:spcPct val="100000"/>
              </a:lnSpc>
              <a:spcAft>
                <a:spcPts val="4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a:lnSpc>
                <a:spcPct val="100000"/>
              </a:lnSpc>
              <a:spcAft>
                <a:spcPts val="4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講了三種落差，好像模擬一無是處。反過來也要講。
</a:t>
            </a:r>
          </a:p>
          <a:p>
            <a:pPr algn="l">
              <a:lnSpc>
                <a:spcPct val="100000"/>
              </a:lnSpc>
              <a:spcAft>
                <a:spcPts val="4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a:lnSpc>
                <a:spcPct val="100000"/>
              </a:lnSpc>
              <a:spcAft>
                <a:spcPts val="4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a:lnSpc>
                <a:spcPct val="100000"/>
              </a:lnSpc>
              <a:spcAft>
                <a:spcPts val="400"/>
              </a:spcAft>
            </a:pPr>
            <a:r>
              <a:rPr sz="1200" lang="zh-TW" dirty="0">
                <a:solidFill>
                  <a:srgbClr val="000000"/>
                </a:solidFill>
                <a:latin typeface="Arial Unicode MS"/>
                <a:ea typeface="Arial Unicode MS"/>
                <a:cs typeface="Arial Unicode MS"/>
              </a:rPr>
              <a:t>這一句我想聽大家自己說出來。
</a:t>
            </a:r>
          </a:p>
          <a:p>
            <a:pPr algn="l">
              <a:lnSpc>
                <a:spcPct val="100000"/>
              </a:lnSpc>
              <a:spcAft>
                <a:spcPts val="4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a:lnSpc>
                <a:spcPct val="100000"/>
              </a:lnSpc>
              <a:spcAft>
                <a:spcPts val="4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一欄一欄看。
</a:t>
            </a:r>
          </a:p>
          <a:p>
            <a:pPr algn="l">
              <a:lnSpc>
                <a:spcPct val="100000"/>
              </a:lnSpc>
              <a:spcAft>
                <a:spcPts val="4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a:lnSpc>
                <a:spcPct val="100000"/>
              </a:lnSpc>
              <a:spcAft>
                <a:spcPts val="4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a:lnSpc>
                <a:spcPct val="100000"/>
              </a:lnSpc>
              <a:spcAft>
                <a:spcPts val="4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383"/>
              </a:spcAft>
            </a:pPr>
            <a:r>
              <a:rPr sz="1150" lang="zh-TW" dirty="0">
                <a:solidFill>
                  <a:srgbClr val="000000"/>
                </a:solidFill>
                <a:latin typeface="Arial Unicode MS"/>
                <a:ea typeface="Arial Unicode MS"/>
                <a:cs typeface="Arial Unicode MS"/>
              </a:rPr>
              <a:t>現在做一個四分鐘的討論。
</a:t>
            </a:r>
          </a:p>
          <a:p>
            <a:pPr algn="l">
              <a:lnSpc>
                <a:spcPct val="100000"/>
              </a:lnSpc>
              <a:spcAft>
                <a:spcPts val="383"/>
              </a:spcAft>
            </a:pPr>
            <a:r>
              <a:rPr sz="1150" lang="zh-TW" dirty="0">
                <a:solidFill>
                  <a:srgbClr val="000000"/>
                </a:solidFill>
                <a:latin typeface="Arial Unicode MS"/>
                <a:ea typeface="Arial Unicode MS"/>
                <a:cs typeface="Arial Unicode MS"/>
              </a:rPr>
              <a:t>每一組講一件，我在白板上分三欄記下來：外觀、行為、物理。
</a:t>
            </a:r>
          </a:p>
          <a:p>
            <a:pPr algn="l">
              <a:lnSpc>
                <a:spcPct val="100000"/>
              </a:lnSpc>
              <a:spcAft>
                <a:spcPts val="383"/>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a:lnSpc>
                <a:spcPct val="100000"/>
              </a:lnSpc>
              <a:spcAft>
                <a:spcPts val="383"/>
              </a:spcAft>
            </a:pPr>
            <a:r>
              <a:rPr sz="1150" lang="zh-TW" dirty="0">
                <a:solidFill>
                  <a:srgbClr val="000000"/>
                </a:solidFill>
                <a:latin typeface="Arial Unicode MS"/>
                <a:ea typeface="Arial Unicode MS"/>
                <a:cs typeface="Arial Unicode MS"/>
              </a:rPr>
              <a:t>大部分的人會猜行為，而且會猜對。
</a:t>
            </a:r>
          </a:p>
          <a:p>
            <a:pPr algn="l">
              <a:lnSpc>
                <a:spcPct val="100000"/>
              </a:lnSpc>
              <a:spcAft>
                <a:spcPts val="383"/>
              </a:spcAft>
            </a:pPr>
            <a:r>
              <a:rPr sz="1150" lang="zh-TW" dirty="0">
                <a:solidFill>
                  <a:srgbClr val="000000"/>
                </a:solidFill>
                <a:latin typeface="Arial Unicode MS"/>
                <a:ea typeface="Arial Unicode MS"/>
                <a:cs typeface="Arial Unicode MS"/>
              </a:rPr>
              <a:t>開始。
</a:t>
            </a:r>
          </a:p>
          <a:p>
            <a:pPr algn="l">
              <a:lnSpc>
                <a:spcPct val="100000"/>
              </a:lnSpc>
              <a:spcAft>
                <a:spcPts val="383"/>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00000"/>
              </a:lnSpc>
              <a:spcAft>
                <a:spcPts val="383"/>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a:lnSpc>
                <a:spcPct val="100000"/>
              </a:lnSpc>
              <a:spcAft>
                <a:spcPts val="383"/>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00000"/>
              </a:lnSpc>
              <a:spcAft>
                <a:spcPts val="383"/>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00000"/>
              </a:lnSpc>
              <a:spcAft>
                <a:spcPts val="383"/>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下一頁我把常見的答案列出來，各位對照一下自己講的。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（討論結束）看這一頁，我把常見的答案列出來了，各位剛剛講的大部分都在裡面。
</a:t>
            </a:r>
          </a:p>
          <a:p>
            <a:pPr algn="l">
              <a:lnSpc>
                <a:spcPct val="100000"/>
              </a:lnSpc>
              <a:spcAft>
                <a:spcPts val="400"/>
              </a:spcAft>
            </a:pPr>
            <a:r>
              <a:rPr sz="1200" lang="zh-TW" dirty="0">
                <a:solidFill>
                  <a:srgbClr val="000000"/>
                </a:solidFill>
                <a:latin typeface="Arial Unicode MS"/>
                <a:ea typeface="Arial Unicode MS"/>
                <a:cs typeface="Arial Unicode MS"/>
              </a:rPr>
              <a:t>回頭看白板：</a:t>
            </a:r>
            <a:r>
              <a:rPr sz="1200" b="1" lang="zh-TW" dirty="0">
                <a:solidFill>
                  <a:srgbClr val="000000"/>
                </a:solidFill>
                <a:latin typeface="Arial Unicode MS"/>
                <a:ea typeface="Arial Unicode MS"/>
                <a:cs typeface="Arial Unicode MS"/>
              </a:rPr>
              <a:t>哪一欄最滿？行為。</a:t>
            </a:r>
            <a:r>
              <a:rPr sz="1200" lang="zh-TW" dirty="0">
                <a:solidFill>
                  <a:srgbClr val="000000"/>
                </a:solidFill>
                <a:latin typeface="Arial Unicode MS"/>
                <a:ea typeface="Arial Unicode MS"/>
                <a:cs typeface="Arial Unicode MS"/>
              </a:rPr>
              <a:t>跟一開始猜的一樣。這不是巧合——外觀可以拍照建模，物理可以量，</a:t>
            </a:r>
            <a:r>
              <a:rPr sz="1200" b="1" lang="zh-TW" dirty="0">
                <a:solidFill>
                  <a:srgbClr val="000000"/>
                </a:solidFill>
                <a:latin typeface="Arial Unicode MS"/>
                <a:ea typeface="Arial Unicode MS"/>
                <a:cs typeface="Arial Unicode MS"/>
              </a:rPr>
              <a:t>行為要先有人去收，而台灣和越南的沒有人收過。</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物理那一欄我多列了幾條，因為剛剛比較少人講到。這一頁拍下來，上面每一條都是一個</a:t>
            </a:r>
            <a:r>
              <a:rPr sz="1200" b="1" lang="zh-TW" dirty="0">
                <a:solidFill>
                  <a:srgbClr val="000000"/>
                </a:solidFill>
                <a:latin typeface="Arial Unicode MS"/>
                <a:ea typeface="Arial Unicode MS"/>
                <a:cs typeface="Arial Unicode MS"/>
              </a:rPr>
              <a:t>還沒有人做過</a:t>
            </a:r>
            <a:r>
              <a:rPr sz="1200" lang="zh-TW" dirty="0">
                <a:solidFill>
                  <a:srgbClr val="000000"/>
                </a:solidFill>
                <a:latin typeface="Arial Unicode MS"/>
                <a:ea typeface="Arial Unicode MS"/>
                <a:cs typeface="Arial Unicode MS"/>
              </a:rPr>
              <a:t>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第一節到這裡。三句話帶走。
</a:t>
            </a:r>
          </a:p>
          <a:p>
            <a:pPr algn="l">
              <a:lnSpc>
                <a:spcPct val="100000"/>
              </a:lnSpc>
              <a:spcAft>
                <a:spcPts val="4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00000"/>
              </a:lnSpc>
              <a:spcAft>
                <a:spcPts val="4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00000"/>
              </a:lnSpc>
              <a:spcAft>
                <a:spcPts val="4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00000"/>
              </a:lnSpc>
              <a:spcAft>
                <a:spcPts val="4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a:lnSpc>
                <a:spcPct val="100000"/>
              </a:lnSpc>
              <a:spcAft>
                <a:spcPts val="4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00000"/>
              </a:lnSpc>
              <a:spcAft>
                <a:spcPts val="4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3 / 29</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4 / 29</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5 / 29</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29</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7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9 / 29</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10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11 / 29</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12 / 29</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7,9 → 1,9 → 0 (2,3 s)</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7.9 → 1.9 → 0（2.3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29</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14 / 29</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15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16 / 29</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17 / 29</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18 / 29</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19 / 29</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20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29</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23 / 29</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24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29</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29</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27 / 29</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968667" y="0"/>
          <a:ext cx="1" cy="1"/>
          <a:chOff x="0" y="0"/>
          <a:chExt cx="0" cy="0"/>
        </a:xfrm>
      </p:grpSpPr>
      <p:sp>
        <p:nvSpPr>
          <p:cNvPr id="2" name="Text 0"/>
          <p:cNvSpPr txBox="1"/>
          <p:nvPr/>
        </p:nvSpPr>
        <p:spPr>
          <a:xfrm>
            <a:off x="1365034" y="230613"/>
            <a:ext cx="6413933" cy="663013"/>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Ba cột trên bảng, đáp án thường gặp trông như thế này</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白板上那三欄，常見的答案長這樣</a:t>
            </a:r>
            <a:endParaRPr lang="en-US" sz="173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1365034" y="893627"/>
          <a:ext cx="6413933" cy="720667"/>
        </p:xfrm>
        <a:graphic>
          <a:graphicData uri="http://schemas.openxmlformats.org/drawingml/2006/table">
            <a:tbl>
              <a:tblPr/>
              <a:tblGrid>
                <a:gridCol w="2162000"/>
                <a:gridCol w="2162000"/>
                <a:gridCol w="2162000"/>
              </a:tblGrid>
              <a:tr h="288267">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Hình ảnh</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Hành vi</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Vật lý</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Mái hiên: người bước ra từ sau cột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騎樓：人從柱子後面出現</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máy lách giữa hai ô tô</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機車從兩台車中間鑽過去</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Nắp cống: trời mưa trơn, xe trượt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人孔蓋：下雨壓過去會滑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Biển hiệu, băng rôn che đèn tín hiệu</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招牌、布條蓋住號誌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Đèn xanh: 20 xe toả ra hình quạt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綠燈起步，二十台扇形散開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Vũng nước: sâu 2 cm hay 20 cm?</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積水：看不出兩公分還是二十</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máy đỗ thành hàng dài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路邊成排停放的機車</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Tạt đầu, không bật xi nhan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不打方向燈直接切進來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Mặt đường vá: độ bám mỗi đoạn một khác</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補丁路面，抓地力每段不同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đẩy hàng rong, ghế nhựa vỉa hè</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攤販推車、路邊塑膠小凳</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giao hàng dừng đột ngột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外送機車路邊突然停下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Tấm thép công trình, ướt thì rất trơn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施工鋪的鋼板，濕了特別滑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Vạch kẻ làn mờ, ngã tư không vạch</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車道線被磨掉、路口沒標線</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Người băng ngang giữa dòng xe</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行人不走斑馬線穿車陣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Gờ giảm tốc không sơn báo</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減速丘沒標示，過去才知道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Rào công trình, đổi làn tạm thời</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施工圍籬臨時改道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Vòng xuyến đi bằng ánh mắt, không theo đèn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圓環靠眼神，不看號誌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Sơn kẻ đường mưa xuống trơn hơn nhựa</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標線油漆下雨比柏油滑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365034" y="3240117"/>
            <a:ext cx="6413933" cy="360333"/>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Cột «Hành vi» đầy nhất — và đó chính là thứ mô phỏng có sẵn thiếu nhất.</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「行為」那一欄最滿——而那一欄，正是現成模擬器最缺的。</a:t>
            </a:r>
            <a:endParaRPr lang="en-US" sz="950" dirty="0"/>
          </a:p>
        </p:txBody>
      </p:sp>
      <p:pic>
        <p:nvPicPr>
          <p:cNvPr id="6" name="Image 0" descr="/Users/tsengchenghsun/Class/carClass/Claude outputs/第四週(10-1)/src/logo.png">    </p:cNvPr>
          <p:cNvPicPr>
            <a:picLocks noChangeAspect="1"/>
          </p:cNvPicPr>
          <p:nvPr/>
        </p:nvPicPr>
        <p:blipFill>
          <a:blip r:embed="rId1"/>
          <a:stretch>
            <a:fillRect/>
          </a:stretch>
        </p:blipFill>
        <p:spPr>
          <a:xfrm>
            <a:off x="7180813" y="86480"/>
            <a:ext cx="864800" cy="191074"/>
          </a:xfrm>
          <a:prstGeom prst="rect">
            <a:avLst/>
          </a:prstGeom>
        </p:spPr>
      </p:pic>
      <p:sp>
        <p:nvSpPr>
          <p:cNvPr id="7" name="Text 2"/>
          <p:cNvSpPr txBox="1"/>
          <p:nvPr/>
        </p:nvSpPr>
        <p:spPr>
          <a:xfrm>
            <a:off x="1055147" y="100893"/>
            <a:ext cx="648600"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28 / 29</a:t>
            </a:r>
            <a:endParaRPr lang="en-US" sz="710" dirty="0"/>
          </a:p>
        </p:txBody>
      </p:sp>
      <p:sp>
        <p:nvSpPr>
          <p:cNvPr id="8" name="Text 3"/>
          <p:cNvSpPr txBox="1"/>
          <p:nvPr/>
        </p:nvSpPr>
        <p:spPr>
          <a:xfrm>
            <a:off x="1725367" y="100893"/>
            <a:ext cx="1585467"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29 / 29</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2026-09-29T04:42:51Z</dcterms:created>
  <dcterms:modified xsi:type="dcterms:W3CDTF">2026-09-29T04:42:51Z</dcterms:modified>
</cp:coreProperties>
</file>