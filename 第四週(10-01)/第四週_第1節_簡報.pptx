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我們的模擬器可以從一條拉到六十條。真車的光達呢？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這題上週剛講過，大家想一下。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答案是裝好幾顆，分工。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第二種：</a:t>
            </a:r>
            <a:r>
              <a:rPr sz="1150" b="1" lang="zh-TW" dirty="0">
                <a:solidFill>
                  <a:srgbClr val="000000"/>
                </a:solidFill>
                <a:latin typeface="Arial Unicode MS"/>
                <a:ea typeface="Arial Unicode MS"/>
                <a:cs typeface="Arial Unicode MS"/>
              </a:rPr>
              <a:t>行為落差</a:t>
            </a:r>
            <a:r>
              <a:rPr sz="1150" lang="zh-TW" dirty="0">
                <a:solidFill>
                  <a:srgbClr val="000000"/>
                </a:solidFill>
                <a:latin typeface="Arial Unicode MS"/>
                <a:ea typeface="Arial Unicode MS"/>
                <a:cs typeface="Arial Unicode MS"/>
              </a:rPr>
              <a:t>。這一種對各位來說最有感覺。
</a:t>
            </a:r>
          </a:p>
          <a:p>
            <a:pPr algn="l">
              <a:lnSpc>
                <a:spcPct val="115000"/>
              </a:lnSpc>
              <a:spcAft>
                <a:spcPts val="575"/>
              </a:spcAft>
            </a:pPr>
            <a:r>
              <a:rPr sz="115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75"/>
              </a:spcAft>
            </a:pPr>
            <a:r>
              <a:rPr sz="1150" lang="zh-TW" dirty="0">
                <a:solidFill>
                  <a:srgbClr val="000000"/>
                </a:solidFill>
                <a:latin typeface="Arial Unicode MS"/>
                <a:ea typeface="Arial Unicode MS"/>
                <a:cs typeface="Arial Unicode MS"/>
              </a:rPr>
              <a:t>（問全班）真實世界的機車是這樣嗎？
</a:t>
            </a:r>
          </a:p>
          <a:p>
            <a:pPr algn="l">
              <a:lnSpc>
                <a:spcPct val="115000"/>
              </a:lnSpc>
              <a:spcAft>
                <a:spcPts val="575"/>
              </a:spcAft>
            </a:pPr>
            <a:r>
              <a:rPr sz="115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75"/>
              </a:spcAft>
            </a:pPr>
            <a:r>
              <a:rPr sz="1150" lang="zh-TW" dirty="0">
                <a:solidFill>
                  <a:srgbClr val="000000"/>
                </a:solidFill>
                <a:latin typeface="Arial Unicode MS"/>
                <a:ea typeface="Arial Unicode MS"/>
                <a:cs typeface="Arial Unicode MS"/>
              </a:rPr>
              <a:t>所以會發生一件很諷刺的事：</a:t>
            </a:r>
            <a:r>
              <a:rPr sz="1150" b="1" lang="zh-TW" dirty="0">
                <a:solidFill>
                  <a:srgbClr val="000000"/>
                </a:solidFill>
                <a:latin typeface="Arial Unicode MS"/>
                <a:ea typeface="Arial Unicode MS"/>
                <a:cs typeface="Arial Unicode MS"/>
              </a:rPr>
              <a:t>一台在模擬裡表現完美的自駕車，丟到真的河內街頭，可能完全動不了</a:t>
            </a:r>
            <a:r>
              <a:rPr sz="1150" lang="zh-TW" dirty="0">
                <a:solidFill>
                  <a:srgbClr val="000000"/>
                </a:solidFill>
                <a:latin typeface="Arial Unicode MS"/>
                <a:ea typeface="Arial Unicode MS"/>
                <a:cs typeface="Arial Unicode MS"/>
              </a:rPr>
              <a:t>——因為它學到的規則，在那裡不適用。
</a:t>
            </a:r>
          </a:p>
          <a:p>
            <a:pPr algn="l">
              <a:lnSpc>
                <a:spcPct val="115000"/>
              </a:lnSpc>
              <a:spcAft>
                <a:spcPts val="575"/>
              </a:spcAft>
            </a:pPr>
            <a:r>
              <a:rPr sz="1150" lang="zh-TW" dirty="0">
                <a:solidFill>
                  <a:srgbClr val="000000"/>
                </a:solidFill>
                <a:latin typeface="Arial Unicode MS"/>
                <a:ea typeface="Arial Unicode MS"/>
                <a:cs typeface="Arial Unicode MS"/>
              </a:rPr>
              <a:t>解法是什麼？把</a:t>
            </a:r>
            <a:r>
              <a:rPr sz="1150" b="1" lang="zh-TW" dirty="0">
                <a:solidFill>
                  <a:srgbClr val="000000"/>
                </a:solidFill>
                <a:latin typeface="Arial Unicode MS"/>
                <a:ea typeface="Arial Unicode MS"/>
                <a:cs typeface="Arial Unicode MS"/>
              </a:rPr>
              <a:t>真實道路上錄到的軌跡回放進模擬</a:t>
            </a:r>
            <a:r>
              <a:rPr sz="115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75"/>
              </a:spcAft>
            </a:pPr>
            <a:r>
              <a:rPr sz="1150" lang="zh-TW" dirty="0">
                <a:solidFill>
                  <a:srgbClr val="000000"/>
                </a:solidFill>
                <a:latin typeface="Arial Unicode MS"/>
                <a:ea typeface="Arial Unicode MS"/>
                <a:cs typeface="Arial Unicode MS"/>
              </a:rPr>
              <a:t>但這裡有個問題留給各位想：</a:t>
            </a:r>
            <a:r>
              <a:rPr sz="1150" b="1" lang="zh-TW" dirty="0">
                <a:solidFill>
                  <a:srgbClr val="000000"/>
                </a:solidFill>
                <a:latin typeface="Arial Unicode MS"/>
                <a:ea typeface="Arial Unicode MS"/>
                <a:cs typeface="Arial Unicode MS"/>
              </a:rPr>
              <a:t>要回放河內的軌跡，你得先有河內的軌跡。</a:t>
            </a:r>
            <a:r>
              <a:rPr sz="1150" lang="zh-TW" dirty="0">
                <a:solidFill>
                  <a:srgbClr val="000000"/>
                </a:solidFill>
                <a:latin typeface="Arial Unicode MS"/>
                <a:ea typeface="Arial Unicode MS"/>
                <a:cs typeface="Arial Unicode MS"/>
              </a:rPr>
              <a:t>誰有？
</a:t>
            </a:r>
          </a:p>
          <a:p>
            <a:pPr algn="l">
              <a:lnSpc>
                <a:spcPct val="115000"/>
              </a:lnSpc>
              <a:spcAft>
                <a:spcPts val="575"/>
              </a:spcAft>
            </a:pPr>
            <a:r>
              <a:rPr sz="1150" lang="zh-TW" dirty="0">
                <a:solidFill>
                  <a:srgbClr val="000000"/>
                </a:solidFill>
                <a:latin typeface="Arial Unicode MS"/>
                <a:ea typeface="Arial Unicode MS"/>
                <a:cs typeface="Arial Unicode MS"/>
              </a:rPr>
              <a:t>答案是：要自己去收。
</a:t>
            </a:r>
          </a:p>
          <a:p>
            <a:pPr algn="l">
              <a:lnSpc>
                <a:spcPct val="115000"/>
              </a:lnSpc>
              <a:spcAft>
                <a:spcPts val="575"/>
              </a:spcAft>
            </a:pPr>
            <a:r>
              <a:rPr sz="1150" lang="zh-TW" dirty="0">
                <a:solidFill>
                  <a:srgbClr val="000000"/>
                </a:solidFill>
                <a:latin typeface="Arial Unicode MS"/>
                <a:ea typeface="Arial Unicode MS"/>
                <a:cs typeface="Arial Unicode MS"/>
              </a:rPr>
              <a:t>對。這就是為什麼「做一個台灣或越南的交通行為模型」是很有價值的題目——</a:t>
            </a:r>
            <a:r>
              <a:rPr sz="115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答案是比較難煞。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我們回頭看剛剛那張表。所以那張表的數字，只在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這一句我想聽大家自己說出來。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大部分的人會猜行為，而且會猜對。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55628"/>
            <a:ext cx="3904488" cy="2566564"/>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999622" y="1680177"/>
            <a:ext cx="1039673" cy="259466"/>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44435"/>
            <a:ext cx="623804" cy="286950"/>
          </a:xfrm>
          <a:prstGeom prst="roundRect">
            <a:avLst>
              <a:gd name="adj" fmla="val 22000"/>
            </a:avLst>
          </a:prstGeom>
          <a:solidFill>
            <a:srgbClr val="8FA3B5"/>
          </a:solidFill>
          <a:ln/>
        </p:spPr>
      </p:sp>
      <p:sp>
        <p:nvSpPr>
          <p:cNvPr id="7" name="Shape 5"/>
          <p:cNvSpPr/>
          <p:nvPr/>
        </p:nvSpPr>
        <p:spPr>
          <a:xfrm>
            <a:off x="1236667" y="2001825"/>
            <a:ext cx="212093" cy="172170"/>
          </a:xfrm>
          <a:prstGeom prst="roundRect">
            <a:avLst>
              <a:gd name="adj" fmla="val 23333"/>
            </a:avLst>
          </a:prstGeom>
          <a:solidFill>
            <a:srgbClr val="FFFFFF"/>
          </a:solidFill>
          <a:ln/>
        </p:spPr>
      </p:sp>
      <p:sp>
        <p:nvSpPr>
          <p:cNvPr id="8" name="Shape 6"/>
          <p:cNvSpPr/>
          <p:nvPr/>
        </p:nvSpPr>
        <p:spPr>
          <a:xfrm>
            <a:off x="1692737" y="2087910"/>
            <a:ext cx="1316919" cy="0"/>
          </a:xfrm>
          <a:prstGeom prst="line">
            <a:avLst/>
          </a:prstGeom>
          <a:noFill/>
          <a:ln w="63500">
            <a:solidFill>
              <a:srgbClr val="6FA8DC"/>
            </a:solidFill>
            <a:prstDash val="solid"/>
          </a:ln>
        </p:spPr>
      </p:sp>
      <p:sp>
        <p:nvSpPr>
          <p:cNvPr id="9" name="Shape 7"/>
          <p:cNvSpPr/>
          <p:nvPr/>
        </p:nvSpPr>
        <p:spPr>
          <a:xfrm>
            <a:off x="3009656" y="1921110"/>
            <a:ext cx="121295" cy="333600"/>
          </a:xfrm>
          <a:prstGeom prst="roundRect">
            <a:avLst>
              <a:gd name="adj" fmla="val 34286"/>
            </a:avLst>
          </a:prstGeom>
          <a:solidFill>
            <a:srgbClr val="3A4650"/>
          </a:solidFill>
          <a:ln/>
        </p:spPr>
      </p:sp>
      <p:sp>
        <p:nvSpPr>
          <p:cNvPr id="10" name="Text 8"/>
          <p:cNvSpPr txBox="1"/>
          <p:nvPr/>
        </p:nvSpPr>
        <p:spPr>
          <a:xfrm>
            <a:off x="999622" y="2347377"/>
            <a:ext cx="1039673" cy="259466"/>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11635"/>
            <a:ext cx="623804" cy="286950"/>
          </a:xfrm>
          <a:prstGeom prst="roundRect">
            <a:avLst>
              <a:gd name="adj" fmla="val 22000"/>
            </a:avLst>
          </a:prstGeom>
          <a:solidFill>
            <a:srgbClr val="8FA3B5"/>
          </a:solidFill>
          <a:ln/>
        </p:spPr>
      </p:sp>
      <p:sp>
        <p:nvSpPr>
          <p:cNvPr id="12" name="Shape 10"/>
          <p:cNvSpPr/>
          <p:nvPr/>
        </p:nvSpPr>
        <p:spPr>
          <a:xfrm>
            <a:off x="1236667" y="2669025"/>
            <a:ext cx="212093" cy="172170"/>
          </a:xfrm>
          <a:prstGeom prst="roundRect">
            <a:avLst>
              <a:gd name="adj" fmla="val 23333"/>
            </a:avLst>
          </a:prstGeom>
          <a:solidFill>
            <a:srgbClr val="FFFFFF"/>
          </a:solidFill>
          <a:ln/>
        </p:spPr>
      </p:sp>
      <p:sp>
        <p:nvSpPr>
          <p:cNvPr id="13" name="Shape 11"/>
          <p:cNvSpPr/>
          <p:nvPr/>
        </p:nvSpPr>
        <p:spPr>
          <a:xfrm>
            <a:off x="1692737" y="2755110"/>
            <a:ext cx="2148657" cy="0"/>
          </a:xfrm>
          <a:prstGeom prst="line">
            <a:avLst/>
          </a:prstGeom>
          <a:noFill/>
          <a:ln w="63500">
            <a:solidFill>
              <a:srgbClr val="D9463E"/>
            </a:solidFill>
            <a:prstDash val="solid"/>
          </a:ln>
        </p:spPr>
      </p:sp>
      <p:sp>
        <p:nvSpPr>
          <p:cNvPr id="14" name="Shape 12"/>
          <p:cNvSpPr/>
          <p:nvPr/>
        </p:nvSpPr>
        <p:spPr>
          <a:xfrm>
            <a:off x="3841394" y="2588310"/>
            <a:ext cx="121295" cy="333600"/>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919472" y="1420220"/>
            <a:ext cx="347472" cy="347472"/>
          </a:xfrm>
          <a:prstGeom prst="ellipse">
            <a:avLst/>
          </a:prstGeom>
          <a:solidFill>
            <a:srgbClr val="D9463E"/>
          </a:solidFill>
          <a:ln/>
        </p:spPr>
      </p:sp>
      <p:sp>
        <p:nvSpPr>
          <p:cNvPr id="18" name="Text 1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16332"/>
            <a:ext cx="36576" cy="237744"/>
          </a:xfrm>
          <a:prstGeom prst="rect">
            <a:avLst/>
          </a:prstGeom>
          <a:solidFill>
            <a:srgbClr val="00A896"/>
          </a:solidFill>
          <a:ln/>
        </p:spPr>
      </p:sp>
      <p:sp>
        <p:nvSpPr>
          <p:cNvPr id="23" name="Text 21"/>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943828"/>
            <a:ext cx="36576" cy="237744"/>
          </a:xfrm>
          <a:prstGeom prst="rect">
            <a:avLst/>
          </a:prstGeom>
          <a:solidFill>
            <a:srgbClr val="00A896"/>
          </a:solidFill>
          <a:ln/>
        </p:spPr>
      </p:sp>
      <p:sp>
        <p:nvSpPr>
          <p:cNvPr id="25" name="Text 23"/>
          <p:cNvSpPr txBox="1"/>
          <p:nvPr/>
        </p:nvSpPr>
        <p:spPr>
          <a:xfrm>
            <a:off x="5047488" y="290725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436483"/>
            <a:ext cx="36576" cy="237744"/>
          </a:xfrm>
          <a:prstGeom prst="rect">
            <a:avLst/>
          </a:prstGeom>
          <a:solidFill>
            <a:srgbClr val="00A896"/>
          </a:solidFill>
          <a:ln/>
        </p:spPr>
      </p:sp>
      <p:sp>
        <p:nvSpPr>
          <p:cNvPr id="27" name="Text 25"/>
          <p:cNvSpPr txBox="1"/>
          <p:nvPr/>
        </p:nvSpPr>
        <p:spPr>
          <a:xfrm>
            <a:off x="5047488" y="339990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393561" y="2510206"/>
            <a:ext cx="144138" cy="144138"/>
          </a:xfrm>
          <a:prstGeom prst="ellipse">
            <a:avLst/>
          </a:prstGeom>
          <a:solidFill>
            <a:srgbClr val="D8E4EC"/>
          </a:solidFill>
          <a:ln/>
        </p:spPr>
      </p:sp>
      <p:sp>
        <p:nvSpPr>
          <p:cNvPr id="9" name="Shape 7"/>
          <p:cNvSpPr/>
          <p:nvPr/>
        </p:nvSpPr>
        <p:spPr>
          <a:xfrm>
            <a:off x="1350319" y="2668758"/>
            <a:ext cx="230621" cy="259449"/>
          </a:xfrm>
          <a:prstGeom prst="roundRect">
            <a:avLst>
              <a:gd name="adj" fmla="val 111019"/>
            </a:avLst>
          </a:prstGeom>
          <a:solidFill>
            <a:srgbClr val="D8E4EC"/>
          </a:solidFill>
          <a:ln/>
        </p:spPr>
      </p:sp>
      <p:sp>
        <p:nvSpPr>
          <p:cNvPr id="10" name="Shape 8"/>
          <p:cNvSpPr/>
          <p:nvPr/>
        </p:nvSpPr>
        <p:spPr>
          <a:xfrm rot="960000">
            <a:off x="1310681" y="2690378"/>
            <a:ext cx="57655" cy="187380"/>
          </a:xfrm>
          <a:prstGeom prst="rect">
            <a:avLst/>
          </a:prstGeom>
          <a:solidFill>
            <a:srgbClr val="D8E4EC"/>
          </a:solidFill>
          <a:ln/>
        </p:spPr>
      </p:sp>
      <p:sp>
        <p:nvSpPr>
          <p:cNvPr id="11" name="Shape 9"/>
          <p:cNvSpPr/>
          <p:nvPr/>
        </p:nvSpPr>
        <p:spPr>
          <a:xfrm rot="-960000">
            <a:off x="1562923" y="2690378"/>
            <a:ext cx="57655" cy="187380"/>
          </a:xfrm>
          <a:prstGeom prst="rect">
            <a:avLst/>
          </a:prstGeom>
          <a:solidFill>
            <a:srgbClr val="D8E4EC"/>
          </a:solidFill>
          <a:ln/>
        </p:spPr>
      </p:sp>
      <p:sp>
        <p:nvSpPr>
          <p:cNvPr id="12" name="Shape 10"/>
          <p:cNvSpPr/>
          <p:nvPr/>
        </p:nvSpPr>
        <p:spPr>
          <a:xfrm rot="300000">
            <a:off x="1389957" y="2892172"/>
            <a:ext cx="64862" cy="259449"/>
          </a:xfrm>
          <a:prstGeom prst="rect">
            <a:avLst/>
          </a:prstGeom>
          <a:solidFill>
            <a:srgbClr val="D8E4EC"/>
          </a:solidFill>
          <a:ln/>
        </p:spPr>
      </p:sp>
      <p:sp>
        <p:nvSpPr>
          <p:cNvPr id="13" name="Shape 11"/>
          <p:cNvSpPr/>
          <p:nvPr/>
        </p:nvSpPr>
        <p:spPr>
          <a:xfrm rot="-300000">
            <a:off x="1476440" y="2892172"/>
            <a:ext cx="64862" cy="259449"/>
          </a:xfrm>
          <a:prstGeom prst="rect">
            <a:avLst/>
          </a:prstGeom>
          <a:solidFill>
            <a:srgbClr val="D8E4EC"/>
          </a:solidFill>
          <a:ln/>
        </p:spPr>
      </p:sp>
      <p:sp>
        <p:nvSpPr>
          <p:cNvPr id="14" name="Shape 12"/>
          <p:cNvSpPr/>
          <p:nvPr/>
        </p:nvSpPr>
        <p:spPr>
          <a:xfrm>
            <a:off x="971459" y="2384916"/>
            <a:ext cx="858987" cy="923963"/>
          </a:xfrm>
          <a:prstGeom prst="rect">
            <a:avLst/>
          </a:prstGeom>
          <a:ln w="19050">
            <a:solidFill>
              <a:srgbClr val="6FD08C"/>
            </a:solidFill>
            <a:prstDash val="solid"/>
          </a:ln>
        </p:spPr>
      </p:sp>
      <p:sp>
        <p:nvSpPr>
          <p:cNvPr id="15" name="Shape 13"/>
          <p:cNvSpPr/>
          <p:nvPr/>
        </p:nvSpPr>
        <p:spPr>
          <a:xfrm>
            <a:off x="971459" y="2211180"/>
            <a:ext cx="858987" cy="173736"/>
          </a:xfrm>
          <a:prstGeom prst="rect">
            <a:avLst/>
          </a:prstGeom>
          <a:solidFill>
            <a:srgbClr val="6FD08C"/>
          </a:solidFill>
          <a:ln/>
        </p:spPr>
      </p:sp>
      <p:sp>
        <p:nvSpPr>
          <p:cNvPr id="16" name="Text 14"/>
          <p:cNvSpPr txBox="1"/>
          <p:nvPr/>
        </p:nvSpPr>
        <p:spPr>
          <a:xfrm>
            <a:off x="998891" y="2215752"/>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7915" y="2868005"/>
            <a:ext cx="589365" cy="179372"/>
          </a:xfrm>
          <a:prstGeom prst="roundRect">
            <a:avLst>
              <a:gd name="adj" fmla="val 152934"/>
            </a:avLst>
          </a:prstGeom>
          <a:solidFill>
            <a:srgbClr val="C8D3DE"/>
          </a:solidFill>
          <a:ln/>
        </p:spPr>
      </p:sp>
      <p:sp>
        <p:nvSpPr>
          <p:cNvPr id="18" name="Shape 16"/>
          <p:cNvSpPr/>
          <p:nvPr/>
        </p:nvSpPr>
        <p:spPr>
          <a:xfrm>
            <a:off x="3166038" y="2739882"/>
            <a:ext cx="320307" cy="140935"/>
          </a:xfrm>
          <a:prstGeom prst="trapezoid">
            <a:avLst/>
          </a:prstGeom>
          <a:solidFill>
            <a:srgbClr val="C8D3DE">
              <a:alpha val="70000"/>
            </a:srgbClr>
          </a:solidFill>
          <a:ln/>
        </p:spPr>
      </p:sp>
      <p:sp>
        <p:nvSpPr>
          <p:cNvPr id="19" name="Shape 17"/>
          <p:cNvSpPr/>
          <p:nvPr/>
        </p:nvSpPr>
        <p:spPr>
          <a:xfrm>
            <a:off x="3114789" y="3008940"/>
            <a:ext cx="128123" cy="128123"/>
          </a:xfrm>
          <a:prstGeom prst="ellipse">
            <a:avLst/>
          </a:prstGeom>
          <a:solidFill>
            <a:srgbClr val="C8D3DE"/>
          </a:solidFill>
          <a:ln/>
        </p:spPr>
      </p:sp>
      <p:sp>
        <p:nvSpPr>
          <p:cNvPr id="20" name="Shape 18"/>
          <p:cNvSpPr/>
          <p:nvPr/>
        </p:nvSpPr>
        <p:spPr>
          <a:xfrm>
            <a:off x="3422284" y="3008940"/>
            <a:ext cx="128123" cy="128123"/>
          </a:xfrm>
          <a:prstGeom prst="ellipse">
            <a:avLst/>
          </a:prstGeom>
          <a:solidFill>
            <a:srgbClr val="C8D3DE"/>
          </a:solidFill>
          <a:ln/>
        </p:spPr>
      </p:sp>
      <p:sp>
        <p:nvSpPr>
          <p:cNvPr id="21" name="Shape 19"/>
          <p:cNvSpPr/>
          <p:nvPr/>
        </p:nvSpPr>
        <p:spPr>
          <a:xfrm>
            <a:off x="3146819" y="3040971"/>
            <a:ext cx="64061" cy="64061"/>
          </a:xfrm>
          <a:prstGeom prst="ellipse">
            <a:avLst/>
          </a:prstGeom>
          <a:solidFill>
            <a:srgbClr val="FFFFFF"/>
          </a:solidFill>
          <a:ln/>
        </p:spPr>
      </p:sp>
      <p:sp>
        <p:nvSpPr>
          <p:cNvPr id="22" name="Shape 20"/>
          <p:cNvSpPr/>
          <p:nvPr/>
        </p:nvSpPr>
        <p:spPr>
          <a:xfrm>
            <a:off x="3454314" y="3040971"/>
            <a:ext cx="64061" cy="64061"/>
          </a:xfrm>
          <a:prstGeom prst="ellipse">
            <a:avLst/>
          </a:prstGeom>
          <a:solidFill>
            <a:srgbClr val="FFFFFF"/>
          </a:solidFill>
          <a:ln/>
        </p:spPr>
      </p:sp>
      <p:sp>
        <p:nvSpPr>
          <p:cNvPr id="23" name="Shape 21"/>
          <p:cNvSpPr/>
          <p:nvPr/>
        </p:nvSpPr>
        <p:spPr>
          <a:xfrm>
            <a:off x="2689433" y="2487579"/>
            <a:ext cx="1171346" cy="821300"/>
          </a:xfrm>
          <a:prstGeom prst="rect">
            <a:avLst/>
          </a:prstGeom>
          <a:ln w="19050">
            <a:solidFill>
              <a:srgbClr val="4FA8FF"/>
            </a:solidFill>
            <a:prstDash val="solid"/>
          </a:ln>
        </p:spPr>
      </p:sp>
      <p:sp>
        <p:nvSpPr>
          <p:cNvPr id="24" name="Shape 22"/>
          <p:cNvSpPr/>
          <p:nvPr/>
        </p:nvSpPr>
        <p:spPr>
          <a:xfrm>
            <a:off x="2689433" y="2313843"/>
            <a:ext cx="1171346" cy="173736"/>
          </a:xfrm>
          <a:prstGeom prst="rect">
            <a:avLst/>
          </a:prstGeom>
          <a:solidFill>
            <a:srgbClr val="4FA8FF"/>
          </a:solidFill>
          <a:ln/>
        </p:spPr>
      </p:sp>
      <p:sp>
        <p:nvSpPr>
          <p:cNvPr id="25" name="Text 23"/>
          <p:cNvSpPr txBox="1"/>
          <p:nvPr/>
        </p:nvSpPr>
        <p:spPr>
          <a:xfrm>
            <a:off x="2716865" y="2318415"/>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22551"/>
            <a:ext cx="345157" cy="441449"/>
          </a:xfrm>
          <a:prstGeom prst="roundRect">
            <a:avLst>
              <a:gd name="adj" fmla="val 10597"/>
            </a:avLst>
          </a:prstGeom>
          <a:solidFill>
            <a:srgbClr val="2B3945"/>
          </a:solidFill>
          <a:ln/>
        </p:spPr>
      </p:sp>
      <p:sp>
        <p:nvSpPr>
          <p:cNvPr id="27" name="Shape 25"/>
          <p:cNvSpPr/>
          <p:nvPr/>
        </p:nvSpPr>
        <p:spPr>
          <a:xfrm>
            <a:off x="2221863" y="1562281"/>
            <a:ext cx="193288" cy="193288"/>
          </a:xfrm>
          <a:prstGeom prst="ellipse">
            <a:avLst/>
          </a:prstGeom>
          <a:solidFill>
            <a:srgbClr val="FF5A4E"/>
          </a:solidFill>
          <a:ln/>
        </p:spPr>
      </p:sp>
      <p:sp>
        <p:nvSpPr>
          <p:cNvPr id="28" name="Shape 26"/>
          <p:cNvSpPr/>
          <p:nvPr/>
        </p:nvSpPr>
        <p:spPr>
          <a:xfrm>
            <a:off x="2221863" y="1694716"/>
            <a:ext cx="193288" cy="193288"/>
          </a:xfrm>
          <a:prstGeom prst="ellipse">
            <a:avLst/>
          </a:prstGeom>
          <a:solidFill>
            <a:srgbClr val="5F6B75"/>
          </a:solidFill>
          <a:ln/>
        </p:spPr>
      </p:sp>
      <p:sp>
        <p:nvSpPr>
          <p:cNvPr id="29" name="Shape 27"/>
          <p:cNvSpPr/>
          <p:nvPr/>
        </p:nvSpPr>
        <p:spPr>
          <a:xfrm>
            <a:off x="2221863" y="1827151"/>
            <a:ext cx="193288" cy="193288"/>
          </a:xfrm>
          <a:prstGeom prst="ellipse">
            <a:avLst/>
          </a:prstGeom>
          <a:solidFill>
            <a:srgbClr val="5F6B75"/>
          </a:solidFill>
          <a:ln/>
        </p:spPr>
      </p:sp>
      <p:sp>
        <p:nvSpPr>
          <p:cNvPr id="30" name="Shape 28"/>
          <p:cNvSpPr/>
          <p:nvPr/>
        </p:nvSpPr>
        <p:spPr>
          <a:xfrm>
            <a:off x="1986625" y="1486619"/>
            <a:ext cx="663763" cy="513313"/>
          </a:xfrm>
          <a:prstGeom prst="rect">
            <a:avLst/>
          </a:prstGeom>
          <a:ln w="19050">
            <a:solidFill>
              <a:srgbClr val="FFB020"/>
            </a:solidFill>
            <a:prstDash val="solid"/>
          </a:ln>
        </p:spPr>
      </p:sp>
      <p:sp>
        <p:nvSpPr>
          <p:cNvPr id="31" name="Shape 29"/>
          <p:cNvSpPr/>
          <p:nvPr/>
        </p:nvSpPr>
        <p:spPr>
          <a:xfrm>
            <a:off x="1986625" y="1312883"/>
            <a:ext cx="786384" cy="173736"/>
          </a:xfrm>
          <a:prstGeom prst="rect">
            <a:avLst/>
          </a:prstGeom>
          <a:solidFill>
            <a:srgbClr val="FFB020"/>
          </a:solidFill>
          <a:ln/>
        </p:spPr>
      </p:sp>
      <p:sp>
        <p:nvSpPr>
          <p:cNvPr id="32" name="Text 30"/>
          <p:cNvSpPr txBox="1"/>
          <p:nvPr/>
        </p:nvSpPr>
        <p:spPr>
          <a:xfrm>
            <a:off x="2014057" y="131745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950" dirty="0"/>
          </a:p>
        </p:txBody>
      </p:sp>
      <p:sp>
        <p:nvSpPr>
          <p:cNvPr id="43" name="Shape 41"/>
          <p:cNvSpPr/>
          <p:nvPr/>
        </p:nvSpPr>
        <p:spPr>
          <a:xfrm>
            <a:off x="4919472" y="2943828"/>
            <a:ext cx="36576" cy="237744"/>
          </a:xfrm>
          <a:prstGeom prst="rect">
            <a:avLst/>
          </a:prstGeom>
          <a:solidFill>
            <a:srgbClr val="00A896"/>
          </a:solidFill>
          <a:ln/>
        </p:spPr>
      </p:sp>
      <p:sp>
        <p:nvSpPr>
          <p:cNvPr id="44" name="Text 42"/>
          <p:cNvSpPr txBox="1"/>
          <p:nvPr/>
        </p:nvSpPr>
        <p:spPr>
          <a:xfrm>
            <a:off x="5047488" y="290725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950" dirty="0"/>
          </a:p>
        </p:txBody>
      </p:sp>
      <p:sp>
        <p:nvSpPr>
          <p:cNvPr id="45" name="Shape 43"/>
          <p:cNvSpPr/>
          <p:nvPr/>
        </p:nvSpPr>
        <p:spPr>
          <a:xfrm>
            <a:off x="4919472" y="3294151"/>
            <a:ext cx="36576" cy="237744"/>
          </a:xfrm>
          <a:prstGeom prst="rect">
            <a:avLst/>
          </a:prstGeom>
          <a:solidFill>
            <a:srgbClr val="00A896"/>
          </a:solidFill>
          <a:ln/>
        </p:spPr>
      </p:sp>
      <p:sp>
        <p:nvSpPr>
          <p:cNvPr id="46" name="Text 44"/>
          <p:cNvSpPr txBox="1"/>
          <p:nvPr/>
        </p:nvSpPr>
        <p:spPr>
          <a:xfrm>
            <a:off x="5047488" y="325757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2026-09-24T07:22:06Z</dcterms:created>
  <dcterms:modified xsi:type="dcterms:W3CDTF">2026-09-24T07:22:06Z</dcterms:modified>
</cp:coreProperties>
</file>