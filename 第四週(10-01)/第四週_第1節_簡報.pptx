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p:notesSz cx="7560000" cy="106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投影片影像版面配置區 3"/>
          <p:cNvSpPr>
            <a:spLocks noGrp="1" noRot="1" noChangeAspect="1"/>
          </p:cNvSpPr>
          <p:nvPr>
            <p:ph type="sldImg" idx="2"/>
          </p:nvPr>
        </p:nvSpPr>
        <p:spPr>
          <a:xfrm>
            <a:off x="540000" y="540000"/>
            <a:ext cx="6480000" cy="3645000"/>
          </a:xfrm>
          <a:prstGeom prst="rect">
            <a:avLst/>
          </a:prstGeom>
          <a:noFill/>
          <a:ln w="12700">
            <a:solidFill>
              <a:prstClr val="black"/>
            </a:solidFill>
          </a:ln>
        </p:spPr>
        <p:txBody>
          <a:bodyPr vert="horz" wrap="square" anchor="t" lIns="91440" rIns="91440" tIns="45720" bIns="45720"/>
          <a:lstStyle/>
          <a:p>
            <a:pPr algn="l">
              <a:lnSpc>
                <a:spcPct val="115000"/>
              </a:lnSpc>
              <a:spcAft>
                <a:spcPts val="600"/>
              </a:spcAft>
            </a:pPr>
            <a:r>
              <a:rPr sz="1200" lang="zh-TW" dirty="0">
                <a:solidFill>
                  <a:srgbClr val="000000"/>
                </a:solidFill>
                <a:latin typeface="Arial Unicode MS"/>
                <a:ea typeface="Arial Unicode MS"/>
                <a:cs typeface="Arial Unicode MS"/>
              </a:rPr>
              <a:t/>
            </a:r>
          </a:p>
        </p:txBody>
      </p:sp>
      <p:sp>
        <p:nvSpPr>
          <p:cNvPr id="5" name="備忘稿版面配置區 4"/>
          <p:cNvSpPr>
            <a:spLocks noGrp="1"/>
          </p:cNvSpPr>
          <p:nvPr>
            <p:ph type="body" idx="3"/>
          </p:nvPr>
        </p:nvSpPr>
        <p:spPr>
          <a:xfrm>
            <a:off x="540000" y="4440000"/>
            <a:ext cx="6480000" cy="5500000"/>
          </a:xfrm>
          <a:prstGeom prst="rect">
            <a:avLst/>
          </a:prstGeom>
        </p:spPr>
        <p:txBody>
          <a:bodyPr vert="horz" wrap="square" anchor="t" lIns="91440" rIns="91440" tIns="45720" bIns="45720"/>
          <a:lstStyle/>
          <a:p>
            <a:pPr algn="l">
              <a:lnSpc>
                <a:spcPct val="115000"/>
              </a:lnSpc>
              <a:spcAft>
                <a:spcPts val="600"/>
              </a:spcAft>
            </a:pPr>
            <a:r>
              <a:rPr sz="1200" lang="zh-TW" dirty="0">
                <a:solidFill>
                  <a:srgbClr val="000000"/>
                </a:solidFill>
                <a:latin typeface="Arial Unicode MS"/>
                <a:ea typeface="Arial Unicode MS"/>
                <a:cs typeface="Arial Unicode MS"/>
              </a:rPr>
              <a:t/>
            </a:r>
          </a:p>
        </p:txBody>
      </p:sp>
      <p:sp>
        <p:nvSpPr>
          <p:cNvPr id="7" name="投影片編號版面配置區 6"/>
          <p:cNvSpPr>
            <a:spLocks noGrp="1"/>
          </p:cNvSpPr>
          <p:nvPr>
            <p:ph type="sldNum" idx="5"/>
          </p:nvPr>
        </p:nvSpPr>
        <p:spPr>
          <a:xfrm>
            <a:off x="6500000" y="10200000"/>
            <a:ext cx="500000" cy="300000"/>
          </a:xfrm>
          <a:prstGeom prst="rect">
            <a:avLst/>
          </a:prstGeom>
        </p:spPr>
        <p:txBody>
          <a:bodyPr vert="horz" wrap="square" anchor="t" lIns="91440" rIns="91440" tIns="45720" bIns="45720"/>
          <a:lstStyle/>
          <a:p>
            <a:pPr algn="l">
              <a:lnSpc>
                <a:spcPct val="115000"/>
              </a:lnSpc>
              <a:spcAft>
                <a:spcPts val="600"/>
              </a:spcAft>
            </a:pPr>
            <a:r>
              <a:rPr sz="1200" lang="zh-TW" dirty="0">
                <a:solidFill>
                  <a:srgbClr val="000000"/>
                </a:solidFill>
                <a:latin typeface="Arial Unicode MS"/>
                <a:ea typeface="Arial Unicode MS"/>
                <a:cs typeface="Arial Unicode MS"/>
              </a:rPr>
              <a:t/>
            </a:r>
          </a:p>
        </p:txBody>
      </p:sp>
    </p:spTree>
    <p:extLst>
      <p:ext uri="{BB962C8B-B14F-4D97-AF65-F5344CB8AC3E}">
        <p14:creationId xmlns:p14="http://schemas.microsoft.com/office/powerpoint/2010/main" val="742958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Unicode MS"/>
        <a:ea typeface="Arial Unicode MS"/>
        <a:cs typeface="Arial Unicode MS"/>
      </a:defRPr>
    </a:lvl1pPr>
    <a:lvl2pPr marL="457200" algn="l" defTabSz="914400" rtl="0" eaLnBrk="1" latinLnBrk="0" hangingPunct="1">
      <a:defRPr sz="1200" kern="1200">
        <a:solidFill>
          <a:schemeClr val="tx1"/>
        </a:solidFill>
        <a:latin typeface="Arial Unicode MS"/>
        <a:ea typeface="Arial Unicode MS"/>
        <a:cs typeface="Arial Unicode MS"/>
      </a:defRPr>
    </a:lvl2pPr>
    <a:lvl3pPr marL="914400" algn="l" defTabSz="914400" rtl="0" eaLnBrk="1" latinLnBrk="0" hangingPunct="1">
      <a:defRPr sz="1200" kern="1200">
        <a:solidFill>
          <a:schemeClr val="tx1"/>
        </a:solidFill>
        <a:latin typeface="Arial Unicode MS"/>
        <a:ea typeface="Arial Unicode MS"/>
        <a:cs typeface="Arial Unicode MS"/>
      </a:defRPr>
    </a:lvl3pPr>
    <a:lvl4pPr marL="1371600" algn="l" defTabSz="914400" rtl="0" eaLnBrk="1" latinLnBrk="0" hangingPunct="1">
      <a:defRPr sz="1200" kern="1200">
        <a:solidFill>
          <a:schemeClr val="tx1"/>
        </a:solidFill>
        <a:latin typeface="Arial Unicode MS"/>
        <a:ea typeface="Arial Unicode MS"/>
        <a:cs typeface="Arial Unicode MS"/>
      </a:defRPr>
    </a:lvl4pPr>
    <a:lvl5pPr marL="1828800" algn="l" defTabSz="914400" rtl="0" eaLnBrk="1" latinLnBrk="0" hangingPunct="1">
      <a:defRPr sz="1200" kern="1200">
        <a:solidFill>
          <a:schemeClr val="tx1"/>
        </a:solidFill>
        <a:latin typeface="Arial Unicode MS"/>
        <a:ea typeface="Arial Unicode MS"/>
        <a:cs typeface="Arial Unicode MS"/>
      </a:defRPr>
    </a:lvl5pPr>
    <a:lvl6pPr marL="2286000" algn="l" defTabSz="914400" rtl="0" eaLnBrk="1" latinLnBrk="0" hangingPunct="1">
      <a:defRPr sz="1200" kern="1200">
        <a:solidFill>
          <a:schemeClr val="tx1"/>
        </a:solidFill>
        <a:latin typeface="Arial Unicode MS"/>
        <a:ea typeface="Arial Unicode MS"/>
        <a:cs typeface="Arial Unicode MS"/>
      </a:defRPr>
    </a:lvl6pPr>
    <a:lvl7pPr marL="2743200" algn="l" defTabSz="914400" rtl="0" eaLnBrk="1" latinLnBrk="0" hangingPunct="1">
      <a:defRPr sz="1200" kern="1200">
        <a:solidFill>
          <a:schemeClr val="tx1"/>
        </a:solidFill>
        <a:latin typeface="Arial Unicode MS"/>
        <a:ea typeface="Arial Unicode MS"/>
        <a:cs typeface="Arial Unicode MS"/>
      </a:defRPr>
    </a:lvl7pPr>
    <a:lvl8pPr marL="3200400" algn="l" defTabSz="914400" rtl="0" eaLnBrk="1" latinLnBrk="0" hangingPunct="1">
      <a:defRPr sz="1200" kern="1200">
        <a:solidFill>
          <a:schemeClr val="tx1"/>
        </a:solidFill>
        <a:latin typeface="Arial Unicode MS"/>
        <a:ea typeface="Arial Unicode MS"/>
        <a:cs typeface="Arial Unicode MS"/>
      </a:defRPr>
    </a:lvl8pPr>
    <a:lvl9pPr marL="3657600" algn="l" defTabSz="914400" rtl="0" eaLnBrk="1" latinLnBrk="0" hangingPunct="1">
      <a:defRPr sz="1200" kern="1200">
        <a:solidFill>
          <a:schemeClr val="tx1"/>
        </a:solidFill>
        <a:latin typeface="Arial Unicode MS"/>
        <a:ea typeface="Arial Unicode MS"/>
        <a:cs typeface="Arial Unicode M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各位早。
</a:t>
            </a:r>
          </a:p>
          <a:p>
            <a:pPr algn="l">
              <a:lnSpc>
                <a:spcPct val="100000"/>
              </a:lnSpc>
              <a:spcAft>
                <a:spcPts val="400"/>
              </a:spcAft>
            </a:pPr>
            <a:r>
              <a:rPr sz="1200" lang="zh-TW" dirty="0">
                <a:solidFill>
                  <a:srgbClr val="000000"/>
                </a:solidFill>
                <a:latin typeface="Arial Unicode MS"/>
                <a:ea typeface="Arial Unicode MS"/>
                <a:cs typeface="Arial Unicode MS"/>
              </a:rPr>
              <a:t>上週最後一張投影片，我寫了一句話：</a:t>
            </a:r>
            <a:r>
              <a:rPr sz="1200" b="1" lang="zh-TW" dirty="0">
                <a:solidFill>
                  <a:srgbClr val="000000"/>
                </a:solidFill>
                <a:latin typeface="Arial Unicode MS"/>
                <a:ea typeface="Arial Unicode MS"/>
                <a:cs typeface="Arial Unicode MS"/>
              </a:rPr>
              <a:t>下週把這六樣感測器，裝到一台會跑的車上，看它停不停得住。</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今天只裝</a:t>
            </a:r>
            <a:r>
              <a:rPr sz="1200" b="1" lang="zh-TW" dirty="0">
                <a:solidFill>
                  <a:srgbClr val="000000"/>
                </a:solidFill>
                <a:latin typeface="Arial Unicode MS"/>
                <a:ea typeface="Arial Unicode MS"/>
                <a:cs typeface="Arial Unicode MS"/>
              </a:rPr>
              <a:t>一樣</a:t>
            </a:r>
            <a:r>
              <a:rPr sz="1200" lang="zh-TW" dirty="0">
                <a:solidFill>
                  <a:srgbClr val="000000"/>
                </a:solidFill>
                <a:latin typeface="Arial Unicode MS"/>
                <a:ea typeface="Arial Unicode MS"/>
                <a:cs typeface="Arial Unicode MS"/>
              </a:rPr>
              <a:t>：光達，而且只講它的</a:t>
            </a:r>
            <a:r>
              <a:rPr sz="1200" b="1" lang="zh-TW" dirty="0">
                <a:solidFill>
                  <a:srgbClr val="000000"/>
                </a:solidFill>
                <a:latin typeface="Arial Unicode MS"/>
                <a:ea typeface="Arial Unicode MS"/>
                <a:cs typeface="Arial Unicode MS"/>
              </a:rPr>
              <a:t>三行規格</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（指封面）今天要回答的問題寫在上面：</a:t>
            </a:r>
            <a:r>
              <a:rPr sz="1200" b="1" lang="zh-TW" dirty="0">
                <a:solidFill>
                  <a:srgbClr val="000000"/>
                </a:solidFill>
                <a:latin typeface="Arial Unicode MS"/>
                <a:ea typeface="Arial Unicode MS"/>
                <a:cs typeface="Arial Unicode MS"/>
              </a:rPr>
              <a:t>感測器要多好，車子才停得住？</a:t>
            </a:r>
            <a:r>
              <a:rPr sz="1200" lang="zh-TW" dirty="0">
                <a:solidFill>
                  <a:srgbClr val="000000"/>
                </a:solidFill>
                <a:latin typeface="Arial Unicode MS"/>
                <a:ea typeface="Arial Unicode MS"/>
                <a:cs typeface="Arial Unicode MS"/>
              </a:rPr>
              <a:t>底下三條是走法。
</a:t>
            </a:r>
          </a:p>
          <a:p>
            <a:pPr algn="l">
              <a:lnSpc>
                <a:spcPct val="100000"/>
              </a:lnSpc>
              <a:spcAft>
                <a:spcPts val="400"/>
              </a:spcAft>
            </a:pPr>
            <a:r>
              <a:rPr sz="1200" lang="zh-TW" dirty="0">
                <a:solidFill>
                  <a:srgbClr val="000000"/>
                </a:solidFill>
                <a:latin typeface="Arial Unicode MS"/>
                <a:ea typeface="Arial Unicode MS"/>
                <a:cs typeface="Arial Unicode MS"/>
              </a:rPr>
              <a:t>下週開始的第三章會把整張規格表讀一遍——相機、雷達、超音波、GPS，還有光達今天沒講到的那幾行。
</a:t>
            </a:r>
          </a:p>
          <a:p>
            <a:pPr algn="l">
              <a:lnSpc>
                <a:spcPct val="100000"/>
              </a:lnSpc>
              <a:spcAft>
                <a:spcPts val="400"/>
              </a:spcAft>
            </a:pPr>
            <a:r>
              <a:rPr sz="1200" lang="zh-TW" dirty="0">
                <a:solidFill>
                  <a:srgbClr val="000000"/>
                </a:solidFill>
                <a:latin typeface="Arial Unicode MS"/>
                <a:ea typeface="Arial Unicode MS"/>
                <a:cs typeface="Arial Unicode MS"/>
              </a:rPr>
              <a:t>上週實驗室那台車不會動，只量得到「看得到多遠」。今天車子會自己跑。
</a:t>
            </a:r>
          </a:p>
          <a:p>
            <a:pPr algn="l">
              <a:lnSpc>
                <a:spcPct val="100000"/>
              </a:lnSpc>
              <a:spcAft>
                <a:spcPts val="400"/>
              </a:spcAft>
            </a:pPr>
            <a:r>
              <a:rPr sz="1200" lang="zh-TW" dirty="0">
                <a:solidFill>
                  <a:srgbClr val="000000"/>
                </a:solidFill>
                <a:latin typeface="Arial Unicode MS"/>
                <a:ea typeface="Arial Unicode MS"/>
                <a:cs typeface="Arial Unicode MS"/>
              </a:rPr>
              <a:t>先講清楚，今天不是要說模擬沒有用。模擬像一道篩子：過不了關的根本不用上真車；過了關，也只是拿到一張門票。
</a:t>
            </a:r>
          </a:p>
          <a:p>
            <a:pPr algn="l">
              <a:lnSpc>
                <a:spcPct val="100000"/>
              </a:lnSpc>
              <a:spcAft>
                <a:spcPts val="400"/>
              </a:spcAft>
            </a:pPr>
            <a:r>
              <a:rPr sz="1200" lang="zh-TW" dirty="0">
                <a:solidFill>
                  <a:srgbClr val="000000"/>
                </a:solidFill>
                <a:latin typeface="Arial Unicode MS"/>
                <a:ea typeface="Arial Unicode MS"/>
                <a:cs typeface="Arial Unicode MS"/>
              </a:rPr>
              <a:t>投影片我寫得比平常詳細，哪一句沒聽懂，直接看螢幕上的字就好。</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a:t>
            </a: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今天三節要做三件事，我先講一遍，各位心裡有個底。
</a:t>
            </a:r>
          </a:p>
          <a:p>
            <a:pPr algn="l">
              <a:lnSpc>
                <a:spcPct val="100000"/>
              </a:lnSpc>
              <a:spcAft>
                <a:spcPts val="400"/>
              </a:spcAft>
            </a:pPr>
            <a:r>
              <a:rPr sz="1200" b="1" lang="zh-TW" dirty="0">
                <a:solidFill>
                  <a:srgbClr val="000000"/>
                </a:solidFill>
                <a:latin typeface="Arial Unicode MS"/>
                <a:ea typeface="Arial Unicode MS"/>
                <a:cs typeface="Arial Unicode MS"/>
              </a:rPr>
              <a:t>第一節，也就是現在。</a:t>
            </a:r>
            <a:r>
              <a:rPr sz="1200" lang="zh-TW" dirty="0">
                <a:solidFill>
                  <a:srgbClr val="000000"/>
                </a:solidFill>
                <a:latin typeface="Arial Unicode MS"/>
                <a:ea typeface="Arial Unicode MS"/>
                <a:cs typeface="Arial Unicode MS"/>
              </a:rPr>
              <a:t>我們要看模擬器上那三個滑桿，在真車的規格表上各自叫什麼名字。然後回答一個問題：為什麼不能隨便選。
</a:t>
            </a:r>
          </a:p>
          <a:p>
            <a:pPr algn="l">
              <a:lnSpc>
                <a:spcPct val="100000"/>
              </a:lnSpc>
              <a:spcAft>
                <a:spcPts val="400"/>
              </a:spcAft>
            </a:pPr>
            <a:r>
              <a:rPr sz="1200" b="1" lang="zh-TW" dirty="0">
                <a:solidFill>
                  <a:srgbClr val="000000"/>
                </a:solidFill>
                <a:latin typeface="Arial Unicode MS"/>
                <a:ea typeface="Arial Unicode MS"/>
                <a:cs typeface="Arial Unicode MS"/>
              </a:rPr>
              <a:t>第二節。</a:t>
            </a:r>
            <a:r>
              <a:rPr sz="1200" lang="zh-TW" dirty="0">
                <a:solidFill>
                  <a:srgbClr val="000000"/>
                </a:solidFill>
                <a:latin typeface="Arial Unicode MS"/>
                <a:ea typeface="Arial Unicode MS"/>
                <a:cs typeface="Arial Unicode MS"/>
              </a:rPr>
              <a:t>要怎麼測，才知道一台自駕車安全？答案不是跑里程，是「場景」。
</a:t>
            </a:r>
          </a:p>
          <a:p>
            <a:pPr algn="l">
              <a:lnSpc>
                <a:spcPct val="100000"/>
              </a:lnSpc>
              <a:spcAft>
                <a:spcPts val="400"/>
              </a:spcAft>
            </a:pPr>
            <a:r>
              <a:rPr sz="1200" b="1" lang="zh-TW" dirty="0">
                <a:solidFill>
                  <a:srgbClr val="000000"/>
                </a:solidFill>
                <a:latin typeface="Arial Unicode MS"/>
                <a:ea typeface="Arial Unicode MS"/>
                <a:cs typeface="Arial Unicode MS"/>
              </a:rPr>
              <a:t>第三節上機。</a:t>
            </a:r>
            <a:r>
              <a:rPr sz="1200" lang="zh-TW" dirty="0">
                <a:solidFill>
                  <a:srgbClr val="000000"/>
                </a:solidFill>
                <a:latin typeface="Arial Unicode MS"/>
                <a:ea typeface="Arial Unicode MS"/>
                <a:cs typeface="Arial Unicode MS"/>
              </a:rPr>
              <a:t>各位自己為河內配一組感測器。那三個數字請自己留著。
</a:t>
            </a:r>
          </a:p>
          <a:p>
            <a:pPr algn="l">
              <a:lnSpc>
                <a:spcPct val="100000"/>
              </a:lnSpc>
              <a:spcAft>
                <a:spcPts val="400"/>
              </a:spcAft>
            </a:pPr>
            <a:r>
              <a:rPr sz="1200" lang="zh-TW" dirty="0">
                <a:solidFill>
                  <a:srgbClr val="000000"/>
                </a:solidFill>
                <a:latin typeface="Arial Unicode MS"/>
                <a:ea typeface="Arial Unicode MS"/>
                <a:cs typeface="Arial Unicode MS"/>
              </a:rPr>
              <a:t>三節連起來，回答的是同一個問題——</a:t>
            </a:r>
            <a:r>
              <a:rPr sz="1200" b="1" lang="zh-TW" dirty="0">
                <a:solidFill>
                  <a:srgbClr val="000000"/>
                </a:solidFill>
                <a:latin typeface="Arial Unicode MS"/>
                <a:ea typeface="Arial Unicode MS"/>
                <a:cs typeface="Arial Unicode MS"/>
              </a:rPr>
              <a:t>在電腦裡跑得好，憑什麼相信真車上路也可以？</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a:t>
            </a: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我們花兩分鐘先把它打開，不要等到第三節才手忙腳亂。
</a:t>
            </a:r>
          </a:p>
          <a:p>
            <a:pPr algn="l">
              <a:lnSpc>
                <a:spcPct val="100000"/>
              </a:lnSpc>
              <a:spcAft>
                <a:spcPts val="400"/>
              </a:spcAft>
            </a:pPr>
            <a:r>
              <a:rPr sz="1200" lang="zh-TW" dirty="0">
                <a:solidFill>
                  <a:srgbClr val="000000"/>
                </a:solidFill>
                <a:latin typeface="Arial Unicode MS"/>
                <a:ea typeface="Arial Unicode MS"/>
                <a:cs typeface="Arial Unicode MS"/>
              </a:rPr>
              <a:t>這是一支新的工具，跟上週的感測器實驗室不一樣。上週那台車是不會動的，這一支會自己跑。
</a:t>
            </a:r>
          </a:p>
          <a:p>
            <a:pPr algn="l">
              <a:lnSpc>
                <a:spcPct val="100000"/>
              </a:lnSpc>
              <a:spcAft>
                <a:spcPts val="400"/>
              </a:spcAft>
            </a:pPr>
            <a:r>
              <a:rPr sz="1200" lang="zh-TW" dirty="0">
                <a:solidFill>
                  <a:srgbClr val="000000"/>
                </a:solidFill>
                <a:latin typeface="Arial Unicode MS"/>
                <a:ea typeface="Arial Unicode MS"/>
                <a:cs typeface="Arial Unicode MS"/>
              </a:rPr>
              <a:t>這週</a:t>
            </a:r>
            <a:r>
              <a:rPr sz="1200" b="1" lang="zh-TW" dirty="0">
                <a:solidFill>
                  <a:srgbClr val="000000"/>
                </a:solidFill>
                <a:latin typeface="Arial Unicode MS"/>
                <a:ea typeface="Arial Unicode MS"/>
                <a:cs typeface="Arial Unicode MS"/>
              </a:rPr>
              <a:t>建議用筆電</a:t>
            </a:r>
            <a:r>
              <a:rPr sz="1200" lang="zh-TW" dirty="0">
                <a:solidFill>
                  <a:srgbClr val="000000"/>
                </a:solidFill>
                <a:latin typeface="Arial Unicode MS"/>
                <a:ea typeface="Arial Unicode MS"/>
                <a:cs typeface="Arial Unicode MS"/>
              </a:rPr>
              <a:t>，不要用手機。理由很簡單：今天要一邊看車子跑、一邊調三個滑桿、還要記數字，手機螢幕太小。
</a:t>
            </a:r>
          </a:p>
          <a:p>
            <a:pPr algn="l">
              <a:lnSpc>
                <a:spcPct val="100000"/>
              </a:lnSpc>
              <a:spcAft>
                <a:spcPts val="400"/>
              </a:spcAft>
            </a:pPr>
            <a:r>
              <a:rPr sz="1200" lang="zh-TW" dirty="0">
                <a:solidFill>
                  <a:srgbClr val="000000"/>
                </a:solidFill>
                <a:latin typeface="Arial Unicode MS"/>
                <a:ea typeface="Arial Unicode MS"/>
                <a:cs typeface="Arial Unicode MS"/>
              </a:rPr>
              <a:t>打開之後車子就會自己跑，不用按任何按鈕。
</a:t>
            </a:r>
          </a:p>
          <a:p>
            <a:pPr algn="l">
              <a:lnSpc>
                <a:spcPct val="100000"/>
              </a:lnSpc>
              <a:spcAft>
                <a:spcPts val="400"/>
              </a:spcAft>
            </a:pPr>
            <a:r>
              <a:rPr sz="1200" lang="zh-TW" dirty="0">
                <a:solidFill>
                  <a:srgbClr val="000000"/>
                </a:solidFill>
                <a:latin typeface="Arial Unicode MS"/>
                <a:ea typeface="Arial Unicode MS"/>
                <a:cs typeface="Arial Unicode MS"/>
              </a:rPr>
              <a:t>請各位先看一分鐘，</a:t>
            </a:r>
            <a:r>
              <a:rPr sz="1200" b="1" lang="zh-TW" dirty="0">
                <a:solidFill>
                  <a:srgbClr val="000000"/>
                </a:solidFill>
                <a:latin typeface="Arial Unicode MS"/>
                <a:ea typeface="Arial Unicode MS"/>
                <a:cs typeface="Arial Unicode MS"/>
              </a:rPr>
              <a:t>注意車頭前面那幾條淡黃色的線</a:t>
            </a:r>
            <a:r>
              <a:rPr sz="1200" lang="zh-TW" dirty="0">
                <a:solidFill>
                  <a:srgbClr val="000000"/>
                </a:solidFill>
                <a:latin typeface="Arial Unicode MS"/>
                <a:ea typeface="Arial Unicode MS"/>
                <a:cs typeface="Arial Unicode MS"/>
              </a:rPr>
              <a:t>。那就是這台車的感測器，今天整堂課都在講它。我們給它一個名字：</a:t>
            </a:r>
            <a:r>
              <a:rPr sz="1200" b="1" lang="zh-TW" dirty="0">
                <a:solidFill>
                  <a:srgbClr val="000000"/>
                </a:solidFill>
                <a:latin typeface="Arial Unicode MS"/>
                <a:ea typeface="Arial Unicode MS"/>
                <a:cs typeface="Arial Unicode MS"/>
              </a:rPr>
              <a:t>射線</a:t>
            </a:r>
            <a:r>
              <a:rPr sz="1200" lang="zh-TW" dirty="0">
                <a:solidFill>
                  <a:srgbClr val="000000"/>
                </a:solidFill>
                <a:latin typeface="Arial Unicode MS"/>
                <a:ea typeface="Arial Unicode MS"/>
                <a:cs typeface="Arial Unicode MS"/>
              </a:rPr>
              <a:t>。後面投影片上寫「射線數」「射線長度」，講的就是那幾條線。
</a:t>
            </a:r>
          </a:p>
          <a:p>
            <a:pPr algn="l">
              <a:lnSpc>
                <a:spcPct val="100000"/>
              </a:lnSpc>
              <a:spcAft>
                <a:spcPts val="400"/>
              </a:spcAft>
            </a:pPr>
            <a:r>
              <a:rPr sz="1200" lang="zh-TW" dirty="0">
                <a:solidFill>
                  <a:srgbClr val="000000"/>
                </a:solidFill>
                <a:latin typeface="Arial Unicode MS"/>
                <a:ea typeface="Arial Unicode MS"/>
                <a:cs typeface="Arial Unicode MS"/>
              </a:rPr>
              <a:t>還有一件事：模擬器</a:t>
            </a:r>
            <a:r>
              <a:rPr sz="1200" b="1" lang="zh-TW" dirty="0">
                <a:solidFill>
                  <a:srgbClr val="000000"/>
                </a:solidFill>
                <a:latin typeface="Arial Unicode MS"/>
                <a:ea typeface="Arial Unicode MS"/>
                <a:cs typeface="Arial Unicode MS"/>
              </a:rPr>
              <a:t>左上角多了一個語言切換鈕</a:t>
            </a:r>
            <a:r>
              <a:rPr sz="1200" lang="zh-TW" dirty="0">
                <a:solidFill>
                  <a:srgbClr val="000000"/>
                </a:solidFill>
                <a:latin typeface="Arial Unicode MS"/>
                <a:ea typeface="Arial Unicode MS"/>
                <a:cs typeface="Arial Unicode MS"/>
              </a:rPr>
              <a:t>。預設是越南文，想看中文的同學按旁邊那顆「中文」就會全部換過去。等一下上機我講的按鈕名稱都會用越南文那邊的字。
</a:t>
            </a:r>
          </a:p>
          <a:p>
            <a:pPr algn="l">
              <a:lnSpc>
                <a:spcPct val="100000"/>
              </a:lnSpc>
              <a:spcAft>
                <a:spcPts val="400"/>
              </a:spcAft>
            </a:pPr>
            <a:r>
              <a:rPr sz="1200" lang="zh-TW" dirty="0">
                <a:solidFill>
                  <a:srgbClr val="000000"/>
                </a:solidFill>
                <a:latin typeface="Arial Unicode MS"/>
                <a:ea typeface="Arial Unicode MS"/>
                <a:cs typeface="Arial Unicode MS"/>
              </a:rPr>
              <a:t>沒帶筆電的同學，請跟隔壁的同學併桌一起看。等全部的人都打開了我們再往下。</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3</a:t>
            </a: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第一段。模擬器上那三個滑桿，在真車的規格表上叫什麼名字。
</a:t>
            </a:r>
          </a:p>
          <a:p>
            <a:pPr algn="l">
              <a:lnSpc>
                <a:spcPct val="100000"/>
              </a:lnSpc>
              <a:spcAft>
                <a:spcPts val="400"/>
              </a:spcAft>
            </a:pPr>
            <a:r>
              <a:rPr sz="1200" lang="zh-TW" dirty="0">
                <a:solidFill>
                  <a:srgbClr val="000000"/>
                </a:solidFill>
                <a:latin typeface="Arial Unicode MS"/>
                <a:ea typeface="Arial Unicode MS"/>
                <a:cs typeface="Arial Unicode MS"/>
              </a:rPr>
              <a:t>先交代一件事：</a:t>
            </a:r>
            <a:r>
              <a:rPr sz="1200" b="1" lang="zh-TW" dirty="0">
                <a:solidFill>
                  <a:srgbClr val="000000"/>
                </a:solidFill>
                <a:latin typeface="Arial Unicode MS"/>
                <a:ea typeface="Arial Unicode MS"/>
                <a:cs typeface="Arial Unicode MS"/>
              </a:rPr>
              <a:t>這幾條射線是上週那個光達的簡化版</a:t>
            </a:r>
            <a:r>
              <a:rPr sz="1200" lang="zh-TW" dirty="0">
                <a:solidFill>
                  <a:srgbClr val="000000"/>
                </a:solidFill>
                <a:latin typeface="Arial Unicode MS"/>
                <a:ea typeface="Arial Unicode MS"/>
                <a:cs typeface="Arial Unicode MS"/>
              </a:rPr>
              <a:t>——真光達上下分好幾層、一層打幾百個點，我們只留</a:t>
            </a:r>
            <a:r>
              <a:rPr sz="1200" b="1" lang="zh-TW" dirty="0">
                <a:solidFill>
                  <a:srgbClr val="000000"/>
                </a:solidFill>
                <a:latin typeface="Arial Unicode MS"/>
                <a:ea typeface="Arial Unicode MS"/>
                <a:cs typeface="Arial Unicode MS"/>
              </a:rPr>
              <a:t>一層、幾條</a:t>
            </a:r>
            <a:r>
              <a:rPr sz="1200" lang="zh-TW" dirty="0">
                <a:solidFill>
                  <a:srgbClr val="000000"/>
                </a:solidFill>
                <a:latin typeface="Arial Unicode MS"/>
                <a:ea typeface="Arial Unicode MS"/>
                <a:cs typeface="Arial Unicode MS"/>
              </a:rPr>
              <a:t>，為的是讓各位拉得動、算得出來。
</a:t>
            </a:r>
          </a:p>
          <a:p>
            <a:pPr algn="l">
              <a:lnSpc>
                <a:spcPct val="100000"/>
              </a:lnSpc>
              <a:spcAft>
                <a:spcPts val="400"/>
              </a:spcAft>
            </a:pPr>
            <a:r>
              <a:rPr sz="1200" lang="zh-TW" dirty="0">
                <a:solidFill>
                  <a:srgbClr val="000000"/>
                </a:solidFill>
                <a:latin typeface="Arial Unicode MS"/>
                <a:ea typeface="Arial Unicode MS"/>
                <a:cs typeface="Arial Unicode MS"/>
              </a:rPr>
              <a:t>免得誤會，還要講清楚：</a:t>
            </a:r>
            <a:r>
              <a:rPr sz="1200" b="1" lang="zh-TW" dirty="0">
                <a:solidFill>
                  <a:srgbClr val="000000"/>
                </a:solidFill>
                <a:latin typeface="Arial Unicode MS"/>
                <a:ea typeface="Arial Unicode MS"/>
                <a:cs typeface="Arial Unicode MS"/>
              </a:rPr>
              <a:t>接下來問的那三件事，不是光達專屬的。</a:t>
            </a:r>
            <a:r>
              <a:rPr sz="1200" lang="zh-TW" dirty="0">
                <a:solidFill>
                  <a:srgbClr val="000000"/>
                </a:solidFill>
                <a:latin typeface="Arial Unicode MS"/>
                <a:ea typeface="Arial Unicode MS"/>
                <a:cs typeface="Arial Unicode MS"/>
              </a:rPr>
              <a:t>看多遠、看多寬、看多細——相機、雷達也都要回答，只是規格表上名字不一樣。今天學的不是「光達怎麼看」，是「</a:t>
            </a:r>
            <a:r>
              <a:rPr sz="1200" b="1" lang="zh-TW" dirty="0">
                <a:solidFill>
                  <a:srgbClr val="000000"/>
                </a:solidFill>
                <a:latin typeface="Arial Unicode MS"/>
                <a:ea typeface="Arial Unicode MS"/>
                <a:cs typeface="Arial Unicode MS"/>
              </a:rPr>
              <a:t>任何感測器都要交代的三個數字</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為什麼先挑光達？因為它的規格最乾淨——三個數字都拉得動、算得出來。相機和雷達沒這麼直白，要等第三章，也就是</a:t>
            </a:r>
            <a:r>
              <a:rPr sz="1200" b="1" lang="zh-TW" dirty="0">
                <a:solidFill>
                  <a:srgbClr val="000000"/>
                </a:solidFill>
                <a:latin typeface="Arial Unicode MS"/>
                <a:ea typeface="Arial Unicode MS"/>
                <a:cs typeface="Arial Unicode MS"/>
              </a:rPr>
              <a:t>下週開始的第五到第七週</a:t>
            </a:r>
            <a:r>
              <a:rPr sz="1200" lang="zh-TW" dirty="0">
                <a:solidFill>
                  <a:srgbClr val="000000"/>
                </a:solidFill>
                <a:latin typeface="Arial Unicode MS"/>
                <a:ea typeface="Arial Unicode MS"/>
                <a:cs typeface="Arial Unicode MS"/>
              </a:rPr>
              <a:t>。</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4</a:t>
            </a: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這一頁半分鐘。先講為什麼是這三個。
</a:t>
            </a:r>
          </a:p>
          <a:p>
            <a:pPr algn="l">
              <a:lnSpc>
                <a:spcPct val="100000"/>
              </a:lnSpc>
              <a:spcAft>
                <a:spcPts val="400"/>
              </a:spcAft>
            </a:pPr>
            <a:r>
              <a:rPr sz="1200" lang="zh-TW" dirty="0">
                <a:solidFill>
                  <a:srgbClr val="000000"/>
                </a:solidFill>
                <a:latin typeface="Arial Unicode MS"/>
                <a:ea typeface="Arial Unicode MS"/>
                <a:cs typeface="Arial Unicode MS"/>
              </a:rPr>
              <a:t>這三個滑桿回答三個</a:t>
            </a:r>
            <a:r>
              <a:rPr sz="1200" b="1" lang="zh-TW" dirty="0">
                <a:solidFill>
                  <a:srgbClr val="000000"/>
                </a:solidFill>
                <a:latin typeface="Arial Unicode MS"/>
                <a:ea typeface="Arial Unicode MS"/>
                <a:cs typeface="Arial Unicode MS"/>
              </a:rPr>
              <a:t>不同</a:t>
            </a:r>
            <a:r>
              <a:rPr sz="1200" lang="zh-TW" dirty="0">
                <a:solidFill>
                  <a:srgbClr val="000000"/>
                </a:solidFill>
                <a:latin typeface="Arial Unicode MS"/>
                <a:ea typeface="Arial Unicode MS"/>
                <a:cs typeface="Arial Unicode MS"/>
              </a:rPr>
              <a:t>的問題：</a:t>
            </a:r>
            <a:r>
              <a:rPr sz="1200" b="1" lang="zh-TW" dirty="0">
                <a:solidFill>
                  <a:srgbClr val="000000"/>
                </a:solidFill>
                <a:latin typeface="Arial Unicode MS"/>
                <a:ea typeface="Arial Unicode MS"/>
                <a:cs typeface="Arial Unicode MS"/>
              </a:rPr>
              <a:t>看多遠、看多寬、看多細</a:t>
            </a:r>
            <a:r>
              <a:rPr sz="1200" lang="zh-TW" dirty="0">
                <a:solidFill>
                  <a:srgbClr val="000000"/>
                </a:solidFill>
                <a:latin typeface="Arial Unicode MS"/>
                <a:ea typeface="Arial Unicode MS"/>
                <a:cs typeface="Arial Unicode MS"/>
              </a:rPr>
              <a:t>。知道其中兩個，推不出第三個——所以三個都要。
</a:t>
            </a:r>
          </a:p>
          <a:p>
            <a:pPr algn="l">
              <a:lnSpc>
                <a:spcPct val="100000"/>
              </a:lnSpc>
              <a:spcAft>
                <a:spcPts val="400"/>
              </a:spcAft>
            </a:pPr>
            <a:r>
              <a:rPr sz="1200" lang="zh-TW" dirty="0">
                <a:solidFill>
                  <a:srgbClr val="000000"/>
                </a:solidFill>
                <a:latin typeface="Arial Unicode MS"/>
                <a:ea typeface="Arial Unicode MS"/>
                <a:cs typeface="Arial Unicode MS"/>
              </a:rPr>
              <a:t>而且這三題</a:t>
            </a:r>
            <a:r>
              <a:rPr sz="1200" b="1" lang="zh-TW" dirty="0">
                <a:solidFill>
                  <a:srgbClr val="000000"/>
                </a:solidFill>
                <a:latin typeface="Arial Unicode MS"/>
                <a:ea typeface="Arial Unicode MS"/>
                <a:cs typeface="Arial Unicode MS"/>
              </a:rPr>
              <a:t>任何感測器都要回答</a:t>
            </a:r>
            <a:r>
              <a:rPr sz="1200" lang="zh-TW" dirty="0">
                <a:solidFill>
                  <a:srgbClr val="000000"/>
                </a:solidFill>
                <a:latin typeface="Arial Unicode MS"/>
                <a:ea typeface="Arial Unicode MS"/>
                <a:cs typeface="Arial Unicode MS"/>
              </a:rPr>
              <a:t>：相機、雷達也有，只是名字不同。第五週讀真的規格表就會看到。
</a:t>
            </a:r>
          </a:p>
          <a:p>
            <a:pPr algn="l">
              <a:lnSpc>
                <a:spcPct val="100000"/>
              </a:lnSpc>
              <a:spcAft>
                <a:spcPts val="400"/>
              </a:spcAft>
            </a:pPr>
            <a:r>
              <a:rPr sz="1200" lang="zh-TW" dirty="0">
                <a:solidFill>
                  <a:srgbClr val="000000"/>
                </a:solidFill>
                <a:latin typeface="Arial Unicode MS"/>
                <a:ea typeface="Arial Unicode MS"/>
                <a:cs typeface="Arial Unicode MS"/>
              </a:rPr>
              <a:t>請現在拿一張紙，把 </a:t>
            </a:r>
            <a:r>
              <a:rPr sz="1200" b="1" lang="zh-TW" dirty="0">
                <a:solidFill>
                  <a:srgbClr val="000000"/>
                </a:solidFill>
                <a:latin typeface="Arial Unicode MS"/>
                <a:ea typeface="Arial Unicode MS"/>
                <a:cs typeface="Arial Unicode MS"/>
              </a:rPr>
              <a:t>Resolution、Range、FOV</a:t>
            </a:r>
            <a:r>
              <a:rPr sz="1200" lang="zh-TW" dirty="0">
                <a:solidFill>
                  <a:srgbClr val="000000"/>
                </a:solidFill>
                <a:latin typeface="Arial Unicode MS"/>
                <a:ea typeface="Arial Unicode MS"/>
                <a:cs typeface="Arial Unicode MS"/>
              </a:rPr>
              <a:t> 抄下來。</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5</a:t>
            </a: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第一個滑桿：</a:t>
            </a:r>
            <a:r>
              <a:rPr sz="1200" b="1" lang="zh-TW" dirty="0">
                <a:solidFill>
                  <a:srgbClr val="000000"/>
                </a:solidFill>
                <a:latin typeface="Arial Unicode MS"/>
                <a:ea typeface="Arial Unicode MS"/>
                <a:cs typeface="Arial Unicode MS"/>
              </a:rPr>
              <a:t>射線數</a:t>
            </a:r>
            <a:r>
              <a:rPr sz="1200" lang="zh-TW" dirty="0">
                <a:solidFill>
                  <a:srgbClr val="000000"/>
                </a:solidFill>
                <a:latin typeface="Arial Unicode MS"/>
                <a:ea typeface="Arial Unicode MS"/>
                <a:cs typeface="Arial Unicode MS"/>
              </a:rPr>
              <a:t>。規格表上它叫 </a:t>
            </a:r>
            <a:r>
              <a:rPr sz="1200" b="1" lang="zh-TW" dirty="0">
                <a:solidFill>
                  <a:srgbClr val="000000"/>
                </a:solidFill>
                <a:latin typeface="Arial Unicode MS"/>
                <a:ea typeface="Arial Unicode MS"/>
                <a:cs typeface="Arial Unicode MS"/>
              </a:rPr>
              <a:t>Resolution，解析度</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意思很直接：同樣一個視野，你切成幾個方向去看。切得愈細，看得愈清楚。
</a:t>
            </a:r>
          </a:p>
          <a:p>
            <a:pPr algn="l">
              <a:lnSpc>
                <a:spcPct val="100000"/>
              </a:lnSpc>
              <a:spcAft>
                <a:spcPts val="400"/>
              </a:spcAft>
            </a:pPr>
            <a:r>
              <a:rPr sz="1200" lang="zh-TW" dirty="0">
                <a:solidFill>
                  <a:srgbClr val="000000"/>
                </a:solidFill>
                <a:latin typeface="Arial Unicode MS"/>
                <a:ea typeface="Arial Unicode MS"/>
                <a:cs typeface="Arial Unicode MS"/>
              </a:rPr>
              <a:t>看第二列那個比喻——</a:t>
            </a:r>
            <a:r>
              <a:rPr sz="1200" b="1" lang="zh-TW" dirty="0">
                <a:solidFill>
                  <a:srgbClr val="000000"/>
                </a:solidFill>
                <a:latin typeface="Arial Unicode MS"/>
                <a:ea typeface="Arial Unicode MS"/>
                <a:cs typeface="Arial Unicode MS"/>
              </a:rPr>
              <a:t>一把扇子有幾根骨架</a:t>
            </a:r>
            <a:r>
              <a:rPr sz="1200" lang="zh-TW" dirty="0">
                <a:solidFill>
                  <a:srgbClr val="000000"/>
                </a:solidFill>
                <a:latin typeface="Arial Unicode MS"/>
                <a:ea typeface="Arial Unicode MS"/>
                <a:cs typeface="Arial Unicode MS"/>
              </a:rPr>
              <a:t>。骨架愈多，扇面上的空隙愈小。
</a:t>
            </a:r>
          </a:p>
          <a:p>
            <a:pPr algn="l">
              <a:lnSpc>
                <a:spcPct val="100000"/>
              </a:lnSpc>
              <a:spcAft>
                <a:spcPts val="400"/>
              </a:spcAft>
            </a:pPr>
            <a:r>
              <a:rPr sz="1200" lang="zh-TW" dirty="0">
                <a:solidFill>
                  <a:srgbClr val="000000"/>
                </a:solidFill>
                <a:latin typeface="Arial Unicode MS"/>
                <a:ea typeface="Arial Unicode MS"/>
                <a:cs typeface="Arial Unicode MS"/>
              </a:rPr>
              <a:t>我們的模擬器可以從三條拉到六十條。真車的光達每秒打幾十萬到幾百萬個點，差好幾個數量級。
</a:t>
            </a:r>
          </a:p>
          <a:p>
            <a:pPr algn="l">
              <a:lnSpc>
                <a:spcPct val="100000"/>
              </a:lnSpc>
              <a:spcAft>
                <a:spcPts val="400"/>
              </a:spcAft>
            </a:pPr>
            <a:r>
              <a:rPr sz="1200" lang="zh-TW" dirty="0">
                <a:solidFill>
                  <a:srgbClr val="000000"/>
                </a:solidFill>
                <a:latin typeface="Arial Unicode MS"/>
                <a:ea typeface="Arial Unicode MS"/>
                <a:cs typeface="Arial Unicode MS"/>
              </a:rPr>
              <a:t>下一頁看調小會發生什麼事。</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6</a:t>
            </a: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（問全班）射線數調小會發生什麼事？我先放一段動畫，各位看著螢幕。
</a:t>
            </a:r>
          </a:p>
          <a:p>
            <a:pPr algn="l">
              <a:lnSpc>
                <a:spcPct val="100000"/>
              </a:lnSpc>
              <a:spcAft>
                <a:spcPts val="400"/>
              </a:spcAft>
            </a:pPr>
            <a:r>
              <a:rPr sz="1200" lang="zh-TW" dirty="0">
                <a:solidFill>
                  <a:srgbClr val="000000"/>
                </a:solidFill>
                <a:latin typeface="Arial Unicode MS"/>
                <a:ea typeface="Arial Unicode MS"/>
                <a:cs typeface="Arial Unicode MS"/>
              </a:rPr>
              <a:t>可能會有人說，機車會從兩條射線中間鑽過去。對，就是這樣。
</a:t>
            </a:r>
          </a:p>
          <a:p>
            <a:pPr algn="l">
              <a:lnSpc>
                <a:spcPct val="100000"/>
              </a:lnSpc>
              <a:spcAft>
                <a:spcPts val="400"/>
              </a:spcAft>
            </a:pPr>
            <a:r>
              <a:rPr sz="1200" lang="zh-TW" dirty="0">
                <a:solidFill>
                  <a:srgbClr val="000000"/>
                </a:solidFill>
                <a:latin typeface="Arial Unicode MS"/>
                <a:ea typeface="Arial Unicode MS"/>
                <a:cs typeface="Arial Unicode MS"/>
              </a:rPr>
              <a:t>上週第二節我們講過一句話：</a:t>
            </a:r>
            <a:r>
              <a:rPr sz="1200" b="1" lang="zh-TW" dirty="0">
                <a:solidFill>
                  <a:srgbClr val="000000"/>
                </a:solidFill>
                <a:latin typeface="Arial Unicode MS"/>
                <a:ea typeface="Arial Unicode MS"/>
                <a:cs typeface="Arial Unicode MS"/>
              </a:rPr>
              <a:t>不是人變小了，是線跟線之間的縫變寬了。</a:t>
            </a:r>
            <a:r>
              <a:rPr sz="1200" lang="zh-TW" dirty="0">
                <a:solidFill>
                  <a:srgbClr val="000000"/>
                </a:solidFill>
                <a:latin typeface="Arial Unicode MS"/>
                <a:ea typeface="Arial Unicode MS"/>
                <a:cs typeface="Arial Unicode MS"/>
              </a:rPr>
              <a:t>今天是同一件事，只是上週算的是上下方向的縫，今天算左右方向。
</a:t>
            </a:r>
          </a:p>
          <a:p>
            <a:pPr algn="l">
              <a:lnSpc>
                <a:spcPct val="100000"/>
              </a:lnSpc>
              <a:spcAft>
                <a:spcPts val="400"/>
              </a:spcAft>
            </a:pPr>
            <a:r>
              <a:rPr sz="1200" lang="zh-TW" dirty="0">
                <a:solidFill>
                  <a:srgbClr val="000000"/>
                </a:solidFill>
                <a:latin typeface="Arial Unicode MS"/>
                <a:ea typeface="Arial Unicode MS"/>
                <a:cs typeface="Arial Unicode MS"/>
              </a:rPr>
              <a:t>關鍵是</a:t>
            </a:r>
            <a:r>
              <a:rPr sz="1200" b="1" lang="zh-TW" dirty="0">
                <a:solidFill>
                  <a:srgbClr val="000000"/>
                </a:solidFill>
                <a:latin typeface="Arial Unicode MS"/>
                <a:ea typeface="Arial Unicode MS"/>
                <a:cs typeface="Arial Unicode MS"/>
              </a:rPr>
              <a:t>縫有多寬</a:t>
            </a:r>
            <a:r>
              <a:rPr sz="1200" lang="zh-TW" dirty="0">
                <a:solidFill>
                  <a:srgbClr val="000000"/>
                </a:solidFill>
                <a:latin typeface="Arial Unicode MS"/>
                <a:ea typeface="Arial Unicode MS"/>
                <a:cs typeface="Arial Unicode MS"/>
              </a:rPr>
              <a:t>。動畫左上角有寫：張角一百二十度、九條射線的時候，二十五公尺遠的地方，兩條射線相隔</a:t>
            </a:r>
            <a:r>
              <a:rPr sz="1200" b="1" lang="zh-TW" dirty="0">
                <a:solidFill>
                  <a:srgbClr val="000000"/>
                </a:solidFill>
                <a:latin typeface="Arial Unicode MS"/>
                <a:ea typeface="Arial Unicode MS"/>
                <a:cs typeface="Arial Unicode MS"/>
              </a:rPr>
              <a:t>六點五公尺</a:t>
            </a:r>
            <a:r>
              <a:rPr sz="1200" lang="zh-TW" dirty="0">
                <a:solidFill>
                  <a:srgbClr val="000000"/>
                </a:solidFill>
                <a:latin typeface="Arial Unicode MS"/>
                <a:ea typeface="Arial Unicode MS"/>
                <a:cs typeface="Arial Unicode MS"/>
              </a:rPr>
              <a:t>。機車寬多少？</a:t>
            </a:r>
            <a:r>
              <a:rPr sz="1200" b="1" lang="zh-TW" dirty="0">
                <a:solidFill>
                  <a:srgbClr val="000000"/>
                </a:solidFill>
                <a:latin typeface="Arial Unicode MS"/>
                <a:ea typeface="Arial Unicode MS"/>
                <a:cs typeface="Arial Unicode MS"/>
              </a:rPr>
              <a:t>不到一公尺。</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所以那不是「可能看不到」，是</a:t>
            </a:r>
            <a:r>
              <a:rPr sz="1200" b="1" lang="zh-TW" dirty="0">
                <a:solidFill>
                  <a:srgbClr val="000000"/>
                </a:solidFill>
                <a:latin typeface="Arial Unicode MS"/>
                <a:ea typeface="Arial Unicode MS"/>
                <a:cs typeface="Arial Unicode MS"/>
              </a:rPr>
              <a:t>整台機車可以完全藏在縫裡</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第三節上機，把射線數拉到三，跑一次河內尖峰，一次就懂。</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7</a:t>
            </a: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第二個滑桿：</a:t>
            </a:r>
            <a:r>
              <a:rPr sz="1200" b="1" lang="zh-TW" dirty="0">
                <a:solidFill>
                  <a:srgbClr val="000000"/>
                </a:solidFill>
                <a:latin typeface="Arial Unicode MS"/>
                <a:ea typeface="Arial Unicode MS"/>
                <a:cs typeface="Arial Unicode MS"/>
              </a:rPr>
              <a:t>射線長度</a:t>
            </a:r>
            <a:r>
              <a:rPr sz="1200" lang="zh-TW" dirty="0">
                <a:solidFill>
                  <a:srgbClr val="000000"/>
                </a:solidFill>
                <a:latin typeface="Arial Unicode MS"/>
                <a:ea typeface="Arial Unicode MS"/>
                <a:cs typeface="Arial Unicode MS"/>
              </a:rPr>
              <a:t>。規格表上叫 </a:t>
            </a:r>
            <a:r>
              <a:rPr sz="1200" b="1" lang="zh-TW" dirty="0">
                <a:solidFill>
                  <a:srgbClr val="000000"/>
                </a:solidFill>
                <a:latin typeface="Arial Unicode MS"/>
                <a:ea typeface="Arial Unicode MS"/>
                <a:cs typeface="Arial Unicode MS"/>
              </a:rPr>
              <a:t>Range，測距範圍</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白話就是：這條射線能打多遠。</a:t>
            </a:r>
            <a:r>
              <a:rPr sz="1200" b="1" lang="zh-TW" dirty="0">
                <a:solidFill>
                  <a:srgbClr val="000000"/>
                </a:solidFill>
                <a:latin typeface="Arial Unicode MS"/>
                <a:ea typeface="Arial Unicode MS"/>
                <a:cs typeface="Arial Unicode MS"/>
              </a:rPr>
              <a:t>超過這個距離的東西，對車子來說等於不存在。</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我們的模擬器是十到一百二十公尺，真車的光達大約一百五十到三百公尺。
</a:t>
            </a:r>
          </a:p>
          <a:p>
            <a:pPr algn="l">
              <a:lnSpc>
                <a:spcPct val="100000"/>
              </a:lnSpc>
              <a:spcAft>
                <a:spcPts val="400"/>
              </a:spcAft>
            </a:pPr>
            <a:r>
              <a:rPr sz="1200" lang="zh-TW" dirty="0">
                <a:solidFill>
                  <a:srgbClr val="000000"/>
                </a:solidFill>
                <a:latin typeface="Arial Unicode MS"/>
                <a:ea typeface="Arial Unicode MS"/>
                <a:cs typeface="Arial Unicode MS"/>
              </a:rPr>
              <a:t>這個數字有一個很硬的下限，不是你想選多少就多少。為什麼？
</a:t>
            </a:r>
          </a:p>
          <a:p>
            <a:pPr algn="l">
              <a:lnSpc>
                <a:spcPct val="100000"/>
              </a:lnSpc>
              <a:spcAft>
                <a:spcPts val="400"/>
              </a:spcAft>
            </a:pPr>
            <a:r>
              <a:rPr sz="1200" lang="zh-TW" dirty="0">
                <a:solidFill>
                  <a:srgbClr val="000000"/>
                </a:solidFill>
                <a:latin typeface="Arial Unicode MS"/>
                <a:ea typeface="Arial Unicode MS"/>
                <a:cs typeface="Arial Unicode MS"/>
              </a:rPr>
              <a:t>（等學生想一下。）因為如果你看到的時候已經來不及煞車，看到跟沒看到是一樣的。
</a:t>
            </a:r>
          </a:p>
          <a:p>
            <a:pPr algn="l">
              <a:lnSpc>
                <a:spcPct val="100000"/>
              </a:lnSpc>
              <a:spcAft>
                <a:spcPts val="400"/>
              </a:spcAft>
            </a:pPr>
            <a:r>
              <a:rPr sz="1200" lang="zh-TW" dirty="0">
                <a:solidFill>
                  <a:srgbClr val="000000"/>
                </a:solidFill>
                <a:latin typeface="Arial Unicode MS"/>
                <a:ea typeface="Arial Unicode MS"/>
                <a:cs typeface="Arial Unicode MS"/>
              </a:rPr>
              <a:t>我們先停在這裡，等一下用煞停距離把這個下限算出來。</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8</a:t>
            </a: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第三個滑桿：</a:t>
            </a:r>
            <a:r>
              <a:rPr sz="1200" b="1" lang="zh-TW" dirty="0">
                <a:solidFill>
                  <a:srgbClr val="000000"/>
                </a:solidFill>
                <a:latin typeface="Arial Unicode MS"/>
                <a:ea typeface="Arial Unicode MS"/>
                <a:cs typeface="Arial Unicode MS"/>
              </a:rPr>
              <a:t>張角</a:t>
            </a:r>
            <a:r>
              <a:rPr sz="1200" lang="zh-TW" dirty="0">
                <a:solidFill>
                  <a:srgbClr val="000000"/>
                </a:solidFill>
                <a:latin typeface="Arial Unicode MS"/>
                <a:ea typeface="Arial Unicode MS"/>
                <a:cs typeface="Arial Unicode MS"/>
              </a:rPr>
              <a:t>。規格表上叫 </a:t>
            </a:r>
            <a:r>
              <a:rPr sz="1200" b="1" lang="zh-TW" dirty="0">
                <a:solidFill>
                  <a:srgbClr val="000000"/>
                </a:solidFill>
                <a:latin typeface="Arial Unicode MS"/>
                <a:ea typeface="Arial Unicode MS"/>
                <a:cs typeface="Arial Unicode MS"/>
              </a:rPr>
              <a:t>Field of view，視野</a:t>
            </a:r>
            <a:r>
              <a:rPr sz="1200" lang="zh-TW" dirty="0">
                <a:solidFill>
                  <a:srgbClr val="000000"/>
                </a:solidFill>
                <a:latin typeface="Arial Unicode MS"/>
                <a:ea typeface="Arial Unicode MS"/>
                <a:cs typeface="Arial Unicode MS"/>
              </a:rPr>
              <a:t>，簡稱 FOV。
</a:t>
            </a:r>
          </a:p>
          <a:p>
            <a:pPr algn="l">
              <a:lnSpc>
                <a:spcPct val="100000"/>
              </a:lnSpc>
              <a:spcAft>
                <a:spcPts val="400"/>
              </a:spcAft>
            </a:pPr>
            <a:r>
              <a:rPr sz="1200" lang="zh-TW" dirty="0">
                <a:solidFill>
                  <a:srgbClr val="000000"/>
                </a:solidFill>
                <a:latin typeface="Arial Unicode MS"/>
                <a:ea typeface="Arial Unicode MS"/>
                <a:cs typeface="Arial Unicode MS"/>
              </a:rPr>
              <a:t>白話就是扇子張開幾度。一百八十度就是整個前方，二十度只是一條窄窄的走廊。
</a:t>
            </a:r>
          </a:p>
          <a:p>
            <a:pPr algn="l">
              <a:lnSpc>
                <a:spcPct val="100000"/>
              </a:lnSpc>
              <a:spcAft>
                <a:spcPts val="400"/>
              </a:spcAft>
            </a:pPr>
            <a:r>
              <a:rPr sz="1200" lang="zh-TW" dirty="0">
                <a:solidFill>
                  <a:srgbClr val="000000"/>
                </a:solidFill>
                <a:latin typeface="Arial Unicode MS"/>
                <a:ea typeface="Arial Unicode MS"/>
                <a:cs typeface="Arial Unicode MS"/>
              </a:rPr>
              <a:t>調窄會怎樣？從側面切進來的機車完全看不到。
</a:t>
            </a:r>
          </a:p>
          <a:p>
            <a:pPr algn="l">
              <a:lnSpc>
                <a:spcPct val="100000"/>
              </a:lnSpc>
              <a:spcAft>
                <a:spcPts val="400"/>
              </a:spcAft>
            </a:pPr>
            <a:r>
              <a:rPr sz="1200" lang="zh-TW" dirty="0">
                <a:solidFill>
                  <a:srgbClr val="000000"/>
                </a:solidFill>
                <a:latin typeface="Arial Unicode MS"/>
                <a:ea typeface="Arial Unicode MS"/>
                <a:cs typeface="Arial Unicode MS"/>
              </a:rPr>
              <a:t>那調寬呢？很多人直覺會說「調寬一定比較好」。下一頁我們看它的代價。</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9</a:t>
            </a: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調寬會怎樣？這題上週剛講過，大家想一下。
</a:t>
            </a:r>
          </a:p>
          <a:p>
            <a:pPr algn="l">
              <a:lnSpc>
                <a:spcPct val="100000"/>
              </a:lnSpc>
              <a:spcAft>
                <a:spcPts val="400"/>
              </a:spcAft>
            </a:pPr>
            <a:r>
              <a:rPr sz="1200" lang="zh-TW" dirty="0">
                <a:solidFill>
                  <a:srgbClr val="000000"/>
                </a:solidFill>
                <a:latin typeface="Arial Unicode MS"/>
                <a:ea typeface="Arial Unicode MS"/>
                <a:cs typeface="Arial Unicode MS"/>
              </a:rPr>
              <a:t>對——</a:t>
            </a:r>
            <a:r>
              <a:rPr sz="1200" b="1" lang="zh-TW" dirty="0">
                <a:solidFill>
                  <a:srgbClr val="000000"/>
                </a:solidFill>
                <a:latin typeface="Arial Unicode MS"/>
                <a:ea typeface="Arial Unicode MS"/>
                <a:cs typeface="Arial Unicode MS"/>
              </a:rPr>
              <a:t>同樣的射線數被攤開，每個方向就變稀</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看前兩張卡的數字：一百二十度的時候縫是六點五公尺，拉到一百八十度，縫變成十公尺。射線一條都沒少，可是每個方向都變差了。
</a:t>
            </a:r>
          </a:p>
          <a:p>
            <a:pPr algn="l">
              <a:lnSpc>
                <a:spcPct val="100000"/>
              </a:lnSpc>
              <a:spcAft>
                <a:spcPts val="400"/>
              </a:spcAft>
            </a:pPr>
            <a:r>
              <a:rPr sz="1200" lang="zh-TW" dirty="0">
                <a:solidFill>
                  <a:srgbClr val="000000"/>
                </a:solidFill>
                <a:latin typeface="Arial Unicode MS"/>
                <a:ea typeface="Arial Unicode MS"/>
                <a:cs typeface="Arial Unicode MS"/>
              </a:rPr>
              <a:t>所以真車的做法是什麼？答案是</a:t>
            </a:r>
            <a:r>
              <a:rPr sz="1200" b="1" lang="zh-TW" dirty="0">
                <a:solidFill>
                  <a:srgbClr val="000000"/>
                </a:solidFill>
                <a:latin typeface="Arial Unicode MS"/>
                <a:ea typeface="Arial Unicode MS"/>
                <a:cs typeface="Arial Unicode MS"/>
              </a:rPr>
              <a:t>裝好幾顆，分工</a:t>
            </a:r>
            <a:r>
              <a:rPr sz="1200" lang="zh-TW" dirty="0">
                <a:solidFill>
                  <a:srgbClr val="000000"/>
                </a:solidFill>
                <a:latin typeface="Arial Unicode MS"/>
                <a:ea typeface="Arial Unicode MS"/>
                <a:cs typeface="Arial Unicode MS"/>
              </a:rPr>
              <a:t>。一顆看遠的窄視野，幾顆看近的廣視野。
</a:t>
            </a:r>
          </a:p>
          <a:p>
            <a:pPr algn="l">
              <a:lnSpc>
                <a:spcPct val="100000"/>
              </a:lnSpc>
              <a:spcAft>
                <a:spcPts val="400"/>
              </a:spcAft>
            </a:pPr>
            <a:r>
              <a:rPr sz="1200" b="1" lang="zh-TW" dirty="0">
                <a:solidFill>
                  <a:srgbClr val="000000"/>
                </a:solidFill>
                <a:latin typeface="Arial Unicode MS"/>
                <a:ea typeface="Arial Unicode MS"/>
                <a:cs typeface="Arial Unicode MS"/>
              </a:rPr>
              <a:t>第五週我會拿真正的光達規格表來讀給各位看。</a:t>
            </a:r>
            <a:r>
              <a:rPr sz="1200" lang="zh-TW" dirty="0">
                <a:solidFill>
                  <a:srgbClr val="000000"/>
                </a:solidFill>
                <a:latin typeface="Arial Unicode MS"/>
                <a:ea typeface="Arial Unicode MS"/>
                <a:cs typeface="Arial Unicode MS"/>
              </a:rPr>
              <a:t>上面就是這三個數字，再加一個更新率。</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10</a:t>
            </a: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在往下講之前，先把問題講清楚。
</a:t>
            </a:r>
          </a:p>
          <a:p>
            <a:pPr algn="l">
              <a:lnSpc>
                <a:spcPct val="100000"/>
              </a:lnSpc>
              <a:spcAft>
                <a:spcPts val="400"/>
              </a:spcAft>
            </a:pPr>
            <a:r>
              <a:rPr sz="1200" lang="zh-TW" dirty="0">
                <a:solidFill>
                  <a:srgbClr val="000000"/>
                </a:solidFill>
                <a:latin typeface="Arial Unicode MS"/>
                <a:ea typeface="Arial Unicode MS"/>
                <a:cs typeface="Arial Unicode MS"/>
              </a:rPr>
              <a:t>射線長度這個滑桿，你可以從十拉到一百二十。但</a:t>
            </a:r>
            <a:r>
              <a:rPr sz="1200" b="1" lang="zh-TW" dirty="0">
                <a:solidFill>
                  <a:srgbClr val="000000"/>
                </a:solidFill>
                <a:latin typeface="Arial Unicode MS"/>
                <a:ea typeface="Arial Unicode MS"/>
                <a:cs typeface="Arial Unicode MS"/>
              </a:rPr>
              <a:t>不是你想選多少就多少</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為什麼？如果你看到的時候已經來不及煞車，那看到跟沒看到是一樣的。
</a:t>
            </a:r>
          </a:p>
          <a:p>
            <a:pPr algn="l">
              <a:lnSpc>
                <a:spcPct val="100000"/>
              </a:lnSpc>
              <a:spcAft>
                <a:spcPts val="400"/>
              </a:spcAft>
            </a:pPr>
            <a:r>
              <a:rPr sz="1200" lang="zh-TW" dirty="0">
                <a:solidFill>
                  <a:srgbClr val="000000"/>
                </a:solidFill>
                <a:latin typeface="Arial Unicode MS"/>
                <a:ea typeface="Arial Unicode MS"/>
                <a:cs typeface="Arial Unicode MS"/>
              </a:rPr>
              <a:t>所以「射線要多長」這個問題，答案不在感測器身上，</a:t>
            </a:r>
            <a:r>
              <a:rPr sz="1200" b="1" lang="zh-TW" dirty="0">
                <a:solidFill>
                  <a:srgbClr val="000000"/>
                </a:solidFill>
                <a:latin typeface="Arial Unicode MS"/>
                <a:ea typeface="Arial Unicode MS"/>
                <a:cs typeface="Arial Unicode MS"/>
              </a:rPr>
              <a:t>在物理身上</a:t>
            </a:r>
            <a:r>
              <a:rPr sz="1200" lang="zh-TW" dirty="0">
                <a:solidFill>
                  <a:srgbClr val="000000"/>
                </a:solidFill>
                <a:latin typeface="Arial Unicode MS"/>
                <a:ea typeface="Arial Unicode MS"/>
                <a:cs typeface="Arial Unicode MS"/>
              </a:rPr>
              <a:t>。接下來三頁我們把它算出來。</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11</a:t>
            </a: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先問一個問題，各位心裡估一下。
</a:t>
            </a:r>
          </a:p>
          <a:p>
            <a:pPr algn="l">
              <a:lnSpc>
                <a:spcPct val="100000"/>
              </a:lnSpc>
              <a:spcAft>
                <a:spcPts val="400"/>
              </a:spcAft>
            </a:pPr>
            <a:r>
              <a:rPr sz="1200" b="1" lang="zh-TW" dirty="0">
                <a:solidFill>
                  <a:srgbClr val="000000"/>
                </a:solidFill>
                <a:latin typeface="Arial Unicode MS"/>
                <a:ea typeface="Arial Unicode MS"/>
                <a:cs typeface="Arial Unicode MS"/>
              </a:rPr>
              <a:t>時速五十，從你看到前車，到車子完全停住，一共走了多遠？</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（讓學生猜，通常會猜得太短。）
</a:t>
            </a:r>
          </a:p>
          <a:p>
            <a:pPr algn="l">
              <a:lnSpc>
                <a:spcPct val="100000"/>
              </a:lnSpc>
              <a:spcAft>
                <a:spcPts val="400"/>
              </a:spcAft>
            </a:pPr>
            <a:r>
              <a:rPr sz="1200" lang="zh-TW" dirty="0">
                <a:solidFill>
                  <a:srgbClr val="000000"/>
                </a:solidFill>
                <a:latin typeface="Arial Unicode MS"/>
                <a:ea typeface="Arial Unicode MS"/>
                <a:cs typeface="Arial Unicode MS"/>
              </a:rPr>
              <a:t>算之前先換單位。時速五十是每小時五十公里，</a:t>
            </a:r>
            <a:r>
              <a:rPr sz="1200" b="1" lang="zh-TW" dirty="0">
                <a:solidFill>
                  <a:srgbClr val="000000"/>
                </a:solidFill>
                <a:latin typeface="Arial Unicode MS"/>
                <a:ea typeface="Arial Unicode MS"/>
                <a:cs typeface="Arial Unicode MS"/>
              </a:rPr>
              <a:t>除以三點六</a:t>
            </a:r>
            <a:r>
              <a:rPr sz="1200" lang="zh-TW" dirty="0">
                <a:solidFill>
                  <a:srgbClr val="000000"/>
                </a:solidFill>
                <a:latin typeface="Arial Unicode MS"/>
                <a:ea typeface="Arial Unicode MS"/>
                <a:cs typeface="Arial Unicode MS"/>
              </a:rPr>
              <a:t>就是每秒幾公尺——等於</a:t>
            </a:r>
            <a:r>
              <a:rPr sz="1200" b="1" lang="zh-TW" dirty="0">
                <a:solidFill>
                  <a:srgbClr val="000000"/>
                </a:solidFill>
                <a:latin typeface="Arial Unicode MS"/>
                <a:ea typeface="Arial Unicode MS"/>
                <a:cs typeface="Arial Unicode MS"/>
              </a:rPr>
              <a:t>每秒十三點九公尺</a:t>
            </a:r>
            <a:r>
              <a:rPr sz="1200" lang="zh-TW" dirty="0">
                <a:solidFill>
                  <a:srgbClr val="000000"/>
                </a:solidFill>
                <a:latin typeface="Arial Unicode MS"/>
                <a:ea typeface="Arial Unicode MS"/>
                <a:cs typeface="Arial Unicode MS"/>
              </a:rPr>
              <a:t>。（一公里一千公尺，一小時三千六百秒，所以是除以三點六。）
</a:t>
            </a:r>
          </a:p>
          <a:p>
            <a:pPr algn="l">
              <a:lnSpc>
                <a:spcPct val="100000"/>
              </a:lnSpc>
              <a:spcAft>
                <a:spcPts val="400"/>
              </a:spcAft>
            </a:pPr>
            <a:r>
              <a:rPr sz="1200" lang="zh-TW" dirty="0">
                <a:solidFill>
                  <a:srgbClr val="000000"/>
                </a:solidFill>
                <a:latin typeface="Arial Unicode MS"/>
                <a:ea typeface="Arial Unicode MS"/>
                <a:cs typeface="Arial Unicode MS"/>
              </a:rPr>
              <a:t>這個距離分成兩段。
</a:t>
            </a:r>
          </a:p>
          <a:p>
            <a:pPr algn="l">
              <a:lnSpc>
                <a:spcPct val="100000"/>
              </a:lnSpc>
              <a:spcAft>
                <a:spcPts val="400"/>
              </a:spcAft>
            </a:pPr>
            <a:r>
              <a:rPr sz="1200" b="1" lang="zh-TW" dirty="0">
                <a:solidFill>
                  <a:srgbClr val="000000"/>
                </a:solidFill>
                <a:latin typeface="Arial Unicode MS"/>
                <a:ea typeface="Arial Unicode MS"/>
                <a:cs typeface="Arial Unicode MS"/>
              </a:rPr>
              <a:t>第一段，反應距離</a:t>
            </a:r>
            <a:r>
              <a:rPr sz="1200" lang="zh-TW" dirty="0">
                <a:solidFill>
                  <a:srgbClr val="000000"/>
                </a:solidFill>
                <a:latin typeface="Arial Unicode MS"/>
                <a:ea typeface="Arial Unicode MS"/>
                <a:cs typeface="Arial Unicode MS"/>
              </a:rPr>
              <a:t>：從你看到，到腳真的踩到煞車，車子全速前進。我們用</a:t>
            </a:r>
            <a:r>
              <a:rPr sz="1200" b="1" lang="zh-TW" dirty="0">
                <a:solidFill>
                  <a:srgbClr val="000000"/>
                </a:solidFill>
                <a:latin typeface="Arial Unicode MS"/>
                <a:ea typeface="Arial Unicode MS"/>
                <a:cs typeface="Arial Unicode MS"/>
              </a:rPr>
              <a:t>零點三秒</a:t>
            </a:r>
            <a:r>
              <a:rPr sz="1200" lang="zh-TW" dirty="0">
                <a:solidFill>
                  <a:srgbClr val="000000"/>
                </a:solidFill>
                <a:latin typeface="Arial Unicode MS"/>
                <a:ea typeface="Arial Unicode MS"/>
                <a:cs typeface="Arial Unicode MS"/>
              </a:rPr>
              <a:t>——那是專心開車的值，疲勞或滑手機會更長，等一下影片會講。十三點九乘零點三，</a:t>
            </a:r>
            <a:r>
              <a:rPr sz="1200" b="1" lang="zh-TW" dirty="0">
                <a:solidFill>
                  <a:srgbClr val="000000"/>
                </a:solidFill>
                <a:latin typeface="Arial Unicode MS"/>
                <a:ea typeface="Arial Unicode MS"/>
                <a:cs typeface="Arial Unicode MS"/>
              </a:rPr>
              <a:t>四點二公尺</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b="1" lang="zh-TW" dirty="0">
                <a:solidFill>
                  <a:srgbClr val="000000"/>
                </a:solidFill>
                <a:latin typeface="Arial Unicode MS"/>
                <a:ea typeface="Arial Unicode MS"/>
                <a:cs typeface="Arial Unicode MS"/>
              </a:rPr>
              <a:t>第二段，煞車距離</a:t>
            </a:r>
            <a:r>
              <a:rPr sz="1200" lang="zh-TW" dirty="0">
                <a:solidFill>
                  <a:srgbClr val="000000"/>
                </a:solidFill>
                <a:latin typeface="Arial Unicode MS"/>
                <a:ea typeface="Arial Unicode MS"/>
                <a:cs typeface="Arial Unicode MS"/>
              </a:rPr>
              <a:t>：這一段要用到</a:t>
            </a:r>
            <a:r>
              <a:rPr sz="1200" b="1" lang="zh-TW" dirty="0">
                <a:solidFill>
                  <a:srgbClr val="000000"/>
                </a:solidFill>
                <a:latin typeface="Arial Unicode MS"/>
                <a:ea typeface="Arial Unicode MS"/>
                <a:cs typeface="Arial Unicode MS"/>
              </a:rPr>
              <a:t>減速度六</a:t>
            </a:r>
            <a:r>
              <a:rPr sz="1200" lang="zh-TW" dirty="0">
                <a:solidFill>
                  <a:srgbClr val="000000"/>
                </a:solidFill>
                <a:latin typeface="Arial Unicode MS"/>
                <a:ea typeface="Arial Unicode MS"/>
                <a:cs typeface="Arial Unicode MS"/>
              </a:rPr>
              <a:t>，每過一秒車速掉六公尺每秒。那是一般房車在</a:t>
            </a:r>
            <a:r>
              <a:rPr sz="1200" b="1" lang="zh-TW" dirty="0">
                <a:solidFill>
                  <a:srgbClr val="000000"/>
                </a:solidFill>
                <a:latin typeface="Arial Unicode MS"/>
                <a:ea typeface="Arial Unicode MS"/>
                <a:cs typeface="Arial Unicode MS"/>
              </a:rPr>
              <a:t>乾柏油路</a:t>
            </a:r>
            <a:r>
              <a:rPr sz="1200" lang="zh-TW" dirty="0">
                <a:solidFill>
                  <a:srgbClr val="000000"/>
                </a:solidFill>
                <a:latin typeface="Arial Unicode MS"/>
                <a:ea typeface="Arial Unicode MS"/>
                <a:cs typeface="Arial Unicode MS"/>
              </a:rPr>
              <a:t>上踩得夠用力的值。</a:t>
            </a:r>
            <a:r>
              <a:rPr sz="1200" b="1" lang="zh-TW" dirty="0">
                <a:solidFill>
                  <a:srgbClr val="000000"/>
                </a:solidFill>
                <a:latin typeface="Arial Unicode MS"/>
                <a:ea typeface="Arial Unicode MS"/>
                <a:cs typeface="Arial Unicode MS"/>
              </a:rPr>
              <a:t>這個六跟車速無關</a:t>
            </a:r>
            <a:r>
              <a:rPr sz="1200" lang="zh-TW" dirty="0">
                <a:solidFill>
                  <a:srgbClr val="000000"/>
                </a:solidFill>
                <a:latin typeface="Arial Unicode MS"/>
                <a:ea typeface="Arial Unicode MS"/>
                <a:cs typeface="Arial Unicode MS"/>
              </a:rPr>
              <a:t>，是輪胎和路面決定的。濕路面只剩一半，後面會再遇到。
</a:t>
            </a:r>
          </a:p>
          <a:p>
            <a:pPr algn="l">
              <a:lnSpc>
                <a:spcPct val="100000"/>
              </a:lnSpc>
              <a:spcAft>
                <a:spcPts val="400"/>
              </a:spcAft>
            </a:pPr>
            <a:r>
              <a:rPr sz="1200" lang="zh-TW" dirty="0">
                <a:solidFill>
                  <a:srgbClr val="000000"/>
                </a:solidFill>
                <a:latin typeface="Arial Unicode MS"/>
                <a:ea typeface="Arial Unicode MS"/>
                <a:cs typeface="Arial Unicode MS"/>
              </a:rPr>
              <a:t>怎麼算？下一頁拆成兩步。</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12</a:t>
            </a: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第二段，煞車距離。拆成兩步，跟著螢幕上那三步算。
</a:t>
            </a:r>
          </a:p>
          <a:p>
            <a:pPr algn="l">
              <a:lnSpc>
                <a:spcPct val="100000"/>
              </a:lnSpc>
              <a:spcAft>
                <a:spcPts val="400"/>
              </a:spcAft>
            </a:pPr>
            <a:r>
              <a:rPr sz="1200" b="1" lang="zh-TW" dirty="0">
                <a:solidFill>
                  <a:srgbClr val="000000"/>
                </a:solidFill>
                <a:latin typeface="Arial Unicode MS"/>
                <a:ea typeface="Arial Unicode MS"/>
                <a:cs typeface="Arial Unicode MS"/>
              </a:rPr>
              <a:t>第一步，煞多久才停？</a:t>
            </a:r>
            <a:r>
              <a:rPr sz="1200" lang="zh-TW" dirty="0">
                <a:solidFill>
                  <a:srgbClr val="000000"/>
                </a:solidFill>
                <a:latin typeface="Arial Unicode MS"/>
                <a:ea typeface="Arial Unicode MS"/>
                <a:cs typeface="Arial Unicode MS"/>
              </a:rPr>
              <a:t>時速五十是每秒十三點九公尺，每過一秒減掉六——就是上一頁那個減速度。跟著螢幕上那一行數一次：十三點九、</a:t>
            </a:r>
            <a:r>
              <a:rPr sz="1200" b="1" lang="zh-TW" dirty="0">
                <a:solidFill>
                  <a:srgbClr val="000000"/>
                </a:solidFill>
                <a:latin typeface="Arial Unicode MS"/>
                <a:ea typeface="Arial Unicode MS"/>
                <a:cs typeface="Arial Unicode MS"/>
              </a:rPr>
              <a:t>七點九</a:t>
            </a:r>
            <a:r>
              <a:rPr sz="1200" lang="zh-TW" dirty="0">
                <a:solidFill>
                  <a:srgbClr val="000000"/>
                </a:solidFill>
                <a:latin typeface="Arial Unicode MS"/>
                <a:ea typeface="Arial Unicode MS"/>
                <a:cs typeface="Arial Unicode MS"/>
              </a:rPr>
              <a:t>、</a:t>
            </a:r>
            <a:r>
              <a:rPr sz="1200" b="1" lang="zh-TW" dirty="0">
                <a:solidFill>
                  <a:srgbClr val="000000"/>
                </a:solidFill>
                <a:latin typeface="Arial Unicode MS"/>
                <a:ea typeface="Arial Unicode MS"/>
                <a:cs typeface="Arial Unicode MS"/>
              </a:rPr>
              <a:t>一點九</a:t>
            </a:r>
            <a:r>
              <a:rPr sz="1200" lang="zh-TW" dirty="0">
                <a:solidFill>
                  <a:srgbClr val="000000"/>
                </a:solidFill>
                <a:latin typeface="Arial Unicode MS"/>
                <a:ea typeface="Arial Unicode MS"/>
                <a:cs typeface="Arial Unicode MS"/>
              </a:rPr>
              <a:t>、零。</a:t>
            </a:r>
            <a:r>
              <a:rPr sz="1200" b="1" lang="zh-TW" dirty="0">
                <a:solidFill>
                  <a:srgbClr val="000000"/>
                </a:solidFill>
                <a:latin typeface="Arial Unicode MS"/>
                <a:ea typeface="Arial Unicode MS"/>
                <a:cs typeface="Arial Unicode MS"/>
              </a:rPr>
              <a:t>兩點三秒</a:t>
            </a:r>
            <a:r>
              <a:rPr sz="1200" lang="zh-TW" dirty="0">
                <a:solidFill>
                  <a:srgbClr val="000000"/>
                </a:solidFill>
                <a:latin typeface="Arial Unicode MS"/>
                <a:ea typeface="Arial Unicode MS"/>
                <a:cs typeface="Arial Unicode MS"/>
              </a:rPr>
              <a:t>就停住了，也就是十三點九除以六。
</a:t>
            </a:r>
          </a:p>
          <a:p>
            <a:pPr algn="l">
              <a:lnSpc>
                <a:spcPct val="100000"/>
              </a:lnSpc>
              <a:spcAft>
                <a:spcPts val="400"/>
              </a:spcAft>
            </a:pPr>
            <a:r>
              <a:rPr sz="1200" b="1" lang="zh-TW" dirty="0">
                <a:solidFill>
                  <a:srgbClr val="000000"/>
                </a:solidFill>
                <a:latin typeface="Arial Unicode MS"/>
                <a:ea typeface="Arial Unicode MS"/>
                <a:cs typeface="Arial Unicode MS"/>
              </a:rPr>
              <a:t>第二步，這兩點三秒跑了多遠？</a:t>
            </a:r>
            <a:r>
              <a:rPr sz="1200" lang="zh-TW" dirty="0">
                <a:solidFill>
                  <a:srgbClr val="000000"/>
                </a:solidFill>
                <a:latin typeface="Arial Unicode MS"/>
                <a:ea typeface="Arial Unicode MS"/>
                <a:cs typeface="Arial Unicode MS"/>
              </a:rPr>
              <a:t>注意——車子</a:t>
            </a:r>
            <a:r>
              <a:rPr sz="1200" b="1" lang="zh-TW" dirty="0">
                <a:solidFill>
                  <a:srgbClr val="000000"/>
                </a:solidFill>
                <a:latin typeface="Arial Unicode MS"/>
                <a:ea typeface="Arial Unicode MS"/>
                <a:cs typeface="Arial Unicode MS"/>
              </a:rPr>
              <a:t>不是用十三點九一路衝到停</a:t>
            </a:r>
            <a:r>
              <a:rPr sz="1200" lang="zh-TW" dirty="0">
                <a:solidFill>
                  <a:srgbClr val="000000"/>
                </a:solidFill>
                <a:latin typeface="Arial Unicode MS"/>
                <a:ea typeface="Arial Unicode MS"/>
                <a:cs typeface="Arial Unicode MS"/>
              </a:rPr>
              <a:t>，是一路掉到零，所以要用</a:t>
            </a:r>
            <a:r>
              <a:rPr sz="1200" b="1" lang="zh-TW" dirty="0">
                <a:solidFill>
                  <a:srgbClr val="000000"/>
                </a:solidFill>
                <a:latin typeface="Arial Unicode MS"/>
                <a:ea typeface="Arial Unicode MS"/>
                <a:cs typeface="Arial Unicode MS"/>
              </a:rPr>
              <a:t>平均速度</a:t>
            </a:r>
            <a:r>
              <a:rPr sz="1200" lang="zh-TW" dirty="0">
                <a:solidFill>
                  <a:srgbClr val="000000"/>
                </a:solidFill>
                <a:latin typeface="Arial Unicode MS"/>
                <a:ea typeface="Arial Unicode MS"/>
                <a:cs typeface="Arial Unicode MS"/>
              </a:rPr>
              <a:t>。而且它是</a:t>
            </a:r>
            <a:r>
              <a:rPr sz="1200" b="1" lang="zh-TW" dirty="0">
                <a:solidFill>
                  <a:srgbClr val="000000"/>
                </a:solidFill>
                <a:latin typeface="Arial Unicode MS"/>
                <a:ea typeface="Arial Unicode MS"/>
                <a:cs typeface="Arial Unicode MS"/>
              </a:rPr>
              <a:t>直線</a:t>
            </a:r>
            <a:r>
              <a:rPr sz="1200" lang="zh-TW" dirty="0">
                <a:solidFill>
                  <a:srgbClr val="000000"/>
                </a:solidFill>
                <a:latin typeface="Arial Unicode MS"/>
                <a:ea typeface="Arial Unicode MS"/>
                <a:cs typeface="Arial Unicode MS"/>
              </a:rPr>
              <a:t>掉下來的，所以平均就是頭尾相加除以二，大約</a:t>
            </a:r>
            <a:r>
              <a:rPr sz="1200" b="1" lang="zh-TW" dirty="0">
                <a:solidFill>
                  <a:srgbClr val="000000"/>
                </a:solidFill>
                <a:latin typeface="Arial Unicode MS"/>
                <a:ea typeface="Arial Unicode MS"/>
                <a:cs typeface="Arial Unicode MS"/>
              </a:rPr>
              <a:t>六點九五</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那個除以二</a:t>
            </a:r>
            <a:r>
              <a:rPr sz="1200" b="1" lang="zh-TW" dirty="0">
                <a:solidFill>
                  <a:srgbClr val="000000"/>
                </a:solidFill>
                <a:latin typeface="Arial Unicode MS"/>
                <a:ea typeface="Arial Unicode MS"/>
                <a:cs typeface="Arial Unicode MS"/>
              </a:rPr>
              <a:t>不是兩秒</a:t>
            </a:r>
            <a:r>
              <a:rPr sz="1200" lang="zh-TW" dirty="0">
                <a:solidFill>
                  <a:srgbClr val="000000"/>
                </a:solidFill>
                <a:latin typeface="Arial Unicode MS"/>
                <a:ea typeface="Arial Unicode MS"/>
                <a:cs typeface="Arial Unicode MS"/>
              </a:rPr>
              <a:t>，是「取一半」的意思。六點九五乘兩點三秒，大約</a:t>
            </a:r>
            <a:r>
              <a:rPr sz="1200" b="1" lang="zh-TW" dirty="0">
                <a:solidFill>
                  <a:srgbClr val="000000"/>
                </a:solidFill>
                <a:latin typeface="Arial Unicode MS"/>
                <a:ea typeface="Arial Unicode MS"/>
                <a:cs typeface="Arial Unicode MS"/>
              </a:rPr>
              <a:t>十六公尺</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還有一件事一定要講：</a:t>
            </a:r>
            <a:r>
              <a:rPr sz="1200" b="1" lang="zh-TW" dirty="0">
                <a:solidFill>
                  <a:srgbClr val="000000"/>
                </a:solidFill>
                <a:latin typeface="Arial Unicode MS"/>
                <a:ea typeface="Arial Unicode MS"/>
                <a:cs typeface="Arial Unicode MS"/>
              </a:rPr>
              <a:t>公式裡的 v 是每秒公尺，不是時速。</a:t>
            </a:r>
            <a:r>
              <a:rPr sz="1200" lang="zh-TW" dirty="0">
                <a:solidFill>
                  <a:srgbClr val="000000"/>
                </a:solidFill>
                <a:latin typeface="Arial Unicode MS"/>
                <a:ea typeface="Arial Unicode MS"/>
                <a:cs typeface="Arial Unicode MS"/>
              </a:rPr>
              <a:t>時速五十要先除以三點六變成十三點九再代進去；直接代五十會算出兩百公尺，那是錯的。
</a:t>
            </a:r>
          </a:p>
          <a:p>
            <a:pPr algn="l">
              <a:lnSpc>
                <a:spcPct val="100000"/>
              </a:lnSpc>
              <a:spcAft>
                <a:spcPts val="400"/>
              </a:spcAft>
            </a:pPr>
            <a:r>
              <a:rPr sz="1200" lang="zh-TW" dirty="0">
                <a:solidFill>
                  <a:srgbClr val="000000"/>
                </a:solidFill>
                <a:latin typeface="Arial Unicode MS"/>
                <a:ea typeface="Arial Unicode MS"/>
                <a:cs typeface="Arial Unicode MS"/>
              </a:rPr>
              <a:t>合起來就是速度除以二、再乘速度除以六，也就是平方除以十二。</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13</a:t>
            </a: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把兩段加起來。
</a:t>
            </a:r>
          </a:p>
          <a:p>
            <a:pPr algn="l">
              <a:lnSpc>
                <a:spcPct val="100000"/>
              </a:lnSpc>
              <a:spcAft>
                <a:spcPts val="400"/>
              </a:spcAft>
            </a:pPr>
            <a:r>
              <a:rPr sz="1200" lang="zh-TW" dirty="0">
                <a:solidFill>
                  <a:srgbClr val="000000"/>
                </a:solidFill>
                <a:latin typeface="Arial Unicode MS"/>
                <a:ea typeface="Arial Unicode MS"/>
                <a:cs typeface="Arial Unicode MS"/>
              </a:rPr>
              <a:t>反應距離</a:t>
            </a:r>
            <a:r>
              <a:rPr sz="1200" b="1" lang="zh-TW" dirty="0">
                <a:solidFill>
                  <a:srgbClr val="000000"/>
                </a:solidFill>
                <a:latin typeface="Arial Unicode MS"/>
                <a:ea typeface="Arial Unicode MS"/>
                <a:cs typeface="Arial Unicode MS"/>
              </a:rPr>
              <a:t>四點二公尺</a:t>
            </a:r>
            <a:r>
              <a:rPr sz="1200" lang="zh-TW" dirty="0">
                <a:solidFill>
                  <a:srgbClr val="000000"/>
                </a:solidFill>
                <a:latin typeface="Arial Unicode MS"/>
                <a:ea typeface="Arial Unicode MS"/>
                <a:cs typeface="Arial Unicode MS"/>
              </a:rPr>
              <a:t>，煞車距離</a:t>
            </a:r>
            <a:r>
              <a:rPr sz="1200" b="1" lang="zh-TW" dirty="0">
                <a:solidFill>
                  <a:srgbClr val="000000"/>
                </a:solidFill>
                <a:latin typeface="Arial Unicode MS"/>
                <a:ea typeface="Arial Unicode MS"/>
                <a:cs typeface="Arial Unicode MS"/>
              </a:rPr>
              <a:t>十六點一公尺</a:t>
            </a:r>
            <a:r>
              <a:rPr sz="1200" lang="zh-TW" dirty="0">
                <a:solidFill>
                  <a:srgbClr val="000000"/>
                </a:solidFill>
                <a:latin typeface="Arial Unicode MS"/>
                <a:ea typeface="Arial Unicode MS"/>
                <a:cs typeface="Arial Unicode MS"/>
              </a:rPr>
              <a:t>，合計大約</a:t>
            </a:r>
            <a:r>
              <a:rPr sz="1200" b="1" lang="zh-TW" dirty="0">
                <a:solidFill>
                  <a:srgbClr val="000000"/>
                </a:solidFill>
                <a:latin typeface="Arial Unicode MS"/>
                <a:ea typeface="Arial Unicode MS"/>
                <a:cs typeface="Arial Unicode MS"/>
              </a:rPr>
              <a:t>二十公尺</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所以射線至少要</a:t>
            </a:r>
            <a:r>
              <a:rPr sz="1200" b="1" lang="zh-TW" dirty="0">
                <a:solidFill>
                  <a:srgbClr val="000000"/>
                </a:solidFill>
                <a:latin typeface="Arial Unicode MS"/>
                <a:ea typeface="Arial Unicode MS"/>
                <a:cs typeface="Arial Unicode MS"/>
              </a:rPr>
              <a:t>二十五公尺</a:t>
            </a:r>
            <a:r>
              <a:rPr sz="1200" lang="zh-TW" dirty="0">
                <a:solidFill>
                  <a:srgbClr val="000000"/>
                </a:solidFill>
                <a:latin typeface="Arial Unicode MS"/>
                <a:ea typeface="Arial Unicode MS"/>
                <a:cs typeface="Arial Unicode MS"/>
              </a:rPr>
              <a:t>——多給五公尺的餘裕。
</a:t>
            </a:r>
          </a:p>
          <a:p>
            <a:pPr algn="l">
              <a:lnSpc>
                <a:spcPct val="100000"/>
              </a:lnSpc>
              <a:spcAft>
                <a:spcPts val="400"/>
              </a:spcAft>
            </a:pPr>
            <a:r>
              <a:rPr sz="1200" lang="zh-TW" dirty="0">
                <a:solidFill>
                  <a:srgbClr val="000000"/>
                </a:solidFill>
                <a:latin typeface="Arial Unicode MS"/>
                <a:ea typeface="Arial Unicode MS"/>
                <a:cs typeface="Arial Unicode MS"/>
              </a:rPr>
              <a:t>看左邊那兩條長條。</a:t>
            </a:r>
            <a:r>
              <a:rPr sz="1200" b="1" lang="zh-TW" dirty="0">
                <a:solidFill>
                  <a:srgbClr val="000000"/>
                </a:solidFill>
                <a:latin typeface="Arial Unicode MS"/>
                <a:ea typeface="Arial Unicode MS"/>
                <a:cs typeface="Arial Unicode MS"/>
              </a:rPr>
              <a:t>煞車那一段比反應那一段長得多。</a:t>
            </a:r>
            <a:r>
              <a:rPr sz="1200" lang="zh-TW" dirty="0">
                <a:solidFill>
                  <a:srgbClr val="000000"/>
                </a:solidFill>
                <a:latin typeface="Arial Unicode MS"/>
                <a:ea typeface="Arial Unicode MS"/>
                <a:cs typeface="Arial Unicode MS"/>
              </a:rPr>
              <a:t>而且車速愈快，差距拉得愈開——因為它是平方。
</a:t>
            </a:r>
          </a:p>
          <a:p>
            <a:pPr algn="l">
              <a:lnSpc>
                <a:spcPct val="100000"/>
              </a:lnSpc>
              <a:spcAft>
                <a:spcPts val="400"/>
              </a:spcAft>
            </a:pPr>
            <a:r>
              <a:rPr sz="1200" lang="zh-TW" dirty="0">
                <a:solidFill>
                  <a:srgbClr val="000000"/>
                </a:solidFill>
                <a:latin typeface="Arial Unicode MS"/>
                <a:ea typeface="Arial Unicode MS"/>
                <a:cs typeface="Arial Unicode MS"/>
              </a:rPr>
              <a:t>這是今天第一個硬下限。下一頁講它的意思。</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14</a:t>
            </a: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代完數字，結論是這一句：</a:t>
            </a:r>
            <a:r>
              <a:rPr sz="1200" b="1" lang="zh-TW" dirty="0">
                <a:solidFill>
                  <a:srgbClr val="000000"/>
                </a:solidFill>
                <a:latin typeface="Arial Unicode MS"/>
                <a:ea typeface="Arial Unicode MS"/>
                <a:cs typeface="Arial Unicode MS"/>
              </a:rPr>
              <a:t>比這個距離晚看到，不是可能撞，是一定撞。</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不是「可能」，是「一定」。因為物理上已經停不下來了——就算電腦在那一瞬間做出完美的決定，車子還是會撞上去。
</a:t>
            </a:r>
          </a:p>
          <a:p>
            <a:pPr algn="l">
              <a:lnSpc>
                <a:spcPct val="100000"/>
              </a:lnSpc>
              <a:spcAft>
                <a:spcPts val="400"/>
              </a:spcAft>
            </a:pPr>
            <a:r>
              <a:rPr sz="1200" lang="zh-TW" dirty="0">
                <a:solidFill>
                  <a:srgbClr val="000000"/>
                </a:solidFill>
                <a:latin typeface="Arial Unicode MS"/>
                <a:ea typeface="Arial Unicode MS"/>
                <a:cs typeface="Arial Unicode MS"/>
              </a:rPr>
              <a:t>那為什麼要多給五公尺？因為公式算的是「剛剛好停住」，而剛剛好等於</a:t>
            </a:r>
            <a:r>
              <a:rPr sz="1200" b="1" lang="zh-TW" dirty="0">
                <a:solidFill>
                  <a:srgbClr val="000000"/>
                </a:solidFill>
                <a:latin typeface="Arial Unicode MS"/>
                <a:ea typeface="Arial Unicode MS"/>
                <a:cs typeface="Arial Unicode MS"/>
              </a:rPr>
              <a:t>貼著它停</a:t>
            </a:r>
            <a:r>
              <a:rPr sz="1200" lang="zh-TW" dirty="0">
                <a:solidFill>
                  <a:srgbClr val="000000"/>
                </a:solidFill>
                <a:latin typeface="Arial Unicode MS"/>
                <a:ea typeface="Arial Unicode MS"/>
                <a:cs typeface="Arial Unicode MS"/>
              </a:rPr>
              <a:t>。所以要留一點餘裕。
</a:t>
            </a:r>
          </a:p>
          <a:p>
            <a:pPr algn="l">
              <a:lnSpc>
                <a:spcPct val="100000"/>
              </a:lnSpc>
              <a:spcAft>
                <a:spcPts val="400"/>
              </a:spcAft>
            </a:pPr>
            <a:r>
              <a:rPr sz="1200" lang="zh-TW" dirty="0">
                <a:solidFill>
                  <a:srgbClr val="000000"/>
                </a:solidFill>
                <a:latin typeface="Arial Unicode MS"/>
                <a:ea typeface="Arial Unicode MS"/>
                <a:cs typeface="Arial Unicode MS"/>
              </a:rPr>
              <a:t>這是今天第一個硬下限。</a:t>
            </a:r>
            <a:r>
              <a:rPr sz="1200" b="1" lang="zh-TW" dirty="0">
                <a:solidFill>
                  <a:srgbClr val="000000"/>
                </a:solidFill>
                <a:latin typeface="Arial Unicode MS"/>
                <a:ea typeface="Arial Unicode MS"/>
                <a:cs typeface="Arial Unicode MS"/>
              </a:rPr>
              <a:t>感測器的規格不是想選多少就選多少，是被車速逼出來的。</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第三節上機，如果有組別把射線長度拉到二十以下還在調射線數，那是白費力氣。</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15</a:t>
            </a: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用一支影片把同樣兩段距離再看一次。
</a:t>
            </a:r>
          </a:p>
          <a:p>
            <a:pPr algn="l">
              <a:lnSpc>
                <a:spcPct val="100000"/>
              </a:lnSpc>
              <a:spcAft>
                <a:spcPts val="400"/>
              </a:spcAft>
            </a:pPr>
            <a:r>
              <a:rPr sz="1200" lang="zh-TW" dirty="0">
                <a:solidFill>
                  <a:srgbClr val="000000"/>
                </a:solidFill>
                <a:latin typeface="Arial Unicode MS"/>
                <a:ea typeface="Arial Unicode MS"/>
                <a:cs typeface="Arial Unicode MS"/>
              </a:rPr>
              <a:t>英文旁白，請點播放器右下角的齒輪，字幕，自動翻譯，選越南文。</a:t>
            </a:r>
            <a:r>
              <a:rPr sz="1200" b="1" lang="zh-TW" dirty="0">
                <a:solidFill>
                  <a:srgbClr val="000000"/>
                </a:solidFill>
                <a:latin typeface="Arial Unicode MS"/>
                <a:ea typeface="Arial Unicode MS"/>
                <a:cs typeface="Arial Unicode MS"/>
              </a:rPr>
              <a:t>播到兩分半就停。</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播之前先給任務：對照剛剛白板上那三行，看它拆的跟我們拆的一不一樣。
</a:t>
            </a:r>
          </a:p>
          <a:p>
            <a:pPr algn="l">
              <a:lnSpc>
                <a:spcPct val="100000"/>
              </a:lnSpc>
              <a:spcAft>
                <a:spcPts val="400"/>
              </a:spcAft>
            </a:pPr>
            <a:r>
              <a:rPr sz="1200" lang="zh-TW" dirty="0">
                <a:solidFill>
                  <a:srgbClr val="000000"/>
                </a:solidFill>
                <a:latin typeface="Arial Unicode MS"/>
                <a:ea typeface="Arial Unicode MS"/>
                <a:cs typeface="Arial Unicode MS"/>
              </a:rPr>
              <a:t>影片一分零五秒有一句話最關鍵：</a:t>
            </a:r>
            <a:r>
              <a:rPr sz="1200" b="1" lang="zh-TW" dirty="0">
                <a:solidFill>
                  <a:srgbClr val="000000"/>
                </a:solidFill>
                <a:latin typeface="Arial Unicode MS"/>
                <a:ea typeface="Arial Unicode MS"/>
                <a:cs typeface="Arial Unicode MS"/>
              </a:rPr>
              <a:t>速度不會改變你的反應時間，可是同樣的時間你會跑得更遠。</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看完問三個問題。
</a:t>
            </a:r>
          </a:p>
          <a:p>
            <a:pPr algn="l">
              <a:lnSpc>
                <a:spcPct val="100000"/>
              </a:lnSpc>
              <a:spcAft>
                <a:spcPts val="400"/>
              </a:spcAft>
            </a:pPr>
            <a:r>
              <a:rPr sz="1200" lang="zh-TW" dirty="0">
                <a:solidFill>
                  <a:srgbClr val="000000"/>
                </a:solidFill>
                <a:latin typeface="Arial Unicode MS"/>
                <a:ea typeface="Arial Unicode MS"/>
                <a:cs typeface="Arial Unicode MS"/>
              </a:rPr>
              <a:t>第一，它把煞停距離拆成哪兩段？答案跟我們一樣。
</a:t>
            </a:r>
          </a:p>
          <a:p>
            <a:pPr algn="l">
              <a:lnSpc>
                <a:spcPct val="100000"/>
              </a:lnSpc>
              <a:spcAft>
                <a:spcPts val="400"/>
              </a:spcAft>
            </a:pPr>
            <a:r>
              <a:rPr sz="1200" lang="zh-TW" dirty="0">
                <a:solidFill>
                  <a:srgbClr val="000000"/>
                </a:solidFill>
                <a:latin typeface="Arial Unicode MS"/>
                <a:ea typeface="Arial Unicode MS"/>
                <a:cs typeface="Arial Unicode MS"/>
              </a:rPr>
              <a:t>第二，哪一段跟速度的平方成正比？煞車距離。所以車速一高，真正吃掉距離的是後面那一段。
</a:t>
            </a:r>
          </a:p>
          <a:p>
            <a:pPr algn="l">
              <a:lnSpc>
                <a:spcPct val="100000"/>
              </a:lnSpc>
              <a:spcAft>
                <a:spcPts val="400"/>
              </a:spcAft>
            </a:pPr>
            <a:r>
              <a:rPr sz="1200" lang="zh-TW" dirty="0">
                <a:solidFill>
                  <a:srgbClr val="000000"/>
                </a:solidFill>
                <a:latin typeface="Arial Unicode MS"/>
                <a:ea typeface="Arial Unicode MS"/>
                <a:cs typeface="Arial Unicode MS"/>
              </a:rPr>
              <a:t>第三，路面濕的時候煞車距離變長，那對感測器有什麼影響？需要看得更遠。
</a:t>
            </a:r>
          </a:p>
          <a:p>
            <a:pPr algn="l">
              <a:lnSpc>
                <a:spcPct val="100000"/>
              </a:lnSpc>
              <a:spcAft>
                <a:spcPts val="400"/>
              </a:spcAft>
            </a:pPr>
            <a:r>
              <a:rPr sz="1200" lang="zh-TW" dirty="0">
                <a:solidFill>
                  <a:srgbClr val="000000"/>
                </a:solidFill>
                <a:latin typeface="Arial Unicode MS"/>
                <a:ea typeface="Arial Unicode MS"/>
                <a:cs typeface="Arial Unicode MS"/>
              </a:rPr>
              <a:t>這句話請記住——第三節任務三會遇到。</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16</a:t>
            </a: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這張表把那條公式，五個常見車速各算一次。
</a:t>
            </a:r>
          </a:p>
          <a:p>
            <a:pPr algn="l">
              <a:lnSpc>
                <a:spcPct val="100000"/>
              </a:lnSpc>
              <a:spcAft>
                <a:spcPts val="400"/>
              </a:spcAft>
            </a:pPr>
            <a:r>
              <a:rPr sz="1200" lang="zh-TW" dirty="0">
                <a:solidFill>
                  <a:srgbClr val="000000"/>
                </a:solidFill>
                <a:latin typeface="Arial Unicode MS"/>
                <a:ea typeface="Arial Unicode MS"/>
                <a:cs typeface="Arial Unicode MS"/>
              </a:rPr>
              <a:t>「射線至少」那一欄是</a:t>
            </a:r>
            <a:r>
              <a:rPr sz="1200" b="1" lang="zh-TW" dirty="0">
                <a:solidFill>
                  <a:srgbClr val="000000"/>
                </a:solidFill>
                <a:latin typeface="Arial Unicode MS"/>
                <a:ea typeface="Arial Unicode MS"/>
                <a:cs typeface="Arial Unicode MS"/>
              </a:rPr>
              <a:t>煞停距離乘一點二五</a:t>
            </a:r>
            <a:r>
              <a:rPr sz="1200" lang="zh-TW" dirty="0">
                <a:solidFill>
                  <a:srgbClr val="000000"/>
                </a:solidFill>
                <a:latin typeface="Arial Unicode MS"/>
                <a:ea typeface="Arial Unicode MS"/>
                <a:cs typeface="Arial Unicode MS"/>
              </a:rPr>
              <a:t>。先說清楚一件事：</a:t>
            </a:r>
            <a:r>
              <a:rPr sz="1200" b="1" lang="zh-TW" dirty="0">
                <a:solidFill>
                  <a:srgbClr val="000000"/>
                </a:solidFill>
                <a:latin typeface="Arial Unicode MS"/>
                <a:ea typeface="Arial Unicode MS"/>
                <a:cs typeface="Arial Unicode MS"/>
              </a:rPr>
              <a:t>這個兩成五是我們這門課取的餘裕，不是法規規定的數字。</a:t>
            </a:r>
            <a:r>
              <a:rPr sz="1200" lang="zh-TW" dirty="0">
                <a:solidFill>
                  <a:srgbClr val="000000"/>
                </a:solidFill>
                <a:latin typeface="Arial Unicode MS"/>
                <a:ea typeface="Arial Unicode MS"/>
                <a:cs typeface="Arial Unicode MS"/>
              </a:rPr>
              <a:t>業界有正式的安全距離模型，但它們是用反應時間和減速度去推，不是乘一個比例。
</a:t>
            </a:r>
          </a:p>
          <a:p>
            <a:pPr algn="l">
              <a:lnSpc>
                <a:spcPct val="100000"/>
              </a:lnSpc>
              <a:spcAft>
                <a:spcPts val="400"/>
              </a:spcAft>
            </a:pPr>
            <a:r>
              <a:rPr sz="1200" lang="zh-TW" dirty="0">
                <a:solidFill>
                  <a:srgbClr val="000000"/>
                </a:solidFill>
                <a:latin typeface="Arial Unicode MS"/>
                <a:ea typeface="Arial Unicode MS"/>
                <a:cs typeface="Arial Unicode MS"/>
              </a:rPr>
              <a:t>為什麼要加餘裕？因為公式算的是「剛剛好停住」，而剛剛好等於</a:t>
            </a:r>
            <a:r>
              <a:rPr sz="1200" b="1" lang="zh-TW" dirty="0">
                <a:solidFill>
                  <a:srgbClr val="000000"/>
                </a:solidFill>
                <a:latin typeface="Arial Unicode MS"/>
                <a:ea typeface="Arial Unicode MS"/>
                <a:cs typeface="Arial Unicode MS"/>
              </a:rPr>
              <a:t>貼著前車停</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這兩成五涵蓋的是：反應時間不見得每次都是零點三秒、偵測不是瞬間完成、量測本身有誤差。</a:t>
            </a:r>
            <a:r>
              <a:rPr sz="1200" b="1" lang="zh-TW" dirty="0">
                <a:solidFill>
                  <a:srgbClr val="000000"/>
                </a:solidFill>
                <a:latin typeface="Arial Unicode MS"/>
                <a:ea typeface="Arial Unicode MS"/>
                <a:cs typeface="Arial Unicode MS"/>
              </a:rPr>
              <a:t>它不涵蓋天候</a:t>
            </a:r>
            <a:r>
              <a:rPr sz="1200" lang="zh-TW" dirty="0">
                <a:solidFill>
                  <a:srgbClr val="000000"/>
                </a:solidFill>
                <a:latin typeface="Arial Unicode MS"/>
                <a:ea typeface="Arial Unicode MS"/>
                <a:cs typeface="Arial Unicode MS"/>
              </a:rPr>
              <a:t>——濕路面是另一條線，第二十四張會看到，那裡要乘一點八。
</a:t>
            </a:r>
          </a:p>
          <a:p>
            <a:pPr algn="l">
              <a:lnSpc>
                <a:spcPct val="100000"/>
              </a:lnSpc>
              <a:spcAft>
                <a:spcPts val="400"/>
              </a:spcAft>
            </a:pPr>
            <a:r>
              <a:rPr sz="1200" lang="zh-TW" dirty="0">
                <a:solidFill>
                  <a:srgbClr val="000000"/>
                </a:solidFill>
                <a:latin typeface="Arial Unicode MS"/>
                <a:ea typeface="Arial Unicode MS"/>
                <a:cs typeface="Arial Unicode MS"/>
              </a:rPr>
              <a:t>對一次：時速五十，二十乘一點二五等於二十五——</a:t>
            </a:r>
            <a:r>
              <a:rPr sz="1200" b="1" lang="zh-TW" dirty="0">
                <a:solidFill>
                  <a:srgbClr val="000000"/>
                </a:solidFill>
                <a:latin typeface="Arial Unicode MS"/>
                <a:ea typeface="Arial Unicode MS"/>
                <a:cs typeface="Arial Unicode MS"/>
              </a:rPr>
              <a:t>那就是我們模擬器的預設值</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一定會有人問：</a:t>
            </a:r>
            <a:r>
              <a:rPr sz="1200" b="1" lang="zh-TW" dirty="0">
                <a:solidFill>
                  <a:srgbClr val="000000"/>
                </a:solidFill>
                <a:latin typeface="Arial Unicode MS"/>
                <a:ea typeface="Arial Unicode MS"/>
                <a:cs typeface="Arial Unicode MS"/>
              </a:rPr>
              <a:t>五列的減速度都是六嗎？</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是。</a:t>
            </a:r>
            <a:r>
              <a:rPr sz="1200" b="1" lang="zh-TW" dirty="0">
                <a:solidFill>
                  <a:srgbClr val="000000"/>
                </a:solidFill>
                <a:latin typeface="Arial Unicode MS"/>
                <a:ea typeface="Arial Unicode MS"/>
                <a:cs typeface="Arial Unicode MS"/>
              </a:rPr>
              <a:t>減速度由輪胎和路面決定，跟車速沒有關係。</a:t>
            </a:r>
            <a:r>
              <a:rPr sz="1200" lang="zh-TW" dirty="0">
                <a:solidFill>
                  <a:srgbClr val="000000"/>
                </a:solidFill>
                <a:latin typeface="Arial Unicode MS"/>
                <a:ea typeface="Arial Unicode MS"/>
                <a:cs typeface="Arial Unicode MS"/>
              </a:rPr>
              <a:t>這正是為什麼煞車距離跟速度的平方成正比。
</a:t>
            </a:r>
          </a:p>
          <a:p>
            <a:pPr algn="l">
              <a:lnSpc>
                <a:spcPct val="100000"/>
              </a:lnSpc>
              <a:spcAft>
                <a:spcPts val="400"/>
              </a:spcAft>
            </a:pPr>
            <a:r>
              <a:rPr sz="1200" lang="zh-TW" dirty="0">
                <a:solidFill>
                  <a:srgbClr val="000000"/>
                </a:solidFill>
                <a:latin typeface="Arial Unicode MS"/>
                <a:ea typeface="Arial Unicode MS"/>
                <a:cs typeface="Arial Unicode MS"/>
              </a:rPr>
              <a:t>最下面那句話留給第三章：真車的光達做到一百五十到三百公尺，是「剛好煞得住」的兩倍以上。</a:t>
            </a:r>
            <a:r>
              <a:rPr sz="1200" b="1" lang="zh-TW" dirty="0">
                <a:solidFill>
                  <a:srgbClr val="000000"/>
                </a:solidFill>
                <a:latin typeface="Arial Unicode MS"/>
                <a:ea typeface="Arial Unicode MS"/>
                <a:cs typeface="Arial Unicode MS"/>
              </a:rPr>
              <a:t>看那麼遠要做什麼？</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17</a:t>
            </a: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各位可能會覺得我們那支瀏覽器模擬器太陽春。對，它很陽春。所以放一支影片，看看</a:t>
            </a:r>
            <a:r>
              <a:rPr sz="1200" b="1" lang="zh-TW" dirty="0">
                <a:solidFill>
                  <a:srgbClr val="000000"/>
                </a:solidFill>
                <a:latin typeface="Arial Unicode MS"/>
                <a:ea typeface="Arial Unicode MS"/>
                <a:cs typeface="Arial Unicode MS"/>
              </a:rPr>
              <a:t>業界真的在用的模擬器</a:t>
            </a:r>
            <a:r>
              <a:rPr sz="1200" lang="zh-TW" dirty="0">
                <a:solidFill>
                  <a:srgbClr val="000000"/>
                </a:solidFill>
                <a:latin typeface="Arial Unicode MS"/>
                <a:ea typeface="Arial Unicode MS"/>
                <a:cs typeface="Arial Unicode MS"/>
              </a:rPr>
              <a:t>長什麼樣。這是 CARLA，開源的自駕模擬器，很多大學和公司拿它做研究。播兩分鐘就好。
</a:t>
            </a:r>
          </a:p>
          <a:p>
            <a:pPr algn="l">
              <a:lnSpc>
                <a:spcPct val="100000"/>
              </a:lnSpc>
              <a:spcAft>
                <a:spcPts val="400"/>
              </a:spcAft>
            </a:pPr>
            <a:r>
              <a:rPr sz="1200" lang="zh-TW" dirty="0">
                <a:solidFill>
                  <a:srgbClr val="000000"/>
                </a:solidFill>
                <a:latin typeface="Arial Unicode MS"/>
                <a:ea typeface="Arial Unicode MS"/>
                <a:cs typeface="Arial Unicode MS"/>
              </a:rPr>
              <a:t>有同學可能會想自己灌來玩。可以，它是免費的——但官方文件寫的需求是 </a:t>
            </a:r>
            <a:r>
              <a:rPr sz="1200" b="1" lang="zh-TW" dirty="0">
                <a:solidFill>
                  <a:srgbClr val="000000"/>
                </a:solidFill>
                <a:latin typeface="Arial Unicode MS"/>
                <a:ea typeface="Arial Unicode MS"/>
                <a:cs typeface="Arial Unicode MS"/>
              </a:rPr>
              <a:t>RTX 2070 等級的顯示卡、八 GB 顯示記憶體、二十 GB 硬碟</a:t>
            </a:r>
            <a:r>
              <a:rPr sz="1200" lang="zh-TW" dirty="0">
                <a:solidFill>
                  <a:srgbClr val="000000"/>
                </a:solidFill>
                <a:latin typeface="Arial Unicode MS"/>
                <a:ea typeface="Arial Unicode MS"/>
                <a:cs typeface="Arial Unicode MS"/>
              </a:rPr>
              <a:t>。一般筆電跑不動。</a:t>
            </a:r>
            <a:r>
              <a:rPr sz="1200" b="1" lang="zh-TW" dirty="0">
                <a:solidFill>
                  <a:srgbClr val="000000"/>
                </a:solidFill>
                <a:latin typeface="Arial Unicode MS"/>
                <a:ea typeface="Arial Unicode MS"/>
                <a:cs typeface="Arial Unicode MS"/>
              </a:rPr>
              <a:t>這也是為什麼我們這門課用瀏覽器那一支。</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看的時候注意三件事，都寫在右邊。
</a:t>
            </a:r>
          </a:p>
          <a:p>
            <a:pPr algn="l">
              <a:lnSpc>
                <a:spcPct val="100000"/>
              </a:lnSpc>
              <a:spcAft>
                <a:spcPts val="400"/>
              </a:spcAft>
            </a:pPr>
            <a:r>
              <a:rPr sz="1200" lang="zh-TW" dirty="0">
                <a:solidFill>
                  <a:srgbClr val="000000"/>
                </a:solidFill>
                <a:latin typeface="Arial Unicode MS"/>
                <a:ea typeface="Arial Unicode MS"/>
                <a:cs typeface="Arial Unicode MS"/>
              </a:rPr>
              <a:t>第一，影片裡會看到白天、晚上、下雨、起霧。</a:t>
            </a:r>
            <a:r>
              <a:rPr sz="1200" b="1" lang="zh-TW" dirty="0">
                <a:solidFill>
                  <a:srgbClr val="000000"/>
                </a:solidFill>
                <a:latin typeface="Arial Unicode MS"/>
                <a:ea typeface="Arial Unicode MS"/>
                <a:cs typeface="Arial Unicode MS"/>
              </a:rPr>
              <a:t>那些全部都是參數調出來的。</a:t>
            </a:r>
            <a:r>
              <a:rPr sz="1200" lang="zh-TW" dirty="0">
                <a:solidFill>
                  <a:srgbClr val="000000"/>
                </a:solidFill>
                <a:latin typeface="Arial Unicode MS"/>
                <a:ea typeface="Arial Unicode MS"/>
                <a:cs typeface="Arial Unicode MS"/>
              </a:rPr>
              <a:t>跟我們的滑桿是同一回事，只是它的滑桿多很多。
</a:t>
            </a:r>
          </a:p>
          <a:p>
            <a:pPr algn="l">
              <a:lnSpc>
                <a:spcPct val="100000"/>
              </a:lnSpc>
              <a:spcAft>
                <a:spcPts val="400"/>
              </a:spcAft>
            </a:pPr>
            <a:r>
              <a:rPr sz="1200" lang="zh-TW" dirty="0">
                <a:solidFill>
                  <a:srgbClr val="000000"/>
                </a:solidFill>
                <a:latin typeface="Arial Unicode MS"/>
                <a:ea typeface="Arial Unicode MS"/>
                <a:cs typeface="Arial Unicode MS"/>
              </a:rPr>
              <a:t>第二，它連相機影像和光達點雲都算給你。
</a:t>
            </a:r>
          </a:p>
          <a:p>
            <a:pPr algn="l">
              <a:lnSpc>
                <a:spcPct val="100000"/>
              </a:lnSpc>
              <a:spcAft>
                <a:spcPts val="400"/>
              </a:spcAft>
            </a:pPr>
            <a:r>
              <a:rPr sz="1200" lang="zh-TW" dirty="0">
                <a:solidFill>
                  <a:srgbClr val="000000"/>
                </a:solidFill>
                <a:latin typeface="Arial Unicode MS"/>
                <a:ea typeface="Arial Unicode MS"/>
                <a:cs typeface="Arial Unicode MS"/>
              </a:rPr>
              <a:t>第三，這是重點——</a:t>
            </a:r>
            <a:r>
              <a:rPr sz="1200" b="1" lang="zh-TW" dirty="0">
                <a:solidFill>
                  <a:srgbClr val="000000"/>
                </a:solidFill>
                <a:latin typeface="Arial Unicode MS"/>
                <a:ea typeface="Arial Unicode MS"/>
                <a:cs typeface="Arial Unicode MS"/>
              </a:rPr>
              <a:t>它一樣是假的</a:t>
            </a:r>
            <a:r>
              <a:rPr sz="1200" lang="zh-TW" dirty="0">
                <a:solidFill>
                  <a:srgbClr val="000000"/>
                </a:solidFill>
                <a:latin typeface="Arial Unicode MS"/>
                <a:ea typeface="Arial Unicode MS"/>
                <a:cs typeface="Arial Unicode MS"/>
              </a:rPr>
              <a:t>。畫面很漂亮，但那些行人、那些車的行為，都是程式寫出來的規則。
</a:t>
            </a:r>
          </a:p>
          <a:p>
            <a:pPr algn="l">
              <a:lnSpc>
                <a:spcPct val="100000"/>
              </a:lnSpc>
              <a:spcAft>
                <a:spcPts val="400"/>
              </a:spcAft>
            </a:pPr>
            <a:r>
              <a:rPr sz="1200" lang="zh-TW" dirty="0">
                <a:solidFill>
                  <a:srgbClr val="000000"/>
                </a:solidFill>
                <a:latin typeface="Arial Unicode MS"/>
                <a:ea typeface="Arial Unicode MS"/>
                <a:cs typeface="Arial Unicode MS"/>
              </a:rPr>
              <a:t>看完問一句：CARLA 跟我們的瀏覽器模擬器，哪裡是一樣的？
</a:t>
            </a:r>
          </a:p>
          <a:p>
            <a:pPr algn="l">
              <a:lnSpc>
                <a:spcPct val="100000"/>
              </a:lnSpc>
              <a:spcAft>
                <a:spcPts val="400"/>
              </a:spcAft>
            </a:pPr>
            <a:r>
              <a:rPr sz="1200" lang="zh-TW" dirty="0">
                <a:solidFill>
                  <a:srgbClr val="000000"/>
                </a:solidFill>
                <a:latin typeface="Arial Unicode MS"/>
                <a:ea typeface="Arial Unicode MS"/>
                <a:cs typeface="Arial Unicode MS"/>
              </a:rPr>
              <a:t>答案是：都是參數、都是規則、都不是真的。這就是下一段要講的事。</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18</a:t>
            </a: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第二段。
</a:t>
            </a:r>
          </a:p>
          <a:p>
            <a:pPr algn="l">
              <a:lnSpc>
                <a:spcPct val="100000"/>
              </a:lnSpc>
              <a:spcAft>
                <a:spcPts val="400"/>
              </a:spcAft>
            </a:pPr>
            <a:r>
              <a:rPr sz="1200" lang="zh-TW" dirty="0">
                <a:solidFill>
                  <a:srgbClr val="000000"/>
                </a:solidFill>
                <a:latin typeface="Arial Unicode MS"/>
                <a:ea typeface="Arial Unicode MS"/>
                <a:cs typeface="Arial Unicode MS"/>
              </a:rPr>
              <a:t>在模擬裡跑得好的東西，搬到真車上</a:t>
            </a:r>
            <a:r>
              <a:rPr sz="1200" b="1" lang="zh-TW" dirty="0">
                <a:solidFill>
                  <a:srgbClr val="000000"/>
                </a:solidFill>
                <a:latin typeface="Arial Unicode MS"/>
                <a:ea typeface="Arial Unicode MS"/>
                <a:cs typeface="Arial Unicode MS"/>
              </a:rPr>
              <a:t>一定會退步</a:t>
            </a:r>
            <a:r>
              <a:rPr sz="1200" lang="zh-TW" dirty="0">
                <a:solidFill>
                  <a:srgbClr val="000000"/>
                </a:solidFill>
                <a:latin typeface="Arial Unicode MS"/>
                <a:ea typeface="Arial Unicode MS"/>
                <a:cs typeface="Arial Unicode MS"/>
              </a:rPr>
              <a:t>。這件事有名字，英文叫 sim-to-real gap。
</a:t>
            </a:r>
          </a:p>
          <a:p>
            <a:pPr algn="l">
              <a:lnSpc>
                <a:spcPct val="100000"/>
              </a:lnSpc>
              <a:spcAft>
                <a:spcPts val="400"/>
              </a:spcAft>
            </a:pPr>
            <a:r>
              <a:rPr sz="1200" lang="zh-TW" dirty="0">
                <a:solidFill>
                  <a:srgbClr val="000000"/>
                </a:solidFill>
                <a:latin typeface="Arial Unicode MS"/>
                <a:ea typeface="Arial Unicode MS"/>
                <a:cs typeface="Arial Unicode MS"/>
              </a:rPr>
              <a:t>它分成三種，我一種一種講。</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19</a:t>
            </a: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第一種：</a:t>
            </a:r>
            <a:r>
              <a:rPr sz="1200" b="1" lang="zh-TW" dirty="0">
                <a:solidFill>
                  <a:srgbClr val="000000"/>
                </a:solidFill>
                <a:latin typeface="Arial Unicode MS"/>
                <a:ea typeface="Arial Unicode MS"/>
                <a:cs typeface="Arial Unicode MS"/>
              </a:rPr>
              <a:t>外觀落差</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模擬器畫出來的畫面，跟真的相機拍到的不一樣。差在三個地方：光線、材質、雜訊。
</a:t>
            </a:r>
          </a:p>
          <a:p>
            <a:pPr algn="l">
              <a:lnSpc>
                <a:spcPct val="100000"/>
              </a:lnSpc>
              <a:spcAft>
                <a:spcPts val="400"/>
              </a:spcAft>
            </a:pPr>
            <a:r>
              <a:rPr sz="1200" lang="zh-TW" dirty="0">
                <a:solidFill>
                  <a:srgbClr val="000000"/>
                </a:solidFill>
                <a:latin typeface="Arial Unicode MS"/>
                <a:ea typeface="Arial Unicode MS"/>
                <a:cs typeface="Arial Unicode MS"/>
              </a:rPr>
              <a:t>看中間兩張卡的例子。模擬器畫一台紅色的車，那個紅是</a:t>
            </a:r>
            <a:r>
              <a:rPr sz="1200" b="1" lang="zh-TW" dirty="0">
                <a:solidFill>
                  <a:srgbClr val="000000"/>
                </a:solidFill>
                <a:latin typeface="Arial Unicode MS"/>
                <a:ea typeface="Arial Unicode MS"/>
                <a:cs typeface="Arial Unicode MS"/>
              </a:rPr>
              <a:t>乾淨的、均勻的</a:t>
            </a:r>
            <a:r>
              <a:rPr sz="1200" lang="zh-TW" dirty="0">
                <a:solidFill>
                  <a:srgbClr val="000000"/>
                </a:solidFill>
                <a:latin typeface="Arial Unicode MS"/>
                <a:ea typeface="Arial Unicode MS"/>
                <a:cs typeface="Arial Unicode MS"/>
              </a:rPr>
              <a:t>。真相機拍到的紅色車呢？上面有灰塵、有反光、有旁邊招牌的倒影，可能還有一塊沒洗掉的鳥屎。
</a:t>
            </a:r>
          </a:p>
          <a:p>
            <a:pPr algn="l">
              <a:lnSpc>
                <a:spcPct val="100000"/>
              </a:lnSpc>
              <a:spcAft>
                <a:spcPts val="400"/>
              </a:spcAft>
            </a:pPr>
            <a:r>
              <a:rPr sz="1200" lang="zh-TW" dirty="0">
                <a:solidFill>
                  <a:srgbClr val="000000"/>
                </a:solidFill>
                <a:latin typeface="Arial Unicode MS"/>
                <a:ea typeface="Arial Unicode MS"/>
                <a:cs typeface="Arial Unicode MS"/>
              </a:rPr>
              <a:t>（停一下）這聽起來很瑣碎，但對電腦來說差很多。</a:t>
            </a:r>
            <a:r>
              <a:rPr sz="1200" b="1" lang="zh-TW" dirty="0">
                <a:solidFill>
                  <a:srgbClr val="000000"/>
                </a:solidFill>
                <a:latin typeface="Arial Unicode MS"/>
                <a:ea typeface="Arial Unicode MS"/>
                <a:cs typeface="Arial Unicode MS"/>
              </a:rPr>
              <a:t>我們用模擬裡那種乾淨的紅色教電腦認車，它上路遇到髒的紅色就可能認不出來。</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（「訓練」「模型」這些詞要到第四章，十月底和十一月中那兩週才正式教。今天一律講「教電腦」「電腦認得出來」就好。）
</a:t>
            </a:r>
          </a:p>
          <a:p>
            <a:pPr algn="l">
              <a:lnSpc>
                <a:spcPct val="100000"/>
              </a:lnSpc>
              <a:spcAft>
                <a:spcPts val="400"/>
              </a:spcAft>
            </a:pPr>
            <a:r>
              <a:rPr sz="1200" lang="zh-TW" dirty="0">
                <a:solidFill>
                  <a:srgbClr val="000000"/>
                </a:solidFill>
                <a:latin typeface="Arial Unicode MS"/>
                <a:ea typeface="Arial Unicode MS"/>
                <a:cs typeface="Arial Unicode MS"/>
              </a:rPr>
              <a:t>那怎麼辦？下一頁有一個很聰明的解法。</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20</a:t>
            </a: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這個解法叫</a:t>
            </a:r>
            <a:r>
              <a:rPr sz="1200" b="1" lang="zh-TW" dirty="0">
                <a:solidFill>
                  <a:srgbClr val="000000"/>
                </a:solidFill>
                <a:latin typeface="Arial Unicode MS"/>
                <a:ea typeface="Arial Unicode MS"/>
                <a:cs typeface="Arial Unicode MS"/>
              </a:rPr>
              <a:t>域隨機化</a:t>
            </a:r>
            <a:r>
              <a:rPr sz="1200" lang="zh-TW" dirty="0">
                <a:solidFill>
                  <a:srgbClr val="000000"/>
                </a:solidFill>
                <a:latin typeface="Arial Unicode MS"/>
                <a:ea typeface="Arial Unicode MS"/>
                <a:cs typeface="Arial Unicode MS"/>
              </a:rPr>
              <a:t>，英文 domain randomization。
</a:t>
            </a:r>
          </a:p>
          <a:p>
            <a:pPr algn="l">
              <a:lnSpc>
                <a:spcPct val="100000"/>
              </a:lnSpc>
              <a:spcAft>
                <a:spcPts val="400"/>
              </a:spcAft>
            </a:pPr>
            <a:r>
              <a:rPr sz="1200" lang="zh-TW" dirty="0">
                <a:solidFill>
                  <a:srgbClr val="000000"/>
                </a:solidFill>
                <a:latin typeface="Arial Unicode MS"/>
                <a:ea typeface="Arial Unicode MS"/>
                <a:cs typeface="Arial Unicode MS"/>
              </a:rPr>
              <a:t>它的做法是在模擬裡</a:t>
            </a:r>
            <a:r>
              <a:rPr sz="1200" b="1" lang="zh-TW" dirty="0">
                <a:solidFill>
                  <a:srgbClr val="000000"/>
                </a:solidFill>
                <a:latin typeface="Arial Unicode MS"/>
                <a:ea typeface="Arial Unicode MS"/>
                <a:cs typeface="Arial Unicode MS"/>
              </a:rPr>
              <a:t>故意把光線和材質亂改</a:t>
            </a:r>
            <a:r>
              <a:rPr sz="1200" lang="zh-TW" dirty="0">
                <a:solidFill>
                  <a:srgbClr val="000000"/>
                </a:solidFill>
                <a:latin typeface="Arial Unicode MS"/>
                <a:ea typeface="Arial Unicode MS"/>
                <a:cs typeface="Arial Unicode MS"/>
              </a:rPr>
              <a:t>。紅色車有時候偏橘、有時候偏紫，光線一下亮一下暗，地面材質一直換。
</a:t>
            </a:r>
          </a:p>
          <a:p>
            <a:pPr algn="l">
              <a:lnSpc>
                <a:spcPct val="100000"/>
              </a:lnSpc>
              <a:spcAft>
                <a:spcPts val="400"/>
              </a:spcAft>
            </a:pPr>
            <a:r>
              <a:rPr sz="1200" lang="zh-TW" dirty="0">
                <a:solidFill>
                  <a:srgbClr val="000000"/>
                </a:solidFill>
                <a:latin typeface="Arial Unicode MS"/>
                <a:ea typeface="Arial Unicode MS"/>
                <a:cs typeface="Arial Unicode MS"/>
              </a:rPr>
              <a:t>為什麼要這樣做？（等學生想。）
</a:t>
            </a:r>
          </a:p>
          <a:p>
            <a:pPr algn="l">
              <a:lnSpc>
                <a:spcPct val="100000"/>
              </a:lnSpc>
              <a:spcAft>
                <a:spcPts val="400"/>
              </a:spcAft>
            </a:pPr>
            <a:r>
              <a:rPr sz="1200" lang="zh-TW" dirty="0">
                <a:solidFill>
                  <a:srgbClr val="000000"/>
                </a:solidFill>
                <a:latin typeface="Arial Unicode MS"/>
                <a:ea typeface="Arial Unicode MS"/>
                <a:cs typeface="Arial Unicode MS"/>
              </a:rPr>
              <a:t>因為紅色一直在變，</a:t>
            </a:r>
            <a:r>
              <a:rPr sz="1200" b="1" lang="zh-TW" dirty="0">
                <a:solidFill>
                  <a:srgbClr val="000000"/>
                </a:solidFill>
                <a:latin typeface="Arial Unicode MS"/>
                <a:ea typeface="Arial Unicode MS"/>
                <a:cs typeface="Arial Unicode MS"/>
              </a:rPr>
              <a:t>電腦就不能再靠顏色認車</a:t>
            </a:r>
            <a:r>
              <a:rPr sz="1200" lang="zh-TW" dirty="0">
                <a:solidFill>
                  <a:srgbClr val="000000"/>
                </a:solidFill>
                <a:latin typeface="Arial Unicode MS"/>
                <a:ea typeface="Arial Unicode MS"/>
                <a:cs typeface="Arial Unicode MS"/>
              </a:rPr>
              <a:t>——顏色這個線索不可靠了。
</a:t>
            </a:r>
          </a:p>
          <a:p>
            <a:pPr algn="l">
              <a:lnSpc>
                <a:spcPct val="100000"/>
              </a:lnSpc>
              <a:spcAft>
                <a:spcPts val="400"/>
              </a:spcAft>
            </a:pPr>
            <a:r>
              <a:rPr sz="1200" lang="zh-TW" dirty="0">
                <a:solidFill>
                  <a:srgbClr val="000000"/>
                </a:solidFill>
                <a:latin typeface="Arial Unicode MS"/>
                <a:ea typeface="Arial Unicode MS"/>
                <a:cs typeface="Arial Unicode MS"/>
              </a:rPr>
              <a:t>那它還剩什麼？只剩</a:t>
            </a:r>
            <a:r>
              <a:rPr sz="1200" b="1" lang="zh-TW" dirty="0">
                <a:solidFill>
                  <a:srgbClr val="000000"/>
                </a:solidFill>
                <a:latin typeface="Arial Unicode MS"/>
                <a:ea typeface="Arial Unicode MS"/>
                <a:cs typeface="Arial Unicode MS"/>
              </a:rPr>
              <a:t>形狀</a:t>
            </a:r>
            <a:r>
              <a:rPr sz="1200" lang="zh-TW" dirty="0">
                <a:solidFill>
                  <a:srgbClr val="000000"/>
                </a:solidFill>
                <a:latin typeface="Arial Unicode MS"/>
                <a:ea typeface="Arial Unicode MS"/>
                <a:cs typeface="Arial Unicode MS"/>
              </a:rPr>
              <a:t>。而形狀在真實世界裡不會變。
</a:t>
            </a:r>
          </a:p>
          <a:p>
            <a:pPr algn="l">
              <a:lnSpc>
                <a:spcPct val="100000"/>
              </a:lnSpc>
              <a:spcAft>
                <a:spcPts val="400"/>
              </a:spcAft>
            </a:pPr>
            <a:r>
              <a:rPr sz="1200" lang="zh-TW" dirty="0">
                <a:solidFill>
                  <a:srgbClr val="000000"/>
                </a:solidFill>
                <a:latin typeface="Arial Unicode MS"/>
                <a:ea typeface="Arial Unicode MS"/>
                <a:cs typeface="Arial Unicode MS"/>
              </a:rPr>
              <a:t>所以整句話是：</a:t>
            </a:r>
            <a:r>
              <a:rPr sz="1200" b="1" lang="zh-TW" dirty="0">
                <a:solidFill>
                  <a:srgbClr val="000000"/>
                </a:solidFill>
                <a:latin typeface="Arial Unicode MS"/>
                <a:ea typeface="Arial Unicode MS"/>
                <a:cs typeface="Arial Unicode MS"/>
              </a:rPr>
              <a:t>與其把模擬做得跟現實一模一樣——做不到——不如讓模擬亂到現實只是其中一種情況。</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21</a:t>
            </a: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第二種：</a:t>
            </a:r>
            <a:r>
              <a:rPr sz="1200" b="1" lang="zh-TW" dirty="0">
                <a:solidFill>
                  <a:srgbClr val="000000"/>
                </a:solidFill>
                <a:latin typeface="Arial Unicode MS"/>
                <a:ea typeface="Arial Unicode MS"/>
                <a:cs typeface="Arial Unicode MS"/>
              </a:rPr>
              <a:t>行為落差</a:t>
            </a:r>
            <a:r>
              <a:rPr sz="1200" lang="zh-TW" dirty="0">
                <a:solidFill>
                  <a:srgbClr val="000000"/>
                </a:solidFill>
                <a:latin typeface="Arial Unicode MS"/>
                <a:ea typeface="Arial Unicode MS"/>
                <a:cs typeface="Arial Unicode MS"/>
              </a:rPr>
              <a:t>。這一種對各位來說最有感覺。
</a:t>
            </a:r>
          </a:p>
          <a:p>
            <a:pPr algn="l">
              <a:lnSpc>
                <a:spcPct val="100000"/>
              </a:lnSpc>
              <a:spcAft>
                <a:spcPts val="400"/>
              </a:spcAft>
            </a:pPr>
            <a:r>
              <a:rPr sz="1200" lang="zh-TW" dirty="0">
                <a:solidFill>
                  <a:srgbClr val="000000"/>
                </a:solidFill>
                <a:latin typeface="Arial Unicode MS"/>
                <a:ea typeface="Arial Unicode MS"/>
                <a:cs typeface="Arial Unicode MS"/>
              </a:rPr>
              <a:t>模擬裡的車在做什麼？待在車道中間、跟前車保持安全距離、要變換車道之前先打方向燈。
</a:t>
            </a:r>
          </a:p>
          <a:p>
            <a:pPr algn="l">
              <a:lnSpc>
                <a:spcPct val="100000"/>
              </a:lnSpc>
              <a:spcAft>
                <a:spcPts val="400"/>
              </a:spcAft>
            </a:pPr>
            <a:r>
              <a:rPr sz="1200" lang="zh-TW" dirty="0">
                <a:solidFill>
                  <a:srgbClr val="000000"/>
                </a:solidFill>
                <a:latin typeface="Arial Unicode MS"/>
                <a:ea typeface="Arial Unicode MS"/>
                <a:cs typeface="Arial Unicode MS"/>
              </a:rPr>
              <a:t>（問全班）真實世界的機車是這樣嗎？
</a:t>
            </a:r>
          </a:p>
          <a:p>
            <a:pPr algn="l">
              <a:lnSpc>
                <a:spcPct val="100000"/>
              </a:lnSpc>
              <a:spcAft>
                <a:spcPts val="400"/>
              </a:spcAft>
            </a:pPr>
            <a:r>
              <a:rPr sz="1200" lang="zh-TW" dirty="0">
                <a:solidFill>
                  <a:srgbClr val="000000"/>
                </a:solidFill>
                <a:latin typeface="Arial Unicode MS"/>
                <a:ea typeface="Arial Unicode MS"/>
                <a:cs typeface="Arial Unicode MS"/>
              </a:rPr>
              <a:t>不是。鑽縫、紅燈前擠到最前面、沒有標線的路口靠眼神。
</a:t>
            </a:r>
          </a:p>
          <a:p>
            <a:pPr algn="l">
              <a:lnSpc>
                <a:spcPct val="100000"/>
              </a:lnSpc>
              <a:spcAft>
                <a:spcPts val="400"/>
              </a:spcAft>
            </a:pPr>
            <a:r>
              <a:rPr sz="1200" lang="zh-TW" dirty="0">
                <a:solidFill>
                  <a:srgbClr val="000000"/>
                </a:solidFill>
                <a:latin typeface="Arial Unicode MS"/>
                <a:ea typeface="Arial Unicode MS"/>
                <a:cs typeface="Arial Unicode MS"/>
              </a:rPr>
              <a:t>所以會發生一件很諷刺的事：</a:t>
            </a:r>
            <a:r>
              <a:rPr sz="1200" b="1" lang="zh-TW" dirty="0">
                <a:solidFill>
                  <a:srgbClr val="000000"/>
                </a:solidFill>
                <a:latin typeface="Arial Unicode MS"/>
                <a:ea typeface="Arial Unicode MS"/>
                <a:cs typeface="Arial Unicode MS"/>
              </a:rPr>
              <a:t>一台在模擬裡表現完美的自駕車，丟到真的河內街頭，可能完全動不了</a:t>
            </a:r>
            <a:r>
              <a:rPr sz="1200" lang="zh-TW" dirty="0">
                <a:solidFill>
                  <a:srgbClr val="000000"/>
                </a:solidFill>
                <a:latin typeface="Arial Unicode MS"/>
                <a:ea typeface="Arial Unicode MS"/>
                <a:cs typeface="Arial Unicode MS"/>
              </a:rPr>
              <a:t>——因為它學到的規則在那裡不適用。
</a:t>
            </a:r>
          </a:p>
          <a:p>
            <a:pPr algn="l">
              <a:lnSpc>
                <a:spcPct val="100000"/>
              </a:lnSpc>
              <a:spcAft>
                <a:spcPts val="400"/>
              </a:spcAft>
            </a:pPr>
            <a:r>
              <a:rPr sz="1200" lang="zh-TW" dirty="0">
                <a:solidFill>
                  <a:srgbClr val="000000"/>
                </a:solidFill>
                <a:latin typeface="Arial Unicode MS"/>
                <a:ea typeface="Arial Unicode MS"/>
                <a:cs typeface="Arial Unicode MS"/>
              </a:rPr>
              <a:t>解法寫在最下面：把真實道路上錄到的軌跡回放進模擬。可是這裡有個問題，下一頁。</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22</a:t>
            </a: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解法是把真實道路上錄到的軌跡回放進模擬。但這裡有個問題留給各位想。
</a:t>
            </a:r>
          </a:p>
          <a:p>
            <a:pPr algn="l">
              <a:lnSpc>
                <a:spcPct val="100000"/>
              </a:lnSpc>
              <a:spcAft>
                <a:spcPts val="400"/>
              </a:spcAft>
            </a:pPr>
            <a:r>
              <a:rPr sz="1200" b="1" lang="zh-TW" dirty="0">
                <a:solidFill>
                  <a:srgbClr val="000000"/>
                </a:solidFill>
                <a:latin typeface="Arial Unicode MS"/>
                <a:ea typeface="Arial Unicode MS"/>
                <a:cs typeface="Arial Unicode MS"/>
              </a:rPr>
              <a:t>要回放河內的軌跡，你得先有河內的軌跡。</a:t>
            </a:r>
            <a:r>
              <a:rPr sz="1200" lang="zh-TW" dirty="0">
                <a:solidFill>
                  <a:srgbClr val="000000"/>
                </a:solidFill>
                <a:latin typeface="Arial Unicode MS"/>
                <a:ea typeface="Arial Unicode MS"/>
                <a:cs typeface="Arial Unicode MS"/>
              </a:rPr>
              <a:t>誰有？
</a:t>
            </a:r>
          </a:p>
          <a:p>
            <a:pPr algn="l">
              <a:lnSpc>
                <a:spcPct val="100000"/>
              </a:lnSpc>
              <a:spcAft>
                <a:spcPts val="400"/>
              </a:spcAft>
            </a:pPr>
            <a:r>
              <a:rPr sz="1200" lang="zh-TW" dirty="0">
                <a:solidFill>
                  <a:srgbClr val="000000"/>
                </a:solidFill>
                <a:latin typeface="Arial Unicode MS"/>
                <a:ea typeface="Arial Unicode MS"/>
                <a:cs typeface="Arial Unicode MS"/>
              </a:rPr>
              <a:t>（等學生回答。）
</a:t>
            </a:r>
          </a:p>
          <a:p>
            <a:pPr algn="l">
              <a:lnSpc>
                <a:spcPct val="100000"/>
              </a:lnSpc>
              <a:spcAft>
                <a:spcPts val="400"/>
              </a:spcAft>
            </a:pPr>
            <a:r>
              <a:rPr sz="1200" lang="zh-TW" dirty="0">
                <a:solidFill>
                  <a:srgbClr val="000000"/>
                </a:solidFill>
                <a:latin typeface="Arial Unicode MS"/>
                <a:ea typeface="Arial Unicode MS"/>
                <a:cs typeface="Arial Unicode MS"/>
              </a:rPr>
              <a:t>在越南賣車的公司有——VinFast 二〇二五年就在越南交了十七萬台車。但那是公司內部的資料，不會公開。所以答案是：</a:t>
            </a:r>
            <a:r>
              <a:rPr sz="1200" b="1" lang="zh-TW" dirty="0">
                <a:solidFill>
                  <a:srgbClr val="000000"/>
                </a:solidFill>
                <a:latin typeface="Arial Unicode MS"/>
                <a:ea typeface="Arial Unicode MS"/>
                <a:cs typeface="Arial Unicode MS"/>
              </a:rPr>
              <a:t>有人有，但你拿不到；公開的資料裡，找不到河內的軌跡。</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所以這不是抱怨，這是機會。各位不用去做一個完整的交通行為模型，那是好幾年的工程。
</a:t>
            </a:r>
          </a:p>
          <a:p>
            <a:pPr algn="l">
              <a:lnSpc>
                <a:spcPct val="100000"/>
              </a:lnSpc>
              <a:spcAft>
                <a:spcPts val="400"/>
              </a:spcAft>
            </a:pPr>
            <a:r>
              <a:rPr sz="1200" lang="zh-TW" dirty="0">
                <a:solidFill>
                  <a:srgbClr val="000000"/>
                </a:solidFill>
                <a:latin typeface="Arial Unicode MS"/>
                <a:ea typeface="Arial Unicode MS"/>
                <a:cs typeface="Arial Unicode MS"/>
              </a:rPr>
              <a:t>但</a:t>
            </a:r>
            <a:r>
              <a:rPr sz="1200" b="1" lang="zh-TW" dirty="0">
                <a:solidFill>
                  <a:srgbClr val="000000"/>
                </a:solidFill>
                <a:latin typeface="Arial Unicode MS"/>
                <a:ea typeface="Arial Unicode MS"/>
                <a:cs typeface="Arial Unicode MS"/>
              </a:rPr>
              <a:t>第一步很小，各位現在就做得到</a:t>
            </a:r>
            <a:r>
              <a:rPr sz="1200" lang="zh-TW" dirty="0">
                <a:solidFill>
                  <a:srgbClr val="000000"/>
                </a:solidFill>
                <a:latin typeface="Arial Unicode MS"/>
                <a:ea typeface="Arial Unicode MS"/>
                <a:cs typeface="Arial Unicode MS"/>
              </a:rPr>
              <a:t>：挑一個每天經過的路口，用手機錄三十秒，回去把畫面暫停，數同時有幾台機車、離你多遠。
</a:t>
            </a:r>
          </a:p>
          <a:p>
            <a:pPr algn="l">
              <a:lnSpc>
                <a:spcPct val="100000"/>
              </a:lnSpc>
              <a:spcAft>
                <a:spcPts val="400"/>
              </a:spcAft>
            </a:pPr>
            <a:r>
              <a:rPr sz="1200" lang="zh-TW" dirty="0">
                <a:solidFill>
                  <a:srgbClr val="000000"/>
                </a:solidFill>
                <a:latin typeface="Arial Unicode MS"/>
                <a:ea typeface="Arial Unicode MS"/>
                <a:cs typeface="Arial Unicode MS"/>
              </a:rPr>
              <a:t>這樣就有一筆別人沒有的數字。第二節會教各位這種東西要怎麼寫下來。</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23</a:t>
            </a: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第三種：</a:t>
            </a:r>
            <a:r>
              <a:rPr sz="1200" b="1" lang="zh-TW" dirty="0">
                <a:solidFill>
                  <a:srgbClr val="000000"/>
                </a:solidFill>
                <a:latin typeface="Arial Unicode MS"/>
                <a:ea typeface="Arial Unicode MS"/>
                <a:cs typeface="Arial Unicode MS"/>
              </a:rPr>
              <a:t>物理落差</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輪胎怎麼抓地、懸吊怎麼吸震、煞車踩下去到真的減速中間有多少延遲——這些在模擬裡都是</a:t>
            </a:r>
            <a:r>
              <a:rPr sz="1200" b="1" lang="zh-TW" dirty="0">
                <a:solidFill>
                  <a:srgbClr val="000000"/>
                </a:solidFill>
                <a:latin typeface="Arial Unicode MS"/>
                <a:ea typeface="Arial Unicode MS"/>
                <a:cs typeface="Arial Unicode MS"/>
              </a:rPr>
              <a:t>近似值</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我們的模擬器更簡化：減速度就是一個固定的數字，</a:t>
            </a:r>
            <a:r>
              <a:rPr sz="1200" b="1" lang="zh-TW" dirty="0">
                <a:solidFill>
                  <a:srgbClr val="000000"/>
                </a:solidFill>
                <a:latin typeface="Arial Unicode MS"/>
                <a:ea typeface="Arial Unicode MS"/>
                <a:cs typeface="Arial Unicode MS"/>
              </a:rPr>
              <a:t>六</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（問全班）下雨天煞車，煞得住嗎？
</a:t>
            </a:r>
          </a:p>
          <a:p>
            <a:pPr algn="l">
              <a:lnSpc>
                <a:spcPct val="100000"/>
              </a:lnSpc>
              <a:spcAft>
                <a:spcPts val="400"/>
              </a:spcAft>
            </a:pPr>
            <a:r>
              <a:rPr sz="1200" lang="zh-TW" dirty="0">
                <a:solidFill>
                  <a:srgbClr val="000000"/>
                </a:solidFill>
                <a:latin typeface="Arial Unicode MS"/>
                <a:ea typeface="Arial Unicode MS"/>
                <a:cs typeface="Arial Unicode MS"/>
              </a:rPr>
              <a:t>比較難煞。</a:t>
            </a:r>
            <a:r>
              <a:rPr sz="1200" b="1" lang="zh-TW" dirty="0">
                <a:solidFill>
                  <a:srgbClr val="000000"/>
                </a:solidFill>
                <a:latin typeface="Arial Unicode MS"/>
                <a:ea typeface="Arial Unicode MS"/>
                <a:cs typeface="Arial Unicode MS"/>
              </a:rPr>
              <a:t>濕路面的減速度大約只剩一半</a:t>
            </a:r>
            <a:r>
              <a:rPr sz="1200" lang="zh-TW" dirty="0">
                <a:solidFill>
                  <a:srgbClr val="000000"/>
                </a:solidFill>
                <a:latin typeface="Arial Unicode MS"/>
                <a:ea typeface="Arial Unicode MS"/>
                <a:cs typeface="Arial Unicode MS"/>
              </a:rPr>
              <a:t>，時速五十的煞停距離從二十公尺變成三十六公尺。
</a:t>
            </a:r>
          </a:p>
          <a:p>
            <a:pPr algn="l">
              <a:lnSpc>
                <a:spcPct val="100000"/>
              </a:lnSpc>
              <a:spcAft>
                <a:spcPts val="400"/>
              </a:spcAft>
            </a:pPr>
            <a:r>
              <a:rPr sz="1200" lang="zh-TW" dirty="0">
                <a:solidFill>
                  <a:srgbClr val="000000"/>
                </a:solidFill>
                <a:latin typeface="Arial Unicode MS"/>
                <a:ea typeface="Arial Unicode MS"/>
                <a:cs typeface="Arial Unicode MS"/>
              </a:rPr>
              <a:t>所以回頭看那張五個車速的表——</a:t>
            </a:r>
            <a:r>
              <a:rPr sz="1200" b="1" lang="zh-TW" dirty="0">
                <a:solidFill>
                  <a:srgbClr val="000000"/>
                </a:solidFill>
                <a:latin typeface="Arial Unicode MS"/>
                <a:ea typeface="Arial Unicode MS"/>
                <a:cs typeface="Arial Unicode MS"/>
              </a:rPr>
              <a:t>那張表只在乾的柏油路上成立。</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第三節打開雨天的時候，各位會親眼看到，而且會發現一個陷阱：射線變短了，但煞停距離沒有變短。</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24</a:t>
            </a: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講了三種落差，好像模擬一無是處。反過來也要講。
</a:t>
            </a:r>
          </a:p>
          <a:p>
            <a:pPr algn="l">
              <a:lnSpc>
                <a:spcPct val="100000"/>
              </a:lnSpc>
              <a:spcAft>
                <a:spcPts val="400"/>
              </a:spcAft>
            </a:pPr>
            <a:r>
              <a:rPr sz="1200" b="1" lang="zh-TW" dirty="0">
                <a:solidFill>
                  <a:srgbClr val="000000"/>
                </a:solidFill>
                <a:latin typeface="Arial Unicode MS"/>
                <a:ea typeface="Arial Unicode MS"/>
                <a:cs typeface="Arial Unicode MS"/>
              </a:rPr>
              <a:t>模擬能做兩件真實世界做不到的事。</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第一件：同一個情況重跑一萬次，每次只改一個參數。真實世界能嗎？不能。
</a:t>
            </a:r>
          </a:p>
          <a:p>
            <a:pPr algn="l">
              <a:lnSpc>
                <a:spcPct val="100000"/>
              </a:lnSpc>
              <a:spcAft>
                <a:spcPts val="400"/>
              </a:spcAft>
            </a:pPr>
            <a:r>
              <a:rPr sz="1200" lang="zh-TW" dirty="0">
                <a:solidFill>
                  <a:srgbClr val="000000"/>
                </a:solidFill>
                <a:latin typeface="Arial Unicode MS"/>
                <a:ea typeface="Arial Unicode MS"/>
                <a:cs typeface="Arial Unicode MS"/>
              </a:rPr>
              <a:t>第二件更重要：讓行人剛好在</a:t>
            </a:r>
            <a:r>
              <a:rPr sz="1200" b="1" lang="zh-TW" dirty="0">
                <a:solidFill>
                  <a:srgbClr val="000000"/>
                </a:solidFill>
                <a:latin typeface="Arial Unicode MS"/>
                <a:ea typeface="Arial Unicode MS"/>
                <a:cs typeface="Arial Unicode MS"/>
              </a:rPr>
              <a:t>最糟的時間點</a:t>
            </a:r>
            <a:r>
              <a:rPr sz="1200" lang="zh-TW" dirty="0">
                <a:solidFill>
                  <a:srgbClr val="000000"/>
                </a:solidFill>
                <a:latin typeface="Arial Unicode MS"/>
                <a:ea typeface="Arial Unicode MS"/>
                <a:cs typeface="Arial Unicode MS"/>
              </a:rPr>
              <a:t>走出來。真實世界能嗎？
</a:t>
            </a:r>
          </a:p>
          <a:p>
            <a:pPr algn="l">
              <a:lnSpc>
                <a:spcPct val="100000"/>
              </a:lnSpc>
              <a:spcAft>
                <a:spcPts val="400"/>
              </a:spcAft>
            </a:pPr>
            <a:r>
              <a:rPr sz="1200" lang="zh-TW" dirty="0">
                <a:solidFill>
                  <a:srgbClr val="000000"/>
                </a:solidFill>
                <a:latin typeface="Arial Unicode MS"/>
                <a:ea typeface="Arial Unicode MS"/>
                <a:cs typeface="Arial Unicode MS"/>
              </a:rPr>
              <a:t>這一句我想聽大家自己說出來。
</a:t>
            </a:r>
          </a:p>
          <a:p>
            <a:pPr algn="l">
              <a:lnSpc>
                <a:spcPct val="100000"/>
              </a:lnSpc>
              <a:spcAft>
                <a:spcPts val="400"/>
              </a:spcAft>
            </a:pPr>
            <a:r>
              <a:rPr sz="1200" lang="zh-TW" dirty="0">
                <a:solidFill>
                  <a:srgbClr val="000000"/>
                </a:solidFill>
                <a:latin typeface="Arial Unicode MS"/>
                <a:ea typeface="Arial Unicode MS"/>
                <a:cs typeface="Arial Unicode MS"/>
              </a:rPr>
              <a:t>技術上做得到，但</a:t>
            </a:r>
            <a:r>
              <a:rPr sz="1200" b="1" lang="zh-TW" dirty="0">
                <a:solidFill>
                  <a:srgbClr val="000000"/>
                </a:solidFill>
                <a:latin typeface="Arial Unicode MS"/>
                <a:ea typeface="Arial Unicode MS"/>
                <a:cs typeface="Arial Unicode MS"/>
              </a:rPr>
              <a:t>不可以做</a:t>
            </a:r>
            <a:r>
              <a:rPr sz="1200" lang="zh-TW" dirty="0">
                <a:solidFill>
                  <a:srgbClr val="000000"/>
                </a:solidFill>
                <a:latin typeface="Arial Unicode MS"/>
                <a:ea typeface="Arial Unicode MS"/>
                <a:cs typeface="Arial Unicode MS"/>
              </a:rPr>
              <a:t>。你不能為了測試，讓一個真人冒生命危險。
</a:t>
            </a:r>
          </a:p>
          <a:p>
            <a:pPr algn="l">
              <a:lnSpc>
                <a:spcPct val="100000"/>
              </a:lnSpc>
              <a:spcAft>
                <a:spcPts val="400"/>
              </a:spcAft>
            </a:pPr>
            <a:r>
              <a:rPr sz="1200" lang="zh-TW" dirty="0">
                <a:solidFill>
                  <a:srgbClr val="000000"/>
                </a:solidFill>
                <a:latin typeface="Arial Unicode MS"/>
                <a:ea typeface="Arial Unicode MS"/>
                <a:cs typeface="Arial Unicode MS"/>
              </a:rPr>
              <a:t>所以模擬不是「比較差的真實」，它是</a:t>
            </a:r>
            <a:r>
              <a:rPr sz="1200" b="1" lang="zh-TW" dirty="0">
                <a:solidFill>
                  <a:srgbClr val="000000"/>
                </a:solidFill>
                <a:latin typeface="Arial Unicode MS"/>
                <a:ea typeface="Arial Unicode MS"/>
                <a:cs typeface="Arial Unicode MS"/>
              </a:rPr>
              <a:t>另一種工具</a:t>
            </a:r>
            <a:r>
              <a:rPr sz="1200" lang="zh-TW" dirty="0">
                <a:solidFill>
                  <a:srgbClr val="000000"/>
                </a:solidFill>
                <a:latin typeface="Arial Unicode MS"/>
                <a:ea typeface="Arial Unicode MS"/>
                <a:cs typeface="Arial Unicode MS"/>
              </a:rPr>
              <a:t>。這句話我寫在白板上：模擬做不到的，真車做得到；真車做不到的，模擬做得到。兩個都要。</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25</a:t>
            </a: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剛剛那三種落差，在台灣和越南</a:t>
            </a:r>
            <a:r>
              <a:rPr sz="1200" b="1" lang="zh-TW" dirty="0">
                <a:solidFill>
                  <a:srgbClr val="000000"/>
                </a:solidFill>
                <a:latin typeface="Arial Unicode MS"/>
                <a:ea typeface="Arial Unicode MS"/>
                <a:cs typeface="Arial Unicode MS"/>
              </a:rPr>
              <a:t>更大</a:t>
            </a:r>
            <a:r>
              <a:rPr sz="1200" lang="zh-TW" dirty="0">
                <a:solidFill>
                  <a:srgbClr val="000000"/>
                </a:solidFill>
                <a:latin typeface="Arial Unicode MS"/>
                <a:ea typeface="Arial Unicode MS"/>
                <a:cs typeface="Arial Unicode MS"/>
              </a:rPr>
              <a:t>。原因很單純：現成的模擬器裡面的世界、車輛、行為，</a:t>
            </a:r>
            <a:r>
              <a:rPr sz="1200" b="1" lang="zh-TW" dirty="0">
                <a:solidFill>
                  <a:srgbClr val="000000"/>
                </a:solidFill>
                <a:latin typeface="Arial Unicode MS"/>
                <a:ea typeface="Arial Unicode MS"/>
                <a:cs typeface="Arial Unicode MS"/>
              </a:rPr>
              <a:t>都是照歐美做的</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lang="zh-TW" dirty="0">
                <a:solidFill>
                  <a:srgbClr val="000000"/>
                </a:solidFill>
                <a:latin typeface="Arial Unicode MS"/>
                <a:ea typeface="Arial Unicode MS"/>
                <a:cs typeface="Arial Unicode MS"/>
              </a:rPr>
              <a:t>一欄一欄看。
</a:t>
            </a:r>
          </a:p>
          <a:p>
            <a:pPr algn="l">
              <a:lnSpc>
                <a:spcPct val="100000"/>
              </a:lnSpc>
              <a:spcAft>
                <a:spcPts val="400"/>
              </a:spcAft>
            </a:pPr>
            <a:r>
              <a:rPr sz="1200" b="1" lang="zh-TW" dirty="0">
                <a:solidFill>
                  <a:srgbClr val="000000"/>
                </a:solidFill>
                <a:latin typeface="Arial Unicode MS"/>
                <a:ea typeface="Arial Unicode MS"/>
                <a:cs typeface="Arial Unicode MS"/>
              </a:rPr>
              <a:t>外觀</a:t>
            </a:r>
            <a:r>
              <a:rPr sz="1200" lang="zh-TW" dirty="0">
                <a:solidFill>
                  <a:srgbClr val="000000"/>
                </a:solidFill>
                <a:latin typeface="Arial Unicode MS"/>
                <a:ea typeface="Arial Unicode MS"/>
                <a:cs typeface="Arial Unicode MS"/>
              </a:rPr>
              <a:t>：CARLA 裡有騎樓嗎？沒有。有滿街的招牌嗎？沒有。有機車待轉區嗎？沒有。
</a:t>
            </a:r>
          </a:p>
          <a:p>
            <a:pPr algn="l">
              <a:lnSpc>
                <a:spcPct val="100000"/>
              </a:lnSpc>
              <a:spcAft>
                <a:spcPts val="400"/>
              </a:spcAft>
            </a:pPr>
            <a:r>
              <a:rPr sz="1200" b="1" lang="zh-TW" dirty="0">
                <a:solidFill>
                  <a:srgbClr val="000000"/>
                </a:solidFill>
                <a:latin typeface="Arial Unicode MS"/>
                <a:ea typeface="Arial Unicode MS"/>
                <a:cs typeface="Arial Unicode MS"/>
              </a:rPr>
              <a:t>行為</a:t>
            </a:r>
            <a:r>
              <a:rPr sz="1200" lang="zh-TW" dirty="0">
                <a:solidFill>
                  <a:srgbClr val="000000"/>
                </a:solidFill>
                <a:latin typeface="Arial Unicode MS"/>
                <a:ea typeface="Arial Unicode MS"/>
                <a:cs typeface="Arial Unicode MS"/>
              </a:rPr>
              <a:t>：這是差最多的。歐美的模擬器裡，機車是「偶爾出現的一台」。台灣綠燈起步是二十台機車扇形散開；越南是五公尺內十二台互相鑽。</a:t>
            </a:r>
            <a:r>
              <a:rPr sz="1200" b="1" lang="zh-TW" dirty="0">
                <a:solidFill>
                  <a:srgbClr val="000000"/>
                </a:solidFill>
                <a:latin typeface="Arial Unicode MS"/>
                <a:ea typeface="Arial Unicode MS"/>
                <a:cs typeface="Arial Unicode MS"/>
              </a:rPr>
              <a:t>這種行為模型，現成的模擬器裡根本沒有。</a:t>
            </a:r>
            <a:r>
              <a:rPr sz="1200" lang="zh-TW" dirty="0">
                <a:solidFill>
                  <a:srgbClr val="000000"/>
                </a:solidFill>
                <a:latin typeface="Arial Unicode MS"/>
                <a:ea typeface="Arial Unicode MS"/>
                <a:cs typeface="Arial Unicode MS"/>
              </a:rPr>
              <a:t>
</a:t>
            </a:r>
          </a:p>
          <a:p>
            <a:pPr algn="l">
              <a:lnSpc>
                <a:spcPct val="100000"/>
              </a:lnSpc>
              <a:spcAft>
                <a:spcPts val="400"/>
              </a:spcAft>
            </a:pPr>
            <a:r>
              <a:rPr sz="1200" b="1" lang="zh-TW" dirty="0">
                <a:solidFill>
                  <a:srgbClr val="000000"/>
                </a:solidFill>
                <a:latin typeface="Arial Unicode MS"/>
                <a:ea typeface="Arial Unicode MS"/>
                <a:cs typeface="Arial Unicode MS"/>
              </a:rPr>
              <a:t>物理</a:t>
            </a:r>
            <a:r>
              <a:rPr sz="1200" lang="zh-TW" dirty="0">
                <a:solidFill>
                  <a:srgbClr val="000000"/>
                </a:solidFill>
                <a:latin typeface="Arial Unicode MS"/>
                <a:ea typeface="Arial Unicode MS"/>
                <a:cs typeface="Arial Unicode MS"/>
              </a:rPr>
              <a:t>：補丁路面、人孔蓋、深淺不一的積水，這些都會影響抓地力，而模擬器裡的地面是一整片完美的平面。
</a:t>
            </a:r>
          </a:p>
          <a:p>
            <a:pPr algn="l">
              <a:lnSpc>
                <a:spcPct val="100000"/>
              </a:lnSpc>
              <a:spcAft>
                <a:spcPts val="400"/>
              </a:spcAft>
            </a:pPr>
            <a:r>
              <a:rPr sz="1200" lang="zh-TW" dirty="0">
                <a:solidFill>
                  <a:srgbClr val="000000"/>
                </a:solidFill>
                <a:latin typeface="Arial Unicode MS"/>
                <a:ea typeface="Arial Unicode MS"/>
                <a:cs typeface="Arial Unicode MS"/>
              </a:rPr>
              <a:t>所以看最下面那句話。這不是抱怨，這是機會：那份資料只有各位收得到。</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26</a:t>
            </a: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383"/>
              </a:spcAft>
            </a:pPr>
            <a:r>
              <a:rPr sz="1150" lang="zh-TW" dirty="0">
                <a:solidFill>
                  <a:srgbClr val="000000"/>
                </a:solidFill>
                <a:latin typeface="Arial Unicode MS"/>
                <a:ea typeface="Arial Unicode MS"/>
                <a:cs typeface="Arial Unicode MS"/>
              </a:rPr>
              <a:t>現在做一個四分鐘的討論。
</a:t>
            </a:r>
          </a:p>
          <a:p>
            <a:pPr algn="l">
              <a:lnSpc>
                <a:spcPct val="100000"/>
              </a:lnSpc>
              <a:spcAft>
                <a:spcPts val="383"/>
              </a:spcAft>
            </a:pPr>
            <a:r>
              <a:rPr sz="1150" lang="zh-TW" dirty="0">
                <a:solidFill>
                  <a:srgbClr val="000000"/>
                </a:solidFill>
                <a:latin typeface="Arial Unicode MS"/>
                <a:ea typeface="Arial Unicode MS"/>
                <a:cs typeface="Arial Unicode MS"/>
              </a:rPr>
              <a:t>每一組講一件，我在白板上分三欄記下來：外觀、行為、物理。
</a:t>
            </a:r>
          </a:p>
          <a:p>
            <a:pPr algn="l">
              <a:lnSpc>
                <a:spcPct val="100000"/>
              </a:lnSpc>
              <a:spcAft>
                <a:spcPts val="383"/>
              </a:spcAft>
            </a:pPr>
            <a:r>
              <a:rPr sz="1150" lang="zh-TW" dirty="0">
                <a:solidFill>
                  <a:srgbClr val="000000"/>
                </a:solidFill>
                <a:latin typeface="Arial Unicode MS"/>
                <a:ea typeface="Arial Unicode MS"/>
                <a:cs typeface="Arial Unicode MS"/>
              </a:rPr>
              <a:t>先讓全班猜一下：</a:t>
            </a:r>
            <a:r>
              <a:rPr sz="1150" b="1" lang="zh-TW" dirty="0">
                <a:solidFill>
                  <a:srgbClr val="000000"/>
                </a:solidFill>
                <a:latin typeface="Arial Unicode MS"/>
                <a:ea typeface="Arial Unicode MS"/>
                <a:cs typeface="Arial Unicode MS"/>
              </a:rPr>
              <a:t>哪一欄會最滿？</a:t>
            </a:r>
            <a:r>
              <a:rPr sz="1150" lang="zh-TW" dirty="0">
                <a:solidFill>
                  <a:srgbClr val="000000"/>
                </a:solidFill>
                <a:latin typeface="Arial Unicode MS"/>
                <a:ea typeface="Arial Unicode MS"/>
                <a:cs typeface="Arial Unicode MS"/>
              </a:rPr>
              <a:t>
</a:t>
            </a:r>
          </a:p>
          <a:p>
            <a:pPr algn="l">
              <a:lnSpc>
                <a:spcPct val="100000"/>
              </a:lnSpc>
              <a:spcAft>
                <a:spcPts val="383"/>
              </a:spcAft>
            </a:pPr>
            <a:r>
              <a:rPr sz="1150" lang="zh-TW" dirty="0">
                <a:solidFill>
                  <a:srgbClr val="000000"/>
                </a:solidFill>
                <a:latin typeface="Arial Unicode MS"/>
                <a:ea typeface="Arial Unicode MS"/>
                <a:cs typeface="Arial Unicode MS"/>
              </a:rPr>
              <a:t>大部分的人會猜行為，而且會猜對。
</a:t>
            </a:r>
          </a:p>
          <a:p>
            <a:pPr algn="l">
              <a:lnSpc>
                <a:spcPct val="100000"/>
              </a:lnSpc>
              <a:spcAft>
                <a:spcPts val="383"/>
              </a:spcAft>
            </a:pPr>
            <a:r>
              <a:rPr sz="1150" lang="zh-TW" dirty="0">
                <a:solidFill>
                  <a:srgbClr val="000000"/>
                </a:solidFill>
                <a:latin typeface="Arial Unicode MS"/>
                <a:ea typeface="Arial Unicode MS"/>
                <a:cs typeface="Arial Unicode MS"/>
              </a:rPr>
              <a:t>開始。
</a:t>
            </a:r>
          </a:p>
          <a:p>
            <a:pPr algn="l">
              <a:lnSpc>
                <a:spcPct val="100000"/>
              </a:lnSpc>
              <a:spcAft>
                <a:spcPts val="383"/>
              </a:spcAft>
            </a:pPr>
            <a:r>
              <a:rPr sz="1150" lang="zh-TW" dirty="0">
                <a:solidFill>
                  <a:srgbClr val="000000"/>
                </a:solidFill>
                <a:latin typeface="Arial Unicode MS"/>
                <a:ea typeface="Arial Unicode MS"/>
                <a:cs typeface="Arial Unicode MS"/>
              </a:rPr>
              <a:t>大家講的例子，大部分會落在「行為」那一欄：鑽車縫、逆向、闖紅燈、路口不打方向燈、外送機車突然停下。這很正常，因為行為最有感。
</a:t>
            </a:r>
          </a:p>
          <a:p>
            <a:pPr algn="l">
              <a:lnSpc>
                <a:spcPct val="100000"/>
              </a:lnSpc>
              <a:spcAft>
                <a:spcPts val="383"/>
              </a:spcAft>
            </a:pPr>
            <a:r>
              <a:rPr sz="1150" b="1" lang="zh-TW" dirty="0">
                <a:solidFill>
                  <a:srgbClr val="000000"/>
                </a:solidFill>
                <a:latin typeface="Arial Unicode MS"/>
                <a:ea typeface="Arial Unicode MS"/>
                <a:cs typeface="Arial Unicode MS"/>
              </a:rPr>
              <a:t>老師要主動補一到兩個「物理」的例子</a:t>
            </a:r>
            <a:r>
              <a:rPr sz="1150" lang="zh-TW" dirty="0">
                <a:solidFill>
                  <a:srgbClr val="000000"/>
                </a:solidFill>
                <a:latin typeface="Arial Unicode MS"/>
                <a:ea typeface="Arial Unicode MS"/>
                <a:cs typeface="Arial Unicode MS"/>
              </a:rPr>
              <a:t>，因為學生通常想不到：
</a:t>
            </a:r>
          </a:p>
          <a:p>
            <a:pPr algn="l">
              <a:lnSpc>
                <a:spcPct val="100000"/>
              </a:lnSpc>
              <a:spcAft>
                <a:spcPts val="383"/>
              </a:spcAft>
            </a:pPr>
            <a:r>
              <a:rPr sz="1150" lang="zh-TW" dirty="0">
                <a:solidFill>
                  <a:srgbClr val="000000"/>
                </a:solidFill>
                <a:latin typeface="Arial Unicode MS"/>
                <a:ea typeface="Arial Unicode MS"/>
                <a:cs typeface="Arial Unicode MS"/>
              </a:rPr>
              <a:t>「人孔蓋。下雨天的人孔蓋很滑，機車壓過去會打滑。模擬器裡的地面是一整片，沒有人孔蓋這種東西。」
</a:t>
            </a:r>
          </a:p>
          <a:p>
            <a:pPr algn="l">
              <a:lnSpc>
                <a:spcPct val="100000"/>
              </a:lnSpc>
              <a:spcAft>
                <a:spcPts val="383"/>
              </a:spcAft>
            </a:pPr>
            <a:r>
              <a:rPr sz="1150" lang="zh-TW" dirty="0">
                <a:solidFill>
                  <a:srgbClr val="000000"/>
                </a:solidFill>
                <a:latin typeface="Arial Unicode MS"/>
                <a:ea typeface="Arial Unicode MS"/>
                <a:cs typeface="Arial Unicode MS"/>
              </a:rPr>
              <a:t>「積水。你看到一個水窪，你不知道它是兩公分還是二十公分深。模擬器裡沒有水窪，就算有，也不會有深度不確定這件事。」
</a:t>
            </a:r>
          </a:p>
          <a:p>
            <a:pPr algn="l">
              <a:lnSpc>
                <a:spcPct val="100000"/>
              </a:lnSpc>
              <a:spcAft>
                <a:spcPts val="383"/>
              </a:spcAft>
            </a:pPr>
            <a:r>
              <a:rPr sz="1150" lang="zh-TW" dirty="0">
                <a:solidFill>
                  <a:srgbClr val="000000"/>
                </a:solidFill>
                <a:latin typeface="Arial Unicode MS"/>
                <a:ea typeface="Arial Unicode MS"/>
                <a:cs typeface="Arial Unicode MS"/>
              </a:rPr>
              <a:t>（補完之後說）看白板：三欄都有東西，而且都是各位自己講出來的。</a:t>
            </a:r>
            <a:r>
              <a:rPr sz="1150" b="1" lang="zh-TW" dirty="0">
                <a:solidFill>
                  <a:srgbClr val="000000"/>
                </a:solidFill>
                <a:latin typeface="Arial Unicode MS"/>
                <a:ea typeface="Arial Unicode MS"/>
                <a:cs typeface="Arial Unicode MS"/>
              </a:rPr>
              <a:t>這張白板就是台灣和越南版模擬器缺的東西清單。</a:t>
            </a:r>
            <a:r>
              <a:rPr sz="1150" lang="zh-TW" dirty="0">
                <a:solidFill>
                  <a:srgbClr val="000000"/>
                </a:solidFill>
                <a:latin typeface="Arial Unicode MS"/>
                <a:ea typeface="Arial Unicode MS"/>
                <a:cs typeface="Arial Unicode MS"/>
              </a:rPr>
              <a:t>拍張照留著——上面每一條，都是一個還沒有人做過的題目。</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27</a:t>
            </a: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lnSpc>
                <a:spcPct val="100000"/>
              </a:lnSpc>
              <a:spcAft>
                <a:spcPts val="400"/>
              </a:spcAft>
            </a:pPr>
            <a:r>
              <a:rPr sz="1200" lang="zh-TW" dirty="0">
                <a:solidFill>
                  <a:srgbClr val="000000"/>
                </a:solidFill>
                <a:latin typeface="Arial Unicode MS"/>
                <a:ea typeface="Arial Unicode MS"/>
                <a:cs typeface="Arial Unicode MS"/>
              </a:rPr>
              <a:t>第一節到這裡。三句話帶走。
</a:t>
            </a:r>
          </a:p>
          <a:p>
            <a:pPr algn="l">
              <a:lnSpc>
                <a:spcPct val="100000"/>
              </a:lnSpc>
              <a:spcAft>
                <a:spcPts val="400"/>
              </a:spcAft>
            </a:pPr>
            <a:r>
              <a:rPr sz="1200" lang="zh-TW" dirty="0">
                <a:solidFill>
                  <a:srgbClr val="000000"/>
                </a:solidFill>
                <a:latin typeface="Arial Unicode MS"/>
                <a:ea typeface="Arial Unicode MS"/>
                <a:cs typeface="Arial Unicode MS"/>
              </a:rPr>
              <a:t>第一句，</a:t>
            </a:r>
            <a:r>
              <a:rPr sz="1200" b="1" lang="zh-TW" dirty="0">
                <a:solidFill>
                  <a:srgbClr val="000000"/>
                </a:solidFill>
                <a:latin typeface="Arial Unicode MS"/>
                <a:ea typeface="Arial Unicode MS"/>
                <a:cs typeface="Arial Unicode MS"/>
              </a:rPr>
              <a:t>三個滑桿就是三個規格</a:t>
            </a:r>
            <a:r>
              <a:rPr sz="1200" lang="zh-TW" dirty="0">
                <a:solidFill>
                  <a:srgbClr val="000000"/>
                </a:solidFill>
                <a:latin typeface="Arial Unicode MS"/>
                <a:ea typeface="Arial Unicode MS"/>
                <a:cs typeface="Arial Unicode MS"/>
              </a:rPr>
              <a:t>：射線數是解析度、長度是測距範圍、張角是視野。第五週我拿真的規格表來，各位會發現上面就是這三個數字。
</a:t>
            </a:r>
          </a:p>
          <a:p>
            <a:pPr algn="l">
              <a:lnSpc>
                <a:spcPct val="100000"/>
              </a:lnSpc>
              <a:spcAft>
                <a:spcPts val="400"/>
              </a:spcAft>
            </a:pPr>
            <a:r>
              <a:rPr sz="1200" lang="zh-TW" dirty="0">
                <a:solidFill>
                  <a:srgbClr val="000000"/>
                </a:solidFill>
                <a:latin typeface="Arial Unicode MS"/>
                <a:ea typeface="Arial Unicode MS"/>
                <a:cs typeface="Arial Unicode MS"/>
              </a:rPr>
              <a:t>第二句，</a:t>
            </a:r>
            <a:r>
              <a:rPr sz="1200" b="1" lang="zh-TW" dirty="0">
                <a:solidFill>
                  <a:srgbClr val="000000"/>
                </a:solidFill>
                <a:latin typeface="Arial Unicode MS"/>
                <a:ea typeface="Arial Unicode MS"/>
                <a:cs typeface="Arial Unicode MS"/>
              </a:rPr>
              <a:t>煞停距離決定射線至少要多長</a:t>
            </a:r>
            <a:r>
              <a:rPr sz="1200" lang="zh-TW" dirty="0">
                <a:solidFill>
                  <a:srgbClr val="000000"/>
                </a:solidFill>
                <a:latin typeface="Arial Unicode MS"/>
                <a:ea typeface="Arial Unicode MS"/>
                <a:cs typeface="Arial Unicode MS"/>
              </a:rPr>
              <a:t>。時速五十，至少二十五公尺。這是被物理逼出來的下限，不是喜好問題。
</a:t>
            </a:r>
          </a:p>
          <a:p>
            <a:pPr algn="l">
              <a:lnSpc>
                <a:spcPct val="100000"/>
              </a:lnSpc>
              <a:spcAft>
                <a:spcPts val="400"/>
              </a:spcAft>
            </a:pPr>
            <a:r>
              <a:rPr sz="1200" lang="zh-TW" dirty="0">
                <a:solidFill>
                  <a:srgbClr val="000000"/>
                </a:solidFill>
                <a:latin typeface="Arial Unicode MS"/>
                <a:ea typeface="Arial Unicode MS"/>
                <a:cs typeface="Arial Unicode MS"/>
              </a:rPr>
              <a:t>第三句，</a:t>
            </a:r>
            <a:r>
              <a:rPr sz="1200" b="1" lang="zh-TW" dirty="0">
                <a:solidFill>
                  <a:srgbClr val="000000"/>
                </a:solidFill>
                <a:latin typeface="Arial Unicode MS"/>
                <a:ea typeface="Arial Unicode MS"/>
                <a:cs typeface="Arial Unicode MS"/>
              </a:rPr>
              <a:t>三種落差：外觀、行為、物理</a:t>
            </a:r>
            <a:r>
              <a:rPr sz="1200" lang="zh-TW" dirty="0">
                <a:solidFill>
                  <a:srgbClr val="000000"/>
                </a:solidFill>
                <a:latin typeface="Arial Unicode MS"/>
                <a:ea typeface="Arial Unicode MS"/>
                <a:cs typeface="Arial Unicode MS"/>
              </a:rPr>
              <a:t>。而且在台灣和越南都更大，因為現成的模擬器是照歐美做的。
</a:t>
            </a:r>
          </a:p>
          <a:p>
            <a:pPr algn="l">
              <a:lnSpc>
                <a:spcPct val="100000"/>
              </a:lnSpc>
              <a:spcAft>
                <a:spcPts val="400"/>
              </a:spcAft>
            </a:pPr>
            <a:r>
              <a:rPr sz="1200" lang="zh-TW" dirty="0">
                <a:solidFill>
                  <a:srgbClr val="000000"/>
                </a:solidFill>
                <a:latin typeface="Arial Unicode MS"/>
                <a:ea typeface="Arial Unicode MS"/>
                <a:cs typeface="Arial Unicode MS"/>
              </a:rPr>
              <a:t>休息十分鐘。</a:t>
            </a:r>
            <a:r>
              <a:rPr sz="1200" b="1" lang="zh-TW" dirty="0">
                <a:solidFill>
                  <a:srgbClr val="000000"/>
                </a:solidFill>
                <a:latin typeface="Arial Unicode MS"/>
                <a:ea typeface="Arial Unicode MS"/>
                <a:cs typeface="Arial Unicode MS"/>
              </a:rPr>
              <a:t>模擬器那個分頁先不要關</a:t>
            </a:r>
            <a:r>
              <a:rPr sz="1200" lang="zh-TW" dirty="0">
                <a:solidFill>
                  <a:srgbClr val="000000"/>
                </a:solidFill>
                <a:latin typeface="Arial Unicode MS"/>
                <a:ea typeface="Arial Unicode MS"/>
                <a:cs typeface="Arial Unicode MS"/>
              </a:rPr>
              <a:t>——第二節中間會用到一次，第三節整整五十分鐘都在用它。
</a:t>
            </a:r>
          </a:p>
          <a:p>
            <a:pPr algn="l">
              <a:lnSpc>
                <a:spcPct val="100000"/>
              </a:lnSpc>
              <a:spcAft>
                <a:spcPts val="400"/>
              </a:spcAft>
            </a:pPr>
            <a:r>
              <a:rPr sz="1200" lang="zh-TW" dirty="0">
                <a:solidFill>
                  <a:srgbClr val="000000"/>
                </a:solidFill>
                <a:latin typeface="Arial Unicode MS"/>
                <a:ea typeface="Arial Unicode MS"/>
                <a:cs typeface="Arial Unicode MS"/>
              </a:rPr>
              <a:t>第二節我要問各位一個問題：如果「跑了幾公里」不是一個好的測試單位，那什麼才是？
</a:t>
            </a:r>
          </a:p>
          <a:p>
            <a:pPr algn="l">
              <a:lnSpc>
                <a:spcPct val="100000"/>
              </a:lnSpc>
              <a:spcAft>
                <a:spcPts val="400"/>
              </a:spcAft>
            </a:pPr>
            <a:r>
              <a:rPr sz="1200" lang="zh-TW" dirty="0">
                <a:solidFill>
                  <a:srgbClr val="000000"/>
                </a:solidFill>
                <a:latin typeface="Arial Unicode MS"/>
                <a:ea typeface="Arial Unicode MS"/>
                <a:cs typeface="Arial Unicode MS"/>
              </a:rPr>
              <a:t>第二節的主題就是「場景」。</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lnSpc>
                <a:spcPct val="100000"/>
              </a:lnSpc>
              <a:spcAft>
                <a:spcPts val="333"/>
              </a:spcAft>
            </a:pPr>
            <a:r>
              <a:rPr sz="1000" lang="zh-TW" dirty="0">
                <a:solidFill>
                  <a:srgbClr val="000000"/>
                </a:solidFill>
                <a:latin typeface="Arial Unicode MS"/>
                <a:ea typeface="Arial Unicode MS"/>
                <a:cs typeface="Arial Unicode MS"/>
              </a:rPr>
              <a:t>28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gif"/><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youtube.com/watch?v=HTANxqGQcfI" TargetMode="External"/><Relationship Id="rId2"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youtube.com/watch?v=AZhzZy57XeU" TargetMode="External"/><Relationship Id="rId2"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gif"/><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1028250" y="0"/>
          <a:ext cx="1" cy="1"/>
          <a:chOff x="0" y="0"/>
          <a:chExt cx="0" cy="0"/>
        </a:xfrm>
      </p:grpSpPr>
      <p:sp>
        <p:nvSpPr>
          <p:cNvPr id="2" name="Shape 0"/>
          <p:cNvSpPr/>
          <p:nvPr/>
        </p:nvSpPr>
        <p:spPr>
          <a:xfrm>
            <a:off x="6273000" y="-1063125"/>
            <a:ext cx="3260250" cy="3260250"/>
          </a:xfrm>
          <a:prstGeom prst="ellipse">
            <a:avLst/>
          </a:prstGeom>
          <a:solidFill>
            <a:srgbClr val="13314F"/>
          </a:solidFill>
          <a:ln w="12700">
            <a:solidFill>
              <a:srgbClr val="13314F"/>
            </a:solidFill>
            <a:prstDash val="solid"/>
          </a:ln>
        </p:spPr>
      </p:sp>
      <p:sp>
        <p:nvSpPr>
          <p:cNvPr id="3" name="Shape 1"/>
          <p:cNvSpPr/>
          <p:nvPr/>
        </p:nvSpPr>
        <p:spPr>
          <a:xfrm>
            <a:off x="7336125" y="1630125"/>
            <a:ext cx="1842750" cy="1842750"/>
          </a:xfrm>
          <a:prstGeom prst="ellipse">
            <a:avLst/>
          </a:prstGeom>
          <a:solidFill>
            <a:srgbClr val="007F72">
              <a:alpha val="28000"/>
            </a:srgbClr>
          </a:solidFill>
          <a:ln/>
        </p:spPr>
      </p:sp>
      <p:sp>
        <p:nvSpPr>
          <p:cNvPr id="4" name="Text 2"/>
          <p:cNvSpPr txBox="1"/>
          <p:nvPr/>
        </p:nvSpPr>
        <p:spPr>
          <a:xfrm>
            <a:off x="3026925" y="467775"/>
            <a:ext cx="4890375" cy="212625"/>
          </a:xfrm>
          <a:prstGeom prst="rect">
            <a:avLst/>
          </a:prstGeom>
          <a:noFill/>
          <a:ln/>
        </p:spPr>
        <p:txBody>
          <a:bodyPr wrap="square" lIns="0" tIns="0" rIns="0" bIns="0" rtlCol="0" anchor="ctr"/>
          <a:lstStyle/>
          <a:p>
            <a:pPr indent="0" marL="0">
              <a:buNone/>
            </a:pPr>
            <a:r>
              <a:rPr lang="en-US" sz="970" b="1" dirty="0">
                <a:solidFill>
                  <a:srgbClr val="00A896"/>
                </a:solidFill>
                <a:latin typeface="Arial" pitchFamily="34" charset="0"/>
                <a:ea typeface="Arial" pitchFamily="34" charset="-122"/>
                <a:cs typeface="Arial" pitchFamily="34" charset="-120"/>
              </a:rPr>
              <a:t>MITUST · Nguyên lý xe tự lái · Tuần 4</a:t>
            </a:r>
            <a:endParaRPr lang="en-US" sz="970" dirty="0"/>
          </a:p>
        </p:txBody>
      </p:sp>
      <p:sp>
        <p:nvSpPr>
          <p:cNvPr id="5" name="Text 3"/>
          <p:cNvSpPr txBox="1"/>
          <p:nvPr/>
        </p:nvSpPr>
        <p:spPr>
          <a:xfrm>
            <a:off x="1418063" y="864675"/>
            <a:ext cx="5811750" cy="677640"/>
          </a:xfrm>
          <a:prstGeom prst="rect">
            <a:avLst/>
          </a:prstGeom>
          <a:noFill/>
          <a:ln/>
        </p:spPr>
        <p:txBody>
          <a:bodyPr wrap="square" lIns="0" tIns="0" rIns="0" bIns="0" rtlCol="0" anchor="t"/>
          <a:lstStyle/>
          <a:p>
            <a:pPr indent="0" marL="0">
              <a:lnSpc>
                <a:spcPct val="118000"/>
              </a:lnSpc>
              <a:buNone/>
            </a:pPr>
            <a:r>
              <a:rPr lang="en-US" sz="1400" b="1" dirty="0">
                <a:solidFill>
                  <a:srgbClr val="FFFFFF"/>
                </a:solidFill>
                <a:latin typeface="Arial" pitchFamily="34" charset="0"/>
                <a:ea typeface="Arial" pitchFamily="34" charset="-122"/>
                <a:cs typeface="Arial" pitchFamily="34" charset="-120"/>
              </a:rPr>
              <a:t>Ba thanh trượt bạn kéo = ba dòng trên bảng thông số cảm biến (sensor) của xe thật</a:t>
            </a:r>
            <a:endParaRPr lang="en-US" sz="1400" dirty="0"/>
          </a:p>
          <a:p>
            <a:pPr indent="0" marL="0">
              <a:lnSpc>
                <a:spcPct val="118000"/>
              </a:lnSpc>
              <a:buNone/>
            </a:pPr>
            <a:r>
              <a:rPr lang="en-US" sz="890" dirty="0">
                <a:solidFill>
                  <a:srgbClr val="C8D6E2"/>
                </a:solidFill>
                <a:latin typeface="微軟正黑體" pitchFamily="34" charset="0"/>
                <a:ea typeface="微軟正黑體" pitchFamily="34" charset="-122"/>
                <a:cs typeface="微軟正黑體" pitchFamily="34" charset="-120"/>
              </a:rPr>
              <a:t>你拉的那三個滑桿，就是真車感測器（sensor）規格表上的三行</a:t>
            </a:r>
            <a:endParaRPr lang="en-US" sz="1400" dirty="0"/>
          </a:p>
        </p:txBody>
      </p:sp>
      <p:sp>
        <p:nvSpPr>
          <p:cNvPr id="6" name="Shape 4"/>
          <p:cNvSpPr/>
          <p:nvPr/>
        </p:nvSpPr>
        <p:spPr>
          <a:xfrm>
            <a:off x="1418063" y="1608863"/>
            <a:ext cx="35438" cy="233888"/>
          </a:xfrm>
          <a:prstGeom prst="rect">
            <a:avLst/>
          </a:prstGeom>
          <a:solidFill>
            <a:srgbClr val="FFB020"/>
          </a:solidFill>
          <a:ln/>
        </p:spPr>
      </p:sp>
      <p:sp>
        <p:nvSpPr>
          <p:cNvPr id="7" name="Text 5"/>
          <p:cNvSpPr txBox="1"/>
          <p:nvPr/>
        </p:nvSpPr>
        <p:spPr>
          <a:xfrm>
            <a:off x="1559813" y="1573425"/>
            <a:ext cx="6059813" cy="297675"/>
          </a:xfrm>
          <a:prstGeom prst="rect">
            <a:avLst/>
          </a:prstGeom>
          <a:noFill/>
          <a:ln/>
        </p:spPr>
        <p:txBody>
          <a:bodyPr wrap="square" lIns="0" tIns="0" rIns="0" bIns="0" rtlCol="0" anchor="t"/>
          <a:lstStyle/>
          <a:p>
            <a:pPr indent="0" marL="0">
              <a:lnSpc>
                <a:spcPct val="112000"/>
              </a:lnSpc>
              <a:buNone/>
            </a:pPr>
            <a:r>
              <a:rPr lang="en-US" sz="890" b="1" dirty="0">
                <a:solidFill>
                  <a:srgbClr val="F0C674"/>
                </a:solidFill>
                <a:latin typeface="Arial" pitchFamily="34" charset="0"/>
                <a:ea typeface="Arial" pitchFamily="34" charset="-122"/>
                <a:cs typeface="Arial" pitchFamily="34" charset="-120"/>
              </a:rPr>
              <a:t>Câu hỏi của tiết này: cảm biến phải tốt đến đâu thì xe mới dừng kịp?</a:t>
            </a:r>
            <a:endParaRPr lang="en-US" sz="890" dirty="0"/>
          </a:p>
          <a:p>
            <a:pPr indent="0" marL="0">
              <a:lnSpc>
                <a:spcPct val="112000"/>
              </a:lnSpc>
              <a:buNone/>
            </a:pPr>
            <a:r>
              <a:rPr lang="en-US" sz="780" dirty="0">
                <a:solidFill>
                  <a:srgbClr val="C8A85A"/>
                </a:solidFill>
                <a:latin typeface="微軟正黑體" pitchFamily="34" charset="0"/>
                <a:ea typeface="微軟正黑體" pitchFamily="34" charset="-122"/>
                <a:cs typeface="微軟正黑體" pitchFamily="34" charset="-120"/>
              </a:rPr>
              <a:t>這一節回答：感測器要多好，車子才停得住？</a:t>
            </a:r>
            <a:endParaRPr lang="en-US" sz="890" dirty="0"/>
          </a:p>
        </p:txBody>
      </p:sp>
      <p:sp>
        <p:nvSpPr>
          <p:cNvPr id="8" name="Shape 6"/>
          <p:cNvSpPr/>
          <p:nvPr/>
        </p:nvSpPr>
        <p:spPr>
          <a:xfrm>
            <a:off x="1418063" y="1920713"/>
            <a:ext cx="35438" cy="233888"/>
          </a:xfrm>
          <a:prstGeom prst="rect">
            <a:avLst/>
          </a:prstGeom>
          <a:solidFill>
            <a:srgbClr val="00A896"/>
          </a:solidFill>
          <a:ln/>
        </p:spPr>
      </p:sp>
      <p:sp>
        <p:nvSpPr>
          <p:cNvPr id="9" name="Text 7"/>
          <p:cNvSpPr txBox="1"/>
          <p:nvPr/>
        </p:nvSpPr>
        <p:spPr>
          <a:xfrm>
            <a:off x="1559813" y="1885275"/>
            <a:ext cx="6059813" cy="297675"/>
          </a:xfrm>
          <a:prstGeom prst="rect">
            <a:avLst/>
          </a:prstGeom>
          <a:noFill/>
          <a:ln/>
        </p:spPr>
        <p:txBody>
          <a:bodyPr wrap="square" lIns="0" tIns="0" rIns="0" bIns="0" rtlCol="0" anchor="t"/>
          <a:lstStyle/>
          <a:p>
            <a:pPr indent="0" marL="0">
              <a:lnSpc>
                <a:spcPct val="112000"/>
              </a:lnSpc>
              <a:buNone/>
            </a:pPr>
            <a:r>
              <a:rPr lang="en-US" sz="890" dirty="0">
                <a:solidFill>
                  <a:srgbClr val="FFFFFF"/>
                </a:solidFill>
                <a:latin typeface="Arial" pitchFamily="34" charset="0"/>
                <a:ea typeface="Arial" pitchFamily="34" charset="-122"/>
                <a:cs typeface="Arial" pitchFamily="34" charset="-120"/>
              </a:rPr>
              <a:t>① Ba thanh trượt của bạn = ba dòng trên bảng thông số thật (số tia · chiều dài · góc quét)</a:t>
            </a:r>
            <a:endParaRPr lang="en-US" sz="890" dirty="0"/>
          </a:p>
          <a:p>
            <a:pPr indent="0" marL="0">
              <a:lnSpc>
                <a:spcPct val="112000"/>
              </a:lnSpc>
              <a:buNone/>
            </a:pPr>
            <a:r>
              <a:rPr lang="en-US" sz="780" dirty="0">
                <a:solidFill>
                  <a:srgbClr val="9FB3C8"/>
                </a:solidFill>
                <a:latin typeface="微軟正黑體" pitchFamily="34" charset="0"/>
                <a:ea typeface="微軟正黑體" pitchFamily="34" charset="-122"/>
                <a:cs typeface="微軟正黑體" pitchFamily="34" charset="-120"/>
              </a:rPr>
              <a:t>① 各位手上的三個滑桿，就是真規格表上的三行（射線數・長度・張角）</a:t>
            </a:r>
            <a:endParaRPr lang="en-US" sz="890" dirty="0"/>
          </a:p>
        </p:txBody>
      </p:sp>
      <p:sp>
        <p:nvSpPr>
          <p:cNvPr id="10" name="Shape 8"/>
          <p:cNvSpPr/>
          <p:nvPr/>
        </p:nvSpPr>
        <p:spPr>
          <a:xfrm>
            <a:off x="1418063" y="2232563"/>
            <a:ext cx="35438" cy="233888"/>
          </a:xfrm>
          <a:prstGeom prst="rect">
            <a:avLst/>
          </a:prstGeom>
          <a:solidFill>
            <a:srgbClr val="00A896"/>
          </a:solidFill>
          <a:ln/>
        </p:spPr>
      </p:sp>
      <p:sp>
        <p:nvSpPr>
          <p:cNvPr id="11" name="Text 9"/>
          <p:cNvSpPr txBox="1"/>
          <p:nvPr/>
        </p:nvSpPr>
        <p:spPr>
          <a:xfrm>
            <a:off x="1559813" y="2197125"/>
            <a:ext cx="6059813" cy="297675"/>
          </a:xfrm>
          <a:prstGeom prst="rect">
            <a:avLst/>
          </a:prstGeom>
          <a:noFill/>
          <a:ln/>
        </p:spPr>
        <p:txBody>
          <a:bodyPr wrap="square" lIns="0" tIns="0" rIns="0" bIns="0" rtlCol="0" anchor="t"/>
          <a:lstStyle/>
          <a:p>
            <a:pPr indent="0" marL="0">
              <a:lnSpc>
                <a:spcPct val="112000"/>
              </a:lnSpc>
              <a:buNone/>
            </a:pPr>
            <a:r>
              <a:rPr lang="en-US" sz="890" dirty="0">
                <a:solidFill>
                  <a:srgbClr val="FFFFFF"/>
                </a:solidFill>
                <a:latin typeface="Arial" pitchFamily="34" charset="0"/>
                <a:ea typeface="Arial" pitchFamily="34" charset="-122"/>
                <a:cs typeface="Arial" pitchFamily="34" charset="-120"/>
              </a:rPr>
              <a:t>② Giới hạn dưới của mỗi dòng là do vật lý ép ra — quãng đường phanh quyết định</a:t>
            </a:r>
            <a:endParaRPr lang="en-US" sz="890" dirty="0"/>
          </a:p>
          <a:p>
            <a:pPr indent="0" marL="0">
              <a:lnSpc>
                <a:spcPct val="112000"/>
              </a:lnSpc>
              <a:buNone/>
            </a:pPr>
            <a:r>
              <a:rPr lang="en-US" sz="780" dirty="0">
                <a:solidFill>
                  <a:srgbClr val="9FB3C8"/>
                </a:solidFill>
                <a:latin typeface="微軟正黑體" pitchFamily="34" charset="0"/>
                <a:ea typeface="微軟正黑體" pitchFamily="34" charset="-122"/>
                <a:cs typeface="微軟正黑體" pitchFamily="34" charset="-120"/>
              </a:rPr>
              <a:t>② 每一行的下限是被物理逼出來的——煞停距離說了算</a:t>
            </a:r>
            <a:endParaRPr lang="en-US" sz="890" dirty="0"/>
          </a:p>
        </p:txBody>
      </p:sp>
      <p:sp>
        <p:nvSpPr>
          <p:cNvPr id="12" name="Shape 10"/>
          <p:cNvSpPr/>
          <p:nvPr/>
        </p:nvSpPr>
        <p:spPr>
          <a:xfrm>
            <a:off x="1418063" y="2544413"/>
            <a:ext cx="35438" cy="233888"/>
          </a:xfrm>
          <a:prstGeom prst="rect">
            <a:avLst/>
          </a:prstGeom>
          <a:solidFill>
            <a:srgbClr val="00A896"/>
          </a:solidFill>
          <a:ln/>
        </p:spPr>
      </p:sp>
      <p:sp>
        <p:nvSpPr>
          <p:cNvPr id="13" name="Text 11"/>
          <p:cNvSpPr txBox="1"/>
          <p:nvPr/>
        </p:nvSpPr>
        <p:spPr>
          <a:xfrm>
            <a:off x="1559813" y="2508975"/>
            <a:ext cx="6059813" cy="297675"/>
          </a:xfrm>
          <a:prstGeom prst="rect">
            <a:avLst/>
          </a:prstGeom>
          <a:noFill/>
          <a:ln/>
        </p:spPr>
        <p:txBody>
          <a:bodyPr wrap="square" lIns="0" tIns="0" rIns="0" bIns="0" rtlCol="0" anchor="t"/>
          <a:lstStyle/>
          <a:p>
            <a:pPr indent="0" marL="0">
              <a:lnSpc>
                <a:spcPct val="112000"/>
              </a:lnSpc>
              <a:buNone/>
            </a:pPr>
            <a:r>
              <a:rPr lang="en-US" sz="890" dirty="0">
                <a:solidFill>
                  <a:srgbClr val="FFFFFF"/>
                </a:solidFill>
                <a:latin typeface="Arial" pitchFamily="34" charset="0"/>
                <a:ea typeface="Arial" pitchFamily="34" charset="-122"/>
                <a:cs typeface="Arial" pitchFamily="34" charset="-120"/>
              </a:rPr>
              <a:t>③ Mô phỏng chỉ là cái sàng: còn ba khoảng cách — hình ảnh, hành vi, vật lý</a:t>
            </a:r>
            <a:endParaRPr lang="en-US" sz="890" dirty="0"/>
          </a:p>
          <a:p>
            <a:pPr indent="0" marL="0">
              <a:lnSpc>
                <a:spcPct val="112000"/>
              </a:lnSpc>
              <a:buNone/>
            </a:pPr>
            <a:r>
              <a:rPr lang="en-US" sz="780" dirty="0">
                <a:solidFill>
                  <a:srgbClr val="9FB3C8"/>
                </a:solidFill>
                <a:latin typeface="微軟正黑體" pitchFamily="34" charset="0"/>
                <a:ea typeface="微軟正黑體" pitchFamily="34" charset="-122"/>
                <a:cs typeface="微軟正黑體" pitchFamily="34" charset="-120"/>
              </a:rPr>
              <a:t>③ 模擬只是一道篩子：還有外觀、行為、物理三種落差</a:t>
            </a:r>
            <a:endParaRPr lang="en-US" sz="890" dirty="0"/>
          </a:p>
        </p:txBody>
      </p:sp>
      <p:sp>
        <p:nvSpPr>
          <p:cNvPr id="14" name="Shape 12"/>
          <p:cNvSpPr/>
          <p:nvPr/>
        </p:nvSpPr>
        <p:spPr>
          <a:xfrm>
            <a:off x="1418063" y="3019275"/>
            <a:ext cx="4606875" cy="297675"/>
          </a:xfrm>
          <a:prstGeom prst="roundRect">
            <a:avLst>
              <a:gd name="adj" fmla="val 16667"/>
            </a:avLst>
          </a:prstGeom>
          <a:solidFill>
            <a:srgbClr val="13314F"/>
          </a:solidFill>
          <a:ln/>
        </p:spPr>
      </p:sp>
      <p:sp>
        <p:nvSpPr>
          <p:cNvPr id="15" name="Text 13"/>
          <p:cNvSpPr txBox="1"/>
          <p:nvPr/>
        </p:nvSpPr>
        <p:spPr>
          <a:xfrm>
            <a:off x="1517288" y="3054713"/>
            <a:ext cx="4408425" cy="226800"/>
          </a:xfrm>
          <a:prstGeom prst="rect">
            <a:avLst/>
          </a:prstGeom>
          <a:noFill/>
          <a:ln/>
        </p:spPr>
        <p:txBody>
          <a:bodyPr wrap="square" lIns="0" tIns="0" rIns="0" bIns="0" rtlCol="0" anchor="ctr"/>
          <a:lstStyle/>
          <a:p>
            <a:pPr indent="0" marL="0">
              <a:buNone/>
            </a:pPr>
            <a:r>
              <a:rPr lang="en-US" sz="810" b="1" dirty="0">
                <a:solidFill>
                  <a:srgbClr val="9FD6CE"/>
                </a:solidFill>
                <a:latin typeface="Arial" pitchFamily="34" charset="0"/>
                <a:ea typeface="Arial" pitchFamily="34" charset="-122"/>
                <a:cs typeface="Arial" pitchFamily="34" charset="-120"/>
              </a:rPr>
              <a:t>工具｜Công cụ： ch-neural.github.io/MITUST-Principles-of-Self-Driving-Cars/week4/sim/</a:t>
            </a:r>
            <a:endParaRPr lang="en-US" sz="810" dirty="0"/>
          </a:p>
        </p:txBody>
      </p:sp>
      <p:sp>
        <p:nvSpPr>
          <p:cNvPr id="16" name="Text 14"/>
          <p:cNvSpPr txBox="1"/>
          <p:nvPr/>
        </p:nvSpPr>
        <p:spPr>
          <a:xfrm>
            <a:off x="1418063" y="3387825"/>
            <a:ext cx="5386500" cy="212625"/>
          </a:xfrm>
          <a:prstGeom prst="rect">
            <a:avLst/>
          </a:prstGeom>
          <a:noFill/>
          <a:ln/>
        </p:spPr>
        <p:txBody>
          <a:bodyPr wrap="square" lIns="0" tIns="0" rIns="0" bIns="0" rtlCol="0" anchor="ctr"/>
          <a:lstStyle/>
          <a:p>
            <a:pPr indent="0" marL="0">
              <a:buNone/>
            </a:pPr>
            <a:r>
              <a:rPr lang="en-US" sz="890" dirty="0">
                <a:solidFill>
                  <a:srgbClr val="8AA0B4"/>
                </a:solidFill>
                <a:latin typeface="微軟正黑體" pitchFamily="34" charset="0"/>
                <a:ea typeface="微軟正黑體" pitchFamily="34" charset="-122"/>
                <a:cs typeface="微軟正黑體" pitchFamily="34" charset="-120"/>
              </a:rPr>
              <a:t>第四週 第 1 節　2026/10/01（四）09:10–10:00　CH Tseng</a:t>
            </a:r>
            <a:endParaRPr lang="en-US" sz="890" dirty="0"/>
          </a:p>
        </p:txBody>
      </p:sp>
      <p:sp>
        <p:nvSpPr>
          <p:cNvPr id="18" name="Shape 15"/>
          <p:cNvSpPr/>
          <p:nvPr/>
        </p:nvSpPr>
        <p:spPr>
          <a:xfrm>
            <a:off x="1304663" y="240975"/>
            <a:ext cx="1715175" cy="581175"/>
          </a:xfrm>
          <a:prstGeom prst="roundRect">
            <a:avLst>
              <a:gd name="adj" fmla="val 9756"/>
            </a:avLst>
          </a:prstGeom>
          <a:solidFill>
            <a:srgbClr val="FFFFFF"/>
          </a:solidFill>
          <a:ln/>
        </p:spPr>
      </p:sp>
      <p:pic>
        <p:nvPicPr>
          <p:cNvPr id="19" name="Image 0" descr="/Users/tsengchenghsun/Class/carClass/Claude outputs/第四週(10-1)/src/logo.png">    </p:cNvPr>
          <p:cNvPicPr>
            <a:picLocks noChangeAspect="1"/>
          </p:cNvPicPr>
          <p:nvPr/>
        </p:nvPicPr>
        <p:blipFill>
          <a:blip r:embed="rId1"/>
          <a:stretch>
            <a:fillRect/>
          </a:stretch>
        </p:blipFill>
        <p:spPr>
          <a:xfrm>
            <a:off x="1418063" y="368550"/>
            <a:ext cx="1488375" cy="328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1000125" y="0"/>
          <a:ext cx="1" cy="1"/>
          <a:chOff x="0" y="0"/>
          <a:chExt cx="0" cy="0"/>
        </a:xfrm>
      </p:grpSpPr>
      <p:sp>
        <p:nvSpPr>
          <p:cNvPr id="2" name="Text 0"/>
          <p:cNvSpPr txBox="1"/>
          <p:nvPr/>
        </p:nvSpPr>
        <p:spPr>
          <a:xfrm>
            <a:off x="1393031" y="300038"/>
            <a:ext cx="6357938" cy="214313"/>
          </a:xfrm>
          <a:prstGeom prst="rect">
            <a:avLst/>
          </a:prstGeom>
          <a:noFill/>
          <a:ln/>
        </p:spPr>
        <p:txBody>
          <a:bodyPr wrap="square" lIns="0" tIns="0" rIns="0" bIns="0" rtlCol="0" anchor="ctr"/>
          <a:lstStyle/>
          <a:p>
            <a:pPr indent="0" marL="0">
              <a:buNone/>
            </a:pPr>
            <a:r>
              <a:rPr lang="en-US" sz="980" b="1" dirty="0">
                <a:solidFill>
                  <a:srgbClr val="007F72"/>
                </a:solidFill>
                <a:latin typeface="Arial" pitchFamily="34" charset="0"/>
                <a:ea typeface="Arial" pitchFamily="34" charset="-122"/>
                <a:cs typeface="Arial" pitchFamily="34" charset="-120"/>
              </a:rPr>
              <a:t>Lộ trình · 本週三節要做什麼</a:t>
            </a:r>
            <a:endParaRPr lang="en-US" sz="980" dirty="0"/>
          </a:p>
        </p:txBody>
      </p:sp>
      <p:sp>
        <p:nvSpPr>
          <p:cNvPr id="3" name="Text 1"/>
          <p:cNvSpPr txBox="1"/>
          <p:nvPr/>
        </p:nvSpPr>
        <p:spPr>
          <a:xfrm>
            <a:off x="1393031" y="528638"/>
            <a:ext cx="6357938" cy="638228"/>
          </a:xfrm>
          <a:prstGeom prst="rect">
            <a:avLst/>
          </a:prstGeom>
          <a:noFill/>
          <a:ln/>
        </p:spPr>
        <p:txBody>
          <a:bodyPr wrap="square" lIns="0" tIns="0" rIns="0" bIns="0" rtlCol="0" anchor="t"/>
          <a:lstStyle/>
          <a:p>
            <a:pPr indent="0" marL="0">
              <a:lnSpc>
                <a:spcPct val="116000"/>
              </a:lnSpc>
              <a:buNone/>
            </a:pPr>
            <a:r>
              <a:rPr lang="en-US" sz="1480" b="1" dirty="0">
                <a:solidFill>
                  <a:srgbClr val="0B1F3A"/>
                </a:solidFill>
                <a:latin typeface="Arial" pitchFamily="34" charset="0"/>
                <a:ea typeface="Arial" pitchFamily="34" charset="-122"/>
                <a:cs typeface="Arial" pitchFamily="34" charset="-120"/>
              </a:rPr>
              <a:t>Chạy tốt trong máy tính, dựa vào đâu mà tin xe thật ra đường cũng được?</a:t>
            </a:r>
            <a:endParaRPr lang="en-US" sz="1480" dirty="0"/>
          </a:p>
          <a:p>
            <a:pPr indent="0" marL="0">
              <a:lnSpc>
                <a:spcPct val="116000"/>
              </a:lnSpc>
              <a:buNone/>
            </a:pPr>
            <a:r>
              <a:rPr lang="en-US" sz="980" dirty="0">
                <a:solidFill>
                  <a:srgbClr val="007F72"/>
                </a:solidFill>
                <a:latin typeface="微軟正黑體" pitchFamily="34" charset="0"/>
                <a:ea typeface="微軟正黑體" pitchFamily="34" charset="-122"/>
                <a:cs typeface="微軟正黑體" pitchFamily="34" charset="-120"/>
              </a:rPr>
              <a:t>在電腦裡跑得好，憑什麼相信真車上路也可以？</a:t>
            </a:r>
            <a:endParaRPr lang="en-US" sz="1480" dirty="0"/>
          </a:p>
        </p:txBody>
      </p:sp>
      <p:sp>
        <p:nvSpPr>
          <p:cNvPr id="4" name="Text 2"/>
          <p:cNvSpPr txBox="1"/>
          <p:nvPr/>
        </p:nvSpPr>
        <p:spPr>
          <a:xfrm>
            <a:off x="1393031" y="1253548"/>
            <a:ext cx="6357938" cy="313463"/>
          </a:xfrm>
          <a:prstGeom prst="rect">
            <a:avLst/>
          </a:prstGeom>
          <a:noFill/>
          <a:ln/>
        </p:spPr>
        <p:txBody>
          <a:bodyPr wrap="square" lIns="0" tIns="0" rIns="0" bIns="0" rtlCol="0" anchor="t"/>
          <a:lstStyle/>
          <a:p>
            <a:pPr indent="0" marL="0">
              <a:lnSpc>
                <a:spcPct val="124000"/>
              </a:lnSpc>
              <a:buNone/>
            </a:pPr>
            <a:r>
              <a:rPr lang="en-US" sz="900" dirty="0">
                <a:solidFill>
                  <a:srgbClr val="5F7183"/>
                </a:solidFill>
                <a:latin typeface="Arial" pitchFamily="34" charset="0"/>
                <a:ea typeface="Arial" pitchFamily="34" charset="-122"/>
                <a:cs typeface="Arial" pitchFamily="34" charset="-120"/>
              </a:rPr>
              <a:t>Tuần trước: «lắp sáu cảm biến lên xe biết chạy, xem có dừng kịp không» — hôm nay lắp LiDAR.</a:t>
            </a:r>
            <a:endParaRPr lang="en-US" sz="900" dirty="0"/>
          </a:p>
          <a:p>
            <a:pPr indent="0" marL="0">
              <a:lnSpc>
                <a:spcPct val="124000"/>
              </a:lnSpc>
              <a:buNone/>
            </a:pPr>
            <a:r>
              <a:rPr lang="en-US" sz="820" dirty="0">
                <a:solidFill>
                  <a:srgbClr val="5F7183"/>
                </a:solidFill>
                <a:latin typeface="微軟正黑體" pitchFamily="34" charset="0"/>
                <a:ea typeface="微軟正黑體" pitchFamily="34" charset="-122"/>
                <a:cs typeface="微軟正黑體" pitchFamily="34" charset="-120"/>
              </a:rPr>
              <a:t>上週說：「把這六樣感測器裝到會跑的車上，看它停不停得住。」今天先裝光達（LiDAR）。</a:t>
            </a:r>
            <a:endParaRPr lang="en-US" sz="900" dirty="0"/>
          </a:p>
        </p:txBody>
      </p:sp>
      <p:sp>
        <p:nvSpPr>
          <p:cNvPr id="5" name="Shape 3"/>
          <p:cNvSpPr/>
          <p:nvPr/>
        </p:nvSpPr>
        <p:spPr>
          <a:xfrm>
            <a:off x="1393031" y="1644078"/>
            <a:ext cx="1995488"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6" name="Shape 4"/>
          <p:cNvSpPr/>
          <p:nvPr/>
        </p:nvSpPr>
        <p:spPr>
          <a:xfrm>
            <a:off x="1393031" y="1644078"/>
            <a:ext cx="1995488" cy="42863"/>
          </a:xfrm>
          <a:prstGeom prst="rect">
            <a:avLst/>
          </a:prstGeom>
          <a:solidFill>
            <a:srgbClr val="0B1F3A"/>
          </a:solidFill>
          <a:ln/>
        </p:spPr>
      </p:sp>
      <p:sp>
        <p:nvSpPr>
          <p:cNvPr id="7" name="Text 5"/>
          <p:cNvSpPr txBox="1"/>
          <p:nvPr/>
        </p:nvSpPr>
        <p:spPr>
          <a:xfrm>
            <a:off x="1507331" y="1736947"/>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Tiết 1 — bây giờ</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第 1 節（現在）</a:t>
            </a:r>
            <a:endParaRPr lang="en-US" sz="980" dirty="0"/>
          </a:p>
        </p:txBody>
      </p:sp>
      <p:sp>
        <p:nvSpPr>
          <p:cNvPr id="8" name="Text 6"/>
          <p:cNvSpPr txBox="1"/>
          <p:nvPr/>
        </p:nvSpPr>
        <p:spPr>
          <a:xfrm>
            <a:off x="1507331" y="2069463"/>
            <a:ext cx="1766888"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Số tia, chiều dài tia, góc quét — trên bảng thông số (datasheet) gọi là gì?</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射線數、長度、張角——規格表（datasheet）上叫什麼，為什麼不能亂選。</a:t>
            </a:r>
            <a:endParaRPr lang="en-US" sz="900" dirty="0"/>
          </a:p>
        </p:txBody>
      </p:sp>
      <p:sp>
        <p:nvSpPr>
          <p:cNvPr id="9" name="Shape 7"/>
          <p:cNvSpPr/>
          <p:nvPr/>
        </p:nvSpPr>
        <p:spPr>
          <a:xfrm>
            <a:off x="3574256" y="1644078"/>
            <a:ext cx="1995488"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0" name="Shape 8"/>
          <p:cNvSpPr/>
          <p:nvPr/>
        </p:nvSpPr>
        <p:spPr>
          <a:xfrm>
            <a:off x="3574256" y="1644078"/>
            <a:ext cx="1995488" cy="42863"/>
          </a:xfrm>
          <a:prstGeom prst="rect">
            <a:avLst/>
          </a:prstGeom>
          <a:solidFill>
            <a:srgbClr val="007F72"/>
          </a:solidFill>
          <a:ln/>
        </p:spPr>
      </p:sp>
      <p:sp>
        <p:nvSpPr>
          <p:cNvPr id="11" name="Text 9"/>
          <p:cNvSpPr txBox="1"/>
          <p:nvPr/>
        </p:nvSpPr>
        <p:spPr>
          <a:xfrm>
            <a:off x="3688556" y="1736947"/>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Tiết 2</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第 2 節</a:t>
            </a:r>
            <a:endParaRPr lang="en-US" sz="980" dirty="0"/>
          </a:p>
        </p:txBody>
      </p:sp>
      <p:sp>
        <p:nvSpPr>
          <p:cNvPr id="12" name="Text 10"/>
          <p:cNvSpPr txBox="1"/>
          <p:nvPr/>
        </p:nvSpPr>
        <p:spPr>
          <a:xfrm>
            <a:off x="3688556" y="2069463"/>
            <a:ext cx="1766888"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Test thế nào mới biết xe an toàn? Đáp án không phải số km, mà là «kịch bản» (scenario).</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要怎麼測才知道車子安全？答案不是里程，是「場景」（scenario）。</a:t>
            </a:r>
            <a:endParaRPr lang="en-US" sz="900" dirty="0"/>
          </a:p>
        </p:txBody>
      </p:sp>
      <p:sp>
        <p:nvSpPr>
          <p:cNvPr id="13" name="Shape 11"/>
          <p:cNvSpPr/>
          <p:nvPr/>
        </p:nvSpPr>
        <p:spPr>
          <a:xfrm>
            <a:off x="5755481" y="1644078"/>
            <a:ext cx="1995488"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4" name="Shape 12"/>
          <p:cNvSpPr/>
          <p:nvPr/>
        </p:nvSpPr>
        <p:spPr>
          <a:xfrm>
            <a:off x="5755481" y="1644078"/>
            <a:ext cx="1995488" cy="42863"/>
          </a:xfrm>
          <a:prstGeom prst="rect">
            <a:avLst/>
          </a:prstGeom>
          <a:solidFill>
            <a:srgbClr val="FFB020"/>
          </a:solidFill>
          <a:ln/>
        </p:spPr>
      </p:sp>
      <p:sp>
        <p:nvSpPr>
          <p:cNvPr id="15" name="Text 13"/>
          <p:cNvSpPr txBox="1"/>
          <p:nvPr/>
        </p:nvSpPr>
        <p:spPr>
          <a:xfrm>
            <a:off x="5869781" y="1736947"/>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Tiết 3 — lên máy</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第 3 節（上機）</a:t>
            </a:r>
            <a:endParaRPr lang="en-US" sz="980" dirty="0"/>
          </a:p>
        </p:txBody>
      </p:sp>
      <p:sp>
        <p:nvSpPr>
          <p:cNvPr id="16" name="Text 14"/>
          <p:cNvSpPr txBox="1"/>
          <p:nvPr/>
        </p:nvSpPr>
        <p:spPr>
          <a:xfrm>
            <a:off x="5869781" y="2069463"/>
            <a:ext cx="1766888"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Tự cấu hình một bộ cảm biến cho Hà Nội. Ba con số đó hãy tự giữ lại.</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各位自己為河內配一組感測器。那三個數字請自己留著。</a:t>
            </a:r>
            <a:endParaRPr lang="en-US" sz="900" dirty="0"/>
          </a:p>
        </p:txBody>
      </p:sp>
      <p:sp>
        <p:nvSpPr>
          <p:cNvPr id="17" name="Shape 15"/>
          <p:cNvSpPr/>
          <p:nvPr/>
        </p:nvSpPr>
        <p:spPr>
          <a:xfrm>
            <a:off x="1393031" y="3128963"/>
            <a:ext cx="6357938" cy="471488"/>
          </a:xfrm>
          <a:prstGeom prst="roundRect">
            <a:avLst>
              <a:gd name="adj" fmla="val 13636"/>
            </a:avLst>
          </a:prstGeom>
          <a:solidFill>
            <a:srgbClr val="FFF6E3"/>
          </a:solidFill>
          <a:ln w="12700">
            <a:solidFill>
              <a:srgbClr val="FFB020"/>
            </a:solidFill>
            <a:prstDash val="solid"/>
          </a:ln>
        </p:spPr>
      </p:sp>
      <p:sp>
        <p:nvSpPr>
          <p:cNvPr id="18" name="Text 16"/>
          <p:cNvSpPr txBox="1"/>
          <p:nvPr/>
        </p:nvSpPr>
        <p:spPr>
          <a:xfrm>
            <a:off x="1535906" y="3171825"/>
            <a:ext cx="6072188" cy="400050"/>
          </a:xfrm>
          <a:prstGeom prst="rect">
            <a:avLst/>
          </a:prstGeom>
          <a:noFill/>
          <a:ln/>
        </p:spPr>
        <p:txBody>
          <a:bodyPr wrap="square" lIns="0" tIns="0" rIns="0" bIns="0" rtlCol="0" anchor="t"/>
          <a:lstStyle/>
          <a:p>
            <a:pPr indent="0" marL="0">
              <a:lnSpc>
                <a:spcPct val="116000"/>
              </a:lnSpc>
              <a:buNone/>
            </a:pPr>
            <a:r>
              <a:rPr lang="en-US" sz="900" b="1" dirty="0">
                <a:solidFill>
                  <a:srgbClr val="7A4E00"/>
                </a:solidFill>
                <a:latin typeface="Arial" pitchFamily="34" charset="0"/>
                <a:ea typeface="Arial" pitchFamily="34" charset="-122"/>
                <a:cs typeface="Arial" pitchFamily="34" charset="-120"/>
              </a:rPr>
              <a:t>Xuyên suốt ba tiết còn một chuyện: chạy tốt trong mô phỏng thì lên xe thật chắc chắn sẽ kém đi.</a:t>
            </a:r>
            <a:endParaRPr lang="en-US" sz="900" dirty="0"/>
          </a:p>
          <a:p>
            <a:pPr indent="0" marL="0">
              <a:lnSpc>
                <a:spcPct val="116000"/>
              </a:lnSpc>
              <a:buNone/>
            </a:pPr>
            <a:r>
              <a:rPr lang="en-US" sz="820" dirty="0">
                <a:solidFill>
                  <a:srgbClr val="7A4E00"/>
                </a:solidFill>
                <a:latin typeface="微軟正黑體" pitchFamily="34" charset="0"/>
                <a:ea typeface="微軟正黑體" pitchFamily="34" charset="-122"/>
                <a:cs typeface="微軟正黑體" pitchFamily="34" charset="-120"/>
              </a:rPr>
              <a:t>還有一件事貫穿三節：在模擬裡跑得好，搬到真車上一定會退步。</a:t>
            </a:r>
            <a:endParaRPr lang="en-US" sz="900" dirty="0"/>
          </a:p>
        </p:txBody>
      </p:sp>
      <p:pic>
        <p:nvPicPr>
          <p:cNvPr id="20" name="Image 0" descr="/Users/tsengchenghsun/Class/carClass/Claude outputs/第四週(10-1)/src/logo.png">    </p:cNvPr>
          <p:cNvPicPr>
            <a:picLocks noChangeAspect="1"/>
          </p:cNvPicPr>
          <p:nvPr/>
        </p:nvPicPr>
        <p:blipFill>
          <a:blip r:embed="rId1"/>
          <a:stretch>
            <a:fillRect/>
          </a:stretch>
        </p:blipFill>
        <p:spPr>
          <a:xfrm>
            <a:off x="7158038" y="85725"/>
            <a:ext cx="857250" cy="189405"/>
          </a:xfrm>
          <a:prstGeom prst="rect">
            <a:avLst/>
          </a:prstGeom>
        </p:spPr>
      </p:pic>
      <p:sp>
        <p:nvSpPr>
          <p:cNvPr id="21" name="Text 17"/>
          <p:cNvSpPr txBox="1"/>
          <p:nvPr/>
        </p:nvSpPr>
        <p:spPr>
          <a:xfrm>
            <a:off x="1085850" y="100013"/>
            <a:ext cx="642938"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2 / 28</a:t>
            </a:r>
            <a:endParaRPr lang="en-US" sz="700" dirty="0"/>
          </a:p>
        </p:txBody>
      </p:sp>
      <p:sp>
        <p:nvSpPr>
          <p:cNvPr id="22" name="Text 18"/>
          <p:cNvSpPr txBox="1"/>
          <p:nvPr/>
        </p:nvSpPr>
        <p:spPr>
          <a:xfrm>
            <a:off x="1750219" y="100013"/>
            <a:ext cx="1571625"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Tiết 1 · 第 1 節</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927820" y="0"/>
          <a:ext cx="1" cy="1"/>
          <a:chOff x="0" y="0"/>
          <a:chExt cx="0" cy="0"/>
        </a:xfrm>
      </p:grpSpPr>
      <p:sp>
        <p:nvSpPr>
          <p:cNvPr id="2" name="Text 0"/>
          <p:cNvSpPr txBox="1"/>
          <p:nvPr/>
        </p:nvSpPr>
        <p:spPr>
          <a:xfrm>
            <a:off x="1328680" y="233228"/>
            <a:ext cx="6486641" cy="670529"/>
          </a:xfrm>
          <a:prstGeom prst="rect">
            <a:avLst/>
          </a:prstGeom>
          <a:noFill/>
          <a:ln/>
        </p:spPr>
        <p:txBody>
          <a:bodyPr wrap="square" lIns="0" tIns="0" rIns="0" bIns="0" rtlCol="0" anchor="t"/>
          <a:lstStyle/>
          <a:p>
            <a:pPr indent="0" marL="0">
              <a:lnSpc>
                <a:spcPct val="116000"/>
              </a:lnSpc>
              <a:buNone/>
            </a:pPr>
            <a:r>
              <a:rPr lang="en-US" sz="1750" b="1" dirty="0">
                <a:solidFill>
                  <a:srgbClr val="0B1F3A"/>
                </a:solidFill>
                <a:latin typeface="Arial" pitchFamily="34" charset="0"/>
                <a:ea typeface="Arial" pitchFamily="34" charset="-122"/>
                <a:cs typeface="Arial" pitchFamily="34" charset="-120"/>
              </a:rPr>
              <a:t>Mở mô phỏng trên trình duyệt bằng máy tính của bạn</a:t>
            </a:r>
            <a:endParaRPr lang="en-US" sz="1750" dirty="0"/>
          </a:p>
          <a:p>
            <a:pPr indent="0" marL="0">
              <a:lnSpc>
                <a:spcPct val="116000"/>
              </a:lnSpc>
              <a:buNone/>
            </a:pPr>
            <a:r>
              <a:rPr lang="en-US" sz="1080" dirty="0">
                <a:solidFill>
                  <a:srgbClr val="5F7183"/>
                </a:solidFill>
                <a:latin typeface="微軟正黑體" pitchFamily="34" charset="0"/>
                <a:ea typeface="微軟正黑體" pitchFamily="34" charset="-122"/>
                <a:cs typeface="微軟正黑體" pitchFamily="34" charset="-120"/>
              </a:rPr>
              <a:t>在你的筆電上打開「瀏覽器模擬器」</a:t>
            </a:r>
            <a:endParaRPr lang="en-US" sz="1750" dirty="0"/>
          </a:p>
        </p:txBody>
      </p:sp>
      <p:sp>
        <p:nvSpPr>
          <p:cNvPr id="3" name="Shape 1"/>
          <p:cNvSpPr/>
          <p:nvPr/>
        </p:nvSpPr>
        <p:spPr>
          <a:xfrm>
            <a:off x="6000519" y="903757"/>
            <a:ext cx="1916839" cy="2091759"/>
          </a:xfrm>
          <a:prstGeom prst="roundRect">
            <a:avLst>
              <a:gd name="adj" fmla="val 3802"/>
            </a:avLst>
          </a:prstGeom>
          <a:solidFill>
            <a:srgbClr val="FFFFFF"/>
          </a:solidFill>
          <a:ln w="12700">
            <a:solidFill>
              <a:srgbClr val="DBE3EA"/>
            </a:solidFill>
            <a:prstDash val="solid"/>
          </a:ln>
        </p:spPr>
      </p:sp>
      <p:pic>
        <p:nvPicPr>
          <p:cNvPr id="4" name="Image 0" descr="/Users/tsengchenghsun/Class/carClass/Claude outputs/第四週(10-1)/src/img/w4_qr_sim.png">    </p:cNvPr>
          <p:cNvPicPr>
            <a:picLocks noChangeAspect="1"/>
          </p:cNvPicPr>
          <p:nvPr/>
        </p:nvPicPr>
        <p:blipFill>
          <a:blip r:embed="rId1"/>
          <a:stretch>
            <a:fillRect/>
          </a:stretch>
        </p:blipFill>
        <p:spPr>
          <a:xfrm>
            <a:off x="6102556" y="991217"/>
            <a:ext cx="1712765" cy="1712765"/>
          </a:xfrm>
          <a:prstGeom prst="rect">
            <a:avLst/>
          </a:prstGeom>
        </p:spPr>
      </p:pic>
      <p:sp>
        <p:nvSpPr>
          <p:cNvPr id="5" name="Text 2"/>
          <p:cNvSpPr txBox="1"/>
          <p:nvPr/>
        </p:nvSpPr>
        <p:spPr>
          <a:xfrm>
            <a:off x="6029672" y="2733135"/>
            <a:ext cx="1858532" cy="247804"/>
          </a:xfrm>
          <a:prstGeom prst="rect">
            <a:avLst/>
          </a:prstGeom>
          <a:noFill/>
          <a:ln/>
        </p:spPr>
        <p:txBody>
          <a:bodyPr wrap="square" lIns="0" tIns="0" rIns="0" bIns="0" rtlCol="0" anchor="t"/>
          <a:lstStyle/>
          <a:p>
            <a:pPr algn="ctr" indent="0" marL="0">
              <a:lnSpc>
                <a:spcPct val="105000"/>
              </a:lnSpc>
              <a:buNone/>
            </a:pPr>
            <a:r>
              <a:rPr lang="en-US" sz="840" b="1" dirty="0">
                <a:solidFill>
                  <a:srgbClr val="5F7183"/>
                </a:solidFill>
                <a:latin typeface="Arial" pitchFamily="34" charset="0"/>
                <a:ea typeface="Arial" pitchFamily="34" charset="-122"/>
                <a:cs typeface="Arial" pitchFamily="34" charset="-120"/>
              </a:rPr>
              <a:t>Quét mã QR bằng camera điện thoại</a:t>
            </a:r>
            <a:endParaRPr lang="en-US" sz="840" dirty="0"/>
          </a:p>
          <a:p>
            <a:pPr algn="ctr" indent="0" marL="0">
              <a:lnSpc>
                <a:spcPct val="105000"/>
              </a:lnSpc>
              <a:buNone/>
            </a:pPr>
            <a:r>
              <a:rPr lang="en-US" sz="760" dirty="0">
                <a:solidFill>
                  <a:srgbClr val="5F7183"/>
                </a:solidFill>
                <a:latin typeface="微軟正黑體" pitchFamily="34" charset="0"/>
                <a:ea typeface="微軟正黑體" pitchFamily="34" charset="-122"/>
                <a:cs typeface="微軟正黑體" pitchFamily="34" charset="-120"/>
              </a:rPr>
              <a:t>用手機相機掃這個 QR</a:t>
            </a:r>
            <a:endParaRPr lang="en-US" sz="840" dirty="0"/>
          </a:p>
        </p:txBody>
      </p:sp>
      <p:sp>
        <p:nvSpPr>
          <p:cNvPr id="6" name="Shape 3"/>
          <p:cNvSpPr/>
          <p:nvPr/>
        </p:nvSpPr>
        <p:spPr>
          <a:xfrm>
            <a:off x="1328680" y="903757"/>
            <a:ext cx="4526072" cy="670529"/>
          </a:xfrm>
          <a:prstGeom prst="roundRect">
            <a:avLst>
              <a:gd name="adj" fmla="val 9783"/>
            </a:avLst>
          </a:prstGeom>
          <a:solidFill>
            <a:srgbClr val="0B1F3A"/>
          </a:solidFill>
          <a:ln/>
        </p:spPr>
      </p:sp>
      <p:sp>
        <p:nvSpPr>
          <p:cNvPr id="7" name="Text 4"/>
          <p:cNvSpPr txBox="1"/>
          <p:nvPr/>
        </p:nvSpPr>
        <p:spPr>
          <a:xfrm>
            <a:off x="1445293" y="976640"/>
            <a:ext cx="4292844" cy="52476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https://ch-neural.github.io/</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MITUST-Principles-of-Self-Driving-Cars/week4/sim/</a:t>
            </a:r>
            <a:endParaRPr lang="en-US" sz="1000" dirty="0"/>
          </a:p>
        </p:txBody>
      </p:sp>
      <p:sp>
        <p:nvSpPr>
          <p:cNvPr id="8" name="Shape 5"/>
          <p:cNvSpPr/>
          <p:nvPr/>
        </p:nvSpPr>
        <p:spPr>
          <a:xfrm>
            <a:off x="1357833" y="1720053"/>
            <a:ext cx="233228" cy="233228"/>
          </a:xfrm>
          <a:prstGeom prst="ellipse">
            <a:avLst/>
          </a:prstGeom>
          <a:solidFill>
            <a:srgbClr val="00A896"/>
          </a:solidFill>
          <a:ln/>
        </p:spPr>
      </p:sp>
      <p:sp>
        <p:nvSpPr>
          <p:cNvPr id="9" name="Text 6"/>
          <p:cNvSpPr txBox="1"/>
          <p:nvPr/>
        </p:nvSpPr>
        <p:spPr>
          <a:xfrm>
            <a:off x="1357833" y="1727341"/>
            <a:ext cx="233228" cy="218651"/>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1</a:t>
            </a:r>
            <a:endParaRPr lang="en-US" sz="880" dirty="0"/>
          </a:p>
        </p:txBody>
      </p:sp>
      <p:sp>
        <p:nvSpPr>
          <p:cNvPr id="10" name="Text 7"/>
          <p:cNvSpPr txBox="1"/>
          <p:nvPr/>
        </p:nvSpPr>
        <p:spPr>
          <a:xfrm>
            <a:off x="1678521" y="1690900"/>
            <a:ext cx="4117924" cy="524762"/>
          </a:xfrm>
          <a:prstGeom prst="rect">
            <a:avLst/>
          </a:prstGeom>
          <a:noFill/>
          <a:ln/>
        </p:spPr>
        <p:txBody>
          <a:bodyPr wrap="square" lIns="0" tIns="0" rIns="0" bIns="0" rtlCol="0" anchor="t"/>
          <a:lstStyle/>
          <a:p>
            <a:pPr indent="0" marL="0">
              <a:lnSpc>
                <a:spcPct val="108000"/>
              </a:lnSpc>
              <a:buNone/>
            </a:pPr>
            <a:r>
              <a:rPr lang="en-US" sz="920" b="1" dirty="0">
                <a:solidFill>
                  <a:srgbClr val="1A2733"/>
                </a:solidFill>
                <a:latin typeface="Arial" pitchFamily="34" charset="0"/>
                <a:ea typeface="Arial" pitchFamily="34" charset="-122"/>
                <a:cs typeface="Arial" pitchFamily="34" charset="-120"/>
              </a:rPr>
              <a:t>Tuần này nên dùng máy tính: có bàn phím và màn hình rộng thì chỉnh thanh trượt dễ hơn nhiều</a:t>
            </a:r>
            <a:endParaRPr lang="en-US" sz="920" dirty="0"/>
          </a:p>
          <a:p>
            <a:pPr indent="0" marL="0">
              <a:lnSpc>
                <a:spcPct val="108000"/>
              </a:lnSpc>
              <a:buNone/>
            </a:pPr>
            <a:r>
              <a:rPr lang="en-US" sz="840" dirty="0">
                <a:solidFill>
                  <a:srgbClr val="5F7183"/>
                </a:solidFill>
                <a:latin typeface="微軟正黑體" pitchFamily="34" charset="0"/>
                <a:ea typeface="微軟正黑體" pitchFamily="34" charset="-122"/>
                <a:cs typeface="微軟正黑體" pitchFamily="34" charset="-120"/>
              </a:rPr>
              <a:t>這週建議用筆電：有鍵盤和大螢幕，調滑桿容易得多</a:t>
            </a:r>
            <a:endParaRPr lang="en-US" sz="920" dirty="0"/>
          </a:p>
        </p:txBody>
      </p:sp>
      <p:sp>
        <p:nvSpPr>
          <p:cNvPr id="11" name="Shape 8"/>
          <p:cNvSpPr/>
          <p:nvPr/>
        </p:nvSpPr>
        <p:spPr>
          <a:xfrm>
            <a:off x="1357833" y="2188239"/>
            <a:ext cx="233228" cy="233228"/>
          </a:xfrm>
          <a:prstGeom prst="ellipse">
            <a:avLst/>
          </a:prstGeom>
          <a:solidFill>
            <a:srgbClr val="00A896"/>
          </a:solidFill>
          <a:ln/>
        </p:spPr>
      </p:sp>
      <p:sp>
        <p:nvSpPr>
          <p:cNvPr id="12" name="Text 9"/>
          <p:cNvSpPr txBox="1"/>
          <p:nvPr/>
        </p:nvSpPr>
        <p:spPr>
          <a:xfrm>
            <a:off x="1357833" y="2195527"/>
            <a:ext cx="233228" cy="218651"/>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2</a:t>
            </a:r>
            <a:endParaRPr lang="en-US" sz="880" dirty="0"/>
          </a:p>
        </p:txBody>
      </p:sp>
      <p:sp>
        <p:nvSpPr>
          <p:cNvPr id="13" name="Text 10"/>
          <p:cNvSpPr txBox="1"/>
          <p:nvPr/>
        </p:nvSpPr>
        <p:spPr>
          <a:xfrm>
            <a:off x="1678521" y="2159085"/>
            <a:ext cx="4117924" cy="524762"/>
          </a:xfrm>
          <a:prstGeom prst="rect">
            <a:avLst/>
          </a:prstGeom>
          <a:noFill/>
          <a:ln/>
        </p:spPr>
        <p:txBody>
          <a:bodyPr wrap="square" lIns="0" tIns="0" rIns="0" bIns="0" rtlCol="0" anchor="t"/>
          <a:lstStyle/>
          <a:p>
            <a:pPr indent="0" marL="0">
              <a:lnSpc>
                <a:spcPct val="108000"/>
              </a:lnSpc>
              <a:buNone/>
            </a:pPr>
            <a:r>
              <a:rPr lang="en-US" sz="920" b="1" dirty="0">
                <a:solidFill>
                  <a:srgbClr val="1A2733"/>
                </a:solidFill>
                <a:latin typeface="Arial" pitchFamily="34" charset="0"/>
                <a:ea typeface="Arial" pitchFamily="34" charset="-122"/>
                <a:cs typeface="Arial" pitchFamily="34" charset="-120"/>
              </a:rPr>
              <a:t>Mở ra là xe tự chạy. Nhìn mấy đường vàng nhạt trước đầu xe — đó là cảm biến, ta gọi là «tia»</a:t>
            </a:r>
            <a:endParaRPr lang="en-US" sz="920" dirty="0"/>
          </a:p>
          <a:p>
            <a:pPr indent="0" marL="0">
              <a:lnSpc>
                <a:spcPct val="108000"/>
              </a:lnSpc>
              <a:buNone/>
            </a:pPr>
            <a:r>
              <a:rPr lang="en-US" sz="840" dirty="0">
                <a:solidFill>
                  <a:srgbClr val="5F7183"/>
                </a:solidFill>
                <a:latin typeface="微軟正黑體" pitchFamily="34" charset="0"/>
                <a:ea typeface="微軟正黑體" pitchFamily="34" charset="-122"/>
                <a:cs typeface="微軟正黑體" pitchFamily="34" charset="-120"/>
              </a:rPr>
              <a:t>打開後車子會自己跑。看車頭前面那幾條淡黃色的線——那就是感測器，我們叫它「射線」</a:t>
            </a:r>
            <a:endParaRPr lang="en-US" sz="920" dirty="0"/>
          </a:p>
        </p:txBody>
      </p:sp>
      <p:sp>
        <p:nvSpPr>
          <p:cNvPr id="14" name="Shape 11"/>
          <p:cNvSpPr/>
          <p:nvPr/>
        </p:nvSpPr>
        <p:spPr>
          <a:xfrm>
            <a:off x="1357833" y="2771187"/>
            <a:ext cx="233228" cy="233228"/>
          </a:xfrm>
          <a:prstGeom prst="ellipse">
            <a:avLst/>
          </a:prstGeom>
          <a:solidFill>
            <a:srgbClr val="00A896"/>
          </a:solidFill>
          <a:ln/>
        </p:spPr>
      </p:sp>
      <p:sp>
        <p:nvSpPr>
          <p:cNvPr id="15" name="Text 12"/>
          <p:cNvSpPr txBox="1"/>
          <p:nvPr/>
        </p:nvSpPr>
        <p:spPr>
          <a:xfrm>
            <a:off x="1357833" y="2778475"/>
            <a:ext cx="233228" cy="218651"/>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3</a:t>
            </a:r>
            <a:endParaRPr lang="en-US" sz="880" dirty="0"/>
          </a:p>
        </p:txBody>
      </p:sp>
      <p:sp>
        <p:nvSpPr>
          <p:cNvPr id="16" name="Text 13"/>
          <p:cNvSpPr txBox="1"/>
          <p:nvPr/>
        </p:nvSpPr>
        <p:spPr>
          <a:xfrm>
            <a:off x="1678521" y="2742034"/>
            <a:ext cx="4117924" cy="524762"/>
          </a:xfrm>
          <a:prstGeom prst="rect">
            <a:avLst/>
          </a:prstGeom>
          <a:noFill/>
          <a:ln/>
        </p:spPr>
        <p:txBody>
          <a:bodyPr wrap="square" lIns="0" tIns="0" rIns="0" bIns="0" rtlCol="0" anchor="t"/>
          <a:lstStyle/>
          <a:p>
            <a:pPr indent="0" marL="0">
              <a:lnSpc>
                <a:spcPct val="108000"/>
              </a:lnSpc>
              <a:buNone/>
            </a:pPr>
            <a:r>
              <a:rPr lang="en-US" sz="920" b="1" dirty="0">
                <a:solidFill>
                  <a:srgbClr val="1A2733"/>
                </a:solidFill>
                <a:latin typeface="Arial" pitchFamily="34" charset="0"/>
                <a:ea typeface="Arial" pitchFamily="34" charset="-122"/>
                <a:cs typeface="Arial" pitchFamily="34" charset="-120"/>
              </a:rPr>
              <a:t>Không cần mạng sau khi đã mở — tiết 3 lên máy sẽ dùng suốt 50 phút</a:t>
            </a:r>
            <a:endParaRPr lang="en-US" sz="920" dirty="0"/>
          </a:p>
          <a:p>
            <a:pPr indent="0" marL="0">
              <a:lnSpc>
                <a:spcPct val="108000"/>
              </a:lnSpc>
              <a:buNone/>
            </a:pPr>
            <a:r>
              <a:rPr lang="en-US" sz="840" dirty="0">
                <a:solidFill>
                  <a:srgbClr val="5F7183"/>
                </a:solidFill>
                <a:latin typeface="微軟正黑體" pitchFamily="34" charset="0"/>
                <a:ea typeface="微軟正黑體" pitchFamily="34" charset="-122"/>
                <a:cs typeface="微軟正黑體" pitchFamily="34" charset="-120"/>
              </a:rPr>
              <a:t>打開之後不需要網路——第三節上機會用它整整 50 分鐘</a:t>
            </a:r>
            <a:endParaRPr lang="en-US" sz="920" dirty="0"/>
          </a:p>
        </p:txBody>
      </p:sp>
      <p:sp>
        <p:nvSpPr>
          <p:cNvPr id="17" name="Shape 14"/>
          <p:cNvSpPr/>
          <p:nvPr/>
        </p:nvSpPr>
        <p:spPr>
          <a:xfrm>
            <a:off x="1328680" y="3119418"/>
            <a:ext cx="6486641" cy="481032"/>
          </a:xfrm>
          <a:prstGeom prst="roundRect">
            <a:avLst>
              <a:gd name="adj" fmla="val 13636"/>
            </a:avLst>
          </a:prstGeom>
          <a:solidFill>
            <a:srgbClr val="FFF6E3"/>
          </a:solidFill>
          <a:ln w="12700">
            <a:solidFill>
              <a:srgbClr val="FFB020"/>
            </a:solidFill>
            <a:prstDash val="solid"/>
          </a:ln>
        </p:spPr>
      </p:sp>
      <p:sp>
        <p:nvSpPr>
          <p:cNvPr id="18" name="Text 15"/>
          <p:cNvSpPr txBox="1"/>
          <p:nvPr/>
        </p:nvSpPr>
        <p:spPr>
          <a:xfrm>
            <a:off x="1474447" y="3170437"/>
            <a:ext cx="6195106" cy="393571"/>
          </a:xfrm>
          <a:prstGeom prst="rect">
            <a:avLst/>
          </a:prstGeom>
          <a:noFill/>
          <a:ln/>
        </p:spPr>
        <p:txBody>
          <a:bodyPr wrap="square" lIns="0" tIns="0" rIns="0" bIns="0" rtlCol="0" anchor="t"/>
          <a:lstStyle/>
          <a:p>
            <a:pPr indent="0" marL="0">
              <a:lnSpc>
                <a:spcPct val="114000"/>
              </a:lnSpc>
              <a:buNone/>
            </a:pPr>
            <a:r>
              <a:rPr lang="en-US" sz="960" b="1" dirty="0">
                <a:solidFill>
                  <a:srgbClr val="7A4E00"/>
                </a:solidFill>
                <a:latin typeface="Arial" pitchFamily="34" charset="0"/>
                <a:ea typeface="Arial" pitchFamily="34" charset="-122"/>
                <a:cs typeface="Arial" pitchFamily="34" charset="-120"/>
              </a:rPr>
              <a:t>Góc trên bên trái có nút đổi ngôn ngữ: mặc định tiếng Việt, muốn tiếng Trung thì bấm «中文».</a:t>
            </a:r>
            <a:endParaRPr lang="en-US" sz="960" dirty="0"/>
          </a:p>
          <a:p>
            <a:pPr indent="0" marL="0">
              <a:lnSpc>
                <a:spcPct val="114000"/>
              </a:lnSpc>
              <a:buNone/>
            </a:pPr>
            <a:r>
              <a:rPr lang="en-US" sz="880" dirty="0">
                <a:solidFill>
                  <a:srgbClr val="7A4E00"/>
                </a:solidFill>
                <a:latin typeface="微軟正黑體" pitchFamily="34" charset="0"/>
                <a:ea typeface="微軟正黑體" pitchFamily="34" charset="-122"/>
                <a:cs typeface="微軟正黑體" pitchFamily="34" charset="-120"/>
              </a:rPr>
              <a:t>左上角有語言切換鈕：預設越南文，想看中文就按「中文」。</a:t>
            </a:r>
            <a:endParaRPr lang="en-US" sz="960" dirty="0"/>
          </a:p>
        </p:txBody>
      </p:sp>
      <p:pic>
        <p:nvPicPr>
          <p:cNvPr id="20" name="Image 1" descr="/Users/tsengchenghsun/Class/carClass/Claude outputs/第四週(10-1)/src/logo.png">    </p:cNvPr>
          <p:cNvPicPr>
            <a:picLocks noChangeAspect="1"/>
          </p:cNvPicPr>
          <p:nvPr/>
        </p:nvPicPr>
        <p:blipFill>
          <a:blip r:embed="rId2"/>
          <a:stretch>
            <a:fillRect/>
          </a:stretch>
        </p:blipFill>
        <p:spPr>
          <a:xfrm>
            <a:off x="7210386" y="87460"/>
            <a:ext cx="874603" cy="193240"/>
          </a:xfrm>
          <a:prstGeom prst="rect">
            <a:avLst/>
          </a:prstGeom>
        </p:spPr>
      </p:pic>
      <p:sp>
        <p:nvSpPr>
          <p:cNvPr id="21" name="Text 16"/>
          <p:cNvSpPr txBox="1"/>
          <p:nvPr/>
        </p:nvSpPr>
        <p:spPr>
          <a:xfrm>
            <a:off x="1015280" y="102037"/>
            <a:ext cx="655952" cy="204074"/>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3 / 28</a:t>
            </a:r>
            <a:endParaRPr lang="en-US" sz="720" dirty="0"/>
          </a:p>
        </p:txBody>
      </p:sp>
      <p:sp>
        <p:nvSpPr>
          <p:cNvPr id="22" name="Text 17"/>
          <p:cNvSpPr txBox="1"/>
          <p:nvPr/>
        </p:nvSpPr>
        <p:spPr>
          <a:xfrm>
            <a:off x="1693098" y="102037"/>
            <a:ext cx="1603439" cy="204074"/>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Tiết 1 · 第 1 節</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898071" y="0"/>
          <a:ext cx="1" cy="1"/>
          <a:chOff x="0" y="0"/>
          <a:chExt cx="0" cy="0"/>
        </a:xfrm>
      </p:grpSpPr>
      <p:sp>
        <p:nvSpPr>
          <p:cNvPr id="2" name="Shape 0"/>
          <p:cNvSpPr/>
          <p:nvPr/>
        </p:nvSpPr>
        <p:spPr>
          <a:xfrm>
            <a:off x="6335486" y="-1102179"/>
            <a:ext cx="3380014" cy="3380014"/>
          </a:xfrm>
          <a:prstGeom prst="ellipse">
            <a:avLst/>
          </a:prstGeom>
          <a:solidFill>
            <a:srgbClr val="13314F"/>
          </a:solidFill>
          <a:ln w="12700">
            <a:solidFill>
              <a:srgbClr val="13314F"/>
            </a:solidFill>
            <a:prstDash val="solid"/>
          </a:ln>
        </p:spPr>
      </p:sp>
      <p:sp>
        <p:nvSpPr>
          <p:cNvPr id="3" name="Shape 1"/>
          <p:cNvSpPr/>
          <p:nvPr/>
        </p:nvSpPr>
        <p:spPr>
          <a:xfrm>
            <a:off x="7437664" y="1690007"/>
            <a:ext cx="1910443" cy="1910443"/>
          </a:xfrm>
          <a:prstGeom prst="ellipse">
            <a:avLst/>
          </a:prstGeom>
          <a:solidFill>
            <a:srgbClr val="007F72">
              <a:alpha val="28000"/>
            </a:srgbClr>
          </a:solidFill>
          <a:ln/>
        </p:spPr>
      </p:sp>
      <p:sp>
        <p:nvSpPr>
          <p:cNvPr id="4" name="Text 2"/>
          <p:cNvSpPr txBox="1"/>
          <p:nvPr/>
        </p:nvSpPr>
        <p:spPr>
          <a:xfrm>
            <a:off x="1302204" y="1359354"/>
            <a:ext cx="3673929" cy="249827"/>
          </a:xfrm>
          <a:prstGeom prst="rect">
            <a:avLst/>
          </a:prstGeom>
          <a:noFill/>
          <a:ln/>
        </p:spPr>
        <p:txBody>
          <a:bodyPr wrap="square" lIns="0" tIns="0" rIns="0" bIns="0" rtlCol="0" anchor="ctr"/>
          <a:lstStyle/>
          <a:p>
            <a:pPr indent="0" marL="0">
              <a:buNone/>
            </a:pPr>
            <a:endParaRPr lang="en-US" sz="1080" dirty="0"/>
          </a:p>
        </p:txBody>
      </p:sp>
      <p:sp>
        <p:nvSpPr>
          <p:cNvPr id="5" name="Text 3"/>
          <p:cNvSpPr txBox="1"/>
          <p:nvPr/>
        </p:nvSpPr>
        <p:spPr>
          <a:xfrm>
            <a:off x="1302204" y="1645920"/>
            <a:ext cx="5878286" cy="955221"/>
          </a:xfrm>
          <a:prstGeom prst="rect">
            <a:avLst/>
          </a:prstGeom>
          <a:noFill/>
          <a:ln/>
        </p:spPr>
        <p:txBody>
          <a:bodyPr wrap="square" lIns="0" tIns="0" rIns="0" bIns="0" rtlCol="0" anchor="t"/>
          <a:lstStyle/>
          <a:p>
            <a:pPr indent="0" marL="0">
              <a:lnSpc>
                <a:spcPct val="118000"/>
              </a:lnSpc>
              <a:buNone/>
            </a:pPr>
            <a:r>
              <a:rPr lang="en-US" sz="2330" b="1" dirty="0">
                <a:solidFill>
                  <a:srgbClr val="FFFFFF"/>
                </a:solidFill>
                <a:latin typeface="Arial" pitchFamily="34" charset="0"/>
                <a:ea typeface="Arial" pitchFamily="34" charset="-122"/>
                <a:cs typeface="Arial" pitchFamily="34" charset="-120"/>
              </a:rPr>
              <a:t>Phần này sẽ cho thấy: ba thanh trượt chính là ba thông số thật</a:t>
            </a:r>
            <a:endParaRPr lang="en-US" sz="2330" dirty="0"/>
          </a:p>
          <a:p>
            <a:pPr indent="0" marL="0">
              <a:lnSpc>
                <a:spcPct val="118000"/>
              </a:lnSpc>
              <a:buNone/>
            </a:pPr>
            <a:r>
              <a:rPr lang="en-US" sz="1370" dirty="0">
                <a:solidFill>
                  <a:srgbClr val="AFC3D4"/>
                </a:solidFill>
                <a:latin typeface="微軟正黑體" pitchFamily="34" charset="0"/>
                <a:ea typeface="微軟正黑體" pitchFamily="34" charset="-122"/>
                <a:cs typeface="微軟正黑體" pitchFamily="34" charset="-120"/>
              </a:rPr>
              <a:t>這一段要證明：三個滑桿就是三個真的規格</a:t>
            </a:r>
            <a:endParaRPr lang="en-US" sz="2330" dirty="0"/>
          </a:p>
        </p:txBody>
      </p:sp>
      <p:sp>
        <p:nvSpPr>
          <p:cNvPr id="6" name="Text 4"/>
          <p:cNvSpPr txBox="1"/>
          <p:nvPr/>
        </p:nvSpPr>
        <p:spPr>
          <a:xfrm>
            <a:off x="1302204" y="2659924"/>
            <a:ext cx="6172200" cy="778873"/>
          </a:xfrm>
          <a:prstGeom prst="rect">
            <a:avLst/>
          </a:prstGeom>
          <a:noFill/>
          <a:ln/>
        </p:spPr>
        <p:txBody>
          <a:bodyPr wrap="square" lIns="0" tIns="0" rIns="0" bIns="0" rtlCol="0" anchor="t"/>
          <a:lstStyle/>
          <a:p>
            <a:pPr indent="0" marL="0">
              <a:lnSpc>
                <a:spcPct val="120000"/>
              </a:lnSpc>
              <a:buNone/>
            </a:pPr>
            <a:r>
              <a:rPr lang="en-US" sz="1080" dirty="0">
                <a:solidFill>
                  <a:srgbClr val="AFC3D4"/>
                </a:solidFill>
                <a:latin typeface="Arial" pitchFamily="34" charset="0"/>
                <a:ea typeface="Arial" pitchFamily="34" charset="-122"/>
                <a:cs typeface="Arial" pitchFamily="34" charset="-120"/>
              </a:rPr>
              <a:t>Hãy nhìn vào mô phỏng (simulator): mấy đường vàng nhạt — gọi là tia (ray) — chính là con LiDAR của tuần trước. Năm trang sau hỏi ba điều: nhìn xa bao nhiêu, nhìn rộng bao nhiêu, nhìn kỹ đến đâu — cảm biến nào cũng phải trả lời ba câu này.</a:t>
            </a:r>
            <a:endParaRPr lang="en-US" sz="1080" dirty="0"/>
          </a:p>
          <a:p>
            <a:pPr indent="0" marL="0">
              <a:lnSpc>
                <a:spcPct val="120000"/>
              </a:lnSpc>
              <a:buNone/>
            </a:pPr>
            <a:r>
              <a:rPr lang="en-US" sz="960" dirty="0">
                <a:solidFill>
                  <a:srgbClr val="8AA0B4"/>
                </a:solidFill>
                <a:latin typeface="微軟正黑體" pitchFamily="34" charset="0"/>
                <a:ea typeface="微軟正黑體" pitchFamily="34" charset="-122"/>
                <a:cs typeface="微軟正黑體" pitchFamily="34" charset="-120"/>
              </a:rPr>
              <a:t>請看模擬器（simulator），那幾條淡黃色的射線（ray），就是上週的光達。接下來五張問三件事：看多遠、看多寬、看多細——每一種感測器都要回答這三題。</a:t>
            </a:r>
            <a:endParaRPr lang="en-US" sz="1080" dirty="0"/>
          </a:p>
        </p:txBody>
      </p:sp>
      <p:sp>
        <p:nvSpPr>
          <p:cNvPr id="8" name="Text 5"/>
          <p:cNvSpPr txBox="1"/>
          <p:nvPr/>
        </p:nvSpPr>
        <p:spPr>
          <a:xfrm>
            <a:off x="986246" y="102870"/>
            <a:ext cx="661307" cy="205740"/>
          </a:xfrm>
          <a:prstGeom prst="rect">
            <a:avLst/>
          </a:prstGeom>
          <a:noFill/>
          <a:ln/>
        </p:spPr>
        <p:txBody>
          <a:bodyPr wrap="square" lIns="0" tIns="0" rIns="0" bIns="0" rtlCol="0" anchor="ctr"/>
          <a:lstStyle/>
          <a:p>
            <a:pPr indent="0" marL="0">
              <a:buNone/>
            </a:pPr>
            <a:r>
              <a:rPr lang="en-US" sz="720" dirty="0">
                <a:solidFill>
                  <a:srgbClr val="9FB3C8"/>
                </a:solidFill>
                <a:latin typeface="Arial" pitchFamily="34" charset="0"/>
                <a:ea typeface="Arial" pitchFamily="34" charset="-122"/>
                <a:cs typeface="Arial" pitchFamily="34" charset="-120"/>
              </a:rPr>
              <a:t>4 / 28</a:t>
            </a:r>
            <a:endParaRPr lang="en-US" sz="720" dirty="0"/>
          </a:p>
        </p:txBody>
      </p:sp>
      <p:sp>
        <p:nvSpPr>
          <p:cNvPr id="9" name="Text 6"/>
          <p:cNvSpPr txBox="1"/>
          <p:nvPr/>
        </p:nvSpPr>
        <p:spPr>
          <a:xfrm>
            <a:off x="1669596" y="102870"/>
            <a:ext cx="1616529" cy="205740"/>
          </a:xfrm>
          <a:prstGeom prst="rect">
            <a:avLst/>
          </a:prstGeom>
          <a:noFill/>
          <a:ln/>
        </p:spPr>
        <p:txBody>
          <a:bodyPr wrap="square" lIns="0" tIns="0" rIns="0" bIns="0" rtlCol="0" anchor="ctr"/>
          <a:lstStyle/>
          <a:p>
            <a:pPr indent="0" marL="0">
              <a:buNone/>
            </a:pPr>
            <a:r>
              <a:rPr lang="en-US" sz="720" dirty="0">
                <a:solidFill>
                  <a:srgbClr val="9FB3C8"/>
                </a:solidFill>
                <a:latin typeface="Arial" pitchFamily="34" charset="0"/>
                <a:ea typeface="Arial" pitchFamily="34" charset="-122"/>
                <a:cs typeface="Arial" pitchFamily="34" charset="-120"/>
              </a:rPr>
              <a:t>Tiết 1 · 第 1 節</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1000125" y="0"/>
          <a:ext cx="1" cy="1"/>
          <a:chOff x="0" y="0"/>
          <a:chExt cx="0" cy="0"/>
        </a:xfrm>
      </p:grpSpPr>
      <p:sp>
        <p:nvSpPr>
          <p:cNvPr id="2" name="Text 0"/>
          <p:cNvSpPr txBox="1"/>
          <p:nvPr/>
        </p:nvSpPr>
        <p:spPr>
          <a:xfrm>
            <a:off x="1393031" y="228600"/>
            <a:ext cx="6357938" cy="657225"/>
          </a:xfrm>
          <a:prstGeom prst="rect">
            <a:avLst/>
          </a:prstGeom>
          <a:noFill/>
          <a:ln/>
        </p:spPr>
        <p:txBody>
          <a:bodyPr wrap="square" lIns="0" tIns="0" rIns="0" bIns="0" rtlCol="0" anchor="t"/>
          <a:lstStyle/>
          <a:p>
            <a:pPr indent="0" marL="0">
              <a:lnSpc>
                <a:spcPct val="116000"/>
              </a:lnSpc>
              <a:buNone/>
            </a:pPr>
            <a:r>
              <a:rPr lang="en-US" sz="1720" b="1" dirty="0">
                <a:solidFill>
                  <a:srgbClr val="0B1F3A"/>
                </a:solidFill>
                <a:latin typeface="Arial" pitchFamily="34" charset="0"/>
                <a:ea typeface="Arial" pitchFamily="34" charset="-122"/>
                <a:cs typeface="Arial" pitchFamily="34" charset="-120"/>
              </a:rPr>
              <a:t>Ba thanh trượt này trả lời ba câu hỏi khác nhau</a:t>
            </a:r>
            <a:endParaRPr lang="en-US" sz="1720" dirty="0"/>
          </a:p>
          <a:p>
            <a:pPr indent="0" marL="0">
              <a:lnSpc>
                <a:spcPct val="116000"/>
              </a:lnSpc>
              <a:buNone/>
            </a:pPr>
            <a:r>
              <a:rPr lang="en-US" sz="1050" dirty="0">
                <a:solidFill>
                  <a:srgbClr val="5F7183"/>
                </a:solidFill>
                <a:latin typeface="微軟正黑體" pitchFamily="34" charset="0"/>
                <a:ea typeface="微軟正黑體" pitchFamily="34" charset="-122"/>
                <a:cs typeface="微軟正黑體" pitchFamily="34" charset="-120"/>
              </a:rPr>
              <a:t>這三個滑桿，回答三個不同的問題</a:t>
            </a:r>
            <a:endParaRPr lang="en-US" sz="1720" dirty="0"/>
          </a:p>
        </p:txBody>
      </p:sp>
      <p:sp>
        <p:nvSpPr>
          <p:cNvPr id="3" name="Shape 1"/>
          <p:cNvSpPr/>
          <p:nvPr/>
        </p:nvSpPr>
        <p:spPr>
          <a:xfrm>
            <a:off x="1393031" y="885825"/>
            <a:ext cx="1976438" cy="2228850"/>
          </a:xfrm>
          <a:prstGeom prst="roundRect">
            <a:avLst>
              <a:gd name="adj" fmla="val 36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4" name="Shape 2"/>
          <p:cNvSpPr/>
          <p:nvPr/>
        </p:nvSpPr>
        <p:spPr>
          <a:xfrm>
            <a:off x="2195513" y="1028700"/>
            <a:ext cx="371475" cy="371475"/>
          </a:xfrm>
          <a:prstGeom prst="ellipse">
            <a:avLst/>
          </a:prstGeom>
          <a:solidFill>
            <a:srgbClr val="0B1F3A"/>
          </a:solidFill>
          <a:ln/>
        </p:spPr>
      </p:sp>
      <p:sp>
        <p:nvSpPr>
          <p:cNvPr id="5" name="Text 3"/>
          <p:cNvSpPr txBox="1"/>
          <p:nvPr/>
        </p:nvSpPr>
        <p:spPr>
          <a:xfrm>
            <a:off x="2195513" y="1107281"/>
            <a:ext cx="371475" cy="214313"/>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1</a:t>
            </a:r>
            <a:endParaRPr lang="en-US" sz="1170" dirty="0"/>
          </a:p>
        </p:txBody>
      </p:sp>
      <p:sp>
        <p:nvSpPr>
          <p:cNvPr id="6" name="Text 4"/>
          <p:cNvSpPr txBox="1"/>
          <p:nvPr/>
        </p:nvSpPr>
        <p:spPr>
          <a:xfrm>
            <a:off x="1493044" y="1443038"/>
            <a:ext cx="1776413" cy="471488"/>
          </a:xfrm>
          <a:prstGeom prst="rect">
            <a:avLst/>
          </a:prstGeom>
          <a:noFill/>
          <a:ln/>
        </p:spPr>
        <p:txBody>
          <a:bodyPr wrap="square" lIns="0" tIns="0" rIns="0" bIns="0" rtlCol="0" anchor="t"/>
          <a:lstStyle/>
          <a:p>
            <a:pPr algn="ctr" indent="0" marL="0">
              <a:lnSpc>
                <a:spcPct val="116000"/>
              </a:lnSpc>
              <a:buNone/>
            </a:pPr>
            <a:r>
              <a:rPr lang="en-US" sz="1090" b="1" dirty="0">
                <a:solidFill>
                  <a:srgbClr val="0B1F3A"/>
                </a:solidFill>
                <a:latin typeface="Arial" pitchFamily="34" charset="0"/>
                <a:ea typeface="Arial" pitchFamily="34" charset="-122"/>
                <a:cs typeface="Arial" pitchFamily="34" charset="-120"/>
              </a:rPr>
              <a:t>Số tia</a:t>
            </a:r>
            <a:endParaRPr lang="en-US" sz="1090" dirty="0"/>
          </a:p>
          <a:p>
            <a:pPr algn="ctr" indent="0" marL="0">
              <a:lnSpc>
                <a:spcPct val="116000"/>
              </a:lnSpc>
              <a:buNone/>
            </a:pPr>
            <a:r>
              <a:rPr lang="en-US" sz="940" dirty="0">
                <a:solidFill>
                  <a:srgbClr val="007F72"/>
                </a:solidFill>
                <a:latin typeface="微軟正黑體" pitchFamily="34" charset="0"/>
                <a:ea typeface="微軟正黑體" pitchFamily="34" charset="-122"/>
                <a:cs typeface="微軟正黑體" pitchFamily="34" charset="-120"/>
              </a:rPr>
              <a:t>射線數</a:t>
            </a:r>
            <a:endParaRPr lang="en-US" sz="1090" dirty="0"/>
          </a:p>
        </p:txBody>
      </p:sp>
      <p:sp>
        <p:nvSpPr>
          <p:cNvPr id="7" name="Text 5"/>
          <p:cNvSpPr txBox="1"/>
          <p:nvPr/>
        </p:nvSpPr>
        <p:spPr>
          <a:xfrm>
            <a:off x="1493044" y="1928813"/>
            <a:ext cx="1776413" cy="1100138"/>
          </a:xfrm>
          <a:prstGeom prst="rect">
            <a:avLst/>
          </a:prstGeom>
          <a:noFill/>
          <a:ln/>
        </p:spPr>
        <p:txBody>
          <a:bodyPr wrap="square" lIns="0" tIns="0" rIns="0" bIns="0" rtlCol="0" anchor="t"/>
          <a:lstStyle/>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Nhìn kỹ đến đâu?</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Datasheet: Resolution</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Hỏi: kéo nhỏ thì sao?</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看多細？</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規格表上叫 Resolution</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問題：調小會怎樣？</a:t>
            </a:r>
            <a:endParaRPr lang="en-US" sz="900" dirty="0"/>
          </a:p>
        </p:txBody>
      </p:sp>
      <p:sp>
        <p:nvSpPr>
          <p:cNvPr id="8" name="Text 6"/>
          <p:cNvSpPr txBox="1"/>
          <p:nvPr/>
        </p:nvSpPr>
        <p:spPr>
          <a:xfrm>
            <a:off x="3369469" y="1600200"/>
            <a:ext cx="214313" cy="285750"/>
          </a:xfrm>
          <a:prstGeom prst="rect">
            <a:avLst/>
          </a:prstGeom>
          <a:noFill/>
          <a:ln/>
        </p:spPr>
        <p:txBody>
          <a:bodyPr wrap="square" lIns="0" tIns="0" rIns="0" bIns="0" rtlCol="0" anchor="ctr"/>
          <a:lstStyle/>
          <a:p>
            <a:pPr algn="ctr" indent="0" marL="0">
              <a:buNone/>
            </a:pPr>
            <a:r>
              <a:rPr lang="en-US" sz="1480" b="1" dirty="0">
                <a:solidFill>
                  <a:srgbClr val="00A896"/>
                </a:solidFill>
                <a:latin typeface="微軟正黑體" pitchFamily="34" charset="0"/>
                <a:ea typeface="微軟正黑體" pitchFamily="34" charset="-122"/>
                <a:cs typeface="微軟正黑體" pitchFamily="34" charset="-120"/>
              </a:rPr>
              <a:t>→</a:t>
            </a:r>
            <a:endParaRPr lang="en-US" sz="1480" dirty="0"/>
          </a:p>
        </p:txBody>
      </p:sp>
      <p:sp>
        <p:nvSpPr>
          <p:cNvPr id="9" name="Shape 7"/>
          <p:cNvSpPr/>
          <p:nvPr/>
        </p:nvSpPr>
        <p:spPr>
          <a:xfrm>
            <a:off x="3583781" y="885825"/>
            <a:ext cx="1976438" cy="2228850"/>
          </a:xfrm>
          <a:prstGeom prst="roundRect">
            <a:avLst>
              <a:gd name="adj" fmla="val 36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0" name="Shape 8"/>
          <p:cNvSpPr/>
          <p:nvPr/>
        </p:nvSpPr>
        <p:spPr>
          <a:xfrm>
            <a:off x="4386263" y="1028700"/>
            <a:ext cx="371475" cy="371475"/>
          </a:xfrm>
          <a:prstGeom prst="ellipse">
            <a:avLst/>
          </a:prstGeom>
          <a:solidFill>
            <a:srgbClr val="00A896"/>
          </a:solidFill>
          <a:ln/>
        </p:spPr>
      </p:sp>
      <p:sp>
        <p:nvSpPr>
          <p:cNvPr id="11" name="Text 9"/>
          <p:cNvSpPr txBox="1"/>
          <p:nvPr/>
        </p:nvSpPr>
        <p:spPr>
          <a:xfrm>
            <a:off x="4386263" y="1107281"/>
            <a:ext cx="371475" cy="214313"/>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2</a:t>
            </a:r>
            <a:endParaRPr lang="en-US" sz="1170" dirty="0"/>
          </a:p>
        </p:txBody>
      </p:sp>
      <p:sp>
        <p:nvSpPr>
          <p:cNvPr id="12" name="Text 10"/>
          <p:cNvSpPr txBox="1"/>
          <p:nvPr/>
        </p:nvSpPr>
        <p:spPr>
          <a:xfrm>
            <a:off x="3683794" y="1443038"/>
            <a:ext cx="1776413" cy="471488"/>
          </a:xfrm>
          <a:prstGeom prst="rect">
            <a:avLst/>
          </a:prstGeom>
          <a:noFill/>
          <a:ln/>
        </p:spPr>
        <p:txBody>
          <a:bodyPr wrap="square" lIns="0" tIns="0" rIns="0" bIns="0" rtlCol="0" anchor="t"/>
          <a:lstStyle/>
          <a:p>
            <a:pPr algn="ctr" indent="0" marL="0">
              <a:lnSpc>
                <a:spcPct val="116000"/>
              </a:lnSpc>
              <a:buNone/>
            </a:pPr>
            <a:r>
              <a:rPr lang="en-US" sz="1090" b="1" dirty="0">
                <a:solidFill>
                  <a:srgbClr val="0B1F3A"/>
                </a:solidFill>
                <a:latin typeface="Arial" pitchFamily="34" charset="0"/>
                <a:ea typeface="Arial" pitchFamily="34" charset="-122"/>
                <a:cs typeface="Arial" pitchFamily="34" charset="-120"/>
              </a:rPr>
              <a:t>Chiều dài tia</a:t>
            </a:r>
            <a:endParaRPr lang="en-US" sz="1090" dirty="0"/>
          </a:p>
          <a:p>
            <a:pPr algn="ctr" indent="0" marL="0">
              <a:lnSpc>
                <a:spcPct val="116000"/>
              </a:lnSpc>
              <a:buNone/>
            </a:pPr>
            <a:r>
              <a:rPr lang="en-US" sz="940" dirty="0">
                <a:solidFill>
                  <a:srgbClr val="007F72"/>
                </a:solidFill>
                <a:latin typeface="微軟正黑體" pitchFamily="34" charset="0"/>
                <a:ea typeface="微軟正黑體" pitchFamily="34" charset="-122"/>
                <a:cs typeface="微軟正黑體" pitchFamily="34" charset="-120"/>
              </a:rPr>
              <a:t>射線長度</a:t>
            </a:r>
            <a:endParaRPr lang="en-US" sz="1090" dirty="0"/>
          </a:p>
        </p:txBody>
      </p:sp>
      <p:sp>
        <p:nvSpPr>
          <p:cNvPr id="13" name="Text 11"/>
          <p:cNvSpPr txBox="1"/>
          <p:nvPr/>
        </p:nvSpPr>
        <p:spPr>
          <a:xfrm>
            <a:off x="3683794" y="1928813"/>
            <a:ext cx="1776413" cy="1100138"/>
          </a:xfrm>
          <a:prstGeom prst="rect">
            <a:avLst/>
          </a:prstGeom>
          <a:noFill/>
          <a:ln/>
        </p:spPr>
        <p:txBody>
          <a:bodyPr wrap="square" lIns="0" tIns="0" rIns="0" bIns="0" rtlCol="0" anchor="t"/>
          <a:lstStyle/>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Nhìn xa bao nhiêu?</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Datasheet: Range</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Hỏi: chọn bao nhiêu cũng được?</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看多遠？</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規格表上叫 Range</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問題：可以隨便選嗎？</a:t>
            </a:r>
            <a:endParaRPr lang="en-US" sz="900" dirty="0"/>
          </a:p>
        </p:txBody>
      </p:sp>
      <p:sp>
        <p:nvSpPr>
          <p:cNvPr id="14" name="Text 12"/>
          <p:cNvSpPr txBox="1"/>
          <p:nvPr/>
        </p:nvSpPr>
        <p:spPr>
          <a:xfrm>
            <a:off x="5560219" y="1600200"/>
            <a:ext cx="214313" cy="285750"/>
          </a:xfrm>
          <a:prstGeom prst="rect">
            <a:avLst/>
          </a:prstGeom>
          <a:noFill/>
          <a:ln/>
        </p:spPr>
        <p:txBody>
          <a:bodyPr wrap="square" lIns="0" tIns="0" rIns="0" bIns="0" rtlCol="0" anchor="ctr"/>
          <a:lstStyle/>
          <a:p>
            <a:pPr algn="ctr" indent="0" marL="0">
              <a:buNone/>
            </a:pPr>
            <a:r>
              <a:rPr lang="en-US" sz="1480" b="1" dirty="0">
                <a:solidFill>
                  <a:srgbClr val="00A896"/>
                </a:solidFill>
                <a:latin typeface="微軟正黑體" pitchFamily="34" charset="0"/>
                <a:ea typeface="微軟正黑體" pitchFamily="34" charset="-122"/>
                <a:cs typeface="微軟正黑體" pitchFamily="34" charset="-120"/>
              </a:rPr>
              <a:t>→</a:t>
            </a:r>
            <a:endParaRPr lang="en-US" sz="1480" dirty="0"/>
          </a:p>
        </p:txBody>
      </p:sp>
      <p:sp>
        <p:nvSpPr>
          <p:cNvPr id="15" name="Shape 13"/>
          <p:cNvSpPr/>
          <p:nvPr/>
        </p:nvSpPr>
        <p:spPr>
          <a:xfrm>
            <a:off x="5774531" y="885825"/>
            <a:ext cx="1976438" cy="2228850"/>
          </a:xfrm>
          <a:prstGeom prst="roundRect">
            <a:avLst>
              <a:gd name="adj" fmla="val 36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6" name="Shape 14"/>
          <p:cNvSpPr/>
          <p:nvPr/>
        </p:nvSpPr>
        <p:spPr>
          <a:xfrm>
            <a:off x="6577013" y="1028700"/>
            <a:ext cx="371475" cy="371475"/>
          </a:xfrm>
          <a:prstGeom prst="ellipse">
            <a:avLst/>
          </a:prstGeom>
          <a:solidFill>
            <a:srgbClr val="0B1F3A"/>
          </a:solidFill>
          <a:ln/>
        </p:spPr>
      </p:sp>
      <p:sp>
        <p:nvSpPr>
          <p:cNvPr id="17" name="Text 15"/>
          <p:cNvSpPr txBox="1"/>
          <p:nvPr/>
        </p:nvSpPr>
        <p:spPr>
          <a:xfrm>
            <a:off x="6577013" y="1107281"/>
            <a:ext cx="371475" cy="214313"/>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3</a:t>
            </a:r>
            <a:endParaRPr lang="en-US" sz="1170" dirty="0"/>
          </a:p>
        </p:txBody>
      </p:sp>
      <p:sp>
        <p:nvSpPr>
          <p:cNvPr id="18" name="Text 16"/>
          <p:cNvSpPr txBox="1"/>
          <p:nvPr/>
        </p:nvSpPr>
        <p:spPr>
          <a:xfrm>
            <a:off x="5874544" y="1443038"/>
            <a:ext cx="1776413" cy="471488"/>
          </a:xfrm>
          <a:prstGeom prst="rect">
            <a:avLst/>
          </a:prstGeom>
          <a:noFill/>
          <a:ln/>
        </p:spPr>
        <p:txBody>
          <a:bodyPr wrap="square" lIns="0" tIns="0" rIns="0" bIns="0" rtlCol="0" anchor="t"/>
          <a:lstStyle/>
          <a:p>
            <a:pPr algn="ctr" indent="0" marL="0">
              <a:lnSpc>
                <a:spcPct val="116000"/>
              </a:lnSpc>
              <a:buNone/>
            </a:pPr>
            <a:r>
              <a:rPr lang="en-US" sz="1090" b="1" dirty="0">
                <a:solidFill>
                  <a:srgbClr val="0B1F3A"/>
                </a:solidFill>
                <a:latin typeface="Arial" pitchFamily="34" charset="0"/>
                <a:ea typeface="Arial" pitchFamily="34" charset="-122"/>
                <a:cs typeface="Arial" pitchFamily="34" charset="-120"/>
              </a:rPr>
              <a:t>Góc quét</a:t>
            </a:r>
            <a:endParaRPr lang="en-US" sz="1090" dirty="0"/>
          </a:p>
          <a:p>
            <a:pPr algn="ctr" indent="0" marL="0">
              <a:lnSpc>
                <a:spcPct val="116000"/>
              </a:lnSpc>
              <a:buNone/>
            </a:pPr>
            <a:r>
              <a:rPr lang="en-US" sz="940" dirty="0">
                <a:solidFill>
                  <a:srgbClr val="007F72"/>
                </a:solidFill>
                <a:latin typeface="微軟正黑體" pitchFamily="34" charset="0"/>
                <a:ea typeface="微軟正黑體" pitchFamily="34" charset="-122"/>
                <a:cs typeface="微軟正黑體" pitchFamily="34" charset="-120"/>
              </a:rPr>
              <a:t>張角</a:t>
            </a:r>
            <a:endParaRPr lang="en-US" sz="1090" dirty="0"/>
          </a:p>
        </p:txBody>
      </p:sp>
      <p:sp>
        <p:nvSpPr>
          <p:cNvPr id="19" name="Text 17"/>
          <p:cNvSpPr txBox="1"/>
          <p:nvPr/>
        </p:nvSpPr>
        <p:spPr>
          <a:xfrm>
            <a:off x="5874544" y="1928813"/>
            <a:ext cx="1776413" cy="1100138"/>
          </a:xfrm>
          <a:prstGeom prst="rect">
            <a:avLst/>
          </a:prstGeom>
          <a:noFill/>
          <a:ln/>
        </p:spPr>
        <p:txBody>
          <a:bodyPr wrap="square" lIns="0" tIns="0" rIns="0" bIns="0" rtlCol="0" anchor="t"/>
          <a:lstStyle/>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Nhìn rộng bao nhiêu?</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Datasheet: FOV</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Hỏi: kéo rộng thì sao?</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看多寬？</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規格表上叫 FOV</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問題：調寬會怎樣？</a:t>
            </a:r>
            <a:endParaRPr lang="en-US" sz="900" dirty="0"/>
          </a:p>
        </p:txBody>
      </p:sp>
      <p:sp>
        <p:nvSpPr>
          <p:cNvPr id="20" name="Text 18"/>
          <p:cNvSpPr txBox="1"/>
          <p:nvPr/>
        </p:nvSpPr>
        <p:spPr>
          <a:xfrm>
            <a:off x="1393031" y="3186113"/>
            <a:ext cx="6357938" cy="414338"/>
          </a:xfrm>
          <a:prstGeom prst="rect">
            <a:avLst/>
          </a:prstGeom>
          <a:noFill/>
          <a:ln/>
        </p:spPr>
        <p:txBody>
          <a:bodyPr wrap="square" lIns="0" tIns="0" rIns="0" bIns="0" rtlCol="0" anchor="t"/>
          <a:lstStyle/>
          <a:p>
            <a:pPr indent="0" marL="0">
              <a:lnSpc>
                <a:spcPct val="118000"/>
              </a:lnSpc>
              <a:buNone/>
            </a:pPr>
            <a:r>
              <a:rPr lang="en-US" sz="940" b="1" dirty="0">
                <a:solidFill>
                  <a:srgbClr val="0B1F3A"/>
                </a:solidFill>
                <a:latin typeface="Arial" pitchFamily="34" charset="0"/>
                <a:ea typeface="Arial" pitchFamily="34" charset="-122"/>
                <a:cs typeface="Arial" pitchFamily="34" charset="-120"/>
              </a:rPr>
              <a:t>Bảng thông số giống tờ giấy khi mua điện thoại. Lấy giấy ra, ghi ba tên tiếng Anh này.</a:t>
            </a:r>
            <a:endParaRPr lang="en-US" sz="940" dirty="0"/>
          </a:p>
          <a:p>
            <a:pPr indent="0" marL="0">
              <a:lnSpc>
                <a:spcPct val="118000"/>
              </a:lnSpc>
              <a:buNone/>
            </a:pPr>
            <a:r>
              <a:rPr lang="en-US" sz="860" dirty="0">
                <a:solidFill>
                  <a:srgbClr val="007F72"/>
                </a:solidFill>
                <a:latin typeface="微軟正黑體" pitchFamily="34" charset="0"/>
                <a:ea typeface="微軟正黑體" pitchFamily="34" charset="-122"/>
                <a:cs typeface="微軟正黑體" pitchFamily="34" charset="-120"/>
              </a:rPr>
              <a:t>規格表就像買手機會看的那張表。請拿一張紙，把這三個英文名字抄下來。</a:t>
            </a:r>
            <a:endParaRPr lang="en-US" sz="940" dirty="0"/>
          </a:p>
        </p:txBody>
      </p:sp>
      <p:pic>
        <p:nvPicPr>
          <p:cNvPr id="22" name="Image 0" descr="/Users/tsengchenghsun/Class/carClass/Claude outputs/第四週(10-1)/src/logo.png">    </p:cNvPr>
          <p:cNvPicPr>
            <a:picLocks noChangeAspect="1"/>
          </p:cNvPicPr>
          <p:nvPr/>
        </p:nvPicPr>
        <p:blipFill>
          <a:blip r:embed="rId1"/>
          <a:stretch>
            <a:fillRect/>
          </a:stretch>
        </p:blipFill>
        <p:spPr>
          <a:xfrm>
            <a:off x="7158038" y="85725"/>
            <a:ext cx="857250" cy="189405"/>
          </a:xfrm>
          <a:prstGeom prst="rect">
            <a:avLst/>
          </a:prstGeom>
        </p:spPr>
      </p:pic>
      <p:sp>
        <p:nvSpPr>
          <p:cNvPr id="23" name="Text 19"/>
          <p:cNvSpPr txBox="1"/>
          <p:nvPr/>
        </p:nvSpPr>
        <p:spPr>
          <a:xfrm>
            <a:off x="1085850" y="100013"/>
            <a:ext cx="642938"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5 / 28</a:t>
            </a:r>
            <a:endParaRPr lang="en-US" sz="700" dirty="0"/>
          </a:p>
        </p:txBody>
      </p:sp>
      <p:sp>
        <p:nvSpPr>
          <p:cNvPr id="24" name="Text 20"/>
          <p:cNvSpPr txBox="1"/>
          <p:nvPr/>
        </p:nvSpPr>
        <p:spPr>
          <a:xfrm>
            <a:off x="1750219" y="100013"/>
            <a:ext cx="1571625"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Tiết 1 · 第 1 節</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913006" y="0"/>
          <a:ext cx="1" cy="1"/>
          <a:chOff x="0" y="0"/>
          <a:chExt cx="0" cy="0"/>
        </a:xfrm>
      </p:grpSpPr>
      <p:sp>
        <p:nvSpPr>
          <p:cNvPr id="2" name="Text 0"/>
          <p:cNvSpPr txBox="1"/>
          <p:nvPr/>
        </p:nvSpPr>
        <p:spPr>
          <a:xfrm>
            <a:off x="1315495" y="292720"/>
            <a:ext cx="6513009" cy="219540"/>
          </a:xfrm>
          <a:prstGeom prst="rect">
            <a:avLst/>
          </a:prstGeom>
          <a:noFill/>
          <a:ln/>
        </p:spPr>
        <p:txBody>
          <a:bodyPr wrap="square" lIns="0" tIns="0" rIns="0" bIns="0" rtlCol="0" anchor="ctr"/>
          <a:lstStyle/>
          <a:p>
            <a:pPr indent="0" marL="0">
              <a:buNone/>
            </a:pPr>
            <a:r>
              <a:rPr lang="en-US" sz="1040" b="1" dirty="0">
                <a:solidFill>
                  <a:srgbClr val="007F72"/>
                </a:solidFill>
                <a:latin typeface="Arial" pitchFamily="34" charset="0"/>
                <a:ea typeface="Arial" pitchFamily="34" charset="-122"/>
                <a:cs typeface="Arial" pitchFamily="34" charset="-120"/>
              </a:rPr>
              <a:t>1 / 3　Số tia · 射線數</a:t>
            </a:r>
            <a:endParaRPr lang="en-US" sz="1040" dirty="0"/>
          </a:p>
        </p:txBody>
      </p:sp>
      <p:sp>
        <p:nvSpPr>
          <p:cNvPr id="3" name="Shape 1"/>
          <p:cNvSpPr/>
          <p:nvPr/>
        </p:nvSpPr>
        <p:spPr>
          <a:xfrm>
            <a:off x="1315495" y="658619"/>
            <a:ext cx="1185514" cy="1536777"/>
          </a:xfrm>
          <a:prstGeom prst="roundRect">
            <a:avLst>
              <a:gd name="adj" fmla="val 7407"/>
            </a:avLst>
          </a:prstGeom>
          <a:solidFill>
            <a:srgbClr val="F4F7FA"/>
          </a:solidFill>
          <a:ln w="12700">
            <a:solidFill>
              <a:srgbClr val="DBE3EA"/>
            </a:solidFill>
            <a:prstDash val="solid"/>
          </a:ln>
        </p:spPr>
      </p:sp>
      <p:sp>
        <p:nvSpPr>
          <p:cNvPr id="4" name="Shape 2"/>
          <p:cNvSpPr/>
          <p:nvPr/>
        </p:nvSpPr>
        <p:spPr>
          <a:xfrm flipV="1">
            <a:off x="1617290" y="858844"/>
            <a:ext cx="523032" cy="255100"/>
          </a:xfrm>
          <a:prstGeom prst="line">
            <a:avLst/>
          </a:prstGeom>
          <a:noFill/>
          <a:ln w="13970">
            <a:solidFill>
              <a:srgbClr val="2E6E4E"/>
            </a:solidFill>
            <a:prstDash val="solid"/>
          </a:ln>
        </p:spPr>
      </p:sp>
      <p:sp>
        <p:nvSpPr>
          <p:cNvPr id="5" name="Shape 3"/>
          <p:cNvSpPr/>
          <p:nvPr/>
        </p:nvSpPr>
        <p:spPr>
          <a:xfrm flipV="1">
            <a:off x="1617290" y="1026256"/>
            <a:ext cx="575282" cy="87688"/>
          </a:xfrm>
          <a:prstGeom prst="line">
            <a:avLst/>
          </a:prstGeom>
          <a:noFill/>
          <a:ln w="13970">
            <a:solidFill>
              <a:srgbClr val="2E6E4E"/>
            </a:solidFill>
            <a:prstDash val="solid"/>
          </a:ln>
        </p:spPr>
      </p:sp>
      <p:sp>
        <p:nvSpPr>
          <p:cNvPr id="6" name="Shape 4"/>
          <p:cNvSpPr/>
          <p:nvPr/>
        </p:nvSpPr>
        <p:spPr>
          <a:xfrm>
            <a:off x="1617290" y="1113944"/>
            <a:ext cx="575282" cy="87688"/>
          </a:xfrm>
          <a:prstGeom prst="line">
            <a:avLst/>
          </a:prstGeom>
          <a:noFill/>
          <a:ln w="13970">
            <a:solidFill>
              <a:srgbClr val="2E6E4E"/>
            </a:solidFill>
            <a:prstDash val="solid"/>
          </a:ln>
        </p:spPr>
      </p:sp>
      <p:sp>
        <p:nvSpPr>
          <p:cNvPr id="7" name="Shape 5"/>
          <p:cNvSpPr/>
          <p:nvPr/>
        </p:nvSpPr>
        <p:spPr>
          <a:xfrm>
            <a:off x="1617290" y="1113944"/>
            <a:ext cx="523032" cy="255100"/>
          </a:xfrm>
          <a:prstGeom prst="line">
            <a:avLst/>
          </a:prstGeom>
          <a:noFill/>
          <a:ln w="13970">
            <a:solidFill>
              <a:srgbClr val="2E6E4E"/>
            </a:solidFill>
            <a:prstDash val="solid"/>
          </a:ln>
        </p:spPr>
      </p:sp>
      <p:sp>
        <p:nvSpPr>
          <p:cNvPr id="8" name="Shape 6"/>
          <p:cNvSpPr/>
          <p:nvPr/>
        </p:nvSpPr>
        <p:spPr>
          <a:xfrm>
            <a:off x="1588193" y="1084848"/>
            <a:ext cx="58193" cy="58193"/>
          </a:xfrm>
          <a:prstGeom prst="ellipse">
            <a:avLst/>
          </a:prstGeom>
          <a:solidFill>
            <a:srgbClr val="2E6E4E"/>
          </a:solidFill>
          <a:ln/>
        </p:spPr>
      </p:sp>
      <p:sp>
        <p:nvSpPr>
          <p:cNvPr id="9" name="Shape 7"/>
          <p:cNvSpPr/>
          <p:nvPr/>
        </p:nvSpPr>
        <p:spPr>
          <a:xfrm>
            <a:off x="2047707" y="1067183"/>
            <a:ext cx="93524" cy="93524"/>
          </a:xfrm>
          <a:prstGeom prst="roundRect">
            <a:avLst>
              <a:gd name="adj" fmla="val 22222"/>
            </a:avLst>
          </a:prstGeom>
          <a:solidFill>
            <a:srgbClr val="D9463E"/>
          </a:solidFill>
          <a:ln/>
        </p:spPr>
      </p:sp>
      <p:sp>
        <p:nvSpPr>
          <p:cNvPr id="10" name="Text 8"/>
          <p:cNvSpPr txBox="1"/>
          <p:nvPr/>
        </p:nvSpPr>
        <p:spPr>
          <a:xfrm>
            <a:off x="1388675" y="977829"/>
            <a:ext cx="207831" cy="272229"/>
          </a:xfrm>
          <a:prstGeom prst="rect">
            <a:avLst/>
          </a:prstGeom>
          <a:noFill/>
          <a:ln/>
        </p:spPr>
        <p:txBody>
          <a:bodyPr wrap="square" lIns="0" tIns="0" rIns="0" bIns="0" rtlCol="0" anchor="ctr"/>
          <a:lstStyle/>
          <a:p>
            <a:pPr algn="ctr" indent="0" marL="0">
              <a:buNone/>
            </a:pPr>
            <a:r>
              <a:rPr lang="en-US" sz="560" b="1" dirty="0">
                <a:solidFill>
                  <a:srgbClr val="2E6E4E"/>
                </a:solidFill>
                <a:latin typeface="Arial" pitchFamily="34" charset="0"/>
                <a:ea typeface="Arial" pitchFamily="34" charset="-122"/>
                <a:cs typeface="Arial" pitchFamily="34" charset="-120"/>
              </a:rPr>
              <a:t>4 條</a:t>
            </a:r>
            <a:endParaRPr lang="en-US" sz="560" dirty="0"/>
          </a:p>
        </p:txBody>
      </p:sp>
      <p:sp>
        <p:nvSpPr>
          <p:cNvPr id="11" name="Text 9"/>
          <p:cNvSpPr txBox="1"/>
          <p:nvPr/>
        </p:nvSpPr>
        <p:spPr>
          <a:xfrm>
            <a:off x="2125643" y="991441"/>
            <a:ext cx="249397" cy="245006"/>
          </a:xfrm>
          <a:prstGeom prst="rect">
            <a:avLst/>
          </a:prstGeom>
          <a:noFill/>
          <a:ln/>
        </p:spPr>
        <p:txBody>
          <a:bodyPr wrap="square" lIns="0" tIns="0" rIns="0" bIns="0" rtlCol="0" anchor="ctr"/>
          <a:lstStyle/>
          <a:p>
            <a:pPr algn="l" indent="0" marL="0">
              <a:buNone/>
            </a:pPr>
            <a:r>
              <a:rPr lang="en-US" sz="560" b="1" dirty="0">
                <a:solidFill>
                  <a:srgbClr val="D9463E"/>
                </a:solidFill>
                <a:latin typeface="Arial" pitchFamily="34" charset="0"/>
                <a:ea typeface="Arial" pitchFamily="34" charset="-122"/>
                <a:cs typeface="Arial" pitchFamily="34" charset="-120"/>
              </a:rPr>
              <a:t>漏掉</a:t>
            </a:r>
            <a:endParaRPr lang="en-US" sz="560" dirty="0"/>
          </a:p>
        </p:txBody>
      </p:sp>
      <p:sp>
        <p:nvSpPr>
          <p:cNvPr id="12" name="Shape 10"/>
          <p:cNvSpPr/>
          <p:nvPr/>
        </p:nvSpPr>
        <p:spPr>
          <a:xfrm flipV="1">
            <a:off x="1617290" y="1484971"/>
            <a:ext cx="523032" cy="255100"/>
          </a:xfrm>
          <a:prstGeom prst="line">
            <a:avLst/>
          </a:prstGeom>
          <a:noFill/>
          <a:ln w="13970">
            <a:solidFill>
              <a:srgbClr val="2E6E4E"/>
            </a:solidFill>
            <a:prstDash val="solid"/>
          </a:ln>
        </p:spPr>
      </p:sp>
      <p:sp>
        <p:nvSpPr>
          <p:cNvPr id="13" name="Shape 11"/>
          <p:cNvSpPr/>
          <p:nvPr/>
        </p:nvSpPr>
        <p:spPr>
          <a:xfrm flipV="1">
            <a:off x="1617290" y="1545820"/>
            <a:ext cx="548548" cy="194251"/>
          </a:xfrm>
          <a:prstGeom prst="line">
            <a:avLst/>
          </a:prstGeom>
          <a:noFill/>
          <a:ln w="13970">
            <a:solidFill>
              <a:srgbClr val="2E6E4E"/>
            </a:solidFill>
            <a:prstDash val="solid"/>
          </a:ln>
        </p:spPr>
      </p:sp>
      <p:sp>
        <p:nvSpPr>
          <p:cNvPr id="14" name="Shape 12"/>
          <p:cNvSpPr/>
          <p:nvPr/>
        </p:nvSpPr>
        <p:spPr>
          <a:xfrm flipV="1">
            <a:off x="1617290" y="1609166"/>
            <a:ext cx="567012" cy="130905"/>
          </a:xfrm>
          <a:prstGeom prst="line">
            <a:avLst/>
          </a:prstGeom>
          <a:noFill/>
          <a:ln w="13970">
            <a:solidFill>
              <a:srgbClr val="2E6E4E"/>
            </a:solidFill>
            <a:prstDash val="solid"/>
          </a:ln>
        </p:spPr>
      </p:sp>
      <p:sp>
        <p:nvSpPr>
          <p:cNvPr id="15" name="Shape 13"/>
          <p:cNvSpPr/>
          <p:nvPr/>
        </p:nvSpPr>
        <p:spPr>
          <a:xfrm flipV="1">
            <a:off x="1617290" y="1674195"/>
            <a:ext cx="578186" cy="65876"/>
          </a:xfrm>
          <a:prstGeom prst="line">
            <a:avLst/>
          </a:prstGeom>
          <a:noFill/>
          <a:ln w="13970">
            <a:solidFill>
              <a:srgbClr val="2E6E4E"/>
            </a:solidFill>
            <a:prstDash val="solid"/>
          </a:ln>
        </p:spPr>
      </p:sp>
      <p:sp>
        <p:nvSpPr>
          <p:cNvPr id="16" name="Shape 14"/>
          <p:cNvSpPr/>
          <p:nvPr/>
        </p:nvSpPr>
        <p:spPr>
          <a:xfrm>
            <a:off x="1617290" y="1740071"/>
            <a:ext cx="581926" cy="1"/>
          </a:xfrm>
          <a:prstGeom prst="line">
            <a:avLst/>
          </a:prstGeom>
          <a:noFill/>
          <a:ln w="13970">
            <a:solidFill>
              <a:srgbClr val="2E6E4E"/>
            </a:solidFill>
            <a:prstDash val="solid"/>
          </a:ln>
        </p:spPr>
      </p:sp>
      <p:sp>
        <p:nvSpPr>
          <p:cNvPr id="17" name="Shape 15"/>
          <p:cNvSpPr/>
          <p:nvPr/>
        </p:nvSpPr>
        <p:spPr>
          <a:xfrm>
            <a:off x="1617290" y="1740071"/>
            <a:ext cx="578186" cy="65876"/>
          </a:xfrm>
          <a:prstGeom prst="line">
            <a:avLst/>
          </a:prstGeom>
          <a:noFill/>
          <a:ln w="13970">
            <a:solidFill>
              <a:srgbClr val="2E6E4E"/>
            </a:solidFill>
            <a:prstDash val="solid"/>
          </a:ln>
        </p:spPr>
      </p:sp>
      <p:sp>
        <p:nvSpPr>
          <p:cNvPr id="18" name="Shape 16"/>
          <p:cNvSpPr/>
          <p:nvPr/>
        </p:nvSpPr>
        <p:spPr>
          <a:xfrm>
            <a:off x="1617290" y="1740071"/>
            <a:ext cx="567012" cy="130905"/>
          </a:xfrm>
          <a:prstGeom prst="line">
            <a:avLst/>
          </a:prstGeom>
          <a:noFill/>
          <a:ln w="13970">
            <a:solidFill>
              <a:srgbClr val="2E6E4E"/>
            </a:solidFill>
            <a:prstDash val="solid"/>
          </a:ln>
        </p:spPr>
      </p:sp>
      <p:sp>
        <p:nvSpPr>
          <p:cNvPr id="19" name="Shape 17"/>
          <p:cNvSpPr/>
          <p:nvPr/>
        </p:nvSpPr>
        <p:spPr>
          <a:xfrm>
            <a:off x="1617290" y="1740071"/>
            <a:ext cx="548548" cy="194251"/>
          </a:xfrm>
          <a:prstGeom prst="line">
            <a:avLst/>
          </a:prstGeom>
          <a:noFill/>
          <a:ln w="13970">
            <a:solidFill>
              <a:srgbClr val="2E6E4E"/>
            </a:solidFill>
            <a:prstDash val="solid"/>
          </a:ln>
        </p:spPr>
      </p:sp>
      <p:sp>
        <p:nvSpPr>
          <p:cNvPr id="20" name="Shape 18"/>
          <p:cNvSpPr/>
          <p:nvPr/>
        </p:nvSpPr>
        <p:spPr>
          <a:xfrm>
            <a:off x="1617290" y="1740071"/>
            <a:ext cx="523032" cy="255100"/>
          </a:xfrm>
          <a:prstGeom prst="line">
            <a:avLst/>
          </a:prstGeom>
          <a:noFill/>
          <a:ln w="13970">
            <a:solidFill>
              <a:srgbClr val="2E6E4E"/>
            </a:solidFill>
            <a:prstDash val="solid"/>
          </a:ln>
        </p:spPr>
      </p:sp>
      <p:sp>
        <p:nvSpPr>
          <p:cNvPr id="21" name="Shape 19"/>
          <p:cNvSpPr/>
          <p:nvPr/>
        </p:nvSpPr>
        <p:spPr>
          <a:xfrm>
            <a:off x="1588193" y="1710975"/>
            <a:ext cx="58193" cy="58193"/>
          </a:xfrm>
          <a:prstGeom prst="ellipse">
            <a:avLst/>
          </a:prstGeom>
          <a:solidFill>
            <a:srgbClr val="2E6E4E"/>
          </a:solidFill>
          <a:ln/>
        </p:spPr>
      </p:sp>
      <p:sp>
        <p:nvSpPr>
          <p:cNvPr id="22" name="Shape 20"/>
          <p:cNvSpPr/>
          <p:nvPr/>
        </p:nvSpPr>
        <p:spPr>
          <a:xfrm>
            <a:off x="2047707" y="1693309"/>
            <a:ext cx="93524" cy="93524"/>
          </a:xfrm>
          <a:prstGeom prst="roundRect">
            <a:avLst>
              <a:gd name="adj" fmla="val 22222"/>
            </a:avLst>
          </a:prstGeom>
          <a:solidFill>
            <a:srgbClr val="2E9E6B"/>
          </a:solidFill>
          <a:ln/>
        </p:spPr>
      </p:sp>
      <p:sp>
        <p:nvSpPr>
          <p:cNvPr id="23" name="Text 21"/>
          <p:cNvSpPr txBox="1"/>
          <p:nvPr/>
        </p:nvSpPr>
        <p:spPr>
          <a:xfrm>
            <a:off x="1388675" y="1603957"/>
            <a:ext cx="207831" cy="272229"/>
          </a:xfrm>
          <a:prstGeom prst="rect">
            <a:avLst/>
          </a:prstGeom>
          <a:noFill/>
          <a:ln/>
        </p:spPr>
        <p:txBody>
          <a:bodyPr wrap="square" lIns="0" tIns="0" rIns="0" bIns="0" rtlCol="0" anchor="ctr"/>
          <a:lstStyle/>
          <a:p>
            <a:pPr algn="ctr" indent="0" marL="0">
              <a:buNone/>
            </a:pPr>
            <a:r>
              <a:rPr lang="en-US" sz="560" b="1" dirty="0">
                <a:solidFill>
                  <a:srgbClr val="2E6E4E"/>
                </a:solidFill>
                <a:latin typeface="Arial" pitchFamily="34" charset="0"/>
                <a:ea typeface="Arial" pitchFamily="34" charset="-122"/>
                <a:cs typeface="Arial" pitchFamily="34" charset="-120"/>
              </a:rPr>
              <a:t>9 條</a:t>
            </a:r>
            <a:endParaRPr lang="en-US" sz="560" dirty="0"/>
          </a:p>
        </p:txBody>
      </p:sp>
      <p:sp>
        <p:nvSpPr>
          <p:cNvPr id="24" name="Text 22"/>
          <p:cNvSpPr txBox="1"/>
          <p:nvPr/>
        </p:nvSpPr>
        <p:spPr>
          <a:xfrm>
            <a:off x="2125643" y="1617568"/>
            <a:ext cx="249397" cy="245006"/>
          </a:xfrm>
          <a:prstGeom prst="rect">
            <a:avLst/>
          </a:prstGeom>
          <a:noFill/>
          <a:ln/>
        </p:spPr>
        <p:txBody>
          <a:bodyPr wrap="square" lIns="0" tIns="0" rIns="0" bIns="0" rtlCol="0" anchor="ctr"/>
          <a:lstStyle/>
          <a:p>
            <a:pPr algn="l" indent="0" marL="0">
              <a:buNone/>
            </a:pPr>
            <a:r>
              <a:rPr lang="en-US" sz="560" b="1" dirty="0">
                <a:solidFill>
                  <a:srgbClr val="2E9E6B"/>
                </a:solidFill>
                <a:latin typeface="Arial" pitchFamily="34" charset="0"/>
                <a:ea typeface="Arial" pitchFamily="34" charset="-122"/>
                <a:cs typeface="Arial" pitchFamily="34" charset="-120"/>
              </a:rPr>
              <a:t>打到</a:t>
            </a:r>
            <a:endParaRPr lang="en-US" sz="560" dirty="0"/>
          </a:p>
        </p:txBody>
      </p:sp>
      <p:sp>
        <p:nvSpPr>
          <p:cNvPr id="25" name="Text 23"/>
          <p:cNvSpPr txBox="1"/>
          <p:nvPr/>
        </p:nvSpPr>
        <p:spPr>
          <a:xfrm>
            <a:off x="2749821" y="585439"/>
            <a:ext cx="5078684" cy="630220"/>
          </a:xfrm>
          <a:prstGeom prst="rect">
            <a:avLst/>
          </a:prstGeom>
          <a:noFill/>
          <a:ln/>
        </p:spPr>
        <p:txBody>
          <a:bodyPr wrap="square" lIns="0" tIns="0" rIns="0" bIns="0" rtlCol="0" anchor="t"/>
          <a:lstStyle/>
          <a:p>
            <a:pPr indent="0" marL="0">
              <a:lnSpc>
                <a:spcPct val="116000"/>
              </a:lnSpc>
              <a:buNone/>
            </a:pPr>
            <a:r>
              <a:rPr lang="en-US" sz="1440" b="1" dirty="0">
                <a:solidFill>
                  <a:srgbClr val="0B1F3A"/>
                </a:solidFill>
                <a:latin typeface="Arial" pitchFamily="34" charset="0"/>
                <a:ea typeface="Arial" pitchFamily="34" charset="-122"/>
                <a:cs typeface="Arial" pitchFamily="34" charset="-120"/>
              </a:rPr>
              <a:t>Số tia quyết định: cùng một góc nhìn, bạn chia thành bao nhiêu hướng để nhìn</a:t>
            </a:r>
            <a:endParaRPr lang="en-US" sz="1440" dirty="0"/>
          </a:p>
          <a:p>
            <a:pPr indent="0" marL="0">
              <a:lnSpc>
                <a:spcPct val="116000"/>
              </a:lnSpc>
              <a:buNone/>
            </a:pPr>
            <a:r>
              <a:rPr lang="en-US" sz="1000" dirty="0">
                <a:solidFill>
                  <a:srgbClr val="007F72"/>
                </a:solidFill>
                <a:latin typeface="微軟正黑體" pitchFamily="34" charset="0"/>
                <a:ea typeface="微軟正黑體" pitchFamily="34" charset="-122"/>
                <a:cs typeface="微軟正黑體" pitchFamily="34" charset="-120"/>
              </a:rPr>
              <a:t>射線數決定：同樣的視野，你切成幾個方向去看</a:t>
            </a:r>
            <a:endParaRPr lang="en-US" sz="1440" dirty="0"/>
          </a:p>
        </p:txBody>
      </p:sp>
      <p:sp>
        <p:nvSpPr>
          <p:cNvPr id="26" name="Shape 24"/>
          <p:cNvSpPr/>
          <p:nvPr/>
        </p:nvSpPr>
        <p:spPr>
          <a:xfrm>
            <a:off x="2749821" y="1288839"/>
            <a:ext cx="848887" cy="320216"/>
          </a:xfrm>
          <a:prstGeom prst="roundRect">
            <a:avLst>
              <a:gd name="adj" fmla="val 13712"/>
            </a:avLst>
          </a:prstGeom>
          <a:solidFill>
            <a:srgbClr val="0B1F3A"/>
          </a:solidFill>
          <a:ln/>
        </p:spPr>
      </p:sp>
      <p:sp>
        <p:nvSpPr>
          <p:cNvPr id="27" name="Text 25"/>
          <p:cNvSpPr txBox="1"/>
          <p:nvPr/>
        </p:nvSpPr>
        <p:spPr>
          <a:xfrm>
            <a:off x="2793729" y="1318111"/>
            <a:ext cx="761071" cy="276308"/>
          </a:xfrm>
          <a:prstGeom prst="rect">
            <a:avLst/>
          </a:prstGeom>
          <a:noFill/>
          <a:ln/>
        </p:spPr>
        <p:txBody>
          <a:bodyPr wrap="square" lIns="0" tIns="0" rIns="0" bIns="0" rtlCol="0" anchor="t"/>
          <a:lstStyle/>
          <a:p>
            <a:pPr algn="ctr" indent="0" marL="0">
              <a:lnSpc>
                <a:spcPct val="106000"/>
              </a:lnSpc>
              <a:buNone/>
            </a:pPr>
            <a:r>
              <a:rPr lang="en-US" sz="720" b="1" dirty="0">
                <a:solidFill>
                  <a:srgbClr val="FFFFFF"/>
                </a:solidFill>
                <a:latin typeface="Arial" pitchFamily="34" charset="0"/>
                <a:ea typeface="Arial" pitchFamily="34" charset="-122"/>
                <a:cs typeface="Arial" pitchFamily="34" charset="-120"/>
              </a:rPr>
              <a:t>Tên thông số</a:t>
            </a:r>
            <a:endParaRPr lang="en-US" sz="720" dirty="0"/>
          </a:p>
          <a:p>
            <a:pPr algn="ctr" indent="0" marL="0">
              <a:lnSpc>
                <a:spcPct val="106000"/>
              </a:lnSpc>
              <a:buNone/>
            </a:pPr>
            <a:r>
              <a:rPr lang="en-US" sz="680" dirty="0">
                <a:solidFill>
                  <a:srgbClr val="FFFFFF"/>
                </a:solidFill>
                <a:latin typeface="微軟正黑體" pitchFamily="34" charset="0"/>
                <a:ea typeface="微軟正黑體" pitchFamily="34" charset="-122"/>
                <a:cs typeface="微軟正黑體" pitchFamily="34" charset="-120"/>
              </a:rPr>
              <a:t>規格表上叫</a:t>
            </a:r>
            <a:endParaRPr lang="en-US" sz="720" dirty="0"/>
          </a:p>
        </p:txBody>
      </p:sp>
      <p:sp>
        <p:nvSpPr>
          <p:cNvPr id="28" name="Text 26"/>
          <p:cNvSpPr txBox="1"/>
          <p:nvPr/>
        </p:nvSpPr>
        <p:spPr>
          <a:xfrm>
            <a:off x="3715795" y="1288839"/>
            <a:ext cx="4112709" cy="364124"/>
          </a:xfrm>
          <a:prstGeom prst="rect">
            <a:avLst/>
          </a:prstGeom>
          <a:noFill/>
          <a:ln/>
        </p:spPr>
        <p:txBody>
          <a:bodyPr wrap="square" lIns="0" tIns="0" rIns="0" bIns="0" rtlCol="0" anchor="t"/>
          <a:lstStyle/>
          <a:p>
            <a:pPr indent="0" marL="0">
              <a:lnSpc>
                <a:spcPct val="126000"/>
              </a:lnSpc>
              <a:buNone/>
            </a:pPr>
            <a:r>
              <a:rPr lang="en-US" sz="880" dirty="0">
                <a:solidFill>
                  <a:srgbClr val="1A2733"/>
                </a:solidFill>
                <a:latin typeface="Arial" pitchFamily="34" charset="0"/>
                <a:ea typeface="Arial" pitchFamily="34" charset="-122"/>
                <a:cs typeface="Arial" pitchFamily="34" charset="-120"/>
              </a:rPr>
              <a:t>Resolution · độ phân giải</a:t>
            </a:r>
            <a:endParaRPr lang="en-US" sz="880" dirty="0"/>
          </a:p>
          <a:p>
            <a:pPr indent="0" marL="0">
              <a:lnSpc>
                <a:spcPct val="126000"/>
              </a:lnSpc>
              <a:buNone/>
            </a:pPr>
            <a:r>
              <a:rPr lang="en-US" sz="800" dirty="0">
                <a:solidFill>
                  <a:srgbClr val="5F7183"/>
                </a:solidFill>
                <a:latin typeface="微軟正黑體" pitchFamily="34" charset="0"/>
                <a:ea typeface="微軟正黑體" pitchFamily="34" charset="-122"/>
                <a:cs typeface="微軟正黑體" pitchFamily="34" charset="-120"/>
              </a:rPr>
              <a:t>Resolution　解析度</a:t>
            </a:r>
            <a:endParaRPr lang="en-US" sz="880" dirty="0"/>
          </a:p>
        </p:txBody>
      </p:sp>
      <p:sp>
        <p:nvSpPr>
          <p:cNvPr id="29" name="Shape 27"/>
          <p:cNvSpPr/>
          <p:nvPr/>
        </p:nvSpPr>
        <p:spPr>
          <a:xfrm>
            <a:off x="2749821" y="1682235"/>
            <a:ext cx="848887" cy="320216"/>
          </a:xfrm>
          <a:prstGeom prst="roundRect">
            <a:avLst>
              <a:gd name="adj" fmla="val 13712"/>
            </a:avLst>
          </a:prstGeom>
          <a:solidFill>
            <a:srgbClr val="007F72"/>
          </a:solidFill>
          <a:ln/>
        </p:spPr>
      </p:sp>
      <p:sp>
        <p:nvSpPr>
          <p:cNvPr id="30" name="Text 28"/>
          <p:cNvSpPr txBox="1"/>
          <p:nvPr/>
        </p:nvSpPr>
        <p:spPr>
          <a:xfrm>
            <a:off x="2793729" y="1711507"/>
            <a:ext cx="761071" cy="276308"/>
          </a:xfrm>
          <a:prstGeom prst="rect">
            <a:avLst/>
          </a:prstGeom>
          <a:noFill/>
          <a:ln/>
        </p:spPr>
        <p:txBody>
          <a:bodyPr wrap="square" lIns="0" tIns="0" rIns="0" bIns="0" rtlCol="0" anchor="t"/>
          <a:lstStyle/>
          <a:p>
            <a:pPr algn="ctr" indent="0" marL="0">
              <a:lnSpc>
                <a:spcPct val="106000"/>
              </a:lnSpc>
              <a:buNone/>
            </a:pPr>
            <a:r>
              <a:rPr lang="en-US" sz="720" b="1" dirty="0">
                <a:solidFill>
                  <a:srgbClr val="FFFFFF"/>
                </a:solidFill>
                <a:latin typeface="Arial" pitchFamily="34" charset="0"/>
                <a:ea typeface="Arial" pitchFamily="34" charset="-122"/>
                <a:cs typeface="Arial" pitchFamily="34" charset="-120"/>
              </a:rPr>
              <a:t>Nói cho dễ hiểu</a:t>
            </a:r>
            <a:endParaRPr lang="en-US" sz="720" dirty="0"/>
          </a:p>
          <a:p>
            <a:pPr algn="ctr" indent="0" marL="0">
              <a:lnSpc>
                <a:spcPct val="106000"/>
              </a:lnSpc>
              <a:buNone/>
            </a:pPr>
            <a:r>
              <a:rPr lang="en-US" sz="680" dirty="0">
                <a:solidFill>
                  <a:srgbClr val="FFFFFF"/>
                </a:solidFill>
                <a:latin typeface="微軟正黑體" pitchFamily="34" charset="0"/>
                <a:ea typeface="微軟正黑體" pitchFamily="34" charset="-122"/>
                <a:cs typeface="微軟正黑體" pitchFamily="34" charset="-120"/>
              </a:rPr>
              <a:t>白話講</a:t>
            </a:r>
            <a:endParaRPr lang="en-US" sz="720" dirty="0"/>
          </a:p>
        </p:txBody>
      </p:sp>
      <p:sp>
        <p:nvSpPr>
          <p:cNvPr id="31" name="Text 29"/>
          <p:cNvSpPr txBox="1"/>
          <p:nvPr/>
        </p:nvSpPr>
        <p:spPr>
          <a:xfrm>
            <a:off x="3715795" y="1682235"/>
            <a:ext cx="4112709" cy="508343"/>
          </a:xfrm>
          <a:prstGeom prst="rect">
            <a:avLst/>
          </a:prstGeom>
          <a:noFill/>
          <a:ln/>
        </p:spPr>
        <p:txBody>
          <a:bodyPr wrap="square" lIns="0" tIns="0" rIns="0" bIns="0" rtlCol="0" anchor="t"/>
          <a:lstStyle/>
          <a:p>
            <a:pPr indent="0" marL="0">
              <a:lnSpc>
                <a:spcPct val="126000"/>
              </a:lnSpc>
              <a:buNone/>
            </a:pPr>
            <a:r>
              <a:rPr lang="en-US" sz="880" dirty="0">
                <a:solidFill>
                  <a:srgbClr val="1A2733"/>
                </a:solidFill>
                <a:latin typeface="Arial" pitchFamily="34" charset="0"/>
                <a:ea typeface="Arial" pitchFamily="34" charset="-122"/>
                <a:cs typeface="Arial" pitchFamily="34" charset="-120"/>
              </a:rPr>
              <a:t>Một cái quạt có mấy nan. Càng nhiều nan thì khe hở trên mặt quạt càng nhỏ.</a:t>
            </a:r>
            <a:endParaRPr lang="en-US" sz="880" dirty="0"/>
          </a:p>
          <a:p>
            <a:pPr indent="0" marL="0">
              <a:lnSpc>
                <a:spcPct val="126000"/>
              </a:lnSpc>
              <a:buNone/>
            </a:pPr>
            <a:r>
              <a:rPr lang="en-US" sz="800" dirty="0">
                <a:solidFill>
                  <a:srgbClr val="5F7183"/>
                </a:solidFill>
                <a:latin typeface="微軟正黑體" pitchFamily="34" charset="0"/>
                <a:ea typeface="微軟正黑體" pitchFamily="34" charset="-122"/>
                <a:cs typeface="微軟正黑體" pitchFamily="34" charset="-120"/>
              </a:rPr>
              <a:t>一把扇子有幾根骨架。骨架愈多，扇面上的空隙愈小。</a:t>
            </a:r>
            <a:endParaRPr lang="en-US" sz="880" dirty="0"/>
          </a:p>
        </p:txBody>
      </p:sp>
      <p:sp>
        <p:nvSpPr>
          <p:cNvPr id="32" name="Shape 30"/>
          <p:cNvSpPr/>
          <p:nvPr/>
        </p:nvSpPr>
        <p:spPr>
          <a:xfrm>
            <a:off x="2749821" y="2219850"/>
            <a:ext cx="848887" cy="320216"/>
          </a:xfrm>
          <a:prstGeom prst="roundRect">
            <a:avLst>
              <a:gd name="adj" fmla="val 13712"/>
            </a:avLst>
          </a:prstGeom>
          <a:solidFill>
            <a:srgbClr val="FFB020"/>
          </a:solidFill>
          <a:ln/>
        </p:spPr>
      </p:sp>
      <p:sp>
        <p:nvSpPr>
          <p:cNvPr id="33" name="Text 31"/>
          <p:cNvSpPr txBox="1"/>
          <p:nvPr/>
        </p:nvSpPr>
        <p:spPr>
          <a:xfrm>
            <a:off x="2793729" y="2249122"/>
            <a:ext cx="761071" cy="276308"/>
          </a:xfrm>
          <a:prstGeom prst="rect">
            <a:avLst/>
          </a:prstGeom>
          <a:noFill/>
          <a:ln/>
        </p:spPr>
        <p:txBody>
          <a:bodyPr wrap="square" lIns="0" tIns="0" rIns="0" bIns="0" rtlCol="0" anchor="t"/>
          <a:lstStyle/>
          <a:p>
            <a:pPr algn="ctr" indent="0" marL="0">
              <a:lnSpc>
                <a:spcPct val="106000"/>
              </a:lnSpc>
              <a:buNone/>
            </a:pPr>
            <a:r>
              <a:rPr lang="en-US" sz="720" b="1" dirty="0">
                <a:solidFill>
                  <a:srgbClr val="3A2A00"/>
                </a:solidFill>
                <a:latin typeface="Arial" pitchFamily="34" charset="0"/>
                <a:ea typeface="Arial" pitchFamily="34" charset="-122"/>
                <a:cs typeface="Arial" pitchFamily="34" charset="-120"/>
              </a:rPr>
              <a:t>Mô phỏng của ta</a:t>
            </a:r>
            <a:endParaRPr lang="en-US" sz="720" dirty="0"/>
          </a:p>
          <a:p>
            <a:pPr algn="ctr" indent="0" marL="0">
              <a:lnSpc>
                <a:spcPct val="106000"/>
              </a:lnSpc>
              <a:buNone/>
            </a:pPr>
            <a:r>
              <a:rPr lang="en-US" sz="680" dirty="0">
                <a:solidFill>
                  <a:srgbClr val="3A2A00"/>
                </a:solidFill>
                <a:latin typeface="微軟正黑體" pitchFamily="34" charset="0"/>
                <a:ea typeface="微軟正黑體" pitchFamily="34" charset="-122"/>
                <a:cs typeface="微軟正黑體" pitchFamily="34" charset="-120"/>
              </a:rPr>
              <a:t>我們的模擬器</a:t>
            </a:r>
            <a:endParaRPr lang="en-US" sz="720" dirty="0"/>
          </a:p>
        </p:txBody>
      </p:sp>
      <p:sp>
        <p:nvSpPr>
          <p:cNvPr id="34" name="Text 32"/>
          <p:cNvSpPr txBox="1"/>
          <p:nvPr/>
        </p:nvSpPr>
        <p:spPr>
          <a:xfrm>
            <a:off x="3715795" y="2219850"/>
            <a:ext cx="4112709" cy="364124"/>
          </a:xfrm>
          <a:prstGeom prst="rect">
            <a:avLst/>
          </a:prstGeom>
          <a:noFill/>
          <a:ln/>
        </p:spPr>
        <p:txBody>
          <a:bodyPr wrap="square" lIns="0" tIns="0" rIns="0" bIns="0" rtlCol="0" anchor="t"/>
          <a:lstStyle/>
          <a:p>
            <a:pPr indent="0" marL="0">
              <a:lnSpc>
                <a:spcPct val="126000"/>
              </a:lnSpc>
              <a:buNone/>
            </a:pPr>
            <a:r>
              <a:rPr lang="en-US" sz="880" dirty="0">
                <a:solidFill>
                  <a:srgbClr val="1A2733"/>
                </a:solidFill>
                <a:latin typeface="Arial" pitchFamily="34" charset="0"/>
                <a:ea typeface="Arial" pitchFamily="34" charset="-122"/>
                <a:cs typeface="Arial" pitchFamily="34" charset="-120"/>
              </a:rPr>
              <a:t>3 đến 60 tia, bạn tự kéo</a:t>
            </a:r>
            <a:endParaRPr lang="en-US" sz="880" dirty="0"/>
          </a:p>
          <a:p>
            <a:pPr indent="0" marL="0">
              <a:lnSpc>
                <a:spcPct val="126000"/>
              </a:lnSpc>
              <a:buNone/>
            </a:pPr>
            <a:r>
              <a:rPr lang="en-US" sz="800" dirty="0">
                <a:solidFill>
                  <a:srgbClr val="5F7183"/>
                </a:solidFill>
                <a:latin typeface="微軟正黑體" pitchFamily="34" charset="0"/>
                <a:ea typeface="微軟正黑體" pitchFamily="34" charset="-122"/>
                <a:cs typeface="微軟正黑體" pitchFamily="34" charset="-120"/>
              </a:rPr>
              <a:t>3 到 60 條，自己拉</a:t>
            </a:r>
            <a:endParaRPr lang="en-US" sz="880" dirty="0"/>
          </a:p>
        </p:txBody>
      </p:sp>
      <p:sp>
        <p:nvSpPr>
          <p:cNvPr id="35" name="Shape 33"/>
          <p:cNvSpPr/>
          <p:nvPr/>
        </p:nvSpPr>
        <p:spPr>
          <a:xfrm>
            <a:off x="2749821" y="2613247"/>
            <a:ext cx="848887" cy="320216"/>
          </a:xfrm>
          <a:prstGeom prst="roundRect">
            <a:avLst>
              <a:gd name="adj" fmla="val 13712"/>
            </a:avLst>
          </a:prstGeom>
          <a:solidFill>
            <a:srgbClr val="0B1F3A"/>
          </a:solidFill>
          <a:ln/>
        </p:spPr>
      </p:sp>
      <p:sp>
        <p:nvSpPr>
          <p:cNvPr id="36" name="Text 34"/>
          <p:cNvSpPr txBox="1"/>
          <p:nvPr/>
        </p:nvSpPr>
        <p:spPr>
          <a:xfrm>
            <a:off x="2793729" y="2642519"/>
            <a:ext cx="761071" cy="276308"/>
          </a:xfrm>
          <a:prstGeom prst="rect">
            <a:avLst/>
          </a:prstGeom>
          <a:noFill/>
          <a:ln/>
        </p:spPr>
        <p:txBody>
          <a:bodyPr wrap="square" lIns="0" tIns="0" rIns="0" bIns="0" rtlCol="0" anchor="t"/>
          <a:lstStyle/>
          <a:p>
            <a:pPr algn="ctr" indent="0" marL="0">
              <a:lnSpc>
                <a:spcPct val="106000"/>
              </a:lnSpc>
              <a:buNone/>
            </a:pPr>
            <a:r>
              <a:rPr lang="en-US" sz="720" b="1" dirty="0">
                <a:solidFill>
                  <a:srgbClr val="FFFFFF"/>
                </a:solidFill>
                <a:latin typeface="Arial" pitchFamily="34" charset="0"/>
                <a:ea typeface="Arial" pitchFamily="34" charset="-122"/>
                <a:cs typeface="Arial" pitchFamily="34" charset="-120"/>
              </a:rPr>
              <a:t>LiDAR xe thật</a:t>
            </a:r>
            <a:endParaRPr lang="en-US" sz="720" dirty="0"/>
          </a:p>
          <a:p>
            <a:pPr algn="ctr" indent="0" marL="0">
              <a:lnSpc>
                <a:spcPct val="106000"/>
              </a:lnSpc>
              <a:buNone/>
            </a:pPr>
            <a:r>
              <a:rPr lang="en-US" sz="680" dirty="0">
                <a:solidFill>
                  <a:srgbClr val="FFFFFF"/>
                </a:solidFill>
                <a:latin typeface="微軟正黑體" pitchFamily="34" charset="0"/>
                <a:ea typeface="微軟正黑體" pitchFamily="34" charset="-122"/>
                <a:cs typeface="微軟正黑體" pitchFamily="34" charset="-120"/>
              </a:rPr>
              <a:t>真車的光達</a:t>
            </a:r>
            <a:endParaRPr lang="en-US" sz="720" dirty="0"/>
          </a:p>
        </p:txBody>
      </p:sp>
      <p:sp>
        <p:nvSpPr>
          <p:cNvPr id="37" name="Text 35"/>
          <p:cNvSpPr txBox="1"/>
          <p:nvPr/>
        </p:nvSpPr>
        <p:spPr>
          <a:xfrm>
            <a:off x="3715795" y="2613247"/>
            <a:ext cx="4112709" cy="364124"/>
          </a:xfrm>
          <a:prstGeom prst="rect">
            <a:avLst/>
          </a:prstGeom>
          <a:noFill/>
          <a:ln/>
        </p:spPr>
        <p:txBody>
          <a:bodyPr wrap="square" lIns="0" tIns="0" rIns="0" bIns="0" rtlCol="0" anchor="t"/>
          <a:lstStyle/>
          <a:p>
            <a:pPr indent="0" marL="0">
              <a:lnSpc>
                <a:spcPct val="126000"/>
              </a:lnSpc>
              <a:buNone/>
            </a:pPr>
            <a:r>
              <a:rPr lang="en-US" sz="880" dirty="0">
                <a:solidFill>
                  <a:srgbClr val="1A2733"/>
                </a:solidFill>
                <a:latin typeface="Arial" pitchFamily="34" charset="0"/>
                <a:ea typeface="Arial" pitchFamily="34" charset="-122"/>
                <a:cs typeface="Arial" pitchFamily="34" charset="-120"/>
              </a:rPr>
              <a:t>Vài trăm nghìn đến vài triệu điểm mỗi giây</a:t>
            </a:r>
            <a:endParaRPr lang="en-US" sz="880" dirty="0"/>
          </a:p>
          <a:p>
            <a:pPr indent="0" marL="0">
              <a:lnSpc>
                <a:spcPct val="126000"/>
              </a:lnSpc>
              <a:buNone/>
            </a:pPr>
            <a:r>
              <a:rPr lang="en-US" sz="800" dirty="0">
                <a:solidFill>
                  <a:srgbClr val="5F7183"/>
                </a:solidFill>
                <a:latin typeface="微軟正黑體" pitchFamily="34" charset="0"/>
                <a:ea typeface="微軟正黑體" pitchFamily="34" charset="-122"/>
                <a:cs typeface="微軟正黑體" pitchFamily="34" charset="-120"/>
              </a:rPr>
              <a:t>每秒幾十萬到幾百萬個點</a:t>
            </a:r>
            <a:endParaRPr lang="en-US" sz="880" dirty="0"/>
          </a:p>
        </p:txBody>
      </p:sp>
      <p:sp>
        <p:nvSpPr>
          <p:cNvPr id="38" name="Shape 36"/>
          <p:cNvSpPr/>
          <p:nvPr/>
        </p:nvSpPr>
        <p:spPr>
          <a:xfrm>
            <a:off x="1315495" y="3146735"/>
            <a:ext cx="6513009" cy="453715"/>
          </a:xfrm>
          <a:prstGeom prst="roundRect">
            <a:avLst>
              <a:gd name="adj" fmla="val 14516"/>
            </a:avLst>
          </a:prstGeom>
          <a:solidFill>
            <a:srgbClr val="FFF6E3"/>
          </a:solidFill>
          <a:ln w="12700">
            <a:solidFill>
              <a:srgbClr val="FFB020"/>
            </a:solidFill>
            <a:prstDash val="solid"/>
          </a:ln>
        </p:spPr>
      </p:sp>
      <p:sp>
        <p:nvSpPr>
          <p:cNvPr id="39" name="Text 37"/>
          <p:cNvSpPr txBox="1"/>
          <p:nvPr/>
        </p:nvSpPr>
        <p:spPr>
          <a:xfrm>
            <a:off x="1461855" y="3197961"/>
            <a:ext cx="6220290" cy="365899"/>
          </a:xfrm>
          <a:prstGeom prst="rect">
            <a:avLst/>
          </a:prstGeom>
          <a:noFill/>
          <a:ln/>
        </p:spPr>
        <p:txBody>
          <a:bodyPr wrap="square" lIns="0" tIns="0" rIns="0" bIns="0" rtlCol="0" anchor="t"/>
          <a:lstStyle/>
          <a:p>
            <a:pPr indent="0" marL="0">
              <a:lnSpc>
                <a:spcPct val="116000"/>
              </a:lnSpc>
              <a:buNone/>
            </a:pPr>
            <a:r>
              <a:rPr lang="en-US" sz="960" b="1" dirty="0">
                <a:solidFill>
                  <a:srgbClr val="7A4E00"/>
                </a:solidFill>
                <a:latin typeface="Arial" pitchFamily="34" charset="0"/>
                <a:ea typeface="Arial" pitchFamily="34" charset="-122"/>
                <a:cs typeface="Arial" pitchFamily="34" charset="-120"/>
              </a:rPr>
              <a:t>Đây là thông số dễ hiểu nhất trong ba cái: càng nhiều thì càng rõ. Trang sau xem kéo nhỏ thì sao.</a:t>
            </a:r>
            <a:endParaRPr lang="en-US" sz="960" dirty="0"/>
          </a:p>
          <a:p>
            <a:pPr indent="0" marL="0">
              <a:lnSpc>
                <a:spcPct val="116000"/>
              </a:lnSpc>
              <a:buNone/>
            </a:pPr>
            <a:r>
              <a:rPr lang="en-US" sz="880" dirty="0">
                <a:solidFill>
                  <a:srgbClr val="7A4E00"/>
                </a:solidFill>
                <a:latin typeface="微軟正黑體" pitchFamily="34" charset="0"/>
                <a:ea typeface="微軟正黑體" pitchFamily="34" charset="-122"/>
                <a:cs typeface="微軟正黑體" pitchFamily="34" charset="-120"/>
              </a:rPr>
              <a:t>這是三個規格裡最好懂的一個：愈多就愈清楚。下一頁看它調小會怎樣。</a:t>
            </a:r>
            <a:endParaRPr lang="en-US" sz="960" dirty="0"/>
          </a:p>
        </p:txBody>
      </p:sp>
      <p:pic>
        <p:nvPicPr>
          <p:cNvPr id="41" name="Image 0" descr="/Users/tsengchenghsun/Class/carClass/Claude outputs/第四週(10-1)/src/logo.png">    </p:cNvPr>
          <p:cNvPicPr>
            <a:picLocks noChangeAspect="1"/>
          </p:cNvPicPr>
          <p:nvPr/>
        </p:nvPicPr>
        <p:blipFill>
          <a:blip r:embed="rId1"/>
          <a:stretch>
            <a:fillRect/>
          </a:stretch>
        </p:blipFill>
        <p:spPr>
          <a:xfrm>
            <a:off x="7221112" y="87816"/>
            <a:ext cx="878159" cy="194025"/>
          </a:xfrm>
          <a:prstGeom prst="rect">
            <a:avLst/>
          </a:prstGeom>
        </p:spPr>
      </p:pic>
      <p:sp>
        <p:nvSpPr>
          <p:cNvPr id="42" name="Text 38"/>
          <p:cNvSpPr txBox="1"/>
          <p:nvPr/>
        </p:nvSpPr>
        <p:spPr>
          <a:xfrm>
            <a:off x="1000822" y="102452"/>
            <a:ext cx="658619" cy="204904"/>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6 / 28</a:t>
            </a:r>
            <a:endParaRPr lang="en-US" sz="720" dirty="0"/>
          </a:p>
        </p:txBody>
      </p:sp>
      <p:sp>
        <p:nvSpPr>
          <p:cNvPr id="43" name="Text 39"/>
          <p:cNvSpPr txBox="1"/>
          <p:nvPr/>
        </p:nvSpPr>
        <p:spPr>
          <a:xfrm>
            <a:off x="1681395" y="102452"/>
            <a:ext cx="1609957" cy="204904"/>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Tiết 1 · 第 1 節</a:t>
            </a:r>
            <a:endParaRPr lang="en-US" sz="7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1069617" y="0"/>
          <a:ext cx="1" cy="1"/>
          <a:chOff x="0" y="0"/>
          <a:chExt cx="0" cy="0"/>
        </a:xfrm>
      </p:grpSpPr>
      <p:sp>
        <p:nvSpPr>
          <p:cNvPr id="2" name="Shape 0"/>
          <p:cNvSpPr/>
          <p:nvPr/>
        </p:nvSpPr>
        <p:spPr>
          <a:xfrm>
            <a:off x="6253144" y="-1050715"/>
            <a:ext cx="3222193" cy="3222193"/>
          </a:xfrm>
          <a:prstGeom prst="ellipse">
            <a:avLst/>
          </a:prstGeom>
          <a:solidFill>
            <a:srgbClr val="13314F"/>
          </a:solidFill>
          <a:ln w="12700">
            <a:solidFill>
              <a:srgbClr val="13314F"/>
            </a:solidFill>
            <a:prstDash val="solid"/>
          </a:ln>
        </p:spPr>
      </p:sp>
      <p:sp>
        <p:nvSpPr>
          <p:cNvPr id="3" name="Shape 1"/>
          <p:cNvSpPr/>
          <p:nvPr/>
        </p:nvSpPr>
        <p:spPr>
          <a:xfrm>
            <a:off x="7303859" y="1611096"/>
            <a:ext cx="1821239" cy="1821239"/>
          </a:xfrm>
          <a:prstGeom prst="ellipse">
            <a:avLst/>
          </a:prstGeom>
          <a:solidFill>
            <a:srgbClr val="007F72">
              <a:alpha val="28000"/>
            </a:srgbClr>
          </a:solidFill>
          <a:ln/>
        </p:spPr>
      </p:sp>
      <p:sp>
        <p:nvSpPr>
          <p:cNvPr id="4" name="Text 2"/>
          <p:cNvSpPr txBox="1"/>
          <p:nvPr/>
        </p:nvSpPr>
        <p:spPr>
          <a:xfrm>
            <a:off x="1454879" y="364248"/>
            <a:ext cx="5183527" cy="210143"/>
          </a:xfrm>
          <a:prstGeom prst="rect">
            <a:avLst/>
          </a:prstGeom>
          <a:noFill/>
          <a:ln/>
        </p:spPr>
        <p:txBody>
          <a:bodyPr wrap="square" lIns="0" tIns="0" rIns="0" bIns="0" rtlCol="0" anchor="ctr"/>
          <a:lstStyle/>
          <a:p>
            <a:pPr indent="0" marL="0">
              <a:buNone/>
            </a:pPr>
            <a:r>
              <a:rPr lang="en-US" sz="960" b="1" dirty="0">
                <a:solidFill>
                  <a:srgbClr val="FFB020"/>
                </a:solidFill>
                <a:latin typeface="Arial" pitchFamily="34" charset="0"/>
                <a:ea typeface="Arial" pitchFamily="34" charset="-122"/>
                <a:cs typeface="Arial" pitchFamily="34" charset="-120"/>
              </a:rPr>
              <a:t>1 / 3　Kéo nhỏ thì sao · 調小會怎樣</a:t>
            </a:r>
            <a:endParaRPr lang="en-US" sz="960" dirty="0"/>
          </a:p>
        </p:txBody>
      </p:sp>
      <p:sp>
        <p:nvSpPr>
          <p:cNvPr id="5" name="Text 3"/>
          <p:cNvSpPr txBox="1"/>
          <p:nvPr/>
        </p:nvSpPr>
        <p:spPr>
          <a:xfrm>
            <a:off x="1454879" y="602410"/>
            <a:ext cx="6164195" cy="770524"/>
          </a:xfrm>
          <a:prstGeom prst="rect">
            <a:avLst/>
          </a:prstGeom>
          <a:noFill/>
          <a:ln/>
        </p:spPr>
        <p:txBody>
          <a:bodyPr wrap="square" lIns="0" tIns="0" rIns="0" bIns="0" rtlCol="0" anchor="t"/>
          <a:lstStyle/>
          <a:p>
            <a:pPr indent="0" marL="0">
              <a:lnSpc>
                <a:spcPct val="120000"/>
              </a:lnSpc>
              <a:buNone/>
            </a:pPr>
            <a:r>
              <a:rPr lang="en-US" sz="1530" b="1" dirty="0">
                <a:solidFill>
                  <a:srgbClr val="FFFFFF"/>
                </a:solidFill>
                <a:latin typeface="Arial" pitchFamily="34" charset="0"/>
                <a:ea typeface="Arial" pitchFamily="34" charset="-122"/>
                <a:cs typeface="Arial" pitchFamily="34" charset="-120"/>
              </a:rPr>
              <a:t>Kéo nhỏ số tia, khe giữa hai tia rộng ra</a:t>
            </a:r>
            <a:endParaRPr lang="en-US" sz="1530" dirty="0"/>
          </a:p>
          <a:p>
            <a:pPr indent="0" marL="0">
              <a:lnSpc>
                <a:spcPct val="120000"/>
              </a:lnSpc>
              <a:buNone/>
            </a:pPr>
            <a:r>
              <a:rPr lang="en-US" sz="1030" dirty="0">
                <a:solidFill>
                  <a:srgbClr val="AFC3D4"/>
                </a:solidFill>
                <a:latin typeface="微軟正黑體" pitchFamily="34" charset="0"/>
                <a:ea typeface="微軟正黑體" pitchFamily="34" charset="-122"/>
                <a:cs typeface="微軟正黑體" pitchFamily="34" charset="-120"/>
              </a:rPr>
              <a:t>射線數調小，兩條射線之間的縫就變寬</a:t>
            </a:r>
            <a:endParaRPr lang="en-US" sz="1530" dirty="0"/>
          </a:p>
        </p:txBody>
      </p:sp>
      <p:sp>
        <p:nvSpPr>
          <p:cNvPr id="6" name="Shape 4"/>
          <p:cNvSpPr/>
          <p:nvPr/>
        </p:nvSpPr>
        <p:spPr>
          <a:xfrm>
            <a:off x="1454879" y="1232839"/>
            <a:ext cx="3432336" cy="1863268"/>
          </a:xfrm>
          <a:prstGeom prst="roundRect">
            <a:avLst>
              <a:gd name="adj" fmla="val 3759"/>
            </a:avLst>
          </a:prstGeom>
          <a:solidFill>
            <a:srgbClr val="FFFFFF"/>
          </a:solidFill>
          <a:ln w="12700">
            <a:solidFill>
              <a:srgbClr val="DBE3EA"/>
            </a:solidFill>
            <a:prstDash val="solid"/>
          </a:ln>
          <a:effectLst>
            <a:outerShdw sx="100000" sy="100000" kx="0" ky="0" algn="bl" rotWithShape="0" blurRad="76200" dist="12700" dir="5400000">
              <a:srgbClr val="9AAAB8">
                <a:alpha val="28000"/>
              </a:srgbClr>
            </a:outerShdw>
          </a:effectLst>
        </p:spPr>
      </p:sp>
      <p:pic>
        <p:nvPicPr>
          <p:cNvPr id="7" name="Image 0" descr="/Users/tsengchenghsun/Class/carClass/Claude outputs/第四週(10-1)/src/img/w4/gap_rays.gif">    </p:cNvPr>
          <p:cNvPicPr>
            <a:picLocks noChangeAspect="1"/>
          </p:cNvPicPr>
          <p:nvPr/>
        </p:nvPicPr>
        <p:blipFill>
          <a:blip r:embed="rId1"/>
          <a:stretch>
            <a:fillRect/>
          </a:stretch>
        </p:blipFill>
        <p:spPr>
          <a:xfrm>
            <a:off x="1700046" y="1281872"/>
            <a:ext cx="2942002" cy="1765201"/>
          </a:xfrm>
          <a:prstGeom prst="rect">
            <a:avLst/>
          </a:prstGeom>
        </p:spPr>
      </p:pic>
      <p:sp>
        <p:nvSpPr>
          <p:cNvPr id="8" name="Shape 5"/>
          <p:cNvSpPr/>
          <p:nvPr/>
        </p:nvSpPr>
        <p:spPr>
          <a:xfrm>
            <a:off x="5097357" y="1253853"/>
            <a:ext cx="238162" cy="238162"/>
          </a:xfrm>
          <a:prstGeom prst="ellipse">
            <a:avLst/>
          </a:prstGeom>
          <a:solidFill>
            <a:srgbClr val="00A896"/>
          </a:solidFill>
          <a:ln/>
        </p:spPr>
      </p:sp>
      <p:sp>
        <p:nvSpPr>
          <p:cNvPr id="9" name="Text 6"/>
          <p:cNvSpPr txBox="1"/>
          <p:nvPr/>
        </p:nvSpPr>
        <p:spPr>
          <a:xfrm>
            <a:off x="5097357" y="1267863"/>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1</a:t>
            </a:r>
            <a:endParaRPr lang="en-US" sz="920" dirty="0"/>
          </a:p>
        </p:txBody>
      </p:sp>
      <p:sp>
        <p:nvSpPr>
          <p:cNvPr id="10" name="Text 7"/>
          <p:cNvSpPr txBox="1"/>
          <p:nvPr/>
        </p:nvSpPr>
        <p:spPr>
          <a:xfrm>
            <a:off x="5419577" y="1232839"/>
            <a:ext cx="2269544"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Nhiều tia: luôn có một tia trúng chiếc xe máy — máy tính thấy nó.</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射線多的時候，一定有一條打中機車——電腦看得到它。</a:t>
            </a:r>
            <a:endParaRPr lang="en-US" sz="880" dirty="0"/>
          </a:p>
        </p:txBody>
      </p:sp>
      <p:sp>
        <p:nvSpPr>
          <p:cNvPr id="11" name="Shape 8"/>
          <p:cNvSpPr/>
          <p:nvPr/>
        </p:nvSpPr>
        <p:spPr>
          <a:xfrm>
            <a:off x="5097357" y="1789209"/>
            <a:ext cx="238162" cy="238162"/>
          </a:xfrm>
          <a:prstGeom prst="ellipse">
            <a:avLst/>
          </a:prstGeom>
          <a:solidFill>
            <a:srgbClr val="00A896"/>
          </a:solidFill>
          <a:ln/>
        </p:spPr>
      </p:sp>
      <p:sp>
        <p:nvSpPr>
          <p:cNvPr id="12" name="Text 9"/>
          <p:cNvSpPr txBox="1"/>
          <p:nvPr/>
        </p:nvSpPr>
        <p:spPr>
          <a:xfrm>
            <a:off x="5097357" y="1803219"/>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2</a:t>
            </a:r>
            <a:endParaRPr lang="en-US" sz="920" dirty="0"/>
          </a:p>
        </p:txBody>
      </p:sp>
      <p:sp>
        <p:nvSpPr>
          <p:cNvPr id="13" name="Text 10"/>
          <p:cNvSpPr txBox="1"/>
          <p:nvPr/>
        </p:nvSpPr>
        <p:spPr>
          <a:xfrm>
            <a:off x="5419577" y="1768195"/>
            <a:ext cx="2269544"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Càng ít tia, khe càng rộng. Khe rộng hơn xe máy thì cả chiếc lọt vào giữa.</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射線愈少，縫愈寬。縫比機車寬的時候，整台掉進去。</a:t>
            </a:r>
            <a:endParaRPr lang="en-US" sz="880" dirty="0"/>
          </a:p>
        </p:txBody>
      </p:sp>
      <p:sp>
        <p:nvSpPr>
          <p:cNvPr id="14" name="Shape 11"/>
          <p:cNvSpPr/>
          <p:nvPr/>
        </p:nvSpPr>
        <p:spPr>
          <a:xfrm>
            <a:off x="5097357" y="2324564"/>
            <a:ext cx="238162" cy="238162"/>
          </a:xfrm>
          <a:prstGeom prst="ellipse">
            <a:avLst/>
          </a:prstGeom>
          <a:solidFill>
            <a:srgbClr val="00A896"/>
          </a:solidFill>
          <a:ln/>
        </p:spPr>
      </p:sp>
      <p:sp>
        <p:nvSpPr>
          <p:cNvPr id="15" name="Text 12"/>
          <p:cNvSpPr txBox="1"/>
          <p:nvPr/>
        </p:nvSpPr>
        <p:spPr>
          <a:xfrm>
            <a:off x="5097357" y="2338574"/>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3</a:t>
            </a:r>
            <a:endParaRPr lang="en-US" sz="920" dirty="0"/>
          </a:p>
        </p:txBody>
      </p:sp>
      <p:sp>
        <p:nvSpPr>
          <p:cNvPr id="16" name="Text 13"/>
          <p:cNvSpPr txBox="1"/>
          <p:nvPr/>
        </p:nvSpPr>
        <p:spPr>
          <a:xfrm>
            <a:off x="5419577" y="2303550"/>
            <a:ext cx="2269544"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Còn 9 tia thì khe đã 6,5 m, xe máy kể cả gương chỉ 0,8 m — trong hình nó xám đi.</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剩 9 條時縫已經 6.5 公尺，機車連後照鏡才 0.8 公尺——圖上它變灰色。</a:t>
            </a:r>
            <a:endParaRPr lang="en-US" sz="880" dirty="0"/>
          </a:p>
        </p:txBody>
      </p:sp>
      <p:sp>
        <p:nvSpPr>
          <p:cNvPr id="17" name="Shape 14"/>
          <p:cNvSpPr/>
          <p:nvPr/>
        </p:nvSpPr>
        <p:spPr>
          <a:xfrm>
            <a:off x="1454879" y="3166154"/>
            <a:ext cx="6234242" cy="434296"/>
          </a:xfrm>
          <a:prstGeom prst="roundRect">
            <a:avLst>
              <a:gd name="adj" fmla="val 12903"/>
            </a:avLst>
          </a:prstGeom>
          <a:solidFill>
            <a:srgbClr val="13314F"/>
          </a:solidFill>
          <a:ln w="12700">
            <a:solidFill>
              <a:srgbClr val="FFB020"/>
            </a:solidFill>
            <a:prstDash val="solid"/>
          </a:ln>
        </p:spPr>
      </p:sp>
      <p:sp>
        <p:nvSpPr>
          <p:cNvPr id="18" name="Text 15"/>
          <p:cNvSpPr txBox="1"/>
          <p:nvPr/>
        </p:nvSpPr>
        <p:spPr>
          <a:xfrm>
            <a:off x="1580965" y="3201178"/>
            <a:ext cx="5982071" cy="378257"/>
          </a:xfrm>
          <a:prstGeom prst="rect">
            <a:avLst/>
          </a:prstGeom>
          <a:noFill/>
          <a:ln/>
        </p:spPr>
        <p:txBody>
          <a:bodyPr wrap="square" lIns="0" tIns="0" rIns="0" bIns="0" rtlCol="0" anchor="t"/>
          <a:lstStyle/>
          <a:p>
            <a:pPr indent="0" marL="0">
              <a:lnSpc>
                <a:spcPct val="114000"/>
              </a:lnSpc>
              <a:buNone/>
            </a:pPr>
            <a:r>
              <a:rPr lang="en-US" sz="880" b="1" dirty="0">
                <a:solidFill>
                  <a:srgbClr val="FFB020"/>
                </a:solidFill>
                <a:latin typeface="Arial" pitchFamily="34" charset="0"/>
                <a:ea typeface="Arial" pitchFamily="34" charset="-122"/>
                <a:cs typeface="Arial" pitchFamily="34" charset="-120"/>
              </a:rPr>
              <a:t>Tuần trước: «không phải người nhỏ đi, mà là khe giữa các tia rộng ra» — đúng chuyện này, chỉ khác chiều.</a:t>
            </a:r>
            <a:endParaRPr lang="en-US" sz="880" dirty="0"/>
          </a:p>
          <a:p>
            <a:pPr indent="0" marL="0">
              <a:lnSpc>
                <a:spcPct val="114000"/>
              </a:lnSpc>
              <a:buNone/>
            </a:pPr>
            <a:r>
              <a:rPr lang="en-US" sz="800" dirty="0">
                <a:solidFill>
                  <a:srgbClr val="FFB020"/>
                </a:solidFill>
                <a:latin typeface="微軟正黑體" pitchFamily="34" charset="0"/>
                <a:ea typeface="微軟正黑體" pitchFamily="34" charset="-122"/>
                <a:cs typeface="微軟正黑體" pitchFamily="34" charset="-120"/>
              </a:rPr>
              <a:t>上週那句「不是人變小了，是線跟線之間的縫變寬了」——就是這件事，只是換一個方向。</a:t>
            </a:r>
            <a:endParaRPr lang="en-US" sz="880" dirty="0"/>
          </a:p>
        </p:txBody>
      </p:sp>
      <p:sp>
        <p:nvSpPr>
          <p:cNvPr id="20" name="Text 16"/>
          <p:cNvSpPr txBox="1"/>
          <p:nvPr/>
        </p:nvSpPr>
        <p:spPr>
          <a:xfrm>
            <a:off x="1153674" y="98067"/>
            <a:ext cx="63042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7 / 28</a:t>
            </a:r>
            <a:endParaRPr lang="en-US" sz="690" dirty="0"/>
          </a:p>
        </p:txBody>
      </p:sp>
      <p:sp>
        <p:nvSpPr>
          <p:cNvPr id="21" name="Text 17"/>
          <p:cNvSpPr txBox="1"/>
          <p:nvPr/>
        </p:nvSpPr>
        <p:spPr>
          <a:xfrm>
            <a:off x="1805117" y="98067"/>
            <a:ext cx="154104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Tiết 1 · 第 1 節</a:t>
            </a:r>
            <a:endParaRPr lang="en-US" sz="6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1069617" y="0"/>
          <a:ext cx="1" cy="1"/>
          <a:chOff x="0" y="0"/>
          <a:chExt cx="0" cy="0"/>
        </a:xfrm>
      </p:grpSpPr>
      <p:sp>
        <p:nvSpPr>
          <p:cNvPr id="2" name="Shape 0"/>
          <p:cNvSpPr/>
          <p:nvPr/>
        </p:nvSpPr>
        <p:spPr>
          <a:xfrm>
            <a:off x="6253144" y="-1050715"/>
            <a:ext cx="3222193" cy="3222193"/>
          </a:xfrm>
          <a:prstGeom prst="ellipse">
            <a:avLst/>
          </a:prstGeom>
          <a:solidFill>
            <a:srgbClr val="13314F"/>
          </a:solidFill>
          <a:ln w="12700">
            <a:solidFill>
              <a:srgbClr val="13314F"/>
            </a:solidFill>
            <a:prstDash val="solid"/>
          </a:ln>
        </p:spPr>
      </p:sp>
      <p:sp>
        <p:nvSpPr>
          <p:cNvPr id="3" name="Shape 1"/>
          <p:cNvSpPr/>
          <p:nvPr/>
        </p:nvSpPr>
        <p:spPr>
          <a:xfrm>
            <a:off x="7303859" y="1611096"/>
            <a:ext cx="1821239" cy="1821239"/>
          </a:xfrm>
          <a:prstGeom prst="ellipse">
            <a:avLst/>
          </a:prstGeom>
          <a:solidFill>
            <a:srgbClr val="007F72">
              <a:alpha val="28000"/>
            </a:srgbClr>
          </a:solidFill>
          <a:ln/>
        </p:spPr>
      </p:sp>
      <p:sp>
        <p:nvSpPr>
          <p:cNvPr id="4" name="Text 2"/>
          <p:cNvSpPr txBox="1"/>
          <p:nvPr/>
        </p:nvSpPr>
        <p:spPr>
          <a:xfrm>
            <a:off x="1454879" y="364248"/>
            <a:ext cx="5183527" cy="210143"/>
          </a:xfrm>
          <a:prstGeom prst="rect">
            <a:avLst/>
          </a:prstGeom>
          <a:noFill/>
          <a:ln/>
        </p:spPr>
        <p:txBody>
          <a:bodyPr wrap="square" lIns="0" tIns="0" rIns="0" bIns="0" rtlCol="0" anchor="ctr"/>
          <a:lstStyle/>
          <a:p>
            <a:pPr indent="0" marL="0">
              <a:buNone/>
            </a:pPr>
            <a:r>
              <a:rPr lang="en-US" sz="960" b="1" dirty="0">
                <a:solidFill>
                  <a:srgbClr val="FFB020"/>
                </a:solidFill>
                <a:latin typeface="Arial" pitchFamily="34" charset="0"/>
                <a:ea typeface="Arial" pitchFamily="34" charset="-122"/>
                <a:cs typeface="Arial" pitchFamily="34" charset="-120"/>
              </a:rPr>
              <a:t>2 / 3　Chiều dài tia · 射線長度</a:t>
            </a:r>
            <a:endParaRPr lang="en-US" sz="960" dirty="0"/>
          </a:p>
        </p:txBody>
      </p:sp>
      <p:sp>
        <p:nvSpPr>
          <p:cNvPr id="5" name="Text 3"/>
          <p:cNvSpPr txBox="1"/>
          <p:nvPr/>
        </p:nvSpPr>
        <p:spPr>
          <a:xfrm>
            <a:off x="1454879" y="602410"/>
            <a:ext cx="6164195" cy="770524"/>
          </a:xfrm>
          <a:prstGeom prst="rect">
            <a:avLst/>
          </a:prstGeom>
          <a:noFill/>
          <a:ln/>
        </p:spPr>
        <p:txBody>
          <a:bodyPr wrap="square" lIns="0" tIns="0" rIns="0" bIns="0" rtlCol="0" anchor="t"/>
          <a:lstStyle/>
          <a:p>
            <a:pPr indent="0" marL="0">
              <a:lnSpc>
                <a:spcPct val="120000"/>
              </a:lnSpc>
              <a:buNone/>
            </a:pPr>
            <a:r>
              <a:rPr lang="en-US" sz="1530" b="1" dirty="0">
                <a:solidFill>
                  <a:srgbClr val="FFFFFF"/>
                </a:solidFill>
                <a:latin typeface="Arial" pitchFamily="34" charset="0"/>
                <a:ea typeface="Arial" pitchFamily="34" charset="-122"/>
                <a:cs typeface="Arial" pitchFamily="34" charset="-120"/>
              </a:rPr>
              <a:t>Chiều dài tia chính là «tầm đo» trên bảng thông số: cảm biến này nhìn được bao nhiêu mét</a:t>
            </a:r>
            <a:endParaRPr lang="en-US" sz="1530" dirty="0"/>
          </a:p>
          <a:p>
            <a:pPr indent="0" marL="0">
              <a:lnSpc>
                <a:spcPct val="120000"/>
              </a:lnSpc>
              <a:buNone/>
            </a:pPr>
            <a:r>
              <a:rPr lang="en-US" sz="1030" dirty="0">
                <a:solidFill>
                  <a:srgbClr val="AFC3D4"/>
                </a:solidFill>
                <a:latin typeface="微軟正黑體" pitchFamily="34" charset="0"/>
                <a:ea typeface="微軟正黑體" pitchFamily="34" charset="-122"/>
                <a:cs typeface="微軟正黑體" pitchFamily="34" charset="-120"/>
              </a:rPr>
              <a:t>射線長度就是規格表上的「測距範圍」：這顆感測器看得到幾公尺</a:t>
            </a:r>
            <a:endParaRPr lang="en-US" sz="1530" dirty="0"/>
          </a:p>
        </p:txBody>
      </p:sp>
      <p:sp>
        <p:nvSpPr>
          <p:cNvPr id="6" name="Shape 4"/>
          <p:cNvSpPr/>
          <p:nvPr/>
        </p:nvSpPr>
        <p:spPr>
          <a:xfrm>
            <a:off x="1454879" y="1387356"/>
            <a:ext cx="3432336" cy="1708751"/>
          </a:xfrm>
          <a:prstGeom prst="roundRect">
            <a:avLst>
              <a:gd name="adj" fmla="val 4099"/>
            </a:avLst>
          </a:prstGeom>
          <a:solidFill>
            <a:srgbClr val="FFFFFF"/>
          </a:solidFill>
          <a:ln w="12700">
            <a:solidFill>
              <a:srgbClr val="DBE3EA"/>
            </a:solidFill>
            <a:prstDash val="solid"/>
          </a:ln>
          <a:effectLst>
            <a:outerShdw sx="100000" sy="100000" kx="0" ky="0" algn="bl" rotWithShape="0" blurRad="76200" dist="12700" dir="5400000">
              <a:srgbClr val="9AAAB8">
                <a:alpha val="28000"/>
              </a:srgbClr>
            </a:outerShdw>
          </a:effectLst>
        </p:spPr>
      </p:sp>
      <p:pic>
        <p:nvPicPr>
          <p:cNvPr id="7" name="Image 0" descr="/Users/tsengchenghsun/Class/carClass/Claude outputs/第四週(10-1)/src/img/w4/range.gif">    </p:cNvPr>
          <p:cNvPicPr>
            <a:picLocks noChangeAspect="1"/>
          </p:cNvPicPr>
          <p:nvPr/>
        </p:nvPicPr>
        <p:blipFill>
          <a:blip r:embed="rId1"/>
          <a:stretch>
            <a:fillRect/>
          </a:stretch>
        </p:blipFill>
        <p:spPr>
          <a:xfrm>
            <a:off x="1828810" y="1436389"/>
            <a:ext cx="2684474" cy="1610684"/>
          </a:xfrm>
          <a:prstGeom prst="rect">
            <a:avLst/>
          </a:prstGeom>
        </p:spPr>
      </p:pic>
      <p:sp>
        <p:nvSpPr>
          <p:cNvPr id="8" name="Shape 5"/>
          <p:cNvSpPr/>
          <p:nvPr/>
        </p:nvSpPr>
        <p:spPr>
          <a:xfrm>
            <a:off x="5097357" y="1408370"/>
            <a:ext cx="238162" cy="238162"/>
          </a:xfrm>
          <a:prstGeom prst="ellipse">
            <a:avLst/>
          </a:prstGeom>
          <a:solidFill>
            <a:srgbClr val="00A896"/>
          </a:solidFill>
          <a:ln/>
        </p:spPr>
      </p:sp>
      <p:sp>
        <p:nvSpPr>
          <p:cNvPr id="9" name="Text 6"/>
          <p:cNvSpPr txBox="1"/>
          <p:nvPr/>
        </p:nvSpPr>
        <p:spPr>
          <a:xfrm>
            <a:off x="5097357" y="1422380"/>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1</a:t>
            </a:r>
            <a:endParaRPr lang="en-US" sz="920" dirty="0"/>
          </a:p>
        </p:txBody>
      </p:sp>
      <p:sp>
        <p:nvSpPr>
          <p:cNvPr id="10" name="Text 7"/>
          <p:cNvSpPr txBox="1"/>
          <p:nvPr/>
        </p:nvSpPr>
        <p:spPr>
          <a:xfrm>
            <a:off x="5419577" y="1387356"/>
            <a:ext cx="2269544"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Trên bảng thông số nó tên là Range — tầm đo.</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規格表上它叫 Range，測距範圍。</a:t>
            </a:r>
            <a:endParaRPr lang="en-US" sz="880" dirty="0"/>
          </a:p>
        </p:txBody>
      </p:sp>
      <p:sp>
        <p:nvSpPr>
          <p:cNvPr id="11" name="Shape 8"/>
          <p:cNvSpPr/>
          <p:nvPr/>
        </p:nvSpPr>
        <p:spPr>
          <a:xfrm>
            <a:off x="5097357" y="1829343"/>
            <a:ext cx="238162" cy="238162"/>
          </a:xfrm>
          <a:prstGeom prst="ellipse">
            <a:avLst/>
          </a:prstGeom>
          <a:solidFill>
            <a:srgbClr val="00A896"/>
          </a:solidFill>
          <a:ln/>
        </p:spPr>
      </p:sp>
      <p:sp>
        <p:nvSpPr>
          <p:cNvPr id="12" name="Text 9"/>
          <p:cNvSpPr txBox="1"/>
          <p:nvPr/>
        </p:nvSpPr>
        <p:spPr>
          <a:xfrm>
            <a:off x="5097357" y="1843353"/>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2</a:t>
            </a:r>
            <a:endParaRPr lang="en-US" sz="920" dirty="0"/>
          </a:p>
        </p:txBody>
      </p:sp>
      <p:sp>
        <p:nvSpPr>
          <p:cNvPr id="13" name="Text 10"/>
          <p:cNvSpPr txBox="1"/>
          <p:nvPr/>
        </p:nvSpPr>
        <p:spPr>
          <a:xfrm>
            <a:off x="5419577" y="1808329"/>
            <a:ext cx="2269544"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Mô phỏng của ta: 10 đến 120 m. LiDAR xe thật: 150 đến 300 m.</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我們的模擬器：10 到 120 公尺。真車的光達：150 到 300 公尺。</a:t>
            </a:r>
            <a:endParaRPr lang="en-US" sz="880" dirty="0"/>
          </a:p>
        </p:txBody>
      </p:sp>
      <p:sp>
        <p:nvSpPr>
          <p:cNvPr id="14" name="Shape 11"/>
          <p:cNvSpPr/>
          <p:nvPr/>
        </p:nvSpPr>
        <p:spPr>
          <a:xfrm>
            <a:off x="5097357" y="2364699"/>
            <a:ext cx="238162" cy="238162"/>
          </a:xfrm>
          <a:prstGeom prst="ellipse">
            <a:avLst/>
          </a:prstGeom>
          <a:solidFill>
            <a:srgbClr val="00A896"/>
          </a:solidFill>
          <a:ln/>
        </p:spPr>
      </p:sp>
      <p:sp>
        <p:nvSpPr>
          <p:cNvPr id="15" name="Text 12"/>
          <p:cNvSpPr txBox="1"/>
          <p:nvPr/>
        </p:nvSpPr>
        <p:spPr>
          <a:xfrm>
            <a:off x="5097357" y="2378708"/>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3</a:t>
            </a:r>
            <a:endParaRPr lang="en-US" sz="920" dirty="0"/>
          </a:p>
        </p:txBody>
      </p:sp>
      <p:sp>
        <p:nvSpPr>
          <p:cNvPr id="16" name="Text 13"/>
          <p:cNvSpPr txBox="1"/>
          <p:nvPr/>
        </p:nvSpPr>
        <p:spPr>
          <a:xfrm>
            <a:off x="5419577" y="2343684"/>
            <a:ext cx="2269544"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Xa hơn con số đó thì vật đó không tồn tại — trong hình nó xám đi.</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超過那個數字的東西就不存在——圖上它會變灰。</a:t>
            </a:r>
            <a:endParaRPr lang="en-US" sz="880" dirty="0"/>
          </a:p>
        </p:txBody>
      </p:sp>
      <p:sp>
        <p:nvSpPr>
          <p:cNvPr id="17" name="Shape 14"/>
          <p:cNvSpPr/>
          <p:nvPr/>
        </p:nvSpPr>
        <p:spPr>
          <a:xfrm>
            <a:off x="1454879" y="3166154"/>
            <a:ext cx="6234242" cy="434296"/>
          </a:xfrm>
          <a:prstGeom prst="roundRect">
            <a:avLst>
              <a:gd name="adj" fmla="val 12903"/>
            </a:avLst>
          </a:prstGeom>
          <a:solidFill>
            <a:srgbClr val="13314F"/>
          </a:solidFill>
          <a:ln w="12700">
            <a:solidFill>
              <a:srgbClr val="FFB020"/>
            </a:solidFill>
            <a:prstDash val="solid"/>
          </a:ln>
        </p:spPr>
      </p:sp>
      <p:sp>
        <p:nvSpPr>
          <p:cNvPr id="18" name="Text 15"/>
          <p:cNvSpPr txBox="1"/>
          <p:nvPr/>
        </p:nvSpPr>
        <p:spPr>
          <a:xfrm>
            <a:off x="1580965" y="3201178"/>
            <a:ext cx="5982071" cy="378257"/>
          </a:xfrm>
          <a:prstGeom prst="rect">
            <a:avLst/>
          </a:prstGeom>
          <a:noFill/>
          <a:ln/>
        </p:spPr>
        <p:txBody>
          <a:bodyPr wrap="square" lIns="0" tIns="0" rIns="0" bIns="0" rtlCol="0" anchor="t"/>
          <a:lstStyle/>
          <a:p>
            <a:pPr indent="0" marL="0">
              <a:lnSpc>
                <a:spcPct val="114000"/>
              </a:lnSpc>
              <a:buNone/>
            </a:pPr>
            <a:r>
              <a:rPr lang="en-US" sz="880" b="1" dirty="0">
                <a:solidFill>
                  <a:srgbClr val="FFB020"/>
                </a:solidFill>
                <a:latin typeface="Arial" pitchFamily="34" charset="0"/>
                <a:ea typeface="Arial" pitchFamily="34" charset="-122"/>
                <a:cs typeface="Arial" pitchFamily="34" charset="-120"/>
              </a:rPr>
              <a:t>Con số này không được tự chọn: quãng đường phanh (stopping distance) quyết định nó. Lát nữa ta tính ra.</a:t>
            </a:r>
            <a:endParaRPr lang="en-US" sz="880" dirty="0"/>
          </a:p>
          <a:p>
            <a:pPr indent="0" marL="0">
              <a:lnSpc>
                <a:spcPct val="114000"/>
              </a:lnSpc>
              <a:buNone/>
            </a:pPr>
            <a:r>
              <a:rPr lang="en-US" sz="800" dirty="0">
                <a:solidFill>
                  <a:srgbClr val="FFB020"/>
                </a:solidFill>
                <a:latin typeface="微軟正黑體" pitchFamily="34" charset="0"/>
                <a:ea typeface="微軟正黑體" pitchFamily="34" charset="-122"/>
                <a:cs typeface="微軟正黑體" pitchFamily="34" charset="-120"/>
              </a:rPr>
              <a:t>這個數字不能隨便選：煞停距離（stopping distance）決定它。等一下就算給各位看。</a:t>
            </a:r>
            <a:endParaRPr lang="en-US" sz="880" dirty="0"/>
          </a:p>
        </p:txBody>
      </p:sp>
      <p:sp>
        <p:nvSpPr>
          <p:cNvPr id="20" name="Text 16"/>
          <p:cNvSpPr txBox="1"/>
          <p:nvPr/>
        </p:nvSpPr>
        <p:spPr>
          <a:xfrm>
            <a:off x="1153674" y="98067"/>
            <a:ext cx="63042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8 / 28</a:t>
            </a:r>
            <a:endParaRPr lang="en-US" sz="690" dirty="0"/>
          </a:p>
        </p:txBody>
      </p:sp>
      <p:sp>
        <p:nvSpPr>
          <p:cNvPr id="21" name="Text 17"/>
          <p:cNvSpPr txBox="1"/>
          <p:nvPr/>
        </p:nvSpPr>
        <p:spPr>
          <a:xfrm>
            <a:off x="1805117" y="98067"/>
            <a:ext cx="154104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Tiết 1 · 第 1 節</a:t>
            </a:r>
            <a:endParaRPr lang="en-US" sz="69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913006" y="0"/>
          <a:ext cx="1" cy="1"/>
          <a:chOff x="0" y="0"/>
          <a:chExt cx="0" cy="0"/>
        </a:xfrm>
      </p:grpSpPr>
      <p:sp>
        <p:nvSpPr>
          <p:cNvPr id="2" name="Text 0"/>
          <p:cNvSpPr txBox="1"/>
          <p:nvPr/>
        </p:nvSpPr>
        <p:spPr>
          <a:xfrm>
            <a:off x="1315495" y="292720"/>
            <a:ext cx="6513009" cy="219540"/>
          </a:xfrm>
          <a:prstGeom prst="rect">
            <a:avLst/>
          </a:prstGeom>
          <a:noFill/>
          <a:ln/>
        </p:spPr>
        <p:txBody>
          <a:bodyPr wrap="square" lIns="0" tIns="0" rIns="0" bIns="0" rtlCol="0" anchor="ctr"/>
          <a:lstStyle/>
          <a:p>
            <a:pPr indent="0" marL="0">
              <a:buNone/>
            </a:pPr>
            <a:r>
              <a:rPr lang="en-US" sz="1040" b="1" dirty="0">
                <a:solidFill>
                  <a:srgbClr val="007F72"/>
                </a:solidFill>
                <a:latin typeface="Arial" pitchFamily="34" charset="0"/>
                <a:ea typeface="Arial" pitchFamily="34" charset="-122"/>
                <a:cs typeface="Arial" pitchFamily="34" charset="-120"/>
              </a:rPr>
              <a:t>3 / 3　Góc quét · 張角</a:t>
            </a:r>
            <a:endParaRPr lang="en-US" sz="1040" dirty="0"/>
          </a:p>
        </p:txBody>
      </p:sp>
      <p:sp>
        <p:nvSpPr>
          <p:cNvPr id="3" name="Shape 1"/>
          <p:cNvSpPr/>
          <p:nvPr/>
        </p:nvSpPr>
        <p:spPr>
          <a:xfrm>
            <a:off x="1315495" y="658619"/>
            <a:ext cx="1185514" cy="1536777"/>
          </a:xfrm>
          <a:prstGeom prst="roundRect">
            <a:avLst>
              <a:gd name="adj" fmla="val 7407"/>
            </a:avLst>
          </a:prstGeom>
          <a:solidFill>
            <a:srgbClr val="F4F7FA"/>
          </a:solidFill>
          <a:ln w="12700">
            <a:solidFill>
              <a:srgbClr val="DBE3EA"/>
            </a:solidFill>
            <a:prstDash val="solid"/>
          </a:ln>
        </p:spPr>
      </p:sp>
      <p:sp>
        <p:nvSpPr>
          <p:cNvPr id="4" name="Shape 2"/>
          <p:cNvSpPr/>
          <p:nvPr/>
        </p:nvSpPr>
        <p:spPr>
          <a:xfrm flipV="1">
            <a:off x="1638073" y="946964"/>
            <a:ext cx="513913" cy="166980"/>
          </a:xfrm>
          <a:prstGeom prst="line">
            <a:avLst/>
          </a:prstGeom>
          <a:noFill/>
          <a:ln w="13970">
            <a:solidFill>
              <a:srgbClr val="1F4E79"/>
            </a:solidFill>
            <a:prstDash val="solid"/>
          </a:ln>
        </p:spPr>
      </p:sp>
      <p:sp>
        <p:nvSpPr>
          <p:cNvPr id="5" name="Shape 3"/>
          <p:cNvSpPr/>
          <p:nvPr/>
        </p:nvSpPr>
        <p:spPr>
          <a:xfrm flipV="1">
            <a:off x="1638073" y="1001597"/>
            <a:ext cx="528552" cy="112348"/>
          </a:xfrm>
          <a:prstGeom prst="line">
            <a:avLst/>
          </a:prstGeom>
          <a:noFill/>
          <a:ln w="13970">
            <a:solidFill>
              <a:srgbClr val="1F4E79"/>
            </a:solidFill>
            <a:prstDash val="solid"/>
          </a:ln>
        </p:spPr>
      </p:sp>
      <p:sp>
        <p:nvSpPr>
          <p:cNvPr id="6" name="Shape 4"/>
          <p:cNvSpPr/>
          <p:nvPr/>
        </p:nvSpPr>
        <p:spPr>
          <a:xfrm flipV="1">
            <a:off x="1638073" y="1057461"/>
            <a:ext cx="537400" cy="56483"/>
          </a:xfrm>
          <a:prstGeom prst="line">
            <a:avLst/>
          </a:prstGeom>
          <a:noFill/>
          <a:ln w="13970">
            <a:solidFill>
              <a:srgbClr val="1F4E79"/>
            </a:solidFill>
            <a:prstDash val="solid"/>
          </a:ln>
        </p:spPr>
      </p:sp>
      <p:sp>
        <p:nvSpPr>
          <p:cNvPr id="7" name="Shape 5"/>
          <p:cNvSpPr/>
          <p:nvPr/>
        </p:nvSpPr>
        <p:spPr>
          <a:xfrm>
            <a:off x="1638073" y="1113944"/>
            <a:ext cx="540360" cy="1"/>
          </a:xfrm>
          <a:prstGeom prst="line">
            <a:avLst/>
          </a:prstGeom>
          <a:noFill/>
          <a:ln w="13970">
            <a:solidFill>
              <a:srgbClr val="1F4E79"/>
            </a:solidFill>
            <a:prstDash val="solid"/>
          </a:ln>
        </p:spPr>
      </p:sp>
      <p:sp>
        <p:nvSpPr>
          <p:cNvPr id="8" name="Shape 6"/>
          <p:cNvSpPr/>
          <p:nvPr/>
        </p:nvSpPr>
        <p:spPr>
          <a:xfrm>
            <a:off x="1638073" y="1113944"/>
            <a:ext cx="537400" cy="56483"/>
          </a:xfrm>
          <a:prstGeom prst="line">
            <a:avLst/>
          </a:prstGeom>
          <a:noFill/>
          <a:ln w="13970">
            <a:solidFill>
              <a:srgbClr val="1F4E79"/>
            </a:solidFill>
            <a:prstDash val="solid"/>
          </a:ln>
        </p:spPr>
      </p:sp>
      <p:sp>
        <p:nvSpPr>
          <p:cNvPr id="9" name="Shape 7"/>
          <p:cNvSpPr/>
          <p:nvPr/>
        </p:nvSpPr>
        <p:spPr>
          <a:xfrm>
            <a:off x="1638073" y="1113944"/>
            <a:ext cx="528552" cy="112348"/>
          </a:xfrm>
          <a:prstGeom prst="line">
            <a:avLst/>
          </a:prstGeom>
          <a:noFill/>
          <a:ln w="13970">
            <a:solidFill>
              <a:srgbClr val="1F4E79"/>
            </a:solidFill>
            <a:prstDash val="solid"/>
          </a:ln>
        </p:spPr>
      </p:sp>
      <p:sp>
        <p:nvSpPr>
          <p:cNvPr id="10" name="Shape 8"/>
          <p:cNvSpPr/>
          <p:nvPr/>
        </p:nvSpPr>
        <p:spPr>
          <a:xfrm>
            <a:off x="1638073" y="1113944"/>
            <a:ext cx="513913" cy="166980"/>
          </a:xfrm>
          <a:prstGeom prst="line">
            <a:avLst/>
          </a:prstGeom>
          <a:noFill/>
          <a:ln w="13970">
            <a:solidFill>
              <a:srgbClr val="1F4E79"/>
            </a:solidFill>
            <a:prstDash val="solid"/>
          </a:ln>
        </p:spPr>
      </p:sp>
      <p:sp>
        <p:nvSpPr>
          <p:cNvPr id="11" name="Shape 9"/>
          <p:cNvSpPr/>
          <p:nvPr/>
        </p:nvSpPr>
        <p:spPr>
          <a:xfrm>
            <a:off x="1608976" y="1084848"/>
            <a:ext cx="58193" cy="58193"/>
          </a:xfrm>
          <a:prstGeom prst="ellipse">
            <a:avLst/>
          </a:prstGeom>
          <a:solidFill>
            <a:srgbClr val="1F4E79"/>
          </a:solidFill>
          <a:ln/>
        </p:spPr>
      </p:sp>
      <p:sp>
        <p:nvSpPr>
          <p:cNvPr id="12" name="Text 10"/>
          <p:cNvSpPr txBox="1"/>
          <p:nvPr/>
        </p:nvSpPr>
        <p:spPr>
          <a:xfrm>
            <a:off x="1388675" y="991441"/>
            <a:ext cx="187048" cy="245006"/>
          </a:xfrm>
          <a:prstGeom prst="rect">
            <a:avLst/>
          </a:prstGeom>
          <a:noFill/>
          <a:ln/>
        </p:spPr>
        <p:txBody>
          <a:bodyPr wrap="square" lIns="0" tIns="0" rIns="0" bIns="0" rtlCol="0" anchor="ctr"/>
          <a:lstStyle/>
          <a:p>
            <a:pPr algn="ctr" indent="0" marL="0">
              <a:buNone/>
            </a:pPr>
            <a:r>
              <a:rPr lang="en-US" sz="600" b="1" dirty="0">
                <a:solidFill>
                  <a:srgbClr val="1F4E79"/>
                </a:solidFill>
                <a:latin typeface="Arial" pitchFamily="34" charset="0"/>
                <a:ea typeface="Arial" pitchFamily="34" charset="-122"/>
                <a:cs typeface="Arial" pitchFamily="34" charset="-120"/>
              </a:rPr>
              <a:t>窄</a:t>
            </a:r>
            <a:endParaRPr lang="en-US" sz="600" dirty="0"/>
          </a:p>
        </p:txBody>
      </p:sp>
      <p:sp>
        <p:nvSpPr>
          <p:cNvPr id="13" name="Shape 11"/>
          <p:cNvSpPr/>
          <p:nvPr/>
        </p:nvSpPr>
        <p:spPr>
          <a:xfrm flipV="1">
            <a:off x="1638073" y="1262961"/>
            <a:ext cx="253684" cy="477110"/>
          </a:xfrm>
          <a:prstGeom prst="line">
            <a:avLst/>
          </a:prstGeom>
          <a:noFill/>
          <a:ln w="13970">
            <a:solidFill>
              <a:srgbClr val="1F4E79"/>
            </a:solidFill>
            <a:prstDash val="solid"/>
          </a:ln>
        </p:spPr>
      </p:sp>
      <p:sp>
        <p:nvSpPr>
          <p:cNvPr id="14" name="Shape 12"/>
          <p:cNvSpPr/>
          <p:nvPr/>
        </p:nvSpPr>
        <p:spPr>
          <a:xfrm flipV="1">
            <a:off x="1638073" y="1383197"/>
            <a:ext cx="405746" cy="356875"/>
          </a:xfrm>
          <a:prstGeom prst="line">
            <a:avLst/>
          </a:prstGeom>
          <a:noFill/>
          <a:ln w="13970">
            <a:solidFill>
              <a:srgbClr val="1F4E79"/>
            </a:solidFill>
            <a:prstDash val="solid"/>
          </a:ln>
        </p:spPr>
      </p:sp>
      <p:sp>
        <p:nvSpPr>
          <p:cNvPr id="15" name="Shape 13"/>
          <p:cNvSpPr/>
          <p:nvPr/>
        </p:nvSpPr>
        <p:spPr>
          <a:xfrm flipV="1">
            <a:off x="1638073" y="1549361"/>
            <a:ext cx="505588" cy="190709"/>
          </a:xfrm>
          <a:prstGeom prst="line">
            <a:avLst/>
          </a:prstGeom>
          <a:noFill/>
          <a:ln w="13970">
            <a:solidFill>
              <a:srgbClr val="1F4E79"/>
            </a:solidFill>
            <a:prstDash val="solid"/>
          </a:ln>
        </p:spPr>
      </p:sp>
      <p:sp>
        <p:nvSpPr>
          <p:cNvPr id="16" name="Shape 14"/>
          <p:cNvSpPr/>
          <p:nvPr/>
        </p:nvSpPr>
        <p:spPr>
          <a:xfrm>
            <a:off x="1638073" y="1740071"/>
            <a:ext cx="540360" cy="1"/>
          </a:xfrm>
          <a:prstGeom prst="line">
            <a:avLst/>
          </a:prstGeom>
          <a:noFill/>
          <a:ln w="13970">
            <a:solidFill>
              <a:srgbClr val="1F4E79"/>
            </a:solidFill>
            <a:prstDash val="solid"/>
          </a:ln>
        </p:spPr>
      </p:sp>
      <p:sp>
        <p:nvSpPr>
          <p:cNvPr id="17" name="Shape 15"/>
          <p:cNvSpPr/>
          <p:nvPr/>
        </p:nvSpPr>
        <p:spPr>
          <a:xfrm>
            <a:off x="1638073" y="1740071"/>
            <a:ext cx="505588" cy="190709"/>
          </a:xfrm>
          <a:prstGeom prst="line">
            <a:avLst/>
          </a:prstGeom>
          <a:noFill/>
          <a:ln w="13970">
            <a:solidFill>
              <a:srgbClr val="1F4E79"/>
            </a:solidFill>
            <a:prstDash val="solid"/>
          </a:ln>
        </p:spPr>
      </p:sp>
      <p:sp>
        <p:nvSpPr>
          <p:cNvPr id="18" name="Shape 16"/>
          <p:cNvSpPr/>
          <p:nvPr/>
        </p:nvSpPr>
        <p:spPr>
          <a:xfrm>
            <a:off x="1638073" y="1740071"/>
            <a:ext cx="405746" cy="356875"/>
          </a:xfrm>
          <a:prstGeom prst="line">
            <a:avLst/>
          </a:prstGeom>
          <a:noFill/>
          <a:ln w="13970">
            <a:solidFill>
              <a:srgbClr val="1F4E79"/>
            </a:solidFill>
            <a:prstDash val="solid"/>
          </a:ln>
        </p:spPr>
      </p:sp>
      <p:sp>
        <p:nvSpPr>
          <p:cNvPr id="19" name="Shape 17"/>
          <p:cNvSpPr/>
          <p:nvPr/>
        </p:nvSpPr>
        <p:spPr>
          <a:xfrm>
            <a:off x="1638073" y="1740071"/>
            <a:ext cx="253684" cy="477110"/>
          </a:xfrm>
          <a:prstGeom prst="line">
            <a:avLst/>
          </a:prstGeom>
          <a:noFill/>
          <a:ln w="13970">
            <a:solidFill>
              <a:srgbClr val="1F4E79"/>
            </a:solidFill>
            <a:prstDash val="solid"/>
          </a:ln>
        </p:spPr>
      </p:sp>
      <p:sp>
        <p:nvSpPr>
          <p:cNvPr id="20" name="Shape 18"/>
          <p:cNvSpPr/>
          <p:nvPr/>
        </p:nvSpPr>
        <p:spPr>
          <a:xfrm>
            <a:off x="1608976" y="1710975"/>
            <a:ext cx="58193" cy="58193"/>
          </a:xfrm>
          <a:prstGeom prst="ellipse">
            <a:avLst/>
          </a:prstGeom>
          <a:solidFill>
            <a:srgbClr val="1F4E79"/>
          </a:solidFill>
          <a:ln/>
        </p:spPr>
      </p:sp>
      <p:sp>
        <p:nvSpPr>
          <p:cNvPr id="21" name="Text 19"/>
          <p:cNvSpPr txBox="1"/>
          <p:nvPr/>
        </p:nvSpPr>
        <p:spPr>
          <a:xfrm>
            <a:off x="1388675" y="1617568"/>
            <a:ext cx="187048" cy="245006"/>
          </a:xfrm>
          <a:prstGeom prst="rect">
            <a:avLst/>
          </a:prstGeom>
          <a:noFill/>
          <a:ln/>
        </p:spPr>
        <p:txBody>
          <a:bodyPr wrap="square" lIns="0" tIns="0" rIns="0" bIns="0" rtlCol="0" anchor="ctr"/>
          <a:lstStyle/>
          <a:p>
            <a:pPr algn="ctr" indent="0" marL="0">
              <a:buNone/>
            </a:pPr>
            <a:r>
              <a:rPr lang="en-US" sz="600" b="1" dirty="0">
                <a:solidFill>
                  <a:srgbClr val="1F4E79"/>
                </a:solidFill>
                <a:latin typeface="Arial" pitchFamily="34" charset="0"/>
                <a:ea typeface="Arial" pitchFamily="34" charset="-122"/>
                <a:cs typeface="Arial" pitchFamily="34" charset="-120"/>
              </a:rPr>
              <a:t>寬</a:t>
            </a:r>
            <a:endParaRPr lang="en-US" sz="600" dirty="0"/>
          </a:p>
        </p:txBody>
      </p:sp>
      <p:sp>
        <p:nvSpPr>
          <p:cNvPr id="22" name="Shape 20"/>
          <p:cNvSpPr/>
          <p:nvPr/>
        </p:nvSpPr>
        <p:spPr>
          <a:xfrm>
            <a:off x="2021783" y="1776046"/>
            <a:ext cx="83132" cy="83132"/>
          </a:xfrm>
          <a:prstGeom prst="roundRect">
            <a:avLst>
              <a:gd name="adj" fmla="val 22500"/>
            </a:avLst>
          </a:prstGeom>
          <a:solidFill>
            <a:srgbClr val="D9463E"/>
          </a:solidFill>
          <a:ln/>
        </p:spPr>
      </p:sp>
      <p:sp>
        <p:nvSpPr>
          <p:cNvPr id="23" name="Text 21"/>
          <p:cNvSpPr txBox="1"/>
          <p:nvPr/>
        </p:nvSpPr>
        <p:spPr>
          <a:xfrm>
            <a:off x="2032951" y="1930631"/>
            <a:ext cx="394878" cy="190561"/>
          </a:xfrm>
          <a:prstGeom prst="rect">
            <a:avLst/>
          </a:prstGeom>
          <a:noFill/>
          <a:ln/>
        </p:spPr>
        <p:txBody>
          <a:bodyPr wrap="square" lIns="0" tIns="0" rIns="0" bIns="0" rtlCol="0" anchor="ctr"/>
          <a:lstStyle/>
          <a:p>
            <a:pPr algn="ctr" indent="0" marL="0">
              <a:buNone/>
            </a:pPr>
            <a:r>
              <a:rPr lang="en-US" sz="520" b="1" dirty="0">
                <a:solidFill>
                  <a:srgbClr val="D9463E"/>
                </a:solidFill>
                <a:latin typeface="Arial" pitchFamily="34" charset="0"/>
                <a:ea typeface="Arial" pitchFamily="34" charset="-122"/>
                <a:cs typeface="Arial" pitchFamily="34" charset="-120"/>
              </a:rPr>
              <a:t>縫變寬</a:t>
            </a:r>
            <a:endParaRPr lang="en-US" sz="520" dirty="0"/>
          </a:p>
        </p:txBody>
      </p:sp>
      <p:sp>
        <p:nvSpPr>
          <p:cNvPr id="24" name="Text 22"/>
          <p:cNvSpPr txBox="1"/>
          <p:nvPr/>
        </p:nvSpPr>
        <p:spPr>
          <a:xfrm>
            <a:off x="2749821" y="585439"/>
            <a:ext cx="5078684" cy="630220"/>
          </a:xfrm>
          <a:prstGeom prst="rect">
            <a:avLst/>
          </a:prstGeom>
          <a:noFill/>
          <a:ln/>
        </p:spPr>
        <p:txBody>
          <a:bodyPr wrap="square" lIns="0" tIns="0" rIns="0" bIns="0" rtlCol="0" anchor="t"/>
          <a:lstStyle/>
          <a:p>
            <a:pPr indent="0" marL="0">
              <a:lnSpc>
                <a:spcPct val="116000"/>
              </a:lnSpc>
              <a:buNone/>
            </a:pPr>
            <a:r>
              <a:rPr lang="en-US" sz="1440" b="1" dirty="0">
                <a:solidFill>
                  <a:srgbClr val="0B1F3A"/>
                </a:solidFill>
                <a:latin typeface="Arial" pitchFamily="34" charset="0"/>
                <a:ea typeface="Arial" pitchFamily="34" charset="-122"/>
                <a:cs typeface="Arial" pitchFamily="34" charset="-120"/>
              </a:rPr>
              <a:t>Góc quét chính là «góc nhìn» trên bảng thông số: trái phải nhìn được rộng bao nhiêu</a:t>
            </a:r>
            <a:endParaRPr lang="en-US" sz="1440" dirty="0"/>
          </a:p>
          <a:p>
            <a:pPr indent="0" marL="0">
              <a:lnSpc>
                <a:spcPct val="116000"/>
              </a:lnSpc>
              <a:buNone/>
            </a:pPr>
            <a:r>
              <a:rPr lang="en-US" sz="1000" dirty="0">
                <a:solidFill>
                  <a:srgbClr val="007F72"/>
                </a:solidFill>
                <a:latin typeface="微軟正黑體" pitchFamily="34" charset="0"/>
                <a:ea typeface="微軟正黑體" pitchFamily="34" charset="-122"/>
                <a:cs typeface="微軟正黑體" pitchFamily="34" charset="-120"/>
              </a:rPr>
              <a:t>張角就是規格表上的「視野」：這顆感測器左右能看多寬</a:t>
            </a:r>
            <a:endParaRPr lang="en-US" sz="1440" dirty="0"/>
          </a:p>
        </p:txBody>
      </p:sp>
      <p:sp>
        <p:nvSpPr>
          <p:cNvPr id="25" name="Shape 23"/>
          <p:cNvSpPr/>
          <p:nvPr/>
        </p:nvSpPr>
        <p:spPr>
          <a:xfrm>
            <a:off x="2749821" y="1288839"/>
            <a:ext cx="848887" cy="320216"/>
          </a:xfrm>
          <a:prstGeom prst="roundRect">
            <a:avLst>
              <a:gd name="adj" fmla="val 13712"/>
            </a:avLst>
          </a:prstGeom>
          <a:solidFill>
            <a:srgbClr val="0B1F3A"/>
          </a:solidFill>
          <a:ln/>
        </p:spPr>
      </p:sp>
      <p:sp>
        <p:nvSpPr>
          <p:cNvPr id="26" name="Text 24"/>
          <p:cNvSpPr txBox="1"/>
          <p:nvPr/>
        </p:nvSpPr>
        <p:spPr>
          <a:xfrm>
            <a:off x="2793729" y="1318111"/>
            <a:ext cx="761071" cy="276308"/>
          </a:xfrm>
          <a:prstGeom prst="rect">
            <a:avLst/>
          </a:prstGeom>
          <a:noFill/>
          <a:ln/>
        </p:spPr>
        <p:txBody>
          <a:bodyPr wrap="square" lIns="0" tIns="0" rIns="0" bIns="0" rtlCol="0" anchor="t"/>
          <a:lstStyle/>
          <a:p>
            <a:pPr algn="ctr" indent="0" marL="0">
              <a:lnSpc>
                <a:spcPct val="106000"/>
              </a:lnSpc>
              <a:buNone/>
            </a:pPr>
            <a:r>
              <a:rPr lang="en-US" sz="720" b="1" dirty="0">
                <a:solidFill>
                  <a:srgbClr val="FFFFFF"/>
                </a:solidFill>
                <a:latin typeface="Arial" pitchFamily="34" charset="0"/>
                <a:ea typeface="Arial" pitchFamily="34" charset="-122"/>
                <a:cs typeface="Arial" pitchFamily="34" charset="-120"/>
              </a:rPr>
              <a:t>Tên thông số</a:t>
            </a:r>
            <a:endParaRPr lang="en-US" sz="720" dirty="0"/>
          </a:p>
          <a:p>
            <a:pPr algn="ctr" indent="0" marL="0">
              <a:lnSpc>
                <a:spcPct val="106000"/>
              </a:lnSpc>
              <a:buNone/>
            </a:pPr>
            <a:r>
              <a:rPr lang="en-US" sz="680" dirty="0">
                <a:solidFill>
                  <a:srgbClr val="FFFFFF"/>
                </a:solidFill>
                <a:latin typeface="微軟正黑體" pitchFamily="34" charset="0"/>
                <a:ea typeface="微軟正黑體" pitchFamily="34" charset="-122"/>
                <a:cs typeface="微軟正黑體" pitchFamily="34" charset="-120"/>
              </a:rPr>
              <a:t>規格表上叫</a:t>
            </a:r>
            <a:endParaRPr lang="en-US" sz="720" dirty="0"/>
          </a:p>
        </p:txBody>
      </p:sp>
      <p:sp>
        <p:nvSpPr>
          <p:cNvPr id="27" name="Text 25"/>
          <p:cNvSpPr txBox="1"/>
          <p:nvPr/>
        </p:nvSpPr>
        <p:spPr>
          <a:xfrm>
            <a:off x="3715795" y="1288839"/>
            <a:ext cx="4112709" cy="364124"/>
          </a:xfrm>
          <a:prstGeom prst="rect">
            <a:avLst/>
          </a:prstGeom>
          <a:noFill/>
          <a:ln/>
        </p:spPr>
        <p:txBody>
          <a:bodyPr wrap="square" lIns="0" tIns="0" rIns="0" bIns="0" rtlCol="0" anchor="t"/>
          <a:lstStyle/>
          <a:p>
            <a:pPr indent="0" marL="0">
              <a:lnSpc>
                <a:spcPct val="126000"/>
              </a:lnSpc>
              <a:buNone/>
            </a:pPr>
            <a:r>
              <a:rPr lang="en-US" sz="880" dirty="0">
                <a:solidFill>
                  <a:srgbClr val="1A2733"/>
                </a:solidFill>
                <a:latin typeface="Arial" pitchFamily="34" charset="0"/>
                <a:ea typeface="Arial" pitchFamily="34" charset="-122"/>
                <a:cs typeface="Arial" pitchFamily="34" charset="-120"/>
              </a:rPr>
              <a:t>Field of view (FOV) · góc nhìn</a:t>
            </a:r>
            <a:endParaRPr lang="en-US" sz="880" dirty="0"/>
          </a:p>
          <a:p>
            <a:pPr indent="0" marL="0">
              <a:lnSpc>
                <a:spcPct val="126000"/>
              </a:lnSpc>
              <a:buNone/>
            </a:pPr>
            <a:r>
              <a:rPr lang="en-US" sz="800" dirty="0">
                <a:solidFill>
                  <a:srgbClr val="5F7183"/>
                </a:solidFill>
                <a:latin typeface="微軟正黑體" pitchFamily="34" charset="0"/>
                <a:ea typeface="微軟正黑體" pitchFamily="34" charset="-122"/>
                <a:cs typeface="微軟正黑體" pitchFamily="34" charset="-120"/>
              </a:rPr>
              <a:t>Field of view（FOV）　視野</a:t>
            </a:r>
            <a:endParaRPr lang="en-US" sz="880" dirty="0"/>
          </a:p>
        </p:txBody>
      </p:sp>
      <p:sp>
        <p:nvSpPr>
          <p:cNvPr id="28" name="Shape 26"/>
          <p:cNvSpPr/>
          <p:nvPr/>
        </p:nvSpPr>
        <p:spPr>
          <a:xfrm>
            <a:off x="2749821" y="1682235"/>
            <a:ext cx="848887" cy="320216"/>
          </a:xfrm>
          <a:prstGeom prst="roundRect">
            <a:avLst>
              <a:gd name="adj" fmla="val 13712"/>
            </a:avLst>
          </a:prstGeom>
          <a:solidFill>
            <a:srgbClr val="007F72"/>
          </a:solidFill>
          <a:ln/>
        </p:spPr>
      </p:sp>
      <p:sp>
        <p:nvSpPr>
          <p:cNvPr id="29" name="Text 27"/>
          <p:cNvSpPr txBox="1"/>
          <p:nvPr/>
        </p:nvSpPr>
        <p:spPr>
          <a:xfrm>
            <a:off x="2793729" y="1711507"/>
            <a:ext cx="761071" cy="276308"/>
          </a:xfrm>
          <a:prstGeom prst="rect">
            <a:avLst/>
          </a:prstGeom>
          <a:noFill/>
          <a:ln/>
        </p:spPr>
        <p:txBody>
          <a:bodyPr wrap="square" lIns="0" tIns="0" rIns="0" bIns="0" rtlCol="0" anchor="t"/>
          <a:lstStyle/>
          <a:p>
            <a:pPr algn="ctr" indent="0" marL="0">
              <a:lnSpc>
                <a:spcPct val="106000"/>
              </a:lnSpc>
              <a:buNone/>
            </a:pPr>
            <a:r>
              <a:rPr lang="en-US" sz="720" b="1" dirty="0">
                <a:solidFill>
                  <a:srgbClr val="FFFFFF"/>
                </a:solidFill>
                <a:latin typeface="Arial" pitchFamily="34" charset="0"/>
                <a:ea typeface="Arial" pitchFamily="34" charset="-122"/>
                <a:cs typeface="Arial" pitchFamily="34" charset="-120"/>
              </a:rPr>
              <a:t>Nói cho dễ hiểu</a:t>
            </a:r>
            <a:endParaRPr lang="en-US" sz="720" dirty="0"/>
          </a:p>
          <a:p>
            <a:pPr algn="ctr" indent="0" marL="0">
              <a:lnSpc>
                <a:spcPct val="106000"/>
              </a:lnSpc>
              <a:buNone/>
            </a:pPr>
            <a:r>
              <a:rPr lang="en-US" sz="680" dirty="0">
                <a:solidFill>
                  <a:srgbClr val="FFFFFF"/>
                </a:solidFill>
                <a:latin typeface="微軟正黑體" pitchFamily="34" charset="0"/>
                <a:ea typeface="微軟正黑體" pitchFamily="34" charset="-122"/>
                <a:cs typeface="微軟正黑體" pitchFamily="34" charset="-120"/>
              </a:rPr>
              <a:t>白話講</a:t>
            </a:r>
            <a:endParaRPr lang="en-US" sz="720" dirty="0"/>
          </a:p>
        </p:txBody>
      </p:sp>
      <p:sp>
        <p:nvSpPr>
          <p:cNvPr id="30" name="Text 28"/>
          <p:cNvSpPr txBox="1"/>
          <p:nvPr/>
        </p:nvSpPr>
        <p:spPr>
          <a:xfrm>
            <a:off x="3715795" y="1682235"/>
            <a:ext cx="4112709" cy="508343"/>
          </a:xfrm>
          <a:prstGeom prst="rect">
            <a:avLst/>
          </a:prstGeom>
          <a:noFill/>
          <a:ln/>
        </p:spPr>
        <p:txBody>
          <a:bodyPr wrap="square" lIns="0" tIns="0" rIns="0" bIns="0" rtlCol="0" anchor="t"/>
          <a:lstStyle/>
          <a:p>
            <a:pPr indent="0" marL="0">
              <a:lnSpc>
                <a:spcPct val="126000"/>
              </a:lnSpc>
              <a:buNone/>
            </a:pPr>
            <a:r>
              <a:rPr lang="en-US" sz="880" dirty="0">
                <a:solidFill>
                  <a:srgbClr val="1A2733"/>
                </a:solidFill>
                <a:latin typeface="Arial" pitchFamily="34" charset="0"/>
                <a:ea typeface="Arial" pitchFamily="34" charset="-122"/>
                <a:cs typeface="Arial" pitchFamily="34" charset="-120"/>
              </a:rPr>
              <a:t>Cái quạt xoè ra bao nhiêu độ. 180 độ là cả phía trước, 20 độ là một hành lang hẹp.</a:t>
            </a:r>
            <a:endParaRPr lang="en-US" sz="880" dirty="0"/>
          </a:p>
          <a:p>
            <a:pPr indent="0" marL="0">
              <a:lnSpc>
                <a:spcPct val="126000"/>
              </a:lnSpc>
              <a:buNone/>
            </a:pPr>
            <a:r>
              <a:rPr lang="en-US" sz="800" dirty="0">
                <a:solidFill>
                  <a:srgbClr val="5F7183"/>
                </a:solidFill>
                <a:latin typeface="微軟正黑體" pitchFamily="34" charset="0"/>
                <a:ea typeface="微軟正黑體" pitchFamily="34" charset="-122"/>
                <a:cs typeface="微軟正黑體" pitchFamily="34" charset="-120"/>
              </a:rPr>
              <a:t>扇子張開幾度。180 度是整個前方，20 度只是一條窄走廊。</a:t>
            </a:r>
            <a:endParaRPr lang="en-US" sz="880" dirty="0"/>
          </a:p>
        </p:txBody>
      </p:sp>
      <p:sp>
        <p:nvSpPr>
          <p:cNvPr id="31" name="Shape 29"/>
          <p:cNvSpPr/>
          <p:nvPr/>
        </p:nvSpPr>
        <p:spPr>
          <a:xfrm>
            <a:off x="2749821" y="2219850"/>
            <a:ext cx="848887" cy="320216"/>
          </a:xfrm>
          <a:prstGeom prst="roundRect">
            <a:avLst>
              <a:gd name="adj" fmla="val 13712"/>
            </a:avLst>
          </a:prstGeom>
          <a:solidFill>
            <a:srgbClr val="FFB020"/>
          </a:solidFill>
          <a:ln/>
        </p:spPr>
      </p:sp>
      <p:sp>
        <p:nvSpPr>
          <p:cNvPr id="32" name="Text 30"/>
          <p:cNvSpPr txBox="1"/>
          <p:nvPr/>
        </p:nvSpPr>
        <p:spPr>
          <a:xfrm>
            <a:off x="2793729" y="2249122"/>
            <a:ext cx="761071" cy="276308"/>
          </a:xfrm>
          <a:prstGeom prst="rect">
            <a:avLst/>
          </a:prstGeom>
          <a:noFill/>
          <a:ln/>
        </p:spPr>
        <p:txBody>
          <a:bodyPr wrap="square" lIns="0" tIns="0" rIns="0" bIns="0" rtlCol="0" anchor="t"/>
          <a:lstStyle/>
          <a:p>
            <a:pPr algn="ctr" indent="0" marL="0">
              <a:lnSpc>
                <a:spcPct val="106000"/>
              </a:lnSpc>
              <a:buNone/>
            </a:pPr>
            <a:r>
              <a:rPr lang="en-US" sz="720" b="1" dirty="0">
                <a:solidFill>
                  <a:srgbClr val="3A2A00"/>
                </a:solidFill>
                <a:latin typeface="Arial" pitchFamily="34" charset="0"/>
                <a:ea typeface="Arial" pitchFamily="34" charset="-122"/>
                <a:cs typeface="Arial" pitchFamily="34" charset="-120"/>
              </a:rPr>
              <a:t>Mô phỏng của ta</a:t>
            </a:r>
            <a:endParaRPr lang="en-US" sz="720" dirty="0"/>
          </a:p>
          <a:p>
            <a:pPr algn="ctr" indent="0" marL="0">
              <a:lnSpc>
                <a:spcPct val="106000"/>
              </a:lnSpc>
              <a:buNone/>
            </a:pPr>
            <a:r>
              <a:rPr lang="en-US" sz="680" dirty="0">
                <a:solidFill>
                  <a:srgbClr val="3A2A00"/>
                </a:solidFill>
                <a:latin typeface="微軟正黑體" pitchFamily="34" charset="0"/>
                <a:ea typeface="微軟正黑體" pitchFamily="34" charset="-122"/>
                <a:cs typeface="微軟正黑體" pitchFamily="34" charset="-120"/>
              </a:rPr>
              <a:t>我們的模擬器</a:t>
            </a:r>
            <a:endParaRPr lang="en-US" sz="720" dirty="0"/>
          </a:p>
        </p:txBody>
      </p:sp>
      <p:sp>
        <p:nvSpPr>
          <p:cNvPr id="33" name="Text 31"/>
          <p:cNvSpPr txBox="1"/>
          <p:nvPr/>
        </p:nvSpPr>
        <p:spPr>
          <a:xfrm>
            <a:off x="3715795" y="2219850"/>
            <a:ext cx="4112709" cy="364124"/>
          </a:xfrm>
          <a:prstGeom prst="rect">
            <a:avLst/>
          </a:prstGeom>
          <a:noFill/>
          <a:ln/>
        </p:spPr>
        <p:txBody>
          <a:bodyPr wrap="square" lIns="0" tIns="0" rIns="0" bIns="0" rtlCol="0" anchor="t"/>
          <a:lstStyle/>
          <a:p>
            <a:pPr indent="0" marL="0">
              <a:lnSpc>
                <a:spcPct val="126000"/>
              </a:lnSpc>
              <a:buNone/>
            </a:pPr>
            <a:r>
              <a:rPr lang="en-US" sz="880" dirty="0">
                <a:solidFill>
                  <a:srgbClr val="1A2733"/>
                </a:solidFill>
                <a:latin typeface="Arial" pitchFamily="34" charset="0"/>
                <a:ea typeface="Arial" pitchFamily="34" charset="-122"/>
                <a:cs typeface="Arial" pitchFamily="34" charset="-120"/>
              </a:rPr>
              <a:t>20 độ đến 180 độ</a:t>
            </a:r>
            <a:endParaRPr lang="en-US" sz="880" dirty="0"/>
          </a:p>
          <a:p>
            <a:pPr indent="0" marL="0">
              <a:lnSpc>
                <a:spcPct val="126000"/>
              </a:lnSpc>
              <a:buNone/>
            </a:pPr>
            <a:r>
              <a:rPr lang="en-US" sz="800" dirty="0">
                <a:solidFill>
                  <a:srgbClr val="5F7183"/>
                </a:solidFill>
                <a:latin typeface="微軟正黑體" pitchFamily="34" charset="0"/>
                <a:ea typeface="微軟正黑體" pitchFamily="34" charset="-122"/>
                <a:cs typeface="微軟正黑體" pitchFamily="34" charset="-120"/>
              </a:rPr>
              <a:t>20° 到 180°</a:t>
            </a:r>
            <a:endParaRPr lang="en-US" sz="880" dirty="0"/>
          </a:p>
        </p:txBody>
      </p:sp>
      <p:sp>
        <p:nvSpPr>
          <p:cNvPr id="34" name="Shape 32"/>
          <p:cNvSpPr/>
          <p:nvPr/>
        </p:nvSpPr>
        <p:spPr>
          <a:xfrm>
            <a:off x="2749821" y="2613247"/>
            <a:ext cx="848887" cy="320216"/>
          </a:xfrm>
          <a:prstGeom prst="roundRect">
            <a:avLst>
              <a:gd name="adj" fmla="val 13712"/>
            </a:avLst>
          </a:prstGeom>
          <a:solidFill>
            <a:srgbClr val="0B1F3A"/>
          </a:solidFill>
          <a:ln/>
        </p:spPr>
      </p:sp>
      <p:sp>
        <p:nvSpPr>
          <p:cNvPr id="35" name="Text 33"/>
          <p:cNvSpPr txBox="1"/>
          <p:nvPr/>
        </p:nvSpPr>
        <p:spPr>
          <a:xfrm>
            <a:off x="2793729" y="2642519"/>
            <a:ext cx="761071" cy="276308"/>
          </a:xfrm>
          <a:prstGeom prst="rect">
            <a:avLst/>
          </a:prstGeom>
          <a:noFill/>
          <a:ln/>
        </p:spPr>
        <p:txBody>
          <a:bodyPr wrap="square" lIns="0" tIns="0" rIns="0" bIns="0" rtlCol="0" anchor="t"/>
          <a:lstStyle/>
          <a:p>
            <a:pPr algn="ctr" indent="0" marL="0">
              <a:lnSpc>
                <a:spcPct val="106000"/>
              </a:lnSpc>
              <a:buNone/>
            </a:pPr>
            <a:r>
              <a:rPr lang="en-US" sz="720" b="1" dirty="0">
                <a:solidFill>
                  <a:srgbClr val="FFFFFF"/>
                </a:solidFill>
                <a:latin typeface="Arial" pitchFamily="34" charset="0"/>
                <a:ea typeface="Arial" pitchFamily="34" charset="-122"/>
                <a:cs typeface="Arial" pitchFamily="34" charset="-120"/>
              </a:rPr>
              <a:t>Kéo hẹp thì sao</a:t>
            </a:r>
            <a:endParaRPr lang="en-US" sz="720" dirty="0"/>
          </a:p>
          <a:p>
            <a:pPr algn="ctr" indent="0" marL="0">
              <a:lnSpc>
                <a:spcPct val="106000"/>
              </a:lnSpc>
              <a:buNone/>
            </a:pPr>
            <a:r>
              <a:rPr lang="en-US" sz="680" dirty="0">
                <a:solidFill>
                  <a:srgbClr val="FFFFFF"/>
                </a:solidFill>
                <a:latin typeface="微軟正黑體" pitchFamily="34" charset="0"/>
                <a:ea typeface="微軟正黑體" pitchFamily="34" charset="-122"/>
                <a:cs typeface="微軟正黑體" pitchFamily="34" charset="-120"/>
              </a:rPr>
              <a:t>調窄會怎樣</a:t>
            </a:r>
            <a:endParaRPr lang="en-US" sz="720" dirty="0"/>
          </a:p>
        </p:txBody>
      </p:sp>
      <p:sp>
        <p:nvSpPr>
          <p:cNvPr id="36" name="Text 34"/>
          <p:cNvSpPr txBox="1"/>
          <p:nvPr/>
        </p:nvSpPr>
        <p:spPr>
          <a:xfrm>
            <a:off x="3715795" y="2613247"/>
            <a:ext cx="4112709" cy="364124"/>
          </a:xfrm>
          <a:prstGeom prst="rect">
            <a:avLst/>
          </a:prstGeom>
          <a:noFill/>
          <a:ln/>
        </p:spPr>
        <p:txBody>
          <a:bodyPr wrap="square" lIns="0" tIns="0" rIns="0" bIns="0" rtlCol="0" anchor="t"/>
          <a:lstStyle/>
          <a:p>
            <a:pPr indent="0" marL="0">
              <a:lnSpc>
                <a:spcPct val="126000"/>
              </a:lnSpc>
              <a:buNone/>
            </a:pPr>
            <a:r>
              <a:rPr lang="en-US" sz="880" dirty="0">
                <a:solidFill>
                  <a:srgbClr val="1A2733"/>
                </a:solidFill>
                <a:latin typeface="Arial" pitchFamily="34" charset="0"/>
                <a:ea typeface="Arial" pitchFamily="34" charset="-122"/>
                <a:cs typeface="Arial" pitchFamily="34" charset="-120"/>
              </a:rPr>
              <a:t>Xe máy tạt từ bên hông vào hoàn toàn không thấy</a:t>
            </a:r>
            <a:endParaRPr lang="en-US" sz="880" dirty="0"/>
          </a:p>
          <a:p>
            <a:pPr indent="0" marL="0">
              <a:lnSpc>
                <a:spcPct val="126000"/>
              </a:lnSpc>
              <a:buNone/>
            </a:pPr>
            <a:r>
              <a:rPr lang="en-US" sz="800" dirty="0">
                <a:solidFill>
                  <a:srgbClr val="5F7183"/>
                </a:solidFill>
                <a:latin typeface="微軟正黑體" pitchFamily="34" charset="0"/>
                <a:ea typeface="微軟正黑體" pitchFamily="34" charset="-122"/>
                <a:cs typeface="微軟正黑體" pitchFamily="34" charset="-120"/>
              </a:rPr>
              <a:t>從側面切進來的機車完全看不到</a:t>
            </a:r>
            <a:endParaRPr lang="en-US" sz="880" dirty="0"/>
          </a:p>
        </p:txBody>
      </p:sp>
      <p:sp>
        <p:nvSpPr>
          <p:cNvPr id="37" name="Shape 35"/>
          <p:cNvSpPr/>
          <p:nvPr/>
        </p:nvSpPr>
        <p:spPr>
          <a:xfrm>
            <a:off x="1315495" y="3146735"/>
            <a:ext cx="6513009" cy="453715"/>
          </a:xfrm>
          <a:prstGeom prst="roundRect">
            <a:avLst>
              <a:gd name="adj" fmla="val 14516"/>
            </a:avLst>
          </a:prstGeom>
          <a:solidFill>
            <a:srgbClr val="FFF6E3"/>
          </a:solidFill>
          <a:ln w="12700">
            <a:solidFill>
              <a:srgbClr val="FFB020"/>
            </a:solidFill>
            <a:prstDash val="solid"/>
          </a:ln>
        </p:spPr>
      </p:sp>
      <p:sp>
        <p:nvSpPr>
          <p:cNvPr id="38" name="Text 36"/>
          <p:cNvSpPr txBox="1"/>
          <p:nvPr/>
        </p:nvSpPr>
        <p:spPr>
          <a:xfrm>
            <a:off x="1461855" y="3197961"/>
            <a:ext cx="6220290" cy="365899"/>
          </a:xfrm>
          <a:prstGeom prst="rect">
            <a:avLst/>
          </a:prstGeom>
          <a:noFill/>
          <a:ln/>
        </p:spPr>
        <p:txBody>
          <a:bodyPr wrap="square" lIns="0" tIns="0" rIns="0" bIns="0" rtlCol="0" anchor="t"/>
          <a:lstStyle/>
          <a:p>
            <a:pPr indent="0" marL="0">
              <a:lnSpc>
                <a:spcPct val="116000"/>
              </a:lnSpc>
              <a:buNone/>
            </a:pPr>
            <a:r>
              <a:rPr lang="en-US" sz="960" b="1" dirty="0">
                <a:solidFill>
                  <a:srgbClr val="7A4E00"/>
                </a:solidFill>
                <a:latin typeface="Arial" pitchFamily="34" charset="0"/>
                <a:ea typeface="Arial" pitchFamily="34" charset="-122"/>
                <a:cs typeface="Arial" pitchFamily="34" charset="-120"/>
              </a:rPr>
              <a:t>Kéo rộng cũng có giá phải trả — trang sau.</a:t>
            </a:r>
            <a:endParaRPr lang="en-US" sz="960" dirty="0"/>
          </a:p>
          <a:p>
            <a:pPr indent="0" marL="0">
              <a:lnSpc>
                <a:spcPct val="116000"/>
              </a:lnSpc>
              <a:buNone/>
            </a:pPr>
            <a:r>
              <a:rPr lang="en-US" sz="880" dirty="0">
                <a:solidFill>
                  <a:srgbClr val="7A4E00"/>
                </a:solidFill>
                <a:latin typeface="微軟正黑體" pitchFamily="34" charset="0"/>
                <a:ea typeface="微軟正黑體" pitchFamily="34" charset="-122"/>
                <a:cs typeface="微軟正黑體" pitchFamily="34" charset="-120"/>
              </a:rPr>
              <a:t>那調寬呢？也有代價——下一頁。</a:t>
            </a:r>
            <a:endParaRPr lang="en-US" sz="960" dirty="0"/>
          </a:p>
        </p:txBody>
      </p:sp>
      <p:pic>
        <p:nvPicPr>
          <p:cNvPr id="40" name="Image 0" descr="/Users/tsengchenghsun/Class/carClass/Claude outputs/第四週(10-1)/src/logo.png">    </p:cNvPr>
          <p:cNvPicPr>
            <a:picLocks noChangeAspect="1"/>
          </p:cNvPicPr>
          <p:nvPr/>
        </p:nvPicPr>
        <p:blipFill>
          <a:blip r:embed="rId1"/>
          <a:stretch>
            <a:fillRect/>
          </a:stretch>
        </p:blipFill>
        <p:spPr>
          <a:xfrm>
            <a:off x="7221112" y="87816"/>
            <a:ext cx="878159" cy="194025"/>
          </a:xfrm>
          <a:prstGeom prst="rect">
            <a:avLst/>
          </a:prstGeom>
        </p:spPr>
      </p:pic>
      <p:sp>
        <p:nvSpPr>
          <p:cNvPr id="41" name="Text 37"/>
          <p:cNvSpPr txBox="1"/>
          <p:nvPr/>
        </p:nvSpPr>
        <p:spPr>
          <a:xfrm>
            <a:off x="1000822" y="102452"/>
            <a:ext cx="658619" cy="204904"/>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9 / 28</a:t>
            </a:r>
            <a:endParaRPr lang="en-US" sz="720" dirty="0"/>
          </a:p>
        </p:txBody>
      </p:sp>
      <p:sp>
        <p:nvSpPr>
          <p:cNvPr id="42" name="Text 38"/>
          <p:cNvSpPr txBox="1"/>
          <p:nvPr/>
        </p:nvSpPr>
        <p:spPr>
          <a:xfrm>
            <a:off x="1681395" y="102452"/>
            <a:ext cx="1609957" cy="204904"/>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Tiết 1 · 第 1 節</a:t>
            </a:r>
            <a:endParaRPr lang="en-US" sz="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1069617" y="0"/>
          <a:ext cx="1" cy="1"/>
          <a:chOff x="0" y="0"/>
          <a:chExt cx="0" cy="0"/>
        </a:xfrm>
      </p:grpSpPr>
      <p:sp>
        <p:nvSpPr>
          <p:cNvPr id="2" name="Shape 0"/>
          <p:cNvSpPr/>
          <p:nvPr/>
        </p:nvSpPr>
        <p:spPr>
          <a:xfrm>
            <a:off x="6253144" y="-1050715"/>
            <a:ext cx="3222193" cy="3222193"/>
          </a:xfrm>
          <a:prstGeom prst="ellipse">
            <a:avLst/>
          </a:prstGeom>
          <a:solidFill>
            <a:srgbClr val="13314F"/>
          </a:solidFill>
          <a:ln w="12700">
            <a:solidFill>
              <a:srgbClr val="13314F"/>
            </a:solidFill>
            <a:prstDash val="solid"/>
          </a:ln>
        </p:spPr>
      </p:sp>
      <p:sp>
        <p:nvSpPr>
          <p:cNvPr id="3" name="Shape 1"/>
          <p:cNvSpPr/>
          <p:nvPr/>
        </p:nvSpPr>
        <p:spPr>
          <a:xfrm>
            <a:off x="7303859" y="1611096"/>
            <a:ext cx="1821239" cy="1821239"/>
          </a:xfrm>
          <a:prstGeom prst="ellipse">
            <a:avLst/>
          </a:prstGeom>
          <a:solidFill>
            <a:srgbClr val="007F72">
              <a:alpha val="28000"/>
            </a:srgbClr>
          </a:solidFill>
          <a:ln/>
        </p:spPr>
      </p:sp>
      <p:sp>
        <p:nvSpPr>
          <p:cNvPr id="4" name="Text 2"/>
          <p:cNvSpPr txBox="1"/>
          <p:nvPr/>
        </p:nvSpPr>
        <p:spPr>
          <a:xfrm>
            <a:off x="1454879" y="364248"/>
            <a:ext cx="5183527" cy="210143"/>
          </a:xfrm>
          <a:prstGeom prst="rect">
            <a:avLst/>
          </a:prstGeom>
          <a:noFill/>
          <a:ln/>
        </p:spPr>
        <p:txBody>
          <a:bodyPr wrap="square" lIns="0" tIns="0" rIns="0" bIns="0" rtlCol="0" anchor="ctr"/>
          <a:lstStyle/>
          <a:p>
            <a:pPr indent="0" marL="0">
              <a:buNone/>
            </a:pPr>
            <a:r>
              <a:rPr lang="en-US" sz="960" b="1" dirty="0">
                <a:solidFill>
                  <a:srgbClr val="FFB020"/>
                </a:solidFill>
                <a:latin typeface="Arial" pitchFamily="34" charset="0"/>
                <a:ea typeface="Arial" pitchFamily="34" charset="-122"/>
                <a:cs typeface="Arial" pitchFamily="34" charset="-120"/>
              </a:rPr>
              <a:t>3 / 3　Kéo rộng thì sao · 調寬會怎樣</a:t>
            </a:r>
            <a:endParaRPr lang="en-US" sz="960" dirty="0"/>
          </a:p>
        </p:txBody>
      </p:sp>
      <p:sp>
        <p:nvSpPr>
          <p:cNvPr id="5" name="Text 3"/>
          <p:cNvSpPr txBox="1"/>
          <p:nvPr/>
        </p:nvSpPr>
        <p:spPr>
          <a:xfrm>
            <a:off x="1454879" y="602410"/>
            <a:ext cx="6164195" cy="770524"/>
          </a:xfrm>
          <a:prstGeom prst="rect">
            <a:avLst/>
          </a:prstGeom>
          <a:noFill/>
          <a:ln/>
        </p:spPr>
        <p:txBody>
          <a:bodyPr wrap="square" lIns="0" tIns="0" rIns="0" bIns="0" rtlCol="0" anchor="t"/>
          <a:lstStyle/>
          <a:p>
            <a:pPr indent="0" marL="0">
              <a:lnSpc>
                <a:spcPct val="120000"/>
              </a:lnSpc>
              <a:buNone/>
            </a:pPr>
            <a:r>
              <a:rPr lang="en-US" sz="1530" b="1" dirty="0">
                <a:solidFill>
                  <a:srgbClr val="FFFFFF"/>
                </a:solidFill>
                <a:latin typeface="Arial" pitchFamily="34" charset="0"/>
                <a:ea typeface="Arial" pitchFamily="34" charset="-122"/>
                <a:cs typeface="Arial" pitchFamily="34" charset="-120"/>
              </a:rPr>
              <a:t>Kéo rộng góc quét, cùng ngần ấy tia bị trải mỏng ra</a:t>
            </a:r>
            <a:endParaRPr lang="en-US" sz="1530" dirty="0"/>
          </a:p>
          <a:p>
            <a:pPr indent="0" marL="0">
              <a:lnSpc>
                <a:spcPct val="120000"/>
              </a:lnSpc>
              <a:buNone/>
            </a:pPr>
            <a:r>
              <a:rPr lang="en-US" sz="1030" dirty="0">
                <a:solidFill>
                  <a:srgbClr val="AFC3D4"/>
                </a:solidFill>
                <a:latin typeface="微軟正黑體" pitchFamily="34" charset="0"/>
                <a:ea typeface="微軟正黑體" pitchFamily="34" charset="-122"/>
                <a:cs typeface="微軟正黑體" pitchFamily="34" charset="-120"/>
              </a:rPr>
              <a:t>張角調寬，同樣的射線就被攤得更稀</a:t>
            </a:r>
            <a:endParaRPr lang="en-US" sz="1530" dirty="0"/>
          </a:p>
        </p:txBody>
      </p:sp>
      <p:sp>
        <p:nvSpPr>
          <p:cNvPr id="6" name="Shape 4"/>
          <p:cNvSpPr/>
          <p:nvPr/>
        </p:nvSpPr>
        <p:spPr>
          <a:xfrm>
            <a:off x="1454879" y="1232839"/>
            <a:ext cx="3432336" cy="1863268"/>
          </a:xfrm>
          <a:prstGeom prst="roundRect">
            <a:avLst>
              <a:gd name="adj" fmla="val 3759"/>
            </a:avLst>
          </a:prstGeom>
          <a:solidFill>
            <a:srgbClr val="FFFFFF"/>
          </a:solidFill>
          <a:ln w="12700">
            <a:solidFill>
              <a:srgbClr val="DBE3EA"/>
            </a:solidFill>
            <a:prstDash val="solid"/>
          </a:ln>
          <a:effectLst>
            <a:outerShdw sx="100000" sy="100000" kx="0" ky="0" algn="bl" rotWithShape="0" blurRad="76200" dist="12700" dir="5400000">
              <a:srgbClr val="9AAAB8">
                <a:alpha val="28000"/>
              </a:srgbClr>
            </a:outerShdw>
          </a:effectLst>
        </p:spPr>
      </p:sp>
      <p:pic>
        <p:nvPicPr>
          <p:cNvPr id="7" name="Image 0" descr="/Users/tsengchenghsun/Class/carClass/Claude outputs/第四週(10-1)/src/img/w4/fov.gif">    </p:cNvPr>
          <p:cNvPicPr>
            <a:picLocks noChangeAspect="1"/>
          </p:cNvPicPr>
          <p:nvPr/>
        </p:nvPicPr>
        <p:blipFill>
          <a:blip r:embed="rId1"/>
          <a:stretch>
            <a:fillRect/>
          </a:stretch>
        </p:blipFill>
        <p:spPr>
          <a:xfrm>
            <a:off x="1700046" y="1281872"/>
            <a:ext cx="2942002" cy="1765201"/>
          </a:xfrm>
          <a:prstGeom prst="rect">
            <a:avLst/>
          </a:prstGeom>
        </p:spPr>
      </p:pic>
      <p:sp>
        <p:nvSpPr>
          <p:cNvPr id="8" name="Shape 5"/>
          <p:cNvSpPr/>
          <p:nvPr/>
        </p:nvSpPr>
        <p:spPr>
          <a:xfrm>
            <a:off x="5097357" y="1253853"/>
            <a:ext cx="238162" cy="238162"/>
          </a:xfrm>
          <a:prstGeom prst="ellipse">
            <a:avLst/>
          </a:prstGeom>
          <a:solidFill>
            <a:srgbClr val="00A896"/>
          </a:solidFill>
          <a:ln/>
        </p:spPr>
      </p:sp>
      <p:sp>
        <p:nvSpPr>
          <p:cNvPr id="9" name="Text 6"/>
          <p:cNvSpPr txBox="1"/>
          <p:nvPr/>
        </p:nvSpPr>
        <p:spPr>
          <a:xfrm>
            <a:off x="5097357" y="1267863"/>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1</a:t>
            </a:r>
            <a:endParaRPr lang="en-US" sz="920" dirty="0"/>
          </a:p>
        </p:txBody>
      </p:sp>
      <p:sp>
        <p:nvSpPr>
          <p:cNvPr id="10" name="Text 7"/>
          <p:cNvSpPr txBox="1"/>
          <p:nvPr/>
        </p:nvSpPr>
        <p:spPr>
          <a:xfrm>
            <a:off x="5419577" y="1232839"/>
            <a:ext cx="2269544"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Vẫn 9 tia. Góc mở càng rộng, khe ở 25 m càng lớn: từ 1,1 m kéo tới 9,8 m.</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一樣 9 條射線。張角開得愈寬，25 公尺處的縫愈大：從 1.1 公尺拉到 9.8 公尺。</a:t>
            </a:r>
            <a:endParaRPr lang="en-US" sz="880" dirty="0"/>
          </a:p>
        </p:txBody>
      </p:sp>
      <p:sp>
        <p:nvSpPr>
          <p:cNvPr id="11" name="Shape 8"/>
          <p:cNvSpPr/>
          <p:nvPr/>
        </p:nvSpPr>
        <p:spPr>
          <a:xfrm>
            <a:off x="5097357" y="1789209"/>
            <a:ext cx="238162" cy="238162"/>
          </a:xfrm>
          <a:prstGeom prst="ellipse">
            <a:avLst/>
          </a:prstGeom>
          <a:solidFill>
            <a:srgbClr val="00A896"/>
          </a:solidFill>
          <a:ln/>
        </p:spPr>
      </p:sp>
      <p:sp>
        <p:nvSpPr>
          <p:cNvPr id="12" name="Text 9"/>
          <p:cNvSpPr txBox="1"/>
          <p:nvPr/>
        </p:nvSpPr>
        <p:spPr>
          <a:xfrm>
            <a:off x="5097357" y="1803219"/>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2</a:t>
            </a:r>
            <a:endParaRPr lang="en-US" sz="920" dirty="0"/>
          </a:p>
        </p:txBody>
      </p:sp>
      <p:sp>
        <p:nvSpPr>
          <p:cNvPr id="13" name="Text 10"/>
          <p:cNvSpPr txBox="1"/>
          <p:nvPr/>
        </p:nvSpPr>
        <p:spPr>
          <a:xfrm>
            <a:off x="5419577" y="1768195"/>
            <a:ext cx="2269544"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Nhưng kéo hẹp cũng phải trả giá: xe máy tạt ngang tới 180° mới vào tầm nhìn.</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可是調窄也有代價：側面的機車要到 180 度才進得了視野。</a:t>
            </a:r>
            <a:endParaRPr lang="en-US" sz="880" dirty="0"/>
          </a:p>
        </p:txBody>
      </p:sp>
      <p:sp>
        <p:nvSpPr>
          <p:cNvPr id="14" name="Shape 11"/>
          <p:cNvSpPr/>
          <p:nvPr/>
        </p:nvSpPr>
        <p:spPr>
          <a:xfrm>
            <a:off x="5097357" y="2324564"/>
            <a:ext cx="238162" cy="238162"/>
          </a:xfrm>
          <a:prstGeom prst="ellipse">
            <a:avLst/>
          </a:prstGeom>
          <a:solidFill>
            <a:srgbClr val="00A896"/>
          </a:solidFill>
          <a:ln/>
        </p:spPr>
      </p:sp>
      <p:sp>
        <p:nvSpPr>
          <p:cNvPr id="15" name="Text 12"/>
          <p:cNvSpPr txBox="1"/>
          <p:nvPr/>
        </p:nvSpPr>
        <p:spPr>
          <a:xfrm>
            <a:off x="5097357" y="2338574"/>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3</a:t>
            </a:r>
            <a:endParaRPr lang="en-US" sz="920" dirty="0"/>
          </a:p>
        </p:txBody>
      </p:sp>
      <p:sp>
        <p:nvSpPr>
          <p:cNvPr id="16" name="Text 13"/>
          <p:cNvSpPr txBox="1"/>
          <p:nvPr/>
        </p:nvSpPr>
        <p:spPr>
          <a:xfrm>
            <a:off x="5419577" y="2303550"/>
            <a:ext cx="2269544"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Xe thật: lắp nhiều con chia việc — một con nhìn xa, vài con nhìn gần góc rộng.</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真車：裝好幾顆分工——一顆看遠的窄視野，幾顆看近的廣視野。</a:t>
            </a:r>
            <a:endParaRPr lang="en-US" sz="880" dirty="0"/>
          </a:p>
        </p:txBody>
      </p:sp>
      <p:sp>
        <p:nvSpPr>
          <p:cNvPr id="17" name="Shape 14"/>
          <p:cNvSpPr/>
          <p:nvPr/>
        </p:nvSpPr>
        <p:spPr>
          <a:xfrm>
            <a:off x="1454879" y="3166154"/>
            <a:ext cx="6234242" cy="434296"/>
          </a:xfrm>
          <a:prstGeom prst="roundRect">
            <a:avLst>
              <a:gd name="adj" fmla="val 12903"/>
            </a:avLst>
          </a:prstGeom>
          <a:solidFill>
            <a:srgbClr val="13314F"/>
          </a:solidFill>
          <a:ln w="12700">
            <a:solidFill>
              <a:srgbClr val="FFB020"/>
            </a:solidFill>
            <a:prstDash val="solid"/>
          </a:ln>
        </p:spPr>
      </p:sp>
      <p:sp>
        <p:nvSpPr>
          <p:cNvPr id="18" name="Text 15"/>
          <p:cNvSpPr txBox="1"/>
          <p:nvPr/>
        </p:nvSpPr>
        <p:spPr>
          <a:xfrm>
            <a:off x="1580965" y="3201178"/>
            <a:ext cx="5982071" cy="378257"/>
          </a:xfrm>
          <a:prstGeom prst="rect">
            <a:avLst/>
          </a:prstGeom>
          <a:noFill/>
          <a:ln/>
        </p:spPr>
        <p:txBody>
          <a:bodyPr wrap="square" lIns="0" tIns="0" rIns="0" bIns="0" rtlCol="0" anchor="t"/>
          <a:lstStyle/>
          <a:p>
            <a:pPr indent="0" marL="0">
              <a:lnSpc>
                <a:spcPct val="114000"/>
              </a:lnSpc>
              <a:buNone/>
            </a:pPr>
            <a:r>
              <a:rPr lang="en-US" sz="880" b="1" dirty="0">
                <a:solidFill>
                  <a:srgbClr val="FFB020"/>
                </a:solidFill>
                <a:latin typeface="Arial" pitchFamily="34" charset="0"/>
                <a:ea typeface="Arial" pitchFamily="34" charset="-122"/>
                <a:cs typeface="Arial" pitchFamily="34" charset="-120"/>
              </a:rPr>
              <a:t>Cùng một ngân sách: nhìn rộng và nhìn rõ chỉ chọn một — đúng câu tuần 3: trải càng rộng càng thưa.</a:t>
            </a:r>
            <a:endParaRPr lang="en-US" sz="880" dirty="0"/>
          </a:p>
          <a:p>
            <a:pPr indent="0" marL="0">
              <a:lnSpc>
                <a:spcPct val="114000"/>
              </a:lnSpc>
              <a:buNone/>
            </a:pPr>
            <a:r>
              <a:rPr lang="en-US" sz="800" dirty="0">
                <a:solidFill>
                  <a:srgbClr val="FFB020"/>
                </a:solidFill>
                <a:latin typeface="微軟正黑體" pitchFamily="34" charset="0"/>
                <a:ea typeface="微軟正黑體" pitchFamily="34" charset="-122"/>
                <a:cs typeface="微軟正黑體" pitchFamily="34" charset="-120"/>
              </a:rPr>
              <a:t>同一份預算，看得廣和看得清只能選一個——第三週那句「攤得愈廣就愈稀」。</a:t>
            </a:r>
            <a:endParaRPr lang="en-US" sz="880" dirty="0"/>
          </a:p>
        </p:txBody>
      </p:sp>
      <p:sp>
        <p:nvSpPr>
          <p:cNvPr id="20" name="Text 16"/>
          <p:cNvSpPr txBox="1"/>
          <p:nvPr/>
        </p:nvSpPr>
        <p:spPr>
          <a:xfrm>
            <a:off x="1153674" y="98067"/>
            <a:ext cx="63042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10 / 28</a:t>
            </a:r>
            <a:endParaRPr lang="en-US" sz="690" dirty="0"/>
          </a:p>
        </p:txBody>
      </p:sp>
      <p:sp>
        <p:nvSpPr>
          <p:cNvPr id="21" name="Text 17"/>
          <p:cNvSpPr txBox="1"/>
          <p:nvPr/>
        </p:nvSpPr>
        <p:spPr>
          <a:xfrm>
            <a:off x="1805117" y="98067"/>
            <a:ext cx="154104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Tiết 1 · 第 1 節</a:t>
            </a:r>
            <a:endParaRPr lang="en-US" sz="69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942514" y="0"/>
          <a:ext cx="1" cy="1"/>
          <a:chOff x="0" y="0"/>
          <a:chExt cx="0" cy="0"/>
        </a:xfrm>
      </p:grpSpPr>
      <p:sp>
        <p:nvSpPr>
          <p:cNvPr id="2" name="Text 0"/>
          <p:cNvSpPr txBox="1"/>
          <p:nvPr/>
        </p:nvSpPr>
        <p:spPr>
          <a:xfrm>
            <a:off x="1341758" y="333913"/>
            <a:ext cx="6460485" cy="217769"/>
          </a:xfrm>
          <a:prstGeom prst="rect">
            <a:avLst/>
          </a:prstGeom>
          <a:noFill/>
          <a:ln/>
        </p:spPr>
        <p:txBody>
          <a:bodyPr wrap="square" lIns="0" tIns="0" rIns="0" bIns="0" rtlCol="0" anchor="ctr"/>
          <a:lstStyle/>
          <a:p>
            <a:pPr indent="0" marL="0">
              <a:buNone/>
            </a:pPr>
            <a:r>
              <a:rPr lang="en-US" sz="990" b="1" dirty="0">
                <a:solidFill>
                  <a:srgbClr val="007F72"/>
                </a:solidFill>
                <a:latin typeface="Arial" pitchFamily="34" charset="0"/>
                <a:ea typeface="Arial" pitchFamily="34" charset="-122"/>
                <a:cs typeface="Arial" pitchFamily="34" charset="-120"/>
              </a:rPr>
              <a:t>Câu hỏi · 接下來三頁要回答的問題</a:t>
            </a:r>
            <a:endParaRPr lang="en-US" sz="990" dirty="0"/>
          </a:p>
        </p:txBody>
      </p:sp>
      <p:sp>
        <p:nvSpPr>
          <p:cNvPr id="3" name="Shape 1"/>
          <p:cNvSpPr/>
          <p:nvPr/>
        </p:nvSpPr>
        <p:spPr>
          <a:xfrm>
            <a:off x="1341758" y="874706"/>
            <a:ext cx="1959922" cy="1996217"/>
          </a:xfrm>
          <a:prstGeom prst="roundRect">
            <a:avLst>
              <a:gd name="adj" fmla="val 4444"/>
            </a:avLst>
          </a:prstGeom>
          <a:solidFill>
            <a:srgbClr val="F4F7FA"/>
          </a:solidFill>
          <a:ln w="12700">
            <a:solidFill>
              <a:srgbClr val="DBE3EA"/>
            </a:solidFill>
            <a:prstDash val="solid"/>
          </a:ln>
        </p:spPr>
      </p:sp>
      <p:sp>
        <p:nvSpPr>
          <p:cNvPr id="4" name="Shape 2"/>
          <p:cNvSpPr/>
          <p:nvPr/>
        </p:nvSpPr>
        <p:spPr>
          <a:xfrm>
            <a:off x="1478517" y="1314268"/>
            <a:ext cx="281068" cy="129291"/>
          </a:xfrm>
          <a:prstGeom prst="roundRect">
            <a:avLst>
              <a:gd name="adj" fmla="val 22000"/>
            </a:avLst>
          </a:prstGeom>
          <a:solidFill>
            <a:srgbClr val="8FA3B5"/>
          </a:solidFill>
          <a:ln/>
        </p:spPr>
      </p:sp>
      <p:sp>
        <p:nvSpPr>
          <p:cNvPr id="5" name="Shape 3"/>
          <p:cNvSpPr/>
          <p:nvPr/>
        </p:nvSpPr>
        <p:spPr>
          <a:xfrm>
            <a:off x="1585322" y="1340127"/>
            <a:ext cx="95563" cy="77574"/>
          </a:xfrm>
          <a:prstGeom prst="roundRect">
            <a:avLst>
              <a:gd name="adj" fmla="val 23333"/>
            </a:avLst>
          </a:prstGeom>
          <a:solidFill>
            <a:srgbClr val="FFFFFF"/>
          </a:solidFill>
          <a:ln/>
        </p:spPr>
      </p:sp>
      <p:sp>
        <p:nvSpPr>
          <p:cNvPr id="6" name="Shape 4"/>
          <p:cNvSpPr/>
          <p:nvPr/>
        </p:nvSpPr>
        <p:spPr>
          <a:xfrm>
            <a:off x="1759584" y="1281898"/>
            <a:ext cx="430033" cy="97017"/>
          </a:xfrm>
          <a:prstGeom prst="roundRect">
            <a:avLst>
              <a:gd name="adj" fmla="val 21818"/>
            </a:avLst>
          </a:prstGeom>
          <a:solidFill>
            <a:srgbClr val="D9463E"/>
          </a:solidFill>
          <a:ln/>
        </p:spPr>
      </p:sp>
      <p:sp>
        <p:nvSpPr>
          <p:cNvPr id="7" name="Text 5"/>
          <p:cNvSpPr txBox="1"/>
          <p:nvPr/>
        </p:nvSpPr>
        <p:spPr>
          <a:xfrm>
            <a:off x="1759584" y="1105505"/>
            <a:ext cx="527001" cy="176393"/>
          </a:xfrm>
          <a:prstGeom prst="rect">
            <a:avLst/>
          </a:prstGeom>
          <a:noFill/>
          <a:ln/>
        </p:spPr>
        <p:txBody>
          <a:bodyPr wrap="square" lIns="0" tIns="0" rIns="0" bIns="0" rtlCol="0" anchor="ctr"/>
          <a:lstStyle/>
          <a:p>
            <a:pPr algn="l" indent="0" marL="0">
              <a:buNone/>
            </a:pPr>
            <a:r>
              <a:rPr lang="en-US" sz="520" b="1" dirty="0">
                <a:solidFill>
                  <a:srgbClr val="D9463E"/>
                </a:solidFill>
                <a:latin typeface="Arial" pitchFamily="34" charset="0"/>
                <a:ea typeface="Arial" pitchFamily="34" charset="-122"/>
                <a:cs typeface="Arial" pitchFamily="34" charset="-120"/>
              </a:rPr>
              <a:t>射線</a:t>
            </a:r>
            <a:endParaRPr lang="en-US" sz="520" dirty="0"/>
          </a:p>
        </p:txBody>
      </p:sp>
      <p:sp>
        <p:nvSpPr>
          <p:cNvPr id="8" name="Shape 6"/>
          <p:cNvSpPr/>
          <p:nvPr/>
        </p:nvSpPr>
        <p:spPr>
          <a:xfrm>
            <a:off x="1759584" y="1405373"/>
            <a:ext cx="708290" cy="79377"/>
          </a:xfrm>
          <a:prstGeom prst="roundRect">
            <a:avLst>
              <a:gd name="adj" fmla="val 26667"/>
            </a:avLst>
          </a:prstGeom>
          <a:solidFill>
            <a:srgbClr val="D9463E"/>
          </a:solidFill>
          <a:ln/>
        </p:spPr>
      </p:sp>
      <p:sp>
        <p:nvSpPr>
          <p:cNvPr id="9" name="Text 7"/>
          <p:cNvSpPr txBox="1"/>
          <p:nvPr/>
        </p:nvSpPr>
        <p:spPr>
          <a:xfrm>
            <a:off x="1759584" y="1511209"/>
            <a:ext cx="527001" cy="176393"/>
          </a:xfrm>
          <a:prstGeom prst="rect">
            <a:avLst/>
          </a:prstGeom>
          <a:noFill/>
          <a:ln/>
        </p:spPr>
        <p:txBody>
          <a:bodyPr wrap="square" lIns="0" tIns="0" rIns="0" bIns="0" rtlCol="0" anchor="ctr"/>
          <a:lstStyle/>
          <a:p>
            <a:pPr algn="l" indent="0" marL="0">
              <a:buNone/>
            </a:pPr>
            <a:r>
              <a:rPr lang="en-US" sz="520" b="1" dirty="0">
                <a:solidFill>
                  <a:srgbClr val="D9463E"/>
                </a:solidFill>
                <a:latin typeface="Arial" pitchFamily="34" charset="0"/>
                <a:ea typeface="Arial" pitchFamily="34" charset="-122"/>
                <a:cs typeface="Arial" pitchFamily="34" charset="-120"/>
              </a:rPr>
              <a:t>煞停</a:t>
            </a:r>
            <a:endParaRPr lang="en-US" sz="520" dirty="0"/>
          </a:p>
        </p:txBody>
      </p:sp>
      <p:sp>
        <p:nvSpPr>
          <p:cNvPr id="10" name="Text 8"/>
          <p:cNvSpPr txBox="1"/>
          <p:nvPr/>
        </p:nvSpPr>
        <p:spPr>
          <a:xfrm>
            <a:off x="2954120" y="1273079"/>
            <a:ext cx="245934" cy="211672"/>
          </a:xfrm>
          <a:prstGeom prst="rect">
            <a:avLst/>
          </a:prstGeom>
          <a:noFill/>
          <a:ln/>
        </p:spPr>
        <p:txBody>
          <a:bodyPr wrap="square" lIns="0" tIns="0" rIns="0" bIns="0" rtlCol="0" anchor="ctr"/>
          <a:lstStyle/>
          <a:p>
            <a:pPr algn="ctr" indent="0" marL="0">
              <a:buNone/>
            </a:pPr>
            <a:r>
              <a:rPr lang="en-US" sz="600" b="1" dirty="0">
                <a:solidFill>
                  <a:srgbClr val="D9463E"/>
                </a:solidFill>
                <a:latin typeface="Arial" pitchFamily="34" charset="0"/>
                <a:ea typeface="Arial" pitchFamily="34" charset="-122"/>
                <a:cs typeface="Arial" pitchFamily="34" charset="-120"/>
              </a:rPr>
              <a:t>不夠</a:t>
            </a:r>
            <a:endParaRPr lang="en-US" sz="600" dirty="0"/>
          </a:p>
        </p:txBody>
      </p:sp>
      <p:sp>
        <p:nvSpPr>
          <p:cNvPr id="11" name="Shape 9"/>
          <p:cNvSpPr/>
          <p:nvPr/>
        </p:nvSpPr>
        <p:spPr>
          <a:xfrm>
            <a:off x="1478517" y="2090398"/>
            <a:ext cx="281068" cy="129291"/>
          </a:xfrm>
          <a:prstGeom prst="roundRect">
            <a:avLst>
              <a:gd name="adj" fmla="val 22000"/>
            </a:avLst>
          </a:prstGeom>
          <a:solidFill>
            <a:srgbClr val="8FA3B5"/>
          </a:solidFill>
          <a:ln/>
        </p:spPr>
      </p:sp>
      <p:sp>
        <p:nvSpPr>
          <p:cNvPr id="12" name="Shape 10"/>
          <p:cNvSpPr/>
          <p:nvPr/>
        </p:nvSpPr>
        <p:spPr>
          <a:xfrm>
            <a:off x="1585322" y="2116256"/>
            <a:ext cx="95563" cy="77574"/>
          </a:xfrm>
          <a:prstGeom prst="roundRect">
            <a:avLst>
              <a:gd name="adj" fmla="val 23333"/>
            </a:avLst>
          </a:prstGeom>
          <a:solidFill>
            <a:srgbClr val="FFFFFF"/>
          </a:solidFill>
          <a:ln/>
        </p:spPr>
      </p:sp>
      <p:sp>
        <p:nvSpPr>
          <p:cNvPr id="13" name="Shape 11"/>
          <p:cNvSpPr/>
          <p:nvPr/>
        </p:nvSpPr>
        <p:spPr>
          <a:xfrm>
            <a:off x="1759584" y="2058027"/>
            <a:ext cx="910658" cy="97017"/>
          </a:xfrm>
          <a:prstGeom prst="roundRect">
            <a:avLst>
              <a:gd name="adj" fmla="val 21818"/>
            </a:avLst>
          </a:prstGeom>
          <a:solidFill>
            <a:srgbClr val="D9463E"/>
          </a:solidFill>
          <a:ln/>
        </p:spPr>
      </p:sp>
      <p:sp>
        <p:nvSpPr>
          <p:cNvPr id="14" name="Text 12"/>
          <p:cNvSpPr txBox="1"/>
          <p:nvPr/>
        </p:nvSpPr>
        <p:spPr>
          <a:xfrm>
            <a:off x="1759584" y="1881634"/>
            <a:ext cx="527001" cy="176393"/>
          </a:xfrm>
          <a:prstGeom prst="rect">
            <a:avLst/>
          </a:prstGeom>
          <a:noFill/>
          <a:ln/>
        </p:spPr>
        <p:txBody>
          <a:bodyPr wrap="square" lIns="0" tIns="0" rIns="0" bIns="0" rtlCol="0" anchor="ctr"/>
          <a:lstStyle/>
          <a:p>
            <a:pPr algn="l" indent="0" marL="0">
              <a:buNone/>
            </a:pPr>
            <a:r>
              <a:rPr lang="en-US" sz="520" b="1" dirty="0">
                <a:solidFill>
                  <a:srgbClr val="D9463E"/>
                </a:solidFill>
                <a:latin typeface="Arial" pitchFamily="34" charset="0"/>
                <a:ea typeface="Arial" pitchFamily="34" charset="-122"/>
                <a:cs typeface="Arial" pitchFamily="34" charset="-120"/>
              </a:rPr>
              <a:t>射線</a:t>
            </a:r>
            <a:endParaRPr lang="en-US" sz="520" dirty="0"/>
          </a:p>
        </p:txBody>
      </p:sp>
      <p:sp>
        <p:nvSpPr>
          <p:cNvPr id="15" name="Shape 13"/>
          <p:cNvSpPr/>
          <p:nvPr/>
        </p:nvSpPr>
        <p:spPr>
          <a:xfrm>
            <a:off x="1759584" y="2181503"/>
            <a:ext cx="708290" cy="79377"/>
          </a:xfrm>
          <a:prstGeom prst="roundRect">
            <a:avLst>
              <a:gd name="adj" fmla="val 26667"/>
            </a:avLst>
          </a:prstGeom>
          <a:solidFill>
            <a:srgbClr val="D9463E"/>
          </a:solidFill>
          <a:ln/>
        </p:spPr>
      </p:sp>
      <p:sp>
        <p:nvSpPr>
          <p:cNvPr id="16" name="Text 14"/>
          <p:cNvSpPr txBox="1"/>
          <p:nvPr/>
        </p:nvSpPr>
        <p:spPr>
          <a:xfrm>
            <a:off x="1759584" y="2287338"/>
            <a:ext cx="527001" cy="176393"/>
          </a:xfrm>
          <a:prstGeom prst="rect">
            <a:avLst/>
          </a:prstGeom>
          <a:noFill/>
          <a:ln/>
        </p:spPr>
        <p:txBody>
          <a:bodyPr wrap="square" lIns="0" tIns="0" rIns="0" bIns="0" rtlCol="0" anchor="ctr"/>
          <a:lstStyle/>
          <a:p>
            <a:pPr algn="l" indent="0" marL="0">
              <a:buNone/>
            </a:pPr>
            <a:r>
              <a:rPr lang="en-US" sz="520" b="1" dirty="0">
                <a:solidFill>
                  <a:srgbClr val="D9463E"/>
                </a:solidFill>
                <a:latin typeface="Arial" pitchFamily="34" charset="0"/>
                <a:ea typeface="Arial" pitchFamily="34" charset="-122"/>
                <a:cs typeface="Arial" pitchFamily="34" charset="-120"/>
              </a:rPr>
              <a:t>煞停</a:t>
            </a:r>
            <a:endParaRPr lang="en-US" sz="520" dirty="0"/>
          </a:p>
        </p:txBody>
      </p:sp>
      <p:sp>
        <p:nvSpPr>
          <p:cNvPr id="17" name="Text 15"/>
          <p:cNvSpPr txBox="1"/>
          <p:nvPr/>
        </p:nvSpPr>
        <p:spPr>
          <a:xfrm>
            <a:off x="2954120" y="2049208"/>
            <a:ext cx="245934" cy="211672"/>
          </a:xfrm>
          <a:prstGeom prst="rect">
            <a:avLst/>
          </a:prstGeom>
          <a:noFill/>
          <a:ln/>
        </p:spPr>
        <p:txBody>
          <a:bodyPr wrap="square" lIns="0" tIns="0" rIns="0" bIns="0" rtlCol="0" anchor="ctr"/>
          <a:lstStyle/>
          <a:p>
            <a:pPr algn="ctr" indent="0" marL="0">
              <a:buNone/>
            </a:pPr>
            <a:r>
              <a:rPr lang="en-US" sz="600" b="1" dirty="0">
                <a:solidFill>
                  <a:srgbClr val="2E9E6B"/>
                </a:solidFill>
                <a:latin typeface="Arial" pitchFamily="34" charset="0"/>
                <a:ea typeface="Arial" pitchFamily="34" charset="-122"/>
                <a:cs typeface="Arial" pitchFamily="34" charset="-120"/>
              </a:rPr>
              <a:t>夠</a:t>
            </a:r>
            <a:endParaRPr lang="en-US" sz="600" dirty="0"/>
          </a:p>
        </p:txBody>
      </p:sp>
      <p:sp>
        <p:nvSpPr>
          <p:cNvPr id="18" name="Text 16"/>
          <p:cNvSpPr txBox="1"/>
          <p:nvPr/>
        </p:nvSpPr>
        <p:spPr>
          <a:xfrm>
            <a:off x="3664629" y="907998"/>
            <a:ext cx="4137614" cy="1076497"/>
          </a:xfrm>
          <a:prstGeom prst="rect">
            <a:avLst/>
          </a:prstGeom>
          <a:noFill/>
          <a:ln/>
        </p:spPr>
        <p:txBody>
          <a:bodyPr wrap="square" lIns="0" tIns="0" rIns="0" bIns="0" rtlCol="0" anchor="t"/>
          <a:lstStyle/>
          <a:p>
            <a:pPr indent="0" marL="0">
              <a:lnSpc>
                <a:spcPct val="120000"/>
              </a:lnSpc>
              <a:buNone/>
            </a:pPr>
            <a:r>
              <a:rPr lang="en-US" sz="1830" b="1" dirty="0">
                <a:solidFill>
                  <a:srgbClr val="0B1F3A"/>
                </a:solidFill>
                <a:latin typeface="Arial" pitchFamily="34" charset="0"/>
                <a:ea typeface="Arial" pitchFamily="34" charset="-122"/>
                <a:cs typeface="Arial" pitchFamily="34" charset="-120"/>
              </a:rPr>
              <a:t>Chiều dài tia có một giới hạn dưới, không phải muốn chọn bao nhiêu cũng được</a:t>
            </a:r>
            <a:endParaRPr lang="en-US" sz="1830" dirty="0"/>
          </a:p>
          <a:p>
            <a:pPr indent="0" marL="0">
              <a:lnSpc>
                <a:spcPct val="120000"/>
              </a:lnSpc>
              <a:buNone/>
            </a:pPr>
            <a:r>
              <a:rPr lang="en-US" sz="1110" dirty="0">
                <a:solidFill>
                  <a:srgbClr val="007F72"/>
                </a:solidFill>
                <a:latin typeface="微軟正黑體" pitchFamily="34" charset="0"/>
                <a:ea typeface="微軟正黑體" pitchFamily="34" charset="-122"/>
                <a:cs typeface="微軟正黑體" pitchFamily="34" charset="-120"/>
              </a:rPr>
              <a:t>射線長度有一個下限，不是你想選多少就多少</a:t>
            </a:r>
            <a:endParaRPr lang="en-US" sz="1830" dirty="0"/>
          </a:p>
        </p:txBody>
      </p:sp>
      <p:sp>
        <p:nvSpPr>
          <p:cNvPr id="19" name="Text 17"/>
          <p:cNvSpPr txBox="1"/>
          <p:nvPr/>
        </p:nvSpPr>
        <p:spPr>
          <a:xfrm>
            <a:off x="3664629" y="2057084"/>
            <a:ext cx="4137614" cy="853137"/>
          </a:xfrm>
          <a:prstGeom prst="rect">
            <a:avLst/>
          </a:prstGeom>
          <a:noFill/>
          <a:ln/>
        </p:spPr>
        <p:txBody>
          <a:bodyPr wrap="square" lIns="0" tIns="0" rIns="0" bIns="0" rtlCol="0" anchor="t"/>
          <a:lstStyle/>
          <a:p>
            <a:pPr indent="0" marL="0">
              <a:lnSpc>
                <a:spcPct val="128000"/>
              </a:lnSpc>
              <a:buNone/>
            </a:pPr>
            <a:r>
              <a:rPr lang="en-US" sz="990" dirty="0">
                <a:solidFill>
                  <a:srgbClr val="5F7183"/>
                </a:solidFill>
                <a:latin typeface="Arial" pitchFamily="34" charset="0"/>
                <a:ea typeface="Arial" pitchFamily="34" charset="-122"/>
                <a:cs typeface="Arial" pitchFamily="34" charset="-120"/>
              </a:rPr>
              <a:t>Nếu lúc bạn nhìn thấy thì đã không kịp phanh, thì thấy cũng như không thấy. Vậy nên tia phải dài bao nhiêu không do cảm biến quyết định, mà do tốc độ xe quyết định.</a:t>
            </a:r>
            <a:endParaRPr lang="en-US" sz="990" dirty="0"/>
          </a:p>
          <a:p>
            <a:pPr indent="0" marL="0">
              <a:lnSpc>
                <a:spcPct val="128000"/>
              </a:lnSpc>
              <a:buNone/>
            </a:pPr>
            <a:r>
              <a:rPr lang="en-US" sz="910" dirty="0">
                <a:solidFill>
                  <a:srgbClr val="5F7183"/>
                </a:solidFill>
                <a:latin typeface="微軟正黑體" pitchFamily="34" charset="0"/>
                <a:ea typeface="微軟正黑體" pitchFamily="34" charset="-122"/>
                <a:cs typeface="微軟正黑體" pitchFamily="34" charset="-120"/>
              </a:rPr>
              <a:t>如果你看到的時候已經來不及煞車，看到跟沒看到是一樣的。所以射線要多長，不是感測器決定的，是車速決定的。</a:t>
            </a:r>
            <a:endParaRPr lang="en-US" sz="990" dirty="0"/>
          </a:p>
        </p:txBody>
      </p:sp>
      <p:sp>
        <p:nvSpPr>
          <p:cNvPr id="20" name="Shape 18"/>
          <p:cNvSpPr/>
          <p:nvPr/>
        </p:nvSpPr>
        <p:spPr>
          <a:xfrm>
            <a:off x="1341758" y="3106840"/>
            <a:ext cx="6460485" cy="493610"/>
          </a:xfrm>
          <a:prstGeom prst="roundRect">
            <a:avLst>
              <a:gd name="adj" fmla="val 13235"/>
            </a:avLst>
          </a:prstGeom>
          <a:solidFill>
            <a:srgbClr val="FFF6E3"/>
          </a:solidFill>
          <a:ln w="12700">
            <a:solidFill>
              <a:srgbClr val="FFB020"/>
            </a:solidFill>
            <a:prstDash val="solid"/>
          </a:ln>
        </p:spPr>
      </p:sp>
      <p:sp>
        <p:nvSpPr>
          <p:cNvPr id="21" name="Text 19"/>
          <p:cNvSpPr txBox="1"/>
          <p:nvPr/>
        </p:nvSpPr>
        <p:spPr>
          <a:xfrm>
            <a:off x="1486937" y="3150394"/>
            <a:ext cx="6170126" cy="435538"/>
          </a:xfrm>
          <a:prstGeom prst="rect">
            <a:avLst/>
          </a:prstGeom>
          <a:noFill/>
          <a:ln/>
        </p:spPr>
        <p:txBody>
          <a:bodyPr wrap="square" lIns="0" tIns="0" rIns="0" bIns="0" rtlCol="0" anchor="t"/>
          <a:lstStyle/>
          <a:p>
            <a:pPr indent="0" marL="0">
              <a:lnSpc>
                <a:spcPct val="116000"/>
              </a:lnSpc>
              <a:buNone/>
            </a:pPr>
            <a:r>
              <a:rPr lang="en-US" sz="950" b="1" dirty="0">
                <a:solidFill>
                  <a:srgbClr val="7A4E00"/>
                </a:solidFill>
                <a:latin typeface="Arial" pitchFamily="34" charset="0"/>
                <a:ea typeface="Arial" pitchFamily="34" charset="-122"/>
                <a:cs typeface="Arial" pitchFamily="34" charset="-120"/>
              </a:rPr>
              <a:t>Ba trang sau, ta tính ra con số đó.</a:t>
            </a:r>
            <a:endParaRPr lang="en-US" sz="950" dirty="0"/>
          </a:p>
          <a:p>
            <a:pPr indent="0" marL="0">
              <a:lnSpc>
                <a:spcPct val="116000"/>
              </a:lnSpc>
              <a:buNone/>
            </a:pPr>
            <a:r>
              <a:rPr lang="en-US" sz="870" dirty="0">
                <a:solidFill>
                  <a:srgbClr val="7A4E00"/>
                </a:solidFill>
                <a:latin typeface="微軟正黑體" pitchFamily="34" charset="0"/>
                <a:ea typeface="微軟正黑體" pitchFamily="34" charset="-122"/>
                <a:cs typeface="微軟正黑體" pitchFamily="34" charset="-120"/>
              </a:rPr>
              <a:t>接下來三頁，我們把這個下限算出來。</a:t>
            </a:r>
            <a:endParaRPr lang="en-US" sz="950" dirty="0"/>
          </a:p>
        </p:txBody>
      </p:sp>
      <p:pic>
        <p:nvPicPr>
          <p:cNvPr id="23" name="Image 0" descr="/Users/tsengchenghsun/Class/carClass/Claude outputs/第四週(10-1)/src/logo.png">    </p:cNvPr>
          <p:cNvPicPr>
            <a:picLocks noChangeAspect="1"/>
          </p:cNvPicPr>
          <p:nvPr/>
        </p:nvPicPr>
        <p:blipFill>
          <a:blip r:embed="rId1"/>
          <a:stretch>
            <a:fillRect/>
          </a:stretch>
        </p:blipFill>
        <p:spPr>
          <a:xfrm>
            <a:off x="7199748" y="87108"/>
            <a:ext cx="871077" cy="192460"/>
          </a:xfrm>
          <a:prstGeom prst="rect">
            <a:avLst/>
          </a:prstGeom>
        </p:spPr>
      </p:pic>
      <p:sp>
        <p:nvSpPr>
          <p:cNvPr id="24" name="Text 20"/>
          <p:cNvSpPr txBox="1"/>
          <p:nvPr/>
        </p:nvSpPr>
        <p:spPr>
          <a:xfrm>
            <a:off x="1029622" y="101626"/>
            <a:ext cx="653307" cy="203251"/>
          </a:xfrm>
          <a:prstGeom prst="rect">
            <a:avLst/>
          </a:prstGeom>
          <a:noFill/>
          <a:ln/>
        </p:spPr>
        <p:txBody>
          <a:bodyPr wrap="square" lIns="0" tIns="0" rIns="0" bIns="0" rtlCol="0" anchor="ctr"/>
          <a:lstStyle/>
          <a:p>
            <a:pPr indent="0" marL="0">
              <a:buNone/>
            </a:pPr>
            <a:r>
              <a:rPr lang="en-US" sz="710" dirty="0">
                <a:solidFill>
                  <a:srgbClr val="5F7183"/>
                </a:solidFill>
                <a:latin typeface="Arial" pitchFamily="34" charset="0"/>
                <a:ea typeface="Arial" pitchFamily="34" charset="-122"/>
                <a:cs typeface="Arial" pitchFamily="34" charset="-120"/>
              </a:rPr>
              <a:t>11 / 28</a:t>
            </a:r>
            <a:endParaRPr lang="en-US" sz="710" dirty="0"/>
          </a:p>
        </p:txBody>
      </p:sp>
      <p:sp>
        <p:nvSpPr>
          <p:cNvPr id="25" name="Text 21"/>
          <p:cNvSpPr txBox="1"/>
          <p:nvPr/>
        </p:nvSpPr>
        <p:spPr>
          <a:xfrm>
            <a:off x="1704706" y="101626"/>
            <a:ext cx="1596974" cy="203251"/>
          </a:xfrm>
          <a:prstGeom prst="rect">
            <a:avLst/>
          </a:prstGeom>
          <a:noFill/>
          <a:ln/>
        </p:spPr>
        <p:txBody>
          <a:bodyPr wrap="square" lIns="0" tIns="0" rIns="0" bIns="0" rtlCol="0" anchor="ctr"/>
          <a:lstStyle/>
          <a:p>
            <a:pPr indent="0" marL="0">
              <a:buNone/>
            </a:pPr>
            <a:r>
              <a:rPr lang="en-US" sz="710" dirty="0">
                <a:solidFill>
                  <a:srgbClr val="5F7183"/>
                </a:solidFill>
                <a:latin typeface="Arial" pitchFamily="34" charset="0"/>
                <a:ea typeface="Arial" pitchFamily="34" charset="-122"/>
                <a:cs typeface="Arial" pitchFamily="34" charset="-120"/>
              </a:rPr>
              <a:t>Tiết 1 · 第 1 節</a:t>
            </a:r>
            <a:endParaRPr lang="en-US" sz="7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1000125" y="0"/>
          <a:ext cx="1" cy="1"/>
          <a:chOff x="0" y="0"/>
          <a:chExt cx="0" cy="0"/>
        </a:xfrm>
      </p:grpSpPr>
      <p:sp>
        <p:nvSpPr>
          <p:cNvPr id="2" name="Text 0"/>
          <p:cNvSpPr txBox="1"/>
          <p:nvPr/>
        </p:nvSpPr>
        <p:spPr>
          <a:xfrm>
            <a:off x="1393031" y="300038"/>
            <a:ext cx="6357938" cy="214313"/>
          </a:xfrm>
          <a:prstGeom prst="rect">
            <a:avLst/>
          </a:prstGeom>
          <a:noFill/>
          <a:ln/>
        </p:spPr>
        <p:txBody>
          <a:bodyPr wrap="square" lIns="0" tIns="0" rIns="0" bIns="0" rtlCol="0" anchor="ctr"/>
          <a:lstStyle/>
          <a:p>
            <a:pPr indent="0" marL="0">
              <a:buNone/>
            </a:pPr>
            <a:r>
              <a:rPr lang="en-US" sz="980" b="1" dirty="0">
                <a:solidFill>
                  <a:srgbClr val="007F72"/>
                </a:solidFill>
                <a:latin typeface="Arial" pitchFamily="34" charset="0"/>
                <a:ea typeface="Arial" pitchFamily="34" charset="-122"/>
                <a:cs typeface="Arial" pitchFamily="34" charset="-120"/>
              </a:rPr>
              <a:t>Câu hỏi · 先問一個問題</a:t>
            </a:r>
            <a:endParaRPr lang="en-US" sz="980" dirty="0"/>
          </a:p>
        </p:txBody>
      </p:sp>
      <p:sp>
        <p:nvSpPr>
          <p:cNvPr id="3" name="Text 1"/>
          <p:cNvSpPr txBox="1"/>
          <p:nvPr/>
        </p:nvSpPr>
        <p:spPr>
          <a:xfrm>
            <a:off x="1393031" y="528638"/>
            <a:ext cx="6357938" cy="638228"/>
          </a:xfrm>
          <a:prstGeom prst="rect">
            <a:avLst/>
          </a:prstGeom>
          <a:noFill/>
          <a:ln/>
        </p:spPr>
        <p:txBody>
          <a:bodyPr wrap="square" lIns="0" tIns="0" rIns="0" bIns="0" rtlCol="0" anchor="t"/>
          <a:lstStyle/>
          <a:p>
            <a:pPr indent="0" marL="0">
              <a:lnSpc>
                <a:spcPct val="116000"/>
              </a:lnSpc>
              <a:buNone/>
            </a:pPr>
            <a:r>
              <a:rPr lang="en-US" sz="1480" b="1" dirty="0">
                <a:solidFill>
                  <a:srgbClr val="0B1F3A"/>
                </a:solidFill>
                <a:latin typeface="Arial" pitchFamily="34" charset="0"/>
                <a:ea typeface="Arial" pitchFamily="34" charset="-122"/>
                <a:cs typeface="Arial" pitchFamily="34" charset="-120"/>
              </a:rPr>
              <a:t>50 km/h, từ lúc thấy xe trước đến lúc dừng hẳn, tất cả đi được bao xa?</a:t>
            </a:r>
            <a:endParaRPr lang="en-US" sz="1480" dirty="0"/>
          </a:p>
          <a:p>
            <a:pPr indent="0" marL="0">
              <a:lnSpc>
                <a:spcPct val="116000"/>
              </a:lnSpc>
              <a:buNone/>
            </a:pPr>
            <a:r>
              <a:rPr lang="en-US" sz="980" dirty="0">
                <a:solidFill>
                  <a:srgbClr val="007F72"/>
                </a:solidFill>
                <a:latin typeface="微軟正黑體" pitchFamily="34" charset="0"/>
                <a:ea typeface="微軟正黑體" pitchFamily="34" charset="-122"/>
                <a:cs typeface="微軟正黑體" pitchFamily="34" charset="-120"/>
              </a:rPr>
              <a:t>時速 50，從看到前車到車子完全停住，一共走了多遠？</a:t>
            </a:r>
            <a:endParaRPr lang="en-US" sz="1480" dirty="0"/>
          </a:p>
        </p:txBody>
      </p:sp>
      <p:sp>
        <p:nvSpPr>
          <p:cNvPr id="4" name="Text 2"/>
          <p:cNvSpPr txBox="1"/>
          <p:nvPr/>
        </p:nvSpPr>
        <p:spPr>
          <a:xfrm>
            <a:off x="1393031" y="1253548"/>
            <a:ext cx="6357938" cy="313463"/>
          </a:xfrm>
          <a:prstGeom prst="rect">
            <a:avLst/>
          </a:prstGeom>
          <a:noFill/>
          <a:ln/>
        </p:spPr>
        <p:txBody>
          <a:bodyPr wrap="square" lIns="0" tIns="0" rIns="0" bIns="0" rtlCol="0" anchor="t"/>
          <a:lstStyle/>
          <a:p>
            <a:pPr indent="0" marL="0">
              <a:lnSpc>
                <a:spcPct val="124000"/>
              </a:lnSpc>
              <a:buNone/>
            </a:pPr>
            <a:r>
              <a:rPr lang="en-US" sz="900" dirty="0">
                <a:solidFill>
                  <a:srgbClr val="5F7183"/>
                </a:solidFill>
                <a:latin typeface="Arial" pitchFamily="34" charset="0"/>
                <a:ea typeface="Arial" pitchFamily="34" charset="-122"/>
                <a:cs typeface="Arial" pitchFamily="34" charset="-120"/>
              </a:rPr>
              <a:t>Đổi đơn vị trước: 50 km/h = 13,9 m/s (50 ÷ 3,6). Quãng đường này gồm hai đoạn, phải tính riêng.</a:t>
            </a:r>
            <a:endParaRPr lang="en-US" sz="900" dirty="0"/>
          </a:p>
          <a:p>
            <a:pPr indent="0" marL="0">
              <a:lnSpc>
                <a:spcPct val="124000"/>
              </a:lnSpc>
              <a:buNone/>
            </a:pPr>
            <a:r>
              <a:rPr lang="en-US" sz="820" dirty="0">
                <a:solidFill>
                  <a:srgbClr val="5F7183"/>
                </a:solidFill>
                <a:latin typeface="微軟正黑體" pitchFamily="34" charset="0"/>
                <a:ea typeface="微軟正黑體" pitchFamily="34" charset="-122"/>
                <a:cs typeface="微軟正黑體" pitchFamily="34" charset="-120"/>
              </a:rPr>
              <a:t>先換單位：時速 50 ＝ 每秒 13.9 公尺（50 ÷ 3.6）。這個距離分成兩段，要分開算。</a:t>
            </a:r>
            <a:endParaRPr lang="en-US" sz="900" dirty="0"/>
          </a:p>
        </p:txBody>
      </p:sp>
      <p:sp>
        <p:nvSpPr>
          <p:cNvPr id="5" name="Shape 3"/>
          <p:cNvSpPr/>
          <p:nvPr/>
        </p:nvSpPr>
        <p:spPr>
          <a:xfrm>
            <a:off x="1393031" y="1644078"/>
            <a:ext cx="3086100"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6" name="Shape 4"/>
          <p:cNvSpPr/>
          <p:nvPr/>
        </p:nvSpPr>
        <p:spPr>
          <a:xfrm>
            <a:off x="1393031" y="1644078"/>
            <a:ext cx="3086100" cy="42863"/>
          </a:xfrm>
          <a:prstGeom prst="rect">
            <a:avLst/>
          </a:prstGeom>
          <a:solidFill>
            <a:srgbClr val="0B1F3A"/>
          </a:solidFill>
          <a:ln/>
        </p:spPr>
      </p:sp>
      <p:sp>
        <p:nvSpPr>
          <p:cNvPr id="7" name="Text 5"/>
          <p:cNvSpPr txBox="1"/>
          <p:nvPr/>
        </p:nvSpPr>
        <p:spPr>
          <a:xfrm>
            <a:off x="1507331" y="1736947"/>
            <a:ext cx="2857500"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Đoạn 1 — quãng đường phản ứng</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第一段：反應距離</a:t>
            </a:r>
            <a:endParaRPr lang="en-US" sz="980" dirty="0"/>
          </a:p>
        </p:txBody>
      </p:sp>
      <p:sp>
        <p:nvSpPr>
          <p:cNvPr id="8" name="Text 6"/>
          <p:cNvSpPr txBox="1"/>
          <p:nvPr/>
        </p:nvSpPr>
        <p:spPr>
          <a:xfrm>
            <a:off x="1507331" y="2069463"/>
            <a:ext cx="2857500"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Từ lúc bạn thấy, đến lúc chân thật sự đạp phanh. Trong khoảng đó xe vẫn chạy full tốc độ, chưa chậm đi chút nào. Ta lấy 0,3 giây.</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從你看到，到腳真的踩到煞車。這段時間車子全速前進，一點都沒有慢下來。我們用 0.3 秒。</a:t>
            </a:r>
            <a:endParaRPr lang="en-US" sz="900" dirty="0"/>
          </a:p>
        </p:txBody>
      </p:sp>
      <p:sp>
        <p:nvSpPr>
          <p:cNvPr id="9" name="Shape 7"/>
          <p:cNvSpPr/>
          <p:nvPr/>
        </p:nvSpPr>
        <p:spPr>
          <a:xfrm>
            <a:off x="4664869" y="1644078"/>
            <a:ext cx="3086100"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0" name="Shape 8"/>
          <p:cNvSpPr/>
          <p:nvPr/>
        </p:nvSpPr>
        <p:spPr>
          <a:xfrm>
            <a:off x="4664869" y="1644078"/>
            <a:ext cx="3086100" cy="42863"/>
          </a:xfrm>
          <a:prstGeom prst="rect">
            <a:avLst/>
          </a:prstGeom>
          <a:solidFill>
            <a:srgbClr val="007F72"/>
          </a:solidFill>
          <a:ln/>
        </p:spPr>
      </p:sp>
      <p:sp>
        <p:nvSpPr>
          <p:cNvPr id="11" name="Text 9"/>
          <p:cNvSpPr txBox="1"/>
          <p:nvPr/>
        </p:nvSpPr>
        <p:spPr>
          <a:xfrm>
            <a:off x="4779169" y="1736947"/>
            <a:ext cx="2857500"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Đoạn 2 — quãng đường phanh</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第二段：煞車距離</a:t>
            </a:r>
            <a:endParaRPr lang="en-US" sz="980" dirty="0"/>
          </a:p>
        </p:txBody>
      </p:sp>
      <p:sp>
        <p:nvSpPr>
          <p:cNvPr id="12" name="Text 10"/>
          <p:cNvSpPr txBox="1"/>
          <p:nvPr/>
        </p:nvSpPr>
        <p:spPr>
          <a:xfrm>
            <a:off x="4779169" y="2069463"/>
            <a:ext cx="2857500"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Từ lúc đạp phanh đến lúc dừng hẳn. Xe con trên đường khô: mỗi giây giảm 6 m/s — đó là gia tốc hãm (deceleration). Con số 6 dùng suốt.</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腳踩下去之後，到車子完全停住。一般房車在乾柏油路上，每秒把車速減掉 6 公尺／秒——這叫減速度（deceleration），這個 6 一直用。</a:t>
            </a:r>
            <a:endParaRPr lang="en-US" sz="900" dirty="0"/>
          </a:p>
        </p:txBody>
      </p:sp>
      <p:sp>
        <p:nvSpPr>
          <p:cNvPr id="13" name="Shape 11"/>
          <p:cNvSpPr/>
          <p:nvPr/>
        </p:nvSpPr>
        <p:spPr>
          <a:xfrm>
            <a:off x="1393031" y="3128963"/>
            <a:ext cx="6357938" cy="471488"/>
          </a:xfrm>
          <a:prstGeom prst="roundRect">
            <a:avLst>
              <a:gd name="adj" fmla="val 13636"/>
            </a:avLst>
          </a:prstGeom>
          <a:solidFill>
            <a:srgbClr val="FFF6E3"/>
          </a:solidFill>
          <a:ln w="12700">
            <a:solidFill>
              <a:srgbClr val="FFB020"/>
            </a:solidFill>
            <a:prstDash val="solid"/>
          </a:ln>
        </p:spPr>
      </p:sp>
      <p:sp>
        <p:nvSpPr>
          <p:cNvPr id="14" name="Text 12"/>
          <p:cNvSpPr txBox="1"/>
          <p:nvPr/>
        </p:nvSpPr>
        <p:spPr>
          <a:xfrm>
            <a:off x="1535906" y="3171825"/>
            <a:ext cx="6072188" cy="400050"/>
          </a:xfrm>
          <a:prstGeom prst="rect">
            <a:avLst/>
          </a:prstGeom>
          <a:noFill/>
          <a:ln/>
        </p:spPr>
        <p:txBody>
          <a:bodyPr wrap="square" lIns="0" tIns="0" rIns="0" bIns="0" rtlCol="0" anchor="t"/>
          <a:lstStyle/>
          <a:p>
            <a:pPr indent="0" marL="0">
              <a:lnSpc>
                <a:spcPct val="116000"/>
              </a:lnSpc>
              <a:buNone/>
            </a:pPr>
            <a:r>
              <a:rPr lang="en-US" sz="900" b="1" dirty="0">
                <a:solidFill>
                  <a:srgbClr val="7A4E00"/>
                </a:solidFill>
                <a:latin typeface="Arial" pitchFamily="34" charset="0"/>
                <a:ea typeface="Arial" pitchFamily="34" charset="-122"/>
                <a:cs typeface="Arial" pitchFamily="34" charset="-120"/>
              </a:rPr>
              <a:t>Đoạn 1 dễ tính: 13,9 × 0,3 = 4,2 m. Khó là đoạn 2.</a:t>
            </a:r>
            <a:endParaRPr lang="en-US" sz="900" dirty="0"/>
          </a:p>
          <a:p>
            <a:pPr indent="0" marL="0">
              <a:lnSpc>
                <a:spcPct val="116000"/>
              </a:lnSpc>
              <a:buNone/>
            </a:pPr>
            <a:r>
              <a:rPr lang="en-US" sz="820" dirty="0">
                <a:solidFill>
                  <a:srgbClr val="7A4E00"/>
                </a:solidFill>
                <a:latin typeface="微軟正黑體" pitchFamily="34" charset="0"/>
                <a:ea typeface="微軟正黑體" pitchFamily="34" charset="-122"/>
                <a:cs typeface="微軟正黑體" pitchFamily="34" charset="-120"/>
              </a:rPr>
              <a:t>第一段很好算：13.9 × 0.3 ＝ 4.2 公尺。難的是第二段。</a:t>
            </a:r>
            <a:endParaRPr lang="en-US" sz="900" dirty="0"/>
          </a:p>
        </p:txBody>
      </p:sp>
      <p:pic>
        <p:nvPicPr>
          <p:cNvPr id="16" name="Image 0" descr="/Users/tsengchenghsun/Class/carClass/Claude outputs/第四週(10-1)/src/logo.png">    </p:cNvPr>
          <p:cNvPicPr>
            <a:picLocks noChangeAspect="1"/>
          </p:cNvPicPr>
          <p:nvPr/>
        </p:nvPicPr>
        <p:blipFill>
          <a:blip r:embed="rId1"/>
          <a:stretch>
            <a:fillRect/>
          </a:stretch>
        </p:blipFill>
        <p:spPr>
          <a:xfrm>
            <a:off x="7158038" y="85725"/>
            <a:ext cx="857250" cy="189405"/>
          </a:xfrm>
          <a:prstGeom prst="rect">
            <a:avLst/>
          </a:prstGeom>
        </p:spPr>
      </p:pic>
      <p:sp>
        <p:nvSpPr>
          <p:cNvPr id="17" name="Text 13"/>
          <p:cNvSpPr txBox="1"/>
          <p:nvPr/>
        </p:nvSpPr>
        <p:spPr>
          <a:xfrm>
            <a:off x="1085850" y="100013"/>
            <a:ext cx="642938"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12 / 28</a:t>
            </a:r>
            <a:endParaRPr lang="en-US" sz="700" dirty="0"/>
          </a:p>
        </p:txBody>
      </p:sp>
      <p:sp>
        <p:nvSpPr>
          <p:cNvPr id="18" name="Text 14"/>
          <p:cNvSpPr txBox="1"/>
          <p:nvPr/>
        </p:nvSpPr>
        <p:spPr>
          <a:xfrm>
            <a:off x="1750219" y="100013"/>
            <a:ext cx="1571625"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Tiết 1 · 第 1 節</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1000125" y="0"/>
          <a:ext cx="1" cy="1"/>
          <a:chOff x="0" y="0"/>
          <a:chExt cx="0" cy="0"/>
        </a:xfrm>
      </p:grpSpPr>
      <p:sp>
        <p:nvSpPr>
          <p:cNvPr id="2" name="Text 0"/>
          <p:cNvSpPr txBox="1"/>
          <p:nvPr/>
        </p:nvSpPr>
        <p:spPr>
          <a:xfrm>
            <a:off x="1393031" y="228600"/>
            <a:ext cx="6357938" cy="657225"/>
          </a:xfrm>
          <a:prstGeom prst="rect">
            <a:avLst/>
          </a:prstGeom>
          <a:noFill/>
          <a:ln/>
        </p:spPr>
        <p:txBody>
          <a:bodyPr wrap="square" lIns="0" tIns="0" rIns="0" bIns="0" rtlCol="0" anchor="t"/>
          <a:lstStyle/>
          <a:p>
            <a:pPr indent="0" marL="0">
              <a:lnSpc>
                <a:spcPct val="116000"/>
              </a:lnSpc>
              <a:buNone/>
            </a:pPr>
            <a:r>
              <a:rPr lang="en-US" sz="1720" b="1" dirty="0">
                <a:solidFill>
                  <a:srgbClr val="0B1F3A"/>
                </a:solidFill>
                <a:latin typeface="Arial" pitchFamily="34" charset="0"/>
                <a:ea typeface="Arial" pitchFamily="34" charset="-122"/>
                <a:cs typeface="Arial" pitchFamily="34" charset="-120"/>
              </a:rPr>
              <a:t>Quãng đường phanh tính thế nào? Tách ra hai bước là xong</a:t>
            </a:r>
            <a:endParaRPr lang="en-US" sz="1720" dirty="0"/>
          </a:p>
          <a:p>
            <a:pPr indent="0" marL="0">
              <a:lnSpc>
                <a:spcPct val="116000"/>
              </a:lnSpc>
              <a:buNone/>
            </a:pPr>
            <a:r>
              <a:rPr lang="en-US" sz="1050" dirty="0">
                <a:solidFill>
                  <a:srgbClr val="5F7183"/>
                </a:solidFill>
                <a:latin typeface="微軟正黑體" pitchFamily="34" charset="0"/>
                <a:ea typeface="微軟正黑體" pitchFamily="34" charset="-122"/>
                <a:cs typeface="微軟正黑體" pitchFamily="34" charset="-120"/>
              </a:rPr>
              <a:t>煞車距離怎麼算？拆成兩步就算得出來</a:t>
            </a:r>
            <a:endParaRPr lang="en-US" sz="1720" dirty="0"/>
          </a:p>
        </p:txBody>
      </p:sp>
      <p:sp>
        <p:nvSpPr>
          <p:cNvPr id="3" name="Shape 1"/>
          <p:cNvSpPr/>
          <p:nvPr/>
        </p:nvSpPr>
        <p:spPr>
          <a:xfrm>
            <a:off x="1393031" y="885825"/>
            <a:ext cx="1976438" cy="2228850"/>
          </a:xfrm>
          <a:prstGeom prst="roundRect">
            <a:avLst>
              <a:gd name="adj" fmla="val 36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4" name="Shape 2"/>
          <p:cNvSpPr/>
          <p:nvPr/>
        </p:nvSpPr>
        <p:spPr>
          <a:xfrm>
            <a:off x="2195513" y="1028700"/>
            <a:ext cx="371475" cy="371475"/>
          </a:xfrm>
          <a:prstGeom prst="ellipse">
            <a:avLst/>
          </a:prstGeom>
          <a:solidFill>
            <a:srgbClr val="0B1F3A"/>
          </a:solidFill>
          <a:ln/>
        </p:spPr>
      </p:sp>
      <p:sp>
        <p:nvSpPr>
          <p:cNvPr id="5" name="Text 3"/>
          <p:cNvSpPr txBox="1"/>
          <p:nvPr/>
        </p:nvSpPr>
        <p:spPr>
          <a:xfrm>
            <a:off x="2195513" y="1107281"/>
            <a:ext cx="371475" cy="214313"/>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1</a:t>
            </a:r>
            <a:endParaRPr lang="en-US" sz="1170" dirty="0"/>
          </a:p>
        </p:txBody>
      </p:sp>
      <p:sp>
        <p:nvSpPr>
          <p:cNvPr id="6" name="Text 4"/>
          <p:cNvSpPr txBox="1"/>
          <p:nvPr/>
        </p:nvSpPr>
        <p:spPr>
          <a:xfrm>
            <a:off x="1493044" y="1443038"/>
            <a:ext cx="1776413" cy="471488"/>
          </a:xfrm>
          <a:prstGeom prst="rect">
            <a:avLst/>
          </a:prstGeom>
          <a:noFill/>
          <a:ln/>
        </p:spPr>
        <p:txBody>
          <a:bodyPr wrap="square" lIns="0" tIns="0" rIns="0" bIns="0" rtlCol="0" anchor="t"/>
          <a:lstStyle/>
          <a:p>
            <a:pPr algn="ctr" indent="0" marL="0">
              <a:lnSpc>
                <a:spcPct val="116000"/>
              </a:lnSpc>
              <a:buNone/>
            </a:pPr>
            <a:r>
              <a:rPr lang="en-US" sz="1090" b="1" dirty="0">
                <a:solidFill>
                  <a:srgbClr val="0B1F3A"/>
                </a:solidFill>
                <a:latin typeface="Arial" pitchFamily="34" charset="0"/>
                <a:ea typeface="Arial" pitchFamily="34" charset="-122"/>
                <a:cs typeface="Arial" pitchFamily="34" charset="-120"/>
              </a:rPr>
              <a:t>Phanh bao lâu mới dừng?</a:t>
            </a:r>
            <a:endParaRPr lang="en-US" sz="1090" dirty="0"/>
          </a:p>
          <a:p>
            <a:pPr algn="ctr" indent="0" marL="0">
              <a:lnSpc>
                <a:spcPct val="116000"/>
              </a:lnSpc>
              <a:buNone/>
            </a:pPr>
            <a:r>
              <a:rPr lang="en-US" sz="940" dirty="0">
                <a:solidFill>
                  <a:srgbClr val="007F72"/>
                </a:solidFill>
                <a:latin typeface="微軟正黑體" pitchFamily="34" charset="0"/>
                <a:ea typeface="微軟正黑體" pitchFamily="34" charset="-122"/>
                <a:cs typeface="微軟正黑體" pitchFamily="34" charset="-120"/>
              </a:rPr>
              <a:t>煞多久才停？</a:t>
            </a:r>
            <a:endParaRPr lang="en-US" sz="1090" dirty="0"/>
          </a:p>
        </p:txBody>
      </p:sp>
      <p:sp>
        <p:nvSpPr>
          <p:cNvPr id="7" name="Text 5"/>
          <p:cNvSpPr txBox="1"/>
          <p:nvPr/>
        </p:nvSpPr>
        <p:spPr>
          <a:xfrm>
            <a:off x="1493044" y="1928813"/>
            <a:ext cx="1776413" cy="1100138"/>
          </a:xfrm>
          <a:prstGeom prst="rect">
            <a:avLst/>
          </a:prstGeom>
          <a:noFill/>
          <a:ln/>
        </p:spPr>
        <p:txBody>
          <a:bodyPr wrap="square" lIns="0" tIns="0" rIns="0" bIns="0" rtlCol="0" anchor="t"/>
          <a:lstStyle/>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50 km/h = 13,9 m/s</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Mỗi giây giảm 6:</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13,9 → 7,9 → 1,9 → 0 (2,3 s)</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時速 50 ＝ 每秒 13.9 公尺</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每秒減掉 6：</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13.9 → 7.9 → 1.9 → 0（2.3 秒）</a:t>
            </a:r>
            <a:endParaRPr lang="en-US" sz="900" dirty="0"/>
          </a:p>
        </p:txBody>
      </p:sp>
      <p:sp>
        <p:nvSpPr>
          <p:cNvPr id="8" name="Text 6"/>
          <p:cNvSpPr txBox="1"/>
          <p:nvPr/>
        </p:nvSpPr>
        <p:spPr>
          <a:xfrm>
            <a:off x="3369469" y="1600200"/>
            <a:ext cx="214313" cy="285750"/>
          </a:xfrm>
          <a:prstGeom prst="rect">
            <a:avLst/>
          </a:prstGeom>
          <a:noFill/>
          <a:ln/>
        </p:spPr>
        <p:txBody>
          <a:bodyPr wrap="square" lIns="0" tIns="0" rIns="0" bIns="0" rtlCol="0" anchor="ctr"/>
          <a:lstStyle/>
          <a:p>
            <a:pPr algn="ctr" indent="0" marL="0">
              <a:buNone/>
            </a:pPr>
            <a:r>
              <a:rPr lang="en-US" sz="1480" b="1" dirty="0">
                <a:solidFill>
                  <a:srgbClr val="00A896"/>
                </a:solidFill>
                <a:latin typeface="微軟正黑體" pitchFamily="34" charset="0"/>
                <a:ea typeface="微軟正黑體" pitchFamily="34" charset="-122"/>
                <a:cs typeface="微軟正黑體" pitchFamily="34" charset="-120"/>
              </a:rPr>
              <a:t>→</a:t>
            </a:r>
            <a:endParaRPr lang="en-US" sz="1480" dirty="0"/>
          </a:p>
        </p:txBody>
      </p:sp>
      <p:sp>
        <p:nvSpPr>
          <p:cNvPr id="9" name="Shape 7"/>
          <p:cNvSpPr/>
          <p:nvPr/>
        </p:nvSpPr>
        <p:spPr>
          <a:xfrm>
            <a:off x="3583781" y="885825"/>
            <a:ext cx="1976438" cy="2228850"/>
          </a:xfrm>
          <a:prstGeom prst="roundRect">
            <a:avLst>
              <a:gd name="adj" fmla="val 36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0" name="Shape 8"/>
          <p:cNvSpPr/>
          <p:nvPr/>
        </p:nvSpPr>
        <p:spPr>
          <a:xfrm>
            <a:off x="4386263" y="1028700"/>
            <a:ext cx="371475" cy="371475"/>
          </a:xfrm>
          <a:prstGeom prst="ellipse">
            <a:avLst/>
          </a:prstGeom>
          <a:solidFill>
            <a:srgbClr val="00A896"/>
          </a:solidFill>
          <a:ln/>
        </p:spPr>
      </p:sp>
      <p:sp>
        <p:nvSpPr>
          <p:cNvPr id="11" name="Text 9"/>
          <p:cNvSpPr txBox="1"/>
          <p:nvPr/>
        </p:nvSpPr>
        <p:spPr>
          <a:xfrm>
            <a:off x="4386263" y="1107281"/>
            <a:ext cx="371475" cy="214313"/>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2</a:t>
            </a:r>
            <a:endParaRPr lang="en-US" sz="1170" dirty="0"/>
          </a:p>
        </p:txBody>
      </p:sp>
      <p:sp>
        <p:nvSpPr>
          <p:cNvPr id="12" name="Text 10"/>
          <p:cNvSpPr txBox="1"/>
          <p:nvPr/>
        </p:nvSpPr>
        <p:spPr>
          <a:xfrm>
            <a:off x="3683794" y="1443038"/>
            <a:ext cx="1776413" cy="471488"/>
          </a:xfrm>
          <a:prstGeom prst="rect">
            <a:avLst/>
          </a:prstGeom>
          <a:noFill/>
          <a:ln/>
        </p:spPr>
        <p:txBody>
          <a:bodyPr wrap="square" lIns="0" tIns="0" rIns="0" bIns="0" rtlCol="0" anchor="t"/>
          <a:lstStyle/>
          <a:p>
            <a:pPr algn="ctr" indent="0" marL="0">
              <a:lnSpc>
                <a:spcPct val="116000"/>
              </a:lnSpc>
              <a:buNone/>
            </a:pPr>
            <a:r>
              <a:rPr lang="en-US" sz="1090" b="1" dirty="0">
                <a:solidFill>
                  <a:srgbClr val="0B1F3A"/>
                </a:solidFill>
                <a:latin typeface="Arial" pitchFamily="34" charset="0"/>
                <a:ea typeface="Arial" pitchFamily="34" charset="-122"/>
                <a:cs typeface="Arial" pitchFamily="34" charset="-120"/>
              </a:rPr>
              <a:t>Đi được bao xa?</a:t>
            </a:r>
            <a:endParaRPr lang="en-US" sz="1090" dirty="0"/>
          </a:p>
          <a:p>
            <a:pPr algn="ctr" indent="0" marL="0">
              <a:lnSpc>
                <a:spcPct val="116000"/>
              </a:lnSpc>
              <a:buNone/>
            </a:pPr>
            <a:r>
              <a:rPr lang="en-US" sz="940" dirty="0">
                <a:solidFill>
                  <a:srgbClr val="007F72"/>
                </a:solidFill>
                <a:latin typeface="微軟正黑體" pitchFamily="34" charset="0"/>
                <a:ea typeface="微軟正黑體" pitchFamily="34" charset="-122"/>
                <a:cs typeface="微軟正黑體" pitchFamily="34" charset="-120"/>
              </a:rPr>
              <a:t>這 2.3 秒跑多遠？</a:t>
            </a:r>
            <a:endParaRPr lang="en-US" sz="1090" dirty="0"/>
          </a:p>
        </p:txBody>
      </p:sp>
      <p:sp>
        <p:nvSpPr>
          <p:cNvPr id="13" name="Text 11"/>
          <p:cNvSpPr txBox="1"/>
          <p:nvPr/>
        </p:nvSpPr>
        <p:spPr>
          <a:xfrm>
            <a:off x="3683794" y="1928813"/>
            <a:ext cx="1776413" cy="1100138"/>
          </a:xfrm>
          <a:prstGeom prst="rect">
            <a:avLst/>
          </a:prstGeom>
          <a:noFill/>
          <a:ln/>
        </p:spPr>
        <p:txBody>
          <a:bodyPr wrap="square" lIns="0" tIns="0" rIns="0" bIns="0" rtlCol="0" anchor="t"/>
          <a:lstStyle/>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Tốc độ tụt từ 13,9 về 0.</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Trung bình = (13,9 + 0) ÷ 2 = 6,95</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6,95 × 2,3 giây ≈ 16 m</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速度從 13.9 直線掉到 0。</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平均 ＝（13.9 ＋ 0）÷ 2 ＝ 6.95</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6.95 × 2.3 秒 ≈ 16 公尺</a:t>
            </a:r>
            <a:endParaRPr lang="en-US" sz="900" dirty="0"/>
          </a:p>
        </p:txBody>
      </p:sp>
      <p:sp>
        <p:nvSpPr>
          <p:cNvPr id="14" name="Text 12"/>
          <p:cNvSpPr txBox="1"/>
          <p:nvPr/>
        </p:nvSpPr>
        <p:spPr>
          <a:xfrm>
            <a:off x="5560219" y="1600200"/>
            <a:ext cx="214313" cy="285750"/>
          </a:xfrm>
          <a:prstGeom prst="rect">
            <a:avLst/>
          </a:prstGeom>
          <a:noFill/>
          <a:ln/>
        </p:spPr>
        <p:txBody>
          <a:bodyPr wrap="square" lIns="0" tIns="0" rIns="0" bIns="0" rtlCol="0" anchor="ctr"/>
          <a:lstStyle/>
          <a:p>
            <a:pPr algn="ctr" indent="0" marL="0">
              <a:buNone/>
            </a:pPr>
            <a:r>
              <a:rPr lang="en-US" sz="1480" b="1" dirty="0">
                <a:solidFill>
                  <a:srgbClr val="00A896"/>
                </a:solidFill>
                <a:latin typeface="微軟正黑體" pitchFamily="34" charset="0"/>
                <a:ea typeface="微軟正黑體" pitchFamily="34" charset="-122"/>
                <a:cs typeface="微軟正黑體" pitchFamily="34" charset="-120"/>
              </a:rPr>
              <a:t>→</a:t>
            </a:r>
            <a:endParaRPr lang="en-US" sz="1480" dirty="0"/>
          </a:p>
        </p:txBody>
      </p:sp>
      <p:sp>
        <p:nvSpPr>
          <p:cNvPr id="15" name="Shape 13"/>
          <p:cNvSpPr/>
          <p:nvPr/>
        </p:nvSpPr>
        <p:spPr>
          <a:xfrm>
            <a:off x="5774531" y="885825"/>
            <a:ext cx="1976438" cy="2228850"/>
          </a:xfrm>
          <a:prstGeom prst="roundRect">
            <a:avLst>
              <a:gd name="adj" fmla="val 36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6" name="Shape 14"/>
          <p:cNvSpPr/>
          <p:nvPr/>
        </p:nvSpPr>
        <p:spPr>
          <a:xfrm>
            <a:off x="6577013" y="1028700"/>
            <a:ext cx="371475" cy="371475"/>
          </a:xfrm>
          <a:prstGeom prst="ellipse">
            <a:avLst/>
          </a:prstGeom>
          <a:solidFill>
            <a:srgbClr val="0B1F3A"/>
          </a:solidFill>
          <a:ln/>
        </p:spPr>
      </p:sp>
      <p:sp>
        <p:nvSpPr>
          <p:cNvPr id="17" name="Text 15"/>
          <p:cNvSpPr txBox="1"/>
          <p:nvPr/>
        </p:nvSpPr>
        <p:spPr>
          <a:xfrm>
            <a:off x="6577013" y="1107281"/>
            <a:ext cx="371475" cy="214313"/>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3</a:t>
            </a:r>
            <a:endParaRPr lang="en-US" sz="1170" dirty="0"/>
          </a:p>
        </p:txBody>
      </p:sp>
      <p:sp>
        <p:nvSpPr>
          <p:cNvPr id="18" name="Text 16"/>
          <p:cNvSpPr txBox="1"/>
          <p:nvPr/>
        </p:nvSpPr>
        <p:spPr>
          <a:xfrm>
            <a:off x="5874544" y="1443038"/>
            <a:ext cx="1776413" cy="471488"/>
          </a:xfrm>
          <a:prstGeom prst="rect">
            <a:avLst/>
          </a:prstGeom>
          <a:noFill/>
          <a:ln/>
        </p:spPr>
        <p:txBody>
          <a:bodyPr wrap="square" lIns="0" tIns="0" rIns="0" bIns="0" rtlCol="0" anchor="t"/>
          <a:lstStyle/>
          <a:p>
            <a:pPr algn="ctr" indent="0" marL="0">
              <a:lnSpc>
                <a:spcPct val="116000"/>
              </a:lnSpc>
              <a:buNone/>
            </a:pPr>
            <a:r>
              <a:rPr lang="en-US" sz="1090" b="1" dirty="0">
                <a:solidFill>
                  <a:srgbClr val="0B1F3A"/>
                </a:solidFill>
                <a:latin typeface="Arial" pitchFamily="34" charset="0"/>
                <a:ea typeface="Arial" pitchFamily="34" charset="-122"/>
                <a:cs typeface="Arial" pitchFamily="34" charset="-120"/>
              </a:rPr>
              <a:t>Ghép hai bước lại</a:t>
            </a:r>
            <a:endParaRPr lang="en-US" sz="1090" dirty="0"/>
          </a:p>
          <a:p>
            <a:pPr algn="ctr" indent="0" marL="0">
              <a:lnSpc>
                <a:spcPct val="116000"/>
              </a:lnSpc>
              <a:buNone/>
            </a:pPr>
            <a:r>
              <a:rPr lang="en-US" sz="940" dirty="0">
                <a:solidFill>
                  <a:srgbClr val="007F72"/>
                </a:solidFill>
                <a:latin typeface="微軟正黑體" pitchFamily="34" charset="0"/>
                <a:ea typeface="微軟正黑體" pitchFamily="34" charset="-122"/>
                <a:cs typeface="微軟正黑體" pitchFamily="34" charset="-120"/>
              </a:rPr>
              <a:t>把兩步合起來</a:t>
            </a:r>
            <a:endParaRPr lang="en-US" sz="1090" dirty="0"/>
          </a:p>
        </p:txBody>
      </p:sp>
      <p:sp>
        <p:nvSpPr>
          <p:cNvPr id="19" name="Text 17"/>
          <p:cNvSpPr txBox="1"/>
          <p:nvPr/>
        </p:nvSpPr>
        <p:spPr>
          <a:xfrm>
            <a:off x="5874544" y="1928813"/>
            <a:ext cx="1776413" cy="1100138"/>
          </a:xfrm>
          <a:prstGeom prst="rect">
            <a:avLst/>
          </a:prstGeom>
          <a:noFill/>
          <a:ln/>
        </p:spPr>
        <p:txBody>
          <a:bodyPr wrap="square" lIns="0" tIns="0" rIns="0" bIns="0" rtlCol="0" anchor="t"/>
          <a:lstStyle/>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tốc độ TB (v ÷ 2) × thời gian (v ÷ 6)</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 v² ÷ 12</a:t>
            </a:r>
            <a:endParaRPr lang="en-US" sz="900" dirty="0"/>
          </a:p>
          <a:p>
            <a:pPr algn="ctr" indent="0" marL="0">
              <a:lnSpc>
                <a:spcPct val="126000"/>
              </a:lnSpc>
              <a:buNone/>
            </a:pPr>
            <a:r>
              <a:rPr lang="en-US" sz="900" dirty="0">
                <a:solidFill>
                  <a:srgbClr val="5F7183"/>
                </a:solidFill>
                <a:latin typeface="Arial" pitchFamily="34" charset="0"/>
                <a:ea typeface="Arial" pitchFamily="34" charset="-122"/>
                <a:cs typeface="Arial" pitchFamily="34" charset="-120"/>
              </a:rPr>
              <a:t>2 là «lấy một nửa», 6 là gia tốc hãm</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平均速度（v ÷ 2）× 時間（v ÷ 6）</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 v² ÷ 12</a:t>
            </a:r>
            <a:endParaRPr lang="en-US" sz="900" dirty="0"/>
          </a:p>
          <a:p>
            <a:pPr algn="ctr" indent="0" marL="0">
              <a:lnSpc>
                <a:spcPct val="126000"/>
              </a:lnSpc>
              <a:buNone/>
            </a:pPr>
            <a:r>
              <a:rPr lang="en-US" sz="820" dirty="0">
                <a:solidFill>
                  <a:srgbClr val="5F7183"/>
                </a:solidFill>
                <a:latin typeface="微軟正黑體" pitchFamily="34" charset="0"/>
                <a:ea typeface="微軟正黑體" pitchFamily="34" charset="-122"/>
                <a:cs typeface="微軟正黑體" pitchFamily="34" charset="-120"/>
              </a:rPr>
              <a:t>2 是「取一半」，6 是減速度</a:t>
            </a:r>
            <a:endParaRPr lang="en-US" sz="900" dirty="0"/>
          </a:p>
        </p:txBody>
      </p:sp>
      <p:sp>
        <p:nvSpPr>
          <p:cNvPr id="20" name="Text 18"/>
          <p:cNvSpPr txBox="1"/>
          <p:nvPr/>
        </p:nvSpPr>
        <p:spPr>
          <a:xfrm>
            <a:off x="1393031" y="3186113"/>
            <a:ext cx="6357938" cy="414338"/>
          </a:xfrm>
          <a:prstGeom prst="rect">
            <a:avLst/>
          </a:prstGeom>
          <a:noFill/>
          <a:ln/>
        </p:spPr>
        <p:txBody>
          <a:bodyPr wrap="square" lIns="0" tIns="0" rIns="0" bIns="0" rtlCol="0" anchor="t"/>
          <a:lstStyle/>
          <a:p>
            <a:pPr indent="0" marL="0">
              <a:lnSpc>
                <a:spcPct val="118000"/>
              </a:lnSpc>
              <a:buNone/>
            </a:pPr>
            <a:r>
              <a:rPr lang="en-US" sz="940" b="1" dirty="0">
                <a:solidFill>
                  <a:srgbClr val="0B1F3A"/>
                </a:solidFill>
                <a:latin typeface="Arial" pitchFamily="34" charset="0"/>
                <a:ea typeface="Arial" pitchFamily="34" charset="-122"/>
                <a:cs typeface="Arial" pitchFamily="34" charset="-120"/>
              </a:rPr>
              <a:t>Quãng đường phanh ≈ 16 m. Lưu ý: v tính bằng m/s (13,9), không phải km/h (50).</a:t>
            </a:r>
            <a:endParaRPr lang="en-US" sz="940" dirty="0"/>
          </a:p>
          <a:p>
            <a:pPr indent="0" marL="0">
              <a:lnSpc>
                <a:spcPct val="118000"/>
              </a:lnSpc>
              <a:buNone/>
            </a:pPr>
            <a:r>
              <a:rPr lang="en-US" sz="860" dirty="0">
                <a:solidFill>
                  <a:srgbClr val="007F72"/>
                </a:solidFill>
                <a:latin typeface="微軟正黑體" pitchFamily="34" charset="0"/>
                <a:ea typeface="微軟正黑體" pitchFamily="34" charset="-122"/>
                <a:cs typeface="微軟正黑體" pitchFamily="34" charset="-120"/>
              </a:rPr>
              <a:t>煞車距離約 16 公尺。注意：v 要用每秒公尺 13.9，不是時速 50。</a:t>
            </a:r>
            <a:endParaRPr lang="en-US" sz="940" dirty="0"/>
          </a:p>
        </p:txBody>
      </p:sp>
      <p:pic>
        <p:nvPicPr>
          <p:cNvPr id="22" name="Image 0" descr="/Users/tsengchenghsun/Class/carClass/Claude outputs/第四週(10-1)/src/logo.png">    </p:cNvPr>
          <p:cNvPicPr>
            <a:picLocks noChangeAspect="1"/>
          </p:cNvPicPr>
          <p:nvPr/>
        </p:nvPicPr>
        <p:blipFill>
          <a:blip r:embed="rId1"/>
          <a:stretch>
            <a:fillRect/>
          </a:stretch>
        </p:blipFill>
        <p:spPr>
          <a:xfrm>
            <a:off x="7158038" y="85725"/>
            <a:ext cx="857250" cy="189405"/>
          </a:xfrm>
          <a:prstGeom prst="rect">
            <a:avLst/>
          </a:prstGeom>
        </p:spPr>
      </p:pic>
      <p:sp>
        <p:nvSpPr>
          <p:cNvPr id="23" name="Text 19"/>
          <p:cNvSpPr txBox="1"/>
          <p:nvPr/>
        </p:nvSpPr>
        <p:spPr>
          <a:xfrm>
            <a:off x="1085850" y="100013"/>
            <a:ext cx="642938"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13 / 28</a:t>
            </a:r>
            <a:endParaRPr lang="en-US" sz="700" dirty="0"/>
          </a:p>
        </p:txBody>
      </p:sp>
      <p:sp>
        <p:nvSpPr>
          <p:cNvPr id="24" name="Text 20"/>
          <p:cNvSpPr txBox="1"/>
          <p:nvPr/>
        </p:nvSpPr>
        <p:spPr>
          <a:xfrm>
            <a:off x="1750219" y="100013"/>
            <a:ext cx="1571625"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Tiết 1 · 第 1 節</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1069617" y="0"/>
          <a:ext cx="1" cy="1"/>
          <a:chOff x="0" y="0"/>
          <a:chExt cx="0" cy="0"/>
        </a:xfrm>
      </p:grpSpPr>
      <p:sp>
        <p:nvSpPr>
          <p:cNvPr id="2" name="Shape 0"/>
          <p:cNvSpPr/>
          <p:nvPr/>
        </p:nvSpPr>
        <p:spPr>
          <a:xfrm>
            <a:off x="6253144" y="-1050715"/>
            <a:ext cx="3222193" cy="3222193"/>
          </a:xfrm>
          <a:prstGeom prst="ellipse">
            <a:avLst/>
          </a:prstGeom>
          <a:solidFill>
            <a:srgbClr val="13314F"/>
          </a:solidFill>
          <a:ln w="12700">
            <a:solidFill>
              <a:srgbClr val="13314F"/>
            </a:solidFill>
            <a:prstDash val="solid"/>
          </a:ln>
        </p:spPr>
      </p:sp>
      <p:sp>
        <p:nvSpPr>
          <p:cNvPr id="3" name="Shape 1"/>
          <p:cNvSpPr/>
          <p:nvPr/>
        </p:nvSpPr>
        <p:spPr>
          <a:xfrm>
            <a:off x="7303859" y="1611096"/>
            <a:ext cx="1821239" cy="1821239"/>
          </a:xfrm>
          <a:prstGeom prst="ellipse">
            <a:avLst/>
          </a:prstGeom>
          <a:solidFill>
            <a:srgbClr val="007F72">
              <a:alpha val="28000"/>
            </a:srgbClr>
          </a:solidFill>
          <a:ln/>
        </p:spPr>
      </p:sp>
      <p:sp>
        <p:nvSpPr>
          <p:cNvPr id="4" name="Text 2"/>
          <p:cNvSpPr txBox="1"/>
          <p:nvPr/>
        </p:nvSpPr>
        <p:spPr>
          <a:xfrm>
            <a:off x="1454879" y="364248"/>
            <a:ext cx="5183527" cy="210143"/>
          </a:xfrm>
          <a:prstGeom prst="rect">
            <a:avLst/>
          </a:prstGeom>
          <a:noFill/>
          <a:ln/>
        </p:spPr>
        <p:txBody>
          <a:bodyPr wrap="square" lIns="0" tIns="0" rIns="0" bIns="0" rtlCol="0" anchor="ctr"/>
          <a:lstStyle/>
          <a:p>
            <a:pPr indent="0" marL="0">
              <a:buNone/>
            </a:pPr>
            <a:r>
              <a:rPr lang="en-US" sz="960" b="1" dirty="0">
                <a:solidFill>
                  <a:srgbClr val="FFB020"/>
                </a:solidFill>
                <a:latin typeface="Arial" pitchFamily="34" charset="0"/>
                <a:ea typeface="Arial" pitchFamily="34" charset="-122"/>
                <a:cs typeface="Arial" pitchFamily="34" charset="-120"/>
              </a:rPr>
              <a:t>Kết quả · 把兩段加起來</a:t>
            </a:r>
            <a:endParaRPr lang="en-US" sz="960" dirty="0"/>
          </a:p>
        </p:txBody>
      </p:sp>
      <p:sp>
        <p:nvSpPr>
          <p:cNvPr id="5" name="Text 3"/>
          <p:cNvSpPr txBox="1"/>
          <p:nvPr/>
        </p:nvSpPr>
        <p:spPr>
          <a:xfrm>
            <a:off x="1454879" y="602410"/>
            <a:ext cx="6164195" cy="770524"/>
          </a:xfrm>
          <a:prstGeom prst="rect">
            <a:avLst/>
          </a:prstGeom>
          <a:noFill/>
          <a:ln/>
        </p:spPr>
        <p:txBody>
          <a:bodyPr wrap="square" lIns="0" tIns="0" rIns="0" bIns="0" rtlCol="0" anchor="t"/>
          <a:lstStyle/>
          <a:p>
            <a:pPr indent="0" marL="0">
              <a:lnSpc>
                <a:spcPct val="120000"/>
              </a:lnSpc>
              <a:buNone/>
            </a:pPr>
            <a:r>
              <a:rPr lang="en-US" sz="1530" b="1" dirty="0">
                <a:solidFill>
                  <a:srgbClr val="FFFFFF"/>
                </a:solidFill>
                <a:latin typeface="Arial" pitchFamily="34" charset="0"/>
                <a:ea typeface="Arial" pitchFamily="34" charset="-122"/>
                <a:cs typeface="Arial" pitchFamily="34" charset="-120"/>
              </a:rPr>
              <a:t>Cộng hai đoạn lại khoảng 20 m, tia phải dài ít nhất 25 m</a:t>
            </a:r>
            <a:endParaRPr lang="en-US" sz="1530" dirty="0"/>
          </a:p>
          <a:p>
            <a:pPr indent="0" marL="0">
              <a:lnSpc>
                <a:spcPct val="120000"/>
              </a:lnSpc>
              <a:buNone/>
            </a:pPr>
            <a:r>
              <a:rPr lang="en-US" sz="1030" dirty="0">
                <a:solidFill>
                  <a:srgbClr val="AFC3D4"/>
                </a:solidFill>
                <a:latin typeface="微軟正黑體" pitchFamily="34" charset="0"/>
                <a:ea typeface="微軟正黑體" pitchFamily="34" charset="-122"/>
                <a:cs typeface="微軟正黑體" pitchFamily="34" charset="-120"/>
              </a:rPr>
              <a:t>兩段加起來約 20 公尺，射線至少要 25 公尺</a:t>
            </a:r>
            <a:endParaRPr lang="en-US" sz="1530" dirty="0"/>
          </a:p>
        </p:txBody>
      </p:sp>
      <p:sp>
        <p:nvSpPr>
          <p:cNvPr id="6" name="Shape 4"/>
          <p:cNvSpPr/>
          <p:nvPr/>
        </p:nvSpPr>
        <p:spPr>
          <a:xfrm>
            <a:off x="1454879" y="1232839"/>
            <a:ext cx="3222193" cy="1863268"/>
          </a:xfrm>
          <a:prstGeom prst="roundRect">
            <a:avLst>
              <a:gd name="adj" fmla="val 3759"/>
            </a:avLst>
          </a:prstGeom>
          <a:solidFill>
            <a:srgbClr val="FFFFFF"/>
          </a:solidFill>
          <a:ln w="12700">
            <a:solidFill>
              <a:srgbClr val="DBE3EA"/>
            </a:solidFill>
            <a:prstDash val="solid"/>
          </a:ln>
          <a:effectLst>
            <a:outerShdw sx="100000" sy="100000" kx="0" ky="0" algn="bl" rotWithShape="0" blurRad="76200" dist="12700" dir="5400000">
              <a:srgbClr val="9AAAB8">
                <a:alpha val="28000"/>
              </a:srgbClr>
            </a:outerShdw>
          </a:effectLst>
        </p:spPr>
      </p:sp>
      <p:pic>
        <p:nvPicPr>
          <p:cNvPr id="7" name="Image 0" descr="/Users/tsengchenghsun/Class/carClass/Claude outputs/第四週(10-1)/src/img/w4/brake.gif">    </p:cNvPr>
          <p:cNvPicPr>
            <a:picLocks noChangeAspect="1"/>
          </p:cNvPicPr>
          <p:nvPr/>
        </p:nvPicPr>
        <p:blipFill>
          <a:blip r:embed="rId1"/>
          <a:stretch>
            <a:fillRect/>
          </a:stretch>
        </p:blipFill>
        <p:spPr>
          <a:xfrm>
            <a:off x="1594974" y="1281872"/>
            <a:ext cx="2942002" cy="1765201"/>
          </a:xfrm>
          <a:prstGeom prst="rect">
            <a:avLst/>
          </a:prstGeom>
        </p:spPr>
      </p:pic>
      <p:sp>
        <p:nvSpPr>
          <p:cNvPr id="8" name="Shape 5"/>
          <p:cNvSpPr/>
          <p:nvPr/>
        </p:nvSpPr>
        <p:spPr>
          <a:xfrm>
            <a:off x="4887214" y="1253853"/>
            <a:ext cx="238162" cy="238162"/>
          </a:xfrm>
          <a:prstGeom prst="ellipse">
            <a:avLst/>
          </a:prstGeom>
          <a:solidFill>
            <a:srgbClr val="00A896"/>
          </a:solidFill>
          <a:ln/>
        </p:spPr>
      </p:sp>
      <p:sp>
        <p:nvSpPr>
          <p:cNvPr id="9" name="Text 6"/>
          <p:cNvSpPr txBox="1"/>
          <p:nvPr/>
        </p:nvSpPr>
        <p:spPr>
          <a:xfrm>
            <a:off x="4887214" y="1267863"/>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1</a:t>
            </a:r>
            <a:endParaRPr lang="en-US" sz="920" dirty="0"/>
          </a:p>
        </p:txBody>
      </p:sp>
      <p:sp>
        <p:nvSpPr>
          <p:cNvPr id="10" name="Text 7"/>
          <p:cNvSpPr txBox="1"/>
          <p:nvPr/>
        </p:nvSpPr>
        <p:spPr>
          <a:xfrm>
            <a:off x="5209434" y="1232839"/>
            <a:ext cx="2479687"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Vàng: quãng đường phản ứng 4,2 m — xe chưa chậm đi.</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黃色：反應距離 4.2 公尺，車子還沒慢下來。</a:t>
            </a:r>
            <a:endParaRPr lang="en-US" sz="880" dirty="0"/>
          </a:p>
        </p:txBody>
      </p:sp>
      <p:sp>
        <p:nvSpPr>
          <p:cNvPr id="11" name="Shape 8"/>
          <p:cNvSpPr/>
          <p:nvPr/>
        </p:nvSpPr>
        <p:spPr>
          <a:xfrm>
            <a:off x="4887214" y="1674826"/>
            <a:ext cx="238162" cy="238162"/>
          </a:xfrm>
          <a:prstGeom prst="ellipse">
            <a:avLst/>
          </a:prstGeom>
          <a:solidFill>
            <a:srgbClr val="00A896"/>
          </a:solidFill>
          <a:ln/>
        </p:spPr>
      </p:sp>
      <p:sp>
        <p:nvSpPr>
          <p:cNvPr id="12" name="Text 9"/>
          <p:cNvSpPr txBox="1"/>
          <p:nvPr/>
        </p:nvSpPr>
        <p:spPr>
          <a:xfrm>
            <a:off x="4887214" y="1688836"/>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2</a:t>
            </a:r>
            <a:endParaRPr lang="en-US" sz="920" dirty="0"/>
          </a:p>
        </p:txBody>
      </p:sp>
      <p:sp>
        <p:nvSpPr>
          <p:cNvPr id="13" name="Text 10"/>
          <p:cNvSpPr txBox="1"/>
          <p:nvPr/>
        </p:nvSpPr>
        <p:spPr>
          <a:xfrm>
            <a:off x="5209434" y="1653812"/>
            <a:ext cx="2479687"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Đỏ: quãng đường phanh 16,1 m — dài hơn hẳn đoạn vàng.</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紅色：煞車距離 16.1 公尺，比黃色長得多。</a:t>
            </a:r>
            <a:endParaRPr lang="en-US" sz="880" dirty="0"/>
          </a:p>
        </p:txBody>
      </p:sp>
      <p:sp>
        <p:nvSpPr>
          <p:cNvPr id="14" name="Shape 11"/>
          <p:cNvSpPr/>
          <p:nvPr/>
        </p:nvSpPr>
        <p:spPr>
          <a:xfrm>
            <a:off x="4887214" y="2095799"/>
            <a:ext cx="238162" cy="238162"/>
          </a:xfrm>
          <a:prstGeom prst="ellipse">
            <a:avLst/>
          </a:prstGeom>
          <a:solidFill>
            <a:srgbClr val="00A896"/>
          </a:solidFill>
          <a:ln/>
        </p:spPr>
      </p:sp>
      <p:sp>
        <p:nvSpPr>
          <p:cNvPr id="15" name="Text 12"/>
          <p:cNvSpPr txBox="1"/>
          <p:nvPr/>
        </p:nvSpPr>
        <p:spPr>
          <a:xfrm>
            <a:off x="4887214" y="2109809"/>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3</a:t>
            </a:r>
            <a:endParaRPr lang="en-US" sz="920" dirty="0"/>
          </a:p>
        </p:txBody>
      </p:sp>
      <p:sp>
        <p:nvSpPr>
          <p:cNvPr id="16" name="Text 13"/>
          <p:cNvSpPr txBox="1"/>
          <p:nvPr/>
        </p:nvSpPr>
        <p:spPr>
          <a:xfrm>
            <a:off x="5209434" y="2074785"/>
            <a:ext cx="2479687"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Vạch xanh: tia 25 m = 20 × 1,25 — dư 25%.</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綠線：射線 25 公尺 ＝ 20 × 1.25，多兩成五餘裕。</a:t>
            </a:r>
            <a:endParaRPr lang="en-US" sz="880" dirty="0"/>
          </a:p>
        </p:txBody>
      </p:sp>
      <p:sp>
        <p:nvSpPr>
          <p:cNvPr id="17" name="Shape 14"/>
          <p:cNvSpPr/>
          <p:nvPr/>
        </p:nvSpPr>
        <p:spPr>
          <a:xfrm>
            <a:off x="4887214" y="2446038"/>
            <a:ext cx="238162" cy="238162"/>
          </a:xfrm>
          <a:prstGeom prst="ellipse">
            <a:avLst/>
          </a:prstGeom>
          <a:solidFill>
            <a:srgbClr val="00A896"/>
          </a:solidFill>
          <a:ln/>
        </p:spPr>
      </p:sp>
      <p:sp>
        <p:nvSpPr>
          <p:cNvPr id="18" name="Text 15"/>
          <p:cNvSpPr txBox="1"/>
          <p:nvPr/>
        </p:nvSpPr>
        <p:spPr>
          <a:xfrm>
            <a:off x="4887214" y="2460047"/>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4</a:t>
            </a:r>
            <a:endParaRPr lang="en-US" sz="920" dirty="0"/>
          </a:p>
        </p:txBody>
      </p:sp>
      <p:sp>
        <p:nvSpPr>
          <p:cNvPr id="19" name="Text 16"/>
          <p:cNvSpPr txBox="1"/>
          <p:nvPr/>
        </p:nvSpPr>
        <p:spPr>
          <a:xfrm>
            <a:off x="5209434" y="2425024"/>
            <a:ext cx="2479687"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Công thức: quãng đường phanh = v × 0,3 + v² ÷ 12, với v tính bằng m/s.</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公式：煞停距離 ＝ v × 0.3 ＋ v² ÷ 12，v 用每秒公尺。</a:t>
            </a:r>
            <a:endParaRPr lang="en-US" sz="880" dirty="0"/>
          </a:p>
        </p:txBody>
      </p:sp>
      <p:sp>
        <p:nvSpPr>
          <p:cNvPr id="20" name="Shape 17"/>
          <p:cNvSpPr/>
          <p:nvPr/>
        </p:nvSpPr>
        <p:spPr>
          <a:xfrm>
            <a:off x="1454879" y="3166154"/>
            <a:ext cx="6234242" cy="434296"/>
          </a:xfrm>
          <a:prstGeom prst="roundRect">
            <a:avLst>
              <a:gd name="adj" fmla="val 12903"/>
            </a:avLst>
          </a:prstGeom>
          <a:solidFill>
            <a:srgbClr val="13314F"/>
          </a:solidFill>
          <a:ln w="12700">
            <a:solidFill>
              <a:srgbClr val="FFB020"/>
            </a:solidFill>
            <a:prstDash val="solid"/>
          </a:ln>
        </p:spPr>
      </p:sp>
      <p:sp>
        <p:nvSpPr>
          <p:cNvPr id="21" name="Text 18"/>
          <p:cNvSpPr txBox="1"/>
          <p:nvPr/>
        </p:nvSpPr>
        <p:spPr>
          <a:xfrm>
            <a:off x="1580965" y="3201178"/>
            <a:ext cx="5982071" cy="378257"/>
          </a:xfrm>
          <a:prstGeom prst="rect">
            <a:avLst/>
          </a:prstGeom>
          <a:noFill/>
          <a:ln/>
        </p:spPr>
        <p:txBody>
          <a:bodyPr wrap="square" lIns="0" tIns="0" rIns="0" bIns="0" rtlCol="0" anchor="t"/>
          <a:lstStyle/>
          <a:p>
            <a:pPr indent="0" marL="0">
              <a:lnSpc>
                <a:spcPct val="114000"/>
              </a:lnSpc>
              <a:buNone/>
            </a:pPr>
            <a:r>
              <a:rPr lang="en-US" sz="880" b="1" dirty="0">
                <a:solidFill>
                  <a:srgbClr val="FFB020"/>
                </a:solidFill>
                <a:latin typeface="Arial" pitchFamily="34" charset="0"/>
                <a:ea typeface="Arial" pitchFamily="34" charset="-122"/>
                <a:cs typeface="Arial" pitchFamily="34" charset="-120"/>
              </a:rPr>
              <a:t>Tia ngắn hơn quãng đường phanh thì thấy cũng vô ích. Giới hạn cứng.</a:t>
            </a:r>
            <a:endParaRPr lang="en-US" sz="880" dirty="0"/>
          </a:p>
          <a:p>
            <a:pPr indent="0" marL="0">
              <a:lnSpc>
                <a:spcPct val="114000"/>
              </a:lnSpc>
              <a:buNone/>
            </a:pPr>
            <a:r>
              <a:rPr lang="en-US" sz="800" dirty="0">
                <a:solidFill>
                  <a:srgbClr val="FFB020"/>
                </a:solidFill>
                <a:latin typeface="微軟正黑體" pitchFamily="34" charset="0"/>
                <a:ea typeface="微軟正黑體" pitchFamily="34" charset="-122"/>
                <a:cs typeface="微軟正黑體" pitchFamily="34" charset="-120"/>
              </a:rPr>
              <a:t>射線比煞停距離短，看到也沒用。這是硬下限。</a:t>
            </a:r>
            <a:endParaRPr lang="en-US" sz="880" dirty="0"/>
          </a:p>
        </p:txBody>
      </p:sp>
      <p:sp>
        <p:nvSpPr>
          <p:cNvPr id="23" name="Text 19"/>
          <p:cNvSpPr txBox="1"/>
          <p:nvPr/>
        </p:nvSpPr>
        <p:spPr>
          <a:xfrm>
            <a:off x="1153674" y="98067"/>
            <a:ext cx="63042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14 / 28</a:t>
            </a:r>
            <a:endParaRPr lang="en-US" sz="690" dirty="0"/>
          </a:p>
        </p:txBody>
      </p:sp>
      <p:sp>
        <p:nvSpPr>
          <p:cNvPr id="24" name="Text 20"/>
          <p:cNvSpPr txBox="1"/>
          <p:nvPr/>
        </p:nvSpPr>
        <p:spPr>
          <a:xfrm>
            <a:off x="1805117" y="98067"/>
            <a:ext cx="154104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Tiết 1 · 第 1 節</a:t>
            </a:r>
            <a:endParaRPr lang="en-US" sz="69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1000125" y="0"/>
          <a:ext cx="1" cy="1"/>
          <a:chOff x="0" y="0"/>
          <a:chExt cx="0" cy="0"/>
        </a:xfrm>
      </p:grpSpPr>
      <p:sp>
        <p:nvSpPr>
          <p:cNvPr id="2" name="Text 0"/>
          <p:cNvSpPr txBox="1"/>
          <p:nvPr/>
        </p:nvSpPr>
        <p:spPr>
          <a:xfrm>
            <a:off x="1393031" y="300038"/>
            <a:ext cx="6357938" cy="214313"/>
          </a:xfrm>
          <a:prstGeom prst="rect">
            <a:avLst/>
          </a:prstGeom>
          <a:noFill/>
          <a:ln/>
        </p:spPr>
        <p:txBody>
          <a:bodyPr wrap="square" lIns="0" tIns="0" rIns="0" bIns="0" rtlCol="0" anchor="ctr"/>
          <a:lstStyle/>
          <a:p>
            <a:pPr indent="0" marL="0">
              <a:buNone/>
            </a:pPr>
            <a:r>
              <a:rPr lang="en-US" sz="980" b="1" dirty="0">
                <a:solidFill>
                  <a:srgbClr val="007F72"/>
                </a:solidFill>
                <a:latin typeface="Arial" pitchFamily="34" charset="0"/>
                <a:ea typeface="Arial" pitchFamily="34" charset="-122"/>
                <a:cs typeface="Arial" pitchFamily="34" charset="-120"/>
              </a:rPr>
              <a:t>Giới hạn cứng · 第一個硬下限</a:t>
            </a:r>
            <a:endParaRPr lang="en-US" sz="980" dirty="0"/>
          </a:p>
        </p:txBody>
      </p:sp>
      <p:sp>
        <p:nvSpPr>
          <p:cNvPr id="3" name="Text 1"/>
          <p:cNvSpPr txBox="1"/>
          <p:nvPr/>
        </p:nvSpPr>
        <p:spPr>
          <a:xfrm>
            <a:off x="1393031" y="528638"/>
            <a:ext cx="6357938" cy="419605"/>
          </a:xfrm>
          <a:prstGeom prst="rect">
            <a:avLst/>
          </a:prstGeom>
          <a:noFill/>
          <a:ln/>
        </p:spPr>
        <p:txBody>
          <a:bodyPr wrap="square" lIns="0" tIns="0" rIns="0" bIns="0" rtlCol="0" anchor="t"/>
          <a:lstStyle/>
          <a:p>
            <a:pPr indent="0" marL="0">
              <a:lnSpc>
                <a:spcPct val="116000"/>
              </a:lnSpc>
              <a:buNone/>
            </a:pPr>
            <a:r>
              <a:rPr lang="en-US" sz="1480" b="1" dirty="0">
                <a:solidFill>
                  <a:srgbClr val="0B1F3A"/>
                </a:solidFill>
                <a:latin typeface="Arial" pitchFamily="34" charset="0"/>
                <a:ea typeface="Arial" pitchFamily="34" charset="-122"/>
                <a:cs typeface="Arial" pitchFamily="34" charset="-120"/>
              </a:rPr>
              <a:t>Thấy muộn hơn quãng đường này thì chắc chắn đâm</a:t>
            </a:r>
            <a:endParaRPr lang="en-US" sz="1480" dirty="0"/>
          </a:p>
          <a:p>
            <a:pPr indent="0" marL="0">
              <a:lnSpc>
                <a:spcPct val="116000"/>
              </a:lnSpc>
              <a:buNone/>
            </a:pPr>
            <a:r>
              <a:rPr lang="en-US" sz="980" dirty="0">
                <a:solidFill>
                  <a:srgbClr val="007F72"/>
                </a:solidFill>
                <a:latin typeface="微軟正黑體" pitchFamily="34" charset="0"/>
                <a:ea typeface="微軟正黑體" pitchFamily="34" charset="-122"/>
                <a:cs typeface="微軟正黑體" pitchFamily="34" charset="-120"/>
              </a:rPr>
              <a:t>比這個距離晚看到，就是一定撞</a:t>
            </a:r>
            <a:endParaRPr lang="en-US" sz="1480" dirty="0"/>
          </a:p>
        </p:txBody>
      </p:sp>
      <p:sp>
        <p:nvSpPr>
          <p:cNvPr id="4" name="Text 2"/>
          <p:cNvSpPr txBox="1"/>
          <p:nvPr/>
        </p:nvSpPr>
        <p:spPr>
          <a:xfrm>
            <a:off x="1393031" y="1013063"/>
            <a:ext cx="6357938" cy="313463"/>
          </a:xfrm>
          <a:prstGeom prst="rect">
            <a:avLst/>
          </a:prstGeom>
          <a:noFill/>
          <a:ln/>
        </p:spPr>
        <p:txBody>
          <a:bodyPr wrap="square" lIns="0" tIns="0" rIns="0" bIns="0" rtlCol="0" anchor="t"/>
          <a:lstStyle/>
          <a:p>
            <a:pPr indent="0" marL="0">
              <a:lnSpc>
                <a:spcPct val="124000"/>
              </a:lnSpc>
              <a:buNone/>
            </a:pPr>
            <a:r>
              <a:rPr lang="en-US" sz="900" dirty="0">
                <a:solidFill>
                  <a:srgbClr val="5F7183"/>
                </a:solidFill>
                <a:latin typeface="Arial" pitchFamily="34" charset="0"/>
                <a:ea typeface="Arial" pitchFamily="34" charset="-122"/>
                <a:cs typeface="Arial" pitchFamily="34" charset="-120"/>
              </a:rPr>
              <a:t>50 km/h: phanh mất khoảng 20 m, nên tia phải dài ít nhất 25 m.</a:t>
            </a:r>
            <a:endParaRPr lang="en-US" sz="900" dirty="0"/>
          </a:p>
          <a:p>
            <a:pPr indent="0" marL="0">
              <a:lnSpc>
                <a:spcPct val="124000"/>
              </a:lnSpc>
              <a:buNone/>
            </a:pPr>
            <a:r>
              <a:rPr lang="en-US" sz="820" dirty="0">
                <a:solidFill>
                  <a:srgbClr val="5F7183"/>
                </a:solidFill>
                <a:latin typeface="微軟正黑體" pitchFamily="34" charset="0"/>
                <a:ea typeface="微軟正黑體" pitchFamily="34" charset="-122"/>
                <a:cs typeface="微軟正黑體" pitchFamily="34" charset="-120"/>
              </a:rPr>
              <a:t>時速 50 的煞停距離大約 20 公尺，所以射線至少要 25 公尺。</a:t>
            </a:r>
            <a:endParaRPr lang="en-US" sz="900" dirty="0"/>
          </a:p>
        </p:txBody>
      </p:sp>
      <p:sp>
        <p:nvSpPr>
          <p:cNvPr id="5" name="Shape 3"/>
          <p:cNvSpPr/>
          <p:nvPr/>
        </p:nvSpPr>
        <p:spPr>
          <a:xfrm>
            <a:off x="1393031" y="1403593"/>
            <a:ext cx="1995488" cy="1668220"/>
          </a:xfrm>
          <a:prstGeom prst="roundRect">
            <a:avLst>
              <a:gd name="adj" fmla="val 4282"/>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6" name="Shape 4"/>
          <p:cNvSpPr/>
          <p:nvPr/>
        </p:nvSpPr>
        <p:spPr>
          <a:xfrm>
            <a:off x="1393031" y="1403593"/>
            <a:ext cx="1995488" cy="42863"/>
          </a:xfrm>
          <a:prstGeom prst="rect">
            <a:avLst/>
          </a:prstGeom>
          <a:solidFill>
            <a:srgbClr val="0B1F3A"/>
          </a:solidFill>
          <a:ln/>
        </p:spPr>
      </p:sp>
      <p:sp>
        <p:nvSpPr>
          <p:cNvPr id="7" name="Text 5"/>
          <p:cNvSpPr txBox="1"/>
          <p:nvPr/>
        </p:nvSpPr>
        <p:spPr>
          <a:xfrm>
            <a:off x="1507331" y="1496462"/>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Vì sao là «chắc chắn»</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為什麼是「一定」</a:t>
            </a:r>
            <a:endParaRPr lang="en-US" sz="980" dirty="0"/>
          </a:p>
        </p:txBody>
      </p:sp>
      <p:sp>
        <p:nvSpPr>
          <p:cNvPr id="8" name="Text 6"/>
          <p:cNvSpPr txBox="1"/>
          <p:nvPr/>
        </p:nvSpPr>
        <p:spPr>
          <a:xfrm>
            <a:off x="1507331" y="1828977"/>
            <a:ext cx="1766888" cy="1171398"/>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Vì về mặt vật lý xe đã không dừng lại kịp. Máy tính có quyết định hoàn hảo thì xe vẫn đâm.</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因為物理上已經停不下來了。電腦做出完美的決定，車子還是會撞上去。</a:t>
            </a:r>
            <a:endParaRPr lang="en-US" sz="900" dirty="0"/>
          </a:p>
        </p:txBody>
      </p:sp>
      <p:sp>
        <p:nvSpPr>
          <p:cNvPr id="9" name="Shape 7"/>
          <p:cNvSpPr/>
          <p:nvPr/>
        </p:nvSpPr>
        <p:spPr>
          <a:xfrm>
            <a:off x="3574256" y="1403593"/>
            <a:ext cx="1995488" cy="1668220"/>
          </a:xfrm>
          <a:prstGeom prst="roundRect">
            <a:avLst>
              <a:gd name="adj" fmla="val 4282"/>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0" name="Shape 8"/>
          <p:cNvSpPr/>
          <p:nvPr/>
        </p:nvSpPr>
        <p:spPr>
          <a:xfrm>
            <a:off x="3574256" y="1403593"/>
            <a:ext cx="1995488" cy="42863"/>
          </a:xfrm>
          <a:prstGeom prst="rect">
            <a:avLst/>
          </a:prstGeom>
          <a:solidFill>
            <a:srgbClr val="007F72"/>
          </a:solidFill>
          <a:ln/>
        </p:spPr>
      </p:sp>
      <p:sp>
        <p:nvSpPr>
          <p:cNvPr id="11" name="Text 9"/>
          <p:cNvSpPr txBox="1"/>
          <p:nvPr/>
        </p:nvSpPr>
        <p:spPr>
          <a:xfrm>
            <a:off x="3688556" y="1496462"/>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Vì sao dư thêm 5 m</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為什麼要多給 5 公尺</a:t>
            </a:r>
            <a:endParaRPr lang="en-US" sz="980" dirty="0"/>
          </a:p>
        </p:txBody>
      </p:sp>
      <p:sp>
        <p:nvSpPr>
          <p:cNvPr id="12" name="Text 10"/>
          <p:cNvSpPr txBox="1"/>
          <p:nvPr/>
        </p:nvSpPr>
        <p:spPr>
          <a:xfrm>
            <a:off x="3688556" y="1828977"/>
            <a:ext cx="1766888" cy="1171398"/>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Công thức cho ra là vừa đủ dừng — tức là dừng sát vào nó. Nên cộng thêm 25% dự phòng; ở 50 km/h đúng bằng 5 m.</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公式算的是「剛剛好停住」，而剛剛好等於貼著它停。所以要加兩成五的餘裕——時速 50 剛好是 5 公尺。</a:t>
            </a:r>
            <a:endParaRPr lang="en-US" sz="900" dirty="0"/>
          </a:p>
        </p:txBody>
      </p:sp>
      <p:sp>
        <p:nvSpPr>
          <p:cNvPr id="13" name="Shape 11"/>
          <p:cNvSpPr/>
          <p:nvPr/>
        </p:nvSpPr>
        <p:spPr>
          <a:xfrm>
            <a:off x="5755481" y="1403593"/>
            <a:ext cx="1995488" cy="1668220"/>
          </a:xfrm>
          <a:prstGeom prst="roundRect">
            <a:avLst>
              <a:gd name="adj" fmla="val 4282"/>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4" name="Shape 12"/>
          <p:cNvSpPr/>
          <p:nvPr/>
        </p:nvSpPr>
        <p:spPr>
          <a:xfrm>
            <a:off x="5755481" y="1403593"/>
            <a:ext cx="1995488" cy="42863"/>
          </a:xfrm>
          <a:prstGeom prst="rect">
            <a:avLst/>
          </a:prstGeom>
          <a:solidFill>
            <a:srgbClr val="FFB020"/>
          </a:solidFill>
          <a:ln/>
        </p:spPr>
      </p:sp>
      <p:sp>
        <p:nvSpPr>
          <p:cNvPr id="15" name="Text 13"/>
          <p:cNvSpPr txBox="1"/>
          <p:nvPr/>
        </p:nvSpPr>
        <p:spPr>
          <a:xfrm>
            <a:off x="5869781" y="1496462"/>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Ý nghĩa của nó</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這句話的意思</a:t>
            </a:r>
            <a:endParaRPr lang="en-US" sz="980" dirty="0"/>
          </a:p>
        </p:txBody>
      </p:sp>
      <p:sp>
        <p:nvSpPr>
          <p:cNvPr id="16" name="Text 14"/>
          <p:cNvSpPr txBox="1"/>
          <p:nvPr/>
        </p:nvSpPr>
        <p:spPr>
          <a:xfrm>
            <a:off x="5869781" y="1828977"/>
            <a:ext cx="1766888" cy="1171398"/>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Thông số cảm biến không phải muốn chọn bao nhiêu cũng được, mà bị tốc độ ép ra.</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感測器的規格不是想選多少就選多少，是被車速逼出來的。</a:t>
            </a:r>
            <a:endParaRPr lang="en-US" sz="900" dirty="0"/>
          </a:p>
        </p:txBody>
      </p:sp>
      <p:sp>
        <p:nvSpPr>
          <p:cNvPr id="17" name="Shape 15"/>
          <p:cNvSpPr/>
          <p:nvPr/>
        </p:nvSpPr>
        <p:spPr>
          <a:xfrm>
            <a:off x="1393031" y="3128963"/>
            <a:ext cx="6357938" cy="471488"/>
          </a:xfrm>
          <a:prstGeom prst="roundRect">
            <a:avLst>
              <a:gd name="adj" fmla="val 13636"/>
            </a:avLst>
          </a:prstGeom>
          <a:solidFill>
            <a:srgbClr val="FFF6E3"/>
          </a:solidFill>
          <a:ln w="12700">
            <a:solidFill>
              <a:srgbClr val="FFB020"/>
            </a:solidFill>
            <a:prstDash val="solid"/>
          </a:ln>
        </p:spPr>
      </p:sp>
      <p:sp>
        <p:nvSpPr>
          <p:cNvPr id="18" name="Text 16"/>
          <p:cNvSpPr txBox="1"/>
          <p:nvPr/>
        </p:nvSpPr>
        <p:spPr>
          <a:xfrm>
            <a:off x="1535906" y="3171825"/>
            <a:ext cx="6072188" cy="400050"/>
          </a:xfrm>
          <a:prstGeom prst="rect">
            <a:avLst/>
          </a:prstGeom>
          <a:noFill/>
          <a:ln/>
        </p:spPr>
        <p:txBody>
          <a:bodyPr wrap="square" lIns="0" tIns="0" rIns="0" bIns="0" rtlCol="0" anchor="t"/>
          <a:lstStyle/>
          <a:p>
            <a:pPr indent="0" marL="0">
              <a:lnSpc>
                <a:spcPct val="116000"/>
              </a:lnSpc>
              <a:buNone/>
            </a:pPr>
            <a:r>
              <a:rPr lang="en-US" sz="900" b="1" dirty="0">
                <a:solidFill>
                  <a:srgbClr val="7A4E00"/>
                </a:solidFill>
                <a:latin typeface="Arial" pitchFamily="34" charset="0"/>
                <a:ea typeface="Arial" pitchFamily="34" charset="-122"/>
                <a:cs typeface="Arial" pitchFamily="34" charset="-120"/>
              </a:rPr>
              <a:t>Tiết 3: để tia dưới 25 m là kéo phí công. Và con số này chỉ đúng trên đường nhựa khô.</a:t>
            </a:r>
            <a:endParaRPr lang="en-US" sz="900" dirty="0"/>
          </a:p>
          <a:p>
            <a:pPr indent="0" marL="0">
              <a:lnSpc>
                <a:spcPct val="116000"/>
              </a:lnSpc>
              <a:buNone/>
            </a:pPr>
            <a:r>
              <a:rPr lang="en-US" sz="820" dirty="0">
                <a:solidFill>
                  <a:srgbClr val="7A4E00"/>
                </a:solidFill>
                <a:latin typeface="微軟正黑體" pitchFamily="34" charset="0"/>
                <a:ea typeface="微軟正黑體" pitchFamily="34" charset="-122"/>
                <a:cs typeface="微軟正黑體" pitchFamily="34" charset="-120"/>
              </a:rPr>
              <a:t>第三節上機，射線長度低於 25 公尺就是白調。而且這個數字只在乾的柏油路上成立。</a:t>
            </a:r>
            <a:endParaRPr lang="en-US" sz="900" dirty="0"/>
          </a:p>
        </p:txBody>
      </p:sp>
      <p:pic>
        <p:nvPicPr>
          <p:cNvPr id="20" name="Image 0" descr="/Users/tsengchenghsun/Class/carClass/Claude outputs/第四週(10-1)/src/logo.png">    </p:cNvPr>
          <p:cNvPicPr>
            <a:picLocks noChangeAspect="1"/>
          </p:cNvPicPr>
          <p:nvPr/>
        </p:nvPicPr>
        <p:blipFill>
          <a:blip r:embed="rId1"/>
          <a:stretch>
            <a:fillRect/>
          </a:stretch>
        </p:blipFill>
        <p:spPr>
          <a:xfrm>
            <a:off x="7158038" y="85725"/>
            <a:ext cx="857250" cy="189405"/>
          </a:xfrm>
          <a:prstGeom prst="rect">
            <a:avLst/>
          </a:prstGeom>
        </p:spPr>
      </p:pic>
      <p:sp>
        <p:nvSpPr>
          <p:cNvPr id="21" name="Text 17"/>
          <p:cNvSpPr txBox="1"/>
          <p:nvPr/>
        </p:nvSpPr>
        <p:spPr>
          <a:xfrm>
            <a:off x="1085850" y="100013"/>
            <a:ext cx="642938"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15 / 28</a:t>
            </a:r>
            <a:endParaRPr lang="en-US" sz="700" dirty="0"/>
          </a:p>
        </p:txBody>
      </p:sp>
      <p:sp>
        <p:nvSpPr>
          <p:cNvPr id="22" name="Text 18"/>
          <p:cNvSpPr txBox="1"/>
          <p:nvPr/>
        </p:nvSpPr>
        <p:spPr>
          <a:xfrm>
            <a:off x="1750219" y="100013"/>
            <a:ext cx="1571625"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Tiết 1 · 第 1 節</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898071" y="0"/>
          <a:ext cx="1" cy="1"/>
          <a:chOff x="0" y="0"/>
          <a:chExt cx="0" cy="0"/>
        </a:xfrm>
      </p:grpSpPr>
      <p:sp>
        <p:nvSpPr>
          <p:cNvPr id="2" name="Text 0"/>
          <p:cNvSpPr txBox="1"/>
          <p:nvPr/>
        </p:nvSpPr>
        <p:spPr>
          <a:xfrm>
            <a:off x="1302204" y="293914"/>
            <a:ext cx="6539593" cy="220436"/>
          </a:xfrm>
          <a:prstGeom prst="rect">
            <a:avLst/>
          </a:prstGeom>
          <a:noFill/>
          <a:ln/>
        </p:spPr>
        <p:txBody>
          <a:bodyPr wrap="square" lIns="0" tIns="0" rIns="0" bIns="0" rtlCol="0" anchor="ctr"/>
          <a:lstStyle/>
          <a:p>
            <a:pPr indent="0" marL="0">
              <a:buNone/>
            </a:pPr>
            <a:r>
              <a:rPr lang="en-US" sz="1040" b="1" dirty="0">
                <a:solidFill>
                  <a:srgbClr val="007F72"/>
                </a:solidFill>
                <a:latin typeface="Arial" pitchFamily="34" charset="0"/>
                <a:ea typeface="Arial" pitchFamily="34" charset="-122"/>
                <a:cs typeface="Arial" pitchFamily="34" charset="-120"/>
              </a:rPr>
              <a:t>▶ Video · 煞停距離：為什麼看到了還是停不下來</a:t>
            </a:r>
            <a:endParaRPr lang="en-US" sz="1040" dirty="0"/>
          </a:p>
        </p:txBody>
      </p:sp>
      <p:sp>
        <p:nvSpPr>
          <p:cNvPr id="3" name="Text 1"/>
          <p:cNvSpPr txBox="1"/>
          <p:nvPr/>
        </p:nvSpPr>
        <p:spPr>
          <a:xfrm>
            <a:off x="1302204" y="543741"/>
            <a:ext cx="6539593" cy="450550"/>
          </a:xfrm>
          <a:prstGeom prst="rect">
            <a:avLst/>
          </a:prstGeom>
          <a:noFill/>
          <a:ln/>
        </p:spPr>
        <p:txBody>
          <a:bodyPr wrap="square" lIns="0" tIns="0" rIns="0" bIns="0" rtlCol="0" anchor="t"/>
          <a:lstStyle/>
          <a:p>
            <a:pPr indent="0" marL="0">
              <a:lnSpc>
                <a:spcPct val="116000"/>
              </a:lnSpc>
              <a:buNone/>
            </a:pPr>
            <a:r>
              <a:rPr lang="en-US" sz="1370" b="1" dirty="0">
                <a:solidFill>
                  <a:srgbClr val="0B1F3A"/>
                </a:solidFill>
                <a:latin typeface="Arial" pitchFamily="34" charset="0"/>
                <a:ea typeface="Arial" pitchFamily="34" charset="-122"/>
                <a:cs typeface="Arial" pitchFamily="34" charset="-120"/>
              </a:rPr>
              <a:t>Quãng đường phản ứng và quãng đường phanh — video này giảng lại</a:t>
            </a:r>
            <a:endParaRPr lang="en-US" sz="1370" dirty="0"/>
          </a:p>
          <a:p>
            <a:pPr indent="0" marL="0">
              <a:lnSpc>
                <a:spcPct val="116000"/>
              </a:lnSpc>
              <a:buNone/>
            </a:pPr>
            <a:r>
              <a:rPr lang="en-US" sz="1000" dirty="0">
                <a:solidFill>
                  <a:srgbClr val="5F7183"/>
                </a:solidFill>
                <a:latin typeface="微軟正黑體" pitchFamily="34" charset="0"/>
                <a:ea typeface="微軟正黑體" pitchFamily="34" charset="-122"/>
                <a:cs typeface="微軟正黑體" pitchFamily="34" charset="-120"/>
              </a:rPr>
              <a:t>反應距離和煞車距離，這支影片再講一次</a:t>
            </a:r>
            <a:endParaRPr lang="en-US" sz="1370" dirty="0"/>
          </a:p>
        </p:txBody>
      </p:sp>
      <p:sp>
        <p:nvSpPr>
          <p:cNvPr id="4" name="Shape 2"/>
          <p:cNvSpPr/>
          <p:nvPr/>
        </p:nvSpPr>
        <p:spPr>
          <a:xfrm>
            <a:off x="1302204" y="1008987"/>
            <a:ext cx="3137535" cy="2062418"/>
          </a:xfrm>
          <a:prstGeom prst="roundRect">
            <a:avLst>
              <a:gd name="adj" fmla="val 3563"/>
            </a:avLst>
          </a:prstGeom>
          <a:solidFill>
            <a:srgbClr val="F4F7FA"/>
          </a:solidFill>
          <a:ln w="12700">
            <a:solidFill>
              <a:srgbClr val="DBE3EA"/>
            </a:solidFill>
            <a:prstDash val="solid"/>
          </a:ln>
        </p:spPr>
      </p:sp>
      <p:sp>
        <p:nvSpPr>
          <p:cNvPr id="5" name="Text 3"/>
          <p:cNvSpPr txBox="1"/>
          <p:nvPr/>
        </p:nvSpPr>
        <p:spPr>
          <a:xfrm>
            <a:off x="1701339" y="1350142"/>
            <a:ext cx="835452" cy="208499"/>
          </a:xfrm>
          <a:prstGeom prst="rect">
            <a:avLst/>
          </a:prstGeom>
          <a:noFill/>
          <a:ln/>
        </p:spPr>
        <p:txBody>
          <a:bodyPr wrap="square" lIns="0" tIns="0" rIns="0" bIns="0" rtlCol="0" anchor="ctr"/>
          <a:lstStyle/>
          <a:p>
            <a:pPr algn="l" indent="0" marL="0">
              <a:buNone/>
            </a:pPr>
            <a:r>
              <a:rPr lang="en-US" sz="720" b="1" dirty="0">
                <a:solidFill>
                  <a:srgbClr val="6FA8DC"/>
                </a:solidFill>
                <a:latin typeface="Arial" pitchFamily="34" charset="0"/>
                <a:ea typeface="Arial" pitchFamily="34" charset="-122"/>
                <a:cs typeface="Arial" pitchFamily="34" charset="-120"/>
              </a:rPr>
              <a:t>khô  乾</a:t>
            </a:r>
            <a:endParaRPr lang="en-US" sz="720" dirty="0"/>
          </a:p>
        </p:txBody>
      </p:sp>
      <p:sp>
        <p:nvSpPr>
          <p:cNvPr id="6" name="Shape 4"/>
          <p:cNvSpPr/>
          <p:nvPr/>
        </p:nvSpPr>
        <p:spPr>
          <a:xfrm>
            <a:off x="1701339" y="1562492"/>
            <a:ext cx="501271" cy="230585"/>
          </a:xfrm>
          <a:prstGeom prst="roundRect">
            <a:avLst>
              <a:gd name="adj" fmla="val 22000"/>
            </a:avLst>
          </a:prstGeom>
          <a:solidFill>
            <a:srgbClr val="8FA3B5"/>
          </a:solidFill>
          <a:ln/>
        </p:spPr>
      </p:sp>
      <p:sp>
        <p:nvSpPr>
          <p:cNvPr id="7" name="Shape 5"/>
          <p:cNvSpPr/>
          <p:nvPr/>
        </p:nvSpPr>
        <p:spPr>
          <a:xfrm>
            <a:off x="1891822" y="1608609"/>
            <a:ext cx="170432" cy="138351"/>
          </a:xfrm>
          <a:prstGeom prst="roundRect">
            <a:avLst>
              <a:gd name="adj" fmla="val 23333"/>
            </a:avLst>
          </a:prstGeom>
          <a:solidFill>
            <a:srgbClr val="FFFFFF"/>
          </a:solidFill>
          <a:ln/>
        </p:spPr>
      </p:sp>
      <p:sp>
        <p:nvSpPr>
          <p:cNvPr id="8" name="Shape 6"/>
          <p:cNvSpPr/>
          <p:nvPr/>
        </p:nvSpPr>
        <p:spPr>
          <a:xfrm>
            <a:off x="2258307" y="1677785"/>
            <a:ext cx="1058238" cy="1"/>
          </a:xfrm>
          <a:prstGeom prst="line">
            <a:avLst/>
          </a:prstGeom>
          <a:noFill/>
          <a:ln w="63500">
            <a:solidFill>
              <a:srgbClr val="6FA8DC"/>
            </a:solidFill>
            <a:prstDash val="solid"/>
          </a:ln>
        </p:spPr>
      </p:sp>
      <p:sp>
        <p:nvSpPr>
          <p:cNvPr id="9" name="Shape 7"/>
          <p:cNvSpPr/>
          <p:nvPr/>
        </p:nvSpPr>
        <p:spPr>
          <a:xfrm>
            <a:off x="3316545" y="1543749"/>
            <a:ext cx="97469" cy="268071"/>
          </a:xfrm>
          <a:prstGeom prst="roundRect">
            <a:avLst>
              <a:gd name="adj" fmla="val 34286"/>
            </a:avLst>
          </a:prstGeom>
          <a:solidFill>
            <a:srgbClr val="3A4650"/>
          </a:solidFill>
          <a:ln/>
        </p:spPr>
      </p:sp>
      <p:sp>
        <p:nvSpPr>
          <p:cNvPr id="10" name="Text 8"/>
          <p:cNvSpPr txBox="1"/>
          <p:nvPr/>
        </p:nvSpPr>
        <p:spPr>
          <a:xfrm>
            <a:off x="1701339" y="1886285"/>
            <a:ext cx="835452" cy="208499"/>
          </a:xfrm>
          <a:prstGeom prst="rect">
            <a:avLst/>
          </a:prstGeom>
          <a:noFill/>
          <a:ln/>
        </p:spPr>
        <p:txBody>
          <a:bodyPr wrap="square" lIns="0" tIns="0" rIns="0" bIns="0" rtlCol="0" anchor="ctr"/>
          <a:lstStyle/>
          <a:p>
            <a:pPr algn="l" indent="0" marL="0">
              <a:buNone/>
            </a:pPr>
            <a:r>
              <a:rPr lang="en-US" sz="720" b="1" dirty="0">
                <a:solidFill>
                  <a:srgbClr val="D9463E"/>
                </a:solidFill>
                <a:latin typeface="Arial" pitchFamily="34" charset="0"/>
                <a:ea typeface="Arial" pitchFamily="34" charset="-122"/>
                <a:cs typeface="Arial" pitchFamily="34" charset="-120"/>
              </a:rPr>
              <a:t>ướt  濕</a:t>
            </a:r>
            <a:endParaRPr lang="en-US" sz="720" dirty="0"/>
          </a:p>
        </p:txBody>
      </p:sp>
      <p:sp>
        <p:nvSpPr>
          <p:cNvPr id="11" name="Shape 9"/>
          <p:cNvSpPr/>
          <p:nvPr/>
        </p:nvSpPr>
        <p:spPr>
          <a:xfrm>
            <a:off x="1701339" y="2098635"/>
            <a:ext cx="501271" cy="230585"/>
          </a:xfrm>
          <a:prstGeom prst="roundRect">
            <a:avLst>
              <a:gd name="adj" fmla="val 22000"/>
            </a:avLst>
          </a:prstGeom>
          <a:solidFill>
            <a:srgbClr val="8FA3B5"/>
          </a:solidFill>
          <a:ln/>
        </p:spPr>
      </p:sp>
      <p:sp>
        <p:nvSpPr>
          <p:cNvPr id="12" name="Shape 10"/>
          <p:cNvSpPr/>
          <p:nvPr/>
        </p:nvSpPr>
        <p:spPr>
          <a:xfrm>
            <a:off x="1891822" y="2144752"/>
            <a:ext cx="170432" cy="138351"/>
          </a:xfrm>
          <a:prstGeom prst="roundRect">
            <a:avLst>
              <a:gd name="adj" fmla="val 23333"/>
            </a:avLst>
          </a:prstGeom>
          <a:solidFill>
            <a:srgbClr val="FFFFFF"/>
          </a:solidFill>
          <a:ln/>
        </p:spPr>
      </p:sp>
      <p:sp>
        <p:nvSpPr>
          <p:cNvPr id="13" name="Shape 11"/>
          <p:cNvSpPr/>
          <p:nvPr/>
        </p:nvSpPr>
        <p:spPr>
          <a:xfrm>
            <a:off x="2258307" y="2213928"/>
            <a:ext cx="1726599" cy="1"/>
          </a:xfrm>
          <a:prstGeom prst="line">
            <a:avLst/>
          </a:prstGeom>
          <a:noFill/>
          <a:ln w="63500">
            <a:solidFill>
              <a:srgbClr val="D9463E"/>
            </a:solidFill>
            <a:prstDash val="solid"/>
          </a:ln>
        </p:spPr>
      </p:sp>
      <p:sp>
        <p:nvSpPr>
          <p:cNvPr id="14" name="Shape 12"/>
          <p:cNvSpPr/>
          <p:nvPr/>
        </p:nvSpPr>
        <p:spPr>
          <a:xfrm>
            <a:off x="3984906" y="2079892"/>
            <a:ext cx="97469" cy="268071"/>
          </a:xfrm>
          <a:prstGeom prst="roundRect">
            <a:avLst>
              <a:gd name="adj" fmla="val 34286"/>
            </a:avLst>
          </a:prstGeom>
          <a:solidFill>
            <a:srgbClr val="3A4650"/>
          </a:solidFill>
          <a:ln/>
        </p:spPr>
      </p:sp>
      <p:sp>
        <p:nvSpPr>
          <p:cNvPr id="15" name="Text 13"/>
          <p:cNvSpPr txBox="1"/>
          <p:nvPr/>
        </p:nvSpPr>
        <p:spPr>
          <a:xfrm>
            <a:off x="1449161" y="2630533"/>
            <a:ext cx="2843621" cy="382089"/>
          </a:xfrm>
          <a:prstGeom prst="rect">
            <a:avLst/>
          </a:prstGeom>
          <a:noFill/>
          <a:ln/>
        </p:spPr>
        <p:txBody>
          <a:bodyPr wrap="square" lIns="0" tIns="0" rIns="0" bIns="0" rtlCol="0" anchor="t"/>
          <a:lstStyle/>
          <a:p>
            <a:pPr algn="ctr" indent="0" marL="0">
              <a:lnSpc>
                <a:spcPct val="110000"/>
              </a:lnSpc>
              <a:buNone/>
            </a:pPr>
            <a:r>
              <a:rPr lang="en-US" sz="760" dirty="0">
                <a:solidFill>
                  <a:srgbClr val="5F7183"/>
                </a:solidFill>
                <a:latin typeface="Arial" pitchFamily="34" charset="0"/>
                <a:ea typeface="Arial" pitchFamily="34" charset="-122"/>
                <a:cs typeface="Arial" pitchFamily="34" charset="-120"/>
              </a:rPr>
              <a:t>Cùng tốc độ, đường ướt thì quãng đường phanh dài hơn hẳn — tiết 3 các bạn sẽ tự thấy.</a:t>
            </a:r>
            <a:endParaRPr lang="en-US" sz="760" dirty="0"/>
          </a:p>
          <a:p>
            <a:pPr algn="ctr" indent="0" marL="0">
              <a:lnSpc>
                <a:spcPct val="110000"/>
              </a:lnSpc>
              <a:buNone/>
            </a:pPr>
            <a:r>
              <a:rPr lang="en-US" sz="720" dirty="0">
                <a:solidFill>
                  <a:srgbClr val="5F7183"/>
                </a:solidFill>
                <a:latin typeface="微軟正黑體" pitchFamily="34" charset="0"/>
                <a:ea typeface="微軟正黑體" pitchFamily="34" charset="-122"/>
                <a:cs typeface="微軟正黑體" pitchFamily="34" charset="-120"/>
              </a:rPr>
              <a:t>同樣的車速，濕路面的煞車距離長得多——第三節各位會自己看到。</a:t>
            </a:r>
            <a:endParaRPr lang="en-US" sz="760" dirty="0"/>
          </a:p>
        </p:txBody>
      </p:sp>
      <p:sp>
        <p:nvSpPr>
          <p:cNvPr id="16" name="Shape 14"/>
          <p:cNvSpPr/>
          <p:nvPr/>
        </p:nvSpPr>
        <p:spPr>
          <a:xfrm>
            <a:off x="4704261" y="1008987"/>
            <a:ext cx="3137535" cy="2062418"/>
          </a:xfrm>
          <a:prstGeom prst="roundRect">
            <a:avLst>
              <a:gd name="adj" fmla="val 3563"/>
            </a:avLst>
          </a:prstGeom>
          <a:solidFill>
            <a:srgbClr val="F4F7FA"/>
          </a:solidFill>
          <a:ln w="12700">
            <a:solidFill>
              <a:srgbClr val="DBE3EA"/>
            </a:solidFill>
            <a:prstDash val="solid"/>
          </a:ln>
        </p:spPr>
      </p:sp>
      <p:sp>
        <p:nvSpPr>
          <p:cNvPr id="17" name="Shape 15"/>
          <p:cNvSpPr/>
          <p:nvPr/>
        </p:nvSpPr>
        <p:spPr>
          <a:xfrm>
            <a:off x="4851219" y="1141248"/>
            <a:ext cx="279219" cy="279219"/>
          </a:xfrm>
          <a:prstGeom prst="ellipse">
            <a:avLst/>
          </a:prstGeom>
          <a:solidFill>
            <a:srgbClr val="D9463E"/>
          </a:solidFill>
          <a:ln/>
        </p:spPr>
      </p:sp>
      <p:sp>
        <p:nvSpPr>
          <p:cNvPr id="18" name="Text 16"/>
          <p:cNvSpPr txBox="1"/>
          <p:nvPr/>
        </p:nvSpPr>
        <p:spPr>
          <a:xfrm>
            <a:off x="4851219" y="1177988"/>
            <a:ext cx="279219" cy="205740"/>
          </a:xfrm>
          <a:prstGeom prst="rect">
            <a:avLst/>
          </a:prstGeom>
          <a:noFill/>
          <a:ln/>
        </p:spPr>
        <p:txBody>
          <a:bodyPr wrap="square" lIns="0" tIns="0" rIns="0" bIns="0"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a:t>
            </a:r>
            <a:endParaRPr lang="en-US" sz="960" dirty="0"/>
          </a:p>
        </p:txBody>
      </p:sp>
      <p:sp>
        <p:nvSpPr>
          <p:cNvPr id="19" name="Text 17"/>
          <p:cNvSpPr txBox="1"/>
          <p:nvPr/>
        </p:nvSpPr>
        <p:spPr>
          <a:xfrm>
            <a:off x="5189220" y="1126553"/>
            <a:ext cx="2505619" cy="338001"/>
          </a:xfrm>
          <a:prstGeom prst="rect">
            <a:avLst/>
          </a:prstGeom>
          <a:noFill/>
          <a:ln/>
        </p:spPr>
        <p:txBody>
          <a:bodyPr wrap="square" lIns="0" tIns="0" rIns="0" bIns="0" rtlCol="0" anchor="ctr"/>
          <a:lstStyle/>
          <a:p>
            <a:pPr indent="0" marL="0">
              <a:buNone/>
            </a:pPr>
            <a:r>
              <a:rPr lang="en-US" sz="840" b="1" dirty="0">
                <a:solidFill>
                  <a:srgbClr val="0B1F3A"/>
                </a:solidFill>
                <a:latin typeface="Arial" pitchFamily="34" charset="0"/>
                <a:ea typeface="Arial" pitchFamily="34" charset="-122"/>
                <a:cs typeface="Arial" pitchFamily="34" charset="-120"/>
              </a:rPr>
              <a:t>Stopping Distance | Forces &amp; Motion | Physics</a:t>
            </a:r>
            <a:endParaRPr lang="en-US" sz="840" dirty="0"/>
          </a:p>
        </p:txBody>
      </p:sp>
      <p:sp>
        <p:nvSpPr>
          <p:cNvPr id="20" name="Text 18"/>
          <p:cNvSpPr txBox="1"/>
          <p:nvPr/>
        </p:nvSpPr>
        <p:spPr>
          <a:xfrm>
            <a:off x="4851219" y="1493945"/>
            <a:ext cx="2843621" cy="161653"/>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FuseSchool（教育頻道）　·　3:44，播到 2:30</a:t>
            </a:r>
            <a:endParaRPr lang="en-US" sz="720" dirty="0"/>
          </a:p>
        </p:txBody>
      </p:sp>
      <p:sp>
        <p:nvSpPr>
          <p:cNvPr id="21" name="Text 19">
            <a:hlinkClick r:id="rId1" tooltip=""/>
          </p:cNvPr>
          <p:cNvSpPr txBox="1"/>
          <p:nvPr/>
        </p:nvSpPr>
        <p:spPr>
          <a:xfrm>
            <a:off x="4851219" y="1640903"/>
            <a:ext cx="2843621" cy="161653"/>
          </a:xfrm>
          <a:prstGeom prst="rect">
            <a:avLst/>
          </a:prstGeom>
          <a:noFill/>
          <a:ln/>
        </p:spPr>
        <p:txBody>
          <a:bodyPr wrap="square" lIns="0" tIns="0" rIns="0" bIns="0" rtlCol="0" anchor="ctr"/>
          <a:lstStyle/>
          <a:p>
            <a:pPr indent="0" marL="0">
              <a:buNone/>
            </a:pPr>
            <a:r>
              <a:rPr lang="en-US" sz="680" u="sng" dirty="0">
                <a:solidFill>
                  <a:srgbClr val="1F6FB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https://www.youtube.com/watch?v=HTANxqGQcfI</a:t>
            </a:r>
            <a:endParaRPr lang="en-US" sz="680" dirty="0"/>
          </a:p>
        </p:txBody>
      </p:sp>
      <p:sp>
        <p:nvSpPr>
          <p:cNvPr id="22" name="Shape 20"/>
          <p:cNvSpPr/>
          <p:nvPr/>
        </p:nvSpPr>
        <p:spPr>
          <a:xfrm>
            <a:off x="4851219" y="1861338"/>
            <a:ext cx="29391" cy="191044"/>
          </a:xfrm>
          <a:prstGeom prst="rect">
            <a:avLst/>
          </a:prstGeom>
          <a:solidFill>
            <a:srgbClr val="00A896"/>
          </a:solidFill>
          <a:ln/>
        </p:spPr>
      </p:sp>
      <p:sp>
        <p:nvSpPr>
          <p:cNvPr id="23" name="Text 21"/>
          <p:cNvSpPr txBox="1"/>
          <p:nvPr/>
        </p:nvSpPr>
        <p:spPr>
          <a:xfrm>
            <a:off x="4954089" y="1831947"/>
            <a:ext cx="2755446" cy="366492"/>
          </a:xfrm>
          <a:prstGeom prst="rect">
            <a:avLst/>
          </a:prstGeom>
          <a:noFill/>
          <a:ln/>
        </p:spPr>
        <p:txBody>
          <a:bodyPr wrap="square" lIns="0" tIns="0" rIns="0" bIns="0" rtlCol="0" anchor="t"/>
          <a:lstStyle/>
          <a:p>
            <a:pPr indent="0" marL="0">
              <a:lnSpc>
                <a:spcPct val="118000"/>
              </a:lnSpc>
              <a:buNone/>
            </a:pPr>
            <a:r>
              <a:rPr lang="en-US" sz="760" dirty="0">
                <a:solidFill>
                  <a:srgbClr val="1A2733"/>
                </a:solidFill>
                <a:latin typeface="Arial" pitchFamily="34" charset="0"/>
                <a:ea typeface="Arial" pitchFamily="34" charset="-122"/>
                <a:cs typeface="Arial" pitchFamily="34" charset="-120"/>
              </a:rPr>
              <a:t>0:20–1:20　Quãng đường suy nghĩ: thời gian phản ứng (reaction time) × tốc độ.</a:t>
            </a:r>
            <a:endParaRPr lang="en-US" sz="760" dirty="0"/>
          </a:p>
          <a:p>
            <a:pPr indent="0" marL="0">
              <a:lnSpc>
                <a:spcPct val="118000"/>
              </a:lnSpc>
              <a:buNone/>
            </a:pPr>
            <a:r>
              <a:rPr lang="en-US" sz="720" dirty="0">
                <a:solidFill>
                  <a:srgbClr val="5F7183"/>
                </a:solidFill>
                <a:latin typeface="微軟正黑體" pitchFamily="34" charset="0"/>
                <a:ea typeface="微軟正黑體" pitchFamily="34" charset="-122"/>
                <a:cs typeface="微軟正黑體" pitchFamily="34" charset="-120"/>
              </a:rPr>
              <a:t>0:20–1:20　反應距離：反應時間（reaction time）× 速度。</a:t>
            </a:r>
            <a:endParaRPr lang="en-US" sz="760" dirty="0"/>
          </a:p>
        </p:txBody>
      </p:sp>
      <p:sp>
        <p:nvSpPr>
          <p:cNvPr id="24" name="Shape 22"/>
          <p:cNvSpPr/>
          <p:nvPr/>
        </p:nvSpPr>
        <p:spPr>
          <a:xfrm>
            <a:off x="4851219" y="2257222"/>
            <a:ext cx="29391" cy="191044"/>
          </a:xfrm>
          <a:prstGeom prst="rect">
            <a:avLst/>
          </a:prstGeom>
          <a:solidFill>
            <a:srgbClr val="00A896"/>
          </a:solidFill>
          <a:ln/>
        </p:spPr>
      </p:sp>
      <p:sp>
        <p:nvSpPr>
          <p:cNvPr id="25" name="Text 23"/>
          <p:cNvSpPr txBox="1"/>
          <p:nvPr/>
        </p:nvSpPr>
        <p:spPr>
          <a:xfrm>
            <a:off x="4954089" y="2227830"/>
            <a:ext cx="2755446" cy="366492"/>
          </a:xfrm>
          <a:prstGeom prst="rect">
            <a:avLst/>
          </a:prstGeom>
          <a:noFill/>
          <a:ln/>
        </p:spPr>
        <p:txBody>
          <a:bodyPr wrap="square" lIns="0" tIns="0" rIns="0" bIns="0" rtlCol="0" anchor="t"/>
          <a:lstStyle/>
          <a:p>
            <a:pPr indent="0" marL="0">
              <a:lnSpc>
                <a:spcPct val="118000"/>
              </a:lnSpc>
              <a:buNone/>
            </a:pPr>
            <a:r>
              <a:rPr lang="en-US" sz="760" dirty="0">
                <a:solidFill>
                  <a:srgbClr val="1A2733"/>
                </a:solidFill>
                <a:latin typeface="Arial" pitchFamily="34" charset="0"/>
                <a:ea typeface="Arial" pitchFamily="34" charset="-122"/>
                <a:cs typeface="Arial" pitchFamily="34" charset="-120"/>
              </a:rPr>
              <a:t>1:20–2:30　Quãng đường phanh: nhanh hơn hoặc nặng hơn thì dài hơn; đường ướt cũng dài hơn.</a:t>
            </a:r>
            <a:endParaRPr lang="en-US" sz="760" dirty="0"/>
          </a:p>
          <a:p>
            <a:pPr indent="0" marL="0">
              <a:lnSpc>
                <a:spcPct val="118000"/>
              </a:lnSpc>
              <a:buNone/>
            </a:pPr>
            <a:r>
              <a:rPr lang="en-US" sz="720" dirty="0">
                <a:solidFill>
                  <a:srgbClr val="5F7183"/>
                </a:solidFill>
                <a:latin typeface="微軟正黑體" pitchFamily="34" charset="0"/>
                <a:ea typeface="微軟正黑體" pitchFamily="34" charset="-122"/>
                <a:cs typeface="微軟正黑體" pitchFamily="34" charset="-120"/>
              </a:rPr>
              <a:t>1:20–2:30　煞車距離：車速快、車子重就變長；路面濕也變長。</a:t>
            </a:r>
            <a:endParaRPr lang="en-US" sz="760" dirty="0"/>
          </a:p>
        </p:txBody>
      </p:sp>
      <p:sp>
        <p:nvSpPr>
          <p:cNvPr id="26" name="Shape 24"/>
          <p:cNvSpPr/>
          <p:nvPr/>
        </p:nvSpPr>
        <p:spPr>
          <a:xfrm>
            <a:off x="4851219" y="2653105"/>
            <a:ext cx="29391" cy="191044"/>
          </a:xfrm>
          <a:prstGeom prst="rect">
            <a:avLst/>
          </a:prstGeom>
          <a:solidFill>
            <a:srgbClr val="00A896"/>
          </a:solidFill>
          <a:ln/>
        </p:spPr>
      </p:sp>
      <p:sp>
        <p:nvSpPr>
          <p:cNvPr id="27" name="Text 25"/>
          <p:cNvSpPr txBox="1"/>
          <p:nvPr/>
        </p:nvSpPr>
        <p:spPr>
          <a:xfrm>
            <a:off x="4954089" y="2623714"/>
            <a:ext cx="2755446" cy="252119"/>
          </a:xfrm>
          <a:prstGeom prst="rect">
            <a:avLst/>
          </a:prstGeom>
          <a:noFill/>
          <a:ln/>
        </p:spPr>
        <p:txBody>
          <a:bodyPr wrap="square" lIns="0" tIns="0" rIns="0" bIns="0" rtlCol="0" anchor="t"/>
          <a:lstStyle/>
          <a:p>
            <a:pPr indent="0" marL="0">
              <a:lnSpc>
                <a:spcPct val="118000"/>
              </a:lnSpc>
              <a:buNone/>
            </a:pPr>
            <a:r>
              <a:rPr lang="en-US" sz="760" dirty="0">
                <a:solidFill>
                  <a:srgbClr val="1A2733"/>
                </a:solidFill>
                <a:latin typeface="Arial" pitchFamily="34" charset="0"/>
                <a:ea typeface="Arial" pitchFamily="34" charset="-122"/>
                <a:cs typeface="Arial" pitchFamily="34" charset="-120"/>
              </a:rPr>
              <a:t>Câu hỏi: đoạn nào dài ra theo BÌNH PHƯƠNG của tốc độ?</a:t>
            </a:r>
            <a:endParaRPr lang="en-US" sz="760" dirty="0"/>
          </a:p>
          <a:p>
            <a:pPr indent="0" marL="0">
              <a:lnSpc>
                <a:spcPct val="118000"/>
              </a:lnSpc>
              <a:buNone/>
            </a:pPr>
            <a:r>
              <a:rPr lang="en-US" sz="720" dirty="0">
                <a:solidFill>
                  <a:srgbClr val="5F7183"/>
                </a:solidFill>
                <a:latin typeface="微軟正黑體" pitchFamily="34" charset="0"/>
                <a:ea typeface="微軟正黑體" pitchFamily="34" charset="-122"/>
                <a:cs typeface="微軟正黑體" pitchFamily="34" charset="-120"/>
              </a:rPr>
              <a:t>問題：哪一段是跟速度的平方成正比？</a:t>
            </a:r>
            <a:endParaRPr lang="en-US" sz="760" dirty="0"/>
          </a:p>
        </p:txBody>
      </p:sp>
      <p:sp>
        <p:nvSpPr>
          <p:cNvPr id="28" name="Shape 26"/>
          <p:cNvSpPr/>
          <p:nvPr/>
        </p:nvSpPr>
        <p:spPr>
          <a:xfrm>
            <a:off x="1302204" y="3159579"/>
            <a:ext cx="6539593" cy="440871"/>
          </a:xfrm>
          <a:prstGeom prst="roundRect">
            <a:avLst>
              <a:gd name="adj" fmla="val 15000"/>
            </a:avLst>
          </a:prstGeom>
          <a:solidFill>
            <a:srgbClr val="FFF6E3"/>
          </a:solidFill>
          <a:ln w="12700">
            <a:solidFill>
              <a:srgbClr val="FFB020"/>
            </a:solidFill>
            <a:prstDash val="solid"/>
          </a:ln>
        </p:spPr>
      </p:sp>
      <p:sp>
        <p:nvSpPr>
          <p:cNvPr id="29" name="Text 27"/>
          <p:cNvSpPr txBox="1"/>
          <p:nvPr/>
        </p:nvSpPr>
        <p:spPr>
          <a:xfrm>
            <a:off x="1449161" y="3211014"/>
            <a:ext cx="6245679" cy="352697"/>
          </a:xfrm>
          <a:prstGeom prst="rect">
            <a:avLst/>
          </a:prstGeom>
          <a:noFill/>
          <a:ln/>
        </p:spPr>
        <p:txBody>
          <a:bodyPr wrap="square" lIns="0" tIns="0" rIns="0" bIns="0" rtlCol="0" anchor="t"/>
          <a:lstStyle/>
          <a:p>
            <a:pPr indent="0" marL="0">
              <a:lnSpc>
                <a:spcPct val="114000"/>
              </a:lnSpc>
              <a:buNone/>
            </a:pPr>
            <a:r>
              <a:rPr lang="en-US" sz="920" b="1" dirty="0">
                <a:solidFill>
                  <a:srgbClr val="7A4E00"/>
                </a:solidFill>
                <a:latin typeface="Arial" pitchFamily="34" charset="0"/>
                <a:ea typeface="Arial" pitchFamily="34" charset="-122"/>
                <a:cs typeface="Arial" pitchFamily="34" charset="-120"/>
              </a:rPr>
              <a:t>Lời tiếng Anh. Bật phụ đề → Dịch tự động → Tiếng Việt. Dừng ở 2:30.</a:t>
            </a:r>
            <a:endParaRPr lang="en-US" sz="920" dirty="0"/>
          </a:p>
          <a:p>
            <a:pPr indent="0" marL="0">
              <a:lnSpc>
                <a:spcPct val="114000"/>
              </a:lnSpc>
              <a:buNone/>
            </a:pPr>
            <a:r>
              <a:rPr lang="en-US" sz="840" dirty="0">
                <a:solidFill>
                  <a:srgbClr val="7A4E00"/>
                </a:solidFill>
                <a:latin typeface="微軟正黑體" pitchFamily="34" charset="0"/>
                <a:ea typeface="微軟正黑體" pitchFamily="34" charset="-122"/>
                <a:cs typeface="微軟正黑體" pitchFamily="34" charset="-120"/>
              </a:rPr>
              <a:t>英文旁白。請開字幕 → 自動翻譯 → 越南文。播到 2:30 就停。</a:t>
            </a:r>
            <a:endParaRPr lang="en-US" sz="920" dirty="0"/>
          </a:p>
        </p:txBody>
      </p:sp>
      <p:pic>
        <p:nvPicPr>
          <p:cNvPr id="31" name="Image 0" descr="/Users/tsengchenghsun/Class/carClass/Claude outputs/第四週(10-1)/src/logo.png">    </p:cNvPr>
          <p:cNvPicPr>
            <a:picLocks noChangeAspect="1"/>
          </p:cNvPicPr>
          <p:nvPr/>
        </p:nvPicPr>
        <p:blipFill>
          <a:blip r:embed="rId2"/>
          <a:stretch>
            <a:fillRect/>
          </a:stretch>
        </p:blipFill>
        <p:spPr>
          <a:xfrm>
            <a:off x="7231924" y="88174"/>
            <a:ext cx="881743" cy="194817"/>
          </a:xfrm>
          <a:prstGeom prst="rect">
            <a:avLst/>
          </a:prstGeom>
        </p:spPr>
      </p:pic>
      <p:sp>
        <p:nvSpPr>
          <p:cNvPr id="32" name="Text 28"/>
          <p:cNvSpPr txBox="1"/>
          <p:nvPr/>
        </p:nvSpPr>
        <p:spPr>
          <a:xfrm>
            <a:off x="986246" y="102870"/>
            <a:ext cx="661307" cy="205740"/>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16 / 28</a:t>
            </a:r>
            <a:endParaRPr lang="en-US" sz="720" dirty="0"/>
          </a:p>
        </p:txBody>
      </p:sp>
      <p:sp>
        <p:nvSpPr>
          <p:cNvPr id="33" name="Text 29"/>
          <p:cNvSpPr txBox="1"/>
          <p:nvPr/>
        </p:nvSpPr>
        <p:spPr>
          <a:xfrm>
            <a:off x="1669596" y="102870"/>
            <a:ext cx="1616529" cy="205740"/>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Tiết 1 · 第 1 節</a:t>
            </a:r>
            <a:endParaRPr lang="en-US" sz="7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1337099" y="0"/>
          <a:ext cx="1" cy="1"/>
          <a:chOff x="0" y="0"/>
          <a:chExt cx="0" cy="0"/>
        </a:xfrm>
      </p:grpSpPr>
      <p:sp>
        <p:nvSpPr>
          <p:cNvPr id="2" name="Text 0"/>
          <p:cNvSpPr txBox="1"/>
          <p:nvPr/>
        </p:nvSpPr>
        <p:spPr>
          <a:xfrm>
            <a:off x="1692938" y="207034"/>
            <a:ext cx="5758123" cy="595222"/>
          </a:xfrm>
          <a:prstGeom prst="rect">
            <a:avLst/>
          </a:prstGeom>
          <a:noFill/>
          <a:ln/>
        </p:spPr>
        <p:txBody>
          <a:bodyPr wrap="square" lIns="0" tIns="0" rIns="0" bIns="0" rtlCol="0" anchor="t"/>
          <a:lstStyle/>
          <a:p>
            <a:pPr indent="0" marL="0">
              <a:lnSpc>
                <a:spcPct val="116000"/>
              </a:lnSpc>
              <a:buNone/>
            </a:pPr>
            <a:r>
              <a:rPr lang="en-US" sz="1560" b="1" dirty="0">
                <a:solidFill>
                  <a:srgbClr val="0B1F3A"/>
                </a:solidFill>
                <a:latin typeface="Arial" pitchFamily="34" charset="0"/>
                <a:ea typeface="Arial" pitchFamily="34" charset="-122"/>
                <a:cs typeface="Arial" pitchFamily="34" charset="-120"/>
              </a:rPr>
              <a:t>Năm tốc độ thường gặp, chiều dài tia phải ít nhất bao nhiêu</a:t>
            </a:r>
            <a:endParaRPr lang="en-US" sz="1560" dirty="0"/>
          </a:p>
          <a:p>
            <a:pPr indent="0" marL="0">
              <a:lnSpc>
                <a:spcPct val="116000"/>
              </a:lnSpc>
              <a:buNone/>
            </a:pPr>
            <a:r>
              <a:rPr lang="en-US" sz="960" dirty="0">
                <a:solidFill>
                  <a:srgbClr val="5F7183"/>
                </a:solidFill>
                <a:latin typeface="微軟正黑體" pitchFamily="34" charset="0"/>
                <a:ea typeface="微軟正黑體" pitchFamily="34" charset="-122"/>
                <a:cs typeface="微軟正黑體" pitchFamily="34" charset="-120"/>
              </a:rPr>
              <a:t>五個常見的車速，射線長度至少要多長</a:t>
            </a:r>
            <a:endParaRPr lang="en-US" sz="1560" dirty="0"/>
          </a:p>
        </p:txBody>
      </p:sp>
      <p:sp>
        <p:nvSpPr>
          <p:cNvPr id="3" name="Shape 1"/>
          <p:cNvSpPr/>
          <p:nvPr/>
        </p:nvSpPr>
        <p:spPr>
          <a:xfrm>
            <a:off x="1692938" y="935635"/>
            <a:ext cx="5758123" cy="504644"/>
          </a:xfrm>
          <a:prstGeom prst="roundRect">
            <a:avLst>
              <a:gd name="adj" fmla="val 10256"/>
            </a:avLst>
          </a:prstGeom>
          <a:solidFill>
            <a:srgbClr val="EAF6F4"/>
          </a:solidFill>
          <a:ln/>
        </p:spPr>
      </p:sp>
      <p:sp>
        <p:nvSpPr>
          <p:cNvPr id="4" name="Text 2"/>
          <p:cNvSpPr txBox="1"/>
          <p:nvPr/>
        </p:nvSpPr>
        <p:spPr>
          <a:xfrm>
            <a:off x="1796455" y="987393"/>
            <a:ext cx="5551089" cy="401128"/>
          </a:xfrm>
          <a:prstGeom prst="rect">
            <a:avLst/>
          </a:prstGeom>
          <a:noFill/>
          <a:ln/>
        </p:spPr>
        <p:txBody>
          <a:bodyPr wrap="square" lIns="0" tIns="0" rIns="0" bIns="0" rtlCol="0" anchor="t"/>
          <a:lstStyle/>
          <a:p>
            <a:pPr indent="0" marL="0">
              <a:lnSpc>
                <a:spcPct val="110000"/>
              </a:lnSpc>
              <a:buNone/>
            </a:pPr>
            <a:r>
              <a:rPr lang="en-US" sz="810" b="1" dirty="0">
                <a:solidFill>
                  <a:srgbClr val="007F72"/>
                </a:solidFill>
                <a:latin typeface="Arial" pitchFamily="34" charset="0"/>
                <a:ea typeface="Arial" pitchFamily="34" charset="-122"/>
                <a:cs typeface="Arial" pitchFamily="34" charset="-120"/>
              </a:rPr>
              <a:t>«Phanh» tính bằng công thức. «Tia tối thiểu» = phanh × 1,25 — mức dư môn này chọn, không phải quy định.</a:t>
            </a:r>
            <a:endParaRPr lang="en-US" sz="810" dirty="0"/>
          </a:p>
          <a:p>
            <a:pPr indent="0" marL="0">
              <a:lnSpc>
                <a:spcPct val="110000"/>
              </a:lnSpc>
              <a:buNone/>
            </a:pPr>
            <a:r>
              <a:rPr lang="en-US" sz="710" dirty="0">
                <a:solidFill>
                  <a:srgbClr val="007F72"/>
                </a:solidFill>
                <a:latin typeface="微軟正黑體" pitchFamily="34" charset="0"/>
                <a:ea typeface="微軟正黑體" pitchFamily="34" charset="-122"/>
                <a:cs typeface="微軟正黑體" pitchFamily="34" charset="-120"/>
              </a:rPr>
              <a:t>「煞停距離」用公式算。「射線至少」＝ 煞停距離 × 1.25——這是本課取的餘裕，不是法規規定。</a:t>
            </a:r>
            <a:endParaRPr lang="en-US" sz="81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692938" y="1517917"/>
          <a:ext cx="5758123" cy="646980"/>
        </p:xfrm>
        <a:graphic>
          <a:graphicData uri="http://schemas.openxmlformats.org/drawingml/2006/table">
            <a:tbl>
              <a:tblPr/>
              <a:tblGrid>
                <a:gridCol w="646980"/>
                <a:gridCol w="646980"/>
                <a:gridCol w="711678"/>
                <a:gridCol w="744027"/>
                <a:gridCol w="3008458"/>
              </a:tblGrid>
              <a:tr h="200564">
                <a:tc>
                  <a:txBody>
                    <a:bodyPr/>
                    <a:lstStyle/>
                    <a:p>
                      <a:pPr algn="l" indent="0" marL="0">
                        <a:buNone/>
                      </a:pPr>
                      <a:r>
                        <a:rPr lang="en-US" sz="670" b="1" dirty="0">
                          <a:solidFill>
                            <a:srgbClr val="FFFFFF"/>
                          </a:solidFill>
                          <a:latin typeface="Arial" pitchFamily="34" charset="0"/>
                          <a:ea typeface="Arial" pitchFamily="34" charset="-122"/>
                          <a:cs typeface="Arial" pitchFamily="34" charset="-120"/>
                        </a:rPr>
                        <a:t>Tốc độ</a:t>
                      </a:r>
                      <a:endParaRPr lang="en-US" sz="850" dirty="0"/>
                    </a:p>
                    <a:p>
                      <a:pPr algn="l" indent="0" marL="0">
                        <a:buNone/>
                      </a:pPr>
                      <a:r>
                        <a:rPr lang="en-US" sz="570" dirty="0">
                          <a:solidFill>
                            <a:srgbClr val="CFE0EC"/>
                          </a:solidFill>
                          <a:latin typeface="微軟正黑體" pitchFamily="34" charset="0"/>
                          <a:ea typeface="微軟正黑體" pitchFamily="34" charset="-122"/>
                          <a:cs typeface="微軟正黑體" pitchFamily="34" charset="-120"/>
                        </a:rPr>
                        <a:t>車速</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670" b="1" dirty="0">
                          <a:solidFill>
                            <a:srgbClr val="FFFFFF"/>
                          </a:solidFill>
                          <a:latin typeface="Arial" pitchFamily="34" charset="0"/>
                          <a:ea typeface="Arial" pitchFamily="34" charset="-122"/>
                          <a:cs typeface="Arial" pitchFamily="34" charset="-120"/>
                        </a:rPr>
                        <a:t>m/s</a:t>
                      </a:r>
                      <a:endParaRPr lang="en-US" sz="850" dirty="0"/>
                    </a:p>
                    <a:p>
                      <a:pPr algn="l" indent="0" marL="0">
                        <a:buNone/>
                      </a:pPr>
                      <a:r>
                        <a:rPr lang="en-US" sz="570" dirty="0">
                          <a:solidFill>
                            <a:srgbClr val="CFE0EC"/>
                          </a:solidFill>
                          <a:latin typeface="微軟正黑體" pitchFamily="34" charset="0"/>
                          <a:ea typeface="微軟正黑體" pitchFamily="34" charset="-122"/>
                          <a:cs typeface="微軟正黑體" pitchFamily="34" charset="-120"/>
                        </a:rPr>
                        <a:t>每秒公尺</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670" b="1" dirty="0">
                          <a:solidFill>
                            <a:srgbClr val="FFFFFF"/>
                          </a:solidFill>
                          <a:latin typeface="Arial" pitchFamily="34" charset="0"/>
                          <a:ea typeface="Arial" pitchFamily="34" charset="-122"/>
                          <a:cs typeface="Arial" pitchFamily="34" charset="-120"/>
                        </a:rPr>
                        <a:t>Phanh</a:t>
                      </a:r>
                      <a:endParaRPr lang="en-US" sz="850" dirty="0"/>
                    </a:p>
                    <a:p>
                      <a:pPr algn="l" indent="0" marL="0">
                        <a:buNone/>
                      </a:pPr>
                      <a:r>
                        <a:rPr lang="en-US" sz="570" dirty="0">
                          <a:solidFill>
                            <a:srgbClr val="CFE0EC"/>
                          </a:solidFill>
                          <a:latin typeface="微軟正黑體" pitchFamily="34" charset="0"/>
                          <a:ea typeface="微軟正黑體" pitchFamily="34" charset="-122"/>
                          <a:cs typeface="微軟正黑體" pitchFamily="34" charset="-120"/>
                        </a:rPr>
                        <a:t>煞停距離</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670" b="1" dirty="0">
                          <a:solidFill>
                            <a:srgbClr val="FFFFFF"/>
                          </a:solidFill>
                          <a:latin typeface="Arial" pitchFamily="34" charset="0"/>
                          <a:ea typeface="Arial" pitchFamily="34" charset="-122"/>
                          <a:cs typeface="Arial" pitchFamily="34" charset="-120"/>
                        </a:rPr>
                        <a:t>Tia tối thiểu</a:t>
                      </a:r>
                      <a:endParaRPr lang="en-US" sz="850" dirty="0"/>
                    </a:p>
                    <a:p>
                      <a:pPr algn="l" indent="0" marL="0">
                        <a:buNone/>
                      </a:pPr>
                      <a:r>
                        <a:rPr lang="en-US" sz="570" dirty="0">
                          <a:solidFill>
                            <a:srgbClr val="CFE0EC"/>
                          </a:solidFill>
                          <a:latin typeface="微軟正黑體" pitchFamily="34" charset="0"/>
                          <a:ea typeface="微軟正黑體" pitchFamily="34" charset="-122"/>
                          <a:cs typeface="微軟正黑體" pitchFamily="34" charset="-120"/>
                        </a:rPr>
                        <a:t>射線至少</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670" b="1" dirty="0">
                          <a:solidFill>
                            <a:srgbClr val="FFFFFF"/>
                          </a:solidFill>
                          <a:latin typeface="Arial" pitchFamily="34" charset="0"/>
                          <a:ea typeface="Arial" pitchFamily="34" charset="-122"/>
                          <a:cs typeface="Arial" pitchFamily="34" charset="-120"/>
                        </a:rPr>
                        <a:t>Ở đâu gặp tốc độ này</a:t>
                      </a:r>
                      <a:endParaRPr lang="en-US" sz="850" dirty="0"/>
                    </a:p>
                    <a:p>
                      <a:pPr algn="l" indent="0" marL="0">
                        <a:buNone/>
                      </a:pPr>
                      <a:r>
                        <a:rPr lang="en-US" sz="570" dirty="0">
                          <a:solidFill>
                            <a:srgbClr val="CFE0EC"/>
                          </a:solidFill>
                          <a:latin typeface="微軟正黑體" pitchFamily="34" charset="0"/>
                          <a:ea typeface="微軟正黑體" pitchFamily="34" charset="-122"/>
                          <a:cs typeface="微軟正黑體" pitchFamily="34" charset="-120"/>
                        </a:rPr>
                        <a:t>什麼地方會開到這個速度</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200564">
                <a:tc>
                  <a:txBody>
                    <a:bodyPr/>
                    <a:lstStyle/>
                    <a:p>
                      <a:pPr algn="l" indent="0" marL="0">
                        <a:buNone/>
                      </a:pPr>
                      <a:r>
                        <a:rPr lang="en-US" sz="670" b="1" dirty="0">
                          <a:solidFill>
                            <a:srgbClr val="0B1F3A"/>
                          </a:solidFill>
                          <a:latin typeface="Arial" pitchFamily="34" charset="0"/>
                          <a:ea typeface="Arial" pitchFamily="34" charset="-122"/>
                          <a:cs typeface="Arial" pitchFamily="34" charset="-120"/>
                        </a:rPr>
                        <a:t>30 km/h</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時速 30</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8,3</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8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10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Trong ngõ, khu dân cư, trường học</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巷弄、社區、學校周邊</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00564">
                <a:tc>
                  <a:txBody>
                    <a:bodyPr/>
                    <a:lstStyle/>
                    <a:p>
                      <a:pPr algn="l" indent="0" marL="0">
                        <a:buNone/>
                      </a:pPr>
                      <a:r>
                        <a:rPr lang="en-US" sz="670" b="1" dirty="0">
                          <a:solidFill>
                            <a:srgbClr val="0B1F3A"/>
                          </a:solidFill>
                          <a:latin typeface="Arial" pitchFamily="34" charset="0"/>
                          <a:ea typeface="Arial" pitchFamily="34" charset="-122"/>
                          <a:cs typeface="Arial" pitchFamily="34" charset="-120"/>
                        </a:rPr>
                        <a:t>50 km/h</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時速 50</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13,9</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20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25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Đường phố bình thường — tốc độ của bài tập hôm nay</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一般市區道路——今天上機用的就是這個</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00564">
                <a:tc>
                  <a:txBody>
                    <a:bodyPr/>
                    <a:lstStyle/>
                    <a:p>
                      <a:pPr algn="l" indent="0" marL="0">
                        <a:buNone/>
                      </a:pPr>
                      <a:r>
                        <a:rPr lang="en-US" sz="670" b="1" dirty="0">
                          <a:solidFill>
                            <a:srgbClr val="0B1F3A"/>
                          </a:solidFill>
                          <a:latin typeface="Arial" pitchFamily="34" charset="0"/>
                          <a:ea typeface="Arial" pitchFamily="34" charset="-122"/>
                          <a:cs typeface="Arial" pitchFamily="34" charset="-120"/>
                        </a:rPr>
                        <a:t>60 km/h</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時速 60</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16,7</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28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35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Đường lớn, đường vành đai</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大馬路、外環道</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00564">
                <a:tc>
                  <a:txBody>
                    <a:bodyPr/>
                    <a:lstStyle/>
                    <a:p>
                      <a:pPr algn="l" indent="0" marL="0">
                        <a:buNone/>
                      </a:pPr>
                      <a:r>
                        <a:rPr lang="en-US" sz="670" b="1" dirty="0">
                          <a:solidFill>
                            <a:srgbClr val="0B1F3A"/>
                          </a:solidFill>
                          <a:latin typeface="Arial" pitchFamily="34" charset="0"/>
                          <a:ea typeface="Arial" pitchFamily="34" charset="-122"/>
                          <a:cs typeface="Arial" pitchFamily="34" charset="-120"/>
                        </a:rPr>
                        <a:t>80 km/h</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時速 80</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22,2</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48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60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Đường cao tốc chậm</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快速道路</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00564">
                <a:tc>
                  <a:txBody>
                    <a:bodyPr/>
                    <a:lstStyle/>
                    <a:p>
                      <a:pPr algn="l" indent="0" marL="0">
                        <a:buNone/>
                      </a:pPr>
                      <a:r>
                        <a:rPr lang="en-US" sz="670" b="1" dirty="0">
                          <a:solidFill>
                            <a:srgbClr val="0B1F3A"/>
                          </a:solidFill>
                          <a:latin typeface="Arial" pitchFamily="34" charset="0"/>
                          <a:ea typeface="Arial" pitchFamily="34" charset="-122"/>
                          <a:cs typeface="Arial" pitchFamily="34" charset="-120"/>
                        </a:rPr>
                        <a:t>100 km/h</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時速 100</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27,8</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73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90 m</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670" dirty="0">
                          <a:solidFill>
                            <a:srgbClr val="1A2733"/>
                          </a:solidFill>
                          <a:latin typeface="Arial" pitchFamily="34" charset="0"/>
                          <a:ea typeface="Arial" pitchFamily="34" charset="-122"/>
                          <a:cs typeface="Arial" pitchFamily="34" charset="-120"/>
                        </a:rPr>
                        <a:t>Đường cao tốc</a:t>
                      </a:r>
                      <a:endParaRPr lang="en-US" sz="850" dirty="0"/>
                    </a:p>
                    <a:p>
                      <a:pPr algn="l" indent="0" marL="0">
                        <a:buNone/>
                      </a:pPr>
                      <a:r>
                        <a:rPr lang="en-US" sz="570" dirty="0">
                          <a:solidFill>
                            <a:srgbClr val="5F7183"/>
                          </a:solidFill>
                          <a:latin typeface="微軟正黑體" pitchFamily="34" charset="0"/>
                          <a:ea typeface="微軟正黑體" pitchFamily="34" charset="-122"/>
                          <a:cs typeface="微軟正黑體" pitchFamily="34" charset="-120"/>
                        </a:rPr>
                        <a:t>高速公路</a:t>
                      </a:r>
                      <a:endParaRPr lang="en-US" sz="85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6" name="Text 3"/>
          <p:cNvSpPr txBox="1"/>
          <p:nvPr/>
        </p:nvSpPr>
        <p:spPr>
          <a:xfrm>
            <a:off x="1692938" y="3276960"/>
            <a:ext cx="5758123" cy="323490"/>
          </a:xfrm>
          <a:prstGeom prst="rect">
            <a:avLst/>
          </a:prstGeom>
          <a:noFill/>
          <a:ln/>
        </p:spPr>
        <p:txBody>
          <a:bodyPr wrap="square" lIns="0" tIns="0" rIns="0" bIns="0" rtlCol="0" anchor="t"/>
          <a:lstStyle/>
          <a:p>
            <a:pPr indent="0" marL="0">
              <a:lnSpc>
                <a:spcPct val="116000"/>
              </a:lnSpc>
              <a:buNone/>
            </a:pPr>
            <a:r>
              <a:rPr lang="en-US" sz="850" b="1" dirty="0">
                <a:solidFill>
                  <a:srgbClr val="007F72"/>
                </a:solidFill>
                <a:latin typeface="Arial" pitchFamily="34" charset="0"/>
                <a:ea typeface="Arial" pitchFamily="34" charset="-122"/>
                <a:cs typeface="Arial" pitchFamily="34" charset="-120"/>
              </a:rPr>
              <a:t>LiDAR xe thật làm tới 150–300 m — gấp đôi mức «vừa đủ phanh». Nhìn xa thế để làm gì? Chương 3.</a:t>
            </a:r>
            <a:endParaRPr lang="en-US" sz="850" dirty="0"/>
          </a:p>
          <a:p>
            <a:pPr indent="0" marL="0">
              <a:lnSpc>
                <a:spcPct val="116000"/>
              </a:lnSpc>
              <a:buNone/>
            </a:pPr>
            <a:r>
              <a:rPr lang="en-US" sz="780" dirty="0">
                <a:solidFill>
                  <a:srgbClr val="007F72"/>
                </a:solidFill>
                <a:latin typeface="微軟正黑體" pitchFamily="34" charset="0"/>
                <a:ea typeface="微軟正黑體" pitchFamily="34" charset="-122"/>
                <a:cs typeface="微軟正黑體" pitchFamily="34" charset="-120"/>
              </a:rPr>
              <a:t>真車的光達做到 150–300 公尺，是「剛好煞得住」的兩倍以上。看那麼遠要做什麼？第三章回答。</a:t>
            </a:r>
            <a:endParaRPr lang="en-US" sz="850" dirty="0"/>
          </a:p>
        </p:txBody>
      </p:sp>
      <p:pic>
        <p:nvPicPr>
          <p:cNvPr id="8" name="Image 0" descr="/Users/tsengchenghsun/Class/carClass/Claude outputs/第四週(10-1)/src/logo.png">    </p:cNvPr>
          <p:cNvPicPr>
            <a:picLocks noChangeAspect="1"/>
          </p:cNvPicPr>
          <p:nvPr/>
        </p:nvPicPr>
        <p:blipFill>
          <a:blip r:embed="rId1"/>
          <a:stretch>
            <a:fillRect/>
          </a:stretch>
        </p:blipFill>
        <p:spPr>
          <a:xfrm>
            <a:off x="6914068" y="77638"/>
            <a:ext cx="776376" cy="171537"/>
          </a:xfrm>
          <a:prstGeom prst="rect">
            <a:avLst/>
          </a:prstGeom>
        </p:spPr>
      </p:pic>
      <p:sp>
        <p:nvSpPr>
          <p:cNvPr id="9" name="Text 4"/>
          <p:cNvSpPr txBox="1"/>
          <p:nvPr/>
        </p:nvSpPr>
        <p:spPr>
          <a:xfrm>
            <a:off x="1414737" y="90577"/>
            <a:ext cx="582282" cy="181154"/>
          </a:xfrm>
          <a:prstGeom prst="rect">
            <a:avLst/>
          </a:prstGeom>
          <a:noFill/>
          <a:ln/>
        </p:spPr>
        <p:txBody>
          <a:bodyPr wrap="square" lIns="0" tIns="0" rIns="0" bIns="0" rtlCol="0" anchor="ctr"/>
          <a:lstStyle/>
          <a:p>
            <a:pPr indent="0" marL="0">
              <a:buNone/>
            </a:pPr>
            <a:r>
              <a:rPr lang="en-US" sz="640" dirty="0">
                <a:solidFill>
                  <a:srgbClr val="5F7183"/>
                </a:solidFill>
                <a:latin typeface="Arial" pitchFamily="34" charset="0"/>
                <a:ea typeface="Arial" pitchFamily="34" charset="-122"/>
                <a:cs typeface="Arial" pitchFamily="34" charset="-120"/>
              </a:rPr>
              <a:t>17 / 28</a:t>
            </a:r>
            <a:endParaRPr lang="en-US" sz="640" dirty="0"/>
          </a:p>
        </p:txBody>
      </p:sp>
      <p:sp>
        <p:nvSpPr>
          <p:cNvPr id="10" name="Text 5"/>
          <p:cNvSpPr txBox="1"/>
          <p:nvPr/>
        </p:nvSpPr>
        <p:spPr>
          <a:xfrm>
            <a:off x="2016429" y="90577"/>
            <a:ext cx="1423356" cy="181154"/>
          </a:xfrm>
          <a:prstGeom prst="rect">
            <a:avLst/>
          </a:prstGeom>
          <a:noFill/>
          <a:ln/>
        </p:spPr>
        <p:txBody>
          <a:bodyPr wrap="square" lIns="0" tIns="0" rIns="0" bIns="0" rtlCol="0" anchor="ctr"/>
          <a:lstStyle/>
          <a:p>
            <a:pPr indent="0" marL="0">
              <a:buNone/>
            </a:pPr>
            <a:r>
              <a:rPr lang="en-US" sz="640" dirty="0">
                <a:solidFill>
                  <a:srgbClr val="5F7183"/>
                </a:solidFill>
                <a:latin typeface="Arial" pitchFamily="34" charset="0"/>
                <a:ea typeface="Arial" pitchFamily="34" charset="-122"/>
                <a:cs typeface="Arial" pitchFamily="34" charset="-120"/>
              </a:rPr>
              <a:t>Tiết 1 · 第 1 節</a:t>
            </a:r>
            <a:endParaRPr lang="en-US" sz="6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898071" y="0"/>
          <a:ext cx="1" cy="1"/>
          <a:chOff x="0" y="0"/>
          <a:chExt cx="0" cy="0"/>
        </a:xfrm>
      </p:grpSpPr>
      <p:sp>
        <p:nvSpPr>
          <p:cNvPr id="2" name="Text 0"/>
          <p:cNvSpPr txBox="1"/>
          <p:nvPr/>
        </p:nvSpPr>
        <p:spPr>
          <a:xfrm>
            <a:off x="1302204" y="293914"/>
            <a:ext cx="6539593" cy="220436"/>
          </a:xfrm>
          <a:prstGeom prst="rect">
            <a:avLst/>
          </a:prstGeom>
          <a:noFill/>
          <a:ln/>
        </p:spPr>
        <p:txBody>
          <a:bodyPr wrap="square" lIns="0" tIns="0" rIns="0" bIns="0" rtlCol="0" anchor="ctr"/>
          <a:lstStyle/>
          <a:p>
            <a:pPr indent="0" marL="0">
              <a:buNone/>
            </a:pPr>
            <a:r>
              <a:rPr lang="en-US" sz="1040" b="1" dirty="0">
                <a:solidFill>
                  <a:srgbClr val="007F72"/>
                </a:solidFill>
                <a:latin typeface="Arial" pitchFamily="34" charset="0"/>
                <a:ea typeface="Arial" pitchFamily="34" charset="-122"/>
                <a:cs typeface="Arial" pitchFamily="34" charset="-120"/>
              </a:rPr>
              <a:t>▶ Video · 真正的自駕模擬器長什麼樣</a:t>
            </a:r>
            <a:endParaRPr lang="en-US" sz="1040" dirty="0"/>
          </a:p>
        </p:txBody>
      </p:sp>
      <p:sp>
        <p:nvSpPr>
          <p:cNvPr id="3" name="Text 1"/>
          <p:cNvSpPr txBox="1"/>
          <p:nvPr/>
        </p:nvSpPr>
        <p:spPr>
          <a:xfrm>
            <a:off x="1302204" y="543741"/>
            <a:ext cx="6539593" cy="450550"/>
          </a:xfrm>
          <a:prstGeom prst="rect">
            <a:avLst/>
          </a:prstGeom>
          <a:noFill/>
          <a:ln/>
        </p:spPr>
        <p:txBody>
          <a:bodyPr wrap="square" lIns="0" tIns="0" rIns="0" bIns="0" rtlCol="0" anchor="t"/>
          <a:lstStyle/>
          <a:p>
            <a:pPr indent="0" marL="0">
              <a:lnSpc>
                <a:spcPct val="116000"/>
              </a:lnSpc>
              <a:buNone/>
            </a:pPr>
            <a:r>
              <a:rPr lang="en-US" sz="1370" b="1" dirty="0">
                <a:solidFill>
                  <a:srgbClr val="0B1F3A"/>
                </a:solidFill>
                <a:latin typeface="Arial" pitchFamily="34" charset="0"/>
                <a:ea typeface="Arial" pitchFamily="34" charset="-122"/>
                <a:cs typeface="Arial" pitchFamily="34" charset="-120"/>
              </a:rPr>
              <a:t>Bản trình duyệt của ta rất đơn giản — CARLA mới là bản ngành dùng</a:t>
            </a:r>
            <a:endParaRPr lang="en-US" sz="1370" dirty="0"/>
          </a:p>
          <a:p>
            <a:pPr indent="0" marL="0">
              <a:lnSpc>
                <a:spcPct val="116000"/>
              </a:lnSpc>
              <a:buNone/>
            </a:pPr>
            <a:r>
              <a:rPr lang="en-US" sz="1000" dirty="0">
                <a:solidFill>
                  <a:srgbClr val="5F7183"/>
                </a:solidFill>
                <a:latin typeface="微軟正黑體" pitchFamily="34" charset="0"/>
                <a:ea typeface="微軟正黑體" pitchFamily="34" charset="-122"/>
                <a:cs typeface="微軟正黑體" pitchFamily="34" charset="-120"/>
              </a:rPr>
              <a:t>我們那支瀏覽器模擬器很簡單——CARLA 才是業界真的在用的那種</a:t>
            </a:r>
            <a:endParaRPr lang="en-US" sz="1370" dirty="0"/>
          </a:p>
        </p:txBody>
      </p:sp>
      <p:sp>
        <p:nvSpPr>
          <p:cNvPr id="4" name="Shape 2"/>
          <p:cNvSpPr/>
          <p:nvPr/>
        </p:nvSpPr>
        <p:spPr>
          <a:xfrm>
            <a:off x="1302204" y="1008987"/>
            <a:ext cx="3137535" cy="2062418"/>
          </a:xfrm>
          <a:prstGeom prst="roundRect">
            <a:avLst>
              <a:gd name="adj" fmla="val 3563"/>
            </a:avLst>
          </a:prstGeom>
          <a:solidFill>
            <a:srgbClr val="5C7186"/>
          </a:solidFill>
          <a:ln w="12700">
            <a:solidFill>
              <a:srgbClr val="DBE3EA"/>
            </a:solidFill>
            <a:prstDash val="solid"/>
          </a:ln>
        </p:spPr>
      </p:sp>
      <p:sp>
        <p:nvSpPr>
          <p:cNvPr id="5" name="Shape 3"/>
          <p:cNvSpPr/>
          <p:nvPr/>
        </p:nvSpPr>
        <p:spPr>
          <a:xfrm>
            <a:off x="1331595" y="1875202"/>
            <a:ext cx="3078752" cy="1166811"/>
          </a:xfrm>
          <a:prstGeom prst="rect">
            <a:avLst/>
          </a:prstGeom>
          <a:solidFill>
            <a:srgbClr val="4A5763"/>
          </a:solidFill>
          <a:ln/>
        </p:spPr>
      </p:sp>
      <p:sp>
        <p:nvSpPr>
          <p:cNvPr id="6" name="Shape 4"/>
          <p:cNvSpPr/>
          <p:nvPr/>
        </p:nvSpPr>
        <p:spPr>
          <a:xfrm flipH="1">
            <a:off x="1553206" y="1875202"/>
            <a:ext cx="1244286" cy="1152115"/>
          </a:xfrm>
          <a:prstGeom prst="line">
            <a:avLst/>
          </a:prstGeom>
          <a:noFill/>
          <a:ln w="25400">
            <a:solidFill>
              <a:srgbClr val="E8EDF2">
                <a:alpha val="45000"/>
              </a:srgbClr>
            </a:solidFill>
            <a:prstDash val="solid"/>
          </a:ln>
        </p:spPr>
      </p:sp>
      <p:sp>
        <p:nvSpPr>
          <p:cNvPr id="7" name="Shape 5"/>
          <p:cNvSpPr/>
          <p:nvPr/>
        </p:nvSpPr>
        <p:spPr>
          <a:xfrm>
            <a:off x="2944450" y="1875202"/>
            <a:ext cx="1244286" cy="1152115"/>
          </a:xfrm>
          <a:prstGeom prst="line">
            <a:avLst/>
          </a:prstGeom>
          <a:noFill/>
          <a:ln w="25400">
            <a:solidFill>
              <a:srgbClr val="E8EDF2">
                <a:alpha val="45000"/>
              </a:srgbClr>
            </a:solidFill>
            <a:prstDash val="solid"/>
          </a:ln>
        </p:spPr>
      </p:sp>
      <p:sp>
        <p:nvSpPr>
          <p:cNvPr id="8" name="Shape 6"/>
          <p:cNvSpPr/>
          <p:nvPr/>
        </p:nvSpPr>
        <p:spPr>
          <a:xfrm>
            <a:off x="2017897" y="2017130"/>
            <a:ext cx="115825" cy="115825"/>
          </a:xfrm>
          <a:prstGeom prst="ellipse">
            <a:avLst/>
          </a:prstGeom>
          <a:solidFill>
            <a:srgbClr val="D8E4EC"/>
          </a:solidFill>
          <a:ln/>
        </p:spPr>
      </p:sp>
      <p:sp>
        <p:nvSpPr>
          <p:cNvPr id="9" name="Shape 7"/>
          <p:cNvSpPr/>
          <p:nvPr/>
        </p:nvSpPr>
        <p:spPr>
          <a:xfrm>
            <a:off x="1983149" y="2144538"/>
            <a:ext cx="185320" cy="208486"/>
          </a:xfrm>
          <a:prstGeom prst="roundRect">
            <a:avLst>
              <a:gd name="adj" fmla="val 111019"/>
            </a:avLst>
          </a:prstGeom>
          <a:solidFill>
            <a:srgbClr val="D8E4EC"/>
          </a:solidFill>
          <a:ln/>
        </p:spPr>
      </p:sp>
      <p:sp>
        <p:nvSpPr>
          <p:cNvPr id="10" name="Shape 8"/>
          <p:cNvSpPr/>
          <p:nvPr/>
        </p:nvSpPr>
        <p:spPr>
          <a:xfrm rot="960000">
            <a:off x="1951297" y="2161911"/>
            <a:ext cx="46330" cy="150573"/>
          </a:xfrm>
          <a:prstGeom prst="rect">
            <a:avLst/>
          </a:prstGeom>
          <a:solidFill>
            <a:srgbClr val="D8E4EC"/>
          </a:solidFill>
          <a:ln/>
        </p:spPr>
      </p:sp>
      <p:sp>
        <p:nvSpPr>
          <p:cNvPr id="11" name="Shape 9"/>
          <p:cNvSpPr/>
          <p:nvPr/>
        </p:nvSpPr>
        <p:spPr>
          <a:xfrm rot="-960000">
            <a:off x="2153992" y="2161911"/>
            <a:ext cx="46330" cy="150573"/>
          </a:xfrm>
          <a:prstGeom prst="rect">
            <a:avLst/>
          </a:prstGeom>
          <a:solidFill>
            <a:srgbClr val="D8E4EC"/>
          </a:solidFill>
          <a:ln/>
        </p:spPr>
      </p:sp>
      <p:sp>
        <p:nvSpPr>
          <p:cNvPr id="12" name="Shape 10"/>
          <p:cNvSpPr/>
          <p:nvPr/>
        </p:nvSpPr>
        <p:spPr>
          <a:xfrm rot="300000">
            <a:off x="2015001" y="2324067"/>
            <a:ext cx="52121" cy="208486"/>
          </a:xfrm>
          <a:prstGeom prst="rect">
            <a:avLst/>
          </a:prstGeom>
          <a:solidFill>
            <a:srgbClr val="D8E4EC"/>
          </a:solidFill>
          <a:ln/>
        </p:spPr>
      </p:sp>
      <p:sp>
        <p:nvSpPr>
          <p:cNvPr id="13" name="Shape 11"/>
          <p:cNvSpPr/>
          <p:nvPr/>
        </p:nvSpPr>
        <p:spPr>
          <a:xfrm rot="-300000">
            <a:off x="2084496" y="2324067"/>
            <a:ext cx="52121" cy="208486"/>
          </a:xfrm>
          <a:prstGeom prst="rect">
            <a:avLst/>
          </a:prstGeom>
          <a:solidFill>
            <a:srgbClr val="D8E4EC"/>
          </a:solidFill>
          <a:ln/>
        </p:spPr>
      </p:sp>
      <p:sp>
        <p:nvSpPr>
          <p:cNvPr id="14" name="Shape 12"/>
          <p:cNvSpPr/>
          <p:nvPr/>
        </p:nvSpPr>
        <p:spPr>
          <a:xfrm>
            <a:off x="1678708" y="1916450"/>
            <a:ext cx="690257" cy="742470"/>
          </a:xfrm>
          <a:prstGeom prst="rect">
            <a:avLst/>
          </a:prstGeom>
          <a:ln w="19050">
            <a:solidFill>
              <a:srgbClr val="6FD08C"/>
            </a:solidFill>
            <a:prstDash val="solid"/>
          </a:ln>
        </p:spPr>
      </p:sp>
      <p:sp>
        <p:nvSpPr>
          <p:cNvPr id="15" name="Shape 13"/>
          <p:cNvSpPr/>
          <p:nvPr/>
        </p:nvSpPr>
        <p:spPr>
          <a:xfrm>
            <a:off x="1678708" y="1776841"/>
            <a:ext cx="690257" cy="139609"/>
          </a:xfrm>
          <a:prstGeom prst="rect">
            <a:avLst/>
          </a:prstGeom>
          <a:solidFill>
            <a:srgbClr val="6FD08C"/>
          </a:solidFill>
          <a:ln/>
        </p:spPr>
      </p:sp>
      <p:sp>
        <p:nvSpPr>
          <p:cNvPr id="16" name="Text 14"/>
          <p:cNvSpPr txBox="1"/>
          <p:nvPr/>
        </p:nvSpPr>
        <p:spPr>
          <a:xfrm>
            <a:off x="1700752" y="1780515"/>
            <a:ext cx="690257" cy="132261"/>
          </a:xfrm>
          <a:prstGeom prst="rect">
            <a:avLst/>
          </a:prstGeom>
          <a:noFill/>
          <a:ln/>
        </p:spPr>
        <p:txBody>
          <a:bodyPr wrap="square" lIns="0" tIns="0" rIns="0" bIns="0" rtlCol="0" anchor="ctr"/>
          <a:lstStyle/>
          <a:p>
            <a:pPr indent="0" marL="0">
              <a:buNone/>
            </a:pPr>
            <a:r>
              <a:rPr lang="en-US" sz="640" b="1" dirty="0">
                <a:solidFill>
                  <a:srgbClr val="0B1F3A"/>
                </a:solidFill>
                <a:latin typeface="Arial" pitchFamily="34" charset="0"/>
                <a:ea typeface="Arial" pitchFamily="34" charset="-122"/>
                <a:cs typeface="Arial" pitchFamily="34" charset="-120"/>
              </a:rPr>
              <a:t>người 行人</a:t>
            </a:r>
            <a:endParaRPr lang="en-US" sz="640" dirty="0"/>
          </a:p>
        </p:txBody>
      </p:sp>
      <p:sp>
        <p:nvSpPr>
          <p:cNvPr id="17" name="Shape 15"/>
          <p:cNvSpPr/>
          <p:nvPr/>
        </p:nvSpPr>
        <p:spPr>
          <a:xfrm>
            <a:off x="3339253" y="2304647"/>
            <a:ext cx="473597" cy="144138"/>
          </a:xfrm>
          <a:prstGeom prst="roundRect">
            <a:avLst>
              <a:gd name="adj" fmla="val 152934"/>
            </a:avLst>
          </a:prstGeom>
          <a:solidFill>
            <a:srgbClr val="C8D3DE"/>
          </a:solidFill>
          <a:ln/>
        </p:spPr>
      </p:sp>
      <p:sp>
        <p:nvSpPr>
          <p:cNvPr id="18" name="Shape 16"/>
          <p:cNvSpPr/>
          <p:nvPr/>
        </p:nvSpPr>
        <p:spPr>
          <a:xfrm>
            <a:off x="3442209" y="2201691"/>
            <a:ext cx="257390" cy="113251"/>
          </a:xfrm>
          <a:prstGeom prst="trapezoid">
            <a:avLst/>
          </a:prstGeom>
          <a:solidFill>
            <a:srgbClr val="C8D3DE">
              <a:alpha val="70000"/>
            </a:srgbClr>
          </a:solidFill>
          <a:ln/>
        </p:spPr>
      </p:sp>
      <p:sp>
        <p:nvSpPr>
          <p:cNvPr id="19" name="Shape 17"/>
          <p:cNvSpPr/>
          <p:nvPr/>
        </p:nvSpPr>
        <p:spPr>
          <a:xfrm>
            <a:off x="3401027" y="2417898"/>
            <a:ext cx="102956" cy="102956"/>
          </a:xfrm>
          <a:prstGeom prst="ellipse">
            <a:avLst/>
          </a:prstGeom>
          <a:solidFill>
            <a:srgbClr val="C8D3DE"/>
          </a:solidFill>
          <a:ln/>
        </p:spPr>
      </p:sp>
      <p:sp>
        <p:nvSpPr>
          <p:cNvPr id="20" name="Shape 18"/>
          <p:cNvSpPr/>
          <p:nvPr/>
        </p:nvSpPr>
        <p:spPr>
          <a:xfrm>
            <a:off x="3648121" y="2417898"/>
            <a:ext cx="102956" cy="102956"/>
          </a:xfrm>
          <a:prstGeom prst="ellipse">
            <a:avLst/>
          </a:prstGeom>
          <a:solidFill>
            <a:srgbClr val="C8D3DE"/>
          </a:solidFill>
          <a:ln/>
        </p:spPr>
      </p:sp>
      <p:sp>
        <p:nvSpPr>
          <p:cNvPr id="21" name="Shape 19"/>
          <p:cNvSpPr/>
          <p:nvPr/>
        </p:nvSpPr>
        <p:spPr>
          <a:xfrm>
            <a:off x="3426765" y="2443637"/>
            <a:ext cx="51478" cy="51478"/>
          </a:xfrm>
          <a:prstGeom prst="ellipse">
            <a:avLst/>
          </a:prstGeom>
          <a:solidFill>
            <a:srgbClr val="FFFFFF"/>
          </a:solidFill>
          <a:ln/>
        </p:spPr>
      </p:sp>
      <p:sp>
        <p:nvSpPr>
          <p:cNvPr id="22" name="Shape 20"/>
          <p:cNvSpPr/>
          <p:nvPr/>
        </p:nvSpPr>
        <p:spPr>
          <a:xfrm>
            <a:off x="3673859" y="2443637"/>
            <a:ext cx="51478" cy="51478"/>
          </a:xfrm>
          <a:prstGeom prst="ellipse">
            <a:avLst/>
          </a:prstGeom>
          <a:solidFill>
            <a:srgbClr val="FFFFFF"/>
          </a:solidFill>
          <a:ln/>
        </p:spPr>
      </p:sp>
      <p:sp>
        <p:nvSpPr>
          <p:cNvPr id="23" name="Shape 21"/>
          <p:cNvSpPr/>
          <p:nvPr/>
        </p:nvSpPr>
        <p:spPr>
          <a:xfrm>
            <a:off x="3059223" y="1998947"/>
            <a:ext cx="941260" cy="659973"/>
          </a:xfrm>
          <a:prstGeom prst="rect">
            <a:avLst/>
          </a:prstGeom>
          <a:ln w="19050">
            <a:solidFill>
              <a:srgbClr val="4FA8FF"/>
            </a:solidFill>
            <a:prstDash val="solid"/>
          </a:ln>
        </p:spPr>
      </p:sp>
      <p:sp>
        <p:nvSpPr>
          <p:cNvPr id="24" name="Shape 22"/>
          <p:cNvSpPr/>
          <p:nvPr/>
        </p:nvSpPr>
        <p:spPr>
          <a:xfrm>
            <a:off x="3059223" y="1859338"/>
            <a:ext cx="941260" cy="139609"/>
          </a:xfrm>
          <a:prstGeom prst="rect">
            <a:avLst/>
          </a:prstGeom>
          <a:solidFill>
            <a:srgbClr val="4FA8FF"/>
          </a:solidFill>
          <a:ln/>
        </p:spPr>
      </p:sp>
      <p:sp>
        <p:nvSpPr>
          <p:cNvPr id="25" name="Text 23"/>
          <p:cNvSpPr txBox="1"/>
          <p:nvPr/>
        </p:nvSpPr>
        <p:spPr>
          <a:xfrm>
            <a:off x="3081267" y="1863012"/>
            <a:ext cx="941260" cy="132261"/>
          </a:xfrm>
          <a:prstGeom prst="rect">
            <a:avLst/>
          </a:prstGeom>
          <a:noFill/>
          <a:ln/>
        </p:spPr>
        <p:txBody>
          <a:bodyPr wrap="square" lIns="0" tIns="0" rIns="0" bIns="0" rtlCol="0" anchor="ctr"/>
          <a:lstStyle/>
          <a:p>
            <a:pPr indent="0" marL="0">
              <a:buNone/>
            </a:pPr>
            <a:r>
              <a:rPr lang="en-US" sz="640" b="1" dirty="0">
                <a:solidFill>
                  <a:srgbClr val="0B1F3A"/>
                </a:solidFill>
                <a:latin typeface="Arial" pitchFamily="34" charset="0"/>
                <a:ea typeface="Arial" pitchFamily="34" charset="-122"/>
                <a:cs typeface="Arial" pitchFamily="34" charset="-120"/>
              </a:rPr>
              <a:t>ô tô 汽車</a:t>
            </a:r>
            <a:endParaRPr lang="en-US" sz="640" dirty="0"/>
          </a:p>
        </p:txBody>
      </p:sp>
      <p:sp>
        <p:nvSpPr>
          <p:cNvPr id="26" name="Shape 24"/>
          <p:cNvSpPr/>
          <p:nvPr/>
        </p:nvSpPr>
        <p:spPr>
          <a:xfrm>
            <a:off x="2622479" y="1223478"/>
            <a:ext cx="277358" cy="354736"/>
          </a:xfrm>
          <a:prstGeom prst="roundRect">
            <a:avLst>
              <a:gd name="adj" fmla="val 10597"/>
            </a:avLst>
          </a:prstGeom>
          <a:solidFill>
            <a:srgbClr val="2B3945"/>
          </a:solidFill>
          <a:ln/>
        </p:spPr>
      </p:sp>
      <p:sp>
        <p:nvSpPr>
          <p:cNvPr id="27" name="Shape 25"/>
          <p:cNvSpPr/>
          <p:nvPr/>
        </p:nvSpPr>
        <p:spPr>
          <a:xfrm>
            <a:off x="2683497" y="1255404"/>
            <a:ext cx="155321" cy="155321"/>
          </a:xfrm>
          <a:prstGeom prst="ellipse">
            <a:avLst/>
          </a:prstGeom>
          <a:solidFill>
            <a:srgbClr val="FF5A4E"/>
          </a:solidFill>
          <a:ln/>
        </p:spPr>
      </p:sp>
      <p:sp>
        <p:nvSpPr>
          <p:cNvPr id="28" name="Shape 26"/>
          <p:cNvSpPr/>
          <p:nvPr/>
        </p:nvSpPr>
        <p:spPr>
          <a:xfrm>
            <a:off x="2683497" y="1361825"/>
            <a:ext cx="155321" cy="155321"/>
          </a:xfrm>
          <a:prstGeom prst="ellipse">
            <a:avLst/>
          </a:prstGeom>
          <a:solidFill>
            <a:srgbClr val="5F6B75"/>
          </a:solidFill>
          <a:ln/>
        </p:spPr>
      </p:sp>
      <p:sp>
        <p:nvSpPr>
          <p:cNvPr id="29" name="Shape 27"/>
          <p:cNvSpPr/>
          <p:nvPr/>
        </p:nvSpPr>
        <p:spPr>
          <a:xfrm>
            <a:off x="2683497" y="1468246"/>
            <a:ext cx="155321" cy="155321"/>
          </a:xfrm>
          <a:prstGeom prst="ellipse">
            <a:avLst/>
          </a:prstGeom>
          <a:solidFill>
            <a:srgbClr val="5F6B75"/>
          </a:solidFill>
          <a:ln/>
        </p:spPr>
      </p:sp>
      <p:sp>
        <p:nvSpPr>
          <p:cNvPr id="30" name="Shape 28"/>
          <p:cNvSpPr/>
          <p:nvPr/>
        </p:nvSpPr>
        <p:spPr>
          <a:xfrm>
            <a:off x="2494467" y="1194605"/>
            <a:ext cx="533381" cy="412484"/>
          </a:xfrm>
          <a:prstGeom prst="rect">
            <a:avLst/>
          </a:prstGeom>
          <a:ln w="19050">
            <a:solidFill>
              <a:srgbClr val="FFB020"/>
            </a:solidFill>
            <a:prstDash val="solid"/>
          </a:ln>
        </p:spPr>
      </p:sp>
      <p:sp>
        <p:nvSpPr>
          <p:cNvPr id="31" name="Shape 29"/>
          <p:cNvSpPr/>
          <p:nvPr/>
        </p:nvSpPr>
        <p:spPr>
          <a:xfrm>
            <a:off x="2494467" y="1054995"/>
            <a:ext cx="631916" cy="139609"/>
          </a:xfrm>
          <a:prstGeom prst="rect">
            <a:avLst/>
          </a:prstGeom>
          <a:solidFill>
            <a:srgbClr val="FFB020"/>
          </a:solidFill>
          <a:ln/>
        </p:spPr>
      </p:sp>
      <p:sp>
        <p:nvSpPr>
          <p:cNvPr id="32" name="Text 30"/>
          <p:cNvSpPr txBox="1"/>
          <p:nvPr/>
        </p:nvSpPr>
        <p:spPr>
          <a:xfrm>
            <a:off x="2516510" y="1058669"/>
            <a:ext cx="631916" cy="132261"/>
          </a:xfrm>
          <a:prstGeom prst="rect">
            <a:avLst/>
          </a:prstGeom>
          <a:noFill/>
          <a:ln/>
        </p:spPr>
        <p:txBody>
          <a:bodyPr wrap="square" lIns="0" tIns="0" rIns="0" bIns="0" rtlCol="0" anchor="ctr"/>
          <a:lstStyle/>
          <a:p>
            <a:pPr indent="0" marL="0">
              <a:buNone/>
            </a:pPr>
            <a:r>
              <a:rPr lang="en-US" sz="640" b="1" dirty="0">
                <a:solidFill>
                  <a:srgbClr val="0B1F3A"/>
                </a:solidFill>
                <a:latin typeface="Arial" pitchFamily="34" charset="0"/>
                <a:ea typeface="Arial" pitchFamily="34" charset="-122"/>
                <a:cs typeface="Arial" pitchFamily="34" charset="-120"/>
              </a:rPr>
              <a:t>đèn 號誌</a:t>
            </a:r>
            <a:endParaRPr lang="en-US" sz="640" dirty="0"/>
          </a:p>
        </p:txBody>
      </p:sp>
      <p:sp>
        <p:nvSpPr>
          <p:cNvPr id="33" name="Shape 31"/>
          <p:cNvSpPr/>
          <p:nvPr/>
        </p:nvSpPr>
        <p:spPr>
          <a:xfrm>
            <a:off x="1331595" y="2659924"/>
            <a:ext cx="3078752" cy="382089"/>
          </a:xfrm>
          <a:prstGeom prst="rect">
            <a:avLst/>
          </a:prstGeom>
          <a:solidFill>
            <a:srgbClr val="0B1F3A">
              <a:alpha val="78000"/>
            </a:srgbClr>
          </a:solidFill>
          <a:ln/>
        </p:spPr>
      </p:sp>
      <p:sp>
        <p:nvSpPr>
          <p:cNvPr id="34" name="Text 32"/>
          <p:cNvSpPr txBox="1"/>
          <p:nvPr/>
        </p:nvSpPr>
        <p:spPr>
          <a:xfrm>
            <a:off x="1405074" y="2689316"/>
            <a:ext cx="2931795" cy="323306"/>
          </a:xfrm>
          <a:prstGeom prst="rect">
            <a:avLst/>
          </a:prstGeom>
          <a:noFill/>
          <a:ln/>
        </p:spPr>
        <p:txBody>
          <a:bodyPr wrap="square" lIns="0" tIns="0" rIns="0" bIns="0" rtlCol="0" anchor="t"/>
          <a:lstStyle/>
          <a:p>
            <a:pPr indent="0" marL="0">
              <a:lnSpc>
                <a:spcPct val="106000"/>
              </a:lnSpc>
              <a:buNone/>
            </a:pPr>
            <a:r>
              <a:rPr lang="en-US" sz="800" b="1" dirty="0">
                <a:solidFill>
                  <a:srgbClr val="FFFFFF"/>
                </a:solidFill>
                <a:latin typeface="Arial" pitchFamily="34" charset="0"/>
                <a:ea typeface="Arial" pitchFamily="34" charset="-122"/>
                <a:cs typeface="Arial" pitchFamily="34" charset="-120"/>
              </a:rPr>
              <a:t>Hình minh hoạ. Trong CARLA: thời tiết, ánh sáng, người đi bộ, đèn tín hiệu đều chỉnh được.</a:t>
            </a:r>
            <a:endParaRPr lang="en-US" sz="800" dirty="0"/>
          </a:p>
          <a:p>
            <a:pPr indent="0" marL="0">
              <a:lnSpc>
                <a:spcPct val="106000"/>
              </a:lnSpc>
              <a:buNone/>
            </a:pPr>
            <a:r>
              <a:rPr lang="en-US" sz="720" dirty="0">
                <a:solidFill>
                  <a:srgbClr val="D8E4EC"/>
                </a:solidFill>
                <a:latin typeface="微軟正黑體" pitchFamily="34" charset="0"/>
                <a:ea typeface="微軟正黑體" pitchFamily="34" charset="-122"/>
                <a:cs typeface="微軟正黑體" pitchFamily="34" charset="-120"/>
              </a:rPr>
              <a:t>示意圖。在 CARLA 裡，天氣、光線、行人、號誌全都可以調。</a:t>
            </a:r>
            <a:endParaRPr lang="en-US" sz="800" dirty="0"/>
          </a:p>
        </p:txBody>
      </p:sp>
      <p:sp>
        <p:nvSpPr>
          <p:cNvPr id="35" name="Shape 33"/>
          <p:cNvSpPr/>
          <p:nvPr/>
        </p:nvSpPr>
        <p:spPr>
          <a:xfrm>
            <a:off x="4704261" y="1008987"/>
            <a:ext cx="3137535" cy="2062418"/>
          </a:xfrm>
          <a:prstGeom prst="roundRect">
            <a:avLst>
              <a:gd name="adj" fmla="val 3563"/>
            </a:avLst>
          </a:prstGeom>
          <a:solidFill>
            <a:srgbClr val="F4F7FA"/>
          </a:solidFill>
          <a:ln w="12700">
            <a:solidFill>
              <a:srgbClr val="DBE3EA"/>
            </a:solidFill>
            <a:prstDash val="solid"/>
          </a:ln>
        </p:spPr>
      </p:sp>
      <p:sp>
        <p:nvSpPr>
          <p:cNvPr id="36" name="Shape 34"/>
          <p:cNvSpPr/>
          <p:nvPr/>
        </p:nvSpPr>
        <p:spPr>
          <a:xfrm>
            <a:off x="4851219" y="1141248"/>
            <a:ext cx="279219" cy="279219"/>
          </a:xfrm>
          <a:prstGeom prst="ellipse">
            <a:avLst/>
          </a:prstGeom>
          <a:solidFill>
            <a:srgbClr val="D9463E"/>
          </a:solidFill>
          <a:ln/>
        </p:spPr>
      </p:sp>
      <p:sp>
        <p:nvSpPr>
          <p:cNvPr id="37" name="Text 35"/>
          <p:cNvSpPr txBox="1"/>
          <p:nvPr/>
        </p:nvSpPr>
        <p:spPr>
          <a:xfrm>
            <a:off x="4851219" y="1177988"/>
            <a:ext cx="279219" cy="205740"/>
          </a:xfrm>
          <a:prstGeom prst="rect">
            <a:avLst/>
          </a:prstGeom>
          <a:noFill/>
          <a:ln/>
        </p:spPr>
        <p:txBody>
          <a:bodyPr wrap="square" lIns="0" tIns="0" rIns="0" bIns="0"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a:t>
            </a:r>
            <a:endParaRPr lang="en-US" sz="960" dirty="0"/>
          </a:p>
        </p:txBody>
      </p:sp>
      <p:sp>
        <p:nvSpPr>
          <p:cNvPr id="38" name="Text 36"/>
          <p:cNvSpPr txBox="1"/>
          <p:nvPr/>
        </p:nvSpPr>
        <p:spPr>
          <a:xfrm>
            <a:off x="5189220" y="1126553"/>
            <a:ext cx="2505619" cy="338001"/>
          </a:xfrm>
          <a:prstGeom prst="rect">
            <a:avLst/>
          </a:prstGeom>
          <a:noFill/>
          <a:ln/>
        </p:spPr>
        <p:txBody>
          <a:bodyPr wrap="square" lIns="0" tIns="0" rIns="0" bIns="0" rtlCol="0" anchor="ctr"/>
          <a:lstStyle/>
          <a:p>
            <a:pPr indent="0" marL="0">
              <a:buNone/>
            </a:pPr>
            <a:r>
              <a:rPr lang="en-US" sz="840" b="1" dirty="0">
                <a:solidFill>
                  <a:srgbClr val="0B1F3A"/>
                </a:solidFill>
                <a:latin typeface="Arial" pitchFamily="34" charset="0"/>
                <a:ea typeface="Arial" pitchFamily="34" charset="-122"/>
                <a:cs typeface="Arial" pitchFamily="34" charset="-120"/>
              </a:rPr>
              <a:t>CARLA 0.9.14</a:t>
            </a:r>
            <a:endParaRPr lang="en-US" sz="840" dirty="0"/>
          </a:p>
        </p:txBody>
      </p:sp>
      <p:sp>
        <p:nvSpPr>
          <p:cNvPr id="39" name="Text 37"/>
          <p:cNvSpPr txBox="1"/>
          <p:nvPr/>
        </p:nvSpPr>
        <p:spPr>
          <a:xfrm>
            <a:off x="4851219" y="1493945"/>
            <a:ext cx="2843621" cy="161653"/>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CARLA Simulator（官方）　·　3:33，播 2 分鐘就夠</a:t>
            </a:r>
            <a:endParaRPr lang="en-US" sz="720" dirty="0"/>
          </a:p>
        </p:txBody>
      </p:sp>
      <p:sp>
        <p:nvSpPr>
          <p:cNvPr id="40" name="Text 38">
            <a:hlinkClick r:id="rId1" tooltip=""/>
          </p:cNvPr>
          <p:cNvSpPr txBox="1"/>
          <p:nvPr/>
        </p:nvSpPr>
        <p:spPr>
          <a:xfrm>
            <a:off x="4851219" y="1640903"/>
            <a:ext cx="2843621" cy="161653"/>
          </a:xfrm>
          <a:prstGeom prst="rect">
            <a:avLst/>
          </a:prstGeom>
          <a:noFill/>
          <a:ln/>
        </p:spPr>
        <p:txBody>
          <a:bodyPr wrap="square" lIns="0" tIns="0" rIns="0" bIns="0" rtlCol="0" anchor="ctr"/>
          <a:lstStyle/>
          <a:p>
            <a:pPr indent="0" marL="0">
              <a:buNone/>
            </a:pPr>
            <a:r>
              <a:rPr lang="en-US" sz="680" u="sng" dirty="0">
                <a:solidFill>
                  <a:srgbClr val="1F6FB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https://www.youtube.com/watch?v=AZhzZy57XeU</a:t>
            </a:r>
            <a:endParaRPr lang="en-US" sz="680" dirty="0"/>
          </a:p>
        </p:txBody>
      </p:sp>
      <p:sp>
        <p:nvSpPr>
          <p:cNvPr id="41" name="Shape 39"/>
          <p:cNvSpPr/>
          <p:nvPr/>
        </p:nvSpPr>
        <p:spPr>
          <a:xfrm>
            <a:off x="4851219" y="1861338"/>
            <a:ext cx="29391" cy="191044"/>
          </a:xfrm>
          <a:prstGeom prst="rect">
            <a:avLst/>
          </a:prstGeom>
          <a:solidFill>
            <a:srgbClr val="00A896"/>
          </a:solidFill>
          <a:ln/>
        </p:spPr>
      </p:sp>
      <p:sp>
        <p:nvSpPr>
          <p:cNvPr id="42" name="Text 40"/>
          <p:cNvSpPr txBox="1"/>
          <p:nvPr/>
        </p:nvSpPr>
        <p:spPr>
          <a:xfrm>
            <a:off x="4954089" y="1831947"/>
            <a:ext cx="2755446" cy="366492"/>
          </a:xfrm>
          <a:prstGeom prst="rect">
            <a:avLst/>
          </a:prstGeom>
          <a:noFill/>
          <a:ln/>
        </p:spPr>
        <p:txBody>
          <a:bodyPr wrap="square" lIns="0" tIns="0" rIns="0" bIns="0" rtlCol="0" anchor="t"/>
          <a:lstStyle/>
          <a:p>
            <a:pPr indent="0" marL="0">
              <a:lnSpc>
                <a:spcPct val="118000"/>
              </a:lnSpc>
              <a:buNone/>
            </a:pPr>
            <a:r>
              <a:rPr lang="en-US" sz="760" dirty="0">
                <a:solidFill>
                  <a:srgbClr val="1A2733"/>
                </a:solidFill>
                <a:latin typeface="Arial" pitchFamily="34" charset="0"/>
                <a:ea typeface="Arial" pitchFamily="34" charset="-122"/>
                <a:cs typeface="Arial" pitchFamily="34" charset="-120"/>
              </a:rPr>
              <a:t>Trong CARLA, thời tiết, giờ giấc, mật độ xe đều chỉnh được</a:t>
            </a:r>
            <a:endParaRPr lang="en-US" sz="760" dirty="0"/>
          </a:p>
          <a:p>
            <a:pPr indent="0" marL="0">
              <a:lnSpc>
                <a:spcPct val="118000"/>
              </a:lnSpc>
              <a:buNone/>
            </a:pPr>
            <a:r>
              <a:rPr lang="en-US" sz="720" dirty="0">
                <a:solidFill>
                  <a:srgbClr val="5F7183"/>
                </a:solidFill>
                <a:latin typeface="微軟正黑體" pitchFamily="34" charset="0"/>
                <a:ea typeface="微軟正黑體" pitchFamily="34" charset="-122"/>
                <a:cs typeface="微軟正黑體" pitchFamily="34" charset="-120"/>
              </a:rPr>
              <a:t>CARLA 裡的天氣、時間、車流密度，全部都可以調</a:t>
            </a:r>
            <a:endParaRPr lang="en-US" sz="760" dirty="0"/>
          </a:p>
        </p:txBody>
      </p:sp>
      <p:sp>
        <p:nvSpPr>
          <p:cNvPr id="43" name="Shape 41"/>
          <p:cNvSpPr/>
          <p:nvPr/>
        </p:nvSpPr>
        <p:spPr>
          <a:xfrm>
            <a:off x="4851219" y="2257222"/>
            <a:ext cx="29391" cy="191044"/>
          </a:xfrm>
          <a:prstGeom prst="rect">
            <a:avLst/>
          </a:prstGeom>
          <a:solidFill>
            <a:srgbClr val="00A896"/>
          </a:solidFill>
          <a:ln/>
        </p:spPr>
      </p:sp>
      <p:sp>
        <p:nvSpPr>
          <p:cNvPr id="44" name="Text 42"/>
          <p:cNvSpPr txBox="1"/>
          <p:nvPr/>
        </p:nvSpPr>
        <p:spPr>
          <a:xfrm>
            <a:off x="4954089" y="2227830"/>
            <a:ext cx="2755446" cy="252119"/>
          </a:xfrm>
          <a:prstGeom prst="rect">
            <a:avLst/>
          </a:prstGeom>
          <a:noFill/>
          <a:ln/>
        </p:spPr>
        <p:txBody>
          <a:bodyPr wrap="square" lIns="0" tIns="0" rIns="0" bIns="0" rtlCol="0" anchor="t"/>
          <a:lstStyle/>
          <a:p>
            <a:pPr indent="0" marL="0">
              <a:lnSpc>
                <a:spcPct val="118000"/>
              </a:lnSpc>
              <a:buNone/>
            </a:pPr>
            <a:r>
              <a:rPr lang="en-US" sz="760" dirty="0">
                <a:solidFill>
                  <a:srgbClr val="1A2733"/>
                </a:solidFill>
                <a:latin typeface="Arial" pitchFamily="34" charset="0"/>
                <a:ea typeface="Arial" pitchFamily="34" charset="-122"/>
                <a:cs typeface="Arial" pitchFamily="34" charset="-120"/>
              </a:rPr>
              <a:t>Ảnh camera, đám điểm LiDAR — CARLA tính ra hết</a:t>
            </a:r>
            <a:endParaRPr lang="en-US" sz="760" dirty="0"/>
          </a:p>
          <a:p>
            <a:pPr indent="0" marL="0">
              <a:lnSpc>
                <a:spcPct val="118000"/>
              </a:lnSpc>
              <a:buNone/>
            </a:pPr>
            <a:r>
              <a:rPr lang="en-US" sz="720" dirty="0">
                <a:solidFill>
                  <a:srgbClr val="5F7183"/>
                </a:solidFill>
                <a:latin typeface="微軟正黑體" pitchFamily="34" charset="0"/>
                <a:ea typeface="微軟正黑體" pitchFamily="34" charset="-122"/>
                <a:cs typeface="微軟正黑體" pitchFamily="34" charset="-120"/>
              </a:rPr>
              <a:t>相機的影像、光達打回來的點，CARLA 都算得出來</a:t>
            </a:r>
            <a:endParaRPr lang="en-US" sz="760" dirty="0"/>
          </a:p>
        </p:txBody>
      </p:sp>
      <p:sp>
        <p:nvSpPr>
          <p:cNvPr id="45" name="Shape 43"/>
          <p:cNvSpPr/>
          <p:nvPr/>
        </p:nvSpPr>
        <p:spPr>
          <a:xfrm>
            <a:off x="4851219" y="2538732"/>
            <a:ext cx="29391" cy="191044"/>
          </a:xfrm>
          <a:prstGeom prst="rect">
            <a:avLst/>
          </a:prstGeom>
          <a:solidFill>
            <a:srgbClr val="00A896"/>
          </a:solidFill>
          <a:ln/>
        </p:spPr>
      </p:sp>
      <p:sp>
        <p:nvSpPr>
          <p:cNvPr id="46" name="Text 44"/>
          <p:cNvSpPr txBox="1"/>
          <p:nvPr/>
        </p:nvSpPr>
        <p:spPr>
          <a:xfrm>
            <a:off x="4954089" y="2509341"/>
            <a:ext cx="2755446" cy="366492"/>
          </a:xfrm>
          <a:prstGeom prst="rect">
            <a:avLst/>
          </a:prstGeom>
          <a:noFill/>
          <a:ln/>
        </p:spPr>
        <p:txBody>
          <a:bodyPr wrap="square" lIns="0" tIns="0" rIns="0" bIns="0" rtlCol="0" anchor="t"/>
          <a:lstStyle/>
          <a:p>
            <a:pPr indent="0" marL="0">
              <a:lnSpc>
                <a:spcPct val="118000"/>
              </a:lnSpc>
              <a:buNone/>
            </a:pPr>
            <a:r>
              <a:rPr lang="en-US" sz="760" dirty="0">
                <a:solidFill>
                  <a:srgbClr val="1A2733"/>
                </a:solidFill>
                <a:latin typeface="Arial" pitchFamily="34" charset="0"/>
                <a:ea typeface="Arial" pitchFamily="34" charset="-122"/>
                <a:cs typeface="Arial" pitchFamily="34" charset="-120"/>
              </a:rPr>
              <a:t>Câu hỏi: CARLA khác và giống bản trình duyệt của ta ở chỗ nào?</a:t>
            </a:r>
            <a:endParaRPr lang="en-US" sz="760" dirty="0"/>
          </a:p>
          <a:p>
            <a:pPr indent="0" marL="0">
              <a:lnSpc>
                <a:spcPct val="118000"/>
              </a:lnSpc>
              <a:buNone/>
            </a:pPr>
            <a:r>
              <a:rPr lang="en-US" sz="720" dirty="0">
                <a:solidFill>
                  <a:srgbClr val="5F7183"/>
                </a:solidFill>
                <a:latin typeface="微軟正黑體" pitchFamily="34" charset="0"/>
                <a:ea typeface="微軟正黑體" pitchFamily="34" charset="-122"/>
                <a:cs typeface="微軟正黑體" pitchFamily="34" charset="-120"/>
              </a:rPr>
              <a:t>問題：CARLA 跟我們的瀏覽器模擬器，差在哪？哪裡一樣？</a:t>
            </a:r>
            <a:endParaRPr lang="en-US" sz="760" dirty="0"/>
          </a:p>
        </p:txBody>
      </p:sp>
      <p:sp>
        <p:nvSpPr>
          <p:cNvPr id="47" name="Shape 45"/>
          <p:cNvSpPr/>
          <p:nvPr/>
        </p:nvSpPr>
        <p:spPr>
          <a:xfrm>
            <a:off x="1302204" y="3159579"/>
            <a:ext cx="6539593" cy="440871"/>
          </a:xfrm>
          <a:prstGeom prst="roundRect">
            <a:avLst>
              <a:gd name="adj" fmla="val 15000"/>
            </a:avLst>
          </a:prstGeom>
          <a:solidFill>
            <a:srgbClr val="FFF6E3"/>
          </a:solidFill>
          <a:ln w="12700">
            <a:solidFill>
              <a:srgbClr val="FFB020"/>
            </a:solidFill>
            <a:prstDash val="solid"/>
          </a:ln>
        </p:spPr>
      </p:sp>
      <p:sp>
        <p:nvSpPr>
          <p:cNvPr id="48" name="Text 46"/>
          <p:cNvSpPr txBox="1"/>
          <p:nvPr/>
        </p:nvSpPr>
        <p:spPr>
          <a:xfrm>
            <a:off x="1449161" y="3211014"/>
            <a:ext cx="6245679" cy="352697"/>
          </a:xfrm>
          <a:prstGeom prst="rect">
            <a:avLst/>
          </a:prstGeom>
          <a:noFill/>
          <a:ln/>
        </p:spPr>
        <p:txBody>
          <a:bodyPr wrap="square" lIns="0" tIns="0" rIns="0" bIns="0" rtlCol="0" anchor="t"/>
          <a:lstStyle/>
          <a:p>
            <a:pPr indent="0" marL="0">
              <a:lnSpc>
                <a:spcPct val="114000"/>
              </a:lnSpc>
              <a:buNone/>
            </a:pPr>
            <a:r>
              <a:rPr lang="en-US" sz="920" b="1" dirty="0">
                <a:solidFill>
                  <a:srgbClr val="7A4E00"/>
                </a:solidFill>
                <a:latin typeface="Arial" pitchFamily="34" charset="0"/>
                <a:ea typeface="Arial" pitchFamily="34" charset="-122"/>
                <a:cs typeface="Arial" pitchFamily="34" charset="-120"/>
              </a:rPr>
              <a:t>CARLA miễn phí (MIT), nhưng cần GPU cỡ RTX 2070, 8 GB VRAM, 20 GB ổ cứng — nên ta dùng bản trình duyệt.</a:t>
            </a:r>
            <a:endParaRPr lang="en-US" sz="920" dirty="0"/>
          </a:p>
          <a:p>
            <a:pPr indent="0" marL="0">
              <a:lnSpc>
                <a:spcPct val="114000"/>
              </a:lnSpc>
              <a:buNone/>
            </a:pPr>
            <a:r>
              <a:rPr lang="en-US" sz="840" dirty="0">
                <a:solidFill>
                  <a:srgbClr val="7A4E00"/>
                </a:solidFill>
                <a:latin typeface="微軟正黑體" pitchFamily="34" charset="0"/>
                <a:ea typeface="微軟正黑體" pitchFamily="34" charset="-122"/>
                <a:cs typeface="微軟正黑體" pitchFamily="34" charset="-120"/>
              </a:rPr>
              <a:t>CARLA 免費開源，但要 RTX 2070 等級顯卡、8GB 顯示記憶體、20GB 硬碟——所以我們用瀏覽器那支。</a:t>
            </a:r>
            <a:endParaRPr lang="en-US" sz="920" dirty="0"/>
          </a:p>
        </p:txBody>
      </p:sp>
      <p:pic>
        <p:nvPicPr>
          <p:cNvPr id="50" name="Image 0" descr="/Users/tsengchenghsun/Class/carClass/Claude outputs/第四週(10-1)/src/logo.png">    </p:cNvPr>
          <p:cNvPicPr>
            <a:picLocks noChangeAspect="1"/>
          </p:cNvPicPr>
          <p:nvPr/>
        </p:nvPicPr>
        <p:blipFill>
          <a:blip r:embed="rId2"/>
          <a:stretch>
            <a:fillRect/>
          </a:stretch>
        </p:blipFill>
        <p:spPr>
          <a:xfrm>
            <a:off x="7231924" y="88174"/>
            <a:ext cx="881743" cy="194817"/>
          </a:xfrm>
          <a:prstGeom prst="rect">
            <a:avLst/>
          </a:prstGeom>
        </p:spPr>
      </p:pic>
      <p:sp>
        <p:nvSpPr>
          <p:cNvPr id="51" name="Text 47"/>
          <p:cNvSpPr txBox="1"/>
          <p:nvPr/>
        </p:nvSpPr>
        <p:spPr>
          <a:xfrm>
            <a:off x="986246" y="102870"/>
            <a:ext cx="661307" cy="205740"/>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18 / 28</a:t>
            </a:r>
            <a:endParaRPr lang="en-US" sz="720" dirty="0"/>
          </a:p>
        </p:txBody>
      </p:sp>
      <p:sp>
        <p:nvSpPr>
          <p:cNvPr id="52" name="Text 48"/>
          <p:cNvSpPr txBox="1"/>
          <p:nvPr/>
        </p:nvSpPr>
        <p:spPr>
          <a:xfrm>
            <a:off x="1669596" y="102870"/>
            <a:ext cx="1616529" cy="205740"/>
          </a:xfrm>
          <a:prstGeom prst="rect">
            <a:avLst/>
          </a:prstGeom>
          <a:noFill/>
          <a:ln/>
        </p:spPr>
        <p:txBody>
          <a:bodyPr wrap="square" lIns="0" tIns="0" rIns="0" bIns="0" rtlCol="0" anchor="ctr"/>
          <a:lstStyle/>
          <a:p>
            <a:pPr indent="0" marL="0">
              <a:buNone/>
            </a:pPr>
            <a:r>
              <a:rPr lang="en-US" sz="720" dirty="0">
                <a:solidFill>
                  <a:srgbClr val="5F7183"/>
                </a:solidFill>
                <a:latin typeface="Arial" pitchFamily="34" charset="0"/>
                <a:ea typeface="Arial" pitchFamily="34" charset="-122"/>
                <a:cs typeface="Arial" pitchFamily="34" charset="-120"/>
              </a:rPr>
              <a:t>Tiết 1 · 第 1 節</a:t>
            </a:r>
            <a:endParaRPr lang="en-US" sz="7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898071" y="0"/>
          <a:ext cx="1" cy="1"/>
          <a:chOff x="0" y="0"/>
          <a:chExt cx="0" cy="0"/>
        </a:xfrm>
      </p:grpSpPr>
      <p:sp>
        <p:nvSpPr>
          <p:cNvPr id="2" name="Shape 0"/>
          <p:cNvSpPr/>
          <p:nvPr/>
        </p:nvSpPr>
        <p:spPr>
          <a:xfrm>
            <a:off x="6335486" y="-1102179"/>
            <a:ext cx="3380014" cy="3380014"/>
          </a:xfrm>
          <a:prstGeom prst="ellipse">
            <a:avLst/>
          </a:prstGeom>
          <a:solidFill>
            <a:srgbClr val="13314F"/>
          </a:solidFill>
          <a:ln w="12700">
            <a:solidFill>
              <a:srgbClr val="13314F"/>
            </a:solidFill>
            <a:prstDash val="solid"/>
          </a:ln>
        </p:spPr>
      </p:sp>
      <p:sp>
        <p:nvSpPr>
          <p:cNvPr id="3" name="Shape 1"/>
          <p:cNvSpPr/>
          <p:nvPr/>
        </p:nvSpPr>
        <p:spPr>
          <a:xfrm>
            <a:off x="7437664" y="1690007"/>
            <a:ext cx="1910443" cy="1910443"/>
          </a:xfrm>
          <a:prstGeom prst="ellipse">
            <a:avLst/>
          </a:prstGeom>
          <a:solidFill>
            <a:srgbClr val="007F72">
              <a:alpha val="28000"/>
            </a:srgbClr>
          </a:solidFill>
          <a:ln/>
        </p:spPr>
      </p:sp>
      <p:sp>
        <p:nvSpPr>
          <p:cNvPr id="4" name="Text 2"/>
          <p:cNvSpPr txBox="1"/>
          <p:nvPr/>
        </p:nvSpPr>
        <p:spPr>
          <a:xfrm>
            <a:off x="1302204" y="1359354"/>
            <a:ext cx="3673929" cy="249827"/>
          </a:xfrm>
          <a:prstGeom prst="rect">
            <a:avLst/>
          </a:prstGeom>
          <a:noFill/>
          <a:ln/>
        </p:spPr>
        <p:txBody>
          <a:bodyPr wrap="square" lIns="0" tIns="0" rIns="0" bIns="0" rtlCol="0" anchor="ctr"/>
          <a:lstStyle/>
          <a:p>
            <a:pPr indent="0" marL="0">
              <a:buNone/>
            </a:pPr>
            <a:endParaRPr lang="en-US" sz="1080" dirty="0"/>
          </a:p>
        </p:txBody>
      </p:sp>
      <p:sp>
        <p:nvSpPr>
          <p:cNvPr id="5" name="Text 3"/>
          <p:cNvSpPr txBox="1"/>
          <p:nvPr/>
        </p:nvSpPr>
        <p:spPr>
          <a:xfrm>
            <a:off x="1302204" y="1645920"/>
            <a:ext cx="5878286" cy="955221"/>
          </a:xfrm>
          <a:prstGeom prst="rect">
            <a:avLst/>
          </a:prstGeom>
          <a:noFill/>
          <a:ln/>
        </p:spPr>
        <p:txBody>
          <a:bodyPr wrap="square" lIns="0" tIns="0" rIns="0" bIns="0" rtlCol="0" anchor="t"/>
          <a:lstStyle/>
          <a:p>
            <a:pPr indent="0" marL="0">
              <a:lnSpc>
                <a:spcPct val="118000"/>
              </a:lnSpc>
              <a:buNone/>
            </a:pPr>
            <a:r>
              <a:rPr lang="en-US" sz="2330" b="1" dirty="0">
                <a:solidFill>
                  <a:srgbClr val="FFFFFF"/>
                </a:solidFill>
                <a:latin typeface="Arial" pitchFamily="34" charset="0"/>
                <a:ea typeface="Arial" pitchFamily="34" charset="-122"/>
                <a:cs typeface="Arial" pitchFamily="34" charset="-120"/>
              </a:rPr>
              <a:t>Qua được mô phỏng rồi, còn thiếu những gì</a:t>
            </a:r>
            <a:endParaRPr lang="en-US" sz="2330" dirty="0"/>
          </a:p>
          <a:p>
            <a:pPr indent="0" marL="0">
              <a:lnSpc>
                <a:spcPct val="118000"/>
              </a:lnSpc>
              <a:buNone/>
            </a:pPr>
            <a:r>
              <a:rPr lang="en-US" sz="1370" dirty="0">
                <a:solidFill>
                  <a:srgbClr val="AFC3D4"/>
                </a:solidFill>
                <a:latin typeface="微軟正黑體" pitchFamily="34" charset="0"/>
                <a:ea typeface="微軟正黑體" pitchFamily="34" charset="-122"/>
                <a:cs typeface="微軟正黑體" pitchFamily="34" charset="-120"/>
              </a:rPr>
              <a:t>在模擬裡過關之後，還差什麼</a:t>
            </a:r>
            <a:endParaRPr lang="en-US" sz="2330" dirty="0"/>
          </a:p>
        </p:txBody>
      </p:sp>
      <p:sp>
        <p:nvSpPr>
          <p:cNvPr id="6" name="Text 4"/>
          <p:cNvSpPr txBox="1"/>
          <p:nvPr/>
        </p:nvSpPr>
        <p:spPr>
          <a:xfrm>
            <a:off x="1302204" y="2659924"/>
            <a:ext cx="6172200" cy="778873"/>
          </a:xfrm>
          <a:prstGeom prst="rect">
            <a:avLst/>
          </a:prstGeom>
          <a:noFill/>
          <a:ln/>
        </p:spPr>
        <p:txBody>
          <a:bodyPr wrap="square" lIns="0" tIns="0" rIns="0" bIns="0" rtlCol="0" anchor="t"/>
          <a:lstStyle/>
          <a:p>
            <a:pPr indent="0" marL="0">
              <a:lnSpc>
                <a:spcPct val="120000"/>
              </a:lnSpc>
              <a:buNone/>
            </a:pPr>
            <a:r>
              <a:rPr lang="en-US" sz="1080" dirty="0">
                <a:solidFill>
                  <a:srgbClr val="AFC3D4"/>
                </a:solidFill>
                <a:latin typeface="Arial" pitchFamily="34" charset="0"/>
                <a:ea typeface="Arial" pitchFamily="34" charset="-122"/>
                <a:cs typeface="Arial" pitchFamily="34" charset="-120"/>
              </a:rPr>
              <a:t>Ba khoảng cách: hình ảnh, hành vi, vật lý. Xem từng cái một, rồi xem mặt mạnh của mô phỏng.</a:t>
            </a:r>
            <a:endParaRPr lang="en-US" sz="1080" dirty="0"/>
          </a:p>
          <a:p>
            <a:pPr indent="0" marL="0">
              <a:lnSpc>
                <a:spcPct val="120000"/>
              </a:lnSpc>
              <a:buNone/>
            </a:pPr>
            <a:r>
              <a:rPr lang="en-US" sz="960" dirty="0">
                <a:solidFill>
                  <a:srgbClr val="8AA0B4"/>
                </a:solidFill>
                <a:latin typeface="微軟正黑體" pitchFamily="34" charset="0"/>
                <a:ea typeface="微軟正黑體" pitchFamily="34" charset="-122"/>
                <a:cs typeface="微軟正黑體" pitchFamily="34" charset="-120"/>
              </a:rPr>
              <a:t>三種落差：外觀、行為、物理。一種一種看，最後再看模擬強在哪裡。</a:t>
            </a:r>
            <a:endParaRPr lang="en-US" sz="1080" dirty="0"/>
          </a:p>
        </p:txBody>
      </p:sp>
      <p:sp>
        <p:nvSpPr>
          <p:cNvPr id="8" name="Text 5"/>
          <p:cNvSpPr txBox="1"/>
          <p:nvPr/>
        </p:nvSpPr>
        <p:spPr>
          <a:xfrm>
            <a:off x="986246" y="102870"/>
            <a:ext cx="661307" cy="205740"/>
          </a:xfrm>
          <a:prstGeom prst="rect">
            <a:avLst/>
          </a:prstGeom>
          <a:noFill/>
          <a:ln/>
        </p:spPr>
        <p:txBody>
          <a:bodyPr wrap="square" lIns="0" tIns="0" rIns="0" bIns="0" rtlCol="0" anchor="ctr"/>
          <a:lstStyle/>
          <a:p>
            <a:pPr indent="0" marL="0">
              <a:buNone/>
            </a:pPr>
            <a:r>
              <a:rPr lang="en-US" sz="720" dirty="0">
                <a:solidFill>
                  <a:srgbClr val="9FB3C8"/>
                </a:solidFill>
                <a:latin typeface="Arial" pitchFamily="34" charset="0"/>
                <a:ea typeface="Arial" pitchFamily="34" charset="-122"/>
                <a:cs typeface="Arial" pitchFamily="34" charset="-120"/>
              </a:rPr>
              <a:t>19 / 28</a:t>
            </a:r>
            <a:endParaRPr lang="en-US" sz="720" dirty="0"/>
          </a:p>
        </p:txBody>
      </p:sp>
      <p:sp>
        <p:nvSpPr>
          <p:cNvPr id="9" name="Text 6"/>
          <p:cNvSpPr txBox="1"/>
          <p:nvPr/>
        </p:nvSpPr>
        <p:spPr>
          <a:xfrm>
            <a:off x="1669596" y="102870"/>
            <a:ext cx="1616529" cy="205740"/>
          </a:xfrm>
          <a:prstGeom prst="rect">
            <a:avLst/>
          </a:prstGeom>
          <a:noFill/>
          <a:ln/>
        </p:spPr>
        <p:txBody>
          <a:bodyPr wrap="square" lIns="0" tIns="0" rIns="0" bIns="0" rtlCol="0" anchor="ctr"/>
          <a:lstStyle/>
          <a:p>
            <a:pPr indent="0" marL="0">
              <a:buNone/>
            </a:pPr>
            <a:r>
              <a:rPr lang="en-US" sz="720" dirty="0">
                <a:solidFill>
                  <a:srgbClr val="9FB3C8"/>
                </a:solidFill>
                <a:latin typeface="Arial" pitchFamily="34" charset="0"/>
                <a:ea typeface="Arial" pitchFamily="34" charset="-122"/>
                <a:cs typeface="Arial" pitchFamily="34" charset="-120"/>
              </a:rPr>
              <a:t>Tiết 1 · 第 1 節</a:t>
            </a:r>
            <a:endParaRPr lang="en-US" sz="7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1000125" y="0"/>
          <a:ext cx="1" cy="1"/>
          <a:chOff x="0" y="0"/>
          <a:chExt cx="0" cy="0"/>
        </a:xfrm>
      </p:grpSpPr>
      <p:sp>
        <p:nvSpPr>
          <p:cNvPr id="2" name="Text 0"/>
          <p:cNvSpPr txBox="1"/>
          <p:nvPr/>
        </p:nvSpPr>
        <p:spPr>
          <a:xfrm>
            <a:off x="1393031" y="300038"/>
            <a:ext cx="6357938" cy="214313"/>
          </a:xfrm>
          <a:prstGeom prst="rect">
            <a:avLst/>
          </a:prstGeom>
          <a:noFill/>
          <a:ln/>
        </p:spPr>
        <p:txBody>
          <a:bodyPr wrap="square" lIns="0" tIns="0" rIns="0" bIns="0" rtlCol="0" anchor="ctr"/>
          <a:lstStyle/>
          <a:p>
            <a:pPr indent="0" marL="0">
              <a:buNone/>
            </a:pPr>
            <a:r>
              <a:rPr lang="en-US" sz="980" b="1" dirty="0">
                <a:solidFill>
                  <a:srgbClr val="007F72"/>
                </a:solidFill>
                <a:latin typeface="Arial" pitchFamily="34" charset="0"/>
                <a:ea typeface="Arial" pitchFamily="34" charset="-122"/>
                <a:cs typeface="Arial" pitchFamily="34" charset="-120"/>
              </a:rPr>
              <a:t>Khoảng cách 1 / 3 · 落差之一：外觀</a:t>
            </a:r>
            <a:endParaRPr lang="en-US" sz="980" dirty="0"/>
          </a:p>
        </p:txBody>
      </p:sp>
      <p:sp>
        <p:nvSpPr>
          <p:cNvPr id="3" name="Text 1"/>
          <p:cNvSpPr txBox="1"/>
          <p:nvPr/>
        </p:nvSpPr>
        <p:spPr>
          <a:xfrm>
            <a:off x="1393031" y="528638"/>
            <a:ext cx="6357938" cy="638228"/>
          </a:xfrm>
          <a:prstGeom prst="rect">
            <a:avLst/>
          </a:prstGeom>
          <a:noFill/>
          <a:ln/>
        </p:spPr>
        <p:txBody>
          <a:bodyPr wrap="square" lIns="0" tIns="0" rIns="0" bIns="0" rtlCol="0" anchor="t"/>
          <a:lstStyle/>
          <a:p>
            <a:pPr indent="0" marL="0">
              <a:lnSpc>
                <a:spcPct val="116000"/>
              </a:lnSpc>
              <a:buNone/>
            </a:pPr>
            <a:r>
              <a:rPr lang="en-US" sz="1480" b="1" dirty="0">
                <a:solidFill>
                  <a:srgbClr val="0B1F3A"/>
                </a:solidFill>
                <a:latin typeface="Arial" pitchFamily="34" charset="0"/>
                <a:ea typeface="Arial" pitchFamily="34" charset="-122"/>
                <a:cs typeface="Arial" pitchFamily="34" charset="-120"/>
              </a:rPr>
              <a:t>Khoảng cách về hình ảnh: ảnh mô phỏng vẽ ra không giống ảnh camera thật chụp</a:t>
            </a:r>
            <a:endParaRPr lang="en-US" sz="1480" dirty="0"/>
          </a:p>
          <a:p>
            <a:pPr indent="0" marL="0">
              <a:lnSpc>
                <a:spcPct val="116000"/>
              </a:lnSpc>
              <a:buNone/>
            </a:pPr>
            <a:r>
              <a:rPr lang="en-US" sz="980" dirty="0">
                <a:solidFill>
                  <a:srgbClr val="007F72"/>
                </a:solidFill>
                <a:latin typeface="微軟正黑體" pitchFamily="34" charset="0"/>
                <a:ea typeface="微軟正黑體" pitchFamily="34" charset="-122"/>
                <a:cs typeface="微軟正黑體" pitchFamily="34" charset="-120"/>
              </a:rPr>
              <a:t>外觀落差：模擬畫出來的影像，跟真相機拍到的不一樣</a:t>
            </a:r>
            <a:endParaRPr lang="en-US" sz="1480" dirty="0"/>
          </a:p>
        </p:txBody>
      </p:sp>
      <p:sp>
        <p:nvSpPr>
          <p:cNvPr id="4" name="Text 2"/>
          <p:cNvSpPr txBox="1"/>
          <p:nvPr/>
        </p:nvSpPr>
        <p:spPr>
          <a:xfrm>
            <a:off x="1393031" y="1253548"/>
            <a:ext cx="6357938" cy="313463"/>
          </a:xfrm>
          <a:prstGeom prst="rect">
            <a:avLst/>
          </a:prstGeom>
          <a:noFill/>
          <a:ln/>
        </p:spPr>
        <p:txBody>
          <a:bodyPr wrap="square" lIns="0" tIns="0" rIns="0" bIns="0" rtlCol="0" anchor="t"/>
          <a:lstStyle/>
          <a:p>
            <a:pPr indent="0" marL="0">
              <a:lnSpc>
                <a:spcPct val="124000"/>
              </a:lnSpc>
              <a:buNone/>
            </a:pPr>
            <a:r>
              <a:rPr lang="en-US" sz="900" dirty="0">
                <a:solidFill>
                  <a:srgbClr val="5F7183"/>
                </a:solidFill>
                <a:latin typeface="Arial" pitchFamily="34" charset="0"/>
                <a:ea typeface="Arial" pitchFamily="34" charset="-122"/>
                <a:cs typeface="Arial" pitchFamily="34" charset="-120"/>
              </a:rPr>
              <a:t>Khác nhau ở ba chỗ: ánh sáng, chất liệu bề mặt, và nhiễu của cảm biến.</a:t>
            </a:r>
            <a:endParaRPr lang="en-US" sz="900" dirty="0"/>
          </a:p>
          <a:p>
            <a:pPr indent="0" marL="0">
              <a:lnSpc>
                <a:spcPct val="124000"/>
              </a:lnSpc>
              <a:buNone/>
            </a:pPr>
            <a:r>
              <a:rPr lang="en-US" sz="820" dirty="0">
                <a:solidFill>
                  <a:srgbClr val="5F7183"/>
                </a:solidFill>
                <a:latin typeface="微軟正黑體" pitchFamily="34" charset="0"/>
                <a:ea typeface="微軟正黑體" pitchFamily="34" charset="-122"/>
                <a:cs typeface="微軟正黑體" pitchFamily="34" charset="-120"/>
              </a:rPr>
              <a:t>差在三個地方：光線、材質表面、感測器的雜訊。</a:t>
            </a:r>
            <a:endParaRPr lang="en-US" sz="900" dirty="0"/>
          </a:p>
        </p:txBody>
      </p:sp>
      <p:sp>
        <p:nvSpPr>
          <p:cNvPr id="5" name="Shape 3"/>
          <p:cNvSpPr/>
          <p:nvPr/>
        </p:nvSpPr>
        <p:spPr>
          <a:xfrm>
            <a:off x="1393031" y="1644078"/>
            <a:ext cx="1995488"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6" name="Shape 4"/>
          <p:cNvSpPr/>
          <p:nvPr/>
        </p:nvSpPr>
        <p:spPr>
          <a:xfrm>
            <a:off x="1393031" y="1644078"/>
            <a:ext cx="1995488" cy="42863"/>
          </a:xfrm>
          <a:prstGeom prst="rect">
            <a:avLst/>
          </a:prstGeom>
          <a:solidFill>
            <a:srgbClr val="0B1F3A"/>
          </a:solidFill>
          <a:ln/>
        </p:spPr>
      </p:sp>
      <p:sp>
        <p:nvSpPr>
          <p:cNvPr id="7" name="Text 5"/>
          <p:cNvSpPr txBox="1"/>
          <p:nvPr/>
        </p:nvSpPr>
        <p:spPr>
          <a:xfrm>
            <a:off x="1507331" y="1736947"/>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Chiếc xe đỏ trong mô phỏng</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模擬裡的紅色車</a:t>
            </a:r>
            <a:endParaRPr lang="en-US" sz="980" dirty="0"/>
          </a:p>
        </p:txBody>
      </p:sp>
      <p:sp>
        <p:nvSpPr>
          <p:cNvPr id="8" name="Text 6"/>
          <p:cNvSpPr txBox="1"/>
          <p:nvPr/>
        </p:nvSpPr>
        <p:spPr>
          <a:xfrm>
            <a:off x="1507331" y="2069463"/>
            <a:ext cx="1766888"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Màu đỏ đó sạch sẽ, đều tăm tắp, cả chiếc xe chỗ nào cũng đỏ như nhau.</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那個紅是乾淨的、均勻的，整台車每一塊都一樣紅。</a:t>
            </a:r>
            <a:endParaRPr lang="en-US" sz="900" dirty="0"/>
          </a:p>
        </p:txBody>
      </p:sp>
      <p:sp>
        <p:nvSpPr>
          <p:cNvPr id="9" name="Shape 7"/>
          <p:cNvSpPr/>
          <p:nvPr/>
        </p:nvSpPr>
        <p:spPr>
          <a:xfrm>
            <a:off x="3574256" y="1644078"/>
            <a:ext cx="1995488"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0" name="Shape 8"/>
          <p:cNvSpPr/>
          <p:nvPr/>
        </p:nvSpPr>
        <p:spPr>
          <a:xfrm>
            <a:off x="3574256" y="1644078"/>
            <a:ext cx="1995488" cy="42863"/>
          </a:xfrm>
          <a:prstGeom prst="rect">
            <a:avLst/>
          </a:prstGeom>
          <a:solidFill>
            <a:srgbClr val="007F72"/>
          </a:solidFill>
          <a:ln/>
        </p:spPr>
      </p:sp>
      <p:sp>
        <p:nvSpPr>
          <p:cNvPr id="11" name="Text 9"/>
          <p:cNvSpPr txBox="1"/>
          <p:nvPr/>
        </p:nvSpPr>
        <p:spPr>
          <a:xfrm>
            <a:off x="3688556" y="1736947"/>
            <a:ext cx="1766888" cy="442813"/>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Chiếc xe đỏ camera thật chụp</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真相機拍到的紅色車</a:t>
            </a:r>
            <a:endParaRPr lang="en-US" sz="980" dirty="0"/>
          </a:p>
        </p:txBody>
      </p:sp>
      <p:sp>
        <p:nvSpPr>
          <p:cNvPr id="12" name="Text 10"/>
          <p:cNvSpPr txBox="1"/>
          <p:nvPr/>
        </p:nvSpPr>
        <p:spPr>
          <a:xfrm>
            <a:off x="3688556" y="2208334"/>
            <a:ext cx="1766888" cy="792041"/>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Có bụi, có phản chiếu, có bóng biển hiệu bên cạnh, có khi còn vệt phân chim.</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上面有灰塵、有反光、有旁邊招牌的倒影，可能還有一塊鳥屎。</a:t>
            </a:r>
            <a:endParaRPr lang="en-US" sz="900" dirty="0"/>
          </a:p>
        </p:txBody>
      </p:sp>
      <p:sp>
        <p:nvSpPr>
          <p:cNvPr id="13" name="Shape 11"/>
          <p:cNvSpPr/>
          <p:nvPr/>
        </p:nvSpPr>
        <p:spPr>
          <a:xfrm>
            <a:off x="5755481" y="1644078"/>
            <a:ext cx="1995488"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4" name="Shape 12"/>
          <p:cNvSpPr/>
          <p:nvPr/>
        </p:nvSpPr>
        <p:spPr>
          <a:xfrm>
            <a:off x="5755481" y="1644078"/>
            <a:ext cx="1995488" cy="42863"/>
          </a:xfrm>
          <a:prstGeom prst="rect">
            <a:avLst/>
          </a:prstGeom>
          <a:solidFill>
            <a:srgbClr val="FFB020"/>
          </a:solidFill>
          <a:ln/>
        </p:spPr>
      </p:sp>
      <p:sp>
        <p:nvSpPr>
          <p:cNvPr id="15" name="Text 13"/>
          <p:cNvSpPr txBox="1"/>
          <p:nvPr/>
        </p:nvSpPr>
        <p:spPr>
          <a:xfrm>
            <a:off x="5869781" y="1736947"/>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Vậy sẽ thế nào</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所以會怎樣</a:t>
            </a:r>
            <a:endParaRPr lang="en-US" sz="980" dirty="0"/>
          </a:p>
        </p:txBody>
      </p:sp>
      <p:sp>
        <p:nvSpPr>
          <p:cNvPr id="16" name="Text 14"/>
          <p:cNvSpPr txBox="1"/>
          <p:nvPr/>
        </p:nvSpPr>
        <p:spPr>
          <a:xfrm>
            <a:off x="5869781" y="2069463"/>
            <a:ext cx="1766888"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Dạy máy tính nhận xe bằng màu đỏ sạch, ra đường gặp màu đỏ bẩn nó không nhận ra.</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用模擬裡那種乾淨的紅色教電腦認車，它上路遇到髒的紅色就認不出來。</a:t>
            </a:r>
            <a:endParaRPr lang="en-US" sz="900" dirty="0"/>
          </a:p>
        </p:txBody>
      </p:sp>
      <p:sp>
        <p:nvSpPr>
          <p:cNvPr id="17" name="Shape 15"/>
          <p:cNvSpPr/>
          <p:nvPr/>
        </p:nvSpPr>
        <p:spPr>
          <a:xfrm>
            <a:off x="1393031" y="3128963"/>
            <a:ext cx="6357938" cy="471488"/>
          </a:xfrm>
          <a:prstGeom prst="roundRect">
            <a:avLst>
              <a:gd name="adj" fmla="val 13636"/>
            </a:avLst>
          </a:prstGeom>
          <a:solidFill>
            <a:srgbClr val="FFF6E3"/>
          </a:solidFill>
          <a:ln w="12700">
            <a:solidFill>
              <a:srgbClr val="FFB020"/>
            </a:solidFill>
            <a:prstDash val="solid"/>
          </a:ln>
        </p:spPr>
      </p:sp>
      <p:sp>
        <p:nvSpPr>
          <p:cNvPr id="18" name="Text 16"/>
          <p:cNvSpPr txBox="1"/>
          <p:nvPr/>
        </p:nvSpPr>
        <p:spPr>
          <a:xfrm>
            <a:off x="1535906" y="3171825"/>
            <a:ext cx="6072188" cy="400050"/>
          </a:xfrm>
          <a:prstGeom prst="rect">
            <a:avLst/>
          </a:prstGeom>
          <a:noFill/>
          <a:ln/>
        </p:spPr>
        <p:txBody>
          <a:bodyPr wrap="square" lIns="0" tIns="0" rIns="0" bIns="0" rtlCol="0" anchor="t"/>
          <a:lstStyle/>
          <a:p>
            <a:pPr indent="0" marL="0">
              <a:lnSpc>
                <a:spcPct val="116000"/>
              </a:lnSpc>
              <a:buNone/>
            </a:pPr>
            <a:r>
              <a:rPr lang="en-US" sz="900" b="1" dirty="0">
                <a:solidFill>
                  <a:srgbClr val="7A4E00"/>
                </a:solidFill>
                <a:latin typeface="Arial" pitchFamily="34" charset="0"/>
                <a:ea typeface="Arial" pitchFamily="34" charset="-122"/>
                <a:cs typeface="Arial" pitchFamily="34" charset="-120"/>
              </a:rPr>
              <a:t>Cách chữa có tên riêng: domain randomization — trang sau.</a:t>
            </a:r>
            <a:endParaRPr lang="en-US" sz="900" dirty="0"/>
          </a:p>
          <a:p>
            <a:pPr indent="0" marL="0">
              <a:lnSpc>
                <a:spcPct val="116000"/>
              </a:lnSpc>
              <a:buNone/>
            </a:pPr>
            <a:r>
              <a:rPr lang="en-US" sz="820" dirty="0">
                <a:solidFill>
                  <a:srgbClr val="7A4E00"/>
                </a:solidFill>
                <a:latin typeface="微軟正黑體" pitchFamily="34" charset="0"/>
                <a:ea typeface="微軟正黑體" pitchFamily="34" charset="-122"/>
                <a:cs typeface="微軟正黑體" pitchFamily="34" charset="-120"/>
              </a:rPr>
              <a:t>解法有一個名字，叫「域隨機化」（domain randomization）——下一頁。</a:t>
            </a:r>
            <a:endParaRPr lang="en-US" sz="900" dirty="0"/>
          </a:p>
        </p:txBody>
      </p:sp>
      <p:pic>
        <p:nvPicPr>
          <p:cNvPr id="20" name="Image 0" descr="/Users/tsengchenghsun/Class/carClass/Claude outputs/第四週(10-1)/src/logo.png">    </p:cNvPr>
          <p:cNvPicPr>
            <a:picLocks noChangeAspect="1"/>
          </p:cNvPicPr>
          <p:nvPr/>
        </p:nvPicPr>
        <p:blipFill>
          <a:blip r:embed="rId1"/>
          <a:stretch>
            <a:fillRect/>
          </a:stretch>
        </p:blipFill>
        <p:spPr>
          <a:xfrm>
            <a:off x="7158038" y="85725"/>
            <a:ext cx="857250" cy="189405"/>
          </a:xfrm>
          <a:prstGeom prst="rect">
            <a:avLst/>
          </a:prstGeom>
        </p:spPr>
      </p:pic>
      <p:sp>
        <p:nvSpPr>
          <p:cNvPr id="21" name="Text 17"/>
          <p:cNvSpPr txBox="1"/>
          <p:nvPr/>
        </p:nvSpPr>
        <p:spPr>
          <a:xfrm>
            <a:off x="1085850" y="100013"/>
            <a:ext cx="642938"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20 / 28</a:t>
            </a:r>
            <a:endParaRPr lang="en-US" sz="700" dirty="0"/>
          </a:p>
        </p:txBody>
      </p:sp>
      <p:sp>
        <p:nvSpPr>
          <p:cNvPr id="22" name="Text 18"/>
          <p:cNvSpPr txBox="1"/>
          <p:nvPr/>
        </p:nvSpPr>
        <p:spPr>
          <a:xfrm>
            <a:off x="1750219" y="100013"/>
            <a:ext cx="1571625"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Tiết 1 · 第 1 節</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1000125" y="0"/>
          <a:ext cx="1" cy="1"/>
          <a:chOff x="0" y="0"/>
          <a:chExt cx="0" cy="0"/>
        </a:xfrm>
      </p:grpSpPr>
      <p:sp>
        <p:nvSpPr>
          <p:cNvPr id="2" name="Text 0"/>
          <p:cNvSpPr txBox="1"/>
          <p:nvPr/>
        </p:nvSpPr>
        <p:spPr>
          <a:xfrm>
            <a:off x="1393031" y="300038"/>
            <a:ext cx="6357938" cy="214313"/>
          </a:xfrm>
          <a:prstGeom prst="rect">
            <a:avLst/>
          </a:prstGeom>
          <a:noFill/>
          <a:ln/>
        </p:spPr>
        <p:txBody>
          <a:bodyPr wrap="square" lIns="0" tIns="0" rIns="0" bIns="0" rtlCol="0" anchor="ctr"/>
          <a:lstStyle/>
          <a:p>
            <a:pPr indent="0" marL="0">
              <a:buNone/>
            </a:pPr>
            <a:r>
              <a:rPr lang="en-US" sz="980" b="1" dirty="0">
                <a:solidFill>
                  <a:srgbClr val="007F72"/>
                </a:solidFill>
                <a:latin typeface="Arial" pitchFamily="34" charset="0"/>
                <a:ea typeface="Arial" pitchFamily="34" charset="-122"/>
                <a:cs typeface="Arial" pitchFamily="34" charset="-120"/>
              </a:rPr>
              <a:t>Cách chữa · 解法：域隨機化</a:t>
            </a:r>
            <a:endParaRPr lang="en-US" sz="980" dirty="0"/>
          </a:p>
        </p:txBody>
      </p:sp>
      <p:sp>
        <p:nvSpPr>
          <p:cNvPr id="3" name="Text 1"/>
          <p:cNvSpPr txBox="1"/>
          <p:nvPr/>
        </p:nvSpPr>
        <p:spPr>
          <a:xfrm>
            <a:off x="1393031" y="528638"/>
            <a:ext cx="6357938" cy="638228"/>
          </a:xfrm>
          <a:prstGeom prst="rect">
            <a:avLst/>
          </a:prstGeom>
          <a:noFill/>
          <a:ln/>
        </p:spPr>
        <p:txBody>
          <a:bodyPr wrap="square" lIns="0" tIns="0" rIns="0" bIns="0" rtlCol="0" anchor="t"/>
          <a:lstStyle/>
          <a:p>
            <a:pPr indent="0" marL="0">
              <a:lnSpc>
                <a:spcPct val="116000"/>
              </a:lnSpc>
              <a:buNone/>
            </a:pPr>
            <a:r>
              <a:rPr lang="en-US" sz="1480" b="1" dirty="0">
                <a:solidFill>
                  <a:srgbClr val="0B1F3A"/>
                </a:solidFill>
                <a:latin typeface="Arial" pitchFamily="34" charset="0"/>
                <a:ea typeface="Arial" pitchFamily="34" charset="-122"/>
                <a:cs typeface="Arial" pitchFamily="34" charset="-120"/>
              </a:rPr>
              <a:t>Domain randomization: làm loạn mô phỏng, để hiện thực chỉ là một trường hợp</a:t>
            </a:r>
            <a:endParaRPr lang="en-US" sz="1480" dirty="0"/>
          </a:p>
          <a:p>
            <a:pPr indent="0" marL="0">
              <a:lnSpc>
                <a:spcPct val="116000"/>
              </a:lnSpc>
              <a:buNone/>
            </a:pPr>
            <a:r>
              <a:rPr lang="en-US" sz="980" dirty="0">
                <a:solidFill>
                  <a:srgbClr val="007F72"/>
                </a:solidFill>
                <a:latin typeface="微軟正黑體" pitchFamily="34" charset="0"/>
                <a:ea typeface="微軟正黑體" pitchFamily="34" charset="-122"/>
                <a:cs typeface="微軟正黑體" pitchFamily="34" charset="-120"/>
              </a:rPr>
              <a:t>域隨機化：把模擬弄亂，讓現實只是其中一種情況</a:t>
            </a:r>
            <a:endParaRPr lang="en-US" sz="1480" dirty="0"/>
          </a:p>
        </p:txBody>
      </p:sp>
      <p:sp>
        <p:nvSpPr>
          <p:cNvPr id="4" name="Text 2"/>
          <p:cNvSpPr txBox="1"/>
          <p:nvPr/>
        </p:nvSpPr>
        <p:spPr>
          <a:xfrm>
            <a:off x="1393031" y="1253548"/>
            <a:ext cx="6357938" cy="313463"/>
          </a:xfrm>
          <a:prstGeom prst="rect">
            <a:avLst/>
          </a:prstGeom>
          <a:noFill/>
          <a:ln/>
        </p:spPr>
        <p:txBody>
          <a:bodyPr wrap="square" lIns="0" tIns="0" rIns="0" bIns="0" rtlCol="0" anchor="t"/>
          <a:lstStyle/>
          <a:p>
            <a:pPr indent="0" marL="0">
              <a:lnSpc>
                <a:spcPct val="124000"/>
              </a:lnSpc>
              <a:buNone/>
            </a:pPr>
            <a:r>
              <a:rPr lang="en-US" sz="900" dirty="0">
                <a:solidFill>
                  <a:srgbClr val="5F7183"/>
                </a:solidFill>
                <a:latin typeface="Arial" pitchFamily="34" charset="0"/>
                <a:ea typeface="Arial" pitchFamily="34" charset="-122"/>
                <a:cs typeface="Arial" pitchFamily="34" charset="-120"/>
              </a:rPr>
              <a:t>Cách làm nghe rất ngược: cố tình làm loạn mọi thứ trong mô phỏng.</a:t>
            </a:r>
            <a:endParaRPr lang="en-US" sz="900" dirty="0"/>
          </a:p>
          <a:p>
            <a:pPr indent="0" marL="0">
              <a:lnSpc>
                <a:spcPct val="124000"/>
              </a:lnSpc>
              <a:buNone/>
            </a:pPr>
            <a:r>
              <a:rPr lang="en-US" sz="820" dirty="0">
                <a:solidFill>
                  <a:srgbClr val="5F7183"/>
                </a:solidFill>
                <a:latin typeface="微軟正黑體" pitchFamily="34" charset="0"/>
                <a:ea typeface="微軟正黑體" pitchFamily="34" charset="-122"/>
                <a:cs typeface="微軟正黑體" pitchFamily="34" charset="-120"/>
              </a:rPr>
              <a:t>做法聽起來很怪：在模擬裡故意把東西亂改。</a:t>
            </a:r>
            <a:endParaRPr lang="en-US" sz="900" dirty="0"/>
          </a:p>
        </p:txBody>
      </p:sp>
      <p:sp>
        <p:nvSpPr>
          <p:cNvPr id="5" name="Shape 3"/>
          <p:cNvSpPr/>
          <p:nvPr/>
        </p:nvSpPr>
        <p:spPr>
          <a:xfrm>
            <a:off x="1393031" y="1644078"/>
            <a:ext cx="1995488"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6" name="Shape 4"/>
          <p:cNvSpPr/>
          <p:nvPr/>
        </p:nvSpPr>
        <p:spPr>
          <a:xfrm>
            <a:off x="1393031" y="1644078"/>
            <a:ext cx="1995488" cy="42863"/>
          </a:xfrm>
          <a:prstGeom prst="rect">
            <a:avLst/>
          </a:prstGeom>
          <a:solidFill>
            <a:srgbClr val="0B1F3A"/>
          </a:solidFill>
          <a:ln/>
        </p:spPr>
      </p:sp>
      <p:sp>
        <p:nvSpPr>
          <p:cNvPr id="7" name="Text 5"/>
          <p:cNvSpPr txBox="1"/>
          <p:nvPr/>
        </p:nvSpPr>
        <p:spPr>
          <a:xfrm>
            <a:off x="1507331" y="1736947"/>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Làm thế nào</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怎麼做</a:t>
            </a:r>
            <a:endParaRPr lang="en-US" sz="980" dirty="0"/>
          </a:p>
        </p:txBody>
      </p:sp>
      <p:sp>
        <p:nvSpPr>
          <p:cNvPr id="8" name="Text 6"/>
          <p:cNvSpPr txBox="1"/>
          <p:nvPr/>
        </p:nvSpPr>
        <p:spPr>
          <a:xfrm>
            <a:off x="1507331" y="2069463"/>
            <a:ext cx="1766888"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Xe đỏ lúc ngả cam, lúc ngả tím. Ánh sáng lúc sáng lúc tối. Mặt đường đổi liên tục.</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紅色車一下偏橘、一下偏紫。光線一下亮、一下暗。地面材質一直換。</a:t>
            </a:r>
            <a:endParaRPr lang="en-US" sz="900" dirty="0"/>
          </a:p>
        </p:txBody>
      </p:sp>
      <p:sp>
        <p:nvSpPr>
          <p:cNvPr id="9" name="Shape 7"/>
          <p:cNvSpPr/>
          <p:nvPr/>
        </p:nvSpPr>
        <p:spPr>
          <a:xfrm>
            <a:off x="3574256" y="1644078"/>
            <a:ext cx="1995488"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0" name="Shape 8"/>
          <p:cNvSpPr/>
          <p:nvPr/>
        </p:nvSpPr>
        <p:spPr>
          <a:xfrm>
            <a:off x="3574256" y="1644078"/>
            <a:ext cx="1995488" cy="42863"/>
          </a:xfrm>
          <a:prstGeom prst="rect">
            <a:avLst/>
          </a:prstGeom>
          <a:solidFill>
            <a:srgbClr val="007F72"/>
          </a:solidFill>
          <a:ln/>
        </p:spPr>
      </p:sp>
      <p:sp>
        <p:nvSpPr>
          <p:cNvPr id="11" name="Text 9"/>
          <p:cNvSpPr txBox="1"/>
          <p:nvPr/>
        </p:nvSpPr>
        <p:spPr>
          <a:xfrm>
            <a:off x="3688556" y="1736947"/>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Vì sao lại có tác dụng</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為什麼這樣有用</a:t>
            </a:r>
            <a:endParaRPr lang="en-US" sz="980" dirty="0"/>
          </a:p>
        </p:txBody>
      </p:sp>
      <p:sp>
        <p:nvSpPr>
          <p:cNvPr id="12" name="Text 10"/>
          <p:cNvSpPr txBox="1"/>
          <p:nvPr/>
        </p:nvSpPr>
        <p:spPr>
          <a:xfrm>
            <a:off x="3688556" y="2069463"/>
            <a:ext cx="1766888"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Màu cứ đổi nên máy tính không dựa vào màu được nữa. Nó chỉ còn một manh mối: hình dạng.</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紅色一直在變，電腦不能再靠顏色認車。它只剩一個線索：形狀。</a:t>
            </a:r>
            <a:endParaRPr lang="en-US" sz="900" dirty="0"/>
          </a:p>
        </p:txBody>
      </p:sp>
      <p:sp>
        <p:nvSpPr>
          <p:cNvPr id="13" name="Shape 11"/>
          <p:cNvSpPr/>
          <p:nvPr/>
        </p:nvSpPr>
        <p:spPr>
          <a:xfrm>
            <a:off x="5755481" y="1644078"/>
            <a:ext cx="1995488" cy="1427734"/>
          </a:xfrm>
          <a:prstGeom prst="roundRect">
            <a:avLst>
              <a:gd name="adj" fmla="val 500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4" name="Shape 12"/>
          <p:cNvSpPr/>
          <p:nvPr/>
        </p:nvSpPr>
        <p:spPr>
          <a:xfrm>
            <a:off x="5755481" y="1644078"/>
            <a:ext cx="1995488" cy="42863"/>
          </a:xfrm>
          <a:prstGeom prst="rect">
            <a:avLst/>
          </a:prstGeom>
          <a:solidFill>
            <a:srgbClr val="FFB020"/>
          </a:solidFill>
          <a:ln/>
        </p:spPr>
      </p:sp>
      <p:sp>
        <p:nvSpPr>
          <p:cNvPr id="15" name="Text 13"/>
          <p:cNvSpPr txBox="1"/>
          <p:nvPr/>
        </p:nvSpPr>
        <p:spPr>
          <a:xfrm>
            <a:off x="5869781" y="1736947"/>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Mấu chốt nằm ở đây</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關鍵在哪裡</a:t>
            </a:r>
            <a:endParaRPr lang="en-US" sz="980" dirty="0"/>
          </a:p>
        </p:txBody>
      </p:sp>
      <p:sp>
        <p:nvSpPr>
          <p:cNvPr id="16" name="Text 14"/>
          <p:cNvSpPr txBox="1"/>
          <p:nvPr/>
        </p:nvSpPr>
        <p:spPr>
          <a:xfrm>
            <a:off x="5869781" y="2069463"/>
            <a:ext cx="1766888" cy="93091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Hình dạng thì ngoài đời không đổi. Nên máy tính quen nhận xe bằng hình dạng, ra đường thật vẫn dùng được.</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形狀在真實世界裡不會變。所以改用形狀認車的電腦，上路還管用。</a:t>
            </a:r>
            <a:endParaRPr lang="en-US" sz="900" dirty="0"/>
          </a:p>
        </p:txBody>
      </p:sp>
      <p:sp>
        <p:nvSpPr>
          <p:cNvPr id="17" name="Shape 15"/>
          <p:cNvSpPr/>
          <p:nvPr/>
        </p:nvSpPr>
        <p:spPr>
          <a:xfrm>
            <a:off x="1393031" y="3128963"/>
            <a:ext cx="6357938" cy="471488"/>
          </a:xfrm>
          <a:prstGeom prst="roundRect">
            <a:avLst>
              <a:gd name="adj" fmla="val 13636"/>
            </a:avLst>
          </a:prstGeom>
          <a:solidFill>
            <a:srgbClr val="FFF6E3"/>
          </a:solidFill>
          <a:ln w="12700">
            <a:solidFill>
              <a:srgbClr val="FFB020"/>
            </a:solidFill>
            <a:prstDash val="solid"/>
          </a:ln>
        </p:spPr>
      </p:sp>
      <p:sp>
        <p:nvSpPr>
          <p:cNvPr id="18" name="Text 16"/>
          <p:cNvSpPr txBox="1"/>
          <p:nvPr/>
        </p:nvSpPr>
        <p:spPr>
          <a:xfrm>
            <a:off x="1535906" y="3171825"/>
            <a:ext cx="6072188" cy="400050"/>
          </a:xfrm>
          <a:prstGeom prst="rect">
            <a:avLst/>
          </a:prstGeom>
          <a:noFill/>
          <a:ln/>
        </p:spPr>
        <p:txBody>
          <a:bodyPr wrap="square" lIns="0" tIns="0" rIns="0" bIns="0" rtlCol="0" anchor="t"/>
          <a:lstStyle/>
          <a:p>
            <a:pPr indent="0" marL="0">
              <a:lnSpc>
                <a:spcPct val="116000"/>
              </a:lnSpc>
              <a:buNone/>
            </a:pPr>
            <a:r>
              <a:rPr lang="en-US" sz="900" b="1" dirty="0">
                <a:solidFill>
                  <a:srgbClr val="7A4E00"/>
                </a:solidFill>
                <a:latin typeface="Arial" pitchFamily="34" charset="0"/>
                <a:ea typeface="Arial" pitchFamily="34" charset="-122"/>
                <a:cs typeface="Arial" pitchFamily="34" charset="-120"/>
              </a:rPr>
              <a:t>Thay vì làm mô phỏng giống hệt hiện thực (không thể), hãy để hiện thực chỉ là một trường hợp.</a:t>
            </a:r>
            <a:endParaRPr lang="en-US" sz="900" dirty="0"/>
          </a:p>
          <a:p>
            <a:pPr indent="0" marL="0">
              <a:lnSpc>
                <a:spcPct val="116000"/>
              </a:lnSpc>
              <a:buNone/>
            </a:pPr>
            <a:r>
              <a:rPr lang="en-US" sz="820" dirty="0">
                <a:solidFill>
                  <a:srgbClr val="7A4E00"/>
                </a:solidFill>
                <a:latin typeface="微軟正黑體" pitchFamily="34" charset="0"/>
                <a:ea typeface="微軟正黑體" pitchFamily="34" charset="-122"/>
                <a:cs typeface="微軟正黑體" pitchFamily="34" charset="-120"/>
              </a:rPr>
              <a:t>與其把模擬做得跟現實一模一樣（做不到），不如讓現實只是其中一種情況。</a:t>
            </a:r>
            <a:endParaRPr lang="en-US" sz="900" dirty="0"/>
          </a:p>
        </p:txBody>
      </p:sp>
      <p:pic>
        <p:nvPicPr>
          <p:cNvPr id="20" name="Image 0" descr="/Users/tsengchenghsun/Class/carClass/Claude outputs/第四週(10-1)/src/logo.png">    </p:cNvPr>
          <p:cNvPicPr>
            <a:picLocks noChangeAspect="1"/>
          </p:cNvPicPr>
          <p:nvPr/>
        </p:nvPicPr>
        <p:blipFill>
          <a:blip r:embed="rId1"/>
          <a:stretch>
            <a:fillRect/>
          </a:stretch>
        </p:blipFill>
        <p:spPr>
          <a:xfrm>
            <a:off x="7158038" y="85725"/>
            <a:ext cx="857250" cy="189405"/>
          </a:xfrm>
          <a:prstGeom prst="rect">
            <a:avLst/>
          </a:prstGeom>
        </p:spPr>
      </p:pic>
      <p:sp>
        <p:nvSpPr>
          <p:cNvPr id="21" name="Text 17"/>
          <p:cNvSpPr txBox="1"/>
          <p:nvPr/>
        </p:nvSpPr>
        <p:spPr>
          <a:xfrm>
            <a:off x="1085850" y="100013"/>
            <a:ext cx="642938"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21 / 28</a:t>
            </a:r>
            <a:endParaRPr lang="en-US" sz="700" dirty="0"/>
          </a:p>
        </p:txBody>
      </p:sp>
      <p:sp>
        <p:nvSpPr>
          <p:cNvPr id="22" name="Text 18"/>
          <p:cNvSpPr txBox="1"/>
          <p:nvPr/>
        </p:nvSpPr>
        <p:spPr>
          <a:xfrm>
            <a:off x="1750219" y="100013"/>
            <a:ext cx="1571625"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Tiết 1 · 第 1 節</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1000125" y="0"/>
          <a:ext cx="1" cy="1"/>
          <a:chOff x="0" y="0"/>
          <a:chExt cx="0" cy="0"/>
        </a:xfrm>
      </p:grpSpPr>
      <p:sp>
        <p:nvSpPr>
          <p:cNvPr id="2" name="Text 0"/>
          <p:cNvSpPr txBox="1"/>
          <p:nvPr/>
        </p:nvSpPr>
        <p:spPr>
          <a:xfrm>
            <a:off x="1393031" y="300038"/>
            <a:ext cx="6357938" cy="214313"/>
          </a:xfrm>
          <a:prstGeom prst="rect">
            <a:avLst/>
          </a:prstGeom>
          <a:noFill/>
          <a:ln/>
        </p:spPr>
        <p:txBody>
          <a:bodyPr wrap="square" lIns="0" tIns="0" rIns="0" bIns="0" rtlCol="0" anchor="ctr"/>
          <a:lstStyle/>
          <a:p>
            <a:pPr indent="0" marL="0">
              <a:buNone/>
            </a:pPr>
            <a:r>
              <a:rPr lang="en-US" sz="980" b="1" dirty="0">
                <a:solidFill>
                  <a:srgbClr val="007F72"/>
                </a:solidFill>
                <a:latin typeface="Arial" pitchFamily="34" charset="0"/>
                <a:ea typeface="Arial" pitchFamily="34" charset="-122"/>
                <a:cs typeface="Arial" pitchFamily="34" charset="-120"/>
              </a:rPr>
              <a:t>Khoảng cách 2 / 3 · 落差之二：行為</a:t>
            </a:r>
            <a:endParaRPr lang="en-US" sz="980" dirty="0"/>
          </a:p>
        </p:txBody>
      </p:sp>
      <p:sp>
        <p:nvSpPr>
          <p:cNvPr id="3" name="Text 1"/>
          <p:cNvSpPr txBox="1"/>
          <p:nvPr/>
        </p:nvSpPr>
        <p:spPr>
          <a:xfrm>
            <a:off x="1393031" y="528638"/>
            <a:ext cx="6357938" cy="638228"/>
          </a:xfrm>
          <a:prstGeom prst="rect">
            <a:avLst/>
          </a:prstGeom>
          <a:noFill/>
          <a:ln/>
        </p:spPr>
        <p:txBody>
          <a:bodyPr wrap="square" lIns="0" tIns="0" rIns="0" bIns="0" rtlCol="0" anchor="t"/>
          <a:lstStyle/>
          <a:p>
            <a:pPr indent="0" marL="0">
              <a:lnSpc>
                <a:spcPct val="116000"/>
              </a:lnSpc>
              <a:buNone/>
            </a:pPr>
            <a:r>
              <a:rPr lang="en-US" sz="1480" b="1" dirty="0">
                <a:solidFill>
                  <a:srgbClr val="0B1F3A"/>
                </a:solidFill>
                <a:latin typeface="Arial" pitchFamily="34" charset="0"/>
                <a:ea typeface="Arial" pitchFamily="34" charset="-122"/>
                <a:cs typeface="Arial" pitchFamily="34" charset="-120"/>
              </a:rPr>
              <a:t>Khoảng cách về hành vi: trong mô phỏng ai cũng đi đúng luật, ngoài đường thì không</a:t>
            </a:r>
            <a:endParaRPr lang="en-US" sz="1480" dirty="0"/>
          </a:p>
          <a:p>
            <a:pPr indent="0" marL="0">
              <a:lnSpc>
                <a:spcPct val="116000"/>
              </a:lnSpc>
              <a:buNone/>
            </a:pPr>
            <a:r>
              <a:rPr lang="en-US" sz="980" dirty="0">
                <a:solidFill>
                  <a:srgbClr val="007F72"/>
                </a:solidFill>
                <a:latin typeface="微軟正黑體" pitchFamily="34" charset="0"/>
                <a:ea typeface="微軟正黑體" pitchFamily="34" charset="-122"/>
                <a:cs typeface="微軟正黑體" pitchFamily="34" charset="-120"/>
              </a:rPr>
              <a:t>行為落差：模擬裡的車都照規則走，真實世界的人不照規則</a:t>
            </a:r>
            <a:endParaRPr lang="en-US" sz="1480" dirty="0"/>
          </a:p>
        </p:txBody>
      </p:sp>
      <p:sp>
        <p:nvSpPr>
          <p:cNvPr id="4" name="Shape 2"/>
          <p:cNvSpPr/>
          <p:nvPr/>
        </p:nvSpPr>
        <p:spPr>
          <a:xfrm>
            <a:off x="1393031" y="1253548"/>
            <a:ext cx="1995488" cy="1818264"/>
          </a:xfrm>
          <a:prstGeom prst="roundRect">
            <a:avLst>
              <a:gd name="adj" fmla="val 3929"/>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5" name="Shape 3"/>
          <p:cNvSpPr/>
          <p:nvPr/>
        </p:nvSpPr>
        <p:spPr>
          <a:xfrm>
            <a:off x="1393031" y="1253548"/>
            <a:ext cx="1995488" cy="42863"/>
          </a:xfrm>
          <a:prstGeom prst="rect">
            <a:avLst/>
          </a:prstGeom>
          <a:solidFill>
            <a:srgbClr val="0B1F3A"/>
          </a:solidFill>
          <a:ln/>
        </p:spPr>
      </p:sp>
      <p:sp>
        <p:nvSpPr>
          <p:cNvPr id="6" name="Text 4"/>
          <p:cNvSpPr txBox="1"/>
          <p:nvPr/>
        </p:nvSpPr>
        <p:spPr>
          <a:xfrm>
            <a:off x="1507331" y="1346417"/>
            <a:ext cx="1766888"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Xe trong mô phỏng làm gì</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模擬裡的車在做什麼</a:t>
            </a:r>
            <a:endParaRPr lang="en-US" sz="980" dirty="0"/>
          </a:p>
        </p:txBody>
      </p:sp>
      <p:sp>
        <p:nvSpPr>
          <p:cNvPr id="7" name="Text 5"/>
          <p:cNvSpPr txBox="1"/>
          <p:nvPr/>
        </p:nvSpPr>
        <p:spPr>
          <a:xfrm>
            <a:off x="1507331" y="1678933"/>
            <a:ext cx="1766888" cy="132144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Giữ giữa làn, giữ khoảng cách an toàn với xe trước, muốn chuyển làn thì bật xi-nhan trước đã.</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待在車道中間、跟前車保持安全距離、要變換車道先打方向燈。</a:t>
            </a:r>
            <a:endParaRPr lang="en-US" sz="900" dirty="0"/>
          </a:p>
        </p:txBody>
      </p:sp>
      <p:sp>
        <p:nvSpPr>
          <p:cNvPr id="8" name="Shape 6"/>
          <p:cNvSpPr/>
          <p:nvPr/>
        </p:nvSpPr>
        <p:spPr>
          <a:xfrm>
            <a:off x="3574256" y="1253548"/>
            <a:ext cx="1995488" cy="1818264"/>
          </a:xfrm>
          <a:prstGeom prst="roundRect">
            <a:avLst>
              <a:gd name="adj" fmla="val 3929"/>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9" name="Shape 7"/>
          <p:cNvSpPr/>
          <p:nvPr/>
        </p:nvSpPr>
        <p:spPr>
          <a:xfrm>
            <a:off x="3574256" y="1253548"/>
            <a:ext cx="1995488" cy="42863"/>
          </a:xfrm>
          <a:prstGeom prst="rect">
            <a:avLst/>
          </a:prstGeom>
          <a:solidFill>
            <a:srgbClr val="007F72"/>
          </a:solidFill>
          <a:ln/>
        </p:spPr>
      </p:sp>
      <p:sp>
        <p:nvSpPr>
          <p:cNvPr id="10" name="Text 8"/>
          <p:cNvSpPr txBox="1"/>
          <p:nvPr/>
        </p:nvSpPr>
        <p:spPr>
          <a:xfrm>
            <a:off x="3688556" y="1346417"/>
            <a:ext cx="1766888" cy="442813"/>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Xe máy thật ngoài đường thì sao</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真實世界的機車呢</a:t>
            </a:r>
            <a:endParaRPr lang="en-US" sz="980" dirty="0"/>
          </a:p>
        </p:txBody>
      </p:sp>
      <p:sp>
        <p:nvSpPr>
          <p:cNvPr id="11" name="Text 9"/>
          <p:cNvSpPr txBox="1"/>
          <p:nvPr/>
        </p:nvSpPr>
        <p:spPr>
          <a:xfrm>
            <a:off x="3688556" y="1817805"/>
            <a:ext cx="1766888" cy="1182570"/>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Lách khe, đèn đỏ thì chen lên tận đầu, ngã tư không có vạch kẻ thì nhìn mắt nhau mà đi.</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鑽縫、在紅燈前擠到最前面、在沒有標線的路口靠眼神決定誰先走。</a:t>
            </a:r>
            <a:endParaRPr lang="en-US" sz="900" dirty="0"/>
          </a:p>
        </p:txBody>
      </p:sp>
      <p:sp>
        <p:nvSpPr>
          <p:cNvPr id="12" name="Shape 10"/>
          <p:cNvSpPr/>
          <p:nvPr/>
        </p:nvSpPr>
        <p:spPr>
          <a:xfrm>
            <a:off x="5755481" y="1253548"/>
            <a:ext cx="1995488" cy="1818264"/>
          </a:xfrm>
          <a:prstGeom prst="roundRect">
            <a:avLst>
              <a:gd name="adj" fmla="val 3929"/>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3" name="Shape 11"/>
          <p:cNvSpPr/>
          <p:nvPr/>
        </p:nvSpPr>
        <p:spPr>
          <a:xfrm>
            <a:off x="5755481" y="1253548"/>
            <a:ext cx="1995488" cy="42863"/>
          </a:xfrm>
          <a:prstGeom prst="rect">
            <a:avLst/>
          </a:prstGeom>
          <a:solidFill>
            <a:srgbClr val="FFB020"/>
          </a:solidFill>
          <a:ln/>
        </p:spPr>
      </p:sp>
      <p:sp>
        <p:nvSpPr>
          <p:cNvPr id="14" name="Text 12"/>
          <p:cNvSpPr txBox="1"/>
          <p:nvPr/>
        </p:nvSpPr>
        <p:spPr>
          <a:xfrm>
            <a:off x="5869781" y="1346417"/>
            <a:ext cx="1766888" cy="442813"/>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Nên xảy ra một chuyện rất mỉa mai</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所以會發生一件很諷刺的事</a:t>
            </a:r>
            <a:endParaRPr lang="en-US" sz="980" dirty="0"/>
          </a:p>
        </p:txBody>
      </p:sp>
      <p:sp>
        <p:nvSpPr>
          <p:cNvPr id="15" name="Text 13"/>
          <p:cNvSpPr txBox="1"/>
          <p:nvPr/>
        </p:nvSpPr>
        <p:spPr>
          <a:xfrm>
            <a:off x="5869781" y="1817805"/>
            <a:ext cx="1766888" cy="1182570"/>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Một chiếc xe tự lái hoàn hảo trong mô phỏng, thả ra đường Hà Nội thật có thể không nhúc nhích nổi.</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在模擬裡完美的自駕車，丟到真的河內街頭可能完全動不了——它學到的規則在那裡不適用。</a:t>
            </a:r>
            <a:endParaRPr lang="en-US" sz="900" dirty="0"/>
          </a:p>
        </p:txBody>
      </p:sp>
      <p:sp>
        <p:nvSpPr>
          <p:cNvPr id="16" name="Shape 14"/>
          <p:cNvSpPr/>
          <p:nvPr/>
        </p:nvSpPr>
        <p:spPr>
          <a:xfrm>
            <a:off x="1393031" y="3128963"/>
            <a:ext cx="6357938" cy="471488"/>
          </a:xfrm>
          <a:prstGeom prst="roundRect">
            <a:avLst>
              <a:gd name="adj" fmla="val 13636"/>
            </a:avLst>
          </a:prstGeom>
          <a:solidFill>
            <a:srgbClr val="FFF6E3"/>
          </a:solidFill>
          <a:ln w="12700">
            <a:solidFill>
              <a:srgbClr val="FFB020"/>
            </a:solidFill>
            <a:prstDash val="solid"/>
          </a:ln>
        </p:spPr>
      </p:sp>
      <p:sp>
        <p:nvSpPr>
          <p:cNvPr id="17" name="Text 15"/>
          <p:cNvSpPr txBox="1"/>
          <p:nvPr/>
        </p:nvSpPr>
        <p:spPr>
          <a:xfrm>
            <a:off x="1535906" y="3171825"/>
            <a:ext cx="6072188" cy="400050"/>
          </a:xfrm>
          <a:prstGeom prst="rect">
            <a:avLst/>
          </a:prstGeom>
          <a:noFill/>
          <a:ln/>
        </p:spPr>
        <p:txBody>
          <a:bodyPr wrap="square" lIns="0" tIns="0" rIns="0" bIns="0" rtlCol="0" anchor="t"/>
          <a:lstStyle/>
          <a:p>
            <a:pPr indent="0" marL="0">
              <a:lnSpc>
                <a:spcPct val="116000"/>
              </a:lnSpc>
              <a:buNone/>
            </a:pPr>
            <a:r>
              <a:rPr lang="en-US" sz="900" b="1" dirty="0">
                <a:solidFill>
                  <a:srgbClr val="7A4E00"/>
                </a:solidFill>
                <a:latin typeface="Arial" pitchFamily="34" charset="0"/>
                <a:ea typeface="Arial" pitchFamily="34" charset="-122"/>
                <a:cs typeface="Arial" pitchFamily="34" charset="-120"/>
              </a:rPr>
              <a:t>Cách chữa: ghi lại quỹ đạo thật ngoài đường rồi phát lại vào trong mô phỏng.</a:t>
            </a:r>
            <a:endParaRPr lang="en-US" sz="900" dirty="0"/>
          </a:p>
          <a:p>
            <a:pPr indent="0" marL="0">
              <a:lnSpc>
                <a:spcPct val="116000"/>
              </a:lnSpc>
              <a:buNone/>
            </a:pPr>
            <a:r>
              <a:rPr lang="en-US" sz="820" dirty="0">
                <a:solidFill>
                  <a:srgbClr val="7A4E00"/>
                </a:solidFill>
                <a:latin typeface="微軟正黑體" pitchFamily="34" charset="0"/>
                <a:ea typeface="微軟正黑體" pitchFamily="34" charset="-122"/>
                <a:cs typeface="微軟正黑體" pitchFamily="34" charset="-120"/>
              </a:rPr>
              <a:t>解法：把真實道路上錄到的軌跡，回放進模擬裡。</a:t>
            </a:r>
            <a:endParaRPr lang="en-US" sz="900" dirty="0"/>
          </a:p>
        </p:txBody>
      </p:sp>
      <p:pic>
        <p:nvPicPr>
          <p:cNvPr id="19" name="Image 0" descr="/Users/tsengchenghsun/Class/carClass/Claude outputs/第四週(10-1)/src/logo.png">    </p:cNvPr>
          <p:cNvPicPr>
            <a:picLocks noChangeAspect="1"/>
          </p:cNvPicPr>
          <p:nvPr/>
        </p:nvPicPr>
        <p:blipFill>
          <a:blip r:embed="rId1"/>
          <a:stretch>
            <a:fillRect/>
          </a:stretch>
        </p:blipFill>
        <p:spPr>
          <a:xfrm>
            <a:off x="7158038" y="85725"/>
            <a:ext cx="857250" cy="189405"/>
          </a:xfrm>
          <a:prstGeom prst="rect">
            <a:avLst/>
          </a:prstGeom>
        </p:spPr>
      </p:pic>
      <p:sp>
        <p:nvSpPr>
          <p:cNvPr id="20" name="Text 16"/>
          <p:cNvSpPr txBox="1"/>
          <p:nvPr/>
        </p:nvSpPr>
        <p:spPr>
          <a:xfrm>
            <a:off x="1085850" y="100013"/>
            <a:ext cx="642938"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22 / 28</a:t>
            </a:r>
            <a:endParaRPr lang="en-US" sz="700" dirty="0"/>
          </a:p>
        </p:txBody>
      </p:sp>
      <p:sp>
        <p:nvSpPr>
          <p:cNvPr id="21" name="Text 17"/>
          <p:cNvSpPr txBox="1"/>
          <p:nvPr/>
        </p:nvSpPr>
        <p:spPr>
          <a:xfrm>
            <a:off x="1750219" y="100013"/>
            <a:ext cx="1571625"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Tiết 1 · 第 1 節</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942514" y="0"/>
          <a:ext cx="1" cy="1"/>
          <a:chOff x="0" y="0"/>
          <a:chExt cx="0" cy="0"/>
        </a:xfrm>
      </p:grpSpPr>
      <p:sp>
        <p:nvSpPr>
          <p:cNvPr id="2" name="Text 0"/>
          <p:cNvSpPr txBox="1"/>
          <p:nvPr/>
        </p:nvSpPr>
        <p:spPr>
          <a:xfrm>
            <a:off x="1341758" y="333913"/>
            <a:ext cx="6460485" cy="217769"/>
          </a:xfrm>
          <a:prstGeom prst="rect">
            <a:avLst/>
          </a:prstGeom>
          <a:noFill/>
          <a:ln/>
        </p:spPr>
        <p:txBody>
          <a:bodyPr wrap="square" lIns="0" tIns="0" rIns="0" bIns="0" rtlCol="0" anchor="ctr"/>
          <a:lstStyle/>
          <a:p>
            <a:pPr indent="0" marL="0">
              <a:buNone/>
            </a:pPr>
            <a:r>
              <a:rPr lang="en-US" sz="990" b="1" dirty="0">
                <a:solidFill>
                  <a:srgbClr val="007F72"/>
                </a:solidFill>
                <a:latin typeface="Arial" pitchFamily="34" charset="0"/>
                <a:ea typeface="Arial" pitchFamily="34" charset="-122"/>
                <a:cs typeface="Arial" pitchFamily="34" charset="-120"/>
              </a:rPr>
              <a:t>Vấn đề · 一個留給各位的問題</a:t>
            </a:r>
            <a:endParaRPr lang="en-US" sz="990" dirty="0"/>
          </a:p>
        </p:txBody>
      </p:sp>
      <p:sp>
        <p:nvSpPr>
          <p:cNvPr id="3" name="Shape 1"/>
          <p:cNvSpPr/>
          <p:nvPr/>
        </p:nvSpPr>
        <p:spPr>
          <a:xfrm>
            <a:off x="1341758" y="874706"/>
            <a:ext cx="1959922" cy="1996217"/>
          </a:xfrm>
          <a:prstGeom prst="roundRect">
            <a:avLst>
              <a:gd name="adj" fmla="val 4444"/>
            </a:avLst>
          </a:prstGeom>
          <a:solidFill>
            <a:srgbClr val="F4F7FA"/>
          </a:solidFill>
          <a:ln w="12700">
            <a:solidFill>
              <a:srgbClr val="DBE3EA"/>
            </a:solidFill>
            <a:prstDash val="solid"/>
          </a:ln>
        </p:spPr>
      </p:sp>
      <p:sp>
        <p:nvSpPr>
          <p:cNvPr id="4" name="Shape 2"/>
          <p:cNvSpPr/>
          <p:nvPr/>
        </p:nvSpPr>
        <p:spPr>
          <a:xfrm>
            <a:off x="1654184" y="1590586"/>
            <a:ext cx="1335070" cy="1"/>
          </a:xfrm>
          <a:prstGeom prst="line">
            <a:avLst/>
          </a:prstGeom>
          <a:noFill/>
          <a:ln w="12700">
            <a:solidFill>
              <a:srgbClr val="9AA6B0"/>
            </a:solidFill>
            <a:prstDash val="dash"/>
          </a:ln>
        </p:spPr>
      </p:sp>
      <p:sp>
        <p:nvSpPr>
          <p:cNvPr id="5" name="Shape 3"/>
          <p:cNvSpPr/>
          <p:nvPr/>
        </p:nvSpPr>
        <p:spPr>
          <a:xfrm>
            <a:off x="1654184" y="1802257"/>
            <a:ext cx="1335070" cy="1"/>
          </a:xfrm>
          <a:prstGeom prst="line">
            <a:avLst/>
          </a:prstGeom>
          <a:noFill/>
          <a:ln w="12700">
            <a:solidFill>
              <a:srgbClr val="9AA6B0"/>
            </a:solidFill>
            <a:prstDash val="dash"/>
          </a:ln>
        </p:spPr>
      </p:sp>
      <p:sp>
        <p:nvSpPr>
          <p:cNvPr id="6" name="Shape 4"/>
          <p:cNvSpPr/>
          <p:nvPr/>
        </p:nvSpPr>
        <p:spPr>
          <a:xfrm>
            <a:off x="1654184" y="1696422"/>
            <a:ext cx="1229670" cy="1"/>
          </a:xfrm>
          <a:prstGeom prst="line">
            <a:avLst/>
          </a:prstGeom>
          <a:noFill/>
          <a:ln w="25400">
            <a:solidFill>
              <a:srgbClr val="00A896"/>
            </a:solidFill>
            <a:prstDash val="solid"/>
            <a:tailEnd type="triangle"/>
          </a:ln>
        </p:spPr>
      </p:sp>
      <p:sp>
        <p:nvSpPr>
          <p:cNvPr id="7" name="Shape 5"/>
          <p:cNvSpPr/>
          <p:nvPr/>
        </p:nvSpPr>
        <p:spPr>
          <a:xfrm>
            <a:off x="1654184" y="2260879"/>
            <a:ext cx="1335070" cy="1"/>
          </a:xfrm>
          <a:prstGeom prst="line">
            <a:avLst/>
          </a:prstGeom>
          <a:noFill/>
          <a:ln w="12700">
            <a:solidFill>
              <a:srgbClr val="9AA6B0"/>
            </a:solidFill>
            <a:prstDash val="dash"/>
          </a:ln>
        </p:spPr>
      </p:sp>
      <p:sp>
        <p:nvSpPr>
          <p:cNvPr id="8" name="Shape 6"/>
          <p:cNvSpPr/>
          <p:nvPr/>
        </p:nvSpPr>
        <p:spPr>
          <a:xfrm>
            <a:off x="1654184" y="2472551"/>
            <a:ext cx="1335070" cy="1"/>
          </a:xfrm>
          <a:prstGeom prst="line">
            <a:avLst/>
          </a:prstGeom>
          <a:noFill/>
          <a:ln w="12700">
            <a:solidFill>
              <a:srgbClr val="9AA6B0"/>
            </a:solidFill>
            <a:prstDash val="dash"/>
          </a:ln>
        </p:spPr>
      </p:sp>
      <p:sp>
        <p:nvSpPr>
          <p:cNvPr id="9" name="Shape 7"/>
          <p:cNvSpPr/>
          <p:nvPr/>
        </p:nvSpPr>
        <p:spPr>
          <a:xfrm flipV="1">
            <a:off x="1654184" y="2296158"/>
            <a:ext cx="333767" cy="141114"/>
          </a:xfrm>
          <a:prstGeom prst="line">
            <a:avLst/>
          </a:prstGeom>
          <a:noFill/>
          <a:ln w="25400">
            <a:solidFill>
              <a:srgbClr val="D9463E"/>
            </a:solidFill>
            <a:prstDash val="solid"/>
          </a:ln>
        </p:spPr>
      </p:sp>
      <p:sp>
        <p:nvSpPr>
          <p:cNvPr id="10" name="Shape 8"/>
          <p:cNvSpPr/>
          <p:nvPr/>
        </p:nvSpPr>
        <p:spPr>
          <a:xfrm>
            <a:off x="1987951" y="2296158"/>
            <a:ext cx="333767" cy="158753"/>
          </a:xfrm>
          <a:prstGeom prst="line">
            <a:avLst/>
          </a:prstGeom>
          <a:noFill/>
          <a:ln w="25400">
            <a:solidFill>
              <a:srgbClr val="D9463E"/>
            </a:solidFill>
            <a:prstDash val="solid"/>
          </a:ln>
        </p:spPr>
      </p:sp>
      <p:sp>
        <p:nvSpPr>
          <p:cNvPr id="11" name="Shape 9"/>
          <p:cNvSpPr/>
          <p:nvPr/>
        </p:nvSpPr>
        <p:spPr>
          <a:xfrm flipV="1">
            <a:off x="2321719" y="2225600"/>
            <a:ext cx="333767" cy="229311"/>
          </a:xfrm>
          <a:prstGeom prst="line">
            <a:avLst/>
          </a:prstGeom>
          <a:noFill/>
          <a:ln w="25400">
            <a:solidFill>
              <a:srgbClr val="D9463E"/>
            </a:solidFill>
            <a:prstDash val="solid"/>
          </a:ln>
        </p:spPr>
      </p:sp>
      <p:sp>
        <p:nvSpPr>
          <p:cNvPr id="12" name="Shape 10"/>
          <p:cNvSpPr/>
          <p:nvPr/>
        </p:nvSpPr>
        <p:spPr>
          <a:xfrm>
            <a:off x="2655486" y="2225600"/>
            <a:ext cx="228367" cy="141114"/>
          </a:xfrm>
          <a:prstGeom prst="line">
            <a:avLst/>
          </a:prstGeom>
          <a:noFill/>
          <a:ln w="25400">
            <a:solidFill>
              <a:srgbClr val="D9463E"/>
            </a:solidFill>
            <a:prstDash val="solid"/>
            <a:tailEnd type="triangle"/>
          </a:ln>
        </p:spPr>
      </p:sp>
      <p:sp>
        <p:nvSpPr>
          <p:cNvPr id="13" name="Text 11"/>
          <p:cNvSpPr txBox="1"/>
          <p:nvPr/>
        </p:nvSpPr>
        <p:spPr>
          <a:xfrm>
            <a:off x="3664629" y="1047093"/>
            <a:ext cx="4137614" cy="798305"/>
          </a:xfrm>
          <a:prstGeom prst="rect">
            <a:avLst/>
          </a:prstGeom>
          <a:noFill/>
          <a:ln/>
        </p:spPr>
        <p:txBody>
          <a:bodyPr wrap="square" lIns="0" tIns="0" rIns="0" bIns="0" rtlCol="0" anchor="t"/>
          <a:lstStyle/>
          <a:p>
            <a:pPr indent="0" marL="0">
              <a:lnSpc>
                <a:spcPct val="120000"/>
              </a:lnSpc>
              <a:buNone/>
            </a:pPr>
            <a:r>
              <a:rPr lang="en-US" sz="1830" b="1" dirty="0">
                <a:solidFill>
                  <a:srgbClr val="0B1F3A"/>
                </a:solidFill>
                <a:latin typeface="Arial" pitchFamily="34" charset="0"/>
                <a:ea typeface="Arial" pitchFamily="34" charset="-122"/>
                <a:cs typeface="Arial" pitchFamily="34" charset="-120"/>
              </a:rPr>
              <a:t>Muốn phát lại quỹ đạo Hà Nội, trước hết bạn phải có quỹ đạo Hà Nội</a:t>
            </a:r>
            <a:endParaRPr lang="en-US" sz="1830" dirty="0"/>
          </a:p>
          <a:p>
            <a:pPr indent="0" marL="0">
              <a:lnSpc>
                <a:spcPct val="120000"/>
              </a:lnSpc>
              <a:buNone/>
            </a:pPr>
            <a:r>
              <a:rPr lang="en-US" sz="1110" dirty="0">
                <a:solidFill>
                  <a:srgbClr val="007F72"/>
                </a:solidFill>
                <a:latin typeface="微軟正黑體" pitchFamily="34" charset="0"/>
                <a:ea typeface="微軟正黑體" pitchFamily="34" charset="-122"/>
                <a:cs typeface="微軟正黑體" pitchFamily="34" charset="-120"/>
              </a:rPr>
              <a:t>要回放河內的軌跡，你得先有河內的軌跡</a:t>
            </a:r>
            <a:endParaRPr lang="en-US" sz="1830" dirty="0"/>
          </a:p>
        </p:txBody>
      </p:sp>
      <p:sp>
        <p:nvSpPr>
          <p:cNvPr id="14" name="Text 12"/>
          <p:cNvSpPr txBox="1"/>
          <p:nvPr/>
        </p:nvSpPr>
        <p:spPr>
          <a:xfrm>
            <a:off x="3664629" y="1917989"/>
            <a:ext cx="4137614" cy="853137"/>
          </a:xfrm>
          <a:prstGeom prst="rect">
            <a:avLst/>
          </a:prstGeom>
          <a:noFill/>
          <a:ln/>
        </p:spPr>
        <p:txBody>
          <a:bodyPr wrap="square" lIns="0" tIns="0" rIns="0" bIns="0" rtlCol="0" anchor="t"/>
          <a:lstStyle/>
          <a:p>
            <a:pPr indent="0" marL="0">
              <a:lnSpc>
                <a:spcPct val="128000"/>
              </a:lnSpc>
              <a:buNone/>
            </a:pPr>
            <a:r>
              <a:rPr lang="en-US" sz="990" dirty="0">
                <a:solidFill>
                  <a:srgbClr val="5F7183"/>
                </a:solidFill>
                <a:latin typeface="Arial" pitchFamily="34" charset="0"/>
                <a:ea typeface="Arial" pitchFamily="34" charset="-122"/>
                <a:cs typeface="Arial" pitchFamily="34" charset="-120"/>
              </a:rPr>
              <a:t>Ai có? Câu trả lời là không ai có sẵn, phải tự đi thu. Vì thế «làm một mô hình hành vi giao thông Đài Loan hoặc Việt Nam» là một đề tài rất có giá trị — dữ liệu đó chỉ các bạn thu được.</a:t>
            </a:r>
            <a:endParaRPr lang="en-US" sz="990" dirty="0"/>
          </a:p>
          <a:p>
            <a:pPr indent="0" marL="0">
              <a:lnSpc>
                <a:spcPct val="128000"/>
              </a:lnSpc>
              <a:buNone/>
            </a:pPr>
            <a:r>
              <a:rPr lang="en-US" sz="910" dirty="0">
                <a:solidFill>
                  <a:srgbClr val="5F7183"/>
                </a:solidFill>
                <a:latin typeface="微軟正黑體" pitchFamily="34" charset="0"/>
                <a:ea typeface="微軟正黑體" pitchFamily="34" charset="-122"/>
                <a:cs typeface="微軟正黑體" pitchFamily="34" charset="-120"/>
              </a:rPr>
              <a:t>誰有？答案是沒有人有，要自己去收。所以「做一個台灣或越南的交通行為模型」是很有價值的題目——那份資料只有各位收得到。</a:t>
            </a:r>
            <a:endParaRPr lang="en-US" sz="990" dirty="0"/>
          </a:p>
        </p:txBody>
      </p:sp>
      <p:sp>
        <p:nvSpPr>
          <p:cNvPr id="15" name="Shape 13"/>
          <p:cNvSpPr/>
          <p:nvPr/>
        </p:nvSpPr>
        <p:spPr>
          <a:xfrm>
            <a:off x="1341758" y="3106840"/>
            <a:ext cx="6460485" cy="493610"/>
          </a:xfrm>
          <a:prstGeom prst="roundRect">
            <a:avLst>
              <a:gd name="adj" fmla="val 13235"/>
            </a:avLst>
          </a:prstGeom>
          <a:solidFill>
            <a:srgbClr val="FFF6E3"/>
          </a:solidFill>
          <a:ln w="12700">
            <a:solidFill>
              <a:srgbClr val="FFB020"/>
            </a:solidFill>
            <a:prstDash val="solid"/>
          </a:ln>
        </p:spPr>
      </p:sp>
      <p:sp>
        <p:nvSpPr>
          <p:cNvPr id="16" name="Text 14"/>
          <p:cNvSpPr txBox="1"/>
          <p:nvPr/>
        </p:nvSpPr>
        <p:spPr>
          <a:xfrm>
            <a:off x="1486937" y="3150394"/>
            <a:ext cx="6170126" cy="435538"/>
          </a:xfrm>
          <a:prstGeom prst="rect">
            <a:avLst/>
          </a:prstGeom>
          <a:noFill/>
          <a:ln/>
        </p:spPr>
        <p:txBody>
          <a:bodyPr wrap="square" lIns="0" tIns="0" rIns="0" bIns="0" rtlCol="0" anchor="t"/>
          <a:lstStyle/>
          <a:p>
            <a:pPr indent="0" marL="0">
              <a:lnSpc>
                <a:spcPct val="116000"/>
              </a:lnSpc>
              <a:buNone/>
            </a:pPr>
            <a:r>
              <a:rPr lang="en-US" sz="950" b="1" dirty="0">
                <a:solidFill>
                  <a:srgbClr val="7A4E00"/>
                </a:solidFill>
                <a:latin typeface="Arial" pitchFamily="34" charset="0"/>
                <a:ea typeface="Arial" pitchFamily="34" charset="-122"/>
                <a:cs typeface="Arial" pitchFamily="34" charset="-120"/>
              </a:rPr>
              <a:t>Muốn thử? Bắt đầu từ một ngã tư: quay một đoạn bằng điện thoại, rồi đếm và đo.</a:t>
            </a:r>
            <a:endParaRPr lang="en-US" sz="950" dirty="0"/>
          </a:p>
          <a:p>
            <a:pPr indent="0" marL="0">
              <a:lnSpc>
                <a:spcPct val="116000"/>
              </a:lnSpc>
              <a:buNone/>
            </a:pPr>
            <a:r>
              <a:rPr lang="en-US" sz="870" dirty="0">
                <a:solidFill>
                  <a:srgbClr val="7A4E00"/>
                </a:solidFill>
                <a:latin typeface="微軟正黑體" pitchFamily="34" charset="0"/>
                <a:ea typeface="微軟正黑體" pitchFamily="34" charset="-122"/>
                <a:cs typeface="微軟正黑體" pitchFamily="34" charset="-120"/>
              </a:rPr>
              <a:t>想試試看？從一個路口開始：用手機錄一段，然後數出來、量出來。</a:t>
            </a:r>
            <a:endParaRPr lang="en-US" sz="950" dirty="0"/>
          </a:p>
        </p:txBody>
      </p:sp>
      <p:pic>
        <p:nvPicPr>
          <p:cNvPr id="18" name="Image 0" descr="/Users/tsengchenghsun/Class/carClass/Claude outputs/第四週(10-1)/src/logo.png">    </p:cNvPr>
          <p:cNvPicPr>
            <a:picLocks noChangeAspect="1"/>
          </p:cNvPicPr>
          <p:nvPr/>
        </p:nvPicPr>
        <p:blipFill>
          <a:blip r:embed="rId1"/>
          <a:stretch>
            <a:fillRect/>
          </a:stretch>
        </p:blipFill>
        <p:spPr>
          <a:xfrm>
            <a:off x="7199748" y="87108"/>
            <a:ext cx="871077" cy="192460"/>
          </a:xfrm>
          <a:prstGeom prst="rect">
            <a:avLst/>
          </a:prstGeom>
        </p:spPr>
      </p:pic>
      <p:sp>
        <p:nvSpPr>
          <p:cNvPr id="19" name="Text 15"/>
          <p:cNvSpPr txBox="1"/>
          <p:nvPr/>
        </p:nvSpPr>
        <p:spPr>
          <a:xfrm>
            <a:off x="1029622" y="101626"/>
            <a:ext cx="653307" cy="203251"/>
          </a:xfrm>
          <a:prstGeom prst="rect">
            <a:avLst/>
          </a:prstGeom>
          <a:noFill/>
          <a:ln/>
        </p:spPr>
        <p:txBody>
          <a:bodyPr wrap="square" lIns="0" tIns="0" rIns="0" bIns="0" rtlCol="0" anchor="ctr"/>
          <a:lstStyle/>
          <a:p>
            <a:pPr indent="0" marL="0">
              <a:buNone/>
            </a:pPr>
            <a:r>
              <a:rPr lang="en-US" sz="710" dirty="0">
                <a:solidFill>
                  <a:srgbClr val="5F7183"/>
                </a:solidFill>
                <a:latin typeface="Arial" pitchFamily="34" charset="0"/>
                <a:ea typeface="Arial" pitchFamily="34" charset="-122"/>
                <a:cs typeface="Arial" pitchFamily="34" charset="-120"/>
              </a:rPr>
              <a:t>23 / 28</a:t>
            </a:r>
            <a:endParaRPr lang="en-US" sz="710" dirty="0"/>
          </a:p>
        </p:txBody>
      </p:sp>
      <p:sp>
        <p:nvSpPr>
          <p:cNvPr id="20" name="Text 16"/>
          <p:cNvSpPr txBox="1"/>
          <p:nvPr/>
        </p:nvSpPr>
        <p:spPr>
          <a:xfrm>
            <a:off x="1704706" y="101626"/>
            <a:ext cx="1596974" cy="203251"/>
          </a:xfrm>
          <a:prstGeom prst="rect">
            <a:avLst/>
          </a:prstGeom>
          <a:noFill/>
          <a:ln/>
        </p:spPr>
        <p:txBody>
          <a:bodyPr wrap="square" lIns="0" tIns="0" rIns="0" bIns="0" rtlCol="0" anchor="ctr"/>
          <a:lstStyle/>
          <a:p>
            <a:pPr indent="0" marL="0">
              <a:buNone/>
            </a:pPr>
            <a:r>
              <a:rPr lang="en-US" sz="710" dirty="0">
                <a:solidFill>
                  <a:srgbClr val="5F7183"/>
                </a:solidFill>
                <a:latin typeface="Arial" pitchFamily="34" charset="0"/>
                <a:ea typeface="Arial" pitchFamily="34" charset="-122"/>
                <a:cs typeface="Arial" pitchFamily="34" charset="-120"/>
              </a:rPr>
              <a:t>Tiết 1 · 第 1 節</a:t>
            </a:r>
            <a:endParaRPr lang="en-US" sz="71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p:bgPr>
    </p:bg>
    <p:spTree>
      <p:nvGrpSpPr>
        <p:cNvPr id="1" name=""/>
        <p:cNvGrpSpPr/>
        <p:nvPr/>
      </p:nvGrpSpPr>
      <p:grpSpPr>
        <a:xfrm>
          <a:off x="1069617" y="0"/>
          <a:ext cx="1" cy="1"/>
          <a:chOff x="0" y="0"/>
          <a:chExt cx="0" cy="0"/>
        </a:xfrm>
      </p:grpSpPr>
      <p:sp>
        <p:nvSpPr>
          <p:cNvPr id="2" name="Shape 0"/>
          <p:cNvSpPr/>
          <p:nvPr/>
        </p:nvSpPr>
        <p:spPr>
          <a:xfrm>
            <a:off x="6253144" y="-1050715"/>
            <a:ext cx="3222193" cy="3222193"/>
          </a:xfrm>
          <a:prstGeom prst="ellipse">
            <a:avLst/>
          </a:prstGeom>
          <a:solidFill>
            <a:srgbClr val="13314F"/>
          </a:solidFill>
          <a:ln w="12700">
            <a:solidFill>
              <a:srgbClr val="13314F"/>
            </a:solidFill>
            <a:prstDash val="solid"/>
          </a:ln>
        </p:spPr>
      </p:sp>
      <p:sp>
        <p:nvSpPr>
          <p:cNvPr id="3" name="Shape 1"/>
          <p:cNvSpPr/>
          <p:nvPr/>
        </p:nvSpPr>
        <p:spPr>
          <a:xfrm>
            <a:off x="7303859" y="1611096"/>
            <a:ext cx="1821239" cy="1821239"/>
          </a:xfrm>
          <a:prstGeom prst="ellipse">
            <a:avLst/>
          </a:prstGeom>
          <a:solidFill>
            <a:srgbClr val="007F72">
              <a:alpha val="28000"/>
            </a:srgbClr>
          </a:solidFill>
          <a:ln/>
        </p:spPr>
      </p:sp>
      <p:sp>
        <p:nvSpPr>
          <p:cNvPr id="4" name="Text 2"/>
          <p:cNvSpPr txBox="1"/>
          <p:nvPr/>
        </p:nvSpPr>
        <p:spPr>
          <a:xfrm>
            <a:off x="1454879" y="364248"/>
            <a:ext cx="5183527" cy="210143"/>
          </a:xfrm>
          <a:prstGeom prst="rect">
            <a:avLst/>
          </a:prstGeom>
          <a:noFill/>
          <a:ln/>
        </p:spPr>
        <p:txBody>
          <a:bodyPr wrap="square" lIns="0" tIns="0" rIns="0" bIns="0" rtlCol="0" anchor="ctr"/>
          <a:lstStyle/>
          <a:p>
            <a:pPr indent="0" marL="0">
              <a:buNone/>
            </a:pPr>
            <a:r>
              <a:rPr lang="en-US" sz="960" b="1" dirty="0">
                <a:solidFill>
                  <a:srgbClr val="FFB020"/>
                </a:solidFill>
                <a:latin typeface="Arial" pitchFamily="34" charset="0"/>
                <a:ea typeface="Arial" pitchFamily="34" charset="-122"/>
                <a:cs typeface="Arial" pitchFamily="34" charset="-120"/>
              </a:rPr>
              <a:t>Khoảng cách 3 / 3 · 落差之三：物理</a:t>
            </a:r>
            <a:endParaRPr lang="en-US" sz="960" dirty="0"/>
          </a:p>
        </p:txBody>
      </p:sp>
      <p:sp>
        <p:nvSpPr>
          <p:cNvPr id="5" name="Text 3"/>
          <p:cNvSpPr txBox="1"/>
          <p:nvPr/>
        </p:nvSpPr>
        <p:spPr>
          <a:xfrm>
            <a:off x="1454879" y="602410"/>
            <a:ext cx="6164195" cy="770524"/>
          </a:xfrm>
          <a:prstGeom prst="rect">
            <a:avLst/>
          </a:prstGeom>
          <a:noFill/>
          <a:ln/>
        </p:spPr>
        <p:txBody>
          <a:bodyPr wrap="square" lIns="0" tIns="0" rIns="0" bIns="0" rtlCol="0" anchor="t"/>
          <a:lstStyle/>
          <a:p>
            <a:pPr indent="0" marL="0">
              <a:lnSpc>
                <a:spcPct val="120000"/>
              </a:lnSpc>
              <a:buNone/>
            </a:pPr>
            <a:r>
              <a:rPr lang="en-US" sz="1530" b="1" dirty="0">
                <a:solidFill>
                  <a:srgbClr val="FFFFFF"/>
                </a:solidFill>
                <a:latin typeface="Arial" pitchFamily="34" charset="0"/>
                <a:ea typeface="Arial" pitchFamily="34" charset="-122"/>
                <a:cs typeface="Arial" pitchFamily="34" charset="-120"/>
              </a:rPr>
              <a:t>Khoảng cách về vật lý: lốp, giảm xóc, độ trễ phanh trong mô phỏng đều chỉ là con số ước lượng</a:t>
            </a:r>
            <a:endParaRPr lang="en-US" sz="1530" dirty="0"/>
          </a:p>
          <a:p>
            <a:pPr indent="0" marL="0">
              <a:lnSpc>
                <a:spcPct val="120000"/>
              </a:lnSpc>
              <a:buNone/>
            </a:pPr>
            <a:r>
              <a:rPr lang="en-US" sz="1030" dirty="0">
                <a:solidFill>
                  <a:srgbClr val="AFC3D4"/>
                </a:solidFill>
                <a:latin typeface="微軟正黑體" pitchFamily="34" charset="0"/>
                <a:ea typeface="微軟正黑體" pitchFamily="34" charset="-122"/>
                <a:cs typeface="微軟正黑體" pitchFamily="34" charset="-120"/>
              </a:rPr>
              <a:t>物理落差：輪胎、懸吊、煞車延遲，在模擬裡都只是估出來的</a:t>
            </a:r>
            <a:endParaRPr lang="en-US" sz="1530" dirty="0"/>
          </a:p>
        </p:txBody>
      </p:sp>
      <p:sp>
        <p:nvSpPr>
          <p:cNvPr id="6" name="Shape 4"/>
          <p:cNvSpPr/>
          <p:nvPr/>
        </p:nvSpPr>
        <p:spPr>
          <a:xfrm>
            <a:off x="1454879" y="1387356"/>
            <a:ext cx="3222193" cy="1708751"/>
          </a:xfrm>
          <a:prstGeom prst="roundRect">
            <a:avLst>
              <a:gd name="adj" fmla="val 4099"/>
            </a:avLst>
          </a:prstGeom>
          <a:solidFill>
            <a:srgbClr val="FFFFFF"/>
          </a:solidFill>
          <a:ln w="12700">
            <a:solidFill>
              <a:srgbClr val="DBE3EA"/>
            </a:solidFill>
            <a:prstDash val="solid"/>
          </a:ln>
          <a:effectLst>
            <a:outerShdw sx="100000" sy="100000" kx="0" ky="0" algn="bl" rotWithShape="0" blurRad="76200" dist="12700" dir="5400000">
              <a:srgbClr val="9AAAB8">
                <a:alpha val="28000"/>
              </a:srgbClr>
            </a:outerShdw>
          </a:effectLst>
        </p:spPr>
      </p:sp>
      <p:pic>
        <p:nvPicPr>
          <p:cNvPr id="7" name="Image 0" descr="/Users/tsengchenghsun/Class/carClass/Claude outputs/第四週(10-1)/src/img/w4/wet.gif">    </p:cNvPr>
          <p:cNvPicPr>
            <a:picLocks noChangeAspect="1"/>
          </p:cNvPicPr>
          <p:nvPr/>
        </p:nvPicPr>
        <p:blipFill>
          <a:blip r:embed="rId1"/>
          <a:stretch>
            <a:fillRect/>
          </a:stretch>
        </p:blipFill>
        <p:spPr>
          <a:xfrm>
            <a:off x="1723738" y="1436389"/>
            <a:ext cx="2684474" cy="1610684"/>
          </a:xfrm>
          <a:prstGeom prst="rect">
            <a:avLst/>
          </a:prstGeom>
        </p:spPr>
      </p:pic>
      <p:sp>
        <p:nvSpPr>
          <p:cNvPr id="8" name="Shape 5"/>
          <p:cNvSpPr/>
          <p:nvPr/>
        </p:nvSpPr>
        <p:spPr>
          <a:xfrm>
            <a:off x="4887214" y="1408370"/>
            <a:ext cx="238162" cy="238162"/>
          </a:xfrm>
          <a:prstGeom prst="ellipse">
            <a:avLst/>
          </a:prstGeom>
          <a:solidFill>
            <a:srgbClr val="00A896"/>
          </a:solidFill>
          <a:ln/>
        </p:spPr>
      </p:sp>
      <p:sp>
        <p:nvSpPr>
          <p:cNvPr id="9" name="Text 6"/>
          <p:cNvSpPr txBox="1"/>
          <p:nvPr/>
        </p:nvSpPr>
        <p:spPr>
          <a:xfrm>
            <a:off x="4887214" y="1422380"/>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1</a:t>
            </a:r>
            <a:endParaRPr lang="en-US" sz="920" dirty="0"/>
          </a:p>
        </p:txBody>
      </p:sp>
      <p:sp>
        <p:nvSpPr>
          <p:cNvPr id="10" name="Text 7"/>
          <p:cNvSpPr txBox="1"/>
          <p:nvPr/>
        </p:nvSpPr>
        <p:spPr>
          <a:xfrm>
            <a:off x="5209434" y="1387356"/>
            <a:ext cx="2479687"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Mô phỏng của ta dùng một con số cố định: giảm tốc 6, mặt đường nào cũng vậy.</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我們的模擬器用一個固定的數字：減速度 6，什麼路面都是 6。</a:t>
            </a:r>
            <a:endParaRPr lang="en-US" sz="880" dirty="0"/>
          </a:p>
        </p:txBody>
      </p:sp>
      <p:sp>
        <p:nvSpPr>
          <p:cNvPr id="11" name="Shape 8"/>
          <p:cNvSpPr/>
          <p:nvPr/>
        </p:nvSpPr>
        <p:spPr>
          <a:xfrm>
            <a:off x="4887214" y="1943725"/>
            <a:ext cx="238162" cy="238162"/>
          </a:xfrm>
          <a:prstGeom prst="ellipse">
            <a:avLst/>
          </a:prstGeom>
          <a:solidFill>
            <a:srgbClr val="00A896"/>
          </a:solidFill>
          <a:ln/>
        </p:spPr>
      </p:sp>
      <p:sp>
        <p:nvSpPr>
          <p:cNvPr id="12" name="Text 9"/>
          <p:cNvSpPr txBox="1"/>
          <p:nvPr/>
        </p:nvSpPr>
        <p:spPr>
          <a:xfrm>
            <a:off x="4887214" y="1957735"/>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2</a:t>
            </a:r>
            <a:endParaRPr lang="en-US" sz="920" dirty="0"/>
          </a:p>
        </p:txBody>
      </p:sp>
      <p:sp>
        <p:nvSpPr>
          <p:cNvPr id="13" name="Text 10"/>
          <p:cNvSpPr txBox="1"/>
          <p:nvPr/>
        </p:nvSpPr>
        <p:spPr>
          <a:xfrm>
            <a:off x="5209434" y="1922711"/>
            <a:ext cx="2479687"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Đường ướt chỉ còn khoảng một nửa, còn 3 — quãng đường phanh dài gấp đôi.</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濕路面大約只剩一半，剩 3——煞車那一段就變兩倍。</a:t>
            </a:r>
            <a:endParaRPr lang="en-US" sz="880" dirty="0"/>
          </a:p>
        </p:txBody>
      </p:sp>
      <p:sp>
        <p:nvSpPr>
          <p:cNvPr id="14" name="Shape 11"/>
          <p:cNvSpPr/>
          <p:nvPr/>
        </p:nvSpPr>
        <p:spPr>
          <a:xfrm>
            <a:off x="4887214" y="2364699"/>
            <a:ext cx="238162" cy="238162"/>
          </a:xfrm>
          <a:prstGeom prst="ellipse">
            <a:avLst/>
          </a:prstGeom>
          <a:solidFill>
            <a:srgbClr val="00A896"/>
          </a:solidFill>
          <a:ln/>
        </p:spPr>
      </p:sp>
      <p:sp>
        <p:nvSpPr>
          <p:cNvPr id="15" name="Text 12"/>
          <p:cNvSpPr txBox="1"/>
          <p:nvPr/>
        </p:nvSpPr>
        <p:spPr>
          <a:xfrm>
            <a:off x="4887214" y="2378708"/>
            <a:ext cx="238162" cy="210143"/>
          </a:xfrm>
          <a:prstGeom prst="rect">
            <a:avLst/>
          </a:prstGeom>
          <a:noFill/>
          <a:ln/>
        </p:spPr>
        <p:txBody>
          <a:bodyPr wrap="square" lIns="0" tIns="0" rIns="0" bIns="0"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3</a:t>
            </a:r>
            <a:endParaRPr lang="en-US" sz="920" dirty="0"/>
          </a:p>
        </p:txBody>
      </p:sp>
      <p:sp>
        <p:nvSpPr>
          <p:cNvPr id="16" name="Text 13"/>
          <p:cNvSpPr txBox="1"/>
          <p:nvPr/>
        </p:nvSpPr>
        <p:spPr>
          <a:xfrm>
            <a:off x="5209434" y="2343684"/>
            <a:ext cx="2479687" cy="518353"/>
          </a:xfrm>
          <a:prstGeom prst="rect">
            <a:avLst/>
          </a:prstGeom>
          <a:noFill/>
          <a:ln/>
        </p:spPr>
        <p:txBody>
          <a:bodyPr wrap="square" lIns="0" tIns="0" rIns="0" bIns="0" rtlCol="0" anchor="t"/>
          <a:lstStyle/>
          <a:p>
            <a:pPr indent="0" marL="0">
              <a:lnSpc>
                <a:spcPct val="112000"/>
              </a:lnSpc>
              <a:buNone/>
            </a:pPr>
            <a:r>
              <a:rPr lang="en-US" sz="880" b="1" dirty="0">
                <a:solidFill>
                  <a:srgbClr val="FFFFFF"/>
                </a:solidFill>
                <a:latin typeface="Arial" pitchFamily="34" charset="0"/>
                <a:ea typeface="Arial" pitchFamily="34" charset="-122"/>
                <a:cs typeface="Arial" pitchFamily="34" charset="-120"/>
              </a:rPr>
              <a:t>50 km/h: từ 20,3 m thành 36,4 m. Bảng bốn tốc độ chỉ đúng trên đường khô.</a:t>
            </a:r>
            <a:endParaRPr lang="en-US" sz="880" dirty="0"/>
          </a:p>
          <a:p>
            <a:pPr indent="0" marL="0">
              <a:lnSpc>
                <a:spcPct val="112000"/>
              </a:lnSpc>
              <a:buNone/>
            </a:pPr>
            <a:r>
              <a:rPr lang="en-US" sz="800" dirty="0">
                <a:solidFill>
                  <a:srgbClr val="AFC3D4"/>
                </a:solidFill>
                <a:latin typeface="微軟正黑體" pitchFamily="34" charset="0"/>
                <a:ea typeface="微軟正黑體" pitchFamily="34" charset="-122"/>
                <a:cs typeface="微軟正黑體" pitchFamily="34" charset="-120"/>
              </a:rPr>
              <a:t>時速 50：20.3 公尺變成 36.4 公尺。那張表只在乾路面成立。</a:t>
            </a:r>
            <a:endParaRPr lang="en-US" sz="880" dirty="0"/>
          </a:p>
        </p:txBody>
      </p:sp>
      <p:sp>
        <p:nvSpPr>
          <p:cNvPr id="17" name="Shape 14"/>
          <p:cNvSpPr/>
          <p:nvPr/>
        </p:nvSpPr>
        <p:spPr>
          <a:xfrm>
            <a:off x="1454879" y="3166154"/>
            <a:ext cx="6234242" cy="434296"/>
          </a:xfrm>
          <a:prstGeom prst="roundRect">
            <a:avLst>
              <a:gd name="adj" fmla="val 12903"/>
            </a:avLst>
          </a:prstGeom>
          <a:solidFill>
            <a:srgbClr val="13314F"/>
          </a:solidFill>
          <a:ln w="12700">
            <a:solidFill>
              <a:srgbClr val="FFB020"/>
            </a:solidFill>
            <a:prstDash val="solid"/>
          </a:ln>
        </p:spPr>
      </p:sp>
      <p:sp>
        <p:nvSpPr>
          <p:cNvPr id="18" name="Text 15"/>
          <p:cNvSpPr txBox="1"/>
          <p:nvPr/>
        </p:nvSpPr>
        <p:spPr>
          <a:xfrm>
            <a:off x="1580965" y="3201178"/>
            <a:ext cx="5982071" cy="378257"/>
          </a:xfrm>
          <a:prstGeom prst="rect">
            <a:avLst/>
          </a:prstGeom>
          <a:noFill/>
          <a:ln/>
        </p:spPr>
        <p:txBody>
          <a:bodyPr wrap="square" lIns="0" tIns="0" rIns="0" bIns="0" rtlCol="0" anchor="t"/>
          <a:lstStyle/>
          <a:p>
            <a:pPr indent="0" marL="0">
              <a:lnSpc>
                <a:spcPct val="114000"/>
              </a:lnSpc>
              <a:buNone/>
            </a:pPr>
            <a:r>
              <a:rPr lang="en-US" sz="880" b="1" dirty="0">
                <a:solidFill>
                  <a:srgbClr val="FFB020"/>
                </a:solidFill>
                <a:latin typeface="Arial" pitchFamily="34" charset="0"/>
                <a:ea typeface="Arial" pitchFamily="34" charset="-122"/>
                <a:cs typeface="Arial" pitchFamily="34" charset="-120"/>
              </a:rPr>
              <a:t>Tiết 3 bật mưa lên, các bạn sẽ gặp cái bẫy: tia ngắn đi, nhưng quãng đường phanh không ngắn đi.</a:t>
            </a:r>
            <a:endParaRPr lang="en-US" sz="880" dirty="0"/>
          </a:p>
          <a:p>
            <a:pPr indent="0" marL="0">
              <a:lnSpc>
                <a:spcPct val="114000"/>
              </a:lnSpc>
              <a:buNone/>
            </a:pPr>
            <a:r>
              <a:rPr lang="en-US" sz="800" dirty="0">
                <a:solidFill>
                  <a:srgbClr val="FFB020"/>
                </a:solidFill>
                <a:latin typeface="微軟正黑體" pitchFamily="34" charset="0"/>
                <a:ea typeface="微軟正黑體" pitchFamily="34" charset="-122"/>
                <a:cs typeface="微軟正黑體" pitchFamily="34" charset="-120"/>
              </a:rPr>
              <a:t>第三節打開雨天的時候，各位會遇到一個陷阱：射線變短了，但煞停距離沒有變短。</a:t>
            </a:r>
            <a:endParaRPr lang="en-US" sz="880" dirty="0"/>
          </a:p>
        </p:txBody>
      </p:sp>
      <p:sp>
        <p:nvSpPr>
          <p:cNvPr id="20" name="Text 16"/>
          <p:cNvSpPr txBox="1"/>
          <p:nvPr/>
        </p:nvSpPr>
        <p:spPr>
          <a:xfrm>
            <a:off x="1153674" y="98067"/>
            <a:ext cx="63042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24 / 28</a:t>
            </a:r>
            <a:endParaRPr lang="en-US" sz="690" dirty="0"/>
          </a:p>
        </p:txBody>
      </p:sp>
      <p:sp>
        <p:nvSpPr>
          <p:cNvPr id="21" name="Text 17"/>
          <p:cNvSpPr txBox="1"/>
          <p:nvPr/>
        </p:nvSpPr>
        <p:spPr>
          <a:xfrm>
            <a:off x="1805117" y="98067"/>
            <a:ext cx="1541049" cy="196133"/>
          </a:xfrm>
          <a:prstGeom prst="rect">
            <a:avLst/>
          </a:prstGeom>
          <a:noFill/>
          <a:ln/>
        </p:spPr>
        <p:txBody>
          <a:bodyPr wrap="square" lIns="0" tIns="0" rIns="0" bIns="0" rtlCol="0" anchor="ctr"/>
          <a:lstStyle/>
          <a:p>
            <a:pPr indent="0" marL="0">
              <a:buNone/>
            </a:pPr>
            <a:r>
              <a:rPr lang="en-US" sz="690" dirty="0">
                <a:solidFill>
                  <a:srgbClr val="9FB3C8"/>
                </a:solidFill>
                <a:latin typeface="Arial" pitchFamily="34" charset="0"/>
                <a:ea typeface="Arial" pitchFamily="34" charset="-122"/>
                <a:cs typeface="Arial" pitchFamily="34" charset="-120"/>
              </a:rPr>
              <a:t>Tiết 1 · 第 1 節</a:t>
            </a:r>
            <a:endParaRPr lang="en-US" sz="69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1000125" y="0"/>
          <a:ext cx="1" cy="1"/>
          <a:chOff x="0" y="0"/>
          <a:chExt cx="0" cy="0"/>
        </a:xfrm>
      </p:grpSpPr>
      <p:sp>
        <p:nvSpPr>
          <p:cNvPr id="2" name="Text 0"/>
          <p:cNvSpPr txBox="1"/>
          <p:nvPr/>
        </p:nvSpPr>
        <p:spPr>
          <a:xfrm>
            <a:off x="1393031" y="300038"/>
            <a:ext cx="6357938" cy="214313"/>
          </a:xfrm>
          <a:prstGeom prst="rect">
            <a:avLst/>
          </a:prstGeom>
          <a:noFill/>
          <a:ln/>
        </p:spPr>
        <p:txBody>
          <a:bodyPr wrap="square" lIns="0" tIns="0" rIns="0" bIns="0" rtlCol="0" anchor="ctr"/>
          <a:lstStyle/>
          <a:p>
            <a:pPr indent="0" marL="0">
              <a:buNone/>
            </a:pPr>
            <a:r>
              <a:rPr lang="en-US" sz="980" b="1" dirty="0">
                <a:solidFill>
                  <a:srgbClr val="007F72"/>
                </a:solidFill>
                <a:latin typeface="Arial" pitchFamily="34" charset="0"/>
                <a:ea typeface="Arial" pitchFamily="34" charset="-122"/>
                <a:cs typeface="Arial" pitchFamily="34" charset="-120"/>
              </a:rPr>
              <a:t>Ngược lại · 反過來看</a:t>
            </a:r>
            <a:endParaRPr lang="en-US" sz="980" dirty="0"/>
          </a:p>
        </p:txBody>
      </p:sp>
      <p:sp>
        <p:nvSpPr>
          <p:cNvPr id="3" name="Text 1"/>
          <p:cNvSpPr txBox="1"/>
          <p:nvPr/>
        </p:nvSpPr>
        <p:spPr>
          <a:xfrm>
            <a:off x="1393031" y="528638"/>
            <a:ext cx="6357938" cy="638228"/>
          </a:xfrm>
          <a:prstGeom prst="rect">
            <a:avLst/>
          </a:prstGeom>
          <a:noFill/>
          <a:ln/>
        </p:spPr>
        <p:txBody>
          <a:bodyPr wrap="square" lIns="0" tIns="0" rIns="0" bIns="0" rtlCol="0" anchor="t"/>
          <a:lstStyle/>
          <a:p>
            <a:pPr indent="0" marL="0">
              <a:lnSpc>
                <a:spcPct val="116000"/>
              </a:lnSpc>
              <a:buNone/>
            </a:pPr>
            <a:r>
              <a:rPr lang="en-US" sz="1480" b="1" dirty="0">
                <a:solidFill>
                  <a:srgbClr val="0B1F3A"/>
                </a:solidFill>
                <a:latin typeface="Arial" pitchFamily="34" charset="0"/>
                <a:ea typeface="Arial" pitchFamily="34" charset="-122"/>
                <a:cs typeface="Arial" pitchFamily="34" charset="-120"/>
              </a:rPr>
              <a:t>Ngược lại: mô phỏng làm được hai việc mà ngoài đường thật không làm được</a:t>
            </a:r>
            <a:endParaRPr lang="en-US" sz="1480" dirty="0"/>
          </a:p>
          <a:p>
            <a:pPr indent="0" marL="0">
              <a:lnSpc>
                <a:spcPct val="116000"/>
              </a:lnSpc>
              <a:buNone/>
            </a:pPr>
            <a:r>
              <a:rPr lang="en-US" sz="980" dirty="0">
                <a:solidFill>
                  <a:srgbClr val="007F72"/>
                </a:solidFill>
                <a:latin typeface="微軟正黑體" pitchFamily="34" charset="0"/>
                <a:ea typeface="微軟正黑體" pitchFamily="34" charset="-122"/>
                <a:cs typeface="微軟正黑體" pitchFamily="34" charset="-120"/>
              </a:rPr>
              <a:t>反過來看：模擬能做到兩件真實世界做不到的事</a:t>
            </a:r>
            <a:endParaRPr lang="en-US" sz="1480" dirty="0"/>
          </a:p>
        </p:txBody>
      </p:sp>
      <p:sp>
        <p:nvSpPr>
          <p:cNvPr id="4" name="Shape 2"/>
          <p:cNvSpPr/>
          <p:nvPr/>
        </p:nvSpPr>
        <p:spPr>
          <a:xfrm>
            <a:off x="1393031" y="1253548"/>
            <a:ext cx="3086100" cy="1818264"/>
          </a:xfrm>
          <a:prstGeom prst="roundRect">
            <a:avLst>
              <a:gd name="adj" fmla="val 3929"/>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5" name="Shape 3"/>
          <p:cNvSpPr/>
          <p:nvPr/>
        </p:nvSpPr>
        <p:spPr>
          <a:xfrm>
            <a:off x="1393031" y="1253548"/>
            <a:ext cx="3086100" cy="42863"/>
          </a:xfrm>
          <a:prstGeom prst="rect">
            <a:avLst/>
          </a:prstGeom>
          <a:solidFill>
            <a:srgbClr val="0B1F3A"/>
          </a:solidFill>
          <a:ln/>
        </p:spPr>
      </p:sp>
      <p:sp>
        <p:nvSpPr>
          <p:cNvPr id="6" name="Text 4"/>
          <p:cNvSpPr txBox="1"/>
          <p:nvPr/>
        </p:nvSpPr>
        <p:spPr>
          <a:xfrm>
            <a:off x="1507331" y="1346417"/>
            <a:ext cx="2857500"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Một: chạy lại một vạn lần</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第一件：重跑一萬次</a:t>
            </a:r>
            <a:endParaRPr lang="en-US" sz="980" dirty="0"/>
          </a:p>
        </p:txBody>
      </p:sp>
      <p:sp>
        <p:nvSpPr>
          <p:cNvPr id="7" name="Text 5"/>
          <p:cNvSpPr txBox="1"/>
          <p:nvPr/>
        </p:nvSpPr>
        <p:spPr>
          <a:xfrm>
            <a:off x="1507331" y="1678933"/>
            <a:ext cx="2857500" cy="132144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Cùng một tình huống chạy lại một vạn lần, mỗi lần chỉ đổi một tham số. Ngoài đường thật không làm được: bạn không thể bắt cùng chiếc xe máy đó tạt vào y hệt như vậy một vạn lần.</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同一個情況重跑一萬次，每次只改一個參數。真實世界做不到——你沒辦法讓同一台機車用完全一樣的角度和速度切進來一萬次。</a:t>
            </a:r>
            <a:endParaRPr lang="en-US" sz="900" dirty="0"/>
          </a:p>
        </p:txBody>
      </p:sp>
      <p:sp>
        <p:nvSpPr>
          <p:cNvPr id="8" name="Shape 6"/>
          <p:cNvSpPr/>
          <p:nvPr/>
        </p:nvSpPr>
        <p:spPr>
          <a:xfrm>
            <a:off x="4664869" y="1253548"/>
            <a:ext cx="3086100" cy="1818264"/>
          </a:xfrm>
          <a:prstGeom prst="roundRect">
            <a:avLst>
              <a:gd name="adj" fmla="val 3929"/>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9" name="Shape 7"/>
          <p:cNvSpPr/>
          <p:nvPr/>
        </p:nvSpPr>
        <p:spPr>
          <a:xfrm>
            <a:off x="4664869" y="1253548"/>
            <a:ext cx="3086100" cy="42863"/>
          </a:xfrm>
          <a:prstGeom prst="rect">
            <a:avLst/>
          </a:prstGeom>
          <a:solidFill>
            <a:srgbClr val="007F72"/>
          </a:solidFill>
          <a:ln/>
        </p:spPr>
      </p:sp>
      <p:sp>
        <p:nvSpPr>
          <p:cNvPr id="10" name="Text 8"/>
          <p:cNvSpPr txBox="1"/>
          <p:nvPr/>
        </p:nvSpPr>
        <p:spPr>
          <a:xfrm>
            <a:off x="4779169" y="1346417"/>
            <a:ext cx="2857500" cy="303941"/>
          </a:xfrm>
          <a:prstGeom prst="rect">
            <a:avLst/>
          </a:prstGeom>
          <a:noFill/>
          <a:ln/>
        </p:spPr>
        <p:txBody>
          <a:bodyPr wrap="square" lIns="0" tIns="0" rIns="0" bIns="0" rtlCol="0" anchor="t"/>
          <a:lstStyle/>
          <a:p>
            <a:pPr indent="0" marL="0">
              <a:lnSpc>
                <a:spcPct val="112000"/>
              </a:lnSpc>
              <a:buNone/>
            </a:pPr>
            <a:r>
              <a:rPr lang="en-US" sz="980" b="1" dirty="0">
                <a:solidFill>
                  <a:srgbClr val="0B1F3A"/>
                </a:solidFill>
                <a:latin typeface="Arial" pitchFamily="34" charset="0"/>
                <a:ea typeface="Arial" pitchFamily="34" charset="-122"/>
                <a:cs typeface="Arial" pitchFamily="34" charset="-120"/>
              </a:rPr>
              <a:t>Hai: sắp đặt đúng thời điểm xấu nhất</a:t>
            </a:r>
            <a:endParaRPr lang="en-US" sz="980" dirty="0"/>
          </a:p>
          <a:p>
            <a:pPr indent="0" marL="0">
              <a:lnSpc>
                <a:spcPct val="112000"/>
              </a:lnSpc>
              <a:buNone/>
            </a:pPr>
            <a:r>
              <a:rPr lang="en-US" sz="860" dirty="0">
                <a:solidFill>
                  <a:srgbClr val="007F72"/>
                </a:solidFill>
                <a:latin typeface="微軟正黑體" pitchFamily="34" charset="0"/>
                <a:ea typeface="微軟正黑體" pitchFamily="34" charset="-122"/>
                <a:cs typeface="微軟正黑體" pitchFamily="34" charset="-120"/>
              </a:rPr>
              <a:t>第二件：安排最糟的時機</a:t>
            </a:r>
            <a:endParaRPr lang="en-US" sz="980" dirty="0"/>
          </a:p>
        </p:txBody>
      </p:sp>
      <p:sp>
        <p:nvSpPr>
          <p:cNvPr id="11" name="Text 9"/>
          <p:cNvSpPr txBox="1"/>
          <p:nvPr/>
        </p:nvSpPr>
        <p:spPr>
          <a:xfrm>
            <a:off x="4779169" y="1678933"/>
            <a:ext cx="2857500" cy="1321442"/>
          </a:xfrm>
          <a:prstGeom prst="rect">
            <a:avLst/>
          </a:prstGeom>
          <a:noFill/>
          <a:ln/>
        </p:spPr>
        <p:txBody>
          <a:bodyPr wrap="square" lIns="0" tIns="0" rIns="0" bIns="0" rtlCol="0" anchor="t"/>
          <a:lstStyle/>
          <a:p>
            <a:pPr indent="0" marL="0">
              <a:lnSpc>
                <a:spcPct val="130000"/>
              </a:lnSpc>
              <a:buNone/>
            </a:pPr>
            <a:r>
              <a:rPr lang="en-US" sz="900" dirty="0">
                <a:solidFill>
                  <a:srgbClr val="1A2733"/>
                </a:solidFill>
                <a:latin typeface="Arial" pitchFamily="34" charset="0"/>
                <a:ea typeface="Arial" pitchFamily="34" charset="-122"/>
                <a:cs typeface="Arial" pitchFamily="34" charset="-120"/>
              </a:rPr>
              <a:t>Cho người đi bộ bước ra đúng lúc xấu nhất. Về kỹ thuật làm được, nhưng không được phép: không thể vì thử nghiệm mà bắt một người thật liều mạng.</a:t>
            </a:r>
            <a:endParaRPr lang="en-US" sz="900" dirty="0"/>
          </a:p>
          <a:p>
            <a:pPr indent="0" marL="0">
              <a:lnSpc>
                <a:spcPct val="130000"/>
              </a:lnSpc>
              <a:buNone/>
            </a:pPr>
            <a:r>
              <a:rPr lang="en-US" sz="820" dirty="0">
                <a:solidFill>
                  <a:srgbClr val="5F7183"/>
                </a:solidFill>
                <a:latin typeface="微軟正黑體" pitchFamily="34" charset="0"/>
                <a:ea typeface="微軟正黑體" pitchFamily="34" charset="-122"/>
                <a:cs typeface="微軟正黑體" pitchFamily="34" charset="-120"/>
              </a:rPr>
              <a:t>讓行人剛好在最糟的時間點走出來。技術上做得到，但不可以做——不能為了測試讓一個真人冒生命危險。</a:t>
            </a:r>
            <a:endParaRPr lang="en-US" sz="900" dirty="0"/>
          </a:p>
        </p:txBody>
      </p:sp>
      <p:sp>
        <p:nvSpPr>
          <p:cNvPr id="12" name="Shape 10"/>
          <p:cNvSpPr/>
          <p:nvPr/>
        </p:nvSpPr>
        <p:spPr>
          <a:xfrm>
            <a:off x="1393031" y="3128963"/>
            <a:ext cx="6357938" cy="471488"/>
          </a:xfrm>
          <a:prstGeom prst="roundRect">
            <a:avLst>
              <a:gd name="adj" fmla="val 13636"/>
            </a:avLst>
          </a:prstGeom>
          <a:solidFill>
            <a:srgbClr val="FFF6E3"/>
          </a:solidFill>
          <a:ln w="12700">
            <a:solidFill>
              <a:srgbClr val="FFB020"/>
            </a:solidFill>
            <a:prstDash val="solid"/>
          </a:ln>
        </p:spPr>
      </p:sp>
      <p:sp>
        <p:nvSpPr>
          <p:cNvPr id="13" name="Text 11"/>
          <p:cNvSpPr txBox="1"/>
          <p:nvPr/>
        </p:nvSpPr>
        <p:spPr>
          <a:xfrm>
            <a:off x="1535906" y="3171825"/>
            <a:ext cx="6072188" cy="400050"/>
          </a:xfrm>
          <a:prstGeom prst="rect">
            <a:avLst/>
          </a:prstGeom>
          <a:noFill/>
          <a:ln/>
        </p:spPr>
        <p:txBody>
          <a:bodyPr wrap="square" lIns="0" tIns="0" rIns="0" bIns="0" rtlCol="0" anchor="t"/>
          <a:lstStyle/>
          <a:p>
            <a:pPr indent="0" marL="0">
              <a:lnSpc>
                <a:spcPct val="116000"/>
              </a:lnSpc>
              <a:buNone/>
            </a:pPr>
            <a:r>
              <a:rPr lang="en-US" sz="900" b="1" dirty="0">
                <a:solidFill>
                  <a:srgbClr val="7A4E00"/>
                </a:solidFill>
                <a:latin typeface="Arial" pitchFamily="34" charset="0"/>
                <a:ea typeface="Arial" pitchFamily="34" charset="-122"/>
                <a:cs typeface="Arial" pitchFamily="34" charset="-120"/>
              </a:rPr>
              <a:t>Mô phỏng không phải bản thật kém hơn, nó là một công cụ khác — cần cả hai.</a:t>
            </a:r>
            <a:endParaRPr lang="en-US" sz="900" dirty="0"/>
          </a:p>
          <a:p>
            <a:pPr indent="0" marL="0">
              <a:lnSpc>
                <a:spcPct val="116000"/>
              </a:lnSpc>
              <a:buNone/>
            </a:pPr>
            <a:r>
              <a:rPr lang="en-US" sz="820" dirty="0">
                <a:solidFill>
                  <a:srgbClr val="7A4E00"/>
                </a:solidFill>
                <a:latin typeface="微軟正黑體" pitchFamily="34" charset="0"/>
                <a:ea typeface="微軟正黑體" pitchFamily="34" charset="-122"/>
                <a:cs typeface="微軟正黑體" pitchFamily="34" charset="-120"/>
              </a:rPr>
              <a:t>模擬不是「比較差的真實」，它是另一種工具——兩個都要。</a:t>
            </a:r>
            <a:endParaRPr lang="en-US" sz="900" dirty="0"/>
          </a:p>
        </p:txBody>
      </p:sp>
      <p:pic>
        <p:nvPicPr>
          <p:cNvPr id="15" name="Image 0" descr="/Users/tsengchenghsun/Class/carClass/Claude outputs/第四週(10-1)/src/logo.png">    </p:cNvPr>
          <p:cNvPicPr>
            <a:picLocks noChangeAspect="1"/>
          </p:cNvPicPr>
          <p:nvPr/>
        </p:nvPicPr>
        <p:blipFill>
          <a:blip r:embed="rId1"/>
          <a:stretch>
            <a:fillRect/>
          </a:stretch>
        </p:blipFill>
        <p:spPr>
          <a:xfrm>
            <a:off x="7158038" y="85725"/>
            <a:ext cx="857250" cy="189405"/>
          </a:xfrm>
          <a:prstGeom prst="rect">
            <a:avLst/>
          </a:prstGeom>
        </p:spPr>
      </p:pic>
      <p:sp>
        <p:nvSpPr>
          <p:cNvPr id="16" name="Text 12"/>
          <p:cNvSpPr txBox="1"/>
          <p:nvPr/>
        </p:nvSpPr>
        <p:spPr>
          <a:xfrm>
            <a:off x="1085850" y="100013"/>
            <a:ext cx="642938"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25 / 28</a:t>
            </a:r>
            <a:endParaRPr lang="en-US" sz="700" dirty="0"/>
          </a:p>
        </p:txBody>
      </p:sp>
      <p:sp>
        <p:nvSpPr>
          <p:cNvPr id="17" name="Text 13"/>
          <p:cNvSpPr txBox="1"/>
          <p:nvPr/>
        </p:nvSpPr>
        <p:spPr>
          <a:xfrm>
            <a:off x="1750219" y="100013"/>
            <a:ext cx="1571625" cy="200025"/>
          </a:xfrm>
          <a:prstGeom prst="rect">
            <a:avLst/>
          </a:prstGeom>
          <a:noFill/>
          <a:ln/>
        </p:spPr>
        <p:txBody>
          <a:bodyPr wrap="square" lIns="0" tIns="0" rIns="0" bIns="0" rtlCol="0" anchor="ctr"/>
          <a:lstStyle/>
          <a:p>
            <a:pPr indent="0" marL="0">
              <a:buNone/>
            </a:pPr>
            <a:r>
              <a:rPr lang="en-US" sz="700" dirty="0">
                <a:solidFill>
                  <a:srgbClr val="5F7183"/>
                </a:solidFill>
                <a:latin typeface="Arial" pitchFamily="34" charset="0"/>
                <a:ea typeface="Arial" pitchFamily="34" charset="-122"/>
                <a:cs typeface="Arial" pitchFamily="34" charset="-120"/>
              </a:rPr>
              <a:t>Tiết 1 · 第 1 節</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982752" y="0"/>
          <a:ext cx="1" cy="1"/>
          <a:chOff x="0" y="0"/>
          <a:chExt cx="0" cy="0"/>
        </a:xfrm>
      </p:grpSpPr>
      <p:sp>
        <p:nvSpPr>
          <p:cNvPr id="2" name="Text 0"/>
          <p:cNvSpPr txBox="1"/>
          <p:nvPr/>
        </p:nvSpPr>
        <p:spPr>
          <a:xfrm>
            <a:off x="1377569" y="229712"/>
            <a:ext cx="6388862" cy="660422"/>
          </a:xfrm>
          <a:prstGeom prst="rect">
            <a:avLst/>
          </a:prstGeom>
          <a:noFill/>
          <a:ln/>
        </p:spPr>
        <p:txBody>
          <a:bodyPr wrap="square" lIns="0" tIns="0" rIns="0" bIns="0" rtlCol="0" anchor="t"/>
          <a:lstStyle/>
          <a:p>
            <a:pPr indent="0" marL="0">
              <a:lnSpc>
                <a:spcPct val="116000"/>
              </a:lnSpc>
              <a:buNone/>
            </a:pPr>
            <a:r>
              <a:rPr lang="en-US" sz="1730" b="1" dirty="0">
                <a:solidFill>
                  <a:srgbClr val="0B1F3A"/>
                </a:solidFill>
                <a:latin typeface="Arial" pitchFamily="34" charset="0"/>
                <a:ea typeface="Arial" pitchFamily="34" charset="-122"/>
                <a:cs typeface="Arial" pitchFamily="34" charset="-120"/>
              </a:rPr>
              <a:t>Ở Đài Loan và Việt Nam, cả ba khoảng cách đều lớn hơn</a:t>
            </a:r>
            <a:endParaRPr lang="en-US" sz="1730" dirty="0"/>
          </a:p>
          <a:p>
            <a:pPr indent="0" marL="0">
              <a:lnSpc>
                <a:spcPct val="116000"/>
              </a:lnSpc>
              <a:buNone/>
            </a:pPr>
            <a:r>
              <a:rPr lang="en-US" sz="1060" dirty="0">
                <a:solidFill>
                  <a:srgbClr val="5F7183"/>
                </a:solidFill>
                <a:latin typeface="微軟正黑體" pitchFamily="34" charset="0"/>
                <a:ea typeface="微軟正黑體" pitchFamily="34" charset="-122"/>
                <a:cs typeface="微軟正黑體" pitchFamily="34" charset="-120"/>
              </a:rPr>
              <a:t>在台灣和越南，這三種落差都更大</a:t>
            </a:r>
            <a:endParaRPr lang="en-US" sz="1730" dirty="0"/>
          </a:p>
        </p:txBody>
      </p:sp>
      <p:sp>
        <p:nvSpPr>
          <p:cNvPr id="3" name="Shape 1"/>
          <p:cNvSpPr/>
          <p:nvPr/>
        </p:nvSpPr>
        <p:spPr>
          <a:xfrm>
            <a:off x="1377569" y="890134"/>
            <a:ext cx="6388862" cy="559923"/>
          </a:xfrm>
          <a:prstGeom prst="roundRect">
            <a:avLst>
              <a:gd name="adj" fmla="val 10256"/>
            </a:avLst>
          </a:prstGeom>
          <a:solidFill>
            <a:srgbClr val="EAF6F4"/>
          </a:solidFill>
          <a:ln/>
        </p:spPr>
      </p:sp>
      <p:sp>
        <p:nvSpPr>
          <p:cNvPr id="4" name="Text 2"/>
          <p:cNvSpPr txBox="1"/>
          <p:nvPr/>
        </p:nvSpPr>
        <p:spPr>
          <a:xfrm>
            <a:off x="1492425" y="947562"/>
            <a:ext cx="6159150" cy="445067"/>
          </a:xfrm>
          <a:prstGeom prst="rect">
            <a:avLst/>
          </a:prstGeom>
          <a:noFill/>
          <a:ln/>
        </p:spPr>
        <p:txBody>
          <a:bodyPr wrap="square" lIns="0" tIns="0" rIns="0" bIns="0" rtlCol="0" anchor="t"/>
          <a:lstStyle/>
          <a:p>
            <a:pPr indent="0" marL="0">
              <a:lnSpc>
                <a:spcPct val="110000"/>
              </a:lnSpc>
              <a:buNone/>
            </a:pPr>
            <a:r>
              <a:rPr lang="en-US" sz="900" b="1" dirty="0">
                <a:solidFill>
                  <a:srgbClr val="007F72"/>
                </a:solidFill>
                <a:latin typeface="Arial" pitchFamily="34" charset="0"/>
                <a:ea typeface="Arial" pitchFamily="34" charset="-122"/>
                <a:cs typeface="Arial" pitchFamily="34" charset="-120"/>
              </a:rPr>
              <a:t>Vì thế giới, xe cộ và hành vi trong các mô phỏng có sẵn (như CARLA) đều được làm theo Âu Mỹ.</a:t>
            </a:r>
            <a:endParaRPr lang="en-US" sz="900" dirty="0"/>
          </a:p>
          <a:p>
            <a:pPr indent="0" marL="0">
              <a:lnSpc>
                <a:spcPct val="110000"/>
              </a:lnSpc>
              <a:buNone/>
            </a:pPr>
            <a:r>
              <a:rPr lang="en-US" sz="790" dirty="0">
                <a:solidFill>
                  <a:srgbClr val="007F72"/>
                </a:solidFill>
                <a:latin typeface="微軟正黑體" pitchFamily="34" charset="0"/>
                <a:ea typeface="微軟正黑體" pitchFamily="34" charset="-122"/>
                <a:cs typeface="微軟正黑體" pitchFamily="34" charset="-120"/>
              </a:rPr>
              <a:t>因為現成模擬器（像 CARLA）裡的世界、車輛、行為，都是照歐美做的。</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377569" y="1536198"/>
          <a:ext cx="6388862" cy="717850"/>
        </p:xfrm>
        <a:graphic>
          <a:graphicData uri="http://schemas.openxmlformats.org/drawingml/2006/table">
            <a:tbl>
              <a:tblPr/>
              <a:tblGrid>
                <a:gridCol w="1076774"/>
                <a:gridCol w="2656044"/>
                <a:gridCol w="2656044"/>
              </a:tblGrid>
              <a:tr h="315854">
                <a:tc>
                  <a:txBody>
                    <a:bodyPr/>
                    <a:lstStyle/>
                    <a:p>
                      <a:pPr algn="l" indent="0" marL="0">
                        <a:buNone/>
                      </a:pPr>
                      <a:r>
                        <a:rPr lang="en-US" sz="790" b="1" dirty="0">
                          <a:solidFill>
                            <a:srgbClr val="FFFFFF"/>
                          </a:solidFill>
                          <a:latin typeface="Arial" pitchFamily="34" charset="0"/>
                          <a:ea typeface="Arial" pitchFamily="34" charset="-122"/>
                          <a:cs typeface="Arial" pitchFamily="34" charset="-120"/>
                        </a:rPr>
                        <a:t>Loại</a:t>
                      </a:r>
                      <a:endParaRPr lang="en-US" sz="940" dirty="0"/>
                    </a:p>
                    <a:p>
                      <a:pPr algn="l" indent="0" marL="0">
                        <a:buNone/>
                      </a:pPr>
                      <a:r>
                        <a:rPr lang="en-US" sz="670" dirty="0">
                          <a:solidFill>
                            <a:srgbClr val="CFE0EC"/>
                          </a:solidFill>
                          <a:latin typeface="微軟正黑體" pitchFamily="34" charset="0"/>
                          <a:ea typeface="微軟正黑體" pitchFamily="34" charset="-122"/>
                          <a:cs typeface="微軟正黑體" pitchFamily="34" charset="-120"/>
                        </a:rPr>
                        <a:t>哪一種</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790" b="1" dirty="0">
                          <a:solidFill>
                            <a:srgbClr val="FFFFFF"/>
                          </a:solidFill>
                          <a:latin typeface="Arial" pitchFamily="34" charset="0"/>
                          <a:ea typeface="Arial" pitchFamily="34" charset="-122"/>
                          <a:cs typeface="Arial" pitchFamily="34" charset="-120"/>
                        </a:rPr>
                        <a:t>Ở Đài Loan</a:t>
                      </a:r>
                      <a:endParaRPr lang="en-US" sz="940" dirty="0"/>
                    </a:p>
                    <a:p>
                      <a:pPr algn="l" indent="0" marL="0">
                        <a:buNone/>
                      </a:pPr>
                      <a:r>
                        <a:rPr lang="en-US" sz="670" dirty="0">
                          <a:solidFill>
                            <a:srgbClr val="CFE0EC"/>
                          </a:solidFill>
                          <a:latin typeface="微軟正黑體" pitchFamily="34" charset="0"/>
                          <a:ea typeface="微軟正黑體" pitchFamily="34" charset="-122"/>
                          <a:cs typeface="微軟正黑體" pitchFamily="34" charset="-120"/>
                        </a:rPr>
                        <a:t>台灣</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790" b="1" dirty="0">
                          <a:solidFill>
                            <a:srgbClr val="FFFFFF"/>
                          </a:solidFill>
                          <a:latin typeface="Arial" pitchFamily="34" charset="0"/>
                          <a:ea typeface="Arial" pitchFamily="34" charset="-122"/>
                          <a:cs typeface="Arial" pitchFamily="34" charset="-120"/>
                        </a:rPr>
                        <a:t>Ở Việt Nam</a:t>
                      </a:r>
                      <a:endParaRPr lang="en-US" sz="940" dirty="0"/>
                    </a:p>
                    <a:p>
                      <a:pPr algn="l" indent="0" marL="0">
                        <a:buNone/>
                      </a:pPr>
                      <a:r>
                        <a:rPr lang="en-US" sz="670" dirty="0">
                          <a:solidFill>
                            <a:srgbClr val="CFE0EC"/>
                          </a:solidFill>
                          <a:latin typeface="微軟正黑體" pitchFamily="34" charset="0"/>
                          <a:ea typeface="微軟正黑體" pitchFamily="34" charset="-122"/>
                          <a:cs typeface="微軟正黑體" pitchFamily="34" charset="-120"/>
                        </a:rPr>
                        <a:t>越南</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15854">
                <a:tc>
                  <a:txBody>
                    <a:bodyPr/>
                    <a:lstStyle/>
                    <a:p>
                      <a:pPr algn="l" indent="0" marL="0">
                        <a:buNone/>
                      </a:pPr>
                      <a:r>
                        <a:rPr lang="en-US" sz="790" b="1" dirty="0">
                          <a:solidFill>
                            <a:srgbClr val="0B1F3A"/>
                          </a:solidFill>
                          <a:latin typeface="Arial" pitchFamily="34" charset="0"/>
                          <a:ea typeface="Arial" pitchFamily="34" charset="-122"/>
                          <a:cs typeface="Arial" pitchFamily="34" charset="-120"/>
                        </a:rPr>
                        <a:t>Hình ảnh</a:t>
                      </a:r>
                      <a:endParaRPr lang="en-US" sz="940" dirty="0"/>
                    </a:p>
                    <a:p>
                      <a:pPr algn="l" indent="0" marL="0">
                        <a:buNone/>
                      </a:pPr>
                      <a:r>
                        <a:rPr lang="en-US" sz="670" dirty="0">
                          <a:solidFill>
                            <a:srgbClr val="5F7183"/>
                          </a:solidFill>
                          <a:latin typeface="微軟正黑體" pitchFamily="34" charset="0"/>
                          <a:ea typeface="微軟正黑體" pitchFamily="34" charset="-122"/>
                          <a:cs typeface="微軟正黑體" pitchFamily="34" charset="-120"/>
                        </a:rPr>
                        <a:t>外觀</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790" dirty="0">
                          <a:solidFill>
                            <a:srgbClr val="1A2733"/>
                          </a:solidFill>
                          <a:latin typeface="Arial" pitchFamily="34" charset="0"/>
                          <a:ea typeface="Arial" pitchFamily="34" charset="-122"/>
                          <a:cs typeface="Arial" pitchFamily="34" charset="-120"/>
                        </a:rPr>
                        <a:t>Mái hiên, biển hiệu chi chít, ô chờ rẽ trái của xe máy</a:t>
                      </a:r>
                      <a:endParaRPr lang="en-US" sz="940" dirty="0"/>
                    </a:p>
                    <a:p>
                      <a:pPr algn="l" indent="0" marL="0">
                        <a:buNone/>
                      </a:pPr>
                      <a:r>
                        <a:rPr lang="en-US" sz="670" dirty="0">
                          <a:solidFill>
                            <a:srgbClr val="5F7183"/>
                          </a:solidFill>
                          <a:latin typeface="微軟正黑體" pitchFamily="34" charset="0"/>
                          <a:ea typeface="微軟正黑體" pitchFamily="34" charset="-122"/>
                          <a:cs typeface="微軟正黑體" pitchFamily="34" charset="-120"/>
                        </a:rPr>
                        <a:t>騎樓、滿街招牌、機車待轉區</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790" dirty="0">
                          <a:solidFill>
                            <a:srgbClr val="1A2733"/>
                          </a:solidFill>
                          <a:latin typeface="Arial" pitchFamily="34" charset="0"/>
                          <a:ea typeface="Arial" pitchFamily="34" charset="-122"/>
                          <a:cs typeface="Arial" pitchFamily="34" charset="-120"/>
                        </a:rPr>
                        <a:t>Hàng quán vỉa hè, ngã tư không có vạch kẻ</a:t>
                      </a:r>
                      <a:endParaRPr lang="en-US" sz="940" dirty="0"/>
                    </a:p>
                    <a:p>
                      <a:pPr algn="l" indent="0" marL="0">
                        <a:buNone/>
                      </a:pPr>
                      <a:r>
                        <a:rPr lang="en-US" sz="670" dirty="0">
                          <a:solidFill>
                            <a:srgbClr val="5F7183"/>
                          </a:solidFill>
                          <a:latin typeface="微軟正黑體" pitchFamily="34" charset="0"/>
                          <a:ea typeface="微軟正黑體" pitchFamily="34" charset="-122"/>
                          <a:cs typeface="微軟正黑體" pitchFamily="34" charset="-120"/>
                        </a:rPr>
                        <a:t>路邊攤、沒有標線的路口</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5854">
                <a:tc>
                  <a:txBody>
                    <a:bodyPr/>
                    <a:lstStyle/>
                    <a:p>
                      <a:pPr algn="l" indent="0" marL="0">
                        <a:buNone/>
                      </a:pPr>
                      <a:r>
                        <a:rPr lang="en-US" sz="790" b="1" dirty="0">
                          <a:solidFill>
                            <a:srgbClr val="0B1F3A"/>
                          </a:solidFill>
                          <a:latin typeface="Arial" pitchFamily="34" charset="0"/>
                          <a:ea typeface="Arial" pitchFamily="34" charset="-122"/>
                          <a:cs typeface="Arial" pitchFamily="34" charset="-120"/>
                        </a:rPr>
                        <a:t>Hành vi</a:t>
                      </a:r>
                      <a:endParaRPr lang="en-US" sz="940" dirty="0"/>
                    </a:p>
                    <a:p>
                      <a:pPr algn="l" indent="0" marL="0">
                        <a:buNone/>
                      </a:pPr>
                      <a:r>
                        <a:rPr lang="en-US" sz="670" dirty="0">
                          <a:solidFill>
                            <a:srgbClr val="5F7183"/>
                          </a:solidFill>
                          <a:latin typeface="微軟正黑體" pitchFamily="34" charset="0"/>
                          <a:ea typeface="微軟正黑體" pitchFamily="34" charset="-122"/>
                          <a:cs typeface="微軟正黑體" pitchFamily="34" charset="-120"/>
                        </a:rPr>
                        <a:t>行為</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790" dirty="0">
                          <a:solidFill>
                            <a:srgbClr val="1A2733"/>
                          </a:solidFill>
                          <a:latin typeface="Arial" pitchFamily="34" charset="0"/>
                          <a:ea typeface="Arial" pitchFamily="34" charset="-122"/>
                          <a:cs typeface="Arial" pitchFamily="34" charset="-120"/>
                        </a:rPr>
                        <a:t>Đèn xanh, hai mươi xe máy toả ra hình quạt</a:t>
                      </a:r>
                      <a:endParaRPr lang="en-US" sz="940" dirty="0"/>
                    </a:p>
                    <a:p>
                      <a:pPr algn="l" indent="0" marL="0">
                        <a:buNone/>
                      </a:pPr>
                      <a:r>
                        <a:rPr lang="en-US" sz="670" dirty="0">
                          <a:solidFill>
                            <a:srgbClr val="5F7183"/>
                          </a:solidFill>
                          <a:latin typeface="微軟正黑體" pitchFamily="34" charset="0"/>
                          <a:ea typeface="微軟正黑體" pitchFamily="34" charset="-122"/>
                          <a:cs typeface="微軟正黑體" pitchFamily="34" charset="-120"/>
                        </a:rPr>
                        <a:t>綠燈起步，二十台機車扇形散開</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790" dirty="0">
                          <a:solidFill>
                            <a:srgbClr val="1A2733"/>
                          </a:solidFill>
                          <a:latin typeface="Arial" pitchFamily="34" charset="0"/>
                          <a:ea typeface="Arial" pitchFamily="34" charset="-122"/>
                          <a:cs typeface="Arial" pitchFamily="34" charset="-120"/>
                        </a:rPr>
                        <a:t>Trong 5 m có 12 xe máy lách nhau; vòng xuyến đi bằng ánh mắt</a:t>
                      </a:r>
                      <a:endParaRPr lang="en-US" sz="940" dirty="0"/>
                    </a:p>
                    <a:p>
                      <a:pPr algn="l" indent="0" marL="0">
                        <a:buNone/>
                      </a:pPr>
                      <a:r>
                        <a:rPr lang="en-US" sz="670" dirty="0">
                          <a:solidFill>
                            <a:srgbClr val="5F7183"/>
                          </a:solidFill>
                          <a:latin typeface="微軟正黑體" pitchFamily="34" charset="0"/>
                          <a:ea typeface="微軟正黑體" pitchFamily="34" charset="-122"/>
                          <a:cs typeface="微軟正黑體" pitchFamily="34" charset="-120"/>
                        </a:rPr>
                        <a:t>五公尺內十二台機車互鑽；圓環靠眼神</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5854">
                <a:tc>
                  <a:txBody>
                    <a:bodyPr/>
                    <a:lstStyle/>
                    <a:p>
                      <a:pPr algn="l" indent="0" marL="0">
                        <a:buNone/>
                      </a:pPr>
                      <a:r>
                        <a:rPr lang="en-US" sz="790" b="1" dirty="0">
                          <a:solidFill>
                            <a:srgbClr val="0B1F3A"/>
                          </a:solidFill>
                          <a:latin typeface="Arial" pitchFamily="34" charset="0"/>
                          <a:ea typeface="Arial" pitchFamily="34" charset="-122"/>
                          <a:cs typeface="Arial" pitchFamily="34" charset="-120"/>
                        </a:rPr>
                        <a:t>Vật lý</a:t>
                      </a:r>
                      <a:endParaRPr lang="en-US" sz="940" dirty="0"/>
                    </a:p>
                    <a:p>
                      <a:pPr algn="l" indent="0" marL="0">
                        <a:buNone/>
                      </a:pPr>
                      <a:r>
                        <a:rPr lang="en-US" sz="670" dirty="0">
                          <a:solidFill>
                            <a:srgbClr val="5F7183"/>
                          </a:solidFill>
                          <a:latin typeface="微軟正黑體" pitchFamily="34" charset="0"/>
                          <a:ea typeface="微軟正黑體" pitchFamily="34" charset="-122"/>
                          <a:cs typeface="微軟正黑體" pitchFamily="34" charset="-120"/>
                        </a:rPr>
                        <a:t>物理</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790" dirty="0">
                          <a:solidFill>
                            <a:srgbClr val="1A2733"/>
                          </a:solidFill>
                          <a:latin typeface="Arial" pitchFamily="34" charset="0"/>
                          <a:ea typeface="Arial" pitchFamily="34" charset="-122"/>
                          <a:cs typeface="Arial" pitchFamily="34" charset="-120"/>
                        </a:rPr>
                        <a:t>Mặt đường vá chằng chịt, nắp cống</a:t>
                      </a:r>
                      <a:endParaRPr lang="en-US" sz="940" dirty="0"/>
                    </a:p>
                    <a:p>
                      <a:pPr algn="l" indent="0" marL="0">
                        <a:buNone/>
                      </a:pPr>
                      <a:r>
                        <a:rPr lang="en-US" sz="670" dirty="0">
                          <a:solidFill>
                            <a:srgbClr val="5F7183"/>
                          </a:solidFill>
                          <a:latin typeface="微軟正黑體" pitchFamily="34" charset="0"/>
                          <a:ea typeface="微軟正黑體" pitchFamily="34" charset="-122"/>
                          <a:cs typeface="微軟正黑體" pitchFamily="34" charset="-120"/>
                        </a:rPr>
                        <a:t>補丁路面、人孔蓋</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790" dirty="0">
                          <a:solidFill>
                            <a:srgbClr val="1A2733"/>
                          </a:solidFill>
                          <a:latin typeface="Arial" pitchFamily="34" charset="0"/>
                          <a:ea typeface="Arial" pitchFamily="34" charset="-122"/>
                          <a:cs typeface="Arial" pitchFamily="34" charset="-120"/>
                        </a:rPr>
                        <a:t>Đường hỏng, ngập nước sâu nông khác nhau</a:t>
                      </a:r>
                      <a:endParaRPr lang="en-US" sz="940" dirty="0"/>
                    </a:p>
                    <a:p>
                      <a:pPr algn="l" indent="0" marL="0">
                        <a:buNone/>
                      </a:pPr>
                      <a:r>
                        <a:rPr lang="en-US" sz="670" dirty="0">
                          <a:solidFill>
                            <a:srgbClr val="5F7183"/>
                          </a:solidFill>
                          <a:latin typeface="微軟正黑體" pitchFamily="34" charset="0"/>
                          <a:ea typeface="微軟正黑體" pitchFamily="34" charset="-122"/>
                          <a:cs typeface="微軟正黑體" pitchFamily="34" charset="-120"/>
                        </a:rPr>
                        <a:t>破損路面、深淺不一的積水</a:t>
                      </a:r>
                      <a:endParaRPr lang="en-US" sz="94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6" name="Text 3"/>
          <p:cNvSpPr txBox="1"/>
          <p:nvPr/>
        </p:nvSpPr>
        <p:spPr>
          <a:xfrm>
            <a:off x="1377569" y="3241525"/>
            <a:ext cx="6388862" cy="358925"/>
          </a:xfrm>
          <a:prstGeom prst="rect">
            <a:avLst/>
          </a:prstGeom>
          <a:noFill/>
          <a:ln/>
        </p:spPr>
        <p:txBody>
          <a:bodyPr wrap="square" lIns="0" tIns="0" rIns="0" bIns="0" rtlCol="0" anchor="t"/>
          <a:lstStyle/>
          <a:p>
            <a:pPr indent="0" marL="0">
              <a:lnSpc>
                <a:spcPct val="116000"/>
              </a:lnSpc>
              <a:buNone/>
            </a:pPr>
            <a:r>
              <a:rPr lang="en-US" sz="940" b="1" dirty="0">
                <a:solidFill>
                  <a:srgbClr val="007F72"/>
                </a:solidFill>
                <a:latin typeface="Arial" pitchFamily="34" charset="0"/>
                <a:ea typeface="Arial" pitchFamily="34" charset="-122"/>
                <a:cs typeface="Arial" pitchFamily="34" charset="-120"/>
              </a:rPr>
              <a:t>Mô hình hành vi giao thông Đài Loan / Việt Nam: dữ liệu đó chỉ các bạn thu được.</a:t>
            </a:r>
            <a:endParaRPr lang="en-US" sz="940" dirty="0"/>
          </a:p>
          <a:p>
            <a:pPr indent="0" marL="0">
              <a:lnSpc>
                <a:spcPct val="116000"/>
              </a:lnSpc>
              <a:buNone/>
            </a:pPr>
            <a:r>
              <a:rPr lang="en-US" sz="860" dirty="0">
                <a:solidFill>
                  <a:srgbClr val="007F72"/>
                </a:solidFill>
                <a:latin typeface="微軟正黑體" pitchFamily="34" charset="0"/>
                <a:ea typeface="微軟正黑體" pitchFamily="34" charset="-122"/>
                <a:cs typeface="微軟正黑體" pitchFamily="34" charset="-120"/>
              </a:rPr>
              <a:t>台灣或越南的交通行為模型：那份資料只有各位收得到。</a:t>
            </a:r>
            <a:endParaRPr lang="en-US" sz="940" dirty="0"/>
          </a:p>
        </p:txBody>
      </p:sp>
      <p:pic>
        <p:nvPicPr>
          <p:cNvPr id="8" name="Image 0" descr="/Users/tsengchenghsun/Class/carClass/Claude outputs/第四週(10-1)/src/logo.png">    </p:cNvPr>
          <p:cNvPicPr>
            <a:picLocks noChangeAspect="1"/>
          </p:cNvPicPr>
          <p:nvPr/>
        </p:nvPicPr>
        <p:blipFill>
          <a:blip r:embed="rId1"/>
          <a:stretch>
            <a:fillRect/>
          </a:stretch>
        </p:blipFill>
        <p:spPr>
          <a:xfrm>
            <a:off x="7170616" y="86142"/>
            <a:ext cx="861420" cy="190327"/>
          </a:xfrm>
          <a:prstGeom prst="rect">
            <a:avLst/>
          </a:prstGeom>
        </p:spPr>
      </p:pic>
      <p:sp>
        <p:nvSpPr>
          <p:cNvPr id="9" name="Text 4"/>
          <p:cNvSpPr txBox="1"/>
          <p:nvPr/>
        </p:nvSpPr>
        <p:spPr>
          <a:xfrm>
            <a:off x="1068894" y="100499"/>
            <a:ext cx="646065" cy="200998"/>
          </a:xfrm>
          <a:prstGeom prst="rect">
            <a:avLst/>
          </a:prstGeom>
          <a:noFill/>
          <a:ln/>
        </p:spPr>
        <p:txBody>
          <a:bodyPr wrap="square" lIns="0" tIns="0" rIns="0" bIns="0" rtlCol="0" anchor="ctr"/>
          <a:lstStyle/>
          <a:p>
            <a:pPr indent="0" marL="0">
              <a:buNone/>
            </a:pPr>
            <a:r>
              <a:rPr lang="en-US" sz="710" dirty="0">
                <a:solidFill>
                  <a:srgbClr val="5F7183"/>
                </a:solidFill>
                <a:latin typeface="Arial" pitchFamily="34" charset="0"/>
                <a:ea typeface="Arial" pitchFamily="34" charset="-122"/>
                <a:cs typeface="Arial" pitchFamily="34" charset="-120"/>
              </a:rPr>
              <a:t>26 / 28</a:t>
            </a:r>
            <a:endParaRPr lang="en-US" sz="710" dirty="0"/>
          </a:p>
        </p:txBody>
      </p:sp>
      <p:sp>
        <p:nvSpPr>
          <p:cNvPr id="10" name="Text 5"/>
          <p:cNvSpPr txBox="1"/>
          <p:nvPr/>
        </p:nvSpPr>
        <p:spPr>
          <a:xfrm>
            <a:off x="1736494" y="100499"/>
            <a:ext cx="1579269" cy="200998"/>
          </a:xfrm>
          <a:prstGeom prst="rect">
            <a:avLst/>
          </a:prstGeom>
          <a:noFill/>
          <a:ln/>
        </p:spPr>
        <p:txBody>
          <a:bodyPr wrap="square" lIns="0" tIns="0" rIns="0" bIns="0" rtlCol="0" anchor="ctr"/>
          <a:lstStyle/>
          <a:p>
            <a:pPr indent="0" marL="0">
              <a:buNone/>
            </a:pPr>
            <a:r>
              <a:rPr lang="en-US" sz="710" dirty="0">
                <a:solidFill>
                  <a:srgbClr val="5F7183"/>
                </a:solidFill>
                <a:latin typeface="Arial" pitchFamily="34" charset="0"/>
                <a:ea typeface="Arial" pitchFamily="34" charset="-122"/>
                <a:cs typeface="Arial" pitchFamily="34" charset="-120"/>
              </a:rPr>
              <a:t>Tiết 1 · 第 1 節</a:t>
            </a:r>
            <a:endParaRPr lang="en-US" sz="71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925172" y="0"/>
          <a:ext cx="1" cy="1"/>
          <a:chOff x="0" y="0"/>
          <a:chExt cx="0" cy="0"/>
        </a:xfrm>
      </p:grpSpPr>
      <p:sp>
        <p:nvSpPr>
          <p:cNvPr id="2" name="Shape 0"/>
          <p:cNvSpPr/>
          <p:nvPr/>
        </p:nvSpPr>
        <p:spPr>
          <a:xfrm>
            <a:off x="6322478" y="-1094048"/>
            <a:ext cx="3355082" cy="3355082"/>
          </a:xfrm>
          <a:prstGeom prst="ellipse">
            <a:avLst/>
          </a:prstGeom>
          <a:solidFill>
            <a:srgbClr val="13314F"/>
          </a:solidFill>
          <a:ln w="12700">
            <a:solidFill>
              <a:srgbClr val="13314F"/>
            </a:solidFill>
            <a:prstDash val="solid"/>
          </a:ln>
        </p:spPr>
      </p:sp>
      <p:sp>
        <p:nvSpPr>
          <p:cNvPr id="3" name="Shape 1"/>
          <p:cNvSpPr/>
          <p:nvPr/>
        </p:nvSpPr>
        <p:spPr>
          <a:xfrm>
            <a:off x="7416526" y="1677541"/>
            <a:ext cx="1896351" cy="1896351"/>
          </a:xfrm>
          <a:prstGeom prst="ellipse">
            <a:avLst/>
          </a:prstGeom>
          <a:solidFill>
            <a:srgbClr val="007F72">
              <a:alpha val="28000"/>
            </a:srgbClr>
          </a:solidFill>
          <a:ln/>
        </p:spPr>
      </p:sp>
      <p:sp>
        <p:nvSpPr>
          <p:cNvPr id="4" name="Text 2"/>
          <p:cNvSpPr txBox="1"/>
          <p:nvPr/>
        </p:nvSpPr>
        <p:spPr>
          <a:xfrm>
            <a:off x="1326323" y="379270"/>
            <a:ext cx="5397306" cy="218810"/>
          </a:xfrm>
          <a:prstGeom prst="rect">
            <a:avLst/>
          </a:prstGeom>
          <a:noFill/>
          <a:ln/>
        </p:spPr>
        <p:txBody>
          <a:bodyPr wrap="square" lIns="0" tIns="0" rIns="0" bIns="0" rtlCol="0" anchor="ctr"/>
          <a:lstStyle/>
          <a:p>
            <a:pPr indent="0" marL="0">
              <a:buNone/>
            </a:pPr>
            <a:r>
              <a:rPr lang="en-US" sz="1000" b="1" dirty="0">
                <a:solidFill>
                  <a:srgbClr val="FFB020"/>
                </a:solidFill>
                <a:latin typeface="Arial" pitchFamily="34" charset="0"/>
                <a:ea typeface="Arial" pitchFamily="34" charset="-122"/>
                <a:cs typeface="Arial" pitchFamily="34" charset="-120"/>
              </a:rPr>
              <a:t>Thảo luận · 討論（四分鐘）</a:t>
            </a:r>
            <a:endParaRPr lang="en-US" sz="1000" dirty="0"/>
          </a:p>
        </p:txBody>
      </p:sp>
      <p:sp>
        <p:nvSpPr>
          <p:cNvPr id="5" name="Text 3"/>
          <p:cNvSpPr txBox="1"/>
          <p:nvPr/>
        </p:nvSpPr>
        <p:spPr>
          <a:xfrm>
            <a:off x="1326323" y="627254"/>
            <a:ext cx="6418418" cy="977350"/>
          </a:xfrm>
          <a:prstGeom prst="rect">
            <a:avLst/>
          </a:prstGeom>
          <a:noFill/>
          <a:ln/>
        </p:spPr>
        <p:txBody>
          <a:bodyPr wrap="square" lIns="0" tIns="0" rIns="0" bIns="0" rtlCol="0" anchor="t"/>
          <a:lstStyle/>
          <a:p>
            <a:pPr indent="0" marL="0">
              <a:lnSpc>
                <a:spcPct val="120000"/>
              </a:lnSpc>
              <a:buNone/>
            </a:pPr>
            <a:r>
              <a:rPr lang="en-US" sz="1830" b="1" dirty="0">
                <a:solidFill>
                  <a:srgbClr val="FFFFFF"/>
                </a:solidFill>
                <a:latin typeface="Arial" pitchFamily="34" charset="0"/>
                <a:ea typeface="Arial" pitchFamily="34" charset="-122"/>
                <a:cs typeface="Arial" pitchFamily="34" charset="-120"/>
              </a:rPr>
              <a:t>Kể một chuyện bạn gặp hằng ngày trên đường, mà trong mô phỏng chắc chắn không có.</a:t>
            </a:r>
            <a:endParaRPr lang="en-US" sz="1830" dirty="0"/>
          </a:p>
          <a:p>
            <a:pPr indent="0" marL="0">
              <a:lnSpc>
                <a:spcPct val="120000"/>
              </a:lnSpc>
              <a:buNone/>
            </a:pPr>
            <a:r>
              <a:rPr lang="en-US" sz="1200" dirty="0">
                <a:solidFill>
                  <a:srgbClr val="AFC3D4"/>
                </a:solidFill>
                <a:latin typeface="微軟正黑體" pitchFamily="34" charset="0"/>
                <a:ea typeface="微軟正黑體" pitchFamily="34" charset="-122"/>
                <a:cs typeface="微軟正黑體" pitchFamily="34" charset="-120"/>
              </a:rPr>
              <a:t>講一件你每天在路上會遇到、但模擬裡一定不會出現的事。</a:t>
            </a:r>
            <a:endParaRPr lang="en-US" sz="1830" dirty="0"/>
          </a:p>
        </p:txBody>
      </p:sp>
      <p:sp>
        <p:nvSpPr>
          <p:cNvPr id="6" name="Shape 4"/>
          <p:cNvSpPr/>
          <p:nvPr/>
        </p:nvSpPr>
        <p:spPr>
          <a:xfrm>
            <a:off x="1326323" y="1499877"/>
            <a:ext cx="6491354" cy="495969"/>
          </a:xfrm>
          <a:prstGeom prst="roundRect">
            <a:avLst>
              <a:gd name="adj" fmla="val 11765"/>
            </a:avLst>
          </a:prstGeom>
          <a:solidFill>
            <a:srgbClr val="13314F"/>
          </a:solidFill>
          <a:ln/>
        </p:spPr>
      </p:sp>
      <p:sp>
        <p:nvSpPr>
          <p:cNvPr id="7" name="Shape 5"/>
          <p:cNvSpPr/>
          <p:nvPr/>
        </p:nvSpPr>
        <p:spPr>
          <a:xfrm>
            <a:off x="1457609" y="1616575"/>
            <a:ext cx="262572" cy="262572"/>
          </a:xfrm>
          <a:prstGeom prst="ellipse">
            <a:avLst/>
          </a:prstGeom>
          <a:solidFill>
            <a:srgbClr val="00A896"/>
          </a:solidFill>
          <a:ln/>
        </p:spPr>
      </p:sp>
      <p:sp>
        <p:nvSpPr>
          <p:cNvPr id="8" name="Text 6"/>
          <p:cNvSpPr txBox="1"/>
          <p:nvPr/>
        </p:nvSpPr>
        <p:spPr>
          <a:xfrm>
            <a:off x="1457609" y="1638456"/>
            <a:ext cx="262572" cy="218810"/>
          </a:xfrm>
          <a:prstGeom prst="rect">
            <a:avLst/>
          </a:prstGeom>
          <a:noFill/>
          <a:ln/>
        </p:spPr>
        <p:txBody>
          <a:bodyPr wrap="square" lIns="0" tIns="0" rIns="0" bIns="0"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1</a:t>
            </a:r>
            <a:endParaRPr lang="en-US" sz="960" dirty="0"/>
          </a:p>
        </p:txBody>
      </p:sp>
      <p:sp>
        <p:nvSpPr>
          <p:cNvPr id="9" name="Text 7"/>
          <p:cNvSpPr txBox="1"/>
          <p:nvPr/>
        </p:nvSpPr>
        <p:spPr>
          <a:xfrm>
            <a:off x="1851466" y="1529052"/>
            <a:ext cx="5820338" cy="437619"/>
          </a:xfrm>
          <a:prstGeom prst="rect">
            <a:avLst/>
          </a:prstGeom>
          <a:noFill/>
          <a:ln/>
        </p:spPr>
        <p:txBody>
          <a:bodyPr wrap="square" lIns="0" tIns="0" rIns="0" bIns="0" rtlCol="0" anchor="t"/>
          <a:lstStyle/>
          <a:p>
            <a:pPr indent="0" marL="0">
              <a:lnSpc>
                <a:spcPct val="114000"/>
              </a:lnSpc>
              <a:buNone/>
            </a:pPr>
            <a:r>
              <a:rPr lang="en-US" sz="1000" b="1" dirty="0">
                <a:solidFill>
                  <a:srgbClr val="FFFFFF"/>
                </a:solidFill>
                <a:latin typeface="Arial" pitchFamily="34" charset="0"/>
                <a:ea typeface="Arial" pitchFamily="34" charset="-122"/>
                <a:cs typeface="Arial" pitchFamily="34" charset="-120"/>
              </a:rPr>
              <a:t>Mỗi nhóm một chuyện. Nói cụ thể, đừng nói chung chung.</a:t>
            </a:r>
            <a:endParaRPr lang="en-US" sz="1000" dirty="0"/>
          </a:p>
          <a:p>
            <a:pPr indent="0" marL="0">
              <a:lnSpc>
                <a:spcPct val="114000"/>
              </a:lnSpc>
              <a:buNone/>
            </a:pPr>
            <a:r>
              <a:rPr lang="en-US" sz="920" dirty="0">
                <a:solidFill>
                  <a:srgbClr val="AFC3D4"/>
                </a:solidFill>
                <a:latin typeface="微軟正黑體" pitchFamily="34" charset="0"/>
                <a:ea typeface="微軟正黑體" pitchFamily="34" charset="-122"/>
                <a:cs typeface="微軟正黑體" pitchFamily="34" charset="-120"/>
              </a:rPr>
              <a:t>每組講一件。要講具體的，不要講「交通很亂」這種。</a:t>
            </a:r>
            <a:endParaRPr lang="en-US" sz="1000" dirty="0"/>
          </a:p>
        </p:txBody>
      </p:sp>
      <p:sp>
        <p:nvSpPr>
          <p:cNvPr id="10" name="Shape 8"/>
          <p:cNvSpPr/>
          <p:nvPr/>
        </p:nvSpPr>
        <p:spPr>
          <a:xfrm>
            <a:off x="1326323" y="2068782"/>
            <a:ext cx="6491354" cy="495969"/>
          </a:xfrm>
          <a:prstGeom prst="roundRect">
            <a:avLst>
              <a:gd name="adj" fmla="val 11765"/>
            </a:avLst>
          </a:prstGeom>
          <a:solidFill>
            <a:srgbClr val="13314F"/>
          </a:solidFill>
          <a:ln/>
        </p:spPr>
      </p:sp>
      <p:sp>
        <p:nvSpPr>
          <p:cNvPr id="11" name="Shape 9"/>
          <p:cNvSpPr/>
          <p:nvPr/>
        </p:nvSpPr>
        <p:spPr>
          <a:xfrm>
            <a:off x="1457609" y="2185481"/>
            <a:ext cx="262572" cy="262572"/>
          </a:xfrm>
          <a:prstGeom prst="ellipse">
            <a:avLst/>
          </a:prstGeom>
          <a:solidFill>
            <a:srgbClr val="00A896"/>
          </a:solidFill>
          <a:ln/>
        </p:spPr>
      </p:sp>
      <p:sp>
        <p:nvSpPr>
          <p:cNvPr id="12" name="Text 10"/>
          <p:cNvSpPr txBox="1"/>
          <p:nvPr/>
        </p:nvSpPr>
        <p:spPr>
          <a:xfrm>
            <a:off x="1457609" y="2207362"/>
            <a:ext cx="262572" cy="218810"/>
          </a:xfrm>
          <a:prstGeom prst="rect">
            <a:avLst/>
          </a:prstGeom>
          <a:noFill/>
          <a:ln/>
        </p:spPr>
        <p:txBody>
          <a:bodyPr wrap="square" lIns="0" tIns="0" rIns="0" bIns="0"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2</a:t>
            </a:r>
            <a:endParaRPr lang="en-US" sz="960" dirty="0"/>
          </a:p>
        </p:txBody>
      </p:sp>
      <p:sp>
        <p:nvSpPr>
          <p:cNvPr id="13" name="Text 11"/>
          <p:cNvSpPr txBox="1"/>
          <p:nvPr/>
        </p:nvSpPr>
        <p:spPr>
          <a:xfrm>
            <a:off x="1851466" y="2097957"/>
            <a:ext cx="5820338" cy="437619"/>
          </a:xfrm>
          <a:prstGeom prst="rect">
            <a:avLst/>
          </a:prstGeom>
          <a:noFill/>
          <a:ln/>
        </p:spPr>
        <p:txBody>
          <a:bodyPr wrap="square" lIns="0" tIns="0" rIns="0" bIns="0" rtlCol="0" anchor="t"/>
          <a:lstStyle/>
          <a:p>
            <a:pPr indent="0" marL="0">
              <a:lnSpc>
                <a:spcPct val="114000"/>
              </a:lnSpc>
              <a:buNone/>
            </a:pPr>
            <a:r>
              <a:rPr lang="en-US" sz="1000" b="1" dirty="0">
                <a:solidFill>
                  <a:srgbClr val="FFFFFF"/>
                </a:solidFill>
                <a:latin typeface="Arial" pitchFamily="34" charset="0"/>
                <a:ea typeface="Arial" pitchFamily="34" charset="-122"/>
                <a:cs typeface="Arial" pitchFamily="34" charset="-120"/>
              </a:rPr>
              <a:t>Thầy sẽ xếp vào ba cột trên bảng: hình ảnh · hành vi · vật lý</a:t>
            </a:r>
            <a:endParaRPr lang="en-US" sz="1000" dirty="0"/>
          </a:p>
          <a:p>
            <a:pPr indent="0" marL="0">
              <a:lnSpc>
                <a:spcPct val="114000"/>
              </a:lnSpc>
              <a:buNone/>
            </a:pPr>
            <a:r>
              <a:rPr lang="en-US" sz="920" dirty="0">
                <a:solidFill>
                  <a:srgbClr val="AFC3D4"/>
                </a:solidFill>
                <a:latin typeface="微軟正黑體" pitchFamily="34" charset="0"/>
                <a:ea typeface="微軟正黑體" pitchFamily="34" charset="-122"/>
                <a:cs typeface="微軟正黑體" pitchFamily="34" charset="-120"/>
              </a:rPr>
              <a:t>老師把它寫到白板的三欄裡：外觀・行為・物理</a:t>
            </a:r>
            <a:endParaRPr lang="en-US" sz="1000" dirty="0"/>
          </a:p>
        </p:txBody>
      </p:sp>
      <p:sp>
        <p:nvSpPr>
          <p:cNvPr id="14" name="Shape 12"/>
          <p:cNvSpPr/>
          <p:nvPr/>
        </p:nvSpPr>
        <p:spPr>
          <a:xfrm>
            <a:off x="1326323" y="2637687"/>
            <a:ext cx="6491354" cy="495969"/>
          </a:xfrm>
          <a:prstGeom prst="roundRect">
            <a:avLst>
              <a:gd name="adj" fmla="val 11765"/>
            </a:avLst>
          </a:prstGeom>
          <a:solidFill>
            <a:srgbClr val="13314F"/>
          </a:solidFill>
          <a:ln/>
        </p:spPr>
      </p:sp>
      <p:sp>
        <p:nvSpPr>
          <p:cNvPr id="15" name="Shape 13"/>
          <p:cNvSpPr/>
          <p:nvPr/>
        </p:nvSpPr>
        <p:spPr>
          <a:xfrm>
            <a:off x="1457609" y="2754386"/>
            <a:ext cx="262572" cy="262572"/>
          </a:xfrm>
          <a:prstGeom prst="ellipse">
            <a:avLst/>
          </a:prstGeom>
          <a:solidFill>
            <a:srgbClr val="00A896"/>
          </a:solidFill>
          <a:ln/>
        </p:spPr>
      </p:sp>
      <p:sp>
        <p:nvSpPr>
          <p:cNvPr id="16" name="Text 14"/>
          <p:cNvSpPr txBox="1"/>
          <p:nvPr/>
        </p:nvSpPr>
        <p:spPr>
          <a:xfrm>
            <a:off x="1457609" y="2776267"/>
            <a:ext cx="262572" cy="218810"/>
          </a:xfrm>
          <a:prstGeom prst="rect">
            <a:avLst/>
          </a:prstGeom>
          <a:noFill/>
          <a:ln/>
        </p:spPr>
        <p:txBody>
          <a:bodyPr wrap="square" lIns="0" tIns="0" rIns="0" bIns="0"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3</a:t>
            </a:r>
            <a:endParaRPr lang="en-US" sz="960" dirty="0"/>
          </a:p>
        </p:txBody>
      </p:sp>
      <p:sp>
        <p:nvSpPr>
          <p:cNvPr id="17" name="Text 15"/>
          <p:cNvSpPr txBox="1"/>
          <p:nvPr/>
        </p:nvSpPr>
        <p:spPr>
          <a:xfrm>
            <a:off x="1851466" y="2666862"/>
            <a:ext cx="5820338" cy="437619"/>
          </a:xfrm>
          <a:prstGeom prst="rect">
            <a:avLst/>
          </a:prstGeom>
          <a:noFill/>
          <a:ln/>
        </p:spPr>
        <p:txBody>
          <a:bodyPr wrap="square" lIns="0" tIns="0" rIns="0" bIns="0" rtlCol="0" anchor="t"/>
          <a:lstStyle/>
          <a:p>
            <a:pPr indent="0" marL="0">
              <a:lnSpc>
                <a:spcPct val="114000"/>
              </a:lnSpc>
              <a:buNone/>
            </a:pPr>
            <a:r>
              <a:rPr lang="en-US" sz="1000" b="1" dirty="0">
                <a:solidFill>
                  <a:srgbClr val="FFFFFF"/>
                </a:solidFill>
                <a:latin typeface="Arial" pitchFamily="34" charset="0"/>
                <a:ea typeface="Arial" pitchFamily="34" charset="-122"/>
                <a:cs typeface="Arial" pitchFamily="34" charset="-120"/>
              </a:rPr>
              <a:t>Cột nào sẽ đầy nhất? Đoán thử trước khi bắt đầu.</a:t>
            </a:r>
            <a:endParaRPr lang="en-US" sz="1000" dirty="0"/>
          </a:p>
          <a:p>
            <a:pPr indent="0" marL="0">
              <a:lnSpc>
                <a:spcPct val="114000"/>
              </a:lnSpc>
              <a:buNone/>
            </a:pPr>
            <a:r>
              <a:rPr lang="en-US" sz="920" dirty="0">
                <a:solidFill>
                  <a:srgbClr val="AFC3D4"/>
                </a:solidFill>
                <a:latin typeface="微軟正黑體" pitchFamily="34" charset="0"/>
                <a:ea typeface="微軟正黑體" pitchFamily="34" charset="-122"/>
                <a:cs typeface="微軟正黑體" pitchFamily="34" charset="-120"/>
              </a:rPr>
              <a:t>猜猜看哪一欄會最滿？先猜再開始。</a:t>
            </a:r>
            <a:endParaRPr lang="en-US" sz="1000" dirty="0"/>
          </a:p>
        </p:txBody>
      </p:sp>
      <p:sp>
        <p:nvSpPr>
          <p:cNvPr id="18" name="Text 16"/>
          <p:cNvSpPr txBox="1"/>
          <p:nvPr/>
        </p:nvSpPr>
        <p:spPr>
          <a:xfrm>
            <a:off x="1326323" y="3235767"/>
            <a:ext cx="6418418" cy="364683"/>
          </a:xfrm>
          <a:prstGeom prst="rect">
            <a:avLst/>
          </a:prstGeom>
          <a:noFill/>
          <a:ln/>
        </p:spPr>
        <p:txBody>
          <a:bodyPr wrap="square" lIns="0" tIns="0" rIns="0" bIns="0" rtlCol="0" anchor="t"/>
          <a:lstStyle/>
          <a:p>
            <a:pPr indent="0" marL="0">
              <a:lnSpc>
                <a:spcPct val="116000"/>
              </a:lnSpc>
              <a:buNone/>
            </a:pPr>
            <a:r>
              <a:rPr lang="en-US" sz="1000" b="1" dirty="0">
                <a:solidFill>
                  <a:srgbClr val="FFB020"/>
                </a:solidFill>
                <a:latin typeface="Arial" pitchFamily="34" charset="0"/>
                <a:ea typeface="Arial" pitchFamily="34" charset="-122"/>
                <a:cs typeface="Arial" pitchFamily="34" charset="-120"/>
              </a:rPr>
              <a:t>Chụp lại bảng này — đó là danh sách những thứ chưa ai làm.</a:t>
            </a:r>
            <a:endParaRPr lang="en-US" sz="1000" dirty="0"/>
          </a:p>
          <a:p>
            <a:pPr indent="0" marL="0">
              <a:lnSpc>
                <a:spcPct val="116000"/>
              </a:lnSpc>
              <a:buNone/>
            </a:pPr>
            <a:r>
              <a:rPr lang="en-US" sz="920" dirty="0">
                <a:solidFill>
                  <a:srgbClr val="FFB020"/>
                </a:solidFill>
                <a:latin typeface="微軟正黑體" pitchFamily="34" charset="0"/>
                <a:ea typeface="微軟正黑體" pitchFamily="34" charset="-122"/>
                <a:cs typeface="微軟正黑體" pitchFamily="34" charset="-120"/>
              </a:rPr>
              <a:t>把這張白板拍下來——那是一張「還沒有人做」的清單。</a:t>
            </a:r>
            <a:endParaRPr lang="en-US" sz="1000" dirty="0"/>
          </a:p>
        </p:txBody>
      </p:sp>
      <p:sp>
        <p:nvSpPr>
          <p:cNvPr id="20" name="Text 17"/>
          <p:cNvSpPr txBox="1"/>
          <p:nvPr/>
        </p:nvSpPr>
        <p:spPr>
          <a:xfrm>
            <a:off x="1012696" y="102111"/>
            <a:ext cx="656429" cy="204222"/>
          </a:xfrm>
          <a:prstGeom prst="rect">
            <a:avLst/>
          </a:prstGeom>
          <a:noFill/>
          <a:ln/>
        </p:spPr>
        <p:txBody>
          <a:bodyPr wrap="square" lIns="0" tIns="0" rIns="0" bIns="0" rtlCol="0" anchor="ctr"/>
          <a:lstStyle/>
          <a:p>
            <a:pPr indent="0" marL="0">
              <a:buNone/>
            </a:pPr>
            <a:r>
              <a:rPr lang="en-US" sz="720" dirty="0">
                <a:solidFill>
                  <a:srgbClr val="9FB3C8"/>
                </a:solidFill>
                <a:latin typeface="Arial" pitchFamily="34" charset="0"/>
                <a:ea typeface="Arial" pitchFamily="34" charset="-122"/>
                <a:cs typeface="Arial" pitchFamily="34" charset="-120"/>
              </a:rPr>
              <a:t>27 / 28</a:t>
            </a:r>
            <a:endParaRPr lang="en-US" sz="720" dirty="0"/>
          </a:p>
        </p:txBody>
      </p:sp>
      <p:sp>
        <p:nvSpPr>
          <p:cNvPr id="21" name="Text 18"/>
          <p:cNvSpPr txBox="1"/>
          <p:nvPr/>
        </p:nvSpPr>
        <p:spPr>
          <a:xfrm>
            <a:off x="1691006" y="102111"/>
            <a:ext cx="1604604" cy="204222"/>
          </a:xfrm>
          <a:prstGeom prst="rect">
            <a:avLst/>
          </a:prstGeom>
          <a:noFill/>
          <a:ln/>
        </p:spPr>
        <p:txBody>
          <a:bodyPr wrap="square" lIns="0" tIns="0" rIns="0" bIns="0" rtlCol="0" anchor="ctr"/>
          <a:lstStyle/>
          <a:p>
            <a:pPr indent="0" marL="0">
              <a:buNone/>
            </a:pPr>
            <a:r>
              <a:rPr lang="en-US" sz="720" dirty="0">
                <a:solidFill>
                  <a:srgbClr val="9FB3C8"/>
                </a:solidFill>
                <a:latin typeface="Arial" pitchFamily="34" charset="0"/>
                <a:ea typeface="Arial" pitchFamily="34" charset="-122"/>
                <a:cs typeface="Arial" pitchFamily="34" charset="-120"/>
              </a:rPr>
              <a:t>Tiết 1 · 第 1 節</a:t>
            </a:r>
            <a:endParaRPr lang="en-US" sz="7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898071" y="0"/>
          <a:ext cx="1" cy="1"/>
          <a:chOff x="0" y="0"/>
          <a:chExt cx="0" cy="0"/>
        </a:xfrm>
      </p:grpSpPr>
      <p:sp>
        <p:nvSpPr>
          <p:cNvPr id="2" name="Shape 0"/>
          <p:cNvSpPr/>
          <p:nvPr/>
        </p:nvSpPr>
        <p:spPr>
          <a:xfrm>
            <a:off x="6335486" y="-1102179"/>
            <a:ext cx="3380014" cy="3380014"/>
          </a:xfrm>
          <a:prstGeom prst="ellipse">
            <a:avLst/>
          </a:prstGeom>
          <a:solidFill>
            <a:srgbClr val="13314F"/>
          </a:solidFill>
          <a:ln w="12700">
            <a:solidFill>
              <a:srgbClr val="13314F"/>
            </a:solidFill>
            <a:prstDash val="solid"/>
          </a:ln>
        </p:spPr>
      </p:sp>
      <p:sp>
        <p:nvSpPr>
          <p:cNvPr id="3" name="Shape 1"/>
          <p:cNvSpPr/>
          <p:nvPr/>
        </p:nvSpPr>
        <p:spPr>
          <a:xfrm>
            <a:off x="7437664" y="1690007"/>
            <a:ext cx="1910443" cy="1910443"/>
          </a:xfrm>
          <a:prstGeom prst="ellipse">
            <a:avLst/>
          </a:prstGeom>
          <a:solidFill>
            <a:srgbClr val="007F72">
              <a:alpha val="28000"/>
            </a:srgbClr>
          </a:solidFill>
          <a:ln/>
        </p:spPr>
      </p:sp>
      <p:sp>
        <p:nvSpPr>
          <p:cNvPr id="4" name="Text 2"/>
          <p:cNvSpPr txBox="1"/>
          <p:nvPr/>
        </p:nvSpPr>
        <p:spPr>
          <a:xfrm>
            <a:off x="1302204" y="382089"/>
            <a:ext cx="5437414" cy="220436"/>
          </a:xfrm>
          <a:prstGeom prst="rect">
            <a:avLst/>
          </a:prstGeom>
          <a:noFill/>
          <a:ln/>
        </p:spPr>
        <p:txBody>
          <a:bodyPr wrap="square" lIns="0" tIns="0" rIns="0" bIns="0" rtlCol="0" anchor="ctr"/>
          <a:lstStyle/>
          <a:p>
            <a:pPr indent="0" marL="0">
              <a:buNone/>
            </a:pPr>
            <a:r>
              <a:rPr lang="en-US" sz="1000" b="1" dirty="0">
                <a:solidFill>
                  <a:srgbClr val="FFB020"/>
                </a:solidFill>
                <a:latin typeface="Arial" pitchFamily="34" charset="0"/>
                <a:ea typeface="Arial" pitchFamily="34" charset="-122"/>
                <a:cs typeface="Arial" pitchFamily="34" charset="-120"/>
              </a:rPr>
              <a:t>Tiết 1 · 第一節小結</a:t>
            </a:r>
            <a:endParaRPr lang="en-US" sz="1000" dirty="0"/>
          </a:p>
        </p:txBody>
      </p:sp>
      <p:sp>
        <p:nvSpPr>
          <p:cNvPr id="5" name="Text 3"/>
          <p:cNvSpPr txBox="1"/>
          <p:nvPr/>
        </p:nvSpPr>
        <p:spPr>
          <a:xfrm>
            <a:off x="1302204" y="661307"/>
            <a:ext cx="6466114" cy="852351"/>
          </a:xfrm>
          <a:prstGeom prst="rect">
            <a:avLst/>
          </a:prstGeom>
          <a:noFill/>
          <a:ln/>
        </p:spPr>
        <p:txBody>
          <a:bodyPr wrap="square" lIns="0" tIns="0" rIns="0" bIns="0" rtlCol="0" anchor="t"/>
          <a:lstStyle/>
          <a:p>
            <a:pPr indent="0" marL="0">
              <a:lnSpc>
                <a:spcPct val="120000"/>
              </a:lnSpc>
              <a:buNone/>
            </a:pPr>
            <a:r>
              <a:rPr lang="en-US" sz="2010" b="1" dirty="0">
                <a:solidFill>
                  <a:srgbClr val="FFFFFF"/>
                </a:solidFill>
                <a:latin typeface="Arial" pitchFamily="34" charset="0"/>
                <a:ea typeface="Arial" pitchFamily="34" charset="-122"/>
                <a:cs typeface="Arial" pitchFamily="34" charset="-120"/>
              </a:rPr>
              <a:t>Mang ba câu này sang tiết 2</a:t>
            </a:r>
            <a:endParaRPr lang="en-US" sz="2010" dirty="0"/>
          </a:p>
          <a:p>
            <a:pPr indent="0" marL="0">
              <a:lnSpc>
                <a:spcPct val="120000"/>
              </a:lnSpc>
              <a:buNone/>
            </a:pPr>
            <a:r>
              <a:rPr lang="en-US" sz="1210" dirty="0">
                <a:solidFill>
                  <a:srgbClr val="AFC3D4"/>
                </a:solidFill>
                <a:latin typeface="微軟正黑體" pitchFamily="34" charset="0"/>
                <a:ea typeface="微軟正黑體" pitchFamily="34" charset="-122"/>
                <a:cs typeface="微軟正黑體" pitchFamily="34" charset="-120"/>
              </a:rPr>
              <a:t>帶三句話進第二節</a:t>
            </a:r>
            <a:endParaRPr lang="en-US" sz="2010" dirty="0"/>
          </a:p>
        </p:txBody>
      </p:sp>
      <p:sp>
        <p:nvSpPr>
          <p:cNvPr id="6" name="Shape 4"/>
          <p:cNvSpPr/>
          <p:nvPr/>
        </p:nvSpPr>
        <p:spPr>
          <a:xfrm>
            <a:off x="1302204" y="1498963"/>
            <a:ext cx="36739" cy="367393"/>
          </a:xfrm>
          <a:prstGeom prst="rect">
            <a:avLst/>
          </a:prstGeom>
          <a:solidFill>
            <a:srgbClr val="00A896"/>
          </a:solidFill>
          <a:ln/>
        </p:spPr>
      </p:sp>
      <p:sp>
        <p:nvSpPr>
          <p:cNvPr id="7" name="Text 5"/>
          <p:cNvSpPr txBox="1"/>
          <p:nvPr/>
        </p:nvSpPr>
        <p:spPr>
          <a:xfrm>
            <a:off x="1478552" y="1469571"/>
            <a:ext cx="6319157" cy="455567"/>
          </a:xfrm>
          <a:prstGeom prst="rect">
            <a:avLst/>
          </a:prstGeom>
          <a:noFill/>
          <a:ln/>
        </p:spPr>
        <p:txBody>
          <a:bodyPr wrap="square" lIns="0" tIns="0" rIns="0" bIns="0" rtlCol="0" anchor="t"/>
          <a:lstStyle/>
          <a:p>
            <a:pPr indent="0" marL="0">
              <a:lnSpc>
                <a:spcPct val="118000"/>
              </a:lnSpc>
              <a:buNone/>
            </a:pPr>
            <a:r>
              <a:rPr lang="en-US" sz="960" b="1" dirty="0">
                <a:solidFill>
                  <a:srgbClr val="FFFFFF"/>
                </a:solidFill>
                <a:latin typeface="Arial" pitchFamily="34" charset="0"/>
                <a:ea typeface="Arial" pitchFamily="34" charset="-122"/>
                <a:cs typeface="Arial" pitchFamily="34" charset="-120"/>
              </a:rPr>
              <a:t>Ba thanh trượt = ba thông số: số tia là độ phân giải, chiều dài là tầm đo, góc quét là góc nhìn.</a:t>
            </a:r>
            <a:endParaRPr lang="en-US" sz="960" dirty="0"/>
          </a:p>
          <a:p>
            <a:pPr indent="0" marL="0">
              <a:lnSpc>
                <a:spcPct val="118000"/>
              </a:lnSpc>
              <a:buNone/>
            </a:pPr>
            <a:r>
              <a:rPr lang="en-US" sz="880" dirty="0">
                <a:solidFill>
                  <a:srgbClr val="AFC3D4"/>
                </a:solidFill>
                <a:latin typeface="微軟正黑體" pitchFamily="34" charset="0"/>
                <a:ea typeface="微軟正黑體" pitchFamily="34" charset="-122"/>
                <a:cs typeface="微軟正黑體" pitchFamily="34" charset="-120"/>
              </a:rPr>
              <a:t>三個滑桿就是三個規格：射線數是解析度、長度是測距、張角是視野。</a:t>
            </a:r>
            <a:endParaRPr lang="en-US" sz="960" dirty="0"/>
          </a:p>
        </p:txBody>
      </p:sp>
      <p:sp>
        <p:nvSpPr>
          <p:cNvPr id="8" name="Shape 6"/>
          <p:cNvSpPr/>
          <p:nvPr/>
        </p:nvSpPr>
        <p:spPr>
          <a:xfrm>
            <a:off x="1302204" y="1998617"/>
            <a:ext cx="36739" cy="367393"/>
          </a:xfrm>
          <a:prstGeom prst="rect">
            <a:avLst/>
          </a:prstGeom>
          <a:solidFill>
            <a:srgbClr val="FFB020"/>
          </a:solidFill>
          <a:ln/>
        </p:spPr>
      </p:sp>
      <p:sp>
        <p:nvSpPr>
          <p:cNvPr id="9" name="Text 7"/>
          <p:cNvSpPr txBox="1"/>
          <p:nvPr/>
        </p:nvSpPr>
        <p:spPr>
          <a:xfrm>
            <a:off x="1478552" y="1969226"/>
            <a:ext cx="6319157" cy="455567"/>
          </a:xfrm>
          <a:prstGeom prst="rect">
            <a:avLst/>
          </a:prstGeom>
          <a:noFill/>
          <a:ln/>
        </p:spPr>
        <p:txBody>
          <a:bodyPr wrap="square" lIns="0" tIns="0" rIns="0" bIns="0" rtlCol="0" anchor="t"/>
          <a:lstStyle/>
          <a:p>
            <a:pPr indent="0" marL="0">
              <a:lnSpc>
                <a:spcPct val="118000"/>
              </a:lnSpc>
              <a:buNone/>
            </a:pPr>
            <a:r>
              <a:rPr lang="en-US" sz="960" b="1" dirty="0">
                <a:solidFill>
                  <a:srgbClr val="FFFFFF"/>
                </a:solidFill>
                <a:latin typeface="Arial" pitchFamily="34" charset="0"/>
                <a:ea typeface="Arial" pitchFamily="34" charset="-122"/>
                <a:cs typeface="Arial" pitchFamily="34" charset="-120"/>
              </a:rPr>
              <a:t>Quãng đường phanh quyết định tia phải dài bao nhiêu — 50 km/h thì ít nhất 25 m. Đây là giới hạn cứng.</a:t>
            </a:r>
            <a:endParaRPr lang="en-US" sz="960" dirty="0"/>
          </a:p>
          <a:p>
            <a:pPr indent="0" marL="0">
              <a:lnSpc>
                <a:spcPct val="118000"/>
              </a:lnSpc>
              <a:buNone/>
            </a:pPr>
            <a:r>
              <a:rPr lang="en-US" sz="880" dirty="0">
                <a:solidFill>
                  <a:srgbClr val="AFC3D4"/>
                </a:solidFill>
                <a:latin typeface="微軟正黑體" pitchFamily="34" charset="0"/>
                <a:ea typeface="微軟正黑體" pitchFamily="34" charset="-122"/>
                <a:cs typeface="微軟正黑體" pitchFamily="34" charset="-120"/>
              </a:rPr>
              <a:t>煞停距離決定射線至少要多長——時速 50 至少 25 公尺。這是硬下限。</a:t>
            </a:r>
            <a:endParaRPr lang="en-US" sz="960" dirty="0"/>
          </a:p>
        </p:txBody>
      </p:sp>
      <p:sp>
        <p:nvSpPr>
          <p:cNvPr id="10" name="Shape 8"/>
          <p:cNvSpPr/>
          <p:nvPr/>
        </p:nvSpPr>
        <p:spPr>
          <a:xfrm>
            <a:off x="1302204" y="2498271"/>
            <a:ext cx="36739" cy="367393"/>
          </a:xfrm>
          <a:prstGeom prst="rect">
            <a:avLst/>
          </a:prstGeom>
          <a:solidFill>
            <a:srgbClr val="00A896"/>
          </a:solidFill>
          <a:ln/>
        </p:spPr>
      </p:sp>
      <p:sp>
        <p:nvSpPr>
          <p:cNvPr id="11" name="Text 9"/>
          <p:cNvSpPr txBox="1"/>
          <p:nvPr/>
        </p:nvSpPr>
        <p:spPr>
          <a:xfrm>
            <a:off x="1478552" y="2468880"/>
            <a:ext cx="6319157" cy="455567"/>
          </a:xfrm>
          <a:prstGeom prst="rect">
            <a:avLst/>
          </a:prstGeom>
          <a:noFill/>
          <a:ln/>
        </p:spPr>
        <p:txBody>
          <a:bodyPr wrap="square" lIns="0" tIns="0" rIns="0" bIns="0" rtlCol="0" anchor="t"/>
          <a:lstStyle/>
          <a:p>
            <a:pPr indent="0" marL="0">
              <a:lnSpc>
                <a:spcPct val="118000"/>
              </a:lnSpc>
              <a:buNone/>
            </a:pPr>
            <a:r>
              <a:rPr lang="en-US" sz="960" b="1" dirty="0">
                <a:solidFill>
                  <a:srgbClr val="FFFFFF"/>
                </a:solidFill>
                <a:latin typeface="Arial" pitchFamily="34" charset="0"/>
                <a:ea typeface="Arial" pitchFamily="34" charset="-122"/>
                <a:cs typeface="Arial" pitchFamily="34" charset="-120"/>
              </a:rPr>
              <a:t>Ba khoảng cách mô phỏng–hiện thực: hình ảnh, hành vi, vật lý. Ở Đài Loan và Việt Nam đều lớn hơn.</a:t>
            </a:r>
            <a:endParaRPr lang="en-US" sz="960" dirty="0"/>
          </a:p>
          <a:p>
            <a:pPr indent="0" marL="0">
              <a:lnSpc>
                <a:spcPct val="118000"/>
              </a:lnSpc>
              <a:buNone/>
            </a:pPr>
            <a:r>
              <a:rPr lang="en-US" sz="880" dirty="0">
                <a:solidFill>
                  <a:srgbClr val="AFC3D4"/>
                </a:solidFill>
                <a:latin typeface="微軟正黑體" pitchFamily="34" charset="0"/>
                <a:ea typeface="微軟正黑體" pitchFamily="34" charset="-122"/>
                <a:cs typeface="微軟正黑體" pitchFamily="34" charset="-120"/>
              </a:rPr>
              <a:t>模擬與現實的三種落差：外觀、行為、物理。在台灣和越南都更大。</a:t>
            </a:r>
            <a:endParaRPr lang="en-US" sz="960" dirty="0"/>
          </a:p>
        </p:txBody>
      </p:sp>
      <p:sp>
        <p:nvSpPr>
          <p:cNvPr id="12" name="Text 10"/>
          <p:cNvSpPr txBox="1"/>
          <p:nvPr/>
        </p:nvSpPr>
        <p:spPr>
          <a:xfrm>
            <a:off x="1302204" y="3012621"/>
            <a:ext cx="6466114" cy="323306"/>
          </a:xfrm>
          <a:prstGeom prst="rect">
            <a:avLst/>
          </a:prstGeom>
          <a:noFill/>
          <a:ln/>
        </p:spPr>
        <p:txBody>
          <a:bodyPr wrap="square" lIns="0" tIns="0" rIns="0" bIns="0" rtlCol="0" anchor="t"/>
          <a:lstStyle/>
          <a:p>
            <a:pPr indent="0" marL="0">
              <a:lnSpc>
                <a:spcPct val="116000"/>
              </a:lnSpc>
              <a:buNone/>
            </a:pPr>
            <a:r>
              <a:rPr lang="en-US" sz="920" b="1" dirty="0">
                <a:solidFill>
                  <a:srgbClr val="FFB020"/>
                </a:solidFill>
                <a:latin typeface="Arial" pitchFamily="34" charset="0"/>
                <a:ea typeface="Arial" pitchFamily="34" charset="-122"/>
                <a:cs typeface="Arial" pitchFamily="34" charset="-120"/>
              </a:rPr>
              <a:t>Nghỉ 10 phút. Tiết 2: nếu số km không phải đơn vị đo tốt, thì cái gì mới là?</a:t>
            </a:r>
            <a:endParaRPr lang="en-US" sz="920" dirty="0"/>
          </a:p>
          <a:p>
            <a:pPr indent="0" marL="0">
              <a:lnSpc>
                <a:spcPct val="116000"/>
              </a:lnSpc>
              <a:buNone/>
            </a:pPr>
            <a:r>
              <a:rPr lang="en-US" sz="840" dirty="0">
                <a:solidFill>
                  <a:srgbClr val="FFB020"/>
                </a:solidFill>
                <a:latin typeface="微軟正黑體" pitchFamily="34" charset="0"/>
                <a:ea typeface="微軟正黑體" pitchFamily="34" charset="-122"/>
                <a:cs typeface="微軟正黑體" pitchFamily="34" charset="-120"/>
              </a:rPr>
              <a:t>休息十分鐘。第二節：如果公里數不是好的測試單位，那什麼才是？</a:t>
            </a:r>
            <a:endParaRPr lang="en-US" sz="920" dirty="0"/>
          </a:p>
        </p:txBody>
      </p:sp>
      <p:sp>
        <p:nvSpPr>
          <p:cNvPr id="14" name="Text 11"/>
          <p:cNvSpPr txBox="1"/>
          <p:nvPr/>
        </p:nvSpPr>
        <p:spPr>
          <a:xfrm>
            <a:off x="986246" y="102870"/>
            <a:ext cx="661307" cy="205740"/>
          </a:xfrm>
          <a:prstGeom prst="rect">
            <a:avLst/>
          </a:prstGeom>
          <a:noFill/>
          <a:ln/>
        </p:spPr>
        <p:txBody>
          <a:bodyPr wrap="square" lIns="0" tIns="0" rIns="0" bIns="0" rtlCol="0" anchor="ctr"/>
          <a:lstStyle/>
          <a:p>
            <a:pPr indent="0" marL="0">
              <a:buNone/>
            </a:pPr>
            <a:r>
              <a:rPr lang="en-US" sz="720" dirty="0">
                <a:solidFill>
                  <a:srgbClr val="9FB3C8"/>
                </a:solidFill>
                <a:latin typeface="Arial" pitchFamily="34" charset="0"/>
                <a:ea typeface="Arial" pitchFamily="34" charset="-122"/>
                <a:cs typeface="Arial" pitchFamily="34" charset="-120"/>
              </a:rPr>
              <a:t>28 / 28</a:t>
            </a:r>
            <a:endParaRPr lang="en-US" sz="720" dirty="0"/>
          </a:p>
        </p:txBody>
      </p:sp>
      <p:sp>
        <p:nvSpPr>
          <p:cNvPr id="15" name="Text 12"/>
          <p:cNvSpPr txBox="1"/>
          <p:nvPr/>
        </p:nvSpPr>
        <p:spPr>
          <a:xfrm>
            <a:off x="1669596" y="102870"/>
            <a:ext cx="1616529" cy="205740"/>
          </a:xfrm>
          <a:prstGeom prst="rect">
            <a:avLst/>
          </a:prstGeom>
          <a:noFill/>
          <a:ln/>
        </p:spPr>
        <p:txBody>
          <a:bodyPr wrap="square" lIns="0" tIns="0" rIns="0" bIns="0" rtlCol="0" anchor="ctr"/>
          <a:lstStyle/>
          <a:p>
            <a:pPr indent="0" marL="0">
              <a:buNone/>
            </a:pPr>
            <a:r>
              <a:rPr lang="en-US" sz="720" dirty="0">
                <a:solidFill>
                  <a:srgbClr val="9FB3C8"/>
                </a:solidFill>
                <a:latin typeface="Arial" pitchFamily="34" charset="0"/>
                <a:ea typeface="Arial" pitchFamily="34" charset="-122"/>
                <a:cs typeface="Arial" pitchFamily="34" charset="-120"/>
              </a:rPr>
              <a:t>Tiết 1 · 第 1 節</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自動駕駛原理</dc:creator>
  <cp:lastModifiedBy>自動駕駛原理</cp:lastModifiedBy>
  <cp:revision>1</cp:revision>
  <dcterms:created xsi:type="dcterms:W3CDTF">2026-09-29T04:16:09Z</dcterms:created>
  <dcterms:modified xsi:type="dcterms:W3CDTF">2026-09-29T04:16:09Z</dcterms:modified>
</cp:coreProperties>
</file>