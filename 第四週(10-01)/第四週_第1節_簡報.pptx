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我們的模擬器可以從一條拉到六十條。真車的光達呢？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883806"/>
            <a:ext cx="4936051" cy="194844"/>
          </a:xfrm>
          <a:prstGeom prst="rect">
            <a:avLst/>
          </a:prstGeom>
          <a:noFill/>
          <a:ln/>
        </p:spPr>
        <p:txBody>
          <a:bodyPr wrap="square" lIns="0" tIns="0" rIns="0" bIns="0" rtlCol="0" anchor="ctr"/>
          <a:lstStyle/>
          <a:p>
            <a:pPr indent="0" marL="0">
              <a:buNone/>
            </a:pPr>
            <a:r>
              <a:rPr lang="en-US" sz="890" b="1" dirty="0">
                <a:solidFill>
                  <a:srgbClr val="00A896"/>
                </a:solidFill>
                <a:latin typeface="Arial" pitchFamily="34" charset="0"/>
                <a:ea typeface="Arial" pitchFamily="34" charset="-122"/>
                <a:cs typeface="Arial" pitchFamily="34" charset="-120"/>
              </a:rPr>
              <a:t>MITUST · Nguyên lý xe tự lái · Tuần 4</a:t>
            </a:r>
            <a:endParaRPr lang="en-US" sz="890" dirty="0"/>
          </a:p>
        </p:txBody>
      </p:sp>
      <p:sp>
        <p:nvSpPr>
          <p:cNvPr id="5" name="Text 3"/>
          <p:cNvSpPr txBox="1"/>
          <p:nvPr/>
        </p:nvSpPr>
        <p:spPr>
          <a:xfrm>
            <a:off x="1681812" y="1143598"/>
            <a:ext cx="5325739" cy="884351"/>
          </a:xfrm>
          <a:prstGeom prst="rect">
            <a:avLst/>
          </a:prstGeom>
          <a:noFill/>
          <a:ln/>
        </p:spPr>
        <p:txBody>
          <a:bodyPr wrap="square" lIns="0" tIns="0" rIns="0" bIns="0" rtlCol="0" anchor="t"/>
          <a:lstStyle/>
          <a:p>
            <a:pPr indent="0" marL="0">
              <a:lnSpc>
                <a:spcPct val="118000"/>
              </a:lnSpc>
              <a:buNone/>
            </a:pPr>
            <a:r>
              <a:rPr lang="en-US" sz="2130" b="1" dirty="0">
                <a:solidFill>
                  <a:srgbClr val="FFFFFF"/>
                </a:solidFill>
                <a:latin typeface="Arial" pitchFamily="34" charset="0"/>
                <a:ea typeface="Arial" pitchFamily="34" charset="-122"/>
                <a:cs typeface="Arial" pitchFamily="34" charset="-120"/>
              </a:rPr>
              <a:t>Ba thanh trượt tuần trước</a:t>
            </a:r>
            <a:endParaRPr lang="en-US" sz="2130" dirty="0"/>
          </a:p>
          <a:p>
            <a:pPr indent="0" marL="0">
              <a:lnSpc>
                <a:spcPct val="118000"/>
              </a:lnSpc>
              <a:buNone/>
            </a:pPr>
            <a:r>
              <a:rPr lang="en-US" sz="2130" b="1" dirty="0">
                <a:solidFill>
                  <a:srgbClr val="FFFFFF"/>
                </a:solidFill>
                <a:latin typeface="Arial" pitchFamily="34" charset="0"/>
                <a:ea typeface="Arial" pitchFamily="34" charset="-122"/>
                <a:cs typeface="Arial" pitchFamily="34" charset="-120"/>
              </a:rPr>
              <a:t>chính là ba dòng trong bảng thông số</a:t>
            </a:r>
            <a:endParaRPr lang="en-US" sz="2130" dirty="0"/>
          </a:p>
          <a:p>
            <a:pPr indent="0" marL="0">
              <a:lnSpc>
                <a:spcPct val="118000"/>
              </a:lnSpc>
              <a:buNone/>
            </a:pPr>
            <a:r>
              <a:rPr lang="en-US" sz="121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2130" dirty="0"/>
          </a:p>
        </p:txBody>
      </p:sp>
      <p:sp>
        <p:nvSpPr>
          <p:cNvPr id="6" name="Shape 4"/>
          <p:cNvSpPr/>
          <p:nvPr/>
        </p:nvSpPr>
        <p:spPr>
          <a:xfrm>
            <a:off x="1681812" y="2163355"/>
            <a:ext cx="974221" cy="29227"/>
          </a:xfrm>
          <a:prstGeom prst="rect">
            <a:avLst/>
          </a:prstGeom>
          <a:solidFill>
            <a:srgbClr val="FFB020"/>
          </a:solidFill>
          <a:ln/>
        </p:spPr>
      </p:sp>
      <p:sp>
        <p:nvSpPr>
          <p:cNvPr id="7" name="Text 5"/>
          <p:cNvSpPr txBox="1"/>
          <p:nvPr/>
        </p:nvSpPr>
        <p:spPr>
          <a:xfrm>
            <a:off x="1681812" y="2306241"/>
            <a:ext cx="5065947" cy="435079"/>
          </a:xfrm>
          <a:prstGeom prst="rect">
            <a:avLst/>
          </a:prstGeom>
          <a:noFill/>
          <a:ln/>
        </p:spPr>
        <p:txBody>
          <a:bodyPr wrap="square" lIns="0" tIns="0" rIns="0" bIns="0" rtlCol="0" anchor="t"/>
          <a:lstStyle/>
          <a:p>
            <a:pPr indent="0" marL="0">
              <a:lnSpc>
                <a:spcPct val="120000"/>
              </a:lnSpc>
              <a:buNone/>
            </a:pPr>
            <a:r>
              <a:rPr lang="en-US" sz="103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030" dirty="0"/>
          </a:p>
          <a:p>
            <a:pPr indent="0" marL="0">
              <a:lnSpc>
                <a:spcPct val="120000"/>
              </a:lnSpc>
              <a:buNone/>
            </a:pPr>
            <a:r>
              <a:rPr lang="en-US" sz="89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030" dirty="0"/>
          </a:p>
        </p:txBody>
      </p:sp>
      <p:sp>
        <p:nvSpPr>
          <p:cNvPr id="8" name="Shape 6"/>
          <p:cNvSpPr/>
          <p:nvPr/>
        </p:nvSpPr>
        <p:spPr>
          <a:xfrm>
            <a:off x="1681812" y="2793278"/>
            <a:ext cx="4221622" cy="272782"/>
          </a:xfrm>
          <a:prstGeom prst="roundRect">
            <a:avLst>
              <a:gd name="adj" fmla="val 16667"/>
            </a:avLst>
          </a:prstGeom>
          <a:solidFill>
            <a:srgbClr val="13314F"/>
          </a:solidFill>
          <a:ln/>
        </p:spPr>
      </p:sp>
      <p:sp>
        <p:nvSpPr>
          <p:cNvPr id="9" name="Text 7"/>
          <p:cNvSpPr txBox="1"/>
          <p:nvPr/>
        </p:nvSpPr>
        <p:spPr>
          <a:xfrm>
            <a:off x="1772740" y="2825752"/>
            <a:ext cx="4039768" cy="207834"/>
          </a:xfrm>
          <a:prstGeom prst="rect">
            <a:avLst/>
          </a:prstGeom>
          <a:noFill/>
          <a:ln/>
        </p:spPr>
        <p:txBody>
          <a:bodyPr wrap="square" lIns="0" tIns="0" rIns="0" bIns="0" rtlCol="0" anchor="ctr"/>
          <a:lstStyle/>
          <a:p>
            <a:pPr indent="0" marL="0">
              <a:buNone/>
            </a:pPr>
            <a:r>
              <a:rPr lang="en-US" sz="7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750" dirty="0"/>
          </a:p>
        </p:txBody>
      </p:sp>
      <p:sp>
        <p:nvSpPr>
          <p:cNvPr id="10" name="Text 8"/>
          <p:cNvSpPr txBox="1"/>
          <p:nvPr/>
        </p:nvSpPr>
        <p:spPr>
          <a:xfrm>
            <a:off x="1681812" y="3131008"/>
            <a:ext cx="4936051" cy="194844"/>
          </a:xfrm>
          <a:prstGeom prst="rect">
            <a:avLst/>
          </a:prstGeom>
          <a:noFill/>
          <a:ln/>
        </p:spPr>
        <p:txBody>
          <a:bodyPr wrap="square" lIns="0" tIns="0" rIns="0" bIns="0" rtlCol="0" anchor="ctr"/>
          <a:lstStyle/>
          <a:p>
            <a:pPr indent="0" marL="0">
              <a:buNone/>
            </a:pPr>
            <a:r>
              <a:rPr lang="en-US" sz="82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20" dirty="0"/>
          </a:p>
        </p:txBody>
      </p:sp>
      <p:sp>
        <p:nvSpPr>
          <p:cNvPr id="12" name="Shape 9"/>
          <p:cNvSpPr/>
          <p:nvPr/>
        </p:nvSpPr>
        <p:spPr>
          <a:xfrm>
            <a:off x="1577895" y="247315"/>
            <a:ext cx="1571743" cy="532574"/>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1681812" y="364222"/>
            <a:ext cx="1363909" cy="301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Mở mô phỏng trên máy tính của bạn</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在你的筆電上打開模擬器</a:t>
            </a:r>
            <a:endParaRPr lang="en-US" sz="1560" dirty="0"/>
          </a:p>
        </p:txBody>
      </p:sp>
      <p:sp>
        <p:nvSpPr>
          <p:cNvPr id="3" name="Shape 1"/>
          <p:cNvSpPr/>
          <p:nvPr/>
        </p:nvSpPr>
        <p:spPr>
          <a:xfrm>
            <a:off x="5844982" y="831848"/>
            <a:ext cx="1708133" cy="186400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5935909" y="909785"/>
            <a:ext cx="1526279" cy="1526279"/>
          </a:xfrm>
          <a:prstGeom prst="rect">
            <a:avLst/>
          </a:prstGeom>
        </p:spPr>
      </p:pic>
      <p:sp>
        <p:nvSpPr>
          <p:cNvPr id="5" name="Text 2"/>
          <p:cNvSpPr txBox="1"/>
          <p:nvPr/>
        </p:nvSpPr>
        <p:spPr>
          <a:xfrm>
            <a:off x="5870961" y="2462043"/>
            <a:ext cx="1656175" cy="220823"/>
          </a:xfrm>
          <a:prstGeom prst="rect">
            <a:avLst/>
          </a:prstGeom>
          <a:noFill/>
          <a:ln/>
        </p:spPr>
        <p:txBody>
          <a:bodyPr wrap="square" lIns="0" tIns="0" rIns="0" bIns="0" rtlCol="0" anchor="t"/>
          <a:lstStyle/>
          <a:p>
            <a:pPr algn="ctr" indent="0" marL="0">
              <a:lnSpc>
                <a:spcPct val="105000"/>
              </a:lnSpc>
              <a:buNone/>
            </a:pPr>
            <a:r>
              <a:rPr lang="en-US" sz="750" b="1" dirty="0">
                <a:solidFill>
                  <a:srgbClr val="5F7183"/>
                </a:solidFill>
                <a:latin typeface="Arial" pitchFamily="34" charset="0"/>
                <a:ea typeface="Arial" pitchFamily="34" charset="-122"/>
                <a:cs typeface="Arial" pitchFamily="34" charset="-120"/>
              </a:rPr>
              <a:t>Quét mã QR bằng camera điện thoại</a:t>
            </a:r>
            <a:endParaRPr lang="en-US" sz="750" dirty="0"/>
          </a:p>
          <a:p>
            <a:pPr algn="ctr" indent="0" marL="0">
              <a:lnSpc>
                <a:spcPct val="105000"/>
              </a:lnSpc>
              <a:buNone/>
            </a:pPr>
            <a:r>
              <a:rPr lang="en-US" sz="670" dirty="0">
                <a:solidFill>
                  <a:srgbClr val="5F7183"/>
                </a:solidFill>
                <a:latin typeface="微軟正黑體" pitchFamily="34" charset="0"/>
                <a:ea typeface="微軟正黑體" pitchFamily="34" charset="-122"/>
                <a:cs typeface="微軟正黑體" pitchFamily="34" charset="-120"/>
              </a:rPr>
              <a:t>用手機相機掃這個 QR</a:t>
            </a:r>
            <a:endParaRPr lang="en-US" sz="750" dirty="0"/>
          </a:p>
        </p:txBody>
      </p:sp>
      <p:sp>
        <p:nvSpPr>
          <p:cNvPr id="6" name="Shape 3"/>
          <p:cNvSpPr/>
          <p:nvPr/>
        </p:nvSpPr>
        <p:spPr>
          <a:xfrm>
            <a:off x="1681812" y="831848"/>
            <a:ext cx="4033273" cy="597522"/>
          </a:xfrm>
          <a:prstGeom prst="roundRect">
            <a:avLst>
              <a:gd name="adj" fmla="val 9783"/>
            </a:avLst>
          </a:prstGeom>
          <a:solidFill>
            <a:srgbClr val="0B1F3A"/>
          </a:solidFill>
          <a:ln/>
        </p:spPr>
      </p:sp>
      <p:sp>
        <p:nvSpPr>
          <p:cNvPr id="7" name="Text 4"/>
          <p:cNvSpPr txBox="1"/>
          <p:nvPr/>
        </p:nvSpPr>
        <p:spPr>
          <a:xfrm>
            <a:off x="1785729" y="896796"/>
            <a:ext cx="3825439" cy="467626"/>
          </a:xfrm>
          <a:prstGeom prst="rect">
            <a:avLst/>
          </a:prstGeom>
          <a:noFill/>
          <a:ln/>
        </p:spPr>
        <p:txBody>
          <a:bodyPr wrap="square" lIns="0" tIns="0" rIns="0" bIns="0" rtlCol="0" anchor="ctr"/>
          <a:lstStyle/>
          <a:p>
            <a:pPr algn="ctr" indent="0" marL="0">
              <a:buNone/>
            </a:pPr>
            <a:r>
              <a:rPr lang="en-US" sz="890" b="1" dirty="0">
                <a:solidFill>
                  <a:srgbClr val="FFFFFF"/>
                </a:solidFill>
                <a:latin typeface="Arial" pitchFamily="34" charset="0"/>
                <a:ea typeface="Arial" pitchFamily="34" charset="-122"/>
                <a:cs typeface="Arial" pitchFamily="34" charset="-120"/>
              </a:rPr>
              <a:t>https://ch-neural.github.io/</a:t>
            </a:r>
            <a:endParaRPr lang="en-US" sz="890" dirty="0"/>
          </a:p>
          <a:p>
            <a:pPr algn="ctr" indent="0" marL="0">
              <a:buNone/>
            </a:pPr>
            <a:r>
              <a:rPr lang="en-US" sz="890" b="1" dirty="0">
                <a:solidFill>
                  <a:srgbClr val="FFFFFF"/>
                </a:solidFill>
                <a:latin typeface="Arial" pitchFamily="34" charset="0"/>
                <a:ea typeface="Arial" pitchFamily="34" charset="-122"/>
                <a:cs typeface="Arial" pitchFamily="34" charset="-120"/>
              </a:rPr>
              <a:t>MITUST-Principles-of-Self-Driving-Cars/week4/sim/</a:t>
            </a:r>
            <a:endParaRPr lang="en-US" sz="890" dirty="0"/>
          </a:p>
        </p:txBody>
      </p:sp>
      <p:sp>
        <p:nvSpPr>
          <p:cNvPr id="8" name="Shape 5"/>
          <p:cNvSpPr/>
          <p:nvPr/>
        </p:nvSpPr>
        <p:spPr>
          <a:xfrm>
            <a:off x="1707792" y="1559266"/>
            <a:ext cx="207834" cy="207834"/>
          </a:xfrm>
          <a:prstGeom prst="ellipse">
            <a:avLst/>
          </a:prstGeom>
          <a:solidFill>
            <a:srgbClr val="00A896"/>
          </a:solidFill>
          <a:ln/>
        </p:spPr>
      </p:sp>
      <p:sp>
        <p:nvSpPr>
          <p:cNvPr id="9" name="Text 6"/>
          <p:cNvSpPr txBox="1"/>
          <p:nvPr/>
        </p:nvSpPr>
        <p:spPr>
          <a:xfrm>
            <a:off x="1707792" y="1565760"/>
            <a:ext cx="207834" cy="194844"/>
          </a:xfrm>
          <a:prstGeom prst="rect">
            <a:avLst/>
          </a:prstGeom>
          <a:noFill/>
          <a:ln/>
        </p:spPr>
        <p:txBody>
          <a:bodyPr wrap="square" lIns="0" tIns="0" rIns="0" bIns="0"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1</a:t>
            </a:r>
            <a:endParaRPr lang="en-US" sz="780" dirty="0"/>
          </a:p>
        </p:txBody>
      </p:sp>
      <p:sp>
        <p:nvSpPr>
          <p:cNvPr id="10" name="Text 7"/>
          <p:cNvSpPr txBox="1"/>
          <p:nvPr/>
        </p:nvSpPr>
        <p:spPr>
          <a:xfrm>
            <a:off x="1993563" y="1533286"/>
            <a:ext cx="3669564" cy="324740"/>
          </a:xfrm>
          <a:prstGeom prst="rect">
            <a:avLst/>
          </a:prstGeom>
          <a:noFill/>
          <a:ln/>
        </p:spPr>
        <p:txBody>
          <a:bodyPr wrap="square" lIns="0" tIns="0" rIns="0" bIns="0" rtlCol="0" anchor="t"/>
          <a:lstStyle/>
          <a:p>
            <a:pPr indent="0" marL="0">
              <a:lnSpc>
                <a:spcPct val="108000"/>
              </a:lnSpc>
              <a:buNone/>
            </a:pPr>
            <a:r>
              <a:rPr lang="en-US" sz="8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820" dirty="0"/>
          </a:p>
          <a:p>
            <a:pPr indent="0" marL="0">
              <a:lnSpc>
                <a:spcPct val="108000"/>
              </a:lnSpc>
              <a:buNone/>
            </a:pPr>
            <a:r>
              <a:rPr lang="en-US" sz="7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820" dirty="0"/>
          </a:p>
        </p:txBody>
      </p:sp>
      <p:sp>
        <p:nvSpPr>
          <p:cNvPr id="11" name="Shape 8"/>
          <p:cNvSpPr/>
          <p:nvPr/>
        </p:nvSpPr>
        <p:spPr>
          <a:xfrm>
            <a:off x="1707792" y="1976475"/>
            <a:ext cx="207834" cy="207834"/>
          </a:xfrm>
          <a:prstGeom prst="ellipse">
            <a:avLst/>
          </a:prstGeom>
          <a:solidFill>
            <a:srgbClr val="00A896"/>
          </a:solidFill>
          <a:ln/>
        </p:spPr>
      </p:sp>
      <p:sp>
        <p:nvSpPr>
          <p:cNvPr id="12" name="Text 9"/>
          <p:cNvSpPr txBox="1"/>
          <p:nvPr/>
        </p:nvSpPr>
        <p:spPr>
          <a:xfrm>
            <a:off x="1707792" y="1982970"/>
            <a:ext cx="207834" cy="194844"/>
          </a:xfrm>
          <a:prstGeom prst="rect">
            <a:avLst/>
          </a:prstGeom>
          <a:noFill/>
          <a:ln/>
        </p:spPr>
        <p:txBody>
          <a:bodyPr wrap="square" lIns="0" tIns="0" rIns="0" bIns="0"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2</a:t>
            </a:r>
            <a:endParaRPr lang="en-US" sz="780" dirty="0"/>
          </a:p>
        </p:txBody>
      </p:sp>
      <p:sp>
        <p:nvSpPr>
          <p:cNvPr id="13" name="Text 10"/>
          <p:cNvSpPr txBox="1"/>
          <p:nvPr/>
        </p:nvSpPr>
        <p:spPr>
          <a:xfrm>
            <a:off x="1993563" y="1950496"/>
            <a:ext cx="3669564" cy="324740"/>
          </a:xfrm>
          <a:prstGeom prst="rect">
            <a:avLst/>
          </a:prstGeom>
          <a:noFill/>
          <a:ln/>
        </p:spPr>
        <p:txBody>
          <a:bodyPr wrap="square" lIns="0" tIns="0" rIns="0" bIns="0" rtlCol="0" anchor="t"/>
          <a:lstStyle/>
          <a:p>
            <a:pPr indent="0" marL="0">
              <a:lnSpc>
                <a:spcPct val="108000"/>
              </a:lnSpc>
              <a:buNone/>
            </a:pPr>
            <a:r>
              <a:rPr lang="en-US" sz="820" b="1" dirty="0">
                <a:solidFill>
                  <a:srgbClr val="1A2733"/>
                </a:solidFill>
                <a:latin typeface="Arial" pitchFamily="34" charset="0"/>
                <a:ea typeface="Arial" pitchFamily="34" charset="-122"/>
                <a:cs typeface="Arial" pitchFamily="34" charset="-120"/>
              </a:rPr>
              <a:t>Mở xong bấm «Bắt đầu» cho xe chạy thử một vòng</a:t>
            </a:r>
            <a:endParaRPr lang="en-US" sz="820" dirty="0"/>
          </a:p>
          <a:p>
            <a:pPr indent="0" marL="0">
              <a:lnSpc>
                <a:spcPct val="108000"/>
              </a:lnSpc>
              <a:buNone/>
            </a:pPr>
            <a:r>
              <a:rPr lang="en-US" sz="7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820" dirty="0"/>
          </a:p>
        </p:txBody>
      </p:sp>
      <p:sp>
        <p:nvSpPr>
          <p:cNvPr id="14" name="Shape 11"/>
          <p:cNvSpPr/>
          <p:nvPr/>
        </p:nvSpPr>
        <p:spPr>
          <a:xfrm>
            <a:off x="1707792" y="2327195"/>
            <a:ext cx="207834" cy="207834"/>
          </a:xfrm>
          <a:prstGeom prst="ellipse">
            <a:avLst/>
          </a:prstGeom>
          <a:solidFill>
            <a:srgbClr val="00A896"/>
          </a:solidFill>
          <a:ln/>
        </p:spPr>
      </p:sp>
      <p:sp>
        <p:nvSpPr>
          <p:cNvPr id="15" name="Text 12"/>
          <p:cNvSpPr txBox="1"/>
          <p:nvPr/>
        </p:nvSpPr>
        <p:spPr>
          <a:xfrm>
            <a:off x="1707792" y="2333689"/>
            <a:ext cx="207834" cy="194844"/>
          </a:xfrm>
          <a:prstGeom prst="rect">
            <a:avLst/>
          </a:prstGeom>
          <a:noFill/>
          <a:ln/>
        </p:spPr>
        <p:txBody>
          <a:bodyPr wrap="square" lIns="0" tIns="0" rIns="0" bIns="0"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3</a:t>
            </a:r>
            <a:endParaRPr lang="en-US" sz="780" dirty="0"/>
          </a:p>
        </p:txBody>
      </p:sp>
      <p:sp>
        <p:nvSpPr>
          <p:cNvPr id="16" name="Text 13"/>
          <p:cNvSpPr txBox="1"/>
          <p:nvPr/>
        </p:nvSpPr>
        <p:spPr>
          <a:xfrm>
            <a:off x="1993563" y="2301215"/>
            <a:ext cx="3669564" cy="324740"/>
          </a:xfrm>
          <a:prstGeom prst="rect">
            <a:avLst/>
          </a:prstGeom>
          <a:noFill/>
          <a:ln/>
        </p:spPr>
        <p:txBody>
          <a:bodyPr wrap="square" lIns="0" tIns="0" rIns="0" bIns="0" rtlCol="0" anchor="t"/>
          <a:lstStyle/>
          <a:p>
            <a:pPr indent="0" marL="0">
              <a:lnSpc>
                <a:spcPct val="108000"/>
              </a:lnSpc>
              <a:buNone/>
            </a:pPr>
            <a:r>
              <a:rPr lang="en-US" sz="8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820" dirty="0"/>
          </a:p>
          <a:p>
            <a:pPr indent="0" marL="0">
              <a:lnSpc>
                <a:spcPct val="108000"/>
              </a:lnSpc>
              <a:buNone/>
            </a:pPr>
            <a:r>
              <a:rPr lang="en-US" sz="7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820" dirty="0"/>
          </a:p>
        </p:txBody>
      </p:sp>
      <p:sp>
        <p:nvSpPr>
          <p:cNvPr id="17" name="Shape 14"/>
          <p:cNvSpPr/>
          <p:nvPr/>
        </p:nvSpPr>
        <p:spPr>
          <a:xfrm>
            <a:off x="1681812" y="2806268"/>
            <a:ext cx="5780375" cy="428657"/>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811708" y="2851732"/>
            <a:ext cx="5520583" cy="350719"/>
          </a:xfrm>
          <a:prstGeom prst="rect">
            <a:avLst/>
          </a:prstGeom>
          <a:noFill/>
          <a:ln/>
        </p:spPr>
        <p:txBody>
          <a:bodyPr wrap="square" lIns="0" tIns="0" rIns="0" bIns="0" rtlCol="0" anchor="t"/>
          <a:lstStyle/>
          <a:p>
            <a:pPr indent="0" marL="0">
              <a:lnSpc>
                <a:spcPct val="114000"/>
              </a:lnSpc>
              <a:buNone/>
            </a:pPr>
            <a:r>
              <a:rPr lang="en-US" sz="85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850" dirty="0"/>
          </a:p>
          <a:p>
            <a:pPr indent="0" marL="0">
              <a:lnSpc>
                <a:spcPct val="114000"/>
              </a:lnSpc>
              <a:buNone/>
            </a:pPr>
            <a:r>
              <a:rPr lang="en-US" sz="78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85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6663327" y="3338842"/>
            <a:ext cx="779376" cy="172200"/>
          </a:xfrm>
          <a:prstGeom prst="rect">
            <a:avLst/>
          </a:prstGeom>
        </p:spPr>
      </p:pic>
      <p:sp>
        <p:nvSpPr>
          <p:cNvPr id="21" name="Text 16"/>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2 / 18</a:t>
            </a:r>
            <a:endParaRPr lang="en-US" sz="640" dirty="0"/>
          </a:p>
        </p:txBody>
      </p:sp>
      <p:sp>
        <p:nvSpPr>
          <p:cNvPr id="22" name="Text 17"/>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1228031"/>
            <a:ext cx="3247402" cy="220823"/>
          </a:xfrm>
          <a:prstGeom prst="rect">
            <a:avLst/>
          </a:prstGeom>
          <a:noFill/>
          <a:ln/>
        </p:spPr>
        <p:txBody>
          <a:bodyPr wrap="square" lIns="0" tIns="0" rIns="0" bIns="0" rtlCol="0" anchor="ctr"/>
          <a:lstStyle/>
          <a:p>
            <a:pPr indent="0" marL="0">
              <a:buNone/>
            </a:pPr>
            <a:endParaRPr lang="en-US" sz="960" dirty="0"/>
          </a:p>
        </p:txBody>
      </p:sp>
      <p:sp>
        <p:nvSpPr>
          <p:cNvPr id="5" name="Text 3"/>
          <p:cNvSpPr txBox="1"/>
          <p:nvPr/>
        </p:nvSpPr>
        <p:spPr>
          <a:xfrm>
            <a:off x="1681812" y="1481328"/>
            <a:ext cx="5195843" cy="844324"/>
          </a:xfrm>
          <a:prstGeom prst="rect">
            <a:avLst/>
          </a:prstGeom>
          <a:noFill/>
          <a:ln/>
        </p:spPr>
        <p:txBody>
          <a:bodyPr wrap="square" lIns="0" tIns="0" rIns="0" bIns="0" rtlCol="0" anchor="t"/>
          <a:lstStyle/>
          <a:p>
            <a:pPr indent="0" marL="0">
              <a:lnSpc>
                <a:spcPct val="118000"/>
              </a:lnSpc>
              <a:buNone/>
            </a:pPr>
            <a:r>
              <a:rPr lang="en-US" sz="2060" b="1" dirty="0">
                <a:solidFill>
                  <a:srgbClr val="FFFFFF"/>
                </a:solidFill>
                <a:latin typeface="Arial" pitchFamily="34" charset="0"/>
                <a:ea typeface="Arial" pitchFamily="34" charset="-122"/>
                <a:cs typeface="Arial" pitchFamily="34" charset="-120"/>
              </a:rPr>
              <a:t>Ba thanh trượt, ba thông số thật</a:t>
            </a:r>
            <a:endParaRPr lang="en-US" sz="2060" dirty="0"/>
          </a:p>
          <a:p>
            <a:pPr indent="0" marL="0">
              <a:lnSpc>
                <a:spcPct val="118000"/>
              </a:lnSpc>
              <a:buNone/>
            </a:pPr>
            <a:r>
              <a:rPr lang="en-US" sz="1210" dirty="0">
                <a:solidFill>
                  <a:srgbClr val="AFC3D4"/>
                </a:solidFill>
                <a:latin typeface="微軟正黑體" pitchFamily="34" charset="0"/>
                <a:ea typeface="微軟正黑體" pitchFamily="34" charset="-122"/>
                <a:cs typeface="微軟正黑體" pitchFamily="34" charset="-120"/>
              </a:rPr>
              <a:t>三個滑桿，三個真的規格</a:t>
            </a:r>
            <a:endParaRPr lang="en-US" sz="2060" dirty="0"/>
          </a:p>
        </p:txBody>
      </p:sp>
      <p:sp>
        <p:nvSpPr>
          <p:cNvPr id="7" name="Text 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3 / 18</a:t>
            </a:r>
            <a:endParaRPr lang="en-US" sz="640" dirty="0"/>
          </a:p>
        </p:txBody>
      </p:sp>
      <p:sp>
        <p:nvSpPr>
          <p:cNvPr id="8" name="Text 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681812" y="286284"/>
            <a:ext cx="5780375" cy="194844"/>
          </a:xfrm>
          <a:prstGeom prst="rect">
            <a:avLst/>
          </a:prstGeom>
          <a:noFill/>
          <a:ln/>
        </p:spPr>
        <p:txBody>
          <a:bodyPr wrap="square" lIns="0" tIns="0" rIns="0" bIns="0" rtlCol="0" anchor="ctr"/>
          <a:lstStyle/>
          <a:p>
            <a:pPr indent="0" marL="0">
              <a:buNone/>
            </a:pPr>
            <a:r>
              <a:rPr lang="en-US" sz="920" b="1" dirty="0">
                <a:solidFill>
                  <a:srgbClr val="007F72"/>
                </a:solidFill>
                <a:latin typeface="Arial" pitchFamily="34" charset="0"/>
                <a:ea typeface="Arial" pitchFamily="34" charset="-122"/>
                <a:cs typeface="Arial" pitchFamily="34" charset="-120"/>
              </a:rPr>
              <a:t>1 / 3　Số tia · 射線數</a:t>
            </a:r>
            <a:endParaRPr lang="en-US" sz="920" dirty="0"/>
          </a:p>
        </p:txBody>
      </p:sp>
      <p:sp>
        <p:nvSpPr>
          <p:cNvPr id="3" name="Shape 1"/>
          <p:cNvSpPr/>
          <p:nvPr/>
        </p:nvSpPr>
        <p:spPr>
          <a:xfrm>
            <a:off x="1681812" y="649993"/>
            <a:ext cx="1052158" cy="1363909"/>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894322" y="875283"/>
            <a:ext cx="507177" cy="456664"/>
          </a:xfrm>
          <a:prstGeom prst="line">
            <a:avLst/>
          </a:prstGeom>
          <a:noFill/>
          <a:ln w="17780">
            <a:solidFill>
              <a:srgbClr val="2E6E4E"/>
            </a:solidFill>
            <a:prstDash val="solid"/>
          </a:ln>
        </p:spPr>
      </p:sp>
      <p:sp>
        <p:nvSpPr>
          <p:cNvPr id="5" name="Shape 3"/>
          <p:cNvSpPr/>
          <p:nvPr/>
        </p:nvSpPr>
        <p:spPr>
          <a:xfrm flipV="1">
            <a:off x="1894322" y="1011545"/>
            <a:ext cx="602589" cy="320402"/>
          </a:xfrm>
          <a:prstGeom prst="line">
            <a:avLst/>
          </a:prstGeom>
          <a:noFill/>
          <a:ln w="17780">
            <a:solidFill>
              <a:srgbClr val="2E6E4E"/>
            </a:solidFill>
            <a:prstDash val="solid"/>
          </a:ln>
        </p:spPr>
      </p:sp>
      <p:sp>
        <p:nvSpPr>
          <p:cNvPr id="6" name="Shape 4"/>
          <p:cNvSpPr/>
          <p:nvPr/>
        </p:nvSpPr>
        <p:spPr>
          <a:xfrm flipV="1">
            <a:off x="1894322" y="1166842"/>
            <a:ext cx="662202" cy="165105"/>
          </a:xfrm>
          <a:prstGeom prst="line">
            <a:avLst/>
          </a:prstGeom>
          <a:noFill/>
          <a:ln w="17780">
            <a:solidFill>
              <a:srgbClr val="2E6E4E"/>
            </a:solidFill>
            <a:prstDash val="solid"/>
          </a:ln>
        </p:spPr>
      </p:sp>
      <p:sp>
        <p:nvSpPr>
          <p:cNvPr id="7" name="Shape 5"/>
          <p:cNvSpPr/>
          <p:nvPr/>
        </p:nvSpPr>
        <p:spPr>
          <a:xfrm>
            <a:off x="1894322" y="1331948"/>
            <a:ext cx="682474" cy="0"/>
          </a:xfrm>
          <a:prstGeom prst="line">
            <a:avLst/>
          </a:prstGeom>
          <a:noFill/>
          <a:ln w="17780">
            <a:solidFill>
              <a:srgbClr val="2E6E4E"/>
            </a:solidFill>
            <a:prstDash val="solid"/>
          </a:ln>
        </p:spPr>
      </p:sp>
      <p:sp>
        <p:nvSpPr>
          <p:cNvPr id="8" name="Shape 6"/>
          <p:cNvSpPr/>
          <p:nvPr/>
        </p:nvSpPr>
        <p:spPr>
          <a:xfrm>
            <a:off x="1894322" y="1331948"/>
            <a:ext cx="602589" cy="320402"/>
          </a:xfrm>
          <a:prstGeom prst="line">
            <a:avLst/>
          </a:prstGeom>
          <a:noFill/>
          <a:ln w="17780">
            <a:solidFill>
              <a:srgbClr val="2E6E4E"/>
            </a:solidFill>
            <a:prstDash val="solid"/>
          </a:ln>
        </p:spPr>
      </p:sp>
      <p:sp>
        <p:nvSpPr>
          <p:cNvPr id="9" name="Shape 7"/>
          <p:cNvSpPr/>
          <p:nvPr/>
        </p:nvSpPr>
        <p:spPr>
          <a:xfrm>
            <a:off x="1894322" y="1331948"/>
            <a:ext cx="507177" cy="456664"/>
          </a:xfrm>
          <a:prstGeom prst="line">
            <a:avLst/>
          </a:prstGeom>
          <a:noFill/>
          <a:ln w="17780">
            <a:solidFill>
              <a:srgbClr val="2E6E4E"/>
            </a:solidFill>
            <a:prstDash val="solid"/>
          </a:ln>
        </p:spPr>
      </p:sp>
      <p:sp>
        <p:nvSpPr>
          <p:cNvPr id="10" name="Shape 8"/>
          <p:cNvSpPr/>
          <p:nvPr/>
        </p:nvSpPr>
        <p:spPr>
          <a:xfrm>
            <a:off x="1862043" y="1299668"/>
            <a:ext cx="64558" cy="64558"/>
          </a:xfrm>
          <a:prstGeom prst="ellipse">
            <a:avLst/>
          </a:prstGeom>
          <a:solidFill>
            <a:srgbClr val="2E6E4E"/>
          </a:solidFill>
          <a:ln/>
        </p:spPr>
      </p:sp>
      <p:sp>
        <p:nvSpPr>
          <p:cNvPr id="11" name="Shape 9"/>
          <p:cNvSpPr/>
          <p:nvPr/>
        </p:nvSpPr>
        <p:spPr>
          <a:xfrm>
            <a:off x="2324994" y="1404710"/>
            <a:ext cx="92226" cy="92226"/>
          </a:xfrm>
          <a:prstGeom prst="roundRect">
            <a:avLst>
              <a:gd name="adj" fmla="val 20000"/>
            </a:avLst>
          </a:prstGeom>
          <a:solidFill>
            <a:srgbClr val="D9463E"/>
          </a:solidFill>
          <a:ln/>
        </p:spPr>
      </p:sp>
      <p:sp>
        <p:nvSpPr>
          <p:cNvPr id="12" name="Text 10"/>
          <p:cNvSpPr txBox="1"/>
          <p:nvPr/>
        </p:nvSpPr>
        <p:spPr>
          <a:xfrm>
            <a:off x="2954794" y="585045"/>
            <a:ext cx="4507394" cy="559328"/>
          </a:xfrm>
          <a:prstGeom prst="rect">
            <a:avLst/>
          </a:prstGeom>
          <a:noFill/>
          <a:ln/>
        </p:spPr>
        <p:txBody>
          <a:bodyPr wrap="square" lIns="0" tIns="0" rIns="0" bIns="0" rtlCol="0" anchor="t"/>
          <a:lstStyle/>
          <a:p>
            <a:pPr indent="0" marL="0">
              <a:lnSpc>
                <a:spcPct val="116000"/>
              </a:lnSpc>
              <a:buNone/>
            </a:pPr>
            <a:r>
              <a:rPr lang="en-US" sz="128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280" dirty="0"/>
          </a:p>
          <a:p>
            <a:pPr indent="0" marL="0">
              <a:lnSpc>
                <a:spcPct val="116000"/>
              </a:lnSpc>
              <a:buNone/>
            </a:pPr>
            <a:r>
              <a:rPr lang="en-US" sz="89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280" dirty="0"/>
          </a:p>
        </p:txBody>
      </p:sp>
      <p:sp>
        <p:nvSpPr>
          <p:cNvPr id="13" name="Shape 11"/>
          <p:cNvSpPr/>
          <p:nvPr/>
        </p:nvSpPr>
        <p:spPr>
          <a:xfrm>
            <a:off x="2954794" y="1209321"/>
            <a:ext cx="753397" cy="284196"/>
          </a:xfrm>
          <a:prstGeom prst="roundRect">
            <a:avLst>
              <a:gd name="adj" fmla="val 13712"/>
            </a:avLst>
          </a:prstGeom>
          <a:solidFill>
            <a:srgbClr val="0B1F3A"/>
          </a:solidFill>
          <a:ln/>
        </p:spPr>
      </p:sp>
      <p:sp>
        <p:nvSpPr>
          <p:cNvPr id="14" name="Text 12"/>
          <p:cNvSpPr txBox="1"/>
          <p:nvPr/>
        </p:nvSpPr>
        <p:spPr>
          <a:xfrm>
            <a:off x="2993763" y="1235301"/>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Tên thông số</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規格表上叫</a:t>
            </a:r>
            <a:endParaRPr lang="en-US" sz="640" dirty="0"/>
          </a:p>
        </p:txBody>
      </p:sp>
      <p:sp>
        <p:nvSpPr>
          <p:cNvPr id="15" name="Text 13"/>
          <p:cNvSpPr txBox="1"/>
          <p:nvPr/>
        </p:nvSpPr>
        <p:spPr>
          <a:xfrm>
            <a:off x="3812108" y="1209321"/>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Resolution · độ phân giải</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Resolution　解析度</a:t>
            </a:r>
            <a:endParaRPr lang="en-US" sz="780" dirty="0"/>
          </a:p>
        </p:txBody>
      </p:sp>
      <p:sp>
        <p:nvSpPr>
          <p:cNvPr id="16" name="Shape 14"/>
          <p:cNvSpPr/>
          <p:nvPr/>
        </p:nvSpPr>
        <p:spPr>
          <a:xfrm>
            <a:off x="2954794" y="1577950"/>
            <a:ext cx="753397" cy="284196"/>
          </a:xfrm>
          <a:prstGeom prst="roundRect">
            <a:avLst>
              <a:gd name="adj" fmla="val 13712"/>
            </a:avLst>
          </a:prstGeom>
          <a:solidFill>
            <a:srgbClr val="007F72"/>
          </a:solidFill>
          <a:ln/>
        </p:spPr>
      </p:sp>
      <p:sp>
        <p:nvSpPr>
          <p:cNvPr id="17" name="Text 15"/>
          <p:cNvSpPr txBox="1"/>
          <p:nvPr/>
        </p:nvSpPr>
        <p:spPr>
          <a:xfrm>
            <a:off x="2993763" y="1603929"/>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Mô phỏng của ta</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我們的模擬器</a:t>
            </a:r>
            <a:endParaRPr lang="en-US" sz="640" dirty="0"/>
          </a:p>
        </p:txBody>
      </p:sp>
      <p:sp>
        <p:nvSpPr>
          <p:cNvPr id="18" name="Text 16"/>
          <p:cNvSpPr txBox="1"/>
          <p:nvPr/>
        </p:nvSpPr>
        <p:spPr>
          <a:xfrm>
            <a:off x="3812108" y="1577950"/>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3 đến 60 tia, bạn tự kéo</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3 到 60 條，自己拉</a:t>
            </a:r>
            <a:endParaRPr lang="en-US" sz="780" dirty="0"/>
          </a:p>
        </p:txBody>
      </p:sp>
      <p:sp>
        <p:nvSpPr>
          <p:cNvPr id="19" name="Shape 17"/>
          <p:cNvSpPr/>
          <p:nvPr/>
        </p:nvSpPr>
        <p:spPr>
          <a:xfrm>
            <a:off x="2954794" y="1946578"/>
            <a:ext cx="753397" cy="284196"/>
          </a:xfrm>
          <a:prstGeom prst="roundRect">
            <a:avLst>
              <a:gd name="adj" fmla="val 13712"/>
            </a:avLst>
          </a:prstGeom>
          <a:solidFill>
            <a:srgbClr val="FFB020"/>
          </a:solidFill>
          <a:ln/>
        </p:spPr>
      </p:sp>
      <p:sp>
        <p:nvSpPr>
          <p:cNvPr id="20" name="Text 18"/>
          <p:cNvSpPr txBox="1"/>
          <p:nvPr/>
        </p:nvSpPr>
        <p:spPr>
          <a:xfrm>
            <a:off x="2993763" y="1972558"/>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3A2A00"/>
                </a:solidFill>
                <a:latin typeface="Arial" pitchFamily="34" charset="0"/>
                <a:ea typeface="Arial" pitchFamily="34" charset="-122"/>
                <a:cs typeface="Arial" pitchFamily="34" charset="-120"/>
              </a:rPr>
              <a:t>Xe thật</a:t>
            </a:r>
            <a:endParaRPr lang="en-US" sz="640" dirty="0"/>
          </a:p>
          <a:p>
            <a:pPr algn="ctr" indent="0" marL="0">
              <a:lnSpc>
                <a:spcPct val="106000"/>
              </a:lnSpc>
              <a:buNone/>
            </a:pPr>
            <a:r>
              <a:rPr lang="en-US" sz="600" dirty="0">
                <a:solidFill>
                  <a:srgbClr val="3A2A00"/>
                </a:solidFill>
                <a:latin typeface="微軟正黑體" pitchFamily="34" charset="0"/>
                <a:ea typeface="微軟正黑體" pitchFamily="34" charset="-122"/>
                <a:cs typeface="微軟正黑體" pitchFamily="34" charset="-120"/>
              </a:rPr>
              <a:t>真車</a:t>
            </a:r>
            <a:endParaRPr lang="en-US" sz="640" dirty="0"/>
          </a:p>
        </p:txBody>
      </p:sp>
      <p:sp>
        <p:nvSpPr>
          <p:cNvPr id="21" name="Text 19"/>
          <p:cNvSpPr txBox="1"/>
          <p:nvPr/>
        </p:nvSpPr>
        <p:spPr>
          <a:xfrm>
            <a:off x="3812108" y="1946578"/>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780" dirty="0"/>
          </a:p>
        </p:txBody>
      </p:sp>
      <p:sp>
        <p:nvSpPr>
          <p:cNvPr id="22" name="Shape 20"/>
          <p:cNvSpPr/>
          <p:nvPr/>
        </p:nvSpPr>
        <p:spPr>
          <a:xfrm>
            <a:off x="2954794" y="2315207"/>
            <a:ext cx="753397" cy="284196"/>
          </a:xfrm>
          <a:prstGeom prst="roundRect">
            <a:avLst>
              <a:gd name="adj" fmla="val 13712"/>
            </a:avLst>
          </a:prstGeom>
          <a:solidFill>
            <a:srgbClr val="0B1F3A"/>
          </a:solidFill>
          <a:ln/>
        </p:spPr>
      </p:sp>
      <p:sp>
        <p:nvSpPr>
          <p:cNvPr id="23" name="Text 21"/>
          <p:cNvSpPr txBox="1"/>
          <p:nvPr/>
        </p:nvSpPr>
        <p:spPr>
          <a:xfrm>
            <a:off x="2993763" y="2341186"/>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Kéo nhỏ thì sao</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調小會怎樣</a:t>
            </a:r>
            <a:endParaRPr lang="en-US" sz="640" dirty="0"/>
          </a:p>
        </p:txBody>
      </p:sp>
      <p:sp>
        <p:nvSpPr>
          <p:cNvPr id="24" name="Text 22"/>
          <p:cNvSpPr txBox="1"/>
          <p:nvPr/>
        </p:nvSpPr>
        <p:spPr>
          <a:xfrm>
            <a:off x="3812108" y="2315207"/>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780" dirty="0"/>
          </a:p>
        </p:txBody>
      </p:sp>
      <p:sp>
        <p:nvSpPr>
          <p:cNvPr id="25" name="Shape 23"/>
          <p:cNvSpPr/>
          <p:nvPr/>
        </p:nvSpPr>
        <p:spPr>
          <a:xfrm>
            <a:off x="1681812" y="2819258"/>
            <a:ext cx="5780375" cy="40267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1811708" y="2864721"/>
            <a:ext cx="5520583" cy="324740"/>
          </a:xfrm>
          <a:prstGeom prst="rect">
            <a:avLst/>
          </a:prstGeom>
          <a:noFill/>
          <a:ln/>
        </p:spPr>
        <p:txBody>
          <a:bodyPr wrap="square" lIns="0" tIns="0" rIns="0" bIns="0" rtlCol="0" anchor="t"/>
          <a:lstStyle/>
          <a:p>
            <a:pPr indent="0" marL="0">
              <a:lnSpc>
                <a:spcPct val="116000"/>
              </a:lnSpc>
              <a:buNone/>
            </a:pPr>
            <a:r>
              <a:rPr lang="en-US" sz="85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850" dirty="0"/>
          </a:p>
          <a:p>
            <a:pPr indent="0" marL="0">
              <a:lnSpc>
                <a:spcPct val="116000"/>
              </a:lnSpc>
              <a:buNone/>
            </a:pPr>
            <a:r>
              <a:rPr lang="en-US" sz="78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85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29" name="Text 2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4 / 18</a:t>
            </a:r>
            <a:endParaRPr lang="en-US" sz="640" dirty="0"/>
          </a:p>
        </p:txBody>
      </p:sp>
      <p:sp>
        <p:nvSpPr>
          <p:cNvPr id="30" name="Text 2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681812" y="286284"/>
            <a:ext cx="5780375" cy="194844"/>
          </a:xfrm>
          <a:prstGeom prst="rect">
            <a:avLst/>
          </a:prstGeom>
          <a:noFill/>
          <a:ln/>
        </p:spPr>
        <p:txBody>
          <a:bodyPr wrap="square" lIns="0" tIns="0" rIns="0" bIns="0" rtlCol="0" anchor="ctr"/>
          <a:lstStyle/>
          <a:p>
            <a:pPr indent="0" marL="0">
              <a:buNone/>
            </a:pPr>
            <a:r>
              <a:rPr lang="en-US" sz="920" b="1" dirty="0">
                <a:solidFill>
                  <a:srgbClr val="007F72"/>
                </a:solidFill>
                <a:latin typeface="Arial" pitchFamily="34" charset="0"/>
                <a:ea typeface="Arial" pitchFamily="34" charset="-122"/>
                <a:cs typeface="Arial" pitchFamily="34" charset="-120"/>
              </a:rPr>
              <a:t>2 / 3　Chiều dài tia · 射線長度</a:t>
            </a:r>
            <a:endParaRPr lang="en-US" sz="920" dirty="0"/>
          </a:p>
        </p:txBody>
      </p:sp>
      <p:sp>
        <p:nvSpPr>
          <p:cNvPr id="3" name="Shape 1"/>
          <p:cNvSpPr/>
          <p:nvPr/>
        </p:nvSpPr>
        <p:spPr>
          <a:xfrm>
            <a:off x="1681812" y="649993"/>
            <a:ext cx="1052158" cy="1363909"/>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792873" y="1353521"/>
            <a:ext cx="221343" cy="101818"/>
          </a:xfrm>
          <a:prstGeom prst="roundRect">
            <a:avLst>
              <a:gd name="adj" fmla="val 22000"/>
            </a:avLst>
          </a:prstGeom>
          <a:solidFill>
            <a:srgbClr val="8FA3B5"/>
          </a:solidFill>
          <a:ln/>
        </p:spPr>
      </p:sp>
      <p:sp>
        <p:nvSpPr>
          <p:cNvPr id="5" name="Shape 3"/>
          <p:cNvSpPr/>
          <p:nvPr/>
        </p:nvSpPr>
        <p:spPr>
          <a:xfrm>
            <a:off x="1876984" y="1373884"/>
            <a:ext cx="75257" cy="61091"/>
          </a:xfrm>
          <a:prstGeom prst="roundRect">
            <a:avLst>
              <a:gd name="adj" fmla="val 23333"/>
            </a:avLst>
          </a:prstGeom>
          <a:solidFill>
            <a:srgbClr val="FFFFFF"/>
          </a:solidFill>
          <a:ln/>
        </p:spPr>
      </p:sp>
      <p:sp>
        <p:nvSpPr>
          <p:cNvPr id="6" name="Shape 4"/>
          <p:cNvSpPr/>
          <p:nvPr/>
        </p:nvSpPr>
        <p:spPr>
          <a:xfrm>
            <a:off x="2041884" y="1404430"/>
            <a:ext cx="461131" cy="0"/>
          </a:xfrm>
          <a:prstGeom prst="line">
            <a:avLst/>
          </a:prstGeom>
          <a:noFill/>
          <a:ln w="20320">
            <a:solidFill>
              <a:srgbClr val="8A5A00"/>
            </a:solidFill>
            <a:prstDash val="solid"/>
            <a:tailEnd type="triangle"/>
          </a:ln>
        </p:spPr>
      </p:sp>
      <p:sp>
        <p:nvSpPr>
          <p:cNvPr id="7" name="Shape 5"/>
          <p:cNvSpPr/>
          <p:nvPr/>
        </p:nvSpPr>
        <p:spPr>
          <a:xfrm>
            <a:off x="2157167" y="1344028"/>
            <a:ext cx="0" cy="120803"/>
          </a:xfrm>
          <a:prstGeom prst="line">
            <a:avLst/>
          </a:prstGeom>
          <a:noFill/>
          <a:ln w="12700">
            <a:solidFill>
              <a:srgbClr val="8A5A00"/>
            </a:solidFill>
            <a:prstDash val="solid"/>
          </a:ln>
        </p:spPr>
      </p:sp>
      <p:sp>
        <p:nvSpPr>
          <p:cNvPr id="8" name="Shape 6"/>
          <p:cNvSpPr/>
          <p:nvPr/>
        </p:nvSpPr>
        <p:spPr>
          <a:xfrm>
            <a:off x="2272450" y="1344028"/>
            <a:ext cx="0" cy="120803"/>
          </a:xfrm>
          <a:prstGeom prst="line">
            <a:avLst/>
          </a:prstGeom>
          <a:noFill/>
          <a:ln w="12700">
            <a:solidFill>
              <a:srgbClr val="8A5A00"/>
            </a:solidFill>
            <a:prstDash val="solid"/>
          </a:ln>
        </p:spPr>
      </p:sp>
      <p:sp>
        <p:nvSpPr>
          <p:cNvPr id="9" name="Shape 7"/>
          <p:cNvSpPr/>
          <p:nvPr/>
        </p:nvSpPr>
        <p:spPr>
          <a:xfrm>
            <a:off x="2387733" y="1344028"/>
            <a:ext cx="0" cy="120803"/>
          </a:xfrm>
          <a:prstGeom prst="line">
            <a:avLst/>
          </a:prstGeom>
          <a:noFill/>
          <a:ln w="12700">
            <a:solidFill>
              <a:srgbClr val="8A5A00"/>
            </a:solidFill>
            <a:prstDash val="solid"/>
          </a:ln>
        </p:spPr>
      </p:sp>
      <p:sp>
        <p:nvSpPr>
          <p:cNvPr id="10" name="Shape 8"/>
          <p:cNvSpPr/>
          <p:nvPr/>
        </p:nvSpPr>
        <p:spPr>
          <a:xfrm>
            <a:off x="2493793" y="1271546"/>
            <a:ext cx="64558" cy="265767"/>
          </a:xfrm>
          <a:prstGeom prst="roundRect">
            <a:avLst>
              <a:gd name="adj" fmla="val 21429"/>
            </a:avLst>
          </a:prstGeom>
          <a:solidFill>
            <a:srgbClr val="D9463E"/>
          </a:solidFill>
          <a:ln/>
        </p:spPr>
      </p:sp>
      <p:sp>
        <p:nvSpPr>
          <p:cNvPr id="11" name="Text 9"/>
          <p:cNvSpPr txBox="1"/>
          <p:nvPr/>
        </p:nvSpPr>
        <p:spPr>
          <a:xfrm>
            <a:off x="2954794" y="585045"/>
            <a:ext cx="4507394" cy="371026"/>
          </a:xfrm>
          <a:prstGeom prst="rect">
            <a:avLst/>
          </a:prstGeom>
          <a:noFill/>
          <a:ln/>
        </p:spPr>
        <p:txBody>
          <a:bodyPr wrap="square" lIns="0" tIns="0" rIns="0" bIns="0" rtlCol="0" anchor="t"/>
          <a:lstStyle/>
          <a:p>
            <a:pPr indent="0" marL="0">
              <a:lnSpc>
                <a:spcPct val="116000"/>
              </a:lnSpc>
              <a:buNone/>
            </a:pPr>
            <a:r>
              <a:rPr lang="en-US" sz="128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280" dirty="0"/>
          </a:p>
          <a:p>
            <a:pPr indent="0" marL="0">
              <a:lnSpc>
                <a:spcPct val="116000"/>
              </a:lnSpc>
              <a:buNone/>
            </a:pPr>
            <a:r>
              <a:rPr lang="en-US" sz="89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280" dirty="0"/>
          </a:p>
        </p:txBody>
      </p:sp>
      <p:sp>
        <p:nvSpPr>
          <p:cNvPr id="12" name="Shape 10"/>
          <p:cNvSpPr/>
          <p:nvPr/>
        </p:nvSpPr>
        <p:spPr>
          <a:xfrm>
            <a:off x="2954794" y="1021019"/>
            <a:ext cx="753397" cy="284196"/>
          </a:xfrm>
          <a:prstGeom prst="roundRect">
            <a:avLst>
              <a:gd name="adj" fmla="val 13712"/>
            </a:avLst>
          </a:prstGeom>
          <a:solidFill>
            <a:srgbClr val="0B1F3A"/>
          </a:solidFill>
          <a:ln/>
        </p:spPr>
      </p:sp>
      <p:sp>
        <p:nvSpPr>
          <p:cNvPr id="13" name="Text 11"/>
          <p:cNvSpPr txBox="1"/>
          <p:nvPr/>
        </p:nvSpPr>
        <p:spPr>
          <a:xfrm>
            <a:off x="2993763" y="1046998"/>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Tên thông số</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規格表上叫</a:t>
            </a:r>
            <a:endParaRPr lang="en-US" sz="640" dirty="0"/>
          </a:p>
        </p:txBody>
      </p:sp>
      <p:sp>
        <p:nvSpPr>
          <p:cNvPr id="14" name="Text 12"/>
          <p:cNvSpPr txBox="1"/>
          <p:nvPr/>
        </p:nvSpPr>
        <p:spPr>
          <a:xfrm>
            <a:off x="3812108" y="1021019"/>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Range · tầm đo</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Range　測距範圍</a:t>
            </a:r>
            <a:endParaRPr lang="en-US" sz="780" dirty="0"/>
          </a:p>
        </p:txBody>
      </p:sp>
      <p:sp>
        <p:nvSpPr>
          <p:cNvPr id="15" name="Shape 13"/>
          <p:cNvSpPr/>
          <p:nvPr/>
        </p:nvSpPr>
        <p:spPr>
          <a:xfrm>
            <a:off x="2954794" y="1389648"/>
            <a:ext cx="753397" cy="284196"/>
          </a:xfrm>
          <a:prstGeom prst="roundRect">
            <a:avLst>
              <a:gd name="adj" fmla="val 13712"/>
            </a:avLst>
          </a:prstGeom>
          <a:solidFill>
            <a:srgbClr val="007F72"/>
          </a:solidFill>
          <a:ln/>
        </p:spPr>
      </p:sp>
      <p:sp>
        <p:nvSpPr>
          <p:cNvPr id="16" name="Text 14"/>
          <p:cNvSpPr txBox="1"/>
          <p:nvPr/>
        </p:nvSpPr>
        <p:spPr>
          <a:xfrm>
            <a:off x="2993763" y="1415627"/>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Mô phỏng của ta</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我們的模擬器</a:t>
            </a:r>
            <a:endParaRPr lang="en-US" sz="640" dirty="0"/>
          </a:p>
        </p:txBody>
      </p:sp>
      <p:sp>
        <p:nvSpPr>
          <p:cNvPr id="17" name="Text 15"/>
          <p:cNvSpPr txBox="1"/>
          <p:nvPr/>
        </p:nvSpPr>
        <p:spPr>
          <a:xfrm>
            <a:off x="3812108" y="1389648"/>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10 đến 120 m</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10 到 120 公尺</a:t>
            </a:r>
            <a:endParaRPr lang="en-US" sz="780" dirty="0"/>
          </a:p>
        </p:txBody>
      </p:sp>
      <p:sp>
        <p:nvSpPr>
          <p:cNvPr id="18" name="Shape 16"/>
          <p:cNvSpPr/>
          <p:nvPr/>
        </p:nvSpPr>
        <p:spPr>
          <a:xfrm>
            <a:off x="2954794" y="1758276"/>
            <a:ext cx="753397" cy="284196"/>
          </a:xfrm>
          <a:prstGeom prst="roundRect">
            <a:avLst>
              <a:gd name="adj" fmla="val 13712"/>
            </a:avLst>
          </a:prstGeom>
          <a:solidFill>
            <a:srgbClr val="FFB020"/>
          </a:solidFill>
          <a:ln/>
        </p:spPr>
      </p:sp>
      <p:sp>
        <p:nvSpPr>
          <p:cNvPr id="19" name="Text 17"/>
          <p:cNvSpPr txBox="1"/>
          <p:nvPr/>
        </p:nvSpPr>
        <p:spPr>
          <a:xfrm>
            <a:off x="2993763" y="1784255"/>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3A2A00"/>
                </a:solidFill>
                <a:latin typeface="Arial" pitchFamily="34" charset="0"/>
                <a:ea typeface="Arial" pitchFamily="34" charset="-122"/>
                <a:cs typeface="Arial" pitchFamily="34" charset="-120"/>
              </a:rPr>
              <a:t>LiDAR xe thật</a:t>
            </a:r>
            <a:endParaRPr lang="en-US" sz="640" dirty="0"/>
          </a:p>
          <a:p>
            <a:pPr algn="ctr" indent="0" marL="0">
              <a:lnSpc>
                <a:spcPct val="106000"/>
              </a:lnSpc>
              <a:buNone/>
            </a:pPr>
            <a:r>
              <a:rPr lang="en-US" sz="600" dirty="0">
                <a:solidFill>
                  <a:srgbClr val="3A2A00"/>
                </a:solidFill>
                <a:latin typeface="微軟正黑體" pitchFamily="34" charset="0"/>
                <a:ea typeface="微軟正黑體" pitchFamily="34" charset="-122"/>
                <a:cs typeface="微軟正黑體" pitchFamily="34" charset="-120"/>
              </a:rPr>
              <a:t>真車的光達</a:t>
            </a:r>
            <a:endParaRPr lang="en-US" sz="640" dirty="0"/>
          </a:p>
        </p:txBody>
      </p:sp>
      <p:sp>
        <p:nvSpPr>
          <p:cNvPr id="20" name="Text 18"/>
          <p:cNvSpPr txBox="1"/>
          <p:nvPr/>
        </p:nvSpPr>
        <p:spPr>
          <a:xfrm>
            <a:off x="3812108" y="1758276"/>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150 đến 300 m</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150 到 300 公尺</a:t>
            </a:r>
            <a:endParaRPr lang="en-US" sz="780" dirty="0"/>
          </a:p>
        </p:txBody>
      </p:sp>
      <p:sp>
        <p:nvSpPr>
          <p:cNvPr id="21" name="Shape 19"/>
          <p:cNvSpPr/>
          <p:nvPr/>
        </p:nvSpPr>
        <p:spPr>
          <a:xfrm>
            <a:off x="2954794" y="2126905"/>
            <a:ext cx="753397" cy="284196"/>
          </a:xfrm>
          <a:prstGeom prst="roundRect">
            <a:avLst>
              <a:gd name="adj" fmla="val 13712"/>
            </a:avLst>
          </a:prstGeom>
          <a:solidFill>
            <a:srgbClr val="0B1F3A"/>
          </a:solidFill>
          <a:ln/>
        </p:spPr>
      </p:sp>
      <p:sp>
        <p:nvSpPr>
          <p:cNvPr id="22" name="Text 20"/>
          <p:cNvSpPr txBox="1"/>
          <p:nvPr/>
        </p:nvSpPr>
        <p:spPr>
          <a:xfrm>
            <a:off x="2993763" y="2152884"/>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Ngắn quá thì sao</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太短會怎樣</a:t>
            </a:r>
            <a:endParaRPr lang="en-US" sz="640" dirty="0"/>
          </a:p>
        </p:txBody>
      </p:sp>
      <p:sp>
        <p:nvSpPr>
          <p:cNvPr id="23" name="Text 21"/>
          <p:cNvSpPr txBox="1"/>
          <p:nvPr/>
        </p:nvSpPr>
        <p:spPr>
          <a:xfrm>
            <a:off x="3812108" y="2126905"/>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Thấy rồi cũng phanh không kịp — chắc chắn đâm</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看到了也煞不住——一定撞</a:t>
            </a:r>
            <a:endParaRPr lang="en-US" sz="780" dirty="0"/>
          </a:p>
        </p:txBody>
      </p:sp>
      <p:sp>
        <p:nvSpPr>
          <p:cNvPr id="24" name="Shape 22"/>
          <p:cNvSpPr/>
          <p:nvPr/>
        </p:nvSpPr>
        <p:spPr>
          <a:xfrm>
            <a:off x="1681812" y="2819258"/>
            <a:ext cx="5780375" cy="40267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1811708" y="2864721"/>
            <a:ext cx="5520583" cy="324740"/>
          </a:xfrm>
          <a:prstGeom prst="rect">
            <a:avLst/>
          </a:prstGeom>
          <a:noFill/>
          <a:ln/>
        </p:spPr>
        <p:txBody>
          <a:bodyPr wrap="square" lIns="0" tIns="0" rIns="0" bIns="0" rtlCol="0" anchor="t"/>
          <a:lstStyle/>
          <a:p>
            <a:pPr indent="0" marL="0">
              <a:lnSpc>
                <a:spcPct val="116000"/>
              </a:lnSpc>
              <a:buNone/>
            </a:pPr>
            <a:r>
              <a:rPr lang="en-US" sz="85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850" dirty="0"/>
          </a:p>
          <a:p>
            <a:pPr indent="0" marL="0">
              <a:lnSpc>
                <a:spcPct val="116000"/>
              </a:lnSpc>
              <a:buNone/>
            </a:pPr>
            <a:r>
              <a:rPr lang="en-US" sz="78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85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28" name="Text 2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5 / 18</a:t>
            </a:r>
            <a:endParaRPr lang="en-US" sz="640" dirty="0"/>
          </a:p>
        </p:txBody>
      </p:sp>
      <p:sp>
        <p:nvSpPr>
          <p:cNvPr id="29" name="Text 2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681812" y="286284"/>
            <a:ext cx="5780375" cy="194844"/>
          </a:xfrm>
          <a:prstGeom prst="rect">
            <a:avLst/>
          </a:prstGeom>
          <a:noFill/>
          <a:ln/>
        </p:spPr>
        <p:txBody>
          <a:bodyPr wrap="square" lIns="0" tIns="0" rIns="0" bIns="0" rtlCol="0" anchor="ctr"/>
          <a:lstStyle/>
          <a:p>
            <a:pPr indent="0" marL="0">
              <a:buNone/>
            </a:pPr>
            <a:r>
              <a:rPr lang="en-US" sz="920" b="1" dirty="0">
                <a:solidFill>
                  <a:srgbClr val="007F72"/>
                </a:solidFill>
                <a:latin typeface="Arial" pitchFamily="34" charset="0"/>
                <a:ea typeface="Arial" pitchFamily="34" charset="-122"/>
                <a:cs typeface="Arial" pitchFamily="34" charset="-120"/>
              </a:rPr>
              <a:t>3 / 3　Góc quét · 張角</a:t>
            </a:r>
            <a:endParaRPr lang="en-US" sz="920" dirty="0"/>
          </a:p>
        </p:txBody>
      </p:sp>
      <p:sp>
        <p:nvSpPr>
          <p:cNvPr id="3" name="Shape 1"/>
          <p:cNvSpPr/>
          <p:nvPr/>
        </p:nvSpPr>
        <p:spPr>
          <a:xfrm>
            <a:off x="1681812" y="649993"/>
            <a:ext cx="1052158" cy="1363909"/>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1978213" y="749829"/>
            <a:ext cx="229678" cy="340512"/>
          </a:xfrm>
          <a:prstGeom prst="line">
            <a:avLst/>
          </a:prstGeom>
          <a:noFill/>
          <a:ln w="15240">
            <a:solidFill>
              <a:srgbClr val="1F4E79"/>
            </a:solidFill>
            <a:prstDash val="solid"/>
          </a:ln>
        </p:spPr>
      </p:sp>
      <p:sp>
        <p:nvSpPr>
          <p:cNvPr id="5" name="Shape 3"/>
          <p:cNvSpPr/>
          <p:nvPr/>
        </p:nvSpPr>
        <p:spPr>
          <a:xfrm flipH="1" flipV="1">
            <a:off x="2087805" y="697556"/>
            <a:ext cx="120086" cy="392784"/>
          </a:xfrm>
          <a:prstGeom prst="line">
            <a:avLst/>
          </a:prstGeom>
          <a:noFill/>
          <a:ln w="15240">
            <a:solidFill>
              <a:srgbClr val="1F4E79"/>
            </a:solidFill>
            <a:prstDash val="solid"/>
          </a:ln>
        </p:spPr>
      </p:sp>
      <p:sp>
        <p:nvSpPr>
          <p:cNvPr id="6" name="Shape 4"/>
          <p:cNvSpPr/>
          <p:nvPr/>
        </p:nvSpPr>
        <p:spPr>
          <a:xfrm flipV="1">
            <a:off x="2207891" y="679609"/>
            <a:ext cx="0" cy="410731"/>
          </a:xfrm>
          <a:prstGeom prst="line">
            <a:avLst/>
          </a:prstGeom>
          <a:noFill/>
          <a:ln w="15240">
            <a:solidFill>
              <a:srgbClr val="1F4E79"/>
            </a:solidFill>
            <a:prstDash val="solid"/>
          </a:ln>
        </p:spPr>
      </p:sp>
      <p:sp>
        <p:nvSpPr>
          <p:cNvPr id="7" name="Shape 5"/>
          <p:cNvSpPr/>
          <p:nvPr/>
        </p:nvSpPr>
        <p:spPr>
          <a:xfrm flipV="1">
            <a:off x="2207891" y="697556"/>
            <a:ext cx="120086" cy="392784"/>
          </a:xfrm>
          <a:prstGeom prst="line">
            <a:avLst/>
          </a:prstGeom>
          <a:noFill/>
          <a:ln w="15240">
            <a:solidFill>
              <a:srgbClr val="1F4E79"/>
            </a:solidFill>
            <a:prstDash val="solid"/>
          </a:ln>
        </p:spPr>
      </p:sp>
      <p:sp>
        <p:nvSpPr>
          <p:cNvPr id="8" name="Shape 6"/>
          <p:cNvSpPr/>
          <p:nvPr/>
        </p:nvSpPr>
        <p:spPr>
          <a:xfrm flipV="1">
            <a:off x="2207891" y="749829"/>
            <a:ext cx="229678" cy="340512"/>
          </a:xfrm>
          <a:prstGeom prst="line">
            <a:avLst/>
          </a:prstGeom>
          <a:noFill/>
          <a:ln w="15240">
            <a:solidFill>
              <a:srgbClr val="1F4E79"/>
            </a:solidFill>
            <a:prstDash val="solid"/>
          </a:ln>
        </p:spPr>
      </p:sp>
      <p:sp>
        <p:nvSpPr>
          <p:cNvPr id="9" name="Shape 7"/>
          <p:cNvSpPr/>
          <p:nvPr/>
        </p:nvSpPr>
        <p:spPr>
          <a:xfrm>
            <a:off x="2182068" y="1064517"/>
            <a:ext cx="51647" cy="51647"/>
          </a:xfrm>
          <a:prstGeom prst="ellipse">
            <a:avLst/>
          </a:prstGeom>
          <a:solidFill>
            <a:srgbClr val="1F4E79"/>
          </a:solidFill>
          <a:ln/>
        </p:spPr>
      </p:sp>
      <p:sp>
        <p:nvSpPr>
          <p:cNvPr id="10" name="Shape 8"/>
          <p:cNvSpPr/>
          <p:nvPr/>
        </p:nvSpPr>
        <p:spPr>
          <a:xfrm flipH="1" flipV="1">
            <a:off x="1806136" y="1584801"/>
            <a:ext cx="401756" cy="85396"/>
          </a:xfrm>
          <a:prstGeom prst="line">
            <a:avLst/>
          </a:prstGeom>
          <a:noFill/>
          <a:ln w="15240">
            <a:solidFill>
              <a:srgbClr val="1F4E79"/>
            </a:solidFill>
            <a:prstDash val="solid"/>
          </a:ln>
        </p:spPr>
      </p:sp>
      <p:sp>
        <p:nvSpPr>
          <p:cNvPr id="11" name="Shape 9"/>
          <p:cNvSpPr/>
          <p:nvPr/>
        </p:nvSpPr>
        <p:spPr>
          <a:xfrm flipH="1" flipV="1">
            <a:off x="1949410" y="1350999"/>
            <a:ext cx="258482" cy="319198"/>
          </a:xfrm>
          <a:prstGeom prst="line">
            <a:avLst/>
          </a:prstGeom>
          <a:noFill/>
          <a:ln w="15240">
            <a:solidFill>
              <a:srgbClr val="1F4E79"/>
            </a:solidFill>
            <a:prstDash val="solid"/>
          </a:ln>
        </p:spPr>
      </p:sp>
      <p:sp>
        <p:nvSpPr>
          <p:cNvPr id="12" name="Shape 10"/>
          <p:cNvSpPr/>
          <p:nvPr/>
        </p:nvSpPr>
        <p:spPr>
          <a:xfrm flipV="1">
            <a:off x="2207891" y="1259466"/>
            <a:ext cx="0" cy="410731"/>
          </a:xfrm>
          <a:prstGeom prst="line">
            <a:avLst/>
          </a:prstGeom>
          <a:noFill/>
          <a:ln w="15240">
            <a:solidFill>
              <a:srgbClr val="1F4E79"/>
            </a:solidFill>
            <a:prstDash val="solid"/>
          </a:ln>
        </p:spPr>
      </p:sp>
      <p:sp>
        <p:nvSpPr>
          <p:cNvPr id="13" name="Shape 11"/>
          <p:cNvSpPr/>
          <p:nvPr/>
        </p:nvSpPr>
        <p:spPr>
          <a:xfrm flipV="1">
            <a:off x="2207891" y="1350999"/>
            <a:ext cx="258482" cy="319198"/>
          </a:xfrm>
          <a:prstGeom prst="line">
            <a:avLst/>
          </a:prstGeom>
          <a:noFill/>
          <a:ln w="15240">
            <a:solidFill>
              <a:srgbClr val="1F4E79"/>
            </a:solidFill>
            <a:prstDash val="solid"/>
          </a:ln>
        </p:spPr>
      </p:sp>
      <p:sp>
        <p:nvSpPr>
          <p:cNvPr id="14" name="Shape 12"/>
          <p:cNvSpPr/>
          <p:nvPr/>
        </p:nvSpPr>
        <p:spPr>
          <a:xfrm flipV="1">
            <a:off x="2207891" y="1584801"/>
            <a:ext cx="401756" cy="85396"/>
          </a:xfrm>
          <a:prstGeom prst="line">
            <a:avLst/>
          </a:prstGeom>
          <a:noFill/>
          <a:ln w="15240">
            <a:solidFill>
              <a:srgbClr val="1F4E79"/>
            </a:solidFill>
            <a:prstDash val="solid"/>
          </a:ln>
        </p:spPr>
      </p:sp>
      <p:sp>
        <p:nvSpPr>
          <p:cNvPr id="15" name="Shape 13"/>
          <p:cNvSpPr/>
          <p:nvPr/>
        </p:nvSpPr>
        <p:spPr>
          <a:xfrm>
            <a:off x="2182068" y="1644374"/>
            <a:ext cx="51647" cy="51647"/>
          </a:xfrm>
          <a:prstGeom prst="ellipse">
            <a:avLst/>
          </a:prstGeom>
          <a:solidFill>
            <a:srgbClr val="1F4E79"/>
          </a:solidFill>
          <a:ln/>
        </p:spPr>
      </p:sp>
      <p:sp>
        <p:nvSpPr>
          <p:cNvPr id="16" name="Text 14"/>
          <p:cNvSpPr txBox="1"/>
          <p:nvPr/>
        </p:nvSpPr>
        <p:spPr>
          <a:xfrm>
            <a:off x="2954794" y="585045"/>
            <a:ext cx="4507394" cy="559328"/>
          </a:xfrm>
          <a:prstGeom prst="rect">
            <a:avLst/>
          </a:prstGeom>
          <a:noFill/>
          <a:ln/>
        </p:spPr>
        <p:txBody>
          <a:bodyPr wrap="square" lIns="0" tIns="0" rIns="0" bIns="0" rtlCol="0" anchor="t"/>
          <a:lstStyle/>
          <a:p>
            <a:pPr indent="0" marL="0">
              <a:lnSpc>
                <a:spcPct val="116000"/>
              </a:lnSpc>
              <a:buNone/>
            </a:pPr>
            <a:r>
              <a:rPr lang="en-US" sz="128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280" dirty="0"/>
          </a:p>
          <a:p>
            <a:pPr indent="0" marL="0">
              <a:lnSpc>
                <a:spcPct val="116000"/>
              </a:lnSpc>
              <a:buNone/>
            </a:pPr>
            <a:r>
              <a:rPr lang="en-US" sz="890" dirty="0">
                <a:solidFill>
                  <a:srgbClr val="007F72"/>
                </a:solidFill>
                <a:latin typeface="微軟正黑體" pitchFamily="34" charset="0"/>
                <a:ea typeface="微軟正黑體" pitchFamily="34" charset="-122"/>
                <a:cs typeface="微軟正黑體" pitchFamily="34" charset="-120"/>
              </a:rPr>
              <a:t>張角 ＝ 視野：左右能看多寬</a:t>
            </a:r>
            <a:endParaRPr lang="en-US" sz="1280" dirty="0"/>
          </a:p>
        </p:txBody>
      </p:sp>
      <p:sp>
        <p:nvSpPr>
          <p:cNvPr id="17" name="Shape 15"/>
          <p:cNvSpPr/>
          <p:nvPr/>
        </p:nvSpPr>
        <p:spPr>
          <a:xfrm>
            <a:off x="2954794" y="1209321"/>
            <a:ext cx="753397" cy="284196"/>
          </a:xfrm>
          <a:prstGeom prst="roundRect">
            <a:avLst>
              <a:gd name="adj" fmla="val 13712"/>
            </a:avLst>
          </a:prstGeom>
          <a:solidFill>
            <a:srgbClr val="0B1F3A"/>
          </a:solidFill>
          <a:ln/>
        </p:spPr>
      </p:sp>
      <p:sp>
        <p:nvSpPr>
          <p:cNvPr id="18" name="Text 16"/>
          <p:cNvSpPr txBox="1"/>
          <p:nvPr/>
        </p:nvSpPr>
        <p:spPr>
          <a:xfrm>
            <a:off x="2993763" y="1235301"/>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Tên thông số</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規格表上叫</a:t>
            </a:r>
            <a:endParaRPr lang="en-US" sz="640" dirty="0"/>
          </a:p>
        </p:txBody>
      </p:sp>
      <p:sp>
        <p:nvSpPr>
          <p:cNvPr id="19" name="Text 17"/>
          <p:cNvSpPr txBox="1"/>
          <p:nvPr/>
        </p:nvSpPr>
        <p:spPr>
          <a:xfrm>
            <a:off x="3812108" y="1209321"/>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Field of view (FOV) · góc nhìn</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Field of view（FOV）　視野</a:t>
            </a:r>
            <a:endParaRPr lang="en-US" sz="780" dirty="0"/>
          </a:p>
        </p:txBody>
      </p:sp>
      <p:sp>
        <p:nvSpPr>
          <p:cNvPr id="20" name="Shape 18"/>
          <p:cNvSpPr/>
          <p:nvPr/>
        </p:nvSpPr>
        <p:spPr>
          <a:xfrm>
            <a:off x="2954794" y="1577950"/>
            <a:ext cx="753397" cy="284196"/>
          </a:xfrm>
          <a:prstGeom prst="roundRect">
            <a:avLst>
              <a:gd name="adj" fmla="val 13712"/>
            </a:avLst>
          </a:prstGeom>
          <a:solidFill>
            <a:srgbClr val="007F72"/>
          </a:solidFill>
          <a:ln/>
        </p:spPr>
      </p:sp>
      <p:sp>
        <p:nvSpPr>
          <p:cNvPr id="21" name="Text 19"/>
          <p:cNvSpPr txBox="1"/>
          <p:nvPr/>
        </p:nvSpPr>
        <p:spPr>
          <a:xfrm>
            <a:off x="2993763" y="1603929"/>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Mô phỏng của ta</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我們的模擬器</a:t>
            </a:r>
            <a:endParaRPr lang="en-US" sz="640" dirty="0"/>
          </a:p>
        </p:txBody>
      </p:sp>
      <p:sp>
        <p:nvSpPr>
          <p:cNvPr id="22" name="Text 20"/>
          <p:cNvSpPr txBox="1"/>
          <p:nvPr/>
        </p:nvSpPr>
        <p:spPr>
          <a:xfrm>
            <a:off x="3812108" y="1577950"/>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20° đến 180°</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20° 到 180°</a:t>
            </a:r>
            <a:endParaRPr lang="en-US" sz="780" dirty="0"/>
          </a:p>
        </p:txBody>
      </p:sp>
      <p:sp>
        <p:nvSpPr>
          <p:cNvPr id="23" name="Shape 21"/>
          <p:cNvSpPr/>
          <p:nvPr/>
        </p:nvSpPr>
        <p:spPr>
          <a:xfrm>
            <a:off x="2954794" y="1946578"/>
            <a:ext cx="753397" cy="284196"/>
          </a:xfrm>
          <a:prstGeom prst="roundRect">
            <a:avLst>
              <a:gd name="adj" fmla="val 13712"/>
            </a:avLst>
          </a:prstGeom>
          <a:solidFill>
            <a:srgbClr val="FFB020"/>
          </a:solidFill>
          <a:ln/>
        </p:spPr>
      </p:sp>
      <p:sp>
        <p:nvSpPr>
          <p:cNvPr id="24" name="Text 22"/>
          <p:cNvSpPr txBox="1"/>
          <p:nvPr/>
        </p:nvSpPr>
        <p:spPr>
          <a:xfrm>
            <a:off x="2993763" y="1972558"/>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3A2A00"/>
                </a:solidFill>
                <a:latin typeface="Arial" pitchFamily="34" charset="0"/>
                <a:ea typeface="Arial" pitchFamily="34" charset="-122"/>
                <a:cs typeface="Arial" pitchFamily="34" charset="-120"/>
              </a:rPr>
              <a:t>Kéo hẹp thì sao</a:t>
            </a:r>
            <a:endParaRPr lang="en-US" sz="640" dirty="0"/>
          </a:p>
          <a:p>
            <a:pPr algn="ctr" indent="0" marL="0">
              <a:lnSpc>
                <a:spcPct val="106000"/>
              </a:lnSpc>
              <a:buNone/>
            </a:pPr>
            <a:r>
              <a:rPr lang="en-US" sz="600" dirty="0">
                <a:solidFill>
                  <a:srgbClr val="3A2A00"/>
                </a:solidFill>
                <a:latin typeface="微軟正黑體" pitchFamily="34" charset="0"/>
                <a:ea typeface="微軟正黑體" pitchFamily="34" charset="-122"/>
                <a:cs typeface="微軟正黑體" pitchFamily="34" charset="-120"/>
              </a:rPr>
              <a:t>調窄會怎樣</a:t>
            </a:r>
            <a:endParaRPr lang="en-US" sz="640" dirty="0"/>
          </a:p>
        </p:txBody>
      </p:sp>
      <p:sp>
        <p:nvSpPr>
          <p:cNvPr id="25" name="Text 23"/>
          <p:cNvSpPr txBox="1"/>
          <p:nvPr/>
        </p:nvSpPr>
        <p:spPr>
          <a:xfrm>
            <a:off x="3812108" y="1946578"/>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Xe máy tạt từ bên hông vào hoàn toàn không thấy</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780" dirty="0"/>
          </a:p>
        </p:txBody>
      </p:sp>
      <p:sp>
        <p:nvSpPr>
          <p:cNvPr id="26" name="Shape 24"/>
          <p:cNvSpPr/>
          <p:nvPr/>
        </p:nvSpPr>
        <p:spPr>
          <a:xfrm>
            <a:off x="2954794" y="2315207"/>
            <a:ext cx="753397" cy="284196"/>
          </a:xfrm>
          <a:prstGeom prst="roundRect">
            <a:avLst>
              <a:gd name="adj" fmla="val 13712"/>
            </a:avLst>
          </a:prstGeom>
          <a:solidFill>
            <a:srgbClr val="0B1F3A"/>
          </a:solidFill>
          <a:ln/>
        </p:spPr>
      </p:sp>
      <p:sp>
        <p:nvSpPr>
          <p:cNvPr id="27" name="Text 25"/>
          <p:cNvSpPr txBox="1"/>
          <p:nvPr/>
        </p:nvSpPr>
        <p:spPr>
          <a:xfrm>
            <a:off x="2993763" y="2341186"/>
            <a:ext cx="675460" cy="245227"/>
          </a:xfrm>
          <a:prstGeom prst="rect">
            <a:avLst/>
          </a:prstGeom>
          <a:noFill/>
          <a:ln/>
        </p:spPr>
        <p:txBody>
          <a:bodyPr wrap="square" lIns="0" tIns="0" rIns="0" bIns="0" rtlCol="0" anchor="t"/>
          <a:lstStyle/>
          <a:p>
            <a:pPr algn="ctr" indent="0" marL="0">
              <a:lnSpc>
                <a:spcPct val="106000"/>
              </a:lnSpc>
              <a:buNone/>
            </a:pPr>
            <a:r>
              <a:rPr lang="en-US" sz="640" b="1" dirty="0">
                <a:solidFill>
                  <a:srgbClr val="FFFFFF"/>
                </a:solidFill>
                <a:latin typeface="Arial" pitchFamily="34" charset="0"/>
                <a:ea typeface="Arial" pitchFamily="34" charset="-122"/>
                <a:cs typeface="Arial" pitchFamily="34" charset="-120"/>
              </a:rPr>
              <a:t>Kéo rộng thì sao</a:t>
            </a:r>
            <a:endParaRPr lang="en-US" sz="640" dirty="0"/>
          </a:p>
          <a:p>
            <a:pPr algn="ctr" indent="0" marL="0">
              <a:lnSpc>
                <a:spcPct val="106000"/>
              </a:lnSpc>
              <a:buNone/>
            </a:pPr>
            <a:r>
              <a:rPr lang="en-US" sz="600" dirty="0">
                <a:solidFill>
                  <a:srgbClr val="FFFFFF"/>
                </a:solidFill>
                <a:latin typeface="微軟正黑體" pitchFamily="34" charset="0"/>
                <a:ea typeface="微軟正黑體" pitchFamily="34" charset="-122"/>
                <a:cs typeface="微軟正黑體" pitchFamily="34" charset="-120"/>
              </a:rPr>
              <a:t>調寬會怎樣</a:t>
            </a:r>
            <a:endParaRPr lang="en-US" sz="640" dirty="0"/>
          </a:p>
        </p:txBody>
      </p:sp>
      <p:sp>
        <p:nvSpPr>
          <p:cNvPr id="28" name="Text 26"/>
          <p:cNvSpPr txBox="1"/>
          <p:nvPr/>
        </p:nvSpPr>
        <p:spPr>
          <a:xfrm>
            <a:off x="3812108" y="2315207"/>
            <a:ext cx="3650080" cy="323165"/>
          </a:xfrm>
          <a:prstGeom prst="rect">
            <a:avLst/>
          </a:prstGeom>
          <a:noFill/>
          <a:ln/>
        </p:spPr>
        <p:txBody>
          <a:bodyPr wrap="square" lIns="0" tIns="0" rIns="0" bIns="0" rtlCol="0" anchor="t"/>
          <a:lstStyle/>
          <a:p>
            <a:pPr indent="0" marL="0">
              <a:lnSpc>
                <a:spcPct val="126000"/>
              </a:lnSpc>
              <a:buNone/>
            </a:pPr>
            <a:r>
              <a:rPr lang="en-US" sz="78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780" dirty="0"/>
          </a:p>
          <a:p>
            <a:pPr indent="0" marL="0">
              <a:lnSpc>
                <a:spcPct val="126000"/>
              </a:lnSpc>
              <a:buNone/>
            </a:pPr>
            <a:r>
              <a:rPr lang="en-US" sz="71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780" dirty="0"/>
          </a:p>
        </p:txBody>
      </p:sp>
      <p:sp>
        <p:nvSpPr>
          <p:cNvPr id="29" name="Shape 27"/>
          <p:cNvSpPr/>
          <p:nvPr/>
        </p:nvSpPr>
        <p:spPr>
          <a:xfrm>
            <a:off x="1681812" y="2819258"/>
            <a:ext cx="5780375" cy="40267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1811708" y="2864721"/>
            <a:ext cx="5520583" cy="324740"/>
          </a:xfrm>
          <a:prstGeom prst="rect">
            <a:avLst/>
          </a:prstGeom>
          <a:noFill/>
          <a:ln/>
        </p:spPr>
        <p:txBody>
          <a:bodyPr wrap="square" lIns="0" tIns="0" rIns="0" bIns="0" rtlCol="0" anchor="t"/>
          <a:lstStyle/>
          <a:p>
            <a:pPr indent="0" marL="0">
              <a:lnSpc>
                <a:spcPct val="116000"/>
              </a:lnSpc>
              <a:buNone/>
            </a:pPr>
            <a:r>
              <a:rPr lang="en-US" sz="85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850" dirty="0"/>
          </a:p>
          <a:p>
            <a:pPr indent="0" marL="0">
              <a:lnSpc>
                <a:spcPct val="116000"/>
              </a:lnSpc>
              <a:buNone/>
            </a:pPr>
            <a:r>
              <a:rPr lang="en-US" sz="78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85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33" name="Text 29"/>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6 / 18</a:t>
            </a:r>
            <a:endParaRPr lang="en-US" sz="640" dirty="0"/>
          </a:p>
        </p:txBody>
      </p:sp>
      <p:sp>
        <p:nvSpPr>
          <p:cNvPr id="34" name="Text 30"/>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1560" dirty="0"/>
          </a:p>
        </p:txBody>
      </p:sp>
      <p:sp>
        <p:nvSpPr>
          <p:cNvPr id="3" name="Shape 1"/>
          <p:cNvSpPr/>
          <p:nvPr/>
        </p:nvSpPr>
        <p:spPr>
          <a:xfrm>
            <a:off x="1681812" y="831848"/>
            <a:ext cx="3572142" cy="1909472"/>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1772740" y="2533486"/>
            <a:ext cx="3390288" cy="0"/>
          </a:xfrm>
          <a:prstGeom prst="line">
            <a:avLst/>
          </a:prstGeom>
          <a:noFill/>
          <a:ln w="25400">
            <a:solidFill>
              <a:srgbClr val="1A2733"/>
            </a:solidFill>
            <a:prstDash val="solid"/>
          </a:ln>
        </p:spPr>
      </p:sp>
      <p:sp>
        <p:nvSpPr>
          <p:cNvPr id="5" name="Shape 3"/>
          <p:cNvSpPr/>
          <p:nvPr/>
        </p:nvSpPr>
        <p:spPr>
          <a:xfrm>
            <a:off x="1889646" y="2234725"/>
            <a:ext cx="233813" cy="103917"/>
          </a:xfrm>
          <a:prstGeom prst="roundRect">
            <a:avLst>
              <a:gd name="adj" fmla="val 18750"/>
            </a:avLst>
          </a:prstGeom>
          <a:solidFill>
            <a:srgbClr val="D9E2EA"/>
          </a:solidFill>
          <a:ln/>
        </p:spPr>
      </p:sp>
      <p:sp>
        <p:nvSpPr>
          <p:cNvPr id="6" name="Shape 4"/>
          <p:cNvSpPr/>
          <p:nvPr/>
        </p:nvSpPr>
        <p:spPr>
          <a:xfrm>
            <a:off x="1837688" y="2338642"/>
            <a:ext cx="337730" cy="194844"/>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1876656" y="2488023"/>
            <a:ext cx="90927" cy="90927"/>
          </a:xfrm>
          <a:prstGeom prst="ellipse">
            <a:avLst/>
          </a:prstGeom>
          <a:solidFill>
            <a:srgbClr val="5F7183"/>
          </a:solidFill>
          <a:ln/>
        </p:spPr>
      </p:sp>
      <p:sp>
        <p:nvSpPr>
          <p:cNvPr id="8" name="Shape 6"/>
          <p:cNvSpPr/>
          <p:nvPr/>
        </p:nvSpPr>
        <p:spPr>
          <a:xfrm>
            <a:off x="2045521" y="2488023"/>
            <a:ext cx="90927" cy="90927"/>
          </a:xfrm>
          <a:prstGeom prst="ellipse">
            <a:avLst/>
          </a:prstGeom>
          <a:solidFill>
            <a:srgbClr val="5F7183"/>
          </a:solidFill>
          <a:ln/>
        </p:spPr>
      </p:sp>
      <p:sp>
        <p:nvSpPr>
          <p:cNvPr id="9" name="Shape 7"/>
          <p:cNvSpPr/>
          <p:nvPr/>
        </p:nvSpPr>
        <p:spPr>
          <a:xfrm>
            <a:off x="5007152" y="2151592"/>
            <a:ext cx="77938" cy="77938"/>
          </a:xfrm>
          <a:prstGeom prst="ellipse">
            <a:avLst/>
          </a:prstGeom>
          <a:solidFill>
            <a:srgbClr val="007F72"/>
          </a:solidFill>
          <a:ln/>
        </p:spPr>
      </p:sp>
      <p:sp>
        <p:nvSpPr>
          <p:cNvPr id="10" name="Shape 8"/>
          <p:cNvSpPr/>
          <p:nvPr/>
        </p:nvSpPr>
        <p:spPr>
          <a:xfrm>
            <a:off x="4983771" y="2237323"/>
            <a:ext cx="124700" cy="140288"/>
          </a:xfrm>
          <a:prstGeom prst="roundRect">
            <a:avLst>
              <a:gd name="adj" fmla="val 145834"/>
            </a:avLst>
          </a:prstGeom>
          <a:solidFill>
            <a:srgbClr val="007F72"/>
          </a:solidFill>
          <a:ln/>
        </p:spPr>
      </p:sp>
      <p:sp>
        <p:nvSpPr>
          <p:cNvPr id="11" name="Shape 9"/>
          <p:cNvSpPr/>
          <p:nvPr/>
        </p:nvSpPr>
        <p:spPr>
          <a:xfrm rot="960000">
            <a:off x="4962338" y="2249014"/>
            <a:ext cx="31175" cy="101319"/>
          </a:xfrm>
          <a:prstGeom prst="rect">
            <a:avLst/>
          </a:prstGeom>
          <a:solidFill>
            <a:srgbClr val="007F72"/>
          </a:solidFill>
          <a:ln/>
        </p:spPr>
      </p:sp>
      <p:sp>
        <p:nvSpPr>
          <p:cNvPr id="12" name="Shape 10"/>
          <p:cNvSpPr/>
          <p:nvPr/>
        </p:nvSpPr>
        <p:spPr>
          <a:xfrm rot="-960000">
            <a:off x="5098729" y="2249014"/>
            <a:ext cx="31175" cy="101319"/>
          </a:xfrm>
          <a:prstGeom prst="rect">
            <a:avLst/>
          </a:prstGeom>
          <a:solidFill>
            <a:srgbClr val="007F72"/>
          </a:solidFill>
          <a:ln/>
        </p:spPr>
      </p:sp>
      <p:sp>
        <p:nvSpPr>
          <p:cNvPr id="13" name="Shape 11"/>
          <p:cNvSpPr/>
          <p:nvPr/>
        </p:nvSpPr>
        <p:spPr>
          <a:xfrm rot="300000">
            <a:off x="5005203" y="2358127"/>
            <a:ext cx="35072" cy="140288"/>
          </a:xfrm>
          <a:prstGeom prst="rect">
            <a:avLst/>
          </a:prstGeom>
          <a:solidFill>
            <a:srgbClr val="007F72"/>
          </a:solidFill>
          <a:ln/>
        </p:spPr>
      </p:sp>
      <p:sp>
        <p:nvSpPr>
          <p:cNvPr id="14" name="Shape 12"/>
          <p:cNvSpPr/>
          <p:nvPr/>
        </p:nvSpPr>
        <p:spPr>
          <a:xfrm rot="-300000">
            <a:off x="5051966" y="2358127"/>
            <a:ext cx="35072" cy="140288"/>
          </a:xfrm>
          <a:prstGeom prst="rect">
            <a:avLst/>
          </a:prstGeom>
          <a:solidFill>
            <a:srgbClr val="007F72"/>
          </a:solidFill>
          <a:ln/>
        </p:spPr>
      </p:sp>
      <p:sp>
        <p:nvSpPr>
          <p:cNvPr id="15" name="Shape 13"/>
          <p:cNvSpPr/>
          <p:nvPr/>
        </p:nvSpPr>
        <p:spPr>
          <a:xfrm>
            <a:off x="2227376" y="1208546"/>
            <a:ext cx="529438" cy="194844"/>
          </a:xfrm>
          <a:prstGeom prst="rect">
            <a:avLst/>
          </a:prstGeom>
          <a:solidFill>
            <a:srgbClr val="E8A317"/>
          </a:solidFill>
          <a:ln/>
        </p:spPr>
      </p:sp>
      <p:sp>
        <p:nvSpPr>
          <p:cNvPr id="16" name="Text 14"/>
          <p:cNvSpPr txBox="1"/>
          <p:nvPr/>
        </p:nvSpPr>
        <p:spPr>
          <a:xfrm>
            <a:off x="2227376" y="1228031"/>
            <a:ext cx="529438" cy="155875"/>
          </a:xfrm>
          <a:prstGeom prst="rect">
            <a:avLst/>
          </a:prstGeom>
          <a:noFill/>
          <a:ln/>
        </p:spPr>
        <p:txBody>
          <a:bodyPr wrap="square" lIns="0" tIns="0" rIns="0" bIns="0" rtlCol="0" anchor="ctr"/>
          <a:lstStyle/>
          <a:p>
            <a:pPr algn="ctr" indent="0" marL="0">
              <a:buNone/>
            </a:pPr>
            <a:r>
              <a:rPr lang="en-US" sz="820" b="1" dirty="0">
                <a:solidFill>
                  <a:srgbClr val="FFFFFF"/>
                </a:solidFill>
                <a:latin typeface="Arial" pitchFamily="34" charset="0"/>
                <a:ea typeface="Arial" pitchFamily="34" charset="-122"/>
                <a:cs typeface="Arial" pitchFamily="34" charset="-120"/>
              </a:rPr>
              <a:t>4.2 m</a:t>
            </a:r>
            <a:endParaRPr lang="en-US" sz="820" dirty="0"/>
          </a:p>
        </p:txBody>
      </p:sp>
      <p:sp>
        <p:nvSpPr>
          <p:cNvPr id="17" name="Text 15"/>
          <p:cNvSpPr txBox="1"/>
          <p:nvPr/>
        </p:nvSpPr>
        <p:spPr>
          <a:xfrm>
            <a:off x="2097480" y="896796"/>
            <a:ext cx="789231" cy="285771"/>
          </a:xfrm>
          <a:prstGeom prst="rect">
            <a:avLst/>
          </a:prstGeom>
          <a:noFill/>
          <a:ln/>
        </p:spPr>
        <p:txBody>
          <a:bodyPr wrap="square" lIns="0" tIns="0" rIns="0" bIns="0" rtlCol="0" anchor="t"/>
          <a:lstStyle/>
          <a:p>
            <a:pPr algn="ctr" indent="0" marL="0">
              <a:lnSpc>
                <a:spcPct val="105000"/>
              </a:lnSpc>
              <a:buNone/>
            </a:pPr>
            <a:r>
              <a:rPr lang="en-US" sz="750" b="1" dirty="0">
                <a:solidFill>
                  <a:srgbClr val="E8A317"/>
                </a:solidFill>
                <a:latin typeface="Arial" pitchFamily="34" charset="0"/>
                <a:ea typeface="Arial" pitchFamily="34" charset="-122"/>
                <a:cs typeface="Arial" pitchFamily="34" charset="-120"/>
              </a:rPr>
              <a:t>Phản ứng</a:t>
            </a:r>
            <a:endParaRPr lang="en-US" sz="750" dirty="0"/>
          </a:p>
          <a:p>
            <a:pPr algn="ctr" indent="0" marL="0">
              <a:lnSpc>
                <a:spcPct val="105000"/>
              </a:lnSpc>
              <a:buNone/>
            </a:pPr>
            <a:r>
              <a:rPr lang="en-US" sz="670" dirty="0">
                <a:solidFill>
                  <a:srgbClr val="E8A317"/>
                </a:solidFill>
                <a:latin typeface="微軟正黑體" pitchFamily="34" charset="0"/>
                <a:ea typeface="微軟正黑體" pitchFamily="34" charset="-122"/>
                <a:cs typeface="微軟正黑體" pitchFamily="34" charset="-120"/>
              </a:rPr>
              <a:t>反應距離</a:t>
            </a:r>
            <a:endParaRPr lang="en-US" sz="750" dirty="0"/>
          </a:p>
        </p:txBody>
      </p:sp>
      <p:sp>
        <p:nvSpPr>
          <p:cNvPr id="18" name="Text 16"/>
          <p:cNvSpPr txBox="1"/>
          <p:nvPr/>
        </p:nvSpPr>
        <p:spPr>
          <a:xfrm>
            <a:off x="2058511" y="1455349"/>
            <a:ext cx="867168" cy="324740"/>
          </a:xfrm>
          <a:prstGeom prst="rect">
            <a:avLst/>
          </a:prstGeom>
          <a:noFill/>
          <a:ln/>
        </p:spPr>
        <p:txBody>
          <a:bodyPr wrap="square" lIns="0" tIns="0" rIns="0" bIns="0" rtlCol="0" anchor="t"/>
          <a:lstStyle/>
          <a:p>
            <a:pPr algn="ctr" indent="0" marL="0">
              <a:lnSpc>
                <a:spcPct val="104000"/>
              </a:lnSpc>
              <a:buNone/>
            </a:pPr>
            <a:r>
              <a:rPr lang="en-US" sz="670" b="1" dirty="0">
                <a:solidFill>
                  <a:srgbClr val="5F7183"/>
                </a:solidFill>
                <a:latin typeface="Arial" pitchFamily="34" charset="0"/>
                <a:ea typeface="Arial" pitchFamily="34" charset="-122"/>
                <a:cs typeface="Arial" pitchFamily="34" charset="-120"/>
              </a:rPr>
              <a:t>0,3 s — chân chưa chạm phanh</a:t>
            </a:r>
            <a:endParaRPr lang="en-US" sz="670" dirty="0"/>
          </a:p>
          <a:p>
            <a:pPr algn="ctr" indent="0" marL="0">
              <a:lnSpc>
                <a:spcPct val="104000"/>
              </a:lnSpc>
              <a:buNone/>
            </a:pPr>
            <a:r>
              <a:rPr lang="en-US" sz="630" dirty="0">
                <a:solidFill>
                  <a:srgbClr val="5F7183"/>
                </a:solidFill>
                <a:latin typeface="微軟正黑體" pitchFamily="34" charset="0"/>
                <a:ea typeface="微軟正黑體" pitchFamily="34" charset="-122"/>
                <a:cs typeface="微軟正黑體" pitchFamily="34" charset="-120"/>
              </a:rPr>
              <a:t>0.3 秒，腳還沒踩到</a:t>
            </a:r>
            <a:endParaRPr lang="en-US" sz="670" dirty="0"/>
          </a:p>
        </p:txBody>
      </p:sp>
      <p:sp>
        <p:nvSpPr>
          <p:cNvPr id="19" name="Shape 17"/>
          <p:cNvSpPr/>
          <p:nvPr/>
        </p:nvSpPr>
        <p:spPr>
          <a:xfrm>
            <a:off x="2756814" y="1208546"/>
            <a:ext cx="2029514" cy="194844"/>
          </a:xfrm>
          <a:prstGeom prst="rect">
            <a:avLst/>
          </a:prstGeom>
          <a:solidFill>
            <a:srgbClr val="D9463E"/>
          </a:solidFill>
          <a:ln/>
        </p:spPr>
      </p:sp>
      <p:sp>
        <p:nvSpPr>
          <p:cNvPr id="20" name="Text 18"/>
          <p:cNvSpPr txBox="1"/>
          <p:nvPr/>
        </p:nvSpPr>
        <p:spPr>
          <a:xfrm>
            <a:off x="2756814" y="1228031"/>
            <a:ext cx="2029514" cy="155875"/>
          </a:xfrm>
          <a:prstGeom prst="rect">
            <a:avLst/>
          </a:prstGeom>
          <a:noFill/>
          <a:ln/>
        </p:spPr>
        <p:txBody>
          <a:bodyPr wrap="square" lIns="0" tIns="0" rIns="0" bIns="0" rtlCol="0" anchor="ctr"/>
          <a:lstStyle/>
          <a:p>
            <a:pPr algn="ctr" indent="0" marL="0">
              <a:buNone/>
            </a:pPr>
            <a:r>
              <a:rPr lang="en-US" sz="820" b="1" dirty="0">
                <a:solidFill>
                  <a:srgbClr val="FFFFFF"/>
                </a:solidFill>
                <a:latin typeface="Arial" pitchFamily="34" charset="0"/>
                <a:ea typeface="Arial" pitchFamily="34" charset="-122"/>
                <a:cs typeface="Arial" pitchFamily="34" charset="-120"/>
              </a:rPr>
              <a:t>16.1 m</a:t>
            </a:r>
            <a:endParaRPr lang="en-US" sz="820" dirty="0"/>
          </a:p>
        </p:txBody>
      </p:sp>
      <p:sp>
        <p:nvSpPr>
          <p:cNvPr id="21" name="Text 19"/>
          <p:cNvSpPr txBox="1"/>
          <p:nvPr/>
        </p:nvSpPr>
        <p:spPr>
          <a:xfrm>
            <a:off x="2626918" y="896796"/>
            <a:ext cx="2289306" cy="285771"/>
          </a:xfrm>
          <a:prstGeom prst="rect">
            <a:avLst/>
          </a:prstGeom>
          <a:noFill/>
          <a:ln/>
        </p:spPr>
        <p:txBody>
          <a:bodyPr wrap="square" lIns="0" tIns="0" rIns="0" bIns="0" rtlCol="0" anchor="t"/>
          <a:lstStyle/>
          <a:p>
            <a:pPr algn="ctr" indent="0" marL="0">
              <a:lnSpc>
                <a:spcPct val="105000"/>
              </a:lnSpc>
              <a:buNone/>
            </a:pPr>
            <a:r>
              <a:rPr lang="en-US" sz="750" b="1" dirty="0">
                <a:solidFill>
                  <a:srgbClr val="D9463E"/>
                </a:solidFill>
                <a:latin typeface="Arial" pitchFamily="34" charset="0"/>
                <a:ea typeface="Arial" pitchFamily="34" charset="-122"/>
                <a:cs typeface="Arial" pitchFamily="34" charset="-120"/>
              </a:rPr>
              <a:t>Phanh</a:t>
            </a:r>
            <a:endParaRPr lang="en-US" sz="750" dirty="0"/>
          </a:p>
          <a:p>
            <a:pPr algn="ctr" indent="0" marL="0">
              <a:lnSpc>
                <a:spcPct val="105000"/>
              </a:lnSpc>
              <a:buNone/>
            </a:pPr>
            <a:r>
              <a:rPr lang="en-US" sz="670" dirty="0">
                <a:solidFill>
                  <a:srgbClr val="D9463E"/>
                </a:solidFill>
                <a:latin typeface="微軟正黑體" pitchFamily="34" charset="0"/>
                <a:ea typeface="微軟正黑體" pitchFamily="34" charset="-122"/>
                <a:cs typeface="微軟正黑體" pitchFamily="34" charset="-120"/>
              </a:rPr>
              <a:t>煞車距離</a:t>
            </a:r>
            <a:endParaRPr lang="en-US" sz="750" dirty="0"/>
          </a:p>
        </p:txBody>
      </p:sp>
      <p:sp>
        <p:nvSpPr>
          <p:cNvPr id="22" name="Text 20"/>
          <p:cNvSpPr txBox="1"/>
          <p:nvPr/>
        </p:nvSpPr>
        <p:spPr>
          <a:xfrm>
            <a:off x="2587949" y="1455349"/>
            <a:ext cx="2367244" cy="324740"/>
          </a:xfrm>
          <a:prstGeom prst="rect">
            <a:avLst/>
          </a:prstGeom>
          <a:noFill/>
          <a:ln/>
        </p:spPr>
        <p:txBody>
          <a:bodyPr wrap="square" lIns="0" tIns="0" rIns="0" bIns="0" rtlCol="0" anchor="t"/>
          <a:lstStyle/>
          <a:p>
            <a:pPr algn="ctr" indent="0" marL="0">
              <a:lnSpc>
                <a:spcPct val="104000"/>
              </a:lnSpc>
              <a:buNone/>
            </a:pPr>
            <a:r>
              <a:rPr lang="en-US" sz="670" b="1" dirty="0">
                <a:solidFill>
                  <a:srgbClr val="5F7183"/>
                </a:solidFill>
                <a:latin typeface="Arial" pitchFamily="34" charset="0"/>
                <a:ea typeface="Arial" pitchFamily="34" charset="-122"/>
                <a:cs typeface="Arial" pitchFamily="34" charset="-120"/>
              </a:rPr>
              <a:t>Tỉ lệ với BÌNH PHƯƠNG tốc độ</a:t>
            </a:r>
            <a:endParaRPr lang="en-US" sz="670" dirty="0"/>
          </a:p>
          <a:p>
            <a:pPr algn="ctr" indent="0" marL="0">
              <a:lnSpc>
                <a:spcPct val="104000"/>
              </a:lnSpc>
              <a:buNone/>
            </a:pPr>
            <a:r>
              <a:rPr lang="en-US" sz="630" dirty="0">
                <a:solidFill>
                  <a:srgbClr val="5F7183"/>
                </a:solidFill>
                <a:latin typeface="微軟正黑體" pitchFamily="34" charset="0"/>
                <a:ea typeface="微軟正黑體" pitchFamily="34" charset="-122"/>
                <a:cs typeface="微軟正黑體" pitchFamily="34" charset="-120"/>
              </a:rPr>
              <a:t>跟速度的平方成正比</a:t>
            </a:r>
            <a:endParaRPr lang="en-US" sz="670" dirty="0"/>
          </a:p>
        </p:txBody>
      </p:sp>
      <p:sp>
        <p:nvSpPr>
          <p:cNvPr id="23" name="Shape 21"/>
          <p:cNvSpPr/>
          <p:nvPr/>
        </p:nvSpPr>
        <p:spPr>
          <a:xfrm>
            <a:off x="2756814" y="1169577"/>
            <a:ext cx="0" cy="272782"/>
          </a:xfrm>
          <a:prstGeom prst="line">
            <a:avLst/>
          </a:prstGeom>
          <a:noFill/>
          <a:ln w="19050">
            <a:solidFill>
              <a:srgbClr val="FFFFFF"/>
            </a:solidFill>
            <a:prstDash val="solid"/>
          </a:ln>
        </p:spPr>
      </p:sp>
      <p:sp>
        <p:nvSpPr>
          <p:cNvPr id="24" name="Shape 22"/>
          <p:cNvSpPr/>
          <p:nvPr/>
        </p:nvSpPr>
        <p:spPr>
          <a:xfrm>
            <a:off x="2227376" y="1858027"/>
            <a:ext cx="2558953" cy="0"/>
          </a:xfrm>
          <a:prstGeom prst="line">
            <a:avLst/>
          </a:prstGeom>
          <a:noFill/>
          <a:ln w="12700">
            <a:solidFill>
              <a:srgbClr val="0B1F3A"/>
            </a:solidFill>
            <a:prstDash val="dash"/>
          </a:ln>
        </p:spPr>
      </p:sp>
      <p:sp>
        <p:nvSpPr>
          <p:cNvPr id="25" name="Text 23"/>
          <p:cNvSpPr txBox="1"/>
          <p:nvPr/>
        </p:nvSpPr>
        <p:spPr>
          <a:xfrm>
            <a:off x="2032532" y="1884006"/>
            <a:ext cx="2948641" cy="233813"/>
          </a:xfrm>
          <a:prstGeom prst="rect">
            <a:avLst/>
          </a:prstGeom>
          <a:noFill/>
          <a:ln/>
        </p:spPr>
        <p:txBody>
          <a:bodyPr wrap="square" lIns="0" tIns="0" rIns="0" bIns="0" rtlCol="0" anchor="t"/>
          <a:lstStyle/>
          <a:p>
            <a:pPr algn="ctr" indent="0" marL="0">
              <a:lnSpc>
                <a:spcPct val="106000"/>
              </a:lnSpc>
              <a:buNone/>
            </a:pPr>
            <a:r>
              <a:rPr lang="en-US" sz="820" b="1" dirty="0">
                <a:solidFill>
                  <a:srgbClr val="0B1F3A"/>
                </a:solidFill>
                <a:latin typeface="Arial" pitchFamily="34" charset="0"/>
                <a:ea typeface="Arial" pitchFamily="34" charset="-122"/>
                <a:cs typeface="Arial" pitchFamily="34" charset="-120"/>
              </a:rPr>
              <a:t>Tổng 20 m　→　tia phải ≥ 25 m</a:t>
            </a:r>
            <a:endParaRPr lang="en-US" sz="820" dirty="0"/>
          </a:p>
          <a:p>
            <a:pPr algn="ctr" indent="0" marL="0">
              <a:lnSpc>
                <a:spcPct val="106000"/>
              </a:lnSpc>
              <a:buNone/>
            </a:pPr>
            <a:r>
              <a:rPr lang="en-US" sz="7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820" dirty="0"/>
          </a:p>
        </p:txBody>
      </p:sp>
      <p:sp>
        <p:nvSpPr>
          <p:cNvPr id="26" name="Shape 24"/>
          <p:cNvSpPr/>
          <p:nvPr/>
        </p:nvSpPr>
        <p:spPr>
          <a:xfrm>
            <a:off x="5435809" y="831848"/>
            <a:ext cx="2026379" cy="441647"/>
          </a:xfrm>
          <a:prstGeom prst="roundRect">
            <a:avLst>
              <a:gd name="adj" fmla="val 11765"/>
            </a:avLst>
          </a:prstGeom>
          <a:solidFill>
            <a:srgbClr val="0B1F3A"/>
          </a:solidFill>
          <a:ln/>
        </p:spPr>
      </p:sp>
      <p:sp>
        <p:nvSpPr>
          <p:cNvPr id="27" name="Text 25"/>
          <p:cNvSpPr txBox="1"/>
          <p:nvPr/>
        </p:nvSpPr>
        <p:spPr>
          <a:xfrm>
            <a:off x="5526736" y="883806"/>
            <a:ext cx="1844524" cy="363709"/>
          </a:xfrm>
          <a:prstGeom prst="rect">
            <a:avLst/>
          </a:prstGeom>
          <a:noFill/>
          <a:ln/>
        </p:spPr>
        <p:txBody>
          <a:bodyPr wrap="square" lIns="0" tIns="0" rIns="0" bIns="0" rtlCol="0" anchor="t"/>
          <a:lstStyle/>
          <a:p>
            <a:pPr indent="0" marL="0">
              <a:lnSpc>
                <a:spcPct val="108000"/>
              </a:lnSpc>
              <a:buNone/>
            </a:pPr>
            <a:r>
              <a:rPr lang="en-US" sz="850" b="1" dirty="0">
                <a:solidFill>
                  <a:srgbClr val="FFFFFF"/>
                </a:solidFill>
                <a:latin typeface="Arial" pitchFamily="34" charset="0"/>
                <a:ea typeface="Arial" pitchFamily="34" charset="-122"/>
                <a:cs typeface="Arial" pitchFamily="34" charset="-120"/>
              </a:rPr>
              <a:t>Phanh = v × 0,3 + v² ÷ 12</a:t>
            </a:r>
            <a:endParaRPr lang="en-US" sz="850" dirty="0"/>
          </a:p>
          <a:p>
            <a:pPr indent="0" marL="0">
              <a:lnSpc>
                <a:spcPct val="108000"/>
              </a:lnSpc>
              <a:buNone/>
            </a:pPr>
            <a:r>
              <a:rPr lang="en-US" sz="710" dirty="0">
                <a:solidFill>
                  <a:srgbClr val="AFC3D4"/>
                </a:solidFill>
                <a:latin typeface="微軟正黑體" pitchFamily="34" charset="0"/>
                <a:ea typeface="微軟正黑體" pitchFamily="34" charset="-122"/>
                <a:cs typeface="微軟正黑體" pitchFamily="34" charset="-120"/>
              </a:rPr>
              <a:t>煞停距離 ＝ v × 0.3 ＋ v² ÷ 12</a:t>
            </a:r>
            <a:endParaRPr lang="en-US" sz="850" dirty="0"/>
          </a:p>
        </p:txBody>
      </p:sp>
      <p:sp>
        <p:nvSpPr>
          <p:cNvPr id="28" name="Shape 26"/>
          <p:cNvSpPr/>
          <p:nvPr/>
        </p:nvSpPr>
        <p:spPr>
          <a:xfrm>
            <a:off x="5435809" y="1338442"/>
            <a:ext cx="2026379" cy="441647"/>
          </a:xfrm>
          <a:prstGeom prst="roundRect">
            <a:avLst>
              <a:gd name="adj" fmla="val 11765"/>
            </a:avLst>
          </a:prstGeom>
          <a:solidFill>
            <a:srgbClr val="EAF6F4"/>
          </a:solidFill>
          <a:ln/>
        </p:spPr>
      </p:sp>
      <p:sp>
        <p:nvSpPr>
          <p:cNvPr id="29" name="Text 27"/>
          <p:cNvSpPr txBox="1"/>
          <p:nvPr/>
        </p:nvSpPr>
        <p:spPr>
          <a:xfrm>
            <a:off x="5526736" y="1390401"/>
            <a:ext cx="1844524" cy="363709"/>
          </a:xfrm>
          <a:prstGeom prst="rect">
            <a:avLst/>
          </a:prstGeom>
          <a:noFill/>
          <a:ln/>
        </p:spPr>
        <p:txBody>
          <a:bodyPr wrap="square" lIns="0" tIns="0" rIns="0" bIns="0" rtlCol="0" anchor="t"/>
          <a:lstStyle/>
          <a:p>
            <a:pPr indent="0" marL="0">
              <a:lnSpc>
                <a:spcPct val="108000"/>
              </a:lnSpc>
              <a:buNone/>
            </a:pPr>
            <a:r>
              <a:rPr lang="en-US" sz="850" b="1" dirty="0">
                <a:solidFill>
                  <a:srgbClr val="007F72"/>
                </a:solidFill>
                <a:latin typeface="Arial" pitchFamily="34" charset="0"/>
                <a:ea typeface="Arial" pitchFamily="34" charset="-122"/>
                <a:cs typeface="Arial" pitchFamily="34" charset="-120"/>
              </a:rPr>
              <a:t>Chia 12 vì giảm tốc lấy 6 m/s²</a:t>
            </a:r>
            <a:endParaRPr lang="en-US" sz="850" dirty="0"/>
          </a:p>
          <a:p>
            <a:pPr indent="0" marL="0">
              <a:lnSpc>
                <a:spcPct val="108000"/>
              </a:lnSpc>
              <a:buNone/>
            </a:pPr>
            <a:r>
              <a:rPr lang="en-US" sz="710" dirty="0">
                <a:solidFill>
                  <a:srgbClr val="007F72"/>
                </a:solidFill>
                <a:latin typeface="微軟正黑體" pitchFamily="34" charset="0"/>
                <a:ea typeface="微軟正黑體" pitchFamily="34" charset="-122"/>
                <a:cs typeface="微軟正黑體" pitchFamily="34" charset="-120"/>
              </a:rPr>
              <a:t>除以 12：減速度取 6</a:t>
            </a:r>
            <a:endParaRPr lang="en-US" sz="850" dirty="0"/>
          </a:p>
        </p:txBody>
      </p:sp>
      <p:sp>
        <p:nvSpPr>
          <p:cNvPr id="30" name="Text 28"/>
          <p:cNvSpPr txBox="1"/>
          <p:nvPr/>
        </p:nvSpPr>
        <p:spPr>
          <a:xfrm>
            <a:off x="5435809" y="1871016"/>
            <a:ext cx="2026379" cy="259792"/>
          </a:xfrm>
          <a:prstGeom prst="rect">
            <a:avLst/>
          </a:prstGeom>
          <a:noFill/>
          <a:ln/>
        </p:spPr>
        <p:txBody>
          <a:bodyPr wrap="square" lIns="0" tIns="0" rIns="0" bIns="0" rtlCol="0" anchor="t"/>
          <a:lstStyle/>
          <a:p>
            <a:pPr indent="0" marL="0">
              <a:lnSpc>
                <a:spcPct val="105000"/>
              </a:lnSpc>
              <a:buNone/>
            </a:pPr>
            <a:r>
              <a:rPr lang="en-US" sz="750" b="1" dirty="0">
                <a:solidFill>
                  <a:srgbClr val="0B1F3A"/>
                </a:solidFill>
                <a:latin typeface="Arial" pitchFamily="34" charset="0"/>
                <a:ea typeface="Arial" pitchFamily="34" charset="-122"/>
                <a:cs typeface="Arial" pitchFamily="34" charset="-120"/>
              </a:rPr>
              <a:t>Ví dụ 50 km/h = 13,9 m/s</a:t>
            </a:r>
            <a:endParaRPr lang="en-US" sz="750" dirty="0"/>
          </a:p>
          <a:p>
            <a:pPr indent="0" marL="0">
              <a:lnSpc>
                <a:spcPct val="105000"/>
              </a:lnSpc>
              <a:buNone/>
            </a:pPr>
            <a:r>
              <a:rPr lang="en-US" sz="71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750" dirty="0"/>
          </a:p>
        </p:txBody>
      </p:sp>
      <p:sp>
        <p:nvSpPr>
          <p:cNvPr id="31" name="Text 29"/>
          <p:cNvSpPr txBox="1"/>
          <p:nvPr/>
        </p:nvSpPr>
        <p:spPr>
          <a:xfrm>
            <a:off x="5435809" y="2143798"/>
            <a:ext cx="2026379" cy="175360"/>
          </a:xfrm>
          <a:prstGeom prst="rect">
            <a:avLst/>
          </a:prstGeom>
          <a:noFill/>
          <a:ln/>
        </p:spPr>
        <p:txBody>
          <a:bodyPr wrap="square" lIns="0" tIns="0" rIns="0" bIns="0" rtlCol="0" anchor="ctr"/>
          <a:lstStyle/>
          <a:p>
            <a:pPr indent="0" marL="0">
              <a:buNone/>
            </a:pPr>
            <a:r>
              <a:rPr lang="en-US" sz="780" dirty="0">
                <a:solidFill>
                  <a:srgbClr val="1A2733"/>
                </a:solidFill>
                <a:latin typeface="Arial" pitchFamily="34" charset="0"/>
                <a:ea typeface="Arial" pitchFamily="34" charset="-122"/>
                <a:cs typeface="Arial" pitchFamily="34" charset="-120"/>
              </a:rPr>
              <a:t>13,9 × 0,3 = 4,2 m</a:t>
            </a:r>
            <a:endParaRPr lang="en-US" sz="780" dirty="0"/>
          </a:p>
        </p:txBody>
      </p:sp>
      <p:sp>
        <p:nvSpPr>
          <p:cNvPr id="32" name="Text 30"/>
          <p:cNvSpPr txBox="1"/>
          <p:nvPr/>
        </p:nvSpPr>
        <p:spPr>
          <a:xfrm>
            <a:off x="5435809" y="2319158"/>
            <a:ext cx="2026379" cy="175360"/>
          </a:xfrm>
          <a:prstGeom prst="rect">
            <a:avLst/>
          </a:prstGeom>
          <a:noFill/>
          <a:ln/>
        </p:spPr>
        <p:txBody>
          <a:bodyPr wrap="square" lIns="0" tIns="0" rIns="0" bIns="0" rtlCol="0" anchor="ctr"/>
          <a:lstStyle/>
          <a:p>
            <a:pPr indent="0" marL="0">
              <a:buNone/>
            </a:pPr>
            <a:r>
              <a:rPr lang="en-US" sz="780" dirty="0">
                <a:solidFill>
                  <a:srgbClr val="1A2733"/>
                </a:solidFill>
                <a:latin typeface="Arial" pitchFamily="34" charset="0"/>
                <a:ea typeface="Arial" pitchFamily="34" charset="-122"/>
                <a:cs typeface="Arial" pitchFamily="34" charset="-120"/>
              </a:rPr>
              <a:t>13,9² ÷ 12 = 16,1 m</a:t>
            </a:r>
            <a:endParaRPr lang="en-US" sz="780" dirty="0"/>
          </a:p>
        </p:txBody>
      </p:sp>
      <p:sp>
        <p:nvSpPr>
          <p:cNvPr id="33" name="Text 31"/>
          <p:cNvSpPr txBox="1"/>
          <p:nvPr/>
        </p:nvSpPr>
        <p:spPr>
          <a:xfrm>
            <a:off x="5435809" y="2494517"/>
            <a:ext cx="2026379" cy="175360"/>
          </a:xfrm>
          <a:prstGeom prst="rect">
            <a:avLst/>
          </a:prstGeom>
          <a:noFill/>
          <a:ln/>
        </p:spPr>
        <p:txBody>
          <a:bodyPr wrap="square" lIns="0" tIns="0" rIns="0" bIns="0" rtlCol="0" anchor="ctr"/>
          <a:lstStyle/>
          <a:p>
            <a:pPr indent="0" marL="0">
              <a:buNone/>
            </a:pPr>
            <a:r>
              <a:rPr lang="en-US" sz="780" b="1" dirty="0">
                <a:solidFill>
                  <a:srgbClr val="D9463E"/>
                </a:solidFill>
                <a:latin typeface="Arial" pitchFamily="34" charset="0"/>
                <a:ea typeface="Arial" pitchFamily="34" charset="-122"/>
                <a:cs typeface="Arial" pitchFamily="34" charset="-120"/>
              </a:rPr>
              <a:t>4,2 + 16,1 ≈ 20 m → tia ≥ 25 m</a:t>
            </a:r>
            <a:endParaRPr lang="en-US" sz="780" dirty="0"/>
          </a:p>
        </p:txBody>
      </p:sp>
      <p:sp>
        <p:nvSpPr>
          <p:cNvPr id="34" name="Shape 32"/>
          <p:cNvSpPr/>
          <p:nvPr/>
        </p:nvSpPr>
        <p:spPr>
          <a:xfrm>
            <a:off x="1681812" y="2806268"/>
            <a:ext cx="5780375" cy="428657"/>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1811708" y="2851732"/>
            <a:ext cx="5520583" cy="350719"/>
          </a:xfrm>
          <a:prstGeom prst="rect">
            <a:avLst/>
          </a:prstGeom>
          <a:noFill/>
          <a:ln/>
        </p:spPr>
        <p:txBody>
          <a:bodyPr wrap="square" lIns="0" tIns="0" rIns="0" bIns="0" rtlCol="0" anchor="t"/>
          <a:lstStyle/>
          <a:p>
            <a:pPr indent="0" marL="0">
              <a:lnSpc>
                <a:spcPct val="114000"/>
              </a:lnSpc>
              <a:buNone/>
            </a:pPr>
            <a:r>
              <a:rPr lang="en-US" sz="85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850" dirty="0"/>
          </a:p>
          <a:p>
            <a:pPr indent="0" marL="0">
              <a:lnSpc>
                <a:spcPct val="114000"/>
              </a:lnSpc>
              <a:buNone/>
            </a:pPr>
            <a:r>
              <a:rPr lang="en-US" sz="78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85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38" name="Text 3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7 / 18</a:t>
            </a:r>
            <a:endParaRPr lang="en-US" sz="640" dirty="0"/>
          </a:p>
        </p:txBody>
      </p:sp>
      <p:sp>
        <p:nvSpPr>
          <p:cNvPr id="39" name="Text 3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681812" y="286284"/>
            <a:ext cx="5780375" cy="194844"/>
          </a:xfrm>
          <a:prstGeom prst="rect">
            <a:avLst/>
          </a:prstGeom>
          <a:noFill/>
          <a:ln/>
        </p:spPr>
        <p:txBody>
          <a:bodyPr wrap="square" lIns="0" tIns="0" rIns="0" bIns="0" rtlCol="0" anchor="ctr"/>
          <a:lstStyle/>
          <a:p>
            <a:pPr indent="0" marL="0">
              <a:buNone/>
            </a:pPr>
            <a:r>
              <a:rPr lang="en-US" sz="920" b="1" dirty="0">
                <a:solidFill>
                  <a:srgbClr val="007F72"/>
                </a:solidFill>
                <a:latin typeface="Arial" pitchFamily="34" charset="0"/>
                <a:ea typeface="Arial" pitchFamily="34" charset="-122"/>
                <a:cs typeface="Arial" pitchFamily="34" charset="-120"/>
              </a:rPr>
              <a:t>▶ Video · 煞停距離：為什麼看到了還是停不下來</a:t>
            </a:r>
            <a:endParaRPr lang="en-US" sz="920" dirty="0"/>
          </a:p>
        </p:txBody>
      </p:sp>
      <p:sp>
        <p:nvSpPr>
          <p:cNvPr id="3" name="Text 1"/>
          <p:cNvSpPr txBox="1"/>
          <p:nvPr/>
        </p:nvSpPr>
        <p:spPr>
          <a:xfrm>
            <a:off x="1681812" y="507107"/>
            <a:ext cx="5780375" cy="398243"/>
          </a:xfrm>
          <a:prstGeom prst="rect">
            <a:avLst/>
          </a:prstGeom>
          <a:noFill/>
          <a:ln/>
        </p:spPr>
        <p:txBody>
          <a:bodyPr wrap="square" lIns="0" tIns="0" rIns="0" bIns="0" rtlCol="0" anchor="t"/>
          <a:lstStyle/>
          <a:p>
            <a:pPr indent="0" marL="0">
              <a:lnSpc>
                <a:spcPct val="116000"/>
              </a:lnSpc>
              <a:buNone/>
            </a:pPr>
            <a:r>
              <a:rPr lang="en-US" sz="1210" b="1" dirty="0">
                <a:solidFill>
                  <a:srgbClr val="0B1F3A"/>
                </a:solidFill>
                <a:latin typeface="Arial" pitchFamily="34" charset="0"/>
                <a:ea typeface="Arial" pitchFamily="34" charset="-122"/>
                <a:cs typeface="Arial" pitchFamily="34" charset="-120"/>
              </a:rPr>
              <a:t>Hai đoạn đó, video này giảng lại một lần nữa</a:t>
            </a:r>
            <a:endParaRPr lang="en-US" sz="1210" dirty="0"/>
          </a:p>
          <a:p>
            <a:pPr indent="0" marL="0">
              <a:lnSpc>
                <a:spcPct val="116000"/>
              </a:lnSpc>
              <a:buNone/>
            </a:pPr>
            <a:r>
              <a:rPr lang="en-US" sz="89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210" dirty="0"/>
          </a:p>
        </p:txBody>
      </p:sp>
      <p:sp>
        <p:nvSpPr>
          <p:cNvPr id="4" name="Shape 2"/>
          <p:cNvSpPr/>
          <p:nvPr/>
        </p:nvSpPr>
        <p:spPr>
          <a:xfrm>
            <a:off x="1681812" y="918340"/>
            <a:ext cx="2773281" cy="1822980"/>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2034610" y="1219889"/>
            <a:ext cx="738459" cy="184294"/>
          </a:xfrm>
          <a:prstGeom prst="rect">
            <a:avLst/>
          </a:prstGeom>
          <a:noFill/>
          <a:ln/>
        </p:spPr>
        <p:txBody>
          <a:bodyPr wrap="square" lIns="0" tIns="0" rIns="0" bIns="0" rtlCol="0" anchor="ctr"/>
          <a:lstStyle/>
          <a:p>
            <a:pPr algn="l" indent="0" marL="0">
              <a:buNone/>
            </a:pPr>
            <a:r>
              <a:rPr lang="en-US" sz="640" b="1" dirty="0">
                <a:solidFill>
                  <a:srgbClr val="6FA8DC"/>
                </a:solidFill>
                <a:latin typeface="Arial" pitchFamily="34" charset="0"/>
                <a:ea typeface="Arial" pitchFamily="34" charset="-122"/>
                <a:cs typeface="Arial" pitchFamily="34" charset="-120"/>
              </a:rPr>
              <a:t>khô  乾</a:t>
            </a:r>
            <a:endParaRPr lang="en-US" sz="640" dirty="0"/>
          </a:p>
        </p:txBody>
      </p:sp>
      <p:sp>
        <p:nvSpPr>
          <p:cNvPr id="6" name="Shape 4"/>
          <p:cNvSpPr/>
          <p:nvPr/>
        </p:nvSpPr>
        <p:spPr>
          <a:xfrm>
            <a:off x="2034610" y="1407586"/>
            <a:ext cx="443076" cy="203815"/>
          </a:xfrm>
          <a:prstGeom prst="roundRect">
            <a:avLst>
              <a:gd name="adj" fmla="val 22000"/>
            </a:avLst>
          </a:prstGeom>
          <a:solidFill>
            <a:srgbClr val="8FA3B5"/>
          </a:solidFill>
          <a:ln/>
        </p:spPr>
      </p:sp>
      <p:sp>
        <p:nvSpPr>
          <p:cNvPr id="7" name="Shape 5"/>
          <p:cNvSpPr/>
          <p:nvPr/>
        </p:nvSpPr>
        <p:spPr>
          <a:xfrm>
            <a:off x="2202979" y="1448349"/>
            <a:ext cx="150646" cy="122289"/>
          </a:xfrm>
          <a:prstGeom prst="roundRect">
            <a:avLst>
              <a:gd name="adj" fmla="val 23333"/>
            </a:avLst>
          </a:prstGeom>
          <a:solidFill>
            <a:srgbClr val="FFFFFF"/>
          </a:solidFill>
          <a:ln/>
        </p:spPr>
      </p:sp>
      <p:sp>
        <p:nvSpPr>
          <p:cNvPr id="8" name="Shape 6"/>
          <p:cNvSpPr/>
          <p:nvPr/>
        </p:nvSpPr>
        <p:spPr>
          <a:xfrm>
            <a:off x="2526916" y="1509494"/>
            <a:ext cx="935382" cy="0"/>
          </a:xfrm>
          <a:prstGeom prst="line">
            <a:avLst/>
          </a:prstGeom>
          <a:noFill/>
          <a:ln w="63500">
            <a:solidFill>
              <a:srgbClr val="6FA8DC"/>
            </a:solidFill>
            <a:prstDash val="solid"/>
          </a:ln>
        </p:spPr>
      </p:sp>
      <p:sp>
        <p:nvSpPr>
          <p:cNvPr id="9" name="Shape 7"/>
          <p:cNvSpPr/>
          <p:nvPr/>
        </p:nvSpPr>
        <p:spPr>
          <a:xfrm>
            <a:off x="3462298" y="1391019"/>
            <a:ext cx="86154" cy="236949"/>
          </a:xfrm>
          <a:prstGeom prst="roundRect">
            <a:avLst>
              <a:gd name="adj" fmla="val 34286"/>
            </a:avLst>
          </a:prstGeom>
          <a:solidFill>
            <a:srgbClr val="3A4650"/>
          </a:solidFill>
          <a:ln/>
        </p:spPr>
      </p:sp>
      <p:sp>
        <p:nvSpPr>
          <p:cNvPr id="10" name="Text 8"/>
          <p:cNvSpPr txBox="1"/>
          <p:nvPr/>
        </p:nvSpPr>
        <p:spPr>
          <a:xfrm>
            <a:off x="2034610" y="1693788"/>
            <a:ext cx="738459" cy="184294"/>
          </a:xfrm>
          <a:prstGeom prst="rect">
            <a:avLst/>
          </a:prstGeom>
          <a:noFill/>
          <a:ln/>
        </p:spPr>
        <p:txBody>
          <a:bodyPr wrap="square" lIns="0" tIns="0" rIns="0" bIns="0" rtlCol="0" anchor="ctr"/>
          <a:lstStyle/>
          <a:p>
            <a:pPr algn="l" indent="0" marL="0">
              <a:buNone/>
            </a:pPr>
            <a:r>
              <a:rPr lang="en-US" sz="640" b="1" dirty="0">
                <a:solidFill>
                  <a:srgbClr val="D9463E"/>
                </a:solidFill>
                <a:latin typeface="Arial" pitchFamily="34" charset="0"/>
                <a:ea typeface="Arial" pitchFamily="34" charset="-122"/>
                <a:cs typeface="Arial" pitchFamily="34" charset="-120"/>
              </a:rPr>
              <a:t>ướt  濕</a:t>
            </a:r>
            <a:endParaRPr lang="en-US" sz="640" dirty="0"/>
          </a:p>
        </p:txBody>
      </p:sp>
      <p:sp>
        <p:nvSpPr>
          <p:cNvPr id="11" name="Shape 9"/>
          <p:cNvSpPr/>
          <p:nvPr/>
        </p:nvSpPr>
        <p:spPr>
          <a:xfrm>
            <a:off x="2034610" y="1881485"/>
            <a:ext cx="443076" cy="203815"/>
          </a:xfrm>
          <a:prstGeom prst="roundRect">
            <a:avLst>
              <a:gd name="adj" fmla="val 22000"/>
            </a:avLst>
          </a:prstGeom>
          <a:solidFill>
            <a:srgbClr val="8FA3B5"/>
          </a:solidFill>
          <a:ln/>
        </p:spPr>
      </p:sp>
      <p:sp>
        <p:nvSpPr>
          <p:cNvPr id="12" name="Shape 10"/>
          <p:cNvSpPr/>
          <p:nvPr/>
        </p:nvSpPr>
        <p:spPr>
          <a:xfrm>
            <a:off x="2202979" y="1922248"/>
            <a:ext cx="150646" cy="122289"/>
          </a:xfrm>
          <a:prstGeom prst="roundRect">
            <a:avLst>
              <a:gd name="adj" fmla="val 23333"/>
            </a:avLst>
          </a:prstGeom>
          <a:solidFill>
            <a:srgbClr val="FFFFFF"/>
          </a:solidFill>
          <a:ln/>
        </p:spPr>
      </p:sp>
      <p:sp>
        <p:nvSpPr>
          <p:cNvPr id="13" name="Shape 11"/>
          <p:cNvSpPr/>
          <p:nvPr/>
        </p:nvSpPr>
        <p:spPr>
          <a:xfrm>
            <a:off x="2526916" y="1983392"/>
            <a:ext cx="1526149" cy="0"/>
          </a:xfrm>
          <a:prstGeom prst="line">
            <a:avLst/>
          </a:prstGeom>
          <a:noFill/>
          <a:ln w="63500">
            <a:solidFill>
              <a:srgbClr val="D9463E"/>
            </a:solidFill>
            <a:prstDash val="solid"/>
          </a:ln>
        </p:spPr>
      </p:sp>
      <p:sp>
        <p:nvSpPr>
          <p:cNvPr id="14" name="Shape 12"/>
          <p:cNvSpPr/>
          <p:nvPr/>
        </p:nvSpPr>
        <p:spPr>
          <a:xfrm>
            <a:off x="4053065" y="1864918"/>
            <a:ext cx="86154" cy="236949"/>
          </a:xfrm>
          <a:prstGeom prst="roundRect">
            <a:avLst>
              <a:gd name="adj" fmla="val 34286"/>
            </a:avLst>
          </a:prstGeom>
          <a:solidFill>
            <a:srgbClr val="3A4650"/>
          </a:solidFill>
          <a:ln/>
        </p:spPr>
      </p:sp>
      <p:sp>
        <p:nvSpPr>
          <p:cNvPr id="15" name="Text 13"/>
          <p:cNvSpPr txBox="1"/>
          <p:nvPr/>
        </p:nvSpPr>
        <p:spPr>
          <a:xfrm>
            <a:off x="1811708" y="2351632"/>
            <a:ext cx="2513489" cy="337730"/>
          </a:xfrm>
          <a:prstGeom prst="rect">
            <a:avLst/>
          </a:prstGeom>
          <a:noFill/>
          <a:ln/>
        </p:spPr>
        <p:txBody>
          <a:bodyPr wrap="square" lIns="0" tIns="0" rIns="0" bIns="0" rtlCol="0" anchor="t"/>
          <a:lstStyle/>
          <a:p>
            <a:pPr algn="ctr" indent="0" marL="0">
              <a:lnSpc>
                <a:spcPct val="110000"/>
              </a:lnSpc>
              <a:buNone/>
            </a:pPr>
            <a:r>
              <a:rPr lang="en-US" sz="67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670" dirty="0"/>
          </a:p>
          <a:p>
            <a:pPr algn="ctr" indent="0" marL="0">
              <a:lnSpc>
                <a:spcPct val="110000"/>
              </a:lnSpc>
              <a:buNone/>
            </a:pPr>
            <a:r>
              <a:rPr lang="en-US" sz="64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670" dirty="0"/>
          </a:p>
        </p:txBody>
      </p:sp>
      <p:sp>
        <p:nvSpPr>
          <p:cNvPr id="16" name="Shape 14"/>
          <p:cNvSpPr/>
          <p:nvPr/>
        </p:nvSpPr>
        <p:spPr>
          <a:xfrm>
            <a:off x="4688906" y="918340"/>
            <a:ext cx="2773281" cy="1822980"/>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18803" y="1035246"/>
            <a:ext cx="246803" cy="246803"/>
          </a:xfrm>
          <a:prstGeom prst="ellipse">
            <a:avLst/>
          </a:prstGeom>
          <a:solidFill>
            <a:srgbClr val="D9463E"/>
          </a:solidFill>
          <a:ln/>
        </p:spPr>
      </p:sp>
      <p:sp>
        <p:nvSpPr>
          <p:cNvPr id="18" name="Text 16"/>
          <p:cNvSpPr txBox="1"/>
          <p:nvPr/>
        </p:nvSpPr>
        <p:spPr>
          <a:xfrm>
            <a:off x="4818803" y="1067721"/>
            <a:ext cx="246803" cy="181855"/>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19" name="Text 17"/>
          <p:cNvSpPr txBox="1"/>
          <p:nvPr/>
        </p:nvSpPr>
        <p:spPr>
          <a:xfrm>
            <a:off x="5117564" y="1022257"/>
            <a:ext cx="2214728" cy="298761"/>
          </a:xfrm>
          <a:prstGeom prst="rect">
            <a:avLst/>
          </a:prstGeom>
          <a:noFill/>
          <a:ln/>
        </p:spPr>
        <p:txBody>
          <a:bodyPr wrap="square" lIns="0" tIns="0" rIns="0" bIns="0" rtlCol="0" anchor="ctr"/>
          <a:lstStyle/>
          <a:p>
            <a:pPr indent="0" marL="0">
              <a:buNone/>
            </a:pPr>
            <a:r>
              <a:rPr lang="en-US" sz="750" b="1" dirty="0">
                <a:solidFill>
                  <a:srgbClr val="0B1F3A"/>
                </a:solidFill>
                <a:latin typeface="Arial" pitchFamily="34" charset="0"/>
                <a:ea typeface="Arial" pitchFamily="34" charset="-122"/>
                <a:cs typeface="Arial" pitchFamily="34" charset="-120"/>
              </a:rPr>
              <a:t>Stopping Distance | Forces &amp; Motion | Physics</a:t>
            </a:r>
            <a:endParaRPr lang="en-US" sz="750" dirty="0"/>
          </a:p>
        </p:txBody>
      </p:sp>
      <p:sp>
        <p:nvSpPr>
          <p:cNvPr id="20" name="Text 18"/>
          <p:cNvSpPr txBox="1"/>
          <p:nvPr/>
        </p:nvSpPr>
        <p:spPr>
          <a:xfrm>
            <a:off x="4818803" y="1346997"/>
            <a:ext cx="2513489" cy="142886"/>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FuseSchool（教育頻道）　·　3:44，播到 2:30</a:t>
            </a:r>
            <a:endParaRPr lang="en-US" sz="640" dirty="0"/>
          </a:p>
        </p:txBody>
      </p:sp>
      <p:sp>
        <p:nvSpPr>
          <p:cNvPr id="21" name="Text 19">
            <a:hlinkClick r:id="rId1" tooltip=""/>
          </p:cNvPr>
          <p:cNvSpPr txBox="1"/>
          <p:nvPr/>
        </p:nvSpPr>
        <p:spPr>
          <a:xfrm>
            <a:off x="4818803" y="1476893"/>
            <a:ext cx="2513489" cy="142886"/>
          </a:xfrm>
          <a:prstGeom prst="rect">
            <a:avLst/>
          </a:prstGeom>
          <a:noFill/>
          <a:ln/>
        </p:spPr>
        <p:txBody>
          <a:bodyPr wrap="square" lIns="0" tIns="0" rIns="0" bIns="0" rtlCol="0" anchor="ctr"/>
          <a:lstStyle/>
          <a:p>
            <a:pPr indent="0" marL="0">
              <a:buNone/>
            </a:pPr>
            <a:r>
              <a:rPr lang="en-US" sz="6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00" dirty="0"/>
          </a:p>
        </p:txBody>
      </p:sp>
      <p:sp>
        <p:nvSpPr>
          <p:cNvPr id="22" name="Shape 20"/>
          <p:cNvSpPr/>
          <p:nvPr/>
        </p:nvSpPr>
        <p:spPr>
          <a:xfrm>
            <a:off x="4818803" y="1671737"/>
            <a:ext cx="25979" cy="168865"/>
          </a:xfrm>
          <a:prstGeom prst="rect">
            <a:avLst/>
          </a:prstGeom>
          <a:solidFill>
            <a:srgbClr val="00A896"/>
          </a:solidFill>
          <a:ln/>
        </p:spPr>
      </p:sp>
      <p:sp>
        <p:nvSpPr>
          <p:cNvPr id="23" name="Text 21"/>
          <p:cNvSpPr txBox="1"/>
          <p:nvPr/>
        </p:nvSpPr>
        <p:spPr>
          <a:xfrm>
            <a:off x="4909730" y="1645758"/>
            <a:ext cx="2435551" cy="419718"/>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670" dirty="0"/>
          </a:p>
        </p:txBody>
      </p:sp>
      <p:sp>
        <p:nvSpPr>
          <p:cNvPr id="24" name="Shape 22"/>
          <p:cNvSpPr/>
          <p:nvPr/>
        </p:nvSpPr>
        <p:spPr>
          <a:xfrm>
            <a:off x="4818803" y="2117435"/>
            <a:ext cx="25979" cy="168865"/>
          </a:xfrm>
          <a:prstGeom prst="rect">
            <a:avLst/>
          </a:prstGeom>
          <a:solidFill>
            <a:srgbClr val="00A896"/>
          </a:solidFill>
          <a:ln/>
        </p:spPr>
      </p:sp>
      <p:sp>
        <p:nvSpPr>
          <p:cNvPr id="25" name="Text 23"/>
          <p:cNvSpPr txBox="1"/>
          <p:nvPr/>
        </p:nvSpPr>
        <p:spPr>
          <a:xfrm>
            <a:off x="4909730" y="2091456"/>
            <a:ext cx="2435551" cy="323944"/>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670" dirty="0"/>
          </a:p>
        </p:txBody>
      </p:sp>
      <p:sp>
        <p:nvSpPr>
          <p:cNvPr id="26" name="Shape 24"/>
          <p:cNvSpPr/>
          <p:nvPr/>
        </p:nvSpPr>
        <p:spPr>
          <a:xfrm>
            <a:off x="4818803" y="2467358"/>
            <a:ext cx="25979" cy="168865"/>
          </a:xfrm>
          <a:prstGeom prst="rect">
            <a:avLst/>
          </a:prstGeom>
          <a:solidFill>
            <a:srgbClr val="00A896"/>
          </a:solidFill>
          <a:ln/>
        </p:spPr>
      </p:sp>
      <p:sp>
        <p:nvSpPr>
          <p:cNvPr id="27" name="Text 25"/>
          <p:cNvSpPr txBox="1"/>
          <p:nvPr/>
        </p:nvSpPr>
        <p:spPr>
          <a:xfrm>
            <a:off x="4909730" y="2441379"/>
            <a:ext cx="2435551" cy="222849"/>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670" dirty="0"/>
          </a:p>
        </p:txBody>
      </p:sp>
      <p:sp>
        <p:nvSpPr>
          <p:cNvPr id="28" name="Shape 26"/>
          <p:cNvSpPr/>
          <p:nvPr/>
        </p:nvSpPr>
        <p:spPr>
          <a:xfrm>
            <a:off x="1681812" y="2819258"/>
            <a:ext cx="5780375" cy="389688"/>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811708" y="2864721"/>
            <a:ext cx="5520583" cy="311751"/>
          </a:xfrm>
          <a:prstGeom prst="rect">
            <a:avLst/>
          </a:prstGeom>
          <a:noFill/>
          <a:ln/>
        </p:spPr>
        <p:txBody>
          <a:bodyPr wrap="square" lIns="0" tIns="0" rIns="0" bIns="0" rtlCol="0" anchor="t"/>
          <a:lstStyle/>
          <a:p>
            <a:pPr indent="0" marL="0">
              <a:lnSpc>
                <a:spcPct val="114000"/>
              </a:lnSpc>
              <a:buNone/>
            </a:pPr>
            <a:r>
              <a:rPr lang="en-US" sz="8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820" dirty="0"/>
          </a:p>
          <a:p>
            <a:pPr indent="0" marL="0">
              <a:lnSpc>
                <a:spcPct val="114000"/>
              </a:lnSpc>
              <a:buNone/>
            </a:pPr>
            <a:r>
              <a:rPr lang="en-US" sz="7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8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6663327" y="3338842"/>
            <a:ext cx="779376" cy="172200"/>
          </a:xfrm>
          <a:prstGeom prst="rect">
            <a:avLst/>
          </a:prstGeom>
        </p:spPr>
      </p:pic>
      <p:sp>
        <p:nvSpPr>
          <p:cNvPr id="32" name="Text 28"/>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8 / 18</a:t>
            </a:r>
            <a:endParaRPr lang="en-US" sz="640" dirty="0"/>
          </a:p>
        </p:txBody>
      </p:sp>
      <p:sp>
        <p:nvSpPr>
          <p:cNvPr id="33" name="Text 29"/>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1560" dirty="0"/>
          </a:p>
        </p:txBody>
      </p:sp>
      <p:sp>
        <p:nvSpPr>
          <p:cNvPr id="3" name="Shape 1"/>
          <p:cNvSpPr/>
          <p:nvPr/>
        </p:nvSpPr>
        <p:spPr>
          <a:xfrm>
            <a:off x="1681812" y="831848"/>
            <a:ext cx="5780375" cy="506595"/>
          </a:xfrm>
          <a:prstGeom prst="roundRect">
            <a:avLst>
              <a:gd name="adj" fmla="val 10256"/>
            </a:avLst>
          </a:prstGeom>
          <a:solidFill>
            <a:srgbClr val="EAF6F4"/>
          </a:solidFill>
          <a:ln/>
        </p:spPr>
      </p:sp>
      <p:sp>
        <p:nvSpPr>
          <p:cNvPr id="4" name="Text 2"/>
          <p:cNvSpPr txBox="1"/>
          <p:nvPr/>
        </p:nvSpPr>
        <p:spPr>
          <a:xfrm>
            <a:off x="1785729" y="883806"/>
            <a:ext cx="5572542" cy="402678"/>
          </a:xfrm>
          <a:prstGeom prst="rect">
            <a:avLst/>
          </a:prstGeom>
          <a:noFill/>
          <a:ln/>
        </p:spPr>
        <p:txBody>
          <a:bodyPr wrap="square" lIns="0" tIns="0" rIns="0" bIns="0" rtlCol="0" anchor="t"/>
          <a:lstStyle/>
          <a:p>
            <a:pPr indent="0" marL="0">
              <a:lnSpc>
                <a:spcPct val="110000"/>
              </a:lnSpc>
              <a:buNone/>
            </a:pPr>
            <a:r>
              <a:rPr lang="en-US" sz="82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82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8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681812" y="1416380"/>
          <a:ext cx="5780375" cy="914400"/>
        </p:xfrm>
        <a:graphic>
          <a:graphicData uri="http://schemas.openxmlformats.org/drawingml/2006/table">
            <a:tbl>
              <a:tblPr/>
              <a:tblGrid>
                <a:gridCol w="649480"/>
                <a:gridCol w="649480"/>
                <a:gridCol w="714428"/>
                <a:gridCol w="746902"/>
                <a:gridCol w="3020084"/>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81812" y="3076530"/>
            <a:ext cx="5780375" cy="32474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9" name="Text 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9 / 18</a:t>
            </a:r>
            <a:endParaRPr lang="en-US" sz="640" dirty="0"/>
          </a:p>
        </p:txBody>
      </p:sp>
      <p:sp>
        <p:nvSpPr>
          <p:cNvPr id="10" name="Text 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681812" y="286284"/>
            <a:ext cx="5780375" cy="194844"/>
          </a:xfrm>
          <a:prstGeom prst="rect">
            <a:avLst/>
          </a:prstGeom>
          <a:noFill/>
          <a:ln/>
        </p:spPr>
        <p:txBody>
          <a:bodyPr wrap="square" lIns="0" tIns="0" rIns="0" bIns="0" rtlCol="0" anchor="ctr"/>
          <a:lstStyle/>
          <a:p>
            <a:pPr indent="0" marL="0">
              <a:buNone/>
            </a:pPr>
            <a:r>
              <a:rPr lang="en-US" sz="920" b="1" dirty="0">
                <a:solidFill>
                  <a:srgbClr val="007F72"/>
                </a:solidFill>
                <a:latin typeface="Arial" pitchFamily="34" charset="0"/>
                <a:ea typeface="Arial" pitchFamily="34" charset="-122"/>
                <a:cs typeface="Arial" pitchFamily="34" charset="-120"/>
              </a:rPr>
              <a:t>▶ Video · 真正的自駕模擬器長什麼樣</a:t>
            </a:r>
            <a:endParaRPr lang="en-US" sz="920" dirty="0"/>
          </a:p>
        </p:txBody>
      </p:sp>
      <p:sp>
        <p:nvSpPr>
          <p:cNvPr id="3" name="Text 1"/>
          <p:cNvSpPr txBox="1"/>
          <p:nvPr/>
        </p:nvSpPr>
        <p:spPr>
          <a:xfrm>
            <a:off x="1681812" y="507107"/>
            <a:ext cx="5780375" cy="398243"/>
          </a:xfrm>
          <a:prstGeom prst="rect">
            <a:avLst/>
          </a:prstGeom>
          <a:noFill/>
          <a:ln/>
        </p:spPr>
        <p:txBody>
          <a:bodyPr wrap="square" lIns="0" tIns="0" rIns="0" bIns="0" rtlCol="0" anchor="t"/>
          <a:lstStyle/>
          <a:p>
            <a:pPr indent="0" marL="0">
              <a:lnSpc>
                <a:spcPct val="116000"/>
              </a:lnSpc>
              <a:buNone/>
            </a:pPr>
            <a:r>
              <a:rPr lang="en-US" sz="121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210" dirty="0"/>
          </a:p>
          <a:p>
            <a:pPr indent="0" marL="0">
              <a:lnSpc>
                <a:spcPct val="116000"/>
              </a:lnSpc>
              <a:buNone/>
            </a:pPr>
            <a:r>
              <a:rPr lang="en-US" sz="89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210" dirty="0"/>
          </a:p>
        </p:txBody>
      </p:sp>
      <p:sp>
        <p:nvSpPr>
          <p:cNvPr id="4" name="Shape 2"/>
          <p:cNvSpPr/>
          <p:nvPr/>
        </p:nvSpPr>
        <p:spPr>
          <a:xfrm>
            <a:off x="1681812" y="918340"/>
            <a:ext cx="2773281" cy="1822980"/>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707792" y="1683992"/>
            <a:ext cx="2721323" cy="1031349"/>
          </a:xfrm>
          <a:prstGeom prst="rect">
            <a:avLst/>
          </a:prstGeom>
          <a:solidFill>
            <a:srgbClr val="4A5763"/>
          </a:solidFill>
          <a:ln/>
        </p:spPr>
      </p:sp>
      <p:sp>
        <p:nvSpPr>
          <p:cNvPr id="6" name="Shape 4"/>
          <p:cNvSpPr/>
          <p:nvPr/>
        </p:nvSpPr>
        <p:spPr>
          <a:xfrm flipH="1">
            <a:off x="1903675" y="1683992"/>
            <a:ext cx="1099830" cy="1018360"/>
          </a:xfrm>
          <a:prstGeom prst="line">
            <a:avLst/>
          </a:prstGeom>
          <a:noFill/>
          <a:ln w="25400">
            <a:solidFill>
              <a:srgbClr val="E8EDF2">
                <a:alpha val="45000"/>
              </a:srgbClr>
            </a:solidFill>
            <a:prstDash val="solid"/>
          </a:ln>
        </p:spPr>
      </p:sp>
      <p:sp>
        <p:nvSpPr>
          <p:cNvPr id="7" name="Shape 5"/>
          <p:cNvSpPr/>
          <p:nvPr/>
        </p:nvSpPr>
        <p:spPr>
          <a:xfrm>
            <a:off x="3133401" y="1683992"/>
            <a:ext cx="1099830" cy="1018360"/>
          </a:xfrm>
          <a:prstGeom prst="line">
            <a:avLst/>
          </a:prstGeom>
          <a:noFill/>
          <a:ln w="25400">
            <a:solidFill>
              <a:srgbClr val="E8EDF2">
                <a:alpha val="45000"/>
              </a:srgbClr>
            </a:solidFill>
            <a:prstDash val="solid"/>
          </a:ln>
        </p:spPr>
      </p:sp>
      <p:sp>
        <p:nvSpPr>
          <p:cNvPr id="8" name="Shape 6"/>
          <p:cNvSpPr/>
          <p:nvPr/>
        </p:nvSpPr>
        <p:spPr>
          <a:xfrm>
            <a:off x="2314417" y="1809442"/>
            <a:ext cx="102379" cy="102379"/>
          </a:xfrm>
          <a:prstGeom prst="ellipse">
            <a:avLst/>
          </a:prstGeom>
          <a:solidFill>
            <a:srgbClr val="D8E4EC"/>
          </a:solidFill>
          <a:ln/>
        </p:spPr>
      </p:sp>
      <p:sp>
        <p:nvSpPr>
          <p:cNvPr id="9" name="Shape 7"/>
          <p:cNvSpPr/>
          <p:nvPr/>
        </p:nvSpPr>
        <p:spPr>
          <a:xfrm>
            <a:off x="2283703" y="1922058"/>
            <a:ext cx="163806" cy="184281"/>
          </a:xfrm>
          <a:prstGeom prst="roundRect">
            <a:avLst>
              <a:gd name="adj" fmla="val 111018"/>
            </a:avLst>
          </a:prstGeom>
          <a:solidFill>
            <a:srgbClr val="D8E4EC"/>
          </a:solidFill>
          <a:ln/>
        </p:spPr>
      </p:sp>
      <p:sp>
        <p:nvSpPr>
          <p:cNvPr id="10" name="Shape 8"/>
          <p:cNvSpPr/>
          <p:nvPr/>
        </p:nvSpPr>
        <p:spPr>
          <a:xfrm rot="960000">
            <a:off x="2255549" y="1937415"/>
            <a:ext cx="40951" cy="133092"/>
          </a:xfrm>
          <a:prstGeom prst="rect">
            <a:avLst/>
          </a:prstGeom>
          <a:solidFill>
            <a:srgbClr val="D8E4EC"/>
          </a:solidFill>
          <a:ln/>
        </p:spPr>
      </p:sp>
      <p:sp>
        <p:nvSpPr>
          <p:cNvPr id="11" name="Shape 9"/>
          <p:cNvSpPr/>
          <p:nvPr/>
        </p:nvSpPr>
        <p:spPr>
          <a:xfrm rot="-960000">
            <a:off x="2434712" y="1937415"/>
            <a:ext cx="40951" cy="133092"/>
          </a:xfrm>
          <a:prstGeom prst="rect">
            <a:avLst/>
          </a:prstGeom>
          <a:solidFill>
            <a:srgbClr val="D8E4EC"/>
          </a:solidFill>
          <a:ln/>
        </p:spPr>
      </p:sp>
      <p:sp>
        <p:nvSpPr>
          <p:cNvPr id="12" name="Shape 10"/>
          <p:cNvSpPr/>
          <p:nvPr/>
        </p:nvSpPr>
        <p:spPr>
          <a:xfrm rot="300000">
            <a:off x="2311857" y="2080745"/>
            <a:ext cx="46070" cy="184281"/>
          </a:xfrm>
          <a:prstGeom prst="rect">
            <a:avLst/>
          </a:prstGeom>
          <a:solidFill>
            <a:srgbClr val="D8E4EC"/>
          </a:solidFill>
          <a:ln/>
        </p:spPr>
      </p:sp>
      <p:sp>
        <p:nvSpPr>
          <p:cNvPr id="13" name="Shape 11"/>
          <p:cNvSpPr/>
          <p:nvPr/>
        </p:nvSpPr>
        <p:spPr>
          <a:xfrm rot="-300000">
            <a:off x="2373284" y="2080745"/>
            <a:ext cx="46070" cy="184281"/>
          </a:xfrm>
          <a:prstGeom prst="rect">
            <a:avLst/>
          </a:prstGeom>
          <a:solidFill>
            <a:srgbClr val="D8E4EC"/>
          </a:solidFill>
          <a:ln/>
        </p:spPr>
      </p:sp>
      <p:sp>
        <p:nvSpPr>
          <p:cNvPr id="14" name="Shape 12"/>
          <p:cNvSpPr/>
          <p:nvPr/>
        </p:nvSpPr>
        <p:spPr>
          <a:xfrm>
            <a:off x="2014606" y="1720451"/>
            <a:ext cx="610122" cy="656273"/>
          </a:xfrm>
          <a:prstGeom prst="rect">
            <a:avLst/>
          </a:prstGeom>
          <a:ln w="19050">
            <a:solidFill>
              <a:srgbClr val="6FD08C"/>
            </a:solidFill>
            <a:prstDash val="solid"/>
          </a:ln>
        </p:spPr>
      </p:sp>
      <p:sp>
        <p:nvSpPr>
          <p:cNvPr id="15" name="Shape 13"/>
          <p:cNvSpPr/>
          <p:nvPr/>
        </p:nvSpPr>
        <p:spPr>
          <a:xfrm>
            <a:off x="2014606" y="1597050"/>
            <a:ext cx="610122" cy="123401"/>
          </a:xfrm>
          <a:prstGeom prst="rect">
            <a:avLst/>
          </a:prstGeom>
          <a:solidFill>
            <a:srgbClr val="6FD08C"/>
          </a:solidFill>
          <a:ln/>
        </p:spPr>
      </p:sp>
      <p:sp>
        <p:nvSpPr>
          <p:cNvPr id="16" name="Text 14"/>
          <p:cNvSpPr txBox="1"/>
          <p:nvPr/>
        </p:nvSpPr>
        <p:spPr>
          <a:xfrm>
            <a:off x="2034090" y="1600297"/>
            <a:ext cx="610122" cy="116906"/>
          </a:xfrm>
          <a:prstGeom prst="rect">
            <a:avLst/>
          </a:prstGeom>
          <a:noFill/>
          <a:ln/>
        </p:spPr>
        <p:txBody>
          <a:bodyPr wrap="square" lIns="0" tIns="0" rIns="0" bIns="0" rtlCol="0" anchor="ctr"/>
          <a:lstStyle/>
          <a:p>
            <a:pPr indent="0" marL="0">
              <a:buNone/>
            </a:pPr>
            <a:r>
              <a:rPr lang="en-US" sz="570" b="1" dirty="0">
                <a:solidFill>
                  <a:srgbClr val="0B1F3A"/>
                </a:solidFill>
                <a:latin typeface="Arial" pitchFamily="34" charset="0"/>
                <a:ea typeface="Arial" pitchFamily="34" charset="-122"/>
                <a:cs typeface="Arial" pitchFamily="34" charset="-120"/>
              </a:rPr>
              <a:t>người 行人</a:t>
            </a:r>
            <a:endParaRPr lang="en-US" sz="570" dirty="0"/>
          </a:p>
        </p:txBody>
      </p:sp>
      <p:sp>
        <p:nvSpPr>
          <p:cNvPr id="17" name="Shape 15"/>
          <p:cNvSpPr/>
          <p:nvPr/>
        </p:nvSpPr>
        <p:spPr>
          <a:xfrm>
            <a:off x="3482369" y="2063580"/>
            <a:ext cx="418615" cy="127404"/>
          </a:xfrm>
          <a:prstGeom prst="roundRect">
            <a:avLst>
              <a:gd name="adj" fmla="val 152934"/>
            </a:avLst>
          </a:prstGeom>
          <a:solidFill>
            <a:srgbClr val="C8D3DE"/>
          </a:solidFill>
          <a:ln/>
        </p:spPr>
      </p:sp>
      <p:sp>
        <p:nvSpPr>
          <p:cNvPr id="18" name="Shape 16"/>
          <p:cNvSpPr/>
          <p:nvPr/>
        </p:nvSpPr>
        <p:spPr>
          <a:xfrm>
            <a:off x="3573373" y="1972577"/>
            <a:ext cx="227508" cy="100103"/>
          </a:xfrm>
          <a:prstGeom prst="trapezoid">
            <a:avLst/>
          </a:prstGeom>
          <a:solidFill>
            <a:srgbClr val="C8D3DE">
              <a:alpha val="70000"/>
            </a:srgbClr>
          </a:solidFill>
          <a:ln/>
        </p:spPr>
      </p:sp>
      <p:sp>
        <p:nvSpPr>
          <p:cNvPr id="19" name="Shape 17"/>
          <p:cNvSpPr/>
          <p:nvPr/>
        </p:nvSpPr>
        <p:spPr>
          <a:xfrm>
            <a:off x="3536971" y="2163683"/>
            <a:ext cx="91003" cy="91003"/>
          </a:xfrm>
          <a:prstGeom prst="ellipse">
            <a:avLst/>
          </a:prstGeom>
          <a:solidFill>
            <a:srgbClr val="C8D3DE"/>
          </a:solidFill>
          <a:ln/>
        </p:spPr>
      </p:sp>
      <p:sp>
        <p:nvSpPr>
          <p:cNvPr id="20" name="Shape 18"/>
          <p:cNvSpPr/>
          <p:nvPr/>
        </p:nvSpPr>
        <p:spPr>
          <a:xfrm>
            <a:off x="3755379" y="2163683"/>
            <a:ext cx="91003" cy="91003"/>
          </a:xfrm>
          <a:prstGeom prst="ellipse">
            <a:avLst/>
          </a:prstGeom>
          <a:solidFill>
            <a:srgbClr val="C8D3DE"/>
          </a:solidFill>
          <a:ln/>
        </p:spPr>
      </p:sp>
      <p:sp>
        <p:nvSpPr>
          <p:cNvPr id="21" name="Shape 19"/>
          <p:cNvSpPr/>
          <p:nvPr/>
        </p:nvSpPr>
        <p:spPr>
          <a:xfrm>
            <a:off x="3559722" y="2186434"/>
            <a:ext cx="45502" cy="45502"/>
          </a:xfrm>
          <a:prstGeom prst="ellipse">
            <a:avLst/>
          </a:prstGeom>
          <a:solidFill>
            <a:srgbClr val="FFFFFF"/>
          </a:solidFill>
          <a:ln/>
        </p:spPr>
      </p:sp>
      <p:sp>
        <p:nvSpPr>
          <p:cNvPr id="22" name="Shape 20"/>
          <p:cNvSpPr/>
          <p:nvPr/>
        </p:nvSpPr>
        <p:spPr>
          <a:xfrm>
            <a:off x="3778130" y="2186434"/>
            <a:ext cx="45502" cy="45502"/>
          </a:xfrm>
          <a:prstGeom prst="ellipse">
            <a:avLst/>
          </a:prstGeom>
          <a:solidFill>
            <a:srgbClr val="FFFFFF"/>
          </a:solidFill>
          <a:ln/>
        </p:spPr>
      </p:sp>
      <p:sp>
        <p:nvSpPr>
          <p:cNvPr id="23" name="Shape 21"/>
          <p:cNvSpPr/>
          <p:nvPr/>
        </p:nvSpPr>
        <p:spPr>
          <a:xfrm>
            <a:off x="3234850" y="1793370"/>
            <a:ext cx="831984" cy="583354"/>
          </a:xfrm>
          <a:prstGeom prst="rect">
            <a:avLst/>
          </a:prstGeom>
          <a:ln w="19050">
            <a:solidFill>
              <a:srgbClr val="4FA8FF"/>
            </a:solidFill>
            <a:prstDash val="solid"/>
          </a:ln>
        </p:spPr>
      </p:sp>
      <p:sp>
        <p:nvSpPr>
          <p:cNvPr id="24" name="Shape 22"/>
          <p:cNvSpPr/>
          <p:nvPr/>
        </p:nvSpPr>
        <p:spPr>
          <a:xfrm>
            <a:off x="3234850" y="1669969"/>
            <a:ext cx="831984" cy="123401"/>
          </a:xfrm>
          <a:prstGeom prst="rect">
            <a:avLst/>
          </a:prstGeom>
          <a:solidFill>
            <a:srgbClr val="4FA8FF"/>
          </a:solidFill>
          <a:ln/>
        </p:spPr>
      </p:sp>
      <p:sp>
        <p:nvSpPr>
          <p:cNvPr id="25" name="Text 23"/>
          <p:cNvSpPr txBox="1"/>
          <p:nvPr/>
        </p:nvSpPr>
        <p:spPr>
          <a:xfrm>
            <a:off x="3254334" y="1673217"/>
            <a:ext cx="831984" cy="116906"/>
          </a:xfrm>
          <a:prstGeom prst="rect">
            <a:avLst/>
          </a:prstGeom>
          <a:noFill/>
          <a:ln/>
        </p:spPr>
        <p:txBody>
          <a:bodyPr wrap="square" lIns="0" tIns="0" rIns="0" bIns="0" rtlCol="0" anchor="ctr"/>
          <a:lstStyle/>
          <a:p>
            <a:pPr indent="0" marL="0">
              <a:buNone/>
            </a:pPr>
            <a:r>
              <a:rPr lang="en-US" sz="570" b="1" dirty="0">
                <a:solidFill>
                  <a:srgbClr val="0B1F3A"/>
                </a:solidFill>
                <a:latin typeface="Arial" pitchFamily="34" charset="0"/>
                <a:ea typeface="Arial" pitchFamily="34" charset="-122"/>
                <a:cs typeface="Arial" pitchFamily="34" charset="-120"/>
              </a:rPr>
              <a:t>ô tô 汽車</a:t>
            </a:r>
            <a:endParaRPr lang="en-US" sz="570" dirty="0"/>
          </a:p>
        </p:txBody>
      </p:sp>
      <p:sp>
        <p:nvSpPr>
          <p:cNvPr id="26" name="Shape 24"/>
          <p:cNvSpPr/>
          <p:nvPr/>
        </p:nvSpPr>
        <p:spPr>
          <a:xfrm>
            <a:off x="2848809" y="1107930"/>
            <a:ext cx="245158" cy="313553"/>
          </a:xfrm>
          <a:prstGeom prst="roundRect">
            <a:avLst>
              <a:gd name="adj" fmla="val 10597"/>
            </a:avLst>
          </a:prstGeom>
          <a:solidFill>
            <a:srgbClr val="2B3945"/>
          </a:solidFill>
          <a:ln/>
        </p:spPr>
      </p:sp>
      <p:sp>
        <p:nvSpPr>
          <p:cNvPr id="27" name="Shape 25"/>
          <p:cNvSpPr/>
          <p:nvPr/>
        </p:nvSpPr>
        <p:spPr>
          <a:xfrm>
            <a:off x="2902744" y="1136150"/>
            <a:ext cx="137289" cy="137289"/>
          </a:xfrm>
          <a:prstGeom prst="ellipse">
            <a:avLst/>
          </a:prstGeom>
          <a:solidFill>
            <a:srgbClr val="FF5A4E"/>
          </a:solidFill>
          <a:ln/>
        </p:spPr>
      </p:sp>
      <p:sp>
        <p:nvSpPr>
          <p:cNvPr id="28" name="Shape 26"/>
          <p:cNvSpPr/>
          <p:nvPr/>
        </p:nvSpPr>
        <p:spPr>
          <a:xfrm>
            <a:off x="2902744" y="1230215"/>
            <a:ext cx="137289" cy="137289"/>
          </a:xfrm>
          <a:prstGeom prst="ellipse">
            <a:avLst/>
          </a:prstGeom>
          <a:solidFill>
            <a:srgbClr val="5F6B75"/>
          </a:solidFill>
          <a:ln/>
        </p:spPr>
      </p:sp>
      <p:sp>
        <p:nvSpPr>
          <p:cNvPr id="29" name="Shape 27"/>
          <p:cNvSpPr/>
          <p:nvPr/>
        </p:nvSpPr>
        <p:spPr>
          <a:xfrm>
            <a:off x="2902744" y="1324281"/>
            <a:ext cx="137289" cy="137289"/>
          </a:xfrm>
          <a:prstGeom prst="ellipse">
            <a:avLst/>
          </a:prstGeom>
          <a:solidFill>
            <a:srgbClr val="5F6B75"/>
          </a:solidFill>
          <a:ln/>
        </p:spPr>
      </p:sp>
      <p:sp>
        <p:nvSpPr>
          <p:cNvPr id="30" name="Shape 28"/>
          <p:cNvSpPr/>
          <p:nvPr/>
        </p:nvSpPr>
        <p:spPr>
          <a:xfrm>
            <a:off x="2735659" y="1082408"/>
            <a:ext cx="471458" cy="364596"/>
          </a:xfrm>
          <a:prstGeom prst="rect">
            <a:avLst/>
          </a:prstGeom>
          <a:ln w="19050">
            <a:solidFill>
              <a:srgbClr val="FFB020"/>
            </a:solidFill>
            <a:prstDash val="solid"/>
          </a:ln>
        </p:spPr>
      </p:sp>
      <p:sp>
        <p:nvSpPr>
          <p:cNvPr id="31" name="Shape 29"/>
          <p:cNvSpPr/>
          <p:nvPr/>
        </p:nvSpPr>
        <p:spPr>
          <a:xfrm>
            <a:off x="2735659" y="959007"/>
            <a:ext cx="558553" cy="123401"/>
          </a:xfrm>
          <a:prstGeom prst="rect">
            <a:avLst/>
          </a:prstGeom>
          <a:solidFill>
            <a:srgbClr val="FFB020"/>
          </a:solidFill>
          <a:ln/>
        </p:spPr>
      </p:sp>
      <p:sp>
        <p:nvSpPr>
          <p:cNvPr id="32" name="Text 30"/>
          <p:cNvSpPr txBox="1"/>
          <p:nvPr/>
        </p:nvSpPr>
        <p:spPr>
          <a:xfrm>
            <a:off x="2755144" y="962254"/>
            <a:ext cx="558553" cy="116906"/>
          </a:xfrm>
          <a:prstGeom prst="rect">
            <a:avLst/>
          </a:prstGeom>
          <a:noFill/>
          <a:ln/>
        </p:spPr>
        <p:txBody>
          <a:bodyPr wrap="square" lIns="0" tIns="0" rIns="0" bIns="0" rtlCol="0" anchor="ctr"/>
          <a:lstStyle/>
          <a:p>
            <a:pPr indent="0" marL="0">
              <a:buNone/>
            </a:pPr>
            <a:r>
              <a:rPr lang="en-US" sz="570" b="1" dirty="0">
                <a:solidFill>
                  <a:srgbClr val="0B1F3A"/>
                </a:solidFill>
                <a:latin typeface="Arial" pitchFamily="34" charset="0"/>
                <a:ea typeface="Arial" pitchFamily="34" charset="-122"/>
                <a:cs typeface="Arial" pitchFamily="34" charset="-120"/>
              </a:rPr>
              <a:t>đèn 號誌</a:t>
            </a:r>
            <a:endParaRPr lang="en-US" sz="570" dirty="0"/>
          </a:p>
        </p:txBody>
      </p:sp>
      <p:sp>
        <p:nvSpPr>
          <p:cNvPr id="33" name="Shape 31"/>
          <p:cNvSpPr/>
          <p:nvPr/>
        </p:nvSpPr>
        <p:spPr>
          <a:xfrm>
            <a:off x="1707792" y="2377611"/>
            <a:ext cx="2721323" cy="337730"/>
          </a:xfrm>
          <a:prstGeom prst="rect">
            <a:avLst/>
          </a:prstGeom>
          <a:solidFill>
            <a:srgbClr val="0B1F3A">
              <a:alpha val="78000"/>
            </a:srgbClr>
          </a:solidFill>
          <a:ln/>
        </p:spPr>
      </p:sp>
      <p:sp>
        <p:nvSpPr>
          <p:cNvPr id="34" name="Text 32"/>
          <p:cNvSpPr txBox="1"/>
          <p:nvPr/>
        </p:nvSpPr>
        <p:spPr>
          <a:xfrm>
            <a:off x="1772740" y="2403590"/>
            <a:ext cx="2591427" cy="285771"/>
          </a:xfrm>
          <a:prstGeom prst="rect">
            <a:avLst/>
          </a:prstGeom>
          <a:noFill/>
          <a:ln/>
        </p:spPr>
        <p:txBody>
          <a:bodyPr wrap="square" lIns="0" tIns="0" rIns="0" bIns="0" rtlCol="0" anchor="t"/>
          <a:lstStyle/>
          <a:p>
            <a:pPr indent="0" marL="0">
              <a:lnSpc>
                <a:spcPct val="106000"/>
              </a:lnSpc>
              <a:buNone/>
            </a:pPr>
            <a:r>
              <a:rPr lang="en-US" sz="71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710" dirty="0"/>
          </a:p>
          <a:p>
            <a:pPr indent="0" marL="0">
              <a:lnSpc>
                <a:spcPct val="106000"/>
              </a:lnSpc>
              <a:buNone/>
            </a:pPr>
            <a:r>
              <a:rPr lang="en-US" sz="64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710" dirty="0"/>
          </a:p>
        </p:txBody>
      </p:sp>
      <p:sp>
        <p:nvSpPr>
          <p:cNvPr id="35" name="Shape 33"/>
          <p:cNvSpPr/>
          <p:nvPr/>
        </p:nvSpPr>
        <p:spPr>
          <a:xfrm>
            <a:off x="4688906" y="918340"/>
            <a:ext cx="2773281" cy="1822980"/>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18803" y="1035246"/>
            <a:ext cx="246803" cy="246803"/>
          </a:xfrm>
          <a:prstGeom prst="ellipse">
            <a:avLst/>
          </a:prstGeom>
          <a:solidFill>
            <a:srgbClr val="D9463E"/>
          </a:solidFill>
          <a:ln/>
        </p:spPr>
      </p:sp>
      <p:sp>
        <p:nvSpPr>
          <p:cNvPr id="37" name="Text 35"/>
          <p:cNvSpPr txBox="1"/>
          <p:nvPr/>
        </p:nvSpPr>
        <p:spPr>
          <a:xfrm>
            <a:off x="4818803" y="1067721"/>
            <a:ext cx="246803" cy="181855"/>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38" name="Text 36"/>
          <p:cNvSpPr txBox="1"/>
          <p:nvPr/>
        </p:nvSpPr>
        <p:spPr>
          <a:xfrm>
            <a:off x="5117564" y="1022257"/>
            <a:ext cx="2214728" cy="298761"/>
          </a:xfrm>
          <a:prstGeom prst="rect">
            <a:avLst/>
          </a:prstGeom>
          <a:noFill/>
          <a:ln/>
        </p:spPr>
        <p:txBody>
          <a:bodyPr wrap="square" lIns="0" tIns="0" rIns="0" bIns="0" rtlCol="0" anchor="ctr"/>
          <a:lstStyle/>
          <a:p>
            <a:pPr indent="0" marL="0">
              <a:buNone/>
            </a:pPr>
            <a:r>
              <a:rPr lang="en-US" sz="750" b="1" dirty="0">
                <a:solidFill>
                  <a:srgbClr val="0B1F3A"/>
                </a:solidFill>
                <a:latin typeface="Arial" pitchFamily="34" charset="0"/>
                <a:ea typeface="Arial" pitchFamily="34" charset="-122"/>
                <a:cs typeface="Arial" pitchFamily="34" charset="-120"/>
              </a:rPr>
              <a:t>CARLA 0.9.14</a:t>
            </a:r>
            <a:endParaRPr lang="en-US" sz="750" dirty="0"/>
          </a:p>
        </p:txBody>
      </p:sp>
      <p:sp>
        <p:nvSpPr>
          <p:cNvPr id="39" name="Text 37"/>
          <p:cNvSpPr txBox="1"/>
          <p:nvPr/>
        </p:nvSpPr>
        <p:spPr>
          <a:xfrm>
            <a:off x="4818803" y="1346997"/>
            <a:ext cx="2513489" cy="142886"/>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CARLA Simulator（官方）　·　3:33，播 2 分鐘就夠</a:t>
            </a:r>
            <a:endParaRPr lang="en-US" sz="640" dirty="0"/>
          </a:p>
        </p:txBody>
      </p:sp>
      <p:sp>
        <p:nvSpPr>
          <p:cNvPr id="40" name="Text 38">
            <a:hlinkClick r:id="rId1" tooltip=""/>
          </p:cNvPr>
          <p:cNvSpPr txBox="1"/>
          <p:nvPr/>
        </p:nvSpPr>
        <p:spPr>
          <a:xfrm>
            <a:off x="4818803" y="1476893"/>
            <a:ext cx="2513489" cy="142886"/>
          </a:xfrm>
          <a:prstGeom prst="rect">
            <a:avLst/>
          </a:prstGeom>
          <a:noFill/>
          <a:ln/>
        </p:spPr>
        <p:txBody>
          <a:bodyPr wrap="square" lIns="0" tIns="0" rIns="0" bIns="0" rtlCol="0" anchor="ctr"/>
          <a:lstStyle/>
          <a:p>
            <a:pPr indent="0" marL="0">
              <a:buNone/>
            </a:pPr>
            <a:r>
              <a:rPr lang="en-US" sz="6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00" dirty="0"/>
          </a:p>
        </p:txBody>
      </p:sp>
      <p:sp>
        <p:nvSpPr>
          <p:cNvPr id="41" name="Shape 39"/>
          <p:cNvSpPr/>
          <p:nvPr/>
        </p:nvSpPr>
        <p:spPr>
          <a:xfrm>
            <a:off x="4818803" y="1671737"/>
            <a:ext cx="25979" cy="168865"/>
          </a:xfrm>
          <a:prstGeom prst="rect">
            <a:avLst/>
          </a:prstGeom>
          <a:solidFill>
            <a:srgbClr val="00A896"/>
          </a:solidFill>
          <a:ln/>
        </p:spPr>
      </p:sp>
      <p:sp>
        <p:nvSpPr>
          <p:cNvPr id="42" name="Text 40"/>
          <p:cNvSpPr txBox="1"/>
          <p:nvPr/>
        </p:nvSpPr>
        <p:spPr>
          <a:xfrm>
            <a:off x="4909730" y="1645758"/>
            <a:ext cx="2435551" cy="419718"/>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670" dirty="0"/>
          </a:p>
        </p:txBody>
      </p:sp>
      <p:sp>
        <p:nvSpPr>
          <p:cNvPr id="43" name="Shape 41"/>
          <p:cNvSpPr/>
          <p:nvPr/>
        </p:nvSpPr>
        <p:spPr>
          <a:xfrm>
            <a:off x="4818803" y="2117435"/>
            <a:ext cx="25979" cy="168865"/>
          </a:xfrm>
          <a:prstGeom prst="rect">
            <a:avLst/>
          </a:prstGeom>
          <a:solidFill>
            <a:srgbClr val="00A896"/>
          </a:solidFill>
          <a:ln/>
        </p:spPr>
      </p:sp>
      <p:sp>
        <p:nvSpPr>
          <p:cNvPr id="44" name="Text 42"/>
          <p:cNvSpPr txBox="1"/>
          <p:nvPr/>
        </p:nvSpPr>
        <p:spPr>
          <a:xfrm>
            <a:off x="4909730" y="2091456"/>
            <a:ext cx="2435551" cy="222849"/>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670" dirty="0"/>
          </a:p>
        </p:txBody>
      </p:sp>
      <p:sp>
        <p:nvSpPr>
          <p:cNvPr id="45" name="Shape 43"/>
          <p:cNvSpPr/>
          <p:nvPr/>
        </p:nvSpPr>
        <p:spPr>
          <a:xfrm>
            <a:off x="4818803" y="2366263"/>
            <a:ext cx="25979" cy="168865"/>
          </a:xfrm>
          <a:prstGeom prst="rect">
            <a:avLst/>
          </a:prstGeom>
          <a:solidFill>
            <a:srgbClr val="00A896"/>
          </a:solidFill>
          <a:ln/>
        </p:spPr>
      </p:sp>
      <p:sp>
        <p:nvSpPr>
          <p:cNvPr id="46" name="Text 44"/>
          <p:cNvSpPr txBox="1"/>
          <p:nvPr/>
        </p:nvSpPr>
        <p:spPr>
          <a:xfrm>
            <a:off x="4909730" y="2340284"/>
            <a:ext cx="2435551" cy="323944"/>
          </a:xfrm>
          <a:prstGeom prst="rect">
            <a:avLst/>
          </a:prstGeom>
          <a:noFill/>
          <a:ln/>
        </p:spPr>
        <p:txBody>
          <a:bodyPr wrap="square" lIns="0" tIns="0" rIns="0" bIns="0" rtlCol="0" anchor="t"/>
          <a:lstStyle/>
          <a:p>
            <a:pPr indent="0" marL="0">
              <a:lnSpc>
                <a:spcPct val="118000"/>
              </a:lnSpc>
              <a:buNone/>
            </a:pPr>
            <a:r>
              <a:rPr lang="en-US" sz="67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670" dirty="0"/>
          </a:p>
          <a:p>
            <a:pPr indent="0" marL="0">
              <a:lnSpc>
                <a:spcPct val="118000"/>
              </a:lnSpc>
              <a:buNone/>
            </a:pPr>
            <a:r>
              <a:rPr lang="en-US" sz="64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670" dirty="0"/>
          </a:p>
        </p:txBody>
      </p:sp>
      <p:sp>
        <p:nvSpPr>
          <p:cNvPr id="47" name="Shape 45"/>
          <p:cNvSpPr/>
          <p:nvPr/>
        </p:nvSpPr>
        <p:spPr>
          <a:xfrm>
            <a:off x="1681812" y="2819258"/>
            <a:ext cx="5780375" cy="389688"/>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811708" y="2864721"/>
            <a:ext cx="5520583" cy="311751"/>
          </a:xfrm>
          <a:prstGeom prst="rect">
            <a:avLst/>
          </a:prstGeom>
          <a:noFill/>
          <a:ln/>
        </p:spPr>
        <p:txBody>
          <a:bodyPr wrap="square" lIns="0" tIns="0" rIns="0" bIns="0" rtlCol="0" anchor="t"/>
          <a:lstStyle/>
          <a:p>
            <a:pPr indent="0" marL="0">
              <a:lnSpc>
                <a:spcPct val="114000"/>
              </a:lnSpc>
              <a:buNone/>
            </a:pPr>
            <a:r>
              <a:rPr lang="en-US" sz="82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820" dirty="0"/>
          </a:p>
          <a:p>
            <a:pPr indent="0" marL="0">
              <a:lnSpc>
                <a:spcPct val="114000"/>
              </a:lnSpc>
              <a:buNone/>
            </a:pPr>
            <a:r>
              <a:rPr lang="en-US" sz="7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8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6663327" y="3338842"/>
            <a:ext cx="779376" cy="172200"/>
          </a:xfrm>
          <a:prstGeom prst="rect">
            <a:avLst/>
          </a:prstGeom>
        </p:spPr>
      </p:pic>
      <p:sp>
        <p:nvSpPr>
          <p:cNvPr id="51" name="Text 47"/>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10 / 18</a:t>
            </a:r>
            <a:endParaRPr lang="en-US" sz="640" dirty="0"/>
          </a:p>
        </p:txBody>
      </p:sp>
      <p:sp>
        <p:nvSpPr>
          <p:cNvPr id="52" name="Text 48"/>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1228031"/>
            <a:ext cx="3247402" cy="220823"/>
          </a:xfrm>
          <a:prstGeom prst="rect">
            <a:avLst/>
          </a:prstGeom>
          <a:noFill/>
          <a:ln/>
        </p:spPr>
        <p:txBody>
          <a:bodyPr wrap="square" lIns="0" tIns="0" rIns="0" bIns="0" rtlCol="0" anchor="ctr"/>
          <a:lstStyle/>
          <a:p>
            <a:pPr indent="0" marL="0">
              <a:buNone/>
            </a:pPr>
            <a:endParaRPr lang="en-US" sz="960" dirty="0"/>
          </a:p>
        </p:txBody>
      </p:sp>
      <p:sp>
        <p:nvSpPr>
          <p:cNvPr id="5" name="Text 3"/>
          <p:cNvSpPr txBox="1"/>
          <p:nvPr/>
        </p:nvSpPr>
        <p:spPr>
          <a:xfrm>
            <a:off x="1681812" y="1481328"/>
            <a:ext cx="5195843" cy="844324"/>
          </a:xfrm>
          <a:prstGeom prst="rect">
            <a:avLst/>
          </a:prstGeom>
          <a:noFill/>
          <a:ln/>
        </p:spPr>
        <p:txBody>
          <a:bodyPr wrap="square" lIns="0" tIns="0" rIns="0" bIns="0" rtlCol="0" anchor="t"/>
          <a:lstStyle/>
          <a:p>
            <a:pPr indent="0" marL="0">
              <a:lnSpc>
                <a:spcPct val="118000"/>
              </a:lnSpc>
              <a:buNone/>
            </a:pPr>
            <a:r>
              <a:rPr lang="en-US" sz="2060" b="1" dirty="0">
                <a:solidFill>
                  <a:srgbClr val="FFFFFF"/>
                </a:solidFill>
                <a:latin typeface="Arial" pitchFamily="34" charset="0"/>
                <a:ea typeface="Arial" pitchFamily="34" charset="-122"/>
                <a:cs typeface="Arial" pitchFamily="34" charset="-120"/>
              </a:rPr>
              <a:t>Vì sao chạy tốt trong mô phỏng vẫn chưa đủ</a:t>
            </a:r>
            <a:endParaRPr lang="en-US" sz="2060" dirty="0"/>
          </a:p>
          <a:p>
            <a:pPr indent="0" marL="0">
              <a:lnSpc>
                <a:spcPct val="118000"/>
              </a:lnSpc>
              <a:buNone/>
            </a:pPr>
            <a:r>
              <a:rPr lang="en-US" sz="121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060" dirty="0"/>
          </a:p>
        </p:txBody>
      </p:sp>
      <p:sp>
        <p:nvSpPr>
          <p:cNvPr id="7" name="Text 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11 / 18</a:t>
            </a:r>
            <a:endParaRPr lang="en-US" sz="640" dirty="0"/>
          </a:p>
        </p:txBody>
      </p:sp>
      <p:sp>
        <p:nvSpPr>
          <p:cNvPr id="8" name="Text 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Khoảng cách 1 / 3 · 落差之一</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15665" y="1480679"/>
            <a:ext cx="885891" cy="503347"/>
          </a:xfrm>
          <a:prstGeom prst="roundRect">
            <a:avLst>
              <a:gd name="adj" fmla="val 18065"/>
            </a:avLst>
          </a:prstGeom>
          <a:solidFill>
            <a:srgbClr val="4FA8FF"/>
          </a:solidFill>
          <a:ln/>
        </p:spPr>
      </p:sp>
      <p:sp>
        <p:nvSpPr>
          <p:cNvPr id="5" name="Shape 3"/>
          <p:cNvSpPr/>
          <p:nvPr/>
        </p:nvSpPr>
        <p:spPr>
          <a:xfrm>
            <a:off x="2317004" y="1380009"/>
            <a:ext cx="261741" cy="120803"/>
          </a:xfrm>
          <a:prstGeom prst="roundRect">
            <a:avLst>
              <a:gd name="adj" fmla="val 161291"/>
            </a:avLst>
          </a:prstGeom>
          <a:solidFill>
            <a:srgbClr val="4FA8FF"/>
          </a:solidFill>
          <a:ln/>
        </p:spPr>
      </p:sp>
      <p:sp>
        <p:nvSpPr>
          <p:cNvPr id="6" name="Shape 4"/>
          <p:cNvSpPr/>
          <p:nvPr/>
        </p:nvSpPr>
        <p:spPr>
          <a:xfrm>
            <a:off x="2397540" y="1561214"/>
            <a:ext cx="322142" cy="322142"/>
          </a:xfrm>
          <a:prstGeom prst="ellipse">
            <a:avLst/>
          </a:prstGeom>
          <a:solidFill>
            <a:srgbClr val="FFFFFF"/>
          </a:solidFill>
          <a:ln/>
        </p:spPr>
      </p:sp>
      <p:sp>
        <p:nvSpPr>
          <p:cNvPr id="7" name="Shape 5"/>
          <p:cNvSpPr/>
          <p:nvPr/>
        </p:nvSpPr>
        <p:spPr>
          <a:xfrm>
            <a:off x="2468008" y="1631683"/>
            <a:ext cx="181205" cy="181205"/>
          </a:xfrm>
          <a:prstGeom prst="ellipse">
            <a:avLst/>
          </a:prstGeom>
          <a:solidFill>
            <a:srgbClr val="4FA8FF">
              <a:alpha val="70000"/>
            </a:srgbClr>
          </a:solidFill>
          <a:ln/>
        </p:spPr>
      </p:sp>
      <p:sp>
        <p:nvSpPr>
          <p:cNvPr id="8" name="Shape 6"/>
          <p:cNvSpPr/>
          <p:nvPr/>
        </p:nvSpPr>
        <p:spPr>
          <a:xfrm>
            <a:off x="2800218" y="1541080"/>
            <a:ext cx="100669" cy="100669"/>
          </a:xfrm>
          <a:prstGeom prst="ellipse">
            <a:avLst/>
          </a:prstGeom>
          <a:solidFill>
            <a:srgbClr val="FFFFFF">
              <a:alpha val="60000"/>
            </a:srgbClr>
          </a:solidFill>
          <a:ln/>
        </p:spPr>
      </p:sp>
      <p:sp>
        <p:nvSpPr>
          <p:cNvPr id="9" name="Text 7"/>
          <p:cNvSpPr txBox="1"/>
          <p:nvPr/>
        </p:nvSpPr>
        <p:spPr>
          <a:xfrm>
            <a:off x="3760150" y="838903"/>
            <a:ext cx="3702038" cy="963171"/>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630" dirty="0"/>
          </a:p>
        </p:txBody>
      </p:sp>
      <p:sp>
        <p:nvSpPr>
          <p:cNvPr id="10" name="Text 8"/>
          <p:cNvSpPr txBox="1"/>
          <p:nvPr/>
        </p:nvSpPr>
        <p:spPr>
          <a:xfrm>
            <a:off x="3760150" y="1867022"/>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890" dirty="0"/>
          </a:p>
        </p:txBody>
      </p:sp>
      <p:sp>
        <p:nvSpPr>
          <p:cNvPr id="11" name="Shape 9"/>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8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15" name="Text 11"/>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12 / 18</a:t>
            </a:r>
            <a:endParaRPr lang="en-US" sz="640" dirty="0"/>
          </a:p>
        </p:txBody>
      </p:sp>
      <p:sp>
        <p:nvSpPr>
          <p:cNvPr id="16" name="Text 12"/>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Khoảng cách 2 / 3 · 落差之二</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961349" y="1449633"/>
            <a:ext cx="1194524" cy="0"/>
          </a:xfrm>
          <a:prstGeom prst="line">
            <a:avLst/>
          </a:prstGeom>
          <a:noFill/>
          <a:ln w="12700">
            <a:solidFill>
              <a:srgbClr val="9AA6B0"/>
            </a:solidFill>
            <a:prstDash val="dash"/>
          </a:ln>
        </p:spPr>
      </p:sp>
      <p:sp>
        <p:nvSpPr>
          <p:cNvPr id="5" name="Shape 3"/>
          <p:cNvSpPr/>
          <p:nvPr/>
        </p:nvSpPr>
        <p:spPr>
          <a:xfrm>
            <a:off x="1961349" y="1639022"/>
            <a:ext cx="1194524" cy="0"/>
          </a:xfrm>
          <a:prstGeom prst="line">
            <a:avLst/>
          </a:prstGeom>
          <a:noFill/>
          <a:ln w="12700">
            <a:solidFill>
              <a:srgbClr val="9AA6B0"/>
            </a:solidFill>
            <a:prstDash val="dash"/>
          </a:ln>
        </p:spPr>
      </p:sp>
      <p:sp>
        <p:nvSpPr>
          <p:cNvPr id="6" name="Shape 4"/>
          <p:cNvSpPr/>
          <p:nvPr/>
        </p:nvSpPr>
        <p:spPr>
          <a:xfrm>
            <a:off x="1961349" y="1544328"/>
            <a:ext cx="1100220" cy="0"/>
          </a:xfrm>
          <a:prstGeom prst="line">
            <a:avLst/>
          </a:prstGeom>
          <a:noFill/>
          <a:ln w="25400">
            <a:solidFill>
              <a:srgbClr val="1F4E79"/>
            </a:solidFill>
            <a:prstDash val="solid"/>
            <a:tailEnd type="triangle"/>
          </a:ln>
        </p:spPr>
      </p:sp>
      <p:sp>
        <p:nvSpPr>
          <p:cNvPr id="7" name="Shape 5"/>
          <p:cNvSpPr/>
          <p:nvPr/>
        </p:nvSpPr>
        <p:spPr>
          <a:xfrm>
            <a:off x="1961349" y="2049364"/>
            <a:ext cx="1194524" cy="0"/>
          </a:xfrm>
          <a:prstGeom prst="line">
            <a:avLst/>
          </a:prstGeom>
          <a:noFill/>
          <a:ln w="12700">
            <a:solidFill>
              <a:srgbClr val="9AA6B0"/>
            </a:solidFill>
            <a:prstDash val="dash"/>
          </a:ln>
        </p:spPr>
      </p:sp>
      <p:sp>
        <p:nvSpPr>
          <p:cNvPr id="8" name="Shape 6"/>
          <p:cNvSpPr/>
          <p:nvPr/>
        </p:nvSpPr>
        <p:spPr>
          <a:xfrm>
            <a:off x="1961349" y="2238752"/>
            <a:ext cx="1194524" cy="0"/>
          </a:xfrm>
          <a:prstGeom prst="line">
            <a:avLst/>
          </a:prstGeom>
          <a:noFill/>
          <a:ln w="12700">
            <a:solidFill>
              <a:srgbClr val="9AA6B0"/>
            </a:solidFill>
            <a:prstDash val="dash"/>
          </a:ln>
        </p:spPr>
      </p:sp>
      <p:sp>
        <p:nvSpPr>
          <p:cNvPr id="9" name="Shape 7"/>
          <p:cNvSpPr/>
          <p:nvPr/>
        </p:nvSpPr>
        <p:spPr>
          <a:xfrm flipV="1">
            <a:off x="1961349" y="2080928"/>
            <a:ext cx="298631" cy="126259"/>
          </a:xfrm>
          <a:prstGeom prst="line">
            <a:avLst/>
          </a:prstGeom>
          <a:noFill/>
          <a:ln w="25400">
            <a:solidFill>
              <a:srgbClr val="D9463E"/>
            </a:solidFill>
            <a:prstDash val="solid"/>
          </a:ln>
        </p:spPr>
      </p:sp>
      <p:sp>
        <p:nvSpPr>
          <p:cNvPr id="10" name="Shape 8"/>
          <p:cNvSpPr/>
          <p:nvPr/>
        </p:nvSpPr>
        <p:spPr>
          <a:xfrm>
            <a:off x="2259980" y="2080928"/>
            <a:ext cx="298631" cy="142041"/>
          </a:xfrm>
          <a:prstGeom prst="line">
            <a:avLst/>
          </a:prstGeom>
          <a:noFill/>
          <a:ln w="25400">
            <a:solidFill>
              <a:srgbClr val="D9463E"/>
            </a:solidFill>
            <a:prstDash val="solid"/>
          </a:ln>
        </p:spPr>
      </p:sp>
      <p:sp>
        <p:nvSpPr>
          <p:cNvPr id="11" name="Shape 9"/>
          <p:cNvSpPr/>
          <p:nvPr/>
        </p:nvSpPr>
        <p:spPr>
          <a:xfrm flipV="1">
            <a:off x="2558611" y="2017799"/>
            <a:ext cx="298631" cy="205171"/>
          </a:xfrm>
          <a:prstGeom prst="line">
            <a:avLst/>
          </a:prstGeom>
          <a:noFill/>
          <a:ln w="25400">
            <a:solidFill>
              <a:srgbClr val="D9463E"/>
            </a:solidFill>
            <a:prstDash val="solid"/>
          </a:ln>
        </p:spPr>
      </p:sp>
      <p:sp>
        <p:nvSpPr>
          <p:cNvPr id="12" name="Shape 10"/>
          <p:cNvSpPr/>
          <p:nvPr/>
        </p:nvSpPr>
        <p:spPr>
          <a:xfrm>
            <a:off x="2857242" y="2017799"/>
            <a:ext cx="204327" cy="126259"/>
          </a:xfrm>
          <a:prstGeom prst="line">
            <a:avLst/>
          </a:prstGeom>
          <a:noFill/>
          <a:ln w="25400">
            <a:solidFill>
              <a:srgbClr val="D9463E"/>
            </a:solidFill>
            <a:prstDash val="solid"/>
            <a:tailEnd type="triangle"/>
          </a:ln>
        </p:spPr>
      </p:sp>
      <p:sp>
        <p:nvSpPr>
          <p:cNvPr id="13" name="Text 11"/>
          <p:cNvSpPr txBox="1"/>
          <p:nvPr/>
        </p:nvSpPr>
        <p:spPr>
          <a:xfrm>
            <a:off x="3760150" y="838903"/>
            <a:ext cx="3702038" cy="963171"/>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1630" dirty="0"/>
          </a:p>
        </p:txBody>
      </p:sp>
      <p:sp>
        <p:nvSpPr>
          <p:cNvPr id="14" name="Text 12"/>
          <p:cNvSpPr txBox="1"/>
          <p:nvPr/>
        </p:nvSpPr>
        <p:spPr>
          <a:xfrm>
            <a:off x="3760150" y="1867022"/>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890" dirty="0"/>
          </a:p>
        </p:txBody>
      </p:sp>
      <p:sp>
        <p:nvSpPr>
          <p:cNvPr id="15" name="Shape 13"/>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89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19" name="Text 15"/>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13 / 18</a:t>
            </a:r>
            <a:endParaRPr lang="en-US" sz="640" dirty="0"/>
          </a:p>
        </p:txBody>
      </p:sp>
      <p:sp>
        <p:nvSpPr>
          <p:cNvPr id="20" name="Text 16"/>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Khoảng cách 3 / 3 · 落差之三</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095531" y="1641750"/>
            <a:ext cx="926159" cy="281874"/>
          </a:xfrm>
          <a:prstGeom prst="roundRect">
            <a:avLst>
              <a:gd name="adj" fmla="val 69125"/>
            </a:avLst>
          </a:prstGeom>
          <a:solidFill>
            <a:srgbClr val="9FB0BE"/>
          </a:solidFill>
          <a:ln/>
        </p:spPr>
      </p:sp>
      <p:sp>
        <p:nvSpPr>
          <p:cNvPr id="5" name="Shape 3"/>
          <p:cNvSpPr/>
          <p:nvPr/>
        </p:nvSpPr>
        <p:spPr>
          <a:xfrm>
            <a:off x="2296870" y="1440411"/>
            <a:ext cx="503347" cy="221473"/>
          </a:xfrm>
          <a:prstGeom prst="trapezoid">
            <a:avLst/>
          </a:prstGeom>
          <a:solidFill>
            <a:srgbClr val="9FB0BE">
              <a:alpha val="70000"/>
            </a:srgbClr>
          </a:solidFill>
          <a:ln/>
        </p:spPr>
      </p:sp>
      <p:sp>
        <p:nvSpPr>
          <p:cNvPr id="6" name="Shape 4"/>
          <p:cNvSpPr/>
          <p:nvPr/>
        </p:nvSpPr>
        <p:spPr>
          <a:xfrm>
            <a:off x="2216335" y="1863222"/>
            <a:ext cx="201339" cy="201339"/>
          </a:xfrm>
          <a:prstGeom prst="ellipse">
            <a:avLst/>
          </a:prstGeom>
          <a:solidFill>
            <a:srgbClr val="9FB0BE"/>
          </a:solidFill>
          <a:ln/>
        </p:spPr>
      </p:sp>
      <p:sp>
        <p:nvSpPr>
          <p:cNvPr id="7" name="Shape 5"/>
          <p:cNvSpPr/>
          <p:nvPr/>
        </p:nvSpPr>
        <p:spPr>
          <a:xfrm>
            <a:off x="2699548" y="1863222"/>
            <a:ext cx="201339" cy="201339"/>
          </a:xfrm>
          <a:prstGeom prst="ellipse">
            <a:avLst/>
          </a:prstGeom>
          <a:solidFill>
            <a:srgbClr val="9FB0BE"/>
          </a:solidFill>
          <a:ln/>
        </p:spPr>
      </p:sp>
      <p:sp>
        <p:nvSpPr>
          <p:cNvPr id="8" name="Shape 6"/>
          <p:cNvSpPr/>
          <p:nvPr/>
        </p:nvSpPr>
        <p:spPr>
          <a:xfrm>
            <a:off x="2266669" y="1913557"/>
            <a:ext cx="100669" cy="100669"/>
          </a:xfrm>
          <a:prstGeom prst="ellipse">
            <a:avLst/>
          </a:prstGeom>
          <a:solidFill>
            <a:srgbClr val="FFFFFF"/>
          </a:solidFill>
          <a:ln/>
        </p:spPr>
      </p:sp>
      <p:sp>
        <p:nvSpPr>
          <p:cNvPr id="9" name="Shape 7"/>
          <p:cNvSpPr/>
          <p:nvPr/>
        </p:nvSpPr>
        <p:spPr>
          <a:xfrm>
            <a:off x="2749883" y="1913557"/>
            <a:ext cx="100669" cy="100669"/>
          </a:xfrm>
          <a:prstGeom prst="ellipse">
            <a:avLst/>
          </a:prstGeom>
          <a:solidFill>
            <a:srgbClr val="FFFFFF"/>
          </a:solidFill>
          <a:ln/>
        </p:spPr>
      </p:sp>
      <p:sp>
        <p:nvSpPr>
          <p:cNvPr id="10" name="Text 8"/>
          <p:cNvSpPr txBox="1"/>
          <p:nvPr/>
        </p:nvSpPr>
        <p:spPr>
          <a:xfrm>
            <a:off x="3760150" y="887602"/>
            <a:ext cx="3702038" cy="865774"/>
          </a:xfrm>
          <a:prstGeom prst="rect">
            <a:avLst/>
          </a:prstGeom>
          <a:noFill/>
          <a:ln/>
        </p:spPr>
        <p:txBody>
          <a:bodyPr wrap="square" lIns="0" tIns="0" rIns="0" bIns="0" rtlCol="0" anchor="t"/>
          <a:lstStyle/>
          <a:p>
            <a:pPr indent="0" marL="0">
              <a:lnSpc>
                <a:spcPct val="120000"/>
              </a:lnSpc>
              <a:buNone/>
            </a:pPr>
            <a:r>
              <a:rPr lang="en-US" sz="142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142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1420" dirty="0"/>
          </a:p>
        </p:txBody>
      </p:sp>
      <p:sp>
        <p:nvSpPr>
          <p:cNvPr id="11" name="Text 9"/>
          <p:cNvSpPr txBox="1"/>
          <p:nvPr/>
        </p:nvSpPr>
        <p:spPr>
          <a:xfrm>
            <a:off x="3760150" y="1818323"/>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890" dirty="0"/>
          </a:p>
        </p:txBody>
      </p:sp>
      <p:sp>
        <p:nvSpPr>
          <p:cNvPr id="12" name="Shape 10"/>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89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16" name="Text 12"/>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14 / 18</a:t>
            </a:r>
            <a:endParaRPr lang="en-US" sz="640" dirty="0"/>
          </a:p>
        </p:txBody>
      </p:sp>
      <p:sp>
        <p:nvSpPr>
          <p:cNvPr id="17" name="Text 13"/>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681812" y="325253"/>
            <a:ext cx="5780375" cy="194844"/>
          </a:xfrm>
          <a:prstGeom prst="rect">
            <a:avLst/>
          </a:prstGeom>
          <a:noFill/>
          <a:ln/>
        </p:spPr>
        <p:txBody>
          <a:bodyPr wrap="square" lIns="0" tIns="0" rIns="0" bIns="0" rtlCol="0" anchor="ctr"/>
          <a:lstStyle/>
          <a:p>
            <a:pPr indent="0" marL="0">
              <a:buNone/>
            </a:pPr>
            <a:r>
              <a:rPr lang="en-US" sz="890" b="1" dirty="0">
                <a:solidFill>
                  <a:srgbClr val="007F72"/>
                </a:solidFill>
                <a:latin typeface="Arial" pitchFamily="34" charset="0"/>
                <a:ea typeface="Arial" pitchFamily="34" charset="-122"/>
                <a:cs typeface="Arial" pitchFamily="34" charset="-120"/>
              </a:rPr>
              <a:t>Ngược lại · 反過來看</a:t>
            </a:r>
            <a:endParaRPr lang="en-US" sz="890" dirty="0"/>
          </a:p>
        </p:txBody>
      </p:sp>
      <p:sp>
        <p:nvSpPr>
          <p:cNvPr id="3" name="Shape 1"/>
          <p:cNvSpPr/>
          <p:nvPr/>
        </p:nvSpPr>
        <p:spPr>
          <a:xfrm>
            <a:off x="1681812" y="809116"/>
            <a:ext cx="1753597" cy="1786071"/>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385719" y="1591675"/>
            <a:ext cx="660132" cy="536601"/>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275697" y="1481198"/>
            <a:ext cx="660132" cy="536601"/>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2165675" y="1370721"/>
            <a:ext cx="660132" cy="536601"/>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2055653" y="1260245"/>
            <a:ext cx="660132" cy="536601"/>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1772740" y="2080928"/>
            <a:ext cx="1571743" cy="284083"/>
          </a:xfrm>
          <a:prstGeom prst="rect">
            <a:avLst/>
          </a:prstGeom>
          <a:noFill/>
          <a:ln/>
        </p:spPr>
        <p:txBody>
          <a:bodyPr wrap="square" lIns="0" tIns="0" rIns="0" bIns="0" rtlCol="0" anchor="ctr"/>
          <a:lstStyle/>
          <a:p>
            <a:pPr algn="ctr" indent="0" marL="0">
              <a:buNone/>
            </a:pPr>
            <a:r>
              <a:rPr lang="en-US" sz="780" b="1" dirty="0">
                <a:solidFill>
                  <a:srgbClr val="00A896"/>
                </a:solidFill>
                <a:latin typeface="Arial" pitchFamily="34" charset="0"/>
                <a:ea typeface="Arial" pitchFamily="34" charset="-122"/>
                <a:cs typeface="Arial" pitchFamily="34" charset="-120"/>
              </a:rPr>
              <a:t>× 10 000</a:t>
            </a:r>
            <a:endParaRPr lang="en-US" sz="780" dirty="0"/>
          </a:p>
        </p:txBody>
      </p:sp>
      <p:sp>
        <p:nvSpPr>
          <p:cNvPr id="9" name="Text 7"/>
          <p:cNvSpPr txBox="1"/>
          <p:nvPr/>
        </p:nvSpPr>
        <p:spPr>
          <a:xfrm>
            <a:off x="3760150" y="963355"/>
            <a:ext cx="3702038" cy="714266"/>
          </a:xfrm>
          <a:prstGeom prst="rect">
            <a:avLst/>
          </a:prstGeom>
          <a:noFill/>
          <a:ln/>
        </p:spPr>
        <p:txBody>
          <a:bodyPr wrap="square" lIns="0" tIns="0" rIns="0" bIns="0" rtlCol="0" anchor="t"/>
          <a:lstStyle/>
          <a:p>
            <a:pPr indent="0" marL="0">
              <a:lnSpc>
                <a:spcPct val="120000"/>
              </a:lnSpc>
              <a:buNone/>
            </a:pPr>
            <a:r>
              <a:rPr lang="en-US" sz="163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1630" dirty="0"/>
          </a:p>
          <a:p>
            <a:pPr indent="0" marL="0">
              <a:lnSpc>
                <a:spcPct val="120000"/>
              </a:lnSpc>
              <a:buNone/>
            </a:pPr>
            <a:r>
              <a:rPr lang="en-US" sz="99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1630" dirty="0"/>
          </a:p>
        </p:txBody>
      </p:sp>
      <p:sp>
        <p:nvSpPr>
          <p:cNvPr id="10" name="Text 8"/>
          <p:cNvSpPr txBox="1"/>
          <p:nvPr/>
        </p:nvSpPr>
        <p:spPr>
          <a:xfrm>
            <a:off x="3760150" y="1742570"/>
            <a:ext cx="3702038" cy="763326"/>
          </a:xfrm>
          <a:prstGeom prst="rect">
            <a:avLst/>
          </a:prstGeom>
          <a:noFill/>
          <a:ln/>
        </p:spPr>
        <p:txBody>
          <a:bodyPr wrap="square" lIns="0" tIns="0" rIns="0" bIns="0" rtlCol="0" anchor="t"/>
          <a:lstStyle/>
          <a:p>
            <a:pPr indent="0" marL="0">
              <a:lnSpc>
                <a:spcPct val="128000"/>
              </a:lnSpc>
              <a:buNone/>
            </a:pPr>
            <a:r>
              <a:rPr lang="en-US" sz="89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890" dirty="0"/>
          </a:p>
          <a:p>
            <a:pPr indent="0" marL="0">
              <a:lnSpc>
                <a:spcPct val="128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890" dirty="0"/>
          </a:p>
        </p:txBody>
      </p:sp>
      <p:sp>
        <p:nvSpPr>
          <p:cNvPr id="11" name="Shape 9"/>
          <p:cNvSpPr/>
          <p:nvPr/>
        </p:nvSpPr>
        <p:spPr>
          <a:xfrm>
            <a:off x="1681812" y="2806268"/>
            <a:ext cx="5780375" cy="441647"/>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811708" y="2858226"/>
            <a:ext cx="5520583" cy="350719"/>
          </a:xfrm>
          <a:prstGeom prst="rect">
            <a:avLst/>
          </a:prstGeom>
          <a:noFill/>
          <a:ln/>
        </p:spPr>
        <p:txBody>
          <a:bodyPr wrap="square" lIns="0" tIns="0" rIns="0" bIns="0" rtlCol="0" anchor="t"/>
          <a:lstStyle/>
          <a:p>
            <a:pPr indent="0" marL="0">
              <a:lnSpc>
                <a:spcPct val="116000"/>
              </a:lnSpc>
              <a:buNone/>
            </a:pPr>
            <a:r>
              <a:rPr lang="en-US" sz="89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89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89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15" name="Text 11"/>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15 / 18</a:t>
            </a:r>
            <a:endParaRPr lang="en-US" sz="640" dirty="0"/>
          </a:p>
        </p:txBody>
      </p:sp>
      <p:sp>
        <p:nvSpPr>
          <p:cNvPr id="16" name="Text 12"/>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681812" y="234326"/>
            <a:ext cx="5780375" cy="5975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560" dirty="0"/>
          </a:p>
        </p:txBody>
      </p:sp>
      <p:sp>
        <p:nvSpPr>
          <p:cNvPr id="3" name="Shape 1"/>
          <p:cNvSpPr/>
          <p:nvPr/>
        </p:nvSpPr>
        <p:spPr>
          <a:xfrm>
            <a:off x="1681812" y="831848"/>
            <a:ext cx="5780375" cy="506595"/>
          </a:xfrm>
          <a:prstGeom prst="roundRect">
            <a:avLst>
              <a:gd name="adj" fmla="val 10256"/>
            </a:avLst>
          </a:prstGeom>
          <a:solidFill>
            <a:srgbClr val="EAF6F4"/>
          </a:solidFill>
          <a:ln/>
        </p:spPr>
      </p:sp>
      <p:sp>
        <p:nvSpPr>
          <p:cNvPr id="4" name="Text 2"/>
          <p:cNvSpPr txBox="1"/>
          <p:nvPr/>
        </p:nvSpPr>
        <p:spPr>
          <a:xfrm>
            <a:off x="1785729" y="883806"/>
            <a:ext cx="5572542" cy="402678"/>
          </a:xfrm>
          <a:prstGeom prst="rect">
            <a:avLst/>
          </a:prstGeom>
          <a:noFill/>
          <a:ln/>
        </p:spPr>
        <p:txBody>
          <a:bodyPr wrap="square" lIns="0" tIns="0" rIns="0" bIns="0" rtlCol="0" anchor="t"/>
          <a:lstStyle/>
          <a:p>
            <a:pPr indent="0" marL="0">
              <a:lnSpc>
                <a:spcPct val="110000"/>
              </a:lnSpc>
              <a:buNone/>
            </a:pPr>
            <a:r>
              <a:rPr lang="en-US" sz="82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82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8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681812" y="1416380"/>
          <a:ext cx="5780375" cy="914400"/>
        </p:xfrm>
        <a:graphic>
          <a:graphicData uri="http://schemas.openxmlformats.org/drawingml/2006/table">
            <a:tbl>
              <a:tblPr/>
              <a:tblGrid>
                <a:gridCol w="974221"/>
                <a:gridCol w="2403077"/>
                <a:gridCol w="2403077"/>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81812" y="2931125"/>
            <a:ext cx="5780375" cy="32474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663327" y="3338842"/>
            <a:ext cx="779376" cy="172200"/>
          </a:xfrm>
          <a:prstGeom prst="rect">
            <a:avLst/>
          </a:prstGeom>
        </p:spPr>
      </p:pic>
      <p:sp>
        <p:nvSpPr>
          <p:cNvPr id="9" name="Text 4"/>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16 / 18</a:t>
            </a:r>
            <a:endParaRPr lang="en-US" sz="640" dirty="0"/>
          </a:p>
        </p:txBody>
      </p:sp>
      <p:sp>
        <p:nvSpPr>
          <p:cNvPr id="10" name="Text 5"/>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364222"/>
            <a:ext cx="4806155" cy="194844"/>
          </a:xfrm>
          <a:prstGeom prst="rect">
            <a:avLst/>
          </a:prstGeom>
          <a:noFill/>
          <a:ln/>
        </p:spPr>
        <p:txBody>
          <a:bodyPr wrap="square" lIns="0" tIns="0" rIns="0" bIns="0" rtlCol="0" anchor="ctr"/>
          <a:lstStyle/>
          <a:p>
            <a:pPr indent="0" marL="0">
              <a:buNone/>
            </a:pPr>
            <a:r>
              <a:rPr lang="en-US" sz="890" b="1" dirty="0">
                <a:solidFill>
                  <a:srgbClr val="FFB020"/>
                </a:solidFill>
                <a:latin typeface="Arial" pitchFamily="34" charset="0"/>
                <a:ea typeface="Arial" pitchFamily="34" charset="-122"/>
                <a:cs typeface="Arial" pitchFamily="34" charset="-120"/>
              </a:rPr>
              <a:t>Thảo luận · 討論（上週的回家作業）</a:t>
            </a:r>
            <a:endParaRPr lang="en-US" sz="890" dirty="0"/>
          </a:p>
        </p:txBody>
      </p:sp>
      <p:sp>
        <p:nvSpPr>
          <p:cNvPr id="5" name="Text 3"/>
          <p:cNvSpPr txBox="1"/>
          <p:nvPr/>
        </p:nvSpPr>
        <p:spPr>
          <a:xfrm>
            <a:off x="1681812" y="585045"/>
            <a:ext cx="5715427" cy="870304"/>
          </a:xfrm>
          <a:prstGeom prst="rect">
            <a:avLst/>
          </a:prstGeom>
          <a:noFill/>
          <a:ln/>
        </p:spPr>
        <p:txBody>
          <a:bodyPr wrap="square" lIns="0" tIns="0" rIns="0" bIns="0" rtlCol="0" anchor="t"/>
          <a:lstStyle/>
          <a:p>
            <a:pPr indent="0" marL="0">
              <a:lnSpc>
                <a:spcPct val="120000"/>
              </a:lnSpc>
              <a:buNone/>
            </a:pPr>
            <a:r>
              <a:rPr lang="en-US" sz="16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630" dirty="0"/>
          </a:p>
          <a:p>
            <a:pPr indent="0" marL="0">
              <a:lnSpc>
                <a:spcPct val="120000"/>
              </a:lnSpc>
              <a:buNone/>
            </a:pPr>
            <a:r>
              <a:rPr lang="en-US" sz="107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630" dirty="0"/>
          </a:p>
        </p:txBody>
      </p:sp>
      <p:sp>
        <p:nvSpPr>
          <p:cNvPr id="6" name="Shape 4"/>
          <p:cNvSpPr/>
          <p:nvPr/>
        </p:nvSpPr>
        <p:spPr>
          <a:xfrm>
            <a:off x="1681812" y="1362092"/>
            <a:ext cx="5780375" cy="441647"/>
          </a:xfrm>
          <a:prstGeom prst="roundRect">
            <a:avLst>
              <a:gd name="adj" fmla="val 11765"/>
            </a:avLst>
          </a:prstGeom>
          <a:solidFill>
            <a:srgbClr val="13314F"/>
          </a:solidFill>
          <a:ln/>
        </p:spPr>
      </p:sp>
      <p:sp>
        <p:nvSpPr>
          <p:cNvPr id="7" name="Shape 5"/>
          <p:cNvSpPr/>
          <p:nvPr/>
        </p:nvSpPr>
        <p:spPr>
          <a:xfrm>
            <a:off x="1798719" y="1466008"/>
            <a:ext cx="233813" cy="233813"/>
          </a:xfrm>
          <a:prstGeom prst="ellipse">
            <a:avLst/>
          </a:prstGeom>
          <a:solidFill>
            <a:srgbClr val="00A896"/>
          </a:solidFill>
          <a:ln/>
        </p:spPr>
      </p:sp>
      <p:sp>
        <p:nvSpPr>
          <p:cNvPr id="8" name="Text 6"/>
          <p:cNvSpPr txBox="1"/>
          <p:nvPr/>
        </p:nvSpPr>
        <p:spPr>
          <a:xfrm>
            <a:off x="1798719" y="1485493"/>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9" name="Text 7"/>
          <p:cNvSpPr txBox="1"/>
          <p:nvPr/>
        </p:nvSpPr>
        <p:spPr>
          <a:xfrm>
            <a:off x="2149438" y="1394566"/>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890" dirty="0"/>
          </a:p>
        </p:txBody>
      </p:sp>
      <p:sp>
        <p:nvSpPr>
          <p:cNvPr id="10" name="Shape 8"/>
          <p:cNvSpPr/>
          <p:nvPr/>
        </p:nvSpPr>
        <p:spPr>
          <a:xfrm>
            <a:off x="1681812" y="1868686"/>
            <a:ext cx="5780375" cy="441647"/>
          </a:xfrm>
          <a:prstGeom prst="roundRect">
            <a:avLst>
              <a:gd name="adj" fmla="val 11765"/>
            </a:avLst>
          </a:prstGeom>
          <a:solidFill>
            <a:srgbClr val="13314F"/>
          </a:solidFill>
          <a:ln/>
        </p:spPr>
      </p:sp>
      <p:sp>
        <p:nvSpPr>
          <p:cNvPr id="11" name="Shape 9"/>
          <p:cNvSpPr/>
          <p:nvPr/>
        </p:nvSpPr>
        <p:spPr>
          <a:xfrm>
            <a:off x="1798719" y="1972603"/>
            <a:ext cx="233813" cy="233813"/>
          </a:xfrm>
          <a:prstGeom prst="ellipse">
            <a:avLst/>
          </a:prstGeom>
          <a:solidFill>
            <a:srgbClr val="00A896"/>
          </a:solidFill>
          <a:ln/>
        </p:spPr>
      </p:sp>
      <p:sp>
        <p:nvSpPr>
          <p:cNvPr id="12" name="Text 10"/>
          <p:cNvSpPr txBox="1"/>
          <p:nvPr/>
        </p:nvSpPr>
        <p:spPr>
          <a:xfrm>
            <a:off x="1798719" y="1992087"/>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3" name="Text 11"/>
          <p:cNvSpPr txBox="1"/>
          <p:nvPr/>
        </p:nvSpPr>
        <p:spPr>
          <a:xfrm>
            <a:off x="2149438" y="1901160"/>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890" dirty="0"/>
          </a:p>
        </p:txBody>
      </p:sp>
      <p:sp>
        <p:nvSpPr>
          <p:cNvPr id="14" name="Shape 12"/>
          <p:cNvSpPr/>
          <p:nvPr/>
        </p:nvSpPr>
        <p:spPr>
          <a:xfrm>
            <a:off x="1681812" y="2375281"/>
            <a:ext cx="5780375" cy="441647"/>
          </a:xfrm>
          <a:prstGeom prst="roundRect">
            <a:avLst>
              <a:gd name="adj" fmla="val 11765"/>
            </a:avLst>
          </a:prstGeom>
          <a:solidFill>
            <a:srgbClr val="13314F"/>
          </a:solidFill>
          <a:ln/>
        </p:spPr>
      </p:sp>
      <p:sp>
        <p:nvSpPr>
          <p:cNvPr id="15" name="Shape 13"/>
          <p:cNvSpPr/>
          <p:nvPr/>
        </p:nvSpPr>
        <p:spPr>
          <a:xfrm>
            <a:off x="1798719" y="2479198"/>
            <a:ext cx="233813" cy="233813"/>
          </a:xfrm>
          <a:prstGeom prst="ellipse">
            <a:avLst/>
          </a:prstGeom>
          <a:solidFill>
            <a:srgbClr val="00A896"/>
          </a:solidFill>
          <a:ln/>
        </p:spPr>
      </p:sp>
      <p:sp>
        <p:nvSpPr>
          <p:cNvPr id="16" name="Text 14"/>
          <p:cNvSpPr txBox="1"/>
          <p:nvPr/>
        </p:nvSpPr>
        <p:spPr>
          <a:xfrm>
            <a:off x="1798719" y="2498682"/>
            <a:ext cx="233813" cy="1948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17" name="Text 15"/>
          <p:cNvSpPr txBox="1"/>
          <p:nvPr/>
        </p:nvSpPr>
        <p:spPr>
          <a:xfrm>
            <a:off x="2149438" y="2407755"/>
            <a:ext cx="5182853" cy="389688"/>
          </a:xfrm>
          <a:prstGeom prst="rect">
            <a:avLst/>
          </a:prstGeom>
          <a:noFill/>
          <a:ln/>
        </p:spPr>
        <p:txBody>
          <a:bodyPr wrap="square" lIns="0" tIns="0" rIns="0" bIns="0" rtlCol="0" anchor="t"/>
          <a:lstStyle/>
          <a:p>
            <a:pPr indent="0" marL="0">
              <a:lnSpc>
                <a:spcPct val="114000"/>
              </a:lnSpc>
              <a:buNone/>
            </a:pPr>
            <a:r>
              <a:rPr lang="en-US" sz="89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890" dirty="0"/>
          </a:p>
          <a:p>
            <a:pPr indent="0" marL="0">
              <a:lnSpc>
                <a:spcPct val="114000"/>
              </a:lnSpc>
              <a:buNone/>
            </a:pPr>
            <a:r>
              <a:rPr lang="en-US" sz="8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890" dirty="0"/>
          </a:p>
        </p:txBody>
      </p:sp>
      <p:sp>
        <p:nvSpPr>
          <p:cNvPr id="18" name="Text 16"/>
          <p:cNvSpPr txBox="1"/>
          <p:nvPr/>
        </p:nvSpPr>
        <p:spPr>
          <a:xfrm>
            <a:off x="1681812" y="2907855"/>
            <a:ext cx="5715427" cy="324740"/>
          </a:xfrm>
          <a:prstGeom prst="rect">
            <a:avLst/>
          </a:prstGeom>
          <a:noFill/>
          <a:ln/>
        </p:spPr>
        <p:txBody>
          <a:bodyPr wrap="square" lIns="0" tIns="0" rIns="0" bIns="0" rtlCol="0" anchor="t"/>
          <a:lstStyle/>
          <a:p>
            <a:pPr indent="0" marL="0">
              <a:lnSpc>
                <a:spcPct val="116000"/>
              </a:lnSpc>
              <a:buNone/>
            </a:pPr>
            <a:r>
              <a:rPr lang="en-US" sz="89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890" dirty="0"/>
          </a:p>
          <a:p>
            <a:pPr indent="0" marL="0">
              <a:lnSpc>
                <a:spcPct val="116000"/>
              </a:lnSpc>
              <a:buNone/>
            </a:pPr>
            <a:r>
              <a:rPr lang="en-US" sz="82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890" dirty="0"/>
          </a:p>
        </p:txBody>
      </p:sp>
      <p:sp>
        <p:nvSpPr>
          <p:cNvPr id="20" name="Text 17"/>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17 / 18</a:t>
            </a:r>
            <a:endParaRPr lang="en-US" sz="640" dirty="0"/>
          </a:p>
        </p:txBody>
      </p:sp>
      <p:sp>
        <p:nvSpPr>
          <p:cNvPr id="21" name="Text 18"/>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130753" y="-947729"/>
            <a:ext cx="2987610" cy="2987610"/>
          </a:xfrm>
          <a:prstGeom prst="ellipse">
            <a:avLst/>
          </a:prstGeom>
          <a:solidFill>
            <a:srgbClr val="13314F"/>
          </a:solidFill>
          <a:ln w="12700">
            <a:solidFill>
              <a:srgbClr val="13314F"/>
            </a:solidFill>
            <a:prstDash val="solid"/>
          </a:ln>
        </p:spPr>
      </p:sp>
      <p:sp>
        <p:nvSpPr>
          <p:cNvPr id="3" name="Shape 1"/>
          <p:cNvSpPr/>
          <p:nvPr/>
        </p:nvSpPr>
        <p:spPr>
          <a:xfrm>
            <a:off x="7104973" y="1520297"/>
            <a:ext cx="1688649" cy="1688649"/>
          </a:xfrm>
          <a:prstGeom prst="ellipse">
            <a:avLst/>
          </a:prstGeom>
          <a:solidFill>
            <a:srgbClr val="007F72">
              <a:alpha val="28000"/>
            </a:srgbClr>
          </a:solidFill>
          <a:ln/>
        </p:spPr>
      </p:sp>
      <p:sp>
        <p:nvSpPr>
          <p:cNvPr id="4" name="Text 2"/>
          <p:cNvSpPr txBox="1"/>
          <p:nvPr/>
        </p:nvSpPr>
        <p:spPr>
          <a:xfrm>
            <a:off x="1681812" y="364222"/>
            <a:ext cx="4806155" cy="194844"/>
          </a:xfrm>
          <a:prstGeom prst="rect">
            <a:avLst/>
          </a:prstGeom>
          <a:noFill/>
          <a:ln/>
        </p:spPr>
        <p:txBody>
          <a:bodyPr wrap="square" lIns="0" tIns="0" rIns="0" bIns="0" rtlCol="0" anchor="ctr"/>
          <a:lstStyle/>
          <a:p>
            <a:pPr indent="0" marL="0">
              <a:buNone/>
            </a:pPr>
            <a:r>
              <a:rPr lang="en-US" sz="890" b="1" dirty="0">
                <a:solidFill>
                  <a:srgbClr val="FFB020"/>
                </a:solidFill>
                <a:latin typeface="Arial" pitchFamily="34" charset="0"/>
                <a:ea typeface="Arial" pitchFamily="34" charset="-122"/>
                <a:cs typeface="Arial" pitchFamily="34" charset="-120"/>
              </a:rPr>
              <a:t>Tiết 1 · 第一節小結</a:t>
            </a:r>
            <a:endParaRPr lang="en-US" sz="890" dirty="0"/>
          </a:p>
        </p:txBody>
      </p:sp>
      <p:sp>
        <p:nvSpPr>
          <p:cNvPr id="5" name="Text 3"/>
          <p:cNvSpPr txBox="1"/>
          <p:nvPr/>
        </p:nvSpPr>
        <p:spPr>
          <a:xfrm>
            <a:off x="1681812" y="611024"/>
            <a:ext cx="5715427" cy="753397"/>
          </a:xfrm>
          <a:prstGeom prst="rect">
            <a:avLst/>
          </a:prstGeom>
          <a:noFill/>
          <a:ln/>
        </p:spPr>
        <p:txBody>
          <a:bodyPr wrap="square" lIns="0" tIns="0" rIns="0" bIns="0" rtlCol="0" anchor="t"/>
          <a:lstStyle/>
          <a:p>
            <a:pPr indent="0" marL="0">
              <a:lnSpc>
                <a:spcPct val="120000"/>
              </a:lnSpc>
              <a:buNone/>
            </a:pPr>
            <a:r>
              <a:rPr lang="en-US" sz="1780" b="1" dirty="0">
                <a:solidFill>
                  <a:srgbClr val="FFFFFF"/>
                </a:solidFill>
                <a:latin typeface="Arial" pitchFamily="34" charset="0"/>
                <a:ea typeface="Arial" pitchFamily="34" charset="-122"/>
                <a:cs typeface="Arial" pitchFamily="34" charset="-120"/>
              </a:rPr>
              <a:t>Mang ba câu này sang tiết 2</a:t>
            </a:r>
            <a:endParaRPr lang="en-US" sz="1780" dirty="0"/>
          </a:p>
          <a:p>
            <a:pPr indent="0" marL="0">
              <a:lnSpc>
                <a:spcPct val="120000"/>
              </a:lnSpc>
              <a:buNone/>
            </a:pPr>
            <a:r>
              <a:rPr lang="en-US" sz="1070" dirty="0">
                <a:solidFill>
                  <a:srgbClr val="AFC3D4"/>
                </a:solidFill>
                <a:latin typeface="微軟正黑體" pitchFamily="34" charset="0"/>
                <a:ea typeface="微軟正黑體" pitchFamily="34" charset="-122"/>
                <a:cs typeface="微軟正黑體" pitchFamily="34" charset="-120"/>
              </a:rPr>
              <a:t>帶三句話進第二節</a:t>
            </a:r>
            <a:endParaRPr lang="en-US" sz="1780" dirty="0"/>
          </a:p>
        </p:txBody>
      </p:sp>
      <p:sp>
        <p:nvSpPr>
          <p:cNvPr id="6" name="Shape 4"/>
          <p:cNvSpPr/>
          <p:nvPr/>
        </p:nvSpPr>
        <p:spPr>
          <a:xfrm>
            <a:off x="1681812" y="1429370"/>
            <a:ext cx="32474" cy="477815"/>
          </a:xfrm>
          <a:prstGeom prst="rect">
            <a:avLst/>
          </a:prstGeom>
          <a:solidFill>
            <a:srgbClr val="00A896"/>
          </a:solidFill>
          <a:ln/>
        </p:spPr>
      </p:sp>
      <p:sp>
        <p:nvSpPr>
          <p:cNvPr id="7" name="Text 5"/>
          <p:cNvSpPr txBox="1"/>
          <p:nvPr/>
        </p:nvSpPr>
        <p:spPr>
          <a:xfrm>
            <a:off x="1837688" y="1403390"/>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681812" y="2050070"/>
            <a:ext cx="32474" cy="477815"/>
          </a:xfrm>
          <a:prstGeom prst="rect">
            <a:avLst/>
          </a:prstGeom>
          <a:solidFill>
            <a:srgbClr val="FFB020"/>
          </a:solidFill>
          <a:ln/>
        </p:spPr>
      </p:sp>
      <p:sp>
        <p:nvSpPr>
          <p:cNvPr id="9" name="Text 7"/>
          <p:cNvSpPr txBox="1"/>
          <p:nvPr/>
        </p:nvSpPr>
        <p:spPr>
          <a:xfrm>
            <a:off x="1837688" y="2024091"/>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681812" y="2670770"/>
            <a:ext cx="32474" cy="477815"/>
          </a:xfrm>
          <a:prstGeom prst="rect">
            <a:avLst/>
          </a:prstGeom>
          <a:solidFill>
            <a:srgbClr val="00A896"/>
          </a:solidFill>
          <a:ln/>
        </p:spPr>
      </p:sp>
      <p:sp>
        <p:nvSpPr>
          <p:cNvPr id="11" name="Text 9"/>
          <p:cNvSpPr txBox="1"/>
          <p:nvPr/>
        </p:nvSpPr>
        <p:spPr>
          <a:xfrm>
            <a:off x="1837688" y="2644791"/>
            <a:ext cx="5585531" cy="555752"/>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5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3" name="Text 10"/>
          <p:cNvSpPr txBox="1"/>
          <p:nvPr/>
        </p:nvSpPr>
        <p:spPr>
          <a:xfrm>
            <a:off x="1402536" y="3390800"/>
            <a:ext cx="584532"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18 / 18</a:t>
            </a:r>
            <a:endParaRPr lang="en-US" sz="640" dirty="0"/>
          </a:p>
        </p:txBody>
      </p:sp>
      <p:sp>
        <p:nvSpPr>
          <p:cNvPr id="14" name="Text 11"/>
          <p:cNvSpPr txBox="1"/>
          <p:nvPr/>
        </p:nvSpPr>
        <p:spPr>
          <a:xfrm>
            <a:off x="2006553" y="3390800"/>
            <a:ext cx="1428857" cy="181855"/>
          </a:xfrm>
          <a:prstGeom prst="rect">
            <a:avLst/>
          </a:prstGeom>
          <a:noFill/>
          <a:ln/>
        </p:spPr>
        <p:txBody>
          <a:bodyPr wrap="square" lIns="0" tIns="0" rIns="0" bIns="0" rtlCol="0" anchor="ctr"/>
          <a:lstStyle/>
          <a:p>
            <a:pPr indent="0" marL="0">
              <a:buNone/>
            </a:pPr>
            <a:r>
              <a:rPr lang="en-US" sz="640" dirty="0">
                <a:solidFill>
                  <a:srgbClr val="9FB3C8"/>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2026-09-24T08:11:42Z</dcterms:created>
  <dcterms:modified xsi:type="dcterms:W3CDTF">2026-09-24T08:11:42Z</dcterms:modified>
</cp:coreProperties>
</file>