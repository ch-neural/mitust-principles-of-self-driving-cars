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開場定調。這一週要做的事只有一句：上週各位用手拉的三個滑桿，就是真規格表上的三行。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圈主標裡的「三個滑桿」和「規格表上的三行」，告訴全班這兩件事今天要接起來。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各位早。
</a:t>
            </a:r>
          </a:p>
          <a:p>
            <a:pPr algn="l">
              <a:lnSpc>
                <a:spcPct val="115000"/>
              </a:lnSpc>
              <a:spcAft>
                <a:spcPts val="500"/>
              </a:spcAft>
            </a:pPr>
            <a:r>
              <a:rPr sz="1000" lang="zh-TW" dirty="0">
                <a:solidFill>
                  <a:srgbClr val="000000"/>
                </a:solidFill>
                <a:latin typeface="Arial Unicode MS"/>
                <a:ea typeface="Arial Unicode MS"/>
                <a:cs typeface="Arial Unicode MS"/>
              </a:rPr>
              <a:t>上週各位第一次讓車子在模擬器裡跑起來，也發現了一件怪事：</a:t>
            </a:r>
            <a:r>
              <a:rPr sz="1000" b="1" lang="zh-TW" dirty="0">
                <a:solidFill>
                  <a:srgbClr val="000000"/>
                </a:solidFill>
                <a:latin typeface="Arial Unicode MS"/>
                <a:ea typeface="Arial Unicode MS"/>
                <a:cs typeface="Arial Unicode MS"/>
              </a:rPr>
              <a:t>同一組參數，有時候撞、有時候不撞</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500"/>
              </a:spcAft>
            </a:pPr>
            <a:r>
              <a:rPr sz="10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500"/>
              </a:spcAft>
            </a:pPr>
            <a:r>
              <a:rPr sz="10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500"/>
              </a:spcAft>
            </a:pPr>
            <a:r>
              <a:rPr sz="1000" lang="zh-TW" dirty="0">
                <a:solidFill>
                  <a:srgbClr val="000000"/>
                </a:solidFill>
                <a:latin typeface="Arial Unicode MS"/>
                <a:ea typeface="Arial Unicode MS"/>
                <a:cs typeface="Arial Unicode MS"/>
              </a:rPr>
              <a:t>第三，什麼叫「場景」——這是下一節的主題。
</a:t>
            </a:r>
          </a:p>
          <a:p>
            <a:pPr algn="l">
              <a:lnSpc>
                <a:spcPct val="115000"/>
              </a:lnSpc>
              <a:spcAft>
                <a:spcPts val="500"/>
              </a:spcAft>
            </a:pPr>
            <a:r>
              <a:rPr sz="10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500"/>
              </a:spcAft>
            </a:pPr>
            <a:r>
              <a:rPr sz="10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讓每個人先把模擬器打開，確認全班畫面一致再往下走。這一頁不要趕。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圈網址與 QR 碼，再圈下方的操作步驟。等到全班都舉手示意打開了才翻頁。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段落分隔。宣告第一段要處理的問題。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不用圈。停兩秒，讓大家換一個檔。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把模擬器的「射線數」對到規格表上的 Resolution，並帶出「射線之間有縫」這個關鍵。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圈左邊扇形圖裡兩條射線之間的空隙，再圈右邊最後一列「調小會怎樣」。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第一個滑桿：</a:t>
            </a:r>
            <a:r>
              <a:rPr sz="1000" b="1" lang="zh-TW" dirty="0">
                <a:solidFill>
                  <a:srgbClr val="000000"/>
                </a:solidFill>
                <a:latin typeface="Arial Unicode MS"/>
                <a:ea typeface="Arial Unicode MS"/>
                <a:cs typeface="Arial Unicode MS"/>
              </a:rPr>
              <a:t>射線數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規格表上它叫 </a:t>
            </a:r>
            <a:r>
              <a:rPr sz="1000" b="1" lang="zh-TW" dirty="0">
                <a:solidFill>
                  <a:srgbClr val="000000"/>
                </a:solidFill>
                <a:latin typeface="Arial Unicode MS"/>
                <a:ea typeface="Arial Unicode MS"/>
                <a:cs typeface="Arial Unicode MS"/>
              </a:rPr>
              <a:t>Resolution，解析度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500"/>
              </a:spcAft>
            </a:pPr>
            <a:r>
              <a:rPr sz="1000" lang="zh-TW" dirty="0">
                <a:solidFill>
                  <a:srgbClr val="000000"/>
                </a:solidFill>
                <a:latin typeface="Arial Unicode MS"/>
                <a:ea typeface="Arial Unicode MS"/>
                <a:cs typeface="Arial Unicode MS"/>
              </a:rPr>
              <a:t>我們的模擬器可以從一條拉到六十條。真車的光達呢？</a:t>
            </a:r>
            <a:r>
              <a:rPr sz="1000" b="1" lang="zh-TW" dirty="0">
                <a:solidFill>
                  <a:srgbClr val="000000"/>
                </a:solidFill>
                <a:latin typeface="Arial Unicode MS"/>
                <a:ea typeface="Arial Unicode MS"/>
                <a:cs typeface="Arial Unicode MS"/>
              </a:rPr>
              <a:t>每秒幾十萬到幾百萬個點</a:t>
            </a:r>
            <a:r>
              <a:rPr sz="10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500"/>
              </a:spcAft>
            </a:pPr>
            <a:r>
              <a:rPr sz="10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500"/>
              </a:spcAft>
            </a:pPr>
            <a:r>
              <a:rPr sz="10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500"/>
              </a:spcAft>
            </a:pPr>
            <a:r>
              <a:rPr sz="10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500"/>
              </a:spcAft>
            </a:pPr>
            <a:r>
              <a:rPr sz="10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b="1" lang="zh-TW" dirty="0">
                <a:solidFill>
                  <a:srgbClr val="000000"/>
                </a:solidFill>
                <a:latin typeface="Arial Unicode MS"/>
                <a:ea typeface="Arial Unicode MS"/>
                <a:cs typeface="Arial Unicode MS"/>
              </a:rPr>
              <a:t>▍這一張要做什麼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把「射線長度」對到 Range，並且先埋下伏筆：這個數字有一個不能自己決定的下限。
</a:t>
            </a:r>
          </a:p>
          <a:p>
            <a:pPr algn="l">
              <a:lnSpc>
                <a:spcPct val="115000"/>
              </a:lnSpc>
              <a:spcAft>
                <a:spcPts val="550"/>
              </a:spcAft>
            </a:pPr>
            <a:r>
              <a:rPr sz="1100" b="1" lang="zh-TW" dirty="0">
                <a:solidFill>
                  <a:srgbClr val="000000"/>
                </a:solidFill>
                <a:latin typeface="Arial Unicode MS"/>
                <a:ea typeface="Arial Unicode MS"/>
                <a:cs typeface="Arial Unicode MS"/>
              </a:rPr>
              <a:t>▍畫面上圈這裡</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圈右邊「我們的模擬器」與「真車的光達」兩列的數字，讓大家看到差了一個數量級。
</a:t>
            </a:r>
          </a:p>
          <a:p>
            <a:pPr algn="l">
              <a:lnSpc>
                <a:spcPct val="115000"/>
              </a:lnSpc>
              <a:spcAft>
                <a:spcPts val="550"/>
              </a:spcAft>
            </a:pPr>
            <a:r>
              <a:rPr sz="1100" b="1" lang="zh-TW" dirty="0">
                <a:solidFill>
                  <a:srgbClr val="000000"/>
                </a:solidFill>
                <a:latin typeface="Arial Unicode MS"/>
                <a:ea typeface="Arial Unicode MS"/>
                <a:cs typeface="Arial Unicode MS"/>
              </a:rPr>
              <a:t>▍以下照著唸</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第二個滑桿：</a:t>
            </a:r>
            <a:r>
              <a:rPr sz="1100" b="1" lang="zh-TW" dirty="0">
                <a:solidFill>
                  <a:srgbClr val="000000"/>
                </a:solidFill>
                <a:latin typeface="Arial Unicode MS"/>
                <a:ea typeface="Arial Unicode MS"/>
                <a:cs typeface="Arial Unicode MS"/>
              </a:rPr>
              <a:t>射線長度</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規格表上叫 </a:t>
            </a:r>
            <a:r>
              <a:rPr sz="1100" b="1" lang="zh-TW" dirty="0">
                <a:solidFill>
                  <a:srgbClr val="000000"/>
                </a:solidFill>
                <a:latin typeface="Arial Unicode MS"/>
                <a:ea typeface="Arial Unicode MS"/>
                <a:cs typeface="Arial Unicode MS"/>
              </a:rPr>
              <a:t>Range，測距範圍</a:t>
            </a:r>
            <a:r>
              <a:rPr sz="1100" lang="zh-TW" dirty="0">
                <a:solidFill>
                  <a:srgbClr val="000000"/>
                </a:solidFill>
                <a:latin typeface="Arial Unicode MS"/>
                <a:ea typeface="Arial Unicode MS"/>
                <a:cs typeface="Arial Unicode MS"/>
              </a:rPr>
              <a:t>，就是這顆感測器看得到幾公尺。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550"/>
              </a:spcAft>
            </a:pPr>
            <a:r>
              <a:rPr sz="1100" lang="zh-TW" dirty="0">
                <a:solidFill>
                  <a:srgbClr val="000000"/>
                </a:solidFill>
                <a:latin typeface="Arial Unicode MS"/>
                <a:ea typeface="Arial Unicode MS"/>
                <a:cs typeface="Arial Unicode MS"/>
              </a:rPr>
              <a:t>這個數字有一個很硬的下限，</a:t>
            </a:r>
            <a:r>
              <a:rPr sz="1100" b="1" lang="zh-TW" dirty="0">
                <a:solidFill>
                  <a:srgbClr val="000000"/>
                </a:solidFill>
                <a:latin typeface="Arial Unicode MS"/>
                <a:ea typeface="Arial Unicode MS"/>
                <a:cs typeface="Arial Unicode MS"/>
              </a:rPr>
              <a:t>不是你想選多少就多少</a:t>
            </a:r>
            <a:r>
              <a:rPr sz="1100" lang="zh-TW" dirty="0">
                <a:solidFill>
                  <a:srgbClr val="000000"/>
                </a:solidFill>
                <a:latin typeface="Arial Unicode MS"/>
                <a:ea typeface="Arial Unicode MS"/>
                <a:cs typeface="Arial Unicode MS"/>
              </a:rPr>
              <a:t>。為什麼？
</a:t>
            </a:r>
          </a:p>
          <a:p>
            <a:pPr algn="l">
              <a:lnSpc>
                <a:spcPct val="115000"/>
              </a:lnSpc>
              <a:spcAft>
                <a:spcPts val="550"/>
              </a:spcAft>
            </a:pPr>
            <a:r>
              <a:rPr sz="1100" lang="zh-TW" dirty="0">
                <a:solidFill>
                  <a:srgbClr val="000000"/>
                </a:solidFill>
                <a:latin typeface="Arial Unicode MS"/>
                <a:ea typeface="Arial Unicode MS"/>
                <a:cs typeface="Arial Unicode MS"/>
              </a:rPr>
              <a:t>（等學生想一下。）
</a:t>
            </a:r>
          </a:p>
          <a:p>
            <a:pPr algn="l">
              <a:lnSpc>
                <a:spcPct val="115000"/>
              </a:lnSpc>
              <a:spcAft>
                <a:spcPts val="550"/>
              </a:spcAft>
            </a:pPr>
            <a:r>
              <a:rPr sz="11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550"/>
              </a:spcAft>
            </a:pPr>
            <a:r>
              <a:rPr sz="11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把「張角」對到 FOV，並帶出「同樣的射線攤得愈廣就愈稀」。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圈「調寬會怎樣」那一列，再回頭指左邊圖上射線之間變寬的縫。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第三個滑桿：</a:t>
            </a:r>
            <a:r>
              <a:rPr sz="1000" b="1" lang="zh-TW" dirty="0">
                <a:solidFill>
                  <a:srgbClr val="000000"/>
                </a:solidFill>
                <a:latin typeface="Arial Unicode MS"/>
                <a:ea typeface="Arial Unicode MS"/>
                <a:cs typeface="Arial Unicode MS"/>
              </a:rPr>
              <a:t>張角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規格表上叫 </a:t>
            </a:r>
            <a:r>
              <a:rPr sz="1000" b="1" lang="zh-TW" dirty="0">
                <a:solidFill>
                  <a:srgbClr val="000000"/>
                </a:solidFill>
                <a:latin typeface="Arial Unicode MS"/>
                <a:ea typeface="Arial Unicode MS"/>
                <a:cs typeface="Arial Unicode MS"/>
              </a:rPr>
              <a:t>Field of view，視野</a:t>
            </a:r>
            <a:r>
              <a:rPr sz="1000" lang="zh-TW" dirty="0">
                <a:solidFill>
                  <a:srgbClr val="000000"/>
                </a:solidFill>
                <a:latin typeface="Arial Unicode MS"/>
                <a:ea typeface="Arial Unicode MS"/>
                <a:cs typeface="Arial Unicode MS"/>
              </a:rPr>
              <a:t>，簡稱 FOV。
</a:t>
            </a:r>
          </a:p>
          <a:p>
            <a:pPr algn="l">
              <a:lnSpc>
                <a:spcPct val="115000"/>
              </a:lnSpc>
              <a:spcAft>
                <a:spcPts val="500"/>
              </a:spcAft>
            </a:pPr>
            <a:r>
              <a:rPr sz="10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500"/>
              </a:spcAft>
            </a:pPr>
            <a:r>
              <a:rPr sz="1000" lang="zh-TW" dirty="0">
                <a:solidFill>
                  <a:srgbClr val="000000"/>
                </a:solidFill>
                <a:latin typeface="Arial Unicode MS"/>
                <a:ea typeface="Arial Unicode MS"/>
                <a:cs typeface="Arial Unicode MS"/>
              </a:rPr>
              <a:t>這題上週剛講過，大家想一下。
</a:t>
            </a:r>
          </a:p>
          <a:p>
            <a:pPr algn="l">
              <a:lnSpc>
                <a:spcPct val="115000"/>
              </a:lnSpc>
              <a:spcAft>
                <a:spcPts val="500"/>
              </a:spcAft>
            </a:pPr>
            <a:r>
              <a:rPr sz="1000" lang="zh-TW" dirty="0">
                <a:solidFill>
                  <a:srgbClr val="000000"/>
                </a:solidFill>
                <a:latin typeface="Arial Unicode MS"/>
                <a:ea typeface="Arial Unicode MS"/>
                <a:cs typeface="Arial Unicode MS"/>
              </a:rPr>
              <a:t>對——</a:t>
            </a:r>
            <a:r>
              <a:rPr sz="1000" b="1" lang="zh-TW" dirty="0">
                <a:solidFill>
                  <a:srgbClr val="000000"/>
                </a:solidFill>
                <a:latin typeface="Arial Unicode MS"/>
                <a:ea typeface="Arial Unicode MS"/>
                <a:cs typeface="Arial Unicode MS"/>
              </a:rPr>
              <a:t>同樣的射線數被攤開，每個方向就變稀</a:t>
            </a:r>
            <a:r>
              <a:rPr sz="10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500"/>
              </a:spcAft>
            </a:pPr>
            <a:r>
              <a:rPr sz="1000" lang="zh-TW" dirty="0">
                <a:solidFill>
                  <a:srgbClr val="000000"/>
                </a:solidFill>
                <a:latin typeface="Arial Unicode MS"/>
                <a:ea typeface="Arial Unicode MS"/>
                <a:cs typeface="Arial Unicode MS"/>
              </a:rPr>
              <a:t>所以真車的做法是什麼？
</a:t>
            </a:r>
          </a:p>
          <a:p>
            <a:pPr algn="l">
              <a:lnSpc>
                <a:spcPct val="115000"/>
              </a:lnSpc>
              <a:spcAft>
                <a:spcPts val="500"/>
              </a:spcAft>
            </a:pPr>
            <a:r>
              <a:rPr sz="1000" lang="zh-TW" dirty="0">
                <a:solidFill>
                  <a:srgbClr val="000000"/>
                </a:solidFill>
                <a:latin typeface="Arial Unicode MS"/>
                <a:ea typeface="Arial Unicode MS"/>
                <a:cs typeface="Arial Unicode MS"/>
              </a:rPr>
              <a:t>答案是裝好幾顆，分工。
</a:t>
            </a:r>
          </a:p>
          <a:p>
            <a:pPr algn="l">
              <a:lnSpc>
                <a:spcPct val="115000"/>
              </a:lnSpc>
              <a:spcAft>
                <a:spcPts val="500"/>
              </a:spcAft>
            </a:pPr>
            <a:r>
              <a:rPr sz="10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500"/>
              </a:spcAft>
            </a:pPr>
            <a:r>
              <a:rPr sz="1000" b="1" lang="zh-TW" dirty="0">
                <a:solidFill>
                  <a:srgbClr val="000000"/>
                </a:solidFill>
                <a:latin typeface="Arial Unicode MS"/>
                <a:ea typeface="Arial Unicode MS"/>
                <a:cs typeface="Arial Unicode MS"/>
              </a:rPr>
              <a:t>第五週我會拿真正的光達規格表來讀給各位看。</a:t>
            </a:r>
            <a:r>
              <a:rPr sz="10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本節的重點頁。用煞停距離算出射線長度的硬下限——這不是設計選擇，是物理逼出來的。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先圈公式裡的反應距離那一段，再圈煞車距離那一段，最後圈總和那個數字。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用一支教育頻道的影片，把剛剛拆的兩段距離再講一次，並帶到路面濕會更長。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播之前圈右邊的三條看點。播到 2:30 就停，回來對答案。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把公式變成一張可以直接查的表，讓學生知道自己等一下該把長度調到多少。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圈時速 50 那一列——那是模擬器的預設值；再圈最右邊那一欄的最低要求。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500"/>
              </a:spcAft>
            </a:pPr>
            <a:r>
              <a:rPr sz="10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500"/>
              </a:spcAft>
            </a:pPr>
            <a:r>
              <a:rPr sz="1000" lang="zh-TW" dirty="0">
                <a:solidFill>
                  <a:srgbClr val="000000"/>
                </a:solidFill>
                <a:latin typeface="Arial Unicode MS"/>
                <a:ea typeface="Arial Unicode MS"/>
                <a:cs typeface="Arial Unicode MS"/>
              </a:rPr>
              <a:t>請看</a:t>
            </a:r>
            <a:r>
              <a:rPr sz="1000" b="1" lang="zh-TW" dirty="0">
                <a:solidFill>
                  <a:srgbClr val="000000"/>
                </a:solidFill>
                <a:latin typeface="Arial Unicode MS"/>
                <a:ea typeface="Arial Unicode MS"/>
                <a:cs typeface="Arial Unicode MS"/>
              </a:rPr>
              <a:t>從時速三十到時速八十</a:t>
            </a:r>
            <a:r>
              <a:rPr sz="1000" lang="zh-TW" dirty="0">
                <a:solidFill>
                  <a:srgbClr val="000000"/>
                </a:solidFill>
                <a:latin typeface="Arial Unicode MS"/>
                <a:ea typeface="Arial Unicode MS"/>
                <a:cs typeface="Arial Unicode MS"/>
              </a:rPr>
              <a:t>：速度增加不到三倍，煞停距離從八公尺變成四十八公尺，</a:t>
            </a:r>
            <a:r>
              <a:rPr sz="1000" b="1" lang="zh-TW" dirty="0">
                <a:solidFill>
                  <a:srgbClr val="000000"/>
                </a:solidFill>
                <a:latin typeface="Arial Unicode MS"/>
                <a:ea typeface="Arial Unicode MS"/>
                <a:cs typeface="Arial Unicode MS"/>
              </a:rPr>
              <a:t>六倍</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500"/>
              </a:spcAft>
            </a:pPr>
            <a:r>
              <a:rPr sz="1000" lang="zh-TW" dirty="0">
                <a:solidFill>
                  <a:srgbClr val="000000"/>
                </a:solidFill>
                <a:latin typeface="Arial Unicode MS"/>
                <a:ea typeface="Arial Unicode MS"/>
                <a:cs typeface="Arial Unicode MS"/>
              </a:rPr>
              <a:t>今天上機用的是時速五十那一列，射線至少二十五公尺。各位等一下調參數的時候，</a:t>
            </a:r>
            <a:r>
              <a:rPr sz="1000" b="1" lang="zh-TW" dirty="0">
                <a:solidFill>
                  <a:srgbClr val="000000"/>
                </a:solidFill>
                <a:latin typeface="Arial Unicode MS"/>
                <a:ea typeface="Arial Unicode MS"/>
                <a:cs typeface="Arial Unicode MS"/>
              </a:rPr>
              <a:t>射線長度不要低於二十五</a:t>
            </a:r>
            <a:r>
              <a:rPr sz="1000" lang="zh-TW" dirty="0">
                <a:solidFill>
                  <a:srgbClr val="000000"/>
                </a:solidFill>
                <a:latin typeface="Arial Unicode MS"/>
                <a:ea typeface="Arial Unicode MS"/>
                <a:cs typeface="Arial Unicode MS"/>
              </a:rPr>
              <a:t>，否則你調再多射線數都沒用。
</a:t>
            </a:r>
          </a:p>
          <a:p>
            <a:pPr algn="l">
              <a:lnSpc>
                <a:spcPct val="115000"/>
              </a:lnSpc>
              <a:spcAft>
                <a:spcPts val="500"/>
              </a:spcAft>
            </a:pPr>
            <a:r>
              <a:rPr sz="10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500"/>
              </a:spcAft>
            </a:pPr>
            <a:r>
              <a:rPr sz="1000" lang="zh-TW" dirty="0">
                <a:solidFill>
                  <a:srgbClr val="000000"/>
                </a:solidFill>
                <a:latin typeface="Arial Unicode MS"/>
                <a:ea typeface="Arial Unicode MS"/>
                <a:cs typeface="Arial Unicode MS"/>
              </a:rPr>
              <a:t>（問全班）什麼感測器做得到兩百公尺？
</a:t>
            </a:r>
          </a:p>
          <a:p>
            <a:pPr algn="l">
              <a:lnSpc>
                <a:spcPct val="115000"/>
              </a:lnSpc>
              <a:spcAft>
                <a:spcPts val="500"/>
              </a:spcAft>
            </a:pPr>
            <a:r>
              <a:rPr sz="10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500"/>
              </a:spcAft>
            </a:pPr>
            <a:r>
              <a:rPr sz="1000" lang="zh-TW" dirty="0">
                <a:solidFill>
                  <a:srgbClr val="000000"/>
                </a:solidFill>
                <a:latin typeface="Arial Unicode MS"/>
                <a:ea typeface="Arial Unicode MS"/>
                <a:cs typeface="Arial Unicode MS"/>
              </a:rPr>
              <a:t>還有一件事要補：</a:t>
            </a:r>
            <a:r>
              <a:rPr sz="1000" b="1" lang="zh-TW" dirty="0">
                <a:solidFill>
                  <a:srgbClr val="000000"/>
                </a:solidFill>
                <a:latin typeface="Arial Unicode MS"/>
                <a:ea typeface="Arial Unicode MS"/>
                <a:cs typeface="Arial Unicode MS"/>
              </a:rPr>
              <a:t>濕路面的減速度只有一半</a:t>
            </a:r>
            <a:r>
              <a:rPr sz="10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讓學生看業界真的在用的模擬器，再回頭問我們的差在哪、哪裡是一樣的。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播之前圈右邊的三條看點，特別是第三條「它一樣是假的」。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第一，影片裡會看到白天、晚上、下雨、起霧，也會看到車很多和車很少的路口。</a:t>
            </a:r>
            <a:r>
              <a:rPr sz="1000" b="1" lang="zh-TW" dirty="0">
                <a:solidFill>
                  <a:srgbClr val="000000"/>
                </a:solidFill>
                <a:latin typeface="Arial Unicode MS"/>
                <a:ea typeface="Arial Unicode MS"/>
                <a:cs typeface="Arial Unicode MS"/>
              </a:rPr>
              <a:t>那些全部都是參數調出來的</a:t>
            </a:r>
            <a:r>
              <a:rPr sz="1000" lang="zh-TW" dirty="0">
                <a:solidFill>
                  <a:srgbClr val="000000"/>
                </a:solidFill>
                <a:latin typeface="Arial Unicode MS"/>
                <a:ea typeface="Arial Unicode MS"/>
                <a:cs typeface="Arial Unicode MS"/>
              </a:rPr>
              <a:t>——天氣、一天中的時間、車流密度，跟我們的滑桿是同一個概念，只是它的滑桿多得多。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段落分隔。從「怎麼調參數」切換到「模擬到底能不能信」。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不用圈。這裡語氣要放慢，這一段是今天的核心。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三種落差的第一種：外觀。模擬畫出來的影像跟真相機拍到的不一樣。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圈主標上的「外觀落差」，再圈下方說明裡的具體例子。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第二種：行為。模擬裡的車照規則走，真實世界的人不照規則走。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圈「不照規則走」這幾個字。這一條越南班最有感，可以停下來讓他們舉例。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第二種：</a:t>
            </a:r>
            <a:r>
              <a:rPr sz="1000" b="1" lang="zh-TW" dirty="0">
                <a:solidFill>
                  <a:srgbClr val="000000"/>
                </a:solidFill>
                <a:latin typeface="Arial Unicode MS"/>
                <a:ea typeface="Arial Unicode MS"/>
                <a:cs typeface="Arial Unicode MS"/>
              </a:rPr>
              <a:t>行為落差</a:t>
            </a:r>
            <a:r>
              <a:rPr sz="1000" lang="zh-TW" dirty="0">
                <a:solidFill>
                  <a:srgbClr val="000000"/>
                </a:solidFill>
                <a:latin typeface="Arial Unicode MS"/>
                <a:ea typeface="Arial Unicode MS"/>
                <a:cs typeface="Arial Unicode MS"/>
              </a:rPr>
              <a:t>。這一種對各位來說最有感覺。
</a:t>
            </a:r>
          </a:p>
          <a:p>
            <a:pPr algn="l">
              <a:lnSpc>
                <a:spcPct val="115000"/>
              </a:lnSpc>
              <a:spcAft>
                <a:spcPts val="500"/>
              </a:spcAft>
            </a:pPr>
            <a:r>
              <a:rPr sz="10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00"/>
              </a:spcAft>
            </a:pPr>
            <a:r>
              <a:rPr sz="1000" lang="zh-TW" dirty="0">
                <a:solidFill>
                  <a:srgbClr val="000000"/>
                </a:solidFill>
                <a:latin typeface="Arial Unicode MS"/>
                <a:ea typeface="Arial Unicode MS"/>
                <a:cs typeface="Arial Unicode MS"/>
              </a:rPr>
              <a:t>（問全班）真實世界的機車是這樣嗎？
</a:t>
            </a:r>
          </a:p>
          <a:p>
            <a:pPr algn="l">
              <a:lnSpc>
                <a:spcPct val="115000"/>
              </a:lnSpc>
              <a:spcAft>
                <a:spcPts val="500"/>
              </a:spcAft>
            </a:pPr>
            <a:r>
              <a:rPr sz="10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00"/>
              </a:spcAft>
            </a:pPr>
            <a:r>
              <a:rPr sz="1000" lang="zh-TW" dirty="0">
                <a:solidFill>
                  <a:srgbClr val="000000"/>
                </a:solidFill>
                <a:latin typeface="Arial Unicode MS"/>
                <a:ea typeface="Arial Unicode MS"/>
                <a:cs typeface="Arial Unicode MS"/>
              </a:rPr>
              <a:t>所以會發生一件很諷刺的事：</a:t>
            </a:r>
            <a:r>
              <a:rPr sz="1000" b="1" lang="zh-TW" dirty="0">
                <a:solidFill>
                  <a:srgbClr val="000000"/>
                </a:solidFill>
                <a:latin typeface="Arial Unicode MS"/>
                <a:ea typeface="Arial Unicode MS"/>
                <a:cs typeface="Arial Unicode MS"/>
              </a:rPr>
              <a:t>一台在模擬裡表現完美的自駕車，丟到真的河內街頭，可能完全動不了</a:t>
            </a:r>
            <a:r>
              <a:rPr sz="1000" lang="zh-TW" dirty="0">
                <a:solidFill>
                  <a:srgbClr val="000000"/>
                </a:solidFill>
                <a:latin typeface="Arial Unicode MS"/>
                <a:ea typeface="Arial Unicode MS"/>
                <a:cs typeface="Arial Unicode MS"/>
              </a:rPr>
              <a:t>——因為它學到的規則，在那裡不適用。
</a:t>
            </a:r>
          </a:p>
          <a:p>
            <a:pPr algn="l">
              <a:lnSpc>
                <a:spcPct val="115000"/>
              </a:lnSpc>
              <a:spcAft>
                <a:spcPts val="500"/>
              </a:spcAft>
            </a:pPr>
            <a:r>
              <a:rPr sz="1000" lang="zh-TW" dirty="0">
                <a:solidFill>
                  <a:srgbClr val="000000"/>
                </a:solidFill>
                <a:latin typeface="Arial Unicode MS"/>
                <a:ea typeface="Arial Unicode MS"/>
                <a:cs typeface="Arial Unicode MS"/>
              </a:rPr>
              <a:t>解法是什麼？把</a:t>
            </a:r>
            <a:r>
              <a:rPr sz="1000" b="1" lang="zh-TW" dirty="0">
                <a:solidFill>
                  <a:srgbClr val="000000"/>
                </a:solidFill>
                <a:latin typeface="Arial Unicode MS"/>
                <a:ea typeface="Arial Unicode MS"/>
                <a:cs typeface="Arial Unicode MS"/>
              </a:rPr>
              <a:t>真實道路上錄到的軌跡回放進模擬</a:t>
            </a:r>
            <a:r>
              <a:rPr sz="10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00"/>
              </a:spcAft>
            </a:pPr>
            <a:r>
              <a:rPr sz="1000" lang="zh-TW" dirty="0">
                <a:solidFill>
                  <a:srgbClr val="000000"/>
                </a:solidFill>
                <a:latin typeface="Arial Unicode MS"/>
                <a:ea typeface="Arial Unicode MS"/>
                <a:cs typeface="Arial Unicode MS"/>
              </a:rPr>
              <a:t>但這裡有個問題留給各位想：</a:t>
            </a:r>
            <a:r>
              <a:rPr sz="1000" b="1" lang="zh-TW" dirty="0">
                <a:solidFill>
                  <a:srgbClr val="000000"/>
                </a:solidFill>
                <a:latin typeface="Arial Unicode MS"/>
                <a:ea typeface="Arial Unicode MS"/>
                <a:cs typeface="Arial Unicode MS"/>
              </a:rPr>
              <a:t>要回放河內的軌跡，你得先有河內的軌跡。</a:t>
            </a:r>
            <a:r>
              <a:rPr sz="1000" lang="zh-TW" dirty="0">
                <a:solidFill>
                  <a:srgbClr val="000000"/>
                </a:solidFill>
                <a:latin typeface="Arial Unicode MS"/>
                <a:ea typeface="Arial Unicode MS"/>
                <a:cs typeface="Arial Unicode MS"/>
              </a:rPr>
              <a:t>誰有？
</a:t>
            </a:r>
          </a:p>
          <a:p>
            <a:pPr algn="l">
              <a:lnSpc>
                <a:spcPct val="115000"/>
              </a:lnSpc>
              <a:spcAft>
                <a:spcPts val="500"/>
              </a:spcAft>
            </a:pPr>
            <a:r>
              <a:rPr sz="1000" lang="zh-TW" dirty="0">
                <a:solidFill>
                  <a:srgbClr val="000000"/>
                </a:solidFill>
                <a:latin typeface="Arial Unicode MS"/>
                <a:ea typeface="Arial Unicode MS"/>
                <a:cs typeface="Arial Unicode MS"/>
              </a:rPr>
              <a:t>答案是：要自己去收。
</a:t>
            </a:r>
          </a:p>
          <a:p>
            <a:pPr algn="l">
              <a:lnSpc>
                <a:spcPct val="115000"/>
              </a:lnSpc>
              <a:spcAft>
                <a:spcPts val="500"/>
              </a:spcAft>
            </a:pPr>
            <a:r>
              <a:rPr sz="1000" lang="zh-TW" dirty="0">
                <a:solidFill>
                  <a:srgbClr val="000000"/>
                </a:solidFill>
                <a:latin typeface="Arial Unicode MS"/>
                <a:ea typeface="Arial Unicode MS"/>
                <a:cs typeface="Arial Unicode MS"/>
              </a:rPr>
              <a:t>對。這就是為什麼「做一個台灣或越南的交通行為模型」是很有價值的題目——</a:t>
            </a:r>
            <a:r>
              <a:rPr sz="10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第三種：物理。輪胎、懸吊、煞車延遲在模擬裡都只是近似值。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圈「近似值」三個字，並回頭指第 7 張那條煞停公式——那也是近似的。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第三種：</a:t>
            </a:r>
            <a:r>
              <a:rPr sz="1000" b="1" lang="zh-TW" dirty="0">
                <a:solidFill>
                  <a:srgbClr val="000000"/>
                </a:solidFill>
                <a:latin typeface="Arial Unicode MS"/>
                <a:ea typeface="Arial Unicode MS"/>
                <a:cs typeface="Arial Unicode MS"/>
              </a:rPr>
              <a:t>物理落差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000" b="1" lang="zh-TW" dirty="0">
                <a:solidFill>
                  <a:srgbClr val="000000"/>
                </a:solidFill>
                <a:latin typeface="Arial Unicode MS"/>
                <a:ea typeface="Arial Unicode MS"/>
                <a:cs typeface="Arial Unicode MS"/>
              </a:rPr>
              <a:t>近似值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我們的模擬器更簡化：減速度就是一個固定的數字，</a:t>
            </a:r>
            <a:r>
              <a:rPr sz="1000" b="1" lang="zh-TW" dirty="0">
                <a:solidFill>
                  <a:srgbClr val="000000"/>
                </a:solidFill>
                <a:latin typeface="Arial Unicode MS"/>
                <a:ea typeface="Arial Unicode MS"/>
                <a:cs typeface="Arial Unicode MS"/>
              </a:rPr>
              <a:t>六</a:t>
            </a:r>
            <a:r>
              <a:rPr sz="10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00"/>
              </a:spcAft>
            </a:pPr>
            <a:r>
              <a:rPr sz="1000" lang="zh-TW" dirty="0">
                <a:solidFill>
                  <a:srgbClr val="000000"/>
                </a:solidFill>
                <a:latin typeface="Arial Unicode MS"/>
                <a:ea typeface="Arial Unicode MS"/>
                <a:cs typeface="Arial Unicode MS"/>
              </a:rPr>
              <a:t>真車呢？
</a:t>
            </a:r>
          </a:p>
          <a:p>
            <a:pPr algn="l">
              <a:lnSpc>
                <a:spcPct val="115000"/>
              </a:lnSpc>
              <a:spcAft>
                <a:spcPts val="500"/>
              </a:spcAft>
            </a:pPr>
            <a:r>
              <a:rPr sz="1000" lang="zh-TW" dirty="0">
                <a:solidFill>
                  <a:srgbClr val="000000"/>
                </a:solidFill>
                <a:latin typeface="Arial Unicode MS"/>
                <a:ea typeface="Arial Unicode MS"/>
                <a:cs typeface="Arial Unicode MS"/>
              </a:rPr>
              <a:t>（問全班）下雨天煞車，煞得住嗎？
</a:t>
            </a:r>
          </a:p>
          <a:p>
            <a:pPr algn="l">
              <a:lnSpc>
                <a:spcPct val="115000"/>
              </a:lnSpc>
              <a:spcAft>
                <a:spcPts val="500"/>
              </a:spcAft>
            </a:pPr>
            <a:r>
              <a:rPr sz="1000" lang="zh-TW" dirty="0">
                <a:solidFill>
                  <a:srgbClr val="000000"/>
                </a:solidFill>
                <a:latin typeface="Arial Unicode MS"/>
                <a:ea typeface="Arial Unicode MS"/>
                <a:cs typeface="Arial Unicode MS"/>
              </a:rPr>
              <a:t>答案是比較難煞。
</a:t>
            </a:r>
          </a:p>
          <a:p>
            <a:pPr algn="l">
              <a:lnSpc>
                <a:spcPct val="115000"/>
              </a:lnSpc>
              <a:spcAft>
                <a:spcPts val="500"/>
              </a:spcAft>
            </a:pPr>
            <a:r>
              <a:rPr sz="1000" b="1" lang="zh-TW" dirty="0">
                <a:solidFill>
                  <a:srgbClr val="000000"/>
                </a:solidFill>
                <a:latin typeface="Arial Unicode MS"/>
                <a:ea typeface="Arial Unicode MS"/>
                <a:cs typeface="Arial Unicode MS"/>
              </a:rPr>
              <a:t>濕路面的減速度大約只剩一半。</a:t>
            </a:r>
            <a:r>
              <a:rPr sz="10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00"/>
              </a:spcAft>
            </a:pPr>
            <a:r>
              <a:rPr sz="1000" lang="zh-TW" dirty="0">
                <a:solidFill>
                  <a:srgbClr val="000000"/>
                </a:solidFill>
                <a:latin typeface="Arial Unicode MS"/>
                <a:ea typeface="Arial Unicode MS"/>
                <a:cs typeface="Arial Unicode MS"/>
              </a:rPr>
              <a:t>我們回頭看剛剛那張表。所以那張表的數字，只在</a:t>
            </a:r>
            <a:r>
              <a:rPr sz="1000" b="1" lang="zh-TW" dirty="0">
                <a:solidFill>
                  <a:srgbClr val="000000"/>
                </a:solidFill>
                <a:latin typeface="Arial Unicode MS"/>
                <a:ea typeface="Arial Unicode MS"/>
                <a:cs typeface="Arial Unicode MS"/>
              </a:rPr>
              <a:t>乾的柏油路</a:t>
            </a:r>
            <a:r>
              <a:rPr sz="10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00"/>
              </a:spcAft>
            </a:pPr>
            <a:r>
              <a:rPr sz="1000" lang="zh-TW" dirty="0">
                <a:solidFill>
                  <a:srgbClr val="000000"/>
                </a:solidFill>
                <a:latin typeface="Arial Unicode MS"/>
                <a:ea typeface="Arial Unicode MS"/>
                <a:cs typeface="Arial Unicode MS"/>
              </a:rPr>
              <a:t>第三節各位打開雨天的時候會親眼看到這件事——而且會發現一個陷阱：</a:t>
            </a:r>
            <a:r>
              <a:rPr sz="10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平衡一下：不是要否定模擬。模擬能做真實世界做不到的事。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圈主標「做不到的事」，再圈下方舉的例子，例如危險場景可以重複跑一千次。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00"/>
              </a:spcAft>
            </a:pPr>
            <a:r>
              <a:rPr sz="1000" b="1" lang="zh-TW" dirty="0">
                <a:solidFill>
                  <a:srgbClr val="000000"/>
                </a:solidFill>
                <a:latin typeface="Arial Unicode MS"/>
                <a:ea typeface="Arial Unicode MS"/>
                <a:cs typeface="Arial Unicode MS"/>
              </a:rPr>
              <a:t>模擬能做兩件真實世界做不到的事。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第一件：</a:t>
            </a:r>
            <a:r>
              <a:rPr sz="1000" b="1" lang="zh-TW" dirty="0">
                <a:solidFill>
                  <a:srgbClr val="000000"/>
                </a:solidFill>
                <a:latin typeface="Arial Unicode MS"/>
                <a:ea typeface="Arial Unicode MS"/>
                <a:cs typeface="Arial Unicode MS"/>
              </a:rPr>
              <a:t>同一個情況重跑一萬次，每次只改一個參數。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00"/>
              </a:spcAft>
            </a:pPr>
            <a:r>
              <a:rPr sz="100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00"/>
              </a:spcAft>
            </a:pPr>
            <a:r>
              <a:rPr sz="1000" lang="zh-TW" dirty="0">
                <a:solidFill>
                  <a:srgbClr val="000000"/>
                </a:solidFill>
                <a:latin typeface="Arial Unicode MS"/>
                <a:ea typeface="Arial Unicode MS"/>
                <a:cs typeface="Arial Unicode MS"/>
              </a:rPr>
              <a:t>第二件，這件更重要：</a:t>
            </a:r>
            <a:r>
              <a:rPr sz="1000" b="1" lang="zh-TW" dirty="0">
                <a:solidFill>
                  <a:srgbClr val="000000"/>
                </a:solidFill>
                <a:latin typeface="Arial Unicode MS"/>
                <a:ea typeface="Arial Unicode MS"/>
                <a:cs typeface="Arial Unicode MS"/>
              </a:rPr>
              <a:t>讓行人剛好在最糟的時間點走出來。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真實世界能嗎？
</a:t>
            </a:r>
          </a:p>
          <a:p>
            <a:pPr algn="l">
              <a:lnSpc>
                <a:spcPct val="115000"/>
              </a:lnSpc>
              <a:spcAft>
                <a:spcPts val="500"/>
              </a:spcAft>
            </a:pPr>
            <a:r>
              <a:rPr sz="1000" lang="zh-TW" dirty="0">
                <a:solidFill>
                  <a:srgbClr val="000000"/>
                </a:solidFill>
                <a:latin typeface="Arial Unicode MS"/>
                <a:ea typeface="Arial Unicode MS"/>
                <a:cs typeface="Arial Unicode MS"/>
              </a:rPr>
              <a:t>這一句我想聽大家自己說出來。
</a:t>
            </a:r>
          </a:p>
          <a:p>
            <a:pPr algn="l">
              <a:lnSpc>
                <a:spcPct val="115000"/>
              </a:lnSpc>
              <a:spcAft>
                <a:spcPts val="500"/>
              </a:spcAft>
            </a:pPr>
            <a:r>
              <a:rPr sz="1000" lang="zh-TW" dirty="0">
                <a:solidFill>
                  <a:srgbClr val="000000"/>
                </a:solidFill>
                <a:latin typeface="Arial Unicode MS"/>
                <a:ea typeface="Arial Unicode MS"/>
                <a:cs typeface="Arial Unicode MS"/>
              </a:rPr>
              <a:t>技術上做得到，但</a:t>
            </a:r>
            <a:r>
              <a:rPr sz="1000" b="1" lang="zh-TW" dirty="0">
                <a:solidFill>
                  <a:srgbClr val="000000"/>
                </a:solidFill>
                <a:latin typeface="Arial Unicode MS"/>
                <a:ea typeface="Arial Unicode MS"/>
                <a:cs typeface="Arial Unicode MS"/>
              </a:rPr>
              <a:t>不可以做</a:t>
            </a:r>
            <a:r>
              <a:rPr sz="100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00"/>
              </a:spcAft>
            </a:pPr>
            <a:r>
              <a:rPr sz="1000" lang="zh-TW" dirty="0">
                <a:solidFill>
                  <a:srgbClr val="000000"/>
                </a:solidFill>
                <a:latin typeface="Arial Unicode MS"/>
                <a:ea typeface="Arial Unicode MS"/>
                <a:cs typeface="Arial Unicode MS"/>
              </a:rPr>
              <a:t>所以模擬不是「比較差的真實」，它是</a:t>
            </a:r>
            <a:r>
              <a:rPr sz="1000" b="1" lang="zh-TW" dirty="0">
                <a:solidFill>
                  <a:srgbClr val="000000"/>
                </a:solidFill>
                <a:latin typeface="Arial Unicode MS"/>
                <a:ea typeface="Arial Unicode MS"/>
                <a:cs typeface="Arial Unicode MS"/>
              </a:rPr>
              <a:t>另一種工具</a:t>
            </a:r>
            <a:r>
              <a:rPr sz="1000" lang="zh-TW" dirty="0">
                <a:solidFill>
                  <a:srgbClr val="000000"/>
                </a:solidFill>
                <a:latin typeface="Arial Unicode MS"/>
                <a:ea typeface="Arial Unicode MS"/>
                <a:cs typeface="Arial Unicode MS"/>
              </a:rPr>
              <a:t>。有些事只有它做得到。
</a:t>
            </a:r>
          </a:p>
          <a:p>
            <a:pPr algn="l">
              <a:lnSpc>
                <a:spcPct val="115000"/>
              </a:lnSpc>
              <a:spcAft>
                <a:spcPts val="500"/>
              </a:spcAft>
            </a:pPr>
            <a:r>
              <a:rPr sz="10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把三種落差拉回台灣與越南的路況，讓它變成跟學生有關的事。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一列一列圈，每圈一列問一次「你們覺得這裡是不是更嚴重」。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剛剛那三種落差，在台灣和越南</a:t>
            </a:r>
            <a:r>
              <a:rPr sz="1000" b="1" lang="zh-TW" dirty="0">
                <a:solidFill>
                  <a:srgbClr val="000000"/>
                </a:solidFill>
                <a:latin typeface="Arial Unicode MS"/>
                <a:ea typeface="Arial Unicode MS"/>
                <a:cs typeface="Arial Unicode MS"/>
              </a:rPr>
              <a:t>更大</a:t>
            </a:r>
            <a:r>
              <a:rPr sz="1000" lang="zh-TW" dirty="0">
                <a:solidFill>
                  <a:srgbClr val="000000"/>
                </a:solidFill>
                <a:latin typeface="Arial Unicode MS"/>
                <a:ea typeface="Arial Unicode MS"/>
                <a:cs typeface="Arial Unicode MS"/>
              </a:rPr>
              <a:t>。原因很單純：
</a:t>
            </a:r>
          </a:p>
          <a:p>
            <a:pPr algn="l">
              <a:lnSpc>
                <a:spcPct val="115000"/>
              </a:lnSpc>
              <a:spcAft>
                <a:spcPts val="500"/>
              </a:spcAft>
            </a:pPr>
            <a:r>
              <a:rPr sz="1000" lang="zh-TW" dirty="0">
                <a:solidFill>
                  <a:srgbClr val="000000"/>
                </a:solidFill>
                <a:latin typeface="Arial Unicode MS"/>
                <a:ea typeface="Arial Unicode MS"/>
                <a:cs typeface="Arial Unicode MS"/>
              </a:rPr>
              <a:t>現成的模擬器，裡面的世界、車輛、行為，</a:t>
            </a:r>
            <a:r>
              <a:rPr sz="1000" b="1" lang="zh-TW" dirty="0">
                <a:solidFill>
                  <a:srgbClr val="000000"/>
                </a:solidFill>
                <a:latin typeface="Arial Unicode MS"/>
                <a:ea typeface="Arial Unicode MS"/>
                <a:cs typeface="Arial Unicode MS"/>
              </a:rPr>
              <a:t>都是照歐美做的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一欄一欄看。
</a:t>
            </a:r>
          </a:p>
          <a:p>
            <a:pPr algn="l">
              <a:lnSpc>
                <a:spcPct val="115000"/>
              </a:lnSpc>
              <a:spcAft>
                <a:spcPts val="500"/>
              </a:spcAft>
            </a:pPr>
            <a:r>
              <a:rPr sz="1000" b="1" lang="zh-TW" dirty="0">
                <a:solidFill>
                  <a:srgbClr val="000000"/>
                </a:solidFill>
                <a:latin typeface="Arial Unicode MS"/>
                <a:ea typeface="Arial Unicode MS"/>
                <a:cs typeface="Arial Unicode MS"/>
              </a:rPr>
              <a:t>外觀</a:t>
            </a:r>
            <a:r>
              <a:rPr sz="10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00"/>
              </a:spcAft>
            </a:pPr>
            <a:r>
              <a:rPr sz="1000" b="1" lang="zh-TW" dirty="0">
                <a:solidFill>
                  <a:srgbClr val="000000"/>
                </a:solidFill>
                <a:latin typeface="Arial Unicode MS"/>
                <a:ea typeface="Arial Unicode MS"/>
                <a:cs typeface="Arial Unicode MS"/>
              </a:rPr>
              <a:t>行為</a:t>
            </a:r>
            <a:r>
              <a:rPr sz="10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000" b="1" lang="zh-TW" dirty="0">
                <a:solidFill>
                  <a:srgbClr val="000000"/>
                </a:solidFill>
                <a:latin typeface="Arial Unicode MS"/>
                <a:ea typeface="Arial Unicode MS"/>
                <a:cs typeface="Arial Unicode MS"/>
              </a:rPr>
              <a:t>這種行為模型，現成的模擬器裡根本沒有。</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物理</a:t>
            </a:r>
            <a:r>
              <a:rPr sz="10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00"/>
              </a:spcAft>
            </a:pPr>
            <a:r>
              <a:rPr sz="10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00"/>
              </a:spcAft>
            </a:pPr>
            <a:r>
              <a:rPr sz="1000" lang="zh-TW" dirty="0">
                <a:solidFill>
                  <a:srgbClr val="000000"/>
                </a:solidFill>
                <a:latin typeface="Arial Unicode MS"/>
                <a:ea typeface="Arial Unicode MS"/>
                <a:cs typeface="Arial Unicode MS"/>
              </a:rPr>
              <a:t>所以看最下面那句話。這不是抱怨，這是機會：</a:t>
            </a:r>
            <a:r>
              <a:rPr sz="10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上週回家作業的討論。讓學生自己說出模擬裡不會出現的東西。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圈題目那一句，再圈第三條「猜猜看哪一欄會最滿」。白板分三欄記，這張白板要拍照留著。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這是上週的回家作業，現在收。
</a:t>
            </a:r>
          </a:p>
          <a:p>
            <a:pPr algn="l">
              <a:lnSpc>
                <a:spcPct val="115000"/>
              </a:lnSpc>
              <a:spcAft>
                <a:spcPts val="500"/>
              </a:spcAft>
            </a:pPr>
            <a:r>
              <a:rPr sz="100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00"/>
              </a:spcAft>
            </a:pPr>
            <a:r>
              <a:rPr sz="1000" lang="zh-TW" dirty="0">
                <a:solidFill>
                  <a:srgbClr val="000000"/>
                </a:solidFill>
                <a:latin typeface="Arial Unicode MS"/>
                <a:ea typeface="Arial Unicode MS"/>
                <a:cs typeface="Arial Unicode MS"/>
              </a:rPr>
              <a:t>先讓全班猜一下：</a:t>
            </a:r>
            <a:r>
              <a:rPr sz="1000" b="1" lang="zh-TW" dirty="0">
                <a:solidFill>
                  <a:srgbClr val="000000"/>
                </a:solidFill>
                <a:latin typeface="Arial Unicode MS"/>
                <a:ea typeface="Arial Unicode MS"/>
                <a:cs typeface="Arial Unicode MS"/>
              </a:rPr>
              <a:t>哪一欄會最滿？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大部分的人會猜行為，而且會猜對。
</a:t>
            </a:r>
          </a:p>
          <a:p>
            <a:pPr algn="l">
              <a:lnSpc>
                <a:spcPct val="115000"/>
              </a:lnSpc>
              <a:spcAft>
                <a:spcPts val="500"/>
              </a:spcAft>
            </a:pPr>
            <a:r>
              <a:rPr sz="1000" lang="zh-TW" dirty="0">
                <a:solidFill>
                  <a:srgbClr val="000000"/>
                </a:solidFill>
                <a:latin typeface="Arial Unicode MS"/>
                <a:ea typeface="Arial Unicode MS"/>
                <a:cs typeface="Arial Unicode MS"/>
              </a:rPr>
              <a:t>開始。
</a:t>
            </a:r>
          </a:p>
          <a:p>
            <a:pPr algn="l">
              <a:lnSpc>
                <a:spcPct val="115000"/>
              </a:lnSpc>
              <a:spcAft>
                <a:spcPts val="500"/>
              </a:spcAft>
            </a:pPr>
            <a:r>
              <a:rPr sz="100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00"/>
              </a:spcAft>
            </a:pPr>
            <a:r>
              <a:rPr sz="1000" b="1" lang="zh-TW" dirty="0">
                <a:solidFill>
                  <a:srgbClr val="000000"/>
                </a:solidFill>
                <a:latin typeface="Arial Unicode MS"/>
                <a:ea typeface="Arial Unicode MS"/>
                <a:cs typeface="Arial Unicode MS"/>
              </a:rPr>
              <a:t>老師要主動補一到兩個「物理」的例子</a:t>
            </a:r>
            <a:r>
              <a:rPr sz="1000" lang="zh-TW" dirty="0">
                <a:solidFill>
                  <a:srgbClr val="000000"/>
                </a:solidFill>
                <a:latin typeface="Arial Unicode MS"/>
                <a:ea typeface="Arial Unicode MS"/>
                <a:cs typeface="Arial Unicode MS"/>
              </a:rPr>
              <a:t>，因為學生通常想不到：
</a:t>
            </a:r>
          </a:p>
          <a:p>
            <a:pPr algn="l">
              <a:lnSpc>
                <a:spcPct val="115000"/>
              </a:lnSpc>
              <a:spcAft>
                <a:spcPts val="500"/>
              </a:spcAft>
            </a:pPr>
            <a:r>
              <a:rPr sz="100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00"/>
              </a:spcAft>
            </a:pPr>
            <a:r>
              <a:rPr sz="100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00"/>
              </a:spcAft>
            </a:pPr>
            <a:r>
              <a:rPr sz="1000" lang="zh-TW" dirty="0">
                <a:solidFill>
                  <a:srgbClr val="000000"/>
                </a:solidFill>
                <a:latin typeface="Arial Unicode MS"/>
                <a:ea typeface="Arial Unicode MS"/>
                <a:cs typeface="Arial Unicode MS"/>
              </a:rPr>
              <a:t>（補完之後說）看白板：三欄都有東西，而且都是各位自己講出來的。</a:t>
            </a:r>
            <a:r>
              <a:rPr sz="1000" b="1" lang="zh-TW" dirty="0">
                <a:solidFill>
                  <a:srgbClr val="000000"/>
                </a:solidFill>
                <a:latin typeface="Arial Unicode MS"/>
                <a:ea typeface="Arial Unicode MS"/>
                <a:cs typeface="Arial Unicode MS"/>
              </a:rPr>
              <a:t>這張白板就是台灣和越南版模擬器缺的東西清單。</a:t>
            </a:r>
            <a:r>
              <a:rPr sz="100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第一節小結。三句話帶進第二節。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三條一條一條圈，圈完念一次。特別停在第二條的「二十五公尺」。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第一節到這裡。三句話帶走。
</a:t>
            </a:r>
          </a:p>
          <a:p>
            <a:pPr algn="l">
              <a:lnSpc>
                <a:spcPct val="115000"/>
              </a:lnSpc>
              <a:spcAft>
                <a:spcPts val="500"/>
              </a:spcAft>
            </a:pPr>
            <a:r>
              <a:rPr sz="1000" lang="zh-TW" dirty="0">
                <a:solidFill>
                  <a:srgbClr val="000000"/>
                </a:solidFill>
                <a:latin typeface="Arial Unicode MS"/>
                <a:ea typeface="Arial Unicode MS"/>
                <a:cs typeface="Arial Unicode MS"/>
              </a:rPr>
              <a:t>第一句，</a:t>
            </a:r>
            <a:r>
              <a:rPr sz="1000" b="1" lang="zh-TW" dirty="0">
                <a:solidFill>
                  <a:srgbClr val="000000"/>
                </a:solidFill>
                <a:latin typeface="Arial Unicode MS"/>
                <a:ea typeface="Arial Unicode MS"/>
                <a:cs typeface="Arial Unicode MS"/>
              </a:rPr>
              <a:t>三個滑桿就是三個規格</a:t>
            </a:r>
            <a:r>
              <a:rPr sz="10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500"/>
              </a:spcAft>
            </a:pPr>
            <a:r>
              <a:rPr sz="1000" lang="zh-TW" dirty="0">
                <a:solidFill>
                  <a:srgbClr val="000000"/>
                </a:solidFill>
                <a:latin typeface="Arial Unicode MS"/>
                <a:ea typeface="Arial Unicode MS"/>
                <a:cs typeface="Arial Unicode MS"/>
              </a:rPr>
              <a:t>第二句，</a:t>
            </a:r>
            <a:r>
              <a:rPr sz="1000" b="1" lang="zh-TW" dirty="0">
                <a:solidFill>
                  <a:srgbClr val="000000"/>
                </a:solidFill>
                <a:latin typeface="Arial Unicode MS"/>
                <a:ea typeface="Arial Unicode MS"/>
                <a:cs typeface="Arial Unicode MS"/>
              </a:rPr>
              <a:t>煞停距離決定射線至少要多長</a:t>
            </a:r>
            <a:r>
              <a:rPr sz="10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500"/>
              </a:spcAft>
            </a:pPr>
            <a:r>
              <a:rPr sz="1000" lang="zh-TW" dirty="0">
                <a:solidFill>
                  <a:srgbClr val="000000"/>
                </a:solidFill>
                <a:latin typeface="Arial Unicode MS"/>
                <a:ea typeface="Arial Unicode MS"/>
                <a:cs typeface="Arial Unicode MS"/>
              </a:rPr>
              <a:t>第三句，</a:t>
            </a:r>
            <a:r>
              <a:rPr sz="1000" b="1" lang="zh-TW" dirty="0">
                <a:solidFill>
                  <a:srgbClr val="000000"/>
                </a:solidFill>
                <a:latin typeface="Arial Unicode MS"/>
                <a:ea typeface="Arial Unicode MS"/>
                <a:cs typeface="Arial Unicode MS"/>
              </a:rPr>
              <a:t>三種落差：外觀、行為、物理</a:t>
            </a:r>
            <a:r>
              <a:rPr sz="10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500"/>
              </a:spcAft>
            </a:pPr>
            <a:r>
              <a:rPr sz="1000" lang="zh-TW" dirty="0">
                <a:solidFill>
                  <a:srgbClr val="000000"/>
                </a:solidFill>
                <a:latin typeface="Arial Unicode MS"/>
                <a:ea typeface="Arial Unicode MS"/>
                <a:cs typeface="Arial Unicode MS"/>
              </a:rPr>
              <a:t>休息十分鐘。
</a:t>
            </a:r>
          </a:p>
          <a:p>
            <a:pPr algn="l">
              <a:lnSpc>
                <a:spcPct val="115000"/>
              </a:lnSpc>
              <a:spcAft>
                <a:spcPts val="500"/>
              </a:spcAft>
            </a:pPr>
            <a:r>
              <a:rPr sz="10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500"/>
              </a:spcAft>
            </a:pPr>
            <a:r>
              <a:rPr sz="10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1418063" y="935550"/>
            <a:ext cx="5386500"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1219050"/>
            <a:ext cx="5811750" cy="965055"/>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tuần trước</a:t>
            </a:r>
            <a:endParaRPr lang="en-US" sz="2330" dirty="0"/>
          </a:p>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chính là ba dòng trong bảng thông số</a:t>
            </a:r>
            <a:endParaRPr lang="en-US" sz="2330" dirty="0"/>
          </a:p>
          <a:p>
            <a:pPr indent="0" marL="0">
              <a:lnSpc>
                <a:spcPct val="118000"/>
              </a:lnSpc>
              <a:buNone/>
            </a:pPr>
            <a:r>
              <a:rPr lang="en-US" sz="132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2330" dirty="0"/>
          </a:p>
        </p:txBody>
      </p:sp>
      <p:sp>
        <p:nvSpPr>
          <p:cNvPr id="6" name="Shape 4"/>
          <p:cNvSpPr/>
          <p:nvPr/>
        </p:nvSpPr>
        <p:spPr>
          <a:xfrm>
            <a:off x="1418063" y="2331867"/>
            <a:ext cx="1063125" cy="31894"/>
          </a:xfrm>
          <a:prstGeom prst="rect">
            <a:avLst/>
          </a:prstGeom>
          <a:solidFill>
            <a:srgbClr val="FFB020"/>
          </a:solidFill>
          <a:ln/>
        </p:spPr>
      </p:sp>
      <p:sp>
        <p:nvSpPr>
          <p:cNvPr id="7" name="Text 5"/>
          <p:cNvSpPr txBox="1"/>
          <p:nvPr/>
        </p:nvSpPr>
        <p:spPr>
          <a:xfrm>
            <a:off x="1418063" y="2487792"/>
            <a:ext cx="5528250" cy="474783"/>
          </a:xfrm>
          <a:prstGeom prst="rect">
            <a:avLst/>
          </a:prstGeom>
          <a:noFill/>
          <a:ln/>
        </p:spPr>
        <p:txBody>
          <a:bodyPr wrap="square" lIns="0" tIns="0" rIns="0" bIns="0" rtlCol="0" anchor="t"/>
          <a:lstStyle/>
          <a:p>
            <a:pPr indent="0" marL="0">
              <a:lnSpc>
                <a:spcPct val="120000"/>
              </a:lnSpc>
              <a:buNone/>
            </a:pPr>
            <a:r>
              <a:rPr lang="en-US" sz="112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120" dirty="0"/>
          </a:p>
          <a:p>
            <a:pPr indent="0" marL="0">
              <a:lnSpc>
                <a:spcPct val="120000"/>
              </a:lnSpc>
              <a:buNone/>
            </a:pPr>
            <a:r>
              <a:rPr lang="en-US" sz="97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120" dirty="0"/>
          </a:p>
        </p:txBody>
      </p:sp>
      <p:sp>
        <p:nvSpPr>
          <p:cNvPr id="8" name="Shape 6"/>
          <p:cNvSpPr/>
          <p:nvPr/>
        </p:nvSpPr>
        <p:spPr>
          <a:xfrm>
            <a:off x="1418063" y="3019275"/>
            <a:ext cx="4606875" cy="297675"/>
          </a:xfrm>
          <a:prstGeom prst="roundRect">
            <a:avLst>
              <a:gd name="adj" fmla="val 16667"/>
            </a:avLst>
          </a:prstGeom>
          <a:solidFill>
            <a:srgbClr val="13314F"/>
          </a:solidFill>
          <a:ln/>
        </p:spPr>
      </p:sp>
      <p:sp>
        <p:nvSpPr>
          <p:cNvPr id="9" name="Text 7"/>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0" name="Text 8"/>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2" name="Shape 9"/>
          <p:cNvSpPr/>
          <p:nvPr/>
        </p:nvSpPr>
        <p:spPr>
          <a:xfrm>
            <a:off x="1304663" y="240975"/>
            <a:ext cx="1715175" cy="581175"/>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xong bấm «Bắt đầu» cho xe chạy thử một vòng</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920" dirty="0"/>
          </a:p>
        </p:txBody>
      </p:sp>
      <p:sp>
        <p:nvSpPr>
          <p:cNvPr id="14" name="Shape 11"/>
          <p:cNvSpPr/>
          <p:nvPr/>
        </p:nvSpPr>
        <p:spPr>
          <a:xfrm>
            <a:off x="1357833" y="2581810"/>
            <a:ext cx="233228" cy="233228"/>
          </a:xfrm>
          <a:prstGeom prst="ellipse">
            <a:avLst/>
          </a:prstGeom>
          <a:solidFill>
            <a:srgbClr val="00A896"/>
          </a:solidFill>
          <a:ln/>
        </p:spPr>
      </p:sp>
      <p:sp>
        <p:nvSpPr>
          <p:cNvPr id="15" name="Text 12"/>
          <p:cNvSpPr txBox="1"/>
          <p:nvPr/>
        </p:nvSpPr>
        <p:spPr>
          <a:xfrm>
            <a:off x="1357833" y="2589098"/>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552657"/>
            <a:ext cx="4117924" cy="364418"/>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2 / 18</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Ba thanh trượt,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三個滑桿，三個真的規格</a:t>
            </a:r>
            <a:endParaRPr lang="en-US" sz="2330" dirty="0"/>
          </a:p>
        </p:txBody>
      </p:sp>
      <p:sp>
        <p:nvSpPr>
          <p:cNvPr id="7" name="Text 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 / 18</a:t>
            </a:r>
            <a:endParaRPr lang="en-US" sz="720" dirty="0"/>
          </a:p>
        </p:txBody>
      </p:sp>
      <p:sp>
        <p:nvSpPr>
          <p:cNvPr id="8" name="Text 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554940" y="956372"/>
            <a:ext cx="571459" cy="514544"/>
          </a:xfrm>
          <a:prstGeom prst="line">
            <a:avLst/>
          </a:prstGeom>
          <a:noFill/>
          <a:ln w="17780">
            <a:solidFill>
              <a:srgbClr val="2E6E4E"/>
            </a:solidFill>
            <a:prstDash val="solid"/>
          </a:ln>
        </p:spPr>
      </p:sp>
      <p:sp>
        <p:nvSpPr>
          <p:cNvPr id="5" name="Shape 3"/>
          <p:cNvSpPr/>
          <p:nvPr/>
        </p:nvSpPr>
        <p:spPr>
          <a:xfrm flipV="1">
            <a:off x="1554940" y="1109904"/>
            <a:ext cx="678964" cy="361011"/>
          </a:xfrm>
          <a:prstGeom prst="line">
            <a:avLst/>
          </a:prstGeom>
          <a:noFill/>
          <a:ln w="17780">
            <a:solidFill>
              <a:srgbClr val="2E6E4E"/>
            </a:solidFill>
            <a:prstDash val="solid"/>
          </a:ln>
        </p:spPr>
      </p:sp>
      <p:sp>
        <p:nvSpPr>
          <p:cNvPr id="6" name="Shape 4"/>
          <p:cNvSpPr/>
          <p:nvPr/>
        </p:nvSpPr>
        <p:spPr>
          <a:xfrm flipV="1">
            <a:off x="1554940" y="1284884"/>
            <a:ext cx="746132" cy="186032"/>
          </a:xfrm>
          <a:prstGeom prst="line">
            <a:avLst/>
          </a:prstGeom>
          <a:noFill/>
          <a:ln w="17780">
            <a:solidFill>
              <a:srgbClr val="2E6E4E"/>
            </a:solidFill>
            <a:prstDash val="solid"/>
          </a:ln>
        </p:spPr>
      </p:sp>
      <p:sp>
        <p:nvSpPr>
          <p:cNvPr id="7" name="Shape 5"/>
          <p:cNvSpPr/>
          <p:nvPr/>
        </p:nvSpPr>
        <p:spPr>
          <a:xfrm>
            <a:off x="1554940" y="1470916"/>
            <a:ext cx="768975" cy="1"/>
          </a:xfrm>
          <a:prstGeom prst="line">
            <a:avLst/>
          </a:prstGeom>
          <a:noFill/>
          <a:ln w="17780">
            <a:solidFill>
              <a:srgbClr val="2E6E4E"/>
            </a:solidFill>
            <a:prstDash val="solid"/>
          </a:ln>
        </p:spPr>
      </p:sp>
      <p:sp>
        <p:nvSpPr>
          <p:cNvPr id="8" name="Shape 6"/>
          <p:cNvSpPr/>
          <p:nvPr/>
        </p:nvSpPr>
        <p:spPr>
          <a:xfrm>
            <a:off x="1554940" y="1470916"/>
            <a:ext cx="678964" cy="361011"/>
          </a:xfrm>
          <a:prstGeom prst="line">
            <a:avLst/>
          </a:prstGeom>
          <a:noFill/>
          <a:ln w="17780">
            <a:solidFill>
              <a:srgbClr val="2E6E4E"/>
            </a:solidFill>
            <a:prstDash val="solid"/>
          </a:ln>
        </p:spPr>
      </p:sp>
      <p:sp>
        <p:nvSpPr>
          <p:cNvPr id="9" name="Shape 7"/>
          <p:cNvSpPr/>
          <p:nvPr/>
        </p:nvSpPr>
        <p:spPr>
          <a:xfrm>
            <a:off x="1554940" y="1470916"/>
            <a:ext cx="571459" cy="514544"/>
          </a:xfrm>
          <a:prstGeom prst="line">
            <a:avLst/>
          </a:prstGeom>
          <a:noFill/>
          <a:ln w="17780">
            <a:solidFill>
              <a:srgbClr val="2E6E4E"/>
            </a:solidFill>
            <a:prstDash val="solid"/>
          </a:ln>
        </p:spPr>
      </p:sp>
      <p:sp>
        <p:nvSpPr>
          <p:cNvPr id="10" name="Shape 8"/>
          <p:cNvSpPr/>
          <p:nvPr/>
        </p:nvSpPr>
        <p:spPr>
          <a:xfrm>
            <a:off x="1518570" y="1434545"/>
            <a:ext cx="72741" cy="72741"/>
          </a:xfrm>
          <a:prstGeom prst="ellipse">
            <a:avLst/>
          </a:prstGeom>
          <a:solidFill>
            <a:srgbClr val="2E6E4E"/>
          </a:solidFill>
          <a:ln/>
        </p:spPr>
      </p:sp>
      <p:sp>
        <p:nvSpPr>
          <p:cNvPr id="11" name="Shape 9"/>
          <p:cNvSpPr/>
          <p:nvPr/>
        </p:nvSpPr>
        <p:spPr>
          <a:xfrm>
            <a:off x="2040198" y="1552900"/>
            <a:ext cx="103916" cy="103916"/>
          </a:xfrm>
          <a:prstGeom prst="roundRect">
            <a:avLst>
              <a:gd name="adj" fmla="val 20000"/>
            </a:avLst>
          </a:prstGeom>
          <a:solidFill>
            <a:srgbClr val="D9463E"/>
          </a:solidFill>
          <a:ln/>
        </p:spPr>
      </p:sp>
      <p:sp>
        <p:nvSpPr>
          <p:cNvPr id="12" name="Text 10"/>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440" dirty="0"/>
          </a:p>
        </p:txBody>
      </p:sp>
      <p:sp>
        <p:nvSpPr>
          <p:cNvPr id="13" name="Shape 11"/>
          <p:cNvSpPr/>
          <p:nvPr/>
        </p:nvSpPr>
        <p:spPr>
          <a:xfrm>
            <a:off x="2749821" y="1332747"/>
            <a:ext cx="848887" cy="320216"/>
          </a:xfrm>
          <a:prstGeom prst="roundRect">
            <a:avLst>
              <a:gd name="adj" fmla="val 13712"/>
            </a:avLst>
          </a:prstGeom>
          <a:solidFill>
            <a:srgbClr val="0B1F3A"/>
          </a:solidFill>
          <a:ln/>
        </p:spPr>
      </p:sp>
      <p:sp>
        <p:nvSpPr>
          <p:cNvPr id="14" name="Text 12"/>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15" name="Text 13"/>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16" name="Shape 14"/>
          <p:cNvSpPr/>
          <p:nvPr/>
        </p:nvSpPr>
        <p:spPr>
          <a:xfrm>
            <a:off x="2749821" y="1748097"/>
            <a:ext cx="848887" cy="320216"/>
          </a:xfrm>
          <a:prstGeom prst="roundRect">
            <a:avLst>
              <a:gd name="adj" fmla="val 13712"/>
            </a:avLst>
          </a:prstGeom>
          <a:solidFill>
            <a:srgbClr val="007F72"/>
          </a:solidFill>
          <a:ln/>
        </p:spPr>
      </p:sp>
      <p:sp>
        <p:nvSpPr>
          <p:cNvPr id="17" name="Text 15"/>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18" name="Text 16"/>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19" name="Shape 17"/>
          <p:cNvSpPr/>
          <p:nvPr/>
        </p:nvSpPr>
        <p:spPr>
          <a:xfrm>
            <a:off x="2749821" y="2163448"/>
            <a:ext cx="848887" cy="320216"/>
          </a:xfrm>
          <a:prstGeom prst="roundRect">
            <a:avLst>
              <a:gd name="adj" fmla="val 13712"/>
            </a:avLst>
          </a:prstGeom>
          <a:solidFill>
            <a:srgbClr val="FFB020"/>
          </a:solidFill>
          <a:ln/>
        </p:spPr>
      </p:sp>
      <p:sp>
        <p:nvSpPr>
          <p:cNvPr id="20" name="Text 18"/>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a:t>
            </a:r>
            <a:endParaRPr lang="en-US" sz="720" dirty="0"/>
          </a:p>
        </p:txBody>
      </p:sp>
      <p:sp>
        <p:nvSpPr>
          <p:cNvPr id="21" name="Text 19"/>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880" dirty="0"/>
          </a:p>
        </p:txBody>
      </p:sp>
      <p:sp>
        <p:nvSpPr>
          <p:cNvPr id="22" name="Shape 20"/>
          <p:cNvSpPr/>
          <p:nvPr/>
        </p:nvSpPr>
        <p:spPr>
          <a:xfrm>
            <a:off x="2749821" y="2578798"/>
            <a:ext cx="848887" cy="320216"/>
          </a:xfrm>
          <a:prstGeom prst="roundRect">
            <a:avLst>
              <a:gd name="adj" fmla="val 13712"/>
            </a:avLst>
          </a:prstGeom>
          <a:solidFill>
            <a:srgbClr val="0B1F3A"/>
          </a:solidFill>
          <a:ln/>
        </p:spPr>
      </p:sp>
      <p:sp>
        <p:nvSpPr>
          <p:cNvPr id="23" name="Text 21"/>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nhỏ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調小會怎樣</a:t>
            </a:r>
            <a:endParaRPr lang="en-US" sz="720" dirty="0"/>
          </a:p>
        </p:txBody>
      </p:sp>
      <p:sp>
        <p:nvSpPr>
          <p:cNvPr id="24" name="Text 22"/>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880" dirty="0"/>
          </a:p>
        </p:txBody>
      </p:sp>
      <p:sp>
        <p:nvSpPr>
          <p:cNvPr id="25" name="Shape 23"/>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96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29" name="Text 25"/>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18</a:t>
            </a:r>
            <a:endParaRPr lang="en-US" sz="720" dirty="0"/>
          </a:p>
        </p:txBody>
      </p:sp>
      <p:sp>
        <p:nvSpPr>
          <p:cNvPr id="30" name="Text 26"/>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2 / 3　Chiều dài tia · 射線長度</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440633" y="1495223"/>
            <a:ext cx="249397" cy="114723"/>
          </a:xfrm>
          <a:prstGeom prst="roundRect">
            <a:avLst>
              <a:gd name="adj" fmla="val 22000"/>
            </a:avLst>
          </a:prstGeom>
          <a:solidFill>
            <a:srgbClr val="8FA3B5"/>
          </a:solidFill>
          <a:ln/>
        </p:spPr>
      </p:sp>
      <p:sp>
        <p:nvSpPr>
          <p:cNvPr id="5" name="Shape 3"/>
          <p:cNvSpPr/>
          <p:nvPr/>
        </p:nvSpPr>
        <p:spPr>
          <a:xfrm>
            <a:off x="1535404" y="1518167"/>
            <a:ext cx="84795" cy="68833"/>
          </a:xfrm>
          <a:prstGeom prst="roundRect">
            <a:avLst>
              <a:gd name="adj" fmla="val 23333"/>
            </a:avLst>
          </a:prstGeom>
          <a:solidFill>
            <a:srgbClr val="FFFFFF"/>
          </a:solidFill>
          <a:ln/>
        </p:spPr>
      </p:sp>
      <p:sp>
        <p:nvSpPr>
          <p:cNvPr id="6" name="Shape 4"/>
          <p:cNvSpPr/>
          <p:nvPr/>
        </p:nvSpPr>
        <p:spPr>
          <a:xfrm>
            <a:off x="1721204" y="1552584"/>
            <a:ext cx="519577" cy="1"/>
          </a:xfrm>
          <a:prstGeom prst="line">
            <a:avLst/>
          </a:prstGeom>
          <a:noFill/>
          <a:ln w="20320">
            <a:solidFill>
              <a:srgbClr val="8A5A00"/>
            </a:solidFill>
            <a:prstDash val="solid"/>
            <a:tailEnd type="triangle"/>
          </a:ln>
        </p:spPr>
      </p:sp>
      <p:sp>
        <p:nvSpPr>
          <p:cNvPr id="7" name="Shape 5"/>
          <p:cNvSpPr/>
          <p:nvPr/>
        </p:nvSpPr>
        <p:spPr>
          <a:xfrm>
            <a:off x="1851099" y="1484527"/>
            <a:ext cx="1" cy="136114"/>
          </a:xfrm>
          <a:prstGeom prst="line">
            <a:avLst/>
          </a:prstGeom>
          <a:noFill/>
          <a:ln w="12700">
            <a:solidFill>
              <a:srgbClr val="8A5A00"/>
            </a:solidFill>
            <a:prstDash val="solid"/>
          </a:ln>
        </p:spPr>
      </p:sp>
      <p:sp>
        <p:nvSpPr>
          <p:cNvPr id="8" name="Shape 6"/>
          <p:cNvSpPr/>
          <p:nvPr/>
        </p:nvSpPr>
        <p:spPr>
          <a:xfrm>
            <a:off x="1980993" y="1484527"/>
            <a:ext cx="1" cy="136114"/>
          </a:xfrm>
          <a:prstGeom prst="line">
            <a:avLst/>
          </a:prstGeom>
          <a:noFill/>
          <a:ln w="12700">
            <a:solidFill>
              <a:srgbClr val="8A5A00"/>
            </a:solidFill>
            <a:prstDash val="solid"/>
          </a:ln>
        </p:spPr>
      </p:sp>
      <p:sp>
        <p:nvSpPr>
          <p:cNvPr id="9" name="Shape 7"/>
          <p:cNvSpPr/>
          <p:nvPr/>
        </p:nvSpPr>
        <p:spPr>
          <a:xfrm>
            <a:off x="2110887" y="1484527"/>
            <a:ext cx="1" cy="136114"/>
          </a:xfrm>
          <a:prstGeom prst="line">
            <a:avLst/>
          </a:prstGeom>
          <a:noFill/>
          <a:ln w="12700">
            <a:solidFill>
              <a:srgbClr val="8A5A00"/>
            </a:solidFill>
            <a:prstDash val="solid"/>
          </a:ln>
        </p:spPr>
      </p:sp>
      <p:sp>
        <p:nvSpPr>
          <p:cNvPr id="10" name="Shape 8"/>
          <p:cNvSpPr/>
          <p:nvPr/>
        </p:nvSpPr>
        <p:spPr>
          <a:xfrm>
            <a:off x="2230390" y="1402858"/>
            <a:ext cx="72741" cy="299452"/>
          </a:xfrm>
          <a:prstGeom prst="roundRect">
            <a:avLst>
              <a:gd name="adj" fmla="val 21429"/>
            </a:avLst>
          </a:prstGeom>
          <a:solidFill>
            <a:srgbClr val="D9463E"/>
          </a:solidFill>
          <a:ln/>
        </p:spPr>
      </p:sp>
      <p:sp>
        <p:nvSpPr>
          <p:cNvPr id="11" name="Text 9"/>
          <p:cNvSpPr txBox="1"/>
          <p:nvPr/>
        </p:nvSpPr>
        <p:spPr>
          <a:xfrm>
            <a:off x="2749821" y="629347"/>
            <a:ext cx="5078684" cy="418052"/>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440" dirty="0"/>
          </a:p>
        </p:txBody>
      </p:sp>
      <p:sp>
        <p:nvSpPr>
          <p:cNvPr id="12" name="Shape 10"/>
          <p:cNvSpPr/>
          <p:nvPr/>
        </p:nvSpPr>
        <p:spPr>
          <a:xfrm>
            <a:off x="2749821" y="1120579"/>
            <a:ext cx="848887" cy="320216"/>
          </a:xfrm>
          <a:prstGeom prst="roundRect">
            <a:avLst>
              <a:gd name="adj" fmla="val 13712"/>
            </a:avLst>
          </a:prstGeom>
          <a:solidFill>
            <a:srgbClr val="0B1F3A"/>
          </a:solidFill>
          <a:ln/>
        </p:spPr>
      </p:sp>
      <p:sp>
        <p:nvSpPr>
          <p:cNvPr id="13" name="Text 11"/>
          <p:cNvSpPr txBox="1"/>
          <p:nvPr/>
        </p:nvSpPr>
        <p:spPr>
          <a:xfrm>
            <a:off x="2793729" y="11498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14" name="Text 12"/>
          <p:cNvSpPr txBox="1"/>
          <p:nvPr/>
        </p:nvSpPr>
        <p:spPr>
          <a:xfrm>
            <a:off x="3715795" y="11205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Range · tầm đo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Range　測距範圍</a:t>
            </a:r>
            <a:endParaRPr lang="en-US" sz="880" dirty="0"/>
          </a:p>
        </p:txBody>
      </p:sp>
      <p:sp>
        <p:nvSpPr>
          <p:cNvPr id="15" name="Shape 13"/>
          <p:cNvSpPr/>
          <p:nvPr/>
        </p:nvSpPr>
        <p:spPr>
          <a:xfrm>
            <a:off x="2749821" y="1535929"/>
            <a:ext cx="848887" cy="320216"/>
          </a:xfrm>
          <a:prstGeom prst="roundRect">
            <a:avLst>
              <a:gd name="adj" fmla="val 13712"/>
            </a:avLst>
          </a:prstGeom>
          <a:solidFill>
            <a:srgbClr val="007F72"/>
          </a:solidFill>
          <a:ln/>
        </p:spPr>
      </p:sp>
      <p:sp>
        <p:nvSpPr>
          <p:cNvPr id="16" name="Text 14"/>
          <p:cNvSpPr txBox="1"/>
          <p:nvPr/>
        </p:nvSpPr>
        <p:spPr>
          <a:xfrm>
            <a:off x="2793729" y="156520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17" name="Text 15"/>
          <p:cNvSpPr txBox="1"/>
          <p:nvPr/>
        </p:nvSpPr>
        <p:spPr>
          <a:xfrm>
            <a:off x="3715795" y="153592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10 đến 120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10 到 120 公尺</a:t>
            </a:r>
            <a:endParaRPr lang="en-US" sz="880" dirty="0"/>
          </a:p>
        </p:txBody>
      </p:sp>
      <p:sp>
        <p:nvSpPr>
          <p:cNvPr id="18" name="Shape 16"/>
          <p:cNvSpPr/>
          <p:nvPr/>
        </p:nvSpPr>
        <p:spPr>
          <a:xfrm>
            <a:off x="2749821" y="1951279"/>
            <a:ext cx="848887" cy="320216"/>
          </a:xfrm>
          <a:prstGeom prst="roundRect">
            <a:avLst>
              <a:gd name="adj" fmla="val 13712"/>
            </a:avLst>
          </a:prstGeom>
          <a:solidFill>
            <a:srgbClr val="FFB020"/>
          </a:solidFill>
          <a:ln/>
        </p:spPr>
      </p:sp>
      <p:sp>
        <p:nvSpPr>
          <p:cNvPr id="19" name="Text 17"/>
          <p:cNvSpPr txBox="1"/>
          <p:nvPr/>
        </p:nvSpPr>
        <p:spPr>
          <a:xfrm>
            <a:off x="2793729" y="198055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真車的光達</a:t>
            </a:r>
            <a:endParaRPr lang="en-US" sz="720" dirty="0"/>
          </a:p>
        </p:txBody>
      </p:sp>
      <p:sp>
        <p:nvSpPr>
          <p:cNvPr id="20" name="Text 18"/>
          <p:cNvSpPr txBox="1"/>
          <p:nvPr/>
        </p:nvSpPr>
        <p:spPr>
          <a:xfrm>
            <a:off x="3715795" y="195127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150 đến 300 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150 到 300 公尺</a:t>
            </a:r>
            <a:endParaRPr lang="en-US" sz="880" dirty="0"/>
          </a:p>
        </p:txBody>
      </p:sp>
      <p:sp>
        <p:nvSpPr>
          <p:cNvPr id="21" name="Shape 19"/>
          <p:cNvSpPr/>
          <p:nvPr/>
        </p:nvSpPr>
        <p:spPr>
          <a:xfrm>
            <a:off x="2749821" y="2366630"/>
            <a:ext cx="848887" cy="320216"/>
          </a:xfrm>
          <a:prstGeom prst="roundRect">
            <a:avLst>
              <a:gd name="adj" fmla="val 13712"/>
            </a:avLst>
          </a:prstGeom>
          <a:solidFill>
            <a:srgbClr val="0B1F3A"/>
          </a:solidFill>
          <a:ln/>
        </p:spPr>
      </p:sp>
      <p:sp>
        <p:nvSpPr>
          <p:cNvPr id="22" name="Text 20"/>
          <p:cNvSpPr txBox="1"/>
          <p:nvPr/>
        </p:nvSpPr>
        <p:spPr>
          <a:xfrm>
            <a:off x="2793729" y="239590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Ngắn quá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太短會怎樣</a:t>
            </a:r>
            <a:endParaRPr lang="en-US" sz="720" dirty="0"/>
          </a:p>
        </p:txBody>
      </p:sp>
      <p:sp>
        <p:nvSpPr>
          <p:cNvPr id="23" name="Text 21"/>
          <p:cNvSpPr txBox="1"/>
          <p:nvPr/>
        </p:nvSpPr>
        <p:spPr>
          <a:xfrm>
            <a:off x="3715795" y="236663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Thấy rồi cũng phanh không kịp — chắc chắn đâm</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看到了也煞不住——一定撞</a:t>
            </a:r>
            <a:endParaRPr lang="en-US" sz="880" dirty="0"/>
          </a:p>
        </p:txBody>
      </p:sp>
      <p:sp>
        <p:nvSpPr>
          <p:cNvPr id="24" name="Shape 22"/>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96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28" name="Text 24"/>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5 / 18</a:t>
            </a:r>
            <a:endParaRPr lang="en-US" sz="720" dirty="0"/>
          </a:p>
        </p:txBody>
      </p:sp>
      <p:sp>
        <p:nvSpPr>
          <p:cNvPr id="29" name="Text 25"/>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702527"/>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1649463" y="815016"/>
            <a:ext cx="258789" cy="383670"/>
          </a:xfrm>
          <a:prstGeom prst="line">
            <a:avLst/>
          </a:prstGeom>
          <a:noFill/>
          <a:ln w="15240">
            <a:solidFill>
              <a:srgbClr val="1F4E79"/>
            </a:solidFill>
            <a:prstDash val="solid"/>
          </a:ln>
        </p:spPr>
      </p:sp>
      <p:sp>
        <p:nvSpPr>
          <p:cNvPr id="5" name="Shape 3"/>
          <p:cNvSpPr/>
          <p:nvPr/>
        </p:nvSpPr>
        <p:spPr>
          <a:xfrm flipH="1" flipV="1">
            <a:off x="1772946" y="756118"/>
            <a:ext cx="135307" cy="442568"/>
          </a:xfrm>
          <a:prstGeom prst="line">
            <a:avLst/>
          </a:prstGeom>
          <a:noFill/>
          <a:ln w="15240">
            <a:solidFill>
              <a:srgbClr val="1F4E79"/>
            </a:solidFill>
            <a:prstDash val="solid"/>
          </a:ln>
        </p:spPr>
      </p:sp>
      <p:sp>
        <p:nvSpPr>
          <p:cNvPr id="6" name="Shape 4"/>
          <p:cNvSpPr/>
          <p:nvPr/>
        </p:nvSpPr>
        <p:spPr>
          <a:xfrm flipV="1">
            <a:off x="1908252" y="735897"/>
            <a:ext cx="1" cy="462790"/>
          </a:xfrm>
          <a:prstGeom prst="line">
            <a:avLst/>
          </a:prstGeom>
          <a:noFill/>
          <a:ln w="15240">
            <a:solidFill>
              <a:srgbClr val="1F4E79"/>
            </a:solidFill>
            <a:prstDash val="solid"/>
          </a:ln>
        </p:spPr>
      </p:sp>
      <p:sp>
        <p:nvSpPr>
          <p:cNvPr id="7" name="Shape 5"/>
          <p:cNvSpPr/>
          <p:nvPr/>
        </p:nvSpPr>
        <p:spPr>
          <a:xfrm flipV="1">
            <a:off x="1908252" y="756118"/>
            <a:ext cx="135307" cy="442568"/>
          </a:xfrm>
          <a:prstGeom prst="line">
            <a:avLst/>
          </a:prstGeom>
          <a:noFill/>
          <a:ln w="15240">
            <a:solidFill>
              <a:srgbClr val="1F4E79"/>
            </a:solidFill>
            <a:prstDash val="solid"/>
          </a:ln>
        </p:spPr>
      </p:sp>
      <p:sp>
        <p:nvSpPr>
          <p:cNvPr id="8" name="Shape 6"/>
          <p:cNvSpPr/>
          <p:nvPr/>
        </p:nvSpPr>
        <p:spPr>
          <a:xfrm flipV="1">
            <a:off x="1908252" y="815016"/>
            <a:ext cx="258789" cy="383670"/>
          </a:xfrm>
          <a:prstGeom prst="line">
            <a:avLst/>
          </a:prstGeom>
          <a:noFill/>
          <a:ln w="15240">
            <a:solidFill>
              <a:srgbClr val="1F4E79"/>
            </a:solidFill>
            <a:prstDash val="solid"/>
          </a:ln>
        </p:spPr>
      </p:sp>
      <p:sp>
        <p:nvSpPr>
          <p:cNvPr id="9" name="Shape 7"/>
          <p:cNvSpPr/>
          <p:nvPr/>
        </p:nvSpPr>
        <p:spPr>
          <a:xfrm>
            <a:off x="1879156" y="1169590"/>
            <a:ext cx="58193" cy="58193"/>
          </a:xfrm>
          <a:prstGeom prst="ellipse">
            <a:avLst/>
          </a:prstGeom>
          <a:solidFill>
            <a:srgbClr val="1F4E79"/>
          </a:solidFill>
          <a:ln/>
        </p:spPr>
      </p:sp>
      <p:sp>
        <p:nvSpPr>
          <p:cNvPr id="10" name="Shape 8"/>
          <p:cNvSpPr/>
          <p:nvPr/>
        </p:nvSpPr>
        <p:spPr>
          <a:xfrm flipH="1" flipV="1">
            <a:off x="1455576" y="1755817"/>
            <a:ext cx="452676" cy="96219"/>
          </a:xfrm>
          <a:prstGeom prst="line">
            <a:avLst/>
          </a:prstGeom>
          <a:noFill/>
          <a:ln w="15240">
            <a:solidFill>
              <a:srgbClr val="1F4E79"/>
            </a:solidFill>
            <a:prstDash val="solid"/>
          </a:ln>
        </p:spPr>
      </p:sp>
      <p:sp>
        <p:nvSpPr>
          <p:cNvPr id="11" name="Shape 9"/>
          <p:cNvSpPr/>
          <p:nvPr/>
        </p:nvSpPr>
        <p:spPr>
          <a:xfrm flipH="1" flipV="1">
            <a:off x="1617009" y="1492381"/>
            <a:ext cx="291243" cy="359655"/>
          </a:xfrm>
          <a:prstGeom prst="line">
            <a:avLst/>
          </a:prstGeom>
          <a:noFill/>
          <a:ln w="15240">
            <a:solidFill>
              <a:srgbClr val="1F4E79"/>
            </a:solidFill>
            <a:prstDash val="solid"/>
          </a:ln>
        </p:spPr>
      </p:sp>
      <p:sp>
        <p:nvSpPr>
          <p:cNvPr id="12" name="Shape 10"/>
          <p:cNvSpPr/>
          <p:nvPr/>
        </p:nvSpPr>
        <p:spPr>
          <a:xfrm flipV="1">
            <a:off x="1908252" y="1389247"/>
            <a:ext cx="1" cy="462790"/>
          </a:xfrm>
          <a:prstGeom prst="line">
            <a:avLst/>
          </a:prstGeom>
          <a:noFill/>
          <a:ln w="15240">
            <a:solidFill>
              <a:srgbClr val="1F4E79"/>
            </a:solidFill>
            <a:prstDash val="solid"/>
          </a:ln>
        </p:spPr>
      </p:sp>
      <p:sp>
        <p:nvSpPr>
          <p:cNvPr id="13" name="Shape 11"/>
          <p:cNvSpPr/>
          <p:nvPr/>
        </p:nvSpPr>
        <p:spPr>
          <a:xfrm flipV="1">
            <a:off x="1908252" y="1492381"/>
            <a:ext cx="291243" cy="359655"/>
          </a:xfrm>
          <a:prstGeom prst="line">
            <a:avLst/>
          </a:prstGeom>
          <a:noFill/>
          <a:ln w="15240">
            <a:solidFill>
              <a:srgbClr val="1F4E79"/>
            </a:solidFill>
            <a:prstDash val="solid"/>
          </a:ln>
        </p:spPr>
      </p:sp>
      <p:sp>
        <p:nvSpPr>
          <p:cNvPr id="14" name="Shape 12"/>
          <p:cNvSpPr/>
          <p:nvPr/>
        </p:nvSpPr>
        <p:spPr>
          <a:xfrm flipV="1">
            <a:off x="1908252" y="1755817"/>
            <a:ext cx="452676" cy="96219"/>
          </a:xfrm>
          <a:prstGeom prst="line">
            <a:avLst/>
          </a:prstGeom>
          <a:noFill/>
          <a:ln w="15240">
            <a:solidFill>
              <a:srgbClr val="1F4E79"/>
            </a:solidFill>
            <a:prstDash val="solid"/>
          </a:ln>
        </p:spPr>
      </p:sp>
      <p:sp>
        <p:nvSpPr>
          <p:cNvPr id="15" name="Shape 13"/>
          <p:cNvSpPr/>
          <p:nvPr/>
        </p:nvSpPr>
        <p:spPr>
          <a:xfrm>
            <a:off x="1879156" y="1822940"/>
            <a:ext cx="58193" cy="58193"/>
          </a:xfrm>
          <a:prstGeom prst="ellipse">
            <a:avLst/>
          </a:prstGeom>
          <a:solidFill>
            <a:srgbClr val="1F4E79"/>
          </a:solidFill>
          <a:ln/>
        </p:spPr>
      </p:sp>
      <p:sp>
        <p:nvSpPr>
          <p:cNvPr id="16" name="Text 14"/>
          <p:cNvSpPr txBox="1"/>
          <p:nvPr/>
        </p:nvSpPr>
        <p:spPr>
          <a:xfrm>
            <a:off x="2749821" y="629347"/>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 ＝ 視野：左右能看多寬</a:t>
            </a:r>
            <a:endParaRPr lang="en-US" sz="1440" dirty="0"/>
          </a:p>
        </p:txBody>
      </p:sp>
      <p:sp>
        <p:nvSpPr>
          <p:cNvPr id="17" name="Shape 15"/>
          <p:cNvSpPr/>
          <p:nvPr/>
        </p:nvSpPr>
        <p:spPr>
          <a:xfrm>
            <a:off x="2749821" y="1332747"/>
            <a:ext cx="848887" cy="320216"/>
          </a:xfrm>
          <a:prstGeom prst="roundRect">
            <a:avLst>
              <a:gd name="adj" fmla="val 13712"/>
            </a:avLst>
          </a:prstGeom>
          <a:solidFill>
            <a:srgbClr val="0B1F3A"/>
          </a:solidFill>
          <a:ln/>
        </p:spPr>
      </p:sp>
      <p:sp>
        <p:nvSpPr>
          <p:cNvPr id="18" name="Text 16"/>
          <p:cNvSpPr txBox="1"/>
          <p:nvPr/>
        </p:nvSpPr>
        <p:spPr>
          <a:xfrm>
            <a:off x="2793729" y="13620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19" name="Text 17"/>
          <p:cNvSpPr txBox="1"/>
          <p:nvPr/>
        </p:nvSpPr>
        <p:spPr>
          <a:xfrm>
            <a:off x="3715795" y="13327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0" name="Shape 18"/>
          <p:cNvSpPr/>
          <p:nvPr/>
        </p:nvSpPr>
        <p:spPr>
          <a:xfrm>
            <a:off x="2749821" y="1748097"/>
            <a:ext cx="848887" cy="320216"/>
          </a:xfrm>
          <a:prstGeom prst="roundRect">
            <a:avLst>
              <a:gd name="adj" fmla="val 13712"/>
            </a:avLst>
          </a:prstGeom>
          <a:solidFill>
            <a:srgbClr val="007F72"/>
          </a:solidFill>
          <a:ln/>
        </p:spPr>
      </p:sp>
      <p:sp>
        <p:nvSpPr>
          <p:cNvPr id="21" name="Text 19"/>
          <p:cNvSpPr txBox="1"/>
          <p:nvPr/>
        </p:nvSpPr>
        <p:spPr>
          <a:xfrm>
            <a:off x="2793729" y="177736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我們的模擬器</a:t>
            </a:r>
            <a:endParaRPr lang="en-US" sz="720" dirty="0"/>
          </a:p>
        </p:txBody>
      </p:sp>
      <p:sp>
        <p:nvSpPr>
          <p:cNvPr id="22" name="Text 20"/>
          <p:cNvSpPr txBox="1"/>
          <p:nvPr/>
        </p:nvSpPr>
        <p:spPr>
          <a:xfrm>
            <a:off x="3715795" y="174809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đến 180°</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23" name="Shape 21"/>
          <p:cNvSpPr/>
          <p:nvPr/>
        </p:nvSpPr>
        <p:spPr>
          <a:xfrm>
            <a:off x="2749821" y="2163448"/>
            <a:ext cx="848887" cy="320216"/>
          </a:xfrm>
          <a:prstGeom prst="roundRect">
            <a:avLst>
              <a:gd name="adj" fmla="val 13712"/>
            </a:avLst>
          </a:prstGeom>
          <a:solidFill>
            <a:srgbClr val="FFB020"/>
          </a:solidFill>
          <a:ln/>
        </p:spPr>
      </p:sp>
      <p:sp>
        <p:nvSpPr>
          <p:cNvPr id="24" name="Text 22"/>
          <p:cNvSpPr txBox="1"/>
          <p:nvPr/>
        </p:nvSpPr>
        <p:spPr>
          <a:xfrm>
            <a:off x="2793729" y="219272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調窄會怎樣</a:t>
            </a:r>
            <a:endParaRPr lang="en-US" sz="720" dirty="0"/>
          </a:p>
        </p:txBody>
      </p:sp>
      <p:sp>
        <p:nvSpPr>
          <p:cNvPr id="25" name="Text 23"/>
          <p:cNvSpPr txBox="1"/>
          <p:nvPr/>
        </p:nvSpPr>
        <p:spPr>
          <a:xfrm>
            <a:off x="3715795" y="216344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26" name="Shape 24"/>
          <p:cNvSpPr/>
          <p:nvPr/>
        </p:nvSpPr>
        <p:spPr>
          <a:xfrm>
            <a:off x="2749821" y="2578798"/>
            <a:ext cx="848887" cy="320216"/>
          </a:xfrm>
          <a:prstGeom prst="roundRect">
            <a:avLst>
              <a:gd name="adj" fmla="val 13712"/>
            </a:avLst>
          </a:prstGeom>
          <a:solidFill>
            <a:srgbClr val="0B1F3A"/>
          </a:solidFill>
          <a:ln/>
        </p:spPr>
      </p:sp>
      <p:sp>
        <p:nvSpPr>
          <p:cNvPr id="27" name="Text 25"/>
          <p:cNvSpPr txBox="1"/>
          <p:nvPr/>
        </p:nvSpPr>
        <p:spPr>
          <a:xfrm>
            <a:off x="2793729" y="2608070"/>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rộng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調寬會怎樣</a:t>
            </a:r>
            <a:endParaRPr lang="en-US" sz="720" dirty="0"/>
          </a:p>
        </p:txBody>
      </p:sp>
      <p:sp>
        <p:nvSpPr>
          <p:cNvPr id="28" name="Text 26"/>
          <p:cNvSpPr txBox="1"/>
          <p:nvPr/>
        </p:nvSpPr>
        <p:spPr>
          <a:xfrm>
            <a:off x="3715795" y="2578798"/>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880" dirty="0"/>
          </a:p>
        </p:txBody>
      </p:sp>
      <p:sp>
        <p:nvSpPr>
          <p:cNvPr id="29" name="Shape 27"/>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96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3" name="Text 29"/>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18</a:t>
            </a:r>
            <a:endParaRPr lang="en-US" sz="720" dirty="0"/>
          </a:p>
        </p:txBody>
      </p:sp>
      <p:sp>
        <p:nvSpPr>
          <p:cNvPr id="34" name="Text 30"/>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1750" dirty="0"/>
          </a:p>
        </p:txBody>
      </p:sp>
      <p:sp>
        <p:nvSpPr>
          <p:cNvPr id="3" name="Shape 1"/>
          <p:cNvSpPr/>
          <p:nvPr/>
        </p:nvSpPr>
        <p:spPr>
          <a:xfrm>
            <a:off x="1328680" y="903757"/>
            <a:ext cx="4008598" cy="2142778"/>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1430717" y="2813307"/>
            <a:ext cx="3804524" cy="1"/>
          </a:xfrm>
          <a:prstGeom prst="line">
            <a:avLst/>
          </a:prstGeom>
          <a:noFill/>
          <a:ln w="25400">
            <a:solidFill>
              <a:srgbClr val="1A2733"/>
            </a:solidFill>
            <a:prstDash val="solid"/>
          </a:ln>
        </p:spPr>
      </p:sp>
      <p:sp>
        <p:nvSpPr>
          <p:cNvPr id="5" name="Shape 3"/>
          <p:cNvSpPr/>
          <p:nvPr/>
        </p:nvSpPr>
        <p:spPr>
          <a:xfrm>
            <a:off x="1561907" y="2478043"/>
            <a:ext cx="262381" cy="116614"/>
          </a:xfrm>
          <a:prstGeom prst="roundRect">
            <a:avLst>
              <a:gd name="adj" fmla="val 18750"/>
            </a:avLst>
          </a:prstGeom>
          <a:solidFill>
            <a:srgbClr val="D9E2EA"/>
          </a:solidFill>
          <a:ln/>
        </p:spPr>
      </p:sp>
      <p:sp>
        <p:nvSpPr>
          <p:cNvPr id="6" name="Shape 4"/>
          <p:cNvSpPr/>
          <p:nvPr/>
        </p:nvSpPr>
        <p:spPr>
          <a:xfrm>
            <a:off x="1503600" y="2594656"/>
            <a:ext cx="378995" cy="218651"/>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1547330" y="2762289"/>
            <a:ext cx="102037" cy="102037"/>
          </a:xfrm>
          <a:prstGeom prst="ellipse">
            <a:avLst/>
          </a:prstGeom>
          <a:solidFill>
            <a:srgbClr val="5F7183"/>
          </a:solidFill>
          <a:ln/>
        </p:spPr>
      </p:sp>
      <p:sp>
        <p:nvSpPr>
          <p:cNvPr id="8" name="Shape 6"/>
          <p:cNvSpPr/>
          <p:nvPr/>
        </p:nvSpPr>
        <p:spPr>
          <a:xfrm>
            <a:off x="1736828" y="2762289"/>
            <a:ext cx="102037" cy="102037"/>
          </a:xfrm>
          <a:prstGeom prst="ellipse">
            <a:avLst/>
          </a:prstGeom>
          <a:solidFill>
            <a:srgbClr val="5F7183"/>
          </a:solidFill>
          <a:ln/>
        </p:spPr>
      </p:sp>
      <p:sp>
        <p:nvSpPr>
          <p:cNvPr id="9" name="Shape 7"/>
          <p:cNvSpPr/>
          <p:nvPr/>
        </p:nvSpPr>
        <p:spPr>
          <a:xfrm>
            <a:off x="5060320" y="2384752"/>
            <a:ext cx="87460" cy="87460"/>
          </a:xfrm>
          <a:prstGeom prst="ellipse">
            <a:avLst/>
          </a:prstGeom>
          <a:solidFill>
            <a:srgbClr val="007F72"/>
          </a:solidFill>
          <a:ln/>
        </p:spPr>
      </p:sp>
      <p:sp>
        <p:nvSpPr>
          <p:cNvPr id="10" name="Shape 8"/>
          <p:cNvSpPr/>
          <p:nvPr/>
        </p:nvSpPr>
        <p:spPr>
          <a:xfrm>
            <a:off x="5034082" y="2480958"/>
            <a:ext cx="139937" cy="157428"/>
          </a:xfrm>
          <a:prstGeom prst="roundRect">
            <a:avLst>
              <a:gd name="adj" fmla="val 145833"/>
            </a:avLst>
          </a:prstGeom>
          <a:solidFill>
            <a:srgbClr val="007F72"/>
          </a:solidFill>
          <a:ln/>
        </p:spPr>
      </p:sp>
      <p:sp>
        <p:nvSpPr>
          <p:cNvPr id="11" name="Shape 9"/>
          <p:cNvSpPr/>
          <p:nvPr/>
        </p:nvSpPr>
        <p:spPr>
          <a:xfrm rot="960000">
            <a:off x="5010030" y="2494077"/>
            <a:ext cx="34984" cy="113698"/>
          </a:xfrm>
          <a:prstGeom prst="rect">
            <a:avLst/>
          </a:prstGeom>
          <a:solidFill>
            <a:srgbClr val="007F72"/>
          </a:solidFill>
          <a:ln/>
        </p:spPr>
      </p:sp>
      <p:sp>
        <p:nvSpPr>
          <p:cNvPr id="12" name="Shape 10"/>
          <p:cNvSpPr/>
          <p:nvPr/>
        </p:nvSpPr>
        <p:spPr>
          <a:xfrm rot="-960000">
            <a:off x="5163086" y="2494077"/>
            <a:ext cx="34984" cy="113698"/>
          </a:xfrm>
          <a:prstGeom prst="rect">
            <a:avLst/>
          </a:prstGeom>
          <a:solidFill>
            <a:srgbClr val="007F72"/>
          </a:solidFill>
          <a:ln/>
        </p:spPr>
      </p:sp>
      <p:sp>
        <p:nvSpPr>
          <p:cNvPr id="13" name="Shape 11"/>
          <p:cNvSpPr/>
          <p:nvPr/>
        </p:nvSpPr>
        <p:spPr>
          <a:xfrm rot="300000">
            <a:off x="5058134" y="2616521"/>
            <a:ext cx="39357" cy="157428"/>
          </a:xfrm>
          <a:prstGeom prst="rect">
            <a:avLst/>
          </a:prstGeom>
          <a:solidFill>
            <a:srgbClr val="007F72"/>
          </a:solidFill>
          <a:ln/>
        </p:spPr>
      </p:sp>
      <p:sp>
        <p:nvSpPr>
          <p:cNvPr id="14" name="Shape 12"/>
          <p:cNvSpPr/>
          <p:nvPr/>
        </p:nvSpPr>
        <p:spPr>
          <a:xfrm rot="-300000">
            <a:off x="5110610" y="2616521"/>
            <a:ext cx="39357" cy="157428"/>
          </a:xfrm>
          <a:prstGeom prst="rect">
            <a:avLst/>
          </a:prstGeom>
          <a:solidFill>
            <a:srgbClr val="007F72"/>
          </a:solidFill>
          <a:ln/>
        </p:spPr>
      </p:sp>
      <p:sp>
        <p:nvSpPr>
          <p:cNvPr id="15" name="Shape 13"/>
          <p:cNvSpPr/>
          <p:nvPr/>
        </p:nvSpPr>
        <p:spPr>
          <a:xfrm>
            <a:off x="1940902" y="1326482"/>
            <a:ext cx="594127" cy="218651"/>
          </a:xfrm>
          <a:prstGeom prst="rect">
            <a:avLst/>
          </a:prstGeom>
          <a:solidFill>
            <a:srgbClr val="E8A317"/>
          </a:solidFill>
          <a:ln/>
        </p:spPr>
      </p:sp>
      <p:sp>
        <p:nvSpPr>
          <p:cNvPr id="16" name="Text 14"/>
          <p:cNvSpPr txBox="1"/>
          <p:nvPr/>
        </p:nvSpPr>
        <p:spPr>
          <a:xfrm>
            <a:off x="1940902" y="1348347"/>
            <a:ext cx="59412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4.2 m</a:t>
            </a:r>
            <a:endParaRPr lang="en-US" sz="920" dirty="0"/>
          </a:p>
        </p:txBody>
      </p:sp>
      <p:sp>
        <p:nvSpPr>
          <p:cNvPr id="17" name="Text 15"/>
          <p:cNvSpPr txBox="1"/>
          <p:nvPr/>
        </p:nvSpPr>
        <p:spPr>
          <a:xfrm>
            <a:off x="1795135" y="976640"/>
            <a:ext cx="885662" cy="320688"/>
          </a:xfrm>
          <a:prstGeom prst="rect">
            <a:avLst/>
          </a:prstGeom>
          <a:noFill/>
          <a:ln/>
        </p:spPr>
        <p:txBody>
          <a:bodyPr wrap="square" lIns="0" tIns="0" rIns="0" bIns="0" rtlCol="0" anchor="t"/>
          <a:lstStyle/>
          <a:p>
            <a:pPr algn="ctr" indent="0" marL="0">
              <a:lnSpc>
                <a:spcPct val="105000"/>
              </a:lnSpc>
              <a:buNone/>
            </a:pPr>
            <a:r>
              <a:rPr lang="en-US" sz="840" b="1" dirty="0">
                <a:solidFill>
                  <a:srgbClr val="E8A317"/>
                </a:solidFill>
                <a:latin typeface="Arial" pitchFamily="34" charset="0"/>
                <a:ea typeface="Arial" pitchFamily="34" charset="-122"/>
                <a:cs typeface="Arial" pitchFamily="34" charset="-120"/>
              </a:rPr>
              <a:t>Phản ứng</a:t>
            </a:r>
            <a:endParaRPr lang="en-US" sz="840" dirty="0"/>
          </a:p>
          <a:p>
            <a:pPr algn="ctr" indent="0" marL="0">
              <a:lnSpc>
                <a:spcPct val="105000"/>
              </a:lnSpc>
              <a:buNone/>
            </a:pPr>
            <a:r>
              <a:rPr lang="en-US" sz="760" dirty="0">
                <a:solidFill>
                  <a:srgbClr val="E8A317"/>
                </a:solidFill>
                <a:latin typeface="微軟正黑體" pitchFamily="34" charset="0"/>
                <a:ea typeface="微軟正黑體" pitchFamily="34" charset="-122"/>
                <a:cs typeface="微軟正黑體" pitchFamily="34" charset="-120"/>
              </a:rPr>
              <a:t>反應距離</a:t>
            </a:r>
            <a:endParaRPr lang="en-US" sz="840" dirty="0"/>
          </a:p>
        </p:txBody>
      </p:sp>
      <p:sp>
        <p:nvSpPr>
          <p:cNvPr id="18" name="Text 16"/>
          <p:cNvSpPr txBox="1"/>
          <p:nvPr/>
        </p:nvSpPr>
        <p:spPr>
          <a:xfrm>
            <a:off x="1751405" y="1603439"/>
            <a:ext cx="973122"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0,3 s — chân chưa chạm phanh</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0.3 秒，腳還沒踩到</a:t>
            </a:r>
            <a:endParaRPr lang="en-US" sz="760" dirty="0"/>
          </a:p>
        </p:txBody>
      </p:sp>
      <p:sp>
        <p:nvSpPr>
          <p:cNvPr id="19" name="Shape 17"/>
          <p:cNvSpPr/>
          <p:nvPr/>
        </p:nvSpPr>
        <p:spPr>
          <a:xfrm>
            <a:off x="2535029" y="1326482"/>
            <a:ext cx="2277487" cy="218651"/>
          </a:xfrm>
          <a:prstGeom prst="rect">
            <a:avLst/>
          </a:prstGeom>
          <a:solidFill>
            <a:srgbClr val="D9463E"/>
          </a:solidFill>
          <a:ln/>
        </p:spPr>
      </p:sp>
      <p:sp>
        <p:nvSpPr>
          <p:cNvPr id="20" name="Text 18"/>
          <p:cNvSpPr txBox="1"/>
          <p:nvPr/>
        </p:nvSpPr>
        <p:spPr>
          <a:xfrm>
            <a:off x="2535029" y="1348347"/>
            <a:ext cx="2277487" cy="174921"/>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16.1 m</a:t>
            </a:r>
            <a:endParaRPr lang="en-US" sz="920" dirty="0"/>
          </a:p>
        </p:txBody>
      </p:sp>
      <p:sp>
        <p:nvSpPr>
          <p:cNvPr id="21" name="Text 19"/>
          <p:cNvSpPr txBox="1"/>
          <p:nvPr/>
        </p:nvSpPr>
        <p:spPr>
          <a:xfrm>
            <a:off x="2389262" y="976640"/>
            <a:ext cx="2569021" cy="320688"/>
          </a:xfrm>
          <a:prstGeom prst="rect">
            <a:avLst/>
          </a:prstGeom>
          <a:noFill/>
          <a:ln/>
        </p:spPr>
        <p:txBody>
          <a:bodyPr wrap="square" lIns="0" tIns="0" rIns="0" bIns="0" rtlCol="0" anchor="t"/>
          <a:lstStyle/>
          <a:p>
            <a:pPr algn="ctr" indent="0" marL="0">
              <a:lnSpc>
                <a:spcPct val="105000"/>
              </a:lnSpc>
              <a:buNone/>
            </a:pPr>
            <a:r>
              <a:rPr lang="en-US" sz="840" b="1" dirty="0">
                <a:solidFill>
                  <a:srgbClr val="D9463E"/>
                </a:solidFill>
                <a:latin typeface="Arial" pitchFamily="34" charset="0"/>
                <a:ea typeface="Arial" pitchFamily="34" charset="-122"/>
                <a:cs typeface="Arial" pitchFamily="34" charset="-120"/>
              </a:rPr>
              <a:t>Phanh</a:t>
            </a:r>
            <a:endParaRPr lang="en-US" sz="840" dirty="0"/>
          </a:p>
          <a:p>
            <a:pPr algn="ctr" indent="0" marL="0">
              <a:lnSpc>
                <a:spcPct val="105000"/>
              </a:lnSpc>
              <a:buNone/>
            </a:pPr>
            <a:r>
              <a:rPr lang="en-US" sz="760" dirty="0">
                <a:solidFill>
                  <a:srgbClr val="D9463E"/>
                </a:solidFill>
                <a:latin typeface="微軟正黑體" pitchFamily="34" charset="0"/>
                <a:ea typeface="微軟正黑體" pitchFamily="34" charset="-122"/>
                <a:cs typeface="微軟正黑體" pitchFamily="34" charset="-120"/>
              </a:rPr>
              <a:t>煞車距離</a:t>
            </a:r>
            <a:endParaRPr lang="en-US" sz="840" dirty="0"/>
          </a:p>
        </p:txBody>
      </p:sp>
      <p:sp>
        <p:nvSpPr>
          <p:cNvPr id="22" name="Text 20"/>
          <p:cNvSpPr txBox="1"/>
          <p:nvPr/>
        </p:nvSpPr>
        <p:spPr>
          <a:xfrm>
            <a:off x="2345532" y="1603439"/>
            <a:ext cx="2656481" cy="364418"/>
          </a:xfrm>
          <a:prstGeom prst="rect">
            <a:avLst/>
          </a:prstGeom>
          <a:noFill/>
          <a:ln/>
        </p:spPr>
        <p:txBody>
          <a:bodyPr wrap="square" lIns="0" tIns="0" rIns="0" bIns="0" rtlCol="0" anchor="t"/>
          <a:lstStyle/>
          <a:p>
            <a:pPr algn="ctr" indent="0" marL="0">
              <a:lnSpc>
                <a:spcPct val="104000"/>
              </a:lnSpc>
              <a:buNone/>
            </a:pPr>
            <a:r>
              <a:rPr lang="en-US" sz="760" b="1" dirty="0">
                <a:solidFill>
                  <a:srgbClr val="5F7183"/>
                </a:solidFill>
                <a:latin typeface="Arial" pitchFamily="34" charset="0"/>
                <a:ea typeface="Arial" pitchFamily="34" charset="-122"/>
                <a:cs typeface="Arial" pitchFamily="34" charset="-120"/>
              </a:rPr>
              <a:t>Tỉ lệ với BÌNH PHƯƠNG tốc độ</a:t>
            </a:r>
            <a:endParaRPr lang="en-US" sz="760" dirty="0"/>
          </a:p>
          <a:p>
            <a:pPr algn="ctr" indent="0" marL="0">
              <a:lnSpc>
                <a:spcPct val="104000"/>
              </a:lnSpc>
              <a:buNone/>
            </a:pPr>
            <a:r>
              <a:rPr lang="en-US" sz="700" dirty="0">
                <a:solidFill>
                  <a:srgbClr val="5F7183"/>
                </a:solidFill>
                <a:latin typeface="微軟正黑體" pitchFamily="34" charset="0"/>
                <a:ea typeface="微軟正黑體" pitchFamily="34" charset="-122"/>
                <a:cs typeface="微軟正黑體" pitchFamily="34" charset="-120"/>
              </a:rPr>
              <a:t>跟速度的平方成正比</a:t>
            </a:r>
            <a:endParaRPr lang="en-US" sz="760" dirty="0"/>
          </a:p>
        </p:txBody>
      </p:sp>
      <p:sp>
        <p:nvSpPr>
          <p:cNvPr id="23" name="Shape 21"/>
          <p:cNvSpPr/>
          <p:nvPr/>
        </p:nvSpPr>
        <p:spPr>
          <a:xfrm>
            <a:off x="2535029" y="1282751"/>
            <a:ext cx="1" cy="306111"/>
          </a:xfrm>
          <a:prstGeom prst="line">
            <a:avLst/>
          </a:prstGeom>
          <a:noFill/>
          <a:ln w="19050">
            <a:solidFill>
              <a:srgbClr val="FFFFFF"/>
            </a:solidFill>
            <a:prstDash val="solid"/>
          </a:ln>
        </p:spPr>
      </p:sp>
      <p:sp>
        <p:nvSpPr>
          <p:cNvPr id="24" name="Shape 22"/>
          <p:cNvSpPr/>
          <p:nvPr/>
        </p:nvSpPr>
        <p:spPr>
          <a:xfrm>
            <a:off x="1940902" y="2055318"/>
            <a:ext cx="2871614" cy="1"/>
          </a:xfrm>
          <a:prstGeom prst="line">
            <a:avLst/>
          </a:prstGeom>
          <a:noFill/>
          <a:ln w="12700">
            <a:solidFill>
              <a:srgbClr val="0B1F3A"/>
            </a:solidFill>
            <a:prstDash val="dash"/>
          </a:ln>
        </p:spPr>
      </p:sp>
      <p:sp>
        <p:nvSpPr>
          <p:cNvPr id="25" name="Text 23"/>
          <p:cNvSpPr txBox="1"/>
          <p:nvPr/>
        </p:nvSpPr>
        <p:spPr>
          <a:xfrm>
            <a:off x="1722251" y="2084471"/>
            <a:ext cx="3308916" cy="262381"/>
          </a:xfrm>
          <a:prstGeom prst="rect">
            <a:avLst/>
          </a:prstGeom>
          <a:noFill/>
          <a:ln/>
        </p:spPr>
        <p:txBody>
          <a:bodyPr wrap="square" lIns="0" tIns="0" rIns="0" bIns="0" rtlCol="0" anchor="t"/>
          <a:lstStyle/>
          <a:p>
            <a:pPr algn="ctr" indent="0" marL="0">
              <a:lnSpc>
                <a:spcPct val="106000"/>
              </a:lnSpc>
              <a:buNone/>
            </a:pPr>
            <a:r>
              <a:rPr lang="en-US" sz="920" b="1" dirty="0">
                <a:solidFill>
                  <a:srgbClr val="0B1F3A"/>
                </a:solidFill>
                <a:latin typeface="Arial" pitchFamily="34" charset="0"/>
                <a:ea typeface="Arial" pitchFamily="34" charset="-122"/>
                <a:cs typeface="Arial" pitchFamily="34" charset="-120"/>
              </a:rPr>
              <a:t>Tổng 20 m　→　tia phải ≥ 25 m</a:t>
            </a:r>
            <a:endParaRPr lang="en-US" sz="920" dirty="0"/>
          </a:p>
          <a:p>
            <a:pPr algn="ctr" indent="0" marL="0">
              <a:lnSpc>
                <a:spcPct val="106000"/>
              </a:lnSpc>
              <a:buNone/>
            </a:pPr>
            <a:r>
              <a:rPr lang="en-US" sz="84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920" dirty="0"/>
          </a:p>
        </p:txBody>
      </p:sp>
      <p:sp>
        <p:nvSpPr>
          <p:cNvPr id="26" name="Shape 24"/>
          <p:cNvSpPr/>
          <p:nvPr/>
        </p:nvSpPr>
        <p:spPr>
          <a:xfrm>
            <a:off x="5541352" y="903757"/>
            <a:ext cx="2273968" cy="495609"/>
          </a:xfrm>
          <a:prstGeom prst="roundRect">
            <a:avLst>
              <a:gd name="adj" fmla="val 11765"/>
            </a:avLst>
          </a:prstGeom>
          <a:solidFill>
            <a:srgbClr val="0B1F3A"/>
          </a:solidFill>
          <a:ln/>
        </p:spPr>
      </p:sp>
      <p:sp>
        <p:nvSpPr>
          <p:cNvPr id="27" name="Text 25"/>
          <p:cNvSpPr txBox="1"/>
          <p:nvPr/>
        </p:nvSpPr>
        <p:spPr>
          <a:xfrm>
            <a:off x="5643389" y="962064"/>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FFFFFF"/>
                </a:solidFill>
                <a:latin typeface="Arial" pitchFamily="34" charset="0"/>
                <a:ea typeface="Arial" pitchFamily="34" charset="-122"/>
                <a:cs typeface="Arial" pitchFamily="34" charset="-120"/>
              </a:rPr>
              <a:t>Phanh = v × 0,3 + v² ÷ 12</a:t>
            </a:r>
            <a:endParaRPr lang="en-US" sz="960" dirty="0"/>
          </a:p>
          <a:p>
            <a:pPr indent="0" marL="0">
              <a:lnSpc>
                <a:spcPct val="108000"/>
              </a:lnSpc>
              <a:buNone/>
            </a:pPr>
            <a:r>
              <a:rPr lang="en-US" sz="800" dirty="0">
                <a:solidFill>
                  <a:srgbClr val="AFC3D4"/>
                </a:solidFill>
                <a:latin typeface="微軟正黑體" pitchFamily="34" charset="0"/>
                <a:ea typeface="微軟正黑體" pitchFamily="34" charset="-122"/>
                <a:cs typeface="微軟正黑體" pitchFamily="34" charset="-120"/>
              </a:rPr>
              <a:t>煞停距離 ＝ v × 0.3 ＋ v² ÷ 12</a:t>
            </a:r>
            <a:endParaRPr lang="en-US" sz="960" dirty="0"/>
          </a:p>
        </p:txBody>
      </p:sp>
      <p:sp>
        <p:nvSpPr>
          <p:cNvPr id="28" name="Shape 26"/>
          <p:cNvSpPr/>
          <p:nvPr/>
        </p:nvSpPr>
        <p:spPr>
          <a:xfrm>
            <a:off x="5541352" y="1472249"/>
            <a:ext cx="2273968" cy="495609"/>
          </a:xfrm>
          <a:prstGeom prst="roundRect">
            <a:avLst>
              <a:gd name="adj" fmla="val 11765"/>
            </a:avLst>
          </a:prstGeom>
          <a:solidFill>
            <a:srgbClr val="EAF6F4"/>
          </a:solidFill>
          <a:ln/>
        </p:spPr>
      </p:sp>
      <p:sp>
        <p:nvSpPr>
          <p:cNvPr id="29" name="Text 27"/>
          <p:cNvSpPr txBox="1"/>
          <p:nvPr/>
        </p:nvSpPr>
        <p:spPr>
          <a:xfrm>
            <a:off x="5643389" y="1530556"/>
            <a:ext cx="2069894" cy="408148"/>
          </a:xfrm>
          <a:prstGeom prst="rect">
            <a:avLst/>
          </a:prstGeom>
          <a:noFill/>
          <a:ln/>
        </p:spPr>
        <p:txBody>
          <a:bodyPr wrap="square" lIns="0" tIns="0" rIns="0" bIns="0" rtlCol="0" anchor="t"/>
          <a:lstStyle/>
          <a:p>
            <a:pPr indent="0" marL="0">
              <a:lnSpc>
                <a:spcPct val="108000"/>
              </a:lnSpc>
              <a:buNone/>
            </a:pPr>
            <a:r>
              <a:rPr lang="en-US" sz="960" b="1" dirty="0">
                <a:solidFill>
                  <a:srgbClr val="007F72"/>
                </a:solidFill>
                <a:latin typeface="Arial" pitchFamily="34" charset="0"/>
                <a:ea typeface="Arial" pitchFamily="34" charset="-122"/>
                <a:cs typeface="Arial" pitchFamily="34" charset="-120"/>
              </a:rPr>
              <a:t>Chia 12 vì giảm tốc lấy 6 m/s²</a:t>
            </a:r>
            <a:endParaRPr lang="en-US" sz="960" dirty="0"/>
          </a:p>
          <a:p>
            <a:pPr indent="0" marL="0">
              <a:lnSpc>
                <a:spcPct val="108000"/>
              </a:lnSpc>
              <a:buNone/>
            </a:pPr>
            <a:r>
              <a:rPr lang="en-US" sz="800" dirty="0">
                <a:solidFill>
                  <a:srgbClr val="007F72"/>
                </a:solidFill>
                <a:latin typeface="微軟正黑體" pitchFamily="34" charset="0"/>
                <a:ea typeface="微軟正黑體" pitchFamily="34" charset="-122"/>
                <a:cs typeface="微軟正黑體" pitchFamily="34" charset="-120"/>
              </a:rPr>
              <a:t>除以 12：減速度取 6</a:t>
            </a:r>
            <a:endParaRPr lang="en-US" sz="960" dirty="0"/>
          </a:p>
        </p:txBody>
      </p:sp>
      <p:sp>
        <p:nvSpPr>
          <p:cNvPr id="30" name="Text 28"/>
          <p:cNvSpPr txBox="1"/>
          <p:nvPr/>
        </p:nvSpPr>
        <p:spPr>
          <a:xfrm>
            <a:off x="5541352" y="2069894"/>
            <a:ext cx="2273968" cy="291534"/>
          </a:xfrm>
          <a:prstGeom prst="rect">
            <a:avLst/>
          </a:prstGeom>
          <a:noFill/>
          <a:ln/>
        </p:spPr>
        <p:txBody>
          <a:bodyPr wrap="square" lIns="0" tIns="0" rIns="0" bIns="0" rtlCol="0" anchor="t"/>
          <a:lstStyle/>
          <a:p>
            <a:pPr indent="0" marL="0">
              <a:lnSpc>
                <a:spcPct val="105000"/>
              </a:lnSpc>
              <a:buNone/>
            </a:pPr>
            <a:r>
              <a:rPr lang="en-US" sz="840" b="1" dirty="0">
                <a:solidFill>
                  <a:srgbClr val="0B1F3A"/>
                </a:solidFill>
                <a:latin typeface="Arial" pitchFamily="34" charset="0"/>
                <a:ea typeface="Arial" pitchFamily="34" charset="-122"/>
                <a:cs typeface="Arial" pitchFamily="34" charset="-120"/>
              </a:rPr>
              <a:t>Ví dụ 50 km/h = 13,9 m/s</a:t>
            </a:r>
            <a:endParaRPr lang="en-US" sz="840" dirty="0"/>
          </a:p>
          <a:p>
            <a:pPr indent="0" marL="0">
              <a:lnSpc>
                <a:spcPct val="105000"/>
              </a:lnSpc>
              <a:buNone/>
            </a:pPr>
            <a:r>
              <a:rPr lang="en-US" sz="8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840" dirty="0"/>
          </a:p>
        </p:txBody>
      </p:sp>
      <p:sp>
        <p:nvSpPr>
          <p:cNvPr id="31" name="Text 29"/>
          <p:cNvSpPr txBox="1"/>
          <p:nvPr/>
        </p:nvSpPr>
        <p:spPr>
          <a:xfrm>
            <a:off x="5541352" y="2376005"/>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 × 0,3 = 4,2 m</a:t>
            </a:r>
            <a:endParaRPr lang="en-US" sz="880" dirty="0"/>
          </a:p>
        </p:txBody>
      </p:sp>
      <p:sp>
        <p:nvSpPr>
          <p:cNvPr id="32" name="Text 30"/>
          <p:cNvSpPr txBox="1"/>
          <p:nvPr/>
        </p:nvSpPr>
        <p:spPr>
          <a:xfrm>
            <a:off x="5541352" y="2572791"/>
            <a:ext cx="2273968" cy="196786"/>
          </a:xfrm>
          <a:prstGeom prst="rect">
            <a:avLst/>
          </a:prstGeom>
          <a:noFill/>
          <a:ln/>
        </p:spPr>
        <p:txBody>
          <a:bodyPr wrap="square" lIns="0" tIns="0" rIns="0" bIns="0" rtlCol="0" anchor="ctr"/>
          <a:lstStyle/>
          <a:p>
            <a:pPr indent="0" marL="0">
              <a:buNone/>
            </a:pPr>
            <a:r>
              <a:rPr lang="en-US" sz="880" dirty="0">
                <a:solidFill>
                  <a:srgbClr val="1A2733"/>
                </a:solidFill>
                <a:latin typeface="Arial" pitchFamily="34" charset="0"/>
                <a:ea typeface="Arial" pitchFamily="34" charset="-122"/>
                <a:cs typeface="Arial" pitchFamily="34" charset="-120"/>
              </a:rPr>
              <a:t>13,9² ÷ 12 = 16,1 m</a:t>
            </a:r>
            <a:endParaRPr lang="en-US" sz="880" dirty="0"/>
          </a:p>
        </p:txBody>
      </p:sp>
      <p:sp>
        <p:nvSpPr>
          <p:cNvPr id="33" name="Text 31"/>
          <p:cNvSpPr txBox="1"/>
          <p:nvPr/>
        </p:nvSpPr>
        <p:spPr>
          <a:xfrm>
            <a:off x="5541352" y="2769577"/>
            <a:ext cx="2273968" cy="196786"/>
          </a:xfrm>
          <a:prstGeom prst="rect">
            <a:avLst/>
          </a:prstGeom>
          <a:noFill/>
          <a:ln/>
        </p:spPr>
        <p:txBody>
          <a:bodyPr wrap="square" lIns="0" tIns="0" rIns="0" bIns="0" rtlCol="0" anchor="ctr"/>
          <a:lstStyle/>
          <a:p>
            <a:pPr indent="0" marL="0">
              <a:buNone/>
            </a:pPr>
            <a:r>
              <a:rPr lang="en-US" sz="880" b="1" dirty="0">
                <a:solidFill>
                  <a:srgbClr val="D9463E"/>
                </a:solidFill>
                <a:latin typeface="Arial" pitchFamily="34" charset="0"/>
                <a:ea typeface="Arial" pitchFamily="34" charset="-122"/>
                <a:cs typeface="Arial" pitchFamily="34" charset="-120"/>
              </a:rPr>
              <a:t>4,2 + 16,1 ≈ 20 m → tia ≥ 25 m</a:t>
            </a:r>
            <a:endParaRPr lang="en-US" sz="880" dirty="0"/>
          </a:p>
        </p:txBody>
      </p:sp>
      <p:sp>
        <p:nvSpPr>
          <p:cNvPr id="34" name="Shape 32"/>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96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38" name="Text 34"/>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18</a:t>
            </a:r>
            <a:endParaRPr lang="en-US" sz="720" dirty="0"/>
          </a:p>
        </p:txBody>
      </p:sp>
      <p:sp>
        <p:nvSpPr>
          <p:cNvPr id="39" name="Text 35"/>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Hai đoạn đó, video này giảng lại một lần nữa</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760" dirty="0"/>
          </a:p>
        </p:txBody>
      </p:sp>
      <p:sp>
        <p:nvSpPr>
          <p:cNvPr id="24" name="Shape 22"/>
          <p:cNvSpPr/>
          <p:nvPr/>
        </p:nvSpPr>
        <p:spPr>
          <a:xfrm>
            <a:off x="4851219" y="2365576"/>
            <a:ext cx="29391" cy="191044"/>
          </a:xfrm>
          <a:prstGeom prst="rect">
            <a:avLst/>
          </a:prstGeom>
          <a:solidFill>
            <a:srgbClr val="00A896"/>
          </a:solidFill>
          <a:ln/>
        </p:spPr>
      </p:sp>
      <p:sp>
        <p:nvSpPr>
          <p:cNvPr id="25" name="Text 23"/>
          <p:cNvSpPr txBox="1"/>
          <p:nvPr/>
        </p:nvSpPr>
        <p:spPr>
          <a:xfrm>
            <a:off x="4954089" y="2336185"/>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760" dirty="0"/>
          </a:p>
        </p:txBody>
      </p:sp>
      <p:sp>
        <p:nvSpPr>
          <p:cNvPr id="26" name="Shape 24"/>
          <p:cNvSpPr/>
          <p:nvPr/>
        </p:nvSpPr>
        <p:spPr>
          <a:xfrm>
            <a:off x="4851219" y="2761460"/>
            <a:ext cx="29391" cy="191044"/>
          </a:xfrm>
          <a:prstGeom prst="rect">
            <a:avLst/>
          </a:prstGeom>
          <a:solidFill>
            <a:srgbClr val="00A896"/>
          </a:solidFill>
          <a:ln/>
        </p:spPr>
      </p:sp>
      <p:sp>
        <p:nvSpPr>
          <p:cNvPr id="27" name="Text 25"/>
          <p:cNvSpPr txBox="1"/>
          <p:nvPr/>
        </p:nvSpPr>
        <p:spPr>
          <a:xfrm>
            <a:off x="4954089" y="2732068"/>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8 / 18</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1107444" y="0"/>
          <a:ext cx="1" cy="1"/>
          <a:chOff x="0" y="0"/>
          <a:chExt cx="0" cy="0"/>
        </a:xfrm>
      </p:grpSpPr>
      <p:sp>
        <p:nvSpPr>
          <p:cNvPr id="2" name="Text 0"/>
          <p:cNvSpPr txBox="1"/>
          <p:nvPr/>
        </p:nvSpPr>
        <p:spPr>
          <a:xfrm>
            <a:off x="1488546" y="221732"/>
            <a:ext cx="6166909" cy="637478"/>
          </a:xfrm>
          <a:prstGeom prst="rect">
            <a:avLst/>
          </a:prstGeom>
          <a:noFill/>
          <a:ln/>
        </p:spPr>
        <p:txBody>
          <a:bodyPr wrap="square" lIns="0" tIns="0" rIns="0" bIns="0" rtlCol="0" anchor="t"/>
          <a:lstStyle/>
          <a:p>
            <a:pPr indent="0" marL="0">
              <a:lnSpc>
                <a:spcPct val="116000"/>
              </a:lnSpc>
              <a:buNone/>
            </a:pPr>
            <a:r>
              <a:rPr lang="en-US" sz="167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1670" dirty="0"/>
          </a:p>
          <a:p>
            <a:pPr indent="0" marL="0">
              <a:lnSpc>
                <a:spcPct val="116000"/>
              </a:lnSpc>
              <a:buNone/>
            </a:pPr>
            <a:r>
              <a:rPr lang="en-US" sz="102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1670" dirty="0"/>
          </a:p>
        </p:txBody>
      </p:sp>
      <p:sp>
        <p:nvSpPr>
          <p:cNvPr id="3" name="Shape 1"/>
          <p:cNvSpPr/>
          <p:nvPr/>
        </p:nvSpPr>
        <p:spPr>
          <a:xfrm>
            <a:off x="1488546" y="859210"/>
            <a:ext cx="6166909" cy="540471"/>
          </a:xfrm>
          <a:prstGeom prst="roundRect">
            <a:avLst>
              <a:gd name="adj" fmla="val 10256"/>
            </a:avLst>
          </a:prstGeom>
          <a:solidFill>
            <a:srgbClr val="EAF6F4"/>
          </a:solidFill>
          <a:ln/>
        </p:spPr>
      </p:sp>
      <p:sp>
        <p:nvSpPr>
          <p:cNvPr id="4" name="Text 2"/>
          <p:cNvSpPr txBox="1"/>
          <p:nvPr/>
        </p:nvSpPr>
        <p:spPr>
          <a:xfrm>
            <a:off x="1599411" y="914643"/>
            <a:ext cx="5945177" cy="429605"/>
          </a:xfrm>
          <a:prstGeom prst="rect">
            <a:avLst/>
          </a:prstGeom>
          <a:noFill/>
          <a:ln/>
        </p:spPr>
        <p:txBody>
          <a:bodyPr wrap="square" lIns="0" tIns="0" rIns="0" bIns="0" rtlCol="0" anchor="t"/>
          <a:lstStyle/>
          <a:p>
            <a:pPr indent="0" marL="0">
              <a:lnSpc>
                <a:spcPct val="110000"/>
              </a:lnSpc>
              <a:buNone/>
            </a:pPr>
            <a:r>
              <a:rPr lang="en-US" sz="87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870" dirty="0"/>
          </a:p>
          <a:p>
            <a:pPr indent="0" marL="0">
              <a:lnSpc>
                <a:spcPct val="110000"/>
              </a:lnSpc>
              <a:buNone/>
            </a:pPr>
            <a:r>
              <a:rPr lang="en-US" sz="76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87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488546" y="1482830"/>
          <a:ext cx="6166909" cy="692911"/>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Tốc độ</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車速</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m/s</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每秒公尺</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Phanh</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煞停距離</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Tia tối thiểu</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射線至少</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30" b="1" dirty="0">
                          <a:solidFill>
                            <a:srgbClr val="FFFFFF"/>
                          </a:solidFill>
                          <a:latin typeface="Arial" pitchFamily="34" charset="0"/>
                          <a:ea typeface="Arial" pitchFamily="34" charset="-122"/>
                          <a:cs typeface="Arial" pitchFamily="34" charset="-120"/>
                        </a:rPr>
                        <a:t>Ở đâu gặp tốc độ này</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什麼地方會開到這個速度</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30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30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8,3</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8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10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Trong ngõ, khu dân cư, trường học</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巷弄、社區、學校周邊</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50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50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13,9</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20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25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60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60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16,7</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28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35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Đường lớn, đường vành đai</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大馬路、外環道</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830" b="1" dirty="0">
                          <a:solidFill>
                            <a:srgbClr val="0B1F3A"/>
                          </a:solidFill>
                          <a:latin typeface="Arial" pitchFamily="34" charset="0"/>
                          <a:ea typeface="Arial" pitchFamily="34" charset="-122"/>
                          <a:cs typeface="Arial" pitchFamily="34" charset="-120"/>
                        </a:rPr>
                        <a:t>80 km/h</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時速 80</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22,2</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48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60 m</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30" dirty="0">
                          <a:solidFill>
                            <a:srgbClr val="1A2733"/>
                          </a:solidFill>
                          <a:latin typeface="Arial" pitchFamily="34" charset="0"/>
                          <a:ea typeface="Arial" pitchFamily="34" charset="-122"/>
                          <a:cs typeface="Arial" pitchFamily="34" charset="-120"/>
                        </a:rPr>
                        <a:t>Đường cao tốc chậm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快速道路</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488546" y="3253994"/>
            <a:ext cx="6166909" cy="346456"/>
          </a:xfrm>
          <a:prstGeom prst="rect">
            <a:avLst/>
          </a:prstGeom>
          <a:noFill/>
          <a:ln/>
        </p:spPr>
        <p:txBody>
          <a:bodyPr wrap="square" lIns="0" tIns="0" rIns="0" bIns="0" rtlCol="0" anchor="t"/>
          <a:lstStyle/>
          <a:p>
            <a:pPr indent="0" marL="0">
              <a:lnSpc>
                <a:spcPct val="116000"/>
              </a:lnSpc>
              <a:buNone/>
            </a:pPr>
            <a:r>
              <a:rPr lang="en-US" sz="91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910" dirty="0"/>
          </a:p>
          <a:p>
            <a:pPr indent="0" marL="0">
              <a:lnSpc>
                <a:spcPct val="116000"/>
              </a:lnSpc>
              <a:buNone/>
            </a:pPr>
            <a:r>
              <a:rPr lang="en-US" sz="83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91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190594" y="97008"/>
            <a:ext cx="623620" cy="194015"/>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9 / 18</a:t>
            </a:r>
            <a:endParaRPr lang="en-US" sz="680" dirty="0"/>
          </a:p>
        </p:txBody>
      </p:sp>
      <p:sp>
        <p:nvSpPr>
          <p:cNvPr id="10" name="Text 5"/>
          <p:cNvSpPr txBox="1"/>
          <p:nvPr/>
        </p:nvSpPr>
        <p:spPr>
          <a:xfrm>
            <a:off x="1835001" y="97008"/>
            <a:ext cx="1524404" cy="194015"/>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Tiết 1 · 第 1 節</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474846"/>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760" dirty="0"/>
          </a:p>
        </p:txBody>
      </p:sp>
      <p:sp>
        <p:nvSpPr>
          <p:cNvPr id="43" name="Shape 41"/>
          <p:cNvSpPr/>
          <p:nvPr/>
        </p:nvSpPr>
        <p:spPr>
          <a:xfrm>
            <a:off x="4851219" y="2365576"/>
            <a:ext cx="29391" cy="191044"/>
          </a:xfrm>
          <a:prstGeom prst="rect">
            <a:avLst/>
          </a:prstGeom>
          <a:solidFill>
            <a:srgbClr val="00A896"/>
          </a:solidFill>
          <a:ln/>
        </p:spPr>
      </p:sp>
      <p:sp>
        <p:nvSpPr>
          <p:cNvPr id="44" name="Text 42"/>
          <p:cNvSpPr txBox="1"/>
          <p:nvPr/>
        </p:nvSpPr>
        <p:spPr>
          <a:xfrm>
            <a:off x="4954089" y="2336185"/>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760" dirty="0"/>
          </a:p>
        </p:txBody>
      </p:sp>
      <p:sp>
        <p:nvSpPr>
          <p:cNvPr id="45" name="Shape 43"/>
          <p:cNvSpPr/>
          <p:nvPr/>
        </p:nvSpPr>
        <p:spPr>
          <a:xfrm>
            <a:off x="4851219" y="2647086"/>
            <a:ext cx="29391" cy="191044"/>
          </a:xfrm>
          <a:prstGeom prst="rect">
            <a:avLst/>
          </a:prstGeom>
          <a:solidFill>
            <a:srgbClr val="00A896"/>
          </a:solidFill>
          <a:ln/>
        </p:spPr>
      </p:sp>
      <p:sp>
        <p:nvSpPr>
          <p:cNvPr id="46" name="Text 44"/>
          <p:cNvSpPr txBox="1"/>
          <p:nvPr/>
        </p:nvSpPr>
        <p:spPr>
          <a:xfrm>
            <a:off x="4954089" y="2617694"/>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882128" y="109728"/>
            <a:ext cx="1097280" cy="242439"/>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18</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Vì sao chạy tốt trong mô phỏng vẫn chưa đủ</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330" dirty="0"/>
          </a:p>
        </p:txBody>
      </p:sp>
      <p:sp>
        <p:nvSpPr>
          <p:cNvPr id="7" name="Text 4"/>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11 / 18</a:t>
            </a:r>
            <a:endParaRPr lang="en-US" sz="720" dirty="0"/>
          </a:p>
        </p:txBody>
      </p:sp>
      <p:sp>
        <p:nvSpPr>
          <p:cNvPr id="8" name="Text 5"/>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1 / 3 · 落差之一</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826657" y="1625284"/>
            <a:ext cx="990124" cy="562570"/>
          </a:xfrm>
          <a:prstGeom prst="roundRect">
            <a:avLst>
              <a:gd name="adj" fmla="val 18065"/>
            </a:avLst>
          </a:prstGeom>
          <a:solidFill>
            <a:srgbClr val="4FA8FF"/>
          </a:solidFill>
          <a:ln/>
        </p:spPr>
      </p:sp>
      <p:sp>
        <p:nvSpPr>
          <p:cNvPr id="5" name="Shape 3"/>
          <p:cNvSpPr/>
          <p:nvPr/>
        </p:nvSpPr>
        <p:spPr>
          <a:xfrm>
            <a:off x="2051685" y="1512770"/>
            <a:ext cx="292536" cy="135017"/>
          </a:xfrm>
          <a:prstGeom prst="roundRect">
            <a:avLst>
              <a:gd name="adj" fmla="val 161291"/>
            </a:avLst>
          </a:prstGeom>
          <a:solidFill>
            <a:srgbClr val="4FA8FF"/>
          </a:solidFill>
          <a:ln/>
        </p:spPr>
      </p:sp>
      <p:sp>
        <p:nvSpPr>
          <p:cNvPr id="6" name="Shape 4"/>
          <p:cNvSpPr/>
          <p:nvPr/>
        </p:nvSpPr>
        <p:spPr>
          <a:xfrm>
            <a:off x="2141696" y="1715295"/>
            <a:ext cx="360045" cy="360045"/>
          </a:xfrm>
          <a:prstGeom prst="ellipse">
            <a:avLst/>
          </a:prstGeom>
          <a:solidFill>
            <a:srgbClr val="FFFFFF"/>
          </a:solidFill>
          <a:ln/>
        </p:spPr>
      </p:sp>
      <p:sp>
        <p:nvSpPr>
          <p:cNvPr id="7" name="Shape 5"/>
          <p:cNvSpPr/>
          <p:nvPr/>
        </p:nvSpPr>
        <p:spPr>
          <a:xfrm>
            <a:off x="2220456" y="1794055"/>
            <a:ext cx="202526" cy="202526"/>
          </a:xfrm>
          <a:prstGeom prst="ellipse">
            <a:avLst/>
          </a:prstGeom>
          <a:solidFill>
            <a:srgbClr val="4FA8FF">
              <a:alpha val="70000"/>
            </a:srgbClr>
          </a:solidFill>
          <a:ln/>
        </p:spPr>
      </p:sp>
      <p:sp>
        <p:nvSpPr>
          <p:cNvPr id="8" name="Shape 6"/>
          <p:cNvSpPr/>
          <p:nvPr/>
        </p:nvSpPr>
        <p:spPr>
          <a:xfrm>
            <a:off x="2591753" y="1692792"/>
            <a:ext cx="112514" cy="112514"/>
          </a:xfrm>
          <a:prstGeom prst="ellipse">
            <a:avLst/>
          </a:prstGeom>
          <a:solidFill>
            <a:srgbClr val="FFFFFF">
              <a:alpha val="60000"/>
            </a:srgbClr>
          </a:solidFill>
          <a:ln/>
        </p:spPr>
      </p:sp>
      <p:sp>
        <p:nvSpPr>
          <p:cNvPr id="9" name="Text 7"/>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830" dirty="0"/>
          </a:p>
        </p:txBody>
      </p:sp>
      <p:sp>
        <p:nvSpPr>
          <p:cNvPr id="10" name="Text 8"/>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9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18</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2 / 3 · 落差之二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1F4E79"/>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1830" dirty="0"/>
          </a:p>
        </p:txBody>
      </p:sp>
      <p:sp>
        <p:nvSpPr>
          <p:cNvPr id="14" name="Text 12"/>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99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13 / 18</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Khoảng cách 3 / 3 · 落差之三</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804154" y="1805306"/>
            <a:ext cx="1035129" cy="315040"/>
          </a:xfrm>
          <a:prstGeom prst="roundRect">
            <a:avLst>
              <a:gd name="adj" fmla="val 69124"/>
            </a:avLst>
          </a:prstGeom>
          <a:solidFill>
            <a:srgbClr val="9FB0BE"/>
          </a:solidFill>
          <a:ln/>
        </p:spPr>
      </p:sp>
      <p:sp>
        <p:nvSpPr>
          <p:cNvPr id="5" name="Shape 3"/>
          <p:cNvSpPr/>
          <p:nvPr/>
        </p:nvSpPr>
        <p:spPr>
          <a:xfrm>
            <a:off x="2029182" y="1580278"/>
            <a:ext cx="562570" cy="247531"/>
          </a:xfrm>
          <a:prstGeom prst="trapezoid">
            <a:avLst/>
          </a:prstGeom>
          <a:solidFill>
            <a:srgbClr val="9FB0BE">
              <a:alpha val="70000"/>
            </a:srgbClr>
          </a:solidFill>
          <a:ln/>
        </p:spPr>
      </p:sp>
      <p:sp>
        <p:nvSpPr>
          <p:cNvPr id="6" name="Shape 4"/>
          <p:cNvSpPr/>
          <p:nvPr/>
        </p:nvSpPr>
        <p:spPr>
          <a:xfrm>
            <a:off x="1939171" y="2052837"/>
            <a:ext cx="225028" cy="225028"/>
          </a:xfrm>
          <a:prstGeom prst="ellipse">
            <a:avLst/>
          </a:prstGeom>
          <a:solidFill>
            <a:srgbClr val="9FB0BE"/>
          </a:solidFill>
          <a:ln/>
        </p:spPr>
      </p:sp>
      <p:sp>
        <p:nvSpPr>
          <p:cNvPr id="7" name="Shape 5"/>
          <p:cNvSpPr/>
          <p:nvPr/>
        </p:nvSpPr>
        <p:spPr>
          <a:xfrm>
            <a:off x="2479239" y="2052837"/>
            <a:ext cx="225028" cy="225028"/>
          </a:xfrm>
          <a:prstGeom prst="ellipse">
            <a:avLst/>
          </a:prstGeom>
          <a:solidFill>
            <a:srgbClr val="9FB0BE"/>
          </a:solidFill>
          <a:ln/>
        </p:spPr>
      </p:sp>
      <p:sp>
        <p:nvSpPr>
          <p:cNvPr id="8" name="Shape 6"/>
          <p:cNvSpPr/>
          <p:nvPr/>
        </p:nvSpPr>
        <p:spPr>
          <a:xfrm>
            <a:off x="1995428" y="2109094"/>
            <a:ext cx="112514" cy="112514"/>
          </a:xfrm>
          <a:prstGeom prst="ellipse">
            <a:avLst/>
          </a:prstGeom>
          <a:solidFill>
            <a:srgbClr val="FFFFFF"/>
          </a:solidFill>
          <a:ln/>
        </p:spPr>
      </p:sp>
      <p:sp>
        <p:nvSpPr>
          <p:cNvPr id="9" name="Shape 7"/>
          <p:cNvSpPr/>
          <p:nvPr/>
        </p:nvSpPr>
        <p:spPr>
          <a:xfrm>
            <a:off x="2535496" y="2109094"/>
            <a:ext cx="112514" cy="112514"/>
          </a:xfrm>
          <a:prstGeom prst="ellipse">
            <a:avLst/>
          </a:prstGeom>
          <a:solidFill>
            <a:srgbClr val="FFFFFF"/>
          </a:solidFill>
          <a:ln/>
        </p:spPr>
      </p:sp>
      <p:sp>
        <p:nvSpPr>
          <p:cNvPr id="10" name="Text 8"/>
          <p:cNvSpPr txBox="1"/>
          <p:nvPr/>
        </p:nvSpPr>
        <p:spPr>
          <a:xfrm>
            <a:off x="3664629" y="962427"/>
            <a:ext cx="4137614" cy="967639"/>
          </a:xfrm>
          <a:prstGeom prst="rect">
            <a:avLst/>
          </a:prstGeom>
          <a:noFill/>
          <a:ln/>
        </p:spPr>
        <p:txBody>
          <a:bodyPr wrap="square" lIns="0" tIns="0" rIns="0" bIns="0" rtlCol="0" anchor="t"/>
          <a:lstStyle/>
          <a:p>
            <a:pPr indent="0" marL="0">
              <a:lnSpc>
                <a:spcPct val="120000"/>
              </a:lnSpc>
              <a:buNone/>
            </a:pPr>
            <a:r>
              <a:rPr lang="en-US" sz="159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159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1590" dirty="0"/>
          </a:p>
        </p:txBody>
      </p:sp>
      <p:sp>
        <p:nvSpPr>
          <p:cNvPr id="11" name="Text 9"/>
          <p:cNvSpPr txBox="1"/>
          <p:nvPr/>
        </p:nvSpPr>
        <p:spPr>
          <a:xfrm>
            <a:off x="3664629" y="2002655"/>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990" dirty="0"/>
          </a:p>
        </p:txBody>
      </p:sp>
      <p:sp>
        <p:nvSpPr>
          <p:cNvPr id="12" name="Shape 10"/>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99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6" name="Text 12"/>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14 / 18</a:t>
            </a:r>
            <a:endParaRPr lang="en-US" sz="710" dirty="0"/>
          </a:p>
        </p:txBody>
      </p:sp>
      <p:sp>
        <p:nvSpPr>
          <p:cNvPr id="17" name="Text 13"/>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Ngược lại · 反過來看</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00A896"/>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9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15 / 18</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951450" y="0"/>
          <a:ext cx="1" cy="1"/>
          <a:chOff x="0" y="0"/>
          <a:chExt cx="0" cy="0"/>
        </a:xfrm>
      </p:grpSpPr>
      <p:sp>
        <p:nvSpPr>
          <p:cNvPr id="2" name="Text 0"/>
          <p:cNvSpPr txBox="1"/>
          <p:nvPr/>
        </p:nvSpPr>
        <p:spPr>
          <a:xfrm>
            <a:off x="1349711" y="231715"/>
            <a:ext cx="6444579" cy="666181"/>
          </a:xfrm>
          <a:prstGeom prst="rect">
            <a:avLst/>
          </a:prstGeom>
          <a:noFill/>
          <a:ln/>
        </p:spPr>
        <p:txBody>
          <a:bodyPr wrap="square" lIns="0" tIns="0" rIns="0" bIns="0" rtlCol="0" anchor="t"/>
          <a:lstStyle/>
          <a:p>
            <a:pPr indent="0" marL="0">
              <a:lnSpc>
                <a:spcPct val="116000"/>
              </a:lnSpc>
              <a:buNone/>
            </a:pPr>
            <a:r>
              <a:rPr lang="en-US" sz="174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40" dirty="0"/>
          </a:p>
          <a:p>
            <a:pPr indent="0" marL="0">
              <a:lnSpc>
                <a:spcPct val="116000"/>
              </a:lnSpc>
              <a:buNone/>
            </a:pPr>
            <a:r>
              <a:rPr lang="en-US" sz="107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40" dirty="0"/>
          </a:p>
        </p:txBody>
      </p:sp>
      <p:sp>
        <p:nvSpPr>
          <p:cNvPr id="3" name="Shape 1"/>
          <p:cNvSpPr/>
          <p:nvPr/>
        </p:nvSpPr>
        <p:spPr>
          <a:xfrm>
            <a:off x="1349711" y="897896"/>
            <a:ext cx="6444579" cy="564806"/>
          </a:xfrm>
          <a:prstGeom prst="roundRect">
            <a:avLst>
              <a:gd name="adj" fmla="val 10256"/>
            </a:avLst>
          </a:prstGeom>
          <a:solidFill>
            <a:srgbClr val="EAF6F4"/>
          </a:solidFill>
          <a:ln/>
        </p:spPr>
      </p:sp>
      <p:sp>
        <p:nvSpPr>
          <p:cNvPr id="4" name="Text 2"/>
          <p:cNvSpPr txBox="1"/>
          <p:nvPr/>
        </p:nvSpPr>
        <p:spPr>
          <a:xfrm>
            <a:off x="1465568" y="955825"/>
            <a:ext cx="6212864" cy="448948"/>
          </a:xfrm>
          <a:prstGeom prst="rect">
            <a:avLst/>
          </a:prstGeom>
          <a:noFill/>
          <a:ln/>
        </p:spPr>
        <p:txBody>
          <a:bodyPr wrap="square" lIns="0" tIns="0" rIns="0" bIns="0" rtlCol="0" anchor="t"/>
          <a:lstStyle/>
          <a:p>
            <a:pPr indent="0" marL="0">
              <a:lnSpc>
                <a:spcPct val="110000"/>
              </a:lnSpc>
              <a:buNone/>
            </a:pPr>
            <a:r>
              <a:rPr lang="en-US" sz="91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91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91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49711" y="1549595"/>
          <a:ext cx="6444579" cy="724110"/>
        </p:xfrm>
        <a:graphic>
          <a:graphicData uri="http://schemas.openxmlformats.org/drawingml/2006/table">
            <a:tbl>
              <a:tblPr/>
              <a:tblGrid>
                <a:gridCol w="1371600"/>
                <a:gridCol w="3383280"/>
                <a:gridCol w="3383280"/>
              </a:tblGrid>
              <a:tr h="457200">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Loại</a:t>
                      </a:r>
                      <a:endParaRPr lang="en-US" sz="95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哪一種</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Ở Đài Loan</a:t>
                      </a:r>
                      <a:endParaRPr lang="en-US" sz="95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台灣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Ở Việt Nam</a:t>
                      </a:r>
                      <a:endParaRPr lang="en-US" sz="95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越南</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Hình ảnh</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Hàng quán vỉa hè, ngã tư không có vạch kẻ</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路邊攤、沒有標線的路口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Hành vi</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Đèn xanh, hai mươi xe máy toả ra hình quạt</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Vật lý</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Mặt đường vá chằng chịt, nắp cống</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補丁路面、人孔蓋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Đường hỏng, ngập nước sâu nông khác nhau</a:t>
                      </a:r>
                      <a:endParaRPr lang="en-US" sz="95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49711" y="3238395"/>
            <a:ext cx="6444579" cy="362055"/>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38343" y="101375"/>
            <a:ext cx="651699" cy="2027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16 / 18</a:t>
            </a:r>
            <a:endParaRPr lang="en-US" sz="710" dirty="0"/>
          </a:p>
        </p:txBody>
      </p:sp>
      <p:sp>
        <p:nvSpPr>
          <p:cNvPr id="10" name="Text 5"/>
          <p:cNvSpPr txBox="1"/>
          <p:nvPr/>
        </p:nvSpPr>
        <p:spPr>
          <a:xfrm>
            <a:off x="1711766" y="101375"/>
            <a:ext cx="1593042" cy="2027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討論（上週的回家作業）</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36345"/>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105250"/>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74156"/>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17 / 18</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587137"/>
            <a:ext cx="36739" cy="540573"/>
          </a:xfrm>
          <a:prstGeom prst="rect">
            <a:avLst/>
          </a:prstGeom>
          <a:solidFill>
            <a:srgbClr val="00A896"/>
          </a:solidFill>
          <a:ln/>
        </p:spPr>
      </p:sp>
      <p:sp>
        <p:nvSpPr>
          <p:cNvPr id="7" name="Text 5"/>
          <p:cNvSpPr txBox="1"/>
          <p:nvPr/>
        </p:nvSpPr>
        <p:spPr>
          <a:xfrm>
            <a:off x="1478552" y="1557746"/>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080" dirty="0"/>
          </a:p>
        </p:txBody>
      </p:sp>
      <p:sp>
        <p:nvSpPr>
          <p:cNvPr id="8" name="Shape 6"/>
          <p:cNvSpPr/>
          <p:nvPr/>
        </p:nvSpPr>
        <p:spPr>
          <a:xfrm>
            <a:off x="1302204" y="2289363"/>
            <a:ext cx="36739" cy="540573"/>
          </a:xfrm>
          <a:prstGeom prst="rect">
            <a:avLst/>
          </a:prstGeom>
          <a:solidFill>
            <a:srgbClr val="FFB020"/>
          </a:solidFill>
          <a:ln/>
        </p:spPr>
      </p:sp>
      <p:sp>
        <p:nvSpPr>
          <p:cNvPr id="9" name="Text 7"/>
          <p:cNvSpPr txBox="1"/>
          <p:nvPr/>
        </p:nvSpPr>
        <p:spPr>
          <a:xfrm>
            <a:off x="1478552" y="2259972"/>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080" dirty="0"/>
          </a:p>
        </p:txBody>
      </p:sp>
      <p:sp>
        <p:nvSpPr>
          <p:cNvPr id="10" name="Shape 8"/>
          <p:cNvSpPr/>
          <p:nvPr/>
        </p:nvSpPr>
        <p:spPr>
          <a:xfrm>
            <a:off x="1302204" y="2991589"/>
            <a:ext cx="36739" cy="540573"/>
          </a:xfrm>
          <a:prstGeom prst="rect">
            <a:avLst/>
          </a:prstGeom>
          <a:solidFill>
            <a:srgbClr val="00A896"/>
          </a:solidFill>
          <a:ln/>
        </p:spPr>
      </p:sp>
      <p:sp>
        <p:nvSpPr>
          <p:cNvPr id="11" name="Text 9"/>
          <p:cNvSpPr txBox="1"/>
          <p:nvPr/>
        </p:nvSpPr>
        <p:spPr>
          <a:xfrm>
            <a:off x="1478552" y="2962197"/>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080" dirty="0"/>
          </a:p>
        </p:txBody>
      </p:sp>
      <p:sp>
        <p:nvSpPr>
          <p:cNvPr id="13" name="Text 10"/>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18 / 18</a:t>
            </a:r>
            <a:endParaRPr lang="en-US" sz="720" dirty="0"/>
          </a:p>
        </p:txBody>
      </p:sp>
      <p:sp>
        <p:nvSpPr>
          <p:cNvPr id="14" name="Text 11"/>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2026-09-24T08:26:19Z</dcterms:created>
  <dcterms:modified xsi:type="dcterms:W3CDTF">2026-09-24T08:26:19Z</dcterms:modified>
</cp:coreProperties>
</file>