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開始之前，先花一分半看我們走到哪裡了。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第一週給的是名詞</a:t>
            </a:r>
            <a:r>
              <a:rPr sz="1200" lang="zh-TW" dirty="0">
                <a:solidFill>
                  <a:srgbClr val="000000"/>
                </a:solidFill>
                <a:latin typeface="Arial Unicode MS"/>
                <a:ea typeface="Arial Unicode MS"/>
                <a:cs typeface="Arial Unicode MS"/>
              </a:rPr>
              <a:t>：SAE 六個等級，L0 到 L5，還有 ODD——一台車被設計成只能在什麼條件下運作。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第二週給的是原理</a:t>
            </a:r>
            <a:r>
              <a:rPr sz="1200" lang="zh-TW" dirty="0">
                <a:solidFill>
                  <a:srgbClr val="000000"/>
                </a:solidFill>
                <a:latin typeface="Arial Unicode MS"/>
                <a:ea typeface="Arial Unicode MS"/>
                <a:cs typeface="Arial Unicode MS"/>
              </a:rPr>
              <a:t>：相機看顏色和文字、光達給三維點雲、雷達直接量距離和速度。那一週各位還自己動手填了一次 ODD。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第三週把感測器變成數字</a:t>
            </a:r>
            <a:r>
              <a:rPr sz="1200" lang="zh-TW" dirty="0">
                <a:solidFill>
                  <a:srgbClr val="000000"/>
                </a:solidFill>
                <a:latin typeface="Arial Unicode MS"/>
                <a:ea typeface="Arial Unicode MS"/>
                <a:cs typeface="Arial Unicode MS"/>
              </a:rPr>
              <a:t>：距離變兩倍，相機誤差變四倍、光達點數剩四分之一；天氣一變，壞掉的東西還不一樣。最後那一節，各位把這些邊界</a:t>
            </a:r>
            <a:r>
              <a:rPr sz="1200" b="1" lang="zh-TW" dirty="0">
                <a:solidFill>
                  <a:srgbClr val="000000"/>
                </a:solidFill>
                <a:latin typeface="Arial Unicode MS"/>
                <a:ea typeface="Arial Unicode MS"/>
                <a:cs typeface="Arial Unicode MS"/>
              </a:rPr>
              <a:t>寫回 ODD</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今天是第四格</a:t>
            </a:r>
            <a:r>
              <a:rPr sz="1200" lang="zh-TW" dirty="0">
                <a:solidFill>
                  <a:srgbClr val="000000"/>
                </a:solidFill>
                <a:latin typeface="Arial Unicode MS"/>
                <a:ea typeface="Arial Unicode MS"/>
                <a:cs typeface="Arial Unicode MS"/>
              </a:rPr>
              <a:t>：把這些感測器</a:t>
            </a:r>
            <a:r>
              <a:rPr sz="1200" b="1" lang="zh-TW" dirty="0">
                <a:solidFill>
                  <a:srgbClr val="000000"/>
                </a:solidFill>
                <a:latin typeface="Arial Unicode MS"/>
                <a:ea typeface="Arial Unicode MS"/>
                <a:cs typeface="Arial Unicode MS"/>
              </a:rPr>
              <a:t>裝上一台會跑的車</a:t>
            </a:r>
            <a:r>
              <a:rPr sz="1200" lang="zh-TW" dirty="0">
                <a:solidFill>
                  <a:srgbClr val="000000"/>
                </a:solidFill>
                <a:latin typeface="Arial Unicode MS"/>
                <a:ea typeface="Arial Unicode MS"/>
                <a:cs typeface="Arial Unicode MS"/>
              </a:rPr>
              <a:t>，用場景去測——然後掃出「河內尖峰最低要配多好」。
</a:t>
            </a:r>
          </a:p>
          <a:p>
            <a:pPr algn="l" marL="0" indent="0">
              <a:spcBef>
                <a:spcPts val="0"/>
              </a:spcBef>
              <a:spcAft>
                <a:spcPts val="200"/>
              </a:spcAft>
            </a:pPr>
            <a:r>
              <a:rPr sz="1200" lang="zh-TW" dirty="0">
                <a:solidFill>
                  <a:srgbClr val="000000"/>
                </a:solidFill>
                <a:latin typeface="Arial Unicode MS"/>
                <a:ea typeface="Arial Unicode MS"/>
                <a:cs typeface="Arial Unicode MS"/>
              </a:rPr>
              <a:t>看這四格的方向：</a:t>
            </a:r>
            <a:r>
              <a:rPr sz="1200" b="1" lang="zh-TW" dirty="0">
                <a:solidFill>
                  <a:srgbClr val="000000"/>
                </a:solidFill>
                <a:latin typeface="Arial Unicode MS"/>
                <a:ea typeface="Arial Unicode MS"/>
                <a:cs typeface="Arial Unicode MS"/>
              </a:rPr>
              <a:t>名詞 → 原理 → 數字 → 上車。</a:t>
            </a:r>
            <a:r>
              <a:rPr sz="1200" lang="zh-TW" dirty="0">
                <a:solidFill>
                  <a:srgbClr val="000000"/>
                </a:solidFill>
                <a:latin typeface="Arial Unicode MS"/>
                <a:ea typeface="Arial Unicode MS"/>
                <a:cs typeface="Arial Unicode MS"/>
              </a:rPr>
              <a:t>規格不是背來的，是</a:t>
            </a:r>
            <a:r>
              <a:rPr sz="1200" b="1" lang="zh-TW" dirty="0">
                <a:solidFill>
                  <a:srgbClr val="000000"/>
                </a:solidFill>
                <a:latin typeface="Arial Unicode MS"/>
                <a:ea typeface="Arial Unicode MS"/>
                <a:cs typeface="Arial Unicode MS"/>
              </a:rPr>
              <a:t>用場景掃出來的</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各位早。
</a:t>
            </a:r>
          </a:p>
          <a:p>
            <a:pPr algn="l" marL="0" indent="0">
              <a:spcBef>
                <a:spcPts val="0"/>
              </a:spcBef>
              <a:spcAft>
                <a:spcPts val="2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marL="0" indent="0">
              <a:spcBef>
                <a:spcPts val="0"/>
              </a:spcBef>
              <a:spcAft>
                <a:spcPts val="2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marL="0" indent="0">
              <a:spcBef>
                <a:spcPts val="0"/>
              </a:spcBef>
              <a:spcAft>
                <a:spcPts val="2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marL="0" indent="0">
              <a:spcBef>
                <a:spcPts val="0"/>
              </a:spcBef>
              <a:spcAft>
                <a:spcPts val="2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今天三節要做三件事，我先講一遍，各位心裡有個底。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marL="0" indent="0">
              <a:spcBef>
                <a:spcPts val="0"/>
              </a:spcBef>
              <a:spcAft>
                <a:spcPts val="2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我們花兩分鐘先把它打開，不要等到第三節才手忙腳亂。
</a:t>
            </a:r>
          </a:p>
          <a:p>
            <a:pPr algn="l" marL="0" indent="0">
              <a:spcBef>
                <a:spcPts val="0"/>
              </a:spcBef>
              <a:spcAft>
                <a:spcPts val="2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marL="0" indent="0">
              <a:spcBef>
                <a:spcPts val="0"/>
              </a:spcBef>
              <a:spcAft>
                <a:spcPts val="200"/>
              </a:spcAft>
            </a:pPr>
            <a:r>
              <a:rPr sz="1200" lang="zh-TW" dirty="0">
                <a:solidFill>
                  <a:srgbClr val="000000"/>
                </a:solidFill>
                <a:latin typeface="Arial Unicode MS"/>
                <a:ea typeface="Arial Unicode MS"/>
                <a:cs typeface="Arial Unicode MS"/>
              </a:rPr>
              <a:t>打開之後車子就會自己跑，不用按任何按鈕。
</a:t>
            </a:r>
          </a:p>
          <a:p>
            <a:pPr algn="l" marL="0" indent="0">
              <a:spcBef>
                <a:spcPts val="0"/>
              </a:spcBef>
              <a:spcAft>
                <a:spcPts val="2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marL="0" indent="0">
              <a:spcBef>
                <a:spcPts val="0"/>
              </a:spcBef>
              <a:spcAft>
                <a:spcPts val="2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第一段。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模擬器上那三個滑桿，在真車的規格表上叫什麼名字？
</a:t>
            </a:r>
          </a:p>
          <a:p>
            <a:pPr algn="l" marL="0" indent="0">
              <a:spcBef>
                <a:spcPts val="0"/>
              </a:spcBef>
              <a:spcAft>
                <a:spcPts val="200"/>
              </a:spcAft>
            </a:pPr>
            <a:r>
              <a:rPr sz="1200" lang="zh-TW" dirty="0">
                <a:solidFill>
                  <a:srgbClr val="000000"/>
                </a:solidFill>
                <a:latin typeface="Arial Unicode MS"/>
                <a:ea typeface="Arial Unicode MS"/>
                <a:cs typeface="Arial Unicode MS"/>
              </a:rPr>
              <a:t>先講一件事，免得等一下誤會。
</a:t>
            </a:r>
          </a:p>
          <a:p>
            <a:pPr algn="l" marL="0" indent="0">
              <a:spcBef>
                <a:spcPts val="0"/>
              </a:spcBef>
              <a:spcAft>
                <a:spcPts val="200"/>
              </a:spcAft>
            </a:pPr>
            <a:r>
              <a:rPr sz="1200" b="1" lang="zh-TW" dirty="0">
                <a:solidFill>
                  <a:srgbClr val="000000"/>
                </a:solidFill>
                <a:latin typeface="Arial Unicode MS"/>
                <a:ea typeface="Arial Unicode MS"/>
                <a:cs typeface="Arial Unicode MS"/>
              </a:rPr>
              <a:t>那幾條射線，是光達的簡化版。</a:t>
            </a:r>
            <a:r>
              <a:rPr sz="1200" lang="zh-TW" dirty="0">
                <a:solidFill>
                  <a:srgbClr val="000000"/>
                </a:solidFill>
                <a:latin typeface="Arial Unicode MS"/>
                <a:ea typeface="Arial Unicode MS"/>
                <a:cs typeface="Arial Unicode MS"/>
              </a:rPr>
              <a:t>真的光達上下分好幾層，一層打幾百個點。我們只留一層、幾條，是為了讓各位拉得動。
</a:t>
            </a:r>
          </a:p>
          <a:p>
            <a:pPr algn="l" marL="0" indent="0">
              <a:spcBef>
                <a:spcPts val="0"/>
              </a:spcBef>
              <a:spcAft>
                <a:spcPts val="200"/>
              </a:spcAft>
            </a:pPr>
            <a:r>
              <a:rPr sz="1200" b="1" lang="zh-TW" dirty="0">
                <a:solidFill>
                  <a:srgbClr val="000000"/>
                </a:solidFill>
                <a:latin typeface="Arial Unicode MS"/>
                <a:ea typeface="Arial Unicode MS"/>
                <a:cs typeface="Arial Unicode MS"/>
              </a:rPr>
              <a:t>但接下來問的三件事，不是光達專屬的。</a:t>
            </a:r>
            <a:r>
              <a:rPr sz="1200" lang="zh-TW" dirty="0">
                <a:solidFill>
                  <a:srgbClr val="000000"/>
                </a:solidFill>
                <a:latin typeface="Arial Unicode MS"/>
                <a:ea typeface="Arial Unicode MS"/>
                <a:cs typeface="Arial Unicode MS"/>
              </a:rPr>
              <a:t>看多遠、看多寬、看多細——相機要回答，雷達也要回答，只是名字不一樣。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所以今天學的不是「光達怎麼看」，是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那為什麼先挑光達？因為它最乾淨——三個數字都算得出來。相機和雷達沒這麼直白，要等第三章，下週開始。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這一頁半分鐘。先講為什麼是這三個。
</a:t>
            </a:r>
          </a:p>
          <a:p>
            <a:pPr algn="l" marL="0" indent="0">
              <a:spcBef>
                <a:spcPts val="0"/>
              </a:spcBef>
              <a:spcAft>
                <a:spcPts val="2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marL="0" indent="0">
              <a:spcBef>
                <a:spcPts val="0"/>
              </a:spcBef>
              <a:spcAft>
                <a:spcPts val="2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marL="0" indent="0">
              <a:spcBef>
                <a:spcPts val="0"/>
              </a:spcBef>
              <a:spcAft>
                <a:spcPts val="2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marL="0" indent="0">
              <a:spcBef>
                <a:spcPts val="0"/>
              </a:spcBef>
              <a:spcAft>
                <a:spcPts val="2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marL="0" indent="0">
              <a:spcBef>
                <a:spcPts val="0"/>
              </a:spcBef>
              <a:spcAft>
                <a:spcPts val="2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marL="0" indent="0">
              <a:spcBef>
                <a:spcPts val="0"/>
              </a:spcBef>
              <a:spcAft>
                <a:spcPts val="2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marL="0" indent="0">
              <a:spcBef>
                <a:spcPts val="0"/>
              </a:spcBef>
              <a:spcAft>
                <a:spcPts val="2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marL="0" indent="0">
              <a:spcBef>
                <a:spcPts val="0"/>
              </a:spcBef>
              <a:spcAft>
                <a:spcPts val="2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marL="0" indent="0">
              <a:spcBef>
                <a:spcPts val="0"/>
              </a:spcBef>
              <a:spcAft>
                <a:spcPts val="2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marL="0" indent="0">
              <a:spcBef>
                <a:spcPts val="0"/>
              </a:spcBef>
              <a:spcAft>
                <a:spcPts val="200"/>
              </a:spcAft>
            </a:pPr>
            <a:r>
              <a:rPr sz="1200" lang="zh-TW" dirty="0">
                <a:solidFill>
                  <a:srgbClr val="000000"/>
                </a:solidFill>
                <a:latin typeface="Arial Unicode MS"/>
                <a:ea typeface="Arial Unicode MS"/>
                <a:cs typeface="Arial Unicode MS"/>
              </a:rPr>
              <a:t>調窄會怎樣？從側面切進來的機車完全看不到。
</a:t>
            </a:r>
          </a:p>
          <a:p>
            <a:pPr algn="l" marL="0" indent="0">
              <a:spcBef>
                <a:spcPts val="0"/>
              </a:spcBef>
              <a:spcAft>
                <a:spcPts val="2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調寬會怎樣？這題上週剛講過，大家想一下。
</a:t>
            </a:r>
          </a:p>
          <a:p>
            <a:pPr algn="l" marL="0" indent="0">
              <a:spcBef>
                <a:spcPts val="0"/>
              </a:spcBef>
              <a:spcAft>
                <a:spcPts val="2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在往下講之前，先把問題講清楚。
</a:t>
            </a:r>
          </a:p>
          <a:p>
            <a:pPr algn="l" marL="0" indent="0">
              <a:spcBef>
                <a:spcPts val="0"/>
              </a:spcBef>
              <a:spcAft>
                <a:spcPts val="2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先問一個問題，各位心裡估一下。
</a:t>
            </a:r>
          </a:p>
          <a:p>
            <a:pPr algn="l" marL="0" indent="0">
              <a:spcBef>
                <a:spcPts val="0"/>
              </a:spcBef>
              <a:spcAft>
                <a:spcPts val="2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（讓學生猜，通常會猜得太短。）
</a:t>
            </a:r>
          </a:p>
          <a:p>
            <a:pPr algn="l" marL="0" indent="0">
              <a:spcBef>
                <a:spcPts val="0"/>
              </a:spcBef>
              <a:spcAft>
                <a:spcPts val="2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marL="0" indent="0">
              <a:spcBef>
                <a:spcPts val="0"/>
              </a:spcBef>
              <a:spcAft>
                <a:spcPts val="200"/>
              </a:spcAft>
            </a:pPr>
            <a:r>
              <a:rPr sz="1200" lang="zh-TW" dirty="0">
                <a:solidFill>
                  <a:srgbClr val="000000"/>
                </a:solidFill>
                <a:latin typeface="Arial Unicode MS"/>
                <a:ea typeface="Arial Unicode MS"/>
                <a:cs typeface="Arial Unicode MS"/>
              </a:rPr>
              <a:t>這個距離分成兩段。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marL="0" indent="0">
              <a:spcBef>
                <a:spcPts val="0"/>
              </a:spcBef>
              <a:spcAft>
                <a:spcPts val="2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第二段，煞車距離。拆成兩步，跟著螢幕上那三步算。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marL="0" indent="0">
              <a:spcBef>
                <a:spcPts val="0"/>
              </a:spcBef>
              <a:spcAft>
                <a:spcPts val="2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把兩段加起來。
</a:t>
            </a:r>
          </a:p>
          <a:p>
            <a:pPr algn="l" marL="0" indent="0">
              <a:spcBef>
                <a:spcPts val="0"/>
              </a:spcBef>
              <a:spcAft>
                <a:spcPts val="2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marL="0" indent="0">
              <a:spcBef>
                <a:spcPts val="0"/>
              </a:spcBef>
              <a:spcAft>
                <a:spcPts val="2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用一支影片把同樣兩段距離再看一次。
</a:t>
            </a:r>
          </a:p>
          <a:p>
            <a:pPr algn="l" marL="0" indent="0">
              <a:spcBef>
                <a:spcPts val="0"/>
              </a:spcBef>
              <a:spcAft>
                <a:spcPts val="2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看完問三個問題。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第一，它把煞停距離拆成哪兩段？答案跟我們一樣。
</a:t>
            </a:r>
          </a:p>
          <a:p>
            <a:pPr algn="l" marL="0" indent="0">
              <a:spcBef>
                <a:spcPts val="0"/>
              </a:spcBef>
              <a:spcAft>
                <a:spcPts val="2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marL="0" indent="0">
              <a:spcBef>
                <a:spcPts val="0"/>
              </a:spcBef>
              <a:spcAft>
                <a:spcPts val="2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marL="0" indent="0">
              <a:spcBef>
                <a:spcPts val="0"/>
              </a:spcBef>
              <a:spcAft>
                <a:spcPts val="2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這張表把那條公式，五個常見車速各算一次。
</a:t>
            </a:r>
          </a:p>
          <a:p>
            <a:pPr algn="l" marL="0" indent="0">
              <a:spcBef>
                <a:spcPts val="0"/>
              </a:spcBef>
              <a:spcAft>
                <a:spcPts val="2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marL="0" indent="0">
              <a:spcBef>
                <a:spcPts val="0"/>
              </a:spcBef>
              <a:spcAft>
                <a:spcPts val="2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marL="0" indent="0">
              <a:spcBef>
                <a:spcPts val="0"/>
              </a:spcBef>
              <a:spcAft>
                <a:spcPts val="2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marL="0" indent="0">
              <a:spcBef>
                <a:spcPts val="0"/>
              </a:spcBef>
              <a:spcAft>
                <a:spcPts val="2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看的時候注意三件事，都寫在右邊。
</a:t>
            </a:r>
          </a:p>
          <a:p>
            <a:pPr algn="l" marL="0" indent="0">
              <a:spcBef>
                <a:spcPts val="0"/>
              </a:spcBef>
              <a:spcAft>
                <a:spcPts val="2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marL="0" indent="0">
              <a:spcBef>
                <a:spcPts val="0"/>
              </a:spcBef>
              <a:spcAft>
                <a:spcPts val="200"/>
              </a:spcAft>
            </a:pPr>
            <a:r>
              <a:rPr sz="1200" lang="zh-TW" dirty="0">
                <a:solidFill>
                  <a:srgbClr val="000000"/>
                </a:solidFill>
                <a:latin typeface="Arial Unicode MS"/>
                <a:ea typeface="Arial Unicode MS"/>
                <a:cs typeface="Arial Unicode MS"/>
              </a:rPr>
              <a:t>第二，它連相機影像和光達點雲都算給你。
</a:t>
            </a:r>
          </a:p>
          <a:p>
            <a:pPr algn="l" marL="0" indent="0">
              <a:spcBef>
                <a:spcPts val="0"/>
              </a:spcBef>
              <a:spcAft>
                <a:spcPts val="2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看完問一句：CARLA 跟我們的瀏覽器模擬器，哪裡是一樣的？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
</a:t>
            </a:r>
          </a:p>
          <a:p>
            <a:pPr algn="l" marL="0" indent="0">
              <a:spcBef>
                <a:spcPts val="0"/>
              </a:spcBef>
              <a:spcAft>
                <a:spcPts val="2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marL="0" indent="0">
              <a:spcBef>
                <a:spcPts val="0"/>
              </a:spcBef>
              <a:spcAft>
                <a:spcPts val="2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marL="0" indent="0">
              <a:spcBef>
                <a:spcPts val="0"/>
              </a:spcBef>
              <a:spcAft>
                <a:spcPts val="2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marL="0" indent="0">
              <a:spcBef>
                <a:spcPts val="0"/>
              </a:spcBef>
              <a:spcAft>
                <a:spcPts val="2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marL="0" indent="0">
              <a:spcBef>
                <a:spcPts val="0"/>
              </a:spcBef>
              <a:spcAft>
                <a:spcPts val="2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marL="0" indent="0">
              <a:spcBef>
                <a:spcPts val="0"/>
              </a:spcBef>
              <a:spcAft>
                <a:spcPts val="2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為什麼要這樣做？（等學生想。）
</a:t>
            </a:r>
          </a:p>
          <a:p>
            <a:pPr algn="l" marL="0" indent="0">
              <a:spcBef>
                <a:spcPts val="0"/>
              </a:spcBef>
              <a:spcAft>
                <a:spcPts val="2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marL="0" indent="0">
              <a:spcBef>
                <a:spcPts val="0"/>
              </a:spcBef>
              <a:spcAft>
                <a:spcPts val="2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marL="0" indent="0">
              <a:spcBef>
                <a:spcPts val="0"/>
              </a:spcBef>
              <a:spcAft>
                <a:spcPts val="2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如果進度還有餘裕，這裡有一支影片，一分五十二秒，NVIDIA 官方的。
</a:t>
            </a:r>
          </a:p>
          <a:p>
            <a:pPr algn="l" marL="0" indent="0">
              <a:spcBef>
                <a:spcPts val="0"/>
              </a:spcBef>
              <a:spcAft>
                <a:spcPts val="200"/>
              </a:spcAft>
            </a:pPr>
            <a:r>
              <a:rPr sz="1200" lang="zh-TW" dirty="0">
                <a:solidFill>
                  <a:srgbClr val="000000"/>
                </a:solidFill>
                <a:latin typeface="Arial Unicode MS"/>
                <a:ea typeface="Arial Unicode MS"/>
                <a:cs typeface="Arial Unicode MS"/>
              </a:rPr>
              <a:t>先說它在演什麼。NVIDIA 有一套自駕車的模擬器叫 </a:t>
            </a:r>
            <a:r>
              <a:rPr sz="1200" b="1" lang="zh-TW" dirty="0">
                <a:solidFill>
                  <a:srgbClr val="000000"/>
                </a:solidFill>
                <a:latin typeface="Arial Unicode MS"/>
                <a:ea typeface="Arial Unicode MS"/>
                <a:cs typeface="Arial Unicode MS"/>
              </a:rPr>
              <a:t>DRIVE Sim</a:t>
            </a:r>
            <a:r>
              <a:rPr sz="1200" lang="zh-TW" dirty="0">
                <a:solidFill>
                  <a:srgbClr val="000000"/>
                </a:solidFill>
                <a:latin typeface="Arial Unicode MS"/>
                <a:ea typeface="Arial Unicode MS"/>
                <a:cs typeface="Arial Unicode MS"/>
              </a:rPr>
              <a:t>。這支講的是它其中一個功能：</a:t>
            </a:r>
            <a:r>
              <a:rPr sz="1200" b="1" lang="zh-TW" dirty="0">
                <a:solidFill>
                  <a:srgbClr val="000000"/>
                </a:solidFill>
                <a:latin typeface="Arial Unicode MS"/>
                <a:ea typeface="Arial Unicode MS"/>
                <a:cs typeface="Arial Unicode MS"/>
              </a:rPr>
              <a:t>讓模擬器自己生出訓練資料</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第一，模擬器不是只畫一張好看的畫面。</a:t>
            </a:r>
            <a:r>
              <a:rPr sz="1200" lang="zh-TW" dirty="0">
                <a:solidFill>
                  <a:srgbClr val="000000"/>
                </a:solidFill>
                <a:latin typeface="Arial Unicode MS"/>
                <a:ea typeface="Arial Unicode MS"/>
                <a:cs typeface="Arial Unicode MS"/>
              </a:rPr>
              <a:t>它會分別算出相機拍到什麼、光達打回來什麼、雷達量到什麼——同一個場景，每一種感測器各一份。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第二，同一個場景可以換很多種樣子。</a:t>
            </a:r>
            <a:r>
              <a:rPr sz="1200" lang="zh-TW" dirty="0">
                <a:solidFill>
                  <a:srgbClr val="000000"/>
                </a:solidFill>
                <a:latin typeface="Arial Unicode MS"/>
                <a:ea typeface="Arial Unicode MS"/>
                <a:cs typeface="Arial Unicode MS"/>
              </a:rPr>
              <a:t>換天氣、換光線、換材質、換路邊有什麼。這就是上一頁講的</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，只是用在資料上。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第三，這一點最關鍵：標準答案是免費的。</a:t>
            </a:r>
            <a:r>
              <a:rPr sz="1200" lang="zh-TW" dirty="0">
                <a:solidFill>
                  <a:srgbClr val="000000"/>
                </a:solidFill>
                <a:latin typeface="Arial Unicode MS"/>
                <a:ea typeface="Arial Unicode MS"/>
                <a:cs typeface="Arial Unicode MS"/>
              </a:rPr>
              <a:t>真實世界收來的影片，要有人一張一張把車框起來、告訴電腦「這是車」——很慢、很貴。模擬出來的不用，</a:t>
            </a:r>
            <a:r>
              <a:rPr sz="1200" b="1" lang="zh-TW" dirty="0">
                <a:solidFill>
                  <a:srgbClr val="000000"/>
                </a:solidFill>
                <a:latin typeface="Arial Unicode MS"/>
                <a:ea typeface="Arial Unicode MS"/>
                <a:cs typeface="Arial Unicode MS"/>
              </a:rPr>
              <a:t>電腦本來就知道每一個東西在哪裡</a:t>
            </a:r>
            <a:r>
              <a:rPr sz="1200" lang="zh-TW" dirty="0">
                <a:solidFill>
                  <a:srgbClr val="000000"/>
                </a:solidFill>
                <a:latin typeface="Arial Unicode MS"/>
                <a:ea typeface="Arial Unicode MS"/>
                <a:cs typeface="Arial Unicode MS"/>
              </a:rPr>
              <a:t>，那是它自己畫的。
</a:t>
            </a:r>
          </a:p>
          <a:p>
            <a:pPr algn="l" marL="0" indent="0">
              <a:spcBef>
                <a:spcPts val="0"/>
              </a:spcBef>
              <a:spcAft>
                <a:spcPts val="200"/>
              </a:spcAft>
            </a:pPr>
            <a:r>
              <a:rPr sz="1200" lang="zh-TW" dirty="0">
                <a:solidFill>
                  <a:srgbClr val="000000"/>
                </a:solidFill>
                <a:latin typeface="Arial Unicode MS"/>
                <a:ea typeface="Arial Unicode MS"/>
                <a:cs typeface="Arial Unicode MS"/>
              </a:rPr>
              <a:t>（播完）所以回到上一頁那句話：與其把模擬做得跟現實一模一樣，不如</a:t>
            </a:r>
            <a:r>
              <a:rPr sz="1200" b="1" lang="zh-TW" dirty="0">
                <a:solidFill>
                  <a:srgbClr val="000000"/>
                </a:solidFill>
                <a:latin typeface="Arial Unicode MS"/>
                <a:ea typeface="Arial Unicode MS"/>
                <a:cs typeface="Arial Unicode MS"/>
              </a:rPr>
              <a:t>讓現實只是其中一種情況</a:t>
            </a:r>
            <a:r>
              <a:rPr sz="1200" lang="zh-TW" dirty="0">
                <a:solidFill>
                  <a:srgbClr val="000000"/>
                </a:solidFill>
                <a:latin typeface="Arial Unicode MS"/>
                <a:ea typeface="Arial Unicode MS"/>
                <a:cs typeface="Arial Unicode MS"/>
              </a:rPr>
              <a:t>。這支影片就是業界真的在做這件事。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這一支比較長，三分二十九秒，播兩分鐘就夠。它不是車，是</a:t>
            </a:r>
            <a:r>
              <a:rPr sz="1200" b="1" lang="zh-TW" dirty="0">
                <a:solidFill>
                  <a:srgbClr val="000000"/>
                </a:solidFill>
                <a:latin typeface="Arial Unicode MS"/>
                <a:ea typeface="Arial Unicode MS"/>
                <a:cs typeface="Arial Unicode MS"/>
              </a:rPr>
              <a:t>一隻機械手</a:t>
            </a:r>
            <a:r>
              <a:rPr sz="1200" lang="zh-TW" dirty="0">
                <a:solidFill>
                  <a:srgbClr val="000000"/>
                </a:solidFill>
                <a:latin typeface="Arial Unicode MS"/>
                <a:ea typeface="Arial Unicode MS"/>
                <a:cs typeface="Arial Unicode MS"/>
              </a:rPr>
              <a:t>——但方法跟上一頁一模一樣。
</a:t>
            </a:r>
          </a:p>
          <a:p>
            <a:pPr algn="l" marL="0" indent="0">
              <a:spcBef>
                <a:spcPts val="0"/>
              </a:spcBef>
              <a:spcAft>
                <a:spcPts val="200"/>
              </a:spcAft>
            </a:pPr>
            <a:r>
              <a:rPr sz="1200" lang="zh-TW" dirty="0">
                <a:solidFill>
                  <a:srgbClr val="000000"/>
                </a:solidFill>
                <a:latin typeface="Arial Unicode MS"/>
                <a:ea typeface="Arial Unicode MS"/>
                <a:cs typeface="Arial Unicode MS"/>
              </a:rPr>
              <a:t>先說背景。這是 OpenAI 二〇一八年做的，系統叫 Dactyl。任務很單純：讓機械手把一個方塊轉到指定的那一面。
</a:t>
            </a:r>
          </a:p>
          <a:p>
            <a:pPr algn="l" marL="0" indent="0">
              <a:spcBef>
                <a:spcPts val="0"/>
              </a:spcBef>
              <a:spcAft>
                <a:spcPts val="200"/>
              </a:spcAft>
            </a:pPr>
            <a:r>
              <a:rPr sz="1200" b="1" lang="zh-TW" dirty="0">
                <a:solidFill>
                  <a:srgbClr val="000000"/>
                </a:solidFill>
                <a:latin typeface="Arial Unicode MS"/>
                <a:ea typeface="Arial Unicode MS"/>
                <a:cs typeface="Arial Unicode MS"/>
              </a:rPr>
              <a:t>關鍵在這裡：這隻手從頭到尾沒有碰過真的方塊。</a:t>
            </a:r>
            <a:r>
              <a:rPr sz="1200" lang="zh-TW" dirty="0">
                <a:solidFill>
                  <a:srgbClr val="000000"/>
                </a:solidFill>
                <a:latin typeface="Arial Unicode MS"/>
                <a:ea typeface="Arial Unicode MS"/>
                <a:cs typeface="Arial Unicode MS"/>
              </a:rPr>
              <a:t>所有的練習都在電腦的模擬裡完成。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那為什麼搬到真的手上還能動？因為他們在模擬裡</a:t>
            </a:r>
            <a:r>
              <a:rPr sz="1200" b="1" lang="zh-TW" dirty="0">
                <a:solidFill>
                  <a:srgbClr val="000000"/>
                </a:solidFill>
                <a:latin typeface="Arial Unicode MS"/>
                <a:ea typeface="Arial Unicode MS"/>
                <a:cs typeface="Arial Unicode MS"/>
              </a:rPr>
              <a:t>一直亂調</a:t>
            </a:r>
            <a:r>
              <a:rPr sz="1200" lang="zh-TW" dirty="0">
                <a:solidFill>
                  <a:srgbClr val="000000"/>
                </a:solidFill>
                <a:latin typeface="Arial Unicode MS"/>
                <a:ea typeface="Arial Unicode MS"/>
                <a:cs typeface="Arial Unicode MS"/>
              </a:rPr>
              <a:t>——方塊的重量、大小、表面的摩擦力、手指反應的快慢，連看方塊的攝影機角度都在變。每一次練習的條件都不一樣。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所以這隻手學到的不是「在某一組數字下怎麼轉」，是「</a:t>
            </a:r>
            <a:r>
              <a:rPr sz="1200" b="1" lang="zh-TW" dirty="0">
                <a:solidFill>
                  <a:srgbClr val="000000"/>
                </a:solidFill>
                <a:latin typeface="Arial Unicode MS"/>
                <a:ea typeface="Arial Unicode MS"/>
                <a:cs typeface="Arial Unicode MS"/>
              </a:rPr>
              <a:t>不管數字怎麼變都轉得動</a:t>
            </a:r>
            <a:r>
              <a:rPr sz="1200" lang="zh-TW" dirty="0">
                <a:solidFill>
                  <a:srgbClr val="000000"/>
                </a:solidFill>
                <a:latin typeface="Arial Unicode MS"/>
                <a:ea typeface="Arial Unicode MS"/>
                <a:cs typeface="Arial Unicode MS"/>
              </a:rPr>
              <a:t>」。真實世界那一組數字，對它來說只是練過的其中一種。
</a:t>
            </a:r>
          </a:p>
          <a:p>
            <a:pPr algn="l" marL="0" indent="0">
              <a:spcBef>
                <a:spcPts val="0"/>
              </a:spcBef>
              <a:spcAft>
                <a:spcPts val="200"/>
              </a:spcAft>
            </a:pPr>
            <a:r>
              <a:rPr sz="1200" lang="zh-TW" dirty="0">
                <a:solidFill>
                  <a:srgbClr val="000000"/>
                </a:solidFill>
                <a:latin typeface="Arial Unicode MS"/>
                <a:ea typeface="Arial Unicode MS"/>
                <a:cs typeface="Arial Unicode MS"/>
              </a:rPr>
              <a:t>（播完）這就是上一頁那句話最極端的版本。而且各位第三節掃參數的時候，做的其實是同一件事——</a:t>
            </a:r>
            <a:r>
              <a:rPr sz="1200" b="1" lang="zh-TW" dirty="0">
                <a:solidFill>
                  <a:srgbClr val="000000"/>
                </a:solidFill>
                <a:latin typeface="Arial Unicode MS"/>
                <a:ea typeface="Arial Unicode MS"/>
                <a:cs typeface="Arial Unicode MS"/>
              </a:rPr>
              <a:t>把一組數字掃過一整個範圍，而不是只試一個</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marL="0" indent="0">
              <a:spcBef>
                <a:spcPts val="0"/>
              </a:spcBef>
              <a:spcAft>
                <a:spcPts val="2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（問全班）真實世界的機車是這樣嗎？
</a:t>
            </a:r>
          </a:p>
          <a:p>
            <a:pPr algn="l" marL="0" indent="0">
              <a:spcBef>
                <a:spcPts val="0"/>
              </a:spcBef>
              <a:spcAft>
                <a:spcPts val="200"/>
              </a:spcAft>
            </a:pPr>
            <a:r>
              <a:rPr sz="1200" lang="zh-TW" dirty="0">
                <a:solidFill>
                  <a:srgbClr val="000000"/>
                </a:solidFill>
                <a:latin typeface="Arial Unicode MS"/>
                <a:ea typeface="Arial Unicode MS"/>
                <a:cs typeface="Arial Unicode MS"/>
              </a:rPr>
              <a:t>不是。鑽縫、紅燈前擠到最前面、沒有標線的路口靠眼神。
</a:t>
            </a:r>
          </a:p>
          <a:p>
            <a:pPr algn="l" marL="0" indent="0">
              <a:spcBef>
                <a:spcPts val="0"/>
              </a:spcBef>
              <a:spcAft>
                <a:spcPts val="2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marL="0" indent="0">
              <a:spcBef>
                <a:spcPts val="0"/>
              </a:spcBef>
              <a:spcAft>
                <a:spcPts val="2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marL="0" indent="0">
              <a:spcBef>
                <a:spcPts val="0"/>
              </a:spcBef>
              <a:spcAft>
                <a:spcPts val="2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（等學生回答。）
</a:t>
            </a:r>
          </a:p>
          <a:p>
            <a:pPr algn="l" marL="0" indent="0">
              <a:spcBef>
                <a:spcPts val="0"/>
              </a:spcBef>
              <a:spcAft>
                <a:spcPts val="2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marL="0" indent="0">
              <a:spcBef>
                <a:spcPts val="0"/>
              </a:spcBef>
              <a:spcAft>
                <a:spcPts val="2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marL="0" indent="0">
              <a:spcBef>
                <a:spcPts val="0"/>
              </a:spcBef>
              <a:spcAft>
                <a:spcPts val="2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（問全班）下雨天煞車，煞得住嗎？
</a:t>
            </a:r>
          </a:p>
          <a:p>
            <a:pPr algn="l" marL="0" indent="0">
              <a:spcBef>
                <a:spcPts val="0"/>
              </a:spcBef>
              <a:spcAft>
                <a:spcPts val="2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marL="0" indent="0">
              <a:spcBef>
                <a:spcPts val="0"/>
              </a:spcBef>
              <a:spcAft>
                <a:spcPts val="2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講了三種落差，好像模擬一無是處。反過來也要講。
</a:t>
            </a:r>
          </a:p>
          <a:p>
            <a:pPr algn="l" marL="0" indent="0">
              <a:spcBef>
                <a:spcPts val="0"/>
              </a:spcBef>
              <a:spcAft>
                <a:spcPts val="2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marL="0" indent="0">
              <a:spcBef>
                <a:spcPts val="0"/>
              </a:spcBef>
              <a:spcAft>
                <a:spcPts val="2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marL="0" indent="0">
              <a:spcBef>
                <a:spcPts val="0"/>
              </a:spcBef>
              <a:spcAft>
                <a:spcPts val="200"/>
              </a:spcAft>
            </a:pPr>
            <a:r>
              <a:rPr sz="1200" lang="zh-TW" dirty="0">
                <a:solidFill>
                  <a:srgbClr val="000000"/>
                </a:solidFill>
                <a:latin typeface="Arial Unicode MS"/>
                <a:ea typeface="Arial Unicode MS"/>
                <a:cs typeface="Arial Unicode MS"/>
              </a:rPr>
              <a:t>這一句我想聽大家自己說出來。
</a:t>
            </a:r>
          </a:p>
          <a:p>
            <a:pPr algn="l" marL="0" indent="0">
              <a:spcBef>
                <a:spcPts val="0"/>
              </a:spcBef>
              <a:spcAft>
                <a:spcPts val="2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marL="0" indent="0">
              <a:spcBef>
                <a:spcPts val="0"/>
              </a:spcBef>
              <a:spcAft>
                <a:spcPts val="2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一欄一欄看。
</a:t>
            </a:r>
          </a:p>
          <a:p>
            <a:pPr algn="l" marL="0" indent="0">
              <a:spcBef>
                <a:spcPts val="0"/>
              </a:spcBef>
              <a:spcAft>
                <a:spcPts val="2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marL="0" indent="0">
              <a:spcBef>
                <a:spcPts val="0"/>
              </a:spcBef>
              <a:spcAft>
                <a:spcPts val="2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現在做一個四分鐘的討論。
</a:t>
            </a:r>
          </a:p>
          <a:p>
            <a:pPr algn="l" marL="0" indent="0">
              <a:spcBef>
                <a:spcPts val="0"/>
              </a:spcBef>
              <a:spcAft>
                <a:spcPts val="192"/>
              </a:spcAft>
            </a:pPr>
            <a:r>
              <a:rPr sz="1150" lang="zh-TW" dirty="0">
                <a:solidFill>
                  <a:srgbClr val="000000"/>
                </a:solidFill>
                <a:latin typeface="Arial Unicode MS"/>
                <a:ea typeface="Arial Unicode MS"/>
                <a:cs typeface="Arial Unicode MS"/>
              </a:rPr>
              <a:t>每一組講一件，我在白板上分三欄記下來：外觀、行為、物理。
</a:t>
            </a:r>
          </a:p>
          <a:p>
            <a:pPr algn="l" marL="0" indent="0">
              <a:spcBef>
                <a:spcPts val="0"/>
              </a:spcBef>
              <a:spcAft>
                <a:spcPts val="192"/>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大部分的人會猜行為，而且會猜對。
</a:t>
            </a:r>
          </a:p>
          <a:p>
            <a:pPr algn="l" marL="0" indent="0">
              <a:spcBef>
                <a:spcPts val="0"/>
              </a:spcBef>
              <a:spcAft>
                <a:spcPts val="192"/>
              </a:spcAft>
            </a:pPr>
            <a:r>
              <a:rPr sz="1150" lang="zh-TW" dirty="0">
                <a:solidFill>
                  <a:srgbClr val="000000"/>
                </a:solidFill>
                <a:latin typeface="Arial Unicode MS"/>
                <a:ea typeface="Arial Unicode MS"/>
                <a:cs typeface="Arial Unicode MS"/>
              </a:rPr>
              <a:t>開始。
</a:t>
            </a:r>
          </a:p>
          <a:p>
            <a:pPr algn="l" marL="0" indent="0">
              <a:spcBef>
                <a:spcPts val="0"/>
              </a:spcBef>
              <a:spcAft>
                <a:spcPts val="192"/>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marL="0" indent="0">
              <a:spcBef>
                <a:spcPts val="0"/>
              </a:spcBef>
              <a:spcAft>
                <a:spcPts val="192"/>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marL="0" indent="0">
              <a:spcBef>
                <a:spcPts val="0"/>
              </a:spcBef>
              <a:spcAft>
                <a:spcPts val="192"/>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marL="0" indent="0">
              <a:spcBef>
                <a:spcPts val="0"/>
              </a:spcBef>
              <a:spcAft>
                <a:spcPts val="192"/>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marL="0" indent="0">
              <a:spcBef>
                <a:spcPts val="0"/>
              </a:spcBef>
              <a:spcAft>
                <a:spcPts val="192"/>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30</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marL="0" indent="0">
              <a:spcBef>
                <a:spcPts val="0"/>
              </a:spcBef>
              <a:spcAft>
                <a:spcPts val="2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31</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第一節到這裡。三句話帶走。
</a:t>
            </a:r>
          </a:p>
          <a:p>
            <a:pPr algn="l" marL="0" indent="0">
              <a:spcBef>
                <a:spcPts val="0"/>
              </a:spcBef>
              <a:spcAft>
                <a:spcPts val="2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marL="0" indent="0">
              <a:spcBef>
                <a:spcPts val="0"/>
              </a:spcBef>
              <a:spcAft>
                <a:spcPts val="2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marL="0" indent="0">
              <a:spcBef>
                <a:spcPts val="0"/>
              </a:spcBef>
              <a:spcAft>
                <a:spcPts val="2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youtube.com/watch?v=gPaFgNEF82Q" TargetMode="External"/><Relationship Id="rId2"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www.youtube.com/watch?v=jwSbzNHGflM" TargetMode="External"/><Relationship Id="rId2"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Bốn tuần: từ ngữ → nguyên lý → con số → lên xe</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四週：名詞 → 原理 → 數字 → 上車</a:t>
            </a:r>
            <a:endParaRPr lang="en-US" sz="1720" dirty="0"/>
          </a:p>
        </p:txBody>
      </p:sp>
      <p:sp>
        <p:nvSpPr>
          <p:cNvPr id="3" name="Shape 1"/>
          <p:cNvSpPr/>
          <p:nvPr/>
        </p:nvSpPr>
        <p:spPr>
          <a:xfrm>
            <a:off x="1393031"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921669" y="1028700"/>
            <a:ext cx="371475" cy="371475"/>
          </a:xfrm>
          <a:prstGeom prst="ellipse">
            <a:avLst/>
          </a:prstGeom>
          <a:solidFill>
            <a:srgbClr val="0B1F3A"/>
          </a:solidFill>
          <a:ln/>
        </p:spPr>
      </p:sp>
      <p:sp>
        <p:nvSpPr>
          <p:cNvPr id="5" name="Text 3"/>
          <p:cNvSpPr txBox="1"/>
          <p:nvPr/>
        </p:nvSpPr>
        <p:spPr>
          <a:xfrm>
            <a:off x="1921669"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1 · Từ ngữ</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第一週・名詞</a:t>
            </a:r>
            <a:endParaRPr lang="en-US" sz="1090" dirty="0"/>
          </a:p>
        </p:txBody>
      </p:sp>
      <p:sp>
        <p:nvSpPr>
          <p:cNvPr id="7" name="Text 5"/>
          <p:cNvSpPr txBox="1"/>
          <p:nvPr/>
        </p:nvSpPr>
        <p:spPr>
          <a:xfrm>
            <a:off x="1493044"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Sáu cấp độ SAE, L0–L5</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ODD xuất hiện lần đầu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SAE 六個等級 L0–L5</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ODD 第一次出現</a:t>
            </a:r>
            <a:endParaRPr lang="en-US" sz="820" dirty="0"/>
          </a:p>
        </p:txBody>
      </p:sp>
      <p:sp>
        <p:nvSpPr>
          <p:cNvPr id="8" name="Text 6"/>
          <p:cNvSpPr txBox="1"/>
          <p:nvPr/>
        </p:nvSpPr>
        <p:spPr>
          <a:xfrm>
            <a:off x="2821781"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036094"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64731" y="1028700"/>
            <a:ext cx="371475" cy="371475"/>
          </a:xfrm>
          <a:prstGeom prst="ellipse">
            <a:avLst/>
          </a:prstGeom>
          <a:solidFill>
            <a:srgbClr val="00A896"/>
          </a:solidFill>
          <a:ln/>
        </p:spPr>
      </p:sp>
      <p:sp>
        <p:nvSpPr>
          <p:cNvPr id="11" name="Text 9"/>
          <p:cNvSpPr txBox="1"/>
          <p:nvPr/>
        </p:nvSpPr>
        <p:spPr>
          <a:xfrm>
            <a:off x="3564731"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136106"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2 · Nguyên lý</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第二週・原理</a:t>
            </a:r>
            <a:endParaRPr lang="en-US" sz="1090" dirty="0"/>
          </a:p>
        </p:txBody>
      </p:sp>
      <p:sp>
        <p:nvSpPr>
          <p:cNvPr id="13" name="Text 11"/>
          <p:cNvSpPr txBox="1"/>
          <p:nvPr/>
        </p:nvSpPr>
        <p:spPr>
          <a:xfrm>
            <a:off x="3136106"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Camera, LiDAR, radar nhìn thế nào</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Tự tay điền ODD một lần</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相機、光達、雷達怎麼看</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自己動手填一次 ODD</a:t>
            </a:r>
            <a:endParaRPr lang="en-US" sz="820" dirty="0"/>
          </a:p>
        </p:txBody>
      </p:sp>
      <p:sp>
        <p:nvSpPr>
          <p:cNvPr id="14" name="Text 12"/>
          <p:cNvSpPr txBox="1"/>
          <p:nvPr/>
        </p:nvSpPr>
        <p:spPr>
          <a:xfrm>
            <a:off x="4464844"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4679156"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5207794" y="1028700"/>
            <a:ext cx="371475" cy="371475"/>
          </a:xfrm>
          <a:prstGeom prst="ellipse">
            <a:avLst/>
          </a:prstGeom>
          <a:solidFill>
            <a:srgbClr val="0B1F3A"/>
          </a:solidFill>
          <a:ln/>
        </p:spPr>
      </p:sp>
      <p:sp>
        <p:nvSpPr>
          <p:cNvPr id="17" name="Text 15"/>
          <p:cNvSpPr txBox="1"/>
          <p:nvPr/>
        </p:nvSpPr>
        <p:spPr>
          <a:xfrm>
            <a:off x="5207794"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4779169"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3 · Con số</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第三週・數字</a:t>
            </a:r>
            <a:endParaRPr lang="en-US" sz="1090" dirty="0"/>
          </a:p>
        </p:txBody>
      </p:sp>
      <p:sp>
        <p:nvSpPr>
          <p:cNvPr id="19" name="Text 17"/>
          <p:cNvSpPr txBox="1"/>
          <p:nvPr/>
        </p:nvSpPr>
        <p:spPr>
          <a:xfrm>
            <a:off x="4779169"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Sai số theo bình phương</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Thời tiết hỏng thứ khác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Viết ngược thành ODD</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誤差按平方惡化</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天候壞掉的不一樣</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再寫回 ODD</a:t>
            </a:r>
            <a:endParaRPr lang="en-US" sz="820" dirty="0"/>
          </a:p>
        </p:txBody>
      </p:sp>
      <p:sp>
        <p:nvSpPr>
          <p:cNvPr id="20" name="Text 18"/>
          <p:cNvSpPr txBox="1"/>
          <p:nvPr/>
        </p:nvSpPr>
        <p:spPr>
          <a:xfrm>
            <a:off x="6107906"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21" name="Shape 19"/>
          <p:cNvSpPr/>
          <p:nvPr/>
        </p:nvSpPr>
        <p:spPr>
          <a:xfrm>
            <a:off x="6322219"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2" name="Shape 20"/>
          <p:cNvSpPr/>
          <p:nvPr/>
        </p:nvSpPr>
        <p:spPr>
          <a:xfrm>
            <a:off x="6850856" y="1028700"/>
            <a:ext cx="371475" cy="371475"/>
          </a:xfrm>
          <a:prstGeom prst="ellipse">
            <a:avLst/>
          </a:prstGeom>
          <a:solidFill>
            <a:srgbClr val="00A896"/>
          </a:solidFill>
          <a:ln/>
        </p:spPr>
      </p:sp>
      <p:sp>
        <p:nvSpPr>
          <p:cNvPr id="23" name="Text 21"/>
          <p:cNvSpPr txBox="1"/>
          <p:nvPr/>
        </p:nvSpPr>
        <p:spPr>
          <a:xfrm>
            <a:off x="6850856"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4</a:t>
            </a:r>
            <a:endParaRPr lang="en-US" sz="1170" dirty="0"/>
          </a:p>
        </p:txBody>
      </p:sp>
      <p:sp>
        <p:nvSpPr>
          <p:cNvPr id="24" name="Text 22"/>
          <p:cNvSpPr txBox="1"/>
          <p:nvPr/>
        </p:nvSpPr>
        <p:spPr>
          <a:xfrm>
            <a:off x="6422231"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4 · Lên xe</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第四週・上車（今天）</a:t>
            </a:r>
            <a:endParaRPr lang="en-US" sz="1090" dirty="0"/>
          </a:p>
        </p:txBody>
      </p:sp>
      <p:sp>
        <p:nvSpPr>
          <p:cNvPr id="25" name="Text 23"/>
          <p:cNvSpPr txBox="1"/>
          <p:nvPr/>
        </p:nvSpPr>
        <p:spPr>
          <a:xfrm>
            <a:off x="6422231"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Lắp cảm biến lên xe chạy được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Đo bằng kịch bản</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Quét ra thông số tối thiểu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把感測器裝上會跑的車</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用場景去測</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掃出最低規格</a:t>
            </a:r>
            <a:endParaRPr lang="en-US" sz="820" dirty="0"/>
          </a:p>
        </p:txBody>
      </p:sp>
      <p:sp>
        <p:nvSpPr>
          <p:cNvPr id="26" name="Text 24"/>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Hôm nay là ô thứ tư: thông số không phải học thuộc, mà là quét ra từ kịch bản.</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今天是第四格：規格不是背來的，是用場景掃出來的。</a:t>
            </a:r>
            <a:endParaRPr lang="en-US" sz="94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9" name="Text 25"/>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 / 32</a:t>
            </a:r>
            <a:endParaRPr lang="en-US" sz="700" dirty="0"/>
          </a:p>
        </p:txBody>
      </p:sp>
      <p:sp>
        <p:nvSpPr>
          <p:cNvPr id="30" name="Text 26"/>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3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32</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5 / 32</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6 / 32</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32</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9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32</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11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32</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32</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14 / 32</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15 / 32</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16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17 / 32</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18 / 32</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19 / 32</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20 / 32</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32</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有時間才播：外觀落差怎麼補</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Ngành làm thế nào: để chính mô phỏng sinh ra dữ liệu huấn luyện</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業界怎麼補外觀落差：讓模擬器自己生出訓練資料</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Shape 3"/>
          <p:cNvSpPr/>
          <p:nvPr/>
        </p:nvSpPr>
        <p:spPr>
          <a:xfrm>
            <a:off x="2564639" y="1752249"/>
            <a:ext cx="1169632" cy="506357"/>
          </a:xfrm>
          <a:prstGeom prst="roundRect">
            <a:avLst>
              <a:gd name="adj" fmla="val 7256"/>
            </a:avLst>
          </a:prstGeom>
          <a:solidFill>
            <a:srgbClr val="C8D3DE"/>
          </a:solidFill>
          <a:ln w="15240">
            <a:solidFill>
              <a:srgbClr val="F4F7FA"/>
            </a:solidFill>
            <a:prstDash val="solid"/>
          </a:ln>
        </p:spPr>
      </p:sp>
      <p:sp>
        <p:nvSpPr>
          <p:cNvPr id="6" name="Shape 4"/>
          <p:cNvSpPr/>
          <p:nvPr/>
        </p:nvSpPr>
        <p:spPr>
          <a:xfrm>
            <a:off x="2369700" y="1648000"/>
            <a:ext cx="1169632" cy="506357"/>
          </a:xfrm>
          <a:prstGeom prst="roundRect">
            <a:avLst>
              <a:gd name="adj" fmla="val 7256"/>
            </a:avLst>
          </a:prstGeom>
          <a:solidFill>
            <a:srgbClr val="C8D3DE"/>
          </a:solidFill>
          <a:ln w="15240">
            <a:solidFill>
              <a:srgbClr val="F4F7FA"/>
            </a:solidFill>
            <a:prstDash val="solid"/>
          </a:ln>
        </p:spPr>
      </p:sp>
      <p:sp>
        <p:nvSpPr>
          <p:cNvPr id="7" name="Shape 5"/>
          <p:cNvSpPr/>
          <p:nvPr/>
        </p:nvSpPr>
        <p:spPr>
          <a:xfrm>
            <a:off x="2174762" y="1543749"/>
            <a:ext cx="1169632" cy="506357"/>
          </a:xfrm>
          <a:prstGeom prst="roundRect">
            <a:avLst>
              <a:gd name="adj" fmla="val 7256"/>
            </a:avLst>
          </a:prstGeom>
          <a:solidFill>
            <a:srgbClr val="C8D3DE"/>
          </a:solidFill>
          <a:ln w="15240">
            <a:solidFill>
              <a:srgbClr val="F4F7FA"/>
            </a:solidFill>
            <a:prstDash val="solid"/>
          </a:ln>
        </p:spPr>
      </p:sp>
      <p:sp>
        <p:nvSpPr>
          <p:cNvPr id="8" name="Shape 6"/>
          <p:cNvSpPr/>
          <p:nvPr/>
        </p:nvSpPr>
        <p:spPr>
          <a:xfrm>
            <a:off x="1979823" y="1439499"/>
            <a:ext cx="1169632" cy="506357"/>
          </a:xfrm>
          <a:prstGeom prst="roundRect">
            <a:avLst>
              <a:gd name="adj" fmla="val 7256"/>
            </a:avLst>
          </a:prstGeom>
          <a:solidFill>
            <a:srgbClr val="1F4E79"/>
          </a:solidFill>
          <a:ln w="15240">
            <a:solidFill>
              <a:srgbClr val="F4F7FA"/>
            </a:solidFill>
            <a:prstDash val="solid"/>
          </a:ln>
        </p:spPr>
      </p:sp>
      <p:sp>
        <p:nvSpPr>
          <p:cNvPr id="9" name="Text 7"/>
          <p:cNvSpPr txBox="1"/>
          <p:nvPr/>
        </p:nvSpPr>
        <p:spPr>
          <a:xfrm>
            <a:off x="1478552" y="2213928"/>
            <a:ext cx="2784838" cy="268071"/>
          </a:xfrm>
          <a:prstGeom prst="rect">
            <a:avLst/>
          </a:prstGeom>
          <a:noFill/>
          <a:ln/>
        </p:spPr>
        <p:txBody>
          <a:bodyPr wrap="square" lIns="0" tIns="0" rIns="0" bIns="0" rtlCol="0" anchor="ctr"/>
          <a:lstStyle/>
          <a:p>
            <a:pPr algn="ctr" indent="0" marL="0">
              <a:buNone/>
            </a:pPr>
            <a:r>
              <a:rPr lang="en-US" sz="880" b="1" dirty="0">
                <a:solidFill>
                  <a:srgbClr val="1F4E79"/>
                </a:solidFill>
                <a:latin typeface="Arial" pitchFamily="34" charset="0"/>
                <a:ea typeface="Arial" pitchFamily="34" charset="-122"/>
                <a:cs typeface="Arial" pitchFamily="34" charset="-120"/>
              </a:rPr>
              <a:t>× 10 000</a:t>
            </a:r>
            <a:endParaRPr lang="en-US" sz="880" dirty="0"/>
          </a:p>
        </p:txBody>
      </p:sp>
      <p:sp>
        <p:nvSpPr>
          <p:cNvPr id="10" name="Text 8"/>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Một cảnh, đổi thời tiết và ánh sáng, sinh ra rất nhiều bản.</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同一個場景換天氣、換光線，一次生出很多份。</a:t>
            </a:r>
            <a:endParaRPr lang="en-US" sz="760" dirty="0"/>
          </a:p>
        </p:txBody>
      </p:sp>
      <p:sp>
        <p:nvSpPr>
          <p:cNvPr id="11" name="Shape 9"/>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2" name="Shape 10"/>
          <p:cNvSpPr/>
          <p:nvPr/>
        </p:nvSpPr>
        <p:spPr>
          <a:xfrm>
            <a:off x="4851219" y="1141248"/>
            <a:ext cx="279219" cy="279219"/>
          </a:xfrm>
          <a:prstGeom prst="ellipse">
            <a:avLst/>
          </a:prstGeom>
          <a:solidFill>
            <a:srgbClr val="D9463E"/>
          </a:solidFill>
          <a:ln/>
        </p:spPr>
      </p:sp>
      <p:sp>
        <p:nvSpPr>
          <p:cNvPr id="13" name="Text 11"/>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4" name="Text 12"/>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Omniverse Replicator For DRIVE Sim – Synthetic Data Generation</a:t>
            </a:r>
            <a:endParaRPr lang="en-US" sz="840" dirty="0"/>
          </a:p>
        </p:txBody>
      </p:sp>
      <p:sp>
        <p:nvSpPr>
          <p:cNvPr id="15" name="Text 13"/>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NVIDIA（官方）　·　1:52，整支播完</a:t>
            </a:r>
            <a:endParaRPr lang="en-US" sz="720" dirty="0"/>
          </a:p>
        </p:txBody>
      </p:sp>
      <p:sp>
        <p:nvSpPr>
          <p:cNvPr id="16" name="Text 14">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https://www.youtube.com/watch?v=gPaFgNEF82Q</a:t>
            </a:r>
            <a:endParaRPr lang="en-US" sz="680" dirty="0"/>
          </a:p>
        </p:txBody>
      </p:sp>
      <p:sp>
        <p:nvSpPr>
          <p:cNvPr id="17" name="Shape 15"/>
          <p:cNvSpPr/>
          <p:nvPr/>
        </p:nvSpPr>
        <p:spPr>
          <a:xfrm>
            <a:off x="4851219" y="1861338"/>
            <a:ext cx="29391" cy="191044"/>
          </a:xfrm>
          <a:prstGeom prst="rect">
            <a:avLst/>
          </a:prstGeom>
          <a:solidFill>
            <a:srgbClr val="00A896"/>
          </a:solidFill>
          <a:ln/>
        </p:spPr>
      </p:sp>
      <p:sp>
        <p:nvSpPr>
          <p:cNvPr id="18" name="Text 16"/>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Mô phỏng tính riêng: camera thấy gì, LiDAR thấy gì, radar thấy gì</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模擬器分別算出：相機拍到什麼、光達打回什麼、雷達量到什麼</a:t>
            </a:r>
            <a:endParaRPr lang="en-US" sz="760" dirty="0"/>
          </a:p>
        </p:txBody>
      </p:sp>
      <p:sp>
        <p:nvSpPr>
          <p:cNvPr id="19" name="Shape 17"/>
          <p:cNvSpPr/>
          <p:nvPr/>
        </p:nvSpPr>
        <p:spPr>
          <a:xfrm>
            <a:off x="4851219" y="2257222"/>
            <a:ext cx="29391" cy="191044"/>
          </a:xfrm>
          <a:prstGeom prst="rect">
            <a:avLst/>
          </a:prstGeom>
          <a:solidFill>
            <a:srgbClr val="00A896"/>
          </a:solidFill>
          <a:ln/>
        </p:spPr>
      </p:sp>
      <p:sp>
        <p:nvSpPr>
          <p:cNvPr id="20" name="Text 18"/>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Cùng một cảnh, đổi thời tiết, ánh sáng, vật liệu — sinh ra nhiều bản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同一個場景，換天氣、換光線、換材質，一次生出很多份</a:t>
            </a:r>
            <a:endParaRPr lang="en-US" sz="760" dirty="0"/>
          </a:p>
        </p:txBody>
      </p:sp>
      <p:sp>
        <p:nvSpPr>
          <p:cNvPr id="21" name="Shape 19"/>
          <p:cNvSpPr/>
          <p:nvPr/>
        </p:nvSpPr>
        <p:spPr>
          <a:xfrm>
            <a:off x="4851219" y="2653105"/>
            <a:ext cx="29391" cy="191044"/>
          </a:xfrm>
          <a:prstGeom prst="rect">
            <a:avLst/>
          </a:prstGeom>
          <a:solidFill>
            <a:srgbClr val="00A896"/>
          </a:solidFill>
          <a:ln/>
        </p:spPr>
      </p:sp>
      <p:sp>
        <p:nvSpPr>
          <p:cNvPr id="22" name="Text 20"/>
          <p:cNvSpPr txBox="1"/>
          <p:nvPr/>
        </p:nvSpPr>
        <p:spPr>
          <a:xfrm>
            <a:off x="4954089" y="262371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Và đáp án chuẩn là miễn phí — máy vốn đã biết mọi thứ nằm ở đâu</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而且標準答案是免費的——電腦本來就知道每個東西在哪</a:t>
            </a:r>
            <a:endParaRPr lang="en-US" sz="760" dirty="0"/>
          </a:p>
        </p:txBody>
      </p:sp>
      <p:sp>
        <p:nvSpPr>
          <p:cNvPr id="23" name="Shape 21"/>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4" name="Text 22"/>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Dữ liệu thật phải có người khoanh từng tấm. Dữ liệu mô phỏng thì nhãn là tính ra được.</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真實資料要人工一張一張框；模擬資料的標註是算出來的。</a:t>
            </a:r>
            <a:endParaRPr lang="en-US" sz="920" dirty="0"/>
          </a:p>
        </p:txBody>
      </p:sp>
      <p:pic>
        <p:nvPicPr>
          <p:cNvPr id="26"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27" name="Text 23"/>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23 / 32</a:t>
            </a:r>
            <a:endParaRPr lang="en-US" sz="720" dirty="0"/>
          </a:p>
        </p:txBody>
      </p:sp>
      <p:sp>
        <p:nvSpPr>
          <p:cNvPr id="28" name="Text 24"/>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有時間才播：域隨機化的經典示範</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Học xong hoàn toàn trong mô phỏng, rồi bê thẳng ra đời thật</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完全在模擬裡學會，直接搬到真實世界</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Shape 3"/>
          <p:cNvSpPr/>
          <p:nvPr/>
        </p:nvSpPr>
        <p:spPr>
          <a:xfrm>
            <a:off x="1868430" y="1496093"/>
            <a:ext cx="2005083" cy="65529"/>
          </a:xfrm>
          <a:prstGeom prst="roundRect">
            <a:avLst>
              <a:gd name="adj" fmla="val 50000"/>
            </a:avLst>
          </a:prstGeom>
          <a:solidFill>
            <a:srgbClr val="D5DEE6"/>
          </a:solidFill>
          <a:ln/>
        </p:spPr>
      </p:sp>
      <p:sp>
        <p:nvSpPr>
          <p:cNvPr id="6" name="Shape 4"/>
          <p:cNvSpPr/>
          <p:nvPr/>
        </p:nvSpPr>
        <p:spPr>
          <a:xfrm>
            <a:off x="2224768" y="1484178"/>
            <a:ext cx="89357" cy="89357"/>
          </a:xfrm>
          <a:prstGeom prst="ellipse">
            <a:avLst/>
          </a:prstGeom>
          <a:solidFill>
            <a:srgbClr val="1F4E79"/>
          </a:solidFill>
          <a:ln/>
        </p:spPr>
      </p:sp>
      <p:sp>
        <p:nvSpPr>
          <p:cNvPr id="7" name="Shape 5"/>
          <p:cNvSpPr/>
          <p:nvPr/>
        </p:nvSpPr>
        <p:spPr>
          <a:xfrm>
            <a:off x="2545581" y="1484178"/>
            <a:ext cx="89357" cy="89357"/>
          </a:xfrm>
          <a:prstGeom prst="ellipse">
            <a:avLst/>
          </a:prstGeom>
          <a:solidFill>
            <a:srgbClr val="1F4E79"/>
          </a:solidFill>
          <a:ln/>
        </p:spPr>
      </p:sp>
      <p:sp>
        <p:nvSpPr>
          <p:cNvPr id="8" name="Shape 6"/>
          <p:cNvSpPr/>
          <p:nvPr/>
        </p:nvSpPr>
        <p:spPr>
          <a:xfrm>
            <a:off x="2866394" y="1484178"/>
            <a:ext cx="89357" cy="89357"/>
          </a:xfrm>
          <a:prstGeom prst="ellipse">
            <a:avLst/>
          </a:prstGeom>
          <a:solidFill>
            <a:srgbClr val="1F4E79"/>
          </a:solidFill>
          <a:ln/>
        </p:spPr>
      </p:sp>
      <p:sp>
        <p:nvSpPr>
          <p:cNvPr id="9" name="Shape 7"/>
          <p:cNvSpPr/>
          <p:nvPr/>
        </p:nvSpPr>
        <p:spPr>
          <a:xfrm>
            <a:off x="3187208" y="1484178"/>
            <a:ext cx="89357" cy="89357"/>
          </a:xfrm>
          <a:prstGeom prst="ellipse">
            <a:avLst/>
          </a:prstGeom>
          <a:solidFill>
            <a:srgbClr val="1F4E79"/>
          </a:solidFill>
          <a:ln/>
        </p:spPr>
      </p:sp>
      <p:sp>
        <p:nvSpPr>
          <p:cNvPr id="10" name="Shape 8"/>
          <p:cNvSpPr/>
          <p:nvPr/>
        </p:nvSpPr>
        <p:spPr>
          <a:xfrm>
            <a:off x="1868430" y="1823735"/>
            <a:ext cx="2005083" cy="65529"/>
          </a:xfrm>
          <a:prstGeom prst="roundRect">
            <a:avLst>
              <a:gd name="adj" fmla="val 50000"/>
            </a:avLst>
          </a:prstGeom>
          <a:solidFill>
            <a:srgbClr val="D5DEE6"/>
          </a:solidFill>
          <a:ln/>
        </p:spPr>
      </p:sp>
      <p:sp>
        <p:nvSpPr>
          <p:cNvPr id="11" name="Shape 9"/>
          <p:cNvSpPr/>
          <p:nvPr/>
        </p:nvSpPr>
        <p:spPr>
          <a:xfrm>
            <a:off x="2224768" y="1811821"/>
            <a:ext cx="89357" cy="89357"/>
          </a:xfrm>
          <a:prstGeom prst="ellipse">
            <a:avLst/>
          </a:prstGeom>
          <a:solidFill>
            <a:srgbClr val="1F4E79"/>
          </a:solidFill>
          <a:ln/>
        </p:spPr>
      </p:sp>
      <p:sp>
        <p:nvSpPr>
          <p:cNvPr id="12" name="Shape 10"/>
          <p:cNvSpPr/>
          <p:nvPr/>
        </p:nvSpPr>
        <p:spPr>
          <a:xfrm>
            <a:off x="2545581" y="1811821"/>
            <a:ext cx="89357" cy="89357"/>
          </a:xfrm>
          <a:prstGeom prst="ellipse">
            <a:avLst/>
          </a:prstGeom>
          <a:solidFill>
            <a:srgbClr val="1F4E79"/>
          </a:solidFill>
          <a:ln/>
        </p:spPr>
      </p:sp>
      <p:sp>
        <p:nvSpPr>
          <p:cNvPr id="13" name="Shape 11"/>
          <p:cNvSpPr/>
          <p:nvPr/>
        </p:nvSpPr>
        <p:spPr>
          <a:xfrm>
            <a:off x="2866394" y="1811821"/>
            <a:ext cx="89357" cy="89357"/>
          </a:xfrm>
          <a:prstGeom prst="ellipse">
            <a:avLst/>
          </a:prstGeom>
          <a:solidFill>
            <a:srgbClr val="1F4E79"/>
          </a:solidFill>
          <a:ln/>
        </p:spPr>
      </p:sp>
      <p:sp>
        <p:nvSpPr>
          <p:cNvPr id="14" name="Shape 12"/>
          <p:cNvSpPr/>
          <p:nvPr/>
        </p:nvSpPr>
        <p:spPr>
          <a:xfrm>
            <a:off x="3187208" y="1811821"/>
            <a:ext cx="89357" cy="89357"/>
          </a:xfrm>
          <a:prstGeom prst="ellipse">
            <a:avLst/>
          </a:prstGeom>
          <a:solidFill>
            <a:srgbClr val="D9463E"/>
          </a:solidFill>
          <a:ln/>
        </p:spPr>
      </p:sp>
      <p:sp>
        <p:nvSpPr>
          <p:cNvPr id="15" name="Shape 13"/>
          <p:cNvSpPr/>
          <p:nvPr/>
        </p:nvSpPr>
        <p:spPr>
          <a:xfrm>
            <a:off x="3352191" y="1856499"/>
            <a:ext cx="360915" cy="1"/>
          </a:xfrm>
          <a:prstGeom prst="line">
            <a:avLst/>
          </a:prstGeom>
          <a:noFill/>
          <a:ln w="20320">
            <a:solidFill>
              <a:srgbClr val="D9463E"/>
            </a:solidFill>
            <a:prstDash val="solid"/>
            <a:tailEnd type="triangle"/>
          </a:ln>
        </p:spPr>
      </p:sp>
      <p:sp>
        <p:nvSpPr>
          <p:cNvPr id="16" name="Shape 14"/>
          <p:cNvSpPr/>
          <p:nvPr/>
        </p:nvSpPr>
        <p:spPr>
          <a:xfrm>
            <a:off x="1868430" y="2151378"/>
            <a:ext cx="2005083" cy="65529"/>
          </a:xfrm>
          <a:prstGeom prst="roundRect">
            <a:avLst>
              <a:gd name="adj" fmla="val 50000"/>
            </a:avLst>
          </a:prstGeom>
          <a:solidFill>
            <a:srgbClr val="D5DEE6"/>
          </a:solidFill>
          <a:ln/>
        </p:spPr>
      </p:sp>
      <p:sp>
        <p:nvSpPr>
          <p:cNvPr id="17" name="Shape 15"/>
          <p:cNvSpPr/>
          <p:nvPr/>
        </p:nvSpPr>
        <p:spPr>
          <a:xfrm>
            <a:off x="2224768" y="2139463"/>
            <a:ext cx="89357" cy="89357"/>
          </a:xfrm>
          <a:prstGeom prst="ellipse">
            <a:avLst/>
          </a:prstGeom>
          <a:solidFill>
            <a:srgbClr val="1F4E79"/>
          </a:solidFill>
          <a:ln/>
        </p:spPr>
      </p:sp>
      <p:sp>
        <p:nvSpPr>
          <p:cNvPr id="18" name="Shape 16"/>
          <p:cNvSpPr/>
          <p:nvPr/>
        </p:nvSpPr>
        <p:spPr>
          <a:xfrm>
            <a:off x="2545581" y="2139463"/>
            <a:ext cx="89357" cy="89357"/>
          </a:xfrm>
          <a:prstGeom prst="ellipse">
            <a:avLst/>
          </a:prstGeom>
          <a:solidFill>
            <a:srgbClr val="1F4E79"/>
          </a:solidFill>
          <a:ln/>
        </p:spPr>
      </p:sp>
      <p:sp>
        <p:nvSpPr>
          <p:cNvPr id="19" name="Shape 17"/>
          <p:cNvSpPr/>
          <p:nvPr/>
        </p:nvSpPr>
        <p:spPr>
          <a:xfrm>
            <a:off x="2866394" y="2139463"/>
            <a:ext cx="89357" cy="89357"/>
          </a:xfrm>
          <a:prstGeom prst="ellipse">
            <a:avLst/>
          </a:prstGeom>
          <a:solidFill>
            <a:srgbClr val="1F4E79"/>
          </a:solidFill>
          <a:ln/>
        </p:spPr>
      </p:sp>
      <p:sp>
        <p:nvSpPr>
          <p:cNvPr id="20" name="Shape 18"/>
          <p:cNvSpPr/>
          <p:nvPr/>
        </p:nvSpPr>
        <p:spPr>
          <a:xfrm>
            <a:off x="3187208" y="2139463"/>
            <a:ext cx="89357" cy="89357"/>
          </a:xfrm>
          <a:prstGeom prst="ellipse">
            <a:avLst/>
          </a:prstGeom>
          <a:solidFill>
            <a:srgbClr val="1F4E79"/>
          </a:solidFill>
          <a:ln/>
        </p:spPr>
      </p:sp>
      <p:sp>
        <p:nvSpPr>
          <p:cNvPr id="21" name="Text 19"/>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Trọng lượng, ma sát, tốc độ ngón tay — cứ đổi liên tục.</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重量、摩擦力、手指反應快慢，一直亂調。</a:t>
            </a:r>
            <a:endParaRPr lang="en-US" sz="760" dirty="0"/>
          </a:p>
        </p:txBody>
      </p:sp>
      <p:sp>
        <p:nvSpPr>
          <p:cNvPr id="22" name="Shape 20"/>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23" name="Shape 21"/>
          <p:cNvSpPr/>
          <p:nvPr/>
        </p:nvSpPr>
        <p:spPr>
          <a:xfrm>
            <a:off x="4851219" y="1141248"/>
            <a:ext cx="279219" cy="279219"/>
          </a:xfrm>
          <a:prstGeom prst="ellipse">
            <a:avLst/>
          </a:prstGeom>
          <a:solidFill>
            <a:srgbClr val="D9463E"/>
          </a:solidFill>
          <a:ln/>
        </p:spPr>
      </p:sp>
      <p:sp>
        <p:nvSpPr>
          <p:cNvPr id="24" name="Text 22"/>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25" name="Text 23"/>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Learning Dexterity</a:t>
            </a:r>
            <a:endParaRPr lang="en-US" sz="840" dirty="0"/>
          </a:p>
        </p:txBody>
      </p:sp>
      <p:sp>
        <p:nvSpPr>
          <p:cNvPr id="26" name="Text 24"/>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OpenAI（官方）　·　3:29，播 2 分鐘就夠</a:t>
            </a:r>
            <a:endParaRPr lang="en-US" sz="720" dirty="0"/>
          </a:p>
        </p:txBody>
      </p:sp>
      <p:sp>
        <p:nvSpPr>
          <p:cNvPr id="27" name="Text 25">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https://www.youtube.com/watch?v=jwSbzNHGflM</a:t>
            </a:r>
            <a:endParaRPr lang="en-US" sz="680" dirty="0"/>
          </a:p>
        </p:txBody>
      </p:sp>
      <p:sp>
        <p:nvSpPr>
          <p:cNvPr id="28" name="Shape 26"/>
          <p:cNvSpPr/>
          <p:nvPr/>
        </p:nvSpPr>
        <p:spPr>
          <a:xfrm>
            <a:off x="4851219" y="1861338"/>
            <a:ext cx="29391" cy="191044"/>
          </a:xfrm>
          <a:prstGeom prst="rect">
            <a:avLst/>
          </a:prstGeom>
          <a:solidFill>
            <a:srgbClr val="00A896"/>
          </a:solidFill>
          <a:ln/>
        </p:spPr>
      </p:sp>
      <p:sp>
        <p:nvSpPr>
          <p:cNvPr id="29" name="Text 27"/>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Bàn tay này chưa từng chạm khối thật — học toàn bộ trong mô phỏng</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這隻機械手從頭到尾沒碰過真的方塊——全部在模擬裡學</a:t>
            </a:r>
            <a:endParaRPr lang="en-US" sz="760" dirty="0"/>
          </a:p>
        </p:txBody>
      </p:sp>
      <p:sp>
        <p:nvSpPr>
          <p:cNvPr id="30" name="Shape 28"/>
          <p:cNvSpPr/>
          <p:nvPr/>
        </p:nvSpPr>
        <p:spPr>
          <a:xfrm>
            <a:off x="4851219" y="2257222"/>
            <a:ext cx="29391" cy="191044"/>
          </a:xfrm>
          <a:prstGeom prst="rect">
            <a:avLst/>
          </a:prstGeom>
          <a:solidFill>
            <a:srgbClr val="00A896"/>
          </a:solidFill>
          <a:ln/>
        </p:spPr>
      </p:sp>
      <p:sp>
        <p:nvSpPr>
          <p:cNvPr id="31" name="Text 29"/>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mô phỏng: trọng lượng, ma sát, độ nhanh của ngón tay đều bị đổi liên tục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模擬裡的方塊重量、摩擦力、手指反應快慢，一直亂調</a:t>
            </a:r>
            <a:endParaRPr lang="en-US" sz="760" dirty="0"/>
          </a:p>
        </p:txBody>
      </p:sp>
      <p:sp>
        <p:nvSpPr>
          <p:cNvPr id="32" name="Shape 30"/>
          <p:cNvSpPr/>
          <p:nvPr/>
        </p:nvSpPr>
        <p:spPr>
          <a:xfrm>
            <a:off x="4851219" y="2653105"/>
            <a:ext cx="29391" cy="191044"/>
          </a:xfrm>
          <a:prstGeom prst="rect">
            <a:avLst/>
          </a:prstGeom>
          <a:solidFill>
            <a:srgbClr val="00A896"/>
          </a:solidFill>
          <a:ln/>
        </p:spPr>
      </p:sp>
      <p:sp>
        <p:nvSpPr>
          <p:cNvPr id="33" name="Text 31"/>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Học xong bê thẳng sang tay thật, nó vẫn xoay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學完直接搬到真手上，它還是轉得動</a:t>
            </a:r>
            <a:endParaRPr lang="en-US" sz="760" dirty="0"/>
          </a:p>
        </p:txBody>
      </p:sp>
      <p:sp>
        <p:nvSpPr>
          <p:cNvPr id="34" name="Shape 32"/>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35" name="Text 33"/>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Không phải xe, nhưng cách làm y hệt: làm loạn mô phỏng, để đời thật chỉ là một trường hợp.</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不是車，但方法一模一樣：把模擬弄亂，讓現實只是其中一種情況。</a:t>
            </a:r>
            <a:endParaRPr lang="en-US" sz="920" dirty="0"/>
          </a:p>
        </p:txBody>
      </p:sp>
      <p:pic>
        <p:nvPicPr>
          <p:cNvPr id="37"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8" name="Text 3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24 / 32</a:t>
            </a:r>
            <a:endParaRPr lang="en-US" sz="720" dirty="0"/>
          </a:p>
        </p:txBody>
      </p:sp>
      <p:sp>
        <p:nvSpPr>
          <p:cNvPr id="39" name="Text 3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32</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32</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27 / 32</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28 / 32</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29 / 32</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30 / 32</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31 / 32</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32 / 32</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2026-09-29T15:09:05Z</dcterms:created>
  <dcterms:modified xsi:type="dcterms:W3CDTF">2026-09-29T15:09:05Z</dcterms:modified>
</cp:coreProperties>
</file>