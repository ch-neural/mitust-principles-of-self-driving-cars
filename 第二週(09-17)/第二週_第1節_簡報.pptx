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3"/>
    <p:sldId id="266" r:id="rId12"/>
    <p:sldId id="264" r:id="rId10"/>
    <p:sldId id="265" r:id="rId11"/>
    <p:sldId id="268" r:id="rId14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1973"/>
  </p:normalViewPr>
  <p:slideViewPr>
    <p:cSldViewPr snapToGrid="0">
      <p:cViewPr varScale="1">
        <p:scale>
          <a:sx n="90" d="100"/>
          <a:sy n="90" d="100"/>
        </p:scale>
        <p:origin x="19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6B134F-17FA-D24C-AB69-D01B1FF33219}" type="datetimeFigureOut">
              <a:rPr kumimoji="1" lang="zh-TW" altLang="en-US" smtClean="0"/>
              <a:t>2026/9/16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69C1D5-3228-9C4C-BEE7-0FF4D2BEF84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42958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1200"/>
              <a:t>各位同學早安，我們開始今天的課。上週我們先認識了自動駕駛的分級，還有 ODD，也就是功能設計在哪些條件下使用。今天第一節，先把這兩個觀念複習一下，讓大家後面看案例時，比較知道要注意什麼。</a:t>
            </a:r>
            <a:endParaRPr sz="1200"/>
          </a:p>
          <a:p>
            <a:r>
              <a:rPr sz="1200"/>
              <a:t>分級，也就是 L 零到 L 五，先抓住一個問題：車子在開的時候，哪些工作由系統做，哪些還要由人做？不能只看到車子會自己轉彎，就認為人可以完全不用管。我們還要看，駕駛需不需要持續注意路況，以及什麼情況下要介入。</a:t>
            </a:r>
            <a:endParaRPr sz="1200"/>
          </a:p>
          <a:p>
            <a:r>
              <a:rPr sz="1200"/>
              <a:t>ODD 則是另一個問題：這項功能，設計在哪些環境和條件下使用？例如限定哪條路線、白天還是夜間，以及對天候和路面有什麼要求。把人的角色和使用條件都說清楚，才比較能了解這項功能實際適合怎麼用。</a:t>
            </a:r>
            <a:endParaRPr sz="1200"/>
          </a:p>
          <a:p>
            <a:r>
              <a:rPr sz="1200"/>
              <a:t>等一下會用幾個生活情境帶大家複習，也會請同學上來抽題，判斷等級，再說一句理由。接著我們一起讀條件卡，看看業者案例怎麼描述使用範圍。</a:t>
            </a:r>
            <a:endParaRPr sz="1200"/>
          </a:p>
          <a:p>
            <a:r>
              <a:rPr sz="1200"/>
              <a:t>第二節會學感測器，第三節再看影片、分組填學習單。所以第一節先把觀念整理好，後面就能一步一步用起來。我們先看一下今天三節課怎麼安排。</a:t>
            </a:r>
            <a:endParaRPr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1200"/>
              <a:t>今天三節課會接在一起。第一節複習人和系統的分工，並練習看懂簡單的 ODD 條件。各位先能分清「誰負責」和「在哪些條件下使用」，就抓到這一節的重點。</a:t>
            </a:r>
            <a:endParaRPr sz="1200"/>
          </a:p>
          <a:p>
            <a:r>
              <a:rPr sz="1200"/>
              <a:t>第二節認識相機、光達和雷達。我會先講原理，再看動畫，讓大家知道影像、距離和移動資訊是怎麼來的，也看看不同技術為什麼適合不同用途。</a:t>
            </a:r>
            <a:endParaRPr sz="1200"/>
          </a:p>
          <a:p>
            <a:r>
              <a:rPr sz="1200"/>
              <a:t>第三節由我講解影片與道路照片，把剛學的感測器原理用進來，再示範學習單怎麼填。六組各拿一張不同地點的 A4，依現成的條件卡整理答案、判斷事件。大家會從看懂資料，進一步練習自己整理與說明理由。</a:t>
            </a:r>
            <a:endParaRPr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1200"/>
              <a:t>請大家想像自己坐在一台車裡。方向盤自己轉動，前車慢下來，這台車也跟著煞車。只看到這兩個動作，能不能直接說它是 L 四？目前還不能，因為我們只看見車子有控制方向和速度，還沒有看見完整的分工。</a:t>
            </a:r>
            <a:endParaRPr sz="1200"/>
          </a:p>
          <a:p>
            <a:r>
              <a:rPr sz="1200"/>
              <a:t>先補上一個條件：「駕駛必須一直注意道路，隨時準備介入。」這時候，即使車子同時持續控制方向和速度，人仍然要監督，就符合 L 二的主要分工。假如我們改成：「在指定條件內，系統負責完整駕駛，必要應變也由系統完成。」判斷就不同了。</a:t>
            </a:r>
            <a:endParaRPr sz="1200"/>
          </a:p>
          <a:p>
            <a:r>
              <a:rPr sz="1200"/>
              <a:t>所以，這一題不是要猜畫面看起來多先進，而是要找到缺少的資訊。誰負責持續注意路況？遇到系統無法繼續處理的情況，預期由誰完成必要的應變？這些才是判斷的重要依據。</a:t>
            </a:r>
            <a:endParaRPr sz="1200"/>
          </a:p>
          <a:p>
            <a:r>
              <a:rPr sz="1200"/>
              <a:t>還有一個容易忽略的地方：我們分的是「某個功能啟用時」的能力與分工，不是替整個品牌貼一張永遠不變的標籤。同一台車在不同模式下，可能由人駕駛，也可能開啟不同等級的功能。接下來先把開車這件事拆開來看。</a:t>
            </a:r>
            <a:endParaRPr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1200"/>
              <a:t>開車並不只有轉方向盤和踩踏板。我們用一個路口來想：前面有機車靠近，路邊有人準備過馬路，駕駛得先看見他們，再判斷要不要減速。觀察、判斷和回應，也是開車時正在做的工作。</a:t>
            </a:r>
            <a:endParaRPr sz="1200"/>
          </a:p>
          <a:p>
            <a:r>
              <a:rPr sz="1200"/>
              <a:t>第一列是操作車輛，包括轉向、加速和煞車。第二列是觀察與回應，例如辨認紅綠燈、發現行人，以及決定接下來的動作。這些即時發生、用來完成行駛的工作，屬於動態駕駛任務。至於今天要去學校還是去超市，是行程目的的選擇，和這裡討論的即時駕駛工作不同。</a:t>
            </a:r>
            <a:endParaRPr sz="1200"/>
          </a:p>
          <a:p>
            <a:r>
              <a:rPr sz="1200"/>
              <a:t>第三列談另一個問題：如果原本的自動駕駛不能再繼續，怎麼辦？原因可能是設備故障，也可能是前方超出設計可用的道路或天候條件。課堂上把這種必要的後續處理稱為「失效或超出條件時的應變」。它不只處理硬體壞掉，也處理功能快要不能適用的情況。</a:t>
            </a:r>
            <a:endParaRPr sz="1200"/>
          </a:p>
          <a:p>
            <a:r>
              <a:rPr sz="1200"/>
              <a:t>所謂「最小風險狀態」，可以先理解成：依照當時環境，讓車輛進入風險盡量降低的狀態。例如在適當位置停妥。有些道路沒有可用路肩，就不能把「一定立刻靠邊」當成所有情境的答案。最小風險也不代表完全沒有任何風險。</a:t>
            </a:r>
            <a:endParaRPr sz="1200"/>
          </a:p>
          <a:p>
            <a:r>
              <a:rPr sz="1200"/>
              <a:t>等一下看各等級時，請把這幾項工作分別對照。這是技術上的任務分工，並不是一張直接判定事故法律責任的表；事故責任還需要看具體事件與適用規定。</a:t>
            </a:r>
            <a:endParaRPr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1200"/>
              <a:t>先看 L 零。它的意思是沒有持續替人執行駕駛任務的自動化功能，不是說車子一定完全沒有電子設備。車道偏離時發出警告，或遇到迫切碰撞危險時短暫緊急煞車，都可以出現在 L 零的車上。一次短暫介入，和持續幫你開車，是不同的事。</a:t>
            </a:r>
            <a:endParaRPr sz="1200"/>
          </a:p>
          <a:p>
            <a:r>
              <a:rPr sz="1200"/>
              <a:t>再看 L 一。系統會持續幫忙一種控制：方向，或前後速度。以 ACC 為例，這幾個英文字母代表主動車距控制巡航。前車變慢，系統可以跟著調整速度與車距，但方向仍然要由人控制。另一種例子是持續協助車道置中的功能，速度控制仍留給駕駛。</a:t>
            </a:r>
            <a:endParaRPr sz="1200"/>
          </a:p>
          <a:p>
            <a:r>
              <a:rPr sz="1200"/>
              <a:t>L 二可以同時持續控制方向和速度。例如車子維持在車道內，也跟著前車調整快慢。不過請看最右邊，人仍然必須持續注意路況與系統表現。如果前方出現系統沒有妥善處理的情況，駕駛要主動介入，不是一直等它發出提醒才行動。</a:t>
            </a:r>
            <a:endParaRPr sz="1200"/>
          </a:p>
          <a:p>
            <a:r>
              <a:rPr sz="1200"/>
              <a:t>因此，L 零到 L 二的共同點，是人仍然負責駕駛與注意道路。L 一和 L 二啟用時，還要監督輔助功能的表現。差別在系統持續協助了多少控制工作。「持續監督」就是注意力要在道路和系統上，知道車子目前正在做什麼。</a:t>
            </a:r>
            <a:endParaRPr sz="1200"/>
          </a:p>
          <a:p>
            <a:r>
              <a:rPr sz="1200"/>
              <a:t>也請注意，這裡的等級不是安全成績。不能說 L 二一定比任何 L 一都安全，更不能拿數字直接排所有車款的名次。分級先說明分工，安全表現還要另外看條件和測試。</a:t>
            </a:r>
            <a:endParaRPr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1200"/>
              <a:t>到了 L 三、L 四和 L 五，功能正常啟用時，由系統完成完整的動態駕駛任務。也就是不只控制方向和速度，還要處理道路觀察與回應。接下來的差別，主要在必要應變由誰完成，以及設計範圍有多廣。</a:t>
            </a:r>
            <a:endParaRPr sz="1200"/>
          </a:p>
          <a:p>
            <a:r>
              <a:rPr sz="1200"/>
              <a:t>L 三仍然需要一位「可接手的使用者」。可以把這個角色理解成：系統在條件內開車時，你不用像 L 二一樣持續看路監督；但是你必須保持能回應的狀態，收到接管要求時，依要求接回駕駛工作。遇到明顯而且與駕駛有關的故障，也不能因為沒有提示就完全不處理。</a:t>
            </a:r>
            <a:endParaRPr sz="1200"/>
          </a:p>
          <a:p>
            <a:r>
              <a:rPr sz="1200"/>
              <a:t>L 四的設計則不把「乘客一定會接手」當作完成應變的前提。只要談的是這個 L 四功能，系統就要處理它的駕駛任務和必要應變。即使快要離開原本可用的範圍，也要依設計處理，不能突然把責任丟給沒有準備開車的乘客。</a:t>
            </a:r>
            <a:endParaRPr sz="1200"/>
          </a:p>
          <a:p>
            <a:r>
              <a:rPr sz="1200"/>
              <a:t>L 五把運作範圍再擴大，涵蓋人類駕駛通常能合理處理的道路與環境條件。這不包括物理上根本不能通過的情況，例如橋已經斷了，或道路完全被洪水沖毀。</a:t>
            </a:r>
            <a:endParaRPr sz="1200"/>
          </a:p>
          <a:p>
            <a:r>
              <a:rPr sz="1200"/>
              <a:t>所以，一台只在小園區運作的接駁車，只要具備 L 四的完整分工，範圍小仍然可以是 L 四。它不會因為速度慢就變成 L 二；同樣也不會因為沒有方向盤，就自動成為 L 五。</a:t>
            </a:r>
            <a:endParaRPr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1200"/>
              <a:t>請看兩張照片。左邊的駕駛眼睛看著道路，雙手握住方向盤。這是一種常見的 L 二使用示意。真正要記住的，不只是手放在哪裡，而是駕駛的注意力仍然要放在道路與系統上。</a:t>
            </a:r>
            <a:endParaRPr sz="1200"/>
          </a:p>
          <a:p>
            <a:r>
              <a:rPr sz="1200"/>
              <a:t>有些 L 二產品在特定條件下允許放開雙手，但依然要求持續看路。就像你請人幫忙推推車，自己仍然得看前面有沒有人，不能因為手沒有在推，就把注意力完全移開。這個比喻只是在說明監督角色，實際使用仍要依產品規定。</a:t>
            </a:r>
            <a:endParaRPr sz="1200"/>
          </a:p>
          <a:p>
            <a:r>
              <a:rPr sz="1200"/>
              <a:t>右邊是假設 L 三已正常啟用、各項條件都符合的情境。系統正在完成駕駛任務，因此使用者可依當地法規和產品規定，把注意力轉去做允許的其他事情。照片用看手機來表達這個差別，不代表所有 L 三功能、所有國家都允許使用手機。</a:t>
            </a:r>
            <a:endParaRPr sz="1200"/>
          </a:p>
          <a:p>
            <a:r>
              <a:rPr sz="1200"/>
              <a:t>L 三的可接手使用者仍要保持清醒並具備接手能力。收到接管要求後，應停止其他活動，理解路況，並依產品要求接回控制。不能睡著、離開駕駛位置，或把「等通知」解讀成完全不需要保持可回應。</a:t>
            </a:r>
            <a:endParaRPr sz="1200"/>
          </a:p>
          <a:p>
            <a:r>
              <a:rPr sz="1200"/>
              <a:t>我們把這兩張收成一句話：L 二是人一直監督系統開得如何；L 三是在功能的使用條件內，系統負責完整駕駛，而人保持可接手。這才是照片要幫我們理解的分界。</a:t>
            </a:r>
            <a:endParaRPr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1200"/>
              <a:t>現在換一個情境。車子原本使用自動駕駛，前方卻出現它不能繼續處理的施工區。這時候，我們要問的已經不只是車子會不會煞車，而是誰負責把接下來的駕駛任務處理好。</a:t>
            </a:r>
            <a:endParaRPr sz="1200"/>
          </a:p>
          <a:p>
            <a:r>
              <a:rPr sz="1200"/>
              <a:t>在 L 三的設計裡，系統可以提出接管要求，預期可接手的人回應。人接回控制後，要依當時道路繼續駕駛，或採取適當的降低風險措施。所以 L 三車上需要符合要求、能夠回應的人。</a:t>
            </a:r>
            <a:endParaRPr sz="1200"/>
          </a:p>
          <a:p>
            <a:r>
              <a:rPr sz="1200"/>
              <a:t>L 四則不能把完成必要應變建立在乘客一定會接手的假設上。系統要依原本設計處理，目標是達到最小風險狀態。實際可能在適合的位置停下，也可能需要先減速，再移到比較合適的地方。做法取決於道路和車況。</a:t>
            </a:r>
            <a:endParaRPr sz="1200"/>
          </a:p>
          <a:p>
            <a:r>
              <a:rPr sz="1200"/>
              <a:t>那麼，某款 L 三車在駕駛沒有回應時，也會自己煞停，是不是就升成 L 四？不一定。L 三可以另外設計緊急停車等措施，降低使用者未接管時的風險。這項措施存在，並不等於整個功能已經改成 L 四的完整分工。</a:t>
            </a:r>
            <a:endParaRPr sz="1200"/>
          </a:p>
          <a:p>
            <a:r>
              <a:rPr sz="1200"/>
              <a:t>這裡說的自動煞停，也別跟停進停車格的自動泊車混在一起。它們可能都讓車子最後停住，目的和操作條件卻不同。判斷等級要回到整套功能的設計要求，而不是只抓住「它會自己停」這一個結果。下一頁先把判斷方法整理成三個步驟，再請大家上台抽題練習。</a:t>
            </a:r>
            <a:endParaRPr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1200"/>
              <a:t>剛才練習分級時，我們在看人和系統各負責哪些駕駛工作。接下來看 ODD，唸成 O、D、D，中文常稱為運行設計範圍。它說明一項功能被設計在哪些條件下運作。白話一點，就是讀懂這項功能的使用範圍。</a:t>
            </a:r>
            <a:endParaRPr sz="1200"/>
          </a:p>
          <a:p>
            <a:r>
              <a:rPr sz="1200"/>
              <a:t>請看表格第一列：在哪裡行駛？例如指定高速公路、校園裡的某條路線，或園區的特定路段。地名之外，也要看路線和邊界。寫在某個校園使用，還要確認是整個校園，還是只有校門到宿舍這段路。</a:t>
            </a:r>
            <a:endParaRPr sz="1200"/>
          </a:p>
          <a:p>
            <a:r>
              <a:rPr sz="1200"/>
              <a:t>第二列看環境。白天或夜間、晴天或雨天，以及乾燥或潮濕的路面，都可能是需要交代的條件。例如文件寫白天、無雨、乾燥路面，我們就要把這幾項一起讀，才能了解它允許的使用情況。</a:t>
            </a:r>
            <a:endParaRPr sz="1200"/>
          </a:p>
          <a:p>
            <a:r>
              <a:rPr sz="1200"/>
              <a:t>第三列看交通與本車運作。附近有哪些用路者，例如行人、自行車？這台車允許在什麼速度範圍內行駛？這裡的本車，就是我們正在討論的這台車。把這些內容寫出來，才知道設計要考慮哪些道路互動。</a:t>
            </a:r>
            <a:endParaRPr sz="1200"/>
          </a:p>
          <a:p>
            <a:r>
              <a:rPr sz="1200"/>
              <a:t>ODD 會寫允許的範圍，也可能寫排除或附帶條件。例如允許白天使用，但排除強烈眩光。大家可以把它當成一份使用說明來讀：先了解在哪些條件下可以使用，再看有哪些情況要特別留意。</a:t>
            </a:r>
            <a:endParaRPr sz="1200"/>
          </a:p>
          <a:p>
            <a:r>
              <a:rPr sz="1200"/>
              <a:t>表格整理的是幾個容易理解的閱讀方向，還不是完整 ODD。正式資料會更細，也需要搭配測試證據。至於誰要持續監督、系統不能繼續時由誰處理，則要另外看人機分工，不能只靠這張表判斷等級。</a:t>
            </a:r>
            <a:endParaRPr sz="1200"/>
          </a:p>
          <a:p>
            <a:r>
              <a:rPr sz="1200"/>
              <a:t>這一節先練習讀懂條件。第三節會提供地圖和條件卡，再帶大家把資料整理進表格。現在先用下一頁的校園接駁車，一列一列看它的使用範圍。</a:t>
            </a:r>
            <a:endParaRPr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1200"/>
              <a:t>這張表是假設的校園接駁車案例，讓我們練習讀 ODD。它只節錄幾項條件，並不代表真的有一台車已經通過這些測試。我們先從最上面的路線開始看。</a:t>
            </a:r>
            <a:endParaRPr sz="1200"/>
          </a:p>
          <a:p>
            <a:r>
              <a:rPr sz="1200"/>
              <a:t>路線寫的是校門到宿舍的指定路線 A，不含臨時改道。意思是，這個例子有一條事先指定的路。如果原本的路封起來，改走校園裡另一條路，就已經改變了這張卡片寫的範圍。</a:t>
            </a:r>
            <a:endParaRPr sz="1200"/>
          </a:p>
          <a:p>
            <a:r>
              <a:rPr sz="1200"/>
              <a:t>再看天候和路面。天候要求無雨，路面要求乾燥，這是兩項不同的條件。想像雨剛停，天空已經沒有下雨，但地面還濕。這時無雨這一項符合，乾燥路面這一項卻還不符合，所以不能說整組條件都已符合。</a:t>
            </a:r>
            <a:endParaRPr sz="1200"/>
          </a:p>
          <a:p>
            <a:r>
              <a:rPr sz="1200"/>
              <a:t>光照要求白天，並排除夜間和強烈眩光。眩光可以想成，太陽正好照向鏡頭，讓部分畫面很難看清楚。因此，即使是白天，也要留意卡片列出的排除情況。光照為什麼會影響相機，第二節會再說明。</a:t>
            </a:r>
            <a:endParaRPr sz="1200"/>
          </a:p>
          <a:p>
            <a:r>
              <a:rPr sz="1200"/>
              <a:t>用路者包含行人、自行車和機車，表示這個設計要考慮和這些對象共用道路。不過，表格沒有提供人流數量，也沒列出所有互動的測試結果。我們先照資料理解，不替它補上沒有寫的能力。</a:t>
            </a:r>
            <a:endParaRPr sz="1200"/>
          </a:p>
          <a:p>
            <a:r>
              <a:rPr sz="1200"/>
              <a:t>最後看本車速度：零到每小時二十公里。二十公里是這個例子的上限，車子仍然可以減速或停下來。道路如果有更低的速限，也要遵守。這個數字不能直接當成所有場景都適用的安全速度。</a:t>
            </a:r>
            <a:endParaRPr sz="1200"/>
          </a:p>
          <a:p>
            <a:r>
              <a:rPr sz="1200"/>
              <a:t>把這幾列合起來，才是這張卡片節錄的使用條件。讀的時候，要確認它們是否同時符合。另外，這張表沒有交代人要不要持續監督，也沒有完整說明必要應變由誰負責，所以還不能直接判定是 L 二、L 三或 L 四。</a:t>
            </a:r>
            <a:endParaRPr sz="1200"/>
          </a:p>
          <a:p>
            <a:r>
              <a:rPr sz="1200"/>
              <a:t>第三節各組會拿到不同地點和條件，要依自己的卡片整理，不要直接把這裡的路線或二十公里抄過去。接下來看真實產品，看看同一個等級，使用條件能不能有不同版本。</a:t>
            </a:r>
            <a:endParaRPr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1200" lang="zh-TW"/>
              <a:t>現在請同學依序上台，每人完成一題。先完整讀題，再回答：「我判斷是 L 幾，因為題目中的哪一句話。」回答後，我會操作畫面顯示結果，再抽下一題。今天不必做完三十題；時間到就結束活動，回到下一頁複習 ODD。</a:t>
            </a:r>
            <a:endParaRPr sz="1200" 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1200"/>
              <a:t>等一下要請大家上台抽題。在開始之前，我們先把剛才的分級方法整理一下。看到一段情境，不用急著猜 L 幾，先照畫面上的三個問題，找出題目已經告訴我們的事情。</a:t>
            </a:r>
            <a:endParaRPr sz="1200"/>
          </a:p>
          <a:p>
            <a:r>
              <a:rPr sz="1200"/>
              <a:t>第一步，系統有沒有持續控制方向或速度？如果只有警示，或危急時短暫煞一下，這項功能仍是 L 零。如果系統持續控制方向或速度其中一項，就是判斷 L 一的重要線索。若兩項都由系統持續控制，還不能直接決定等級，要繼續看人的工作。</a:t>
            </a:r>
            <a:endParaRPr sz="1200"/>
          </a:p>
          <a:p>
            <a:r>
              <a:rPr sz="1200"/>
              <a:t>第二步，誰必須持續監看道路？如果方向與速度都交給系統，人仍要全程看路、監督系統，就是 L 二。若題目明確說系統在允許條件內完成整個駕駛任務，包含道路監看，人不用持續監督，我們才往 L 三以上繼續判斷。</a:t>
            </a:r>
            <a:endParaRPr sz="1200"/>
          </a:p>
          <a:p>
            <a:r>
              <a:rPr sz="1200"/>
              <a:t>第三步，當系統無法繼續駕駛時，誰完成必要應變？L 三的設計仍期待可接手的人在必要時適當回應。L 四則在設計的運作範圍內，連必要應變也由系統承擔，不能依賴乘客一定接手。不要只看到「會自己停車」，就認為一定是 L 四。</a:t>
            </a:r>
            <a:endParaRPr sz="1200"/>
          </a:p>
          <a:p>
            <a:r>
              <a:rPr sz="1200"/>
              <a:t>如果題目已經說完整駕駛和必要應變都由系統負責，接著還要分清楚 L 四與 L 五：L 四有特定的使用範圍；L 五不受特定 ODD 限制，涵蓋人類駕駛通常能合理應對的道路與環境條件。這不代表遇到洪水或封路也能硬開。</a:t>
            </a:r>
            <a:endParaRPr sz="1200"/>
          </a:p>
          <a:p>
            <a:r>
              <a:rPr sz="1200"/>
              <a:t>例如題目說，系統持續控制方向和車距，但駕駛必須全程看路。依照前兩步，就能判斷是 L 二，理由是人仍須持續監督。等一下請大家也這樣回答：「我判斷是 L 幾，因為題目說了什麼。」如果沒有足夠資訊，就說明還缺哪一項，不用硬猜。</a:t>
            </a:r>
            <a:endParaRPr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1000"/>
              <a:t>這一頁介紹賓士的 DRIVE PILOT。我們用它把分級和 ODD 放在一起看。左邊說明人機分工，右邊比較不同地區、不同日期公告的使用條件。先看左邊的 L 三。</a:t>
            </a:r>
            <a:endParaRPr sz="1000"/>
          </a:p>
          <a:p>
            <a:r>
              <a:rPr sz="1000"/>
              <a:t>符合條件並正常啟用時，系統負責完整的駕駛工作，包括方向、速度，以及觀察和回應道路狀況。使用者不用像 L 二那樣持續監督道路，但仍要保持能接管的狀態，並在系統要求接管時適當回應。這就是這一頁要複習的 L 三分工。</a:t>
            </a:r>
            <a:endParaRPr sz="1000"/>
          </a:p>
          <a:p>
            <a:r>
              <a:rPr sz="1000"/>
              <a:t>再看右邊。知道它是 L 三之後，仍要讀它在哪些道路、速度和環境條件下可以用。表格比較的是兩份歷史公告，只節錄幾項條件，方便我們看差異。</a:t>
            </a:r>
            <a:endParaRPr sz="1000"/>
          </a:p>
          <a:p>
            <a:r>
              <a:rPr sz="1000"/>
              <a:t>中間是加州二〇二三年六月的公告：指定高速公路、日間使用，最高時速四十英里，約每小時六十四公里。公告還排除大雨、濃霧等情況。所以，最高六十四公里要和道路、光照、天候條件一起讀。</a:t>
            </a:r>
            <a:endParaRPr sz="1000"/>
          </a:p>
          <a:p>
            <a:r>
              <a:rPr sz="1000"/>
              <a:t>右邊是德國二〇二四年十二月的公告：在符合條件的高速公路上，最高可以運作到每小時九十五公里，並有右側車道、前方有車輛等條件。九十五是上限，車輛仍要依前車和道路狀況調整速度。</a:t>
            </a:r>
            <a:endParaRPr sz="1000"/>
          </a:p>
          <a:p>
            <a:r>
              <a:rPr sz="1000"/>
              <a:t>兩欄都是 L 三，使用範圍卻不同。等級告訴我們誰負責駕駛工作，具體版本則告訴我們哪些條件下可以啟用。比較資料時，要把地區和日期一起看，也不能把加州的道路條件、德國的速度拼成一個版本。</a:t>
            </a:r>
            <a:endParaRPr sz="1000"/>
          </a:p>
          <a:p>
            <a:r>
              <a:rPr sz="1000"/>
              <a:t>這頁先記住：同樣是 L 三，使用範圍仍可能不同。這些公告也不能直接套用到臺灣道路，還要確認所在地的規定、車輛版本與完整啟用條件。下一頁換看 Cruise，觀察載客許可怎麼列出範圍。</a:t>
            </a:r>
            <a:endParaRPr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1200"/>
              <a:t>接下來看 Cruise。它是一家美國自駕技術公司，曾在通用汽車，也就是 GM 的投資支持下，發展無人駕駛叫車服務。乘客叫車後，由自駕車載到目的地，這類服務常稱為 Robotaxi。這一頁看的是它二〇二二年六月在舊金山取得的載客許可。</a:t>
            </a:r>
            <a:endParaRPr sz="1200"/>
          </a:p>
          <a:p>
            <a:r>
              <a:rPr sz="1200"/>
              <a:t>先看地點：舊金山的指定街道。當時許可允許車內沒有安全駕駛的車輛提供收費載客服務，但有指定範圍。速度上限是每小時三十英里，約每小時四十八公里。</a:t>
            </a:r>
            <a:endParaRPr sz="1200"/>
          </a:p>
          <a:p>
            <a:r>
              <a:rPr sz="1200"/>
              <a:t>再看時間：晚上十點到隔天早上六點。若只依這份當時的許可來判斷，下午三點就不符合時段。這個例子讓我們看到，營運條件可以把時間寫得很具體。</a:t>
            </a:r>
            <a:endParaRPr sz="1200"/>
          </a:p>
          <a:p>
            <a:r>
              <a:rPr sz="1200"/>
              <a:t>天候也要一起看。當時排除大雨、濃霧、濃煙，以及冰雹、冰雪等天候。假設凌晨兩點遇到濃霧，雖然時間符合，天候仍然不符合，不能只看其中一項就說可以運作。</a:t>
            </a:r>
            <a:endParaRPr sz="1200"/>
          </a:p>
          <a:p>
            <a:r>
              <a:rPr sz="1200"/>
              <a:t>這裡讀的是政府的載客許可。許可會包含營運管理條件，業者的系統 ODD 則說明設計的運作範圍，兩份文件的用途有所不同。這份公告很適合練習讀地點、時間和天候，但還不能當成完整的系統能力清單。</a:t>
            </a:r>
            <a:endParaRPr sz="1200"/>
          </a:p>
          <a:p>
            <a:r>
              <a:rPr sz="1200"/>
              <a:t>也請把二〇二二年這個日期一起記住。Cruise 後來的營運和發展方向已有變化，這份舊許可說明的是當時的範圍。接下來換看越南的案例，看看受控試驗又怎麼安排。</a:t>
            </a:r>
            <a:endParaRPr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1200"/>
              <a:t>現在看越南河內的 Phenikaa-X。它是越南 Phenikaa 集團旗下的公司，研發自駕車與機器人。右邊是小型自駕巴士的照片，先讓大家認識車輛的外觀。</a:t>
            </a:r>
            <a:endParaRPr sz="1200"/>
          </a:p>
          <a:p>
            <a:r>
              <a:rPr sz="1200"/>
              <a:t>這頁採用的是二〇二六年八月二十六日發布的官方資料。內容是，Phenikaa-X 獲准在河內的和樂高科技園區，以及河內越南國家大學的和樂校區，進行二十四個月的受控試驗，也就是兩年。</a:t>
            </a:r>
            <a:endParaRPr sz="1200"/>
          </a:p>
          <a:p>
            <a:r>
              <a:rPr sz="1200"/>
              <a:t>受控試驗，白話來說，就是先把測試地點和管理方式規定好，再在這些條件下驗證技術。公告指定了路網和路線，所以我們讀到的是特定場域的試驗範圍，不能推論整個河內都已開放行駛。</a:t>
            </a:r>
            <a:endParaRPr sz="1200"/>
          </a:p>
          <a:p>
            <a:r>
              <a:rPr sz="1200"/>
              <a:t>園區裡安排的是自駕計程車與配送機器人的試驗，校區則有接駁巴士等測試用途。不同車輛的任務和路線，要分開看。看到一張巴士照片，也還不能把所有試驗項目都當成同一種車、同一套能力。</a:t>
            </a:r>
            <a:endParaRPr sz="1200"/>
          </a:p>
          <a:p>
            <a:r>
              <a:rPr sz="1200"/>
              <a:t>公告也要求安全評估、監督人員，以及緊急停止和救援等安排。意思是，測試除了讓車開動，也要事先規劃遇到問題怎麼處理。試驗期間不經營商業運輸，也不收取商業運輸費用。</a:t>
            </a:r>
            <a:endParaRPr sz="1200"/>
          </a:p>
          <a:p>
            <a:r>
              <a:rPr sz="1200"/>
              <a:t>這個案例先讓我們認識受控試驗的範圍。各種車輛怎麼和人分工、哪些能力已經通過測試，還要另外查資料，不能只靠自駕車的名稱就判定等級。第三節還會看相關影片，再把地點、用途和條件連起來。</a:t>
            </a:r>
            <a:endParaRPr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1200"/>
              <a:t>這一頁是為課堂設計的假設摘要，用來練習判斷資料夠不夠。假設我們只讀到：接駁車在校園固定路線行駛、白天運行，最高每小時二十公里。光靠這些內容，可以直接判定是 L 四嗎？我會回答：目前資料還不夠。</a:t>
            </a:r>
            <a:endParaRPr sz="1200"/>
          </a:p>
          <a:p>
            <a:r>
              <a:rPr sz="1200"/>
              <a:t>先把已知內容列出來：地點在校園、有固定路線、看到的是白天運行，還有速度上限。這些資訊幫我們了解部分運作情況，但是人的角色還沒有說清楚。</a:t>
            </a:r>
            <a:endParaRPr sz="1200"/>
          </a:p>
          <a:p>
            <a:r>
              <a:rPr sz="1200"/>
              <a:t>接著我要確認，車上的人是否必須持續注意道路、隨時介入？如果系統不能繼續行駛，誰來完成必要應變？這些內容會影響分級判斷。因此，低速和固定路線本身，還不足以證明是 L 四。</a:t>
            </a:r>
            <a:endParaRPr sz="1200"/>
          </a:p>
          <a:p>
            <a:r>
              <a:rPr sz="1200"/>
              <a:t>ODD 的資料也可能不完整。例如摘要沒有寫雨量門檻，就還不知道它允許哪些雨天條件。只報導白天行駛，也不能直接當成正式文件已禁止夜間。要分清楚，資料是在描述那次運行，還是在明確訂出使用限制。</a:t>
            </a:r>
            <a:endParaRPr sz="1200"/>
          </a:p>
          <a:p>
            <a:r>
              <a:rPr sz="1200"/>
              <a:t>所以，我們整理時可以標示：已經知道的內容、文件明確排除的情況，以及仍待確認的資訊。待確認的意思是，這個問題還需要查證。我們應該把問題寫出來，而不是自己補一個沒有依據的答案。</a:t>
            </a:r>
            <a:endParaRPr sz="1200"/>
          </a:p>
          <a:p>
            <a:r>
              <a:rPr sz="1200"/>
              <a:t>這一頁的示範結論是：目前只知道部分場景與速度，還需要確認人機分工和完整使用條件。能把未知的地方說清楚，就是有根據地閱讀自駕資料。最後一頁再把今天的重點整理一次。</a:t>
            </a:r>
            <a:endParaRPr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1200"/>
              <a:t>第一節結束前，我們把分級和 ODD 再放在一起。分級看的是，功能啟用時，人和系統各負責哪些駕駛工作。ODD 看的是，這項功能被設計在哪些道路、環境和交通條件下運作。</a:t>
            </a:r>
            <a:endParaRPr sz="1200"/>
          </a:p>
          <a:p>
            <a:r>
              <a:rPr sz="1200"/>
              <a:t>用校園接駁車來想：如果系統在指定條件內完成駕駛，不能繼續時也由系統完成必要應變，不依賴乘客接手，這是在描述 L 四的分工。固定路線、白天、無雨和乾燥路面，則是在描述它的部分 ODD。</a:t>
            </a:r>
            <a:endParaRPr sz="1200"/>
          </a:p>
          <a:p>
            <a:r>
              <a:rPr sz="1200"/>
              <a:t>因此，判斷資料時，先分開看分工和條件，再留意產品、地區、版本與日期。等級高低不能直接當成安全分數，使用範圍大小也不能直接決定等級。資料不足的地方，可以保留待確認。</a:t>
            </a:r>
            <a:endParaRPr sz="1200"/>
          </a:p>
          <a:p>
            <a:r>
              <a:rPr sz="1200"/>
              <a:t>第二節會往下說明：車子靠什麼知道附近有人、前方物體有多遠？為什麼光照、雨霧或遮擋會影響資訊？我們會用相機、光達和雷達的原理與影片，慢慢把這些問題說清楚。</a:t>
            </a:r>
            <a:endParaRPr sz="1200"/>
          </a:p>
          <a:p>
            <a:r>
              <a:rPr sz="1200"/>
              <a:t>現在休息十分鐘。第三節會把前兩節連起來，由我帶大家看案例，再用地圖和條件卡示範整理 ODD，最後讓各組依指定地點討論填寫。今天先讀懂，再理解感測器，最後練習運用。</a:t>
            </a:r>
            <a:endParaRPr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&#31532;1&#31680;_&#20998;&#32026;&#32244;&#32722;_30&#38988;&#38568;&#27231;&#25277;&#38988;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9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自動駕駛&#10;原理">
            <a:extLst>
              <a:ext uri="{FF2B5EF4-FFF2-40B4-BE49-F238E27FC236}">
                <a16:creationId xmlns:a16="http://schemas.microsoft.com/office/drawing/2014/main" id="{2051E8D5-92F0-4054-9CCD-26DDFEF3E68F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6381750" cy="266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 sz="4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4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Nguyên lý</a:t>
            </a:r>
          </a:p>
          <a:p>
            <a:pPr algn="l">
              <a:lnSpc>
                <a:spcPts val="5760"/>
              </a:lnSpc>
              <a:spcBef>
                <a:spcPts val="0"/>
              </a:spcBef>
              <a:spcAft>
                <a:spcPts val="300"/>
              </a:spcAft>
              <a:defRPr sz="4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4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xe tự lái</a:t>
            </a:r>
          </a:p>
          <a:p>
            <a:pPr algn="l">
              <a:lnSpc>
                <a:spcPts val="3060"/>
              </a:lnSpc>
              <a:spcBef>
                <a:spcPts val="0"/>
              </a:spcBef>
              <a:spcAft>
                <a:spcPts val="0"/>
              </a:spcAft>
              <a:defRPr sz="4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2550" b="0">
                <a:solidFill>
                  <a:srgbClr val="B7CDD2"/>
                </a:solidFill>
                <a:latin typeface="Arial Unicode MS"/>
                <a:ea typeface="Arial Unicode MS"/>
                <a:cs typeface="Arial Unicode MS"/>
              </a:rPr>
              <a:t>自動駕駛　原理</a:t>
            </a:r>
          </a:p>
        </p:txBody>
      </p:sp>
      <p:sp>
        <p:nvSpPr>
          <p:cNvPr id="3" name="第二週　全球發展與技術選擇">
            <a:extLst>
              <a:ext uri="{FF2B5EF4-FFF2-40B4-BE49-F238E27FC236}">
                <a16:creationId xmlns:a16="http://schemas.microsoft.com/office/drawing/2014/main" id="{FB1B1398-5B20-4195-A4A9-F8D9775E477A}"/>
              </a:ext>
            </a:extLst>
          </p:cNvPr>
          <p:cNvSpPr>
            <a:spLocks noGrp="1"/>
          </p:cNvSpPr>
          <p:nvPr/>
        </p:nvSpPr>
        <p:spPr>
          <a:xfrm>
            <a:off x="666750" y="4124325"/>
            <a:ext cx="7334250" cy="1009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300"/>
              </a:spcAft>
              <a:defRPr sz="21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1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Tuần 2, tiết 1: Ôn tập cấp độ tự động hóa và ODD</a:t>
            </a:r>
          </a:p>
          <a:p>
            <a:pPr algn="l">
              <a:lnSpc>
                <a:spcPts val="171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425" b="0">
                <a:solidFill>
                  <a:srgbClr val="B7CDD2"/>
                </a:solidFill>
                <a:latin typeface="Arial Unicode MS"/>
                <a:ea typeface="Arial Unicode MS"/>
                <a:cs typeface="Arial Unicode MS"/>
              </a:rPr>
              <a:t>第二週　第一節　分級與 ODD 複習</a:t>
            </a:r>
          </a:p>
        </p:txBody>
      </p:sp>
      <p:sp>
        <p:nvSpPr>
          <p:cNvPr id="4" name="南三甲新南向專班　2026.09.17">
            <a:extLst>
              <a:ext uri="{FF2B5EF4-FFF2-40B4-BE49-F238E27FC236}">
                <a16:creationId xmlns:a16="http://schemas.microsoft.com/office/drawing/2014/main" id="{361F65B3-6914-42C8-89C1-04ADB56FF38F}"/>
              </a:ext>
            </a:extLst>
          </p:cNvPr>
          <p:cNvSpPr>
            <a:spLocks noGrp="1"/>
          </p:cNvSpPr>
          <p:nvPr/>
        </p:nvSpPr>
        <p:spPr>
          <a:xfrm>
            <a:off x="666750" y="5514975"/>
            <a:ext cx="95250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300"/>
              </a:spcAft>
              <a:defRPr sz="15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Lớp Nam 3A, chương trình Tân Hướng Nam · 2026.09.17</a:t>
            </a:r>
          </a:p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5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125" b="0">
                <a:solidFill>
                  <a:srgbClr val="B7CDD2"/>
                </a:solidFill>
                <a:latin typeface="Arial Unicode MS"/>
                <a:ea typeface="Arial Unicode MS"/>
                <a:cs typeface="Arial Unicode MS"/>
              </a:rPr>
              <a:t>南三甲新南向專班　2026.09.17</a:t>
            </a:r>
          </a:p>
        </p:txBody>
      </p:sp>
    </p:spTree>
    <p:extLst>
      <p:ext uri="{BB962C8B-B14F-4D97-AF65-F5344CB8AC3E}">
        <p14:creationId xmlns:p14="http://schemas.microsoft.com/office/powerpoint/2010/main" val="108664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今天的三節課">
            <a:extLst>
              <a:ext uri="{FF2B5EF4-FFF2-40B4-BE49-F238E27FC236}">
                <a16:creationId xmlns:a16="http://schemas.microsoft.com/office/drawing/2014/main" id="{B0D62D6A-B936-4C89-8F61-0756C49D66C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1019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3240"/>
              </a:lnSpc>
              <a:spcBef>
                <a:spcPts val="0"/>
              </a:spcBef>
              <a:spcAft>
                <a:spcPts val="30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700" b="1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Ba tiết học hôm nay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650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今天的三節課</a:t>
            </a:r>
          </a:p>
        </p:txBody>
      </p:sp>
      <p:sp>
        <p:nvSpPr>
          <p:cNvPr id="2" name="02">
            <a:extLst>
              <a:ext uri="{FF2B5EF4-FFF2-40B4-BE49-F238E27FC236}">
                <a16:creationId xmlns:a16="http://schemas.microsoft.com/office/drawing/2014/main" id="{6AA68DAF-81E0-4441-AA68-81BAE6B43ED0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3" name="01">
            <a:extLst>
              <a:ext uri="{FF2B5EF4-FFF2-40B4-BE49-F238E27FC236}">
                <a16:creationId xmlns:a16="http://schemas.microsoft.com/office/drawing/2014/main" id="{D1773850-1D2A-4D03-98E2-A1DF4F22BD7F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571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4" name="09:10–10:00　分級與 ODD">
            <a:extLst>
              <a:ext uri="{FF2B5EF4-FFF2-40B4-BE49-F238E27FC236}">
                <a16:creationId xmlns:a16="http://schemas.microsoft.com/office/drawing/2014/main" id="{863C136F-AB56-4FF6-9F0D-77A8BF1BA568}"/>
              </a:ext>
            </a:extLst>
          </p:cNvPr>
          <p:cNvSpPr>
            <a:spLocks noGrp="1"/>
          </p:cNvSpPr>
          <p:nvPr/>
        </p:nvSpPr>
        <p:spPr>
          <a:xfrm>
            <a:off x="1428750" y="1914525"/>
            <a:ext cx="10039350" cy="1085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790"/>
              </a:lnSpc>
              <a:spcBef>
                <a:spcPts val="0"/>
              </a:spcBef>
              <a:spcAft>
                <a:spcPts val="300"/>
              </a:spcAft>
              <a:defRPr sz="23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325" b="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09:10–10:00  Ôn tập cấp độ và cách đọc ODD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23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500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09:10–10:00　複習分級，讀懂 ODD</a:t>
            </a:r>
          </a:p>
        </p:txBody>
      </p:sp>
      <p:sp>
        <p:nvSpPr>
          <p:cNvPr id="5" name="02">
            <a:extLst>
              <a:ext uri="{FF2B5EF4-FFF2-40B4-BE49-F238E27FC236}">
                <a16:creationId xmlns:a16="http://schemas.microsoft.com/office/drawing/2014/main" id="{62914E11-382D-4888-BCD5-A758AF534392}"/>
              </a:ext>
            </a:extLst>
          </p:cNvPr>
          <p:cNvSpPr>
            <a:spLocks noGrp="1"/>
          </p:cNvSpPr>
          <p:nvPr/>
        </p:nvSpPr>
        <p:spPr>
          <a:xfrm>
            <a:off x="609600" y="3181350"/>
            <a:ext cx="571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6" name="10:10–11:00　感測器、業者與營運">
            <a:extLst>
              <a:ext uri="{FF2B5EF4-FFF2-40B4-BE49-F238E27FC236}">
                <a16:creationId xmlns:a16="http://schemas.microsoft.com/office/drawing/2014/main" id="{C3A7DB28-CCC8-4DCC-84D3-79874D439062}"/>
              </a:ext>
            </a:extLst>
          </p:cNvPr>
          <p:cNvSpPr>
            <a:spLocks noGrp="1"/>
          </p:cNvSpPr>
          <p:nvPr/>
        </p:nvSpPr>
        <p:spPr>
          <a:xfrm>
            <a:off x="1428750" y="3114675"/>
            <a:ext cx="10039350" cy="1085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790"/>
              </a:lnSpc>
              <a:spcBef>
                <a:spcPts val="0"/>
              </a:spcBef>
              <a:spcAft>
                <a:spcPts val="300"/>
              </a:spcAft>
              <a:defRPr sz="23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325" b="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10:10–11:00  Nguyên lý cảm biến và lựa chọn công nghệ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23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500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10:10–11:00　感測器原理與技術選擇</a:t>
            </a:r>
          </a:p>
        </p:txBody>
      </p:sp>
      <p:sp>
        <p:nvSpPr>
          <p:cNvPr id="7" name="03">
            <a:extLst>
              <a:ext uri="{FF2B5EF4-FFF2-40B4-BE49-F238E27FC236}">
                <a16:creationId xmlns:a16="http://schemas.microsoft.com/office/drawing/2014/main" id="{D55BE5E5-2ED9-45C6-BA1B-C8C9FF216545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571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8" name="11:10–12:00　影片判讀與情境設計">
            <a:extLst>
              <a:ext uri="{FF2B5EF4-FFF2-40B4-BE49-F238E27FC236}">
                <a16:creationId xmlns:a16="http://schemas.microsoft.com/office/drawing/2014/main" id="{F2483671-ADBA-421B-BCA5-C6D6DCA954C5}"/>
              </a:ext>
            </a:extLst>
          </p:cNvPr>
          <p:cNvSpPr>
            <a:spLocks noGrp="1"/>
          </p:cNvSpPr>
          <p:nvPr/>
        </p:nvSpPr>
        <p:spPr>
          <a:xfrm>
            <a:off x="1428750" y="4314825"/>
            <a:ext cx="10039350" cy="1085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790"/>
              </a:lnSpc>
              <a:spcBef>
                <a:spcPts val="0"/>
              </a:spcBef>
              <a:spcAft>
                <a:spcPts val="300"/>
              </a:spcAft>
              <a:defRPr sz="23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325" b="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11:10–12:00  Phân tích tình huống và điền điều kiện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23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500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11:10–12:00　案例應用與條件填寫</a:t>
            </a:r>
          </a:p>
        </p:txBody>
      </p:sp>
    </p:spTree>
    <p:extLst>
      <p:ext uri="{BB962C8B-B14F-4D97-AF65-F5344CB8AC3E}">
        <p14:creationId xmlns:p14="http://schemas.microsoft.com/office/powerpoint/2010/main" val="754571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9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自動轉彎，能判斷 L 幾嗎？">
            <a:extLst>
              <a:ext uri="{FF2B5EF4-FFF2-40B4-BE49-F238E27FC236}">
                <a16:creationId xmlns:a16="http://schemas.microsoft.com/office/drawing/2014/main" id="{8DF6295B-8FB1-439B-A825-AED98277577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1019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3240"/>
              </a:lnSpc>
              <a:spcBef>
                <a:spcPts val="0"/>
              </a:spcBef>
              <a:spcAft>
                <a:spcPts val="300"/>
              </a:spcAft>
              <a:defRPr sz="27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Xe tự đánh lái: đã biết cấp L mấy chưa?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650" b="0">
                <a:solidFill>
                  <a:srgbClr val="B7CDD2"/>
                </a:solidFill>
                <a:latin typeface="Arial Unicode MS"/>
                <a:ea typeface="Arial Unicode MS"/>
                <a:cs typeface="Arial Unicode MS"/>
              </a:rPr>
              <a:t>自動轉彎，能判斷 L 幾嗎？</a:t>
            </a:r>
          </a:p>
        </p:txBody>
      </p:sp>
      <p:sp>
        <p:nvSpPr>
          <p:cNvPr id="2" name="03">
            <a:extLst>
              <a:ext uri="{FF2B5EF4-FFF2-40B4-BE49-F238E27FC236}">
                <a16:creationId xmlns:a16="http://schemas.microsoft.com/office/drawing/2014/main" id="{0525FE40-6C9B-4A56-A048-794428E11CF1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350" b="0">
                <a:solidFill>
                  <a:srgbClr val="75D3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75D3C8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3" name="車子自己轉方向盤，也會跟車煞車。">
            <a:extLst>
              <a:ext uri="{FF2B5EF4-FFF2-40B4-BE49-F238E27FC236}">
                <a16:creationId xmlns:a16="http://schemas.microsoft.com/office/drawing/2014/main" id="{0B116776-898C-4758-84E4-8934522397BD}"/>
              </a:ext>
            </a:extLst>
          </p:cNvPr>
          <p:cNvSpPr>
            <a:spLocks noGrp="1"/>
          </p:cNvSpPr>
          <p:nvPr/>
        </p:nvSpPr>
        <p:spPr>
          <a:xfrm>
            <a:off x="609600" y="2171700"/>
            <a:ext cx="10972800" cy="1028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790"/>
              </a:lnSpc>
              <a:spcBef>
                <a:spcPts val="0"/>
              </a:spcBef>
              <a:spcAft>
                <a:spcPts val="300"/>
              </a:spcAft>
              <a:defRPr sz="23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Xe tự đánh lái, bám xe phía trước và phanh.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23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500" b="0">
                <a:solidFill>
                  <a:srgbClr val="B7CDD2"/>
                </a:solidFill>
                <a:latin typeface="Arial Unicode MS"/>
                <a:ea typeface="Arial Unicode MS"/>
                <a:cs typeface="Arial Unicode MS"/>
              </a:rPr>
              <a:t>車子自己轉方向盤，也會跟車煞車。</a:t>
            </a:r>
          </a:p>
        </p:txBody>
      </p:sp>
      <p:sp>
        <p:nvSpPr>
          <p:cNvPr id="4" name="還缺哪一項資訊？">
            <a:extLst>
              <a:ext uri="{FF2B5EF4-FFF2-40B4-BE49-F238E27FC236}">
                <a16:creationId xmlns:a16="http://schemas.microsoft.com/office/drawing/2014/main" id="{9E1F356E-2224-43E8-A2EA-F37164E4C550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10972800" cy="1028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790"/>
              </a:lnSpc>
              <a:spcBef>
                <a:spcPts val="0"/>
              </a:spcBef>
              <a:spcAft>
                <a:spcPts val="300"/>
              </a:spcAft>
              <a:defRPr sz="2325">
                <a:solidFill>
                  <a:srgbClr val="75D3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325" b="0">
                <a:solidFill>
                  <a:srgbClr val="75D3C8"/>
                </a:solidFill>
                <a:latin typeface="Arial Unicode MS"/>
                <a:ea typeface="Arial Unicode MS"/>
                <a:cs typeface="Arial Unicode MS"/>
              </a:rPr>
              <a:t>Còn thiếu thông tin gì?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2325">
                <a:solidFill>
                  <a:srgbClr val="75D3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500" b="0">
                <a:solidFill>
                  <a:srgbClr val="B7CDD2"/>
                </a:solidFill>
                <a:latin typeface="Arial Unicode MS"/>
                <a:ea typeface="Arial Unicode MS"/>
                <a:cs typeface="Arial Unicode MS"/>
              </a:rPr>
              <a:t>還缺哪一項資訊？</a:t>
            </a:r>
          </a:p>
        </p:txBody>
      </p:sp>
      <p:sp>
        <p:nvSpPr>
          <p:cNvPr id="5" name="資料：SAE J3016；完整來源見備忘稿">
            <a:extLst>
              <a:ext uri="{FF2B5EF4-FFF2-40B4-BE49-F238E27FC236}">
                <a16:creationId xmlns:a16="http://schemas.microsoft.com/office/drawing/2014/main" id="{E5DA8784-E13F-4CC6-8EC3-F18B051ADDEE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477500" cy="485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300"/>
              </a:spcAft>
              <a:defRPr sz="1013">
                <a:solidFill>
                  <a:srgbClr val="AFC7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1012" b="0">
                <a:solidFill>
                  <a:srgbClr val="AFC7CC"/>
                </a:solidFill>
                <a:latin typeface="Arial Unicode MS"/>
                <a:ea typeface="Arial Unicode MS"/>
                <a:cs typeface="Arial Unicode MS"/>
              </a:rPr>
              <a:t>Nguồn: SAE J3016. Xem nguồn đầy đủ trong ghi chú thuyết trình.</a:t>
            </a:r>
          </a:p>
          <a:p>
            <a:pPr algn="l">
              <a:lnSpc>
                <a:spcPts val="945"/>
              </a:lnSpc>
              <a:spcBef>
                <a:spcPts val="0"/>
              </a:spcBef>
              <a:spcAft>
                <a:spcPts val="0"/>
              </a:spcAft>
              <a:defRPr sz="1013">
                <a:solidFill>
                  <a:srgbClr val="AFC7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788" b="0">
                <a:solidFill>
                  <a:srgbClr val="B7CDD2"/>
                </a:solidFill>
                <a:latin typeface="Arial Unicode MS"/>
                <a:ea typeface="Arial Unicode MS"/>
                <a:cs typeface="Arial Unicode MS"/>
              </a:rPr>
              <a:t>資料：SAE J3016；完整來源見備忘稿</a:t>
            </a:r>
          </a:p>
        </p:txBody>
      </p:sp>
    </p:spTree>
    <p:extLst>
      <p:ext uri="{BB962C8B-B14F-4D97-AF65-F5344CB8AC3E}">
        <p14:creationId xmlns:p14="http://schemas.microsoft.com/office/powerpoint/2010/main" val="410620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駕駛任務的分工">
            <a:extLst>
              <a:ext uri="{FF2B5EF4-FFF2-40B4-BE49-F238E27FC236}">
                <a16:creationId xmlns:a16="http://schemas.microsoft.com/office/drawing/2014/main" id="{D7599040-FDA1-41D4-82DF-896B749CC08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1019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3240"/>
              </a:lnSpc>
              <a:spcBef>
                <a:spcPts val="0"/>
              </a:spcBef>
              <a:spcAft>
                <a:spcPts val="30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700" b="1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Phân chia nhiệm vụ lái xe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650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駕駛任務的分工</a:t>
            </a:r>
          </a:p>
        </p:txBody>
      </p:sp>
      <p:sp>
        <p:nvSpPr>
          <p:cNvPr id="2" name="04">
            <a:extLst>
              <a:ext uri="{FF2B5EF4-FFF2-40B4-BE49-F238E27FC236}">
                <a16:creationId xmlns:a16="http://schemas.microsoft.com/office/drawing/2014/main" id="{C4868717-3EF4-4FB7-B7F5-221279B28637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3" name="01">
            <a:extLst>
              <a:ext uri="{FF2B5EF4-FFF2-40B4-BE49-F238E27FC236}">
                <a16:creationId xmlns:a16="http://schemas.microsoft.com/office/drawing/2014/main" id="{1D478E5F-8C91-43DF-8733-823EA4649736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571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4" name="操作車輛：轉向、加速、煞車">
            <a:extLst>
              <a:ext uri="{FF2B5EF4-FFF2-40B4-BE49-F238E27FC236}">
                <a16:creationId xmlns:a16="http://schemas.microsoft.com/office/drawing/2014/main" id="{D0CFF633-F112-4429-9A67-A85F4C335B45}"/>
              </a:ext>
            </a:extLst>
          </p:cNvPr>
          <p:cNvSpPr>
            <a:spLocks noGrp="1"/>
          </p:cNvSpPr>
          <p:nvPr/>
        </p:nvSpPr>
        <p:spPr>
          <a:xfrm>
            <a:off x="1428750" y="1914525"/>
            <a:ext cx="10039350" cy="1085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790"/>
              </a:lnSpc>
              <a:spcBef>
                <a:spcPts val="0"/>
              </a:spcBef>
              <a:spcAft>
                <a:spcPts val="300"/>
              </a:spcAft>
              <a:defRPr sz="23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325" b="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Điều khiển xe: đánh lái, tăng tốc và phanh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23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500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操作車輛：轉向、加速、煞車</a:t>
            </a:r>
          </a:p>
        </p:txBody>
      </p:sp>
      <p:sp>
        <p:nvSpPr>
          <p:cNvPr id="5" name="02">
            <a:extLst>
              <a:ext uri="{FF2B5EF4-FFF2-40B4-BE49-F238E27FC236}">
                <a16:creationId xmlns:a16="http://schemas.microsoft.com/office/drawing/2014/main" id="{B9878618-7C70-4E0E-A74A-33A4ABEC1A37}"/>
              </a:ext>
            </a:extLst>
          </p:cNvPr>
          <p:cNvSpPr>
            <a:spLocks noGrp="1"/>
          </p:cNvSpPr>
          <p:nvPr/>
        </p:nvSpPr>
        <p:spPr>
          <a:xfrm>
            <a:off x="609600" y="3181350"/>
            <a:ext cx="571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6" name="觀察與回應：辨識路況，決定如何處理">
            <a:extLst>
              <a:ext uri="{FF2B5EF4-FFF2-40B4-BE49-F238E27FC236}">
                <a16:creationId xmlns:a16="http://schemas.microsoft.com/office/drawing/2014/main" id="{A897488D-E9EE-4B69-8866-43D9EC5A244A}"/>
              </a:ext>
            </a:extLst>
          </p:cNvPr>
          <p:cNvSpPr>
            <a:spLocks noGrp="1"/>
          </p:cNvSpPr>
          <p:nvPr/>
        </p:nvSpPr>
        <p:spPr>
          <a:xfrm>
            <a:off x="1428750" y="3114675"/>
            <a:ext cx="10039350" cy="1085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790"/>
              </a:lnSpc>
              <a:spcBef>
                <a:spcPts val="0"/>
              </a:spcBef>
              <a:spcAft>
                <a:spcPts val="300"/>
              </a:spcAft>
              <a:defRPr sz="23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325" b="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Quan sát và phản ứng: nhận biết tình hình đường, quyết định xử lý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23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500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觀察與回應：辨識路況，決定如何處理</a:t>
            </a:r>
          </a:p>
        </p:txBody>
      </p:sp>
      <p:sp>
        <p:nvSpPr>
          <p:cNvPr id="7" name="03">
            <a:extLst>
              <a:ext uri="{FF2B5EF4-FFF2-40B4-BE49-F238E27FC236}">
                <a16:creationId xmlns:a16="http://schemas.microsoft.com/office/drawing/2014/main" id="{17FC4C56-761B-4A62-BC67-AFBBC14B4E2E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571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8" name="無法繼續時：接手或達到最小風險狀態">
            <a:extLst>
              <a:ext uri="{FF2B5EF4-FFF2-40B4-BE49-F238E27FC236}">
                <a16:creationId xmlns:a16="http://schemas.microsoft.com/office/drawing/2014/main" id="{51170AFE-D1CD-46CC-8E9E-3919F176975A}"/>
              </a:ext>
            </a:extLst>
          </p:cNvPr>
          <p:cNvSpPr>
            <a:spLocks noGrp="1"/>
          </p:cNvSpPr>
          <p:nvPr/>
        </p:nvSpPr>
        <p:spPr>
          <a:xfrm>
            <a:off x="1428750" y="4314825"/>
            <a:ext cx="10039350" cy="1085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790"/>
              </a:lnSpc>
              <a:spcBef>
                <a:spcPts val="0"/>
              </a:spcBef>
              <a:spcAft>
                <a:spcPts val="300"/>
              </a:spcAft>
              <a:defRPr sz="23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325" b="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Khi lỗi hoặc vượt điều kiện: tiếp quản hoặc xử lý dự phòng cần thiết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23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500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故障或超出條件：接管或完成必要應變</a:t>
            </a:r>
          </a:p>
        </p:txBody>
      </p:sp>
      <p:sp>
        <p:nvSpPr>
          <p:cNvPr id="9" name="資料：SAE J3016；完整來源見備忘稿">
            <a:extLst>
              <a:ext uri="{FF2B5EF4-FFF2-40B4-BE49-F238E27FC236}">
                <a16:creationId xmlns:a16="http://schemas.microsoft.com/office/drawing/2014/main" id="{D990A916-E77E-48E1-931D-E0534FC07831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477500" cy="485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300"/>
              </a:spcAft>
              <a:defRPr sz="1013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1012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Nguồn: SAE J3016. Xem nguồn đầy đủ trong ghi chú thuyết trình.</a:t>
            </a:r>
          </a:p>
          <a:p>
            <a:pPr algn="l">
              <a:lnSpc>
                <a:spcPts val="945"/>
              </a:lnSpc>
              <a:spcBef>
                <a:spcPts val="0"/>
              </a:spcBef>
              <a:spcAft>
                <a:spcPts val="0"/>
              </a:spcAft>
              <a:defRPr sz="1013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788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資料：SAE J3016；完整來源見備忘稿</a:t>
            </a:r>
          </a:p>
        </p:txBody>
      </p:sp>
    </p:spTree>
    <p:extLst>
      <p:ext uri="{BB962C8B-B14F-4D97-AF65-F5344CB8AC3E}">
        <p14:creationId xmlns:p14="http://schemas.microsoft.com/office/powerpoint/2010/main" val="1353527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0 到 L2：駕駛持續監督">
            <a:extLst>
              <a:ext uri="{FF2B5EF4-FFF2-40B4-BE49-F238E27FC236}">
                <a16:creationId xmlns:a16="http://schemas.microsoft.com/office/drawing/2014/main" id="{FD263D2E-F432-44C0-848A-363B71BDD9C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1019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3240"/>
              </a:lnSpc>
              <a:spcBef>
                <a:spcPts val="0"/>
              </a:spcBef>
              <a:spcAft>
                <a:spcPts val="30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700" b="1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L0–L2: Người lái giám sát liên tục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650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L0 到 L2：駕駛持續監督</a:t>
            </a:r>
          </a:p>
        </p:txBody>
      </p:sp>
      <p:sp>
        <p:nvSpPr>
          <p:cNvPr id="2" name="05">
            <a:extLst>
              <a:ext uri="{FF2B5EF4-FFF2-40B4-BE49-F238E27FC236}">
                <a16:creationId xmlns:a16="http://schemas.microsoft.com/office/drawing/2014/main" id="{AC2755EE-108C-43B8-AFB9-CC26D142CAF6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graphicFrame>
        <p:nvGraphicFramePr>
          <p:cNvPr id="9" name="表格 8"/>
          <p:cNvGraphicFramePr/>
          <p:nvPr/>
        </p:nvGraphicFramePr>
        <p:xfrm>
          <a:off x="609600" y="1685925"/>
          <a:ext cx="10972800" cy="4200526"/>
        </p:xfrm>
        <a:graphic>
          <a:graphicData uri="http://schemas.openxmlformats.org/drawingml/2006/table">
            <a:tbl>
              <a:tblPr/>
              <a:tblGrid>
                <a:gridCol w="176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9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84409">
                <a:tc>
                  <a:txBody>
                    <a:bodyPr/>
                    <a:lstStyle/>
                    <a:p>
                      <a:pPr algn="l">
                        <a:lnSpc>
                          <a:spcPts val="207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72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Cấp độ</a:t>
                      </a:r>
                    </a:p>
                    <a:p>
                      <a:pPr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2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200" b="0">
                          <a:solidFill>
                            <a:srgbClr val="D6E6E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等級</a:t>
                      </a:r>
                    </a:p>
                  </a:txBody>
                  <a:tcPr marL="133350" marR="133350" marT="47625" marB="47625" anchor="ctr">
                    <a:solidFill>
                      <a:srgbClr val="1029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7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72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Hệ thống làm gì?</a:t>
                      </a:r>
                    </a:p>
                    <a:p>
                      <a:pPr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2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200" b="0">
                          <a:solidFill>
                            <a:srgbClr val="D6E6E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系統執行內容</a:t>
                      </a:r>
                    </a:p>
                  </a:txBody>
                  <a:tcPr marL="133350" marR="133350" marT="47625" marB="47625" anchor="ctr">
                    <a:solidFill>
                      <a:srgbClr val="1029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7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72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Con người làm gì?</a:t>
                      </a:r>
                    </a:p>
                    <a:p>
                      <a:pPr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2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200" b="0">
                          <a:solidFill>
                            <a:srgbClr val="D6E6E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人的工作</a:t>
                      </a:r>
                    </a:p>
                  </a:txBody>
                  <a:tcPr marL="133350" marR="133350" marT="47625" marB="47625" anchor="ctr">
                    <a:solidFill>
                      <a:srgbClr val="1029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7299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L0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725" b="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Không tự động hóa liên tục. Có thể cảnh</a:t>
                      </a:r>
                    </a:p>
                    <a:p>
                      <a:pPr algn="l">
                        <a:lnSpc>
                          <a:spcPts val="207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7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725" b="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báo hoặc can thiệp ngắn.</a:t>
                      </a:r>
                    </a:p>
                    <a:p>
                      <a:pPr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200" b="0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無持續自動化　可有警示或短暫介入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7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7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725" b="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Liên tục lái xe và giám sát</a:t>
                      </a:r>
                    </a:p>
                    <a:p>
                      <a:pPr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200" b="0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持續駕駛與監督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4409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L1</a:t>
                      </a:r>
                    </a:p>
                  </a:txBody>
                  <a:tcPr marL="133350" marR="133350" marT="47625" marB="47625" anchor="ctr"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7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7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725" b="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Liên tục điều khiển hướng lái hoặc tốc độ</a:t>
                      </a:r>
                    </a:p>
                    <a:p>
                      <a:pPr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200" b="0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持續控制方向或速度其中一項</a:t>
                      </a:r>
                    </a:p>
                  </a:txBody>
                  <a:tcPr marL="133350" marR="133350" marT="47625" marB="47625" anchor="ctr"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7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7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725" b="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Giám sát liên tục, làm các nhiệm vụ còn lại</a:t>
                      </a:r>
                    </a:p>
                    <a:p>
                      <a:pPr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200" b="0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持續監督，處理其餘任務</a:t>
                      </a:r>
                    </a:p>
                  </a:txBody>
                  <a:tcPr marL="133350" marR="133350" marT="47625" marB="47625" anchor="ctr">
                    <a:solidFill>
                      <a:srgbClr val="E8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4409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L2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7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7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725" b="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Liên tục điều khiển cả hướng lái và tốc độ</a:t>
                      </a:r>
                    </a:p>
                    <a:p>
                      <a:pPr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200" b="0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同時持續控制方向與速度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7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7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725" b="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Giám sát liên tục, can thiệp khi cần</a:t>
                      </a:r>
                    </a:p>
                    <a:p>
                      <a:pPr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200" b="0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持續監督，必要時介入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資料：SAE J3016；完整來源見備忘稿">
            <a:extLst>
              <a:ext uri="{FF2B5EF4-FFF2-40B4-BE49-F238E27FC236}">
                <a16:creationId xmlns:a16="http://schemas.microsoft.com/office/drawing/2014/main" id="{24B5CE03-C5CC-4EB7-8827-2C191E041E94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477500" cy="485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300"/>
              </a:spcAft>
              <a:defRPr sz="1013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1012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Nguồn: SAE J3016. Xem nguồn đầy đủ trong ghi chú thuyết trình.</a:t>
            </a:r>
          </a:p>
          <a:p>
            <a:pPr algn="l">
              <a:lnSpc>
                <a:spcPts val="945"/>
              </a:lnSpc>
              <a:spcBef>
                <a:spcPts val="0"/>
              </a:spcBef>
              <a:spcAft>
                <a:spcPts val="0"/>
              </a:spcAft>
              <a:defRPr sz="1013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788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資料：SAE J3016；完整來源見備忘稿</a:t>
            </a:r>
          </a:p>
        </p:txBody>
      </p:sp>
    </p:spTree>
    <p:extLst>
      <p:ext uri="{BB962C8B-B14F-4D97-AF65-F5344CB8AC3E}">
        <p14:creationId xmlns:p14="http://schemas.microsoft.com/office/powerpoint/2010/main" val="843538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3 到 L5：系統執行完整駕駛任務">
            <a:extLst>
              <a:ext uri="{FF2B5EF4-FFF2-40B4-BE49-F238E27FC236}">
                <a16:creationId xmlns:a16="http://schemas.microsoft.com/office/drawing/2014/main" id="{EB2C375E-2279-4889-BE67-43DF22B25B5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1019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3240"/>
              </a:lnSpc>
              <a:spcBef>
                <a:spcPts val="0"/>
              </a:spcBef>
              <a:spcAft>
                <a:spcPts val="30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700" b="1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L3–L5: Hệ thống thực hiện toàn bộ nhiệm vụ lái xe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650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L3 到 L5：系統執行完整駕駛任務</a:t>
            </a:r>
          </a:p>
        </p:txBody>
      </p:sp>
      <p:sp>
        <p:nvSpPr>
          <p:cNvPr id="2" name="06">
            <a:extLst>
              <a:ext uri="{FF2B5EF4-FFF2-40B4-BE49-F238E27FC236}">
                <a16:creationId xmlns:a16="http://schemas.microsoft.com/office/drawing/2014/main" id="{57A52B1C-E9F0-46DB-8ACA-794D134FCA90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graphicFrame>
        <p:nvGraphicFramePr>
          <p:cNvPr id="9" name="表格 8"/>
          <p:cNvGraphicFramePr/>
          <p:nvPr/>
        </p:nvGraphicFramePr>
        <p:xfrm>
          <a:off x="609600" y="1685925"/>
          <a:ext cx="10972800" cy="4200525"/>
        </p:xfrm>
        <a:graphic>
          <a:graphicData uri="http://schemas.openxmlformats.org/drawingml/2006/table">
            <a:tbl>
              <a:tblPr/>
              <a:tblGrid>
                <a:gridCol w="176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9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84409">
                <a:tc>
                  <a:txBody>
                    <a:bodyPr/>
                    <a:lstStyle/>
                    <a:p>
                      <a:pPr algn="l">
                        <a:lnSpc>
                          <a:spcPts val="207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72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Cấp độ</a:t>
                      </a:r>
                    </a:p>
                    <a:p>
                      <a:pPr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2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200" b="0">
                          <a:solidFill>
                            <a:srgbClr val="D6E6E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等級</a:t>
                      </a:r>
                    </a:p>
                  </a:txBody>
                  <a:tcPr marL="133350" marR="133350" marT="47625" marB="47625" anchor="ctr">
                    <a:solidFill>
                      <a:srgbClr val="1029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7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72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Phạm vi hoạt động</a:t>
                      </a:r>
                    </a:p>
                    <a:p>
                      <a:pPr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2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200" b="0">
                          <a:solidFill>
                            <a:srgbClr val="D6E6E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運作範圍</a:t>
                      </a:r>
                    </a:p>
                  </a:txBody>
                  <a:tcPr marL="133350" marR="133350" marT="47625" marB="47625" anchor="ctr">
                    <a:solidFill>
                      <a:srgbClr val="1029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7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72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Xử lý khi lỗi hoặc vượt điều kiện</a:t>
                      </a:r>
                    </a:p>
                    <a:p>
                      <a:pPr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2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200" b="0">
                          <a:solidFill>
                            <a:srgbClr val="D6E6E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故障／超出條件時的應變</a:t>
                      </a:r>
                    </a:p>
                  </a:txBody>
                  <a:tcPr marL="133350" marR="133350" marT="47625" marB="47625" anchor="ctr">
                    <a:solidFill>
                      <a:srgbClr val="1029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4409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L3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7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7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725" b="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Trong ODD giới hạn</a:t>
                      </a:r>
                    </a:p>
                    <a:p>
                      <a:pPr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200" b="0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限定的 ODD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7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7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725" b="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Người sẵn sàng tiếp quản phản ứng</a:t>
                      </a:r>
                    </a:p>
                    <a:p>
                      <a:pPr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200" b="0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可接手的人回應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4409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L4</a:t>
                      </a:r>
                    </a:p>
                  </a:txBody>
                  <a:tcPr marL="133350" marR="133350" marT="47625" marB="47625" anchor="ctr"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7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7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725" b="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Trong ODD giới hạn</a:t>
                      </a:r>
                    </a:p>
                    <a:p>
                      <a:pPr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200" b="0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限定的 ODD</a:t>
                      </a:r>
                    </a:p>
                  </a:txBody>
                  <a:tcPr marL="133350" marR="133350" marT="47625" marB="47625" anchor="ctr"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7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7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725" b="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Hệ thống thực hiện</a:t>
                      </a:r>
                    </a:p>
                    <a:p>
                      <a:pPr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200" b="0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系統完成</a:t>
                      </a:r>
                    </a:p>
                  </a:txBody>
                  <a:tcPr marL="133350" marR="133350" marT="47625" marB="47625" anchor="ctr">
                    <a:solidFill>
                      <a:srgbClr val="E8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7299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L5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725" b="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Các điều kiện đường bộ mà con người có</a:t>
                      </a:r>
                    </a:p>
                    <a:p>
                      <a:pPr algn="l">
                        <a:lnSpc>
                          <a:spcPts val="207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7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725" b="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thể lái</a:t>
                      </a:r>
                    </a:p>
                    <a:p>
                      <a:pPr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200" b="0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人類可駕駛的道路條件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7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7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725" b="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Hệ thống thực hiện</a:t>
                      </a:r>
                    </a:p>
                    <a:p>
                      <a:pPr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200" b="0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系統完成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資料：SAE J3016；完整來源見備忘稿">
            <a:extLst>
              <a:ext uri="{FF2B5EF4-FFF2-40B4-BE49-F238E27FC236}">
                <a16:creationId xmlns:a16="http://schemas.microsoft.com/office/drawing/2014/main" id="{14D0B400-DDA9-4CDD-B667-F2DA86EDF484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477500" cy="485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300"/>
              </a:spcAft>
              <a:defRPr sz="1013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1012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Nguồn: SAE J3016. Xem nguồn đầy đủ trong ghi chú thuyết trình.</a:t>
            </a:r>
          </a:p>
          <a:p>
            <a:pPr algn="l">
              <a:lnSpc>
                <a:spcPts val="945"/>
              </a:lnSpc>
              <a:spcBef>
                <a:spcPts val="0"/>
              </a:spcBef>
              <a:spcAft>
                <a:spcPts val="0"/>
              </a:spcAft>
              <a:defRPr sz="1013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788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資料：SAE J3016；完整來源見備忘稿</a:t>
            </a:r>
          </a:p>
        </p:txBody>
      </p:sp>
    </p:spTree>
    <p:extLst>
      <p:ext uri="{BB962C8B-B14F-4D97-AF65-F5344CB8AC3E}">
        <p14:creationId xmlns:p14="http://schemas.microsoft.com/office/powerpoint/2010/main" val="1093951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2 與 L3：持續監督的差別">
            <a:extLst>
              <a:ext uri="{FF2B5EF4-FFF2-40B4-BE49-F238E27FC236}">
                <a16:creationId xmlns:a16="http://schemas.microsoft.com/office/drawing/2014/main" id="{F3F68C47-AAD5-4006-A901-3F83D3D0E90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1019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3240"/>
              </a:lnSpc>
              <a:spcBef>
                <a:spcPts val="0"/>
              </a:spcBef>
              <a:spcAft>
                <a:spcPts val="30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700" b="1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L2 và L3: Khác biệt về giám sát liên tục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650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L2 與 L3：持續監督的差別</a:t>
            </a:r>
          </a:p>
        </p:txBody>
      </p:sp>
      <p:sp>
        <p:nvSpPr>
          <p:cNvPr id="2" name="07">
            <a:extLst>
              <a:ext uri="{FF2B5EF4-FFF2-40B4-BE49-F238E27FC236}">
                <a16:creationId xmlns:a16="http://schemas.microsoft.com/office/drawing/2014/main" id="{F4C669ED-9394-41A2-915E-ADEDBB9E39F7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3" name="01">
            <a:extLst>
              <a:ext uri="{FF2B5EF4-FFF2-40B4-BE49-F238E27FC236}">
                <a16:creationId xmlns:a16="http://schemas.microsoft.com/office/drawing/2014/main" id="{EDD6D8E5-9D8B-4341-91EB-EE4C9F0F9799}"/>
              </a:ext>
            </a:extLst>
          </p:cNvPr>
          <p:cNvSpPr>
            <a:spLocks noGrp="1"/>
          </p:cNvSpPr>
          <p:nvPr/>
        </p:nvSpPr>
        <p:spPr>
          <a:xfrm>
            <a:off x="609600" y="1476375"/>
            <a:ext cx="1428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300" b="1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rPr>
              <a:t>L2</a:t>
            </a:r>
          </a:p>
        </p:txBody>
      </p:sp>
      <p:sp>
        <p:nvSpPr>
          <p:cNvPr id="4" name="L2　駕駛持續看路與監督">
            <a:extLst>
              <a:ext uri="{FF2B5EF4-FFF2-40B4-BE49-F238E27FC236}">
                <a16:creationId xmlns:a16="http://schemas.microsoft.com/office/drawing/2014/main" id="{7C5F805D-85B2-4E73-8809-8089E66AC9E2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5086350" cy="733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300"/>
              </a:spcAft>
              <a:defRPr sz="18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1800" b="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Người lái liên tục nhìn đường và giám sát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200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駕駛持續看路與監督</a:t>
            </a:r>
          </a:p>
        </p:txBody>
      </p:sp>
      <p:sp>
        <p:nvSpPr>
          <p:cNvPr id="5" name="02">
            <a:extLst>
              <a:ext uri="{FF2B5EF4-FFF2-40B4-BE49-F238E27FC236}">
                <a16:creationId xmlns:a16="http://schemas.microsoft.com/office/drawing/2014/main" id="{60EF623C-392E-44FF-983B-993F65646AA3}"/>
              </a:ext>
            </a:extLst>
          </p:cNvPr>
          <p:cNvSpPr>
            <a:spLocks noGrp="1"/>
          </p:cNvSpPr>
          <p:nvPr/>
        </p:nvSpPr>
        <p:spPr>
          <a:xfrm>
            <a:off x="6324600" y="1476375"/>
            <a:ext cx="1428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300" b="1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rPr>
              <a:t>L3</a:t>
            </a:r>
          </a:p>
        </p:txBody>
      </p:sp>
      <p:sp>
        <p:nvSpPr>
          <p:cNvPr id="6" name="L3　系統在條件內完成駕駛">
            <a:extLst>
              <a:ext uri="{FF2B5EF4-FFF2-40B4-BE49-F238E27FC236}">
                <a16:creationId xmlns:a16="http://schemas.microsoft.com/office/drawing/2014/main" id="{D823C6DF-9B7A-438D-AF31-965C8C7EBC1A}"/>
              </a:ext>
            </a:extLst>
          </p:cNvPr>
          <p:cNvSpPr>
            <a:spLocks noGrp="1"/>
          </p:cNvSpPr>
          <p:nvPr/>
        </p:nvSpPr>
        <p:spPr>
          <a:xfrm>
            <a:off x="6324600" y="1924050"/>
            <a:ext cx="5086350" cy="733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300"/>
              </a:spcAft>
              <a:defRPr sz="18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1800" b="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Hệ thống lái xe trong điều kiện cho phép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200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系統在條件內完成駕駛</a:t>
            </a:r>
          </a:p>
        </p:txBody>
      </p:sp>
      <p:sp>
        <p:nvSpPr>
          <p:cNvPr id="7" name="L3 的人仍須具備接手能力">
            <a:extLst>
              <a:ext uri="{FF2B5EF4-FFF2-40B4-BE49-F238E27FC236}">
                <a16:creationId xmlns:a16="http://schemas.microsoft.com/office/drawing/2014/main" id="{E6090C68-4FAA-4847-8FBA-4277DC6F818E}"/>
              </a:ext>
            </a:extLst>
          </p:cNvPr>
          <p:cNvSpPr>
            <a:spLocks noGrp="1"/>
          </p:cNvSpPr>
          <p:nvPr/>
        </p:nvSpPr>
        <p:spPr>
          <a:xfrm>
            <a:off x="609600" y="6181725"/>
            <a:ext cx="10477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990"/>
              </a:lnSpc>
              <a:spcBef>
                <a:spcPts val="0"/>
              </a:spcBef>
              <a:spcAft>
                <a:spcPts val="300"/>
              </a:spcAft>
              <a:defRPr sz="825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825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Ảnh minh họa dùng trong lớp. Không thể hiện tính năng đã được phê duyệt cho xe hay đường cụ thể.</a:t>
            </a:r>
          </a:p>
          <a:p>
            <a:pPr algn="l">
              <a:lnSpc>
                <a:spcPts val="801"/>
              </a:lnSpc>
              <a:spcBef>
                <a:spcPts val="0"/>
              </a:spcBef>
              <a:spcAft>
                <a:spcPts val="0"/>
              </a:spcAft>
              <a:defRPr sz="825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667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教學情境示意，非特定車款或在地道路的核准功能。</a:t>
            </a:r>
          </a:p>
        </p:txBody>
      </p:sp>
      <p:sp>
        <p:nvSpPr>
          <p:cNvPr id="8" name="資料：SAE J3016、Tesla；完整來源見備">
            <a:extLst>
              <a:ext uri="{FF2B5EF4-FFF2-40B4-BE49-F238E27FC236}">
                <a16:creationId xmlns:a16="http://schemas.microsoft.com/office/drawing/2014/main" id="{A3F9CCFA-384A-44EA-93A5-CAF7A4B484DE}"/>
              </a:ext>
            </a:extLst>
          </p:cNvPr>
          <p:cNvSpPr>
            <a:spLocks noGrp="1"/>
          </p:cNvSpPr>
          <p:nvPr/>
        </p:nvSpPr>
        <p:spPr>
          <a:xfrm>
            <a:off x="609600" y="646747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990"/>
              </a:lnSpc>
              <a:spcBef>
                <a:spcPts val="0"/>
              </a:spcBef>
              <a:spcAft>
                <a:spcPts val="300"/>
              </a:spcAft>
              <a:defRPr sz="825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825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Nguồn: SAE J3016, Ford BlueCruise, Mercedes-Benz DRIVE PILOT. Chi tiết trong ghi chú.</a:t>
            </a:r>
          </a:p>
          <a:p>
            <a:pPr algn="l">
              <a:lnSpc>
                <a:spcPts val="783"/>
              </a:lnSpc>
              <a:spcBef>
                <a:spcPts val="0"/>
              </a:spcBef>
              <a:spcAft>
                <a:spcPts val="0"/>
              </a:spcAft>
              <a:defRPr sz="825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652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資料：SAE J3016、Ford BlueCruise、Mercedes-Benz DRIVE PILOT，來源見備忘稿。</a:t>
            </a:r>
          </a:p>
        </p:txBody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64166" y="2762250"/>
            <a:ext cx="3977219" cy="2238375"/>
          </a:xfrm>
          <a:prstGeom prst="rect">
            <a:avLst/>
          </a:prstGeom>
        </p:spPr>
      </p:pic>
      <p:pic>
        <p:nvPicPr>
          <p:cNvPr id="25" name="圖片 2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79166" y="2762250"/>
            <a:ext cx="3977219" cy="2238375"/>
          </a:xfrm>
          <a:prstGeom prst="rect">
            <a:avLst/>
          </a:prstGeom>
        </p:spPr>
      </p:pic>
      <p:sp>
        <p:nvSpPr>
          <p:cNvPr id="12" name="雙手握方向盤、眼睛看路（圖示範例）&#10;部分 L2 可放手，仍須">
            <a:extLst>
              <a:ext uri="{FF2B5EF4-FFF2-40B4-BE49-F238E27FC236}">
                <a16:creationId xmlns:a16="http://schemas.microsoft.com/office/drawing/2014/main" id="{173ACDF2-9AAC-4864-B762-4737C21D5CC1}"/>
              </a:ext>
            </a:extLst>
          </p:cNvPr>
          <p:cNvSpPr>
            <a:spLocks noGrp="1"/>
          </p:cNvSpPr>
          <p:nvPr/>
        </p:nvSpPr>
        <p:spPr>
          <a:xfrm>
            <a:off x="609600" y="5076825"/>
            <a:ext cx="5086350" cy="1028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57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1575" b="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Ví dụ: giữ vô lăng, nhìn đường. Một số L2 cho phép</a:t>
            </a:r>
          </a:p>
          <a:p>
            <a:pPr algn="l">
              <a:lnSpc>
                <a:spcPts val="1890"/>
              </a:lnSpc>
              <a:spcBef>
                <a:spcPts val="0"/>
              </a:spcBef>
              <a:spcAft>
                <a:spcPts val="300"/>
              </a:spcAft>
              <a:defRPr sz="157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1575" b="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buông tay, nhưng vẫn phải giám sát liên tục.</a:t>
            </a:r>
          </a:p>
          <a:p>
            <a:pPr algn="l">
              <a:lnSpc>
                <a:spcPts val="1305"/>
              </a:lnSpc>
              <a:spcBef>
                <a:spcPts val="0"/>
              </a:spcBef>
              <a:spcAft>
                <a:spcPts val="0"/>
              </a:spcAft>
              <a:defRPr sz="157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088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雙手握方向盤、眼睛看路（圖示範例）　部分 L2 可放手，仍須持續監督。</a:t>
            </a:r>
          </a:p>
        </p:txBody>
      </p:sp>
      <p:sp>
        <p:nvSpPr>
          <p:cNvPr id="13" name="L3 啟用且法規、產品允許時可看手機&#10;須保持清醒，並回應接管">
            <a:extLst>
              <a:ext uri="{FF2B5EF4-FFF2-40B4-BE49-F238E27FC236}">
                <a16:creationId xmlns:a16="http://schemas.microsoft.com/office/drawing/2014/main" id="{0D3999D3-A23E-4256-84EE-3044F666422A}"/>
              </a:ext>
            </a:extLst>
          </p:cNvPr>
          <p:cNvSpPr>
            <a:spLocks noGrp="1"/>
          </p:cNvSpPr>
          <p:nvPr/>
        </p:nvSpPr>
        <p:spPr>
          <a:xfrm>
            <a:off x="6324600" y="5076825"/>
            <a:ext cx="5086350" cy="1028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57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1575" b="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Khi L3 hoạt động, chỉ dùng điện thoại nếu luật và sản</a:t>
            </a:r>
          </a:p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57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1575" b="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phẩm cho phép. Phải tỉnh táo và đáp ứng yêu cầu tiếp</a:t>
            </a:r>
          </a:p>
          <a:p>
            <a:pPr algn="l">
              <a:lnSpc>
                <a:spcPts val="1890"/>
              </a:lnSpc>
              <a:spcBef>
                <a:spcPts val="0"/>
              </a:spcBef>
              <a:spcAft>
                <a:spcPts val="300"/>
              </a:spcAft>
              <a:defRPr sz="157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1575" b="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quản.</a:t>
            </a:r>
          </a:p>
          <a:p>
            <a:pPr algn="l">
              <a:lnSpc>
                <a:spcPts val="1305"/>
              </a:lnSpc>
              <a:spcBef>
                <a:spcPts val="0"/>
              </a:spcBef>
              <a:spcAft>
                <a:spcPts val="0"/>
              </a:spcAft>
              <a:defRPr sz="157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088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L3 啟用且法規、產品允許時可看手機　須保持清醒，並回應接管要求。</a:t>
            </a:r>
          </a:p>
        </p:txBody>
      </p:sp>
    </p:spTree>
    <p:extLst>
      <p:ext uri="{BB962C8B-B14F-4D97-AF65-F5344CB8AC3E}">
        <p14:creationId xmlns:p14="http://schemas.microsoft.com/office/powerpoint/2010/main" val="1631030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3 與 L4：誰完成必要的應變">
            <a:extLst>
              <a:ext uri="{FF2B5EF4-FFF2-40B4-BE49-F238E27FC236}">
                <a16:creationId xmlns:a16="http://schemas.microsoft.com/office/drawing/2014/main" id="{C67CFAAB-6235-49E8-BC97-734A4788EA7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1019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3240"/>
              </a:lnSpc>
              <a:spcBef>
                <a:spcPts val="0"/>
              </a:spcBef>
              <a:spcAft>
                <a:spcPts val="30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700" b="1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L3 và L4: Ai thực hiện xử lý dự phòng?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650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L3 與 L4：誰完成必要的應變</a:t>
            </a:r>
          </a:p>
        </p:txBody>
      </p:sp>
      <p:sp>
        <p:nvSpPr>
          <p:cNvPr id="2" name="08">
            <a:extLst>
              <a:ext uri="{FF2B5EF4-FFF2-40B4-BE49-F238E27FC236}">
                <a16:creationId xmlns:a16="http://schemas.microsoft.com/office/drawing/2014/main" id="{7C9B3A74-ABD7-4181-9FB9-513C7003F1F3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3" name="01">
            <a:extLst>
              <a:ext uri="{FF2B5EF4-FFF2-40B4-BE49-F238E27FC236}">
                <a16:creationId xmlns:a16="http://schemas.microsoft.com/office/drawing/2014/main" id="{043C89B5-B546-4C7F-A4E0-7849D8164570}"/>
              </a:ext>
            </a:extLst>
          </p:cNvPr>
          <p:cNvSpPr>
            <a:spLocks noGrp="1"/>
          </p:cNvSpPr>
          <p:nvPr/>
        </p:nvSpPr>
        <p:spPr>
          <a:xfrm>
            <a:off x="609600" y="1895475"/>
            <a:ext cx="14287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900" b="1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4" name="L3　預期由可接手的人回應">
            <a:extLst>
              <a:ext uri="{FF2B5EF4-FFF2-40B4-BE49-F238E27FC236}">
                <a16:creationId xmlns:a16="http://schemas.microsoft.com/office/drawing/2014/main" id="{DBD99432-618B-4CE2-A881-72315798D9AA}"/>
              </a:ext>
            </a:extLst>
          </p:cNvPr>
          <p:cNvSpPr>
            <a:spLocks noGrp="1"/>
          </p:cNvSpPr>
          <p:nvPr/>
        </p:nvSpPr>
        <p:spPr>
          <a:xfrm>
            <a:off x="609600" y="2905125"/>
            <a:ext cx="5086350" cy="1619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790"/>
              </a:lnSpc>
              <a:spcBef>
                <a:spcPts val="0"/>
              </a:spcBef>
              <a:spcAft>
                <a:spcPts val="0"/>
              </a:spcAft>
              <a:defRPr sz="23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325" b="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L3: Dự kiến người sẵn sàng tiếp quản</a:t>
            </a:r>
          </a:p>
          <a:p>
            <a:pPr algn="l">
              <a:lnSpc>
                <a:spcPts val="2790"/>
              </a:lnSpc>
              <a:spcBef>
                <a:spcPts val="0"/>
              </a:spcBef>
              <a:spcAft>
                <a:spcPts val="300"/>
              </a:spcAft>
              <a:defRPr sz="23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325" b="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sẽ phản ứng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23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500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L3　預期由可接手的人回應</a:t>
            </a:r>
          </a:p>
        </p:txBody>
      </p:sp>
      <p:sp>
        <p:nvSpPr>
          <p:cNvPr id="5" name="02">
            <a:extLst>
              <a:ext uri="{FF2B5EF4-FFF2-40B4-BE49-F238E27FC236}">
                <a16:creationId xmlns:a16="http://schemas.microsoft.com/office/drawing/2014/main" id="{9BC5BB66-5D12-4A89-80FF-450868261548}"/>
              </a:ext>
            </a:extLst>
          </p:cNvPr>
          <p:cNvSpPr>
            <a:spLocks noGrp="1"/>
          </p:cNvSpPr>
          <p:nvPr/>
        </p:nvSpPr>
        <p:spPr>
          <a:xfrm>
            <a:off x="6324600" y="1895475"/>
            <a:ext cx="14287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900" b="1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6" name="L4　系統完成必要的應變">
            <a:extLst>
              <a:ext uri="{FF2B5EF4-FFF2-40B4-BE49-F238E27FC236}">
                <a16:creationId xmlns:a16="http://schemas.microsoft.com/office/drawing/2014/main" id="{E9C46E37-8573-4F32-871A-3794F008A580}"/>
              </a:ext>
            </a:extLst>
          </p:cNvPr>
          <p:cNvSpPr>
            <a:spLocks noGrp="1"/>
          </p:cNvSpPr>
          <p:nvPr/>
        </p:nvSpPr>
        <p:spPr>
          <a:xfrm>
            <a:off x="6324600" y="2905125"/>
            <a:ext cx="5086350" cy="1619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790"/>
              </a:lnSpc>
              <a:spcBef>
                <a:spcPts val="0"/>
              </a:spcBef>
              <a:spcAft>
                <a:spcPts val="0"/>
              </a:spcAft>
              <a:defRPr sz="23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325" b="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L4: Hệ thống thực hiện xử lý dự</a:t>
            </a:r>
          </a:p>
          <a:p>
            <a:pPr algn="l">
              <a:lnSpc>
                <a:spcPts val="2790"/>
              </a:lnSpc>
              <a:spcBef>
                <a:spcPts val="0"/>
              </a:spcBef>
              <a:spcAft>
                <a:spcPts val="300"/>
              </a:spcAft>
              <a:defRPr sz="23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325" b="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phòng cần thiết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23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500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L4　系統完成必要的應變</a:t>
            </a:r>
          </a:p>
        </p:txBody>
      </p:sp>
      <p:sp>
        <p:nvSpPr>
          <p:cNvPr id="7" name="有自動停車功能，仍要看整體分工">
            <a:extLst>
              <a:ext uri="{FF2B5EF4-FFF2-40B4-BE49-F238E27FC236}">
                <a16:creationId xmlns:a16="http://schemas.microsoft.com/office/drawing/2014/main" id="{B7CBA6C2-0EE5-41D0-A06D-2D368A0CEC2F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10972800" cy="819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610"/>
              </a:lnSpc>
              <a:spcBef>
                <a:spcPts val="0"/>
              </a:spcBef>
              <a:spcAft>
                <a:spcPts val="300"/>
              </a:spcAft>
              <a:defRPr sz="2175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175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Xe tự dừng vẫn chưa đủ. Cần xem toàn bộ phân công người và hệ thống.</a:t>
            </a:r>
          </a:p>
          <a:p>
            <a:pPr algn="l">
              <a:lnSpc>
                <a:spcPts val="1696"/>
              </a:lnSpc>
              <a:spcBef>
                <a:spcPts val="0"/>
              </a:spcBef>
              <a:spcAft>
                <a:spcPts val="0"/>
              </a:spcAft>
              <a:defRPr sz="2175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414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會自行煞停，仍須看完整的人機分工</a:t>
            </a:r>
          </a:p>
        </p:txBody>
      </p:sp>
      <p:sp>
        <p:nvSpPr>
          <p:cNvPr id="8" name="資料：SAE J3016、Mercedes-Ben">
            <a:extLst>
              <a:ext uri="{FF2B5EF4-FFF2-40B4-BE49-F238E27FC236}">
                <a16:creationId xmlns:a16="http://schemas.microsoft.com/office/drawing/2014/main" id="{B7BA8316-D30D-4571-B5E7-D3F7EDC1B061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477500" cy="485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300"/>
              </a:spcAft>
              <a:defRPr sz="1013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1012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Nguồn: SAE J3016, Mercedes-Benz. Chi tiết trong ghi chú thuyết trình.</a:t>
            </a:r>
          </a:p>
          <a:p>
            <a:pPr algn="l">
              <a:lnSpc>
                <a:spcPts val="945"/>
              </a:lnSpc>
              <a:spcBef>
                <a:spcPts val="0"/>
              </a:spcBef>
              <a:spcAft>
                <a:spcPts val="0"/>
              </a:spcAft>
              <a:defRPr sz="1013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788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資料：SAE J3016、Mercedes-Benz；完整來源見備忘稿</a:t>
            </a:r>
          </a:p>
        </p:txBody>
      </p:sp>
    </p:spTree>
    <p:extLst>
      <p:ext uri="{BB962C8B-B14F-4D97-AF65-F5344CB8AC3E}">
        <p14:creationId xmlns:p14="http://schemas.microsoft.com/office/powerpoint/2010/main" val="41908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DD：功能允許運作的條件">
            <a:extLst>
              <a:ext uri="{FF2B5EF4-FFF2-40B4-BE49-F238E27FC236}">
                <a16:creationId xmlns:a16="http://schemas.microsoft.com/office/drawing/2014/main" id="{3E377F97-E7BD-4D3A-B33A-DD8F0BB2668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1019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3240"/>
              </a:lnSpc>
              <a:spcBef>
                <a:spcPts val="0"/>
              </a:spcBef>
              <a:spcAft>
                <a:spcPts val="30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700" b="1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ODD: Miền điều kiện hoạt động theo thiết kế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650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ODD 的使用範圍</a:t>
            </a:r>
          </a:p>
        </p:txBody>
      </p:sp>
      <p:sp>
        <p:nvSpPr>
          <p:cNvPr id="2" name="09">
            <a:extLst>
              <a:ext uri="{FF2B5EF4-FFF2-40B4-BE49-F238E27FC236}">
                <a16:creationId xmlns:a16="http://schemas.microsoft.com/office/drawing/2014/main" id="{E4A77722-926A-47E8-B290-6B39B9A06204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609600" y="1495425"/>
          <a:ext cx="10972800" cy="2714625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5784">
                <a:tc>
                  <a:txBody>
                    <a:bodyPr/>
                    <a:lstStyle/>
                    <a:p>
                      <a:pPr algn="l">
                        <a:lnSpc>
                          <a:spcPts val="193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613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612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Đọc ODD cần xem gì?</a:t>
                      </a:r>
                    </a:p>
                    <a:p>
                      <a:pPr algn="l">
                        <a:lnSpc>
                          <a:spcPts val="13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13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132" b="0">
                          <a:solidFill>
                            <a:srgbClr val="D6E6E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讀 ODD 時看什麼</a:t>
                      </a:r>
                    </a:p>
                  </a:txBody>
                  <a:tcPr marL="133350" marR="133350" marT="47625" marB="47625" anchor="ctr">
                    <a:solidFill>
                      <a:srgbClr val="1029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3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613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612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Nội dung cần chú ý</a:t>
                      </a:r>
                    </a:p>
                    <a:p>
                      <a:pPr algn="l">
                        <a:lnSpc>
                          <a:spcPts val="13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13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132" b="0">
                          <a:solidFill>
                            <a:srgbClr val="D6E6E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關注的內容</a:t>
                      </a:r>
                    </a:p>
                  </a:txBody>
                  <a:tcPr marL="133350" marR="133350" marT="47625" marB="47625" anchor="ctr">
                    <a:solidFill>
                      <a:srgbClr val="1029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3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613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612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Cách ghi thường gặp</a:t>
                      </a:r>
                    </a:p>
                    <a:p>
                      <a:pPr algn="l">
                        <a:lnSpc>
                          <a:spcPts val="13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13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132" b="0">
                          <a:solidFill>
                            <a:srgbClr val="D6E6E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常見寫法</a:t>
                      </a:r>
                    </a:p>
                  </a:txBody>
                  <a:tcPr marL="133350" marR="133350" marT="47625" marB="47625" anchor="ctr">
                    <a:solidFill>
                      <a:srgbClr val="1029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784">
                <a:tc>
                  <a:txBody>
                    <a:bodyPr/>
                    <a:lstStyle/>
                    <a:p>
                      <a:pPr algn="l">
                        <a:lnSpc>
                          <a:spcPts val="193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612" b="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Xe chạy ở đâu?</a:t>
                      </a:r>
                    </a:p>
                    <a:p>
                      <a:pPr algn="l">
                        <a:lnSpc>
                          <a:spcPts val="13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132" b="0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在哪裡行駛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3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612" b="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Tuyến và phạm vi đường</a:t>
                      </a:r>
                    </a:p>
                    <a:p>
                      <a:pPr algn="l">
                        <a:lnSpc>
                          <a:spcPts val="13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132" b="0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路線與道路範圍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3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612" b="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Tuyến, khuôn viên hoặc đường chỉ định</a:t>
                      </a:r>
                    </a:p>
                    <a:p>
                      <a:pPr algn="l">
                        <a:lnSpc>
                          <a:spcPts val="13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132" b="0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指定路線、園區或道路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1529">
                <a:tc>
                  <a:txBody>
                    <a:bodyPr/>
                    <a:lstStyle/>
                    <a:p>
                      <a:pPr algn="l">
                        <a:lnSpc>
                          <a:spcPts val="193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612" b="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Dùng trong môi trường</a:t>
                      </a:r>
                    </a:p>
                    <a:p>
                      <a:pPr algn="l">
                        <a:lnSpc>
                          <a:spcPts val="193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612" b="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nào?</a:t>
                      </a:r>
                    </a:p>
                    <a:p>
                      <a:pPr algn="l">
                        <a:lnSpc>
                          <a:spcPts val="13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132" b="0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什麼環境下使用</a:t>
                      </a:r>
                    </a:p>
                  </a:txBody>
                  <a:tcPr marL="133350" marR="133350" marT="47625" marB="47625" anchor="ctr"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3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612" b="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Ánh sáng, thời tiết, mặt đường</a:t>
                      </a:r>
                    </a:p>
                    <a:p>
                      <a:pPr algn="l">
                        <a:lnSpc>
                          <a:spcPts val="13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132" b="0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光照、天候與路面</a:t>
                      </a:r>
                    </a:p>
                  </a:txBody>
                  <a:tcPr marL="133350" marR="133350" marT="47625" marB="47625" anchor="ctr"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3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612" b="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Ban ngày, không mưa, mặt đường khô</a:t>
                      </a:r>
                    </a:p>
                    <a:p>
                      <a:pPr algn="l">
                        <a:lnSpc>
                          <a:spcPts val="13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132" b="0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白天、無雨、乾燥路面</a:t>
                      </a:r>
                    </a:p>
                  </a:txBody>
                  <a:tcPr marL="133350" marR="133350" marT="47625" marB="47625" anchor="ctr">
                    <a:solidFill>
                      <a:srgbClr val="E8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1529">
                <a:tc>
                  <a:txBody>
                    <a:bodyPr/>
                    <a:lstStyle/>
                    <a:p>
                      <a:pPr algn="l">
                        <a:lnSpc>
                          <a:spcPts val="193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612" b="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Giao thông và xe đang</a:t>
                      </a:r>
                    </a:p>
                    <a:p>
                      <a:pPr algn="l">
                        <a:lnSpc>
                          <a:spcPts val="193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612" b="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xét</a:t>
                      </a:r>
                    </a:p>
                    <a:p>
                      <a:pPr algn="l">
                        <a:lnSpc>
                          <a:spcPts val="13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132" b="0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交通與本車運作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3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612" b="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Người tham gia giao thông, tốc độ</a:t>
                      </a:r>
                    </a:p>
                    <a:p>
                      <a:pPr algn="l">
                        <a:lnSpc>
                          <a:spcPts val="193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612" b="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xe</a:t>
                      </a:r>
                    </a:p>
                    <a:p>
                      <a:pPr algn="l">
                        <a:lnSpc>
                          <a:spcPts val="13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132" b="0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用路者及本車速度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3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612" b="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Người đi bộ, xe đạp, dải tốc độ</a:t>
                      </a:r>
                    </a:p>
                    <a:p>
                      <a:pPr algn="l">
                        <a:lnSpc>
                          <a:spcPts val="13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132" b="0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行人、自行車、速度範圍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odd-summary-vi">
            <a:extLst>
              <a:ext uri="{FF2B5EF4-FFF2-40B4-BE49-F238E27FC236}">
                <a16:creationId xmlns:a16="http://schemas.microsoft.com/office/drawing/2014/main" id="{71943975-2AE4-438F-894C-B61F9476E018}"/>
              </a:ext>
            </a:extLst>
          </p:cNvPr>
          <p:cNvSpPr>
            <a:spLocks noGrp="1"/>
          </p:cNvSpPr>
          <p:nvPr/>
        </p:nvSpPr>
        <p:spPr>
          <a:xfrm>
            <a:off x="609600" y="44005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0087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1650" b="0">
                <a:solidFill>
                  <a:srgbClr val="00878A"/>
                </a:solidFill>
                <a:latin typeface="Arial Unicode MS"/>
                <a:ea typeface="Arial Unicode MS"/>
                <a:cs typeface="Arial Unicode MS"/>
              </a:rPr>
              <a:t>ODD nêu các điều kiện mà chức năng được thiết kế để hoạt động.</a:t>
            </a:r>
          </a:p>
        </p:txBody>
      </p:sp>
      <p:sp>
        <p:nvSpPr>
          <p:cNvPr id="16" name="odd-summary-zh">
            <a:extLst>
              <a:ext uri="{FF2B5EF4-FFF2-40B4-BE49-F238E27FC236}">
                <a16:creationId xmlns:a16="http://schemas.microsoft.com/office/drawing/2014/main" id="{A0458685-33AF-47B5-841B-FA05C63DF228}"/>
              </a:ext>
            </a:extLst>
          </p:cNvPr>
          <p:cNvSpPr>
            <a:spLocks noGrp="1"/>
          </p:cNvSpPr>
          <p:nvPr/>
        </p:nvSpPr>
        <p:spPr>
          <a:xfrm>
            <a:off x="609600" y="4810125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5263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200" b="0">
                <a:solidFill>
                  <a:srgbClr val="52636C"/>
                </a:solidFill>
                <a:latin typeface="Arial Unicode MS"/>
                <a:ea typeface="Arial Unicode MS"/>
                <a:cs typeface="Arial Unicode MS"/>
              </a:rPr>
              <a:t>ODD 說明功能設計在哪些條件下運作。</a:t>
            </a:r>
          </a:p>
        </p:txBody>
      </p:sp>
      <p:sp>
        <p:nvSpPr>
          <p:cNvPr id="17" name="odd-scope-vi">
            <a:extLst>
              <a:ext uri="{FF2B5EF4-FFF2-40B4-BE49-F238E27FC236}">
                <a16:creationId xmlns:a16="http://schemas.microsoft.com/office/drawing/2014/main" id="{E80050E3-B40F-4E52-8089-4A4B9DC8868B}"/>
              </a:ext>
            </a:extLst>
          </p:cNvPr>
          <p:cNvSpPr>
            <a:spLocks noGrp="1"/>
          </p:cNvSpPr>
          <p:nvPr/>
        </p:nvSpPr>
        <p:spPr>
          <a:xfrm>
            <a:off x="609600" y="5229225"/>
            <a:ext cx="5210175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1029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1650" b="0">
                <a:solidFill>
                  <a:srgbClr val="102936"/>
                </a:solidFill>
                <a:latin typeface="Arial Unicode MS"/>
                <a:ea typeface="Arial Unicode MS"/>
                <a:cs typeface="Arial Unicode MS"/>
              </a:rPr>
              <a:t>Cần đọc cả phạm vi cho phép,</a:t>
            </a: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1029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1650" b="0">
                <a:solidFill>
                  <a:srgbClr val="102936"/>
                </a:solidFill>
                <a:latin typeface="Arial Unicode MS"/>
                <a:ea typeface="Arial Unicode MS"/>
                <a:cs typeface="Arial Unicode MS"/>
              </a:rPr>
              <a:t>điều kiện loại trừ và điều kiện kèm theo.</a:t>
            </a:r>
          </a:p>
        </p:txBody>
      </p:sp>
      <p:sp>
        <p:nvSpPr>
          <p:cNvPr id="18" name="odd-scope-zh">
            <a:extLst>
              <a:ext uri="{FF2B5EF4-FFF2-40B4-BE49-F238E27FC236}">
                <a16:creationId xmlns:a16="http://schemas.microsoft.com/office/drawing/2014/main" id="{723F5E91-4AA9-4CBD-9442-C6E5E3D9CB8C}"/>
              </a:ext>
            </a:extLst>
          </p:cNvPr>
          <p:cNvSpPr>
            <a:spLocks noGrp="1"/>
          </p:cNvSpPr>
          <p:nvPr/>
        </p:nvSpPr>
        <p:spPr>
          <a:xfrm>
            <a:off x="609600" y="5838825"/>
            <a:ext cx="5210175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5263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200" b="0">
                <a:solidFill>
                  <a:srgbClr val="52636C"/>
                </a:solidFill>
                <a:latin typeface="Arial Unicode MS"/>
                <a:ea typeface="Arial Unicode MS"/>
                <a:cs typeface="Arial Unicode MS"/>
              </a:rPr>
              <a:t>包含允許範圍，也要看排除與附帶條件。</a:t>
            </a:r>
          </a:p>
        </p:txBody>
      </p:sp>
      <p:sp>
        <p:nvSpPr>
          <p:cNvPr id="19" name="odd-next-vi">
            <a:extLst>
              <a:ext uri="{FF2B5EF4-FFF2-40B4-BE49-F238E27FC236}">
                <a16:creationId xmlns:a16="http://schemas.microsoft.com/office/drawing/2014/main" id="{BE3BBF42-65A8-4892-9372-2CE77E36BBF7}"/>
              </a:ext>
            </a:extLst>
          </p:cNvPr>
          <p:cNvSpPr>
            <a:spLocks noGrp="1"/>
          </p:cNvSpPr>
          <p:nvPr/>
        </p:nvSpPr>
        <p:spPr>
          <a:xfrm>
            <a:off x="6419850" y="5229225"/>
            <a:ext cx="516255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1029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1650" b="0">
                <a:solidFill>
                  <a:srgbClr val="102936"/>
                </a:solidFill>
                <a:latin typeface="Arial Unicode MS"/>
                <a:ea typeface="Arial Unicode MS"/>
                <a:cs typeface="Arial Unicode MS"/>
              </a:rPr>
              <a:t>Tiết này đọc hiểu điều kiện.</a:t>
            </a: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1029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1650" b="0">
                <a:solidFill>
                  <a:srgbClr val="102936"/>
                </a:solidFill>
                <a:latin typeface="Arial Unicode MS"/>
                <a:ea typeface="Arial Unicode MS"/>
                <a:cs typeface="Arial Unicode MS"/>
              </a:rPr>
              <a:t>Tiết 3 luyện cách tổng hợp và đánh giá.</a:t>
            </a:r>
          </a:p>
        </p:txBody>
      </p:sp>
      <p:sp>
        <p:nvSpPr>
          <p:cNvPr id="20" name="odd-next-zh">
            <a:extLst>
              <a:ext uri="{FF2B5EF4-FFF2-40B4-BE49-F238E27FC236}">
                <a16:creationId xmlns:a16="http://schemas.microsoft.com/office/drawing/2014/main" id="{ECA758F0-A42A-486B-8B06-118FD29EDE8B}"/>
              </a:ext>
            </a:extLst>
          </p:cNvPr>
          <p:cNvSpPr>
            <a:spLocks noGrp="1"/>
          </p:cNvSpPr>
          <p:nvPr/>
        </p:nvSpPr>
        <p:spPr>
          <a:xfrm>
            <a:off x="6419850" y="5838825"/>
            <a:ext cx="5162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5263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200" b="0">
                <a:solidFill>
                  <a:srgbClr val="52636C"/>
                </a:solidFill>
                <a:latin typeface="Arial Unicode MS"/>
                <a:ea typeface="Arial Unicode MS"/>
                <a:cs typeface="Arial Unicode MS"/>
              </a:rPr>
              <a:t>本節先讀懂條件；第三節再練習整理與判斷。</a:t>
            </a:r>
          </a:p>
        </p:txBody>
      </p:sp>
      <p:sp>
        <p:nvSpPr>
          <p:cNvPr id="21" name="odd-source-vi">
            <a:extLst>
              <a:ext uri="{FF2B5EF4-FFF2-40B4-BE49-F238E27FC236}">
                <a16:creationId xmlns:a16="http://schemas.microsoft.com/office/drawing/2014/main" id="{4229B8A6-5641-4484-A7D8-B59FD71137B5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10477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975" b="0">
                <a:solidFill>
                  <a:srgbClr val="5263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975" b="0">
                <a:solidFill>
                  <a:srgbClr val="52636C"/>
                </a:solidFill>
                <a:latin typeface="Arial Unicode MS"/>
                <a:ea typeface="Arial Unicode MS"/>
                <a:cs typeface="Arial Unicode MS"/>
              </a:rPr>
              <a:t>Diễn giải đơn giản theo ISO 34503:2023. Bảng gợi ý cách đọc, không phải phân loại chính thức hay ODD đầy đủ.</a:t>
            </a:r>
          </a:p>
        </p:txBody>
      </p:sp>
      <p:sp>
        <p:nvSpPr>
          <p:cNvPr id="22" name="odd-source-zh">
            <a:extLst>
              <a:ext uri="{FF2B5EF4-FFF2-40B4-BE49-F238E27FC236}">
                <a16:creationId xmlns:a16="http://schemas.microsoft.com/office/drawing/2014/main" id="{3EE490C1-22F9-4B60-BB8A-1A0404348CD1}"/>
              </a:ext>
            </a:extLst>
          </p:cNvPr>
          <p:cNvSpPr>
            <a:spLocks noGrp="1"/>
          </p:cNvSpPr>
          <p:nvPr/>
        </p:nvSpPr>
        <p:spPr>
          <a:xfrm>
            <a:off x="609600" y="6581775"/>
            <a:ext cx="10477500" cy="15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750" b="0">
                <a:solidFill>
                  <a:srgbClr val="5263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750" b="0">
                <a:solidFill>
                  <a:srgbClr val="52636C"/>
                </a:solidFill>
                <a:latin typeface="Arial Unicode MS"/>
                <a:ea typeface="Arial Unicode MS"/>
                <a:cs typeface="Arial Unicode MS"/>
              </a:rPr>
              <a:t>依 ISO 34503:2023 概念作生活化解說；本表為閱讀提示，非正式分類或完整 ODD。</a:t>
            </a:r>
          </a:p>
        </p:txBody>
      </p:sp>
    </p:spTree>
    <p:extLst>
      <p:ext uri="{BB962C8B-B14F-4D97-AF65-F5344CB8AC3E}">
        <p14:creationId xmlns:p14="http://schemas.microsoft.com/office/powerpoint/2010/main" val="337925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校園接駁車的 ODD 範例">
            <a:extLst>
              <a:ext uri="{FF2B5EF4-FFF2-40B4-BE49-F238E27FC236}">
                <a16:creationId xmlns:a16="http://schemas.microsoft.com/office/drawing/2014/main" id="{161B10B0-EA34-485C-9A9F-61D42878735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3240"/>
              </a:lnSpc>
              <a:spcBef>
                <a:spcPts val="0"/>
              </a:spcBef>
              <a:spcAft>
                <a:spcPts val="30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700" b="1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Điều kiện sử dụng xe đưa đón trong trường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650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校園接駁車的使用條件</a:t>
            </a:r>
          </a:p>
        </p:txBody>
      </p:sp>
      <p:sp>
        <p:nvSpPr>
          <p:cNvPr id="2" name="10">
            <a:extLst>
              <a:ext uri="{FF2B5EF4-FFF2-40B4-BE49-F238E27FC236}">
                <a16:creationId xmlns:a16="http://schemas.microsoft.com/office/drawing/2014/main" id="{D88225BE-049C-48AF-BE8E-B03C4FBA2A01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graphicFrame>
        <p:nvGraphicFramePr>
          <p:cNvPr id="11" name="校園接駁使用條件"/>
          <p:cNvGraphicFramePr/>
          <p:nvPr/>
        </p:nvGraphicFramePr>
        <p:xfrm>
          <a:off x="609600" y="1400175"/>
          <a:ext cx="10972800" cy="3924300"/>
        </p:xfrm>
        <a:graphic>
          <a:graphicData uri="http://schemas.openxmlformats.org/drawingml/2006/table">
            <a:tbl>
              <a:tblPr/>
              <a:tblGrid>
                <a:gridCol w="252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4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l">
                        <a:lnSpc>
                          <a:spcPts val="1805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defRPr sz="1613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612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Mục điều kiện</a:t>
                      </a:r>
                    </a:p>
                    <a:p>
                      <a:pPr algn="l">
                        <a:lnSpc>
                          <a:spcPts val="121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13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088" b="0">
                          <a:solidFill>
                            <a:srgbClr val="D6E6E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條件項目</a:t>
                      </a:r>
                    </a:p>
                  </a:txBody>
                  <a:tcPr marL="133350" marR="133350" marT="38100" marB="38100" anchor="ctr">
                    <a:solidFill>
                      <a:srgbClr val="1029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5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defRPr sz="1613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612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Phạm vi sử dụng trong ví dụ</a:t>
                      </a:r>
                    </a:p>
                    <a:p>
                      <a:pPr algn="l">
                        <a:lnSpc>
                          <a:spcPts val="121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13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088" b="0">
                          <a:solidFill>
                            <a:srgbClr val="D6E6E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本例的使用範圍</a:t>
                      </a:r>
                    </a:p>
                  </a:txBody>
                  <a:tcPr marL="133350" marR="133350" marT="38100" marB="38100" anchor="ctr">
                    <a:solidFill>
                      <a:srgbClr val="1029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lnSpc>
                          <a:spcPts val="1805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612" b="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Tuyến đường</a:t>
                      </a:r>
                    </a:p>
                    <a:p>
                      <a:pPr algn="l">
                        <a:lnSpc>
                          <a:spcPts val="121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088" b="0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路線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5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612" b="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Tuyến A từ cổng trường đến ký túc xá, không gồm đường vòng tạm thời</a:t>
                      </a:r>
                    </a:p>
                    <a:p>
                      <a:pPr algn="l">
                        <a:lnSpc>
                          <a:spcPts val="121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088" b="0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校門至宿舍的指定路線 A，不含臨時改道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>
                        <a:lnSpc>
                          <a:spcPts val="1805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612" b="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Thời tiết</a:t>
                      </a:r>
                    </a:p>
                    <a:p>
                      <a:pPr algn="l">
                        <a:lnSpc>
                          <a:spcPts val="121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088" b="0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天候</a:t>
                      </a:r>
                    </a:p>
                  </a:txBody>
                  <a:tcPr marL="133350" marR="133350" marT="38100" marB="38100" anchor="ctr"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5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612" b="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Không mưa</a:t>
                      </a:r>
                    </a:p>
                    <a:p>
                      <a:pPr algn="l">
                        <a:lnSpc>
                          <a:spcPts val="121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088" b="0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無雨</a:t>
                      </a:r>
                    </a:p>
                  </a:txBody>
                  <a:tcPr marL="133350" marR="133350" marT="38100" marB="38100" anchor="ctr">
                    <a:solidFill>
                      <a:srgbClr val="E8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>
                        <a:lnSpc>
                          <a:spcPts val="1805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612" b="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Mặt đường</a:t>
                      </a:r>
                    </a:p>
                    <a:p>
                      <a:pPr algn="l">
                        <a:lnSpc>
                          <a:spcPts val="121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088" b="0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路面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5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612" b="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Mặt đường khô</a:t>
                      </a:r>
                    </a:p>
                    <a:p>
                      <a:pPr algn="l">
                        <a:lnSpc>
                          <a:spcPts val="121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088" b="0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乾燥路面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lnSpc>
                          <a:spcPts val="1805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612" b="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Ánh sáng</a:t>
                      </a:r>
                    </a:p>
                    <a:p>
                      <a:pPr algn="l">
                        <a:lnSpc>
                          <a:spcPts val="121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088" b="0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光照</a:t>
                      </a:r>
                    </a:p>
                  </a:txBody>
                  <a:tcPr marL="133350" marR="133350" marT="38100" marB="38100" anchor="ctr"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5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612" b="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Ban ngày, không gồm ban đêm và chói sáng mạnh</a:t>
                      </a:r>
                    </a:p>
                    <a:p>
                      <a:pPr algn="l">
                        <a:lnSpc>
                          <a:spcPts val="121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088" b="0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白天，不含夜間與強烈眩光</a:t>
                      </a:r>
                    </a:p>
                  </a:txBody>
                  <a:tcPr marL="133350" marR="133350" marT="38100" marB="38100" anchor="ctr">
                    <a:solidFill>
                      <a:srgbClr val="E8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l">
                        <a:lnSpc>
                          <a:spcPts val="1805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612" b="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Người tham gia giao</a:t>
                      </a:r>
                    </a:p>
                    <a:p>
                      <a:pPr algn="l">
                        <a:lnSpc>
                          <a:spcPts val="1805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612" b="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thông</a:t>
                      </a:r>
                    </a:p>
                    <a:p>
                      <a:pPr algn="l">
                        <a:lnSpc>
                          <a:spcPts val="121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088" b="0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用路者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5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612" b="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Gồm người đi bộ, xe đạp và xe máy</a:t>
                      </a:r>
                    </a:p>
                    <a:p>
                      <a:pPr algn="l">
                        <a:lnSpc>
                          <a:spcPts val="121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088" b="0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包含行人、自行車與機車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ts val="1805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612" b="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Tốc độ xe đang xét</a:t>
                      </a:r>
                    </a:p>
                    <a:p>
                      <a:pPr algn="l">
                        <a:lnSpc>
                          <a:spcPts val="121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088" b="0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本車速度</a:t>
                      </a:r>
                    </a:p>
                  </a:txBody>
                  <a:tcPr marL="133350" marR="133350" marT="38100" marB="38100" anchor="ctr"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5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vi-VN" sz="1612" b="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0–20 km/h, vẫn tuân thủ giới hạn tốc độ thấp hơn trên đường</a:t>
                      </a:r>
                    </a:p>
                    <a:p>
                      <a:pPr algn="l">
                        <a:lnSpc>
                          <a:spcPts val="121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lang="zh-TW" sz="1088" b="0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0–20 km/h，仍須遵守道路較低速限</a:t>
                      </a:r>
                    </a:p>
                  </a:txBody>
                  <a:tcPr marL="133350" marR="133350" marT="38100" marB="38100" anchor="ctr">
                    <a:solidFill>
                      <a:srgbClr val="E8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campus-summary-vi">
            <a:extLst>
              <a:ext uri="{FF2B5EF4-FFF2-40B4-BE49-F238E27FC236}">
                <a16:creationId xmlns:a16="http://schemas.microsoft.com/office/drawing/2014/main" id="{0943465A-BDC8-4534-BB39-841615237604}"/>
              </a:ext>
            </a:extLst>
          </p:cNvPr>
          <p:cNvSpPr>
            <a:spLocks noGrp="1"/>
          </p:cNvSpPr>
          <p:nvPr/>
        </p:nvSpPr>
        <p:spPr>
          <a:xfrm>
            <a:off x="609600" y="56292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0087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1650" b="0">
                <a:solidFill>
                  <a:srgbClr val="00878A"/>
                </a:solidFill>
                <a:latin typeface="Arial Unicode MS"/>
                <a:ea typeface="Arial Unicode MS"/>
                <a:cs typeface="Arial Unicode MS"/>
              </a:rPr>
              <a:t>Đọc phạm vi sử dụng trước. Phân cấp vẫn cần xem phân công người và hệ thống.</a:t>
            </a:r>
          </a:p>
        </p:txBody>
      </p:sp>
      <p:sp>
        <p:nvSpPr>
          <p:cNvPr id="13" name="campus-summary-zh">
            <a:extLst>
              <a:ext uri="{FF2B5EF4-FFF2-40B4-BE49-F238E27FC236}">
                <a16:creationId xmlns:a16="http://schemas.microsoft.com/office/drawing/2014/main" id="{D4F742AA-4E6E-476E-8A39-200887D086CC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5263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200" b="0">
                <a:solidFill>
                  <a:srgbClr val="52636C"/>
                </a:solidFill>
                <a:latin typeface="Arial Unicode MS"/>
                <a:ea typeface="Arial Unicode MS"/>
                <a:cs typeface="Arial Unicode MS"/>
              </a:rPr>
              <a:t>先讀懂使用範圍；分級還要另外看人機分工。</a:t>
            </a:r>
          </a:p>
        </p:txBody>
      </p:sp>
      <p:sp>
        <p:nvSpPr>
          <p:cNvPr id="14" name="campus-source-vi">
            <a:extLst>
              <a:ext uri="{FF2B5EF4-FFF2-40B4-BE49-F238E27FC236}">
                <a16:creationId xmlns:a16="http://schemas.microsoft.com/office/drawing/2014/main" id="{FF822996-9D72-4D58-8A7E-D9DF425490CD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10477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975" b="0">
                <a:solidFill>
                  <a:srgbClr val="5263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975" b="0">
                <a:solidFill>
                  <a:srgbClr val="52636C"/>
                </a:solidFill>
                <a:latin typeface="Arial Unicode MS"/>
                <a:ea typeface="Arial Unicode MS"/>
                <a:cs typeface="Arial Unicode MS"/>
              </a:rPr>
              <a:t>Giả định lớp học, chỉ trích một phần ODD. 20 km/h không phải ngưỡng an toàn chung hay bằng chứng đã qua thử nghiệm.</a:t>
            </a:r>
          </a:p>
        </p:txBody>
      </p:sp>
      <p:sp>
        <p:nvSpPr>
          <p:cNvPr id="15" name="campus-source-zh">
            <a:extLst>
              <a:ext uri="{FF2B5EF4-FFF2-40B4-BE49-F238E27FC236}">
                <a16:creationId xmlns:a16="http://schemas.microsoft.com/office/drawing/2014/main" id="{317F52F0-B5D2-43E4-AB41-FC301A4288ED}"/>
              </a:ext>
            </a:extLst>
          </p:cNvPr>
          <p:cNvSpPr>
            <a:spLocks noGrp="1"/>
          </p:cNvSpPr>
          <p:nvPr/>
        </p:nvSpPr>
        <p:spPr>
          <a:xfrm>
            <a:off x="609600" y="6677025"/>
            <a:ext cx="10477500" cy="15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750" b="0">
                <a:solidFill>
                  <a:srgbClr val="5263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750" b="0">
                <a:solidFill>
                  <a:srgbClr val="52636C"/>
                </a:solidFill>
                <a:latin typeface="Arial Unicode MS"/>
                <a:ea typeface="Arial Unicode MS"/>
                <a:cs typeface="Arial Unicode MS"/>
              </a:rPr>
              <a:t>課堂假設，僅節錄部分 ODD。20 km/h 並非通用安全門檻，也不等於已通過測試。</a:t>
            </a:r>
          </a:p>
        </p:txBody>
      </p:sp>
    </p:spTree>
    <p:extLst>
      <p:ext uri="{BB962C8B-B14F-4D97-AF65-F5344CB8AC3E}">
        <p14:creationId xmlns:p14="http://schemas.microsoft.com/office/powerpoint/2010/main" val="1151452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分級練習：等級加上一句理由">
            <a:extLst>
              <a:ext uri="{FF2B5EF4-FFF2-40B4-BE49-F238E27FC236}">
                <a16:creationId xmlns:a16="http://schemas.microsoft.com/office/drawing/2014/main" id="{BB6F1DB0-C6E2-47BD-A5F7-948CA80B9C1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1019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3240"/>
              </a:lnSpc>
              <a:spcBef>
                <a:spcPts val="0"/>
              </a:spcBef>
              <a:spcAft>
                <a:spcPts val="30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700" b="1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Luyện phân cấp: Bốc câu hỏi và nêu lý do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650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分級練習：隨機抽題與理由</a:t>
            </a:r>
          </a:p>
        </p:txBody>
      </p:sp>
      <p:sp>
        <p:nvSpPr>
          <p:cNvPr id="2" name="11">
            <a:extLst>
              <a:ext uri="{FF2B5EF4-FFF2-40B4-BE49-F238E27FC236}">
                <a16:creationId xmlns:a16="http://schemas.microsoft.com/office/drawing/2014/main" id="{30870D1A-5DFF-4484-B7B4-630BE12787B5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4" name="資料：SAE J3016；完整來源見備忘稿">
            <a:extLst>
              <a:ext uri="{FF2B5EF4-FFF2-40B4-BE49-F238E27FC236}">
                <a16:creationId xmlns:a16="http://schemas.microsoft.com/office/drawing/2014/main" id="{328029CF-8DED-4186-8A52-70500BC52DCA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477500" cy="485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300"/>
              </a:spcAft>
              <a:defRPr sz="1013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1012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Nguồn: SAE J3016. Xem nguồn đầy đủ trong ghi chú thuyết trình.</a:t>
            </a:r>
          </a:p>
          <a:p>
            <a:pPr algn="l">
              <a:lnSpc>
                <a:spcPts val="945"/>
              </a:lnSpc>
              <a:spcBef>
                <a:spcPts val="0"/>
              </a:spcBef>
              <a:spcAft>
                <a:spcPts val="0"/>
              </a:spcAft>
              <a:defRPr sz="1013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788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資料：SAE J3016；完整來源見備忘稿</a:t>
            </a:r>
          </a:p>
        </p:txBody>
      </p:sp>
      <p:sp>
        <p:nvSpPr>
          <p:cNvPr id="6" name="quiz-meta">
            <a:extLst>
              <a:ext uri="{FF2B5EF4-FFF2-40B4-BE49-F238E27FC236}">
                <a16:creationId xmlns:a16="http://schemas.microsoft.com/office/drawing/2014/main" id="{5312BD6F-31C5-4B27-BECC-C1CE7A02D138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972800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300"/>
              </a:spcAft>
              <a:defRPr sz="1800">
                <a:solidFill>
                  <a:srgbClr val="006F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1800" b="0">
                <a:solidFill>
                  <a:srgbClr val="006F78"/>
                </a:solidFill>
                <a:latin typeface="Arial Unicode MS"/>
                <a:ea typeface="Arial Unicode MS"/>
                <a:cs typeface="Arial Unicode MS"/>
              </a:rPr>
              <a:t>30 tình huống L0–L5, mỗi bạn bốc một câu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006F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200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30 道情境題 · L0–L5 · 每位同學抽一題</a:t>
            </a:r>
          </a:p>
        </p:txBody>
      </p:sp>
      <p:sp>
        <p:nvSpPr>
          <p:cNvPr id="7" name="quiz-instruction">
            <a:extLst>
              <a:ext uri="{FF2B5EF4-FFF2-40B4-BE49-F238E27FC236}">
                <a16:creationId xmlns:a16="http://schemas.microsoft.com/office/drawing/2014/main" id="{0C5C01C3-F58B-4C10-86B2-18B5EA2F51B9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300"/>
              </a:spcAft>
              <a:defRPr sz="2025">
                <a:solidFill>
                  <a:srgbClr val="1733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025" b="0">
                <a:solidFill>
                  <a:srgbClr val="173341"/>
                </a:solidFill>
                <a:latin typeface="Arial Unicode MS"/>
                <a:ea typeface="Arial Unicode MS"/>
                <a:cs typeface="Arial Unicode MS"/>
              </a:rPr>
              <a:t>Lần lượt lên trước lớp, đọc câu hỏi rồi nêu nhận định.</a:t>
            </a:r>
          </a:p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2025">
                <a:solidFill>
                  <a:srgbClr val="1733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350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依序上台，讀完抽中的題目，再說出你的判斷。</a:t>
            </a:r>
          </a:p>
        </p:txBody>
      </p:sp>
      <p:sp>
        <p:nvSpPr>
          <p:cNvPr id="8" name="quiz-sentence">
            <a:extLst>
              <a:ext uri="{FF2B5EF4-FFF2-40B4-BE49-F238E27FC236}">
                <a16:creationId xmlns:a16="http://schemas.microsoft.com/office/drawing/2014/main" id="{CEB57916-016D-4ADA-94BB-DF67C8C6F4EE}"/>
              </a:ext>
            </a:extLst>
          </p:cNvPr>
          <p:cNvSpPr>
            <a:spLocks noGrp="1"/>
          </p:cNvSpPr>
          <p:nvPr/>
        </p:nvSpPr>
        <p:spPr>
          <a:xfrm>
            <a:off x="609600" y="28670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790"/>
              </a:lnSpc>
              <a:spcBef>
                <a:spcPts val="0"/>
              </a:spcBef>
              <a:spcAft>
                <a:spcPts val="300"/>
              </a:spcAft>
              <a:defRPr sz="2325">
                <a:solidFill>
                  <a:srgbClr val="1733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325" b="0">
                <a:solidFill>
                  <a:srgbClr val="173341"/>
                </a:solidFill>
                <a:latin typeface="Arial Unicode MS"/>
                <a:ea typeface="Arial Unicode MS"/>
                <a:cs typeface="Arial Unicode MS"/>
              </a:rPr>
              <a:t>“Em chọn L＿＿, vì đề bài nói rằng ＿＿.”</a:t>
            </a:r>
          </a:p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2325">
                <a:solidFill>
                  <a:srgbClr val="1733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575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「我判斷是 L＿＿，因為題目說＿＿。」</a:t>
            </a:r>
          </a:p>
        </p:txBody>
      </p:sp>
      <p:sp>
        <p:nvSpPr>
          <p:cNvPr id="9" name="quiz-flow">
            <a:extLst>
              <a:ext uri="{FF2B5EF4-FFF2-40B4-BE49-F238E27FC236}">
                <a16:creationId xmlns:a16="http://schemas.microsoft.com/office/drawing/2014/main" id="{B8683BA3-24C5-412C-A96B-9479C8E2436F}"/>
              </a:ext>
            </a:extLst>
          </p:cNvPr>
          <p:cNvSpPr>
            <a:spLocks noGrp="1"/>
          </p:cNvSpPr>
          <p:nvPr/>
        </p:nvSpPr>
        <p:spPr>
          <a:xfrm>
            <a:off x="609600" y="3771900"/>
            <a:ext cx="10972800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300"/>
              </a:spcAft>
              <a:defRPr sz="1800">
                <a:solidFill>
                  <a:srgbClr val="1733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1800" b="0">
                <a:solidFill>
                  <a:srgbClr val="173341"/>
                </a:solidFill>
                <a:latin typeface="Arial Unicode MS"/>
                <a:ea typeface="Arial Unicode MS"/>
                <a:cs typeface="Arial Unicode MS"/>
              </a:rPr>
              <a:t>Sau khi trả lời, xem đáp án và giải thích, rồi bốc câu cho bạn tiếp theo.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1733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200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回答後揭曉答案與說明，再抽下一題給下一位同學。</a:t>
            </a:r>
          </a:p>
        </p:txBody>
      </p:sp>
      <p:sp>
        <p:nvSpPr>
          <p:cNvPr id="10" name="quiz-launch">
            <a:hlinkClick r:id="rId3" action="ppaction://hlinkfile" tooltip="開啟離線隨機抽題，30 題循環"/>
            <a:extLst>
              <a:ext uri="{FF2B5EF4-FFF2-40B4-BE49-F238E27FC236}">
                <a16:creationId xmlns:a16="http://schemas.microsoft.com/office/drawing/2014/main" id="{FFB3859F-651D-4F6E-BEB8-835BD30D2AA3}"/>
              </a:ext>
            </a:extLst>
          </p:cNvPr>
          <p:cNvSpPr>
            <a:spLocks noGrp="1"/>
          </p:cNvSpPr>
          <p:nvPr/>
        </p:nvSpPr>
        <p:spPr>
          <a:xfrm>
            <a:off x="609600" y="4581525"/>
            <a:ext cx="9429750" cy="733425"/>
          </a:xfrm>
          <a:prstGeom prst="rect">
            <a:avLst/>
          </a:prstGeom>
          <a:solidFill>
            <a:srgbClr val="006F78"/>
          </a:solidFill>
          <a:ln w="0"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300"/>
              </a:spcAft>
              <a:defRPr sz="20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0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Bắt đầu bốc câu hỏi (trang tương tác ngoại tuyến)</a:t>
            </a:r>
          </a:p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20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350" b="0">
                <a:solidFill>
                  <a:srgbClr val="E3F4F5"/>
                </a:solidFill>
                <a:latin typeface="Arial Unicode MS"/>
                <a:ea typeface="Arial Unicode MS"/>
                <a:cs typeface="Arial Unicode MS"/>
              </a:rPr>
              <a:t>開始隨機抽題（離線互動頁）</a:t>
            </a:r>
          </a:p>
        </p:txBody>
      </p:sp>
      <p:sp>
        <p:nvSpPr>
          <p:cNvPr id="11" name="quiz-help">
            <a:extLst>
              <a:ext uri="{FF2B5EF4-FFF2-40B4-BE49-F238E27FC236}">
                <a16:creationId xmlns:a16="http://schemas.microsoft.com/office/drawing/2014/main" id="{0140507D-CDB0-4FA2-B3DD-8FC6A9132C96}"/>
              </a:ext>
            </a:extLst>
          </p:cNvPr>
          <p:cNvSpPr>
            <a:spLocks noGrp="1"/>
          </p:cNvSpPr>
          <p:nvPr/>
        </p:nvSpPr>
        <p:spPr>
          <a:xfrm>
            <a:off x="609600" y="55721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300"/>
              </a:spcAft>
              <a:defRPr sz="1350">
                <a:solidFill>
                  <a:srgbClr val="566A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1350" b="0">
                <a:solidFill>
                  <a:srgbClr val="566A72"/>
                </a:solidFill>
                <a:latin typeface="Arial Unicode MS"/>
                <a:ea typeface="Arial Unicode MS"/>
                <a:cs typeface="Arial Unicode MS"/>
              </a:rPr>
              <a:t>Space / Enter: hiện đáp án hoặc câu tiếp. Mỗi vòng không lặp, hết 30 câu sẽ xáo lại.</a:t>
            </a:r>
          </a:p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566A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938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空白鍵／Enter：揭曉或下一題　｜　每輪不重複，30 題抽完重新洗牌</a:t>
            </a:r>
          </a:p>
        </p:txBody>
      </p:sp>
    </p:spTree>
    <p:extLst>
      <p:ext uri="{BB962C8B-B14F-4D97-AF65-F5344CB8AC3E}">
        <p14:creationId xmlns:p14="http://schemas.microsoft.com/office/powerpoint/2010/main" val="721958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>
        <a:xfrm/>
      </p:grpSpPr>
      <p:sp>
        <p:nvSpPr>
          <p:cNvPr id="16" name="title-vi">
            <a:extLst>
              <a:ext uri="{FF2B5EF4-FFF2-40B4-BE49-F238E27FC236}">
                <a16:creationId xmlns:a16="http://schemas.microsoft.com/office/drawing/2014/main" id="{9F8568DC-9A2D-4CCC-9297-5880088DB02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Ba bước xác định cấp độ tự động hóa</a:t>
            </a:r>
          </a:p>
        </p:txBody>
      </p:sp>
      <p:sp>
        <p:nvSpPr>
          <p:cNvPr id="2" name="title-zh">
            <a:extLst>
              <a:ext uri="{FF2B5EF4-FFF2-40B4-BE49-F238E27FC236}">
                <a16:creationId xmlns:a16="http://schemas.microsoft.com/office/drawing/2014/main" id="{903CBCBC-87A7-4FBE-A76A-5207610F23D9}"/>
              </a:ext>
            </a:extLst>
          </p:cNvPr>
          <p:cNvSpPr>
            <a:spLocks noGrp="1"/>
          </p:cNvSpPr>
          <p:nvPr/>
        </p:nvSpPr>
        <p:spPr>
          <a:xfrm>
            <a:off x="609600" y="866775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分級判斷的三個步驟</a:t>
            </a:r>
          </a:p>
        </p:txBody>
      </p:sp>
      <p:sp>
        <p:nvSpPr>
          <p:cNvPr id="3" name="step1-vi">
            <a:extLst>
              <a:ext uri="{FF2B5EF4-FFF2-40B4-BE49-F238E27FC236}">
                <a16:creationId xmlns:a16="http://schemas.microsoft.com/office/drawing/2014/main" id="{CD2A2661-7D69-456F-BDD4-A8A0AF6D1711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006F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06F78"/>
                </a:solidFill>
                <a:latin typeface="Arial Unicode MS"/>
                <a:ea typeface="Arial Unicode MS"/>
                <a:cs typeface="Arial Unicode MS"/>
              </a:rPr>
              <a:t>1. Hệ thống có điều khiển liên tục hướng lái hoặc tốc độ không?</a:t>
            </a:r>
          </a:p>
        </p:txBody>
      </p:sp>
      <p:sp>
        <p:nvSpPr>
          <p:cNvPr id="4" name="step1-zh">
            <a:extLst>
              <a:ext uri="{FF2B5EF4-FFF2-40B4-BE49-F238E27FC236}">
                <a16:creationId xmlns:a16="http://schemas.microsoft.com/office/drawing/2014/main" id="{6E2B4448-E9FE-4FD1-9488-E62B7BACFCD1}"/>
              </a:ext>
            </a:extLst>
          </p:cNvPr>
          <p:cNvSpPr>
            <a:spLocks noGrp="1"/>
          </p:cNvSpPr>
          <p:nvPr/>
        </p:nvSpPr>
        <p:spPr>
          <a:xfrm>
            <a:off x="914400" y="20574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系統是否持續控制方向或速度？先確認有沒有持續控制，再看控制哪一項。</a:t>
            </a:r>
          </a:p>
        </p:txBody>
      </p:sp>
      <p:sp>
        <p:nvSpPr>
          <p:cNvPr id="5" name="step2-vi">
            <a:extLst>
              <a:ext uri="{FF2B5EF4-FFF2-40B4-BE49-F238E27FC236}">
                <a16:creationId xmlns:a16="http://schemas.microsoft.com/office/drawing/2014/main" id="{485E5BD5-D32E-403B-969F-2FE509B442F0}"/>
              </a:ext>
            </a:extLst>
          </p:cNvPr>
          <p:cNvSpPr>
            <a:spLocks noGrp="1"/>
          </p:cNvSpPr>
          <p:nvPr/>
        </p:nvSpPr>
        <p:spPr>
          <a:xfrm>
            <a:off x="609600" y="2686050"/>
            <a:ext cx="109728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006F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06F78"/>
                </a:solidFill>
                <a:latin typeface="Arial Unicode MS"/>
                <a:ea typeface="Arial Unicode MS"/>
                <a:cs typeface="Arial Unicode MS"/>
              </a:rPr>
              <a:t>2. Ai phải liên tục quan sát đường?</a:t>
            </a:r>
          </a:p>
        </p:txBody>
      </p:sp>
      <p:sp>
        <p:nvSpPr>
          <p:cNvPr id="6" name="step2-zh">
            <a:extLst>
              <a:ext uri="{FF2B5EF4-FFF2-40B4-BE49-F238E27FC236}">
                <a16:creationId xmlns:a16="http://schemas.microsoft.com/office/drawing/2014/main" id="{CAD23B89-63EE-4B80-9073-540A9E184E04}"/>
              </a:ext>
            </a:extLst>
          </p:cNvPr>
          <p:cNvSpPr>
            <a:spLocks noGrp="1"/>
          </p:cNvSpPr>
          <p:nvPr/>
        </p:nvSpPr>
        <p:spPr>
          <a:xfrm>
            <a:off x="914400" y="313372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誰必須持續監看道路？駕駛持續監督，還是系統負責完整駕駛？</a:t>
            </a:r>
          </a:p>
        </p:txBody>
      </p:sp>
      <p:sp>
        <p:nvSpPr>
          <p:cNvPr id="7" name="step3-vi">
            <a:extLst>
              <a:ext uri="{FF2B5EF4-FFF2-40B4-BE49-F238E27FC236}">
                <a16:creationId xmlns:a16="http://schemas.microsoft.com/office/drawing/2014/main" id="{90E43DE6-8A6E-4AEC-AA43-9A3136690D0E}"/>
              </a:ext>
            </a:extLst>
          </p:cNvPr>
          <p:cNvSpPr>
            <a:spLocks noGrp="1"/>
          </p:cNvSpPr>
          <p:nvPr/>
        </p:nvSpPr>
        <p:spPr>
          <a:xfrm>
            <a:off x="609600" y="3762375"/>
            <a:ext cx="109728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006F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06F78"/>
                </a:solidFill>
                <a:latin typeface="Arial Unicode MS"/>
                <a:ea typeface="Arial Unicode MS"/>
                <a:cs typeface="Arial Unicode MS"/>
              </a:rPr>
              <a:t>3. Ai chịu trách nhiệm khi hệ thống không thể tiếp tục lái?</a:t>
            </a:r>
          </a:p>
        </p:txBody>
      </p:sp>
      <p:sp>
        <p:nvSpPr>
          <p:cNvPr id="8" name="step3-zh">
            <a:extLst>
              <a:ext uri="{FF2B5EF4-FFF2-40B4-BE49-F238E27FC236}">
                <a16:creationId xmlns:a16="http://schemas.microsoft.com/office/drawing/2014/main" id="{7408FBF7-32D0-4C67-AFFD-9B6C2DB8DD01}"/>
              </a:ext>
            </a:extLst>
          </p:cNvPr>
          <p:cNvSpPr>
            <a:spLocks noGrp="1"/>
          </p:cNvSpPr>
          <p:nvPr/>
        </p:nvSpPr>
        <p:spPr>
          <a:xfrm>
            <a:off x="914400" y="42100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系統無法繼續時，仍期待人接手，還是由系統完成必要應變？</a:t>
            </a:r>
          </a:p>
        </p:txBody>
      </p:sp>
      <p:sp>
        <p:nvSpPr>
          <p:cNvPr id="9" name="scope-vi">
            <a:extLst>
              <a:ext uri="{FF2B5EF4-FFF2-40B4-BE49-F238E27FC236}">
                <a16:creationId xmlns:a16="http://schemas.microsoft.com/office/drawing/2014/main" id="{C629DEF9-E28B-4F15-A57D-F7F3F9B0DA1A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Để phân biệt L4 và L5, cần xem thêm phạm vi hoạt động.</a:t>
            </a:r>
          </a:p>
        </p:txBody>
      </p:sp>
      <p:sp>
        <p:nvSpPr>
          <p:cNvPr id="10" name="scope-zh">
            <a:extLst>
              <a:ext uri="{FF2B5EF4-FFF2-40B4-BE49-F238E27FC236}">
                <a16:creationId xmlns:a16="http://schemas.microsoft.com/office/drawing/2014/main" id="{64336545-42B6-426A-AC5F-3E31510C7795}"/>
              </a:ext>
            </a:extLst>
          </p:cNvPr>
          <p:cNvSpPr>
            <a:spLocks noGrp="1"/>
          </p:cNvSpPr>
          <p:nvPr/>
        </p:nvSpPr>
        <p:spPr>
          <a:xfrm>
            <a:off x="609600" y="5314950"/>
            <a:ext cx="109728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75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區分 L4 與 L5，還要看使用範圍是否受特定 ODD 限制。</a:t>
            </a:r>
          </a:p>
        </p:txBody>
      </p:sp>
      <p:sp>
        <p:nvSpPr>
          <p:cNvPr id="11" name="evidence-vi">
            <a:extLst>
              <a:ext uri="{FF2B5EF4-FFF2-40B4-BE49-F238E27FC236}">
                <a16:creationId xmlns:a16="http://schemas.microsoft.com/office/drawing/2014/main" id="{48779E40-C364-4FEC-8254-8096E7BCFE00}"/>
              </a:ext>
            </a:extLst>
          </p:cNvPr>
          <p:cNvSpPr>
            <a:spLocks noGrp="1"/>
          </p:cNvSpPr>
          <p:nvPr/>
        </p:nvSpPr>
        <p:spPr>
          <a:xfrm>
            <a:off x="609600" y="5705475"/>
            <a:ext cx="109728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Khi trả lời, hãy chỉ ra câu trong đề làm căn cứ.</a:t>
            </a:r>
          </a:p>
        </p:txBody>
      </p:sp>
      <p:sp>
        <p:nvSpPr>
          <p:cNvPr id="12" name="evidence-zh">
            <a:extLst>
              <a:ext uri="{FF2B5EF4-FFF2-40B4-BE49-F238E27FC236}">
                <a16:creationId xmlns:a16="http://schemas.microsoft.com/office/drawing/2014/main" id="{5236F708-3BCA-4425-A452-39ABBFD32364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9728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125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回答時，請指出題目中支持你判斷的那一句話。</a:t>
            </a:r>
          </a:p>
        </p:txBody>
      </p:sp>
      <p:sp>
        <p:nvSpPr>
          <p:cNvPr id="13" name="source-vi">
            <a:extLst>
              <a:ext uri="{FF2B5EF4-FFF2-40B4-BE49-F238E27FC236}">
                <a16:creationId xmlns:a16="http://schemas.microsoft.com/office/drawing/2014/main" id="{8D21E5D2-7326-4437-884E-F8A067D5E2A4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0965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013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Nguồn: SAE J3016. Xem nguồn đầy đủ trong ghi chú thuyết trình.</a:t>
            </a:r>
          </a:p>
        </p:txBody>
      </p:sp>
      <p:sp>
        <p:nvSpPr>
          <p:cNvPr id="14" name="source-zh">
            <a:extLst>
              <a:ext uri="{FF2B5EF4-FFF2-40B4-BE49-F238E27FC236}">
                <a16:creationId xmlns:a16="http://schemas.microsoft.com/office/drawing/2014/main" id="{8D592DA6-821E-4D39-B4F5-C73E077BB3E5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0965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788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資料：SAE J3016；完整來源見講稿資料來源</a:t>
            </a:r>
          </a:p>
        </p:txBody>
      </p:sp>
      <p:sp>
        <p:nvSpPr>
          <p:cNvPr id="15" name="page">
            <a:extLst>
              <a:ext uri="{FF2B5EF4-FFF2-40B4-BE49-F238E27FC236}">
                <a16:creationId xmlns:a16="http://schemas.microsoft.com/office/drawing/2014/main" id="{01A349F4-8A3F-4428-8BCA-B9009314E2A0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7371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title-vi">
            <a:extLst>
              <a:ext uri="{FF2B5EF4-FFF2-40B4-BE49-F238E27FC236}">
                <a16:creationId xmlns:a16="http://schemas.microsoft.com/office/drawing/2014/main" id="{4036A907-BEE4-43DE-A382-94DF94835C3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DRIVE PILOT: L3 vẫn có điều kiện sử dụng</a:t>
            </a:r>
          </a:p>
        </p:txBody>
      </p:sp>
      <p:sp>
        <p:nvSpPr>
          <p:cNvPr id="2" name="title-zh">
            <a:extLst>
              <a:ext uri="{FF2B5EF4-FFF2-40B4-BE49-F238E27FC236}">
                <a16:creationId xmlns:a16="http://schemas.microsoft.com/office/drawing/2014/main" id="{3D17A602-68AE-4A51-AE86-46D04F81C026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DRIVE PILOT：L3 也有使用條件</a:t>
            </a:r>
          </a:p>
        </p:txBody>
      </p:sp>
      <p:pic>
        <p:nvPicPr>
          <p:cNvPr id="17" name="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563688"/>
            <a:ext cx="3581400" cy="2387600"/>
          </a:xfrm>
          <a:prstGeom prst="rect">
            <a:avLst/>
          </a:prstGeom>
        </p:spPr>
      </p:pic>
      <p:sp>
        <p:nvSpPr>
          <p:cNvPr id="4" name="L3-heading">
            <a:extLst>
              <a:ext uri="{FF2B5EF4-FFF2-40B4-BE49-F238E27FC236}">
                <a16:creationId xmlns:a16="http://schemas.microsoft.com/office/drawing/2014/main" id="{8B0030D7-C918-4578-81CD-714F22F98B04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3714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006F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6F78"/>
                </a:solidFill>
                <a:latin typeface="Arial Unicode MS"/>
                <a:ea typeface="Arial Unicode MS"/>
                <a:cs typeface="Arial Unicode MS"/>
              </a:rPr>
              <a:t>L3: Phân công người và hệ thống</a:t>
            </a:r>
          </a:p>
        </p:txBody>
      </p:sp>
      <p:sp>
        <p:nvSpPr>
          <p:cNvPr id="5" name="L3-vi">
            <a:extLst>
              <a:ext uri="{FF2B5EF4-FFF2-40B4-BE49-F238E27FC236}">
                <a16:creationId xmlns:a16="http://schemas.microsoft.com/office/drawing/2014/main" id="{B1B8763E-507C-46DD-95F0-5037F85070A9}"/>
              </a:ext>
            </a:extLst>
          </p:cNvPr>
          <p:cNvSpPr>
            <a:spLocks noGrp="1"/>
          </p:cNvSpPr>
          <p:nvPr/>
        </p:nvSpPr>
        <p:spPr>
          <a:xfrm>
            <a:off x="609600" y="4695825"/>
            <a:ext cx="36957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Hệ thống lái khi được kích hoạt đúng điều kiện. Người dùng vẫn phải sẵn sàng tiếp quản.</a:t>
            </a:r>
          </a:p>
        </p:txBody>
      </p:sp>
      <p:sp>
        <p:nvSpPr>
          <p:cNvPr id="6" name="L3-zh">
            <a:extLst>
              <a:ext uri="{FF2B5EF4-FFF2-40B4-BE49-F238E27FC236}">
                <a16:creationId xmlns:a16="http://schemas.microsoft.com/office/drawing/2014/main" id="{759C3D0A-148D-4E86-8623-DEEDBF912C71}"/>
              </a:ext>
            </a:extLst>
          </p:cNvPr>
          <p:cNvSpPr>
            <a:spLocks noGrp="1"/>
          </p:cNvSpPr>
          <p:nvPr/>
        </p:nvSpPr>
        <p:spPr>
          <a:xfrm>
            <a:off x="609600" y="5534025"/>
            <a:ext cx="3705225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75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符合條件並啟用時由系統駕駛，</a:t>
            </a:r>
          </a:p>
          <a:p>
            <a:pPr>
              <a:defRPr sz="1275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使用者仍須能回應接管。</a:t>
            </a:r>
          </a:p>
        </p:txBody>
      </p:sp>
      <p:sp>
        <p:nvSpPr>
          <p:cNvPr id="7" name="ODD-heading">
            <a:extLst>
              <a:ext uri="{FF2B5EF4-FFF2-40B4-BE49-F238E27FC236}">
                <a16:creationId xmlns:a16="http://schemas.microsoft.com/office/drawing/2014/main" id="{637CAD5A-08E3-4C23-B3C0-3356FCABF8E3}"/>
              </a:ext>
            </a:extLst>
          </p:cNvPr>
          <p:cNvSpPr>
            <a:spLocks noGrp="1"/>
          </p:cNvSpPr>
          <p:nvPr/>
        </p:nvSpPr>
        <p:spPr>
          <a:xfrm>
            <a:off x="4591050" y="1485900"/>
            <a:ext cx="6991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1">
                <a:solidFill>
                  <a:srgbClr val="006F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6F78"/>
                </a:solidFill>
                <a:latin typeface="Arial Unicode MS"/>
                <a:ea typeface="Arial Unicode MS"/>
                <a:cs typeface="Arial Unicode MS"/>
              </a:rPr>
              <a:t>ODD: Điều kiện sử dụng theo phiên bản</a:t>
            </a:r>
          </a:p>
        </p:txBody>
      </p:sp>
      <p:sp>
        <p:nvSpPr>
          <p:cNvPr id="8" name="ODD-zh">
            <a:extLst>
              <a:ext uri="{FF2B5EF4-FFF2-40B4-BE49-F238E27FC236}">
                <a16:creationId xmlns:a16="http://schemas.microsoft.com/office/drawing/2014/main" id="{EEFA47DA-A480-4702-8238-D27765FD9984}"/>
              </a:ext>
            </a:extLst>
          </p:cNvPr>
          <p:cNvSpPr>
            <a:spLocks noGrp="1"/>
          </p:cNvSpPr>
          <p:nvPr/>
        </p:nvSpPr>
        <p:spPr>
          <a:xfrm>
            <a:off x="4591050" y="1809750"/>
            <a:ext cx="69913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75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ODD：各版本的使用條件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="4591050" y="2190750"/>
          <a:ext cx="6991350" cy="3133725"/>
        </p:xfrm>
        <a:graphic>
          <a:graphicData uri="http://schemas.openxmlformats.org/drawingml/2006/table">
            <a:tbl>
              <a:tblPr firstRow="0" bandRow="0"/>
              <a:tblGrid>
                <a:gridCol w="1714500"/>
                <a:gridCol w="2638425"/>
                <a:gridCol w="2638425"/>
              </a:tblGrid>
              <a:tr h="647700">
                <a:tc>
                  <a:txBody>
                    <a:bodyPr>
                      <a:noAutofit/>
                    </a:bodyPr>
                    <a:lstStyle/>
                    <a:p>
                      <a:pPr>
                        <a:spcAft>
                          <a:spcPts val="250"/>
                        </a:spcAft>
                      </a:pPr>
                      <a:r>
                        <a:rPr sz="165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Mục so sánh</a:t>
                      </a:r>
                    </a:p>
                    <a:p>
                      <a:r>
                        <a:rPr sz="1200">
                          <a:solidFill>
                            <a:srgbClr val="DCE6E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比較項目</a:t>
                      </a:r>
                    </a:p>
                  </a:txBody>
                  <a:tcPr marL="114300" marR="95250" marT="85725" marB="76200" anchor="ctr">
                    <a:solidFill>
                      <a:srgbClr val="17323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spcAft>
                          <a:spcPts val="250"/>
                        </a:spcAft>
                      </a:pPr>
                      <a:r>
                        <a:rPr sz="165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California · 2023.06</a:t>
                      </a:r>
                    </a:p>
                    <a:p>
                      <a:r>
                        <a:rPr sz="1200">
                          <a:solidFill>
                            <a:srgbClr val="DCE6E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加州公告</a:t>
                      </a:r>
                    </a:p>
                  </a:txBody>
                  <a:tcPr marL="114300" marR="95250" marT="85725" marB="76200" anchor="ctr">
                    <a:solidFill>
                      <a:srgbClr val="17323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spcAft>
                          <a:spcPts val="250"/>
                        </a:spcAft>
                      </a:pPr>
                      <a:r>
                        <a:rPr sz="165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Đức · 2024.12</a:t>
                      </a:r>
                    </a:p>
                    <a:p>
                      <a:r>
                        <a:rPr sz="1200">
                          <a:solidFill>
                            <a:srgbClr val="DCE6E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德國公告</a:t>
                      </a:r>
                    </a:p>
                  </a:txBody>
                  <a:tcPr marL="114300" marR="95250" marT="85725" marB="76200" anchor="ctr">
                    <a:solidFill>
                      <a:srgbClr val="17323F"/>
                    </a:solidFill>
                  </a:tcPr>
                </a:tc>
              </a:tr>
              <a:tr h="819150">
                <a:tc>
                  <a:txBody>
                    <a:bodyPr>
                      <a:noAutofit/>
                    </a:bodyPr>
                    <a:lstStyle/>
                    <a:p>
                      <a:pPr>
                        <a:spcAft>
                          <a:spcPts val="250"/>
                        </a:spcAft>
                      </a:pPr>
                      <a:r>
                        <a:rPr sz="165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Đường</a:t>
                      </a:r>
                    </a:p>
                    <a:p>
                      <a:r>
                        <a:rPr sz="1200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道路</a:t>
                      </a:r>
                    </a:p>
                  </a:txBody>
                  <a:tcPr marL="114300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spcAft>
                          <a:spcPts val="250"/>
                        </a:spcAft>
                      </a:pPr>
                      <a:r>
                        <a:rPr sz="165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Cao tốc chỉ định</a:t>
                      </a:r>
                    </a:p>
                    <a:p>
                      <a:r>
                        <a:rPr sz="1200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指定高速公路</a:t>
                      </a:r>
                    </a:p>
                  </a:txBody>
                  <a:tcPr marL="114300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spcAft>
                          <a:spcPts val="250"/>
                        </a:spcAft>
                      </a:pPr>
                      <a:r>
                        <a:rPr sz="165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Cao tốc đáp ứng
điều kiện</a:t>
                      </a:r>
                    </a:p>
                    <a:p>
                      <a:r>
                        <a:rPr sz="1200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符合條件的高速公路</a:t>
                      </a:r>
                    </a:p>
                  </a:txBody>
                  <a:tcPr marL="114300" marR="95250" marT="85725" marB="7620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spcAft>
                          <a:spcPts val="250"/>
                        </a:spcAft>
                      </a:pPr>
                      <a:r>
                        <a:rPr sz="165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Tốc độ tối đa</a:t>
                      </a:r>
                    </a:p>
                    <a:p>
                      <a:r>
                        <a:rPr sz="1200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最高速度</a:t>
                      </a:r>
                    </a:p>
                  </a:txBody>
                  <a:tcPr marL="114300" marR="95250" marT="85725" marB="76200" anchor="ctr">
                    <a:solidFill>
                      <a:srgbClr val="E8EF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spcAft>
                          <a:spcPts val="250"/>
                        </a:spcAft>
                      </a:pPr>
                      <a:r>
                        <a:rPr sz="165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40 mph ≈ 64 km/h</a:t>
                      </a:r>
                    </a:p>
                    <a:p>
                      <a:r>
                        <a:rPr sz="1200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約每小時 64 公里</a:t>
                      </a:r>
                    </a:p>
                  </a:txBody>
                  <a:tcPr marL="114300" marR="95250" marT="85725" marB="76200" anchor="ctr">
                    <a:solidFill>
                      <a:srgbClr val="E8EF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spcAft>
                          <a:spcPts val="250"/>
                        </a:spcAft>
                      </a:pPr>
                      <a:r>
                        <a:rPr sz="165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95 km/h</a:t>
                      </a:r>
                    </a:p>
                    <a:p>
                      <a:r>
                        <a:rPr sz="1200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每小時 95 公里</a:t>
                      </a:r>
                    </a:p>
                  </a:txBody>
                  <a:tcPr marL="114300" marR="95250" marT="85725" marB="76200" anchor="ctr">
                    <a:solidFill>
                      <a:srgbClr val="E8EFEB"/>
                    </a:solidFill>
                  </a:tcPr>
                </a:tc>
              </a:tr>
              <a:tr h="971550">
                <a:tc>
                  <a:txBody>
                    <a:bodyPr>
                      <a:noAutofit/>
                    </a:bodyPr>
                    <a:lstStyle/>
                    <a:p>
                      <a:pPr>
                        <a:spcAft>
                          <a:spcPts val="250"/>
                        </a:spcAft>
                      </a:pPr>
                      <a:r>
                        <a:rPr sz="165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Điều kiện khác
(trích)</a:t>
                      </a:r>
                    </a:p>
                    <a:p>
                      <a:r>
                        <a:rPr sz="1200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其他條件節錄</a:t>
                      </a:r>
                    </a:p>
                  </a:txBody>
                  <a:tcPr marL="114300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spcAft>
                          <a:spcPts val="250"/>
                        </a:spcAft>
                      </a:pPr>
                      <a:r>
                        <a:rPr sz="165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Ban ngày; không mưa
lớn, sương mù dày</a:t>
                      </a:r>
                    </a:p>
                    <a:p>
                      <a:r>
                        <a:rPr sz="1200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日間，排除大雨、濃霧</a:t>
                      </a:r>
                    </a:p>
                  </a:txBody>
                  <a:tcPr marL="114300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spcAft>
                          <a:spcPts val="250"/>
                        </a:spcAft>
                      </a:pPr>
                      <a:r>
                        <a:rPr sz="165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Làn phải, có xe
phía trước</a:t>
                      </a:r>
                    </a:p>
                    <a:p>
                      <a:r>
                        <a:rPr sz="1200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右側車道，前方有車輛</a:t>
                      </a:r>
                    </a:p>
                  </a:txBody>
                  <a:tcPr marL="114300" marR="9525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akeaway-vi">
            <a:extLst>
              <a:ext uri="{FF2B5EF4-FFF2-40B4-BE49-F238E27FC236}">
                <a16:creationId xmlns:a16="http://schemas.microsoft.com/office/drawing/2014/main" id="{3335DEC8-D16C-410D-B513-828F64BC980D}"/>
              </a:ext>
            </a:extLst>
          </p:cNvPr>
          <p:cNvSpPr>
            <a:spLocks noGrp="1"/>
          </p:cNvSpPr>
          <p:nvPr/>
        </p:nvSpPr>
        <p:spPr>
          <a:xfrm>
            <a:off x="4591050" y="5534025"/>
            <a:ext cx="69913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006F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6F78"/>
                </a:solidFill>
                <a:latin typeface="Arial Unicode MS"/>
                <a:ea typeface="Arial Unicode MS"/>
                <a:cs typeface="Arial Unicode MS"/>
              </a:rPr>
              <a:t>Cùng là L3, phạm vi sử dụng vẫn có thể khác nhau.</a:t>
            </a:r>
          </a:p>
        </p:txBody>
      </p:sp>
      <p:sp>
        <p:nvSpPr>
          <p:cNvPr id="11" name="takeaway-zh">
            <a:extLst>
              <a:ext uri="{FF2B5EF4-FFF2-40B4-BE49-F238E27FC236}">
                <a16:creationId xmlns:a16="http://schemas.microsoft.com/office/drawing/2014/main" id="{05EF3430-8FFB-4937-AC67-B47F4A995CBD}"/>
              </a:ext>
            </a:extLst>
          </p:cNvPr>
          <p:cNvSpPr>
            <a:spLocks noGrp="1"/>
          </p:cNvSpPr>
          <p:nvPr/>
        </p:nvSpPr>
        <p:spPr>
          <a:xfrm>
            <a:off x="4591050" y="5895975"/>
            <a:ext cx="69913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同樣是 L3，使用範圍仍可能不同。</a:t>
            </a:r>
          </a:p>
        </p:txBody>
      </p:sp>
      <p:sp>
        <p:nvSpPr>
          <p:cNvPr id="12" name="source-vi">
            <a:extLst>
              <a:ext uri="{FF2B5EF4-FFF2-40B4-BE49-F238E27FC236}">
                <a16:creationId xmlns:a16="http://schemas.microsoft.com/office/drawing/2014/main" id="{6AEE25C7-07ED-4A44-A2F7-35FE2B6C1633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57275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00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Trích thông báo lịch sử, không phải ODD đầy đủ. Nguồn: California DMV; Mercedes-Benz. Ảnh minh họa: Auto-Online, 2024.09.</a:t>
            </a:r>
          </a:p>
        </p:txBody>
      </p:sp>
      <p:sp>
        <p:nvSpPr>
          <p:cNvPr id="13" name="source-zh">
            <a:extLst>
              <a:ext uri="{FF2B5EF4-FFF2-40B4-BE49-F238E27FC236}">
                <a16:creationId xmlns:a16="http://schemas.microsoft.com/office/drawing/2014/main" id="{1BEB3DE2-516E-47F8-8378-35BD03099E31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057275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788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歷史公告節錄，並非完整 ODD。資料：加州 DMV、Mercedes-Benz。原廠宣傳示意圖：汽車線上，2024.09。</a:t>
            </a:r>
          </a:p>
        </p:txBody>
      </p:sp>
      <p:sp>
        <p:nvSpPr>
          <p:cNvPr id="14" name="page">
            <a:extLst>
              <a:ext uri="{FF2B5EF4-FFF2-40B4-BE49-F238E27FC236}">
                <a16:creationId xmlns:a16="http://schemas.microsoft.com/office/drawing/2014/main" id="{F30C30EA-B551-4287-AC98-5FB20F8396ED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3048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26712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DD 寫得越具體，越容易比較">
            <a:extLst>
              <a:ext uri="{FF2B5EF4-FFF2-40B4-BE49-F238E27FC236}">
                <a16:creationId xmlns:a16="http://schemas.microsoft.com/office/drawing/2014/main" id="{8A3957DB-267D-4969-8C65-EBB083FF6E3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1019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3240"/>
              </a:lnSpc>
              <a:spcBef>
                <a:spcPts val="0"/>
              </a:spcBef>
              <a:spcAft>
                <a:spcPts val="30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700" b="1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Điều kiện hoạt động trong giấy phép trước đây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650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歷史許可中的運作條件</a:t>
            </a:r>
          </a:p>
        </p:txBody>
      </p:sp>
      <p:sp>
        <p:nvSpPr>
          <p:cNvPr id="2" name="15">
            <a:extLst>
              <a:ext uri="{FF2B5EF4-FFF2-40B4-BE49-F238E27FC236}">
                <a16:creationId xmlns:a16="http://schemas.microsoft.com/office/drawing/2014/main" id="{32C2A3C8-4CFA-497D-A879-DCBF9DE4A96E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3" name="01">
            <a:extLst>
              <a:ext uri="{FF2B5EF4-FFF2-40B4-BE49-F238E27FC236}">
                <a16:creationId xmlns:a16="http://schemas.microsoft.com/office/drawing/2014/main" id="{44C60057-6141-444A-A80B-1ECD76B3B548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571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4" name="Cruise 舊金山載客許可，2022.06">
            <a:extLst>
              <a:ext uri="{FF2B5EF4-FFF2-40B4-BE49-F238E27FC236}">
                <a16:creationId xmlns:a16="http://schemas.microsoft.com/office/drawing/2014/main" id="{925F0E20-FD86-4D70-8D05-47234B32BEBF}"/>
              </a:ext>
            </a:extLst>
          </p:cNvPr>
          <p:cNvSpPr>
            <a:spLocks noGrp="1"/>
          </p:cNvSpPr>
          <p:nvPr/>
        </p:nvSpPr>
        <p:spPr>
          <a:xfrm>
            <a:off x="1428750" y="1914525"/>
            <a:ext cx="10039350" cy="1085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790"/>
              </a:lnSpc>
              <a:spcBef>
                <a:spcPts val="0"/>
              </a:spcBef>
              <a:spcAft>
                <a:spcPts val="300"/>
              </a:spcAft>
              <a:defRPr sz="23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325" b="0" dirty="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Giấy phép chở khách Cruise tại San Francisco, 2022.06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23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500" b="0" dirty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Cruise 舊金山載客許可，2022.06</a:t>
            </a:r>
          </a:p>
        </p:txBody>
      </p:sp>
      <p:sp>
        <p:nvSpPr>
          <p:cNvPr id="5" name="02">
            <a:extLst>
              <a:ext uri="{FF2B5EF4-FFF2-40B4-BE49-F238E27FC236}">
                <a16:creationId xmlns:a16="http://schemas.microsoft.com/office/drawing/2014/main" id="{ECB21CEB-9CF4-4C1D-8EFB-532E8A9282B1}"/>
              </a:ext>
            </a:extLst>
          </p:cNvPr>
          <p:cNvSpPr>
            <a:spLocks noGrp="1"/>
          </p:cNvSpPr>
          <p:nvPr/>
        </p:nvSpPr>
        <p:spPr>
          <a:xfrm>
            <a:off x="609600" y="3181350"/>
            <a:ext cx="571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6" name="指定街道，最高 30 mph（約 48 km/h）">
            <a:extLst>
              <a:ext uri="{FF2B5EF4-FFF2-40B4-BE49-F238E27FC236}">
                <a16:creationId xmlns:a16="http://schemas.microsoft.com/office/drawing/2014/main" id="{3103E80F-FF3B-4101-BA54-CF3E803B72B2}"/>
              </a:ext>
            </a:extLst>
          </p:cNvPr>
          <p:cNvSpPr>
            <a:spLocks noGrp="1"/>
          </p:cNvSpPr>
          <p:nvPr/>
        </p:nvSpPr>
        <p:spPr>
          <a:xfrm>
            <a:off x="1428750" y="3114675"/>
            <a:ext cx="10039350" cy="1085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790"/>
              </a:lnSpc>
              <a:spcBef>
                <a:spcPts val="0"/>
              </a:spcBef>
              <a:spcAft>
                <a:spcPts val="300"/>
              </a:spcAft>
              <a:defRPr sz="23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325" b="0" dirty="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Đường chỉ định, tối đa 30 mph (khoảng 48 km/h)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23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500" b="0" dirty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指定街道，最高 30 mph（約 48 km/h）</a:t>
            </a:r>
          </a:p>
        </p:txBody>
      </p:sp>
      <p:sp>
        <p:nvSpPr>
          <p:cNvPr id="7" name="03">
            <a:extLst>
              <a:ext uri="{FF2B5EF4-FFF2-40B4-BE49-F238E27FC236}">
                <a16:creationId xmlns:a16="http://schemas.microsoft.com/office/drawing/2014/main" id="{C03CCC39-7B2B-45D4-9767-11B0584E12E5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571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8" name="22:00–06:00，排除大雨、濃霧等天候">
            <a:extLst>
              <a:ext uri="{FF2B5EF4-FFF2-40B4-BE49-F238E27FC236}">
                <a16:creationId xmlns:a16="http://schemas.microsoft.com/office/drawing/2014/main" id="{A068C7DD-634F-4491-8663-FD34C7EECCE3}"/>
              </a:ext>
            </a:extLst>
          </p:cNvPr>
          <p:cNvSpPr>
            <a:spLocks noGrp="1"/>
          </p:cNvSpPr>
          <p:nvPr/>
        </p:nvSpPr>
        <p:spPr>
          <a:xfrm>
            <a:off x="1428750" y="4314825"/>
            <a:ext cx="10039350" cy="1085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790"/>
              </a:lnSpc>
              <a:spcBef>
                <a:spcPts val="0"/>
              </a:spcBef>
              <a:spcAft>
                <a:spcPts val="300"/>
              </a:spcAft>
              <a:defRPr sz="23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325" b="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22:00–06:00, loại trừ mưa lớn, sương mù dày và thời tiết tương tự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23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500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22:00–06:00，排除大雨、濃霧等天候</a:t>
            </a:r>
          </a:p>
        </p:txBody>
      </p:sp>
      <p:sp>
        <p:nvSpPr>
          <p:cNvPr id="9" name="資料：CPUC；完整來源見備忘稿">
            <a:extLst>
              <a:ext uri="{FF2B5EF4-FFF2-40B4-BE49-F238E27FC236}">
                <a16:creationId xmlns:a16="http://schemas.microsoft.com/office/drawing/2014/main" id="{541D6D5A-B879-4760-BA3B-C0DDAD142DD3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477500" cy="485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300"/>
              </a:spcAft>
              <a:defRPr sz="1013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1012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Nguồn: CPUC. Chi tiết trong ghi chú thuyết trình.</a:t>
            </a:r>
          </a:p>
          <a:p>
            <a:pPr algn="l">
              <a:lnSpc>
                <a:spcPts val="945"/>
              </a:lnSpc>
              <a:spcBef>
                <a:spcPts val="0"/>
              </a:spcBef>
              <a:spcAft>
                <a:spcPts val="0"/>
              </a:spcAft>
              <a:defRPr sz="1013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788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資料：CPUC；完整來源見備忘稿</a:t>
            </a:r>
          </a:p>
        </p:txBody>
      </p:sp>
    </p:spTree>
    <p:extLst>
      <p:ext uri="{BB962C8B-B14F-4D97-AF65-F5344CB8AC3E}">
        <p14:creationId xmlns:p14="http://schemas.microsoft.com/office/powerpoint/2010/main" val="18748988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河內 Phenikaa-X：受控試驗">
            <a:extLst>
              <a:ext uri="{FF2B5EF4-FFF2-40B4-BE49-F238E27FC236}">
                <a16:creationId xmlns:a16="http://schemas.microsoft.com/office/drawing/2014/main" id="{405C5C80-8C87-417F-A2C2-19669BC14BC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1019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3240"/>
              </a:lnSpc>
              <a:spcBef>
                <a:spcPts val="0"/>
              </a:spcBef>
              <a:spcAft>
                <a:spcPts val="30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700" b="1" dirty="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Phenikaa-X tại Hà Nội: Thử nghiệm có kiểm soát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650" b="0" dirty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河內 Phenikaa-X：受控試驗</a:t>
            </a:r>
          </a:p>
        </p:txBody>
      </p:sp>
      <p:sp>
        <p:nvSpPr>
          <p:cNvPr id="2" name="16">
            <a:extLst>
              <a:ext uri="{FF2B5EF4-FFF2-40B4-BE49-F238E27FC236}">
                <a16:creationId xmlns:a16="http://schemas.microsoft.com/office/drawing/2014/main" id="{74488BA3-D259-4E62-9257-AE6BB08E6A74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67350" y="1676400"/>
            <a:ext cx="6000750" cy="4000500"/>
          </a:xfrm>
          <a:prstGeom prst="rect">
            <a:avLst/>
          </a:prstGeom>
        </p:spPr>
      </p:pic>
      <p:sp>
        <p:nvSpPr>
          <p:cNvPr id="4" name="受控試驗，為期 24 個月">
            <a:extLst>
              <a:ext uri="{FF2B5EF4-FFF2-40B4-BE49-F238E27FC236}">
                <a16:creationId xmlns:a16="http://schemas.microsoft.com/office/drawing/2014/main" id="{80A18234-AFC4-4ABA-BA5E-C36CAC8DA519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4333875" cy="1047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790"/>
              </a:lnSpc>
              <a:spcBef>
                <a:spcPts val="0"/>
              </a:spcBef>
              <a:spcAft>
                <a:spcPts val="0"/>
              </a:spcAft>
              <a:defRPr sz="2325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325" b="0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rPr>
              <a:t>Được phê duyệt thử nghiệm có</a:t>
            </a:r>
          </a:p>
          <a:p>
            <a:pPr algn="l">
              <a:lnSpc>
                <a:spcPts val="2790"/>
              </a:lnSpc>
              <a:spcBef>
                <a:spcPts val="0"/>
              </a:spcBef>
              <a:spcAft>
                <a:spcPts val="300"/>
              </a:spcAft>
              <a:defRPr sz="2325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325" b="0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rPr>
              <a:t>kiểm soát trong 24 tháng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2325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500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核准受控試驗，為期 24 個月</a:t>
            </a:r>
          </a:p>
        </p:txBody>
      </p:sp>
      <p:sp>
        <p:nvSpPr>
          <p:cNvPr id="5" name="Hòa Lạc 高科技園區與大學校區">
            <a:extLst>
              <a:ext uri="{FF2B5EF4-FFF2-40B4-BE49-F238E27FC236}">
                <a16:creationId xmlns:a16="http://schemas.microsoft.com/office/drawing/2014/main" id="{BAA1C451-9C41-45D9-8FF1-731C89B48485}"/>
              </a:ext>
            </a:extLst>
          </p:cNvPr>
          <p:cNvSpPr>
            <a:spLocks noGrp="1"/>
          </p:cNvSpPr>
          <p:nvPr/>
        </p:nvSpPr>
        <p:spPr>
          <a:xfrm>
            <a:off x="609600" y="3124200"/>
            <a:ext cx="4333875" cy="1047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610"/>
              </a:lnSpc>
              <a:spcBef>
                <a:spcPts val="0"/>
              </a:spcBef>
              <a:spcAft>
                <a:spcPts val="0"/>
              </a:spcAft>
              <a:defRPr sz="217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175" b="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Khu Công nghệ cao Hòa Lạc và</a:t>
            </a:r>
          </a:p>
          <a:p>
            <a:pPr algn="l">
              <a:lnSpc>
                <a:spcPts val="2610"/>
              </a:lnSpc>
              <a:spcBef>
                <a:spcPts val="0"/>
              </a:spcBef>
              <a:spcAft>
                <a:spcPts val="300"/>
              </a:spcAft>
              <a:defRPr sz="217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175" b="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khuôn viên đại học</a:t>
            </a:r>
          </a:p>
          <a:p>
            <a:pPr algn="l">
              <a:lnSpc>
                <a:spcPts val="1696"/>
              </a:lnSpc>
              <a:spcBef>
                <a:spcPts val="0"/>
              </a:spcBef>
              <a:spcAft>
                <a:spcPts val="0"/>
              </a:spcAft>
              <a:defRPr sz="217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414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Hòa Lạc 高科技園區與大學校區</a:t>
            </a:r>
          </a:p>
        </p:txBody>
      </p:sp>
      <p:sp>
        <p:nvSpPr>
          <p:cNvPr id="6" name="指定路網&#10;不收取商業運輸費用">
            <a:extLst>
              <a:ext uri="{FF2B5EF4-FFF2-40B4-BE49-F238E27FC236}">
                <a16:creationId xmlns:a16="http://schemas.microsoft.com/office/drawing/2014/main" id="{127E9DC2-1106-4F5C-818A-67A17E796E62}"/>
              </a:ext>
            </a:extLst>
          </p:cNvPr>
          <p:cNvSpPr>
            <a:spLocks noGrp="1"/>
          </p:cNvSpPr>
          <p:nvPr/>
        </p:nvSpPr>
        <p:spPr>
          <a:xfrm>
            <a:off x="609600" y="4324350"/>
            <a:ext cx="4333875" cy="1047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610"/>
              </a:lnSpc>
              <a:spcBef>
                <a:spcPts val="0"/>
              </a:spcBef>
              <a:spcAft>
                <a:spcPts val="0"/>
              </a:spcAft>
              <a:defRPr sz="217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175" b="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Mạng lưới đường chỉ định, không</a:t>
            </a:r>
          </a:p>
          <a:p>
            <a:pPr algn="l">
              <a:lnSpc>
                <a:spcPts val="2610"/>
              </a:lnSpc>
              <a:spcBef>
                <a:spcPts val="0"/>
              </a:spcBef>
              <a:spcAft>
                <a:spcPts val="300"/>
              </a:spcAft>
              <a:defRPr sz="217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175" b="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thu phí vận tải thương mại</a:t>
            </a:r>
          </a:p>
          <a:p>
            <a:pPr algn="l">
              <a:lnSpc>
                <a:spcPts val="1696"/>
              </a:lnSpc>
              <a:spcBef>
                <a:spcPts val="0"/>
              </a:spcBef>
              <a:spcAft>
                <a:spcPts val="0"/>
              </a:spcAft>
              <a:defRPr sz="217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414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指定路網　不收取商業運輸費用</a:t>
            </a:r>
          </a:p>
        </p:txBody>
      </p:sp>
      <p:sp>
        <p:nvSpPr>
          <p:cNvPr id="7" name="照片與資料：河內高科技園區管理機關，2026-08">
            <a:extLst>
              <a:ext uri="{FF2B5EF4-FFF2-40B4-BE49-F238E27FC236}">
                <a16:creationId xmlns:a16="http://schemas.microsoft.com/office/drawing/2014/main" id="{FB4D5C51-B3CD-4EC9-8CC5-733119B5A967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477500" cy="485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300"/>
              </a:spcAft>
              <a:defRPr sz="1013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1012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Ảnh và thông tin: Cơ quan quản lý khu công nghệ cao Hà Nội, 2026-08-26.</a:t>
            </a:r>
          </a:p>
          <a:p>
            <a:pPr algn="l">
              <a:lnSpc>
                <a:spcPts val="945"/>
              </a:lnSpc>
              <a:spcBef>
                <a:spcPts val="0"/>
              </a:spcBef>
              <a:spcAft>
                <a:spcPts val="0"/>
              </a:spcAft>
              <a:defRPr sz="1013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788" b="0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照片與資料：河內高科技園區管理機關，2026-08-26</a:t>
            </a:r>
          </a:p>
        </p:txBody>
      </p:sp>
    </p:spTree>
    <p:extLst>
      <p:ext uri="{BB962C8B-B14F-4D97-AF65-F5344CB8AC3E}">
        <p14:creationId xmlns:p14="http://schemas.microsoft.com/office/powerpoint/2010/main" val="1023311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9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資料沒寫，答案可以是「待確認」">
            <a:extLst>
              <a:ext uri="{FF2B5EF4-FFF2-40B4-BE49-F238E27FC236}">
                <a16:creationId xmlns:a16="http://schemas.microsoft.com/office/drawing/2014/main" id="{C72CF7F4-1E1B-4DC0-9E8E-95184941723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1019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3240"/>
              </a:lnSpc>
              <a:spcBef>
                <a:spcPts val="0"/>
              </a:spcBef>
              <a:spcAft>
                <a:spcPts val="300"/>
              </a:spcAft>
              <a:defRPr sz="27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Thiếu thông tin, có thể trả lời “cần xác minh”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650" b="0">
                <a:solidFill>
                  <a:srgbClr val="B7CDD2"/>
                </a:solidFill>
                <a:latin typeface="Arial Unicode MS"/>
                <a:ea typeface="Arial Unicode MS"/>
                <a:cs typeface="Arial Unicode MS"/>
              </a:rPr>
              <a:t>資料沒寫，答案可以是「待確認」</a:t>
            </a:r>
          </a:p>
        </p:txBody>
      </p:sp>
      <p:sp>
        <p:nvSpPr>
          <p:cNvPr id="2" name="17">
            <a:extLst>
              <a:ext uri="{FF2B5EF4-FFF2-40B4-BE49-F238E27FC236}">
                <a16:creationId xmlns:a16="http://schemas.microsoft.com/office/drawing/2014/main" id="{0D4914A2-1350-426D-865E-72A468575923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350" b="0">
                <a:solidFill>
                  <a:srgbClr val="75D3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75D3C8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sp>
        <p:nvSpPr>
          <p:cNvPr id="3" name="已知：校園固定路線，白天，最高 20 km/h">
            <a:extLst>
              <a:ext uri="{FF2B5EF4-FFF2-40B4-BE49-F238E27FC236}">
                <a16:creationId xmlns:a16="http://schemas.microsoft.com/office/drawing/2014/main" id="{5C83A15B-EA0D-4F99-9DA8-AC827BE8F525}"/>
              </a:ext>
            </a:extLst>
          </p:cNvPr>
          <p:cNvSpPr>
            <a:spLocks noGrp="1"/>
          </p:cNvSpPr>
          <p:nvPr/>
        </p:nvSpPr>
        <p:spPr>
          <a:xfrm>
            <a:off x="609600" y="2171700"/>
            <a:ext cx="10972800" cy="1028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790"/>
              </a:lnSpc>
              <a:spcBef>
                <a:spcPts val="0"/>
              </a:spcBef>
              <a:spcAft>
                <a:spcPts val="300"/>
              </a:spcAft>
              <a:defRPr sz="23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Đã biết: tuyến cố định trong trường, ban ngày, tối đa 20 km/h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23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500" b="0">
                <a:solidFill>
                  <a:srgbClr val="B7CDD2"/>
                </a:solidFill>
                <a:latin typeface="Arial Unicode MS"/>
                <a:ea typeface="Arial Unicode MS"/>
                <a:cs typeface="Arial Unicode MS"/>
              </a:rPr>
              <a:t>已知：校園固定路線，白天，最高 20 km/h</a:t>
            </a:r>
          </a:p>
        </p:txBody>
      </p:sp>
      <p:sp>
        <p:nvSpPr>
          <p:cNvPr id="4" name="未交代：雨量門檻、故障處理、人員角色">
            <a:extLst>
              <a:ext uri="{FF2B5EF4-FFF2-40B4-BE49-F238E27FC236}">
                <a16:creationId xmlns:a16="http://schemas.microsoft.com/office/drawing/2014/main" id="{F57B97BC-96D7-4A82-81EA-AB6683CBF1D6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10972800" cy="1028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790"/>
              </a:lnSpc>
              <a:spcBef>
                <a:spcPts val="0"/>
              </a:spcBef>
              <a:spcAft>
                <a:spcPts val="300"/>
              </a:spcAft>
              <a:defRPr sz="23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Chưa rõ: ngưỡng mưa, xử lý lỗi, vai trò của con người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23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500" b="0">
                <a:solidFill>
                  <a:srgbClr val="B7CDD2"/>
                </a:solidFill>
                <a:latin typeface="Arial Unicode MS"/>
                <a:ea typeface="Arial Unicode MS"/>
                <a:cs typeface="Arial Unicode MS"/>
              </a:rPr>
              <a:t>未交代：雨量門檻、故障處理、人員角色</a:t>
            </a:r>
          </a:p>
        </p:txBody>
      </p:sp>
      <p:sp>
        <p:nvSpPr>
          <p:cNvPr id="5" name="可以直接判定 L4 嗎？">
            <a:extLst>
              <a:ext uri="{FF2B5EF4-FFF2-40B4-BE49-F238E27FC236}">
                <a16:creationId xmlns:a16="http://schemas.microsoft.com/office/drawing/2014/main" id="{5F69E8EF-6346-4754-9623-DCD93866F978}"/>
              </a:ext>
            </a:extLst>
          </p:cNvPr>
          <p:cNvSpPr>
            <a:spLocks noGrp="1"/>
          </p:cNvSpPr>
          <p:nvPr/>
        </p:nvSpPr>
        <p:spPr>
          <a:xfrm>
            <a:off x="609600" y="4533900"/>
            <a:ext cx="10972800" cy="1028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790"/>
              </a:lnSpc>
              <a:spcBef>
                <a:spcPts val="0"/>
              </a:spcBef>
              <a:spcAft>
                <a:spcPts val="300"/>
              </a:spcAft>
              <a:defRPr sz="2325">
                <a:solidFill>
                  <a:srgbClr val="75D3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325" b="0">
                <a:solidFill>
                  <a:srgbClr val="75D3C8"/>
                </a:solidFill>
                <a:latin typeface="Arial Unicode MS"/>
                <a:ea typeface="Arial Unicode MS"/>
                <a:cs typeface="Arial Unicode MS"/>
              </a:rPr>
              <a:t>Có thể kết luận ngay là L4 không?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2325">
                <a:solidFill>
                  <a:srgbClr val="75D3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500" b="0">
                <a:solidFill>
                  <a:srgbClr val="B7CDD2"/>
                </a:solidFill>
                <a:latin typeface="Arial Unicode MS"/>
                <a:ea typeface="Arial Unicode MS"/>
                <a:cs typeface="Arial Unicode MS"/>
              </a:rPr>
              <a:t>可以直接判定 L4 嗎？</a:t>
            </a:r>
          </a:p>
        </p:txBody>
      </p:sp>
    </p:spTree>
    <p:extLst>
      <p:ext uri="{BB962C8B-B14F-4D97-AF65-F5344CB8AC3E}">
        <p14:creationId xmlns:p14="http://schemas.microsoft.com/office/powerpoint/2010/main" val="605754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9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第一節整理">
            <a:extLst>
              <a:ext uri="{FF2B5EF4-FFF2-40B4-BE49-F238E27FC236}">
                <a16:creationId xmlns:a16="http://schemas.microsoft.com/office/drawing/2014/main" id="{508EBDC7-1662-49C2-8975-87030910941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1019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3240"/>
              </a:lnSpc>
              <a:spcBef>
                <a:spcPts val="0"/>
              </a:spcBef>
              <a:spcAft>
                <a:spcPts val="300"/>
              </a:spcAft>
              <a:defRPr sz="27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Tổng kết tiết 1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650" b="0">
                <a:solidFill>
                  <a:srgbClr val="B7CDD2"/>
                </a:solidFill>
                <a:latin typeface="Arial Unicode MS"/>
                <a:ea typeface="Arial Unicode MS"/>
                <a:cs typeface="Arial Unicode MS"/>
              </a:rPr>
              <a:t>第一節整理</a:t>
            </a:r>
          </a:p>
        </p:txBody>
      </p:sp>
      <p:sp>
        <p:nvSpPr>
          <p:cNvPr id="2" name="18">
            <a:extLst>
              <a:ext uri="{FF2B5EF4-FFF2-40B4-BE49-F238E27FC236}">
                <a16:creationId xmlns:a16="http://schemas.microsoft.com/office/drawing/2014/main" id="{BA213A2B-F633-49AC-A85D-015316D5D675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350" b="0">
                <a:solidFill>
                  <a:srgbClr val="75D3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75D3C8"/>
                </a:solidFill>
                <a:latin typeface="Arial Unicode MS"/>
                <a:ea typeface="Arial Unicode MS"/>
                <a:cs typeface="Arial Unicode MS"/>
              </a:rPr>
              <a:t>17</a:t>
            </a:r>
          </a:p>
        </p:txBody>
      </p:sp>
      <p:sp>
        <p:nvSpPr>
          <p:cNvPr id="3" name="01">
            <a:extLst>
              <a:ext uri="{FF2B5EF4-FFF2-40B4-BE49-F238E27FC236}">
                <a16:creationId xmlns:a16="http://schemas.microsoft.com/office/drawing/2014/main" id="{3DCF0C80-41CA-411C-9FF3-3D508C550A23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571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75D3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75D3C8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4" name="分級：功能啟用時的人機分工">
            <a:extLst>
              <a:ext uri="{FF2B5EF4-FFF2-40B4-BE49-F238E27FC236}">
                <a16:creationId xmlns:a16="http://schemas.microsoft.com/office/drawing/2014/main" id="{BEB81264-E9E6-4CC3-A5F9-99B23F387876}"/>
              </a:ext>
            </a:extLst>
          </p:cNvPr>
          <p:cNvSpPr>
            <a:spLocks noGrp="1"/>
          </p:cNvSpPr>
          <p:nvPr/>
        </p:nvSpPr>
        <p:spPr>
          <a:xfrm>
            <a:off x="1428750" y="1914525"/>
            <a:ext cx="10039350" cy="1085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790"/>
              </a:lnSpc>
              <a:spcBef>
                <a:spcPts val="0"/>
              </a:spcBef>
              <a:spcAft>
                <a:spcPts val="300"/>
              </a:spcAft>
              <a:defRPr sz="23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Cấp độ: Phân công người và hệ thống khi chức năng hoạt động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23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500" b="0">
                <a:solidFill>
                  <a:srgbClr val="B7CDD2"/>
                </a:solidFill>
                <a:latin typeface="Arial Unicode MS"/>
                <a:ea typeface="Arial Unicode MS"/>
                <a:cs typeface="Arial Unicode MS"/>
              </a:rPr>
              <a:t>分級：功能啟用時的人機分工</a:t>
            </a:r>
          </a:p>
        </p:txBody>
      </p:sp>
      <p:sp>
        <p:nvSpPr>
          <p:cNvPr id="5" name="02">
            <a:extLst>
              <a:ext uri="{FF2B5EF4-FFF2-40B4-BE49-F238E27FC236}">
                <a16:creationId xmlns:a16="http://schemas.microsoft.com/office/drawing/2014/main" id="{D1A0E62D-3D02-48BF-98EE-50BED5D322D2}"/>
              </a:ext>
            </a:extLst>
          </p:cNvPr>
          <p:cNvSpPr>
            <a:spLocks noGrp="1"/>
          </p:cNvSpPr>
          <p:nvPr/>
        </p:nvSpPr>
        <p:spPr>
          <a:xfrm>
            <a:off x="609600" y="3181350"/>
            <a:ext cx="571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75D3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75D3C8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6" name="ODD：設計允許的運作條件">
            <a:extLst>
              <a:ext uri="{FF2B5EF4-FFF2-40B4-BE49-F238E27FC236}">
                <a16:creationId xmlns:a16="http://schemas.microsoft.com/office/drawing/2014/main" id="{94D05334-E5E1-47F2-A3EF-AB1345B9B49A}"/>
              </a:ext>
            </a:extLst>
          </p:cNvPr>
          <p:cNvSpPr>
            <a:spLocks noGrp="1"/>
          </p:cNvSpPr>
          <p:nvPr/>
        </p:nvSpPr>
        <p:spPr>
          <a:xfrm>
            <a:off x="1428750" y="3114675"/>
            <a:ext cx="10039350" cy="1085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790"/>
              </a:lnSpc>
              <a:spcBef>
                <a:spcPts val="0"/>
              </a:spcBef>
              <a:spcAft>
                <a:spcPts val="300"/>
              </a:spcAft>
              <a:defRPr sz="23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ODD: Các điều kiện hoạt động được thiết kế cho phép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23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500" b="0">
                <a:solidFill>
                  <a:srgbClr val="B7CDD2"/>
                </a:solidFill>
                <a:latin typeface="Arial Unicode MS"/>
                <a:ea typeface="Arial Unicode MS"/>
                <a:cs typeface="Arial Unicode MS"/>
              </a:rPr>
              <a:t>ODD：設計允許的運作條件</a:t>
            </a:r>
          </a:p>
        </p:txBody>
      </p:sp>
      <p:sp>
        <p:nvSpPr>
          <p:cNvPr id="7" name="03">
            <a:extLst>
              <a:ext uri="{FF2B5EF4-FFF2-40B4-BE49-F238E27FC236}">
                <a16:creationId xmlns:a16="http://schemas.microsoft.com/office/drawing/2014/main" id="{D492E67F-E3A5-4733-97C7-1997CB3A519D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571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75D3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75D3C8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8" name="證據：產品、地區、版本與日期">
            <a:extLst>
              <a:ext uri="{FF2B5EF4-FFF2-40B4-BE49-F238E27FC236}">
                <a16:creationId xmlns:a16="http://schemas.microsoft.com/office/drawing/2014/main" id="{DF17B04E-1742-44F7-A95D-CD0502232018}"/>
              </a:ext>
            </a:extLst>
          </p:cNvPr>
          <p:cNvSpPr>
            <a:spLocks noGrp="1"/>
          </p:cNvSpPr>
          <p:nvPr/>
        </p:nvSpPr>
        <p:spPr>
          <a:xfrm>
            <a:off x="1428750" y="4314825"/>
            <a:ext cx="10039350" cy="1085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790"/>
              </a:lnSpc>
              <a:spcBef>
                <a:spcPts val="0"/>
              </a:spcBef>
              <a:spcAft>
                <a:spcPts val="300"/>
              </a:spcAft>
              <a:defRPr sz="23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vi-VN"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Tiết sau: Xe thu thập thông tin môi trường bằng cách nào?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23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sz="1500" b="0">
                <a:solidFill>
                  <a:srgbClr val="B7CDD2"/>
                </a:solidFill>
                <a:latin typeface="Arial Unicode MS"/>
                <a:ea typeface="Arial Unicode MS"/>
                <a:cs typeface="Arial Unicode MS"/>
              </a:rPr>
              <a:t>下一節：車子如何取得環境資訊？</a:t>
            </a:r>
          </a:p>
        </p:txBody>
      </p:sp>
    </p:spTree>
    <p:extLst>
      <p:ext uri="{BB962C8B-B14F-4D97-AF65-F5344CB8AC3E}">
        <p14:creationId xmlns:p14="http://schemas.microsoft.com/office/powerpoint/2010/main" val="14655280"/>
      </p:ext>
    </p:extLst>
  </p:cSld>
  <p:clrMapOvr>
    <a:masterClrMapping/>
  </p:clrMapOvr>
</p:sld>
</file>

<file path=ppt/theme/theme1.xml><?xml version="1.0" encoding="utf-8"?>
<a:theme xmlns:a="http://schemas.openxmlformats.org/drawingml/2006/main" name="Course">
  <a:themeElements>
    <a:clrScheme name="Cours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ours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urse">
  <a:themeElements>
    <a:clrScheme name="Cours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ours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671</TotalTime>
  <Words>6734</Words>
  <Application>Microsoft Macintosh PowerPoint</Application>
  <DocSecurity>0</DocSecurity>
  <PresentationFormat>寬螢幕</PresentationFormat>
  <Paragraphs>891</Paragraphs>
  <Slides>17</Slides>
  <Notes>18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1" baseType="lpstr">
      <vt:lpstr>Arial Unicode MS</vt:lpstr>
      <vt:lpstr>Calibri</vt:lpstr>
      <vt:lpstr/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Tseng Cheng Hsun</cp:lastModifiedBy>
  <cp:revision>2</cp:revision>
  <dcterms:created xsi:type="dcterms:W3CDTF">2026-09-13T08:28:04Z</dcterms:created>
  <dcterms:modified xsi:type="dcterms:W3CDTF">2026-09-16T00:09:56Z</dcterms:modified>
</cp:coreProperties>
</file>