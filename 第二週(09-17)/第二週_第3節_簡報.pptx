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jpe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cb1bf77cf341dd" /><Relationship Type="http://schemas.openxmlformats.org/officeDocument/2006/relationships/extended-properties" Target="/docProps/app.xml" Id="Rf1b595b9f5ed4790" /><Relationship Type="http://schemas.openxmlformats.org/officeDocument/2006/relationships/officeDocument" Target="/ppt/presentation.xml" Id="Rf66e6c2ad33b4d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29d77a0f340af"/>
  </p:sldMasterIdLst>
  <p:notesMasterIdLst>
    <p:notesMasterId xmlns:r="http://schemas.openxmlformats.org/officeDocument/2006/relationships" r:id="Rc38598deadf445f7"/>
  </p:notesMasterIdLst>
  <p:sldIdLst>
    <p:sldId xmlns:r="http://schemas.openxmlformats.org/officeDocument/2006/relationships" id="256" r:id="Rc178bb02640d4a15"/>
    <p:sldId xmlns:r="http://schemas.openxmlformats.org/officeDocument/2006/relationships" id="257" r:id="R7822c2a46cba4c76"/>
    <p:sldId xmlns:r="http://schemas.openxmlformats.org/officeDocument/2006/relationships" id="258" r:id="R7758939245f44ad4"/>
    <p:sldId xmlns:r="http://schemas.openxmlformats.org/officeDocument/2006/relationships" id="259" r:id="R45b964d5bd184ab1"/>
    <p:sldId xmlns:ns1="http://schemas.openxmlformats.org/officeDocument/2006/relationships" id="278" ns1:id="rIdPhenikaaHanoiVideo"/>
    <p:sldId xmlns:r="http://schemas.openxmlformats.org/officeDocument/2006/relationships" id="260" r:id="Re3ccd0f2291d41ab"/>
    <p:sldId xmlns:r="http://schemas.openxmlformats.org/officeDocument/2006/relationships" id="261" r:id="R43ca4d3a49f74fbc"/>
    <p:sldId xmlns:r="http://schemas.openxmlformats.org/officeDocument/2006/relationships" id="262" r:id="Rabf8ad18f38e452a"/>
    <p:sldId xmlns:r="http://schemas.openxmlformats.org/officeDocument/2006/relationships" id="263" r:id="R5891f8d39dd64380"/>
    <p:sldId xmlns:ns1="http://schemas.openxmlformats.org/officeDocument/2006/relationships" id="273" ns1:id="rIdGroupAnswerB"/>
    <p:sldId xmlns:ns1="http://schemas.openxmlformats.org/officeDocument/2006/relationships" id="274" ns1:id="rIdGroupAnswerC"/>
    <p:sldId xmlns:ns1="http://schemas.openxmlformats.org/officeDocument/2006/relationships" id="275" ns1:id="rIdGroupAnswerD"/>
    <p:sldId xmlns:ns1="http://schemas.openxmlformats.org/officeDocument/2006/relationships" id="276" ns1:id="rIdGroupAnswerE"/>
    <p:sldId xmlns:ns1="http://schemas.openxmlformats.org/officeDocument/2006/relationships" id="277" ns1:id="rIdGroupAnswerF"/>
    <p:sldId xmlns:r="http://schemas.openxmlformats.org/officeDocument/2006/relationships" id="264" r:id="R6ed9f94caa8b4551"/>
    <p:sldId xmlns:r="http://schemas.openxmlformats.org/officeDocument/2006/relationships" id="265" r:id="R59dff6fe26d64246"/>
    <p:sldId xmlns:r="http://schemas.openxmlformats.org/officeDocument/2006/relationships" id="266" r:id="R65b603e9450f46ed"/>
    <p:sldId xmlns:r="http://schemas.openxmlformats.org/officeDocument/2006/relationships" id="267" r:id="Rb9c247372d4d423a"/>
    <p:sldId xmlns:r="http://schemas.openxmlformats.org/officeDocument/2006/relationships" id="268" r:id="Ra9b3ccdc1d3c48ed"/>
    <p:sldId xmlns:r="http://schemas.openxmlformats.org/officeDocument/2006/relationships" id="269" r:id="R98372ca3f17a4677"/>
    <p:sldId xmlns:r="http://schemas.openxmlformats.org/officeDocument/2006/relationships" id="270" r:id="R9744282e6f214b02"/>
    <p:sldId xmlns:r="http://schemas.openxmlformats.org/officeDocument/2006/relationships" id="271" r:id="R13e1900bc80749b9"/>
    <p:sldId xmlns:r="http://schemas.openxmlformats.org/officeDocument/2006/relationships" id="272" r:id="Ra4d99b0bfa6640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9c935d81d6f4f44"/><Relationship Type="http://schemas.openxmlformats.org/officeDocument/2006/relationships/slideMaster" Target="/ppt/slideMasters/slideMaster1.xml" Id="Rb3c29d77a0f340af"/><Relationship Type="http://schemas.openxmlformats.org/officeDocument/2006/relationships/notesMaster" Target="/ppt/notesMasters/notesMaster1.xml" Id="Rc38598deadf445f7"/><Relationship Type="http://schemas.openxmlformats.org/officeDocument/2006/relationships/presProps" Target="/ppt/presProps.xml" Id="R4fb1af651bba4423"/><Relationship Type="http://schemas.openxmlformats.org/officeDocument/2006/relationships/tableStyles" Target="/ppt/tableStyles.xml" Id="Ra91ccd26f142444e"/><Relationship Type="http://schemas.openxmlformats.org/officeDocument/2006/relationships/slide" Target="/ppt/slides/slide1.xml" Id="Rc178bb02640d4a15"/><Relationship Type="http://schemas.openxmlformats.org/officeDocument/2006/relationships/slide" Target="/ppt/slides/slide2.xml" Id="R7822c2a46cba4c76"/><Relationship Type="http://schemas.openxmlformats.org/officeDocument/2006/relationships/slide" Target="/ppt/slides/slide3.xml" Id="R7758939245f44ad4"/><Relationship Type="http://schemas.openxmlformats.org/officeDocument/2006/relationships/slide" Target="/ppt/slides/slide4.xml" Id="R45b964d5bd184ab1"/><Relationship Type="http://schemas.openxmlformats.org/officeDocument/2006/relationships/slide" Target="/ppt/slides/slide5.xml" Id="Re3ccd0f2291d41ab"/><Relationship Type="http://schemas.openxmlformats.org/officeDocument/2006/relationships/slide" Target="/ppt/slides/slide6.xml" Id="R43ca4d3a49f74fbc"/><Relationship Type="http://schemas.openxmlformats.org/officeDocument/2006/relationships/slide" Target="/ppt/slides/slide7.xml" Id="Rabf8ad18f38e452a"/><Relationship Type="http://schemas.openxmlformats.org/officeDocument/2006/relationships/slide" Target="/ppt/slides/slide8.xml" Id="R5891f8d39dd64380"/><Relationship Type="http://schemas.openxmlformats.org/officeDocument/2006/relationships/slide" Target="/ppt/slides/slide9.xml" Id="R6ed9f94caa8b4551"/><Relationship Type="http://schemas.openxmlformats.org/officeDocument/2006/relationships/slide" Target="/ppt/slides/slide10.xml" Id="R59dff6fe26d64246"/><Relationship Type="http://schemas.openxmlformats.org/officeDocument/2006/relationships/slide" Target="/ppt/slides/slide11.xml" Id="R65b603e9450f46ed"/><Relationship Type="http://schemas.openxmlformats.org/officeDocument/2006/relationships/slide" Target="/ppt/slides/slide12.xml" Id="Rb9c247372d4d423a"/><Relationship Type="http://schemas.openxmlformats.org/officeDocument/2006/relationships/slide" Target="/ppt/slides/slide13.xml" Id="Ra9b3ccdc1d3c48ed"/><Relationship Type="http://schemas.openxmlformats.org/officeDocument/2006/relationships/slide" Target="/ppt/slides/slide14.xml" Id="R98372ca3f17a4677"/><Relationship Type="http://schemas.openxmlformats.org/officeDocument/2006/relationships/slide" Target="/ppt/slides/slide15.xml" Id="R9744282e6f214b02"/><Relationship Type="http://schemas.openxmlformats.org/officeDocument/2006/relationships/slide" Target="/ppt/slides/slide16.xml" Id="R13e1900bc80749b9"/><Relationship Type="http://schemas.openxmlformats.org/officeDocument/2006/relationships/slide" Target="/ppt/slides/slide17.xml" Id="Ra4d99b0bfa664023"/><Relationship Id="rIdGroupAnswerB" Type="http://schemas.openxmlformats.org/officeDocument/2006/relationships/slide" Target="slides/slide18.xml"/><Relationship Id="rIdGroupAnswerC" Type="http://schemas.openxmlformats.org/officeDocument/2006/relationships/slide" Target="slides/slide19.xml"/><Relationship Id="rIdGroupAnswerD" Type="http://schemas.openxmlformats.org/officeDocument/2006/relationships/slide" Target="slides/slide20.xml"/><Relationship Id="rIdGroupAnswerE" Type="http://schemas.openxmlformats.org/officeDocument/2006/relationships/slide" Target="slides/slide21.xml"/><Relationship Id="rIdGroupAnswerF" Type="http://schemas.openxmlformats.org/officeDocument/2006/relationships/slide" Target="slides/slide22.xml"/><Relationship Id="rIdPhenikaaHanoiVideo" Type="http://schemas.openxmlformats.org/officeDocument/2006/relationships/slide" Target="slides/slide23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d1f70eae0d488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B134F-17FA-D24C-AB69-D01B1FF33219}" type="datetimeFigureOut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9C1D5-3228-9C4C-BEE7-0FF4D2BEF8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3.xml><?xml version="1.0" encoding="utf-8"?>
<a:theme xmlns:a="http://schemas.openxmlformats.org/drawingml/2006/main" name="Course">
  <a:themeElements>
    <a:clrScheme name="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0b1d79814b45df" /><Relationship Type="http://schemas.openxmlformats.org/officeDocument/2006/relationships/notesMaster" Target="/ppt/notesMasters/notesMaster1.xml" Id="R0f7be9887cf34c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08dff217354be0" /><Relationship Type="http://schemas.openxmlformats.org/officeDocument/2006/relationships/notesMaster" Target="/ppt/notesMasters/notesMaster1.xml" Id="Rd686ffbf5cea48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fb364e0e974914" /><Relationship Type="http://schemas.openxmlformats.org/officeDocument/2006/relationships/notesMaster" Target="/ppt/notesMasters/notesMaster1.xml" Id="Rbe3b97ef02dd44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7f17375d574066" /><Relationship Type="http://schemas.openxmlformats.org/officeDocument/2006/relationships/notesMaster" Target="/ppt/notesMasters/notesMaster1.xml" Id="R4bd4c38873d24d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10366b6315434e" /><Relationship Type="http://schemas.openxmlformats.org/officeDocument/2006/relationships/notesMaster" Target="/ppt/notesMasters/notesMaster1.xml" Id="R6e52fcd2519d48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a213419de94d18" /><Relationship Type="http://schemas.openxmlformats.org/officeDocument/2006/relationships/notesMaster" Target="/ppt/notesMasters/notesMaster1.xml" Id="Rf5275c42c5fb43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2dd8a6526b4b36" /><Relationship Type="http://schemas.openxmlformats.org/officeDocument/2006/relationships/notesMaster" Target="/ppt/notesMasters/notesMaster1.xml" Id="R08836c44c6a147c1" /></Relationships>
</file>

<file path=ppt/notesSlides/_rels/notesSlide8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/ppt/notesMasters/notesMaster1.xml"/><ns0:Relationship Id="rId2" Type="http://schemas.openxmlformats.org/officeDocument/2006/relationships/slide" Target="../slides/slide8.xml"/></ns0: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e08e8a18444213" /><Relationship Type="http://schemas.openxmlformats.org/officeDocument/2006/relationships/notesMaster" Target="/ppt/notesMasters/notesMaster1.xml" Id="R7bf184ad819144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2ab774ef34419e" /><Relationship Type="http://schemas.openxmlformats.org/officeDocument/2006/relationships/notesMaster" Target="/ppt/notesMasters/notesMaster1.xml" Id="R65657fc0cff04c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6beccee49e44c7" /><Relationship Type="http://schemas.openxmlformats.org/officeDocument/2006/relationships/notesMaster" Target="/ppt/notesMasters/notesMaster1.xml" Id="R99267b67c9e944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40a0efe18c4f48" /><Relationship Type="http://schemas.openxmlformats.org/officeDocument/2006/relationships/notesMaster" Target="/ppt/notesMasters/notesMaster1.xml" Id="Rcae41edf60ad4b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fedccb0d6443ce" /><Relationship Type="http://schemas.openxmlformats.org/officeDocument/2006/relationships/notesMaster" Target="/ppt/notesMasters/notesMaster1.xml" Id="R5e16d8e561e14a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058d28ee2843ce" /><Relationship Type="http://schemas.openxmlformats.org/officeDocument/2006/relationships/notesMaster" Target="/ppt/notesMasters/notesMaster1.xml" Id="R2a4df8fbc6fa41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b36204f65d47ee" /><Relationship Type="http://schemas.openxmlformats.org/officeDocument/2006/relationships/notesMaster" Target="/ppt/notesMasters/notesMaster1.xml" Id="R7ae12c9edfbd49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63c9cc035a409c" /><Relationship Type="http://schemas.openxmlformats.org/officeDocument/2006/relationships/notesMaster" Target="/ppt/notesMasters/notesMaster1.xml" Id="R0a45a0d154e34c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00702826084e3a" /><Relationship Type="http://schemas.openxmlformats.org/officeDocument/2006/relationships/notesMaster" Target="/ppt/notesMasters/notesMaster1.xml" Id="R2cfca1562f3548a3" /></Relationships>
</file>

<file path=ppt/notesSlides/_rels/notesSlide18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/ppt/notesMasters/notesMaster1.xml"/><ns0:Relationship Id="rId2" Type="http://schemas.openxmlformats.org/officeDocument/2006/relationships/slide" Target="../slides/slide18.xml"/></ns0:Relationships>
</file>

<file path=ppt/notesSlides/_rels/notesSlide19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/ppt/notesMasters/notesMaster1.xml"/><ns0:Relationship Id="rId2" Type="http://schemas.openxmlformats.org/officeDocument/2006/relationships/slide" Target="../slides/slide19.xml"/></ns0:Relationships>
</file>

<file path=ppt/notesSlides/_rels/notesSlide20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/ppt/notesMasters/notesMaster1.xml"/><ns0:Relationship Id="rId2" Type="http://schemas.openxmlformats.org/officeDocument/2006/relationships/slide" Target="../slides/slide20.xml"/></ns0:Relationships>
</file>

<file path=ppt/notesSlides/_rels/notesSlide21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/ppt/notesMasters/notesMaster1.xml"/><ns0:Relationship Id="rId2" Type="http://schemas.openxmlformats.org/officeDocument/2006/relationships/slide" Target="../slides/slide21.xml"/></ns0:Relationships>
</file>

<file path=ppt/notesSlides/_rels/notesSlide22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/ppt/notesMasters/notesMaster1.xml"/><ns0:Relationship Id="rId2" Type="http://schemas.openxmlformats.org/officeDocument/2006/relationships/slide" Target="../slides/slide22.xml"/></ns0: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de7f17375d574066"/><Relationship Type="http://schemas.openxmlformats.org/officeDocument/2006/relationships/notesMaster" Target="/ppt/notesMasters/notesMaster1.xml" Id="R4bd4c38873d24d4e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好，我們進入今天第三節。第一節複習了分級和 ODD，第二節認識了感測器。現在把這些觀念放到實際案例裡，看看影片和道路照片，能幫我們了解哪些事情。</a:t>
            </a:r>
            <a:endParaRPr sz="1200"/>
          </a:p>
          <a:p xmlns:a="http://schemas.openxmlformats.org/drawingml/2006/main">
            <a:r>
              <a:rPr sz="1200"/>
              <a:t>前半段由我帶大家講解。我們會看 Waymo 和行人的互動，也會看越南河內的 Phenikaa-X，再用台灣道路照片說明天候與遮擋。看案例時，我會把畫面裡確實看到的動作、合理的解釋，以及還需要確認的資訊分開說清楚。</a:t>
            </a:r>
            <a:endParaRPr sz="1200"/>
          </a:p>
          <a:p xmlns:a="http://schemas.openxmlformats.org/drawingml/2006/main">
            <a:r>
              <a:rPr sz="1200"/>
              <a:t>接著我會先示範學習單怎麼填，再分成六組。每組拿到一個不同的台灣地點，使用自己的地圖、條件卡和一張 A 四學習單。卡片已經提供課堂設定的條件，大家照資料填入正確欄位，再討論事件發生後，還符不符合原本要求。</a:t>
            </a:r>
            <a:endParaRPr sz="1200"/>
          </a:p>
          <a:p xmlns:a="http://schemas.openxmlformats.org/drawingml/2006/main">
            <a:r>
              <a:rPr sz="1200"/>
              <a:t>這次不用自己設計真車的感測器配置，也不用自己決定安全門檻。先練習把原條件找出來，再對照現場變化，說清楚判斷理由。資料沒有提供，就標示尚未提供，留待確認。</a:t>
            </a:r>
            <a:endParaRPr sz="1200"/>
          </a:p>
          <a:p xmlns:a="http://schemas.openxmlformats.org/drawingml/2006/main">
            <a:r>
              <a:rPr sz="1200"/>
              <a:t>各組交回後，我會用示範答案帶大家講解，把容易混淆的地方再整理一次。我們先從一段無人駕駛車停下來禮讓行人的短片開始。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第三節先看一段 Waymo 的乘車實拍。我們播放十二分五十八秒到十三分十八秒，共二十秒。請先注意車子和行人的動作，看完後，我會依右邊的三個問題帶大家解說。</a:t>
            </a:r>
            <a:endParaRPr sz="1200"/>
          </a:p>
          <a:p xmlns:a="http://schemas.openxmlformats.org/drawingml/2006/main">
            <a:r>
              <a:rPr sz="1200"/>
              <a:t>先看第一個問題：看到什麼？這一段可以看見車子停下，行人從車前方通過，之後車子再往前開。我們先把這個動作順序說清楚，這就是對畫面的描述。</a:t>
            </a:r>
            <a:endParaRPr sz="1200"/>
          </a:p>
          <a:p xmlns:a="http://schemas.openxmlformats.org/drawingml/2006/main">
            <a:r>
              <a:rPr sz="1200"/>
              <a:t>第二個問題：為什麼停車？從車子和行人的互動來看，我們認為它是在禮讓行人。這是有畫面支持的合理解釋。至於系統內部在哪一秒做出決定，影片還沒有提供完整紀錄。</a:t>
            </a:r>
            <a:endParaRPr sz="1200"/>
          </a:p>
          <a:p xmlns:a="http://schemas.openxmlformats.org/drawingml/2006/main">
            <a:r>
              <a:rPr sz="1200"/>
              <a:t>第三個問題：還想知道什麼？例如，車子什麼時候第一次發現行人？怎麼知道行人的位置和移動方向？相機、光達和雷達，各提供了哪些資料？這些就是還需要確認的資訊。</a:t>
            </a:r>
            <a:endParaRPr sz="1200"/>
          </a:p>
          <a:p xmlns:a="http://schemas.openxmlformats.org/drawingml/2006/main">
            <a:r>
              <a:rPr sz="1200"/>
              <a:t>這裡接回第二節。相機可以提供外觀線索，光達可以支援空間位置的估計，雷達可以提供距離與運動相關資訊。不過，這是在說一般的感測器用途，不能從這二十秒就判定，當時一定是哪一顆感測器先看見行人。</a:t>
            </a:r>
            <a:endParaRPr sz="1200"/>
          </a:p>
          <a:p xmlns:a="http://schemas.openxmlformats.org/drawingml/2006/main">
            <a:r>
              <a:rPr sz="1200"/>
              <a:t>再接回第一節的 ODD。這次完成禮讓，讓我們看見這段場景的行為。若換成夜間、大雨，或有人被遮住，就要查對應條件下的測試，才能了解表現。下一頁先把取得資訊到停車之間的工作，一步一步說明。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剛才看到車子停下來，現在來看，自動駕駛系統通常要完成哪些工作。這頁是一般的概念流程，用來幫助我們理解各部分怎麼配合，並不是還原剛才那支影片的內部紀錄。</a:t>
            </a:r>
            <a:endParaRPr sz="1200"/>
          </a:p>
          <a:p xmlns:a="http://schemas.openxmlformats.org/drawingml/2006/main">
            <a:r>
              <a:rPr sz="1200"/>
              <a:t>第一步是感知，也就是整理附近的環境資訊。相機提供影像，光達提供空間量測，雷達提供距離與運動相關資料。軟體再從這些資料估計：附近有什麼物體、在哪裡，以及正在怎麼移動。</a:t>
            </a:r>
            <a:endParaRPr sz="1200"/>
          </a:p>
          <a:p xmlns:a="http://schemas.openxmlformats.org/drawingml/2006/main">
            <a:r>
              <a:rPr sz="1200"/>
              <a:t>例如車前方有一名行人，系統需要辨認這個對象，也需要持續追蹤他的位置。看到一群光達點，還要經過處理，才知道可能對應什麼物體；也不能只量到一個位置，就知道行人接下來一定怎麼走。</a:t>
            </a:r>
            <a:endParaRPr sz="1200"/>
          </a:p>
          <a:p xmlns:a="http://schemas.openxmlformats.org/drawingml/2006/main">
            <a:r>
              <a:rPr sz="1200"/>
              <a:t>接著是預測：估計行人接下來可能繼續走、停住，或往回退。這是在估計別人可能怎麼動。因為對方的動作可能改變，系統需要保留不確定性，不能把一個推測當成必然的結果。</a:t>
            </a:r>
            <a:endParaRPr sz="1200"/>
          </a:p>
          <a:p xmlns:a="http://schemas.openxmlformats.org/drawingml/2006/main">
            <a:r>
              <a:rPr sz="1200"/>
              <a:t>再來是規劃：決定自己的車要怎麼做。例如行人可能走進車子的行駛路線，車輛就需要考慮先減速，在適當的位置停車等待。規劃也要配合道路規則，以及其他車輛和用路者的情況。</a:t>
            </a:r>
            <a:endParaRPr sz="1200"/>
          </a:p>
          <a:p xmlns:a="http://schemas.openxmlformats.org/drawingml/2006/main">
            <a:r>
              <a:rPr sz="1200"/>
              <a:t>最後是控制：把減速、停車的目標轉成車輛的煞車與驅動指令，並持續確認實際車速有沒有照預期降低。就像我們自己開車，踩下煞車後，還會注意車子是否真的慢下來，而不是下完指令就結束。</a:t>
            </a:r>
            <a:endParaRPr sz="1200"/>
          </a:p>
          <a:p xmlns:a="http://schemas.openxmlformats.org/drawingml/2006/main">
            <a:r>
              <a:rPr sz="1200"/>
              <a:t>行人通過後，系統也要再觀察當下環境、更新規劃，才能決定是否前進。所以，取得資訊、推估動作、決定自己的行動，再確認車輛有照著執行，這些工作要配合起來。下一頁換看乘客螢幕，了解它和內部資料的關係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這張照片是 Zoox 的乘客螢幕。Zoox 是亞馬遜旗下的自駕車公司，和剛才影片中的 Waymo 是不同業者。我們用這張照片，說明顯示給乘客的資訊，有什麼用途。</a:t>
            </a:r>
            <a:endParaRPr sz="1200"/>
          </a:p>
          <a:p xmlns:a="http://schemas.openxmlformats.org/drawingml/2006/main">
            <a:r>
              <a:rPr sz="1200"/>
              <a:t>請看右邊，螢幕顯示地圖和行程資訊，讓乘客了解要去哪裡，以及行程進度。大家平常看導航地圖，也是在找路線和目的地。乘客介面通常會挑選適合搭車使用的內容，不會把全部感測資料都列出來。</a:t>
            </a:r>
            <a:endParaRPr sz="1200"/>
          </a:p>
          <a:p xmlns:a="http://schemas.openxmlformats.org/drawingml/2006/main">
            <a:r>
              <a:rPr sz="1200"/>
              <a:t>因此，如果乘客螢幕沒有畫出某個行人，我們目前只能知道，這個畫面沒有顯示他。要判斷系統是否真的沒偵測到，還需要查對應的內部資料。不能只靠乘客畫面，就下偵測失敗的結論。</a:t>
            </a:r>
            <a:endParaRPr sz="1200"/>
          </a:p>
          <a:p xmlns:a="http://schemas.openxmlformats.org/drawingml/2006/main">
            <a:r>
              <a:rPr sz="1200"/>
              <a:t>同樣地，螢幕出現一個物體圖示，也還不能直接證明位置、種類和移動方向都判斷正確。圖示讓人容易理解，但要評估量測和判斷，仍要有可以核對的紀錄。</a:t>
            </a:r>
            <a:endParaRPr sz="1200"/>
          </a:p>
          <a:p xmlns:a="http://schemas.openxmlformats.org/drawingml/2006/main">
            <a:r>
              <a:rPr sz="1200"/>
              <a:t>例如想查車子何時發現行人，可以比對有時間標記的感測資料、追蹤結果與決策紀錄。這些紀錄就像一段可核對的工作過程，幫我們看清楚，當時取得什麼資訊，後來又做了什麼。</a:t>
            </a:r>
            <a:endParaRPr sz="1200"/>
          </a:p>
          <a:p xmlns:a="http://schemas.openxmlformats.org/drawingml/2006/main">
            <a:r>
              <a:rPr sz="1200"/>
              <a:t>這頁先記住：乘客螢幕協助我們理解行程，系統內部資料則用來處理駕駛和查證結果。看影片時，先把畫面能提供的資訊說清楚。接下來換看越南的 Phenikaa-X，把試驗場域與 ODD 連起來。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接下來看台北信義路的雨天道路照片。請先注意濕路面的反光，再看照片中的自行車和公車。我們用這張照片，把第二節的感測器特性，接回第一節的使用條件。</a:t>
            </a:r>
            <a:endParaRPr sz="1200"/>
          </a:p>
          <a:p xmlns:a="http://schemas.openxmlformats.org/drawingml/2006/main">
            <a:r>
              <a:rPr sz="1200"/>
              <a:t>先說相機。相機收到光，才形成影像。濕路面會反射周圍的光，可能改變畫面的明暗和對比，讓部分標線或物體邊界比較難辨認。這是需要考慮的影像問題，但照片本身還不能證明某一款相機當時一定辨識失敗。</a:t>
            </a:r>
            <a:endParaRPr sz="1200"/>
          </a:p>
          <a:p xmlns:a="http://schemas.openxmlformats.org/drawingml/2006/main">
            <a:r>
              <a:rPr sz="1200"/>
              <a:t>再說公車造成的遮擋。假設有人站在公車後方，從某個感測器的位置看過去，視線可能被車身擋住。這是位置和視角的問題。即使裝了光達或雷達，也不能直接推論就能取得公車後面所有人的資訊。</a:t>
            </a:r>
            <a:endParaRPr sz="1200"/>
          </a:p>
          <a:p xmlns:a="http://schemas.openxmlformats.org/drawingml/2006/main">
            <a:r>
              <a:rPr sz="1200"/>
              <a:t>光達自己發光量距離，不必完全依賴路燈，但雨霧可能讓光散射，感測視窗上的水滴或髒污也可能影響回波。雷達用的波段不同，有不同的長處，不過仍要留意訊號品質、干擾與遮擋。最後要看的是整套系統的處理和測試結果。</a:t>
            </a:r>
            <a:endParaRPr sz="1200"/>
          </a:p>
          <a:p xmlns:a="http://schemas.openxmlformats.org/drawingml/2006/main">
            <a:r>
              <a:rPr sz="1200"/>
              <a:t>這些情況為什麼要寫進 ODD？因為功能的使用範圍，需要和它的設計能力與驗證條件對得上。允許白天、雨天或濕路面，都應該有對應的條件說明，不能只看裝了哪一種感測器，就自己決定使用門檻。</a:t>
            </a:r>
            <a:endParaRPr sz="1200"/>
          </a:p>
          <a:p xmlns:a="http://schemas.openxmlformats.org/drawingml/2006/main">
            <a:r>
              <a:rPr sz="1200"/>
              <a:t>也要把天候和路面分開。雨停了，地面還可能濕；濕路面和積水，也是不同情況。照片能讓我們指出反光和遮擋等值得注意的場景，但精確雨量或水深，仍需要量測資料。</a:t>
            </a:r>
            <a:endParaRPr sz="1200"/>
          </a:p>
          <a:p xmlns:a="http://schemas.openxmlformats.org/drawingml/2006/main">
            <a:r>
              <a:rPr sz="1200"/>
              <a:t>所以，等一下填學習單時，大家不用從照片猜數字。各組已有課堂設定的條件卡，照卡片填，再比較事件是否符合。下一頁先由我示範怎麼找到答案、放進正確欄位。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現在示範學習單怎麼填。這次練習，是把條件卡已經提供的資料，放進正確欄位。我先用一張簡單的卡片：白天、無雨、乾燥路面，行人密度上限尚未提供。</a:t>
            </a:r>
            <a:endParaRPr sz="1200"/>
          </a:p>
          <a:p xmlns:a="http://schemas.openxmlformats.org/drawingml/2006/main">
            <a:r>
              <a:rPr sz="1200"/>
              <a:t>先看表格問什麼。問光照條件，我填白天；問天候，我填無雨；問路面，我填乾燥。這三項分開填，別人就能清楚看出各自的要求。</a:t>
            </a:r>
            <a:endParaRPr sz="1200"/>
          </a:p>
          <a:p xmlns:a="http://schemas.openxmlformats.org/drawingml/2006/main">
            <a:r>
              <a:rPr sz="1200"/>
              <a:t>再看資料是否已提供。卡片沒有寫行人密度上限，我就勾尚未提供。路上有行人，並不等於已經知道這個設計最多允許多少人。缺少的數字先保留，不自己猜一個填進去。</a:t>
            </a:r>
            <a:endParaRPr sz="1200"/>
          </a:p>
          <a:p xmlns:a="http://schemas.openxmlformats.org/drawingml/2006/main">
            <a:r>
              <a:rPr sz="1200"/>
              <a:t>接著看事件：開始下雨。我先找原條件，寫的是無雨；再看新情況，現在開始下雨。兩者不符合，所以答案填不符合。理由可以直接寫：原本要求無雨，但現在開始下雨。這樣就同時交代了原條件和變化。</a:t>
            </a:r>
            <a:endParaRPr sz="1200"/>
          </a:p>
          <a:p xmlns:a="http://schemas.openxmlformats.org/drawingml/2006/main">
            <a:r>
              <a:rPr sz="1200"/>
              <a:t>讀數字時，也要注意方向。如果卡片寫至少三公尺，三公尺是下限，兩公尺就不夠。如果速度範圍寫零到每小時二十公里，二十是上限，車子仍可以減速或停車。各組要依自己的卡片判斷。</a:t>
            </a:r>
            <a:endParaRPr sz="1200"/>
          </a:p>
          <a:p xmlns:a="http://schemas.openxmlformats.org/drawingml/2006/main">
            <a:r>
              <a:rPr sz="1200"/>
              <a:t>後面若看到雨量單位 mm/h，就是每小時幾毫米的降雨強度；它和地面積水的深度要分開看。lx 是照度的單位，表示指定位置受到多少光。這次先依卡片讀取數值，不需要自己設定真車的安全門檻。</a:t>
            </a:r>
            <a:endParaRPr sz="1200"/>
          </a:p>
          <a:p xmlns:a="http://schemas.openxmlformats.org/drawingml/2006/main">
            <a:r>
              <a:rPr sz="1200"/>
              <a:t>作答時就照這個順序：找到欄位、填入原條件，再比較事件並說明理由。缺少的資料勾尚未提供。下一頁會分配六個地點，每組使用自己的條件卡和學習單。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現在開始小組任務。第一組拿 A，臺大椰林大道；第二組拿 B，臺北信義路五段；第三組拿 C，淡水老街中正路；第四組拿 D，高雄駁二大義街；第五組拿 E，日月潭向山周邊；第六組拿 F，竹科新安路。每組一張 A4，先確認組別和地點。</a:t>
            </a:r>
            <a:endParaRPr sz="1200"/>
          </a:p>
          <a:p xmlns:a="http://schemas.openxmlformats.org/drawingml/2006/main">
            <a:r>
              <a:rPr sz="1200"/>
              <a:t>請先看地圖的粗線，以及 A、B 兩個端點，這是本組指定路段。地圖使用真實圖資，但旁邊的天候、路況與能力數值，是課堂設定，不是現地實測，也不是這條路已經核准自駕接駁的意思。</a:t>
            </a:r>
            <a:endParaRPr sz="1200"/>
          </a:p>
          <a:p xmlns:a="http://schemas.openxmlformats.org/drawingml/2006/main">
            <a:r>
              <a:rPr sz="1200"/>
              <a:t>接著讀右邊的條件卡，再完成下方六列填空。地點情境可能提到車多、會下雨或會施工，那是在描述可能遇到的情況；表格要填的是條件卡的允許範圍。請不要把變化事件中的數字，直接抄成原本的上限或下限。</a:t>
            </a:r>
            <a:endParaRPr sz="1200"/>
          </a:p>
          <a:p xmlns:a="http://schemas.openxmlformats.org/drawingml/2006/main">
            <a:r>
              <a:rPr sz="1200"/>
              <a:t>第七題確認指定資料有沒有提供。沒有就勾尚未提供，不用猜數字，也不用自己提出測試方法。最後看事件，勾選是否符合，再完成「原本要求什麼，但現在變成什麼」這一句。若同時有兩個不符合的條件，先指出其中一個正確理由即可。</a:t>
            </a:r>
            <a:endParaRPr sz="1200"/>
          </a:p>
          <a:p xmlns:a="http://schemas.openxmlformats.org/drawingml/2006/main">
            <a:r>
              <a:rPr sz="1200"/>
              <a:t>接下來十二分鐘，先一起讀圖和卡片，再填表，最後檢查數值、單位和比較方向。我會到各組看看。看不懂名詞可以問，但不用額外上網、另選地點，或寫出整套控制演算法。</a:t>
            </a:r>
            <a:endParaRPr sz="1200"/>
          </a:p>
          <a:p xmlns:a="http://schemas.openxmlformats.org/drawingml/2006/main">
            <a:r>
              <a:rPr sz="1200"/>
              <a:t>時間到後，請確認組員姓名都有寫，將學習單交回。接著由我展示示範答案並講評，各組不用上臺報告。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先公布第一組的結論。下午兩點開始下雨，地面也逐漸變濕，因此這個事件不符合原來的條件。</a:t>
            </a:r>
            <a:endParaRPr sz="1200"/>
          </a:p>
          <a:p xmlns:a="http://schemas.openxmlformats.org/drawingml/2006/main">
            <a:r>
              <a:rPr sz="1200"/>
              <a:t>關鍵理由是原本要求無雨，現在已經下雨。即使當時仍是白天，天候這一項也已經超出允許範圍。接著我們逐格對答案，看看哪些資料可以直接填，哪些仍要標成尚未提供。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剛才六組的答案，都要把現場變化和原本條件放在一起比。現在我用這四個問題，再說明幾個容易混淆的地方。大家跟著聽就好，由我直接示範回答。</a:t>
            </a:r>
            <a:endParaRPr sz="1200"/>
          </a:p>
          <a:p xmlns:a="http://schemas.openxmlformats.org/drawingml/2006/main">
            <a:r>
              <a:rPr sz="1200"/>
              <a:t>第一個問題：公車擋住行人，自駕車慢一點，就一定看得見嗎？這裡的慢一點，是指自駕車先減速。假設行人站在公車後方，公車車身擋住了感測器看過去的方向，車子開慢，這個遮擋仍可能存在。能不能看見，要看車子、公車和行人的相對位置，以及感測器實際取得的資訊。</a:t>
            </a:r>
            <a:endParaRPr sz="1200"/>
          </a:p>
          <a:p xmlns:a="http://schemas.openxmlformats.org/drawingml/2006/main">
            <a:r>
              <a:rPr sz="1200"/>
              <a:t>那減速為什麼有幫助？因為在系統取得資訊、做判斷到開始煞車的這段時間裡，速度較低，車子往前走的距離就較短。在其他煞車條件相近時，從較低速度煞停，所需距離通常也較短。這樣能保留更多處理與停車的餘裕。不過，不能因此保證公車後面已經看清楚，或保證一定停得住。</a:t>
            </a:r>
            <a:endParaRPr sz="1200"/>
          </a:p>
          <a:p xmlns:a="http://schemas.openxmlformats.org/drawingml/2006/main">
            <a:r>
              <a:rPr sz="1200"/>
              <a:t>第二個問題：環境變暗，加裝光達，就能放寬 ODD 嗎？光達自己發出雷射光來量距離，對周圍照明的依賴和相機不同，可以提供幫助。但是，自駕車還要辨認物體、預測動作和控制車輛。能不能在更暗的環境使用，要看整套系統在那種條件下的驗證，不能只憑多裝一種設備就決定。</a:t>
            </a:r>
            <a:endParaRPr sz="1200"/>
          </a:p>
          <a:p xmlns:a="http://schemas.openxmlformats.org/drawingml/2006/main">
            <a:r>
              <a:rPr sz="1200"/>
              <a:t>第三個問題：道路變窄，開慢一點，就仍符合原條件嗎？我們把速度和寬度分開看。車子減速，速度這一項可能仍在允許範圍內；可是，如果可通行寬度已低於卡片的下限，寬度這一項仍不符合。不能用速度合格，來抵消寬度不合格。</a:t>
            </a:r>
            <a:endParaRPr sz="1200"/>
          </a:p>
          <a:p xmlns:a="http://schemas.openxmlformats.org/drawingml/2006/main">
            <a:r>
              <a:rPr sz="1200"/>
              <a:t>第四個問題：這一次禮讓行人成功，就代表雨夜也能用嗎？我們目前看到的是這一次、這個場景的結果。換成雨天或夜間，照明和路面情況都可能不同，還需要那些條件下的測試資料。接下來，我把這四個回答整理成判斷原則，再對照剛才各組的例子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這一頁把剛才的回答整理起來。遇到現場變化，我們先找出哪個條件改變，再看系統有什麼資訊，以及原本的使用條件是否仍然符合。</a:t>
            </a:r>
            <a:endParaRPr sz="1200"/>
          </a:p>
          <a:p xmlns:a="http://schemas.openxmlformats.org/drawingml/2006/main">
            <a:r>
              <a:rPr sz="1200"/>
              <a:t>第一點，遮擋是否解除，要看位置和感測資訊。以公車後方的行人為例，自駕車減速，是在替後續處理保留餘裕。要確認行人已經被偵測到，還得看量測與追蹤資料。單看車速變慢，還不足以判定車子已經看清被擋住的區域。</a:t>
            </a:r>
            <a:endParaRPr sz="1200"/>
          </a:p>
          <a:p xmlns:a="http://schemas.openxmlformats.org/drawingml/2006/main">
            <a:r>
              <a:rPr sz="1200"/>
              <a:t>第二點，放寬使用條件，需要整套系統的驗證。第四組的課堂卡片要求，路面照度至少二十勒克斯；事件發生後，只剩五勒克斯，所以不符合原條件。即使車上有光達，我們也要照這張卡片判斷。若將來想允許更暗的環境，必須重新確認設計能力和測試結果，不能自己把下限改掉。</a:t>
            </a:r>
            <a:endParaRPr sz="1200"/>
          </a:p>
          <a:p xmlns:a="http://schemas.openxmlformats.org/drawingml/2006/main">
            <a:r>
              <a:rPr sz="1200"/>
              <a:t>第三點，各項條件要分開比對。第六組要求有效車道寬度至少三點二公尺，施工後剩兩點八公尺，寬度就不符合。另外，原卡片要求維持原車道，交通錐卻引導改道，這又是另一個不符合的項目。就算車速沒有超過上限，也不能把這兩個問題抵消。</a:t>
            </a:r>
            <a:endParaRPr sz="1200"/>
          </a:p>
          <a:p xmlns:a="http://schemas.openxmlformats.org/drawingml/2006/main">
            <a:r>
              <a:rPr sz="1200"/>
              <a:t>第四點，要說明其他條件下的能力，就找對應的證據。白天乾燥道路的成功片段，可以幫助我們理解這次行為；要談雨夜的表現，就需要雨夜的測試。還要看場景、車型和系統版本是否對得上，以及測試中有哪些成功與失敗的情況。</a:t>
            </a:r>
            <a:endParaRPr sz="1200"/>
          </a:p>
          <a:p xmlns:a="http://schemas.openxmlformats.org/drawingml/2006/main">
            <a:r>
              <a:rPr sz="1200"/>
              <a:t>所以，填學習單時，卡片要求的項目要逐一確認。有一項不符合，就不能說整張卡片的條件都符合；資料沒提供，就先標示待確認。至於超出條件後，車子要怎麼減速、停車或尋求協助，還需要依設計交代處置流程。下一頁用校園接駁車，示範怎麼把使用條件、人機分工和需要查證的事情，講成一個完整說法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下課前，我用校園接駁車自問自答，示範怎麼把今天的觀念放進一個完整說法。這是假設的 L 四設計提案，還需要測試，並不是已經驗證成功的產品。</a:t>
            </a:r>
            <a:endParaRPr sz="1200"/>
          </a:p>
          <a:p xmlns:a="http://schemas.openxmlformats.org/drawingml/2006/main">
            <a:r>
              <a:rPr sz="1200"/>
              <a:t>我先問：「怎麼用一句話說清楚這套功能？」我會回答：「在指定校內路線、日間無雨且路面乾燥時，功能啟用後由系統完成駕駛與必要應變，乘客不必持續監督或準備接手。」</a:t>
            </a:r>
            <a:endParaRPr sz="1200"/>
          </a:p>
          <a:p xmlns:a="http://schemas.openxmlformats.org/drawingml/2006/main">
            <a:r>
              <a:rPr sz="1200"/>
              <a:t>前半句是 ODD 的部分條件，後半句是 L 四的人機分工。它們一起講，別人才知道功能在哪裡適用，以及乘客扮演什麼角色。正式描述還要補齊其他相關屬性，不能只有這一句就直接上路。</a:t>
            </a:r>
            <a:endParaRPr sz="1200"/>
          </a:p>
          <a:p xmlns:a="http://schemas.openxmlformats.org/drawingml/2006/main">
            <a:r>
              <a:rPr sz="1200"/>
              <a:t>我再問：「還有哪件事要查證？」回答是：「如果開始下雨，系統能不能依設計完成必要的應變？」投影片把安全停靠當成一個例子；實際做法還要看道路上有沒有合適位置。真正要確認的是，系統能不能依當時情況，把車輛帶到風險盡量降低的狀態。</a:t>
            </a:r>
            <a:endParaRPr sz="1200"/>
          </a:p>
          <a:p xmlns:a="http://schemas.openxmlformats.org/drawingml/2006/main">
            <a:r>
              <a:rPr sz="1200"/>
              <a:t>開始下雨已超出這份提案的無雨條件，系統仍要依設計處理，不能因此突然要求乘客自己救回來。我們要查它怎麼發現改變、怎麼執行應變，以及測試紀錄是否支持。先說清楚條件與分工，再指出需要的證據，就是這一句話背後的意思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下週九月二十四日，請各位帶筆電。我們會用瀏覽器開啟課程的 H、T、M、L 模擬器，不需要預先安裝程式套件。上課時，我會先說明怎麼開啟，再帶大家一步一步操作。</a:t>
            </a:r>
            <a:endParaRPr sz="1200"/>
          </a:p>
          <a:p xmlns:a="http://schemas.openxmlformats.org/drawingml/2006/main">
            <a:r>
              <a:rPr sz="1200"/>
              <a:t>畫面中的射線用來表示簡化的測距。我們會改變射線數量、範圍或車速，觀察車子行為怎麼改變。它是二維教學模型，不是車用光達或雷達的完整物理模擬；畫面裡的雨天、夜間效果和數字，也是程式設定。</a:t>
            </a:r>
            <a:endParaRPr sz="1200"/>
          </a:p>
          <a:p xmlns:a="http://schemas.openxmlformats.org/drawingml/2006/main">
            <a:r>
              <a:rPr sz="1200"/>
              <a:t>所以操作時，一方面看規則造成什麼結果，一方面想它省略了哪些真實情況。模擬成功，還不能直接當成真車在相同道路一定安全的證明。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今天先複習分級和 ODD，接著認識感測器，最後把它們用在影片、照片和條件卡。分級幫我們看人機分工，ODD 幫我們看使用範圍，感測器原理則幫我們理解道路資訊怎麼取得。</a:t>
            </a:r>
            <a:endParaRPr sz="1200"/>
          </a:p>
          <a:p xmlns:a="http://schemas.openxmlformats.org/drawingml/2006/main">
            <a:r>
              <a:rPr sz="1200"/>
              <a:t>小組練習又多走了一步：從給定資料找出條件，整理成表格，再對照事件說明哪一項不符合。看到反光、遮擋或光照變化時，也知道哪些問題值得進一步確認。</a:t>
            </a:r>
            <a:endParaRPr sz="1200"/>
          </a:p>
          <a:p xmlns:a="http://schemas.openxmlformats.org/drawingml/2006/main">
            <a:r>
              <a:rPr sz="1200"/>
              <a:t>各位不用現在就設計完整自駕系統。先能讀懂、填對，再用自己的話說清楚一項理由，就完成本週的應用練習。下週我們會用瀏覽器中的教學模型，繼續觀察參數改變和車子行為的關係。今天到這裡，我們下週見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這一頁保留分級與業者案例的來源，方便課後回到原始資料。引用時請一起確認地區、產品與日期，歷史許可和目前服務狀態要分開說明。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這一頁保留感測器、營運變化和車輛設計資料。技術原理、原廠產品能力說明，以及個別測試結果，有不同的使用範圍，不能把單一產品宣稱當成所有自動駕駛系統的共同能力。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最後兩張是進階補充。如果大家想知道正式規格可以怎麼整理，我們先從分類開始。ODD 是特定功能設計可以運作的範圍；整理時，可以先看道路與場域、環境條件，以及會變動的交通要素，再依這項功能真正需要的內容逐項展開。</a:t>
            </a:r>
            <a:endParaRPr sz="1200"/>
          </a:p>
          <a:p xmlns:a="http://schemas.openxmlformats.org/drawingml/2006/main">
            <a:r>
              <a:rPr sz="1200"/>
              <a:t>例如道路與場域要素，可以逐步展開路線邊界、路面和施工；環境條件可以看雨、霧、光照和依賴的連線；動態要素則包括附近用路者與本車。細項要跟功能的需求有關，不必假設所有功能都用相同限制。</a:t>
            </a:r>
            <a:endParaRPr sz="1200"/>
          </a:p>
          <a:p xmlns:a="http://schemas.openxmlformats.org/drawingml/2006/main">
            <a:r>
              <a:rPr sz="1200"/>
              <a:t>五欄格式再把分類、具體屬性、允許範圍、排除條件和依據寫出來。這是我們在課堂上使用的整理方式，不是 I、S、O 規定的固定表單。多個條件怎麼組合、哪些資料仍然未知，也要另外說清楚，才有辦法繼續討論設計與驗證。</a:t>
            </a:r>
            <a:endParaRPr sz="1200"/>
          </a:p>
          <a:p xmlns:a="http://schemas.openxmlformats.org/drawingml/2006/main">
            <a:r>
              <a:rPr sz="1200"/>
              <a:t>今天六組學習單已經先給了條件卡，各位只要讀取、填空和比較。這張進階表的用途，是讓大家知道以後還能怎麼整理，不需要現在再照五欄格式重做一次。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這張五欄表把第一節校園接駁例子的部分條件再展開，讓我們看看後續可以怎麼整理。它仍然只是待驗證的提案，各位本週不需要照這張表作答。也請注意，這個例子的速度上限是每小時二十公里，A 組條件卡則是十五公里，判斷時要依各自題目的數字。</a:t>
            </a:r>
            <a:endParaRPr sz="1200"/>
          </a:p>
          <a:p xmlns:a="http://schemas.openxmlformats.org/drawingml/2006/main">
            <a:r>
              <a:rPr sz="1200"/>
              <a:t>我們可以挑路線這列來看。寫校門到宿舍的指定路線 A，還要補真正的路線圖、邊界與版本，別人才知道範圍。再看無雨、乾燥和日間自然光，也要逐步補上如何客觀判定的資料。</a:t>
            </a:r>
            <a:endParaRPr sz="1200"/>
          </a:p>
          <a:p xmlns:a="http://schemas.openxmlformats.org/drawingml/2006/main">
            <a:r>
              <a:rPr sz="1200"/>
              <a:t>最後一欄的待驗證，表示這些條件還需要證據支持。條件寫得很完整，不等於系統真的能做到；反過來，影片某一次成功，也不能取代完整條件範圍內的測試。</a:t>
            </a:r>
            <a:endParaRPr sz="1200"/>
          </a:p>
          <a:p xmlns:a="http://schemas.openxmlformats.org/drawingml/2006/main">
            <a:r>
              <a:rPr sz="1200"/>
              <a:t>如果開始下雨，應變流程還要另外設計，不能把「超出 ODD」當成不必處理的理由。本週先學會按照給定資料判斷；這張表讓大家先看見，完整的工程工作還要補上客觀判定方式、證據和應變設計。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先公布第二組的結論。雨量增加到每小時十毫米，路邊又出現積水，因此這個事件不符合原來的條件。</a:t>
            </a:r>
            <a:endParaRPr sz="1200"/>
          </a:p>
          <a:p xmlns:a="http://schemas.openxmlformats.org/drawingml/2006/main">
            <a:r>
              <a:rPr sz="1200"/>
              <a:t>這一題有兩個明確理由：雨量超過每小時二毫米的上限，而且原條件不允許積水。請注意，單純的濕路面本來可以接受；真正超出範圍的是雨量和積水。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先公布第三組的結論。卸貨車占用道路後，可通行寬度只剩兩公尺，因此這個事件不符合原來的條件。</a:t>
            </a:r>
            <a:endParaRPr sz="1200"/>
          </a:p>
          <a:p xmlns:a="http://schemas.openxmlformats.org/drawingml/2006/main">
            <a:r>
              <a:rPr sz="1200"/>
              <a:t>原條件要求至少三公尺，現在只剩兩公尺，已經低於下限。即使把車速降低，道路也不會因此變寬。接著我們把原始寬度、允許下限和事件後的寬度分開來看。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先公布第四組的結論。一段路燈熄滅後，路面照度降到五勒克斯，因此這個事件不符合原來的條件。</a:t>
            </a:r>
            <a:endParaRPr sz="1200"/>
          </a:p>
          <a:p xmlns:a="http://schemas.openxmlformats.org/drawingml/2006/main">
            <a:r>
              <a:rPr sz="1200"/>
              <a:t>原條件要求路面照度至少二十勒克斯，現在只剩五勒克斯，已經低於下限。這個提案雖然允許夜間使用，路面照明仍然必須達到規定。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先公布第五組的結論。霧變濃後，能見度從三百公尺降到八十公尺，因此這個事件不符合原來的條件。</a:t>
            </a:r>
            <a:endParaRPr sz="1200"/>
          </a:p>
          <a:p xmlns:a="http://schemas.openxmlformats.org/drawingml/2006/main">
            <a:r>
              <a:rPr sz="1200"/>
              <a:t>原條件要求能見度至少兩百公尺，變化後只剩八十公尺，已經低於下限。這題要用事件發生後的數值，對照條件卡上的界線。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200"/>
              <a:t>先公布第六組的結論。施工後，車道只剩兩點八公尺，交通錐還引導車子改道，因此這個事件不符合原來的條件。</a:t>
            </a:r>
            <a:endParaRPr sz="1200"/>
          </a:p>
          <a:p xmlns:a="http://schemas.openxmlformats.org/drawingml/2006/main">
            <a:r>
              <a:rPr sz="1200"/>
              <a:t>這一題也有兩個理由：兩點八公尺低於三點二公尺的下限，而且交通錐要求車子偏離原車道，原條件卻不包含改道。接著我們把三個寬度數字分清楚。</a:t>
            </a:r>
            <a:endParaRPr sz="12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>
          <ns0:xfrm xmlns:ns0="http://schemas.openxmlformats.org/drawingml/2006/main">
            <ns0:off x="914400" y="594360"/>
            <ns0:ext cx="5029200" cy="2828925"/>
          </ns0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ns1:xfrm xmlns:ns1="http://schemas.openxmlformats.org/drawingml/2006/main">
            <ns1:off x="685800" y="3611880"/>
            <ns1:ext cx="5486400" cy="4709160"/>
          </ns1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900"/>
              <a:t>現在看越南河內的 Phenikaa-X。它是越南 Phenikaa 集團旗下研發自駕車與機器人的公司。這支影片由集團在二〇二六年六月發布，長度是兩分零七秒，旁白是越南文。我們先一起看，接著由我帶大家整理影片提供的資訊。</a:t>
            </a:r>
            <a:endParaRPr sz="900"/>
          </a:p>
          <a:p xmlns:a="http://schemas.openxmlformats.org/drawingml/2006/main">
            <a:r>
              <a:rPr sz="900"/>
              <a:t>影片帶我們看研究場域裡的自駕車，並介紹小型巴士、自駕計程車和機器人等不同用途。這些車輛的任務不同，使用條件也可能不同，因此要分開看，不能把其中一款車的規格套到所有車型。</a:t>
            </a:r>
            <a:endParaRPr sz="900"/>
          </a:p>
          <a:p xmlns:a="http://schemas.openxmlformats.org/drawingml/2006/main">
            <a:r>
              <a:rPr sz="900"/>
              <a:t>影片也提到和樂高科技園區，以及河內國家大學的受控試驗提案。請和第一節的日期對照：這是六月影片中的提案介紹；第一節看的是八月發布的核准資料。提案、核准和實際完成的測試，是不同階段，要依資料的日期分清楚。</a:t>
            </a:r>
            <a:endParaRPr sz="900"/>
          </a:p>
          <a:p xmlns:a="http://schemas.openxmlformats.org/drawingml/2006/main">
            <a:r>
              <a:rPr sz="900"/>
              <a:t>接著把它換成 ODD 的問題。第一個要確認的是，究竟允許在哪些路段行駛？只寫河內，或只寫某個園區，還不足以讓測試人員照著執行。還需要路線圖、起點、終點和明確邊界，才能知道哪些範圍已經納入。</a:t>
            </a:r>
            <a:endParaRPr sz="900"/>
          </a:p>
          <a:p xmlns:a="http://schemas.openxmlformats.org/drawingml/2006/main">
            <a:r>
              <a:rPr sz="900"/>
              <a:t>再看速度、光照、天候和路面。這支短片沒有列出每款車的完整使用條件，所以雨量門檻、夜間是否允許、能見度要求等資訊，仍需要另外確認。看到白天的測試畫面，只能先描述這段運行，不能自行補上夜間或雨天的能力。</a:t>
            </a:r>
            <a:endParaRPr sz="900"/>
          </a:p>
          <a:p xmlns:a="http://schemas.openxmlformats.org/drawingml/2006/main">
            <a:r>
              <a:rPr sz="900"/>
              <a:t>速度也要讀對。車輛性能中的最高速度，和某條試驗路線允許的速度，要分開查。車子有能力開得快，並不代表校園接駁時就允許用同樣的速度。填條件時，要找對應車型、版本和場域的資料。</a:t>
            </a:r>
            <a:endParaRPr sz="900"/>
          </a:p>
          <a:p xmlns:a="http://schemas.openxmlformats.org/drawingml/2006/main">
            <a:r>
              <a:rPr sz="900"/>
              <a:t>影片提到的感測與定位設備，可以用第二節的概念來理解：外觀、距離、空間位置和運動資訊，都需要合適的資料來源。不過，設備名稱本身還不足以證明，它在雨霧、眩光或遮擋時的表現，仍要搭配測試結果。</a:t>
            </a:r>
            <a:endParaRPr sz="900"/>
          </a:p>
          <a:p xmlns:a="http://schemas.openxmlformats.org/drawingml/2006/main">
            <a:r>
              <a:rPr sz="900"/>
              <a:t>影片也談到安排安全駕駛，在需要時介入。這是試驗的安全安排。要判斷自動化等級，仍要看設計上的人機分工，不能只因為車上有測試人員，就直接判成 L 二。</a:t>
            </a:r>
            <a:endParaRPr sz="900"/>
          </a:p>
          <a:p xmlns:a="http://schemas.openxmlformats.org/drawingml/2006/main">
            <a:r>
              <a:rPr sz="900"/>
              <a:t>最後分清楚兩件事：路線、天候等內容，是在描述功能的運作條件；超出條件時，車子怎麼停、誰來協助，則是需要另外交代的處置流程。沒有提供的資料先保留待確認。下一頁先看雨天道路，說明天候和路面為什麼需要分開交代。之後的學習單會直接給課堂條件卡，讓大家照資料練習。</a:t>
            </a:r>
            <a:endParaRPr sz="9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2701dd3b34a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a0187007c543eb" /><Relationship Type="http://schemas.openxmlformats.org/officeDocument/2006/relationships/slideLayout" Target="/ppt/slideLayouts/slideLayout1.xml" Id="R90f0eb2e274b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f0eb2e274b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urse">
  <a:themeElements>
    <a:clrScheme name="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2e62ba8064824" /><Relationship Type="http://schemas.openxmlformats.org/officeDocument/2006/relationships/notesSlide" Target="/ppt/notesSlides/notesSlide1.xml" Id="R180422d11d3f49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a99c557c406e" /><Relationship Type="http://schemas.openxmlformats.org/officeDocument/2006/relationships/hyperlink" Target="https://www.youtube.com/watch?v=Y6GxDr0L-64&amp;t=778s" TargetMode="External" Id="R49ec3af863ed4146" /><Relationship Type="http://schemas.openxmlformats.org/officeDocument/2006/relationships/image" Target="/ppt/media/image.png" Id="R6e22db79ff8445c6" /><Relationship Type="http://schemas.openxmlformats.org/officeDocument/2006/relationships/notesSlide" Target="/ppt/notesSlides/notesSlide2.xml" Id="Re6e72bf99a15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468912a1e495e" /><Relationship Type="http://schemas.openxmlformats.org/officeDocument/2006/relationships/notesSlide" Target="/ppt/notesSlides/notesSlide3.xml" Id="R19fcdc2de9694d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8261abd504ded" /><Relationship Type="http://schemas.openxmlformats.org/officeDocument/2006/relationships/image" Target="/ppt/media/image2.png" Id="R99a23fc2fcaa4494" /><Relationship Type="http://schemas.openxmlformats.org/officeDocument/2006/relationships/notesSlide" Target="/ppt/notesSlides/notesSlide4.xml" Id="Rb5d4d56df54748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21b9f4ce1438e" /><Relationship Type="http://schemas.openxmlformats.org/officeDocument/2006/relationships/image" Target="/ppt/media/image3.png" Id="Rb73c5b537e534a77" /><Relationship Type="http://schemas.openxmlformats.org/officeDocument/2006/relationships/notesSlide" Target="/ppt/notesSlides/notesSlide5.xml" Id="R84d013a9bdf946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5af9f11324351" /><Relationship Type="http://schemas.openxmlformats.org/officeDocument/2006/relationships/notesSlide" Target="/ppt/notesSlides/notesSlide6.xml" Id="R814b1593857b4f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dbd44a88f4143" /><Relationship Type="http://schemas.openxmlformats.org/officeDocument/2006/relationships/image" Target="/ppt/media/image4.png" Id="Rab5334a9ddea4209" /><Relationship Type="http://schemas.openxmlformats.org/officeDocument/2006/relationships/notesSlide" Target="/ppt/notesSlides/notesSlide7.xml" Id="R1d38e93fb78a48a4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fd4e692323640ff"/><Relationship Type="http://schemas.openxmlformats.org/officeDocument/2006/relationships/notesSlide" Target="../notesSlides/notesSlide8.xml" Id="Rdc2eba1ced1c4b34"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cf2af569546a5" /><Relationship Type="http://schemas.openxmlformats.org/officeDocument/2006/relationships/notesSlide" Target="/ppt/notesSlides/notesSlide9.xml" Id="Rb3b3cec27f8740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7e515b6eb445c" /><Relationship Type="http://schemas.openxmlformats.org/officeDocument/2006/relationships/notesSlide" Target="/ppt/notesSlides/notesSlide10.xml" Id="R3b71c1fee7f746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7de37d4ff4875" /><Relationship Type="http://schemas.openxmlformats.org/officeDocument/2006/relationships/notesSlide" Target="/ppt/notesSlides/notesSlide11.xml" Id="R085ab9058b7446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c5b7395544906" /><Relationship Type="http://schemas.openxmlformats.org/officeDocument/2006/relationships/notesSlide" Target="/ppt/notesSlides/notesSlide12.xml" Id="Rd6d6db2d2fd54a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47ed7bf594f54" /><Relationship Type="http://schemas.openxmlformats.org/officeDocument/2006/relationships/notesSlide" Target="/ppt/notesSlides/notesSlide13.xml" Id="R1cad76fece7c44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756dbed694ef5" /><Relationship Type="http://schemas.openxmlformats.org/officeDocument/2006/relationships/hyperlink" Target="https://saemobilus.sae.org/standards/j3016_202104-taxonomy-definitions-terms-related-driving-automation-systems-road-motor-vehicles" TargetMode="External" Id="Rdb6c948974a84192" /><Relationship Type="http://schemas.openxmlformats.org/officeDocument/2006/relationships/hyperlink" Target="https://group.mercedes-benz.com/technology/autonomous-driving/driving/drive-pilot-95-kmh.html" TargetMode="External" Id="R03810a96d1a042f8" /><Relationship Type="http://schemas.openxmlformats.org/officeDocument/2006/relationships/hyperlink" Target="https://www.dmv.ca.gov/portal/news-and-media/california-dmv-approves-mercedes-benz-automated-driving-system-for-certain-highways-and-conditions/" TargetMode="External" Id="Re398854f76444507" /><Relationship Type="http://schemas.openxmlformats.org/officeDocument/2006/relationships/hyperlink" Target="https://www.cpuc.ca.gov/news-and-updates/all-news/cpuc-issues-first-driverless-autonomous-vehicle-passenger-service-deployment-permit" TargetMode="External" Id="R4d5a631ebf494e52" /><Relationship Type="http://schemas.openxmlformats.org/officeDocument/2006/relationships/hyperlink" Target="https://www.hhtip.hanoi.gov.vn/vi/tin-tuc/ha-noi-chinh-thuc-cho-phep-thu-nghiem-xe-buyt-tu-hanh-robotaxi-2858.html" TargetMode="External" Id="R838a9dffdd3f4202" /><Relationship Type="http://schemas.openxmlformats.org/officeDocument/2006/relationships/hyperlink" Target="https://www.tesla.com/ownersmanual/models/en_us/GUID-2CB60804-9CEA-4F4B-8B04-09B991368DC5.html" TargetMode="External" Id="R3fd2d1ccf810406b" /><Relationship Type="http://schemas.openxmlformats.org/officeDocument/2006/relationships/notesSlide" Target="/ppt/notesSlides/notesSlide14.xml" Id="Rdffdb10c353e46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b8cfc2f2421e" /><Relationship Type="http://schemas.openxmlformats.org/officeDocument/2006/relationships/hyperlink" Target="https://waymo.com/blog/2024/08/meet-the-6th-generation-waymo-driver/" TargetMode="External" Id="R47a13d458dbc4677" /><Relationship Type="http://schemas.openxmlformats.org/officeDocument/2006/relationships/hyperlink" Target="https://www.ti.com/applications/automotive/adas/radar/overview.html" TargetMode="External" Id="R4b804d38477d4857" /><Relationship Type="http://schemas.openxmlformats.org/officeDocument/2006/relationships/hyperlink" Target="https://arxiv.org/abs/2305.01336" TargetMode="External" Id="R304c93b5fc274d15" /><Relationship Type="http://schemas.openxmlformats.org/officeDocument/2006/relationships/hyperlink" Target="https://zoox.com/journal/zoox-robotaxi-development" TargetMode="External" Id="Ra2185e4d6e4643fe" /><Relationship Type="http://schemas.openxmlformats.org/officeDocument/2006/relationships/hyperlink" Target="https://qr.dmv.ca.gov/portal/news-and-media/dmv-statement-on-cruise-llc-suspension/" TargetMode="External" Id="R8e57dbb1b01a42da" /><Relationship Type="http://schemas.openxmlformats.org/officeDocument/2006/relationships/hyperlink" Target="https://news.gm.com/home.detail.html/Pages/news/us/en/2024/dec/1210-gm.html" TargetMode="External" Id="Rf88d6d4f96af4194" /><Relationship Type="http://schemas.openxmlformats.org/officeDocument/2006/relationships/notesSlide" Target="/ppt/notesSlides/notesSlide15.xml" Id="R71509ea2cf3f46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316c4b7144b41" /><Relationship Type="http://schemas.openxmlformats.org/officeDocument/2006/relationships/notesSlide" Target="/ppt/notesSlides/notesSlide16.xml" Id="R2e7b9c390da24f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5a71d4d014c7f" /><Relationship Type="http://schemas.openxmlformats.org/officeDocument/2006/relationships/notesSlide" Target="/ppt/notesSlides/notesSlide17.xml" Id="R9889b465a2274fbc" 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83d04270f9a4b84"/><Relationship Type="http://schemas.openxmlformats.org/officeDocument/2006/relationships/notesSlide" Target="../notesSlides/notesSlide18.xml" Id="Ra7fddfd9122e4d29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9df2d4287a84c07"/><Relationship Type="http://schemas.openxmlformats.org/officeDocument/2006/relationships/notesSlide" Target="../notesSlides/notesSlide19.xml" Id="Rcaa70d8ece9c469d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a173926e47c4a12"/><Relationship Type="http://schemas.openxmlformats.org/officeDocument/2006/relationships/notesSlide" Target="../notesSlides/notesSlide20.xml" Id="R6265185eb1d64eed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db54570668049b2"/><Relationship Type="http://schemas.openxmlformats.org/officeDocument/2006/relationships/notesSlide" Target="../notesSlides/notesSlide21.xml" Id="R9f97337914d64fe0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9a8621ff4194f97"/><Relationship Type="http://schemas.openxmlformats.org/officeDocument/2006/relationships/notesSlide" Target="../notesSlides/notesSlide22.xml" Id="R5e36e2cd307444d3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f8308b9d5c54a50"/><Relationship Type="http://schemas.openxmlformats.org/officeDocument/2006/relationships/image" Target="/ppt/media/phenikaa_hanoi_20260618.jpeg" Id="Rb84abcc8eae74cfc"/><Relationship Type="http://schemas.openxmlformats.org/officeDocument/2006/relationships/hyperlink" Target="https://www.youtube.com/watch?v=98kGZZ8RNmw" TargetMode="External" Id="R909a097f00b941e0"/><Relationship Type="http://schemas.openxmlformats.org/officeDocument/2006/relationships/hyperlink" Target="https://www.youtube.com/watch?v=98kGZZ8RNmw" TargetMode="External" Id="R4920ca1c4c0440d4"/><Relationship Type="http://schemas.openxmlformats.org/officeDocument/2006/relationships/notesSlide" Target="/ppt/notesSlides/notesSlide23.xml" Id="R6b4c9835b181405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CCC62-A85A-4EC6-8B2F-5DECD4EF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Nguyên lý xe tự lái · Tuần 2 · Tiết 3</a:t>
            </a:r>
          </a:p>
          <a:p xmlns:a="http://schemas.openxmlformats.org/drawingml/2006/main"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自動駕駛原理　第二週　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40B90-6C7B-470C-976A-308FFBDC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20"/>
              </a:lnSpc>
              <a:spcBef>
                <a:spcPts val="0"/>
              </a:spcBef>
              <a:spcAft>
                <a:spcPts val="300"/>
              </a:spcAft>
              <a:defRPr sz="28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Giải thích video và hướng dẫn điền ODD</a:t>
            </a:r>
          </a:p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28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案例影片講解與 ODD 引導填寫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E98BD-969A-48CE-B8D7-01DDC5FB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20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Dùng nguyên lý cảm biến để giải thích video và ảnh đường</a:t>
            </a:r>
          </a:p>
          <a:p xmlns:a="http://schemas.openxmlformats.org/drawingml/2006/main"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20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Điền theo thẻ điều kiện, đánh giá tình huống thay đổi</a:t>
            </a:r>
          </a:p>
          <a:p xmlns:a="http://schemas.openxmlformats.org/drawingml/2006/main">
            <a:pPr algn="l">
              <a:lnSpc>
                <a:spcPts val="2430"/>
              </a:lnSpc>
              <a:spcBef>
                <a:spcPts val="0"/>
              </a:spcBef>
              <a:spcAft>
                <a:spcPts val="300"/>
              </a:spcAft>
              <a:defRPr sz="20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Mỗi nhóm một tờ A4, thảo luận rồi nộp lại</a:t>
            </a:r>
          </a:p>
          <a:p xmlns:a="http://schemas.openxmlformats.org/drawingml/2006/main"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20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運用感測器原理講解影片與道路照片　依條件卡填寫，判斷變化事件　每組一張 A4，討論後交回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2831E-75DE-4DAE-823A-317119F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30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2026.09.17 · 65 phút, gồm mở đầu và thời gian linh hoạt</a:t>
            </a:r>
          </a:p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2026.09.17　｜　65 分鐘，含開場與彈性調整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9098B-805F-4DC7-966F-ED20BA2B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Bài chính: trang 2–19. Tài liệu tham khảo: trang 20–21.</a:t>
            </a:r>
          </a:p>
          <a:p xmlns:a="http://schemas.openxmlformats.org/drawingml/2006/main">
            <a:pPr algn="l">
              <a:lnSpc>
                <a:spcPts val="1530"/>
              </a:lnSpc>
              <a:spcBef>
                <a:spcPts val="0"/>
              </a:spcBef>
              <a:spcAft>
                <a:spcPts val="300"/>
              </a:spcAft>
              <a:defRPr sz="127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Trang 22–23 là phần nâng cao cho giáo viên, không thuộc yêu cầu bài làm.</a:t>
            </a:r>
          </a:p>
          <a:p xmlns:a="http://schemas.openxmlformats.org/drawingml/2006/main"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127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主課程：第 2–19 張　參考資料：第 20–21 張　第 22–23 張為教師進階備用。</a:t>
            </a:r>
          </a:p>
        </p:txBody>
      </p:sp>
      <p:sp>
        <p:nvSpPr>
          <p:cNvPr id="7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A98786FD-B9AD-4CBA-B6E9-A8CAB0ED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3948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播放 Waymo 與行人互動片段">
            <a:extLst xmlns:a="http://schemas.openxmlformats.org/drawingml/2006/main">
              <a:ext uri="{FF2B5EF4-FFF2-40B4-BE49-F238E27FC236}">
                <a16:creationId xmlns:a16="http://schemas.microsoft.com/office/drawing/2014/main" id="{5416A32D-7323-4C4D-8CE1-753C4CBD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672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spcBef>
                <a:spcPts val="0"/>
              </a:spcBef>
              <a:spcAft>
                <a:spcPts val="300"/>
              </a:spcAft>
              <a:defRPr sz="195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9ec3af863ed4146"/>
              </a:rPr>
              <a:t>Xem đoạn Waymo tương tác với người đi bộ</a:t>
            </a:r>
          </a:p>
          <a:p xmlns:a="http://schemas.openxmlformats.org/drawingml/2006/main"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95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9ec3af863ed4146"/>
              </a:rPr>
              <a:t>播放 Waymo 與行人互動片段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9C65A-D928-4551-A996-F397C99C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Quan sát video: Xe không người lái nhường người đi bộ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影片觀察：無人駕駛車禮讓行人</a:t>
            </a:r>
          </a:p>
        </p:txBody>
      </p:sp>
      <p:sp>
        <p:nvSpPr>
          <p:cNvPr id="1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716B619C-B8DA-45A0-A138-13CF7BE0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2db79ff8445c6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810000" cy="2857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3AF25-E418-4218-9D9B-D95FB51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Video thực tế trên xe Waymo</a:t>
            </a:r>
          </a:p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Ảnh thu nhỏ của video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Waymo 乘車實拍　影片縮圖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F5C83-C5CB-4E06-A0E9-DA7EF0B5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672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30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12:58–13:18, tổng cộng 20 giây</a:t>
            </a:r>
          </a:p>
          <a:p xmlns:a="http://schemas.openxmlformats.org/drawingml/2006/main"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12:58–13:18，共 20 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B9168-BD8E-4303-A6F6-6C951C37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Video và ảnh thu nhỏ: Kevin Chen, Waymo Ride Along #19. Cách phát và phương án dự phòng xem trong ghi chú giáo viên.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影片與縮圖：Kevin Chen，Waymo Ride Along #19。播放操作與備案見教師提示。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3B8C6-9661-4F22-AF7C-C42EC575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6724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65"/>
              </a:lnSpc>
              <a:spcBef>
                <a:spcPts val="0"/>
              </a:spcBef>
              <a:spcAft>
                <a:spcPts val="300"/>
              </a:spcAft>
              <a:defRPr sz="138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88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Nhìn thấy gì?</a:t>
            </a:r>
          </a:p>
          <a:p xmlns:a="http://schemas.openxmlformats.org/drawingml/2006/main"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138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2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看到什麼？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E8DF9-F806-4A77-95B9-F2BEEAFC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43275"/>
            <a:ext cx="672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30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Xe dừng, người đi bộ qua rồi xe đi tiếp.</a:t>
            </a:r>
          </a:p>
          <a:p xmlns:a="http://schemas.openxmlformats.org/drawingml/2006/main"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車停下，行人通過後再前進。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E10BC-A329-43F1-AC1E-E205C1C4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6724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65"/>
              </a:lnSpc>
              <a:spcBef>
                <a:spcPts val="0"/>
              </a:spcBef>
              <a:spcAft>
                <a:spcPts val="300"/>
              </a:spcAft>
              <a:defRPr sz="138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88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Vì sao xe dừng?</a:t>
            </a:r>
          </a:p>
          <a:p xmlns:a="http://schemas.openxmlformats.org/drawingml/2006/main"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138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2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為什麼停車？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C6EB4-1C2F-4699-965A-60DF531D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672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30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Ta cho rằng xe đang nhường người đi bộ.</a:t>
            </a:r>
          </a:p>
          <a:p xmlns:a="http://schemas.openxmlformats.org/drawingml/2006/main"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8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我們認為是在禮讓行人。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586A4-B3ED-4250-AA79-A3E651D2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6724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65"/>
              </a:lnSpc>
              <a:spcBef>
                <a:spcPts val="0"/>
              </a:spcBef>
              <a:spcAft>
                <a:spcPts val="300"/>
              </a:spcAft>
              <a:defRPr sz="138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88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Còn muốn biết gì?</a:t>
            </a:r>
          </a:p>
          <a:p xmlns:a="http://schemas.openxmlformats.org/drawingml/2006/main"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  <a:defRPr sz="138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2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還想知道什麼？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10102-C8A1-485D-8227-5E5335A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14975"/>
            <a:ext cx="6724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spcBef>
                <a:spcPts val="0"/>
              </a:spcBef>
              <a:spcAft>
                <a:spcPts val="300"/>
              </a:spcAft>
              <a:defRPr sz="17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Xe phát hiện người đi bộ bằng cách nào, lúc nào?</a:t>
            </a:r>
          </a:p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車子如何、何時發現行人？</a:t>
            </a:r>
          </a:p>
        </p:txBody>
      </p:sp>
    </p:spTree>
    <p:extLst>
      <p:ext uri="{BB962C8B-B14F-4D97-AF65-F5344CB8AC3E}">
        <p14:creationId xmlns:p14="http://schemas.microsoft.com/office/powerpoint/2010/main" val="4300648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小組影片分享">
            <a:extLst xmlns:a="http://schemas.openxmlformats.org/drawingml/2006/main">
              <a:ext uri="{FF2B5EF4-FFF2-40B4-BE49-F238E27FC236}">
                <a16:creationId xmlns:a16="http://schemas.microsoft.com/office/drawing/2014/main" id="{B2C03BD5-C1D4-4E37-A298-D523FD59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Giáo viên giải thích: Từ cảm biến đến quyết định dừng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教師講解：感測資訊與停車決策</a:t>
            </a:r>
          </a:p>
        </p:txBody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49E1AF13-E727-4CD1-90BA-BED042C4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DB4E826-FF0D-4915-A2B9-6A7C9D81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每組 2 分鐘，含 20–30 秒片段">
            <a:extLst xmlns:a="http://schemas.openxmlformats.org/drawingml/2006/main">
              <a:ext uri="{FF2B5EF4-FFF2-40B4-BE49-F238E27FC236}">
                <a16:creationId xmlns:a16="http://schemas.microsoft.com/office/drawing/2014/main" id="{E5251F04-8AD1-4DA8-B61D-0B61AE3B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14525"/>
            <a:ext cx="10039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Nhận biết môi trường: Xử lý ảnh, đám mây điểm và dữ liệu radar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感知：整理影像、點雲與雷達資料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A7A2EE2B-FB3B-4635-9768-CF7A763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交代產品、地點、拍攝日期與人的角色">
            <a:extLst xmlns:a="http://schemas.openxmlformats.org/drawingml/2006/main">
              <a:ext uri="{FF2B5EF4-FFF2-40B4-BE49-F238E27FC236}">
                <a16:creationId xmlns:a16="http://schemas.microsoft.com/office/drawing/2014/main" id="{DFFBCDA0-FB2A-413F-B2D7-0CF2309E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14675"/>
            <a:ext cx="10039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Dự đoán và lập kế hoạch: Ước đoán chuyển động, quyết định dừng chờ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預測與規劃：推估動作，決定停車等待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ED129D12-86D5-4EBF-9ED6-824A4FA2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提出一項觀察，以及一個尚未確認的問題">
            <a:extLst xmlns:a="http://schemas.openxmlformats.org/drawingml/2006/main">
              <a:ext uri="{FF2B5EF4-FFF2-40B4-BE49-F238E27FC236}">
                <a16:creationId xmlns:a16="http://schemas.microsoft.com/office/drawing/2014/main" id="{B170D506-0F00-4797-9C73-43E0CA1B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10039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Điều khiển: Thực hiện phanh và kiểm tra tốc độ thực tế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控制：執行煞車，確認實際車速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0F75D-F67E-42E0-98B0-26EBF9F6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spcBef>
                <a:spcPts val="0"/>
              </a:spcBef>
              <a:spcAft>
                <a:spcPts val="300"/>
              </a:spcAft>
              <a:defRPr sz="1350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 lang="vi-VN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rPr>
              <a:t>Quy trình khái niệm chung, không tái hiện nhật ký nội bộ tại thời điểm quay video.</a:t>
            </a:r>
          </a:p>
          <a:p xmlns:a="http://schemas.openxmlformats.org/drawingml/2006/main">
            <a:pPr algn="l">
              <a:lnSpc>
                <a:spcPts val="1071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92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一般概念流程，並非還原影片當時的內部紀錄。</a:t>
            </a:r>
          </a:p>
        </p:txBody>
      </p:sp>
    </p:spTree>
    <p:extLst>
      <p:ext uri="{BB962C8B-B14F-4D97-AF65-F5344CB8AC3E}">
        <p14:creationId xmlns:p14="http://schemas.microsoft.com/office/powerpoint/2010/main" val="253673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F9CC5-3F31-4FBE-8499-78034F85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Video và thông tin bên trong hệ thống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影片與系統內部資訊的差距</a:t>
            </a:r>
          </a:p>
        </p:txBody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EA9B844E-D8E2-4D67-9F9A-0078D70B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F4476-E30C-435D-82FD-2F8F5825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952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95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Màn hình hành khách hiển thị</a:t>
            </a:r>
          </a:p>
          <a:p xmlns:a="http://schemas.openxmlformats.org/drawingml/2006/main">
            <a:pPr algn="l">
              <a:lnSpc>
                <a:spcPts val="2340"/>
              </a:lnSpc>
              <a:spcBef>
                <a:spcPts val="0"/>
              </a:spcBef>
              <a:spcAft>
                <a:spcPts val="300"/>
              </a:spcAft>
              <a:defRPr sz="195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tuyến đường và thông tin chuyến đi.</a:t>
            </a:r>
          </a:p>
          <a:p xmlns:a="http://schemas.openxmlformats.org/drawingml/2006/main"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95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乘客螢幕呈現　路線與搭乘資訊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4FDEF-DB7E-4477-9036-F7BB872B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952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2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Vật thể không xuất hiện trên</a:t>
            </a:r>
          </a:p>
          <a:p xmlns:a="http://schemas.openxmlformats.org/drawingml/2006/main"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2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màn hình chưa đủ để kết luận</a:t>
            </a:r>
          </a:p>
          <a:p xmlns:a="http://schemas.openxmlformats.org/drawingml/2006/main">
            <a:pPr algn="l">
              <a:lnSpc>
                <a:spcPts val="2700"/>
              </a:lnSpc>
              <a:spcBef>
                <a:spcPts val="0"/>
              </a:spcBef>
              <a:spcAft>
                <a:spcPts val="300"/>
              </a:spcAft>
              <a:defRPr sz="22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hệ thống không phát hiện.</a:t>
            </a:r>
          </a:p>
          <a:p xmlns:a="http://schemas.openxmlformats.org/drawingml/2006/main"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22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6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未顯示某個物體　不足以判定內部完全沒偵測到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4E697-D275-4D0F-ACAA-59DB41BB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3952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18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38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Cần nhật ký hệ thống và bằng chứng</a:t>
            </a:r>
          </a:p>
          <a:p xmlns:a="http://schemas.openxmlformats.org/drawingml/2006/main">
            <a:pPr algn="l">
              <a:lnSpc>
                <a:spcPts val="2205"/>
              </a:lnSpc>
              <a:spcBef>
                <a:spcPts val="0"/>
              </a:spcBef>
              <a:spcAft>
                <a:spcPts val="300"/>
              </a:spcAft>
              <a:defRPr sz="18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38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thử nghiệm tương ứng để đánh giá.</a:t>
            </a:r>
          </a:p>
          <a:p xmlns:a="http://schemas.openxmlformats.org/drawingml/2006/main">
            <a:pPr algn="l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defRPr sz="18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1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判讀仍需系統紀錄　與相符的測試證據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23fc2fcaa4494"/>
          <a:stretch xmlns:a="http://schemas.openxmlformats.org/drawingml/2006/main"/>
        </p:blipFill>
        <p:spPr>
          <a:xfrm xmlns:a="http://schemas.openxmlformats.org/drawingml/2006/main">
            <a:off x="4909368" y="1695450"/>
            <a:ext cx="6669039" cy="3752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4B357-2F3E-4567-B552-6646D8AD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Ảnh: màn hình hành khách chính thức của Zoox. Ví dụ từ hãng khác, phân tích riêng với video Waymo ở trang 2.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照片：Zoox 官方乘客顯示器。另一家業者的介面例子，與第 2 頁 Waymo 影片分開討論。</a:t>
            </a:r>
          </a:p>
        </p:txBody>
      </p:sp>
    </p:spTree>
    <p:extLst>
      <p:ext uri="{BB962C8B-B14F-4D97-AF65-F5344CB8AC3E}">
        <p14:creationId xmlns:p14="http://schemas.microsoft.com/office/powerpoint/2010/main" val="797971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98F51-013D-4275-AD47-28A1353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Khó khăn của cảm biến trên đường mưa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雨天道路的感測難題</a:t>
            </a:r>
          </a:p>
        </p:txBody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47233BF8-44F9-4EC4-9621-0E4E202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c5b537e534a77"/>
          <a:stretch xmlns:a="http://schemas.openxmlformats.org/drawingml/2006/main"/>
        </p:blipFill>
        <p:spPr>
          <a:xfrm xmlns:a="http://schemas.openxmlformats.org/drawingml/2006/main">
            <a:off x="1201860" y="1524000"/>
            <a:ext cx="6625979" cy="4629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620B9-706D-4853-A953-D1B99C1C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9725"/>
            <a:ext cx="300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18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38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Tình trạng đường và cảm</a:t>
            </a:r>
          </a:p>
          <a:p xmlns:a="http://schemas.openxmlformats.org/drawingml/2006/main">
            <a:pPr algn="l">
              <a:lnSpc>
                <a:spcPts val="2205"/>
              </a:lnSpc>
              <a:spcBef>
                <a:spcPts val="0"/>
              </a:spcBef>
              <a:spcAft>
                <a:spcPts val="300"/>
              </a:spcAft>
              <a:defRPr sz="18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38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biến</a:t>
            </a:r>
          </a:p>
          <a:p xmlns:a="http://schemas.openxmlformats.org/drawingml/2006/main">
            <a:pPr algn="l">
              <a:lnSpc>
                <a:spcPts val="1503"/>
              </a:lnSpc>
              <a:spcBef>
                <a:spcPts val="0"/>
              </a:spcBef>
              <a:spcAft>
                <a:spcPts val="0"/>
              </a:spcAft>
              <a:defRPr sz="18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5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路況與感測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E614D-20C6-4AD1-B3E6-E835D6CF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05075"/>
            <a:ext cx="3009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Phản sáng làm đổi độ sáng</a:t>
            </a:r>
          </a:p>
          <a:p xmlns:a="http://schemas.openxmlformats.org/drawingml/2006/main"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ảnh. Xe buýt có thể che người</a:t>
            </a:r>
          </a:p>
          <a:p xmlns:a="http://schemas.openxmlformats.org/drawingml/2006/main">
            <a:pPr algn="l">
              <a:lnSpc>
                <a:spcPts val="2070"/>
              </a:lnSpc>
              <a:spcBef>
                <a:spcPts val="0"/>
              </a:spcBef>
              <a:spcAft>
                <a:spcPts val="300"/>
              </a:spcAft>
              <a:defRPr sz="17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đi bộ.</a:t>
            </a:r>
          </a:p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反光改變影像明暗　公車可能遮住行人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CF7E-7464-4500-8EA7-B6D931A7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3009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Đối chiếu điều kiện sử dụng</a:t>
            </a:r>
          </a:p>
          <a:p xmlns:a="http://schemas.openxmlformats.org/drawingml/2006/main"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對照使用條件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58054-C871-4757-9658-5CE5755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48225"/>
            <a:ext cx="3009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463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62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Ánh sáng, thời tiết và mặt đường</a:t>
            </a:r>
          </a:p>
          <a:p xmlns:a="http://schemas.openxmlformats.org/drawingml/2006/main"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463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62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phải phù hợp thiết kế và thử</a:t>
            </a:r>
          </a:p>
          <a:p xmlns:a="http://schemas.openxmlformats.org/drawingml/2006/main"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463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62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nghiệm. Không đoán ngưỡng từ</a:t>
            </a:r>
          </a:p>
          <a:p xmlns:a="http://schemas.openxmlformats.org/drawingml/2006/main">
            <a:pPr algn="l">
              <a:lnSpc>
                <a:spcPts val="1755"/>
              </a:lnSpc>
              <a:spcBef>
                <a:spcPts val="0"/>
              </a:spcBef>
              <a:spcAft>
                <a:spcPts val="300"/>
              </a:spcAft>
              <a:defRPr sz="1463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62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ảnh.</a:t>
            </a:r>
          </a:p>
          <a:p xmlns:a="http://schemas.openxmlformats.org/drawingml/2006/main"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  <a:defRPr sz="1463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8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光照、天候與路面　須配合設計與測試　不能從照片</a:t>
            </a:r>
          </a:p>
          <a:p xmlns:a="http://schemas.openxmlformats.org/drawingml/2006/main">
            <a:pPr algn="l">
              <a:lnSpc>
                <a:spcPts val="1179"/>
              </a:lnSpc>
              <a:spcBef>
                <a:spcPts val="0"/>
              </a:spcBef>
              <a:spcAft>
                <a:spcPts val="0"/>
              </a:spcAft>
              <a:defRPr sz="1463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8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猜門檻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236E2-0082-42B0-82ED-0C373D96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Ảnh: Francisco Anzola, đường Xinyi, Đài Bắc, 2016.10.13, CC BY 2.0. Không phải hồ sơ thử nghiệm xe tự lái.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實拍：Francisco Anzola，台北信義路，2016.10.13，CC BY 2.0。非自動駕駛測試紀錄。</a:t>
            </a:r>
          </a:p>
        </p:txBody>
      </p:sp>
    </p:spTree>
    <p:extLst>
      <p:ext uri="{BB962C8B-B14F-4D97-AF65-F5344CB8AC3E}">
        <p14:creationId xmlns:p14="http://schemas.microsoft.com/office/powerpoint/2010/main" val="1023516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同一個路口，需要哪些補充資訊？">
            <a:extLst xmlns:a="http://schemas.openxmlformats.org/drawingml/2006/main">
              <a:ext uri="{FF2B5EF4-FFF2-40B4-BE49-F238E27FC236}">
                <a16:creationId xmlns:a16="http://schemas.microsoft.com/office/drawing/2014/main" id="{A350952D-4CA6-4DCC-94C2-5B3E9A07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Giáo viên làm mẫu: Điền theo thẻ điều kiện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教師示範：依條件卡完成填空</a:t>
            </a:r>
          </a:p>
        </p:txBody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DFAE7D07-293D-49D4-A809-5A7722D3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448675"/>
              </a:tblGrid>
              <a:tr h="840105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Phiếu hỏi gì?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學習單問什麼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Cách điền theo thẻ điều kiện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依條件卡填寫的示範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</a:tr>
              <a:tr h="840105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Điều kiện ánh sáng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光照條件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Thẻ ghi ban ngày thì điền “ban ngày”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卡片寫白天，就填白天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840105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Thời tiết và mặt đường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天候與路面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Điền “không mưa” vào thời tiết, “khô” vào mặt đường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無雨、乾燥，分別填入天候與路面欄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</a:tr>
              <a:tr h="840105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Đã có dữ liệu chưa?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資料是否已提供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Chưa biết giới hạn mật độ người đi bộ, chọn “chưa cung cấp”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行人密度上限未知，勾選「尚未提供」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840105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Sự kiện: Bắt đầu mưa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事件：開始下雨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7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Không phù hợp vì điều kiện ban đầu yêu cầu không mưa</a:t>
                      </a:r>
                    </a:p>
                    <a:p>
                      <a:pPr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20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不符合，因為原條件要求無雨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5AB48-C75A-4E8C-B333-78B1DFDF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Thẻ giả định: ban ngày, không mưa, mặt đường khô. Mục thiếu dữ liệu chỉ cần đánh dấu, không phải thiết kế thử nghiệm.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課堂條件卡：白天、無雨、乾燥。資料不足題只需勾選，本次不用設計測試。</a:t>
            </a:r>
          </a:p>
        </p:txBody>
      </p:sp>
    </p:spTree>
    <p:extLst>
      <p:ext uri="{BB962C8B-B14F-4D97-AF65-F5344CB8AC3E}">
        <p14:creationId xmlns:p14="http://schemas.microsoft.com/office/powerpoint/2010/main" val="2035422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16049-CEBC-48E9-BCA6-AF244049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Bài nhóm: Thẻ điều kiện và hướng dẫn điền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小組任務：條件卡與引導填寫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334a9ddea4209"/>
          <a:stretch xmlns:a="http://schemas.openxmlformats.org/drawingml/2006/main"/>
        </p:blipFill>
        <p:spPr>
          <a:xfrm xmlns:a="http://schemas.openxmlformats.org/drawingml/2006/main">
            <a:off x="859859" y="1943100"/>
            <a:ext cx="4585831" cy="400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C5E1B-D957-4EE2-97A5-BB805B54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52575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45"/>
              </a:lnSpc>
              <a:spcBef>
                <a:spcPts val="0"/>
              </a:spcBef>
              <a:spcAft>
                <a:spcPts val="300"/>
              </a:spcAft>
              <a:defRPr sz="15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38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Nhóm 1 A: Đại lộ Dừa, Đại học Quốc gia Đài Loan</a:t>
            </a:r>
          </a:p>
          <a:p xmlns:a="http://schemas.openxmlformats.org/drawingml/2006/main"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5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1 組 A：臺大椰林大道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D2354-A635-4BA1-8373-BE919E3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3600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45"/>
              </a:lnSpc>
              <a:spcBef>
                <a:spcPts val="0"/>
              </a:spcBef>
              <a:spcAft>
                <a:spcPts val="300"/>
              </a:spcAft>
              <a:defRPr sz="15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38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Nhóm 2 B: Đường Xinyi đoạn 5, Đài Bắc</a:t>
            </a:r>
          </a:p>
          <a:p xmlns:a="http://schemas.openxmlformats.org/drawingml/2006/main"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5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2 組 B：臺北信義路五段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F1329-0C5F-4C0A-9622-BEA7277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45"/>
              </a:lnSpc>
              <a:spcBef>
                <a:spcPts val="0"/>
              </a:spcBef>
              <a:spcAft>
                <a:spcPts val="300"/>
              </a:spcAft>
              <a:defRPr sz="15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38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Nhóm 3 C: Đường Zhongzheng, phố cổ Tamsui</a:t>
            </a:r>
          </a:p>
          <a:p xmlns:a="http://schemas.openxmlformats.org/drawingml/2006/main"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5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3 組 C：淡水老街中正路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635D7-3AE3-4028-8BFA-6A013F99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95650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45"/>
              </a:lnSpc>
              <a:spcBef>
                <a:spcPts val="0"/>
              </a:spcBef>
              <a:spcAft>
                <a:spcPts val="300"/>
              </a:spcAft>
              <a:defRPr sz="15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38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Nhóm 4 D: Đường Dayi, Pier-2, Cao Hùng</a:t>
            </a:r>
          </a:p>
          <a:p xmlns:a="http://schemas.openxmlformats.org/drawingml/2006/main"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5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4 組 D：高雄駁二大義街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6F178-FA2E-4503-996D-5F75956F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76675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45"/>
              </a:lnSpc>
              <a:spcBef>
                <a:spcPts val="0"/>
              </a:spcBef>
              <a:spcAft>
                <a:spcPts val="300"/>
              </a:spcAft>
              <a:defRPr sz="15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38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Nhóm 5 E: Khu Xiangshan, hồ Nhật Nguyệt</a:t>
            </a:r>
          </a:p>
          <a:p xmlns:a="http://schemas.openxmlformats.org/drawingml/2006/main"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538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5 組 E：日月潭向山周邊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6CF92-50D2-4EB6-AE90-C340204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45"/>
              </a:lnSpc>
              <a:spcBef>
                <a:spcPts val="0"/>
              </a:spcBef>
              <a:spcAft>
                <a:spcPts val="300"/>
              </a:spcAft>
              <a:defRPr sz="15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38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Nhóm 6 F: Đường Xin'an, Khu khoa học Tân Trúc</a:t>
            </a:r>
          </a:p>
          <a:p xmlns:a="http://schemas.openxmlformats.org/drawingml/2006/main"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538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6 組 F：竹科新安路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C876F-AEDF-4CA9-9040-10B2D011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38750"/>
            <a:ext cx="55816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Mỗi nhóm một tờ A4, làm trong 12 phút. Điền 6 dòng và đánh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dấu 1 mục dữ liệu. Đánh giá sự kiện, nêu một lý do.</a:t>
            </a:r>
          </a:p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每組一張 A4，作答 12 分鐘　完成六列填空與一題資料勾選　判斷事件是否符合，寫出一項理由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E13A2-0E97-493A-9314-6824748B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Dữ liệu bản đồ © OpenStreetMap contributors, ODbL. https://www.openstreetmap.org/copyright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地圖資料 © OpenStreetMap contributors，ODbL。https://www.openstreetmap.org/copyright</a:t>
            </a:r>
          </a:p>
        </p:txBody>
      </p:sp>
      <p:sp>
        <p:nvSpPr>
          <p:cNvPr id="11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315CFC0C-C9A4-4271-8548-C915DF20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16" name="vi-999">
            <a:extLst xmlns:a="http://schemas.openxmlformats.org/drawingml/2006/main">
              <a:ext uri="{FF2B5EF4-FFF2-40B4-BE49-F238E27FC236}">
                <a16:creationId xmlns:a16="http://schemas.microsoft.com/office/drawing/2014/main" id="{8A40D8DD-87CC-4541-A717-5ED91ED6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90"/>
              </a:lnSpc>
              <a:spcBef>
                <a:spcPts val="0"/>
              </a:spcBef>
              <a:spcAft>
                <a:spcPts val="300"/>
              </a:spcAft>
              <a:defRPr sz="1575">
                <a:solidFill>
                  <a:srgbClr val="0088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 lang="vi-VN">
                <a:solidFill>
                  <a:srgbClr val="008896"/>
                </a:solidFill>
                <a:latin typeface="Arial Unicode MS"/>
                <a:ea typeface="Arial Unicode MS"/>
                <a:cs typeface="Arial Unicode MS"/>
              </a:rPr>
              <a:t>Nét đậm A–B: đoạn đường của nhóm A</a:t>
            </a:r>
          </a:p>
          <a:p xmlns:a="http://schemas.openxmlformats.org/drawingml/2006/main"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575">
                <a:solidFill>
                  <a:srgbClr val="0088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粗線 A–B：A 組指定路段</a:t>
            </a:r>
          </a:p>
        </p:txBody>
      </p:sp>
    </p:spTree>
    <p:extLst>
      <p:ext uri="{BB962C8B-B14F-4D97-AF65-F5344CB8AC3E}">
        <p14:creationId xmlns:p14="http://schemas.microsoft.com/office/powerpoint/2010/main" val="1504121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vn">
            <a:extLst xmlns:a="http://schemas.openxmlformats.org/drawingml/2006/main">
              <a:ext uri="{FF2B5EF4-FFF2-40B4-BE49-F238E27FC236}">
                <a16:creationId xmlns:a16="http://schemas.microsoft.com/office/drawing/2014/main" id="{32D2E545-BA12-4DE0-907B-627E502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Nhóm 1 (A)  Đại lộ Dừa, Đại học Quốc gia Đài Loan</a:t>
            </a:r>
          </a:p>
        </p:txBody>
      </p:sp>
      <p:sp>
        <p:nvSpPr>
          <p:cNvPr id="2" name="title-zh">
            <a:extLst xmlns:a="http://schemas.openxmlformats.org/drawingml/2006/main">
              <a:ext uri="{FF2B5EF4-FFF2-40B4-BE49-F238E27FC236}">
                <a16:creationId xmlns:a16="http://schemas.microsoft.com/office/drawing/2014/main" id="{3526A865-65E6-4119-B915-FFDF02A4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第 1 組（A）臺大椰林大道　答案與解說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71247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14650"/>
                <a:gridCol w="4210050"/>
              </a:tblGrid>
              <a:tr h="552450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Mục trên phiếu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學習單項目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Đáp án theo thẻ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依條件卡填寫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chạy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行駛範圍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Đoạn A–B trên bản đồ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圖中的 A–B 路段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光照條件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ngày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白天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Thời tiết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天候條件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Không mưa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路面條件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乾燥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本車速度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0–15 km/h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tham gia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用路者類型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đi bộ, xe đạp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行人、自行車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4" name="event-label-vn">
            <a:extLst xmlns:a="http://schemas.openxmlformats.org/drawingml/2006/main">
              <a:ext uri="{FF2B5EF4-FFF2-40B4-BE49-F238E27FC236}">
                <a16:creationId xmlns:a16="http://schemas.microsoft.com/office/drawing/2014/main" id="{D59DFB7C-C5F7-4CC7-95B1-0AFFE55D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Sự kiện thay đổi</a:t>
            </a:r>
          </a:p>
        </p:txBody>
      </p:sp>
      <p:sp>
        <p:nvSpPr>
          <p:cNvPr id="5" name="event-label-zh">
            <a:extLst xmlns:a="http://schemas.openxmlformats.org/drawingml/2006/main">
              <a:ext uri="{FF2B5EF4-FFF2-40B4-BE49-F238E27FC236}">
                <a16:creationId xmlns:a16="http://schemas.microsoft.com/office/drawing/2014/main" id="{BE029057-C179-4C1B-8A9D-77FAE486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變化事件</a:t>
            </a:r>
          </a:p>
        </p:txBody>
      </p:sp>
      <p:sp>
        <p:nvSpPr>
          <p:cNvPr id="6" name="event-vn">
            <a:extLst xmlns:a="http://schemas.openxmlformats.org/drawingml/2006/main">
              <a:ext uri="{FF2B5EF4-FFF2-40B4-BE49-F238E27FC236}">
                <a16:creationId xmlns:a16="http://schemas.microsoft.com/office/drawing/2014/main" id="{B3F995FB-620F-42AE-A01B-A2725A8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Lúc 14:00, trời bắt đầu mưa, mặt đường dần ướt.</a:t>
            </a:r>
          </a:p>
        </p:txBody>
      </p:sp>
      <p:sp>
        <p:nvSpPr>
          <p:cNvPr id="7" name="event-zh">
            <a:extLst xmlns:a="http://schemas.openxmlformats.org/drawingml/2006/main">
              <a:ext uri="{FF2B5EF4-FFF2-40B4-BE49-F238E27FC236}">
                <a16:creationId xmlns:a16="http://schemas.microsoft.com/office/drawing/2014/main" id="{A5102CFA-8186-4B27-9B31-16CF8951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3486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14:00 開始下雨，地面逐漸變濕。</a:t>
            </a:r>
          </a:p>
        </p:txBody>
      </p:sp>
      <p:sp>
        <p:nvSpPr>
          <p:cNvPr id="8" name="verdict-vn">
            <a:extLst xmlns:a="http://schemas.openxmlformats.org/drawingml/2006/main">
              <a:ext uri="{FF2B5EF4-FFF2-40B4-BE49-F238E27FC236}">
                <a16:creationId xmlns:a16="http://schemas.microsoft.com/office/drawing/2014/main" id="{0C6AC638-640E-430F-8832-91A341E7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48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Không phù hợp</a:t>
            </a:r>
          </a:p>
        </p:txBody>
      </p:sp>
      <p:sp>
        <p:nvSpPr>
          <p:cNvPr id="9" name="verdict-zh">
            <a:extLst xmlns:a="http://schemas.openxmlformats.org/drawingml/2006/main">
              <a:ext uri="{FF2B5EF4-FFF2-40B4-BE49-F238E27FC236}">
                <a16:creationId xmlns:a16="http://schemas.microsoft.com/office/drawing/2014/main" id="{0B9B5121-54F2-4258-9F99-6F0B182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486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不符合</a:t>
            </a:r>
          </a:p>
        </p:txBody>
      </p:sp>
      <p:sp>
        <p:nvSpPr>
          <p:cNvPr id="10" name="reason-vn">
            <a:extLst xmlns:a="http://schemas.openxmlformats.org/drawingml/2006/main">
              <a:ext uri="{FF2B5EF4-FFF2-40B4-BE49-F238E27FC236}">
                <a16:creationId xmlns:a16="http://schemas.microsoft.com/office/drawing/2014/main" id="{177C8069-88F3-4A4E-B5C8-776B8EF2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486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Thẻ yêu cầu không mưa, nhưng trời đã mưa.</a:t>
            </a:r>
          </a:p>
        </p:txBody>
      </p:sp>
      <p:sp>
        <p:nvSpPr>
          <p:cNvPr id="11" name="reason-zh">
            <a:extLst xmlns:a="http://schemas.openxmlformats.org/drawingml/2006/main">
              <a:ext uri="{FF2B5EF4-FFF2-40B4-BE49-F238E27FC236}">
                <a16:creationId xmlns:a16="http://schemas.microsoft.com/office/drawing/2014/main" id="{17DE2AE2-AB22-42DB-B3A8-0D2548AC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原條件要求無雨，現在已經下雨。</a:t>
            </a:r>
          </a:p>
        </p:txBody>
      </p:sp>
      <p:sp>
        <p:nvSpPr>
          <p:cNvPr id="12" name="explain-vn">
            <a:extLst xmlns:a="http://schemas.openxmlformats.org/drawingml/2006/main">
              <a:ext uri="{FF2B5EF4-FFF2-40B4-BE49-F238E27FC236}">
                <a16:creationId xmlns:a16="http://schemas.microsoft.com/office/drawing/2014/main" id="{0782AD57-0815-4DF9-9C7B-A699A264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38775"/>
            <a:ext cx="3486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Ban ngày vẫn phải đáp ứng điều kiện thời tiết.</a:t>
            </a:r>
          </a:p>
        </p:txBody>
      </p:sp>
      <p:sp>
        <p:nvSpPr>
          <p:cNvPr id="13" name="explain-zh">
            <a:extLst xmlns:a="http://schemas.openxmlformats.org/drawingml/2006/main">
              <a:ext uri="{FF2B5EF4-FFF2-40B4-BE49-F238E27FC236}">
                <a16:creationId xmlns:a16="http://schemas.microsoft.com/office/drawing/2014/main" id="{04B49D7F-0166-4351-822F-25230CEE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即使仍是白天，也要符合天候條件。</a:t>
            </a:r>
          </a:p>
        </p:txBody>
      </p:sp>
      <p:sp>
        <p:nvSpPr>
          <p:cNvPr id="14" name="missing-vn">
            <a:extLst xmlns:a="http://schemas.openxmlformats.org/drawingml/2006/main">
              <a:ext uri="{FF2B5EF4-FFF2-40B4-BE49-F238E27FC236}">
                <a16:creationId xmlns:a16="http://schemas.microsoft.com/office/drawing/2014/main" id="{82D5E27B-8B1F-4F72-9690-41EBD1B2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12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Chưa cung cấp: Giới hạn trên về mật độ người đi bộ</a:t>
            </a:r>
          </a:p>
        </p:txBody>
      </p:sp>
      <p:sp>
        <p:nvSpPr>
          <p:cNvPr id="15" name="missing-zh">
            <a:extLst xmlns:a="http://schemas.openxmlformats.org/drawingml/2006/main">
              <a:ext uri="{FF2B5EF4-FFF2-40B4-BE49-F238E27FC236}">
                <a16:creationId xmlns:a16="http://schemas.microsoft.com/office/drawing/2014/main" id="{B31DD9A8-222C-4827-8EA5-32DF5155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12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勾選「尚未提供」：行人密度上限</a:t>
            </a:r>
          </a:p>
        </p:txBody>
      </p:sp>
      <p:sp>
        <p:nvSpPr>
          <p:cNvPr id="16" name="assumption">
            <a:extLst xmlns:a="http://schemas.openxmlformats.org/drawingml/2006/main">
              <a:ext uri="{FF2B5EF4-FFF2-40B4-BE49-F238E27FC236}">
                <a16:creationId xmlns:a16="http://schemas.microsoft.com/office/drawing/2014/main" id="{A71733A0-F09B-4C51-946B-A9F0F666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Các giá trị là giả định cho bài tập.  數值為課堂情境設定。</a:t>
            </a:r>
          </a:p>
        </p:txBody>
      </p:sp>
      <p:sp>
        <p:nvSpPr>
          <p:cNvPr id="17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64EEEC24-803D-417A-9D2B-029B926D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13700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判斷練習：這些推論成立嗎？">
            <a:extLst xmlns:a="http://schemas.openxmlformats.org/drawingml/2006/main">
              <a:ext uri="{FF2B5EF4-FFF2-40B4-BE49-F238E27FC236}">
                <a16:creationId xmlns:a16="http://schemas.microsoft.com/office/drawing/2014/main" id="{D48463ED-74D1-483B-BAFB-8FA8FBEA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Phân tích tiếp: Khi điều kiện thay đổi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案例追問：條件改變後的判斷</a:t>
            </a:r>
          </a:p>
        </p:txBody>
      </p:sp>
      <p:sp>
        <p:nvSpPr>
          <p:cNvPr id="2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EF4D2638-E247-4994-A841-56521119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AB3F488-5440-4667-BF6B-75E7CBFF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同時轉向與煞車，就能證明是 L4。">
            <a:extLst xmlns:a="http://schemas.openxmlformats.org/drawingml/2006/main">
              <a:ext uri="{FF2B5EF4-FFF2-40B4-BE49-F238E27FC236}">
                <a16:creationId xmlns:a16="http://schemas.microsoft.com/office/drawing/2014/main" id="{387C3EED-5567-475D-8067-DFAFE8CD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14525"/>
            <a:ext cx="1003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Xe buýt che người đi bộ. Chạy chậm hơn là nhìn thấy được?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公車遮住行人，慢一點就看得見？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D3A99F20-02A1-4E62-B8B7-29C8225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裝了光達，就保證能處理所有大雨。">
            <a:extLst xmlns:a="http://schemas.openxmlformats.org/drawingml/2006/main">
              <a:ext uri="{FF2B5EF4-FFF2-40B4-BE49-F238E27FC236}">
                <a16:creationId xmlns:a16="http://schemas.microsoft.com/office/drawing/2014/main" id="{6B05DEAB-A042-4BA1-88BD-30EB0D8F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003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Độ rọi giảm. Thêm LiDAR là có thể mở rộng ODD?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照度變低，裝光達就能放寬 ODD？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4A05178F-320D-4655-A42F-CF6C5169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園區受控試驗，等於全市已商業營運。">
            <a:extLst xmlns:a="http://schemas.openxmlformats.org/drawingml/2006/main">
              <a:ext uri="{FF2B5EF4-FFF2-40B4-BE49-F238E27FC236}">
                <a16:creationId xmlns:a16="http://schemas.microsoft.com/office/drawing/2014/main" id="{05266493-0468-4636-9626-48475B4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95725"/>
            <a:ext cx="1003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Đường hẹp hơn. Chạy chậm hơn là vẫn đạt điều kiện?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道路變窄，開慢一點就仍符合條件？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8B73C1B4-9E08-4785-9D5A-B1A38BD5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0" name="沒有高精地圖，代表完全不需要定位。">
            <a:extLst xmlns:a="http://schemas.openxmlformats.org/drawingml/2006/main">
              <a:ext uri="{FF2B5EF4-FFF2-40B4-BE49-F238E27FC236}">
                <a16:creationId xmlns:a16="http://schemas.microsoft.com/office/drawing/2014/main" id="{7E5F7564-ABB7-4034-8B5F-CF856545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1003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Nhường đường thành công một lần là dùng được cả đêm mưa?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一次禮讓成功，就代表雨夜也能用？</a:t>
            </a:r>
          </a:p>
        </p:txBody>
      </p:sp>
    </p:spTree>
    <p:extLst>
      <p:ext uri="{BB962C8B-B14F-4D97-AF65-F5344CB8AC3E}">
        <p14:creationId xmlns:p14="http://schemas.microsoft.com/office/powerpoint/2010/main" val="1047965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判斷練習：較精確的說法">
            <a:extLst xmlns:a="http://schemas.openxmlformats.org/drawingml/2006/main">
              <a:ext uri="{FF2B5EF4-FFF2-40B4-BE49-F238E27FC236}">
                <a16:creationId xmlns:a16="http://schemas.microsoft.com/office/drawing/2014/main" id="{829D1414-1FA3-426D-9D78-D87E3A44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Giáo viên giải thích: Cảm biến và điều kiện sử dụng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教師說明：感測能力與使用條件</a:t>
            </a:r>
          </a:p>
        </p:txBody>
      </p:sp>
      <p:sp>
        <p:nvSpPr>
          <p:cNvPr id="2" name="slide-number-16">
            <a:extLst xmlns:a="http://schemas.openxmlformats.org/drawingml/2006/main">
              <a:ext uri="{FF2B5EF4-FFF2-40B4-BE49-F238E27FC236}">
                <a16:creationId xmlns:a16="http://schemas.microsoft.com/office/drawing/2014/main" id="{42F4B029-7D7C-46F5-907E-14561DDE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0F91B5D7-1246-41B7-9679-DE692CE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分級還要看持續監督與失效應變。">
            <a:extLst xmlns:a="http://schemas.openxmlformats.org/drawingml/2006/main">
              <a:ext uri="{FF2B5EF4-FFF2-40B4-BE49-F238E27FC236}">
                <a16:creationId xmlns:a16="http://schemas.microsoft.com/office/drawing/2014/main" id="{A56E63A2-B42B-4E1B-839A-49ED6C8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14525"/>
            <a:ext cx="1003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Che khuất đã hết hay chưa phụ thuộc vị trí và thông tin cảm biến.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遮擋是否解除，要看位置與感測資訊。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5A12AF95-350A-4DF3-A437-1138685B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感測器能力須在指定天候條件下驗證。">
            <a:extLst xmlns:a="http://schemas.openxmlformats.org/drawingml/2006/main">
              <a:ext uri="{FF2B5EF4-FFF2-40B4-BE49-F238E27FC236}">
                <a16:creationId xmlns:a16="http://schemas.microsoft.com/office/drawing/2014/main" id="{33D5277D-7EE2-49AF-88AE-6E62FB21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003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Mở rộng điều kiện cần bằng chứng kiểm chứng toàn hệ thống.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放寬條件，需要整套系統的驗證支持。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2FD79E61-965D-4EE0-B3E0-415BFDF1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指定場域試驗與全市商業服務應分開。">
            <a:extLst xmlns:a="http://schemas.openxmlformats.org/drawingml/2006/main">
              <a:ext uri="{FF2B5EF4-FFF2-40B4-BE49-F238E27FC236}">
                <a16:creationId xmlns:a16="http://schemas.microsoft.com/office/drawing/2014/main" id="{ADF5914E-CEF9-4C91-B2C3-94F1D8E1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95725"/>
            <a:ext cx="1003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Đối chiếu tốc độ và chiều rộng riêng, không bù trừ cho nhau.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速度與寬度分別比對，不能互相抵消。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1C59EA6B-BF23-42E2-A46B-2EE9091E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0" name="定位仍然需要，方法可以採不同資訊組合。">
            <a:extLst xmlns:a="http://schemas.openxmlformats.org/drawingml/2006/main">
              <a:ext uri="{FF2B5EF4-FFF2-40B4-BE49-F238E27FC236}">
                <a16:creationId xmlns:a16="http://schemas.microsoft.com/office/drawing/2014/main" id="{C595E87C-31DA-42FA-B38D-BF7E3763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1003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Hiệu năng ở điều kiện khác cần bằng chứng thử nghiệm tương ứng.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其他條件的表現，需要相符的測試證據。</a:t>
            </a:r>
          </a:p>
        </p:txBody>
      </p:sp>
    </p:spTree>
    <p:extLst>
      <p:ext uri="{BB962C8B-B14F-4D97-AF65-F5344CB8AC3E}">
        <p14:creationId xmlns:p14="http://schemas.microsoft.com/office/powerpoint/2010/main" val="20126570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離開教室前的一句話">
            <a:extLst xmlns:a="http://schemas.openxmlformats.org/drawingml/2006/main">
              <a:ext uri="{FF2B5EF4-FFF2-40B4-BE49-F238E27FC236}">
                <a16:creationId xmlns:a16="http://schemas.microsoft.com/office/drawing/2014/main" id="{9F7009DC-B2CD-430C-A7EB-D68ADA3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Một câu trước khi kết thúc buổi học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離開教室前的一句話</a:t>
            </a:r>
          </a:p>
        </p:txBody>
      </p:sp>
      <p:sp>
        <p:nvSpPr>
          <p:cNvPr id="2" name="slide-number-17">
            <a:extLst xmlns:a="http://schemas.openxmlformats.org/drawingml/2006/main">
              <a:ext uri="{FF2B5EF4-FFF2-40B4-BE49-F238E27FC236}">
                <a16:creationId xmlns:a16="http://schemas.microsoft.com/office/drawing/2014/main" id="{469F1079-EF7A-4DFD-AD73-5E601B15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7C9D6-46C0-428D-84A9-DC7E46C9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spcBef>
                <a:spcPts val="0"/>
              </a:spcBef>
              <a:spcAft>
                <a:spcPts val="300"/>
              </a:spcAft>
              <a:defRPr sz="1725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 lang="vi-VN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rPr>
              <a:t>Ví dụ giả định: Xe đưa đón L4 trong trường</a:t>
            </a:r>
          </a:p>
          <a:p xmlns:a="http://schemas.openxmlformats.org/drawingml/2006/main"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725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示範案例：L4 校園接駁車（假設提案）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C9171-74B5-45F1-B811-345CF824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spcBef>
                <a:spcPts val="0"/>
              </a:spcBef>
              <a:spcAft>
                <a:spcPts val="300"/>
              </a:spcAft>
              <a:defRPr sz="1688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0" lang="vi-VN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rPr>
              <a:t>Hỏi: Nói gọn chức năng này trong một câu thế nào?</a:t>
            </a:r>
          </a:p>
          <a:p xmlns:a="http://schemas.openxmlformats.org/drawingml/2006/main">
            <a:pPr algn="l">
              <a:lnSpc>
                <a:spcPts val="1359"/>
              </a:lnSpc>
              <a:spcBef>
                <a:spcPts val="0"/>
              </a:spcBef>
              <a:spcAft>
                <a:spcPts val="0"/>
              </a:spcAft>
              <a:defRPr sz="1688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32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問：怎麼用一句話說清楚這套功能？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97D90-21A1-420E-8B43-BD76053A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Đáp: Trên tuyến chỉ định trong trường, ban ngày không mưa và mặt đường khô, khi bật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chức năng, hệ thống lái xe và xử lý dự phòng cần thiết. Hành khách không phải giám sát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ts val="0"/>
              </a:spcBef>
              <a:spcAft>
                <a:spcPts val="300"/>
              </a:spcAft>
              <a:defRPr sz="21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liên tục hoặc sẵn sàng tiếp quản.</a:t>
            </a:r>
          </a:p>
          <a:p xmlns:a="http://schemas.openxmlformats.org/drawingml/2006/main">
            <a:pPr algn="l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88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答：在指定校內路線、日間無雨且路面乾燥時，　功能啟用後由系統完成駕駛與必要應變，　乘客不必持續監督或準備接手。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0E4BD-A2F1-44D0-9D9F-BCA27391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45"/>
              </a:lnSpc>
              <a:spcBef>
                <a:spcPts val="0"/>
              </a:spcBef>
              <a:spcAft>
                <a:spcPts val="300"/>
              </a:spcAft>
              <a:defRPr sz="1538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38" b="0" lang="vi-VN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rPr>
              <a:t>Hỏi: Còn điều gì cần kiểm chứng?</a:t>
            </a:r>
          </a:p>
          <a:p xmlns:a="http://schemas.openxmlformats.org/drawingml/2006/main"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defRPr sz="1538">
                <a:solidFill>
                  <a:srgbClr val="6ECF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問：還有哪件事需要查證？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8F09E-D355-4A9F-9F08-ACE998D8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spcBef>
                <a:spcPts val="0"/>
              </a:spcBef>
              <a:spcAft>
                <a:spcPts val="300"/>
              </a:spcAft>
              <a:defRPr sz="195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Đáp: Khi bắt đầu mưa, hệ thống có thể dừng đỗ an toàn theo thiết kế không?</a:t>
            </a:r>
          </a:p>
          <a:p xmlns:a="http://schemas.openxmlformats.org/drawingml/2006/main"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defRPr sz="195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答：若開始下雨，系統能否依設計安全停靠？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A0F30-7272-4F2C-93CF-BAAE4031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BDD0D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BDD0D6"/>
                </a:solidFill>
                <a:latin typeface="Arial Unicode MS"/>
                <a:ea typeface="Arial Unicode MS"/>
                <a:cs typeface="Arial Unicode MS"/>
              </a:rPr>
              <a:t>Chỉ trích một phần ODD. Năng lực hệ thống cần thử nghiệm kiểm chứng. Phân công theo SAE J3016.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BDD0D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上述條件為 ODD 節錄，系統能力仍須測試驗證。分工依 SAE J3016。</a:t>
            </a:r>
          </a:p>
        </p:txBody>
      </p:sp>
    </p:spTree>
    <p:extLst>
      <p:ext uri="{BB962C8B-B14F-4D97-AF65-F5344CB8AC3E}">
        <p14:creationId xmlns:p14="http://schemas.microsoft.com/office/powerpoint/2010/main" val="570376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下週：瀏覽器中的自動駕駛模擬">
            <a:extLst xmlns:a="http://schemas.openxmlformats.org/drawingml/2006/main">
              <a:ext uri="{FF2B5EF4-FFF2-40B4-BE49-F238E27FC236}">
                <a16:creationId xmlns:a16="http://schemas.microsoft.com/office/drawing/2014/main" id="{923FDB31-FBDF-43E8-BF71-1992FA3E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Tuần sau: Mô phỏng xe tự lái trên trình duyệt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下週：瀏覽器中的自動駕駛模擬</a:t>
            </a:r>
          </a:p>
        </p:txBody>
      </p:sp>
      <p:sp>
        <p:nvSpPr>
          <p:cNvPr id="2" name="slide-number-18">
            <a:extLst xmlns:a="http://schemas.openxmlformats.org/drawingml/2006/main">
              <a:ext uri="{FF2B5EF4-FFF2-40B4-BE49-F238E27FC236}">
                <a16:creationId xmlns:a16="http://schemas.microsoft.com/office/drawing/2014/main" id="{A363FB32-44A8-46F7-AE1C-D6801AA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8F0E2C7-0C01-4913-B970-56DBDD3E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9 月 24 日，請攜帶筆電">
            <a:extLst xmlns:a="http://schemas.openxmlformats.org/drawingml/2006/main">
              <a:ext uri="{FF2B5EF4-FFF2-40B4-BE49-F238E27FC236}">
                <a16:creationId xmlns:a16="http://schemas.microsoft.com/office/drawing/2014/main" id="{40069D08-458F-47EE-A414-A96CC962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14525"/>
            <a:ext cx="10039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Ngày 24/9, nhớ mang máy tính xách tay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9 月 24 日，請攜帶筆電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40B37406-B7EB-48B4-ADCC-06CC629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使用瀏覽器進行模擬，不需預先安裝套件">
            <a:extLst xmlns:a="http://schemas.openxmlformats.org/drawingml/2006/main">
              <a:ext uri="{FF2B5EF4-FFF2-40B4-BE49-F238E27FC236}">
                <a16:creationId xmlns:a16="http://schemas.microsoft.com/office/drawing/2014/main" id="{C5D32A2D-C061-47A2-AAA5-040EF762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14675"/>
            <a:ext cx="10039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Mở trình mô phỏng HTML của khóa học bằng trình duyệt, không cần cài gói</a:t>
            </a:r>
          </a:p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phần mềm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用瀏覽器開啟課程 HTML 模擬器，免安裝套件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97140904-D2D4-4212-A464-2352D6A4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先想一想：車子只知道距離，還缺少什麼？">
            <a:extLst xmlns:a="http://schemas.openxmlformats.org/drawingml/2006/main">
              <a:ext uri="{FF2B5EF4-FFF2-40B4-BE49-F238E27FC236}">
                <a16:creationId xmlns:a16="http://schemas.microsoft.com/office/drawing/2014/main" id="{89E4AA0C-2104-4A4E-B044-FD98289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10039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Tia 2D và điều khiển theo quy tắc, mô hình đơn giản hóa cho học tập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二維射線與規則式控制，屬教學簡化模型</a:t>
            </a:r>
          </a:p>
        </p:txBody>
      </p:sp>
    </p:spTree>
    <p:extLst>
      <p:ext uri="{BB962C8B-B14F-4D97-AF65-F5344CB8AC3E}">
        <p14:creationId xmlns:p14="http://schemas.microsoft.com/office/powerpoint/2010/main" val="15196851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今天帶走的觀念">
            <a:extLst xmlns:a="http://schemas.openxmlformats.org/drawingml/2006/main">
              <a:ext uri="{FF2B5EF4-FFF2-40B4-BE49-F238E27FC236}">
                <a16:creationId xmlns:a16="http://schemas.microsoft.com/office/drawing/2014/main" id="{49595B89-670B-4DDF-9524-8EC24A70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Khái niệm và ứng dụng hôm nay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今天的觀念與應用</a:t>
            </a:r>
          </a:p>
        </p:txBody>
      </p:sp>
      <p:sp>
        <p:nvSpPr>
          <p:cNvPr id="2" name="slide-number-19">
            <a:extLst xmlns:a="http://schemas.openxmlformats.org/drawingml/2006/main">
              <a:ext uri="{FF2B5EF4-FFF2-40B4-BE49-F238E27FC236}">
                <a16:creationId xmlns:a16="http://schemas.microsoft.com/office/drawing/2014/main" id="{B4611117-BEA8-44A4-BF0D-357DB6C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3" name="分級看人機分工">
            <a:extLst xmlns:a="http://schemas.openxmlformats.org/drawingml/2006/main">
              <a:ext uri="{FF2B5EF4-FFF2-40B4-BE49-F238E27FC236}">
                <a16:creationId xmlns:a16="http://schemas.microsoft.com/office/drawing/2014/main" id="{51CAC681-9B82-440F-BD5D-0721D36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Ôn tập: Hiểu phân công người và hệ thống, phạm vi sử dụng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複習：讀懂人機分工與使用範圍</a:t>
            </a:r>
          </a:p>
        </p:txBody>
      </p:sp>
      <p:sp>
        <p:nvSpPr>
          <p:cNvPr id="4" name="ODD 看運作條件">
            <a:extLst xmlns:a="http://schemas.openxmlformats.org/drawingml/2006/main">
              <a:ext uri="{FF2B5EF4-FFF2-40B4-BE49-F238E27FC236}">
                <a16:creationId xmlns:a16="http://schemas.microsoft.com/office/drawing/2014/main" id="{26991A0C-0717-4170-B788-6038EB40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rPr>
              <a:t>Kiến thức mới: Cảm biến thu thập thông tin môi trường ra sao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75D3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新知：感測器如何取得環境資訊</a:t>
            </a:r>
          </a:p>
        </p:txBody>
      </p:sp>
      <p:sp>
        <p:nvSpPr>
          <p:cNvPr id="5" name="結論要有相符的證據">
            <a:extLst xmlns:a="http://schemas.openxmlformats.org/drawingml/2006/main">
              <a:ext uri="{FF2B5EF4-FFF2-40B4-BE49-F238E27FC236}">
                <a16:creationId xmlns:a16="http://schemas.microsoft.com/office/drawing/2014/main" id="{19EAB509-4088-44AF-ACDB-8D505CA9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spcBef>
                <a:spcPts val="0"/>
              </a:spcBef>
              <a:spcAft>
                <a:spcPts val="30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 lang="vi-VN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Ứng dụng: Quan sát tình huống, tổng hợp điều kiện và đánh giá</a:t>
            </a:r>
          </a:p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23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 lang="zh-TW">
                <a:solidFill>
                  <a:srgbClr val="B7CDD2"/>
                </a:solidFill>
                <a:latin typeface="Arial Unicode MS"/>
                <a:ea typeface="Arial Unicode MS"/>
                <a:cs typeface="Arial Unicode MS"/>
              </a:rPr>
              <a:t>應用：觀察場景，整理條件並判斷</a:t>
            </a:r>
          </a:p>
        </p:txBody>
      </p:sp>
    </p:spTree>
    <p:extLst>
      <p:ext uri="{BB962C8B-B14F-4D97-AF65-F5344CB8AC3E}">
        <p14:creationId xmlns:p14="http://schemas.microsoft.com/office/powerpoint/2010/main" val="1115448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參考資料：分級與案例">
            <a:extLst xmlns:a="http://schemas.openxmlformats.org/drawingml/2006/main">
              <a:ext uri="{FF2B5EF4-FFF2-40B4-BE49-F238E27FC236}">
                <a16:creationId xmlns:a16="http://schemas.microsoft.com/office/drawing/2014/main" id="{19D6CCFA-33C0-4114-A648-3C267969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Tài liệu tham khảo: Phân cấp và ví dụ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參考資料：分級與案例</a:t>
            </a:r>
          </a:p>
        </p:txBody>
      </p:sp>
      <p:sp>
        <p:nvSpPr>
          <p:cNvPr id="2" name="slide-number-20">
            <a:extLst xmlns:a="http://schemas.openxmlformats.org/drawingml/2006/main">
              <a:ext uri="{FF2B5EF4-FFF2-40B4-BE49-F238E27FC236}">
                <a16:creationId xmlns:a16="http://schemas.microsoft.com/office/drawing/2014/main" id="{DCF97091-DB34-432A-B6BF-F2644EC3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3" name="SAE J3016，2021 年 4 月版">
            <a:extLst xmlns:a="http://schemas.openxmlformats.org/drawingml/2006/main">
              <a:ext uri="{FF2B5EF4-FFF2-40B4-BE49-F238E27FC236}">
                <a16:creationId xmlns:a16="http://schemas.microsoft.com/office/drawing/2014/main" id="{D8C6C9D4-DFFA-4049-946F-07BA6B1D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b6c948974a84192"/>
              </a:rPr>
              <a:t>SAE J3016, phiên bản tháng 4/2021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b6c948974a84192"/>
              </a:rPr>
              <a:t>SAE J3016，2021 年 4 月版</a:t>
            </a:r>
          </a:p>
        </p:txBody>
      </p:sp>
      <p:sp>
        <p:nvSpPr>
          <p:cNvPr id="4" name="Mercedes-Benz，2024-12-17，">
            <a:extLst xmlns:a="http://schemas.openxmlformats.org/drawingml/2006/main">
              <a:ext uri="{FF2B5EF4-FFF2-40B4-BE49-F238E27FC236}">
                <a16:creationId xmlns:a16="http://schemas.microsoft.com/office/drawing/2014/main" id="{6F65135E-569F-40A6-ABC2-125CBD31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3810a96d1a042f8"/>
              </a:rPr>
              <a:t>Mercedes-Benz, 2024-12-17, DRIVE PILOT 95 km/h tại Đức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3810a96d1a042f8"/>
              </a:rPr>
              <a:t>Mercedes-Benz，2024-12-17，德國 DRIVE PILOT 95 km/h</a:t>
            </a:r>
          </a:p>
        </p:txBody>
      </p:sp>
      <p:sp>
        <p:nvSpPr>
          <p:cNvPr id="5" name="California DMV，2023-06-08">
            <a:extLst xmlns:a="http://schemas.openxmlformats.org/drawingml/2006/main">
              <a:ext uri="{FF2B5EF4-FFF2-40B4-BE49-F238E27FC236}">
                <a16:creationId xmlns:a16="http://schemas.microsoft.com/office/drawing/2014/main" id="{7380275E-128D-494B-8805-5E09AD1F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398854f76444507"/>
              </a:rPr>
              <a:t>California DMV, 2023-06-08, điều kiện phê duyệt DRIVE PILOT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398854f76444507"/>
              </a:rPr>
              <a:t>California DMV，2023-06-08，DRIVE PILOT 核准條件</a:t>
            </a:r>
          </a:p>
        </p:txBody>
      </p:sp>
      <p:sp>
        <p:nvSpPr>
          <p:cNvPr id="6" name="CPUC，2022-06-02，Cruise 載客">
            <a:extLst xmlns:a="http://schemas.openxmlformats.org/drawingml/2006/main">
              <a:ext uri="{FF2B5EF4-FFF2-40B4-BE49-F238E27FC236}">
                <a16:creationId xmlns:a16="http://schemas.microsoft.com/office/drawing/2014/main" id="{CBCAAADD-02AD-4B74-BB19-89378ECC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d5a631ebf494e52"/>
              </a:rPr>
              <a:t>CPUC, 2022-06-02, giấy phép dịch vụ chở khách Cruise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d5a631ebf494e52"/>
              </a:rPr>
              <a:t>CPUC，2022-06-02，Cruise 載客服務許可</a:t>
            </a:r>
          </a:p>
        </p:txBody>
      </p:sp>
      <p:sp>
        <p:nvSpPr>
          <p:cNvPr id="7" name="河內高科技園區管理機關，2026-08-26，受控">
            <a:extLst xmlns:a="http://schemas.openxmlformats.org/drawingml/2006/main">
              <a:ext uri="{FF2B5EF4-FFF2-40B4-BE49-F238E27FC236}">
                <a16:creationId xmlns:a16="http://schemas.microsoft.com/office/drawing/2014/main" id="{323FD776-C5E6-467A-878E-93440E7D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38a9dffdd3f4202"/>
              </a:rPr>
              <a:t>Cơ quan quản lý khu công nghệ cao Hà Nội, 2026-08-26, thông báo thử nghiệm có kiểm soát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38a9dffdd3f4202"/>
              </a:rPr>
              <a:t>河內高科技園區管理機關，2026-08-26，受控試驗公告</a:t>
            </a:r>
          </a:p>
        </p:txBody>
      </p:sp>
      <p:sp>
        <p:nvSpPr>
          <p:cNvPr id="8" name="Tesla，Full Self-Driving (">
            <a:extLst xmlns:a="http://schemas.openxmlformats.org/drawingml/2006/main">
              <a:ext uri="{FF2B5EF4-FFF2-40B4-BE49-F238E27FC236}">
                <a16:creationId xmlns:a16="http://schemas.microsoft.com/office/drawing/2014/main" id="{E295DB9A-BC3A-4B01-A8A3-4A6393DE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fd2d1ccf810406b"/>
              </a:rPr>
              <a:t>Tesla, hướng dẫn chủ xe Full Self-Driving (Supervised)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fd2d1ccf810406b"/>
              </a:rPr>
              <a:t>Tesla，Full Self-Driving (Supervised) 車主手冊</a:t>
            </a:r>
          </a:p>
        </p:txBody>
      </p:sp>
      <p:sp>
        <p:nvSpPr>
          <p:cNvPr id="9" name="資料：SAE J3016、Mercedes-Ben">
            <a:extLst xmlns:a="http://schemas.openxmlformats.org/drawingml/2006/main">
              <a:ext uri="{FF2B5EF4-FFF2-40B4-BE49-F238E27FC236}">
                <a16:creationId xmlns:a16="http://schemas.microsoft.com/office/drawing/2014/main" id="{CF12CE54-1ABD-4620-BF8F-ECB4F3F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SAE J3016, Mercedes-Benz. Chi tiết trong ghi chú thuyết trình.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資料：SAE J3016、Mercedes-Benz；完整來源見備忘稿</a:t>
            </a:r>
          </a:p>
        </p:txBody>
      </p:sp>
    </p:spTree>
    <p:extLst>
      <p:ext uri="{BB962C8B-B14F-4D97-AF65-F5344CB8AC3E}">
        <p14:creationId xmlns:p14="http://schemas.microsoft.com/office/powerpoint/2010/main" val="17535704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參考資料：技術與營運">
            <a:extLst xmlns:a="http://schemas.openxmlformats.org/drawingml/2006/main">
              <a:ext uri="{FF2B5EF4-FFF2-40B4-BE49-F238E27FC236}">
                <a16:creationId xmlns:a16="http://schemas.microsoft.com/office/drawing/2014/main" id="{88907324-A18E-46E2-92D6-D4C27B29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Tài liệu tham khảo: Công nghệ và vận hành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參考資料：技術與營運</a:t>
            </a:r>
          </a:p>
        </p:txBody>
      </p:sp>
      <p:sp>
        <p:nvSpPr>
          <p:cNvPr id="2" name="slide-number-21">
            <a:extLst xmlns:a="http://schemas.openxmlformats.org/drawingml/2006/main">
              <a:ext uri="{FF2B5EF4-FFF2-40B4-BE49-F238E27FC236}">
                <a16:creationId xmlns:a16="http://schemas.microsoft.com/office/drawing/2014/main" id="{B0C9D13C-9BF8-4C80-B62B-2A8B1149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3" name="Waymo，2024-08-19，第六代感測器配置">
            <a:extLst xmlns:a="http://schemas.openxmlformats.org/drawingml/2006/main">
              <a:ext uri="{FF2B5EF4-FFF2-40B4-BE49-F238E27FC236}">
                <a16:creationId xmlns:a16="http://schemas.microsoft.com/office/drawing/2014/main" id="{6E569D67-9C34-488B-9611-002D151C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7a13d458dbc4677"/>
              </a:rPr>
              <a:t>Waymo, 2024-08-19, cấu hình cảm biến thế hệ 6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7a13d458dbc4677"/>
              </a:rPr>
              <a:t>Waymo，2024-08-19，第六代感測器配置</a:t>
            </a:r>
          </a:p>
        </p:txBody>
      </p:sp>
      <p:sp>
        <p:nvSpPr>
          <p:cNvPr id="4" name="Texas Instruments，汽車 ADAS">
            <a:extLst xmlns:a="http://schemas.openxmlformats.org/drawingml/2006/main">
              <a:ext uri="{FF2B5EF4-FFF2-40B4-BE49-F238E27FC236}">
                <a16:creationId xmlns:a16="http://schemas.microsoft.com/office/drawing/2014/main" id="{14606743-F6F7-4BDB-9EDE-EFF98BFC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b804d38477d4857"/>
              </a:rPr>
              <a:t>Texas Instruments, công nghệ radar ADAS ô tô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b804d38477d4857"/>
              </a:rPr>
              <a:t>Texas Instruments，汽車 ADAS 雷達技術</a:t>
            </a:r>
          </a:p>
        </p:txBody>
      </p:sp>
      <p:sp>
        <p:nvSpPr>
          <p:cNvPr id="5" name="研究論文，2023，多種感測器在惡劣天候下的表現">
            <a:extLst xmlns:a="http://schemas.openxmlformats.org/drawingml/2006/main">
              <a:ext uri="{FF2B5EF4-FFF2-40B4-BE49-F238E27FC236}">
                <a16:creationId xmlns:a16="http://schemas.microsoft.com/office/drawing/2014/main" id="{A427E65B-C86A-4918-A9EE-B467CDF3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04c93b5fc274d15"/>
              </a:rPr>
              <a:t>Bài nghiên cứu, 2023, hiệu năng nhiều loại cảm biến trong thời tiết xấu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04c93b5fc274d15"/>
              </a:rPr>
              <a:t>研究論文，2023，多種感測器在惡劣天候下的表現</a:t>
            </a:r>
          </a:p>
        </p:txBody>
      </p:sp>
      <p:sp>
        <p:nvSpPr>
          <p:cNvPr id="6" name="Zoox，2025-08-15，專用自駕計程車設計">
            <a:extLst xmlns:a="http://schemas.openxmlformats.org/drawingml/2006/main">
              <a:ext uri="{FF2B5EF4-FFF2-40B4-BE49-F238E27FC236}">
                <a16:creationId xmlns:a16="http://schemas.microsoft.com/office/drawing/2014/main" id="{EA12F1B7-8EF9-4855-AB02-6D172A91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a2185e4d6e4643fe"/>
              </a:rPr>
              <a:t>Zoox, taxi tự lái chuyên dụng và giao diện hành khách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a2185e4d6e4643fe"/>
              </a:rPr>
              <a:t>Zoox，專用自駕計程車與乘客介面</a:t>
            </a:r>
          </a:p>
        </p:txBody>
      </p:sp>
      <p:sp>
        <p:nvSpPr>
          <p:cNvPr id="7" name="California DMV，2023-10-24">
            <a:extLst xmlns:a="http://schemas.openxmlformats.org/drawingml/2006/main">
              <a:ext uri="{FF2B5EF4-FFF2-40B4-BE49-F238E27FC236}">
                <a16:creationId xmlns:a16="http://schemas.microsoft.com/office/drawing/2014/main" id="{5E6370DB-25A2-41EE-9B79-98D29F0A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e57dbb1b01a42da"/>
              </a:rPr>
              <a:t>California DMV, 2023-10-24, đình chỉ giấy phép Cruise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e57dbb1b01a42da"/>
              </a:rPr>
              <a:t>California DMV，2023-10-24，Cruise 許可暫停</a:t>
            </a:r>
          </a:p>
        </p:txBody>
      </p:sp>
      <p:sp>
        <p:nvSpPr>
          <p:cNvPr id="8" name="GM，2024-12-10，自動駕駛投資方向調整">
            <a:extLst xmlns:a="http://schemas.openxmlformats.org/drawingml/2006/main">
              <a:ext uri="{FF2B5EF4-FFF2-40B4-BE49-F238E27FC236}">
                <a16:creationId xmlns:a16="http://schemas.microsoft.com/office/drawing/2014/main" id="{353DD9AE-6E16-46AC-AC12-94DDE01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spcBef>
                <a:spcPts val="0"/>
              </a:spcBef>
              <a:spcAft>
                <a:spcPts val="30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88d6d4f96af4194"/>
              </a:rPr>
              <a:t>GM, 2024-12-10, điều chỉnh hướng đầu tư xe tự lái</a:t>
            </a:r>
          </a:p>
          <a:p xmlns:a="http://schemas.openxmlformats.org/drawingml/2006/main"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  <a:defRPr sz="1875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19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88d6d4f96af4194"/>
              </a:rPr>
              <a:t>GM，2024-12-10，自動駕駛投資方向調整</a:t>
            </a:r>
          </a:p>
        </p:txBody>
      </p:sp>
      <p:sp>
        <p:nvSpPr>
          <p:cNvPr id="9" name="資料：Waymo、Texas Instrument">
            <a:extLst xmlns:a="http://schemas.openxmlformats.org/drawingml/2006/main">
              <a:ext uri="{FF2B5EF4-FFF2-40B4-BE49-F238E27FC236}">
                <a16:creationId xmlns:a16="http://schemas.microsoft.com/office/drawing/2014/main" id="{4C095EB3-985E-4054-A870-4C69C299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Waymo, Texas Instruments. Chi tiết trong ghi chú thuyết trình.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資料：Waymo、Texas Instruments；完整來源見備忘稿</a:t>
            </a:r>
          </a:p>
        </p:txBody>
      </p:sp>
    </p:spTree>
    <p:extLst>
      <p:ext uri="{BB962C8B-B14F-4D97-AF65-F5344CB8AC3E}">
        <p14:creationId xmlns:p14="http://schemas.microsoft.com/office/powerpoint/2010/main" val="12351813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DD：功能允許運作的條件">
            <a:extLst xmlns:a="http://schemas.openxmlformats.org/drawingml/2006/main">
              <a:ext uri="{FF2B5EF4-FFF2-40B4-BE49-F238E27FC236}">
                <a16:creationId xmlns:a16="http://schemas.microsoft.com/office/drawing/2014/main" id="{3E377F97-E7BD-4D3A-B33A-DD8F0BB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Bổ sung cho giáo viên: Phân loại ODD nâng cao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教師補充：ODD 分類與進階欄位</a:t>
            </a:r>
          </a:p>
        </p:txBody>
      </p:sp>
      <p:sp>
        <p:nvSpPr>
          <p:cNvPr id="2" name="slide-number-22">
            <a:extLst xmlns:a="http://schemas.openxmlformats.org/drawingml/2006/main">
              <a:ext uri="{FF2B5EF4-FFF2-40B4-BE49-F238E27FC236}">
                <a16:creationId xmlns:a16="http://schemas.microsoft.com/office/drawing/2014/main" id="{4E791725-7192-4D4C-A602-A2D0E3A1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4" name="資料：SAE J3016；完整來源見備忘稿">
            <a:extLst xmlns:a="http://schemas.openxmlformats.org/drawingml/2006/main">
              <a:ext uri="{FF2B5EF4-FFF2-40B4-BE49-F238E27FC236}">
                <a16:creationId xmlns:a16="http://schemas.microsoft.com/office/drawing/2014/main" id="{5B85242B-426F-4980-9BDA-7FEC87E5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15"/>
              </a:lnSpc>
              <a:spcBef>
                <a:spcPts val="0"/>
              </a:spcBef>
              <a:spcAft>
                <a:spcPts val="30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2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ISO 34503:2023. Tóm tắt giảng dạy và ví dụ giả định, không phải đặc tả đầy đủ hay bảng kiểm tuân thủ.</a:t>
            </a:r>
          </a:p>
          <a:p xmlns:a="http://schemas.openxmlformats.org/drawingml/2006/main">
            <a:pPr algn="l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defRPr sz="1013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資料：ISO 34503:2023。教學摘要與假設案例，非完整規格或符合性查核表。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524250"/>
                <a:gridCol w="4781550"/>
              </a:tblGrid>
              <a:tr h="515779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 nhóm của ISO 34503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ISO 34503 三大類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Nội dung xem xét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檢視內容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Thuộc tính cụ thể có thể ghi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可填的具體屬性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</a:tr>
              <a:tr h="732949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Yếu tố đường và khu vực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道路與場域要素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Khu vực, đường, giao lộ và cơ sở hạ</a:t>
                      </a:r>
                    </a:p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tầng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區域、道路、路口與設施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Ranh giới tuyến, làn, mặt đường, thi công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路線邊界、車道、路面、施工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732949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Điều kiện môi trường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環境條件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Thời tiết, hạt trong không khí, ánh sáng</a:t>
                      </a:r>
                    </a:p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và kết nối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天氣、微粒、光照與連線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Lượng mưa, sương mù, chiếu sáng, liên lạc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雨量、霧、照明、通訊條件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</a:tr>
              <a:tr h="732949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Yếu tố động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動態要素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tham gia giao thông khác và xe</a:t>
                      </a:r>
                    </a:p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đang xét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其他用路者與本車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71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425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đi bộ, loại xe, điều kiện giao thông, tốc độ</a:t>
                      </a:r>
                    </a:p>
                    <a:p>
                      <a:pPr algn="l"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25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020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行人與車種、交通條件、速度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每列填：分類、具體屬性、允許範圍、排除／附帶條件、依據／待驗">
            <a:extLst xmlns:a="http://schemas.openxmlformats.org/drawingml/2006/main">
              <a:ext uri="{FF2B5EF4-FFF2-40B4-BE49-F238E27FC236}">
                <a16:creationId xmlns:a16="http://schemas.microsoft.com/office/drawing/2014/main" id="{A3E48D64-05B0-4CD0-A404-6E9F8BAC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300"/>
              </a:spcAft>
              <a:defRPr sz="165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Bảng nâng cao: Nhóm, thuộc tính, phạm vi cho phép, loại trừ, căn cứ</a:t>
            </a:r>
          </a:p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650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進階整理：分類、具體屬性、允許範圍、排除條件、依據</a:t>
            </a:r>
          </a:p>
        </p:txBody>
      </p:sp>
      <p:sp>
        <p:nvSpPr>
          <p:cNvPr id="8" name="先選功能與場域，再逐項寫明範圍、單位及條件組合。">
            <a:extLst xmlns:a="http://schemas.openxmlformats.org/drawingml/2006/main">
              <a:ext uri="{FF2B5EF4-FFF2-40B4-BE49-F238E27FC236}">
                <a16:creationId xmlns:a16="http://schemas.microsoft.com/office/drawing/2014/main" id="{2C45FD86-825C-420A-A215-77D509F4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30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Chọn chức năng và khu vực, rồi ghi phạm vi cho phép, loại trừ và tổ hợp điều kiện.</a:t>
            </a:r>
          </a:p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先選功能與場域，再寫明允許、排除與條件組合。</a:t>
            </a:r>
          </a:p>
        </p:txBody>
      </p:sp>
      <p:sp>
        <p:nvSpPr>
          <p:cNvPr id="9" name="未知先標待驗證。五欄是教學格式，並非 ISO 固定表單。">
            <a:extLst xmlns:a="http://schemas.openxmlformats.org/drawingml/2006/main">
              <a:ext uri="{FF2B5EF4-FFF2-40B4-BE49-F238E27FC236}">
                <a16:creationId xmlns:a16="http://schemas.microsoft.com/office/drawing/2014/main" id="{6235AB01-D1B1-403C-B400-27B5401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30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Bảng 5 cột dành cho giáo viên tham khảo. Sinh viên không phải làm theo mẫu này.</a:t>
            </a:r>
          </a:p>
          <a:p xmlns:a="http://schemas.openxmlformats.org/drawingml/2006/main"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65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五欄範例供教師備用，學生不需照此格式作答。</a:t>
            </a:r>
          </a:p>
        </p:txBody>
      </p:sp>
    </p:spTree>
    <p:extLst>
      <p:ext uri="{BB962C8B-B14F-4D97-AF65-F5344CB8AC3E}">
        <p14:creationId xmlns:p14="http://schemas.microsoft.com/office/powerpoint/2010/main" val="3379253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校園接駁車的 ODD 範例">
            <a:extLst xmlns:a="http://schemas.openxmlformats.org/drawingml/2006/main">
              <a:ext uri="{FF2B5EF4-FFF2-40B4-BE49-F238E27FC236}">
                <a16:creationId xmlns:a16="http://schemas.microsoft.com/office/drawing/2014/main" id="{161B10B0-EA34-485C-9A9F-61D42878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spcBef>
                <a:spcPts val="0"/>
              </a:spcBef>
              <a:spcAft>
                <a:spcPts val="30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 lang="vi-VN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rPr>
              <a:t>Bổ sung cho giáo viên: Ví dụ ODD 5 cột</a:t>
            </a:r>
          </a:p>
          <a:p xmlns:a="http://schemas.openxmlformats.org/drawingml/2006/main"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1732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教師補充：五欄 ODD 範例</a:t>
            </a:r>
          </a:p>
        </p:txBody>
      </p:sp>
      <p:sp>
        <p:nvSpPr>
          <p:cNvPr id="2" name="slide-number-23">
            <a:extLst xmlns:a="http://schemas.openxmlformats.org/drawingml/2006/main">
              <a:ext uri="{FF2B5EF4-FFF2-40B4-BE49-F238E27FC236}">
                <a16:creationId xmlns:a16="http://schemas.microsoft.com/office/drawing/2014/main" id="{66FB7A0D-E11F-4DD8-83B5-2ABB0F5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457325"/>
          <a:ext xmlns:a="http://schemas.openxmlformats.org/drawingml/2006/main" cx="109728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1524000"/>
                <a:gridCol w="2714625"/>
                <a:gridCol w="2714625"/>
                <a:gridCol w="2447925"/>
              </a:tblGrid>
              <a:tr h="470807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Nhóm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分類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Thuộc tính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具體屬性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cho phép (giả định)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允許範圍（假設）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Loại trừ / điều kiện kèm theo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排除／附帶條件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1" lang="vi-VN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Căn cứ / cần kiểm chứng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D6E6E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依據／待驗證</a:t>
                      </a:r>
                    </a:p>
                  </a:txBody>
                  <a:tcPr marL="133350" marR="133350" marT="47625" marB="47625" anchor="ctr">
                    <a:solidFill>
                      <a:srgbClr val="102936"/>
                    </a:solidFill>
                  </a:tcPr>
                </a:tc>
              </a:tr>
              <a:tr h="670832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Đường và khu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vực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道路與場域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tuyến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路線範圍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Tuyến A chỉ định từ cổng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trường đến ký túc xá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校門至宿舍　指定路線 A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Không gồm đường vòng tạm thời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不含臨時改道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Cần bổ sung bản đồ tuyến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và tọa độ ranh giới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須補路線圖　與邊界座標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670832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Đường và khu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vực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道路與場域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Tình trạng mặt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đường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路面狀況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 lát khô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乾燥鋪面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Loại trừ đọng nước, đóng băng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và ổ gà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排除積水、　結冰及坑洞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Cần định nghĩa cách xác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định và đo lường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須定義判定　與量測方式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</a:tr>
              <a:tr h="670832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Điều kiện môi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trường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環境條件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Mưa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降雨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Không có mưa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無降雨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Bắt đầu mưa là vượt ODD của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đề xuất này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開始降雨即　超出本提案 ODD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Cần định nghĩa ngưỡng phát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hiện và độ trễ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須定義偵測　門檻及延遲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670832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Điều kiện môi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trường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環境條件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 tự nhiên ban ngày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日間自然光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Loại trừ ban đêm và chói sáng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mạnh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排除夜間與　強烈眩光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Cần tiêu chí độ rọi và chói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sáng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須補照度及　眩光判準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</a:tr>
              <a:tr h="670832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Yếu tố động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動態要素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tham gia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giao thông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用路者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Gồm người đi bộ, xe đạp và xe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máy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包含行人、　自行車與機車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và mật độ cần quy định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riêng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速度、密度　須另訂範圍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Cần thu thập dữ liệu và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kiểm chứng tương tác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待蒐集資料　並驗證互動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670832"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Yếu tố động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動態要素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xe đang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xét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本車速度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133350" tIns="38100" rIns="114300" bIns="38100"/>
                    <a:lstStyle/>
                    <a:p>
                      <a:r>
                        <a:rPr sz="1650" b="0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0–20 km/h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Đồng thời tuân thủ giới hạn tốc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độ thấp hơn trên đường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同時遵守道路　較低速限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  <a:tc>
                  <a:txBody>
                    <a:bodyPr lIns="0" tIns="0" rIns="0" bIns="0" wrap="none" anchor="ctr" anchorCtr="0">
                      <a:noAutofit/>
                    </a:bodyPr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 là giả định, cần thử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1312" b="0" lang="vi-VN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nghiệm phanh dừng</a:t>
                      </a:r>
                    </a:p>
                    <a:p>
                      <a:pPr algn="l">
                        <a:lnSpc>
                          <a:spcPts val="10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13">
                          <a:solidFill>
                            <a:srgbClr val="17323F"/>
                          </a:solidFill>
                          <a:latin typeface="Arial Unicode MS"/>
                          <a:ea typeface="Arial Unicode MS"/>
                          <a:cs typeface="Arial Unicode MS"/>
                        </a:defRPr>
                      </a:pPr>
                      <a:r>
                        <a:rPr sz="892" b="0" lang="zh-TW">
                          <a:solidFill>
                            <a:srgbClr val="50616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 為假設值　待煞停測試</a:t>
                      </a:r>
                    </a:p>
                  </a:txBody>
                  <a:tcPr marL="133350" marR="133350" marT="47625" marB="47625" anchor="ctr"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6" name="資料：ISO 34503:2023。所有條件均為待驗證教學假">
            <a:extLst xmlns:a="http://schemas.openxmlformats.org/drawingml/2006/main">
              <a:ext uri="{FF2B5EF4-FFF2-40B4-BE49-F238E27FC236}">
                <a16:creationId xmlns:a16="http://schemas.microsoft.com/office/drawing/2014/main" id="{C7922195-8E49-4F2F-92B4-78041127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80"/>
              </a:lnSpc>
              <a:spcBef>
                <a:spcPts val="0"/>
              </a:spcBef>
              <a:spcAft>
                <a:spcPts val="300"/>
              </a:spcAft>
              <a:defRPr sz="90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lang="vi-VN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rPr>
              <a:t>Nguồn: ISO 34503:2023. Mọi điều kiện đều là giả định giảng dạy cần kiểm chứng, chỉ minh họa một số thuộc tính.</a:t>
            </a:r>
          </a:p>
          <a:p xmlns:a="http://schemas.openxmlformats.org/drawingml/2006/main">
            <a:pPr algn="l">
              <a:lnSpc>
                <a:spcPts val="855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5B6A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1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資料：ISO 34503:2023。所有條件均為待驗證教學假設，僅示範部分相關屬性。</a:t>
            </a:r>
          </a:p>
        </p:txBody>
      </p:sp>
      <p:sp>
        <p:nvSpPr>
          <p:cNvPr id="7" name="條件須依規則一起成立。人的角色、超出條件的應變與測試判定另寫">
            <a:extLst xmlns:a="http://schemas.openxmlformats.org/drawingml/2006/main">
              <a:ext uri="{FF2B5EF4-FFF2-40B4-BE49-F238E27FC236}">
                <a16:creationId xmlns:a16="http://schemas.microsoft.com/office/drawing/2014/main" id="{FF8ED914-B126-4F61-AF11-5D92EB16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 anchorCtr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90"/>
              </a:lnSpc>
              <a:spcBef>
                <a:spcPts val="0"/>
              </a:spcBef>
              <a:spcAft>
                <a:spcPts val="300"/>
              </a:spcAft>
              <a:defRPr sz="82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 lang="vi-VN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rPr>
              <a:t>Phần nâng cao cho giáo viên. Ví dụ khác thẻ của 6 nhóm, sinh viên không phải điền bảng 5 cột.</a:t>
            </a:r>
          </a:p>
          <a:p xmlns:a="http://schemas.openxmlformats.org/drawingml/2006/main">
            <a:pPr algn="l">
              <a:lnSpc>
                <a:spcPts val="783"/>
              </a:lnSpc>
              <a:spcBef>
                <a:spcPts val="0"/>
              </a:spcBef>
              <a:spcAft>
                <a:spcPts val="0"/>
              </a:spcAft>
              <a:defRPr sz="825">
                <a:solidFill>
                  <a:srgbClr val="087E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52" b="0" lang="zh-TW">
                <a:solidFill>
                  <a:srgbClr val="50616A"/>
                </a:solidFill>
                <a:latin typeface="Arial Unicode MS"/>
                <a:ea typeface="Arial Unicode MS"/>
                <a:cs typeface="Arial Unicode MS"/>
              </a:rPr>
              <a:t>教師進階備用。此例與本次六組條件卡不同，學生不用填寫五欄表格。</a:t>
            </a:r>
          </a:p>
        </p:txBody>
      </p:sp>
    </p:spTree>
    <p:extLst>
      <p:ext uri="{BB962C8B-B14F-4D97-AF65-F5344CB8AC3E}">
        <p14:creationId xmlns:p14="http://schemas.microsoft.com/office/powerpoint/2010/main" val="11514528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vn">
            <a:extLst xmlns:a="http://schemas.openxmlformats.org/drawingml/2006/main">
              <a:ext uri="{FF2B5EF4-FFF2-40B4-BE49-F238E27FC236}">
                <a16:creationId xmlns:a16="http://schemas.microsoft.com/office/drawing/2014/main" id="{41661B65-47CF-469B-B89A-D463B9E0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Nhóm 2 (B)  Đường Xinyi đoạn 5, Đài Bắc</a:t>
            </a:r>
          </a:p>
        </p:txBody>
      </p:sp>
      <p:sp>
        <p:nvSpPr>
          <p:cNvPr id="2" name="title-zh">
            <a:extLst xmlns:a="http://schemas.openxmlformats.org/drawingml/2006/main">
              <a:ext uri="{FF2B5EF4-FFF2-40B4-BE49-F238E27FC236}">
                <a16:creationId xmlns:a16="http://schemas.microsoft.com/office/drawing/2014/main" id="{1CB9865C-AF81-4A51-8643-EED3545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第 2 組（B）臺北信義路五段　答案與解說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71247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14650"/>
                <a:gridCol w="4210050"/>
              </a:tblGrid>
              <a:tr h="552450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Mục trên phiếu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學習單項目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Đáp án theo thẻ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依條件卡填寫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chạy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行駛範圍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Đoạn A–B trên bản đồ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圖中的 A–B 路段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光照條件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ngày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白天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Lượng mưa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雨量範圍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0–2 mm/h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路面條件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Được ướt, không đọng nước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可濕，但不可積水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Tầm nhìn tối thiểu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能見度下限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Ít nhất 150 m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至少 150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本車速度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0–20 km/h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4" name="event-label-vn">
            <a:extLst xmlns:a="http://schemas.openxmlformats.org/drawingml/2006/main">
              <a:ext uri="{FF2B5EF4-FFF2-40B4-BE49-F238E27FC236}">
                <a16:creationId xmlns:a16="http://schemas.microsoft.com/office/drawing/2014/main" id="{68F81D90-6E8F-4707-96BF-3C51322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Sự kiện thay đổi</a:t>
            </a:r>
          </a:p>
        </p:txBody>
      </p:sp>
      <p:sp>
        <p:nvSpPr>
          <p:cNvPr id="5" name="event-label-zh">
            <a:extLst xmlns:a="http://schemas.openxmlformats.org/drawingml/2006/main">
              <a:ext uri="{FF2B5EF4-FFF2-40B4-BE49-F238E27FC236}">
                <a16:creationId xmlns:a16="http://schemas.microsoft.com/office/drawing/2014/main" id="{83D0051E-B264-4DBC-9A27-E6EACA8D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變化事件</a:t>
            </a:r>
          </a:p>
        </p:txBody>
      </p:sp>
      <p:sp>
        <p:nvSpPr>
          <p:cNvPr id="6" name="event-vn">
            <a:extLst xmlns:a="http://schemas.openxmlformats.org/drawingml/2006/main">
              <a:ext uri="{FF2B5EF4-FFF2-40B4-BE49-F238E27FC236}">
                <a16:creationId xmlns:a16="http://schemas.microsoft.com/office/drawing/2014/main" id="{7F38D8F2-A339-42BD-8488-9DA20D65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Mưa tăng lên 10 mm/h, có nước đọng ven đường.</a:t>
            </a:r>
          </a:p>
        </p:txBody>
      </p:sp>
      <p:sp>
        <p:nvSpPr>
          <p:cNvPr id="7" name="event-zh">
            <a:extLst xmlns:a="http://schemas.openxmlformats.org/drawingml/2006/main">
              <a:ext uri="{FF2B5EF4-FFF2-40B4-BE49-F238E27FC236}">
                <a16:creationId xmlns:a16="http://schemas.microsoft.com/office/drawing/2014/main" id="{0A1E708D-7429-43E9-876F-825834B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3486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雨量增至 10 mm/h，路緣出現積水。</a:t>
            </a:r>
          </a:p>
        </p:txBody>
      </p:sp>
      <p:sp>
        <p:nvSpPr>
          <p:cNvPr id="8" name="verdict-vn">
            <a:extLst xmlns:a="http://schemas.openxmlformats.org/drawingml/2006/main">
              <a:ext uri="{FF2B5EF4-FFF2-40B4-BE49-F238E27FC236}">
                <a16:creationId xmlns:a16="http://schemas.microsoft.com/office/drawing/2014/main" id="{F0F4F1B8-AD24-4218-A99E-70115112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48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Không phù hợp</a:t>
            </a:r>
          </a:p>
        </p:txBody>
      </p:sp>
      <p:sp>
        <p:nvSpPr>
          <p:cNvPr id="9" name="verdict-zh">
            <a:extLst xmlns:a="http://schemas.openxmlformats.org/drawingml/2006/main">
              <a:ext uri="{FF2B5EF4-FFF2-40B4-BE49-F238E27FC236}">
                <a16:creationId xmlns:a16="http://schemas.microsoft.com/office/drawing/2014/main" id="{49A05A10-6FE8-4F75-954F-B13ACAD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486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不符合</a:t>
            </a:r>
          </a:p>
        </p:txBody>
      </p:sp>
      <p:sp>
        <p:nvSpPr>
          <p:cNvPr id="10" name="reason-vn">
            <a:extLst xmlns:a="http://schemas.openxmlformats.org/drawingml/2006/main">
              <a:ext uri="{FF2B5EF4-FFF2-40B4-BE49-F238E27FC236}">
                <a16:creationId xmlns:a16="http://schemas.microsoft.com/office/drawing/2014/main" id="{F87D3B8B-1E5B-45EA-B9F3-6A1FC282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486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10 mm/h vượt mức tối đa 2 mm/h.</a:t>
            </a:r>
          </a:p>
        </p:txBody>
      </p:sp>
      <p:sp>
        <p:nvSpPr>
          <p:cNvPr id="11" name="reason-zh">
            <a:extLst xmlns:a="http://schemas.openxmlformats.org/drawingml/2006/main">
              <a:ext uri="{FF2B5EF4-FFF2-40B4-BE49-F238E27FC236}">
                <a16:creationId xmlns:a16="http://schemas.microsoft.com/office/drawing/2014/main" id="{8D588E04-B4DF-4D8B-A566-2861604B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10 mm/h 超過 2 mm/h 的上限。</a:t>
            </a:r>
          </a:p>
        </p:txBody>
      </p:sp>
      <p:sp>
        <p:nvSpPr>
          <p:cNvPr id="12" name="explain-vn">
            <a:extLst xmlns:a="http://schemas.openxmlformats.org/drawingml/2006/main">
              <a:ext uri="{FF2B5EF4-FFF2-40B4-BE49-F238E27FC236}">
                <a16:creationId xmlns:a16="http://schemas.microsoft.com/office/drawing/2014/main" id="{37F24FAE-7591-4A38-9D76-256E4C5B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38775"/>
            <a:ext cx="3486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Nước đọng cũng không được phép. Đường ướt vẫn được phép.</a:t>
            </a:r>
          </a:p>
        </p:txBody>
      </p:sp>
      <p:sp>
        <p:nvSpPr>
          <p:cNvPr id="13" name="explain-zh">
            <a:extLst xmlns:a="http://schemas.openxmlformats.org/drawingml/2006/main">
              <a:ext uri="{FF2B5EF4-FFF2-40B4-BE49-F238E27FC236}">
                <a16:creationId xmlns:a16="http://schemas.microsoft.com/office/drawing/2014/main" id="{1C3C8A24-1270-4D87-B567-E9DB68CD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積水也不符合。路面濕本身則可接受。</a:t>
            </a:r>
          </a:p>
        </p:txBody>
      </p:sp>
      <p:sp>
        <p:nvSpPr>
          <p:cNvPr id="14" name="missing-vn">
            <a:extLst xmlns:a="http://schemas.openxmlformats.org/drawingml/2006/main">
              <a:ext uri="{FF2B5EF4-FFF2-40B4-BE49-F238E27FC236}">
                <a16:creationId xmlns:a16="http://schemas.microsoft.com/office/drawing/2014/main" id="{14472412-8083-4BA2-9AC8-49158761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12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Chưa cung cấp: Kết quả thử nghiệm khi xe buýt che người đi bộ</a:t>
            </a:r>
          </a:p>
        </p:txBody>
      </p:sp>
      <p:sp>
        <p:nvSpPr>
          <p:cNvPr id="15" name="missing-zh">
            <a:extLst xmlns:a="http://schemas.openxmlformats.org/drawingml/2006/main">
              <a:ext uri="{FF2B5EF4-FFF2-40B4-BE49-F238E27FC236}">
                <a16:creationId xmlns:a16="http://schemas.microsoft.com/office/drawing/2014/main" id="{71FBB4EF-F066-4A16-97DD-F7A164F6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12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勾選「尚未提供」：公車遮擋行人的測試結果</a:t>
            </a:r>
          </a:p>
        </p:txBody>
      </p:sp>
      <p:sp>
        <p:nvSpPr>
          <p:cNvPr id="16" name="assumption">
            <a:extLst xmlns:a="http://schemas.openxmlformats.org/drawingml/2006/main">
              <a:ext uri="{FF2B5EF4-FFF2-40B4-BE49-F238E27FC236}">
                <a16:creationId xmlns:a16="http://schemas.microsoft.com/office/drawing/2014/main" id="{16B1BEF7-DD74-4A0D-8289-7E3D048D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Các giá trị là giả định cho bài tập.  數值為課堂情境設定。</a:t>
            </a:r>
          </a:p>
        </p:txBody>
      </p:sp>
      <p:sp>
        <p:nvSpPr>
          <p:cNvPr id="17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2C9BDA06-5179-4643-A367-4936D8BA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26224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vn">
            <a:extLst xmlns:a="http://schemas.openxmlformats.org/drawingml/2006/main">
              <a:ext uri="{FF2B5EF4-FFF2-40B4-BE49-F238E27FC236}">
                <a16:creationId xmlns:a16="http://schemas.microsoft.com/office/drawing/2014/main" id="{CA17ABD5-3C93-4950-AD7A-BC3632CD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Nhóm 3 (C)  Đường Zhongzheng, phố cổ Tamsui</a:t>
            </a:r>
          </a:p>
        </p:txBody>
      </p:sp>
      <p:sp>
        <p:nvSpPr>
          <p:cNvPr id="2" name="title-zh">
            <a:extLst xmlns:a="http://schemas.openxmlformats.org/drawingml/2006/main">
              <a:ext uri="{FF2B5EF4-FFF2-40B4-BE49-F238E27FC236}">
                <a16:creationId xmlns:a16="http://schemas.microsoft.com/office/drawing/2014/main" id="{C6C536DC-FFFC-452A-9C90-00078A9C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第 3 組（C）淡水老街中正路　答案與解說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71247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14650"/>
                <a:gridCol w="4210050"/>
              </a:tblGrid>
              <a:tr h="552450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Mục trên phiếu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學習單項目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Đáp án theo thẻ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依條件卡填寫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chạy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行駛範圍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Đoạn A–B trên bản đồ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圖中的 A–B 路段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光照條件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ngày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白天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路面條件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乾燥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Bề rộng đi được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可通行寬度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Ít nhất 3 m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至少 3 m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本車速度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0–5 km/h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Người đi bộ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行人狀況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Ít, phân tán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少量、分散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4" name="event-label-vn">
            <a:extLst xmlns:a="http://schemas.openxmlformats.org/drawingml/2006/main">
              <a:ext uri="{FF2B5EF4-FFF2-40B4-BE49-F238E27FC236}">
                <a16:creationId xmlns:a16="http://schemas.microsoft.com/office/drawing/2014/main" id="{A78E8462-BCAB-4B6D-8D30-CB604DFA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Sự kiện thay đổi</a:t>
            </a:r>
          </a:p>
        </p:txBody>
      </p:sp>
      <p:sp>
        <p:nvSpPr>
          <p:cNvPr id="5" name="event-label-zh">
            <a:extLst xmlns:a="http://schemas.openxmlformats.org/drawingml/2006/main">
              <a:ext uri="{FF2B5EF4-FFF2-40B4-BE49-F238E27FC236}">
                <a16:creationId xmlns:a16="http://schemas.microsoft.com/office/drawing/2014/main" id="{9874E48A-25D3-45AD-B82C-D2040EF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變化事件</a:t>
            </a:r>
          </a:p>
        </p:txBody>
      </p:sp>
      <p:sp>
        <p:nvSpPr>
          <p:cNvPr id="6" name="event-vn">
            <a:extLst xmlns:a="http://schemas.openxmlformats.org/drawingml/2006/main">
              <a:ext uri="{FF2B5EF4-FFF2-40B4-BE49-F238E27FC236}">
                <a16:creationId xmlns:a16="http://schemas.microsoft.com/office/drawing/2014/main" id="{454BBA65-5D92-466F-AF04-968300B6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Xe dỡ hàng chiếm đường, chỉ còn rộng 2 m.</a:t>
            </a:r>
          </a:p>
        </p:txBody>
      </p:sp>
      <p:sp>
        <p:nvSpPr>
          <p:cNvPr id="7" name="event-zh">
            <a:extLst xmlns:a="http://schemas.openxmlformats.org/drawingml/2006/main">
              <a:ext uri="{FF2B5EF4-FFF2-40B4-BE49-F238E27FC236}">
                <a16:creationId xmlns:a16="http://schemas.microsoft.com/office/drawing/2014/main" id="{AA3E8087-91FD-46AD-8245-3911736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3486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卸貨車占用道路，可通行寬度剩 2 m。</a:t>
            </a:r>
          </a:p>
        </p:txBody>
      </p:sp>
      <p:sp>
        <p:nvSpPr>
          <p:cNvPr id="8" name="verdict-vn">
            <a:extLst xmlns:a="http://schemas.openxmlformats.org/drawingml/2006/main">
              <a:ext uri="{FF2B5EF4-FFF2-40B4-BE49-F238E27FC236}">
                <a16:creationId xmlns:a16="http://schemas.microsoft.com/office/drawing/2014/main" id="{820FEC7E-41B5-40FD-899B-80B153E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48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Không phù hợp</a:t>
            </a:r>
          </a:p>
        </p:txBody>
      </p:sp>
      <p:sp>
        <p:nvSpPr>
          <p:cNvPr id="9" name="verdict-zh">
            <a:extLst xmlns:a="http://schemas.openxmlformats.org/drawingml/2006/main">
              <a:ext uri="{FF2B5EF4-FFF2-40B4-BE49-F238E27FC236}">
                <a16:creationId xmlns:a16="http://schemas.microsoft.com/office/drawing/2014/main" id="{8D7987DA-D4C6-42B3-9683-C5092CFC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486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不符合</a:t>
            </a:r>
          </a:p>
        </p:txBody>
      </p:sp>
      <p:sp>
        <p:nvSpPr>
          <p:cNvPr id="10" name="reason-vn">
            <a:extLst xmlns:a="http://schemas.openxmlformats.org/drawingml/2006/main">
              <a:ext uri="{FF2B5EF4-FFF2-40B4-BE49-F238E27FC236}">
                <a16:creationId xmlns:a16="http://schemas.microsoft.com/office/drawing/2014/main" id="{41EFF3D6-D21B-43CF-8DE3-9ED48C1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486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2 m nhỏ hơn mức tối thiểu 3 m.</a:t>
            </a:r>
          </a:p>
        </p:txBody>
      </p:sp>
      <p:sp>
        <p:nvSpPr>
          <p:cNvPr id="11" name="reason-zh">
            <a:extLst xmlns:a="http://schemas.openxmlformats.org/drawingml/2006/main">
              <a:ext uri="{FF2B5EF4-FFF2-40B4-BE49-F238E27FC236}">
                <a16:creationId xmlns:a16="http://schemas.microsoft.com/office/drawing/2014/main" id="{9DAC5B72-610B-4DD5-8095-8310709C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2 m 未達 3 m 的下限。</a:t>
            </a:r>
          </a:p>
        </p:txBody>
      </p:sp>
      <p:sp>
        <p:nvSpPr>
          <p:cNvPr id="12" name="explain-vn">
            <a:extLst xmlns:a="http://schemas.openxmlformats.org/drawingml/2006/main">
              <a:ext uri="{FF2B5EF4-FFF2-40B4-BE49-F238E27FC236}">
                <a16:creationId xmlns:a16="http://schemas.microsoft.com/office/drawing/2014/main" id="{F1C8EF4E-15B8-49ED-968D-BD8C5112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38775"/>
            <a:ext cx="3486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Giảm tốc không làm phần đường còn lại rộng hơn.</a:t>
            </a:r>
          </a:p>
        </p:txBody>
      </p:sp>
      <p:sp>
        <p:nvSpPr>
          <p:cNvPr id="13" name="explain-zh">
            <a:extLst xmlns:a="http://schemas.openxmlformats.org/drawingml/2006/main">
              <a:ext uri="{FF2B5EF4-FFF2-40B4-BE49-F238E27FC236}">
                <a16:creationId xmlns:a16="http://schemas.microsoft.com/office/drawing/2014/main" id="{4D450846-A16B-4D48-A16A-04A9237D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降低車速，不會讓剩下的道路變寬。</a:t>
            </a:r>
          </a:p>
        </p:txBody>
      </p:sp>
      <p:sp>
        <p:nvSpPr>
          <p:cNvPr id="14" name="missing-vn">
            <a:extLst xmlns:a="http://schemas.openxmlformats.org/drawingml/2006/main">
              <a:ext uri="{FF2B5EF4-FFF2-40B4-BE49-F238E27FC236}">
                <a16:creationId xmlns:a16="http://schemas.microsoft.com/office/drawing/2014/main" id="{202317FD-460A-49FA-BB40-2413529D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12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Chưa cung cấp: Giới hạn mật độ người đi bộ bằng số</a:t>
            </a:r>
          </a:p>
        </p:txBody>
      </p:sp>
      <p:sp>
        <p:nvSpPr>
          <p:cNvPr id="15" name="missing-zh">
            <a:extLst xmlns:a="http://schemas.openxmlformats.org/drawingml/2006/main">
              <a:ext uri="{FF2B5EF4-FFF2-40B4-BE49-F238E27FC236}">
                <a16:creationId xmlns:a16="http://schemas.microsoft.com/office/drawing/2014/main" id="{CA4D2DB9-C9EB-4B91-8F07-E3B9004D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12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勾選「尚未提供」：行人密度的數值上限</a:t>
            </a:r>
          </a:p>
        </p:txBody>
      </p:sp>
      <p:sp>
        <p:nvSpPr>
          <p:cNvPr id="16" name="assumption">
            <a:extLst xmlns:a="http://schemas.openxmlformats.org/drawingml/2006/main">
              <a:ext uri="{FF2B5EF4-FFF2-40B4-BE49-F238E27FC236}">
                <a16:creationId xmlns:a16="http://schemas.microsoft.com/office/drawing/2014/main" id="{36D2F729-D27C-4063-AB6E-F802A676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Các giá trị là giả định cho bài tập.  數值為課堂情境設定。</a:t>
            </a:r>
          </a:p>
        </p:txBody>
      </p:sp>
      <p:sp>
        <p:nvSpPr>
          <p:cNvPr id="17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A0920132-EB67-45D9-ADEE-52A28B0E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76137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vn">
            <a:extLst xmlns:a="http://schemas.openxmlformats.org/drawingml/2006/main">
              <a:ext uri="{FF2B5EF4-FFF2-40B4-BE49-F238E27FC236}">
                <a16:creationId xmlns:a16="http://schemas.microsoft.com/office/drawing/2014/main" id="{09F01CAA-CF5D-451F-AAEE-EEEA2B55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Nhóm 4 (D)  Đường Dayi, Pier-2, Cao Hùng</a:t>
            </a:r>
          </a:p>
        </p:txBody>
      </p:sp>
      <p:sp>
        <p:nvSpPr>
          <p:cNvPr id="2" name="title-zh">
            <a:extLst xmlns:a="http://schemas.openxmlformats.org/drawingml/2006/main">
              <a:ext uri="{FF2B5EF4-FFF2-40B4-BE49-F238E27FC236}">
                <a16:creationId xmlns:a16="http://schemas.microsoft.com/office/drawing/2014/main" id="{D0D2D052-40C5-4B48-AD55-0DC7D76B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第 4 組（D）高雄駁二大義街　答案與解說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71247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14650"/>
                <a:gridCol w="4210050"/>
              </a:tblGrid>
              <a:tr h="552450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Mục trên phiếu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學習單項目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Đáp án theo thẻ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依條件卡填寫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chạy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行駛範圍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Đoạn A–B trên bản đồ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圖中的 A–B 路段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Thời gian sử dụng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使用時段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đêm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夜間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路面條件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乾燥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Độ rọi tối thiểu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路面照度下限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Ít nhất 20 lx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至少 20 lx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Chói sáng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眩光條件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Không chói sáng mạnh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無強烈眩光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本車速度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0–10 km/h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4" name="event-label-vn">
            <a:extLst xmlns:a="http://schemas.openxmlformats.org/drawingml/2006/main">
              <a:ext uri="{FF2B5EF4-FFF2-40B4-BE49-F238E27FC236}">
                <a16:creationId xmlns:a16="http://schemas.microsoft.com/office/drawing/2014/main" id="{F5E4A00D-EBEF-4FE6-85FF-ECC871D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Sự kiện thay đổi</a:t>
            </a:r>
          </a:p>
        </p:txBody>
      </p:sp>
      <p:sp>
        <p:nvSpPr>
          <p:cNvPr id="5" name="event-label-zh">
            <a:extLst xmlns:a="http://schemas.openxmlformats.org/drawingml/2006/main">
              <a:ext uri="{FF2B5EF4-FFF2-40B4-BE49-F238E27FC236}">
                <a16:creationId xmlns:a16="http://schemas.microsoft.com/office/drawing/2014/main" id="{DC74D278-59B6-4B5C-B907-E871C92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變化事件</a:t>
            </a:r>
          </a:p>
        </p:txBody>
      </p:sp>
      <p:sp>
        <p:nvSpPr>
          <p:cNvPr id="6" name="event-vn">
            <a:extLst xmlns:a="http://schemas.openxmlformats.org/drawingml/2006/main">
              <a:ext uri="{FF2B5EF4-FFF2-40B4-BE49-F238E27FC236}">
                <a16:creationId xmlns:a16="http://schemas.microsoft.com/office/drawing/2014/main" id="{01C29F55-857B-4C7D-BC75-7FD4F4C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Đèn đường tắt.</a:t>
            </a:r>
          </a:p>
          <a:p xmlns:a="http://schemas.openxmlformats.org/drawingml/2006/main">
            <a:pPr algn="l">
              <a:def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Độ rọi mặt đường còn 5 lx.</a:t>
            </a:r>
          </a:p>
        </p:txBody>
      </p:sp>
      <p:sp>
        <p:nvSpPr>
          <p:cNvPr id="7" name="event-zh">
            <a:extLst xmlns:a="http://schemas.openxmlformats.org/drawingml/2006/main">
              <a:ext uri="{FF2B5EF4-FFF2-40B4-BE49-F238E27FC236}">
                <a16:creationId xmlns:a16="http://schemas.microsoft.com/office/drawing/2014/main" id="{D7F74F4C-771B-49DE-B0F6-2CAAED6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3486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一段路燈熄滅，路面照度降至 5 lx。</a:t>
            </a:r>
          </a:p>
        </p:txBody>
      </p:sp>
      <p:sp>
        <p:nvSpPr>
          <p:cNvPr id="8" name="verdict-vn">
            <a:extLst xmlns:a="http://schemas.openxmlformats.org/drawingml/2006/main">
              <a:ext uri="{FF2B5EF4-FFF2-40B4-BE49-F238E27FC236}">
                <a16:creationId xmlns:a16="http://schemas.microsoft.com/office/drawing/2014/main" id="{DCF8E269-2A42-4140-9A43-94BEF7FD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48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Không phù hợp</a:t>
            </a:r>
          </a:p>
        </p:txBody>
      </p:sp>
      <p:sp>
        <p:nvSpPr>
          <p:cNvPr id="9" name="verdict-zh">
            <a:extLst xmlns:a="http://schemas.openxmlformats.org/drawingml/2006/main">
              <a:ext uri="{FF2B5EF4-FFF2-40B4-BE49-F238E27FC236}">
                <a16:creationId xmlns:a16="http://schemas.microsoft.com/office/drawing/2014/main" id="{3B205527-0DF0-4D77-8E70-94B3DF50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486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不符合</a:t>
            </a:r>
          </a:p>
        </p:txBody>
      </p:sp>
      <p:sp>
        <p:nvSpPr>
          <p:cNvPr id="10" name="reason-vn">
            <a:extLst xmlns:a="http://schemas.openxmlformats.org/drawingml/2006/main">
              <a:ext uri="{FF2B5EF4-FFF2-40B4-BE49-F238E27FC236}">
                <a16:creationId xmlns:a16="http://schemas.microsoft.com/office/drawing/2014/main" id="{03D4C57F-85FD-48FB-BC91-A46B6810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486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5 lx thấp hơn mức tối thiểu 20 lx.</a:t>
            </a:r>
          </a:p>
        </p:txBody>
      </p:sp>
      <p:sp>
        <p:nvSpPr>
          <p:cNvPr id="11" name="reason-zh">
            <a:extLst xmlns:a="http://schemas.openxmlformats.org/drawingml/2006/main">
              <a:ext uri="{FF2B5EF4-FFF2-40B4-BE49-F238E27FC236}">
                <a16:creationId xmlns:a16="http://schemas.microsoft.com/office/drawing/2014/main" id="{05C1417C-E743-455C-9C5B-FB47F647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5 lx 低於 20 lx 的下限。</a:t>
            </a:r>
          </a:p>
        </p:txBody>
      </p:sp>
      <p:sp>
        <p:nvSpPr>
          <p:cNvPr id="12" name="explain-vn">
            <a:extLst xmlns:a="http://schemas.openxmlformats.org/drawingml/2006/main">
              <a:ext uri="{FF2B5EF4-FFF2-40B4-BE49-F238E27FC236}">
                <a16:creationId xmlns:a16="http://schemas.microsoft.com/office/drawing/2014/main" id="{2F8539C6-69F4-48C5-9D27-4D89D30C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38775"/>
            <a:ext cx="3486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Ban đêm được phép, nhưng mặt đường phải đủ sáng.</a:t>
            </a:r>
          </a:p>
        </p:txBody>
      </p:sp>
      <p:sp>
        <p:nvSpPr>
          <p:cNvPr id="13" name="explain-zh">
            <a:extLst xmlns:a="http://schemas.openxmlformats.org/drawingml/2006/main">
              <a:ext uri="{FF2B5EF4-FFF2-40B4-BE49-F238E27FC236}">
                <a16:creationId xmlns:a16="http://schemas.microsoft.com/office/drawing/2014/main" id="{E7862D02-186E-48C1-84CF-E7500A4E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可以夜間使用，路面仍須達到照度條件。</a:t>
            </a:r>
          </a:p>
        </p:txBody>
      </p:sp>
      <p:sp>
        <p:nvSpPr>
          <p:cNvPr id="14" name="missing-vn">
            <a:extLst xmlns:a="http://schemas.openxmlformats.org/drawingml/2006/main">
              <a:ext uri="{FF2B5EF4-FFF2-40B4-BE49-F238E27FC236}">
                <a16:creationId xmlns:a16="http://schemas.microsoft.com/office/drawing/2014/main" id="{CD2812E1-3A9A-4DA7-99E0-893E6A4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12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Chưa cung cấp: Khả năng xử lý khi mất kết nối</a:t>
            </a:r>
          </a:p>
        </p:txBody>
      </p:sp>
      <p:sp>
        <p:nvSpPr>
          <p:cNvPr id="15" name="missing-zh">
            <a:extLst xmlns:a="http://schemas.openxmlformats.org/drawingml/2006/main">
              <a:ext uri="{FF2B5EF4-FFF2-40B4-BE49-F238E27FC236}">
                <a16:creationId xmlns:a16="http://schemas.microsoft.com/office/drawing/2014/main" id="{7CC9D006-28B1-4EF3-9A65-5265CFE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12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勾選「尚未提供」：斷線時的處理能力</a:t>
            </a:r>
          </a:p>
        </p:txBody>
      </p:sp>
      <p:sp>
        <p:nvSpPr>
          <p:cNvPr id="16" name="assumption">
            <a:extLst xmlns:a="http://schemas.openxmlformats.org/drawingml/2006/main">
              <a:ext uri="{FF2B5EF4-FFF2-40B4-BE49-F238E27FC236}">
                <a16:creationId xmlns:a16="http://schemas.microsoft.com/office/drawing/2014/main" id="{03153F05-0558-47D1-B301-C33264C5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Các giá trị là giả định cho bài tập.  數值為課堂情境設定。</a:t>
            </a:r>
          </a:p>
        </p:txBody>
      </p:sp>
      <p:sp>
        <p:nvSpPr>
          <p:cNvPr id="17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9CA33588-87ED-4F61-B6A6-032A7485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42151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vn">
            <a:extLst xmlns:a="http://schemas.openxmlformats.org/drawingml/2006/main">
              <a:ext uri="{FF2B5EF4-FFF2-40B4-BE49-F238E27FC236}">
                <a16:creationId xmlns:a16="http://schemas.microsoft.com/office/drawing/2014/main" id="{68C84F8C-F6C1-4CC9-B5B5-C69956AD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Nhóm 5 (E)  Khu Xiangshan, hồ Nhật Nguyệt</a:t>
            </a:r>
          </a:p>
        </p:txBody>
      </p:sp>
      <p:sp>
        <p:nvSpPr>
          <p:cNvPr id="2" name="title-zh">
            <a:extLst xmlns:a="http://schemas.openxmlformats.org/drawingml/2006/main">
              <a:ext uri="{FF2B5EF4-FFF2-40B4-BE49-F238E27FC236}">
                <a16:creationId xmlns:a16="http://schemas.microsoft.com/office/drawing/2014/main" id="{D5531B54-B5DF-4817-B3A0-33490228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第 5 組（E）日月潭向山周邊　答案與解說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71247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14650"/>
                <a:gridCol w="4210050"/>
              </a:tblGrid>
              <a:tr h="552450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Mục trên phiếu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學習單項目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Đáp án theo thẻ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依條件卡填寫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chạy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行駛範圍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Đoạn A–B trên bản đồ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圖中的 A–B 路段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光照條件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ngày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白天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Thời tiết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天候條件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Không mưa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路面條件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乾燥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Tầm nhìn tối thiểu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能見度下限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Ít nhất 200 m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至少 200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本車速度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0–10 km/h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4" name="event-label-vn">
            <a:extLst xmlns:a="http://schemas.openxmlformats.org/drawingml/2006/main">
              <a:ext uri="{FF2B5EF4-FFF2-40B4-BE49-F238E27FC236}">
                <a16:creationId xmlns:a16="http://schemas.microsoft.com/office/drawing/2014/main" id="{4F39C54B-9D6F-4D2D-99FC-79220884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Sự kiện thay đổi</a:t>
            </a:r>
          </a:p>
        </p:txBody>
      </p:sp>
      <p:sp>
        <p:nvSpPr>
          <p:cNvPr id="5" name="event-label-zh">
            <a:extLst xmlns:a="http://schemas.openxmlformats.org/drawingml/2006/main">
              <a:ext uri="{FF2B5EF4-FFF2-40B4-BE49-F238E27FC236}">
                <a16:creationId xmlns:a16="http://schemas.microsoft.com/office/drawing/2014/main" id="{16346F92-9B39-47EB-83A0-1178263C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變化事件</a:t>
            </a:r>
          </a:p>
        </p:txBody>
      </p:sp>
      <p:sp>
        <p:nvSpPr>
          <p:cNvPr id="6" name="event-vn">
            <a:extLst xmlns:a="http://schemas.openxmlformats.org/drawingml/2006/main">
              <a:ext uri="{FF2B5EF4-FFF2-40B4-BE49-F238E27FC236}">
                <a16:creationId xmlns:a16="http://schemas.microsoft.com/office/drawing/2014/main" id="{D692DDCF-1CFE-40F9-A2E2-B04A831D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Sương mù dày hơn, tầm nhìn từ 300 m còn 80 m.</a:t>
            </a:r>
          </a:p>
        </p:txBody>
      </p:sp>
      <p:sp>
        <p:nvSpPr>
          <p:cNvPr id="7" name="event-zh">
            <a:extLst xmlns:a="http://schemas.openxmlformats.org/drawingml/2006/main">
              <a:ext uri="{FF2B5EF4-FFF2-40B4-BE49-F238E27FC236}">
                <a16:creationId xmlns:a16="http://schemas.microsoft.com/office/drawing/2014/main" id="{FA7E2228-3C4E-4F2C-9DC4-934A61F2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3486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霧變濃，能見度由 300 m 降至 80 m。</a:t>
            </a:r>
          </a:p>
        </p:txBody>
      </p:sp>
      <p:sp>
        <p:nvSpPr>
          <p:cNvPr id="8" name="verdict-vn">
            <a:extLst xmlns:a="http://schemas.openxmlformats.org/drawingml/2006/main">
              <a:ext uri="{FF2B5EF4-FFF2-40B4-BE49-F238E27FC236}">
                <a16:creationId xmlns:a16="http://schemas.microsoft.com/office/drawing/2014/main" id="{DE8B9075-0B1B-4B54-AF96-0EE7D488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48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Không phù hợp</a:t>
            </a:r>
          </a:p>
        </p:txBody>
      </p:sp>
      <p:sp>
        <p:nvSpPr>
          <p:cNvPr id="9" name="verdict-zh">
            <a:extLst xmlns:a="http://schemas.openxmlformats.org/drawingml/2006/main">
              <a:ext uri="{FF2B5EF4-FFF2-40B4-BE49-F238E27FC236}">
                <a16:creationId xmlns:a16="http://schemas.microsoft.com/office/drawing/2014/main" id="{7A09F218-B961-4D91-8579-638AFCF7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486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不符合</a:t>
            </a:r>
          </a:p>
        </p:txBody>
      </p:sp>
      <p:sp>
        <p:nvSpPr>
          <p:cNvPr id="10" name="reason-vn">
            <a:extLst xmlns:a="http://schemas.openxmlformats.org/drawingml/2006/main">
              <a:ext uri="{FF2B5EF4-FFF2-40B4-BE49-F238E27FC236}">
                <a16:creationId xmlns:a16="http://schemas.microsoft.com/office/drawing/2014/main" id="{EE1FFB80-A32A-443F-9C19-067263E9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486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80 m thấp hơn mức tối thiểu 200 m.</a:t>
            </a:r>
          </a:p>
        </p:txBody>
      </p:sp>
      <p:sp>
        <p:nvSpPr>
          <p:cNvPr id="11" name="reason-zh">
            <a:extLst xmlns:a="http://schemas.openxmlformats.org/drawingml/2006/main">
              <a:ext uri="{FF2B5EF4-FFF2-40B4-BE49-F238E27FC236}">
                <a16:creationId xmlns:a16="http://schemas.microsoft.com/office/drawing/2014/main" id="{CF04803B-5E21-497C-8A0F-4DB72DCB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80 m 低於 200 m 的下限。</a:t>
            </a:r>
          </a:p>
        </p:txBody>
      </p:sp>
      <p:sp>
        <p:nvSpPr>
          <p:cNvPr id="12" name="explain-vn">
            <a:extLst xmlns:a="http://schemas.openxmlformats.org/drawingml/2006/main">
              <a:ext uri="{FF2B5EF4-FFF2-40B4-BE49-F238E27FC236}">
                <a16:creationId xmlns:a16="http://schemas.microsoft.com/office/drawing/2014/main" id="{52A31DC6-47AD-4513-BED1-D076609B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38775"/>
            <a:ext cx="3486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So sánh giá trị sau thay đổi với giới hạn trên thẻ.</a:t>
            </a:r>
          </a:p>
        </p:txBody>
      </p:sp>
      <p:sp>
        <p:nvSpPr>
          <p:cNvPr id="13" name="explain-zh">
            <a:extLst xmlns:a="http://schemas.openxmlformats.org/drawingml/2006/main">
              <a:ext uri="{FF2B5EF4-FFF2-40B4-BE49-F238E27FC236}">
                <a16:creationId xmlns:a16="http://schemas.microsoft.com/office/drawing/2014/main" id="{0A54AD9A-069D-44B9-A8ED-FC4DA9A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用變化後的數值，對照卡片上的界線。</a:t>
            </a:r>
          </a:p>
        </p:txBody>
      </p:sp>
      <p:sp>
        <p:nvSpPr>
          <p:cNvPr id="14" name="missing-vn">
            <a:extLst xmlns:a="http://schemas.openxmlformats.org/drawingml/2006/main">
              <a:ext uri="{FF2B5EF4-FFF2-40B4-BE49-F238E27FC236}">
                <a16:creationId xmlns:a16="http://schemas.microsoft.com/office/drawing/2014/main" id="{17CC67A9-9788-4320-9EA5-2C9A2AAD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12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Chưa cung cấp: Dữ liệu độ dốc của đoạn đường</a:t>
            </a:r>
          </a:p>
        </p:txBody>
      </p:sp>
      <p:sp>
        <p:nvSpPr>
          <p:cNvPr id="15" name="missing-zh">
            <a:extLst xmlns:a="http://schemas.openxmlformats.org/drawingml/2006/main">
              <a:ext uri="{FF2B5EF4-FFF2-40B4-BE49-F238E27FC236}">
                <a16:creationId xmlns:a16="http://schemas.microsoft.com/office/drawing/2014/main" id="{BFF3439D-C434-4219-B4C5-F61A7950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12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勾選「尚未提供」：路段坡度資料</a:t>
            </a:r>
          </a:p>
        </p:txBody>
      </p:sp>
      <p:sp>
        <p:nvSpPr>
          <p:cNvPr id="16" name="assumption">
            <a:extLst xmlns:a="http://schemas.openxmlformats.org/drawingml/2006/main">
              <a:ext uri="{FF2B5EF4-FFF2-40B4-BE49-F238E27FC236}">
                <a16:creationId xmlns:a16="http://schemas.microsoft.com/office/drawing/2014/main" id="{7214D69B-799B-41A6-849C-2C082D5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Các giá trị là giả định cho bài tập.  數值為課堂情境設定。</a:t>
            </a:r>
          </a:p>
        </p:txBody>
      </p:sp>
      <p:sp>
        <p:nvSpPr>
          <p:cNvPr id="17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5F499ED0-6F45-46CD-AA60-51C203D5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426843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vn">
            <a:extLst xmlns:a="http://schemas.openxmlformats.org/drawingml/2006/main">
              <a:ext uri="{FF2B5EF4-FFF2-40B4-BE49-F238E27FC236}">
                <a16:creationId xmlns:a16="http://schemas.microsoft.com/office/drawing/2014/main" id="{66A57536-40F6-4B9C-9AB8-F6204C3A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Nhóm 6 (F)  Đường Xin’an, Khu khoa học Tân Trúc</a:t>
            </a:r>
          </a:p>
        </p:txBody>
      </p:sp>
      <p:sp>
        <p:nvSpPr>
          <p:cNvPr id="2" name="title-zh">
            <a:extLst xmlns:a="http://schemas.openxmlformats.org/drawingml/2006/main">
              <a:ext uri="{FF2B5EF4-FFF2-40B4-BE49-F238E27FC236}">
                <a16:creationId xmlns:a16="http://schemas.microsoft.com/office/drawing/2014/main" id="{B02441C2-E4CA-40B0-B643-99C4F89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第 6 組（F）竹科新安路　答案與解說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71247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14650"/>
                <a:gridCol w="4210050"/>
              </a:tblGrid>
              <a:tr h="552450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Mục trên phiếu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學習單項目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Đáp án theo thẻ</a:t>
                      </a:r>
                    </a:p>
                    <a:p>
                      <a:r>
                        <a:rPr sz="1200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依條件卡填寫</a:t>
                      </a:r>
                    </a:p>
                  </a:txBody>
                  <a:tcPr marL="91440" marR="91440" marT="45720" marB="45720" anchor="ctr">
                    <a:solidFill>
                      <a:srgbClr val="122E3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Phạm vi chạy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行駛範圍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Đoạn A–B trên bản đồ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圖中的 A–B 路段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Ánh sáng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光照條件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Ban ngày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白天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Mặt đường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路面條件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Khô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乾燥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Bề rộng làn sử dụng được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有效車道寬度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Ít nhất 3.2 m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至少 3.2 m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Điều kiện làn đường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車道條件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Giữ làn ban đầu, không đổi tuyến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維持原車道，不含改道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Tốc độ xe</a:t>
                      </a:r>
                    </a:p>
                    <a:p>
                      <a:r>
                        <a:rPr sz="120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本車速度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  <a:tc>
                  <a:txBody>
                    <a:bodyPr lIns="123825" tIns="38100" rIns="123825" bIns="38100"/>
                    <a:lstStyle/>
                    <a:p>
                      <a:r>
                        <a:rPr sz="1650">
                          <a:solidFill>
                            <a:srgbClr val="203C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0–20 km/h</a:t>
                      </a:r>
                    </a:p>
                  </a:txBody>
                  <a:tcPr marL="91440" marR="91440" marT="45720" marB="45720" anchor="ctr"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sp>
        <p:nvSpPr>
          <p:cNvPr id="4" name="event-label-vn">
            <a:extLst xmlns:a="http://schemas.openxmlformats.org/drawingml/2006/main">
              <a:ext uri="{FF2B5EF4-FFF2-40B4-BE49-F238E27FC236}">
                <a16:creationId xmlns:a16="http://schemas.microsoft.com/office/drawing/2014/main" id="{A46B2F71-062F-4B12-9EF2-2E469A63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48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Sự kiện thay đổi</a:t>
            </a:r>
          </a:p>
        </p:txBody>
      </p:sp>
      <p:sp>
        <p:nvSpPr>
          <p:cNvPr id="5" name="event-label-zh">
            <a:extLst xmlns:a="http://schemas.openxmlformats.org/drawingml/2006/main">
              <a:ext uri="{FF2B5EF4-FFF2-40B4-BE49-F238E27FC236}">
                <a16:creationId xmlns:a16="http://schemas.microsoft.com/office/drawing/2014/main" id="{78688958-1563-4921-8D94-E4B590A2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變化事件</a:t>
            </a:r>
          </a:p>
        </p:txBody>
      </p:sp>
      <p:sp>
        <p:nvSpPr>
          <p:cNvPr id="6" name="event-vn">
            <a:extLst xmlns:a="http://schemas.openxmlformats.org/drawingml/2006/main">
              <a:ext uri="{FF2B5EF4-FFF2-40B4-BE49-F238E27FC236}">
                <a16:creationId xmlns:a16="http://schemas.microsoft.com/office/drawing/2014/main" id="{9F599C35-840A-4CAA-97F9-034B0EC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3486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Thi công: làn còn 2.8 m.</a:t>
            </a:r>
          </a:p>
          <a:p xmlns:a="http://schemas.openxmlformats.org/drawingml/2006/main">
            <a:pPr algn="l">
              <a:def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Cọc tiêu dẫn xe rời làn ban đầu.</a:t>
            </a:r>
          </a:p>
        </p:txBody>
      </p:sp>
      <p:sp>
        <p:nvSpPr>
          <p:cNvPr id="7" name="event-zh">
            <a:extLst xmlns:a="http://schemas.openxmlformats.org/drawingml/2006/main">
              <a:ext uri="{FF2B5EF4-FFF2-40B4-BE49-F238E27FC236}">
                <a16:creationId xmlns:a16="http://schemas.microsoft.com/office/drawing/2014/main" id="{2AB3787D-59D0-497A-AF96-DF1C9A64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62275"/>
            <a:ext cx="3486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施工使車道剩 2.8 m，交通錐引導改道。</a:t>
            </a:r>
          </a:p>
        </p:txBody>
      </p:sp>
      <p:sp>
        <p:nvSpPr>
          <p:cNvPr id="8" name="verdict-vn">
            <a:extLst xmlns:a="http://schemas.openxmlformats.org/drawingml/2006/main">
              <a:ext uri="{FF2B5EF4-FFF2-40B4-BE49-F238E27FC236}">
                <a16:creationId xmlns:a16="http://schemas.microsoft.com/office/drawing/2014/main" id="{96467428-3FE1-4F5C-8FBE-635D7CF8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486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Không phù hợp</a:t>
            </a:r>
          </a:p>
        </p:txBody>
      </p:sp>
      <p:sp>
        <p:nvSpPr>
          <p:cNvPr id="9" name="verdict-zh">
            <a:extLst xmlns:a="http://schemas.openxmlformats.org/drawingml/2006/main">
              <a:ext uri="{FF2B5EF4-FFF2-40B4-BE49-F238E27FC236}">
                <a16:creationId xmlns:a16="http://schemas.microsoft.com/office/drawing/2014/main" id="{33B004FA-8B6B-4673-9A1D-5A03DEAD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486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不符合</a:t>
            </a:r>
          </a:p>
        </p:txBody>
      </p:sp>
      <p:sp>
        <p:nvSpPr>
          <p:cNvPr id="10" name="reason-vn">
            <a:extLst xmlns:a="http://schemas.openxmlformats.org/drawingml/2006/main">
              <a:ext uri="{FF2B5EF4-FFF2-40B4-BE49-F238E27FC236}">
                <a16:creationId xmlns:a16="http://schemas.microsoft.com/office/drawing/2014/main" id="{326531B0-2CC3-400C-9A5B-A15B398C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91025"/>
            <a:ext cx="3486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2.8 m nhỏ hơn mức tối thiểu 3.2 m.</a:t>
            </a:r>
          </a:p>
        </p:txBody>
      </p:sp>
      <p:sp>
        <p:nvSpPr>
          <p:cNvPr id="11" name="reason-zh">
            <a:extLst xmlns:a="http://schemas.openxmlformats.org/drawingml/2006/main">
              <a:ext uri="{FF2B5EF4-FFF2-40B4-BE49-F238E27FC236}">
                <a16:creationId xmlns:a16="http://schemas.microsoft.com/office/drawing/2014/main" id="{26AAA426-F56A-4F27-961D-55E6A07B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3486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2.8 m 未達 3.2 m 的下限。</a:t>
            </a:r>
          </a:p>
        </p:txBody>
      </p:sp>
      <p:sp>
        <p:nvSpPr>
          <p:cNvPr id="12" name="explain-vn">
            <a:extLst xmlns:a="http://schemas.openxmlformats.org/drawingml/2006/main">
              <a:ext uri="{FF2B5EF4-FFF2-40B4-BE49-F238E27FC236}">
                <a16:creationId xmlns:a16="http://schemas.microsoft.com/office/drawing/2014/main" id="{8F9F2F9A-23AF-45B7-9735-E32B4DB0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38775"/>
            <a:ext cx="3486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Rời làn ban đầu cũng không phù hợp với thẻ.</a:t>
            </a:r>
          </a:p>
        </p:txBody>
      </p:sp>
      <p:sp>
        <p:nvSpPr>
          <p:cNvPr id="13" name="explain-zh">
            <a:extLst xmlns:a="http://schemas.openxmlformats.org/drawingml/2006/main">
              <a:ext uri="{FF2B5EF4-FFF2-40B4-BE49-F238E27FC236}">
                <a16:creationId xmlns:a16="http://schemas.microsoft.com/office/drawing/2014/main" id="{0FCA07B9-191A-4160-9B3D-EFFB7612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9800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偏離原車道，也不符合原卡片條件。</a:t>
            </a:r>
          </a:p>
        </p:txBody>
      </p:sp>
      <p:sp>
        <p:nvSpPr>
          <p:cNvPr id="14" name="missing-vn">
            <a:extLst xmlns:a="http://schemas.openxmlformats.org/drawingml/2006/main">
              <a:ext uri="{FF2B5EF4-FFF2-40B4-BE49-F238E27FC236}">
                <a16:creationId xmlns:a16="http://schemas.microsoft.com/office/drawing/2014/main" id="{4B5825F3-5240-4AD6-B54E-3897980E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12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Chưa cung cấp: Kết quả thử nghiệm với bụi do thi công</a:t>
            </a:r>
          </a:p>
        </p:txBody>
      </p:sp>
      <p:sp>
        <p:nvSpPr>
          <p:cNvPr id="15" name="missing-zh">
            <a:extLst xmlns:a="http://schemas.openxmlformats.org/drawingml/2006/main">
              <a:ext uri="{FF2B5EF4-FFF2-40B4-BE49-F238E27FC236}">
                <a16:creationId xmlns:a16="http://schemas.microsoft.com/office/drawing/2014/main" id="{48427604-09C6-4208-A1E1-44E58C49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12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勾選「尚未提供」：施工揚塵的測試結果</a:t>
            </a:r>
          </a:p>
        </p:txBody>
      </p:sp>
      <p:sp>
        <p:nvSpPr>
          <p:cNvPr id="16" name="assumption">
            <a:extLst xmlns:a="http://schemas.openxmlformats.org/drawingml/2006/main">
              <a:ext uri="{FF2B5EF4-FFF2-40B4-BE49-F238E27FC236}">
                <a16:creationId xmlns:a16="http://schemas.microsoft.com/office/drawing/2014/main" id="{3E823F95-8CB4-4091-8677-A85264FC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Các giá trị là giả định cho bài tập.  數值為課堂情境設定。</a:t>
            </a:r>
          </a:p>
        </p:txBody>
      </p:sp>
      <p:sp>
        <p:nvSpPr>
          <p:cNvPr id="17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71BA900D-DD4D-4426-A292-2C928C13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23729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vi">
            <a:extLst xmlns:a="http://schemas.openxmlformats.org/drawingml/2006/main">
              <a:ext uri="{FF2B5EF4-FFF2-40B4-BE49-F238E27FC236}">
                <a16:creationId xmlns:a16="http://schemas.microsoft.com/office/drawing/2014/main" id="{61715788-49F8-4EF8-BBFB-75C2A608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Phenikaa-X tại Hà Nội: Xe tự hành và ODD</a:t>
            </a:r>
          </a:p>
        </p:txBody>
      </p:sp>
      <p:sp>
        <p:nvSpPr>
          <p:cNvPr id="2" name="title-zh">
            <a:extLst xmlns:a="http://schemas.openxmlformats.org/drawingml/2006/main">
              <a:ext uri="{FF2B5EF4-FFF2-40B4-BE49-F238E27FC236}">
                <a16:creationId xmlns:a16="http://schemas.microsoft.com/office/drawing/2014/main" id="{9373EC3D-4AE9-49CD-8A25-07D9CDE9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河內 Phenikaa-X：從影片看自駕車的使用條件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abcc8eae74cfc"/>
          <a:stretch xmlns:a="http://schemas.openxmlformats.org/drawingml/2006/main"/>
        </p:blipFill>
        <p:spPr>
          <a:xfrm xmlns:a="http://schemas.openxmlformats.org/drawingml/2006/main">
            <a:off x="609600" y="1565077"/>
            <a:ext cx="6153150" cy="3461147"/>
          </a:xfrm>
          <a:prstGeom xmlns:a="http://schemas.openxmlformats.org/drawingml/2006/main" prst="rect">
            <a:avLst/>
          </a:prstGeom>
        </p:spPr>
      </p:pic>
      <p:sp>
        <p:nvSpPr>
          <p:cNvPr id="4" name="play-vi">
            <a:hlinkClick xmlns:r="http://schemas.openxmlformats.org/officeDocument/2006/relationships" xmlns:a="http://schemas.openxmlformats.org/drawingml/2006/main" r:id="R909a097f00b941e0"/>
            <a:extLst xmlns:a="http://schemas.openxmlformats.org/drawingml/2006/main">
              <a:ext uri="{FF2B5EF4-FFF2-40B4-BE49-F238E27FC236}">
                <a16:creationId xmlns:a16="http://schemas.microsoft.com/office/drawing/2014/main" id="{E0303EAF-32A0-4E83-8D4D-ADA15E1D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15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Xem video Phenikaa-X (2:07)</a:t>
            </a:r>
          </a:p>
        </p:txBody>
      </p:sp>
      <p:sp>
        <p:nvSpPr>
          <p:cNvPr id="5" name="play-zh">
            <a:hlinkClick xmlns:r="http://schemas.openxmlformats.org/officeDocument/2006/relationships" xmlns:a="http://schemas.openxmlformats.org/drawingml/2006/main" r:id="R4920ca1c4c0440d4"/>
            <a:extLst xmlns:a="http://schemas.openxmlformats.org/drawingml/2006/main">
              <a:ext uri="{FF2B5EF4-FFF2-40B4-BE49-F238E27FC236}">
                <a16:creationId xmlns:a16="http://schemas.microsoft.com/office/drawing/2014/main" id="{9D150B8E-CA1A-4625-9E6F-E2BA6C01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6153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點此播放 Phenikaa-X 影片（2 分 07 秒）</a:t>
            </a:r>
          </a:p>
        </p:txBody>
      </p:sp>
      <p:sp>
        <p:nvSpPr>
          <p:cNvPr id="6" name="known-heading-vi">
            <a:extLst xmlns:a="http://schemas.openxmlformats.org/drawingml/2006/main">
              <a:ext uri="{FF2B5EF4-FFF2-40B4-BE49-F238E27FC236}">
                <a16:creationId xmlns:a16="http://schemas.microsoft.com/office/drawing/2014/main" id="{9EF03DB8-F800-4F68-8FF9-435B18C1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43050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Thông tin trong video</a:t>
            </a:r>
          </a:p>
        </p:txBody>
      </p:sp>
      <p:sp>
        <p:nvSpPr>
          <p:cNvPr id="7" name="known-heading-zh">
            <a:extLst xmlns:a="http://schemas.openxmlformats.org/drawingml/2006/main">
              <a:ext uri="{FF2B5EF4-FFF2-40B4-BE49-F238E27FC236}">
                <a16:creationId xmlns:a16="http://schemas.microsoft.com/office/drawing/2014/main" id="{D41675CB-F513-4604-997F-D25C5253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954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影片已提供的資訊</a:t>
            </a:r>
          </a:p>
        </p:txBody>
      </p:sp>
      <p:sp>
        <p:nvSpPr>
          <p:cNvPr id="8" name="known-body-vi">
            <a:extLst xmlns:a="http://schemas.openxmlformats.org/drawingml/2006/main">
              <a:ext uri="{FF2B5EF4-FFF2-40B4-BE49-F238E27FC236}">
                <a16:creationId xmlns:a16="http://schemas.microsoft.com/office/drawing/2014/main" id="{F39FF22F-7C46-4784-AE8F-3D6A6B26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4381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Đã thử nghiệm nội khu. Video nêu đề xuất tại Hòa Lạc và ĐHQG Hà Nội.</a:t>
            </a:r>
          </a:p>
        </p:txBody>
      </p:sp>
      <p:sp>
        <p:nvSpPr>
          <p:cNvPr id="9" name="known-body-zh">
            <a:extLst xmlns:a="http://schemas.openxmlformats.org/drawingml/2006/main">
              <a:ext uri="{FF2B5EF4-FFF2-40B4-BE49-F238E27FC236}">
                <a16:creationId xmlns:a16="http://schemas.microsoft.com/office/drawing/2014/main" id="{FDD9EE7A-A950-4AA1-812D-CCEF6E3F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48025"/>
            <a:ext cx="438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曾在內部場域測試；影片提到和樂地區</a:t>
            </a:r>
          </a:p>
          <a:p xmlns:a="http://schemas.openxmlformats.org/drawingml/2006/main">
            <a:pPr>
              <a:def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與河內國家大學的試驗提案。</a:t>
            </a:r>
          </a:p>
        </p:txBody>
      </p:sp>
      <p:sp>
        <p:nvSpPr>
          <p:cNvPr id="10" name="missing-heading-vi">
            <a:extLst xmlns:a="http://schemas.openxmlformats.org/drawingml/2006/main">
              <a:ext uri="{FF2B5EF4-FFF2-40B4-BE49-F238E27FC236}">
                <a16:creationId xmlns:a16="http://schemas.microsoft.com/office/drawing/2014/main" id="{94680940-F206-4315-AB20-703A4EB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76675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Điều kiện cần xác minh</a:t>
            </a:r>
          </a:p>
        </p:txBody>
      </p:sp>
      <p:sp>
        <p:nvSpPr>
          <p:cNvPr id="11" name="missing-heading-zh">
            <a:extLst xmlns:a="http://schemas.openxmlformats.org/drawingml/2006/main">
              <a:ext uri="{FF2B5EF4-FFF2-40B4-BE49-F238E27FC236}">
                <a16:creationId xmlns:a16="http://schemas.microsoft.com/office/drawing/2014/main" id="{BCEC8FC5-60EC-4689-8878-90946D2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2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要寫出完整 ODD，還需要確認</a:t>
            </a:r>
          </a:p>
        </p:txBody>
      </p:sp>
      <p:sp>
        <p:nvSpPr>
          <p:cNvPr id="12" name="missing-body-vi">
            <a:extLst xmlns:a="http://schemas.openxmlformats.org/drawingml/2006/main">
              <a:ext uri="{FF2B5EF4-FFF2-40B4-BE49-F238E27FC236}">
                <a16:creationId xmlns:a16="http://schemas.microsoft.com/office/drawing/2014/main" id="{DF6C9A9B-8B4B-4536-802A-CF7C75B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3C49"/>
                </a:solidFill>
                <a:latin typeface="Arial Unicode MS"/>
                <a:ea typeface="Arial Unicode MS"/>
                <a:cs typeface="Arial Unicode MS"/>
              </a:rPr>
              <a:t>Ranh giới tuyến, tốc độ cho phép, mưa, ánh sáng, tầm nhìn và xử lý khi lỗi.</a:t>
            </a:r>
          </a:p>
        </p:txBody>
      </p:sp>
      <p:sp>
        <p:nvSpPr>
          <p:cNvPr id="13" name="missing-body-zh">
            <a:extLst xmlns:a="http://schemas.openxmlformats.org/drawingml/2006/main">
              <a:ext uri="{FF2B5EF4-FFF2-40B4-BE49-F238E27FC236}">
                <a16:creationId xmlns:a16="http://schemas.microsoft.com/office/drawing/2014/main" id="{0AFCA3F2-FA92-495A-81F1-83BCDCEC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292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路線邊界、允許車速、雨量、光照、</a:t>
            </a:r>
          </a:p>
          <a:p xmlns:a="http://schemas.openxmlformats.org/drawingml/2006/main">
            <a:pPr>
              <a:def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能見度，以及失效時如何處置。</a:t>
            </a:r>
          </a:p>
        </p:txBody>
      </p:sp>
      <p:sp>
        <p:nvSpPr>
          <p:cNvPr id="14" name="takeaway-vi">
            <a:extLst xmlns:a="http://schemas.openxmlformats.org/drawingml/2006/main">
              <a:ext uri="{FF2B5EF4-FFF2-40B4-BE49-F238E27FC236}">
                <a16:creationId xmlns:a16="http://schemas.microsoft.com/office/drawing/2014/main" id="{028450B0-60A0-4622-8205-9FA77A5E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00869A"/>
                </a:solidFill>
                <a:latin typeface="Arial Unicode MS"/>
                <a:ea typeface="Arial Unicode MS"/>
                <a:cs typeface="Arial Unicode MS"/>
              </a:rPr>
              <a:t>Có người giám sát thử nghiệm chưa đủ để xác định cấp SAE.</a:t>
            </a:r>
          </a:p>
        </p:txBody>
      </p:sp>
      <p:sp>
        <p:nvSpPr>
          <p:cNvPr id="15" name="takeaway-zh">
            <a:extLst xmlns:a="http://schemas.openxmlformats.org/drawingml/2006/main">
              <a:ext uri="{FF2B5EF4-FFF2-40B4-BE49-F238E27FC236}">
                <a16:creationId xmlns:a16="http://schemas.microsoft.com/office/drawing/2014/main" id="{F4CCAA2E-5DD6-4311-8E16-56FFCE04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有試驗安全駕駛，不能單憑這一點判定 SAE 等級。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4D8C0396-8FF9-46DB-AF73-545CFA48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8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Video: PHENIKAA GROUP, 18/06/2026. Phóng sự Dân trí. 影片：PHENIKAA GROUP 發布，Dân trí 報導。</a:t>
            </a:r>
          </a:p>
        </p:txBody>
      </p:sp>
      <p:sp>
        <p:nvSpPr>
          <p:cNvPr id="17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E554205C-AF3D-4B04-B483-F27E9E6E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86D77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2322347"/>
      </p:ext>
    </p:extLst>
  </p:cSld>
</p:sld>
</file>

<file path=ppt/theme/theme1.xml><?xml version="1.0" encoding="utf-8"?>
<a:theme xmlns:a="http://schemas.openxmlformats.org/drawingml/2006/main" name="Course">
  <a:themeElements>
    <a:clrScheme name="Cours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23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2026-09-13T08:05:33.6410000Z</dcterms:created>
  <dcterms:modified xsi:type="dcterms:W3CDTF">2026-09-13T08:05:33.6410000Z</dcterms:modified>
</coreProperties>
</file>