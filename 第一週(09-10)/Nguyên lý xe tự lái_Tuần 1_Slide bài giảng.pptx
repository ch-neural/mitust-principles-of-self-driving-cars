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youtube.com/watch?v=B8R148hFxPw" TargetMode="External"/><Relationship Id="rId2" Type="http://schemas.openxmlformats.org/officeDocument/2006/relationships/hyperlink" Target="https://www.youtube.com/watch?v=B8R148hFxPw" TargetMode="External"/><Relationship Id="rId3" Type="http://schemas.openxmlformats.org/officeDocument/2006/relationships/hyperlink" Target="https://www.youtube.com/watch?v=B8R148hFxPw" TargetMode="External"/><Relationship Id="rId4" Type="http://schemas.openxmlformats.org/officeDocument/2006/relationships/hyperlink" Target="https://www.youtube.com/watch?v=B8R148hFxPw" TargetMode="External"/><Relationship Id="rId5" Type="http://schemas.openxmlformats.org/officeDocument/2006/relationships/image" Target="../media/image-18-1.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www.youtube.com/watch?v=6nDRb7ccKFY" TargetMode="External"/><Relationship Id="rId2" Type="http://schemas.openxmlformats.org/officeDocument/2006/relationships/hyperlink" Target="https://www.youtube.com/watch?v=6nDRb7ccKFY" TargetMode="External"/><Relationship Id="rId3" Type="http://schemas.openxmlformats.org/officeDocument/2006/relationships/hyperlink" Target="https://www.youtube.com/watch?v=6nDRb7ccKFY" TargetMode="External"/><Relationship Id="rId4" Type="http://schemas.openxmlformats.org/officeDocument/2006/relationships/hyperlink" Target="https://www.youtube.com/watch?v=6nDRb7ccKFY" TargetMode="External"/><Relationship Id="rId5" Type="http://schemas.openxmlformats.org/officeDocument/2006/relationships/image" Target="../media/image-24-1.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video" Target="../media/media-47-1.mp4"/><Relationship Id="rId2" Type="http://schemas.microsoft.com/office/2007/relationships/media" Target="../media/media-47-1.mp4"/><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234440"/>
            <a:ext cx="6949440" cy="274320"/>
          </a:xfrm>
          <a:prstGeom prst="rect">
            <a:avLst/>
          </a:prstGeom>
          <a:noFill/>
          <a:ln/>
        </p:spPr>
        <p:txBody>
          <a:bodyPr wrap="square" lIns="0" tIns="0" rIns="0" bIns="0" rtlCol="0" anchor="ctr"/>
          <a:lstStyle/>
          <a:p>
            <a:pPr indent="0" marL="0">
              <a:buNone/>
            </a:pPr>
            <a:r>
              <a:rPr lang="en-US" sz="1250" b="1" dirty="0">
                <a:solidFill>
                  <a:srgbClr val="00A896"/>
                </a:solidFill>
                <a:latin typeface="Arial" pitchFamily="34" charset="0"/>
                <a:ea typeface="Arial" pitchFamily="34" charset="-122"/>
                <a:cs typeface="Arial" pitchFamily="34" charset="-120"/>
              </a:rPr>
              <a:t>Năm học 115 – Học kỳ 1 · Lớp Nam 3A · Tuần 1   10/9</a:t>
            </a:r>
            <a:endParaRPr lang="en-US" sz="1250" dirty="0"/>
          </a:p>
        </p:txBody>
      </p:sp>
      <p:sp>
        <p:nvSpPr>
          <p:cNvPr id="5" name="Text 3"/>
          <p:cNvSpPr txBox="1"/>
          <p:nvPr/>
        </p:nvSpPr>
        <p:spPr>
          <a:xfrm>
            <a:off x="502920" y="1627632"/>
            <a:ext cx="74980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Nguyên lý xe tự lái</a:t>
            </a:r>
            <a:endParaRPr lang="en-US" sz="4000" dirty="0"/>
          </a:p>
        </p:txBody>
      </p:sp>
      <p:sp>
        <p:nvSpPr>
          <p:cNvPr id="6" name="Shape 4"/>
          <p:cNvSpPr/>
          <p:nvPr/>
        </p:nvSpPr>
        <p:spPr>
          <a:xfrm>
            <a:off x="502920" y="2670048"/>
            <a:ext cx="1371600" cy="41148"/>
          </a:xfrm>
          <a:prstGeom prst="rect">
            <a:avLst/>
          </a:prstGeom>
          <a:solidFill>
            <a:srgbClr val="FFB020"/>
          </a:solidFill>
          <a:ln/>
        </p:spPr>
      </p:sp>
      <p:sp>
        <p:nvSpPr>
          <p:cNvPr id="7" name="Text 5"/>
          <p:cNvSpPr txBox="1"/>
          <p:nvPr/>
        </p:nvSpPr>
        <p:spPr>
          <a:xfrm>
            <a:off x="502920" y="2889504"/>
            <a:ext cx="6949440" cy="384048"/>
          </a:xfrm>
          <a:prstGeom prst="rect">
            <a:avLst/>
          </a:prstGeom>
          <a:noFill/>
          <a:ln/>
        </p:spPr>
        <p:txBody>
          <a:bodyPr wrap="square" lIns="0" tIns="0" rIns="0" bIns="0" rtlCol="0" anchor="ctr"/>
          <a:lstStyle/>
          <a:p>
            <a:pPr indent="0" marL="0">
              <a:buNone/>
            </a:pPr>
            <a:r>
              <a:rPr lang="en-US" sz="1700" dirty="0">
                <a:solidFill>
                  <a:srgbClr val="C8D6E2"/>
                </a:solidFill>
                <a:latin typeface="Arial" pitchFamily="34" charset="0"/>
                <a:ea typeface="Arial" pitchFamily="34" charset="-122"/>
                <a:cs typeface="Arial" pitchFamily="34" charset="-120"/>
              </a:rPr>
              <a:t>Chương 1   Tổng quan về xe tự lái (Phần 1)</a:t>
            </a:r>
            <a:endParaRPr lang="en-US" sz="1700" dirty="0"/>
          </a:p>
        </p:txBody>
      </p:sp>
      <p:sp>
        <p:nvSpPr>
          <p:cNvPr id="8" name="Text 6"/>
          <p:cNvSpPr txBox="1"/>
          <p:nvPr/>
        </p:nvSpPr>
        <p:spPr>
          <a:xfrm>
            <a:off x="502920" y="4315968"/>
            <a:ext cx="6949440" cy="274320"/>
          </a:xfrm>
          <a:prstGeom prst="rect">
            <a:avLst/>
          </a:prstGeom>
          <a:noFill/>
          <a:ln/>
        </p:spPr>
        <p:txBody>
          <a:bodyPr wrap="square" lIns="0" tIns="0" rIns="0" bIns="0" rtlCol="0" anchor="ctr"/>
          <a:lstStyle/>
          <a:p>
            <a:pPr indent="0" marL="0">
              <a:buNone/>
            </a:pPr>
            <a:r>
              <a:rPr lang="en-US" sz="1200" dirty="0">
                <a:solidFill>
                  <a:srgbClr val="8AA0B4"/>
                </a:solidFill>
                <a:latin typeface="Arial" pitchFamily="34" charset="0"/>
                <a:ea typeface="Arial" pitchFamily="34" charset="-122"/>
                <a:cs typeface="Arial" pitchFamily="34" charset="-120"/>
              </a:rPr>
              <a:t>Khoa Xe thông minh và Năng lượng · Thứ Năm hằng tuần 09:10–12:00 (tiết 2–4)</a:t>
            </a:r>
            <a:endParaRPr lang="en-US" sz="1200" dirty="0"/>
          </a:p>
        </p:txBody>
      </p:sp>
      <p:sp>
        <p:nvSpPr>
          <p:cNvPr id="9" name="Shape 7"/>
          <p:cNvSpPr/>
          <p:nvPr/>
        </p:nvSpPr>
        <p:spPr>
          <a:xfrm>
            <a:off x="356616" y="310896"/>
            <a:ext cx="2212848" cy="749808"/>
          </a:xfrm>
          <a:prstGeom prst="roundRect">
            <a:avLst>
              <a:gd name="adj" fmla="val 9756"/>
            </a:avLst>
          </a:prstGeom>
          <a:solidFill>
            <a:srgbClr val="FFFFFF"/>
          </a:solidFill>
          <a:ln/>
        </p:spPr>
      </p:sp>
      <p:pic>
        <p:nvPicPr>
          <p:cNvPr id="10" name="Image 0" descr="./logo.png">    </p:cNvPr>
          <p:cNvPicPr>
            <a:picLocks noChangeAspect="1"/>
          </p:cNvPicPr>
          <p:nvPr/>
        </p:nvPicPr>
        <p:blipFill>
          <a:blip r:embed="rId1"/>
          <a:stretch>
            <a:fillRect/>
          </a:stretch>
        </p:blipFill>
        <p:spPr>
          <a:xfrm>
            <a:off x="502920" y="475488"/>
            <a:ext cx="1920240" cy="4242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Ba tiết học hôm nay</a:t>
            </a:r>
            <a:endParaRPr lang="en-US" sz="2700" dirty="0"/>
          </a:p>
        </p:txBody>
      </p:sp>
      <p:sp>
        <p:nvSpPr>
          <p:cNvPr id="3" name="Shape 1"/>
          <p:cNvSpPr/>
          <p:nvPr/>
        </p:nvSpPr>
        <p:spPr>
          <a:xfrm>
            <a:off x="502920" y="960120"/>
            <a:ext cx="8138160" cy="987552"/>
          </a:xfrm>
          <a:prstGeom prst="roundRect">
            <a:avLst>
              <a:gd name="adj" fmla="val 9259"/>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4" name="Shape 2"/>
          <p:cNvSpPr/>
          <p:nvPr/>
        </p:nvSpPr>
        <p:spPr>
          <a:xfrm>
            <a:off x="740664" y="1225296"/>
            <a:ext cx="457200" cy="457200"/>
          </a:xfrm>
          <a:prstGeom prst="ellipse">
            <a:avLst/>
          </a:prstGeom>
          <a:solidFill>
            <a:srgbClr val="00A896"/>
          </a:solidFill>
          <a:ln/>
        </p:spPr>
      </p:sp>
      <p:sp>
        <p:nvSpPr>
          <p:cNvPr id="5" name="Text 3"/>
          <p:cNvSpPr txBox="1"/>
          <p:nvPr/>
        </p:nvSpPr>
        <p:spPr>
          <a:xfrm>
            <a:off x="740664" y="1316736"/>
            <a:ext cx="457200"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371600" y="1115568"/>
            <a:ext cx="6949440" cy="310896"/>
          </a:xfrm>
          <a:prstGeom prst="rect">
            <a:avLst/>
          </a:prstGeom>
          <a:noFill/>
          <a:ln/>
        </p:spPr>
        <p:txBody>
          <a:bodyPr wrap="square" lIns="0" tIns="0" rIns="0" bIns="0" rtlCol="0" anchor="ctr"/>
          <a:lstStyle/>
          <a:p>
            <a:pPr indent="0" marL="0">
              <a:buNone/>
            </a:pPr>
            <a:r>
              <a:rPr lang="en-US" sz="1700" b="1" dirty="0">
                <a:solidFill>
                  <a:srgbClr val="0B1F3A"/>
                </a:solidFill>
                <a:latin typeface="Arial" pitchFamily="34" charset="0"/>
                <a:ea typeface="Arial" pitchFamily="34" charset="-122"/>
                <a:cs typeface="Arial" pitchFamily="34" charset="-120"/>
              </a:rPr>
              <a:t>Môn học này học thế nào; người lái xe ra sao, máy lái xe ra sao</a:t>
            </a:r>
            <a:endParaRPr lang="en-US" sz="1700" dirty="0"/>
          </a:p>
        </p:txBody>
      </p:sp>
      <p:sp>
        <p:nvSpPr>
          <p:cNvPr id="7" name="Text 5"/>
          <p:cNvSpPr txBox="1"/>
          <p:nvPr/>
        </p:nvSpPr>
        <p:spPr>
          <a:xfrm>
            <a:off x="1371600" y="1463040"/>
            <a:ext cx="6949440" cy="384048"/>
          </a:xfrm>
          <a:prstGeom prst="rect">
            <a:avLst/>
          </a:prstGeom>
          <a:noFill/>
          <a:ln/>
        </p:spPr>
        <p:txBody>
          <a:bodyPr wrap="square" lIns="0" tIns="0" rIns="0" bIns="0" rtlCol="0" anchor="ctr"/>
          <a:lstStyle/>
          <a:p>
            <a:pPr indent="0" marL="0">
              <a:buNone/>
            </a:pPr>
            <a:r>
              <a:rPr lang="en-US" sz="1300" dirty="0">
                <a:solidFill>
                  <a:srgbClr val="5F7183"/>
                </a:solidFill>
                <a:latin typeface="Arial" pitchFamily="34" charset="0"/>
                <a:ea typeface="Arial" pitchFamily="34" charset="-122"/>
                <a:cs typeface="Arial" pitchFamily="34" charset="-120"/>
              </a:rPr>
              <a:t>Tài liệu, tiến độ, cách chấm điểm; nhìn – nghĩ – làm; pipeline mô-đun và end-to-end   (giáo trình 1.1, 1.2)</a:t>
            </a:r>
            <a:endParaRPr lang="en-US" sz="1300" dirty="0"/>
          </a:p>
        </p:txBody>
      </p:sp>
      <p:sp>
        <p:nvSpPr>
          <p:cNvPr id="8" name="Shape 6"/>
          <p:cNvSpPr/>
          <p:nvPr/>
        </p:nvSpPr>
        <p:spPr>
          <a:xfrm>
            <a:off x="502920" y="2093976"/>
            <a:ext cx="8138160" cy="987552"/>
          </a:xfrm>
          <a:prstGeom prst="roundRect">
            <a:avLst>
              <a:gd name="adj" fmla="val 9259"/>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9" name="Shape 7"/>
          <p:cNvSpPr/>
          <p:nvPr/>
        </p:nvSpPr>
        <p:spPr>
          <a:xfrm>
            <a:off x="740664" y="2359152"/>
            <a:ext cx="457200" cy="457200"/>
          </a:xfrm>
          <a:prstGeom prst="ellipse">
            <a:avLst/>
          </a:prstGeom>
          <a:solidFill>
            <a:srgbClr val="00A896"/>
          </a:solidFill>
          <a:ln/>
        </p:spPr>
      </p:sp>
      <p:sp>
        <p:nvSpPr>
          <p:cNvPr id="10" name="Text 8"/>
          <p:cNvSpPr txBox="1"/>
          <p:nvPr/>
        </p:nvSpPr>
        <p:spPr>
          <a:xfrm>
            <a:off x="740664" y="2450592"/>
            <a:ext cx="457200"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1371600" y="2249424"/>
            <a:ext cx="6949440" cy="310896"/>
          </a:xfrm>
          <a:prstGeom prst="rect">
            <a:avLst/>
          </a:prstGeom>
          <a:noFill/>
          <a:ln/>
        </p:spPr>
        <p:txBody>
          <a:bodyPr wrap="square" lIns="0" tIns="0" rIns="0" bIns="0" rtlCol="0" anchor="ctr"/>
          <a:lstStyle/>
          <a:p>
            <a:pPr indent="0" marL="0">
              <a:buNone/>
            </a:pPr>
            <a:r>
              <a:rPr lang="en-US" sz="1700" b="1" dirty="0">
                <a:solidFill>
                  <a:srgbClr val="0B1F3A"/>
                </a:solidFill>
                <a:latin typeface="Arial" pitchFamily="34" charset="0"/>
                <a:ea typeface="Arial" pitchFamily="34" charset="-122"/>
                <a:cs typeface="Arial" pitchFamily="34" charset="-120"/>
              </a:rPr>
              <a:t>Sáu cấp SAE, một trăm năm phát triển, ai chịu trách nhiệm</a:t>
            </a:r>
            <a:endParaRPr lang="en-US" sz="1700" dirty="0"/>
          </a:p>
        </p:txBody>
      </p:sp>
      <p:sp>
        <p:nvSpPr>
          <p:cNvPr id="12" name="Text 10"/>
          <p:cNvSpPr txBox="1"/>
          <p:nvPr/>
        </p:nvSpPr>
        <p:spPr>
          <a:xfrm>
            <a:off x="1371600" y="2596896"/>
            <a:ext cx="6949440" cy="384048"/>
          </a:xfrm>
          <a:prstGeom prst="rect">
            <a:avLst/>
          </a:prstGeom>
          <a:noFill/>
          <a:ln/>
        </p:spPr>
        <p:txBody>
          <a:bodyPr wrap="square" lIns="0" tIns="0" rIns="0" bIns="0" rtlCol="0" anchor="ctr"/>
          <a:lstStyle/>
          <a:p>
            <a:pPr indent="0" marL="0">
              <a:buNone/>
            </a:pPr>
            <a:r>
              <a:rPr lang="en-US" sz="1300" dirty="0">
                <a:solidFill>
                  <a:srgbClr val="5F7183"/>
                </a:solidFill>
                <a:latin typeface="Arial" pitchFamily="34" charset="0"/>
                <a:ea typeface="Arial" pitchFamily="34" charset="-122"/>
                <a:cs typeface="Arial" pitchFamily="34" charset="-120"/>
              </a:rPr>
              <a:t>Bốn thuật ngữ, L0 đến L5, ODD; ba bước ngoặt; luật các nước và thí điểm ở Hà Nội   (giáo trình 1.3–1.5)</a:t>
            </a:r>
            <a:endParaRPr lang="en-US" sz="1300" dirty="0"/>
          </a:p>
        </p:txBody>
      </p:sp>
      <p:sp>
        <p:nvSpPr>
          <p:cNvPr id="13" name="Shape 11"/>
          <p:cNvSpPr/>
          <p:nvPr/>
        </p:nvSpPr>
        <p:spPr>
          <a:xfrm>
            <a:off x="502920" y="3227832"/>
            <a:ext cx="8138160" cy="987552"/>
          </a:xfrm>
          <a:prstGeom prst="roundRect">
            <a:avLst>
              <a:gd name="adj" fmla="val 9259"/>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4" name="Shape 12"/>
          <p:cNvSpPr/>
          <p:nvPr/>
        </p:nvSpPr>
        <p:spPr>
          <a:xfrm>
            <a:off x="740664" y="3493008"/>
            <a:ext cx="457200" cy="457200"/>
          </a:xfrm>
          <a:prstGeom prst="ellipse">
            <a:avLst/>
          </a:prstGeom>
          <a:solidFill>
            <a:srgbClr val="00A896"/>
          </a:solidFill>
          <a:ln/>
        </p:spPr>
      </p:sp>
      <p:sp>
        <p:nvSpPr>
          <p:cNvPr id="15" name="Text 13"/>
          <p:cNvSpPr txBox="1"/>
          <p:nvPr/>
        </p:nvSpPr>
        <p:spPr>
          <a:xfrm>
            <a:off x="740664" y="3584448"/>
            <a:ext cx="457200"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txBox="1"/>
          <p:nvPr/>
        </p:nvSpPr>
        <p:spPr>
          <a:xfrm>
            <a:off x="1371600" y="3383280"/>
            <a:ext cx="6949440" cy="310896"/>
          </a:xfrm>
          <a:prstGeom prst="rect">
            <a:avLst/>
          </a:prstGeom>
          <a:noFill/>
          <a:ln/>
        </p:spPr>
        <p:txBody>
          <a:bodyPr wrap="square" lIns="0" tIns="0" rIns="0" bIns="0" rtlCol="0" anchor="ctr"/>
          <a:lstStyle/>
          <a:p>
            <a:pPr indent="0" marL="0">
              <a:buNone/>
            </a:pPr>
            <a:r>
              <a:rPr lang="en-US" sz="1700" b="1" dirty="0">
                <a:solidFill>
                  <a:srgbClr val="0B1F3A"/>
                </a:solidFill>
                <a:latin typeface="Arial" pitchFamily="34" charset="0"/>
                <a:ea typeface="Arial" pitchFamily="34" charset="-122"/>
                <a:cs typeface="Arial" pitchFamily="34" charset="-120"/>
              </a:rPr>
              <a:t>Vì sao cần để máy lái xe; đường ở Đài Loan và Việt Nam</a:t>
            </a:r>
            <a:endParaRPr lang="en-US" sz="1700" dirty="0"/>
          </a:p>
        </p:txBody>
      </p:sp>
      <p:sp>
        <p:nvSpPr>
          <p:cNvPr id="17" name="Text 15"/>
          <p:cNvSpPr txBox="1"/>
          <p:nvPr/>
        </p:nvSpPr>
        <p:spPr>
          <a:xfrm>
            <a:off x="1371600" y="3730752"/>
            <a:ext cx="6949440" cy="384048"/>
          </a:xfrm>
          <a:prstGeom prst="rect">
            <a:avLst/>
          </a:prstGeom>
          <a:noFill/>
          <a:ln/>
        </p:spPr>
        <p:txBody>
          <a:bodyPr wrap="square" lIns="0" tIns="0" rIns="0" bIns="0" rtlCol="0" anchor="ctr"/>
          <a:lstStyle/>
          <a:p>
            <a:pPr indent="0" marL="0">
              <a:buNone/>
            </a:pPr>
            <a:r>
              <a:rPr lang="en-US" sz="1300" dirty="0">
                <a:solidFill>
                  <a:srgbClr val="5F7183"/>
                </a:solidFill>
                <a:latin typeface="Arial" pitchFamily="34" charset="0"/>
                <a:ea typeface="Arial" pitchFamily="34" charset="-122"/>
                <a:cs typeface="Arial" pitchFamily="34" charset="-120"/>
              </a:rPr>
              <a:t>Số liệu tai nạn và một câu bị trích dẫn sai; sáu bài toán khó; đồ án cuối kỳ; hoạt động 1 và 2   (giáo trình 1.6, 1.8, 1.9)</a:t>
            </a:r>
            <a:endParaRPr lang="en-US" sz="1300" dirty="0"/>
          </a:p>
        </p:txBody>
      </p:sp>
      <p:pic>
        <p:nvPicPr>
          <p:cNvPr id="18"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9" name="Text 16"/>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691640"/>
            <a:ext cx="36576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Tiết 1</a:t>
            </a:r>
            <a:endParaRPr lang="en-US" sz="1400" dirty="0"/>
          </a:p>
        </p:txBody>
      </p:sp>
      <p:sp>
        <p:nvSpPr>
          <p:cNvPr id="5" name="Text 3"/>
          <p:cNvSpPr txBox="1"/>
          <p:nvPr/>
        </p:nvSpPr>
        <p:spPr>
          <a:xfrm>
            <a:off x="502920" y="2048256"/>
            <a:ext cx="731520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Môn học này học thế nào</a:t>
            </a:r>
            <a:endParaRPr lang="en-US" sz="3400" dirty="0"/>
          </a:p>
        </p:txBody>
      </p:sp>
      <p:sp>
        <p:nvSpPr>
          <p:cNvPr id="6" name="Text 4"/>
          <p:cNvSpPr txBox="1"/>
          <p:nvPr/>
        </p:nvSpPr>
        <p:spPr>
          <a:xfrm>
            <a:off x="502920" y="2907792"/>
            <a:ext cx="7315200" cy="365760"/>
          </a:xfrm>
          <a:prstGeom prst="rect">
            <a:avLst/>
          </a:prstGeom>
          <a:noFill/>
          <a:ln/>
        </p:spPr>
        <p:txBody>
          <a:bodyPr wrap="square" lIns="0" tIns="0" rIns="0" bIns="0" rtlCol="0" anchor="ctr"/>
          <a:lstStyle/>
          <a:p>
            <a:pPr indent="0" marL="0">
              <a:buNone/>
            </a:pPr>
            <a:r>
              <a:rPr lang="en-US" sz="1550" dirty="0">
                <a:solidFill>
                  <a:srgbClr val="AFC3D4"/>
                </a:solidFill>
                <a:latin typeface="Arial" pitchFamily="34" charset="0"/>
                <a:ea typeface="Arial" pitchFamily="34" charset="-122"/>
                <a:cs typeface="Arial" pitchFamily="34" charset="-120"/>
              </a:rPr>
              <a:t>Nguồn tài liệu, tiến độ, cách chấm điểm   ｜   giáo trình 1.1</a:t>
            </a:r>
            <a:endParaRPr lang="en-US" sz="1550" dirty="0"/>
          </a:p>
        </p:txBody>
      </p:sp>
      <p:sp>
        <p:nvSpPr>
          <p:cNvPr id="7"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Tập giáo trình này từ đâu mà có</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Là tài liệu tự biên soạn, nên phải nói rõ căn cứ trước</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2468880"/>
                <a:gridCol w="3474720"/>
                <a:gridCol w="2194560"/>
              </a:tblGrid>
              <a:tr h="54864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Nguồn</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Nội dung và vai trò</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Cách lấy</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548640">
                <a:tc>
                  <a:txBody>
                    <a:bodyPr/>
                    <a:lstStyle/>
                    <a:p>
                      <a:pPr algn="l" indent="0" marL="0">
                        <a:buNone/>
                      </a:pPr>
                      <a:r>
                        <a:rPr lang="en-US" sz="1000" b="1" dirty="0">
                          <a:solidFill>
                            <a:srgbClr val="0B1F3A"/>
                          </a:solidFill>
                          <a:latin typeface="Arial" pitchFamily="34" charset="0"/>
                          <a:ea typeface="Arial" pitchFamily="34" charset="-122"/>
                          <a:cs typeface="Arial" pitchFamily="34" charset="-120"/>
                        </a:rPr>
                        <a:t>Introduction to Autonomous Driving</a:t>
                      </a:r>
                      <a:endParaRPr lang="en-US" sz="1000" dirty="0">
                        <a:latin typeface="Arial" charset="0"/>
                        <a:ea typeface="Arial" charset="0"/>
                        <a:cs typeface="Arial" charset="0"/>
                      </a:endParaRPr>
                    </a:p>
                    <a:p>
                      <a:pPr algn="l" indent="0" marL="0">
                        <a:buNone/>
                      </a:pPr>
                      <a:r>
                        <a:rPr lang="en-US" sz="1000" b="1" dirty="0">
                          <a:solidFill>
                            <a:srgbClr val="0B1F3A"/>
                          </a:solidFill>
                          <a:latin typeface="Arial" pitchFamily="34" charset="0"/>
                          <a:ea typeface="Arial" pitchFamily="34" charset="-122"/>
                          <a:cs typeface="Arial" pitchFamily="34" charset="-120"/>
                        </a:rPr>
                        <a:t>Shi &amp; He · Springer 2026</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Thứ tự các chương của 18 tuần dựa theo sách này. Tác giả phụ trách CAR Lab, ĐH Delaware; sách thiết kế thực hành bằng CARLA và Autoware.</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Sách điện tử trả phí</a:t>
                      </a:r>
                      <a:endParaRPr lang="en-US" sz="1000" dirty="0">
                        <a:latin typeface="Arial" charset="0"/>
                        <a:ea typeface="Arial" charset="0"/>
                        <a:cs typeface="Arial" charset="0"/>
                      </a:endParaRPr>
                    </a:p>
                    <a:p>
                      <a:pPr algn="l" indent="0" marL="0">
                        <a:buNone/>
                      </a:pPr>
                      <a:r>
                        <a:rPr lang="en-US" sz="1000" dirty="0">
                          <a:solidFill>
                            <a:srgbClr val="1A2733"/>
                          </a:solidFill>
                          <a:latin typeface="Arial" pitchFamily="34" charset="0"/>
                          <a:ea typeface="Arial" pitchFamily="34" charset="-122"/>
                          <a:cs typeface="Arial" pitchFamily="34" charset="-120"/>
                        </a:rPr>
                        <a:t>Không bắt buộc mua</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548640">
                <a:tc>
                  <a:txBody>
                    <a:bodyPr/>
                    <a:lstStyle/>
                    <a:p>
                      <a:pPr algn="l" indent="0" marL="0">
                        <a:buNone/>
                      </a:pPr>
                      <a:r>
                        <a:rPr lang="en-US" sz="1000" b="1" dirty="0">
                          <a:solidFill>
                            <a:srgbClr val="0B1F3A"/>
                          </a:solidFill>
                          <a:latin typeface="Arial" pitchFamily="34" charset="0"/>
                          <a:ea typeface="Arial" pitchFamily="34" charset="-122"/>
                          <a:cs typeface="Arial" pitchFamily="34" charset="-120"/>
                        </a:rPr>
                        <a:t>Autonomous Driving: Technical,</a:t>
                      </a:r>
                      <a:endParaRPr lang="en-US" sz="1000" dirty="0">
                        <a:latin typeface="Arial" charset="0"/>
                        <a:ea typeface="Arial" charset="0"/>
                        <a:cs typeface="Arial" charset="0"/>
                      </a:endParaRPr>
                    </a:p>
                    <a:p>
                      <a:pPr algn="l" indent="0" marL="0">
                        <a:buNone/>
                      </a:pPr>
                      <a:r>
                        <a:rPr lang="en-US" sz="1000" b="1" dirty="0">
                          <a:solidFill>
                            <a:srgbClr val="0B1F3A"/>
                          </a:solidFill>
                          <a:latin typeface="Arial" pitchFamily="34" charset="0"/>
                          <a:ea typeface="Arial" pitchFamily="34" charset="-122"/>
                          <a:cs typeface="Arial" pitchFamily="34" charset="-120"/>
                        </a:rPr>
                        <a:t>Legal and Social · Springer 2016</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Truy cập mở. Các chương về đạo đức, trách nhiệm pháp lý, mức chấp nhận của xã hội vẫn còn giá trị, là nguồn cho các câu thảo luận.</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PDF toàn văn miễn phí</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548640">
                <a:tc>
                  <a:txBody>
                    <a:bodyPr/>
                    <a:lstStyle/>
                    <a:p>
                      <a:pPr algn="l" indent="0" marL="0">
                        <a:buNone/>
                      </a:pPr>
                      <a:r>
                        <a:rPr lang="en-US" sz="1000" b="1" dirty="0">
                          <a:solidFill>
                            <a:srgbClr val="0B1F3A"/>
                          </a:solidFill>
                          <a:latin typeface="Arial" pitchFamily="34" charset="0"/>
                          <a:ea typeface="Arial" pitchFamily="34" charset="-122"/>
                          <a:cs typeface="Arial" pitchFamily="34" charset="-120"/>
                        </a:rPr>
                        <a:t>Self-Driving Cars · ĐH Tübingen</a:t>
                      </a:r>
                      <a:endParaRPr lang="en-US" sz="1000" dirty="0">
                        <a:latin typeface="Arial" charset="0"/>
                        <a:ea typeface="Arial" charset="0"/>
                        <a:cs typeface="Arial" charset="0"/>
                      </a:endParaRPr>
                    </a:p>
                    <a:p>
                      <a:pPr algn="l" indent="0" marL="0">
                        <a:buNone/>
                      </a:pPr>
                      <a:r>
                        <a:rPr lang="en-US" sz="1000" b="1" dirty="0">
                          <a:solidFill>
                            <a:srgbClr val="0B1F3A"/>
                          </a:solidFill>
                          <a:latin typeface="Arial" pitchFamily="34" charset="0"/>
                          <a:ea typeface="Arial" pitchFamily="34" charset="-122"/>
                          <a:cs typeface="Arial" pitchFamily="34" charset="-120"/>
                        </a:rPr>
                        <a:t>GS. Andreas Geiger · 2025/26</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12 bài giảng, slide và video quay lớp công khai miễn phí. Trình độ thạc sĩ, chỉ chọn những đoạn phù hợp để xem thêm.</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Công khai miễn phí</a:t>
                      </a:r>
                      <a:endParaRPr lang="en-US" sz="1000" dirty="0">
                        <a:latin typeface="Arial" charset="0"/>
                        <a:ea typeface="Arial" charset="0"/>
                        <a:cs typeface="Arial" charset="0"/>
                      </a:endParaRPr>
                    </a:p>
                    <a:p>
                      <a:pPr algn="l" indent="0" marL="0">
                        <a:buNone/>
                      </a:pPr>
                      <a:r>
                        <a:rPr lang="en-US" sz="1000" dirty="0">
                          <a:solidFill>
                            <a:srgbClr val="1A2733"/>
                          </a:solidFill>
                          <a:latin typeface="Arial" pitchFamily="34" charset="0"/>
                          <a:ea typeface="Arial" pitchFamily="34" charset="-122"/>
                          <a:cs typeface="Arial" pitchFamily="34" charset="-120"/>
                        </a:rPr>
                        <a:t>YouTube</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548640">
                <a:tc>
                  <a:txBody>
                    <a:bodyPr/>
                    <a:lstStyle/>
                    <a:p>
                      <a:pPr algn="l" indent="0" marL="0">
                        <a:buNone/>
                      </a:pPr>
                      <a:r>
                        <a:rPr lang="en-US" sz="1000" b="1" dirty="0">
                          <a:solidFill>
                            <a:srgbClr val="0B1F3A"/>
                          </a:solidFill>
                          <a:latin typeface="Arial" pitchFamily="34" charset="0"/>
                          <a:ea typeface="Arial" pitchFamily="34" charset="-122"/>
                          <a:cs typeface="Arial" pitchFamily="34" charset="-120"/>
                        </a:rPr>
                        <a:t>Thống kê chính thức và dữ liệu mở</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WHO, Bộ Giao thông, Tổng cục Thống kê Việt Nam, NHTSA, UNECE… Mỗi con số đều ghi rõ nguồn và năm.</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Phụ lục 4 của giáo trình</a:t>
                      </a:r>
                      <a:endParaRPr lang="en-US" sz="10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5" name="Text 2"/>
          <p:cNvSpPr txBox="1"/>
          <p:nvPr/>
        </p:nvSpPr>
        <p:spPr>
          <a:xfrm>
            <a:off x="502920" y="4078224"/>
            <a:ext cx="8138160" cy="420624"/>
          </a:xfrm>
          <a:prstGeom prst="rect">
            <a:avLst/>
          </a:prstGeom>
          <a:noFill/>
          <a:ln/>
        </p:spPr>
        <p:txBody>
          <a:bodyPr wrap="square" lIns="0" tIns="0" rIns="0" bIns="0" rtlCol="0" anchor="t"/>
          <a:lstStyle/>
          <a:p>
            <a:pPr indent="0" marL="0">
              <a:buNone/>
            </a:pPr>
            <a:r>
              <a:rPr lang="en-US" sz="1200" b="1" dirty="0">
                <a:solidFill>
                  <a:srgbClr val="007F72"/>
                </a:solidFill>
                <a:latin typeface="Arial" pitchFamily="34" charset="0"/>
                <a:ea typeface="Arial" pitchFamily="34" charset="-122"/>
                <a:cs typeface="Arial" pitchFamily="34" charset="-120"/>
              </a:rPr>
              <a:t>Trong giáo trình, sau mỗi con số đều có nguồn. Thấy con số thì xem năm trước, rồi xem ai thống kê.</a:t>
            </a:r>
            <a:endParaRPr lang="en-US" sz="1200" dirty="0"/>
          </a:p>
        </p:txBody>
      </p:sp>
      <p:pic>
        <p:nvPicPr>
          <p:cNvPr id="6"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7" name="Text 3"/>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Giáo trình mười chương — bản đồ học kỳ này</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Đọc từ dưới lên chính là cấu tạo một chiếc xe tự lái; cột phải là chương của sách tham khảo</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1188720"/>
                <a:gridCol w="3657600"/>
                <a:gridCol w="1737360"/>
                <a:gridCol w="1554480"/>
              </a:tblGrid>
              <a:tr h="27432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Giáo trình</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Chủ đề</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Tuần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Sách tham khảo</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10</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Ngành công nghiệp, xã hội và đồ án cuối kỳ</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2, 17</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13, 14</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9</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An toàn thông tin và kiểm thử: bị tấn công thì sao, chứng minh đủ an toàn thế nào</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16</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11, 12, 4</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8</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Máy tính trên xe và end-to-end</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15</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9, 10</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7</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Điều khiển xe: lệnh biến thành vô-lăng quay thật</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14</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8</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6</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Dự đoán, lập kế hoạch và ra quyết định: chọn đi đường nào</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13</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5</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Định vị và bản đồ độ chính xác cao: tôi đang ở đâu</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12</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4</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Nhận thức: nhìn thấy những gì</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8, 10</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3</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Cảm biến: mắt và tai</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5–7</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2</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Môi trường mô phỏng: dựng một con đường trong trình duyệt để tập</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3–4</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7432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Chương 1</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Tổng quan xe tự lái (chương này, hai tuần)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1–2</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1, 13</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pic>
        <p:nvPicPr>
          <p:cNvPr id="5"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6" name="Text 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Tiến độ 18 tuần</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8138160" cy="914400"/>
        </p:xfrm>
        <a:graphic>
          <a:graphicData uri="http://schemas.openxmlformats.org/drawingml/2006/table">
            <a:tbl>
              <a:tblPr/>
              <a:tblGrid>
                <a:gridCol w="1005840"/>
                <a:gridCol w="5669280"/>
                <a:gridCol w="1463040"/>
              </a:tblGrid>
              <a:tr h="329184">
                <a:tc>
                  <a:txBody>
                    <a:bodyPr/>
                    <a:lstStyle/>
                    <a:p>
                      <a:pPr indent="0" marL="0">
                        <a:buNone/>
                      </a:pPr>
                      <a:r>
                        <a:rPr lang="en-US" sz="1200" b="1" dirty="0">
                          <a:solidFill>
                            <a:srgbClr val="FFFFFF"/>
                          </a:solidFill>
                          <a:latin typeface="Arial" pitchFamily="34" charset="0"/>
                          <a:ea typeface="Arial" pitchFamily="34" charset="-122"/>
                          <a:cs typeface="Arial" pitchFamily="34" charset="-120"/>
                        </a:rPr>
                        <a:t>Tuần</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Nội dung</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Chương</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Tổng quan xe tự lái, hiện trạng toàn cầu      10/9, 17/9</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Chương 1</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Nhập môn môi trường mô phỏng (mô phỏng trên trình duyệt)      24/9, 1/10</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Chương 2</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5–7</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Công nghệ cảm biến, có thực hành bằng điện thoại và dữ liệu mở      8/10–22/10</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Chương 3</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8, 10</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Thuật toán nhận thức: máy tính nhìn thấy xe và người đi bộ ra sao      29/10, 12/11</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Chương 4</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Thi giữa kỳ      5/11 (Thứ Năm)</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Hội thao kỷ niệm thành lập trường, toàn trường nghỉ      19/11</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12–13</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Định vị và bản đồ HD, lập kế hoạch đường đi và ra quyết định      26/11, 3/12</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Chương 5, 6</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Điều khiển bằng dây và hệ thống điều khiển xe      10/12</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Chương 7</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15–16</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Máy tính trên xe, end-to-end, an toàn thông tin và kiểm thử      17/12, 24/12</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Chương 8, 9</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2733"/>
                          </a:solidFill>
                          <a:latin typeface="Arial" pitchFamily="34" charset="0"/>
                          <a:ea typeface="Arial" pitchFamily="34" charset="-122"/>
                          <a:cs typeface="Arial" pitchFamily="34" charset="-120"/>
                        </a:rPr>
                        <a:t>17–18</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Báo cáo đồ án cuối kỳ, thi cuối kỳ      31/12, 7/1 (Thứ Năm)</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c>
                  <a:txBody>
                    <a:bodyPr/>
                    <a:lstStyle/>
                    <a:p>
                      <a:pPr indent="0" marL="0">
                        <a:buNone/>
                      </a:pPr>
                      <a:r>
                        <a:rPr lang="en-US" sz="1200" dirty="0">
                          <a:solidFill>
                            <a:srgbClr val="1A2733"/>
                          </a:solidFill>
                          <a:latin typeface="Arial" pitchFamily="34" charset="0"/>
                          <a:ea typeface="Arial" pitchFamily="34" charset="-122"/>
                          <a:cs typeface="Arial" pitchFamily="34" charset="-120"/>
                        </a:rPr>
                        <a:t>Chương 10</a:t>
                      </a:r>
                      <a:endParaRPr lang="en-US" sz="1200" dirty="0">
                        <a:latin typeface="Arial" charset="0"/>
                        <a:ea typeface="Arial" charset="0"/>
                        <a:cs typeface="Arial" charset="0"/>
                      </a:endParaRPr>
                    </a:p>
                  </a:txBody>
                  <a:tcPr marL="88900" marR="889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FFFFFF"/>
                    </a:solidFill>
                  </a:tcPr>
                </a:tc>
              </a:tr>
            </a:tbl>
          </a:graphicData>
        </a:graphic>
      </p:graphicFrame>
      <p:sp>
        <p:nvSpPr>
          <p:cNvPr id="4" name="Shape 1"/>
          <p:cNvSpPr/>
          <p:nvPr/>
        </p:nvSpPr>
        <p:spPr>
          <a:xfrm>
            <a:off x="502920" y="960120"/>
            <a:ext cx="8138160" cy="329184"/>
          </a:xfrm>
          <a:prstGeom prst="rect">
            <a:avLst/>
          </a:prstGeom>
          <a:solidFill>
            <a:srgbClr val="0B1F3A"/>
          </a:solidFill>
          <a:ln/>
        </p:spPr>
      </p:sp>
      <p:sp>
        <p:nvSpPr>
          <p:cNvPr id="5" name="Text 2"/>
          <p:cNvSpPr txBox="1"/>
          <p:nvPr/>
        </p:nvSpPr>
        <p:spPr>
          <a:xfrm>
            <a:off x="594360" y="1005840"/>
            <a:ext cx="91440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Tuần</a:t>
            </a:r>
            <a:endParaRPr lang="en-US" sz="1200" dirty="0"/>
          </a:p>
        </p:txBody>
      </p:sp>
      <p:sp>
        <p:nvSpPr>
          <p:cNvPr id="6" name="Text 3"/>
          <p:cNvSpPr txBox="1"/>
          <p:nvPr/>
        </p:nvSpPr>
        <p:spPr>
          <a:xfrm>
            <a:off x="1600200" y="1005840"/>
            <a:ext cx="457200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Nội dung</a:t>
            </a:r>
            <a:endParaRPr lang="en-US" sz="1200" dirty="0"/>
          </a:p>
        </p:txBody>
      </p:sp>
      <p:sp>
        <p:nvSpPr>
          <p:cNvPr id="7" name="Text 4"/>
          <p:cNvSpPr txBox="1"/>
          <p:nvPr/>
        </p:nvSpPr>
        <p:spPr>
          <a:xfrm>
            <a:off x="7269480" y="1005840"/>
            <a:ext cx="128016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Chương</a:t>
            </a:r>
            <a:endParaRPr lang="en-US" sz="1200" dirty="0"/>
          </a:p>
        </p:txBody>
      </p:sp>
      <p:pic>
        <p:nvPicPr>
          <p:cNvPr id="8"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9"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Mỗi tuần ba tiết học thế nào</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Cùng một khái niệm xuất hiện ba lần trong một buổi, mỗi lần một cách khác nhau</a:t>
            </a:r>
            <a:endParaRPr lang="en-US" sz="1350" dirty="0"/>
          </a:p>
        </p:txBody>
      </p:sp>
      <p:sp>
        <p:nvSpPr>
          <p:cNvPr id="4" name="Shape 2"/>
          <p:cNvSpPr/>
          <p:nvPr/>
        </p:nvSpPr>
        <p:spPr>
          <a:xfrm>
            <a:off x="502920" y="1207008"/>
            <a:ext cx="2578608" cy="2331720"/>
          </a:xfrm>
          <a:prstGeom prst="roundRect">
            <a:avLst>
              <a:gd name="adj" fmla="val 392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Shape 3"/>
          <p:cNvSpPr/>
          <p:nvPr/>
        </p:nvSpPr>
        <p:spPr>
          <a:xfrm>
            <a:off x="722376" y="1426464"/>
            <a:ext cx="475488" cy="475488"/>
          </a:xfrm>
          <a:prstGeom prst="ellipse">
            <a:avLst/>
          </a:prstGeom>
          <a:solidFill>
            <a:srgbClr val="00A896"/>
          </a:solidFill>
          <a:ln/>
        </p:spPr>
      </p:sp>
      <p:sp>
        <p:nvSpPr>
          <p:cNvPr id="6" name="Text 4"/>
          <p:cNvSpPr txBox="1"/>
          <p:nvPr/>
        </p:nvSpPr>
        <p:spPr>
          <a:xfrm>
            <a:off x="722376" y="1527048"/>
            <a:ext cx="475488"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722376" y="2029968"/>
            <a:ext cx="2139696" cy="329184"/>
          </a:xfrm>
          <a:prstGeom prst="rect">
            <a:avLst/>
          </a:prstGeom>
          <a:noFill/>
          <a:ln/>
        </p:spPr>
        <p:txBody>
          <a:bodyPr wrap="square" lIns="0" tIns="0" rIns="0" bIns="0" rtlCol="0" anchor="ctr"/>
          <a:lstStyle/>
          <a:p>
            <a:pPr indent="0" marL="0">
              <a:buNone/>
            </a:pPr>
            <a:r>
              <a:rPr lang="en-US" sz="1800" b="1" dirty="0">
                <a:solidFill>
                  <a:srgbClr val="0B1F3A"/>
                </a:solidFill>
                <a:latin typeface="Arial" pitchFamily="34" charset="0"/>
                <a:ea typeface="Arial" pitchFamily="34" charset="-122"/>
                <a:cs typeface="Arial" pitchFamily="34" charset="-120"/>
              </a:rPr>
              <a:t>Nghe</a:t>
            </a:r>
            <a:endParaRPr lang="en-US" sz="1800" dirty="0"/>
          </a:p>
        </p:txBody>
      </p:sp>
      <p:sp>
        <p:nvSpPr>
          <p:cNvPr id="8" name="Text 6"/>
          <p:cNvSpPr txBox="1"/>
          <p:nvPr/>
        </p:nvSpPr>
        <p:spPr>
          <a:xfrm>
            <a:off x="722376" y="2395728"/>
            <a:ext cx="2139696" cy="914400"/>
          </a:xfrm>
          <a:prstGeom prst="rect">
            <a:avLst/>
          </a:prstGeom>
          <a:noFill/>
          <a:ln/>
        </p:spPr>
        <p:txBody>
          <a:bodyPr wrap="square" lIns="0" tIns="0" rIns="0" bIns="0" rtlCol="0" anchor="t"/>
          <a:lstStyle/>
          <a:p>
            <a:pPr indent="0" marL="0">
              <a:buNone/>
            </a:pPr>
            <a:r>
              <a:rPr lang="en-US" sz="1350" dirty="0">
                <a:solidFill>
                  <a:srgbClr val="5F7183"/>
                </a:solidFill>
                <a:latin typeface="Arial" pitchFamily="34" charset="0"/>
                <a:ea typeface="Arial" pitchFamily="34" charset="-122"/>
                <a:cs typeface="Arial" pitchFamily="34" charset="-120"/>
              </a:rPr>
              <a:t>Giảng khái niệm. Slide chủ yếu bằng hình, thuật ngữ then chốt có đối chiếu Trung – Anh.</a:t>
            </a:r>
            <a:endParaRPr lang="en-US" sz="1350" dirty="0"/>
          </a:p>
        </p:txBody>
      </p:sp>
      <p:sp>
        <p:nvSpPr>
          <p:cNvPr id="9" name="Text 7"/>
          <p:cNvSpPr txBox="1"/>
          <p:nvPr/>
        </p:nvSpPr>
        <p:spPr>
          <a:xfrm>
            <a:off x="722376" y="3255264"/>
            <a:ext cx="2139696" cy="219456"/>
          </a:xfrm>
          <a:prstGeom prst="rect">
            <a:avLst/>
          </a:prstGeom>
          <a:noFill/>
          <a:ln/>
        </p:spPr>
        <p:txBody>
          <a:bodyPr wrap="square" lIns="0" tIns="0" rIns="0" bIns="0" rtlCol="0" anchor="ctr"/>
          <a:lstStyle/>
          <a:p>
            <a:pPr indent="0" marL="0">
              <a:buNone/>
            </a:pPr>
            <a:r>
              <a:rPr lang="en-US" sz="1100" b="1" dirty="0">
                <a:solidFill>
                  <a:srgbClr val="007F72"/>
                </a:solidFill>
                <a:latin typeface="Arial" pitchFamily="34" charset="0"/>
                <a:ea typeface="Arial" pitchFamily="34" charset="-122"/>
                <a:cs typeface="Arial" pitchFamily="34" charset="-120"/>
              </a:rPr>
              <a:t>Tiết 1</a:t>
            </a:r>
            <a:endParaRPr lang="en-US" sz="1100" dirty="0"/>
          </a:p>
        </p:txBody>
      </p:sp>
      <p:sp>
        <p:nvSpPr>
          <p:cNvPr id="10" name="Shape 8"/>
          <p:cNvSpPr/>
          <p:nvPr/>
        </p:nvSpPr>
        <p:spPr>
          <a:xfrm>
            <a:off x="3282696" y="1207008"/>
            <a:ext cx="2578608" cy="2331720"/>
          </a:xfrm>
          <a:prstGeom prst="roundRect">
            <a:avLst>
              <a:gd name="adj" fmla="val 392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1" name="Shape 9"/>
          <p:cNvSpPr/>
          <p:nvPr/>
        </p:nvSpPr>
        <p:spPr>
          <a:xfrm>
            <a:off x="3502152" y="1426464"/>
            <a:ext cx="475488" cy="475488"/>
          </a:xfrm>
          <a:prstGeom prst="ellipse">
            <a:avLst/>
          </a:prstGeom>
          <a:solidFill>
            <a:srgbClr val="0B1F3A"/>
          </a:solidFill>
          <a:ln/>
        </p:spPr>
      </p:sp>
      <p:sp>
        <p:nvSpPr>
          <p:cNvPr id="12" name="Text 10"/>
          <p:cNvSpPr txBox="1"/>
          <p:nvPr/>
        </p:nvSpPr>
        <p:spPr>
          <a:xfrm>
            <a:off x="3502152" y="1527048"/>
            <a:ext cx="475488"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3502152" y="2029968"/>
            <a:ext cx="2139696" cy="329184"/>
          </a:xfrm>
          <a:prstGeom prst="rect">
            <a:avLst/>
          </a:prstGeom>
          <a:noFill/>
          <a:ln/>
        </p:spPr>
        <p:txBody>
          <a:bodyPr wrap="square" lIns="0" tIns="0" rIns="0" bIns="0" rtlCol="0" anchor="ctr"/>
          <a:lstStyle/>
          <a:p>
            <a:pPr indent="0" marL="0">
              <a:buNone/>
            </a:pPr>
            <a:r>
              <a:rPr lang="en-US" sz="1800" b="1" dirty="0">
                <a:solidFill>
                  <a:srgbClr val="0B1F3A"/>
                </a:solidFill>
                <a:latin typeface="Arial" pitchFamily="34" charset="0"/>
                <a:ea typeface="Arial" pitchFamily="34" charset="-122"/>
                <a:cs typeface="Arial" pitchFamily="34" charset="-120"/>
              </a:rPr>
              <a:t>Nhìn</a:t>
            </a:r>
            <a:endParaRPr lang="en-US" sz="1800" dirty="0"/>
          </a:p>
        </p:txBody>
      </p:sp>
      <p:sp>
        <p:nvSpPr>
          <p:cNvPr id="14" name="Text 12"/>
          <p:cNvSpPr txBox="1"/>
          <p:nvPr/>
        </p:nvSpPr>
        <p:spPr>
          <a:xfrm>
            <a:off x="3502152" y="2395728"/>
            <a:ext cx="2139696" cy="914400"/>
          </a:xfrm>
          <a:prstGeom prst="rect">
            <a:avLst/>
          </a:prstGeom>
          <a:noFill/>
          <a:ln/>
        </p:spPr>
        <p:txBody>
          <a:bodyPr wrap="square" lIns="0" tIns="0" rIns="0" bIns="0" rtlCol="0" anchor="t"/>
          <a:lstStyle/>
          <a:p>
            <a:pPr indent="0" marL="0">
              <a:buNone/>
            </a:pPr>
            <a:r>
              <a:rPr lang="en-US" sz="1350" dirty="0">
                <a:solidFill>
                  <a:srgbClr val="5F7183"/>
                </a:solidFill>
                <a:latin typeface="Arial" pitchFamily="34" charset="0"/>
                <a:ea typeface="Arial" pitchFamily="34" charset="-122"/>
                <a:cs typeface="Arial" pitchFamily="34" charset="-120"/>
              </a:rPr>
              <a:t>Ví dụ và trình diễn. Video, xem xe thật, thao tác tại chỗ.</a:t>
            </a:r>
            <a:endParaRPr lang="en-US" sz="1350" dirty="0"/>
          </a:p>
        </p:txBody>
      </p:sp>
      <p:sp>
        <p:nvSpPr>
          <p:cNvPr id="15" name="Text 13"/>
          <p:cNvSpPr txBox="1"/>
          <p:nvPr/>
        </p:nvSpPr>
        <p:spPr>
          <a:xfrm>
            <a:off x="3502152" y="3255264"/>
            <a:ext cx="2139696" cy="219456"/>
          </a:xfrm>
          <a:prstGeom prst="rect">
            <a:avLst/>
          </a:prstGeom>
          <a:noFill/>
          <a:ln/>
        </p:spPr>
        <p:txBody>
          <a:bodyPr wrap="square" lIns="0" tIns="0" rIns="0" bIns="0" rtlCol="0" anchor="ctr"/>
          <a:lstStyle/>
          <a:p>
            <a:pPr indent="0" marL="0">
              <a:buNone/>
            </a:pPr>
            <a:r>
              <a:rPr lang="en-US" sz="1100" b="1" dirty="0">
                <a:solidFill>
                  <a:srgbClr val="007F72"/>
                </a:solidFill>
                <a:latin typeface="Arial" pitchFamily="34" charset="0"/>
                <a:ea typeface="Arial" pitchFamily="34" charset="-122"/>
                <a:cs typeface="Arial" pitchFamily="34" charset="-120"/>
              </a:rPr>
              <a:t>Tiết 2</a:t>
            </a:r>
            <a:endParaRPr lang="en-US" sz="1100" dirty="0"/>
          </a:p>
        </p:txBody>
      </p:sp>
      <p:sp>
        <p:nvSpPr>
          <p:cNvPr id="16" name="Shape 14"/>
          <p:cNvSpPr/>
          <p:nvPr/>
        </p:nvSpPr>
        <p:spPr>
          <a:xfrm>
            <a:off x="6062472" y="1207008"/>
            <a:ext cx="2578608" cy="2331720"/>
          </a:xfrm>
          <a:prstGeom prst="roundRect">
            <a:avLst>
              <a:gd name="adj" fmla="val 392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7" name="Shape 15"/>
          <p:cNvSpPr/>
          <p:nvPr/>
        </p:nvSpPr>
        <p:spPr>
          <a:xfrm>
            <a:off x="6281928" y="1426464"/>
            <a:ext cx="475488" cy="475488"/>
          </a:xfrm>
          <a:prstGeom prst="ellipse">
            <a:avLst/>
          </a:prstGeom>
          <a:solidFill>
            <a:srgbClr val="FFB020"/>
          </a:solidFill>
          <a:ln/>
        </p:spPr>
      </p:sp>
      <p:sp>
        <p:nvSpPr>
          <p:cNvPr id="18" name="Text 16"/>
          <p:cNvSpPr txBox="1"/>
          <p:nvPr/>
        </p:nvSpPr>
        <p:spPr>
          <a:xfrm>
            <a:off x="6281928" y="1527048"/>
            <a:ext cx="475488" cy="274320"/>
          </a:xfrm>
          <a:prstGeom prst="rect">
            <a:avLst/>
          </a:prstGeom>
          <a:noFill/>
          <a:ln/>
        </p:spPr>
        <p:txBody>
          <a:bodyPr wrap="square" lIns="0" tIns="0" rIns="0" bIns="0" rtlCol="0" anchor="ctr"/>
          <a:lstStyle/>
          <a:p>
            <a:pPr algn="ctr" indent="0" marL="0">
              <a:buNone/>
            </a:pPr>
            <a:r>
              <a:rPr lang="en-US" sz="1500" b="1" dirty="0">
                <a:solidFill>
                  <a:srgbClr val="3A2A00"/>
                </a:solidFill>
                <a:latin typeface="Arial" pitchFamily="34" charset="0"/>
                <a:ea typeface="Arial" pitchFamily="34" charset="-122"/>
                <a:cs typeface="Arial" pitchFamily="34" charset="-120"/>
              </a:rPr>
              <a:t>3</a:t>
            </a:r>
            <a:endParaRPr lang="en-US" sz="1500" dirty="0"/>
          </a:p>
        </p:txBody>
      </p:sp>
      <p:sp>
        <p:nvSpPr>
          <p:cNvPr id="19" name="Text 17"/>
          <p:cNvSpPr txBox="1"/>
          <p:nvPr/>
        </p:nvSpPr>
        <p:spPr>
          <a:xfrm>
            <a:off x="6281928" y="2029968"/>
            <a:ext cx="2139696" cy="329184"/>
          </a:xfrm>
          <a:prstGeom prst="rect">
            <a:avLst/>
          </a:prstGeom>
          <a:noFill/>
          <a:ln/>
        </p:spPr>
        <p:txBody>
          <a:bodyPr wrap="square" lIns="0" tIns="0" rIns="0" bIns="0" rtlCol="0" anchor="ctr"/>
          <a:lstStyle/>
          <a:p>
            <a:pPr indent="0" marL="0">
              <a:buNone/>
            </a:pPr>
            <a:r>
              <a:rPr lang="en-US" sz="1800" b="1" dirty="0">
                <a:solidFill>
                  <a:srgbClr val="0B1F3A"/>
                </a:solidFill>
                <a:latin typeface="Arial" pitchFamily="34" charset="0"/>
                <a:ea typeface="Arial" pitchFamily="34" charset="-122"/>
                <a:cs typeface="Arial" pitchFamily="34" charset="-120"/>
              </a:rPr>
              <a:t>Làm</a:t>
            </a:r>
            <a:endParaRPr lang="en-US" sz="1800" dirty="0"/>
          </a:p>
        </p:txBody>
      </p:sp>
      <p:sp>
        <p:nvSpPr>
          <p:cNvPr id="20" name="Text 18"/>
          <p:cNvSpPr txBox="1"/>
          <p:nvPr/>
        </p:nvSpPr>
        <p:spPr>
          <a:xfrm>
            <a:off x="6281928" y="2395728"/>
            <a:ext cx="2139696" cy="914400"/>
          </a:xfrm>
          <a:prstGeom prst="rect">
            <a:avLst/>
          </a:prstGeom>
          <a:noFill/>
          <a:ln/>
        </p:spPr>
        <p:txBody>
          <a:bodyPr wrap="square" lIns="0" tIns="0" rIns="0" bIns="0" rtlCol="0" anchor="t"/>
          <a:lstStyle/>
          <a:p>
            <a:pPr indent="0" marL="0">
              <a:buNone/>
            </a:pPr>
            <a:r>
              <a:rPr lang="en-US" sz="1350" dirty="0">
                <a:solidFill>
                  <a:srgbClr val="5F7183"/>
                </a:solidFill>
                <a:latin typeface="Arial" pitchFamily="34" charset="0"/>
                <a:ea typeface="Arial" pitchFamily="34" charset="-122"/>
                <a:cs typeface="Arial" pitchFamily="34" charset="-120"/>
              </a:rPr>
              <a:t>Tự tay thực hành. Mô phỏng, gán nhãn dữ liệu, phân tích tình huống, đo bằng điện thoại.</a:t>
            </a:r>
            <a:endParaRPr lang="en-US" sz="1350" dirty="0"/>
          </a:p>
        </p:txBody>
      </p:sp>
      <p:sp>
        <p:nvSpPr>
          <p:cNvPr id="21" name="Text 19"/>
          <p:cNvSpPr txBox="1"/>
          <p:nvPr/>
        </p:nvSpPr>
        <p:spPr>
          <a:xfrm>
            <a:off x="6281928" y="3255264"/>
            <a:ext cx="2139696" cy="219456"/>
          </a:xfrm>
          <a:prstGeom prst="rect">
            <a:avLst/>
          </a:prstGeom>
          <a:noFill/>
          <a:ln/>
        </p:spPr>
        <p:txBody>
          <a:bodyPr wrap="square" lIns="0" tIns="0" rIns="0" bIns="0" rtlCol="0" anchor="ctr"/>
          <a:lstStyle/>
          <a:p>
            <a:pPr indent="0" marL="0">
              <a:buNone/>
            </a:pPr>
            <a:r>
              <a:rPr lang="en-US" sz="1100" b="1" dirty="0">
                <a:solidFill>
                  <a:srgbClr val="007F72"/>
                </a:solidFill>
                <a:latin typeface="Arial" pitchFamily="34" charset="0"/>
                <a:ea typeface="Arial" pitchFamily="34" charset="-122"/>
                <a:cs typeface="Arial" pitchFamily="34" charset="-120"/>
              </a:rPr>
              <a:t>Tiết 3</a:t>
            </a:r>
            <a:endParaRPr lang="en-US" sz="1100" dirty="0"/>
          </a:p>
        </p:txBody>
      </p:sp>
      <p:sp>
        <p:nvSpPr>
          <p:cNvPr id="22" name="Text 20"/>
          <p:cNvSpPr txBox="1"/>
          <p:nvPr/>
        </p:nvSpPr>
        <p:spPr>
          <a:xfrm>
            <a:off x="502920" y="3730752"/>
            <a:ext cx="8138160" cy="365760"/>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Tiết 1 nghe chưa hiểu cũng không sao; tiết 3 tự làm một lần là sẽ hiểu.</a:t>
            </a:r>
            <a:endParaRPr lang="en-US" sz="1400" dirty="0"/>
          </a:p>
        </p:txBody>
      </p:sp>
      <p:pic>
        <p:nvPicPr>
          <p:cNvPr id="23"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4" name="Text 2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Điểm được tính thế nào</a:t>
            </a:r>
            <a:endParaRPr lang="en-US" sz="2700" dirty="0"/>
          </a:p>
        </p:txBody>
      </p:sp>
      <p:sp>
        <p:nvSpPr>
          <p:cNvPr id="3" name="Text 1"/>
          <p:cNvSpPr txBox="1"/>
          <p:nvPr/>
        </p:nvSpPr>
        <p:spPr>
          <a:xfrm>
            <a:off x="502920" y="960120"/>
            <a:ext cx="2286000" cy="329184"/>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Thực hành và thực tập máy</a:t>
            </a:r>
            <a:endParaRPr lang="en-US" sz="1400" dirty="0"/>
          </a:p>
        </p:txBody>
      </p:sp>
      <p:sp>
        <p:nvSpPr>
          <p:cNvPr id="4" name="Shape 2"/>
          <p:cNvSpPr/>
          <p:nvPr/>
        </p:nvSpPr>
        <p:spPr>
          <a:xfrm>
            <a:off x="2834640" y="1014984"/>
            <a:ext cx="4297680" cy="237744"/>
          </a:xfrm>
          <a:prstGeom prst="roundRect">
            <a:avLst>
              <a:gd name="adj" fmla="val 19231"/>
            </a:avLst>
          </a:prstGeom>
          <a:solidFill>
            <a:srgbClr val="EDF1F5"/>
          </a:solidFill>
          <a:ln/>
        </p:spPr>
      </p:sp>
      <p:sp>
        <p:nvSpPr>
          <p:cNvPr id="5" name="Shape 3"/>
          <p:cNvSpPr/>
          <p:nvPr/>
        </p:nvSpPr>
        <p:spPr>
          <a:xfrm>
            <a:off x="2834640" y="1014984"/>
            <a:ext cx="4297680" cy="237744"/>
          </a:xfrm>
          <a:prstGeom prst="roundRect">
            <a:avLst>
              <a:gd name="adj" fmla="val 19231"/>
            </a:avLst>
          </a:prstGeom>
          <a:solidFill>
            <a:srgbClr val="00A896"/>
          </a:solidFill>
          <a:ln/>
        </p:spPr>
      </p:sp>
      <p:sp>
        <p:nvSpPr>
          <p:cNvPr id="6" name="Text 4"/>
          <p:cNvSpPr txBox="1"/>
          <p:nvPr/>
        </p:nvSpPr>
        <p:spPr>
          <a:xfrm>
            <a:off x="7269480" y="960120"/>
            <a:ext cx="914400" cy="329184"/>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40%</a:t>
            </a:r>
            <a:endParaRPr lang="en-US" sz="1400" dirty="0"/>
          </a:p>
        </p:txBody>
      </p:sp>
      <p:sp>
        <p:nvSpPr>
          <p:cNvPr id="7" name="Text 5"/>
          <p:cNvSpPr txBox="1"/>
          <p:nvPr/>
        </p:nvSpPr>
        <p:spPr>
          <a:xfrm>
            <a:off x="502920" y="1435608"/>
            <a:ext cx="2286000" cy="329184"/>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Đồ án cuối kỳ</a:t>
            </a:r>
            <a:endParaRPr lang="en-US" sz="1400" dirty="0"/>
          </a:p>
        </p:txBody>
      </p:sp>
      <p:sp>
        <p:nvSpPr>
          <p:cNvPr id="8" name="Shape 6"/>
          <p:cNvSpPr/>
          <p:nvPr/>
        </p:nvSpPr>
        <p:spPr>
          <a:xfrm>
            <a:off x="2834640" y="1490472"/>
            <a:ext cx="4297680" cy="237744"/>
          </a:xfrm>
          <a:prstGeom prst="roundRect">
            <a:avLst>
              <a:gd name="adj" fmla="val 19231"/>
            </a:avLst>
          </a:prstGeom>
          <a:solidFill>
            <a:srgbClr val="EDF1F5"/>
          </a:solidFill>
          <a:ln/>
        </p:spPr>
      </p:sp>
      <p:sp>
        <p:nvSpPr>
          <p:cNvPr id="9" name="Shape 7"/>
          <p:cNvSpPr/>
          <p:nvPr/>
        </p:nvSpPr>
        <p:spPr>
          <a:xfrm>
            <a:off x="2834640" y="1490472"/>
            <a:ext cx="2686050" cy="237744"/>
          </a:xfrm>
          <a:prstGeom prst="roundRect">
            <a:avLst>
              <a:gd name="adj" fmla="val 19231"/>
            </a:avLst>
          </a:prstGeom>
          <a:solidFill>
            <a:srgbClr val="0B1F3A"/>
          </a:solidFill>
          <a:ln/>
        </p:spPr>
      </p:sp>
      <p:sp>
        <p:nvSpPr>
          <p:cNvPr id="10" name="Text 8"/>
          <p:cNvSpPr txBox="1"/>
          <p:nvPr/>
        </p:nvSpPr>
        <p:spPr>
          <a:xfrm>
            <a:off x="7269480" y="1435608"/>
            <a:ext cx="914400" cy="329184"/>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25%</a:t>
            </a:r>
            <a:endParaRPr lang="en-US" sz="1400" dirty="0"/>
          </a:p>
        </p:txBody>
      </p:sp>
      <p:sp>
        <p:nvSpPr>
          <p:cNvPr id="11" name="Text 9"/>
          <p:cNvSpPr txBox="1"/>
          <p:nvPr/>
        </p:nvSpPr>
        <p:spPr>
          <a:xfrm>
            <a:off x="502920" y="1911096"/>
            <a:ext cx="2286000" cy="329184"/>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Thi giữa kỳ</a:t>
            </a:r>
            <a:endParaRPr lang="en-US" sz="1400" dirty="0"/>
          </a:p>
        </p:txBody>
      </p:sp>
      <p:sp>
        <p:nvSpPr>
          <p:cNvPr id="12" name="Shape 10"/>
          <p:cNvSpPr/>
          <p:nvPr/>
        </p:nvSpPr>
        <p:spPr>
          <a:xfrm>
            <a:off x="2834640" y="1965960"/>
            <a:ext cx="4297680" cy="237744"/>
          </a:xfrm>
          <a:prstGeom prst="roundRect">
            <a:avLst>
              <a:gd name="adj" fmla="val 19231"/>
            </a:avLst>
          </a:prstGeom>
          <a:solidFill>
            <a:srgbClr val="EDF1F5"/>
          </a:solidFill>
          <a:ln/>
        </p:spPr>
      </p:sp>
      <p:sp>
        <p:nvSpPr>
          <p:cNvPr id="13" name="Shape 11"/>
          <p:cNvSpPr/>
          <p:nvPr/>
        </p:nvSpPr>
        <p:spPr>
          <a:xfrm>
            <a:off x="2834640" y="1965960"/>
            <a:ext cx="1611630" cy="237744"/>
          </a:xfrm>
          <a:prstGeom prst="roundRect">
            <a:avLst>
              <a:gd name="adj" fmla="val 19231"/>
            </a:avLst>
          </a:prstGeom>
          <a:solidFill>
            <a:srgbClr val="0B1F3A"/>
          </a:solidFill>
          <a:ln/>
        </p:spPr>
      </p:sp>
      <p:sp>
        <p:nvSpPr>
          <p:cNvPr id="14" name="Text 12"/>
          <p:cNvSpPr txBox="1"/>
          <p:nvPr/>
        </p:nvSpPr>
        <p:spPr>
          <a:xfrm>
            <a:off x="7269480" y="1911096"/>
            <a:ext cx="914400" cy="329184"/>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15%</a:t>
            </a:r>
            <a:endParaRPr lang="en-US" sz="1400" dirty="0"/>
          </a:p>
        </p:txBody>
      </p:sp>
      <p:sp>
        <p:nvSpPr>
          <p:cNvPr id="15" name="Text 13"/>
          <p:cNvSpPr txBox="1"/>
          <p:nvPr/>
        </p:nvSpPr>
        <p:spPr>
          <a:xfrm>
            <a:off x="502920" y="2386584"/>
            <a:ext cx="2286000" cy="329184"/>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Thi cuối kỳ</a:t>
            </a:r>
            <a:endParaRPr lang="en-US" sz="1400" dirty="0"/>
          </a:p>
        </p:txBody>
      </p:sp>
      <p:sp>
        <p:nvSpPr>
          <p:cNvPr id="16" name="Shape 14"/>
          <p:cNvSpPr/>
          <p:nvPr/>
        </p:nvSpPr>
        <p:spPr>
          <a:xfrm>
            <a:off x="2834640" y="2441448"/>
            <a:ext cx="4297680" cy="237744"/>
          </a:xfrm>
          <a:prstGeom prst="roundRect">
            <a:avLst>
              <a:gd name="adj" fmla="val 19231"/>
            </a:avLst>
          </a:prstGeom>
          <a:solidFill>
            <a:srgbClr val="EDF1F5"/>
          </a:solidFill>
          <a:ln/>
        </p:spPr>
      </p:sp>
      <p:sp>
        <p:nvSpPr>
          <p:cNvPr id="17" name="Shape 15"/>
          <p:cNvSpPr/>
          <p:nvPr/>
        </p:nvSpPr>
        <p:spPr>
          <a:xfrm>
            <a:off x="2834640" y="2441448"/>
            <a:ext cx="1611630" cy="237744"/>
          </a:xfrm>
          <a:prstGeom prst="roundRect">
            <a:avLst>
              <a:gd name="adj" fmla="val 19231"/>
            </a:avLst>
          </a:prstGeom>
          <a:solidFill>
            <a:srgbClr val="0B1F3A"/>
          </a:solidFill>
          <a:ln/>
        </p:spPr>
      </p:sp>
      <p:sp>
        <p:nvSpPr>
          <p:cNvPr id="18" name="Text 16"/>
          <p:cNvSpPr txBox="1"/>
          <p:nvPr/>
        </p:nvSpPr>
        <p:spPr>
          <a:xfrm>
            <a:off x="7269480" y="2386584"/>
            <a:ext cx="914400" cy="329184"/>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15%</a:t>
            </a:r>
            <a:endParaRPr lang="en-US" sz="1400" dirty="0"/>
          </a:p>
        </p:txBody>
      </p:sp>
      <p:sp>
        <p:nvSpPr>
          <p:cNvPr id="19" name="Text 17"/>
          <p:cNvSpPr txBox="1"/>
          <p:nvPr/>
        </p:nvSpPr>
        <p:spPr>
          <a:xfrm>
            <a:off x="502920" y="2862072"/>
            <a:ext cx="2286000" cy="329184"/>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Tham gia trên lớp</a:t>
            </a:r>
            <a:endParaRPr lang="en-US" sz="1400" dirty="0"/>
          </a:p>
        </p:txBody>
      </p:sp>
      <p:sp>
        <p:nvSpPr>
          <p:cNvPr id="20" name="Shape 18"/>
          <p:cNvSpPr/>
          <p:nvPr/>
        </p:nvSpPr>
        <p:spPr>
          <a:xfrm>
            <a:off x="2834640" y="2916936"/>
            <a:ext cx="4297680" cy="237744"/>
          </a:xfrm>
          <a:prstGeom prst="roundRect">
            <a:avLst>
              <a:gd name="adj" fmla="val 19231"/>
            </a:avLst>
          </a:prstGeom>
          <a:solidFill>
            <a:srgbClr val="EDF1F5"/>
          </a:solidFill>
          <a:ln/>
        </p:spPr>
      </p:sp>
      <p:sp>
        <p:nvSpPr>
          <p:cNvPr id="21" name="Shape 19"/>
          <p:cNvSpPr/>
          <p:nvPr/>
        </p:nvSpPr>
        <p:spPr>
          <a:xfrm>
            <a:off x="2834640" y="2916936"/>
            <a:ext cx="537210" cy="237744"/>
          </a:xfrm>
          <a:prstGeom prst="roundRect">
            <a:avLst>
              <a:gd name="adj" fmla="val 19231"/>
            </a:avLst>
          </a:prstGeom>
          <a:solidFill>
            <a:srgbClr val="0B1F3A"/>
          </a:solidFill>
          <a:ln/>
        </p:spPr>
      </p:sp>
      <p:sp>
        <p:nvSpPr>
          <p:cNvPr id="22" name="Text 20"/>
          <p:cNvSpPr txBox="1"/>
          <p:nvPr/>
        </p:nvSpPr>
        <p:spPr>
          <a:xfrm>
            <a:off x="7269480" y="2862072"/>
            <a:ext cx="914400" cy="329184"/>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5%</a:t>
            </a:r>
            <a:endParaRPr lang="en-US" sz="1400" dirty="0"/>
          </a:p>
        </p:txBody>
      </p:sp>
      <p:sp>
        <p:nvSpPr>
          <p:cNvPr id="23" name="Shape 21"/>
          <p:cNvSpPr/>
          <p:nvPr/>
        </p:nvSpPr>
        <p:spPr>
          <a:xfrm>
            <a:off x="502920" y="3502152"/>
            <a:ext cx="8138160" cy="868680"/>
          </a:xfrm>
          <a:prstGeom prst="roundRect">
            <a:avLst>
              <a:gd name="adj" fmla="val 10526"/>
            </a:avLst>
          </a:prstGeom>
          <a:solidFill>
            <a:srgbClr val="FFF6E4"/>
          </a:solidFill>
          <a:ln w="12700">
            <a:solidFill>
              <a:srgbClr val="F2D79B"/>
            </a:solidFill>
            <a:prstDash val="solid"/>
          </a:ln>
          <a:effectLst>
            <a:outerShdw sx="100000" sy="100000" kx="0" ky="0" algn="bl" rotWithShape="0" blurRad="76200" dist="12700" dir="5400000">
              <a:srgbClr val="9AAAB8">
                <a:alpha val="28000"/>
              </a:srgbClr>
            </a:outerShdw>
          </a:effectLst>
        </p:spPr>
      </p:sp>
      <p:sp>
        <p:nvSpPr>
          <p:cNvPr id="24" name="Text 22"/>
          <p:cNvSpPr txBox="1"/>
          <p:nvPr/>
        </p:nvSpPr>
        <p:spPr>
          <a:xfrm>
            <a:off x="758952" y="3611880"/>
            <a:ext cx="7635240" cy="685800"/>
          </a:xfrm>
          <a:prstGeom prst="rect">
            <a:avLst/>
          </a:prstGeom>
          <a:noFill/>
          <a:ln/>
        </p:spPr>
        <p:txBody>
          <a:bodyPr wrap="square" lIns="0" tIns="0" rIns="0" bIns="0" rtlCol="0" anchor="t"/>
          <a:lstStyle/>
          <a:p>
            <a:pPr indent="0" marL="0">
              <a:buNone/>
            </a:pPr>
            <a:r>
              <a:rPr lang="en-US" sz="1300" dirty="0">
                <a:solidFill>
                  <a:srgbClr val="8A5A00"/>
                </a:solidFill>
                <a:latin typeface="Arial" pitchFamily="34" charset="0"/>
                <a:ea typeface="Arial" pitchFamily="34" charset="-122"/>
                <a:cs typeface="Arial" pitchFamily="34" charset="-120"/>
              </a:rPr>
              <a:t>Thực hành chiếm nhiều nhất, thi chiếm ít hơn. Thi thì một nửa là thi ngôn ngữ; còn chạy được mô phỏng, phân tích được tình huống thì không cần vượt qua rào cản ngôn ngữ. Đề thi bằng tiếng Việt là chính, có tiếng Trung đối chiếu; các lựa chọn cố gắng dùng hình.</a:t>
            </a:r>
            <a:endParaRPr lang="en-US" sz="1300" dirty="0"/>
          </a:p>
        </p:txBody>
      </p:sp>
      <p:pic>
        <p:nvPicPr>
          <p:cNvPr id="25"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6" name="Text 23"/>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Hỗ trợ về ngôn ngữ</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Ngôn ngữ không nên là rào cản khi học môn này</a:t>
            </a:r>
            <a:endParaRPr lang="en-US" sz="1350" dirty="0"/>
          </a:p>
        </p:txBody>
      </p:sp>
      <p:sp>
        <p:nvSpPr>
          <p:cNvPr id="4" name="Shape 2"/>
          <p:cNvSpPr/>
          <p:nvPr/>
        </p:nvSpPr>
        <p:spPr>
          <a:xfrm>
            <a:off x="502920" y="1207008"/>
            <a:ext cx="2578608" cy="2331720"/>
          </a:xfrm>
          <a:prstGeom prst="roundRect">
            <a:avLst>
              <a:gd name="adj" fmla="val 392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Shape 3"/>
          <p:cNvSpPr/>
          <p:nvPr/>
        </p:nvSpPr>
        <p:spPr>
          <a:xfrm>
            <a:off x="722376" y="1426464"/>
            <a:ext cx="475488" cy="475488"/>
          </a:xfrm>
          <a:prstGeom prst="ellipse">
            <a:avLst/>
          </a:prstGeom>
          <a:solidFill>
            <a:srgbClr val="00A896"/>
          </a:solidFill>
          <a:ln/>
        </p:spPr>
      </p:sp>
      <p:sp>
        <p:nvSpPr>
          <p:cNvPr id="6" name="Text 4"/>
          <p:cNvSpPr txBox="1"/>
          <p:nvPr/>
        </p:nvSpPr>
        <p:spPr>
          <a:xfrm>
            <a:off x="722376" y="1527048"/>
            <a:ext cx="475488"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7" name="Text 5"/>
          <p:cNvSpPr txBox="1"/>
          <p:nvPr/>
        </p:nvSpPr>
        <p:spPr>
          <a:xfrm>
            <a:off x="722376" y="2029968"/>
            <a:ext cx="2139696" cy="329184"/>
          </a:xfrm>
          <a:prstGeom prst="rect">
            <a:avLst/>
          </a:prstGeom>
          <a:noFill/>
          <a:ln/>
        </p:spPr>
        <p:txBody>
          <a:bodyPr wrap="square" lIns="0" tIns="0" rIns="0" bIns="0" rtlCol="0" anchor="ctr"/>
          <a:lstStyle/>
          <a:p>
            <a:pPr indent="0" marL="0">
              <a:buNone/>
            </a:pPr>
            <a:r>
              <a:rPr lang="en-US" sz="1800" b="1" dirty="0">
                <a:solidFill>
                  <a:srgbClr val="0B1F3A"/>
                </a:solidFill>
                <a:latin typeface="Arial" pitchFamily="34" charset="0"/>
                <a:ea typeface="Arial" pitchFamily="34" charset="-122"/>
                <a:cs typeface="Arial" pitchFamily="34" charset="-120"/>
              </a:rPr>
              <a:t>Bảng thuật ngữ</a:t>
            </a:r>
            <a:endParaRPr lang="en-US" sz="1800" dirty="0"/>
          </a:p>
        </p:txBody>
      </p:sp>
      <p:sp>
        <p:nvSpPr>
          <p:cNvPr id="8" name="Text 6"/>
          <p:cNvSpPr txBox="1"/>
          <p:nvPr/>
        </p:nvSpPr>
        <p:spPr>
          <a:xfrm>
            <a:off x="722376" y="2395728"/>
            <a:ext cx="2139696" cy="914400"/>
          </a:xfrm>
          <a:prstGeom prst="rect">
            <a:avLst/>
          </a:prstGeom>
          <a:noFill/>
          <a:ln/>
        </p:spPr>
        <p:txBody>
          <a:bodyPr wrap="square" lIns="0" tIns="0" rIns="0" bIns="0" rtlCol="0" anchor="t"/>
          <a:lstStyle/>
          <a:p>
            <a:pPr indent="0" marL="0">
              <a:buNone/>
            </a:pPr>
            <a:r>
              <a:rPr lang="en-US" sz="1350" dirty="0">
                <a:solidFill>
                  <a:srgbClr val="5F7183"/>
                </a:solidFill>
                <a:latin typeface="Arial" pitchFamily="34" charset="0"/>
                <a:ea typeface="Arial" pitchFamily="34" charset="-122"/>
                <a:cs typeface="Arial" pitchFamily="34" charset="-120"/>
              </a:rPr>
              <a:t>Cả học kỳ có 60–80 thuật ngữ chuyên ngành, đối chiếu Trung – Anh – Việt. Phụ lục 1 của giáo trình.</a:t>
            </a:r>
            <a:endParaRPr lang="en-US" sz="1350" dirty="0"/>
          </a:p>
        </p:txBody>
      </p:sp>
      <p:sp>
        <p:nvSpPr>
          <p:cNvPr id="9" name="Text 7"/>
          <p:cNvSpPr txBox="1"/>
          <p:nvPr/>
        </p:nvSpPr>
        <p:spPr>
          <a:xfrm>
            <a:off x="722376" y="3255264"/>
            <a:ext cx="2139696" cy="219456"/>
          </a:xfrm>
          <a:prstGeom prst="rect">
            <a:avLst/>
          </a:prstGeom>
          <a:noFill/>
          <a:ln/>
        </p:spPr>
        <p:txBody>
          <a:bodyPr wrap="square" lIns="0" tIns="0" rIns="0" bIns="0" rtlCol="0" anchor="ctr"/>
          <a:lstStyle/>
          <a:p>
            <a:pPr indent="0" marL="0">
              <a:buNone/>
            </a:pPr>
            <a:r>
              <a:rPr lang="en-US" sz="1100" b="1" dirty="0">
                <a:solidFill>
                  <a:srgbClr val="007F72"/>
                </a:solidFill>
                <a:latin typeface="Arial" pitchFamily="34" charset="0"/>
                <a:ea typeface="Arial" pitchFamily="34" charset="-122"/>
                <a:cs typeface="Arial" pitchFamily="34" charset="-120"/>
              </a:rPr>
              <a:t>Bản in</a:t>
            </a:r>
            <a:endParaRPr lang="en-US" sz="1100" dirty="0"/>
          </a:p>
        </p:txBody>
      </p:sp>
      <p:sp>
        <p:nvSpPr>
          <p:cNvPr id="10" name="Shape 8"/>
          <p:cNvSpPr/>
          <p:nvPr/>
        </p:nvSpPr>
        <p:spPr>
          <a:xfrm>
            <a:off x="3282696" y="1207008"/>
            <a:ext cx="2578608" cy="2331720"/>
          </a:xfrm>
          <a:prstGeom prst="roundRect">
            <a:avLst>
              <a:gd name="adj" fmla="val 392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1" name="Shape 9"/>
          <p:cNvSpPr/>
          <p:nvPr/>
        </p:nvSpPr>
        <p:spPr>
          <a:xfrm>
            <a:off x="3502152" y="1426464"/>
            <a:ext cx="475488" cy="475488"/>
          </a:xfrm>
          <a:prstGeom prst="ellipse">
            <a:avLst/>
          </a:prstGeom>
          <a:solidFill>
            <a:srgbClr val="0B1F3A"/>
          </a:solidFill>
          <a:ln/>
        </p:spPr>
      </p:sp>
      <p:sp>
        <p:nvSpPr>
          <p:cNvPr id="12" name="Text 10"/>
          <p:cNvSpPr txBox="1"/>
          <p:nvPr/>
        </p:nvSpPr>
        <p:spPr>
          <a:xfrm>
            <a:off x="3502152" y="1527048"/>
            <a:ext cx="475488"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B</a:t>
            </a:r>
            <a:endParaRPr lang="en-US" sz="1500" dirty="0"/>
          </a:p>
        </p:txBody>
      </p:sp>
      <p:sp>
        <p:nvSpPr>
          <p:cNvPr id="13" name="Text 11"/>
          <p:cNvSpPr txBox="1"/>
          <p:nvPr/>
        </p:nvSpPr>
        <p:spPr>
          <a:xfrm>
            <a:off x="3502152" y="2029968"/>
            <a:ext cx="2139696" cy="329184"/>
          </a:xfrm>
          <a:prstGeom prst="rect">
            <a:avLst/>
          </a:prstGeom>
          <a:noFill/>
          <a:ln/>
        </p:spPr>
        <p:txBody>
          <a:bodyPr wrap="square" lIns="0" tIns="0" rIns="0" bIns="0" rtlCol="0" anchor="ctr"/>
          <a:lstStyle/>
          <a:p>
            <a:pPr indent="0" marL="0">
              <a:buNone/>
            </a:pPr>
            <a:r>
              <a:rPr lang="en-US" sz="1800" b="1" dirty="0">
                <a:solidFill>
                  <a:srgbClr val="0B1F3A"/>
                </a:solidFill>
                <a:latin typeface="Arial" pitchFamily="34" charset="0"/>
                <a:ea typeface="Arial" pitchFamily="34" charset="-122"/>
                <a:cs typeface="Arial" pitchFamily="34" charset="-120"/>
              </a:rPr>
              <a:t>Phụ đề trực tiếp</a:t>
            </a:r>
            <a:endParaRPr lang="en-US" sz="1800" dirty="0"/>
          </a:p>
        </p:txBody>
      </p:sp>
      <p:sp>
        <p:nvSpPr>
          <p:cNvPr id="14" name="Text 12"/>
          <p:cNvSpPr txBox="1"/>
          <p:nvPr/>
        </p:nvSpPr>
        <p:spPr>
          <a:xfrm>
            <a:off x="3502152" y="2395728"/>
            <a:ext cx="2139696" cy="914400"/>
          </a:xfrm>
          <a:prstGeom prst="rect">
            <a:avLst/>
          </a:prstGeom>
          <a:noFill/>
          <a:ln/>
        </p:spPr>
        <p:txBody>
          <a:bodyPr wrap="square" lIns="0" tIns="0" rIns="0" bIns="0" rtlCol="0" anchor="t"/>
          <a:lstStyle/>
          <a:p>
            <a:pPr indent="0" marL="0">
              <a:buNone/>
            </a:pPr>
            <a:r>
              <a:rPr lang="en-US" sz="1350" dirty="0">
                <a:solidFill>
                  <a:srgbClr val="5F7183"/>
                </a:solidFill>
                <a:latin typeface="Arial" pitchFamily="34" charset="0"/>
                <a:ea typeface="Arial" pitchFamily="34" charset="-122"/>
                <a:cs typeface="Arial" pitchFamily="34" charset="-120"/>
              </a:rPr>
              <a:t>Màn hình hiển thị đồng thời tiếng Trung và tiếng Việt. Hỏi bằng tiếng Việt cũng được dịch.</a:t>
            </a:r>
            <a:endParaRPr lang="en-US" sz="1350" dirty="0"/>
          </a:p>
        </p:txBody>
      </p:sp>
      <p:sp>
        <p:nvSpPr>
          <p:cNvPr id="15" name="Text 13"/>
          <p:cNvSpPr txBox="1"/>
          <p:nvPr/>
        </p:nvSpPr>
        <p:spPr>
          <a:xfrm>
            <a:off x="3502152" y="3255264"/>
            <a:ext cx="2139696" cy="219456"/>
          </a:xfrm>
          <a:prstGeom prst="rect">
            <a:avLst/>
          </a:prstGeom>
          <a:noFill/>
          <a:ln/>
        </p:spPr>
        <p:txBody>
          <a:bodyPr wrap="square" lIns="0" tIns="0" rIns="0" bIns="0" rtlCol="0" anchor="ctr"/>
          <a:lstStyle/>
          <a:p>
            <a:pPr indent="0" marL="0">
              <a:buNone/>
            </a:pPr>
            <a:r>
              <a:rPr lang="en-US" sz="1100" b="1" dirty="0">
                <a:solidFill>
                  <a:srgbClr val="007F72"/>
                </a:solidFill>
                <a:latin typeface="Arial" pitchFamily="34" charset="0"/>
                <a:ea typeface="Arial" pitchFamily="34" charset="-122"/>
                <a:cs typeface="Arial" pitchFamily="34" charset="-120"/>
              </a:rPr>
              <a:t>Trên lớp</a:t>
            </a:r>
            <a:endParaRPr lang="en-US" sz="1100" dirty="0"/>
          </a:p>
        </p:txBody>
      </p:sp>
      <p:sp>
        <p:nvSpPr>
          <p:cNvPr id="16" name="Shape 14"/>
          <p:cNvSpPr/>
          <p:nvPr/>
        </p:nvSpPr>
        <p:spPr>
          <a:xfrm>
            <a:off x="6062472" y="1207008"/>
            <a:ext cx="2578608" cy="2331720"/>
          </a:xfrm>
          <a:prstGeom prst="roundRect">
            <a:avLst>
              <a:gd name="adj" fmla="val 392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7" name="Shape 15"/>
          <p:cNvSpPr/>
          <p:nvPr/>
        </p:nvSpPr>
        <p:spPr>
          <a:xfrm>
            <a:off x="6281928" y="1426464"/>
            <a:ext cx="475488" cy="475488"/>
          </a:xfrm>
          <a:prstGeom prst="ellipse">
            <a:avLst/>
          </a:prstGeom>
          <a:solidFill>
            <a:srgbClr val="FFB020"/>
          </a:solidFill>
          <a:ln/>
        </p:spPr>
      </p:sp>
      <p:sp>
        <p:nvSpPr>
          <p:cNvPr id="18" name="Text 16"/>
          <p:cNvSpPr txBox="1"/>
          <p:nvPr/>
        </p:nvSpPr>
        <p:spPr>
          <a:xfrm>
            <a:off x="6281928" y="1527048"/>
            <a:ext cx="475488" cy="274320"/>
          </a:xfrm>
          <a:prstGeom prst="rect">
            <a:avLst/>
          </a:prstGeom>
          <a:noFill/>
          <a:ln/>
        </p:spPr>
        <p:txBody>
          <a:bodyPr wrap="square" lIns="0" tIns="0" rIns="0" bIns="0" rtlCol="0" anchor="ctr"/>
          <a:lstStyle/>
          <a:p>
            <a:pPr algn="ctr" indent="0" marL="0">
              <a:buNone/>
            </a:pPr>
            <a:r>
              <a:rPr lang="en-US" sz="1500" b="1" dirty="0">
                <a:solidFill>
                  <a:srgbClr val="3A2A00"/>
                </a:solidFill>
                <a:latin typeface="Arial" pitchFamily="34" charset="0"/>
                <a:ea typeface="Arial" pitchFamily="34" charset="-122"/>
                <a:cs typeface="Arial" pitchFamily="34" charset="-120"/>
              </a:rPr>
              <a:t>C</a:t>
            </a:r>
            <a:endParaRPr lang="en-US" sz="1500" dirty="0"/>
          </a:p>
        </p:txBody>
      </p:sp>
      <p:sp>
        <p:nvSpPr>
          <p:cNvPr id="19" name="Text 17"/>
          <p:cNvSpPr txBox="1"/>
          <p:nvPr/>
        </p:nvSpPr>
        <p:spPr>
          <a:xfrm>
            <a:off x="6281928" y="2029968"/>
            <a:ext cx="2139696" cy="329184"/>
          </a:xfrm>
          <a:prstGeom prst="rect">
            <a:avLst/>
          </a:prstGeom>
          <a:noFill/>
          <a:ln/>
        </p:spPr>
        <p:txBody>
          <a:bodyPr wrap="square" lIns="0" tIns="0" rIns="0" bIns="0" rtlCol="0" anchor="ctr"/>
          <a:lstStyle/>
          <a:p>
            <a:pPr indent="0" marL="0">
              <a:buNone/>
            </a:pPr>
            <a:r>
              <a:rPr lang="en-US" sz="1800" b="1" dirty="0">
                <a:solidFill>
                  <a:srgbClr val="0B1F3A"/>
                </a:solidFill>
                <a:latin typeface="Arial" pitchFamily="34" charset="0"/>
                <a:ea typeface="Arial" pitchFamily="34" charset="-122"/>
                <a:cs typeface="Arial" pitchFamily="34" charset="-120"/>
              </a:rPr>
              <a:t>Bản ghi sau lớp</a:t>
            </a:r>
            <a:endParaRPr lang="en-US" sz="1800" dirty="0"/>
          </a:p>
        </p:txBody>
      </p:sp>
      <p:sp>
        <p:nvSpPr>
          <p:cNvPr id="20" name="Text 18"/>
          <p:cNvSpPr txBox="1"/>
          <p:nvPr/>
        </p:nvSpPr>
        <p:spPr>
          <a:xfrm>
            <a:off x="6281928" y="2395728"/>
            <a:ext cx="2139696" cy="914400"/>
          </a:xfrm>
          <a:prstGeom prst="rect">
            <a:avLst/>
          </a:prstGeom>
          <a:noFill/>
          <a:ln/>
        </p:spPr>
        <p:txBody>
          <a:bodyPr wrap="square" lIns="0" tIns="0" rIns="0" bIns="0" rtlCol="0" anchor="t"/>
          <a:lstStyle/>
          <a:p>
            <a:pPr indent="0" marL="0">
              <a:buNone/>
            </a:pPr>
            <a:r>
              <a:rPr lang="en-US" sz="1350" dirty="0">
                <a:solidFill>
                  <a:srgbClr val="5F7183"/>
                </a:solidFill>
                <a:latin typeface="Arial" pitchFamily="34" charset="0"/>
                <a:ea typeface="Arial" pitchFamily="34" charset="-122"/>
                <a:cs typeface="Arial" pitchFamily="34" charset="-120"/>
              </a:rPr>
              <a:t>Phụ đề mỗi buổi được biên tập thành văn bản, phát cho các bạn ôn lại sau giờ học.</a:t>
            </a:r>
            <a:endParaRPr lang="en-US" sz="1350" dirty="0"/>
          </a:p>
        </p:txBody>
      </p:sp>
      <p:sp>
        <p:nvSpPr>
          <p:cNvPr id="21" name="Text 19"/>
          <p:cNvSpPr txBox="1"/>
          <p:nvPr/>
        </p:nvSpPr>
        <p:spPr>
          <a:xfrm>
            <a:off x="6281928" y="3255264"/>
            <a:ext cx="2139696" cy="219456"/>
          </a:xfrm>
          <a:prstGeom prst="rect">
            <a:avLst/>
          </a:prstGeom>
          <a:noFill/>
          <a:ln/>
        </p:spPr>
        <p:txBody>
          <a:bodyPr wrap="square" lIns="0" tIns="0" rIns="0" bIns="0" rtlCol="0" anchor="ctr"/>
          <a:lstStyle/>
          <a:p>
            <a:pPr indent="0" marL="0">
              <a:buNone/>
            </a:pPr>
            <a:r>
              <a:rPr lang="en-US" sz="1100" b="1" dirty="0">
                <a:solidFill>
                  <a:srgbClr val="007F72"/>
                </a:solidFill>
                <a:latin typeface="Arial" pitchFamily="34" charset="0"/>
                <a:ea typeface="Arial" pitchFamily="34" charset="-122"/>
                <a:cs typeface="Arial" pitchFamily="34" charset="-120"/>
              </a:rPr>
              <a:t>Sau giờ</a:t>
            </a:r>
            <a:endParaRPr lang="en-US" sz="1100" dirty="0"/>
          </a:p>
        </p:txBody>
      </p:sp>
      <p:sp>
        <p:nvSpPr>
          <p:cNvPr id="22" name="Text 20"/>
          <p:cNvSpPr txBox="1"/>
          <p:nvPr/>
        </p:nvSpPr>
        <p:spPr>
          <a:xfrm>
            <a:off x="502920" y="3730752"/>
            <a:ext cx="8138160" cy="365760"/>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Thuật ngữ chuyên ngành nhớ bằng tiếng Anh là đỡ nhất: LiDAR trong tiếng Việt cũng gọi là LiDAR.</a:t>
            </a:r>
            <a:endParaRPr lang="en-US" sz="1400" dirty="0"/>
          </a:p>
        </p:txBody>
      </p:sp>
      <p:pic>
        <p:nvPicPr>
          <p:cNvPr id="23"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4" name="Text 2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Đến tháng Một, các bạn sẽ làm được</a:t>
            </a:r>
            <a:endParaRPr lang="en-US" sz="2700" dirty="0"/>
          </a:p>
        </p:txBody>
      </p:sp>
      <p:sp>
        <p:nvSpPr>
          <p:cNvPr id="3" name="Shape 1"/>
          <p:cNvSpPr/>
          <p:nvPr/>
        </p:nvSpPr>
        <p:spPr>
          <a:xfrm>
            <a:off x="502920" y="960120"/>
            <a:ext cx="329184" cy="329184"/>
          </a:xfrm>
          <a:prstGeom prst="roundRect">
            <a:avLst>
              <a:gd name="adj" fmla="val 19444"/>
            </a:avLst>
          </a:prstGeom>
          <a:solidFill>
            <a:srgbClr val="00A896"/>
          </a:solidFill>
          <a:ln/>
        </p:spPr>
      </p:sp>
      <p:sp>
        <p:nvSpPr>
          <p:cNvPr id="4" name="Text 2"/>
          <p:cNvSpPr txBox="1"/>
          <p:nvPr/>
        </p:nvSpPr>
        <p:spPr>
          <a:xfrm>
            <a:off x="502920" y="978408"/>
            <a:ext cx="310896"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5" name="Text 3"/>
          <p:cNvSpPr txBox="1"/>
          <p:nvPr/>
        </p:nvSpPr>
        <p:spPr>
          <a:xfrm>
            <a:off x="978408" y="905256"/>
            <a:ext cx="7589520" cy="566928"/>
          </a:xfrm>
          <a:prstGeom prst="rect">
            <a:avLst/>
          </a:prstGeom>
          <a:noFill/>
          <a:ln/>
        </p:spPr>
        <p:txBody>
          <a:bodyPr wrap="square" lIns="0" tIns="0" rIns="0" bIns="0" rtlCol="0" anchor="t"/>
          <a:lstStyle/>
          <a:p>
            <a:pPr indent="0" marL="0">
              <a:buNone/>
            </a:pPr>
            <a:r>
              <a:rPr lang="en-US" sz="1700" dirty="0">
                <a:solidFill>
                  <a:srgbClr val="1A2733"/>
                </a:solidFill>
                <a:latin typeface="Arial" pitchFamily="34" charset="0"/>
                <a:ea typeface="Arial" pitchFamily="34" charset="-122"/>
                <a:cs typeface="Arial" pitchFamily="34" charset="-120"/>
              </a:rPr>
              <a:t>Nhìn một chiếc xe, xác định nó ở cấp SAE mấy và nói được lý do</a:t>
            </a:r>
            <a:endParaRPr lang="en-US" sz="1700" dirty="0"/>
          </a:p>
        </p:txBody>
      </p:sp>
      <p:sp>
        <p:nvSpPr>
          <p:cNvPr id="6" name="Shape 4"/>
          <p:cNvSpPr/>
          <p:nvPr/>
        </p:nvSpPr>
        <p:spPr>
          <a:xfrm>
            <a:off x="502920" y="1673352"/>
            <a:ext cx="329184" cy="329184"/>
          </a:xfrm>
          <a:prstGeom prst="roundRect">
            <a:avLst>
              <a:gd name="adj" fmla="val 19444"/>
            </a:avLst>
          </a:prstGeom>
          <a:solidFill>
            <a:srgbClr val="00A896"/>
          </a:solidFill>
          <a:ln/>
        </p:spPr>
      </p:sp>
      <p:sp>
        <p:nvSpPr>
          <p:cNvPr id="7" name="Text 5"/>
          <p:cNvSpPr txBox="1"/>
          <p:nvPr/>
        </p:nvSpPr>
        <p:spPr>
          <a:xfrm>
            <a:off x="502920" y="1691640"/>
            <a:ext cx="310896"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6"/>
          <p:cNvSpPr txBox="1"/>
          <p:nvPr/>
        </p:nvSpPr>
        <p:spPr>
          <a:xfrm>
            <a:off x="978408" y="1618488"/>
            <a:ext cx="7589520" cy="566928"/>
          </a:xfrm>
          <a:prstGeom prst="rect">
            <a:avLst/>
          </a:prstGeom>
          <a:noFill/>
          <a:ln/>
        </p:spPr>
        <p:txBody>
          <a:bodyPr wrap="square" lIns="0" tIns="0" rIns="0" bIns="0" rtlCol="0" anchor="t"/>
          <a:lstStyle/>
          <a:p>
            <a:pPr indent="0" marL="0">
              <a:buNone/>
            </a:pPr>
            <a:r>
              <a:rPr lang="en-US" sz="1700" dirty="0">
                <a:solidFill>
                  <a:srgbClr val="1A2733"/>
                </a:solidFill>
                <a:latin typeface="Arial" pitchFamily="34" charset="0"/>
                <a:ea typeface="Arial" pitchFamily="34" charset="-122"/>
                <a:cs typeface="Arial" pitchFamily="34" charset="-120"/>
              </a:rPr>
              <a:t>Giải thích camera, LiDAR, radar mỗi loại nhìn thấy gì và khi nào thì mất tác dụng</a:t>
            </a:r>
            <a:endParaRPr lang="en-US" sz="1700" dirty="0"/>
          </a:p>
        </p:txBody>
      </p:sp>
      <p:sp>
        <p:nvSpPr>
          <p:cNvPr id="9" name="Shape 7"/>
          <p:cNvSpPr/>
          <p:nvPr/>
        </p:nvSpPr>
        <p:spPr>
          <a:xfrm>
            <a:off x="502920" y="2386584"/>
            <a:ext cx="329184" cy="329184"/>
          </a:xfrm>
          <a:prstGeom prst="roundRect">
            <a:avLst>
              <a:gd name="adj" fmla="val 19444"/>
            </a:avLst>
          </a:prstGeom>
          <a:solidFill>
            <a:srgbClr val="00A896"/>
          </a:solidFill>
          <a:ln/>
        </p:spPr>
      </p:sp>
      <p:sp>
        <p:nvSpPr>
          <p:cNvPr id="10" name="Text 8"/>
          <p:cNvSpPr txBox="1"/>
          <p:nvPr/>
        </p:nvSpPr>
        <p:spPr>
          <a:xfrm>
            <a:off x="502920" y="2404872"/>
            <a:ext cx="310896"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1" name="Text 9"/>
          <p:cNvSpPr txBox="1"/>
          <p:nvPr/>
        </p:nvSpPr>
        <p:spPr>
          <a:xfrm>
            <a:off x="978408" y="2331720"/>
            <a:ext cx="7589520" cy="566928"/>
          </a:xfrm>
          <a:prstGeom prst="rect">
            <a:avLst/>
          </a:prstGeom>
          <a:noFill/>
          <a:ln/>
        </p:spPr>
        <p:txBody>
          <a:bodyPr wrap="square" lIns="0" tIns="0" rIns="0" bIns="0" rtlCol="0" anchor="t"/>
          <a:lstStyle/>
          <a:p>
            <a:pPr indent="0" marL="0">
              <a:buNone/>
            </a:pPr>
            <a:r>
              <a:rPr lang="en-US" sz="1700" dirty="0">
                <a:solidFill>
                  <a:srgbClr val="1A2733"/>
                </a:solidFill>
                <a:latin typeface="Arial" pitchFamily="34" charset="0"/>
                <a:ea typeface="Arial" pitchFamily="34" charset="-122"/>
                <a:cs typeface="Arial" pitchFamily="34" charset="-120"/>
              </a:rPr>
              <a:t>Vẽ được toàn bộ luồng dữ liệu của hệ thống tự lái từ nhận thức đến điều khiển</a:t>
            </a:r>
            <a:endParaRPr lang="en-US" sz="1700" dirty="0"/>
          </a:p>
        </p:txBody>
      </p:sp>
      <p:sp>
        <p:nvSpPr>
          <p:cNvPr id="12" name="Shape 10"/>
          <p:cNvSpPr/>
          <p:nvPr/>
        </p:nvSpPr>
        <p:spPr>
          <a:xfrm>
            <a:off x="502920" y="3099816"/>
            <a:ext cx="329184" cy="329184"/>
          </a:xfrm>
          <a:prstGeom prst="roundRect">
            <a:avLst>
              <a:gd name="adj" fmla="val 19444"/>
            </a:avLst>
          </a:prstGeom>
          <a:solidFill>
            <a:srgbClr val="00A896"/>
          </a:solidFill>
          <a:ln/>
        </p:spPr>
      </p:sp>
      <p:sp>
        <p:nvSpPr>
          <p:cNvPr id="13" name="Text 11"/>
          <p:cNvSpPr txBox="1"/>
          <p:nvPr/>
        </p:nvSpPr>
        <p:spPr>
          <a:xfrm>
            <a:off x="502920" y="3118104"/>
            <a:ext cx="310896"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4" name="Text 12"/>
          <p:cNvSpPr txBox="1"/>
          <p:nvPr/>
        </p:nvSpPr>
        <p:spPr>
          <a:xfrm>
            <a:off x="978408" y="3044952"/>
            <a:ext cx="7589520" cy="566928"/>
          </a:xfrm>
          <a:prstGeom prst="rect">
            <a:avLst/>
          </a:prstGeom>
          <a:noFill/>
          <a:ln/>
        </p:spPr>
        <p:txBody>
          <a:bodyPr wrap="square" lIns="0" tIns="0" rIns="0" bIns="0" rtlCol="0" anchor="t"/>
          <a:lstStyle/>
          <a:p>
            <a:pPr indent="0" marL="0">
              <a:buNone/>
            </a:pPr>
            <a:r>
              <a:rPr lang="en-US" sz="1700" dirty="0">
                <a:solidFill>
                  <a:srgbClr val="1A2733"/>
                </a:solidFill>
                <a:latin typeface="Arial" pitchFamily="34" charset="0"/>
                <a:ea typeface="Arial" pitchFamily="34" charset="-122"/>
                <a:cs typeface="Arial" pitchFamily="34" charset="-120"/>
              </a:rPr>
              <a:t>Chỉnh tham số cảm biến và mật độ xe trong mô phỏng trên trình duyệt, nói được vì sao hành vi của xe thay đổi</a:t>
            </a:r>
            <a:endParaRPr lang="en-US" sz="1700" dirty="0"/>
          </a:p>
        </p:txBody>
      </p:sp>
      <p:sp>
        <p:nvSpPr>
          <p:cNvPr id="15" name="Shape 13"/>
          <p:cNvSpPr/>
          <p:nvPr/>
        </p:nvSpPr>
        <p:spPr>
          <a:xfrm>
            <a:off x="502920" y="3813048"/>
            <a:ext cx="329184" cy="329184"/>
          </a:xfrm>
          <a:prstGeom prst="roundRect">
            <a:avLst>
              <a:gd name="adj" fmla="val 19444"/>
            </a:avLst>
          </a:prstGeom>
          <a:solidFill>
            <a:srgbClr val="00A896"/>
          </a:solidFill>
          <a:ln/>
        </p:spPr>
      </p:sp>
      <p:sp>
        <p:nvSpPr>
          <p:cNvPr id="16" name="Text 14"/>
          <p:cNvSpPr txBox="1"/>
          <p:nvPr/>
        </p:nvSpPr>
        <p:spPr>
          <a:xfrm>
            <a:off x="502920" y="3831336"/>
            <a:ext cx="310896"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7" name="Text 15"/>
          <p:cNvSpPr txBox="1"/>
          <p:nvPr/>
        </p:nvSpPr>
        <p:spPr>
          <a:xfrm>
            <a:off x="978408" y="3758184"/>
            <a:ext cx="7589520" cy="566928"/>
          </a:xfrm>
          <a:prstGeom prst="rect">
            <a:avLst/>
          </a:prstGeom>
          <a:noFill/>
          <a:ln/>
        </p:spPr>
        <p:txBody>
          <a:bodyPr wrap="square" lIns="0" tIns="0" rIns="0" bIns="0" rtlCol="0" anchor="t"/>
          <a:lstStyle/>
          <a:p>
            <a:pPr indent="0" marL="0">
              <a:buNone/>
            </a:pPr>
            <a:r>
              <a:rPr lang="en-US" sz="1700" dirty="0">
                <a:solidFill>
                  <a:srgbClr val="1A2733"/>
                </a:solidFill>
                <a:latin typeface="Arial" pitchFamily="34" charset="0"/>
                <a:ea typeface="Arial" pitchFamily="34" charset="-122"/>
                <a:cs typeface="Arial" pitchFamily="34" charset="-120"/>
              </a:rPr>
              <a:t>Viết ODD cho một tình huống cụ thể, chọn cấu hình cảm biến và giải thích lý do</a:t>
            </a:r>
            <a:endParaRPr lang="en-US" sz="1700" dirty="0"/>
          </a:p>
        </p:txBody>
      </p:sp>
      <p:pic>
        <p:nvPicPr>
          <p:cNvPr id="18"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9" name="Text 16"/>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960120"/>
            <a:ext cx="54864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Thảo luận 1</a:t>
            </a:r>
            <a:endParaRPr lang="en-US" sz="1400" dirty="0"/>
          </a:p>
        </p:txBody>
      </p:sp>
      <p:sp>
        <p:nvSpPr>
          <p:cNvPr id="5" name="Text 3"/>
          <p:cNvSpPr txBox="1"/>
          <p:nvPr/>
        </p:nvSpPr>
        <p:spPr>
          <a:xfrm>
            <a:off x="502920" y="1389888"/>
            <a:ext cx="7955280" cy="1371600"/>
          </a:xfrm>
          <a:prstGeom prst="rect">
            <a:avLst/>
          </a:prstGeom>
          <a:noFill/>
          <a:ln/>
        </p:spPr>
        <p:txBody>
          <a:bodyPr wrap="square" lIns="0" tIns="0" rIns="0" bIns="0" rtlCol="0" anchor="t"/>
          <a:lstStyle/>
          <a:p>
            <a:pPr indent="0" marL="0">
              <a:buNone/>
            </a:pPr>
            <a:r>
              <a:rPr lang="en-US" sz="3100" b="1" dirty="0">
                <a:solidFill>
                  <a:srgbClr val="FFFFFF"/>
                </a:solidFill>
                <a:latin typeface="Arial" pitchFamily="34" charset="0"/>
                <a:ea typeface="Arial" pitchFamily="34" charset="-122"/>
                <a:cs typeface="Arial" pitchFamily="34" charset="-120"/>
              </a:rPr>
              <a:t>Vì sao bạn chọn môn này? Bạn muốn mang về được điều gì?</a:t>
            </a:r>
            <a:endParaRPr lang="en-US" sz="3100" dirty="0"/>
          </a:p>
        </p:txBody>
      </p:sp>
      <p:sp>
        <p:nvSpPr>
          <p:cNvPr id="6" name="Shape 4"/>
          <p:cNvSpPr/>
          <p:nvPr/>
        </p:nvSpPr>
        <p:spPr>
          <a:xfrm>
            <a:off x="502920" y="2999232"/>
            <a:ext cx="7955280" cy="658368"/>
          </a:xfrm>
          <a:prstGeom prst="roundRect">
            <a:avLst>
              <a:gd name="adj" fmla="val 12500"/>
            </a:avLst>
          </a:prstGeom>
          <a:solidFill>
            <a:srgbClr val="13314F"/>
          </a:solidFill>
          <a:ln w="15240">
            <a:solidFill>
              <a:srgbClr val="00A896"/>
            </a:solidFill>
            <a:prstDash val="solid"/>
          </a:ln>
        </p:spPr>
      </p:sp>
      <p:sp>
        <p:nvSpPr>
          <p:cNvPr id="7" name="Text 5"/>
          <p:cNvSpPr txBox="1"/>
          <p:nvPr/>
        </p:nvSpPr>
        <p:spPr>
          <a:xfrm>
            <a:off x="740664" y="3108960"/>
            <a:ext cx="7498080" cy="457200"/>
          </a:xfrm>
          <a:prstGeom prst="rect">
            <a:avLst/>
          </a:prstGeom>
          <a:noFill/>
          <a:ln/>
        </p:spPr>
        <p:txBody>
          <a:bodyPr wrap="square" lIns="0" tIns="0" rIns="0" bIns="0" rtlCol="0" anchor="ctr"/>
          <a:lstStyle/>
          <a:p>
            <a:pPr indent="0" marL="0">
              <a:buNone/>
            </a:pPr>
            <a:r>
              <a:rPr lang="en-US" sz="1450" dirty="0">
                <a:solidFill>
                  <a:srgbClr val="D8E4EE"/>
                </a:solidFill>
                <a:latin typeface="Arial" pitchFamily="34" charset="0"/>
                <a:ea typeface="Arial" pitchFamily="34" charset="-122"/>
                <a:cs typeface="Arial" pitchFamily="34" charset="-120"/>
              </a:rPr>
              <a:t>Hai người một nhóm, thảo luận bằng tiếng Việt trong hai phút, sau đó mỗi nhóm nói một câu.</a:t>
            </a:r>
            <a:endParaRPr lang="en-US" sz="1450" dirty="0"/>
          </a:p>
        </p:txBody>
      </p:sp>
      <p:sp>
        <p:nvSpPr>
          <p:cNvPr id="8" name="Text 6"/>
          <p:cNvSpPr txBox="1"/>
          <p:nvPr/>
        </p:nvSpPr>
        <p:spPr>
          <a:xfrm>
            <a:off x="502920" y="3822192"/>
            <a:ext cx="7955280" cy="457200"/>
          </a:xfrm>
          <a:prstGeom prst="rect">
            <a:avLst/>
          </a:prstGeom>
          <a:noFill/>
          <a:ln/>
        </p:spPr>
        <p:txBody>
          <a:bodyPr wrap="square" lIns="0" tIns="0" rIns="0" bIns="0" rtlCol="0" anchor="t"/>
          <a:lstStyle/>
          <a:p>
            <a:pPr indent="0" marL="0">
              <a:buNone/>
            </a:pPr>
            <a:r>
              <a:rPr lang="en-US" sz="1350" i="1" dirty="0">
                <a:solidFill>
                  <a:srgbClr val="9FB6C8"/>
                </a:solidFill>
                <a:latin typeface="Arial" pitchFamily="34" charset="0"/>
                <a:ea typeface="Arial" pitchFamily="34" charset="-122"/>
                <a:cs typeface="Arial" pitchFamily="34" charset="-120"/>
              </a:rPr>
              <a:t>Không có đáp án chuẩn. Muốn tìm việc, thấy thú vị, hay bị xếp vào lớp — đều có thể nói thật.</a:t>
            </a:r>
            <a:endParaRPr lang="en-US" sz="1350" dirty="0"/>
          </a:p>
        </p:txBody>
      </p:sp>
      <p:sp>
        <p:nvSpPr>
          <p:cNvPr id="9" name="Text 7"/>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691640"/>
            <a:ext cx="36576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Tiết 1</a:t>
            </a:r>
            <a:endParaRPr lang="en-US" sz="1400" dirty="0"/>
          </a:p>
        </p:txBody>
      </p:sp>
      <p:sp>
        <p:nvSpPr>
          <p:cNvPr id="5" name="Text 3"/>
          <p:cNvSpPr txBox="1"/>
          <p:nvPr/>
        </p:nvSpPr>
        <p:spPr>
          <a:xfrm>
            <a:off x="502920" y="2048256"/>
            <a:ext cx="731520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Người lái xe, máy lái xe</a:t>
            </a:r>
            <a:endParaRPr lang="en-US" sz="3400" dirty="0"/>
          </a:p>
        </p:txBody>
      </p:sp>
      <p:sp>
        <p:nvSpPr>
          <p:cNvPr id="6" name="Text 4"/>
          <p:cNvSpPr txBox="1"/>
          <p:nvPr/>
        </p:nvSpPr>
        <p:spPr>
          <a:xfrm>
            <a:off x="502920" y="2907792"/>
            <a:ext cx="7315200" cy="365760"/>
          </a:xfrm>
          <a:prstGeom prst="rect">
            <a:avLst/>
          </a:prstGeom>
          <a:noFill/>
          <a:ln/>
        </p:spPr>
        <p:txBody>
          <a:bodyPr wrap="square" lIns="0" tIns="0" rIns="0" bIns="0" rtlCol="0" anchor="ctr"/>
          <a:lstStyle/>
          <a:p>
            <a:pPr indent="0" marL="0">
              <a:buNone/>
            </a:pPr>
            <a:r>
              <a:rPr lang="en-US" sz="1550" dirty="0">
                <a:solidFill>
                  <a:srgbClr val="AFC3D4"/>
                </a:solidFill>
                <a:latin typeface="Arial" pitchFamily="34" charset="0"/>
                <a:ea typeface="Arial" pitchFamily="34" charset="-122"/>
                <a:cs typeface="Arial" pitchFamily="34" charset="-120"/>
              </a:rPr>
              <a:t>Bắt đầu nghĩ từ chuyện các bạn chạy xe mỗi ngày   ｜   giáo trình 1.2</a:t>
            </a:r>
            <a:endParaRPr lang="en-US" sz="1550" dirty="0"/>
          </a:p>
        </p:txBody>
      </p:sp>
      <p:sp>
        <p:nvSpPr>
          <p:cNvPr id="7"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pic>
        <p:nvPicPr>
          <p:cNvPr id="4" name="Image 0" descr="./img/hanoi_pov_ride.jp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0B1F3A">
              <a:alpha val="22000"/>
            </a:srgbClr>
          </a:solidFill>
          <a:ln/>
        </p:spPr>
      </p:sp>
      <p:sp>
        <p:nvSpPr>
          <p:cNvPr id="6" name="Shape 3"/>
          <p:cNvSpPr/>
          <p:nvPr/>
        </p:nvSpPr>
        <p:spPr>
          <a:xfrm>
            <a:off x="0" y="0"/>
            <a:ext cx="9144000" cy="2057400"/>
          </a:xfrm>
          <a:prstGeom prst="rect">
            <a:avLst/>
          </a:prstGeom>
          <a:solidFill>
            <a:srgbClr val="0B1F3A">
              <a:alpha val="78000"/>
            </a:srgbClr>
          </a:solidFill>
          <a:ln/>
        </p:spPr>
      </p:sp>
      <p:sp>
        <p:nvSpPr>
          <p:cNvPr id="7" name="Text 4"/>
          <p:cNvSpPr txBox="1"/>
          <p:nvPr/>
        </p:nvSpPr>
        <p:spPr>
          <a:xfrm>
            <a:off x="502920" y="292608"/>
            <a:ext cx="5486400" cy="292608"/>
          </a:xfrm>
          <a:prstGeom prst="rect">
            <a:avLst/>
          </a:prstGeom>
          <a:noFill/>
          <a:ln/>
        </p:spPr>
        <p:txBody>
          <a:bodyPr wrap="square" lIns="0" tIns="0" rIns="0" bIns="0" rtlCol="0" anchor="ctr"/>
          <a:lstStyle/>
          <a:p>
            <a:pPr indent="0" marL="0">
              <a:buNone/>
            </a:pPr>
            <a:r>
              <a:rPr lang="en-US" sz="1300" b="1" dirty="0">
                <a:solidFill>
                  <a:srgbClr val="FFB020"/>
                </a:solidFill>
                <a:latin typeface="Arial" pitchFamily="34" charset="0"/>
                <a:ea typeface="Arial" pitchFamily="34" charset="-122"/>
                <a:cs typeface="Arial" pitchFamily="34" charset="-120"/>
              </a:rPr>
              <a:t>Thảo luận 2</a:t>
            </a:r>
            <a:endParaRPr lang="en-US" sz="1300" dirty="0"/>
          </a:p>
        </p:txBody>
      </p:sp>
      <p:sp>
        <p:nvSpPr>
          <p:cNvPr id="8" name="Text 5"/>
          <p:cNvSpPr txBox="1"/>
          <p:nvPr/>
        </p:nvSpPr>
        <p:spPr>
          <a:xfrm>
            <a:off x="502920" y="621792"/>
            <a:ext cx="8229600" cy="777240"/>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Bạn đang chạy trên chiếc xe này. Một giây tới, trong đầu bạn đang làm gì?</a:t>
            </a:r>
            <a:endParaRPr lang="en-US" sz="2500" dirty="0"/>
          </a:p>
        </p:txBody>
      </p:sp>
      <p:sp>
        <p:nvSpPr>
          <p:cNvPr id="9" name="Text 6"/>
          <p:cNvSpPr txBox="1"/>
          <p:nvPr/>
        </p:nvSpPr>
        <p:spPr>
          <a:xfrm>
            <a:off x="502920" y="1463040"/>
            <a:ext cx="8046720" cy="411480"/>
          </a:xfrm>
          <a:prstGeom prst="rect">
            <a:avLst/>
          </a:prstGeom>
          <a:noFill/>
          <a:ln/>
        </p:spPr>
        <p:txBody>
          <a:bodyPr wrap="square" lIns="0" tIns="0" rIns="0" bIns="0" rtlCol="0" anchor="ctr"/>
          <a:lstStyle/>
          <a:p>
            <a:pPr indent="0" marL="0">
              <a:buNone/>
            </a:pPr>
            <a:r>
              <a:rPr lang="en-US" sz="1500" dirty="0">
                <a:solidFill>
                  <a:srgbClr val="D5E2EC"/>
                </a:solidFill>
                <a:latin typeface="Arial" pitchFamily="34" charset="0"/>
                <a:ea typeface="Arial" pitchFamily="34" charset="-122"/>
                <a:cs typeface="Arial" pitchFamily="34" charset="-120"/>
              </a:rPr>
              <a:t>Nhìn thấy gì trước? Rồi phán đoán điều gì? Sau đó tay và chân làm gì? — Ở giữa đã xảy ra mấy việc?</a:t>
            </a:r>
            <a:endParaRPr lang="en-US" sz="1500" dirty="0"/>
          </a:p>
        </p:txBody>
      </p:sp>
      <p:sp>
        <p:nvSpPr>
          <p:cNvPr id="10" name="Text 7"/>
          <p:cNvSpPr txBox="1"/>
          <p:nvPr/>
        </p:nvSpPr>
        <p:spPr>
          <a:xfrm>
            <a:off x="4023360" y="4800600"/>
            <a:ext cx="4983480" cy="256032"/>
          </a:xfrm>
          <a:prstGeom prst="rect">
            <a:avLst/>
          </a:prstGeom>
          <a:noFill/>
          <a:ln/>
        </p:spPr>
        <p:txBody>
          <a:bodyPr wrap="square" lIns="0" tIns="0" rIns="0" bIns="0" rtlCol="0" anchor="ctr"/>
          <a:lstStyle/>
          <a:p>
            <a:pPr algn="r" indent="0" marL="0">
              <a:buNone/>
            </a:pPr>
            <a:r>
              <a:rPr lang="en-US" sz="900" dirty="0">
                <a:solidFill>
                  <a:srgbClr val="E6EEF4"/>
                </a:solidFill>
                <a:latin typeface="Arial" pitchFamily="34" charset="0"/>
                <a:ea typeface="Arial" pitchFamily="34" charset="-122"/>
                <a:cs typeface="Arial" pitchFamily="34" charset="-120"/>
              </a:rPr>
              <a:t>Giờ cao điểm buổi sáng ở Hà Nội · cảnh quay góc nhìn thứ nhất (tư liệu A của video 4, chỉ dùng chiếu trong lớp)</a:t>
            </a:r>
            <a:endParaRPr lang="en-US" sz="900" dirty="0"/>
          </a:p>
        </p:txBody>
      </p:sp>
      <p:sp>
        <p:nvSpPr>
          <p:cNvPr id="11" name="Text 8"/>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Ba việc</a:t>
            </a:r>
            <a:endParaRPr lang="en-US" sz="2700" dirty="0"/>
          </a:p>
        </p:txBody>
      </p:sp>
      <p:sp>
        <p:nvSpPr>
          <p:cNvPr id="3" name="Shape 1"/>
          <p:cNvSpPr/>
          <p:nvPr/>
        </p:nvSpPr>
        <p:spPr>
          <a:xfrm>
            <a:off x="502920" y="1097280"/>
            <a:ext cx="2395728" cy="2103120"/>
          </a:xfrm>
          <a:prstGeom prst="roundRect">
            <a:avLst>
              <a:gd name="adj" fmla="val 434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4" name="Shape 2"/>
          <p:cNvSpPr/>
          <p:nvPr/>
        </p:nvSpPr>
        <p:spPr>
          <a:xfrm>
            <a:off x="1444752" y="1280160"/>
            <a:ext cx="512064" cy="512064"/>
          </a:xfrm>
          <a:prstGeom prst="ellipse">
            <a:avLst/>
          </a:prstGeom>
          <a:solidFill>
            <a:srgbClr val="0B1F3A"/>
          </a:solidFill>
          <a:ln/>
        </p:spPr>
      </p:sp>
      <p:sp>
        <p:nvSpPr>
          <p:cNvPr id="5" name="Text 3"/>
          <p:cNvSpPr txBox="1"/>
          <p:nvPr/>
        </p:nvSpPr>
        <p:spPr>
          <a:xfrm>
            <a:off x="1444752" y="1399032"/>
            <a:ext cx="512064"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502920" y="1892808"/>
            <a:ext cx="2395728" cy="365760"/>
          </a:xfrm>
          <a:prstGeom prst="rect">
            <a:avLst/>
          </a:prstGeom>
          <a:noFill/>
          <a:ln/>
        </p:spPr>
        <p:txBody>
          <a:bodyPr wrap="square" lIns="0" tIns="0" rIns="0" bIns="0" rtlCol="0" anchor="ctr"/>
          <a:lstStyle/>
          <a:p>
            <a:pPr algn="ctr" indent="0" marL="0">
              <a:buNone/>
            </a:pPr>
            <a:r>
              <a:rPr lang="en-US" sz="2100" b="1" dirty="0">
                <a:solidFill>
                  <a:srgbClr val="0B1F3A"/>
                </a:solidFill>
                <a:latin typeface="Arial" pitchFamily="34" charset="0"/>
                <a:ea typeface="Arial" pitchFamily="34" charset="-122"/>
                <a:cs typeface="Arial" pitchFamily="34" charset="-120"/>
              </a:rPr>
              <a:t>Nhìn</a:t>
            </a:r>
            <a:endParaRPr lang="en-US" sz="2100" dirty="0"/>
          </a:p>
        </p:txBody>
      </p:sp>
      <p:sp>
        <p:nvSpPr>
          <p:cNvPr id="7" name="Text 5"/>
          <p:cNvSpPr txBox="1"/>
          <p:nvPr/>
        </p:nvSpPr>
        <p:spPr>
          <a:xfrm>
            <a:off x="667512" y="2295144"/>
            <a:ext cx="2066544" cy="713232"/>
          </a:xfrm>
          <a:prstGeom prst="rect">
            <a:avLst/>
          </a:prstGeom>
          <a:noFill/>
          <a:ln/>
        </p:spPr>
        <p:txBody>
          <a:bodyPr wrap="square" lIns="0" tIns="0" rIns="0" bIns="0" rtlCol="0" anchor="t"/>
          <a:lstStyle/>
          <a:p>
            <a:pPr algn="ctr" indent="0" marL="0">
              <a:buNone/>
            </a:pPr>
            <a:r>
              <a:rPr lang="en-US" sz="1350" dirty="0">
                <a:solidFill>
                  <a:srgbClr val="5F7183"/>
                </a:solidFill>
                <a:latin typeface="Arial" pitchFamily="34" charset="0"/>
                <a:ea typeface="Arial" pitchFamily="34" charset="-122"/>
                <a:cs typeface="Arial" pitchFamily="34" charset="-120"/>
              </a:rPr>
              <a:t>Mắt thấy đèn đỏ, người đi bộ, xe phía trước</a:t>
            </a:r>
            <a:endParaRPr lang="en-US" sz="1350" dirty="0"/>
          </a:p>
        </p:txBody>
      </p:sp>
      <p:sp>
        <p:nvSpPr>
          <p:cNvPr id="8" name="Text 6"/>
          <p:cNvSpPr txBox="1"/>
          <p:nvPr/>
        </p:nvSpPr>
        <p:spPr>
          <a:xfrm>
            <a:off x="502920" y="2916936"/>
            <a:ext cx="2395728" cy="219456"/>
          </a:xfrm>
          <a:prstGeom prst="rect">
            <a:avLst/>
          </a:prstGeom>
          <a:noFill/>
          <a:ln/>
        </p:spPr>
        <p:txBody>
          <a:bodyPr wrap="square" lIns="0" tIns="0" rIns="0" bIns="0" rtlCol="0" anchor="ctr"/>
          <a:lstStyle/>
          <a:p>
            <a:pPr algn="ctr" indent="0" marL="0">
              <a:buNone/>
            </a:pPr>
            <a:r>
              <a:rPr lang="en-US" sz="1150" b="1" dirty="0">
                <a:solidFill>
                  <a:srgbClr val="007F72"/>
                </a:solidFill>
                <a:latin typeface="Arial" pitchFamily="34" charset="0"/>
                <a:ea typeface="Arial" pitchFamily="34" charset="-122"/>
                <a:cs typeface="Arial" pitchFamily="34" charset="-120"/>
              </a:rPr>
              <a:t>Nhận thức   Perception</a:t>
            </a:r>
            <a:endParaRPr lang="en-US" sz="1150" dirty="0"/>
          </a:p>
        </p:txBody>
      </p:sp>
      <p:sp>
        <p:nvSpPr>
          <p:cNvPr id="9" name="Text 7"/>
          <p:cNvSpPr txBox="1"/>
          <p:nvPr/>
        </p:nvSpPr>
        <p:spPr>
          <a:xfrm>
            <a:off x="2916936" y="1920240"/>
            <a:ext cx="347472" cy="365760"/>
          </a:xfrm>
          <a:prstGeom prst="rect">
            <a:avLst/>
          </a:prstGeom>
          <a:noFill/>
          <a:ln/>
        </p:spPr>
        <p:txBody>
          <a:bodyPr wrap="square" lIns="0" tIns="0" rIns="0" bIns="0" rtlCol="0" anchor="ctr"/>
          <a:lstStyle/>
          <a:p>
            <a:pPr algn="ctr" indent="0" marL="0">
              <a:buNone/>
            </a:pPr>
            <a:r>
              <a:rPr lang="en-US" sz="2200" b="1" dirty="0">
                <a:solidFill>
                  <a:srgbClr val="00A896"/>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3282696" y="1097280"/>
            <a:ext cx="2395728" cy="2103120"/>
          </a:xfrm>
          <a:prstGeom prst="roundRect">
            <a:avLst>
              <a:gd name="adj" fmla="val 434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1" name="Shape 9"/>
          <p:cNvSpPr/>
          <p:nvPr/>
        </p:nvSpPr>
        <p:spPr>
          <a:xfrm>
            <a:off x="4224528" y="1280160"/>
            <a:ext cx="512064" cy="512064"/>
          </a:xfrm>
          <a:prstGeom prst="ellipse">
            <a:avLst/>
          </a:prstGeom>
          <a:solidFill>
            <a:srgbClr val="0B1F3A"/>
          </a:solidFill>
          <a:ln/>
        </p:spPr>
      </p:sp>
      <p:sp>
        <p:nvSpPr>
          <p:cNvPr id="12" name="Text 10"/>
          <p:cNvSpPr txBox="1"/>
          <p:nvPr/>
        </p:nvSpPr>
        <p:spPr>
          <a:xfrm>
            <a:off x="4224528" y="1399032"/>
            <a:ext cx="512064"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3282696" y="1892808"/>
            <a:ext cx="2395728" cy="365760"/>
          </a:xfrm>
          <a:prstGeom prst="rect">
            <a:avLst/>
          </a:prstGeom>
          <a:noFill/>
          <a:ln/>
        </p:spPr>
        <p:txBody>
          <a:bodyPr wrap="square" lIns="0" tIns="0" rIns="0" bIns="0" rtlCol="0" anchor="ctr"/>
          <a:lstStyle/>
          <a:p>
            <a:pPr algn="ctr" indent="0" marL="0">
              <a:buNone/>
            </a:pPr>
            <a:r>
              <a:rPr lang="en-US" sz="2100" b="1" dirty="0">
                <a:solidFill>
                  <a:srgbClr val="0B1F3A"/>
                </a:solidFill>
                <a:latin typeface="Arial" pitchFamily="34" charset="0"/>
                <a:ea typeface="Arial" pitchFamily="34" charset="-122"/>
                <a:cs typeface="Arial" pitchFamily="34" charset="-120"/>
              </a:rPr>
              <a:t>Nghĩ</a:t>
            </a:r>
            <a:endParaRPr lang="en-US" sz="2100" dirty="0"/>
          </a:p>
        </p:txBody>
      </p:sp>
      <p:sp>
        <p:nvSpPr>
          <p:cNvPr id="14" name="Text 12"/>
          <p:cNvSpPr txBox="1"/>
          <p:nvPr/>
        </p:nvSpPr>
        <p:spPr>
          <a:xfrm>
            <a:off x="3447288" y="2295144"/>
            <a:ext cx="2066544" cy="713232"/>
          </a:xfrm>
          <a:prstGeom prst="rect">
            <a:avLst/>
          </a:prstGeom>
          <a:noFill/>
          <a:ln/>
        </p:spPr>
        <p:txBody>
          <a:bodyPr wrap="square" lIns="0" tIns="0" rIns="0" bIns="0" rtlCol="0" anchor="t"/>
          <a:lstStyle/>
          <a:p>
            <a:pPr algn="ctr" indent="0" marL="0">
              <a:buNone/>
            </a:pPr>
            <a:r>
              <a:rPr lang="en-US" sz="1350" dirty="0">
                <a:solidFill>
                  <a:srgbClr val="5F7183"/>
                </a:solidFill>
                <a:latin typeface="Arial" pitchFamily="34" charset="0"/>
                <a:ea typeface="Arial" pitchFamily="34" charset="-122"/>
                <a:cs typeface="Arial" pitchFamily="34" charset="-120"/>
              </a:rPr>
              <a:t>Ước lượng khoảng cách, phanh hay đi tiếp</a:t>
            </a:r>
            <a:endParaRPr lang="en-US" sz="1350" dirty="0"/>
          </a:p>
        </p:txBody>
      </p:sp>
      <p:sp>
        <p:nvSpPr>
          <p:cNvPr id="15" name="Text 13"/>
          <p:cNvSpPr txBox="1"/>
          <p:nvPr/>
        </p:nvSpPr>
        <p:spPr>
          <a:xfrm>
            <a:off x="3282696" y="2916936"/>
            <a:ext cx="2395728" cy="219456"/>
          </a:xfrm>
          <a:prstGeom prst="rect">
            <a:avLst/>
          </a:prstGeom>
          <a:noFill/>
          <a:ln/>
        </p:spPr>
        <p:txBody>
          <a:bodyPr wrap="square" lIns="0" tIns="0" rIns="0" bIns="0" rtlCol="0" anchor="ctr"/>
          <a:lstStyle/>
          <a:p>
            <a:pPr algn="ctr" indent="0" marL="0">
              <a:buNone/>
            </a:pPr>
            <a:r>
              <a:rPr lang="en-US" sz="1150" b="1" dirty="0">
                <a:solidFill>
                  <a:srgbClr val="007F72"/>
                </a:solidFill>
                <a:latin typeface="Arial" pitchFamily="34" charset="0"/>
                <a:ea typeface="Arial" pitchFamily="34" charset="-122"/>
                <a:cs typeface="Arial" pitchFamily="34" charset="-120"/>
              </a:rPr>
              <a:t>Quyết định   Decision</a:t>
            </a:r>
            <a:endParaRPr lang="en-US" sz="1150" dirty="0"/>
          </a:p>
        </p:txBody>
      </p:sp>
      <p:sp>
        <p:nvSpPr>
          <p:cNvPr id="16" name="Text 14"/>
          <p:cNvSpPr txBox="1"/>
          <p:nvPr/>
        </p:nvSpPr>
        <p:spPr>
          <a:xfrm>
            <a:off x="5696712" y="1920240"/>
            <a:ext cx="347472" cy="365760"/>
          </a:xfrm>
          <a:prstGeom prst="rect">
            <a:avLst/>
          </a:prstGeom>
          <a:noFill/>
          <a:ln/>
        </p:spPr>
        <p:txBody>
          <a:bodyPr wrap="square" lIns="0" tIns="0" rIns="0" bIns="0" rtlCol="0" anchor="ctr"/>
          <a:lstStyle/>
          <a:p>
            <a:pPr algn="ctr" indent="0" marL="0">
              <a:buNone/>
            </a:pPr>
            <a:r>
              <a:rPr lang="en-US" sz="2200" b="1" dirty="0">
                <a:solidFill>
                  <a:srgbClr val="00A896"/>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6062472" y="1097280"/>
            <a:ext cx="2395728" cy="2103120"/>
          </a:xfrm>
          <a:prstGeom prst="roundRect">
            <a:avLst>
              <a:gd name="adj" fmla="val 434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8" name="Shape 16"/>
          <p:cNvSpPr/>
          <p:nvPr/>
        </p:nvSpPr>
        <p:spPr>
          <a:xfrm>
            <a:off x="7004304" y="1280160"/>
            <a:ext cx="512064" cy="512064"/>
          </a:xfrm>
          <a:prstGeom prst="ellipse">
            <a:avLst/>
          </a:prstGeom>
          <a:solidFill>
            <a:srgbClr val="0B1F3A"/>
          </a:solidFill>
          <a:ln/>
        </p:spPr>
      </p:sp>
      <p:sp>
        <p:nvSpPr>
          <p:cNvPr id="19" name="Text 17"/>
          <p:cNvSpPr txBox="1"/>
          <p:nvPr/>
        </p:nvSpPr>
        <p:spPr>
          <a:xfrm>
            <a:off x="7004304" y="1399032"/>
            <a:ext cx="512064"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8"/>
          <p:cNvSpPr txBox="1"/>
          <p:nvPr/>
        </p:nvSpPr>
        <p:spPr>
          <a:xfrm>
            <a:off x="6062472" y="1892808"/>
            <a:ext cx="2395728" cy="365760"/>
          </a:xfrm>
          <a:prstGeom prst="rect">
            <a:avLst/>
          </a:prstGeom>
          <a:noFill/>
          <a:ln/>
        </p:spPr>
        <p:txBody>
          <a:bodyPr wrap="square" lIns="0" tIns="0" rIns="0" bIns="0" rtlCol="0" anchor="ctr"/>
          <a:lstStyle/>
          <a:p>
            <a:pPr algn="ctr" indent="0" marL="0">
              <a:buNone/>
            </a:pPr>
            <a:r>
              <a:rPr lang="en-US" sz="2100" b="1" dirty="0">
                <a:solidFill>
                  <a:srgbClr val="0B1F3A"/>
                </a:solidFill>
                <a:latin typeface="Arial" pitchFamily="34" charset="0"/>
                <a:ea typeface="Arial" pitchFamily="34" charset="-122"/>
                <a:cs typeface="Arial" pitchFamily="34" charset="-120"/>
              </a:rPr>
              <a:t>Làm</a:t>
            </a:r>
            <a:endParaRPr lang="en-US" sz="2100" dirty="0"/>
          </a:p>
        </p:txBody>
      </p:sp>
      <p:sp>
        <p:nvSpPr>
          <p:cNvPr id="21" name="Text 19"/>
          <p:cNvSpPr txBox="1"/>
          <p:nvPr/>
        </p:nvSpPr>
        <p:spPr>
          <a:xfrm>
            <a:off x="6227064" y="2295144"/>
            <a:ext cx="2066544" cy="713232"/>
          </a:xfrm>
          <a:prstGeom prst="rect">
            <a:avLst/>
          </a:prstGeom>
          <a:noFill/>
          <a:ln/>
        </p:spPr>
        <p:txBody>
          <a:bodyPr wrap="square" lIns="0" tIns="0" rIns="0" bIns="0" rtlCol="0" anchor="t"/>
          <a:lstStyle/>
          <a:p>
            <a:pPr algn="ctr" indent="0" marL="0">
              <a:buNone/>
            </a:pPr>
            <a:r>
              <a:rPr lang="en-US" sz="1350" dirty="0">
                <a:solidFill>
                  <a:srgbClr val="5F7183"/>
                </a:solidFill>
                <a:latin typeface="Arial" pitchFamily="34" charset="0"/>
                <a:ea typeface="Arial" pitchFamily="34" charset="-122"/>
                <a:cs typeface="Arial" pitchFamily="34" charset="-120"/>
              </a:rPr>
              <a:t>Chân đạp phanh, tay đánh vô-lăng</a:t>
            </a:r>
            <a:endParaRPr lang="en-US" sz="1350" dirty="0"/>
          </a:p>
        </p:txBody>
      </p:sp>
      <p:sp>
        <p:nvSpPr>
          <p:cNvPr id="22" name="Text 20"/>
          <p:cNvSpPr txBox="1"/>
          <p:nvPr/>
        </p:nvSpPr>
        <p:spPr>
          <a:xfrm>
            <a:off x="6062472" y="2916936"/>
            <a:ext cx="2395728" cy="219456"/>
          </a:xfrm>
          <a:prstGeom prst="rect">
            <a:avLst/>
          </a:prstGeom>
          <a:noFill/>
          <a:ln/>
        </p:spPr>
        <p:txBody>
          <a:bodyPr wrap="square" lIns="0" tIns="0" rIns="0" bIns="0" rtlCol="0" anchor="ctr"/>
          <a:lstStyle/>
          <a:p>
            <a:pPr algn="ctr" indent="0" marL="0">
              <a:buNone/>
            </a:pPr>
            <a:r>
              <a:rPr lang="en-US" sz="1150" b="1" dirty="0">
                <a:solidFill>
                  <a:srgbClr val="007F72"/>
                </a:solidFill>
                <a:latin typeface="Arial" pitchFamily="34" charset="0"/>
                <a:ea typeface="Arial" pitchFamily="34" charset="-122"/>
                <a:cs typeface="Arial" pitchFamily="34" charset="-120"/>
              </a:rPr>
              <a:t>Điều khiển   Control</a:t>
            </a:r>
            <a:endParaRPr lang="en-US" sz="1150" dirty="0"/>
          </a:p>
        </p:txBody>
      </p:sp>
      <p:sp>
        <p:nvSpPr>
          <p:cNvPr id="23" name="Text 21"/>
          <p:cNvSpPr txBox="1"/>
          <p:nvPr/>
        </p:nvSpPr>
        <p:spPr>
          <a:xfrm>
            <a:off x="502920" y="3410712"/>
            <a:ext cx="8138160" cy="365760"/>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Ba từ tiếng Anh này sẽ dùng suốt học kỳ.</a:t>
            </a:r>
            <a:endParaRPr lang="en-US" sz="1400" dirty="0"/>
          </a:p>
        </p:txBody>
      </p:sp>
      <p:pic>
        <p:nvPicPr>
          <p:cNvPr id="24"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5" name="Text 2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0,7 đến 1,5 giây trôi vào đâu</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Thời gian phản ứng của con người có thể tách thành bốn đoạn</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1463040"/>
                <a:gridCol w="1463040"/>
                <a:gridCol w="3200400"/>
                <a:gridCol w="201168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Giai đoạn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Thời gian ~</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Đang làm gì</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Máy và người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Phát hiện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0,1–0,3 giây</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Mắt nhận được tín hiệu “phía trước có thay đổi”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Máy nhanh hơn nhiều</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Nhận dạng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0,2–0,4 giây</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Đó là cái gì? Đèn đỏ, người, hay túi ni-lông?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Người vẫn giỏi hơn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Quyết định</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0,2–0,5 giây</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Phanh, né, hay đi tiếp</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Người vẫn giỏi hơn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Hành động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0,2–0,3 giây</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Cơ bắp đưa chân sang bàn đạp và đạp xuống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Máy nhanh hơn nhiều</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5" name="Text 2"/>
          <p:cNvSpPr txBox="1"/>
          <p:nvPr/>
        </p:nvSpPr>
        <p:spPr>
          <a:xfrm>
            <a:off x="502920" y="3474720"/>
            <a:ext cx="8138160" cy="411480"/>
          </a:xfrm>
          <a:prstGeom prst="rect">
            <a:avLst/>
          </a:prstGeom>
          <a:noFill/>
          <a:ln/>
        </p:spPr>
        <p:txBody>
          <a:bodyPr wrap="square" lIns="0" tIns="0" rIns="0" bIns="0" rtlCol="0" anchor="t"/>
          <a:lstStyle/>
          <a:p>
            <a:pPr indent="0" marL="0">
              <a:buNone/>
            </a:pPr>
            <a:r>
              <a:rPr lang="en-US" sz="1250" b="1" dirty="0">
                <a:solidFill>
                  <a:srgbClr val="007F72"/>
                </a:solidFill>
                <a:latin typeface="Arial" pitchFamily="34" charset="0"/>
                <a:ea typeface="Arial" pitchFamily="34" charset="-122"/>
                <a:cs typeface="Arial" pitchFamily="34" charset="-120"/>
              </a:rPr>
              <a:t>Tốc độ 50 km/h là 13,9 m/giây. Phản ứng 1 giây + quãng phanh 16 m, tổng quãng dừng khoảng 30 m. Công thức này tuần 3 sẽ gặp lại trong mô phỏng.</a:t>
            </a:r>
            <a:endParaRPr lang="en-US" sz="1250" dirty="0"/>
          </a:p>
        </p:txBody>
      </p:sp>
      <p:pic>
        <p:nvPicPr>
          <p:cNvPr id="6"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7" name="Text 3"/>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Kiến trúc hệ thống tự lái: pipeline mô-đun</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Mỗi đoạn có đầu vào và đầu ra rõ ràng. Đọc từ dưới lên chính là chương 3 đến chương 7.</a:t>
            </a:r>
            <a:endParaRPr lang="en-US" sz="1350" dirty="0"/>
          </a:p>
        </p:txBody>
      </p:sp>
      <p:sp>
        <p:nvSpPr>
          <p:cNvPr id="4" name="Shape 2"/>
          <p:cNvSpPr/>
          <p:nvPr/>
        </p:nvSpPr>
        <p:spPr>
          <a:xfrm>
            <a:off x="502920" y="1207008"/>
            <a:ext cx="5669280" cy="384048"/>
          </a:xfrm>
          <a:prstGeom prst="roundRect">
            <a:avLst>
              <a:gd name="adj" fmla="val 14286"/>
            </a:avLst>
          </a:prstGeom>
          <a:solidFill>
            <a:srgbClr val="09323F"/>
          </a:solidFill>
          <a:ln/>
        </p:spPr>
      </p:sp>
      <p:sp>
        <p:nvSpPr>
          <p:cNvPr id="5" name="Text 3"/>
          <p:cNvSpPr txBox="1"/>
          <p:nvPr/>
        </p:nvSpPr>
        <p:spPr>
          <a:xfrm>
            <a:off x="704088" y="1252728"/>
            <a:ext cx="23774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Điều khiển Control</a:t>
            </a:r>
            <a:endParaRPr lang="en-US" sz="1450" dirty="0"/>
          </a:p>
        </p:txBody>
      </p:sp>
      <p:sp>
        <p:nvSpPr>
          <p:cNvPr id="6" name="Text 4"/>
          <p:cNvSpPr txBox="1"/>
          <p:nvPr/>
        </p:nvSpPr>
        <p:spPr>
          <a:xfrm>
            <a:off x="3108960" y="1271016"/>
            <a:ext cx="2926080" cy="256032"/>
          </a:xfrm>
          <a:prstGeom prst="rect">
            <a:avLst/>
          </a:prstGeom>
          <a:noFill/>
          <a:ln/>
        </p:spPr>
        <p:txBody>
          <a:bodyPr wrap="square" lIns="0" tIns="0" rIns="0" bIns="0" rtlCol="0" anchor="ctr"/>
          <a:lstStyle/>
          <a:p>
            <a:pPr indent="0" marL="0">
              <a:buNone/>
            </a:pPr>
            <a:r>
              <a:rPr lang="en-US" sz="1250" dirty="0">
                <a:solidFill>
                  <a:srgbClr val="DCF0ED"/>
                </a:solidFill>
                <a:latin typeface="Arial" pitchFamily="34" charset="0"/>
                <a:ea typeface="Arial" pitchFamily="34" charset="-122"/>
                <a:cs typeface="Arial" pitchFamily="34" charset="-120"/>
              </a:rPr>
              <a:t>Quỹ đạo → góc lái, ga, phanh</a:t>
            </a:r>
            <a:endParaRPr lang="en-US" sz="1250" dirty="0"/>
          </a:p>
        </p:txBody>
      </p:sp>
      <p:sp>
        <p:nvSpPr>
          <p:cNvPr id="7" name="Text 5"/>
          <p:cNvSpPr txBox="1"/>
          <p:nvPr/>
        </p:nvSpPr>
        <p:spPr>
          <a:xfrm>
            <a:off x="6355080" y="1261872"/>
            <a:ext cx="914400" cy="274320"/>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Ch. 7</a:t>
            </a:r>
            <a:endParaRPr lang="en-US" sz="1250" dirty="0"/>
          </a:p>
        </p:txBody>
      </p:sp>
      <p:sp>
        <p:nvSpPr>
          <p:cNvPr id="8" name="Shape 6"/>
          <p:cNvSpPr/>
          <p:nvPr/>
        </p:nvSpPr>
        <p:spPr>
          <a:xfrm>
            <a:off x="502920" y="1641348"/>
            <a:ext cx="5669280" cy="384048"/>
          </a:xfrm>
          <a:prstGeom prst="roundRect">
            <a:avLst>
              <a:gd name="adj" fmla="val 14286"/>
            </a:avLst>
          </a:prstGeom>
          <a:solidFill>
            <a:srgbClr val="0A3A48"/>
          </a:solidFill>
          <a:ln/>
        </p:spPr>
      </p:sp>
      <p:sp>
        <p:nvSpPr>
          <p:cNvPr id="9" name="Text 7"/>
          <p:cNvSpPr txBox="1"/>
          <p:nvPr/>
        </p:nvSpPr>
        <p:spPr>
          <a:xfrm>
            <a:off x="704088" y="1687068"/>
            <a:ext cx="23774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Lập kế hoạch Planning</a:t>
            </a:r>
            <a:endParaRPr lang="en-US" sz="1450" dirty="0"/>
          </a:p>
        </p:txBody>
      </p:sp>
      <p:sp>
        <p:nvSpPr>
          <p:cNvPr id="10" name="Text 8"/>
          <p:cNvSpPr txBox="1"/>
          <p:nvPr/>
        </p:nvSpPr>
        <p:spPr>
          <a:xfrm>
            <a:off x="3108960" y="1705356"/>
            <a:ext cx="2926080" cy="256032"/>
          </a:xfrm>
          <a:prstGeom prst="rect">
            <a:avLst/>
          </a:prstGeom>
          <a:noFill/>
          <a:ln/>
        </p:spPr>
        <p:txBody>
          <a:bodyPr wrap="square" lIns="0" tIns="0" rIns="0" bIns="0" rtlCol="0" anchor="ctr"/>
          <a:lstStyle/>
          <a:p>
            <a:pPr indent="0" marL="0">
              <a:buNone/>
            </a:pPr>
            <a:r>
              <a:rPr lang="en-US" sz="1250" dirty="0">
                <a:solidFill>
                  <a:srgbClr val="DCF0ED"/>
                </a:solidFill>
                <a:latin typeface="Arial" pitchFamily="34" charset="0"/>
                <a:ea typeface="Arial" pitchFamily="34" charset="-122"/>
                <a:cs typeface="Arial" pitchFamily="34" charset="-120"/>
              </a:rPr>
              <a:t>Đi theo đường nào, tốc độ bao nhiêu</a:t>
            </a:r>
            <a:endParaRPr lang="en-US" sz="1250" dirty="0"/>
          </a:p>
        </p:txBody>
      </p:sp>
      <p:sp>
        <p:nvSpPr>
          <p:cNvPr id="11" name="Text 9"/>
          <p:cNvSpPr txBox="1"/>
          <p:nvPr/>
        </p:nvSpPr>
        <p:spPr>
          <a:xfrm>
            <a:off x="6355080" y="1696212"/>
            <a:ext cx="914400" cy="274320"/>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Ch. 6</a:t>
            </a:r>
            <a:endParaRPr lang="en-US" sz="1250" dirty="0"/>
          </a:p>
        </p:txBody>
      </p:sp>
      <p:sp>
        <p:nvSpPr>
          <p:cNvPr id="12" name="Shape 10"/>
          <p:cNvSpPr/>
          <p:nvPr/>
        </p:nvSpPr>
        <p:spPr>
          <a:xfrm>
            <a:off x="502920" y="2075688"/>
            <a:ext cx="5669280" cy="384048"/>
          </a:xfrm>
          <a:prstGeom prst="roundRect">
            <a:avLst>
              <a:gd name="adj" fmla="val 14286"/>
            </a:avLst>
          </a:prstGeom>
          <a:solidFill>
            <a:srgbClr val="0B4251"/>
          </a:solidFill>
          <a:ln/>
        </p:spPr>
      </p:sp>
      <p:sp>
        <p:nvSpPr>
          <p:cNvPr id="13" name="Text 11"/>
          <p:cNvSpPr txBox="1"/>
          <p:nvPr/>
        </p:nvSpPr>
        <p:spPr>
          <a:xfrm>
            <a:off x="704088" y="2121408"/>
            <a:ext cx="23774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Dự đoán Prediction</a:t>
            </a:r>
            <a:endParaRPr lang="en-US" sz="1450" dirty="0"/>
          </a:p>
        </p:txBody>
      </p:sp>
      <p:sp>
        <p:nvSpPr>
          <p:cNvPr id="14" name="Text 12"/>
          <p:cNvSpPr txBox="1"/>
          <p:nvPr/>
        </p:nvSpPr>
        <p:spPr>
          <a:xfrm>
            <a:off x="3108960" y="2139696"/>
            <a:ext cx="2926080" cy="256032"/>
          </a:xfrm>
          <a:prstGeom prst="rect">
            <a:avLst/>
          </a:prstGeom>
          <a:noFill/>
          <a:ln/>
        </p:spPr>
        <p:txBody>
          <a:bodyPr wrap="square" lIns="0" tIns="0" rIns="0" bIns="0" rtlCol="0" anchor="ctr"/>
          <a:lstStyle/>
          <a:p>
            <a:pPr indent="0" marL="0">
              <a:buNone/>
            </a:pPr>
            <a:r>
              <a:rPr lang="en-US" sz="1250" dirty="0">
                <a:solidFill>
                  <a:srgbClr val="DCF0ED"/>
                </a:solidFill>
                <a:latin typeface="Arial" pitchFamily="34" charset="0"/>
                <a:ea typeface="Arial" pitchFamily="34" charset="-122"/>
                <a:cs typeface="Arial" pitchFamily="34" charset="-120"/>
              </a:rPr>
              <a:t>Ba giây nữa người khác ở đâu</a:t>
            </a:r>
            <a:endParaRPr lang="en-US" sz="1250" dirty="0"/>
          </a:p>
        </p:txBody>
      </p:sp>
      <p:sp>
        <p:nvSpPr>
          <p:cNvPr id="15" name="Text 13"/>
          <p:cNvSpPr txBox="1"/>
          <p:nvPr/>
        </p:nvSpPr>
        <p:spPr>
          <a:xfrm>
            <a:off x="6355080" y="2130552"/>
            <a:ext cx="914400" cy="274320"/>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Ch. 6</a:t>
            </a:r>
            <a:endParaRPr lang="en-US" sz="1250" dirty="0"/>
          </a:p>
        </p:txBody>
      </p:sp>
      <p:sp>
        <p:nvSpPr>
          <p:cNvPr id="16" name="Shape 14"/>
          <p:cNvSpPr/>
          <p:nvPr/>
        </p:nvSpPr>
        <p:spPr>
          <a:xfrm>
            <a:off x="502920" y="2510028"/>
            <a:ext cx="5669280" cy="384048"/>
          </a:xfrm>
          <a:prstGeom prst="roundRect">
            <a:avLst>
              <a:gd name="adj" fmla="val 14286"/>
            </a:avLst>
          </a:prstGeom>
          <a:solidFill>
            <a:srgbClr val="0C4A5A"/>
          </a:solidFill>
          <a:ln/>
        </p:spPr>
      </p:sp>
      <p:sp>
        <p:nvSpPr>
          <p:cNvPr id="17" name="Text 15"/>
          <p:cNvSpPr txBox="1"/>
          <p:nvPr/>
        </p:nvSpPr>
        <p:spPr>
          <a:xfrm>
            <a:off x="704088" y="2555748"/>
            <a:ext cx="23774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Định vị Localization</a:t>
            </a:r>
            <a:endParaRPr lang="en-US" sz="1450" dirty="0"/>
          </a:p>
        </p:txBody>
      </p:sp>
      <p:sp>
        <p:nvSpPr>
          <p:cNvPr id="18" name="Text 16"/>
          <p:cNvSpPr txBox="1"/>
          <p:nvPr/>
        </p:nvSpPr>
        <p:spPr>
          <a:xfrm>
            <a:off x="3108960" y="2574036"/>
            <a:ext cx="2926080" cy="256032"/>
          </a:xfrm>
          <a:prstGeom prst="rect">
            <a:avLst/>
          </a:prstGeom>
          <a:noFill/>
          <a:ln/>
        </p:spPr>
        <p:txBody>
          <a:bodyPr wrap="square" lIns="0" tIns="0" rIns="0" bIns="0" rtlCol="0" anchor="ctr"/>
          <a:lstStyle/>
          <a:p>
            <a:pPr indent="0" marL="0">
              <a:buNone/>
            </a:pPr>
            <a:r>
              <a:rPr lang="en-US" sz="1250" dirty="0">
                <a:solidFill>
                  <a:srgbClr val="DCF0ED"/>
                </a:solidFill>
                <a:latin typeface="Arial" pitchFamily="34" charset="0"/>
                <a:ea typeface="Arial" pitchFamily="34" charset="-122"/>
                <a:cs typeface="Arial" pitchFamily="34" charset="-120"/>
              </a:rPr>
              <a:t>Tôi ở điểm nào trên bản đồ</a:t>
            </a:r>
            <a:endParaRPr lang="en-US" sz="1250" dirty="0"/>
          </a:p>
        </p:txBody>
      </p:sp>
      <p:sp>
        <p:nvSpPr>
          <p:cNvPr id="19" name="Text 17"/>
          <p:cNvSpPr txBox="1"/>
          <p:nvPr/>
        </p:nvSpPr>
        <p:spPr>
          <a:xfrm>
            <a:off x="6355080" y="2564892"/>
            <a:ext cx="914400" cy="274320"/>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Ch. 5</a:t>
            </a:r>
            <a:endParaRPr lang="en-US" sz="1250" dirty="0"/>
          </a:p>
        </p:txBody>
      </p:sp>
      <p:sp>
        <p:nvSpPr>
          <p:cNvPr id="20" name="Shape 18"/>
          <p:cNvSpPr/>
          <p:nvPr/>
        </p:nvSpPr>
        <p:spPr>
          <a:xfrm>
            <a:off x="502920" y="2944368"/>
            <a:ext cx="5669280" cy="384048"/>
          </a:xfrm>
          <a:prstGeom prst="roundRect">
            <a:avLst>
              <a:gd name="adj" fmla="val 14286"/>
            </a:avLst>
          </a:prstGeom>
          <a:solidFill>
            <a:srgbClr val="0D5263"/>
          </a:solidFill>
          <a:ln/>
        </p:spPr>
      </p:sp>
      <p:sp>
        <p:nvSpPr>
          <p:cNvPr id="21" name="Text 19"/>
          <p:cNvSpPr txBox="1"/>
          <p:nvPr/>
        </p:nvSpPr>
        <p:spPr>
          <a:xfrm>
            <a:off x="704088" y="2990088"/>
            <a:ext cx="23774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Nhận thức Perception</a:t>
            </a:r>
            <a:endParaRPr lang="en-US" sz="1450" dirty="0"/>
          </a:p>
        </p:txBody>
      </p:sp>
      <p:sp>
        <p:nvSpPr>
          <p:cNvPr id="22" name="Text 20"/>
          <p:cNvSpPr txBox="1"/>
          <p:nvPr/>
        </p:nvSpPr>
        <p:spPr>
          <a:xfrm>
            <a:off x="3108960" y="3008376"/>
            <a:ext cx="2926080" cy="256032"/>
          </a:xfrm>
          <a:prstGeom prst="rect">
            <a:avLst/>
          </a:prstGeom>
          <a:noFill/>
          <a:ln/>
        </p:spPr>
        <p:txBody>
          <a:bodyPr wrap="square" lIns="0" tIns="0" rIns="0" bIns="0" rtlCol="0" anchor="ctr"/>
          <a:lstStyle/>
          <a:p>
            <a:pPr indent="0" marL="0">
              <a:buNone/>
            </a:pPr>
            <a:r>
              <a:rPr lang="en-US" sz="1250" dirty="0">
                <a:solidFill>
                  <a:srgbClr val="DCF0ED"/>
                </a:solidFill>
                <a:latin typeface="Arial" pitchFamily="34" charset="0"/>
                <a:ea typeface="Arial" pitchFamily="34" charset="-122"/>
                <a:cs typeface="Arial" pitchFamily="34" charset="-120"/>
              </a:rPr>
              <a:t>Chỗ đó có một chiếc xe, cách 12,3 m</a:t>
            </a:r>
            <a:endParaRPr lang="en-US" sz="1250" dirty="0"/>
          </a:p>
        </p:txBody>
      </p:sp>
      <p:sp>
        <p:nvSpPr>
          <p:cNvPr id="23" name="Text 21"/>
          <p:cNvSpPr txBox="1"/>
          <p:nvPr/>
        </p:nvSpPr>
        <p:spPr>
          <a:xfrm>
            <a:off x="6355080" y="2999232"/>
            <a:ext cx="914400" cy="274320"/>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Ch. 4</a:t>
            </a:r>
            <a:endParaRPr lang="en-US" sz="1250" dirty="0"/>
          </a:p>
        </p:txBody>
      </p:sp>
      <p:sp>
        <p:nvSpPr>
          <p:cNvPr id="24" name="Shape 22"/>
          <p:cNvSpPr/>
          <p:nvPr/>
        </p:nvSpPr>
        <p:spPr>
          <a:xfrm>
            <a:off x="502920" y="3378708"/>
            <a:ext cx="5669280" cy="384048"/>
          </a:xfrm>
          <a:prstGeom prst="roundRect">
            <a:avLst>
              <a:gd name="adj" fmla="val 14286"/>
            </a:avLst>
          </a:prstGeom>
          <a:solidFill>
            <a:srgbClr val="0E5A6C"/>
          </a:solidFill>
          <a:ln/>
        </p:spPr>
      </p:sp>
      <p:sp>
        <p:nvSpPr>
          <p:cNvPr id="25" name="Text 23"/>
          <p:cNvSpPr txBox="1"/>
          <p:nvPr/>
        </p:nvSpPr>
        <p:spPr>
          <a:xfrm>
            <a:off x="704088" y="3424428"/>
            <a:ext cx="23774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Cảm biến Sensing</a:t>
            </a:r>
            <a:endParaRPr lang="en-US" sz="1450" dirty="0"/>
          </a:p>
        </p:txBody>
      </p:sp>
      <p:sp>
        <p:nvSpPr>
          <p:cNvPr id="26" name="Text 24"/>
          <p:cNvSpPr txBox="1"/>
          <p:nvPr/>
        </p:nvSpPr>
        <p:spPr>
          <a:xfrm>
            <a:off x="3108960" y="3442716"/>
            <a:ext cx="2926080" cy="256032"/>
          </a:xfrm>
          <a:prstGeom prst="rect">
            <a:avLst/>
          </a:prstGeom>
          <a:noFill/>
          <a:ln/>
        </p:spPr>
        <p:txBody>
          <a:bodyPr wrap="square" lIns="0" tIns="0" rIns="0" bIns="0" rtlCol="0" anchor="ctr"/>
          <a:lstStyle/>
          <a:p>
            <a:pPr indent="0" marL="0">
              <a:buNone/>
            </a:pPr>
            <a:r>
              <a:rPr lang="en-US" sz="1250" dirty="0">
                <a:solidFill>
                  <a:srgbClr val="DCF0ED"/>
                </a:solidFill>
                <a:latin typeface="Arial" pitchFamily="34" charset="0"/>
                <a:ea typeface="Arial" pitchFamily="34" charset="-122"/>
                <a:cs typeface="Arial" pitchFamily="34" charset="-120"/>
              </a:rPr>
              <a:t>Camera, LiDAR, radar, GNSS, IMU</a:t>
            </a:r>
            <a:endParaRPr lang="en-US" sz="1250" dirty="0"/>
          </a:p>
        </p:txBody>
      </p:sp>
      <p:sp>
        <p:nvSpPr>
          <p:cNvPr id="27" name="Text 25"/>
          <p:cNvSpPr txBox="1"/>
          <p:nvPr/>
        </p:nvSpPr>
        <p:spPr>
          <a:xfrm>
            <a:off x="6355080" y="3433572"/>
            <a:ext cx="914400" cy="274320"/>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Ch. 3</a:t>
            </a:r>
            <a:endParaRPr lang="en-US" sz="1250" dirty="0"/>
          </a:p>
        </p:txBody>
      </p:sp>
      <p:pic>
        <p:nvPicPr>
          <p:cNvPr id="28"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9" name="Text 26"/>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457200"/>
            <a:ext cx="5486400" cy="274320"/>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Hai con đường</a:t>
            </a:r>
            <a:endParaRPr lang="en-US" sz="1250" dirty="0"/>
          </a:p>
        </p:txBody>
      </p:sp>
      <p:sp>
        <p:nvSpPr>
          <p:cNvPr id="5" name="Text 3"/>
          <p:cNvSpPr txBox="1"/>
          <p:nvPr/>
        </p:nvSpPr>
        <p:spPr>
          <a:xfrm>
            <a:off x="502920" y="822960"/>
            <a:ext cx="8046720" cy="100584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Chia đoạn mà làm, hay một mạng lo tất cả?</a:t>
            </a:r>
            <a:endParaRPr lang="en-US" sz="2300" dirty="0"/>
          </a:p>
        </p:txBody>
      </p:sp>
      <p:sp>
        <p:nvSpPr>
          <p:cNvPr id="6" name="Shape 4"/>
          <p:cNvSpPr/>
          <p:nvPr/>
        </p:nvSpPr>
        <p:spPr>
          <a:xfrm>
            <a:off x="502920" y="1975104"/>
            <a:ext cx="3803904" cy="1755648"/>
          </a:xfrm>
          <a:prstGeom prst="roundRect">
            <a:avLst>
              <a:gd name="adj" fmla="val 5208"/>
            </a:avLst>
          </a:prstGeom>
          <a:solidFill>
            <a:srgbClr val="13314F"/>
          </a:solidFill>
          <a:ln w="19050">
            <a:solidFill>
              <a:srgbClr val="FFB020"/>
            </a:solidFill>
            <a:prstDash val="solid"/>
          </a:ln>
        </p:spPr>
      </p:sp>
      <p:sp>
        <p:nvSpPr>
          <p:cNvPr id="7" name="Text 5"/>
          <p:cNvSpPr txBox="1"/>
          <p:nvPr/>
        </p:nvSpPr>
        <p:spPr>
          <a:xfrm>
            <a:off x="740664" y="2139696"/>
            <a:ext cx="3328416" cy="347472"/>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Pipeline mô-đun</a:t>
            </a:r>
            <a:endParaRPr lang="en-US" sz="1700" dirty="0"/>
          </a:p>
        </p:txBody>
      </p:sp>
      <p:sp>
        <p:nvSpPr>
          <p:cNvPr id="8" name="Text 6"/>
          <p:cNvSpPr txBox="1"/>
          <p:nvPr/>
        </p:nvSpPr>
        <p:spPr>
          <a:xfrm>
            <a:off x="740664" y="2542032"/>
            <a:ext cx="3328416" cy="1097280"/>
          </a:xfrm>
          <a:prstGeom prst="rect">
            <a:avLst/>
          </a:prstGeom>
          <a:noFill/>
          <a:ln/>
        </p:spPr>
        <p:txBody>
          <a:bodyPr wrap="square" lIns="0" tIns="0" rIns="0" bIns="0" rtlCol="0" anchor="t"/>
          <a:lstStyle/>
          <a:p>
            <a:pPr indent="0" marL="0">
              <a:buNone/>
            </a:pPr>
            <a:r>
              <a:rPr lang="en-US" sz="1400" dirty="0">
                <a:solidFill>
                  <a:srgbClr val="D8E4EE"/>
                </a:solidFill>
                <a:latin typeface="Arial" pitchFamily="34" charset="0"/>
                <a:ea typeface="Arial" pitchFamily="34" charset="-122"/>
                <a:cs typeface="Arial" pitchFamily="34" charset="-120"/>
              </a:rPr>
              <a:t>Gỡ lỗi và kiểm chứng được từng đoạn; nhưng mỗi giao diện đều làm rơi thông tin: người lái xe máy có ngoái nhìn bạn không, nén thành khung chữ nhật là mất.</a:t>
            </a:r>
            <a:endParaRPr lang="en-US" sz="1400" dirty="0"/>
          </a:p>
        </p:txBody>
      </p:sp>
      <p:sp>
        <p:nvSpPr>
          <p:cNvPr id="9" name="Shape 7"/>
          <p:cNvSpPr/>
          <p:nvPr/>
        </p:nvSpPr>
        <p:spPr>
          <a:xfrm>
            <a:off x="4599432" y="1975104"/>
            <a:ext cx="3803904" cy="1755648"/>
          </a:xfrm>
          <a:prstGeom prst="roundRect">
            <a:avLst>
              <a:gd name="adj" fmla="val 5208"/>
            </a:avLst>
          </a:prstGeom>
          <a:solidFill>
            <a:srgbClr val="13314F"/>
          </a:solidFill>
          <a:ln w="19050">
            <a:solidFill>
              <a:srgbClr val="00A896"/>
            </a:solidFill>
            <a:prstDash val="solid"/>
          </a:ln>
        </p:spPr>
      </p:sp>
      <p:sp>
        <p:nvSpPr>
          <p:cNvPr id="10" name="Text 8"/>
          <p:cNvSpPr txBox="1"/>
          <p:nvPr/>
        </p:nvSpPr>
        <p:spPr>
          <a:xfrm>
            <a:off x="4837176" y="2139696"/>
            <a:ext cx="3328416" cy="347472"/>
          </a:xfrm>
          <a:prstGeom prst="rect">
            <a:avLst/>
          </a:prstGeom>
          <a:noFill/>
          <a:ln/>
        </p:spPr>
        <p:txBody>
          <a:bodyPr wrap="square" lIns="0" tIns="0" rIns="0" bIns="0" rtlCol="0" anchor="ctr"/>
          <a:lstStyle/>
          <a:p>
            <a:pPr indent="0" marL="0">
              <a:buNone/>
            </a:pPr>
            <a:r>
              <a:rPr lang="en-US" sz="1700" b="1" dirty="0">
                <a:solidFill>
                  <a:srgbClr val="00A896"/>
                </a:solidFill>
                <a:latin typeface="Arial" pitchFamily="34" charset="0"/>
                <a:ea typeface="Arial" pitchFamily="34" charset="-122"/>
                <a:cs typeface="Arial" pitchFamily="34" charset="-120"/>
              </a:rPr>
              <a:t>End-to-end</a:t>
            </a:r>
            <a:endParaRPr lang="en-US" sz="1700" dirty="0"/>
          </a:p>
        </p:txBody>
      </p:sp>
      <p:sp>
        <p:nvSpPr>
          <p:cNvPr id="11" name="Text 9"/>
          <p:cNvSpPr txBox="1"/>
          <p:nvPr/>
        </p:nvSpPr>
        <p:spPr>
          <a:xfrm>
            <a:off x="4837176" y="2542032"/>
            <a:ext cx="3328416" cy="1097280"/>
          </a:xfrm>
          <a:prstGeom prst="rect">
            <a:avLst/>
          </a:prstGeom>
          <a:noFill/>
          <a:ln/>
        </p:spPr>
        <p:txBody>
          <a:bodyPr wrap="square" lIns="0" tIns="0" rIns="0" bIns="0" rtlCol="0" anchor="t"/>
          <a:lstStyle/>
          <a:p>
            <a:pPr indent="0" marL="0">
              <a:buNone/>
            </a:pPr>
            <a:r>
              <a:rPr lang="en-US" sz="1400" dirty="0">
                <a:solidFill>
                  <a:srgbClr val="D8E4EE"/>
                </a:solidFill>
                <a:latin typeface="Arial" pitchFamily="34" charset="0"/>
                <a:ea typeface="Arial" pitchFamily="34" charset="-122"/>
                <a:cs typeface="Arial" pitchFamily="34" charset="-120"/>
              </a:rPr>
              <a:t>Ảnh vào, quỹ đạo ra, giữa giao hết cho mạng nơ-ron. Năm 1989 đã có (ALVINN), chờ 35 năm mới đủ sức tính. Không rơi thông tin, nhưng khó truy nguyên nhân.</a:t>
            </a:r>
            <a:endParaRPr lang="en-US" sz="1400" dirty="0"/>
          </a:p>
        </p:txBody>
      </p:sp>
      <p:sp>
        <p:nvSpPr>
          <p:cNvPr id="12" name="Text 10"/>
          <p:cNvSpPr txBox="1"/>
          <p:nvPr/>
        </p:nvSpPr>
        <p:spPr>
          <a:xfrm>
            <a:off x="502920" y="3950208"/>
            <a:ext cx="8046720" cy="329184"/>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Năm 2026 hai con đường đang hội tụ: mô-đun đang biến thành mạng, còn cạnh mạng thì gắn lại lan can kiểu luật. Chương 8 sẽ nói kỹ.</a:t>
            </a:r>
            <a:endParaRPr lang="en-US" sz="1400" dirty="0"/>
          </a:p>
        </p:txBody>
      </p:sp>
      <p:sp>
        <p:nvSpPr>
          <p:cNvPr id="13" name="Text 1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74320"/>
            <a:ext cx="5486400" cy="274320"/>
          </a:xfrm>
          <a:prstGeom prst="rect">
            <a:avLst/>
          </a:prstGeom>
          <a:noFill/>
          <a:ln/>
        </p:spPr>
        <p:txBody>
          <a:bodyPr wrap="square" lIns="0" tIns="0" rIns="0" bIns="0" rtlCol="0" anchor="ctr"/>
          <a:lstStyle/>
          <a:p>
            <a:pPr indent="0" marL="0">
              <a:buNone/>
            </a:pPr>
            <a:r>
              <a:rPr lang="en-US" sz="1300" b="1" dirty="0">
                <a:solidFill>
                  <a:srgbClr val="FFB020"/>
                </a:solidFill>
                <a:latin typeface="Arial" pitchFamily="34" charset="0"/>
                <a:ea typeface="Arial" pitchFamily="34" charset="-122"/>
                <a:cs typeface="Arial" pitchFamily="34" charset="-120"/>
              </a:rPr>
              <a:t>Video</a:t>
            </a:r>
            <a:endParaRPr lang="en-US" sz="1300" dirty="0"/>
          </a:p>
        </p:txBody>
      </p:sp>
      <p:sp>
        <p:nvSpPr>
          <p:cNvPr id="3" name="Text 1"/>
          <p:cNvSpPr txBox="1"/>
          <p:nvPr/>
        </p:nvSpPr>
        <p:spPr>
          <a:xfrm>
            <a:off x="502920" y="566928"/>
            <a:ext cx="6035040" cy="457200"/>
          </a:xfrm>
          <a:prstGeom prst="rect">
            <a:avLst/>
          </a:prstGeom>
          <a:noFill/>
          <a:ln/>
        </p:spPr>
        <p:txBody>
          <a:bodyPr wrap="square" lIns="0" tIns="0" rIns="0" bIns="0" rtlCol="0" anchor="ctr"/>
          <a:lstStyle/>
          <a:p>
            <a:pPr indent="0" marL="0">
              <a:buNone/>
            </a:pPr>
            <a:r>
              <a:rPr lang="en-US" sz="2600" b="1" dirty="0">
                <a:solidFill>
                  <a:srgbClr val="0B1F3A"/>
                </a:solidFill>
                <a:latin typeface="Arial" pitchFamily="34" charset="0"/>
                <a:ea typeface="Arial" pitchFamily="34" charset="-122"/>
                <a:cs typeface="Arial" pitchFamily="34" charset="-120"/>
              </a:rPr>
              <a:t>Thế giới mà máy nhìn thấy</a:t>
            </a:r>
            <a:endParaRPr lang="en-US" sz="2600" dirty="0"/>
          </a:p>
        </p:txBody>
      </p:sp>
      <p:sp>
        <p:nvSpPr>
          <p:cNvPr id="4" name="Text 2"/>
          <p:cNvSpPr txBox="1"/>
          <p:nvPr/>
        </p:nvSpPr>
        <p:spPr>
          <a:xfrm>
            <a:off x="502920" y="1060704"/>
            <a:ext cx="6035040" cy="274320"/>
          </a:xfrm>
          <a:prstGeom prst="rect">
            <a:avLst/>
          </a:prstGeom>
          <a:noFill/>
          <a:ln/>
        </p:spPr>
        <p:txBody>
          <a:bodyPr wrap="square" lIns="0" tIns="0" rIns="0" bIns="0" rtlCol="0" anchor="ctr"/>
          <a:lstStyle/>
          <a:p>
            <a:pPr indent="0" marL="0">
              <a:buNone/>
            </a:pPr>
            <a:r>
              <a:rPr lang="en-US" sz="1300" b="1" dirty="0">
                <a:solidFill>
                  <a:srgbClr val="007F72"/>
                </a:solidFill>
                <a:latin typeface="Arial" pitchFamily="34" charset="0"/>
                <a:ea typeface="Arial" pitchFamily="34" charset="-122"/>
                <a:cs typeface="Arial" pitchFamily="34" charset="-120"/>
              </a:rPr>
              <a:t>Waymo 360° Experience (2018) · 3 phút 36 giây · video 360°</a:t>
            </a:r>
            <a:endParaRPr lang="en-US" sz="1300" dirty="0"/>
          </a:p>
        </p:txBody>
      </p:sp>
      <p:sp>
        <p:nvSpPr>
          <p:cNvPr id="5" name="Shape 3">
            <a:hlinkClick r:id="rId1" tooltip="Waymo 360° Experience (YouTube)"/>
          </p:cNvPr>
          <p:cNvSpPr/>
          <p:nvPr/>
        </p:nvSpPr>
        <p:spPr>
          <a:xfrm>
            <a:off x="6903720" y="384048"/>
            <a:ext cx="1737360" cy="932688"/>
          </a:xfrm>
          <a:prstGeom prst="roundRect">
            <a:avLst>
              <a:gd name="adj" fmla="val 12745"/>
            </a:avLst>
          </a:prstGeom>
          <a:solidFill>
            <a:srgbClr val="0B1F3A"/>
          </a:solidFill>
          <a:ln/>
        </p:spPr>
      </p:sp>
      <p:sp>
        <p:nvSpPr>
          <p:cNvPr id="6" name="Shape 4"/>
          <p:cNvSpPr/>
          <p:nvPr/>
        </p:nvSpPr>
        <p:spPr>
          <a:xfrm rot="5400000">
            <a:off x="7333488" y="530352"/>
            <a:ext cx="384048" cy="384048"/>
          </a:xfrm>
          <a:prstGeom prst="triangle">
            <a:avLst/>
          </a:prstGeom>
          <a:solidFill>
            <a:srgbClr val="FFB020"/>
          </a:solidFill>
          <a:ln/>
        </p:spPr>
      </p:sp>
      <p:sp>
        <p:nvSpPr>
          <p:cNvPr id="7" name="Text 5">
            <a:hlinkClick r:id="rId2" tooltip="Waymo 360° Experience (YouTube)"/>
          </p:cNvPr>
          <p:cNvSpPr txBox="1"/>
          <p:nvPr/>
        </p:nvSpPr>
        <p:spPr>
          <a:xfrm>
            <a:off x="6903720" y="932688"/>
            <a:ext cx="1737360" cy="274320"/>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2" invalidUrl="" action="" tgtFrame="" tooltip="Waymo 360° Experience (YouTube)" history="1" highlightClick="0" endSnd="0">
                  <a:extLst>
                    <a:ext uri="{A12FA001-AC4F-418D-AE19-62706E023703}">
                      <ahyp:hlinkClr xmlns:ahyp="http://schemas.microsoft.com/office/drawing/2018/hyperlinkcolor" val="tx"/>
                    </a:ext>
                  </a:extLst>
                </a:hlinkClick>
              </a:rPr>
              <a:t>Bấm để phát</a:t>
            </a:r>
            <a:endParaRPr lang="en-US" sz="1150" dirty="0"/>
          </a:p>
        </p:txBody>
      </p:sp>
      <p:sp>
        <p:nvSpPr>
          <p:cNvPr id="8" name="Shape 6"/>
          <p:cNvSpPr/>
          <p:nvPr/>
        </p:nvSpPr>
        <p:spPr>
          <a:xfrm>
            <a:off x="502920" y="1481328"/>
            <a:ext cx="8138160" cy="1847088"/>
          </a:xfrm>
          <a:prstGeom prst="roundRect">
            <a:avLst>
              <a:gd name="adj" fmla="val 4950"/>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9" name="Shape 7"/>
          <p:cNvSpPr/>
          <p:nvPr/>
        </p:nvSpPr>
        <p:spPr>
          <a:xfrm>
            <a:off x="758952" y="1728216"/>
            <a:ext cx="118872" cy="118872"/>
          </a:xfrm>
          <a:prstGeom prst="ellipse">
            <a:avLst/>
          </a:prstGeom>
          <a:solidFill>
            <a:srgbClr val="00A896"/>
          </a:solidFill>
          <a:ln/>
        </p:spPr>
      </p:sp>
      <p:sp>
        <p:nvSpPr>
          <p:cNvPr id="10" name="Text 8"/>
          <p:cNvSpPr txBox="1"/>
          <p:nvPr/>
        </p:nvSpPr>
        <p:spPr>
          <a:xfrm>
            <a:off x="1005840" y="1609344"/>
            <a:ext cx="7498080" cy="36576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0:37–1:50   Nó nhìn thế nào: LiDAR dựng ảnh 360°, radar đo tốc độ, camera nhìn đèn tín hiệu</a:t>
            </a:r>
            <a:endParaRPr lang="en-US" sz="1400" dirty="0"/>
          </a:p>
        </p:txBody>
      </p:sp>
      <p:sp>
        <p:nvSpPr>
          <p:cNvPr id="11" name="Shape 9"/>
          <p:cNvSpPr/>
          <p:nvPr/>
        </p:nvSpPr>
        <p:spPr>
          <a:xfrm>
            <a:off x="758952" y="2112264"/>
            <a:ext cx="118872" cy="118872"/>
          </a:xfrm>
          <a:prstGeom prst="ellipse">
            <a:avLst/>
          </a:prstGeom>
          <a:solidFill>
            <a:srgbClr val="00A896"/>
          </a:solidFill>
          <a:ln/>
        </p:spPr>
      </p:sp>
      <p:sp>
        <p:nvSpPr>
          <p:cNvPr id="12" name="Text 10"/>
          <p:cNvSpPr txBox="1"/>
          <p:nvPr/>
        </p:nvSpPr>
        <p:spPr>
          <a:xfrm>
            <a:off x="1005840" y="1993392"/>
            <a:ext cx="7498080" cy="36576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1:50–2:21   Nó quyết định thế nào: chừa chỗ cho xe đạp, để ý người trên vỉa hè</a:t>
            </a:r>
            <a:endParaRPr lang="en-US" sz="1400" dirty="0"/>
          </a:p>
        </p:txBody>
      </p:sp>
      <p:sp>
        <p:nvSpPr>
          <p:cNvPr id="13" name="Shape 11"/>
          <p:cNvSpPr/>
          <p:nvPr/>
        </p:nvSpPr>
        <p:spPr>
          <a:xfrm>
            <a:off x="758952" y="2496312"/>
            <a:ext cx="118872" cy="118872"/>
          </a:xfrm>
          <a:prstGeom prst="ellipse">
            <a:avLst/>
          </a:prstGeom>
          <a:solidFill>
            <a:srgbClr val="00A896"/>
          </a:solidFill>
          <a:ln/>
        </p:spPr>
      </p:sp>
      <p:sp>
        <p:nvSpPr>
          <p:cNvPr id="14" name="Text 12"/>
          <p:cNvSpPr txBox="1"/>
          <p:nvPr/>
        </p:nvSpPr>
        <p:spPr>
          <a:xfrm>
            <a:off x="1005840" y="2377440"/>
            <a:ext cx="7498080" cy="36576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2:21–3:36   Ngồi lên ra sao: ghế lái trống, màn hình hiện thứ xe thấy và lộ trình</a:t>
            </a:r>
            <a:endParaRPr lang="en-US" sz="1400" dirty="0"/>
          </a:p>
        </p:txBody>
      </p:sp>
      <p:sp>
        <p:nvSpPr>
          <p:cNvPr id="15" name="Shape 13"/>
          <p:cNvSpPr/>
          <p:nvPr/>
        </p:nvSpPr>
        <p:spPr>
          <a:xfrm>
            <a:off x="758952" y="2880360"/>
            <a:ext cx="118872" cy="118872"/>
          </a:xfrm>
          <a:prstGeom prst="ellipse">
            <a:avLst/>
          </a:prstGeom>
          <a:solidFill>
            <a:srgbClr val="00A896"/>
          </a:solidFill>
          <a:ln/>
        </p:spPr>
      </p:sp>
      <p:sp>
        <p:nvSpPr>
          <p:cNvPr id="16" name="Text 14"/>
          <p:cNvSpPr txBox="1"/>
          <p:nvPr/>
        </p:nvSpPr>
        <p:spPr>
          <a:xfrm>
            <a:off x="1005840" y="2761488"/>
            <a:ext cx="7498080" cy="36576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Khi xem hãy để ý: thứ máy “nhìn thấy” khác gì thứ mắt bạn nhìn thấy</a:t>
            </a:r>
            <a:endParaRPr lang="en-US" sz="1400" dirty="0"/>
          </a:p>
        </p:txBody>
      </p:sp>
      <p:sp>
        <p:nvSpPr>
          <p:cNvPr id="17" name="Shape 15">
            <a:hlinkClick r:id="rId3" tooltip="https://www.youtube.com/watch?v=B8R148hFxPw"/>
          </p:cNvPr>
          <p:cNvSpPr/>
          <p:nvPr/>
        </p:nvSpPr>
        <p:spPr>
          <a:xfrm>
            <a:off x="502920" y="3419856"/>
            <a:ext cx="4023360" cy="329184"/>
          </a:xfrm>
          <a:prstGeom prst="roundRect">
            <a:avLst>
              <a:gd name="adj" fmla="val 22222"/>
            </a:avLst>
          </a:prstGeom>
          <a:solidFill>
            <a:srgbClr val="EAF6F4"/>
          </a:solidFill>
          <a:ln w="12700">
            <a:solidFill>
              <a:srgbClr val="BFE3DD"/>
            </a:solidFill>
            <a:prstDash val="solid"/>
          </a:ln>
        </p:spPr>
      </p:sp>
      <p:sp>
        <p:nvSpPr>
          <p:cNvPr id="18" name="Text 16">
            <a:hlinkClick r:id="rId4" tooltip="https://www.youtube.com/watch?v=B8R148hFxPw"/>
          </p:cNvPr>
          <p:cNvSpPr txBox="1"/>
          <p:nvPr/>
        </p:nvSpPr>
        <p:spPr>
          <a:xfrm>
            <a:off x="502920" y="3419856"/>
            <a:ext cx="4023360" cy="329184"/>
          </a:xfrm>
          <a:prstGeom prst="rect">
            <a:avLst/>
          </a:prstGeom>
          <a:noFill/>
          <a:ln/>
        </p:spPr>
        <p:txBody>
          <a:bodyPr wrap="square" lIns="0" tIns="0" rIns="0" bIns="0" rtlCol="0" anchor="ctr"/>
          <a:lstStyle/>
          <a:p>
            <a:pPr algn="ctr" indent="0" marL="0">
              <a:buNone/>
            </a:pPr>
            <a:r>
              <a:rPr lang="en-US" sz="1150" b="1" u="sng" dirty="0">
                <a:solidFill>
                  <a:srgbClr val="007F72"/>
                </a:solidFill>
                <a:latin typeface="Arial" pitchFamily="34" charset="0"/>
                <a:ea typeface="Arial" pitchFamily="34" charset="-122"/>
                <a:cs typeface="Arial" pitchFamily="34" charset="-120"/>
                <a:hlinkClick r:id="rId4" invalidUrl="" action="" tgtFrame="" tooltip="https://www.youtube.com/watch?v=B8R148hFxPw" history="1" highlightClick="0" endSnd="0">
                  <a:extLst>
                    <a:ext uri="{A12FA001-AC4F-418D-AE19-62706E023703}">
                      <ahyp:hlinkClr xmlns:ahyp="http://schemas.microsoft.com/office/drawing/2018/hyperlinkcolor" val="tx"/>
                    </a:ext>
                  </a:extLst>
                </a:hlinkClick>
              </a:rPr>
              <a:t>▶ Waymo 360° Experience (YouTube)</a:t>
            </a:r>
            <a:endParaRPr lang="en-US" sz="1150" dirty="0"/>
          </a:p>
        </p:txBody>
      </p:sp>
      <p:sp>
        <p:nvSpPr>
          <p:cNvPr id="19" name="Text 17"/>
          <p:cNvSpPr txBox="1"/>
          <p:nvPr/>
        </p:nvSpPr>
        <p:spPr>
          <a:xfrm>
            <a:off x="502920" y="3785616"/>
            <a:ext cx="8138160" cy="237744"/>
          </a:xfrm>
          <a:prstGeom prst="rect">
            <a:avLst/>
          </a:prstGeom>
          <a:noFill/>
          <a:ln/>
        </p:spPr>
        <p:txBody>
          <a:bodyPr wrap="square" lIns="0" tIns="0" rIns="0" bIns="0" rtlCol="0" anchor="ctr"/>
          <a:lstStyle/>
          <a:p>
            <a:pPr indent="0" marL="0">
              <a:buNone/>
            </a:pPr>
            <a:r>
              <a:rPr lang="en-US" sz="950" dirty="0">
                <a:solidFill>
                  <a:srgbClr val="5F7183"/>
                </a:solidFill>
                <a:latin typeface="Arial" pitchFamily="34" charset="0"/>
                <a:ea typeface="Arial" pitchFamily="34" charset="-122"/>
                <a:cs typeface="Arial" pitchFamily="34" charset="-120"/>
              </a:rPr>
              <a:t>youtube.com/watch?v=B8R148hFxPw</a:t>
            </a:r>
            <a:endParaRPr lang="en-US" sz="950" dirty="0"/>
          </a:p>
        </p:txBody>
      </p:sp>
      <p:sp>
        <p:nvSpPr>
          <p:cNvPr id="20" name="Shape 18"/>
          <p:cNvSpPr/>
          <p:nvPr/>
        </p:nvSpPr>
        <p:spPr>
          <a:xfrm>
            <a:off x="502920" y="4114800"/>
            <a:ext cx="8138160" cy="530352"/>
          </a:xfrm>
          <a:prstGeom prst="roundRect">
            <a:avLst>
              <a:gd name="adj" fmla="val 15517"/>
            </a:avLst>
          </a:prstGeom>
          <a:solidFill>
            <a:srgbClr val="FFF6E4"/>
          </a:solidFill>
          <a:ln w="12700">
            <a:solidFill>
              <a:srgbClr val="F2D79B"/>
            </a:solidFill>
            <a:prstDash val="solid"/>
          </a:ln>
        </p:spPr>
      </p:sp>
      <p:sp>
        <p:nvSpPr>
          <p:cNvPr id="21" name="Text 19"/>
          <p:cNvSpPr txBox="1"/>
          <p:nvPr/>
        </p:nvSpPr>
        <p:spPr>
          <a:xfrm>
            <a:off x="758952" y="4187952"/>
            <a:ext cx="7635240" cy="384048"/>
          </a:xfrm>
          <a:prstGeom prst="rect">
            <a:avLst/>
          </a:prstGeom>
          <a:noFill/>
          <a:ln/>
        </p:spPr>
        <p:txBody>
          <a:bodyPr wrap="square" lIns="0" tIns="0" rIns="0" bIns="0" rtlCol="0" anchor="ctr"/>
          <a:lstStyle/>
          <a:p>
            <a:pPr indent="0" marL="0">
              <a:buNone/>
            </a:pPr>
            <a:r>
              <a:rPr lang="en-US" sz="1450" b="1" dirty="0">
                <a:solidFill>
                  <a:srgbClr val="8A5A00"/>
                </a:solidFill>
                <a:latin typeface="Arial" pitchFamily="34" charset="0"/>
                <a:ea typeface="Arial" pitchFamily="34" charset="-122"/>
                <a:cs typeface="Arial" pitchFamily="34" charset="-120"/>
              </a:rPr>
              <a:t>Xem xong hỏi: bên nào nhanh hơn? Bên nào hiểu hơn? Không đủ giờ thì chỉ chiếu 0:37–2:21.</a:t>
            </a:r>
            <a:endParaRPr lang="en-US" sz="1450" dirty="0"/>
          </a:p>
        </p:txBody>
      </p:sp>
      <p:pic>
        <p:nvPicPr>
          <p:cNvPr id="22" name="Image 0" descr="./logo.png">    </p:cNvPr>
          <p:cNvPicPr>
            <a:picLocks noChangeAspect="1"/>
          </p:cNvPicPr>
          <p:nvPr/>
        </p:nvPicPr>
        <p:blipFill>
          <a:blip r:embed="rId5"/>
          <a:stretch>
            <a:fillRect/>
          </a:stretch>
        </p:blipFill>
        <p:spPr>
          <a:xfrm>
            <a:off x="7498080" y="4709160"/>
            <a:ext cx="1143000" cy="252541"/>
          </a:xfrm>
          <a:prstGeom prst="rect">
            <a:avLst/>
          </a:prstGeom>
        </p:spPr>
      </p:pic>
      <p:sp>
        <p:nvSpPr>
          <p:cNvPr id="23" name="Text 20"/>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Tóm tắt tiết 1</a:t>
            </a:r>
            <a:endParaRPr lang="en-US" sz="2700" dirty="0"/>
          </a:p>
        </p:txBody>
      </p:sp>
      <p:sp>
        <p:nvSpPr>
          <p:cNvPr id="3" name="Shape 1"/>
          <p:cNvSpPr/>
          <p:nvPr/>
        </p:nvSpPr>
        <p:spPr>
          <a:xfrm>
            <a:off x="502920" y="978408"/>
            <a:ext cx="329184" cy="329184"/>
          </a:xfrm>
          <a:prstGeom prst="ellipse">
            <a:avLst/>
          </a:prstGeom>
          <a:solidFill>
            <a:srgbClr val="0B1F3A"/>
          </a:solidFill>
          <a:ln/>
        </p:spPr>
      </p:sp>
      <p:sp>
        <p:nvSpPr>
          <p:cNvPr id="4" name="Text 2"/>
          <p:cNvSpPr txBox="1"/>
          <p:nvPr/>
        </p:nvSpPr>
        <p:spPr>
          <a:xfrm>
            <a:off x="502920" y="1005840"/>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 name="Text 3"/>
          <p:cNvSpPr txBox="1"/>
          <p:nvPr/>
        </p:nvSpPr>
        <p:spPr>
          <a:xfrm>
            <a:off x="1014984" y="941832"/>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Giáo trình là tự biên soạn, nguồn đều ghi ở lời nói đầu và phụ lục 4</a:t>
            </a:r>
            <a:endParaRPr lang="en-US" sz="1550" dirty="0"/>
          </a:p>
        </p:txBody>
      </p:sp>
      <p:sp>
        <p:nvSpPr>
          <p:cNvPr id="6" name="Shape 4"/>
          <p:cNvSpPr/>
          <p:nvPr/>
        </p:nvSpPr>
        <p:spPr>
          <a:xfrm>
            <a:off x="502920" y="1545336"/>
            <a:ext cx="329184" cy="329184"/>
          </a:xfrm>
          <a:prstGeom prst="ellipse">
            <a:avLst/>
          </a:prstGeom>
          <a:solidFill>
            <a:srgbClr val="0B1F3A"/>
          </a:solidFill>
          <a:ln/>
        </p:spPr>
      </p:sp>
      <p:sp>
        <p:nvSpPr>
          <p:cNvPr id="7" name="Text 5"/>
          <p:cNvSpPr txBox="1"/>
          <p:nvPr/>
        </p:nvSpPr>
        <p:spPr>
          <a:xfrm>
            <a:off x="502920" y="157276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8" name="Text 6"/>
          <p:cNvSpPr txBox="1"/>
          <p:nvPr/>
        </p:nvSpPr>
        <p:spPr>
          <a:xfrm>
            <a:off x="1014984" y="1508760"/>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5/11 thi giữa kỳ, 19/11 nghỉ vì hội thao, 7/1 thi cuối kỳ</a:t>
            </a:r>
            <a:endParaRPr lang="en-US" sz="1550" dirty="0"/>
          </a:p>
        </p:txBody>
      </p:sp>
      <p:sp>
        <p:nvSpPr>
          <p:cNvPr id="9" name="Shape 7"/>
          <p:cNvSpPr/>
          <p:nvPr/>
        </p:nvSpPr>
        <p:spPr>
          <a:xfrm>
            <a:off x="502920" y="2112264"/>
            <a:ext cx="329184" cy="329184"/>
          </a:xfrm>
          <a:prstGeom prst="ellipse">
            <a:avLst/>
          </a:prstGeom>
          <a:solidFill>
            <a:srgbClr val="0B1F3A"/>
          </a:solidFill>
          <a:ln/>
        </p:spPr>
      </p:sp>
      <p:sp>
        <p:nvSpPr>
          <p:cNvPr id="10" name="Text 8"/>
          <p:cNvSpPr txBox="1"/>
          <p:nvPr/>
        </p:nvSpPr>
        <p:spPr>
          <a:xfrm>
            <a:off x="502920" y="2139696"/>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1" name="Text 9"/>
          <p:cNvSpPr txBox="1"/>
          <p:nvPr/>
        </p:nvSpPr>
        <p:spPr>
          <a:xfrm>
            <a:off x="1014984" y="2075688"/>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Nhìn, nghĩ, làm: Perception, Decision, Control</a:t>
            </a:r>
            <a:endParaRPr lang="en-US" sz="1550" dirty="0"/>
          </a:p>
        </p:txBody>
      </p:sp>
      <p:sp>
        <p:nvSpPr>
          <p:cNvPr id="12" name="Shape 10"/>
          <p:cNvSpPr/>
          <p:nvPr/>
        </p:nvSpPr>
        <p:spPr>
          <a:xfrm>
            <a:off x="502920" y="2679192"/>
            <a:ext cx="329184" cy="329184"/>
          </a:xfrm>
          <a:prstGeom prst="ellipse">
            <a:avLst/>
          </a:prstGeom>
          <a:solidFill>
            <a:srgbClr val="0B1F3A"/>
          </a:solidFill>
          <a:ln/>
        </p:spPr>
      </p:sp>
      <p:sp>
        <p:nvSpPr>
          <p:cNvPr id="13" name="Text 11"/>
          <p:cNvSpPr txBox="1"/>
          <p:nvPr/>
        </p:nvSpPr>
        <p:spPr>
          <a:xfrm>
            <a:off x="502920" y="2706624"/>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4" name="Text 12"/>
          <p:cNvSpPr txBox="1"/>
          <p:nvPr/>
        </p:nvSpPr>
        <p:spPr>
          <a:xfrm>
            <a:off x="1014984" y="2642616"/>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Pipeline sáu đoạn: cảm biến, nhận thức, định vị, dự đoán, lập kế hoạch, điều khiển; con đường còn lại gọi là end-to-end</a:t>
            </a:r>
            <a:endParaRPr lang="en-US" sz="1550" dirty="0"/>
          </a:p>
        </p:txBody>
      </p:sp>
      <p:sp>
        <p:nvSpPr>
          <p:cNvPr id="15" name="Shape 13"/>
          <p:cNvSpPr/>
          <p:nvPr/>
        </p:nvSpPr>
        <p:spPr>
          <a:xfrm>
            <a:off x="502920" y="3977640"/>
            <a:ext cx="8138160" cy="603504"/>
          </a:xfrm>
          <a:prstGeom prst="roundRect">
            <a:avLst>
              <a:gd name="adj" fmla="val 13636"/>
            </a:avLst>
          </a:prstGeom>
          <a:solidFill>
            <a:srgbClr val="EAF6F4"/>
          </a:solidFill>
          <a:ln w="12700">
            <a:solidFill>
              <a:srgbClr val="BFE3DD"/>
            </a:solidFill>
            <a:prstDash val="solid"/>
          </a:ln>
        </p:spPr>
      </p:sp>
      <p:sp>
        <p:nvSpPr>
          <p:cNvPr id="16" name="Text 14"/>
          <p:cNvSpPr txBox="1"/>
          <p:nvPr/>
        </p:nvSpPr>
        <p:spPr>
          <a:xfrm>
            <a:off x="758952" y="4069080"/>
            <a:ext cx="7635240" cy="420624"/>
          </a:xfrm>
          <a:prstGeom prst="rect">
            <a:avLst/>
          </a:prstGeom>
          <a:noFill/>
          <a:ln/>
        </p:spPr>
        <p:txBody>
          <a:bodyPr wrap="square" lIns="0" tIns="0" rIns="0" bIns="0" rtlCol="0" anchor="ctr"/>
          <a:lstStyle/>
          <a:p>
            <a:pPr indent="0" marL="0">
              <a:buNone/>
            </a:pPr>
            <a:r>
              <a:rPr lang="en-US" sz="1500" b="1" dirty="0">
                <a:solidFill>
                  <a:srgbClr val="007F72"/>
                </a:solidFill>
                <a:latin typeface="Arial" pitchFamily="34" charset="0"/>
                <a:ea typeface="Arial" pitchFamily="34" charset="-122"/>
                <a:cs typeface="Arial" pitchFamily="34" charset="-120"/>
              </a:rPr>
              <a:t>Nghỉ mười phút. Tiết 2 học thứ ngôn ngữ chung của cả thế giới: phân cấp SAE.</a:t>
            </a:r>
            <a:endParaRPr lang="en-US" sz="1500" dirty="0"/>
          </a:p>
        </p:txBody>
      </p:sp>
      <p:pic>
        <p:nvPicPr>
          <p:cNvPr id="17"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8" name="Text 1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691640"/>
            <a:ext cx="36576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Tiết 2</a:t>
            </a:r>
            <a:endParaRPr lang="en-US" sz="1400" dirty="0"/>
          </a:p>
        </p:txBody>
      </p:sp>
      <p:sp>
        <p:nvSpPr>
          <p:cNvPr id="5" name="Text 3"/>
          <p:cNvSpPr txBox="1"/>
          <p:nvPr/>
        </p:nvSpPr>
        <p:spPr>
          <a:xfrm>
            <a:off x="502920" y="2048256"/>
            <a:ext cx="731520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Sáu cấp độ, ai chịu trách nhiệm</a:t>
            </a:r>
            <a:endParaRPr lang="en-US" sz="3400" dirty="0"/>
          </a:p>
        </p:txBody>
      </p:sp>
      <p:sp>
        <p:nvSpPr>
          <p:cNvPr id="6" name="Text 4"/>
          <p:cNvSpPr txBox="1"/>
          <p:nvPr/>
        </p:nvSpPr>
        <p:spPr>
          <a:xfrm>
            <a:off x="502920" y="2907792"/>
            <a:ext cx="7315200" cy="365760"/>
          </a:xfrm>
          <a:prstGeom prst="rect">
            <a:avLst/>
          </a:prstGeom>
          <a:noFill/>
          <a:ln/>
        </p:spPr>
        <p:txBody>
          <a:bodyPr wrap="square" lIns="0" tIns="0" rIns="0" bIns="0" rtlCol="0" anchor="ctr"/>
          <a:lstStyle/>
          <a:p>
            <a:pPr indent="0" marL="0">
              <a:buNone/>
            </a:pPr>
            <a:r>
              <a:rPr lang="en-US" sz="1550" dirty="0">
                <a:solidFill>
                  <a:srgbClr val="AFC3D4"/>
                </a:solidFill>
                <a:latin typeface="Arial" pitchFamily="34" charset="0"/>
                <a:ea typeface="Arial" pitchFamily="34" charset="-122"/>
                <a:cs typeface="Arial" pitchFamily="34" charset="-120"/>
              </a:rPr>
              <a:t>Học phân cấp trước, xem lịch sử, cuối cùng bàn trách nhiệm   ｜   giáo trình 1.3–1.5</a:t>
            </a:r>
            <a:endParaRPr lang="en-US" sz="1550" dirty="0"/>
          </a:p>
        </p:txBody>
      </p:sp>
      <p:sp>
        <p:nvSpPr>
          <p:cNvPr id="7"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Làm quen bốn thuật ngữ trước</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Bộ khung của J3016</a:t>
            </a:r>
            <a:endParaRPr lang="en-US" sz="13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2103120"/>
                <a:gridCol w="3657600"/>
                <a:gridCol w="237744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Thuật ngữ</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Nghĩa là gì</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Dùng để phân biệt</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DDT – Nhiệm vụ lái động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Lái xe cho tốt theo thời gian thực: đánh lái, tăng giảm tốc, cộng thêm OEDR. Không gồm “đi đường nào”</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OEDR – Phát hiện và phản ứng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Thấy được xung quanh đang xảy ra chuyện gì và phản ứng lại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L2 và L3: ai đang giám sát</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DDT fallback – Tiếp quản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Khi hệ thống gặp sự cố thì ai dọn dẹp</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L3 và L4: người tiếp quản hay hệ thống tự tiếp quản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ODD – Miền vận hành thiết kế</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Hệ thống được thiết kế để chạy trong những điều kiện nào</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L4 và L5: có giới hạn hay không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5" name="Text 2"/>
          <p:cNvSpPr txBox="1"/>
          <p:nvPr/>
        </p:nvSpPr>
        <p:spPr>
          <a:xfrm>
            <a:off x="502920" y="3931920"/>
            <a:ext cx="8138160" cy="411480"/>
          </a:xfrm>
          <a:prstGeom prst="rect">
            <a:avLst/>
          </a:prstGeom>
          <a:noFill/>
          <a:ln/>
        </p:spPr>
        <p:txBody>
          <a:bodyPr wrap="square" lIns="0" tIns="0" rIns="0" bIns="0" rtlCol="0" anchor="t"/>
          <a:lstStyle/>
          <a:p>
            <a:pPr indent="0" marL="0">
              <a:buNone/>
            </a:pPr>
            <a:r>
              <a:rPr lang="en-US" sz="1250" b="1" dirty="0">
                <a:solidFill>
                  <a:srgbClr val="007F72"/>
                </a:solidFill>
                <a:latin typeface="Arial" pitchFamily="34" charset="0"/>
                <a:ea typeface="Arial" pitchFamily="34" charset="-122"/>
                <a:cs typeface="Arial" pitchFamily="34" charset="-120"/>
              </a:rPr>
              <a:t>Nói “xe này là L4” là chưa đủ. Câu hỏi đúng phải là: ODD của nó là gì?</a:t>
            </a:r>
            <a:endParaRPr lang="en-US" sz="1250" dirty="0"/>
          </a:p>
        </p:txBody>
      </p:sp>
      <p:pic>
        <p:nvPicPr>
          <p:cNvPr id="6"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7" name="Text 3"/>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Sáu cấp độ</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Cách phân cấp dùng chung trên toàn thế giới</a:t>
            </a:r>
            <a:endParaRPr lang="en-US" sz="1350" dirty="0"/>
          </a:p>
        </p:txBody>
      </p:sp>
      <p:sp>
        <p:nvSpPr>
          <p:cNvPr id="4" name="Shape 2"/>
          <p:cNvSpPr/>
          <p:nvPr/>
        </p:nvSpPr>
        <p:spPr>
          <a:xfrm>
            <a:off x="502920" y="1207008"/>
            <a:ext cx="676656" cy="438912"/>
          </a:xfrm>
          <a:prstGeom prst="roundRect">
            <a:avLst>
              <a:gd name="adj" fmla="val 14583"/>
            </a:avLst>
          </a:prstGeom>
          <a:solidFill>
            <a:srgbClr val="0B1F3A"/>
          </a:solidFill>
          <a:ln/>
        </p:spPr>
      </p:sp>
      <p:sp>
        <p:nvSpPr>
          <p:cNvPr id="5" name="Text 3"/>
          <p:cNvSpPr txBox="1"/>
          <p:nvPr/>
        </p:nvSpPr>
        <p:spPr>
          <a:xfrm>
            <a:off x="502920" y="1289304"/>
            <a:ext cx="67665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L0</a:t>
            </a:r>
            <a:endParaRPr lang="en-US" sz="1500" dirty="0"/>
          </a:p>
        </p:txBody>
      </p:sp>
      <p:sp>
        <p:nvSpPr>
          <p:cNvPr id="6" name="Text 4"/>
          <p:cNvSpPr txBox="1"/>
          <p:nvPr/>
        </p:nvSpPr>
        <p:spPr>
          <a:xfrm>
            <a:off x="1325880" y="1234440"/>
            <a:ext cx="1965960" cy="384048"/>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Không tự động hóa</a:t>
            </a:r>
            <a:endParaRPr lang="en-US" sz="1400" dirty="0"/>
          </a:p>
        </p:txBody>
      </p:sp>
      <p:sp>
        <p:nvSpPr>
          <p:cNvPr id="7" name="Text 5"/>
          <p:cNvSpPr txBox="1"/>
          <p:nvPr/>
        </p:nvSpPr>
        <p:spPr>
          <a:xfrm>
            <a:off x="3337560" y="1234440"/>
            <a:ext cx="5257800" cy="384048"/>
          </a:xfrm>
          <a:prstGeom prst="rect">
            <a:avLst/>
          </a:prstGeom>
          <a:noFill/>
          <a:ln/>
        </p:spPr>
        <p:txBody>
          <a:bodyPr wrap="square" lIns="0" tIns="0" rIns="0" bIns="0" rtlCol="0" anchor="ctr"/>
          <a:lstStyle/>
          <a:p>
            <a:pPr indent="0" marL="0">
              <a:buNone/>
            </a:pPr>
            <a:r>
              <a:rPr lang="en-US" sz="1300" dirty="0">
                <a:solidFill>
                  <a:srgbClr val="4A5C6B"/>
                </a:solidFill>
                <a:latin typeface="Arial" pitchFamily="34" charset="0"/>
                <a:ea typeface="Arial" pitchFamily="34" charset="-122"/>
                <a:cs typeface="Arial" pitchFamily="34" charset="-120"/>
              </a:rPr>
              <a:t>Người làm tất cả. Hệ thống có thể cảnh báo hoặc can thiệp tức thời. Phanh khẩn cấp tự động AEB là L0.</a:t>
            </a:r>
            <a:endParaRPr lang="en-US" sz="1300" dirty="0"/>
          </a:p>
        </p:txBody>
      </p:sp>
      <p:sp>
        <p:nvSpPr>
          <p:cNvPr id="8" name="Shape 6"/>
          <p:cNvSpPr/>
          <p:nvPr/>
        </p:nvSpPr>
        <p:spPr>
          <a:xfrm>
            <a:off x="502920" y="1737360"/>
            <a:ext cx="676656" cy="438912"/>
          </a:xfrm>
          <a:prstGeom prst="roundRect">
            <a:avLst>
              <a:gd name="adj" fmla="val 14583"/>
            </a:avLst>
          </a:prstGeom>
          <a:solidFill>
            <a:srgbClr val="0B1F3A"/>
          </a:solidFill>
          <a:ln/>
        </p:spPr>
      </p:sp>
      <p:sp>
        <p:nvSpPr>
          <p:cNvPr id="9" name="Text 7"/>
          <p:cNvSpPr txBox="1"/>
          <p:nvPr/>
        </p:nvSpPr>
        <p:spPr>
          <a:xfrm>
            <a:off x="502920" y="1819656"/>
            <a:ext cx="67665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L1</a:t>
            </a:r>
            <a:endParaRPr lang="en-US" sz="1500" dirty="0"/>
          </a:p>
        </p:txBody>
      </p:sp>
      <p:sp>
        <p:nvSpPr>
          <p:cNvPr id="10" name="Text 8"/>
          <p:cNvSpPr txBox="1"/>
          <p:nvPr/>
        </p:nvSpPr>
        <p:spPr>
          <a:xfrm>
            <a:off x="1325880" y="1764792"/>
            <a:ext cx="1965960" cy="384048"/>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Hỗ trợ lái</a:t>
            </a:r>
            <a:endParaRPr lang="en-US" sz="1400" dirty="0"/>
          </a:p>
        </p:txBody>
      </p:sp>
      <p:sp>
        <p:nvSpPr>
          <p:cNvPr id="11" name="Text 9"/>
          <p:cNvSpPr txBox="1"/>
          <p:nvPr/>
        </p:nvSpPr>
        <p:spPr>
          <a:xfrm>
            <a:off x="3337560" y="1764792"/>
            <a:ext cx="5257800" cy="384048"/>
          </a:xfrm>
          <a:prstGeom prst="rect">
            <a:avLst/>
          </a:prstGeom>
          <a:noFill/>
          <a:ln/>
        </p:spPr>
        <p:txBody>
          <a:bodyPr wrap="square" lIns="0" tIns="0" rIns="0" bIns="0" rtlCol="0" anchor="ctr"/>
          <a:lstStyle/>
          <a:p>
            <a:pPr indent="0" marL="0">
              <a:buNone/>
            </a:pPr>
            <a:r>
              <a:rPr lang="en-US" sz="1300" dirty="0">
                <a:solidFill>
                  <a:srgbClr val="4A5C6B"/>
                </a:solidFill>
                <a:latin typeface="Arial" pitchFamily="34" charset="0"/>
                <a:ea typeface="Arial" pitchFamily="34" charset="-122"/>
                <a:cs typeface="Arial" pitchFamily="34" charset="-120"/>
              </a:rPr>
              <a:t>Hệ thống liên tục làm một trong hai: đánh lái hoặc tăng giảm tốc. Ga tự động ACC là L1.</a:t>
            </a:r>
            <a:endParaRPr lang="en-US" sz="1300" dirty="0"/>
          </a:p>
        </p:txBody>
      </p:sp>
      <p:sp>
        <p:nvSpPr>
          <p:cNvPr id="12" name="Shape 10"/>
          <p:cNvSpPr/>
          <p:nvPr/>
        </p:nvSpPr>
        <p:spPr>
          <a:xfrm>
            <a:off x="502920" y="2267712"/>
            <a:ext cx="676656" cy="438912"/>
          </a:xfrm>
          <a:prstGeom prst="roundRect">
            <a:avLst>
              <a:gd name="adj" fmla="val 14583"/>
            </a:avLst>
          </a:prstGeom>
          <a:solidFill>
            <a:srgbClr val="0E7C70"/>
          </a:solidFill>
          <a:ln/>
        </p:spPr>
      </p:sp>
      <p:sp>
        <p:nvSpPr>
          <p:cNvPr id="13" name="Text 11"/>
          <p:cNvSpPr txBox="1"/>
          <p:nvPr/>
        </p:nvSpPr>
        <p:spPr>
          <a:xfrm>
            <a:off x="502920" y="2350008"/>
            <a:ext cx="67665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L2</a:t>
            </a:r>
            <a:endParaRPr lang="en-US" sz="1500" dirty="0"/>
          </a:p>
        </p:txBody>
      </p:sp>
      <p:sp>
        <p:nvSpPr>
          <p:cNvPr id="14" name="Text 12"/>
          <p:cNvSpPr txBox="1"/>
          <p:nvPr/>
        </p:nvSpPr>
        <p:spPr>
          <a:xfrm>
            <a:off x="1325880" y="2295144"/>
            <a:ext cx="1965960" cy="384048"/>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Tự động hóa một phần</a:t>
            </a:r>
            <a:endParaRPr lang="en-US" sz="1400" dirty="0"/>
          </a:p>
        </p:txBody>
      </p:sp>
      <p:sp>
        <p:nvSpPr>
          <p:cNvPr id="15" name="Text 13"/>
          <p:cNvSpPr txBox="1"/>
          <p:nvPr/>
        </p:nvSpPr>
        <p:spPr>
          <a:xfrm>
            <a:off x="3337560" y="2295144"/>
            <a:ext cx="5257800" cy="384048"/>
          </a:xfrm>
          <a:prstGeom prst="rect">
            <a:avLst/>
          </a:prstGeom>
          <a:noFill/>
          <a:ln/>
        </p:spPr>
        <p:txBody>
          <a:bodyPr wrap="square" lIns="0" tIns="0" rIns="0" bIns="0" rtlCol="0" anchor="ctr"/>
          <a:lstStyle/>
          <a:p>
            <a:pPr indent="0" marL="0">
              <a:buNone/>
            </a:pPr>
            <a:r>
              <a:rPr lang="en-US" sz="1300" dirty="0">
                <a:solidFill>
                  <a:srgbClr val="4A5C6B"/>
                </a:solidFill>
                <a:latin typeface="Arial" pitchFamily="34" charset="0"/>
                <a:ea typeface="Arial" pitchFamily="34" charset="-122"/>
                <a:cs typeface="Arial" pitchFamily="34" charset="-120"/>
              </a:rPr>
              <a:t>Hệ thống làm đồng thời đánh lái và tăng giảm tốc, nhưng giám sát môi trường vẫn là trách nhiệm của người.</a:t>
            </a:r>
            <a:endParaRPr lang="en-US" sz="1300" dirty="0"/>
          </a:p>
        </p:txBody>
      </p:sp>
      <p:sp>
        <p:nvSpPr>
          <p:cNvPr id="16" name="Shape 14"/>
          <p:cNvSpPr/>
          <p:nvPr/>
        </p:nvSpPr>
        <p:spPr>
          <a:xfrm>
            <a:off x="502920" y="2798064"/>
            <a:ext cx="676656" cy="438912"/>
          </a:xfrm>
          <a:prstGeom prst="roundRect">
            <a:avLst>
              <a:gd name="adj" fmla="val 14583"/>
            </a:avLst>
          </a:prstGeom>
          <a:solidFill>
            <a:srgbClr val="0E7C70"/>
          </a:solidFill>
          <a:ln/>
        </p:spPr>
      </p:sp>
      <p:sp>
        <p:nvSpPr>
          <p:cNvPr id="17" name="Text 15"/>
          <p:cNvSpPr txBox="1"/>
          <p:nvPr/>
        </p:nvSpPr>
        <p:spPr>
          <a:xfrm>
            <a:off x="502920" y="2880360"/>
            <a:ext cx="67665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L3</a:t>
            </a:r>
            <a:endParaRPr lang="en-US" sz="1500" dirty="0"/>
          </a:p>
        </p:txBody>
      </p:sp>
      <p:sp>
        <p:nvSpPr>
          <p:cNvPr id="18" name="Text 16"/>
          <p:cNvSpPr txBox="1"/>
          <p:nvPr/>
        </p:nvSpPr>
        <p:spPr>
          <a:xfrm>
            <a:off x="1325880" y="2825496"/>
            <a:ext cx="1965960" cy="384048"/>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Tự động hóa có điều kiện</a:t>
            </a:r>
            <a:endParaRPr lang="en-US" sz="1400" dirty="0"/>
          </a:p>
        </p:txBody>
      </p:sp>
      <p:sp>
        <p:nvSpPr>
          <p:cNvPr id="19" name="Text 17"/>
          <p:cNvSpPr txBox="1"/>
          <p:nvPr/>
        </p:nvSpPr>
        <p:spPr>
          <a:xfrm>
            <a:off x="3337560" y="2825496"/>
            <a:ext cx="5257800" cy="384048"/>
          </a:xfrm>
          <a:prstGeom prst="rect">
            <a:avLst/>
          </a:prstGeom>
          <a:noFill/>
          <a:ln/>
        </p:spPr>
        <p:txBody>
          <a:bodyPr wrap="square" lIns="0" tIns="0" rIns="0" bIns="0" rtlCol="0" anchor="ctr"/>
          <a:lstStyle/>
          <a:p>
            <a:pPr indent="0" marL="0">
              <a:buNone/>
            </a:pPr>
            <a:r>
              <a:rPr lang="en-US" sz="1300" dirty="0">
                <a:solidFill>
                  <a:srgbClr val="4A5C6B"/>
                </a:solidFill>
                <a:latin typeface="Arial" pitchFamily="34" charset="0"/>
                <a:ea typeface="Arial" pitchFamily="34" charset="-122"/>
                <a:cs typeface="Arial" pitchFamily="34" charset="-120"/>
              </a:rPr>
              <a:t>Trong ODD, hệ thống làm hết; người có thể không nhìn đường, nhưng khi hệ thống yêu cầu thì phải tiếp quản.</a:t>
            </a:r>
            <a:endParaRPr lang="en-US" sz="1300" dirty="0"/>
          </a:p>
        </p:txBody>
      </p:sp>
      <p:sp>
        <p:nvSpPr>
          <p:cNvPr id="20" name="Shape 18"/>
          <p:cNvSpPr/>
          <p:nvPr/>
        </p:nvSpPr>
        <p:spPr>
          <a:xfrm>
            <a:off x="502920" y="3328416"/>
            <a:ext cx="676656" cy="438912"/>
          </a:xfrm>
          <a:prstGeom prst="roundRect">
            <a:avLst>
              <a:gd name="adj" fmla="val 14583"/>
            </a:avLst>
          </a:prstGeom>
          <a:solidFill>
            <a:srgbClr val="0E7C70"/>
          </a:solidFill>
          <a:ln/>
        </p:spPr>
      </p:sp>
      <p:sp>
        <p:nvSpPr>
          <p:cNvPr id="21" name="Text 19"/>
          <p:cNvSpPr txBox="1"/>
          <p:nvPr/>
        </p:nvSpPr>
        <p:spPr>
          <a:xfrm>
            <a:off x="502920" y="3410712"/>
            <a:ext cx="67665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L4</a:t>
            </a:r>
            <a:endParaRPr lang="en-US" sz="1500" dirty="0"/>
          </a:p>
        </p:txBody>
      </p:sp>
      <p:sp>
        <p:nvSpPr>
          <p:cNvPr id="22" name="Text 20"/>
          <p:cNvSpPr txBox="1"/>
          <p:nvPr/>
        </p:nvSpPr>
        <p:spPr>
          <a:xfrm>
            <a:off x="1325880" y="3355848"/>
            <a:ext cx="1965960" cy="384048"/>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Tự động hóa mức cao</a:t>
            </a:r>
            <a:endParaRPr lang="en-US" sz="1400" dirty="0"/>
          </a:p>
        </p:txBody>
      </p:sp>
      <p:sp>
        <p:nvSpPr>
          <p:cNvPr id="23" name="Text 21"/>
          <p:cNvSpPr txBox="1"/>
          <p:nvPr/>
        </p:nvSpPr>
        <p:spPr>
          <a:xfrm>
            <a:off x="3337560" y="3355848"/>
            <a:ext cx="5257800" cy="384048"/>
          </a:xfrm>
          <a:prstGeom prst="rect">
            <a:avLst/>
          </a:prstGeom>
          <a:noFill/>
          <a:ln/>
        </p:spPr>
        <p:txBody>
          <a:bodyPr wrap="square" lIns="0" tIns="0" rIns="0" bIns="0" rtlCol="0" anchor="ctr"/>
          <a:lstStyle/>
          <a:p>
            <a:pPr indent="0" marL="0">
              <a:buNone/>
            </a:pPr>
            <a:r>
              <a:rPr lang="en-US" sz="1300" dirty="0">
                <a:solidFill>
                  <a:srgbClr val="4A5C6B"/>
                </a:solidFill>
                <a:latin typeface="Arial" pitchFamily="34" charset="0"/>
                <a:ea typeface="Arial" pitchFamily="34" charset="-122"/>
                <a:cs typeface="Arial" pitchFamily="34" charset="-120"/>
              </a:rPr>
              <a:t>Trong ODD, hệ thống làm hết, kể cả việc tiếp quản. Có thể không cần ghế lái.</a:t>
            </a:r>
            <a:endParaRPr lang="en-US" sz="1300" dirty="0"/>
          </a:p>
        </p:txBody>
      </p:sp>
      <p:sp>
        <p:nvSpPr>
          <p:cNvPr id="24" name="Shape 22"/>
          <p:cNvSpPr/>
          <p:nvPr/>
        </p:nvSpPr>
        <p:spPr>
          <a:xfrm>
            <a:off x="502920" y="3858768"/>
            <a:ext cx="676656" cy="438912"/>
          </a:xfrm>
          <a:prstGeom prst="roundRect">
            <a:avLst>
              <a:gd name="adj" fmla="val 14583"/>
            </a:avLst>
          </a:prstGeom>
          <a:solidFill>
            <a:srgbClr val="0B1F3A"/>
          </a:solidFill>
          <a:ln/>
        </p:spPr>
      </p:sp>
      <p:sp>
        <p:nvSpPr>
          <p:cNvPr id="25" name="Text 23"/>
          <p:cNvSpPr txBox="1"/>
          <p:nvPr/>
        </p:nvSpPr>
        <p:spPr>
          <a:xfrm>
            <a:off x="502920" y="3941064"/>
            <a:ext cx="67665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L5</a:t>
            </a:r>
            <a:endParaRPr lang="en-US" sz="1500" dirty="0"/>
          </a:p>
        </p:txBody>
      </p:sp>
      <p:sp>
        <p:nvSpPr>
          <p:cNvPr id="26" name="Text 24"/>
          <p:cNvSpPr txBox="1"/>
          <p:nvPr/>
        </p:nvSpPr>
        <p:spPr>
          <a:xfrm>
            <a:off x="1325880" y="3886200"/>
            <a:ext cx="1965960" cy="384048"/>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Tự động hóa hoàn toàn</a:t>
            </a:r>
            <a:endParaRPr lang="en-US" sz="1400" dirty="0"/>
          </a:p>
        </p:txBody>
      </p:sp>
      <p:sp>
        <p:nvSpPr>
          <p:cNvPr id="27" name="Text 25"/>
          <p:cNvSpPr txBox="1"/>
          <p:nvPr/>
        </p:nvSpPr>
        <p:spPr>
          <a:xfrm>
            <a:off x="3337560" y="3886200"/>
            <a:ext cx="5257800" cy="384048"/>
          </a:xfrm>
          <a:prstGeom prst="rect">
            <a:avLst/>
          </a:prstGeom>
          <a:noFill/>
          <a:ln/>
        </p:spPr>
        <p:txBody>
          <a:bodyPr wrap="square" lIns="0" tIns="0" rIns="0" bIns="0" rtlCol="0" anchor="ctr"/>
          <a:lstStyle/>
          <a:p>
            <a:pPr indent="0" marL="0">
              <a:buNone/>
            </a:pPr>
            <a:r>
              <a:rPr lang="en-US" sz="1300" dirty="0">
                <a:solidFill>
                  <a:srgbClr val="4A5C6B"/>
                </a:solidFill>
                <a:latin typeface="Arial" pitchFamily="34" charset="0"/>
                <a:ea typeface="Arial" pitchFamily="34" charset="-122"/>
                <a:cs typeface="Arial" pitchFamily="34" charset="-120"/>
              </a:rPr>
              <a:t>Không có giới hạn ODD. Hiện chưa tồn tại.</a:t>
            </a:r>
            <a:endParaRPr lang="en-US" sz="1300" dirty="0"/>
          </a:p>
        </p:txBody>
      </p:sp>
      <p:pic>
        <p:nvPicPr>
          <p:cNvPr id="28"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9" name="Text 26"/>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Ba tiêu chí, hỏi theo thứ tự thì không sai</a:t>
            </a:r>
            <a:endParaRPr lang="en-US" sz="2700" dirty="0"/>
          </a:p>
        </p:txBody>
      </p:sp>
      <p:sp>
        <p:nvSpPr>
          <p:cNvPr id="3" name="Shape 1"/>
          <p:cNvSpPr/>
          <p:nvPr/>
        </p:nvSpPr>
        <p:spPr>
          <a:xfrm>
            <a:off x="502920" y="1097280"/>
            <a:ext cx="2395728" cy="2103120"/>
          </a:xfrm>
          <a:prstGeom prst="roundRect">
            <a:avLst>
              <a:gd name="adj" fmla="val 434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4" name="Shape 2"/>
          <p:cNvSpPr/>
          <p:nvPr/>
        </p:nvSpPr>
        <p:spPr>
          <a:xfrm>
            <a:off x="1444752" y="1280160"/>
            <a:ext cx="512064" cy="512064"/>
          </a:xfrm>
          <a:prstGeom prst="ellipse">
            <a:avLst/>
          </a:prstGeom>
          <a:solidFill>
            <a:srgbClr val="0B1F3A"/>
          </a:solidFill>
          <a:ln/>
        </p:spPr>
      </p:sp>
      <p:sp>
        <p:nvSpPr>
          <p:cNvPr id="5" name="Text 3"/>
          <p:cNvSpPr txBox="1"/>
          <p:nvPr/>
        </p:nvSpPr>
        <p:spPr>
          <a:xfrm>
            <a:off x="1444752" y="1399032"/>
            <a:ext cx="512064"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502920" y="1892808"/>
            <a:ext cx="2395728" cy="365760"/>
          </a:xfrm>
          <a:prstGeom prst="rect">
            <a:avLst/>
          </a:prstGeom>
          <a:noFill/>
          <a:ln/>
        </p:spPr>
        <p:txBody>
          <a:bodyPr wrap="square" lIns="0" tIns="0" rIns="0" bIns="0" rtlCol="0" anchor="ctr"/>
          <a:lstStyle/>
          <a:p>
            <a:pPr algn="ctr" indent="0" marL="0">
              <a:buNone/>
            </a:pPr>
            <a:r>
              <a:rPr lang="en-US" sz="2100" b="1" dirty="0">
                <a:solidFill>
                  <a:srgbClr val="0B1F3A"/>
                </a:solidFill>
                <a:latin typeface="Arial" pitchFamily="34" charset="0"/>
                <a:ea typeface="Arial" pitchFamily="34" charset="-122"/>
                <a:cs typeface="Arial" pitchFamily="34" charset="-120"/>
              </a:rPr>
              <a:t>Tức thời?</a:t>
            </a:r>
            <a:endParaRPr lang="en-US" sz="2100" dirty="0"/>
          </a:p>
        </p:txBody>
      </p:sp>
      <p:sp>
        <p:nvSpPr>
          <p:cNvPr id="7" name="Text 5"/>
          <p:cNvSpPr txBox="1"/>
          <p:nvPr/>
        </p:nvSpPr>
        <p:spPr>
          <a:xfrm>
            <a:off x="667512" y="2295144"/>
            <a:ext cx="2066544" cy="713232"/>
          </a:xfrm>
          <a:prstGeom prst="rect">
            <a:avLst/>
          </a:prstGeom>
          <a:noFill/>
          <a:ln/>
        </p:spPr>
        <p:txBody>
          <a:bodyPr wrap="square" lIns="0" tIns="0" rIns="0" bIns="0" rtlCol="0" anchor="t"/>
          <a:lstStyle/>
          <a:p>
            <a:pPr algn="ctr" indent="0" marL="0">
              <a:buNone/>
            </a:pPr>
            <a:r>
              <a:rPr lang="en-US" sz="1350" dirty="0">
                <a:solidFill>
                  <a:srgbClr val="5F7183"/>
                </a:solidFill>
                <a:latin typeface="Arial" pitchFamily="34" charset="0"/>
                <a:ea typeface="Arial" pitchFamily="34" charset="-122"/>
                <a:cs typeface="Arial" pitchFamily="34" charset="-120"/>
              </a:rPr>
              <a:t>Tức thời (AEB, ESC) = L0; liên tục mới lên cấp</a:t>
            </a:r>
            <a:endParaRPr lang="en-US" sz="1350" dirty="0"/>
          </a:p>
        </p:txBody>
      </p:sp>
      <p:sp>
        <p:nvSpPr>
          <p:cNvPr id="8" name="Text 6"/>
          <p:cNvSpPr txBox="1"/>
          <p:nvPr/>
        </p:nvSpPr>
        <p:spPr>
          <a:xfrm>
            <a:off x="502920" y="2916936"/>
            <a:ext cx="2395728" cy="219456"/>
          </a:xfrm>
          <a:prstGeom prst="rect">
            <a:avLst/>
          </a:prstGeom>
          <a:noFill/>
          <a:ln/>
        </p:spPr>
        <p:txBody>
          <a:bodyPr wrap="square" lIns="0" tIns="0" rIns="0" bIns="0" rtlCol="0" anchor="ctr"/>
          <a:lstStyle/>
          <a:p>
            <a:pPr algn="ctr" indent="0" marL="0">
              <a:buNone/>
            </a:pPr>
            <a:r>
              <a:rPr lang="en-US" sz="1150" b="1" dirty="0">
                <a:solidFill>
                  <a:srgbClr val="007F72"/>
                </a:solidFill>
                <a:latin typeface="Arial" pitchFamily="34" charset="0"/>
                <a:ea typeface="Arial" pitchFamily="34" charset="-122"/>
                <a:cs typeface="Arial" pitchFamily="34" charset="-120"/>
              </a:rPr>
              <a:t>Ranh giới của L0</a:t>
            </a:r>
            <a:endParaRPr lang="en-US" sz="1150" dirty="0"/>
          </a:p>
        </p:txBody>
      </p:sp>
      <p:sp>
        <p:nvSpPr>
          <p:cNvPr id="9" name="Text 7"/>
          <p:cNvSpPr txBox="1"/>
          <p:nvPr/>
        </p:nvSpPr>
        <p:spPr>
          <a:xfrm>
            <a:off x="2916936" y="1920240"/>
            <a:ext cx="347472" cy="365760"/>
          </a:xfrm>
          <a:prstGeom prst="rect">
            <a:avLst/>
          </a:prstGeom>
          <a:noFill/>
          <a:ln/>
        </p:spPr>
        <p:txBody>
          <a:bodyPr wrap="square" lIns="0" tIns="0" rIns="0" bIns="0" rtlCol="0" anchor="ctr"/>
          <a:lstStyle/>
          <a:p>
            <a:pPr algn="ctr" indent="0" marL="0">
              <a:buNone/>
            </a:pPr>
            <a:r>
              <a:rPr lang="en-US" sz="2200" b="1" dirty="0">
                <a:solidFill>
                  <a:srgbClr val="00A896"/>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3282696" y="1097280"/>
            <a:ext cx="2395728" cy="2103120"/>
          </a:xfrm>
          <a:prstGeom prst="roundRect">
            <a:avLst>
              <a:gd name="adj" fmla="val 434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1" name="Shape 9"/>
          <p:cNvSpPr/>
          <p:nvPr/>
        </p:nvSpPr>
        <p:spPr>
          <a:xfrm>
            <a:off x="4224528" y="1280160"/>
            <a:ext cx="512064" cy="512064"/>
          </a:xfrm>
          <a:prstGeom prst="ellipse">
            <a:avLst/>
          </a:prstGeom>
          <a:solidFill>
            <a:srgbClr val="0B1F3A"/>
          </a:solidFill>
          <a:ln/>
        </p:spPr>
      </p:sp>
      <p:sp>
        <p:nvSpPr>
          <p:cNvPr id="12" name="Text 10"/>
          <p:cNvSpPr txBox="1"/>
          <p:nvPr/>
        </p:nvSpPr>
        <p:spPr>
          <a:xfrm>
            <a:off x="4224528" y="1399032"/>
            <a:ext cx="512064"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3282696" y="1892808"/>
            <a:ext cx="2395728" cy="365760"/>
          </a:xfrm>
          <a:prstGeom prst="rect">
            <a:avLst/>
          </a:prstGeom>
          <a:noFill/>
          <a:ln/>
        </p:spPr>
        <p:txBody>
          <a:bodyPr wrap="square" lIns="0" tIns="0" rIns="0" bIns="0" rtlCol="0" anchor="ctr"/>
          <a:lstStyle/>
          <a:p>
            <a:pPr algn="ctr" indent="0" marL="0">
              <a:buNone/>
            </a:pPr>
            <a:r>
              <a:rPr lang="en-US" sz="2100" b="1" dirty="0">
                <a:solidFill>
                  <a:srgbClr val="0B1F3A"/>
                </a:solidFill>
                <a:latin typeface="Arial" pitchFamily="34" charset="0"/>
                <a:ea typeface="Arial" pitchFamily="34" charset="-122"/>
                <a:cs typeface="Arial" pitchFamily="34" charset="-120"/>
              </a:rPr>
              <a:t>Một hay hai?</a:t>
            </a:r>
            <a:endParaRPr lang="en-US" sz="2100" dirty="0"/>
          </a:p>
        </p:txBody>
      </p:sp>
      <p:sp>
        <p:nvSpPr>
          <p:cNvPr id="14" name="Text 12"/>
          <p:cNvSpPr txBox="1"/>
          <p:nvPr/>
        </p:nvSpPr>
        <p:spPr>
          <a:xfrm>
            <a:off x="3447288" y="2295144"/>
            <a:ext cx="2066544" cy="713232"/>
          </a:xfrm>
          <a:prstGeom prst="rect">
            <a:avLst/>
          </a:prstGeom>
          <a:noFill/>
          <a:ln/>
        </p:spPr>
        <p:txBody>
          <a:bodyPr wrap="square" lIns="0" tIns="0" rIns="0" bIns="0" rtlCol="0" anchor="t"/>
          <a:lstStyle/>
          <a:p>
            <a:pPr algn="ctr" indent="0" marL="0">
              <a:buNone/>
            </a:pPr>
            <a:r>
              <a:rPr lang="en-US" sz="1350" dirty="0">
                <a:solidFill>
                  <a:srgbClr val="5F7183"/>
                </a:solidFill>
                <a:latin typeface="Arial" pitchFamily="34" charset="0"/>
                <a:ea typeface="Arial" pitchFamily="34" charset="-122"/>
                <a:cs typeface="Arial" pitchFamily="34" charset="-120"/>
              </a:rPr>
              <a:t>Chỉ tốc độ hoặc chỉ hướng = L1; cả hai = L2 trở lên</a:t>
            </a:r>
            <a:endParaRPr lang="en-US" sz="1350" dirty="0"/>
          </a:p>
        </p:txBody>
      </p:sp>
      <p:sp>
        <p:nvSpPr>
          <p:cNvPr id="15" name="Text 13"/>
          <p:cNvSpPr txBox="1"/>
          <p:nvPr/>
        </p:nvSpPr>
        <p:spPr>
          <a:xfrm>
            <a:off x="3282696" y="2916936"/>
            <a:ext cx="2395728" cy="219456"/>
          </a:xfrm>
          <a:prstGeom prst="rect">
            <a:avLst/>
          </a:prstGeom>
          <a:noFill/>
          <a:ln/>
        </p:spPr>
        <p:txBody>
          <a:bodyPr wrap="square" lIns="0" tIns="0" rIns="0" bIns="0" rtlCol="0" anchor="ctr"/>
          <a:lstStyle/>
          <a:p>
            <a:pPr algn="ctr" indent="0" marL="0">
              <a:buNone/>
            </a:pPr>
            <a:r>
              <a:rPr lang="en-US" sz="1150" b="1" dirty="0">
                <a:solidFill>
                  <a:srgbClr val="007F72"/>
                </a:solidFill>
                <a:latin typeface="Arial" pitchFamily="34" charset="0"/>
                <a:ea typeface="Arial" pitchFamily="34" charset="-122"/>
                <a:cs typeface="Arial" pitchFamily="34" charset="-120"/>
              </a:rPr>
              <a:t>L1 và L2</a:t>
            </a:r>
            <a:endParaRPr lang="en-US" sz="1150" dirty="0"/>
          </a:p>
        </p:txBody>
      </p:sp>
      <p:sp>
        <p:nvSpPr>
          <p:cNvPr id="16" name="Text 14"/>
          <p:cNvSpPr txBox="1"/>
          <p:nvPr/>
        </p:nvSpPr>
        <p:spPr>
          <a:xfrm>
            <a:off x="5696712" y="1920240"/>
            <a:ext cx="347472" cy="365760"/>
          </a:xfrm>
          <a:prstGeom prst="rect">
            <a:avLst/>
          </a:prstGeom>
          <a:noFill/>
          <a:ln/>
        </p:spPr>
        <p:txBody>
          <a:bodyPr wrap="square" lIns="0" tIns="0" rIns="0" bIns="0" rtlCol="0" anchor="ctr"/>
          <a:lstStyle/>
          <a:p>
            <a:pPr algn="ctr" indent="0" marL="0">
              <a:buNone/>
            </a:pPr>
            <a:r>
              <a:rPr lang="en-US" sz="2200" b="1" dirty="0">
                <a:solidFill>
                  <a:srgbClr val="00A896"/>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6062472" y="1097280"/>
            <a:ext cx="2395728" cy="2103120"/>
          </a:xfrm>
          <a:prstGeom prst="roundRect">
            <a:avLst>
              <a:gd name="adj" fmla="val 434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8" name="Shape 16"/>
          <p:cNvSpPr/>
          <p:nvPr/>
        </p:nvSpPr>
        <p:spPr>
          <a:xfrm>
            <a:off x="7004304" y="1280160"/>
            <a:ext cx="512064" cy="512064"/>
          </a:xfrm>
          <a:prstGeom prst="ellipse">
            <a:avLst/>
          </a:prstGeom>
          <a:solidFill>
            <a:srgbClr val="0B1F3A"/>
          </a:solidFill>
          <a:ln/>
        </p:spPr>
      </p:sp>
      <p:sp>
        <p:nvSpPr>
          <p:cNvPr id="19" name="Text 17"/>
          <p:cNvSpPr txBox="1"/>
          <p:nvPr/>
        </p:nvSpPr>
        <p:spPr>
          <a:xfrm>
            <a:off x="7004304" y="1399032"/>
            <a:ext cx="512064"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8"/>
          <p:cNvSpPr txBox="1"/>
          <p:nvPr/>
        </p:nvSpPr>
        <p:spPr>
          <a:xfrm>
            <a:off x="6062472" y="1892808"/>
            <a:ext cx="2395728" cy="365760"/>
          </a:xfrm>
          <a:prstGeom prst="rect">
            <a:avLst/>
          </a:prstGeom>
          <a:noFill/>
          <a:ln/>
        </p:spPr>
        <p:txBody>
          <a:bodyPr wrap="square" lIns="0" tIns="0" rIns="0" bIns="0" rtlCol="0" anchor="ctr"/>
          <a:lstStyle/>
          <a:p>
            <a:pPr algn="ctr" indent="0" marL="0">
              <a:buNone/>
            </a:pPr>
            <a:r>
              <a:rPr lang="en-US" sz="2100" b="1" dirty="0">
                <a:solidFill>
                  <a:srgbClr val="0B1F3A"/>
                </a:solidFill>
                <a:latin typeface="Arial" pitchFamily="34" charset="0"/>
                <a:ea typeface="Arial" pitchFamily="34" charset="-122"/>
                <a:cs typeface="Arial" pitchFamily="34" charset="-120"/>
              </a:rPr>
              <a:t>Ai nhìn đường?</a:t>
            </a:r>
            <a:endParaRPr lang="en-US" sz="2100" dirty="0"/>
          </a:p>
        </p:txBody>
      </p:sp>
      <p:sp>
        <p:nvSpPr>
          <p:cNvPr id="21" name="Text 19"/>
          <p:cNvSpPr txBox="1"/>
          <p:nvPr/>
        </p:nvSpPr>
        <p:spPr>
          <a:xfrm>
            <a:off x="6227064" y="2295144"/>
            <a:ext cx="2066544" cy="713232"/>
          </a:xfrm>
          <a:prstGeom prst="rect">
            <a:avLst/>
          </a:prstGeom>
          <a:noFill/>
          <a:ln/>
        </p:spPr>
        <p:txBody>
          <a:bodyPr wrap="square" lIns="0" tIns="0" rIns="0" bIns="0" rtlCol="0" anchor="t"/>
          <a:lstStyle/>
          <a:p>
            <a:pPr algn="ctr" indent="0" marL="0">
              <a:buNone/>
            </a:pPr>
            <a:r>
              <a:rPr lang="en-US" sz="1350" dirty="0">
                <a:solidFill>
                  <a:srgbClr val="5F7183"/>
                </a:solidFill>
                <a:latin typeface="Arial" pitchFamily="34" charset="0"/>
                <a:ea typeface="Arial" pitchFamily="34" charset="-122"/>
                <a:cs typeface="Arial" pitchFamily="34" charset="-120"/>
              </a:rPr>
              <a:t>L2 người giám sát; L3 gọi mới tiếp; L4 máy lo hết</a:t>
            </a:r>
            <a:endParaRPr lang="en-US" sz="1350" dirty="0"/>
          </a:p>
        </p:txBody>
      </p:sp>
      <p:sp>
        <p:nvSpPr>
          <p:cNvPr id="22" name="Text 20"/>
          <p:cNvSpPr txBox="1"/>
          <p:nvPr/>
        </p:nvSpPr>
        <p:spPr>
          <a:xfrm>
            <a:off x="6062472" y="2916936"/>
            <a:ext cx="2395728" cy="219456"/>
          </a:xfrm>
          <a:prstGeom prst="rect">
            <a:avLst/>
          </a:prstGeom>
          <a:noFill/>
          <a:ln/>
        </p:spPr>
        <p:txBody>
          <a:bodyPr wrap="square" lIns="0" tIns="0" rIns="0" bIns="0" rtlCol="0" anchor="ctr"/>
          <a:lstStyle/>
          <a:p>
            <a:pPr algn="ctr" indent="0" marL="0">
              <a:buNone/>
            </a:pPr>
            <a:r>
              <a:rPr lang="en-US" sz="1150" b="1" dirty="0">
                <a:solidFill>
                  <a:srgbClr val="007F72"/>
                </a:solidFill>
                <a:latin typeface="Arial" pitchFamily="34" charset="0"/>
                <a:ea typeface="Arial" pitchFamily="34" charset="-122"/>
                <a:cs typeface="Arial" pitchFamily="34" charset="-120"/>
              </a:rPr>
              <a:t>L2–L5 (L5: không ODD)</a:t>
            </a:r>
            <a:endParaRPr lang="en-US" sz="1150" dirty="0"/>
          </a:p>
        </p:txBody>
      </p:sp>
      <p:sp>
        <p:nvSpPr>
          <p:cNvPr id="23" name="Text 21"/>
          <p:cNvSpPr txBox="1"/>
          <p:nvPr/>
        </p:nvSpPr>
        <p:spPr>
          <a:xfrm>
            <a:off x="502920" y="3410712"/>
            <a:ext cx="8138160" cy="365760"/>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Cấp độ mô tả sự phân công, không phải năng lực. Một chiếc Tesla L2 trên cao tốc có thể giỏi hơn xe buýt L4 trong khu công nghệ, nhưng nó vẫn là L2.</a:t>
            </a:r>
            <a:endParaRPr lang="en-US" sz="1400" dirty="0"/>
          </a:p>
        </p:txBody>
      </p:sp>
      <p:pic>
        <p:nvPicPr>
          <p:cNvPr id="24"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5" name="Text 2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274320"/>
            <a:ext cx="5486400" cy="274320"/>
          </a:xfrm>
          <a:prstGeom prst="rect">
            <a:avLst/>
          </a:prstGeom>
          <a:noFill/>
          <a:ln/>
        </p:spPr>
        <p:txBody>
          <a:bodyPr wrap="square" lIns="0" tIns="0" rIns="0" bIns="0" rtlCol="0" anchor="ctr"/>
          <a:lstStyle/>
          <a:p>
            <a:pPr indent="0" marL="0">
              <a:buNone/>
            </a:pPr>
            <a:r>
              <a:rPr lang="en-US" sz="1300" b="1" dirty="0">
                <a:solidFill>
                  <a:srgbClr val="FFB020"/>
                </a:solidFill>
                <a:latin typeface="Arial" pitchFamily="34" charset="0"/>
                <a:ea typeface="Arial" pitchFamily="34" charset="-122"/>
                <a:cs typeface="Arial" pitchFamily="34" charset="-120"/>
              </a:rPr>
              <a:t>Video</a:t>
            </a:r>
            <a:endParaRPr lang="en-US" sz="1300" dirty="0"/>
          </a:p>
        </p:txBody>
      </p:sp>
      <p:sp>
        <p:nvSpPr>
          <p:cNvPr id="3" name="Text 1"/>
          <p:cNvSpPr txBox="1"/>
          <p:nvPr/>
        </p:nvSpPr>
        <p:spPr>
          <a:xfrm>
            <a:off x="502920" y="566928"/>
            <a:ext cx="6035040" cy="457200"/>
          </a:xfrm>
          <a:prstGeom prst="rect">
            <a:avLst/>
          </a:prstGeom>
          <a:noFill/>
          <a:ln/>
        </p:spPr>
        <p:txBody>
          <a:bodyPr wrap="square" lIns="0" tIns="0" rIns="0" bIns="0" rtlCol="0" anchor="ctr"/>
          <a:lstStyle/>
          <a:p>
            <a:pPr indent="0" marL="0">
              <a:buNone/>
            </a:pPr>
            <a:r>
              <a:rPr lang="en-US" sz="2600" b="1" dirty="0">
                <a:solidFill>
                  <a:srgbClr val="0B1F3A"/>
                </a:solidFill>
                <a:latin typeface="Arial" pitchFamily="34" charset="0"/>
                <a:ea typeface="Arial" pitchFamily="34" charset="-122"/>
                <a:cs typeface="Arial" pitchFamily="34" charset="-120"/>
              </a:rPr>
              <a:t>Cùng phố, cùng xe, quay sáu lần</a:t>
            </a:r>
            <a:endParaRPr lang="en-US" sz="2600" dirty="0"/>
          </a:p>
        </p:txBody>
      </p:sp>
      <p:sp>
        <p:nvSpPr>
          <p:cNvPr id="4" name="Text 2"/>
          <p:cNvSpPr txBox="1"/>
          <p:nvPr/>
        </p:nvSpPr>
        <p:spPr>
          <a:xfrm>
            <a:off x="502920" y="1060704"/>
            <a:ext cx="6035040" cy="274320"/>
          </a:xfrm>
          <a:prstGeom prst="rect">
            <a:avLst/>
          </a:prstGeom>
          <a:noFill/>
          <a:ln/>
        </p:spPr>
        <p:txBody>
          <a:bodyPr wrap="square" lIns="0" tIns="0" rIns="0" bIns="0" rtlCol="0" anchor="ctr"/>
          <a:lstStyle/>
          <a:p>
            <a:pPr indent="0" marL="0">
              <a:buNone/>
            </a:pPr>
            <a:r>
              <a:rPr lang="en-US" sz="1300" b="1" dirty="0">
                <a:solidFill>
                  <a:srgbClr val="007F72"/>
                </a:solidFill>
                <a:latin typeface="Arial" pitchFamily="34" charset="0"/>
                <a:ea typeface="Arial" pitchFamily="34" charset="-122"/>
                <a:cs typeface="Arial" pitchFamily="34" charset="-120"/>
              </a:rPr>
              <a:t>Khoảng 2 phút 30 giây · tự sản xuất, tạm dùng video dưới</a:t>
            </a:r>
            <a:endParaRPr lang="en-US" sz="1300" dirty="0"/>
          </a:p>
        </p:txBody>
      </p:sp>
      <p:sp>
        <p:nvSpPr>
          <p:cNvPr id="5" name="Shape 3">
            <a:hlinkClick r:id="rId1" tooltip="Video thay thế: SAE Levels explained (YouTube)"/>
          </p:cNvPr>
          <p:cNvSpPr/>
          <p:nvPr/>
        </p:nvSpPr>
        <p:spPr>
          <a:xfrm>
            <a:off x="6903720" y="384048"/>
            <a:ext cx="1737360" cy="932688"/>
          </a:xfrm>
          <a:prstGeom prst="roundRect">
            <a:avLst>
              <a:gd name="adj" fmla="val 12745"/>
            </a:avLst>
          </a:prstGeom>
          <a:solidFill>
            <a:srgbClr val="0B1F3A"/>
          </a:solidFill>
          <a:ln/>
        </p:spPr>
      </p:sp>
      <p:sp>
        <p:nvSpPr>
          <p:cNvPr id="6" name="Shape 4"/>
          <p:cNvSpPr/>
          <p:nvPr/>
        </p:nvSpPr>
        <p:spPr>
          <a:xfrm rot="5400000">
            <a:off x="7333488" y="530352"/>
            <a:ext cx="384048" cy="384048"/>
          </a:xfrm>
          <a:prstGeom prst="triangle">
            <a:avLst/>
          </a:prstGeom>
          <a:solidFill>
            <a:srgbClr val="FFB020"/>
          </a:solidFill>
          <a:ln/>
        </p:spPr>
      </p:sp>
      <p:sp>
        <p:nvSpPr>
          <p:cNvPr id="7" name="Text 5">
            <a:hlinkClick r:id="rId2" tooltip="Video thay thế: SAE Levels explained (YouTube)"/>
          </p:cNvPr>
          <p:cNvSpPr txBox="1"/>
          <p:nvPr/>
        </p:nvSpPr>
        <p:spPr>
          <a:xfrm>
            <a:off x="6903720" y="932688"/>
            <a:ext cx="1737360" cy="274320"/>
          </a:xfrm>
          <a:prstGeom prst="rect">
            <a:avLst/>
          </a:prstGeom>
          <a:noFill/>
          <a:ln/>
        </p:spPr>
        <p:txBody>
          <a:bodyPr wrap="square" lIns="0" tIns="0" rIns="0" bIns="0" rtlCol="0" anchor="ctr"/>
          <a:lstStyle/>
          <a:p>
            <a:pPr algn="ctr" indent="0" marL="0">
              <a:buNone/>
            </a:pPr>
            <a:r>
              <a:rPr lang="en-US" sz="1150" b="1" u="sng" dirty="0">
                <a:solidFill>
                  <a:srgbClr val="FFFFFF"/>
                </a:solidFill>
                <a:latin typeface="Arial" pitchFamily="34" charset="0"/>
                <a:ea typeface="Arial" pitchFamily="34" charset="-122"/>
                <a:cs typeface="Arial" pitchFamily="34" charset="-120"/>
                <a:hlinkClick r:id="rId2" invalidUrl="" action="" tgtFrame="" tooltip="Video thay thế: SAE Levels explained (YouTube)" history="1" highlightClick="0" endSnd="0">
                  <a:extLst>
                    <a:ext uri="{A12FA001-AC4F-418D-AE19-62706E023703}">
                      <ahyp:hlinkClr xmlns:ahyp="http://schemas.microsoft.com/office/drawing/2018/hyperlinkcolor" val="tx"/>
                    </a:ext>
                  </a:extLst>
                </a:hlinkClick>
              </a:rPr>
              <a:t>Bấm để phát</a:t>
            </a:r>
            <a:endParaRPr lang="en-US" sz="1150" dirty="0"/>
          </a:p>
        </p:txBody>
      </p:sp>
      <p:sp>
        <p:nvSpPr>
          <p:cNvPr id="8" name="Shape 6"/>
          <p:cNvSpPr/>
          <p:nvPr/>
        </p:nvSpPr>
        <p:spPr>
          <a:xfrm>
            <a:off x="502920" y="1481328"/>
            <a:ext cx="8138160" cy="1847088"/>
          </a:xfrm>
          <a:prstGeom prst="roundRect">
            <a:avLst>
              <a:gd name="adj" fmla="val 4950"/>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9" name="Shape 7"/>
          <p:cNvSpPr/>
          <p:nvPr/>
        </p:nvSpPr>
        <p:spPr>
          <a:xfrm>
            <a:off x="758952" y="1728216"/>
            <a:ext cx="118872" cy="118872"/>
          </a:xfrm>
          <a:prstGeom prst="ellipse">
            <a:avLst/>
          </a:prstGeom>
          <a:solidFill>
            <a:srgbClr val="00A896"/>
          </a:solidFill>
          <a:ln/>
        </p:spPr>
      </p:sp>
      <p:sp>
        <p:nvSpPr>
          <p:cNvPr id="10" name="Text 8"/>
          <p:cNvSpPr txBox="1"/>
          <p:nvPr/>
        </p:nvSpPr>
        <p:spPr>
          <a:xfrm>
            <a:off x="1005840" y="1609344"/>
            <a:ext cx="7498080" cy="36576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Khác biệt chỉ nằm ở chỗ tay và mắt của người lái đang ở đâu</a:t>
            </a:r>
            <a:endParaRPr lang="en-US" sz="1400" dirty="0"/>
          </a:p>
        </p:txBody>
      </p:sp>
      <p:sp>
        <p:nvSpPr>
          <p:cNvPr id="11" name="Shape 9"/>
          <p:cNvSpPr/>
          <p:nvPr/>
        </p:nvSpPr>
        <p:spPr>
          <a:xfrm>
            <a:off x="758952" y="2112264"/>
            <a:ext cx="118872" cy="118872"/>
          </a:xfrm>
          <a:prstGeom prst="ellipse">
            <a:avLst/>
          </a:prstGeom>
          <a:solidFill>
            <a:srgbClr val="00A896"/>
          </a:solidFill>
          <a:ln/>
        </p:spPr>
      </p:sp>
      <p:sp>
        <p:nvSpPr>
          <p:cNvPr id="12" name="Text 10"/>
          <p:cNvSpPr txBox="1"/>
          <p:nvPr/>
        </p:nvSpPr>
        <p:spPr>
          <a:xfrm>
            <a:off x="1005840" y="1993392"/>
            <a:ext cx="7498080" cy="36576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L0 tay giữ vô-lăng, mắt nhìn đường   L1 chân rời bàn đạp   L2 tay đặt hờ</a:t>
            </a:r>
            <a:endParaRPr lang="en-US" sz="1400" dirty="0"/>
          </a:p>
        </p:txBody>
      </p:sp>
      <p:sp>
        <p:nvSpPr>
          <p:cNvPr id="13" name="Shape 11"/>
          <p:cNvSpPr/>
          <p:nvPr/>
        </p:nvSpPr>
        <p:spPr>
          <a:xfrm>
            <a:off x="758952" y="2496312"/>
            <a:ext cx="118872" cy="118872"/>
          </a:xfrm>
          <a:prstGeom prst="ellipse">
            <a:avLst/>
          </a:prstGeom>
          <a:solidFill>
            <a:srgbClr val="00A896"/>
          </a:solidFill>
          <a:ln/>
        </p:spPr>
      </p:sp>
      <p:sp>
        <p:nvSpPr>
          <p:cNvPr id="14" name="Text 12"/>
          <p:cNvSpPr txBox="1"/>
          <p:nvPr/>
        </p:nvSpPr>
        <p:spPr>
          <a:xfrm>
            <a:off x="1005840" y="2377440"/>
            <a:ext cx="7498080" cy="36576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L3 cúi xuống xem điện thoại, hệ thống cảnh báo, ngẩng lên tiếp quản</a:t>
            </a:r>
            <a:endParaRPr lang="en-US" sz="1400" dirty="0"/>
          </a:p>
        </p:txBody>
      </p:sp>
      <p:sp>
        <p:nvSpPr>
          <p:cNvPr id="15" name="Shape 13"/>
          <p:cNvSpPr/>
          <p:nvPr/>
        </p:nvSpPr>
        <p:spPr>
          <a:xfrm>
            <a:off x="758952" y="2880360"/>
            <a:ext cx="118872" cy="118872"/>
          </a:xfrm>
          <a:prstGeom prst="ellipse">
            <a:avLst/>
          </a:prstGeom>
          <a:solidFill>
            <a:srgbClr val="00A896"/>
          </a:solidFill>
          <a:ln/>
        </p:spPr>
      </p:sp>
      <p:sp>
        <p:nvSpPr>
          <p:cNvPr id="16" name="Text 14"/>
          <p:cNvSpPr txBox="1"/>
          <p:nvPr/>
        </p:nvSpPr>
        <p:spPr>
          <a:xfrm>
            <a:off x="1005840" y="2761488"/>
            <a:ext cx="7498080" cy="36576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L4 ghế lái không có người   L5 cũng vậy, bối cảnh đổi sang đường núi mưa lớn</a:t>
            </a:r>
            <a:endParaRPr lang="en-US" sz="1400" dirty="0"/>
          </a:p>
        </p:txBody>
      </p:sp>
      <p:sp>
        <p:nvSpPr>
          <p:cNvPr id="17" name="Shape 15">
            <a:hlinkClick r:id="rId3" tooltip="https://www.youtube.com/watch?v=6nDRb7ccKFY"/>
          </p:cNvPr>
          <p:cNvSpPr/>
          <p:nvPr/>
        </p:nvSpPr>
        <p:spPr>
          <a:xfrm>
            <a:off x="502920" y="3419856"/>
            <a:ext cx="4023360" cy="329184"/>
          </a:xfrm>
          <a:prstGeom prst="roundRect">
            <a:avLst>
              <a:gd name="adj" fmla="val 22222"/>
            </a:avLst>
          </a:prstGeom>
          <a:solidFill>
            <a:srgbClr val="EAF6F4"/>
          </a:solidFill>
          <a:ln w="12700">
            <a:solidFill>
              <a:srgbClr val="BFE3DD"/>
            </a:solidFill>
            <a:prstDash val="solid"/>
          </a:ln>
        </p:spPr>
      </p:sp>
      <p:sp>
        <p:nvSpPr>
          <p:cNvPr id="18" name="Text 16">
            <a:hlinkClick r:id="rId4" tooltip="https://www.youtube.com/watch?v=6nDRb7ccKFY"/>
          </p:cNvPr>
          <p:cNvSpPr txBox="1"/>
          <p:nvPr/>
        </p:nvSpPr>
        <p:spPr>
          <a:xfrm>
            <a:off x="502920" y="3419856"/>
            <a:ext cx="4023360" cy="329184"/>
          </a:xfrm>
          <a:prstGeom prst="rect">
            <a:avLst/>
          </a:prstGeom>
          <a:noFill/>
          <a:ln/>
        </p:spPr>
        <p:txBody>
          <a:bodyPr wrap="square" lIns="0" tIns="0" rIns="0" bIns="0" rtlCol="0" anchor="ctr"/>
          <a:lstStyle/>
          <a:p>
            <a:pPr algn="ctr" indent="0" marL="0">
              <a:buNone/>
            </a:pPr>
            <a:r>
              <a:rPr lang="en-US" sz="1150" b="1" u="sng" dirty="0">
                <a:solidFill>
                  <a:srgbClr val="007F72"/>
                </a:solidFill>
                <a:latin typeface="Arial" pitchFamily="34" charset="0"/>
                <a:ea typeface="Arial" pitchFamily="34" charset="-122"/>
                <a:cs typeface="Arial" pitchFamily="34" charset="-120"/>
                <a:hlinkClick r:id="rId4" invalidUrl="" action="" tgtFrame="" tooltip="https://www.youtube.com/watch?v=6nDRb7ccKFY" history="1" highlightClick="0" endSnd="0">
                  <a:extLst>
                    <a:ext uri="{A12FA001-AC4F-418D-AE19-62706E023703}">
                      <ahyp:hlinkClr xmlns:ahyp="http://schemas.microsoft.com/office/drawing/2018/hyperlinkcolor" val="tx"/>
                    </a:ext>
                  </a:extLst>
                </a:hlinkClick>
              </a:rPr>
              <a:t>▶ Video thay thế: SAE Levels explained (YouTube)</a:t>
            </a:r>
            <a:endParaRPr lang="en-US" sz="1150" dirty="0"/>
          </a:p>
        </p:txBody>
      </p:sp>
      <p:sp>
        <p:nvSpPr>
          <p:cNvPr id="19" name="Text 17"/>
          <p:cNvSpPr txBox="1"/>
          <p:nvPr/>
        </p:nvSpPr>
        <p:spPr>
          <a:xfrm>
            <a:off x="502920" y="3785616"/>
            <a:ext cx="8138160" cy="237744"/>
          </a:xfrm>
          <a:prstGeom prst="rect">
            <a:avLst/>
          </a:prstGeom>
          <a:noFill/>
          <a:ln/>
        </p:spPr>
        <p:txBody>
          <a:bodyPr wrap="square" lIns="0" tIns="0" rIns="0" bIns="0" rtlCol="0" anchor="ctr"/>
          <a:lstStyle/>
          <a:p>
            <a:pPr indent="0" marL="0">
              <a:buNone/>
            </a:pPr>
            <a:r>
              <a:rPr lang="en-US" sz="950" dirty="0">
                <a:solidFill>
                  <a:srgbClr val="5F7183"/>
                </a:solidFill>
                <a:latin typeface="Arial" pitchFamily="34" charset="0"/>
                <a:ea typeface="Arial" pitchFamily="34" charset="-122"/>
                <a:cs typeface="Arial" pitchFamily="34" charset="-120"/>
              </a:rPr>
              <a:t>youtube.com/watch?v=6nDRb7ccKFY</a:t>
            </a:r>
            <a:endParaRPr lang="en-US" sz="950" dirty="0"/>
          </a:p>
        </p:txBody>
      </p:sp>
      <p:sp>
        <p:nvSpPr>
          <p:cNvPr id="20" name="Shape 18"/>
          <p:cNvSpPr/>
          <p:nvPr/>
        </p:nvSpPr>
        <p:spPr>
          <a:xfrm>
            <a:off x="502920" y="4114800"/>
            <a:ext cx="8138160" cy="530352"/>
          </a:xfrm>
          <a:prstGeom prst="roundRect">
            <a:avLst>
              <a:gd name="adj" fmla="val 15517"/>
            </a:avLst>
          </a:prstGeom>
          <a:solidFill>
            <a:srgbClr val="FFF6E4"/>
          </a:solidFill>
          <a:ln w="12700">
            <a:solidFill>
              <a:srgbClr val="F2D79B"/>
            </a:solidFill>
            <a:prstDash val="solid"/>
          </a:ln>
        </p:spPr>
      </p:sp>
      <p:sp>
        <p:nvSpPr>
          <p:cNvPr id="21" name="Text 19"/>
          <p:cNvSpPr txBox="1"/>
          <p:nvPr/>
        </p:nvSpPr>
        <p:spPr>
          <a:xfrm>
            <a:off x="758952" y="4187952"/>
            <a:ext cx="7635240" cy="384048"/>
          </a:xfrm>
          <a:prstGeom prst="rect">
            <a:avLst/>
          </a:prstGeom>
          <a:noFill/>
          <a:ln/>
        </p:spPr>
        <p:txBody>
          <a:bodyPr wrap="square" lIns="0" tIns="0" rIns="0" bIns="0" rtlCol="0" anchor="ctr"/>
          <a:lstStyle/>
          <a:p>
            <a:pPr indent="0" marL="0">
              <a:buNone/>
            </a:pPr>
            <a:r>
              <a:rPr lang="en-US" sz="1450" b="1" dirty="0">
                <a:solidFill>
                  <a:srgbClr val="8A5A00"/>
                </a:solidFill>
                <a:latin typeface="Arial" pitchFamily="34" charset="0"/>
                <a:ea typeface="Arial" pitchFamily="34" charset="-122"/>
                <a:cs typeface="Arial" pitchFamily="34" charset="-120"/>
              </a:rPr>
              <a:t>Xem xong hỏi: giữa L2 và L3, khác biệt lớn nhất trên màn hình là gì?</a:t>
            </a:r>
            <a:endParaRPr lang="en-US" sz="1450" dirty="0"/>
          </a:p>
        </p:txBody>
      </p:sp>
      <p:pic>
        <p:nvPicPr>
          <p:cNvPr id="22" name="Image 0" descr="./logo.png">    </p:cNvPr>
          <p:cNvPicPr>
            <a:picLocks noChangeAspect="1"/>
          </p:cNvPicPr>
          <p:nvPr/>
        </p:nvPicPr>
        <p:blipFill>
          <a:blip r:embed="rId5"/>
          <a:stretch>
            <a:fillRect/>
          </a:stretch>
        </p:blipFill>
        <p:spPr>
          <a:xfrm>
            <a:off x="7498080" y="4709160"/>
            <a:ext cx="1143000" cy="252541"/>
          </a:xfrm>
          <a:prstGeom prst="rect">
            <a:avLst/>
          </a:prstGeom>
        </p:spPr>
      </p:pic>
      <p:sp>
        <p:nvSpPr>
          <p:cNvPr id="23" name="Text 20"/>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457200"/>
            <a:ext cx="5486400" cy="274320"/>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Nếu hôm nay chỉ nhớ một câu</a:t>
            </a:r>
            <a:endParaRPr lang="en-US" sz="1250" dirty="0"/>
          </a:p>
        </p:txBody>
      </p:sp>
      <p:sp>
        <p:nvSpPr>
          <p:cNvPr id="5" name="Text 3"/>
          <p:cNvSpPr txBox="1"/>
          <p:nvPr/>
        </p:nvSpPr>
        <p:spPr>
          <a:xfrm>
            <a:off x="502920" y="822960"/>
            <a:ext cx="8046720" cy="100584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Khác biệt giữa L2 và L3 là khi xảy ra sự cố thì ai chịu trách nhiệm</a:t>
            </a:r>
            <a:endParaRPr lang="en-US" sz="2300" dirty="0"/>
          </a:p>
        </p:txBody>
      </p:sp>
      <p:sp>
        <p:nvSpPr>
          <p:cNvPr id="6" name="Shape 4"/>
          <p:cNvSpPr/>
          <p:nvPr/>
        </p:nvSpPr>
        <p:spPr>
          <a:xfrm>
            <a:off x="502920" y="1975104"/>
            <a:ext cx="3803904" cy="1755648"/>
          </a:xfrm>
          <a:prstGeom prst="roundRect">
            <a:avLst>
              <a:gd name="adj" fmla="val 5208"/>
            </a:avLst>
          </a:prstGeom>
          <a:solidFill>
            <a:srgbClr val="13314F"/>
          </a:solidFill>
          <a:ln w="19050">
            <a:solidFill>
              <a:srgbClr val="FFB020"/>
            </a:solidFill>
            <a:prstDash val="solid"/>
          </a:ln>
        </p:spPr>
      </p:sp>
      <p:sp>
        <p:nvSpPr>
          <p:cNvPr id="7" name="Text 5"/>
          <p:cNvSpPr txBox="1"/>
          <p:nvPr/>
        </p:nvSpPr>
        <p:spPr>
          <a:xfrm>
            <a:off x="740664" y="2139696"/>
            <a:ext cx="3328416" cy="347472"/>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L2: người chịu trách nhiệm</a:t>
            </a:r>
            <a:endParaRPr lang="en-US" sz="1700" dirty="0"/>
          </a:p>
        </p:txBody>
      </p:sp>
      <p:sp>
        <p:nvSpPr>
          <p:cNvPr id="8" name="Text 6"/>
          <p:cNvSpPr txBox="1"/>
          <p:nvPr/>
        </p:nvSpPr>
        <p:spPr>
          <a:xfrm>
            <a:off x="740664" y="2542032"/>
            <a:ext cx="3328416" cy="1097280"/>
          </a:xfrm>
          <a:prstGeom prst="rect">
            <a:avLst/>
          </a:prstGeom>
          <a:noFill/>
          <a:ln/>
        </p:spPr>
        <p:txBody>
          <a:bodyPr wrap="square" lIns="0" tIns="0" rIns="0" bIns="0" rtlCol="0" anchor="t"/>
          <a:lstStyle/>
          <a:p>
            <a:pPr indent="0" marL="0">
              <a:buNone/>
            </a:pPr>
            <a:r>
              <a:rPr lang="en-US" sz="1400" dirty="0">
                <a:solidFill>
                  <a:srgbClr val="D8E4EE"/>
                </a:solidFill>
                <a:latin typeface="Arial" pitchFamily="34" charset="0"/>
                <a:ea typeface="Arial" pitchFamily="34" charset="-122"/>
                <a:cs typeface="Arial" pitchFamily="34" charset="-120"/>
              </a:rPr>
              <a:t>Hệ thống thông minh đến đâu thì về mặt pháp lý người lái vẫn là bạn. Vì vậy xe liên tục nhắc bạn đặt tay lên vô-lăng. Một nửa lý do là để chứng minh người đang lái chính là bạn.</a:t>
            </a:r>
            <a:endParaRPr lang="en-US" sz="1400" dirty="0"/>
          </a:p>
        </p:txBody>
      </p:sp>
      <p:sp>
        <p:nvSpPr>
          <p:cNvPr id="9" name="Shape 7"/>
          <p:cNvSpPr/>
          <p:nvPr/>
        </p:nvSpPr>
        <p:spPr>
          <a:xfrm>
            <a:off x="4599432" y="1975104"/>
            <a:ext cx="3803904" cy="1755648"/>
          </a:xfrm>
          <a:prstGeom prst="roundRect">
            <a:avLst>
              <a:gd name="adj" fmla="val 5208"/>
            </a:avLst>
          </a:prstGeom>
          <a:solidFill>
            <a:srgbClr val="13314F"/>
          </a:solidFill>
          <a:ln w="19050">
            <a:solidFill>
              <a:srgbClr val="00A896"/>
            </a:solidFill>
            <a:prstDash val="solid"/>
          </a:ln>
        </p:spPr>
      </p:sp>
      <p:sp>
        <p:nvSpPr>
          <p:cNvPr id="10" name="Text 8"/>
          <p:cNvSpPr txBox="1"/>
          <p:nvPr/>
        </p:nvSpPr>
        <p:spPr>
          <a:xfrm>
            <a:off x="4837176" y="2139696"/>
            <a:ext cx="3328416" cy="347472"/>
          </a:xfrm>
          <a:prstGeom prst="rect">
            <a:avLst/>
          </a:prstGeom>
          <a:noFill/>
          <a:ln/>
        </p:spPr>
        <p:txBody>
          <a:bodyPr wrap="square" lIns="0" tIns="0" rIns="0" bIns="0" rtlCol="0" anchor="ctr"/>
          <a:lstStyle/>
          <a:p>
            <a:pPr indent="0" marL="0">
              <a:buNone/>
            </a:pPr>
            <a:r>
              <a:rPr lang="en-US" sz="1700" b="1" dirty="0">
                <a:solidFill>
                  <a:srgbClr val="00A896"/>
                </a:solidFill>
                <a:latin typeface="Arial" pitchFamily="34" charset="0"/>
                <a:ea typeface="Arial" pitchFamily="34" charset="-122"/>
                <a:cs typeface="Arial" pitchFamily="34" charset="-120"/>
              </a:rPr>
              <a:t>L3: hệ thống chịu trách nhiệm</a:t>
            </a:r>
            <a:endParaRPr lang="en-US" sz="1700" dirty="0"/>
          </a:p>
        </p:txBody>
      </p:sp>
      <p:sp>
        <p:nvSpPr>
          <p:cNvPr id="11" name="Text 9"/>
          <p:cNvSpPr txBox="1"/>
          <p:nvPr/>
        </p:nvSpPr>
        <p:spPr>
          <a:xfrm>
            <a:off x="4837176" y="2542032"/>
            <a:ext cx="3328416" cy="1097280"/>
          </a:xfrm>
          <a:prstGeom prst="rect">
            <a:avLst/>
          </a:prstGeom>
          <a:noFill/>
          <a:ln/>
        </p:spPr>
        <p:txBody>
          <a:bodyPr wrap="square" lIns="0" tIns="0" rIns="0" bIns="0" rtlCol="0" anchor="t"/>
          <a:lstStyle/>
          <a:p>
            <a:pPr indent="0" marL="0">
              <a:buNone/>
            </a:pPr>
            <a:r>
              <a:rPr lang="en-US" sz="1400" dirty="0">
                <a:solidFill>
                  <a:srgbClr val="D8E4EE"/>
                </a:solidFill>
                <a:latin typeface="Arial" pitchFamily="34" charset="0"/>
                <a:ea typeface="Arial" pitchFamily="34" charset="-122"/>
                <a:cs typeface="Arial" pitchFamily="34" charset="-120"/>
              </a:rPr>
              <a:t>Trong ODD, về mặt pháp lý hệ thống đang lái, nên bạn có thể không nhìn đường. Khi hệ thống yêu cầu thì bạn mới tiếp quản.</a:t>
            </a:r>
            <a:endParaRPr lang="en-US" sz="1400" dirty="0"/>
          </a:p>
        </p:txBody>
      </p:sp>
      <p:sp>
        <p:nvSpPr>
          <p:cNvPr id="12" name="Text 10"/>
          <p:cNvSpPr txBox="1"/>
          <p:nvPr/>
        </p:nvSpPr>
        <p:spPr>
          <a:xfrm>
            <a:off x="502920" y="3950208"/>
            <a:ext cx="8046720" cy="329184"/>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Ghi L3 là phải gánh trách nhiệm. Cả thế giới chỉ có hai ba hãng từng làm xe L3 thương mại; tháng Một năm nay Mercedes tuyên bố tạm dừng, chuyển sang đẩy L2.</a:t>
            </a:r>
            <a:endParaRPr lang="en-US" sz="1400" dirty="0"/>
          </a:p>
        </p:txBody>
      </p:sp>
      <p:sp>
        <p:nvSpPr>
          <p:cNvPr id="13" name="Text 1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Vài hiểu lầm thường gặp</a:t>
            </a:r>
            <a:endParaRPr lang="en-US" sz="27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8138160" cy="914400"/>
        </p:xfrm>
        <a:graphic>
          <a:graphicData uri="http://schemas.openxmlformats.org/drawingml/2006/table">
            <a:tbl>
              <a:tblPr/>
              <a:tblGrid>
                <a:gridCol w="3108960"/>
                <a:gridCol w="502920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Câu hay nghe</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Thực tế</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AEB là L1</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L0. Nó can thiệp tức thời, không phải điều khiển liên tục. Tiêu chí chỉ có hai chữ: liên tục.</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Tesla là L5</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FSD mà chủ xe thường mua được là L2, phải giám sát toàn trình. Đội robotaxi mới là L4. Cùng một công ty, hai cấp độ.</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Đã có L5 rồi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Chưa. Ngay cả luật cũng chưa bắt đầu xử lý L5.</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Cấp càng cao càng tốt</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Tháng 1/2026 Mercedes tạm dừng L3 để đẩy L2, vì L2 dùng được cho nhiều tình huống hơn và rẻ hơn nhiều. Cấp độ là định nghĩa pháp lý, không phải điểm đánh giá sản phẩm.</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L2+, L2++ là cấp chính thức</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Đó là ngôn ngữ tiếp thị. Về mặt pháp lý vẫn là L2, trách nhiệm vẫn thuộc người lái.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pic>
        <p:nvPicPr>
          <p:cNvPr id="4"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5" name="Text 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Mô tả một ODD như thế nào</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Đặt cạnh nhau hai ví dụ: xe L3 thương mại của Nhật và thí điểm trong khu công nghệ ở Hà Nội</a:t>
            </a:r>
            <a:endParaRPr lang="en-US" sz="13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1463040"/>
                <a:gridCol w="3337560"/>
                <a:gridCol w="333756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Khía cạnh</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Honda Legend (2021)</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Phenikaa-X, Hà Nội (2026)</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Loại đường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Cao tốc và đường dành riêng cho ô tô</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11,5 km đường trong Khu công nghệ cao Hòa Lạc, 2,8 km trong khuôn viên đại học</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Dải tốc độ</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Kích hoạt dưới ~30 km/h, thoát khi trên 50</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Dưới 40 km/h</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Tình trạng giao thông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Chỉ khi tắc đường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Lưu lượng trong khu</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Thời tiết và ánh sáng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Thời tiết tốt; cảm biến phải hoạt động bình thường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Ban ngày 09:00–16:30</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Phạm vi địa lý</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Các đoạn đường được phê duyệt trong lãnh thổ Nhật</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Hai khu đã được TP Hà Nội phê duyệt</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Vai trò của người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Người lái có thể không nhìn đường, được gọi thì tiếp quản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Trên xe bắt buộc có giám sát viên an toàn sẵn sàng tiếp quản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5" name="Text 2"/>
          <p:cNvSpPr txBox="1"/>
          <p:nvPr/>
        </p:nvSpPr>
        <p:spPr>
          <a:xfrm>
            <a:off x="502920" y="4526280"/>
            <a:ext cx="8138160" cy="411480"/>
          </a:xfrm>
          <a:prstGeom prst="rect">
            <a:avLst/>
          </a:prstGeom>
          <a:noFill/>
          <a:ln/>
        </p:spPr>
        <p:txBody>
          <a:bodyPr wrap="square" lIns="0" tIns="0" rIns="0" bIns="0" rtlCol="0" anchor="t"/>
          <a:lstStyle/>
          <a:p>
            <a:pPr indent="0" marL="0">
              <a:buNone/>
            </a:pPr>
            <a:r>
              <a:rPr lang="en-US" sz="1250" b="1" dirty="0">
                <a:solidFill>
                  <a:srgbClr val="007F72"/>
                </a:solidFill>
                <a:latin typeface="Arial" pitchFamily="34" charset="0"/>
                <a:ea typeface="Arial" pitchFamily="34" charset="-122"/>
                <a:cs typeface="Arial" pitchFamily="34" charset="-120"/>
              </a:rPr>
              <a:t>Viết ODD trung thực thì biết ngay hệ thống không làm được gì.</a:t>
            </a:r>
            <a:endParaRPr lang="en-US" sz="1250" dirty="0"/>
          </a:p>
        </p:txBody>
      </p:sp>
      <p:pic>
        <p:nvPicPr>
          <p:cNvPr id="6"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7" name="Text 3"/>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691640"/>
            <a:ext cx="36576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Tiết 2</a:t>
            </a:r>
            <a:endParaRPr lang="en-US" sz="1400" dirty="0"/>
          </a:p>
        </p:txBody>
      </p:sp>
      <p:sp>
        <p:nvSpPr>
          <p:cNvPr id="5" name="Text 3"/>
          <p:cNvSpPr txBox="1"/>
          <p:nvPr/>
        </p:nvSpPr>
        <p:spPr>
          <a:xfrm>
            <a:off x="502920" y="2048256"/>
            <a:ext cx="731520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Một trăm năm, ba bước ngoặt</a:t>
            </a:r>
            <a:endParaRPr lang="en-US" sz="3400" dirty="0"/>
          </a:p>
        </p:txBody>
      </p:sp>
      <p:sp>
        <p:nvSpPr>
          <p:cNvPr id="6" name="Text 4"/>
          <p:cNvSpPr txBox="1"/>
          <p:nvPr/>
        </p:nvSpPr>
        <p:spPr>
          <a:xfrm>
            <a:off x="502920" y="2907792"/>
            <a:ext cx="7315200" cy="365760"/>
          </a:xfrm>
          <a:prstGeom prst="rect">
            <a:avLst/>
          </a:prstGeom>
          <a:noFill/>
          <a:ln/>
        </p:spPr>
        <p:txBody>
          <a:bodyPr wrap="square" lIns="0" tIns="0" rIns="0" bIns="0" rtlCol="0" anchor="ctr"/>
          <a:lstStyle/>
          <a:p>
            <a:pPr indent="0" marL="0">
              <a:buNone/>
            </a:pPr>
            <a:r>
              <a:rPr lang="en-US" sz="1550" dirty="0">
                <a:solidFill>
                  <a:srgbClr val="AFC3D4"/>
                </a:solidFill>
                <a:latin typeface="Arial" pitchFamily="34" charset="0"/>
                <a:ea typeface="Arial" pitchFamily="34" charset="-122"/>
                <a:cs typeface="Arial" pitchFamily="34" charset="-120"/>
              </a:rPr>
              <a:t>Không phải Tesla hay Google phát minh, nó còn già hơn ông bà của các bạn   ｜   giáo trình 1.4</a:t>
            </a:r>
            <a:endParaRPr lang="en-US" sz="1550" dirty="0"/>
          </a:p>
        </p:txBody>
      </p:sp>
      <p:sp>
        <p:nvSpPr>
          <p:cNvPr id="7"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1925 đến 1960: làm cho “con đường” thông minh</a:t>
            </a:r>
            <a:endParaRPr lang="en-US" sz="2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8138160" cy="914400"/>
        </p:xfrm>
        <a:graphic>
          <a:graphicData uri="http://schemas.openxmlformats.org/drawingml/2006/table">
            <a:tbl>
              <a:tblPr/>
              <a:tblGrid>
                <a:gridCol w="1005840"/>
                <a:gridCol w="4206240"/>
                <a:gridCol w="292608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Năm</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Sự kiện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Vì sao quan trọng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1925</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American Wonder chạy không người lái trên Broadway, New York</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Đó là điều khiển bằng sóng vô tuyến, người ngồi ở xe phía sau. Không phải tự lái.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1939</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GM trưng bày Futurama tại Hội chợ Thế giới, chôn dây dẫn hướng dưới mặt đường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Mỗi ngày ba vạn người xem, ảnh hưởng đến trí tưởng tượng suốt mấy chục năm sau</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1957–58</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RCA và GM thật sự chôn dây dẫn xuống quốc lộ ở Nebraska</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Xe tự đánh lái và tăng giảm tốc được; nhưng cải tạo toàn bộ quốc lộ Mỹ tốn thêm 40–50% chi phí</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4" name="Text 1"/>
          <p:cNvSpPr txBox="1"/>
          <p:nvPr/>
        </p:nvSpPr>
        <p:spPr>
          <a:xfrm>
            <a:off x="502920" y="3611880"/>
            <a:ext cx="8138160" cy="411480"/>
          </a:xfrm>
          <a:prstGeom prst="rect">
            <a:avLst/>
          </a:prstGeom>
          <a:noFill/>
          <a:ln/>
        </p:spPr>
        <p:txBody>
          <a:bodyPr wrap="square" lIns="0" tIns="0" rIns="0" bIns="0" rtlCol="0" anchor="t"/>
          <a:lstStyle/>
          <a:p>
            <a:pPr indent="0" marL="0">
              <a:buNone/>
            </a:pPr>
            <a:r>
              <a:rPr lang="en-US" sz="1250" b="1" dirty="0">
                <a:solidFill>
                  <a:srgbClr val="007F72"/>
                </a:solidFill>
                <a:latin typeface="Arial" pitchFamily="34" charset="0"/>
                <a:ea typeface="Arial" pitchFamily="34" charset="-122"/>
                <a:cs typeface="Arial" pitchFamily="34" charset="-120"/>
              </a:rPr>
              <a:t>Bước ngoặt thứ nhất: sửa đường quá đắt, thế hệ sau chuyển sang để xe tự nhìn.</a:t>
            </a:r>
            <a:endParaRPr lang="en-US" sz="1250" dirty="0"/>
          </a:p>
        </p:txBody>
      </p:sp>
      <p:pic>
        <p:nvPicPr>
          <p:cNvPr id="5"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6" name="Text 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1977 đến 1995: để “chiếc xe” tự nhìn</a:t>
            </a:r>
            <a:endParaRPr lang="en-US" sz="2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8138160" cy="914400"/>
        </p:xfrm>
        <a:graphic>
          <a:graphicData uri="http://schemas.openxmlformats.org/drawingml/2006/table">
            <a:tbl>
              <a:tblPr/>
              <a:tblGrid>
                <a:gridCol w="1005840"/>
                <a:gridCol w="2377440"/>
                <a:gridCol w="475488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Năm</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Ai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Làm được gì</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1977</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Tsukuba, Nhật Bản · Sadayuki Tsugawa</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Chiếc xe đầu tiên trên thế giới dẫn hướng bằng thị giác máy tính, tốc độ khoảng 10–30 km/h (các nguồn không thống nhất)</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1987</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Đức · VaMoRs của Dickmanns</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Chỉ dựa vào camera mà chạy tới 96 km/h trên cao tốc</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1989</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CMU, Mỹ · ALVINN</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Hệ thống đầu tiên lái xe bằng mạng nơ-ron. Ảnh vào, góc lái ra. End-to-end ngày nay chính là ý tưởng này</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1994–95</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Dự án PROMETHEUS</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Chạy 1.000 km trong dòng xe ở Paris; từ Munich đến Đan Mạch 1.758 km, khoảng 95% tự chủ</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1995</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CMU · No Hands Across America</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Xuyên nước Mỹ 2.849 dặm, 98,2% do máy tính điều khiển. Nhưng chỉ đánh lái, ga và phanh toàn trình do người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4" name="Text 1"/>
          <p:cNvSpPr txBox="1"/>
          <p:nvPr/>
        </p:nvSpPr>
        <p:spPr>
          <a:xfrm>
            <a:off x="502920" y="4023360"/>
            <a:ext cx="8138160" cy="411480"/>
          </a:xfrm>
          <a:prstGeom prst="rect">
            <a:avLst/>
          </a:prstGeom>
          <a:noFill/>
          <a:ln/>
        </p:spPr>
        <p:txBody>
          <a:bodyPr wrap="square" lIns="0" tIns="0" rIns="0" bIns="0" rtlCol="0" anchor="t"/>
          <a:lstStyle/>
          <a:p>
            <a:pPr indent="0" marL="0">
              <a:buNone/>
            </a:pPr>
            <a:r>
              <a:rPr lang="en-US" sz="1250" b="1" dirty="0">
                <a:solidFill>
                  <a:srgbClr val="007F72"/>
                </a:solidFill>
                <a:latin typeface="Arial" pitchFamily="34" charset="0"/>
                <a:ea typeface="Arial" pitchFamily="34" charset="-122"/>
                <a:cs typeface="Arial" pitchFamily="34" charset="-120"/>
              </a:rPr>
              <a:t>Thấy con số gây choáng thì hỏi trước xem nó đang nói về cái gì. Dòng 98,2% chính là ví dụ.</a:t>
            </a:r>
            <a:endParaRPr lang="en-US" sz="1250" dirty="0"/>
          </a:p>
        </p:txBody>
      </p:sp>
      <p:pic>
        <p:nvPicPr>
          <p:cNvPr id="5"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6" name="Text 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2004 đến 2007: ba cuộc thi làm thay đổi tất cả</a:t>
            </a:r>
            <a:endParaRPr lang="en-US" sz="27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8138160" cy="914400"/>
        </p:xfrm>
        <a:graphic>
          <a:graphicData uri="http://schemas.openxmlformats.org/drawingml/2006/table">
            <a:tbl>
              <a:tblPr/>
              <a:tblGrid>
                <a:gridCol w="914400"/>
                <a:gridCol w="2560320"/>
                <a:gridCol w="466344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Năm</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Cuộc thi</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Kết quả</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2004</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DARPA Grand Challenge · 150 dặm sa mạc</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Không ai về đích. Đội tốt nhất chạy được 11,78 km</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2005</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DARPA Grand Challenge · 212 km</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Stanley của Stanford vô địch, năm đội về đích. Nguyên mẫu LiDAR Velodyne lần đầu xuất hiện; dùng nhiều học máy thay vì luật viết cứng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84048">
                <a:tc>
                  <a:txBody>
                    <a:bodyPr/>
                    <a:lstStyle/>
                    <a:p>
                      <a:pPr algn="l" indent="0" marL="0">
                        <a:buNone/>
                      </a:pPr>
                      <a:r>
                        <a:rPr lang="en-US" sz="1200" b="1" dirty="0">
                          <a:solidFill>
                            <a:srgbClr val="0B1F3A"/>
                          </a:solidFill>
                          <a:latin typeface="Arial" pitchFamily="34" charset="0"/>
                          <a:ea typeface="Arial" pitchFamily="34" charset="-122"/>
                          <a:cs typeface="Arial" pitchFamily="34" charset="-120"/>
                        </a:rPr>
                        <a:t>2007</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Urban Challenge · đô thị mô phỏng</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200" dirty="0">
                          <a:solidFill>
                            <a:srgbClr val="1A2733"/>
                          </a:solidFill>
                          <a:latin typeface="Arial" pitchFamily="34" charset="0"/>
                          <a:ea typeface="Arial" pitchFamily="34" charset="-122"/>
                          <a:cs typeface="Arial" pitchFamily="34" charset="-120"/>
                        </a:rPr>
                        <a:t>Phải tuân thủ luật giao thông và tương tác với xe khác. Boss của CMU vô địch</a:t>
                      </a:r>
                      <a:endParaRPr lang="en-US" sz="120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4" name="Text 1"/>
          <p:cNvSpPr txBox="1"/>
          <p:nvPr/>
        </p:nvSpPr>
        <p:spPr>
          <a:xfrm>
            <a:off x="502920" y="3154680"/>
            <a:ext cx="8138160" cy="411480"/>
          </a:xfrm>
          <a:prstGeom prst="rect">
            <a:avLst/>
          </a:prstGeom>
          <a:noFill/>
          <a:ln/>
        </p:spPr>
        <p:txBody>
          <a:bodyPr wrap="square" lIns="0" tIns="0" rIns="0" bIns="0" rtlCol="0" anchor="t"/>
          <a:lstStyle/>
          <a:p>
            <a:pPr indent="0" marL="0">
              <a:buNone/>
            </a:pPr>
            <a:r>
              <a:rPr lang="en-US" sz="1250" b="1" dirty="0">
                <a:solidFill>
                  <a:srgbClr val="007F72"/>
                </a:solidFill>
                <a:latin typeface="Arial" pitchFamily="34" charset="0"/>
                <a:ea typeface="Arial" pitchFamily="34" charset="-122"/>
                <a:cs typeface="Arial" pitchFamily="34" charset="-120"/>
              </a:rPr>
              <a:t>Bước ngoặt thứ hai: trong một năm rưỡi, từ không ai về đích thành năm đội về đích; cái thay đổi là phương pháp. Những người dự thi này về sau lập nên cả một ngành.</a:t>
            </a:r>
            <a:endParaRPr lang="en-US" sz="1250" dirty="0"/>
          </a:p>
        </p:txBody>
      </p:sp>
      <p:pic>
        <p:nvPicPr>
          <p:cNvPr id="5"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6" name="Text 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2009–2026: vào ngành, rồi lần đầu đạp phanh</a:t>
            </a:r>
            <a:endParaRPr lang="en-US" sz="27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8138160" cy="914400"/>
        </p:xfrm>
        <a:graphic>
          <a:graphicData uri="http://schemas.openxmlformats.org/drawingml/2006/table">
            <a:tbl>
              <a:tblPr/>
              <a:tblGrid>
                <a:gridCol w="1188720"/>
                <a:gridCol w="6949440"/>
              </a:tblGrid>
              <a:tr h="310896">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Năm/tháng</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Sự kiện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10896">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01/2009</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Google khởi động dự án xe tự lái, chiêu mộ những người từng dự thi DARPA</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01/2014</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SAE lần đầu công bố J3016; từ đó L0 đến L5 trở thành ngôn ngữ chung</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03/2018</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Xe thử nghiệm của Uber tông chết người đi bộ ở Arizona, tai nạn chết người đầu tiên của xe tự lái</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12/2018</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Waymo One ra mắt ở Phoenix; dịch vụ công cộng thật sự không người lái phải đến 11/2019</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11/2020</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Honda Legend đạt chứng nhận L3 đầu tiên thế giới, chỉ làm 100 xe, chỉ cho thuê không bán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10/2023</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Cruise kéo lê người đi bộ ở San Francisco, California thu giấy phép; cuối 2024 GM từ bỏ robotaxi</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01/2026</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Mercedes tạm dừng Drive Pilot, rút khỏi L3, chuyển sang đẩy L2++</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08/2026</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Hà Nội phê duyệt thí điểm xe tự lái đầu tiên của Việt Nam; California cho Waymo mở rộng ra 18 hạt</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4" name="Text 1"/>
          <p:cNvSpPr txBox="1"/>
          <p:nvPr/>
        </p:nvSpPr>
        <p:spPr>
          <a:xfrm>
            <a:off x="502920" y="4269985"/>
            <a:ext cx="8138160" cy="411480"/>
          </a:xfrm>
          <a:prstGeom prst="rect">
            <a:avLst/>
          </a:prstGeom>
          <a:noFill/>
          <a:ln/>
        </p:spPr>
        <p:txBody>
          <a:bodyPr wrap="square" lIns="0" tIns="0" rIns="0" bIns="0" rtlCol="0" anchor="t"/>
          <a:lstStyle/>
          <a:p>
            <a:pPr indent="0" marL="0">
              <a:buNone/>
            </a:pPr>
            <a:r>
              <a:rPr lang="en-US" sz="1250" b="1" dirty="0">
                <a:solidFill>
                  <a:srgbClr val="007F72"/>
                </a:solidFill>
                <a:latin typeface="Arial" pitchFamily="34" charset="0"/>
                <a:ea typeface="Arial" pitchFamily="34" charset="-122"/>
                <a:cs typeface="Arial" pitchFamily="34" charset="-120"/>
              </a:rPr>
              <a:t>Có bên tiến, có bên lùi. Mọi dự đoán kiểu “vài năm nữa sẽ phổ cập toàn diện” đều đáng nghi ngờ một cách hợp lý.</a:t>
            </a:r>
            <a:endParaRPr lang="en-US" sz="1250" dirty="0"/>
          </a:p>
        </p:txBody>
      </p:sp>
      <p:pic>
        <p:nvPicPr>
          <p:cNvPr id="5"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6" name="Text 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Ba điều thấy được trong một trăm năm</a:t>
            </a:r>
            <a:endParaRPr lang="en-US" sz="2700" dirty="0"/>
          </a:p>
        </p:txBody>
      </p:sp>
      <p:sp>
        <p:nvSpPr>
          <p:cNvPr id="3" name="Shape 1"/>
          <p:cNvSpPr/>
          <p:nvPr/>
        </p:nvSpPr>
        <p:spPr>
          <a:xfrm>
            <a:off x="502920" y="960120"/>
            <a:ext cx="1298448" cy="786384"/>
          </a:xfrm>
          <a:prstGeom prst="roundRect">
            <a:avLst>
              <a:gd name="adj" fmla="val 10465"/>
            </a:avLst>
          </a:prstGeom>
          <a:solidFill>
            <a:srgbClr val="0B1F3A"/>
          </a:solidFill>
          <a:ln/>
        </p:spPr>
      </p:sp>
      <p:sp>
        <p:nvSpPr>
          <p:cNvPr id="4" name="Text 2"/>
          <p:cNvSpPr txBox="1"/>
          <p:nvPr/>
        </p:nvSpPr>
        <p:spPr>
          <a:xfrm>
            <a:off x="502920" y="1197864"/>
            <a:ext cx="12984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Có bẻ lái</a:t>
            </a:r>
            <a:endParaRPr lang="en-US" sz="1600" dirty="0"/>
          </a:p>
        </p:txBody>
      </p:sp>
      <p:sp>
        <p:nvSpPr>
          <p:cNvPr id="5" name="Text 3"/>
          <p:cNvSpPr txBox="1"/>
          <p:nvPr/>
        </p:nvSpPr>
        <p:spPr>
          <a:xfrm>
            <a:off x="1984248" y="978408"/>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Ban đầu định sửa đường, sau chuyển sang để xe tự nhìn. Bản đồ HD ngày nay, ở một mức nào đó, là hồn của con đường “sửa đường” sống lại trong máy tính.</a:t>
            </a:r>
            <a:endParaRPr lang="en-US" sz="1400" dirty="0"/>
          </a:p>
        </p:txBody>
      </p:sp>
      <p:sp>
        <p:nvSpPr>
          <p:cNvPr id="6" name="Shape 4"/>
          <p:cNvSpPr/>
          <p:nvPr/>
        </p:nvSpPr>
        <p:spPr>
          <a:xfrm>
            <a:off x="502920" y="1929384"/>
            <a:ext cx="1298448" cy="786384"/>
          </a:xfrm>
          <a:prstGeom prst="roundRect">
            <a:avLst>
              <a:gd name="adj" fmla="val 10465"/>
            </a:avLst>
          </a:prstGeom>
          <a:solidFill>
            <a:srgbClr val="00A896"/>
          </a:solidFill>
          <a:ln/>
        </p:spPr>
      </p:sp>
      <p:sp>
        <p:nvSpPr>
          <p:cNvPr id="7" name="Text 5"/>
          <p:cNvSpPr txBox="1"/>
          <p:nvPr/>
        </p:nvSpPr>
        <p:spPr>
          <a:xfrm>
            <a:off x="502920" y="2167128"/>
            <a:ext cx="12984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Phương pháp</a:t>
            </a:r>
            <a:endParaRPr lang="en-US" sz="1600" dirty="0"/>
          </a:p>
        </p:txBody>
      </p:sp>
      <p:sp>
        <p:nvSpPr>
          <p:cNvPr id="8" name="Text 6"/>
          <p:cNvSpPr txBox="1"/>
          <p:nvPr/>
        </p:nvSpPr>
        <p:spPr>
          <a:xfrm>
            <a:off x="1984248" y="1947672"/>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2004 đến 2005 chỉ cách nhau một năm rưỡi, phần cứng gần như không đổi; cái đổi là từ viết luật sang học từ dữ liệu. Sau 2012 là lần thứ ba: học sâu.</a:t>
            </a:r>
            <a:endParaRPr lang="en-US" sz="1400" dirty="0"/>
          </a:p>
        </p:txBody>
      </p:sp>
      <p:sp>
        <p:nvSpPr>
          <p:cNvPr id="9" name="Shape 7"/>
          <p:cNvSpPr/>
          <p:nvPr/>
        </p:nvSpPr>
        <p:spPr>
          <a:xfrm>
            <a:off x="502920" y="2898648"/>
            <a:ext cx="1298448" cy="786384"/>
          </a:xfrm>
          <a:prstGeom prst="roundRect">
            <a:avLst>
              <a:gd name="adj" fmla="val 10465"/>
            </a:avLst>
          </a:prstGeom>
          <a:solidFill>
            <a:srgbClr val="FFB020"/>
          </a:solidFill>
          <a:ln/>
        </p:spPr>
      </p:sp>
      <p:sp>
        <p:nvSpPr>
          <p:cNvPr id="10" name="Text 8"/>
          <p:cNvSpPr txBox="1"/>
          <p:nvPr/>
        </p:nvSpPr>
        <p:spPr>
          <a:xfrm>
            <a:off x="502920" y="3136392"/>
            <a:ext cx="1298448" cy="310896"/>
          </a:xfrm>
          <a:prstGeom prst="rect">
            <a:avLst/>
          </a:prstGeom>
          <a:noFill/>
          <a:ln/>
        </p:spPr>
        <p:txBody>
          <a:bodyPr wrap="square" lIns="0" tIns="0" rIns="0" bIns="0" rtlCol="0" anchor="ctr"/>
          <a:lstStyle/>
          <a:p>
            <a:pPr algn="ctr" indent="0" marL="0">
              <a:buNone/>
            </a:pPr>
            <a:r>
              <a:rPr lang="en-US" sz="1600" b="1" dirty="0">
                <a:solidFill>
                  <a:srgbClr val="1A2733"/>
                </a:solidFill>
                <a:latin typeface="Arial" pitchFamily="34" charset="0"/>
                <a:ea typeface="Arial" pitchFamily="34" charset="-122"/>
                <a:cs typeface="Arial" pitchFamily="34" charset="-120"/>
              </a:rPr>
              <a:t>Không thẳng</a:t>
            </a:r>
            <a:endParaRPr lang="en-US" sz="1600" dirty="0"/>
          </a:p>
        </p:txBody>
      </p:sp>
      <p:sp>
        <p:nvSpPr>
          <p:cNvPr id="11" name="Text 9"/>
          <p:cNvSpPr txBox="1"/>
          <p:nvPr/>
        </p:nvSpPr>
        <p:spPr>
          <a:xfrm>
            <a:off x="1984248" y="2916936"/>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Năm 2026 Mercedes rút khỏi L3, Trung Quốc siết quản lý, đồng thời Hà Nội bắt đầu thí điểm và Waymo mở rộng.</a:t>
            </a:r>
            <a:endParaRPr lang="en-US" sz="1400" dirty="0"/>
          </a:p>
        </p:txBody>
      </p:sp>
      <p:sp>
        <p:nvSpPr>
          <p:cNvPr id="12" name="Text 10"/>
          <p:cNvSpPr txBox="1"/>
          <p:nvPr/>
        </p:nvSpPr>
        <p:spPr>
          <a:xfrm>
            <a:off x="502920" y="3977640"/>
            <a:ext cx="8138160" cy="365760"/>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Cuộc đua không phải xem ai chạy trước, mà xem ai mười năm không phạm sai lầm chết người.</a:t>
            </a:r>
            <a:endParaRPr lang="en-US" sz="1400" dirty="0"/>
          </a:p>
        </p:txBody>
      </p:sp>
      <p:pic>
        <p:nvPicPr>
          <p:cNvPr id="13"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4" name="Text 1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691640"/>
            <a:ext cx="36576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Tiết 2</a:t>
            </a:r>
            <a:endParaRPr lang="en-US" sz="1400" dirty="0"/>
          </a:p>
        </p:txBody>
      </p:sp>
      <p:sp>
        <p:nvSpPr>
          <p:cNvPr id="5" name="Text 3"/>
          <p:cNvSpPr txBox="1"/>
          <p:nvPr/>
        </p:nvSpPr>
        <p:spPr>
          <a:xfrm>
            <a:off x="502920" y="2048256"/>
            <a:ext cx="731520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Ai chịu trách nhiệm</a:t>
            </a:r>
            <a:endParaRPr lang="en-US" sz="3400" dirty="0"/>
          </a:p>
        </p:txBody>
      </p:sp>
      <p:sp>
        <p:nvSpPr>
          <p:cNvPr id="6" name="Text 4"/>
          <p:cNvSpPr txBox="1"/>
          <p:nvPr/>
        </p:nvSpPr>
        <p:spPr>
          <a:xfrm>
            <a:off x="502920" y="2907792"/>
            <a:ext cx="7315200" cy="365760"/>
          </a:xfrm>
          <a:prstGeom prst="rect">
            <a:avLst/>
          </a:prstGeom>
          <a:noFill/>
          <a:ln/>
        </p:spPr>
        <p:txBody>
          <a:bodyPr wrap="square" lIns="0" tIns="0" rIns="0" bIns="0" rtlCol="0" anchor="ctr"/>
          <a:lstStyle/>
          <a:p>
            <a:pPr indent="0" marL="0">
              <a:buNone/>
            </a:pPr>
            <a:r>
              <a:rPr lang="en-US" sz="1550" dirty="0">
                <a:solidFill>
                  <a:srgbClr val="AFC3D4"/>
                </a:solidFill>
                <a:latin typeface="Arial" pitchFamily="34" charset="0"/>
                <a:ea typeface="Arial" pitchFamily="34" charset="-122"/>
                <a:cs typeface="Arial" pitchFamily="34" charset="-120"/>
              </a:rPr>
              <a:t>Luật pháp các nơi đã đi tới đâu   ｜   giáo trình 1.5</a:t>
            </a:r>
            <a:endParaRPr lang="en-US" sz="1550" dirty="0"/>
          </a:p>
        </p:txBody>
      </p:sp>
      <p:sp>
        <p:nvSpPr>
          <p:cNvPr id="7"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Luật pháp các nơi đã đi tới đâu</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Số liệu tính đến: tháng 9 năm 2026</a:t>
            </a:r>
            <a:endParaRPr lang="en-US" sz="13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1463040"/>
                <a:gridCol w="6675120"/>
              </a:tblGrid>
              <a:tr h="36576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Quốc gia</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Điểm chính</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6576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Liên Hợp Quốc</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UN R157 là quy định quốc tế đầu tiên cho L3, hiệu lực từ 2021; sau sửa đổi 2023, trần tốc độ 130 km/h</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6576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Đài Loan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《Điều lệ thí điểm đổi mới công nghệ phương tiện không người lái》2018, cơ chế sandbox, cơ quan chủ quản là Bộ Kinh tế; đã duyệt 22 hồ sơ, đa số là tuyến cố định</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6576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Đức</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《Luật Lái tự động》2021 là luật cấp quốc gia đầu tiên thế giới cho phép vận hành L4 thường xuyên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6576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Nhật Bản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Năm 2020 đưa vào khái niệm ODD, chỉ định theo từng hồ sơ; năm 2023 lập chế độ L4, thị trấn Eiheiji được cấp phép đầu tiên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6576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Hoa Kỳ</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Không có luật liên bang riêng. Liên bang quản xe, các bang quản người và đường. Tháng 8/2026 California cho Waymo mở rộng ra 18 hạt</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65760">
                <a:tc>
                  <a:txBody>
                    <a:bodyPr/>
                    <a:lstStyle/>
                    <a:p>
                      <a:pPr algn="l" indent="0" marL="0">
                        <a:buNone/>
                      </a:pPr>
                      <a:r>
                        <a:rPr lang="en-US" sz="1150" b="1" dirty="0">
                          <a:solidFill>
                            <a:srgbClr val="0B1F3A"/>
                          </a:solidFill>
                          <a:latin typeface="Arial" pitchFamily="34" charset="0"/>
                          <a:ea typeface="Arial" pitchFamily="34" charset="-122"/>
                          <a:cs typeface="Arial" pitchFamily="34" charset="-120"/>
                        </a:rPr>
                        <a:t>Việt Nam</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150" dirty="0">
                          <a:solidFill>
                            <a:srgbClr val="1A2733"/>
                          </a:solidFill>
                          <a:latin typeface="Arial" pitchFamily="34" charset="0"/>
                          <a:ea typeface="Arial" pitchFamily="34" charset="-122"/>
                          <a:cs typeface="Arial" pitchFamily="34" charset="-120"/>
                        </a:rPr>
                        <a:t>Luật mới hiệu lực từ 01/2025 lần đầu định nghĩa “xe thông minh”; ngày 25/8/2026 Hà Nội phê duyệt thí điểm đầu tiên</a:t>
                      </a:r>
                      <a:endParaRPr lang="en-US" sz="11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pic>
        <p:nvPicPr>
          <p:cNvPr id="5"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6" name="Text 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Hà Nội, ngày 25 tháng 8 năm 2026</a:t>
            </a:r>
            <a:endParaRPr lang="en-US" sz="2700" dirty="0"/>
          </a:p>
        </p:txBody>
      </p:sp>
      <p:sp>
        <p:nvSpPr>
          <p:cNvPr id="3" name="Shape 1"/>
          <p:cNvSpPr/>
          <p:nvPr/>
        </p:nvSpPr>
        <p:spPr>
          <a:xfrm>
            <a:off x="502920" y="960120"/>
            <a:ext cx="1298448" cy="786384"/>
          </a:xfrm>
          <a:prstGeom prst="roundRect">
            <a:avLst>
              <a:gd name="adj" fmla="val 10465"/>
            </a:avLst>
          </a:prstGeom>
          <a:solidFill>
            <a:srgbClr val="0B1F3A"/>
          </a:solidFill>
          <a:ln/>
        </p:spPr>
      </p:sp>
      <p:sp>
        <p:nvSpPr>
          <p:cNvPr id="4" name="Text 2"/>
          <p:cNvSpPr txBox="1"/>
          <p:nvPr/>
        </p:nvSpPr>
        <p:spPr>
          <a:xfrm>
            <a:off x="502920" y="1197864"/>
            <a:ext cx="12984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Ai, bao lâu</a:t>
            </a:r>
            <a:endParaRPr lang="en-US" sz="1600" dirty="0"/>
          </a:p>
        </p:txBody>
      </p:sp>
      <p:sp>
        <p:nvSpPr>
          <p:cNvPr id="5" name="Text 3"/>
          <p:cNvSpPr txBox="1"/>
          <p:nvPr/>
        </p:nvSpPr>
        <p:spPr>
          <a:xfrm>
            <a:off x="1984248" y="978408"/>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Phenikaa-X của Việt Nam, thời hạn 24 tháng. Xe buýt tự lái, robotaxi, robot quét dọn và giao hàng.</a:t>
            </a:r>
            <a:endParaRPr lang="en-US" sz="1400" dirty="0"/>
          </a:p>
        </p:txBody>
      </p:sp>
      <p:sp>
        <p:nvSpPr>
          <p:cNvPr id="6" name="Shape 4"/>
          <p:cNvSpPr/>
          <p:nvPr/>
        </p:nvSpPr>
        <p:spPr>
          <a:xfrm>
            <a:off x="502920" y="1929384"/>
            <a:ext cx="1298448" cy="786384"/>
          </a:xfrm>
          <a:prstGeom prst="roundRect">
            <a:avLst>
              <a:gd name="adj" fmla="val 10465"/>
            </a:avLst>
          </a:prstGeom>
          <a:solidFill>
            <a:srgbClr val="00A896"/>
          </a:solidFill>
          <a:ln/>
        </p:spPr>
      </p:sp>
      <p:sp>
        <p:nvSpPr>
          <p:cNvPr id="7" name="Text 5"/>
          <p:cNvSpPr txBox="1"/>
          <p:nvPr/>
        </p:nvSpPr>
        <p:spPr>
          <a:xfrm>
            <a:off x="502920" y="2167128"/>
            <a:ext cx="12984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Ở đâu</a:t>
            </a:r>
            <a:endParaRPr lang="en-US" sz="1600" dirty="0"/>
          </a:p>
        </p:txBody>
      </p:sp>
      <p:sp>
        <p:nvSpPr>
          <p:cNvPr id="8" name="Text 6"/>
          <p:cNvSpPr txBox="1"/>
          <p:nvPr/>
        </p:nvSpPr>
        <p:spPr>
          <a:xfrm>
            <a:off x="1984248" y="1947672"/>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11,5 km trong Khu công nghệ cao Hòa Lạc, 2,8 km trong khuôn viên ĐHQG Hà Nội tại Hòa Lạc. Không phải nội thành. Đây chính là ODD áp dụng vào thực tế.</a:t>
            </a:r>
            <a:endParaRPr lang="en-US" sz="1400" dirty="0"/>
          </a:p>
        </p:txBody>
      </p:sp>
      <p:sp>
        <p:nvSpPr>
          <p:cNvPr id="9" name="Shape 7"/>
          <p:cNvSpPr/>
          <p:nvPr/>
        </p:nvSpPr>
        <p:spPr>
          <a:xfrm>
            <a:off x="502920" y="2898648"/>
            <a:ext cx="1298448" cy="786384"/>
          </a:xfrm>
          <a:prstGeom prst="roundRect">
            <a:avLst>
              <a:gd name="adj" fmla="val 10465"/>
            </a:avLst>
          </a:prstGeom>
          <a:solidFill>
            <a:srgbClr val="FFB020"/>
          </a:solidFill>
          <a:ln/>
        </p:spPr>
      </p:sp>
      <p:sp>
        <p:nvSpPr>
          <p:cNvPr id="10" name="Text 8"/>
          <p:cNvSpPr txBox="1"/>
          <p:nvPr/>
        </p:nvSpPr>
        <p:spPr>
          <a:xfrm>
            <a:off x="502920" y="3136392"/>
            <a:ext cx="1298448" cy="310896"/>
          </a:xfrm>
          <a:prstGeom prst="rect">
            <a:avLst/>
          </a:prstGeom>
          <a:noFill/>
          <a:ln/>
        </p:spPr>
        <p:txBody>
          <a:bodyPr wrap="square" lIns="0" tIns="0" rIns="0" bIns="0" rtlCol="0" anchor="ctr"/>
          <a:lstStyle/>
          <a:p>
            <a:pPr algn="ctr" indent="0" marL="0">
              <a:buNone/>
            </a:pPr>
            <a:r>
              <a:rPr lang="en-US" sz="1600" b="1" dirty="0">
                <a:solidFill>
                  <a:srgbClr val="1A2733"/>
                </a:solidFill>
                <a:latin typeface="Arial" pitchFamily="34" charset="0"/>
                <a:ea typeface="Arial" pitchFamily="34" charset="-122"/>
                <a:cs typeface="Arial" pitchFamily="34" charset="-120"/>
              </a:rPr>
              <a:t>Giới hạn</a:t>
            </a:r>
            <a:endParaRPr lang="en-US" sz="1600" dirty="0"/>
          </a:p>
        </p:txBody>
      </p:sp>
      <p:sp>
        <p:nvSpPr>
          <p:cNvPr id="11" name="Text 9"/>
          <p:cNvSpPr txBox="1"/>
          <p:nvPr/>
        </p:nvSpPr>
        <p:spPr>
          <a:xfrm>
            <a:off x="1984248" y="2916936"/>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Dưới 40 km/h, 09:00–16:30, xe buýt tối đa 8 người, robotaxi tối đa 4 người, trên xe bắt buộc có giám sát viên an toàn sẵn sàng tiếp quản.</a:t>
            </a:r>
            <a:endParaRPr lang="en-US" sz="1400" dirty="0"/>
          </a:p>
        </p:txBody>
      </p:sp>
      <p:sp>
        <p:nvSpPr>
          <p:cNvPr id="12" name="Text 10"/>
          <p:cNvSpPr txBox="1"/>
          <p:nvPr/>
        </p:nvSpPr>
        <p:spPr>
          <a:xfrm>
            <a:off x="502920" y="3977640"/>
            <a:ext cx="8138160" cy="365760"/>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Các ca sandbox ở Đài Loan (Thủy Nam – Đài Trung, Sa Luân – Đài Nam) cùng một cấp độ: trong khu, tốc độ thấp, tuyến cố định, có người an toàn. Khi các bạn tốt nghiệp thì thí điểm này vừa kết thúc.</a:t>
            </a:r>
            <a:endParaRPr lang="en-US" sz="1400" dirty="0"/>
          </a:p>
        </p:txBody>
      </p:sp>
      <p:pic>
        <p:nvPicPr>
          <p:cNvPr id="13"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4" name="Text 1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371600"/>
            <a:ext cx="5486400" cy="292608"/>
          </a:xfrm>
          <a:prstGeom prst="rect">
            <a:avLst/>
          </a:prstGeom>
          <a:noFill/>
          <a:ln/>
        </p:spPr>
        <p:txBody>
          <a:bodyPr wrap="square" lIns="0" tIns="0" rIns="0" bIns="0" rtlCol="0" anchor="ctr"/>
          <a:lstStyle/>
          <a:p>
            <a:pPr indent="0" marL="0">
              <a:buNone/>
            </a:pPr>
            <a:r>
              <a:rPr lang="en-US" sz="1300" b="1" dirty="0">
                <a:solidFill>
                  <a:srgbClr val="FFB020"/>
                </a:solidFill>
                <a:latin typeface="Arial" pitchFamily="34" charset="0"/>
                <a:ea typeface="Arial" pitchFamily="34" charset="-122"/>
                <a:cs typeface="Arial" pitchFamily="34" charset="-120"/>
              </a:rPr>
              <a:t>Nghĩ tại chỗ</a:t>
            </a:r>
            <a:endParaRPr lang="en-US" sz="1300" dirty="0"/>
          </a:p>
        </p:txBody>
      </p:sp>
      <p:sp>
        <p:nvSpPr>
          <p:cNvPr id="5" name="Text 3"/>
          <p:cNvSpPr txBox="1"/>
          <p:nvPr/>
        </p:nvSpPr>
        <p:spPr>
          <a:xfrm>
            <a:off x="502920" y="1783080"/>
            <a:ext cx="7680960" cy="13716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Trên xe phải có giám sát viên sẵn sàng tiếp quản. Vậy là L mấy?</a:t>
            </a:r>
            <a:endParaRPr lang="en-US" sz="3000" dirty="0"/>
          </a:p>
        </p:txBody>
      </p:sp>
      <p:sp>
        <p:nvSpPr>
          <p:cNvPr id="6" name="Text 4"/>
          <p:cNvSpPr txBox="1"/>
          <p:nvPr/>
        </p:nvSpPr>
        <p:spPr>
          <a:xfrm>
            <a:off x="502920" y="3127248"/>
            <a:ext cx="7498080" cy="548640"/>
          </a:xfrm>
          <a:prstGeom prst="rect">
            <a:avLst/>
          </a:prstGeom>
          <a:noFill/>
          <a:ln/>
        </p:spPr>
        <p:txBody>
          <a:bodyPr wrap="square" lIns="0" tIns="0" rIns="0" bIns="0" rtlCol="0" anchor="ctr"/>
          <a:lstStyle/>
          <a:p>
            <a:pPr indent="0" marL="0">
              <a:buNone/>
            </a:pPr>
            <a:r>
              <a:rPr lang="en-US" sz="1600" dirty="0">
                <a:solidFill>
                  <a:srgbClr val="B7CBDA"/>
                </a:solidFill>
                <a:latin typeface="Arial" pitchFamily="34" charset="0"/>
                <a:ea typeface="Arial" pitchFamily="34" charset="-122"/>
                <a:cs typeface="Arial" pitchFamily="34" charset="-120"/>
              </a:rPr>
              <a:t>Hệ thống làm toàn bộ nhiệm vụ lái trong ODD, nhưng người mới là bên tiếp quản.</a:t>
            </a:r>
            <a:endParaRPr lang="en-US" sz="1600" dirty="0"/>
          </a:p>
        </p:txBody>
      </p:sp>
      <p:sp>
        <p:nvSpPr>
          <p:cNvPr id="7"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960120"/>
            <a:ext cx="54864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Thảo luận 3</a:t>
            </a:r>
            <a:endParaRPr lang="en-US" sz="1400" dirty="0"/>
          </a:p>
        </p:txBody>
      </p:sp>
      <p:sp>
        <p:nvSpPr>
          <p:cNvPr id="5" name="Text 3"/>
          <p:cNvSpPr txBox="1"/>
          <p:nvPr/>
        </p:nvSpPr>
        <p:spPr>
          <a:xfrm>
            <a:off x="502920" y="1389888"/>
            <a:ext cx="7955280" cy="1371600"/>
          </a:xfrm>
          <a:prstGeom prst="rect">
            <a:avLst/>
          </a:prstGeom>
          <a:noFill/>
          <a:ln/>
        </p:spPr>
        <p:txBody>
          <a:bodyPr wrap="square" lIns="0" tIns="0" rIns="0" bIns="0" rtlCol="0" anchor="t"/>
          <a:lstStyle/>
          <a:p>
            <a:pPr indent="0" marL="0">
              <a:buNone/>
            </a:pPr>
            <a:r>
              <a:rPr lang="en-US" sz="3100" b="1" dirty="0">
                <a:solidFill>
                  <a:srgbClr val="FFFFFF"/>
                </a:solidFill>
                <a:latin typeface="Arial" pitchFamily="34" charset="0"/>
                <a:ea typeface="Arial" pitchFamily="34" charset="-122"/>
                <a:cs typeface="Arial" pitchFamily="34" charset="-120"/>
              </a:rPr>
              <a:t>Xe L2 tông người thì ai bồi thường? Còn L3 thì sao?</a:t>
            </a:r>
            <a:endParaRPr lang="en-US" sz="3100" dirty="0"/>
          </a:p>
        </p:txBody>
      </p:sp>
      <p:sp>
        <p:nvSpPr>
          <p:cNvPr id="6" name="Shape 4"/>
          <p:cNvSpPr/>
          <p:nvPr/>
        </p:nvSpPr>
        <p:spPr>
          <a:xfrm>
            <a:off x="502920" y="2999232"/>
            <a:ext cx="7955280" cy="658368"/>
          </a:xfrm>
          <a:prstGeom prst="roundRect">
            <a:avLst>
              <a:gd name="adj" fmla="val 12500"/>
            </a:avLst>
          </a:prstGeom>
          <a:solidFill>
            <a:srgbClr val="13314F"/>
          </a:solidFill>
          <a:ln w="15240">
            <a:solidFill>
              <a:srgbClr val="00A896"/>
            </a:solidFill>
            <a:prstDash val="solid"/>
          </a:ln>
        </p:spPr>
      </p:sp>
      <p:sp>
        <p:nvSpPr>
          <p:cNvPr id="7" name="Text 5"/>
          <p:cNvSpPr txBox="1"/>
          <p:nvPr/>
        </p:nvSpPr>
        <p:spPr>
          <a:xfrm>
            <a:off x="740664" y="3108960"/>
            <a:ext cx="7498080" cy="457200"/>
          </a:xfrm>
          <a:prstGeom prst="rect">
            <a:avLst/>
          </a:prstGeom>
          <a:noFill/>
          <a:ln/>
        </p:spPr>
        <p:txBody>
          <a:bodyPr wrap="square" lIns="0" tIns="0" rIns="0" bIns="0" rtlCol="0" anchor="ctr"/>
          <a:lstStyle/>
          <a:p>
            <a:pPr indent="0" marL="0">
              <a:buNone/>
            </a:pPr>
            <a:r>
              <a:rPr lang="en-US" sz="1450" dirty="0">
                <a:solidFill>
                  <a:srgbClr val="D8E4EE"/>
                </a:solidFill>
                <a:latin typeface="Arial" pitchFamily="34" charset="0"/>
                <a:ea typeface="Arial" pitchFamily="34" charset="-122"/>
                <a:cs typeface="Arial" pitchFamily="34" charset="-120"/>
              </a:rPr>
              <a:t>Bốn người một nhóm, thảo luận ba phút, mỗi nhóm nêu kết luận. Thảo luận và trình bày bằng tiếng Việt đều được.</a:t>
            </a:r>
            <a:endParaRPr lang="en-US" sz="1450" dirty="0"/>
          </a:p>
        </p:txBody>
      </p:sp>
      <p:sp>
        <p:nvSpPr>
          <p:cNvPr id="8" name="Text 6"/>
          <p:cNvSpPr txBox="1"/>
          <p:nvPr/>
        </p:nvSpPr>
        <p:spPr>
          <a:xfrm>
            <a:off x="502920" y="3822192"/>
            <a:ext cx="7955280" cy="457200"/>
          </a:xfrm>
          <a:prstGeom prst="rect">
            <a:avLst/>
          </a:prstGeom>
          <a:noFill/>
          <a:ln/>
        </p:spPr>
        <p:txBody>
          <a:bodyPr wrap="square" lIns="0" tIns="0" rIns="0" bIns="0" rtlCol="0" anchor="t"/>
          <a:lstStyle/>
          <a:p>
            <a:pPr indent="0" marL="0">
              <a:buNone/>
            </a:pPr>
            <a:r>
              <a:rPr lang="en-US" sz="1350" i="1" dirty="0">
                <a:solidFill>
                  <a:srgbClr val="9FB6C8"/>
                </a:solidFill>
                <a:latin typeface="Arial" pitchFamily="34" charset="0"/>
                <a:ea typeface="Arial" pitchFamily="34" charset="-122"/>
                <a:cs typeface="Arial" pitchFamily="34" charset="-120"/>
              </a:rPr>
              <a:t>Hỏi thêm: nếu bạn là chủ hãng xe, bạn có dám bán xe L3 không? Quyết định của Mercedes tháng Một năm nay đã trả lời một nửa.</a:t>
            </a:r>
            <a:endParaRPr lang="en-US" sz="1350" dirty="0"/>
          </a:p>
        </p:txBody>
      </p:sp>
      <p:sp>
        <p:nvSpPr>
          <p:cNvPr id="9" name="Text 7"/>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Tóm tắt tiết 2</a:t>
            </a:r>
            <a:endParaRPr lang="en-US" sz="2700" dirty="0"/>
          </a:p>
        </p:txBody>
      </p:sp>
      <p:sp>
        <p:nvSpPr>
          <p:cNvPr id="3" name="Shape 1"/>
          <p:cNvSpPr/>
          <p:nvPr/>
        </p:nvSpPr>
        <p:spPr>
          <a:xfrm>
            <a:off x="502920" y="978408"/>
            <a:ext cx="329184" cy="329184"/>
          </a:xfrm>
          <a:prstGeom prst="ellipse">
            <a:avLst/>
          </a:prstGeom>
          <a:solidFill>
            <a:srgbClr val="0B1F3A"/>
          </a:solidFill>
          <a:ln/>
        </p:spPr>
      </p:sp>
      <p:sp>
        <p:nvSpPr>
          <p:cNvPr id="4" name="Text 2"/>
          <p:cNvSpPr txBox="1"/>
          <p:nvPr/>
        </p:nvSpPr>
        <p:spPr>
          <a:xfrm>
            <a:off x="502920" y="1005840"/>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 name="Text 3"/>
          <p:cNvSpPr txBox="1"/>
          <p:nvPr/>
        </p:nvSpPr>
        <p:spPr>
          <a:xfrm>
            <a:off x="1014984" y="941832"/>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Bốn thuật ngữ: DDT, OEDR, fallback, ODD; ba tiêu chí: tức thời hay liên tục, một việc hay hai việc, ai nhìn đường ai tiếp quản</a:t>
            </a:r>
            <a:endParaRPr lang="en-US" sz="1550" dirty="0"/>
          </a:p>
        </p:txBody>
      </p:sp>
      <p:sp>
        <p:nvSpPr>
          <p:cNvPr id="6" name="Shape 4"/>
          <p:cNvSpPr/>
          <p:nvPr/>
        </p:nvSpPr>
        <p:spPr>
          <a:xfrm>
            <a:off x="502920" y="1545336"/>
            <a:ext cx="329184" cy="329184"/>
          </a:xfrm>
          <a:prstGeom prst="ellipse">
            <a:avLst/>
          </a:prstGeom>
          <a:solidFill>
            <a:srgbClr val="0B1F3A"/>
          </a:solidFill>
          <a:ln/>
        </p:spPr>
      </p:sp>
      <p:sp>
        <p:nvSpPr>
          <p:cNvPr id="7" name="Text 5"/>
          <p:cNvSpPr txBox="1"/>
          <p:nvPr/>
        </p:nvSpPr>
        <p:spPr>
          <a:xfrm>
            <a:off x="502920" y="157276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8" name="Text 6"/>
          <p:cNvSpPr txBox="1"/>
          <p:nvPr/>
        </p:nvSpPr>
        <p:spPr>
          <a:xfrm>
            <a:off x="1014984" y="1508760"/>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AEB là L0; L5 hiện chưa tồn tại; L2+ là ngôn ngữ tiếp thị</a:t>
            </a:r>
            <a:endParaRPr lang="en-US" sz="1550" dirty="0"/>
          </a:p>
        </p:txBody>
      </p:sp>
      <p:sp>
        <p:nvSpPr>
          <p:cNvPr id="9" name="Shape 7"/>
          <p:cNvSpPr/>
          <p:nvPr/>
        </p:nvSpPr>
        <p:spPr>
          <a:xfrm>
            <a:off x="502920" y="2112264"/>
            <a:ext cx="329184" cy="329184"/>
          </a:xfrm>
          <a:prstGeom prst="ellipse">
            <a:avLst/>
          </a:prstGeom>
          <a:solidFill>
            <a:srgbClr val="0B1F3A"/>
          </a:solidFill>
          <a:ln/>
        </p:spPr>
      </p:sp>
      <p:sp>
        <p:nvSpPr>
          <p:cNvPr id="10" name="Text 8"/>
          <p:cNvSpPr txBox="1"/>
          <p:nvPr/>
        </p:nvSpPr>
        <p:spPr>
          <a:xfrm>
            <a:off x="502920" y="2139696"/>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1" name="Text 9"/>
          <p:cNvSpPr txBox="1"/>
          <p:nvPr/>
        </p:nvSpPr>
        <p:spPr>
          <a:xfrm>
            <a:off x="1014984" y="2075688"/>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Khác biệt L2 và L3 là ai chịu trách nhiệm; khác biệt L3 và L4 là ai tiếp quản</a:t>
            </a:r>
            <a:endParaRPr lang="en-US" sz="1550" dirty="0"/>
          </a:p>
        </p:txBody>
      </p:sp>
      <p:sp>
        <p:nvSpPr>
          <p:cNvPr id="12" name="Shape 10"/>
          <p:cNvSpPr/>
          <p:nvPr/>
        </p:nvSpPr>
        <p:spPr>
          <a:xfrm>
            <a:off x="502920" y="2679192"/>
            <a:ext cx="329184" cy="329184"/>
          </a:xfrm>
          <a:prstGeom prst="ellipse">
            <a:avLst/>
          </a:prstGeom>
          <a:solidFill>
            <a:srgbClr val="0B1F3A"/>
          </a:solidFill>
          <a:ln/>
        </p:spPr>
      </p:sp>
      <p:sp>
        <p:nvSpPr>
          <p:cNvPr id="13" name="Text 11"/>
          <p:cNvSpPr txBox="1"/>
          <p:nvPr/>
        </p:nvSpPr>
        <p:spPr>
          <a:xfrm>
            <a:off x="502920" y="2706624"/>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4" name="Text 12"/>
          <p:cNvSpPr txBox="1"/>
          <p:nvPr/>
        </p:nvSpPr>
        <p:spPr>
          <a:xfrm>
            <a:off x="1014984" y="2642616"/>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Ba bước ngoặt: sửa đường thành sửa xe; luật thành học; tiến độ không phải đường thẳng</a:t>
            </a:r>
            <a:endParaRPr lang="en-US" sz="1550" dirty="0"/>
          </a:p>
        </p:txBody>
      </p:sp>
      <p:sp>
        <p:nvSpPr>
          <p:cNvPr id="15" name="Shape 13"/>
          <p:cNvSpPr/>
          <p:nvPr/>
        </p:nvSpPr>
        <p:spPr>
          <a:xfrm>
            <a:off x="502920" y="3246120"/>
            <a:ext cx="329184" cy="329184"/>
          </a:xfrm>
          <a:prstGeom prst="ellipse">
            <a:avLst/>
          </a:prstGeom>
          <a:solidFill>
            <a:srgbClr val="0B1F3A"/>
          </a:solidFill>
          <a:ln/>
        </p:spPr>
      </p:sp>
      <p:sp>
        <p:nvSpPr>
          <p:cNvPr id="16" name="Text 14"/>
          <p:cNvSpPr txBox="1"/>
          <p:nvPr/>
        </p:nvSpPr>
        <p:spPr>
          <a:xfrm>
            <a:off x="502920" y="3273552"/>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17" name="Text 15"/>
          <p:cNvSpPr txBox="1"/>
          <p:nvPr/>
        </p:nvSpPr>
        <p:spPr>
          <a:xfrm>
            <a:off x="1014984" y="3209544"/>
            <a:ext cx="7589520" cy="420624"/>
          </a:xfrm>
          <a:prstGeom prst="rect">
            <a:avLst/>
          </a:prstGeom>
          <a:noFill/>
          <a:ln/>
        </p:spPr>
        <p:txBody>
          <a:bodyPr wrap="square" lIns="0" tIns="0" rIns="0" bIns="0" rtlCol="0" anchor="ctr"/>
          <a:lstStyle/>
          <a:p>
            <a:pPr indent="0" marL="0">
              <a:buNone/>
            </a:pPr>
            <a:r>
              <a:rPr lang="en-US" sz="1550" dirty="0">
                <a:solidFill>
                  <a:srgbClr val="1A2733"/>
                </a:solidFill>
                <a:latin typeface="Arial" pitchFamily="34" charset="0"/>
                <a:ea typeface="Arial" pitchFamily="34" charset="-122"/>
                <a:cs typeface="Arial" pitchFamily="34" charset="-120"/>
              </a:rPr>
              <a:t>Thí điểm ở Hà Nội mới được duyệt tháng trước, còn sandbox của Đài Loan đã bắt đầu từ 2019</a:t>
            </a:r>
            <a:endParaRPr lang="en-US" sz="1550" dirty="0"/>
          </a:p>
        </p:txBody>
      </p:sp>
      <p:sp>
        <p:nvSpPr>
          <p:cNvPr id="18" name="Shape 16"/>
          <p:cNvSpPr/>
          <p:nvPr/>
        </p:nvSpPr>
        <p:spPr>
          <a:xfrm>
            <a:off x="502920" y="3977640"/>
            <a:ext cx="8138160" cy="603504"/>
          </a:xfrm>
          <a:prstGeom prst="roundRect">
            <a:avLst>
              <a:gd name="adj" fmla="val 13636"/>
            </a:avLst>
          </a:prstGeom>
          <a:solidFill>
            <a:srgbClr val="EAF6F4"/>
          </a:solidFill>
          <a:ln w="12700">
            <a:solidFill>
              <a:srgbClr val="BFE3DD"/>
            </a:solidFill>
            <a:prstDash val="solid"/>
          </a:ln>
        </p:spPr>
      </p:sp>
      <p:sp>
        <p:nvSpPr>
          <p:cNvPr id="19" name="Text 17"/>
          <p:cNvSpPr txBox="1"/>
          <p:nvPr/>
        </p:nvSpPr>
        <p:spPr>
          <a:xfrm>
            <a:off x="758952" y="4069080"/>
            <a:ext cx="7635240" cy="420624"/>
          </a:xfrm>
          <a:prstGeom prst="rect">
            <a:avLst/>
          </a:prstGeom>
          <a:noFill/>
          <a:ln/>
        </p:spPr>
        <p:txBody>
          <a:bodyPr wrap="square" lIns="0" tIns="0" rIns="0" bIns="0" rtlCol="0" anchor="ctr"/>
          <a:lstStyle/>
          <a:p>
            <a:pPr indent="0" marL="0">
              <a:buNone/>
            </a:pPr>
            <a:r>
              <a:rPr lang="en-US" sz="1500" b="1" dirty="0">
                <a:solidFill>
                  <a:srgbClr val="007F72"/>
                </a:solidFill>
                <a:latin typeface="Arial" pitchFamily="34" charset="0"/>
                <a:ea typeface="Arial" pitchFamily="34" charset="-122"/>
                <a:cs typeface="Arial" pitchFamily="34" charset="-120"/>
              </a:rPr>
              <a:t>Nghỉ mười phút. Tiết 3 hỏi trước vì sao cần để máy lái xe, rồi quay về con đường các bạn chạy mỗi ngày.</a:t>
            </a:r>
            <a:endParaRPr lang="en-US" sz="1500" dirty="0"/>
          </a:p>
        </p:txBody>
      </p:sp>
      <p:pic>
        <p:nvPicPr>
          <p:cNvPr id="20"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1" name="Text 18"/>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691640"/>
            <a:ext cx="36576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Tiết 3</a:t>
            </a:r>
            <a:endParaRPr lang="en-US" sz="1400" dirty="0"/>
          </a:p>
        </p:txBody>
      </p:sp>
      <p:sp>
        <p:nvSpPr>
          <p:cNvPr id="5" name="Text 3"/>
          <p:cNvSpPr txBox="1"/>
          <p:nvPr/>
        </p:nvSpPr>
        <p:spPr>
          <a:xfrm>
            <a:off x="502920" y="2048256"/>
            <a:ext cx="731520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Vì sao cần để máy lái xe</a:t>
            </a:r>
            <a:endParaRPr lang="en-US" sz="3400" dirty="0"/>
          </a:p>
        </p:txBody>
      </p:sp>
      <p:sp>
        <p:nvSpPr>
          <p:cNvPr id="6" name="Text 4"/>
          <p:cNvSpPr txBox="1"/>
          <p:nvPr/>
        </p:nvSpPr>
        <p:spPr>
          <a:xfrm>
            <a:off x="502920" y="2907792"/>
            <a:ext cx="7315200" cy="365760"/>
          </a:xfrm>
          <a:prstGeom prst="rect">
            <a:avLst/>
          </a:prstGeom>
          <a:noFill/>
          <a:ln/>
        </p:spPr>
        <p:txBody>
          <a:bodyPr wrap="square" lIns="0" tIns="0" rIns="0" bIns="0" rtlCol="0" anchor="ctr"/>
          <a:lstStyle/>
          <a:p>
            <a:pPr indent="0" marL="0">
              <a:buNone/>
            </a:pPr>
            <a:r>
              <a:rPr lang="en-US" sz="1550" dirty="0">
                <a:solidFill>
                  <a:srgbClr val="AFC3D4"/>
                </a:solidFill>
                <a:latin typeface="Arial" pitchFamily="34" charset="0"/>
                <a:ea typeface="Arial" pitchFamily="34" charset="-122"/>
                <a:cs typeface="Arial" pitchFamily="34" charset="-120"/>
              </a:rPr>
              <a:t>Ba lý do, trong đó hai lý do thường bị nói quá   ｜   giáo trình 1.6</a:t>
            </a:r>
            <a:endParaRPr lang="en-US" sz="1550" dirty="0"/>
          </a:p>
        </p:txBody>
      </p:sp>
      <p:sp>
        <p:nvSpPr>
          <p:cNvPr id="7"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Xem số liệu tai nạn trước</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Năm của dữ liệu khác nhau, khi so sánh phải cẩn thận</a:t>
            </a:r>
            <a:endParaRPr lang="en-US" sz="1350" dirty="0"/>
          </a:p>
        </p:txBody>
      </p:sp>
      <p:sp>
        <p:nvSpPr>
          <p:cNvPr id="4" name="Shape 2"/>
          <p:cNvSpPr/>
          <p:nvPr/>
        </p:nvSpPr>
        <p:spPr>
          <a:xfrm>
            <a:off x="502920" y="1207008"/>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Text 3"/>
          <p:cNvSpPr txBox="1"/>
          <p:nvPr/>
        </p:nvSpPr>
        <p:spPr>
          <a:xfrm>
            <a:off x="685800" y="1435608"/>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1,16 triệu</a:t>
            </a:r>
            <a:endParaRPr lang="en-US" sz="3200" dirty="0"/>
          </a:p>
        </p:txBody>
      </p:sp>
      <p:sp>
        <p:nvSpPr>
          <p:cNvPr id="6" name="Text 4"/>
          <p:cNvSpPr txBox="1"/>
          <p:nvPr/>
        </p:nvSpPr>
        <p:spPr>
          <a:xfrm>
            <a:off x="685800" y="2139696"/>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Tử vong toàn cầu/năm</a:t>
            </a:r>
            <a:endParaRPr lang="en-US" sz="1400" dirty="0"/>
          </a:p>
        </p:txBody>
      </p:sp>
      <p:sp>
        <p:nvSpPr>
          <p:cNvPr id="7" name="Text 5"/>
          <p:cNvSpPr txBox="1"/>
          <p:nvPr/>
        </p:nvSpPr>
        <p:spPr>
          <a:xfrm>
            <a:off x="685800" y="2542032"/>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Ước tính của WHO tháng 7/2026 cho năm 2025. Người đi xe máy chiếm khoảng một phần ba.</a:t>
            </a:r>
            <a:endParaRPr lang="en-US" sz="1200" dirty="0"/>
          </a:p>
        </p:txBody>
      </p:sp>
      <p:sp>
        <p:nvSpPr>
          <p:cNvPr id="8" name="Shape 6"/>
          <p:cNvSpPr/>
          <p:nvPr/>
        </p:nvSpPr>
        <p:spPr>
          <a:xfrm>
            <a:off x="3282696" y="1207008"/>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9" name="Text 7"/>
          <p:cNvSpPr txBox="1"/>
          <p:nvPr/>
        </p:nvSpPr>
        <p:spPr>
          <a:xfrm>
            <a:off x="3465576" y="1435608"/>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2.858</a:t>
            </a:r>
            <a:endParaRPr lang="en-US" sz="3200" dirty="0"/>
          </a:p>
        </p:txBody>
      </p:sp>
      <p:sp>
        <p:nvSpPr>
          <p:cNvPr id="10" name="Text 8"/>
          <p:cNvSpPr txBox="1"/>
          <p:nvPr/>
        </p:nvSpPr>
        <p:spPr>
          <a:xfrm>
            <a:off x="3465576" y="2139696"/>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Tử vong ở Đài Loan 2025</a:t>
            </a:r>
            <a:endParaRPr lang="en-US" sz="1400" dirty="0"/>
          </a:p>
        </p:txBody>
      </p:sp>
      <p:sp>
        <p:nvSpPr>
          <p:cNvPr id="11" name="Text 9"/>
          <p:cNvSpPr txBox="1"/>
          <p:nvPr/>
        </p:nvSpPr>
        <p:spPr>
          <a:xfrm>
            <a:off x="3465576" y="2542032"/>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Chết trong vòng 30 ngày. Xe máy khoảng 60%, tỷ lệ tử vong cao nhất là nhóm trên 65 tuổi.</a:t>
            </a:r>
            <a:endParaRPr lang="en-US" sz="1200" dirty="0"/>
          </a:p>
        </p:txBody>
      </p:sp>
      <p:sp>
        <p:nvSpPr>
          <p:cNvPr id="12" name="Shape 10"/>
          <p:cNvSpPr/>
          <p:nvPr/>
        </p:nvSpPr>
        <p:spPr>
          <a:xfrm>
            <a:off x="6062472" y="1207008"/>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3" name="Text 11"/>
          <p:cNvSpPr txBox="1"/>
          <p:nvPr/>
        </p:nvSpPr>
        <p:spPr>
          <a:xfrm>
            <a:off x="6245352" y="1435608"/>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10.337</a:t>
            </a:r>
            <a:endParaRPr lang="en-US" sz="3200" dirty="0"/>
          </a:p>
        </p:txBody>
      </p:sp>
      <p:sp>
        <p:nvSpPr>
          <p:cNvPr id="14" name="Text 12"/>
          <p:cNvSpPr txBox="1"/>
          <p:nvPr/>
        </p:nvSpPr>
        <p:spPr>
          <a:xfrm>
            <a:off x="6245352" y="2139696"/>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Việt Nam công bố 2025</a:t>
            </a:r>
            <a:endParaRPr lang="en-US" sz="1400" dirty="0"/>
          </a:p>
        </p:txBody>
      </p:sp>
      <p:sp>
        <p:nvSpPr>
          <p:cNvPr id="15" name="Text 13"/>
          <p:cNvSpPr txBox="1"/>
          <p:nvPr/>
        </p:nvSpPr>
        <p:spPr>
          <a:xfrm>
            <a:off x="6245352" y="2542032"/>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Nhưng WHO ước tính cho năm 2021 là 17.229 người, khoảng gấp ba con số công bố năm đó.</a:t>
            </a:r>
            <a:endParaRPr lang="en-US" sz="1200" dirty="0"/>
          </a:p>
        </p:txBody>
      </p:sp>
      <p:sp>
        <p:nvSpPr>
          <p:cNvPr id="16" name="Text 14"/>
          <p:cNvSpPr txBox="1"/>
          <p:nvPr/>
        </p:nvSpPr>
        <p:spPr>
          <a:xfrm>
            <a:off x="502920" y="3767328"/>
            <a:ext cx="8138160" cy="548640"/>
          </a:xfrm>
          <a:prstGeom prst="rect">
            <a:avLst/>
          </a:prstGeom>
          <a:noFill/>
          <a:ln/>
        </p:spPr>
        <p:txBody>
          <a:bodyPr wrap="square" lIns="0" tIns="0" rIns="0" bIns="0" rtlCol="0" anchor="t"/>
          <a:lstStyle/>
          <a:p>
            <a:pPr indent="0" marL="0">
              <a:buNone/>
            </a:pPr>
            <a:r>
              <a:rPr lang="en-US" sz="1250" dirty="0">
                <a:solidFill>
                  <a:srgbClr val="1A2733"/>
                </a:solidFill>
                <a:latin typeface="Arial" pitchFamily="34" charset="0"/>
                <a:ea typeface="Arial" pitchFamily="34" charset="-122"/>
                <a:cs typeface="Arial" pitchFamily="34" charset="-120"/>
              </a:rPr>
              <a:t>Vì sao hai con số của Việt Nam chênh ba lần? “Số báo cáo” và “số ước tính” là hai chuyện khác nhau. Khi làm đồ án, hai loại này không được trộn để so sánh.</a:t>
            </a:r>
            <a:endParaRPr lang="en-US" sz="1250" dirty="0"/>
          </a:p>
        </p:txBody>
      </p:sp>
      <p:pic>
        <p:nvPicPr>
          <p:cNvPr id="17"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8" name="Text 1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457200"/>
            <a:ext cx="5486400" cy="274320"/>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Một câu được trích khắp nơi, nhưng bị trích sai</a:t>
            </a:r>
            <a:endParaRPr lang="en-US" sz="1250" dirty="0"/>
          </a:p>
        </p:txBody>
      </p:sp>
      <p:sp>
        <p:nvSpPr>
          <p:cNvPr id="5" name="Text 3"/>
          <p:cNvSpPr txBox="1"/>
          <p:nvPr/>
        </p:nvSpPr>
        <p:spPr>
          <a:xfrm>
            <a:off x="502920" y="822960"/>
            <a:ext cx="8046720" cy="100584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“94% tai nạn là do lỗi con người”</a:t>
            </a:r>
            <a:endParaRPr lang="en-US" sz="2300" dirty="0"/>
          </a:p>
        </p:txBody>
      </p:sp>
      <p:sp>
        <p:nvSpPr>
          <p:cNvPr id="6" name="Shape 4"/>
          <p:cNvSpPr/>
          <p:nvPr/>
        </p:nvSpPr>
        <p:spPr>
          <a:xfrm>
            <a:off x="502920" y="1975104"/>
            <a:ext cx="3803904" cy="1755648"/>
          </a:xfrm>
          <a:prstGeom prst="roundRect">
            <a:avLst>
              <a:gd name="adj" fmla="val 5208"/>
            </a:avLst>
          </a:prstGeom>
          <a:solidFill>
            <a:srgbClr val="13314F"/>
          </a:solidFill>
          <a:ln w="19050">
            <a:solidFill>
              <a:srgbClr val="FFB020"/>
            </a:solidFill>
            <a:prstDash val="solid"/>
          </a:ln>
        </p:spPr>
      </p:sp>
      <p:sp>
        <p:nvSpPr>
          <p:cNvPr id="7" name="Text 5"/>
          <p:cNvSpPr txBox="1"/>
          <p:nvPr/>
        </p:nvSpPr>
        <p:spPr>
          <a:xfrm>
            <a:off x="740664" y="2139696"/>
            <a:ext cx="3328416" cy="347472"/>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Báo cáo gốc nói gì</a:t>
            </a:r>
            <a:endParaRPr lang="en-US" sz="1700" dirty="0"/>
          </a:p>
        </p:txBody>
      </p:sp>
      <p:sp>
        <p:nvSpPr>
          <p:cNvPr id="8" name="Text 6"/>
          <p:cNvSpPr txBox="1"/>
          <p:nvPr/>
        </p:nvSpPr>
        <p:spPr>
          <a:xfrm>
            <a:off x="740664" y="2542032"/>
            <a:ext cx="3328416" cy="1097280"/>
          </a:xfrm>
          <a:prstGeom prst="rect">
            <a:avLst/>
          </a:prstGeom>
          <a:noFill/>
          <a:ln/>
        </p:spPr>
        <p:txBody>
          <a:bodyPr wrap="square" lIns="0" tIns="0" rIns="0" bIns="0" rtlCol="0" anchor="t"/>
          <a:lstStyle/>
          <a:p>
            <a:pPr indent="0" marL="0">
              <a:buNone/>
            </a:pPr>
            <a:r>
              <a:rPr lang="en-US" sz="1400" dirty="0">
                <a:solidFill>
                  <a:srgbClr val="D8E4EE"/>
                </a:solidFill>
                <a:latin typeface="Arial" pitchFamily="34" charset="0"/>
                <a:ea typeface="Arial" pitchFamily="34" charset="-122"/>
                <a:cs typeface="Arial" pitchFamily="34" charset="-120"/>
              </a:rPr>
              <a:t>NHTSA 2015: “nguyên nhân then chốt” của 94% vụ được quy cho người lái. Nhưng báo cáo nói rõ: đó không phải nguyên nhân gây tai nạn, cũng không phải quy trách nhiệm.</a:t>
            </a:r>
            <a:endParaRPr lang="en-US" sz="1400" dirty="0"/>
          </a:p>
        </p:txBody>
      </p:sp>
      <p:sp>
        <p:nvSpPr>
          <p:cNvPr id="9" name="Shape 7"/>
          <p:cNvSpPr/>
          <p:nvPr/>
        </p:nvSpPr>
        <p:spPr>
          <a:xfrm>
            <a:off x="4599432" y="1975104"/>
            <a:ext cx="3803904" cy="1755648"/>
          </a:xfrm>
          <a:prstGeom prst="roundRect">
            <a:avLst>
              <a:gd name="adj" fmla="val 5208"/>
            </a:avLst>
          </a:prstGeom>
          <a:solidFill>
            <a:srgbClr val="13314F"/>
          </a:solidFill>
          <a:ln w="19050">
            <a:solidFill>
              <a:srgbClr val="00A896"/>
            </a:solidFill>
            <a:prstDash val="solid"/>
          </a:ln>
        </p:spPr>
      </p:sp>
      <p:sp>
        <p:nvSpPr>
          <p:cNvPr id="10" name="Text 8"/>
          <p:cNvSpPr txBox="1"/>
          <p:nvPr/>
        </p:nvSpPr>
        <p:spPr>
          <a:xfrm>
            <a:off x="4837176" y="2139696"/>
            <a:ext cx="3328416" cy="347472"/>
          </a:xfrm>
          <a:prstGeom prst="rect">
            <a:avLst/>
          </a:prstGeom>
          <a:noFill/>
          <a:ln/>
        </p:spPr>
        <p:txBody>
          <a:bodyPr wrap="square" lIns="0" tIns="0" rIns="0" bIns="0" rtlCol="0" anchor="ctr"/>
          <a:lstStyle/>
          <a:p>
            <a:pPr indent="0" marL="0">
              <a:buNone/>
            </a:pPr>
            <a:r>
              <a:rPr lang="en-US" sz="1700" b="1" dirty="0">
                <a:solidFill>
                  <a:srgbClr val="00A896"/>
                </a:solidFill>
                <a:latin typeface="Arial" pitchFamily="34" charset="0"/>
                <a:ea typeface="Arial" pitchFamily="34" charset="-122"/>
                <a:cs typeface="Arial" pitchFamily="34" charset="-120"/>
              </a:rPr>
              <a:t>Sau đó xảy ra chuyện gì</a:t>
            </a:r>
            <a:endParaRPr lang="en-US" sz="1700" dirty="0"/>
          </a:p>
        </p:txBody>
      </p:sp>
      <p:sp>
        <p:nvSpPr>
          <p:cNvPr id="11" name="Text 9"/>
          <p:cNvSpPr txBox="1"/>
          <p:nvPr/>
        </p:nvSpPr>
        <p:spPr>
          <a:xfrm>
            <a:off x="4837176" y="2542032"/>
            <a:ext cx="3328416" cy="1097280"/>
          </a:xfrm>
          <a:prstGeom prst="rect">
            <a:avLst/>
          </a:prstGeom>
          <a:noFill/>
          <a:ln/>
        </p:spPr>
        <p:txBody>
          <a:bodyPr wrap="square" lIns="0" tIns="0" rIns="0" bIns="0" rtlCol="0" anchor="t"/>
          <a:lstStyle/>
          <a:p>
            <a:pPr indent="0" marL="0">
              <a:buNone/>
            </a:pPr>
            <a:r>
              <a:rPr lang="en-US" sz="1400" dirty="0">
                <a:solidFill>
                  <a:srgbClr val="D8E4EE"/>
                </a:solidFill>
                <a:latin typeface="Arial" pitchFamily="34" charset="0"/>
                <a:ea typeface="Arial" pitchFamily="34" charset="-122"/>
                <a:cs typeface="Arial" pitchFamily="34" charset="-120"/>
              </a:rPr>
              <a:t>IIHS 2020 phân tích lại: nếu xe tự lái chỉ cải thiện nhận thức mà sao chép quyết định của người, chỉ tránh được khoảng một phần ba số vụ. Năm 2022 NHTSA gỡ con số này.</a:t>
            </a:r>
            <a:endParaRPr lang="en-US" sz="1400" dirty="0"/>
          </a:p>
        </p:txBody>
      </p:sp>
      <p:sp>
        <p:nvSpPr>
          <p:cNvPr id="12" name="Text 10"/>
          <p:cNvSpPr txBox="1"/>
          <p:nvPr/>
        </p:nvSpPr>
        <p:spPr>
          <a:xfrm>
            <a:off x="502920" y="3950208"/>
            <a:ext cx="8046720" cy="329184"/>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Sau này đi làm, các bạn sẽ liên tục gặp những con số bị trích dẫn méo mó. Nhìn ra được là đã hơn người khác.</a:t>
            </a:r>
            <a:endParaRPr lang="en-US" sz="1400" dirty="0"/>
          </a:p>
        </p:txBody>
      </p:sp>
      <p:sp>
        <p:nvSpPr>
          <p:cNvPr id="13" name="Text 1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Hai lý do còn lại, và mặt trái</a:t>
            </a:r>
            <a:endParaRPr lang="en-US" sz="2700" dirty="0"/>
          </a:p>
        </p:txBody>
      </p:sp>
      <p:sp>
        <p:nvSpPr>
          <p:cNvPr id="3" name="Shape 1"/>
          <p:cNvSpPr/>
          <p:nvPr/>
        </p:nvSpPr>
        <p:spPr>
          <a:xfrm>
            <a:off x="502920" y="960120"/>
            <a:ext cx="1298448" cy="786384"/>
          </a:xfrm>
          <a:prstGeom prst="roundRect">
            <a:avLst>
              <a:gd name="adj" fmla="val 10465"/>
            </a:avLst>
          </a:prstGeom>
          <a:solidFill>
            <a:srgbClr val="0B1F3A"/>
          </a:solidFill>
          <a:ln/>
        </p:spPr>
      </p:sp>
      <p:sp>
        <p:nvSpPr>
          <p:cNvPr id="4" name="Text 2"/>
          <p:cNvSpPr txBox="1"/>
          <p:nvPr/>
        </p:nvSpPr>
        <p:spPr>
          <a:xfrm>
            <a:off x="502920" y="1197864"/>
            <a:ext cx="12984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Già hóa dân số</a:t>
            </a:r>
            <a:endParaRPr lang="en-US" sz="1600" dirty="0"/>
          </a:p>
        </p:txBody>
      </p:sp>
      <p:sp>
        <p:nvSpPr>
          <p:cNvPr id="5" name="Text 3"/>
          <p:cNvSpPr txBox="1"/>
          <p:nvPr/>
        </p:nvSpPr>
        <p:spPr>
          <a:xfrm>
            <a:off x="1984248" y="978408"/>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Cuối 2025 Đài Loan thành xã hội siêu già: người trên 65 chiếm 20% nhưng gần 45% số tử vong giao thông. Với người không lái được, xe tự lái là tự do.</a:t>
            </a:r>
            <a:endParaRPr lang="en-US" sz="1400" dirty="0"/>
          </a:p>
        </p:txBody>
      </p:sp>
      <p:sp>
        <p:nvSpPr>
          <p:cNvPr id="6" name="Shape 4"/>
          <p:cNvSpPr/>
          <p:nvPr/>
        </p:nvSpPr>
        <p:spPr>
          <a:xfrm>
            <a:off x="502920" y="1929384"/>
            <a:ext cx="1298448" cy="786384"/>
          </a:xfrm>
          <a:prstGeom prst="roundRect">
            <a:avLst>
              <a:gd name="adj" fmla="val 10465"/>
            </a:avLst>
          </a:prstGeom>
          <a:solidFill>
            <a:srgbClr val="00A896"/>
          </a:solidFill>
          <a:ln/>
        </p:spPr>
      </p:sp>
      <p:sp>
        <p:nvSpPr>
          <p:cNvPr id="7" name="Text 5"/>
          <p:cNvSpPr txBox="1"/>
          <p:nvPr/>
        </p:nvSpPr>
        <p:spPr>
          <a:xfrm>
            <a:off x="502920" y="2167128"/>
            <a:ext cx="12984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Logistics</a:t>
            </a:r>
            <a:endParaRPr lang="en-US" sz="1600" dirty="0"/>
          </a:p>
        </p:txBody>
      </p:sp>
      <p:sp>
        <p:nvSpPr>
          <p:cNvPr id="8" name="Text 6"/>
          <p:cNvSpPr txBox="1"/>
          <p:nvPr/>
        </p:nvSpPr>
        <p:spPr>
          <a:xfrm>
            <a:off x="1984248" y="1947672"/>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Hiệp hội vận tải nói thiếu tài xế, Cục Thống kê Lao động nói là không giữ được người. Xe tải tự lái chạy không người ở Texas từ 2025.</a:t>
            </a:r>
            <a:endParaRPr lang="en-US" sz="1400" dirty="0"/>
          </a:p>
        </p:txBody>
      </p:sp>
      <p:sp>
        <p:nvSpPr>
          <p:cNvPr id="9" name="Shape 7"/>
          <p:cNvSpPr/>
          <p:nvPr/>
        </p:nvSpPr>
        <p:spPr>
          <a:xfrm>
            <a:off x="502920" y="2898648"/>
            <a:ext cx="1298448" cy="786384"/>
          </a:xfrm>
          <a:prstGeom prst="roundRect">
            <a:avLst>
              <a:gd name="adj" fmla="val 10465"/>
            </a:avLst>
          </a:prstGeom>
          <a:solidFill>
            <a:srgbClr val="FFB020"/>
          </a:solidFill>
          <a:ln/>
        </p:spPr>
      </p:sp>
      <p:sp>
        <p:nvSpPr>
          <p:cNvPr id="10" name="Text 8"/>
          <p:cNvSpPr txBox="1"/>
          <p:nvPr/>
        </p:nvSpPr>
        <p:spPr>
          <a:xfrm>
            <a:off x="502920" y="3136392"/>
            <a:ext cx="1298448" cy="310896"/>
          </a:xfrm>
          <a:prstGeom prst="rect">
            <a:avLst/>
          </a:prstGeom>
          <a:noFill/>
          <a:ln/>
        </p:spPr>
        <p:txBody>
          <a:bodyPr wrap="square" lIns="0" tIns="0" rIns="0" bIns="0" rtlCol="0" anchor="ctr"/>
          <a:lstStyle/>
          <a:p>
            <a:pPr algn="ctr" indent="0" marL="0">
              <a:buNone/>
            </a:pPr>
            <a:r>
              <a:rPr lang="en-US" sz="1600" b="1" dirty="0">
                <a:solidFill>
                  <a:srgbClr val="1A2733"/>
                </a:solidFill>
                <a:latin typeface="Arial" pitchFamily="34" charset="0"/>
                <a:ea typeface="Arial" pitchFamily="34" charset="-122"/>
                <a:cs typeface="Arial" pitchFamily="34" charset="-120"/>
              </a:rPr>
              <a:t>Mặt trái</a:t>
            </a:r>
            <a:endParaRPr lang="en-US" sz="1600" dirty="0"/>
          </a:p>
        </p:txBody>
      </p:sp>
      <p:sp>
        <p:nvSpPr>
          <p:cNvPr id="11" name="Text 9"/>
          <p:cNvSpPr txBox="1"/>
          <p:nvPr/>
        </p:nvSpPr>
        <p:spPr>
          <a:xfrm>
            <a:off x="1984248" y="2916936"/>
            <a:ext cx="6629400" cy="804672"/>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Việc làm, dữ liệu và quyền riêng tư, trách nhiệm mập mờ; “an toàn” chỉ đúng trong ODD: số của Waymo là Phoenix khô, không phải mùa mưa Hà Nội.</a:t>
            </a:r>
            <a:endParaRPr lang="en-US" sz="1400" dirty="0"/>
          </a:p>
        </p:txBody>
      </p:sp>
      <p:sp>
        <p:nvSpPr>
          <p:cNvPr id="12" name="Text 10"/>
          <p:cNvSpPr txBox="1"/>
          <p:nvPr/>
        </p:nvSpPr>
        <p:spPr>
          <a:xfrm>
            <a:off x="502920" y="3977640"/>
            <a:ext cx="8138160" cy="365760"/>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Lý do thứ tư “giảm ùn tắc và khí thải” có bằng chứng yếu nhất: đi xe tiện hơn thì tổng quãng đường lại tăng lên. Giáo trình 1.6 có viết.</a:t>
            </a:r>
            <a:endParaRPr lang="en-US" sz="1400" dirty="0"/>
          </a:p>
        </p:txBody>
      </p:sp>
      <p:pic>
        <p:nvPicPr>
          <p:cNvPr id="13"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4" name="Text 1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691640"/>
            <a:ext cx="36576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Tiết 3</a:t>
            </a:r>
            <a:endParaRPr lang="en-US" sz="1400" dirty="0"/>
          </a:p>
        </p:txBody>
      </p:sp>
      <p:sp>
        <p:nvSpPr>
          <p:cNvPr id="5" name="Text 3"/>
          <p:cNvSpPr txBox="1"/>
          <p:nvPr/>
        </p:nvSpPr>
        <p:spPr>
          <a:xfrm>
            <a:off x="502920" y="2048256"/>
            <a:ext cx="731520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Đường ở Đài Loan và Việt Nam</a:t>
            </a:r>
            <a:endParaRPr lang="en-US" sz="3400" dirty="0"/>
          </a:p>
        </p:txBody>
      </p:sp>
      <p:sp>
        <p:nvSpPr>
          <p:cNvPr id="6" name="Text 4"/>
          <p:cNvSpPr txBox="1"/>
          <p:nvPr/>
        </p:nvSpPr>
        <p:spPr>
          <a:xfrm>
            <a:off x="502920" y="2907792"/>
            <a:ext cx="7315200" cy="365760"/>
          </a:xfrm>
          <a:prstGeom prst="rect">
            <a:avLst/>
          </a:prstGeom>
          <a:noFill/>
          <a:ln/>
        </p:spPr>
        <p:txBody>
          <a:bodyPr wrap="square" lIns="0" tIns="0" rIns="0" bIns="0" rtlCol="0" anchor="ctr"/>
          <a:lstStyle/>
          <a:p>
            <a:pPr indent="0" marL="0">
              <a:buNone/>
            </a:pPr>
            <a:r>
              <a:rPr lang="en-US" sz="1550" dirty="0">
                <a:solidFill>
                  <a:srgbClr val="AFC3D4"/>
                </a:solidFill>
                <a:latin typeface="Arial" pitchFamily="34" charset="0"/>
                <a:ea typeface="Arial" pitchFamily="34" charset="-122"/>
                <a:cs typeface="Arial" pitchFamily="34" charset="-120"/>
              </a:rPr>
              <a:t>Đoạn này không phải tôi dạy các bạn, mà các bạn kể cho tôi   ｜   giáo trình 1.8, hoạt động 1.9</a:t>
            </a:r>
            <a:endParaRPr lang="en-US" sz="1550" dirty="0"/>
          </a:p>
        </p:txBody>
      </p:sp>
      <p:sp>
        <p:nvSpPr>
          <p:cNvPr id="7" name="Text 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Việt Nam: xem vài con số trước</a:t>
            </a:r>
            <a:endParaRPr lang="en-US" sz="2700" dirty="0"/>
          </a:p>
        </p:txBody>
      </p:sp>
      <p:sp>
        <p:nvSpPr>
          <p:cNvPr id="3" name="Shape 1"/>
          <p:cNvSpPr/>
          <p:nvPr/>
        </p:nvSpPr>
        <p:spPr>
          <a:xfrm>
            <a:off x="502920" y="960120"/>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4" name="Text 2"/>
          <p:cNvSpPr txBox="1"/>
          <p:nvPr/>
        </p:nvSpPr>
        <p:spPr>
          <a:xfrm>
            <a:off x="685800" y="1188720"/>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77 triệu</a:t>
            </a:r>
            <a:endParaRPr lang="en-US" sz="3200" dirty="0"/>
          </a:p>
        </p:txBody>
      </p:sp>
      <p:sp>
        <p:nvSpPr>
          <p:cNvPr id="5" name="Text 3"/>
          <p:cNvSpPr txBox="1"/>
          <p:nvPr/>
        </p:nvSpPr>
        <p:spPr>
          <a:xfrm>
            <a:off x="685800" y="1892808"/>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Số xe máy đăng ký</a:t>
            </a:r>
            <a:endParaRPr lang="en-US" sz="1400" dirty="0"/>
          </a:p>
        </p:txBody>
      </p:sp>
      <p:sp>
        <p:nvSpPr>
          <p:cNvPr id="6" name="Text 4"/>
          <p:cNvSpPr txBox="1"/>
          <p:nvPr/>
        </p:nvSpPr>
        <p:spPr>
          <a:xfrm>
            <a:off x="685800" y="2295144"/>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Khoảng 770 xe trên 1.000 dân. Tháng 9/2024, Ủy ban An toàn giao thông Quốc gia.</a:t>
            </a:r>
            <a:endParaRPr lang="en-US" sz="1200" dirty="0"/>
          </a:p>
        </p:txBody>
      </p:sp>
      <p:sp>
        <p:nvSpPr>
          <p:cNvPr id="7" name="Shape 5"/>
          <p:cNvSpPr/>
          <p:nvPr/>
        </p:nvSpPr>
        <p:spPr>
          <a:xfrm>
            <a:off x="3282696" y="960120"/>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8" name="Text 6"/>
          <p:cNvSpPr txBox="1"/>
          <p:nvPr/>
        </p:nvSpPr>
        <p:spPr>
          <a:xfrm>
            <a:off x="3465576" y="1188720"/>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85–90%</a:t>
            </a:r>
            <a:endParaRPr lang="en-US" sz="3200" dirty="0"/>
          </a:p>
        </p:txBody>
      </p:sp>
      <p:sp>
        <p:nvSpPr>
          <p:cNvPr id="9" name="Text 7"/>
          <p:cNvSpPr txBox="1"/>
          <p:nvPr/>
        </p:nvSpPr>
        <p:spPr>
          <a:xfrm>
            <a:off x="3465576" y="1892808"/>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Tỷ lệ xe máy trên đường</a:t>
            </a:r>
            <a:endParaRPr lang="en-US" sz="1400" dirty="0"/>
          </a:p>
        </p:txBody>
      </p:sp>
      <p:sp>
        <p:nvSpPr>
          <p:cNvPr id="10" name="Text 8"/>
          <p:cNvSpPr txBox="1"/>
          <p:nvPr/>
        </p:nvSpPr>
        <p:spPr>
          <a:xfrm>
            <a:off x="3465576" y="2295144"/>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Trong tổng số xe đăng ký, xe máy chiếm khoảng 93–94%.</a:t>
            </a:r>
            <a:endParaRPr lang="en-US" sz="1200" dirty="0"/>
          </a:p>
        </p:txBody>
      </p:sp>
      <p:sp>
        <p:nvSpPr>
          <p:cNvPr id="11" name="Shape 9"/>
          <p:cNvSpPr/>
          <p:nvPr/>
        </p:nvSpPr>
        <p:spPr>
          <a:xfrm>
            <a:off x="6062472" y="960120"/>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2" name="Text 10"/>
          <p:cNvSpPr txBox="1"/>
          <p:nvPr/>
        </p:nvSpPr>
        <p:spPr>
          <a:xfrm>
            <a:off x="6245352" y="1188720"/>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57%</a:t>
            </a:r>
            <a:endParaRPr lang="en-US" sz="3200" dirty="0"/>
          </a:p>
        </p:txBody>
      </p:sp>
      <p:sp>
        <p:nvSpPr>
          <p:cNvPr id="13" name="Text 11"/>
          <p:cNvSpPr txBox="1"/>
          <p:nvPr/>
        </p:nvSpPr>
        <p:spPr>
          <a:xfrm>
            <a:off x="6245352" y="1892808"/>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Nạn nhân đi xe máy</a:t>
            </a:r>
            <a:endParaRPr lang="en-US" sz="1400" dirty="0"/>
          </a:p>
        </p:txBody>
      </p:sp>
      <p:sp>
        <p:nvSpPr>
          <p:cNvPr id="14" name="Text 12"/>
          <p:cNvSpPr txBox="1"/>
          <p:nvPr/>
        </p:nvSpPr>
        <p:spPr>
          <a:xfrm>
            <a:off x="6245352" y="2295144"/>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Năm 2021, hồ sơ quốc gia Việt Nam của WHO.</a:t>
            </a:r>
            <a:endParaRPr lang="en-US" sz="1200" dirty="0"/>
          </a:p>
        </p:txBody>
      </p:sp>
      <p:sp>
        <p:nvSpPr>
          <p:cNvPr id="15" name="Text 13"/>
          <p:cNvSpPr txBox="1"/>
          <p:nvPr/>
        </p:nvSpPr>
        <p:spPr>
          <a:xfrm>
            <a:off x="502920" y="3520440"/>
            <a:ext cx="8138160" cy="548640"/>
          </a:xfrm>
          <a:prstGeom prst="rect">
            <a:avLst/>
          </a:prstGeom>
          <a:noFill/>
          <a:ln/>
        </p:spPr>
        <p:txBody>
          <a:bodyPr wrap="square" lIns="0" tIns="0" rIns="0" bIns="0" rtlCol="0" anchor="t"/>
          <a:lstStyle/>
          <a:p>
            <a:pPr indent="0" marL="0">
              <a:buNone/>
            </a:pPr>
            <a:r>
              <a:rPr lang="en-US" sz="1250" dirty="0">
                <a:solidFill>
                  <a:srgbClr val="1A2733"/>
                </a:solidFill>
                <a:latin typeface="Arial" pitchFamily="34" charset="0"/>
                <a:ea typeface="Arial" pitchFamily="34" charset="-122"/>
                <a:cs typeface="Arial" pitchFamily="34" charset="-120"/>
              </a:rPr>
              <a:t>Hầu hết mô hình nhận thức trên thế giới đều huấn luyện bằng dữ liệu Âu – Mỹ, trên đường toàn ô tô. Đường Việt Nam thì 90% là xe máy. Đây không phải khó hơn một chút, mà là thứ gần như không có trong dữ liệu huấn luyện.</a:t>
            </a:r>
            <a:endParaRPr lang="en-US" sz="1250" dirty="0"/>
          </a:p>
        </p:txBody>
      </p:sp>
      <p:pic>
        <p:nvPicPr>
          <p:cNvPr id="16"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7" name="Text 14"/>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Đài Loan: đặt bên cạnh để so</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Đài Loan là bản thu nhỏ của Việt Nam: cùng một loại bài toán, mức độ thấp hơn một bậc</a:t>
            </a:r>
            <a:endParaRPr lang="en-US" sz="1350" dirty="0"/>
          </a:p>
        </p:txBody>
      </p:sp>
      <p:sp>
        <p:nvSpPr>
          <p:cNvPr id="4" name="Shape 2"/>
          <p:cNvSpPr/>
          <p:nvPr/>
        </p:nvSpPr>
        <p:spPr>
          <a:xfrm>
            <a:off x="502920" y="1207008"/>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Text 3"/>
          <p:cNvSpPr txBox="1"/>
          <p:nvPr/>
        </p:nvSpPr>
        <p:spPr>
          <a:xfrm>
            <a:off x="685800" y="1435608"/>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14 triệu</a:t>
            </a:r>
            <a:endParaRPr lang="en-US" sz="3200" dirty="0"/>
          </a:p>
        </p:txBody>
      </p:sp>
      <p:sp>
        <p:nvSpPr>
          <p:cNvPr id="6" name="Text 4"/>
          <p:cNvSpPr txBox="1"/>
          <p:nvPr/>
        </p:nvSpPr>
        <p:spPr>
          <a:xfrm>
            <a:off x="685800" y="2139696"/>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Số xe máy đăng ký</a:t>
            </a:r>
            <a:endParaRPr lang="en-US" sz="1400" dirty="0"/>
          </a:p>
        </p:txBody>
      </p:sp>
      <p:sp>
        <p:nvSpPr>
          <p:cNvPr id="7" name="Text 5"/>
          <p:cNvSpPr txBox="1"/>
          <p:nvPr/>
        </p:nvSpPr>
        <p:spPr>
          <a:xfrm>
            <a:off x="685800" y="2542032"/>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Khoảng 600 xe trên 1.000 dân, thuộc nhóm cao nhất thế giới, chỉ thấp hơn Việt Nam một bậc.</a:t>
            </a:r>
            <a:endParaRPr lang="en-US" sz="1200" dirty="0"/>
          </a:p>
        </p:txBody>
      </p:sp>
      <p:sp>
        <p:nvSpPr>
          <p:cNvPr id="8" name="Shape 6"/>
          <p:cNvSpPr/>
          <p:nvPr/>
        </p:nvSpPr>
        <p:spPr>
          <a:xfrm>
            <a:off x="3282696" y="1207008"/>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9" name="Text 7"/>
          <p:cNvSpPr txBox="1"/>
          <p:nvPr/>
        </p:nvSpPr>
        <p:spPr>
          <a:xfrm>
            <a:off x="3465576" y="1435608"/>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~60%</a:t>
            </a:r>
            <a:endParaRPr lang="en-US" sz="3200" dirty="0"/>
          </a:p>
        </p:txBody>
      </p:sp>
      <p:sp>
        <p:nvSpPr>
          <p:cNvPr id="10" name="Text 8"/>
          <p:cNvSpPr txBox="1"/>
          <p:nvPr/>
        </p:nvSpPr>
        <p:spPr>
          <a:xfrm>
            <a:off x="3465576" y="2139696"/>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Nạn nhân đi xe máy</a:t>
            </a:r>
            <a:endParaRPr lang="en-US" sz="1400" dirty="0"/>
          </a:p>
        </p:txBody>
      </p:sp>
      <p:sp>
        <p:nvSpPr>
          <p:cNvPr id="11" name="Text 9"/>
          <p:cNvSpPr txBox="1"/>
          <p:nvPr/>
        </p:nvSpPr>
        <p:spPr>
          <a:xfrm>
            <a:off x="3465576" y="2542032"/>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Năm 2025 có 2.858 người (chết trong vòng 30 ngày).</a:t>
            </a:r>
            <a:endParaRPr lang="en-US" sz="1200" dirty="0"/>
          </a:p>
        </p:txBody>
      </p:sp>
      <p:sp>
        <p:nvSpPr>
          <p:cNvPr id="12" name="Shape 10"/>
          <p:cNvSpPr/>
          <p:nvPr/>
        </p:nvSpPr>
        <p:spPr>
          <a:xfrm>
            <a:off x="6062472" y="1207008"/>
            <a:ext cx="2578608" cy="2377440"/>
          </a:xfrm>
          <a:prstGeom prst="roundRect">
            <a:avLst>
              <a:gd name="adj" fmla="val 3846"/>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3" name="Text 11"/>
          <p:cNvSpPr txBox="1"/>
          <p:nvPr/>
        </p:nvSpPr>
        <p:spPr>
          <a:xfrm>
            <a:off x="6245352" y="1435608"/>
            <a:ext cx="2212848" cy="640080"/>
          </a:xfrm>
          <a:prstGeom prst="rect">
            <a:avLst/>
          </a:prstGeom>
          <a:noFill/>
          <a:ln/>
        </p:spPr>
        <p:txBody>
          <a:bodyPr wrap="square" lIns="0" tIns="0" rIns="0" bIns="0" rtlCol="0" anchor="ctr"/>
          <a:lstStyle/>
          <a:p>
            <a:pPr indent="0" marL="0">
              <a:buNone/>
            </a:pPr>
            <a:r>
              <a:rPr lang="en-US" sz="3200" b="1" dirty="0">
                <a:solidFill>
                  <a:srgbClr val="0B1F3A"/>
                </a:solidFill>
                <a:latin typeface="Arial" pitchFamily="34" charset="0"/>
                <a:ea typeface="Arial" pitchFamily="34" charset="-122"/>
                <a:cs typeface="Arial" pitchFamily="34" charset="-120"/>
              </a:rPr>
              <a:t>3 thứ</a:t>
            </a:r>
            <a:endParaRPr lang="en-US" sz="3200" dirty="0"/>
          </a:p>
        </p:txBody>
      </p:sp>
      <p:sp>
        <p:nvSpPr>
          <p:cNvPr id="14" name="Text 12"/>
          <p:cNvSpPr txBox="1"/>
          <p:nvPr/>
        </p:nvSpPr>
        <p:spPr>
          <a:xfrm>
            <a:off x="6245352" y="2139696"/>
            <a:ext cx="2212848" cy="365760"/>
          </a:xfrm>
          <a:prstGeom prst="rect">
            <a:avLst/>
          </a:prstGeom>
          <a:noFill/>
          <a:ln/>
        </p:spPr>
        <p:txBody>
          <a:bodyPr wrap="square" lIns="0" tIns="0" rIns="0" bIns="0" rtlCol="0" anchor="ctr"/>
          <a:lstStyle/>
          <a:p>
            <a:pPr indent="0" marL="0">
              <a:buNone/>
            </a:pPr>
            <a:r>
              <a:rPr lang="en-US" sz="1400" b="1" dirty="0">
                <a:solidFill>
                  <a:srgbClr val="007F72"/>
                </a:solidFill>
                <a:latin typeface="Arial" pitchFamily="34" charset="0"/>
                <a:ea typeface="Arial" pitchFamily="34" charset="-122"/>
                <a:cs typeface="Arial" pitchFamily="34" charset="-120"/>
              </a:rPr>
              <a:t>Ba thứ nhiều như nhau</a:t>
            </a:r>
            <a:endParaRPr lang="en-US" sz="1400" dirty="0"/>
          </a:p>
        </p:txBody>
      </p:sp>
      <p:sp>
        <p:nvSpPr>
          <p:cNvPr id="15" name="Text 13"/>
          <p:cNvSpPr txBox="1"/>
          <p:nvPr/>
        </p:nvSpPr>
        <p:spPr>
          <a:xfrm>
            <a:off x="6245352" y="2542032"/>
            <a:ext cx="2212848" cy="960120"/>
          </a:xfrm>
          <a:prstGeom prst="rect">
            <a:avLst/>
          </a:prstGeom>
          <a:noFill/>
          <a:ln/>
        </p:spPr>
        <p:txBody>
          <a:bodyPr wrap="square" lIns="0" tIns="0" rIns="0" bIns="0" rtlCol="0" anchor="t"/>
          <a:lstStyle/>
          <a:p>
            <a:pPr indent="0" marL="0">
              <a:buNone/>
            </a:pPr>
            <a:r>
              <a:rPr lang="en-US" sz="1200" dirty="0">
                <a:solidFill>
                  <a:srgbClr val="5F7183"/>
                </a:solidFill>
                <a:latin typeface="Arial" pitchFamily="34" charset="0"/>
                <a:ea typeface="Arial" pitchFamily="34" charset="-122"/>
                <a:cs typeface="Arial" pitchFamily="34" charset="-120"/>
              </a:rPr>
              <a:t>Xe máy, mưa (mưa dầm, bão, mưa dông chiều), và ngõ hẻm (hành lang nhà, đỗ xe hai hàng). Khác nhau ở mức độ, không khác về chủng loại.</a:t>
            </a:r>
            <a:endParaRPr lang="en-US" sz="1200" dirty="0"/>
          </a:p>
        </p:txBody>
      </p:sp>
      <p:sp>
        <p:nvSpPr>
          <p:cNvPr id="16" name="Text 14"/>
          <p:cNvSpPr txBox="1"/>
          <p:nvPr/>
        </p:nvSpPr>
        <p:spPr>
          <a:xfrm>
            <a:off x="502920" y="3767328"/>
            <a:ext cx="8138160" cy="548640"/>
          </a:xfrm>
          <a:prstGeom prst="rect">
            <a:avLst/>
          </a:prstGeom>
          <a:noFill/>
          <a:ln/>
        </p:spPr>
        <p:txBody>
          <a:bodyPr wrap="square" lIns="0" tIns="0" rIns="0" bIns="0" rtlCol="0" anchor="t"/>
          <a:lstStyle/>
          <a:p>
            <a:pPr indent="0" marL="0">
              <a:buNone/>
            </a:pPr>
            <a:r>
              <a:rPr lang="en-US" sz="1250" dirty="0">
                <a:solidFill>
                  <a:srgbClr val="1A2733"/>
                </a:solidFill>
                <a:latin typeface="Arial" pitchFamily="34" charset="0"/>
                <a:ea typeface="Arial" pitchFamily="34" charset="-122"/>
                <a:cs typeface="Arial" pitchFamily="34" charset="-120"/>
              </a:rPr>
              <a:t>Mỗi ngày các bạn chạy xe trên đường Đài Loan. Việc ở Đài Loan làm được một cách chật vật, đưa sang Hà Nội sẽ thành thế nào? Phép so sánh này các bạn tự làm được.</a:t>
            </a:r>
            <a:endParaRPr lang="en-US" sz="1250" dirty="0"/>
          </a:p>
        </p:txBody>
      </p:sp>
      <p:pic>
        <p:nvPicPr>
          <p:cNvPr id="17"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8" name="Text 15"/>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0000"/>
        </a:solidFill>
      </p:bgPr>
    </p:bg>
    <p:spTree>
      <p:nvGrpSpPr>
        <p:cNvPr id="1" name=""/>
        <p:cNvGrpSpPr/>
        <p:nvPr/>
      </p:nvGrpSpPr>
      <p:grpSpPr>
        <a:xfrm>
          <a:off x="0" y="0"/>
          <a:ext cx="0" cy="0"/>
          <a:chOff x="0" y="0"/>
          <a:chExt cx="0" cy="0"/>
        </a:xfrm>
      </p:grpSpPr>
      <p:pic>
        <p:nvPicPr>
          <p:cNvPr id="3" name="Hà Nội giờ cao điểm">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
        <p:nvSpPr>
          <p:cNvPr id="3" name="Shape 0"/>
          <p:cNvSpPr/>
          <p:nvPr/>
        </p:nvSpPr>
        <p:spPr>
          <a:xfrm>
            <a:off x="4114800" y="201168"/>
            <a:ext cx="4754880" cy="603504"/>
          </a:xfrm>
          <a:prstGeom prst="roundRect">
            <a:avLst>
              <a:gd name="adj" fmla="val 15152"/>
            </a:avLst>
          </a:prstGeom>
          <a:solidFill>
            <a:srgbClr val="0B1F3A">
              <a:alpha val="80000"/>
            </a:srgbClr>
          </a:solidFill>
          <a:ln/>
        </p:spPr>
      </p:sp>
      <p:sp>
        <p:nvSpPr>
          <p:cNvPr id="4" name="Text 1"/>
          <p:cNvSpPr txBox="1"/>
          <p:nvPr/>
        </p:nvSpPr>
        <p:spPr>
          <a:xfrm>
            <a:off x="4114800" y="219456"/>
            <a:ext cx="475488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Video　Hà Nội giờ cao điểm　1:51</a:t>
            </a:r>
            <a:endParaRPr lang="en-US" sz="1150" dirty="0"/>
          </a:p>
        </p:txBody>
      </p:sp>
      <p:sp>
        <p:nvSpPr>
          <p:cNvPr id="5" name="Text 2"/>
          <p:cNvSpPr txBox="1"/>
          <p:nvPr/>
        </p:nvSpPr>
        <p:spPr>
          <a:xfrm>
            <a:off x="4114800" y="530352"/>
            <a:ext cx="4754880" cy="237744"/>
          </a:xfrm>
          <a:prstGeom prst="rect">
            <a:avLst/>
          </a:prstGeom>
          <a:noFill/>
          <a:ln/>
        </p:spPr>
        <p:txBody>
          <a:bodyPr wrap="square" lIns="0" tIns="0" rIns="0" bIns="0" rtlCol="0" anchor="ctr"/>
          <a:lstStyle/>
          <a:p>
            <a:pPr algn="ctr" indent="0" marL="0">
              <a:buNone/>
            </a:pPr>
            <a:r>
              <a:rPr lang="en-US" sz="950" dirty="0">
                <a:solidFill>
                  <a:srgbClr val="D8E4EE"/>
                </a:solidFill>
                <a:latin typeface="Arial" pitchFamily="34" charset="0"/>
                <a:ea typeface="Arial" pitchFamily="34" charset="-122"/>
                <a:cs typeface="Arial" pitchFamily="34" charset="-120"/>
              </a:rPr>
              <a:t>Bấm một lần để phát · hết phim dừng ở khung cuối</a:t>
            </a:r>
            <a:endParaRPr lang="en-US" sz="950" dirty="0"/>
          </a:p>
        </p:txBody>
      </p:sp>
      <p:sp>
        <p:nvSpPr>
          <p:cNvPr id="6" name="Text 3"/>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960120"/>
            <a:ext cx="5486400" cy="310896"/>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Thảo luận 4 · trọng tâm tiết này</a:t>
            </a:r>
            <a:endParaRPr lang="en-US" sz="1400" dirty="0"/>
          </a:p>
        </p:txBody>
      </p:sp>
      <p:sp>
        <p:nvSpPr>
          <p:cNvPr id="5" name="Text 3"/>
          <p:cNvSpPr txBox="1"/>
          <p:nvPr/>
        </p:nvSpPr>
        <p:spPr>
          <a:xfrm>
            <a:off x="502920" y="1389888"/>
            <a:ext cx="7955280" cy="1371600"/>
          </a:xfrm>
          <a:prstGeom prst="rect">
            <a:avLst/>
          </a:prstGeom>
          <a:noFill/>
          <a:ln/>
        </p:spPr>
        <p:txBody>
          <a:bodyPr wrap="square" lIns="0" tIns="0" rIns="0" bIns="0" rtlCol="0" anchor="t"/>
          <a:lstStyle/>
          <a:p>
            <a:pPr indent="0" marL="0">
              <a:buNone/>
            </a:pPr>
            <a:r>
              <a:rPr lang="en-US" sz="3100" b="1" dirty="0">
                <a:solidFill>
                  <a:srgbClr val="FFFFFF"/>
                </a:solidFill>
                <a:latin typeface="Arial" pitchFamily="34" charset="0"/>
                <a:ea typeface="Arial" pitchFamily="34" charset="-122"/>
                <a:cs typeface="Arial" pitchFamily="34" charset="-120"/>
              </a:rPr>
              <a:t>Bê nguyên xi Waymo sang Hà Nội thì chạy được không? Còn sang Đài Bắc?</a:t>
            </a:r>
            <a:endParaRPr lang="en-US" sz="3100" dirty="0"/>
          </a:p>
        </p:txBody>
      </p:sp>
      <p:sp>
        <p:nvSpPr>
          <p:cNvPr id="6" name="Shape 4"/>
          <p:cNvSpPr/>
          <p:nvPr/>
        </p:nvSpPr>
        <p:spPr>
          <a:xfrm>
            <a:off x="502920" y="2999232"/>
            <a:ext cx="7955280" cy="658368"/>
          </a:xfrm>
          <a:prstGeom prst="roundRect">
            <a:avLst>
              <a:gd name="adj" fmla="val 12500"/>
            </a:avLst>
          </a:prstGeom>
          <a:solidFill>
            <a:srgbClr val="13314F"/>
          </a:solidFill>
          <a:ln w="15240">
            <a:solidFill>
              <a:srgbClr val="00A896"/>
            </a:solidFill>
            <a:prstDash val="solid"/>
          </a:ln>
        </p:spPr>
      </p:sp>
      <p:sp>
        <p:nvSpPr>
          <p:cNvPr id="7" name="Text 5"/>
          <p:cNvSpPr txBox="1"/>
          <p:nvPr/>
        </p:nvSpPr>
        <p:spPr>
          <a:xfrm>
            <a:off x="740664" y="3108960"/>
            <a:ext cx="7498080" cy="457200"/>
          </a:xfrm>
          <a:prstGeom prst="rect">
            <a:avLst/>
          </a:prstGeom>
          <a:noFill/>
          <a:ln/>
        </p:spPr>
        <p:txBody>
          <a:bodyPr wrap="square" lIns="0" tIns="0" rIns="0" bIns="0" rtlCol="0" anchor="ctr"/>
          <a:lstStyle/>
          <a:p>
            <a:pPr indent="0" marL="0">
              <a:buNone/>
            </a:pPr>
            <a:r>
              <a:rPr lang="en-US" sz="1450" dirty="0">
                <a:solidFill>
                  <a:srgbClr val="D8E4EE"/>
                </a:solidFill>
                <a:latin typeface="Arial" pitchFamily="34" charset="0"/>
                <a:ea typeface="Arial" pitchFamily="34" charset="-122"/>
                <a:cs typeface="Arial" pitchFamily="34" charset="-120"/>
              </a:rPr>
              <a:t>Cả lớp cùng làm. Các bạn nêu ví dụ, tôi ghi lên bảng, chia thành cột Đài Loan và cột Việt Nam. Nói bằng tiếng Việt cũng được.</a:t>
            </a:r>
            <a:endParaRPr lang="en-US" sz="1450" dirty="0"/>
          </a:p>
        </p:txBody>
      </p:sp>
      <p:sp>
        <p:nvSpPr>
          <p:cNvPr id="8" name="Text 6"/>
          <p:cNvSpPr txBox="1"/>
          <p:nvPr/>
        </p:nvSpPr>
        <p:spPr>
          <a:xfrm>
            <a:off x="502920" y="3822192"/>
            <a:ext cx="7955280" cy="457200"/>
          </a:xfrm>
          <a:prstGeom prst="rect">
            <a:avLst/>
          </a:prstGeom>
          <a:noFill/>
          <a:ln/>
        </p:spPr>
        <p:txBody>
          <a:bodyPr wrap="square" lIns="0" tIns="0" rIns="0" bIns="0" rtlCol="0" anchor="t"/>
          <a:lstStyle/>
          <a:p>
            <a:pPr indent="0" marL="0">
              <a:buNone/>
            </a:pPr>
            <a:r>
              <a:rPr lang="en-US" sz="1350" i="1" dirty="0">
                <a:solidFill>
                  <a:srgbClr val="9FB6C8"/>
                </a:solidFill>
                <a:latin typeface="Arial" pitchFamily="34" charset="0"/>
                <a:ea typeface="Arial" pitchFamily="34" charset="-122"/>
                <a:cs typeface="Arial" pitchFamily="34" charset="-120"/>
              </a:rPr>
              <a:t>Gợi ý: xe máy, mùa mưa, ngõ hẻm, nắng, hàng quán vỉa hè, vòng xuyến, hành lang nhà, ô chờ rẽ trái. Mỗi rắc rối bạn gặp hằng ngày cũng là rắc rối với chiếc máy tính đó.</a:t>
            </a:r>
            <a:endParaRPr lang="en-US" sz="1350" dirty="0"/>
          </a:p>
        </p:txBody>
      </p:sp>
      <p:sp>
        <p:nvSpPr>
          <p:cNvPr id="9" name="Text 7"/>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Vừa nói xong chính là nội dung học kỳ này</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Cùng một bài toán: Đài Loan là bản thu nhỏ, Việt Nam là bản phóng to</a:t>
            </a:r>
            <a:endParaRPr lang="en-US" sz="13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1188720"/>
                <a:gridCol w="2926080"/>
                <a:gridCol w="2926080"/>
                <a:gridCol w="1097280"/>
              </a:tblGrid>
              <a:tr h="45720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Bài toán</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Đài Loan</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Việt Nam</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Chương</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457200">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Biển xe máy</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Hai chục xe trước đèn đỏ, ô chờ rẽ, xuất phát hình quạt khi đèn xanh; vẫn có làn đường làm khung</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Mười hai xe trong vòng năm mét, không đi theo làn; gần như không có trong dữ liệu huấn luyện</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Ch. 4, 6</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457200">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Mùa mưa và ngập</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Mưa dầm, bão, mưa dông chiều; hầm chui ngập</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Mưa nhiều tháng, ngập trên diện rộng; độ sâu thì không cảm biến nào nhìn ra</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Ch. 3</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457200">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Ngõ hẹp</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Ngõ ở Đài Bắc, hành lang nhà, dưới cầu cạn tín hiệu vệ tinh kém</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Ngõ còn nhiều hơn; chưa ai làm bản đồ HD</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Ch. 3, 5</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457200">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Nóng ẩm</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35–38 độ, độ ẩm 80%; tản nhiệt máy tính căng thẳng</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Trên 35 độ, độ ẩm 90%; quá nóng phải giảm xung chính là phản ứng chậm</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Ch. 8</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457200">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Đường đổi mỗi ngày</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Đào đường, chợ đêm, xe máy đỗ kín vỉa hè</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Thi công, hàng rong, lấn đường; bản đồ tuần sau đã hết hạn</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Ch. 2, 5</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457200">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Nút giao không đèn</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Ló đầu ra thương lượng ở đầu ngõ; luật rõ ràng</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Vòng xuyến dựa vào ánh mắt và tiếng còi; không viết thành luật được</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Ch. 6, 8</a:t>
                      </a:r>
                      <a:endParaRPr lang="en-US" sz="1050" dirty="0">
                        <a:latin typeface="Arial" charset="0"/>
                        <a:ea typeface="Arial" charset="0"/>
                        <a:cs typeface="Arial" charset="0"/>
                      </a:endParaRPr>
                    </a:p>
                  </a:txBody>
                  <a:tcPr marL="76200" marR="76200" marT="50800" marB="508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pic>
        <p:nvPicPr>
          <p:cNvPr id="5"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6" name="Text 2"/>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658368"/>
            <a:ext cx="5943600" cy="292608"/>
          </a:xfrm>
          <a:prstGeom prst="rect">
            <a:avLst/>
          </a:prstGeom>
          <a:noFill/>
          <a:ln/>
        </p:spPr>
        <p:txBody>
          <a:bodyPr wrap="square" lIns="0" tIns="0" rIns="0" bIns="0" rtlCol="0" anchor="ctr"/>
          <a:lstStyle/>
          <a:p>
            <a:pPr indent="0" marL="0">
              <a:buNone/>
            </a:pPr>
            <a:r>
              <a:rPr lang="en-US" sz="1350" b="1" dirty="0">
                <a:solidFill>
                  <a:srgbClr val="FFB020"/>
                </a:solidFill>
                <a:latin typeface="Arial" pitchFamily="34" charset="0"/>
                <a:ea typeface="Arial" pitchFamily="34" charset="-122"/>
                <a:cs typeface="Arial" pitchFamily="34" charset="-120"/>
              </a:rPr>
              <a:t>Đồ án cuối kỳ · giao ngay hôm nay</a:t>
            </a:r>
            <a:endParaRPr lang="en-US" sz="1350" dirty="0"/>
          </a:p>
        </p:txBody>
      </p:sp>
      <p:sp>
        <p:nvSpPr>
          <p:cNvPr id="5" name="Text 3"/>
          <p:cNvSpPr txBox="1"/>
          <p:nvPr/>
        </p:nvSpPr>
        <p:spPr>
          <a:xfrm>
            <a:off x="502920" y="1051560"/>
            <a:ext cx="7955280" cy="91440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Xe tự lái nào chạy được ở Việt Nam?</a:t>
            </a:r>
            <a:endParaRPr lang="en-US" sz="3400" dirty="0"/>
          </a:p>
        </p:txBody>
      </p:sp>
      <p:sp>
        <p:nvSpPr>
          <p:cNvPr id="6" name="Shape 4"/>
          <p:cNvSpPr/>
          <p:nvPr/>
        </p:nvSpPr>
        <p:spPr>
          <a:xfrm>
            <a:off x="502920" y="2084832"/>
            <a:ext cx="1371600" cy="41148"/>
          </a:xfrm>
          <a:prstGeom prst="rect">
            <a:avLst/>
          </a:prstGeom>
          <a:solidFill>
            <a:srgbClr val="FFB020"/>
          </a:solidFill>
          <a:ln/>
        </p:spPr>
      </p:sp>
      <p:sp>
        <p:nvSpPr>
          <p:cNvPr id="7" name="Text 5"/>
          <p:cNvSpPr txBox="1"/>
          <p:nvPr/>
        </p:nvSpPr>
        <p:spPr>
          <a:xfrm>
            <a:off x="502920" y="2331720"/>
            <a:ext cx="7955280" cy="365760"/>
          </a:xfrm>
          <a:prstGeom prst="rect">
            <a:avLst/>
          </a:prstGeom>
          <a:noFill/>
          <a:ln/>
        </p:spPr>
        <p:txBody>
          <a:bodyPr wrap="square" lIns="0" tIns="0" rIns="0" bIns="0" rtlCol="0" anchor="ctr"/>
          <a:lstStyle/>
          <a:p>
            <a:pPr indent="0" marL="0">
              <a:buNone/>
            </a:pPr>
            <a:r>
              <a:rPr lang="en-US" sz="1500" dirty="0">
                <a:solidFill>
                  <a:srgbClr val="CFDDE8"/>
                </a:solidFill>
                <a:latin typeface="Arial" pitchFamily="34" charset="0"/>
                <a:ea typeface="Arial" pitchFamily="34" charset="-122"/>
                <a:cs typeface="Arial" pitchFamily="34" charset="-120"/>
              </a:rPr>
              <a:t>Câu hỏi này theo các bạn suốt 18 tuần; học xong mỗi chương hãy hỏi lại một lần.</a:t>
            </a:r>
            <a:endParaRPr lang="en-US" sz="1500" dirty="0"/>
          </a:p>
        </p:txBody>
      </p:sp>
      <p:sp>
        <p:nvSpPr>
          <p:cNvPr id="8" name="Text 6"/>
          <p:cNvSpPr txBox="1"/>
          <p:nvPr/>
        </p:nvSpPr>
        <p:spPr>
          <a:xfrm>
            <a:off x="502920" y="2734056"/>
            <a:ext cx="7955280" cy="365760"/>
          </a:xfrm>
          <a:prstGeom prst="rect">
            <a:avLst/>
          </a:prstGeom>
          <a:noFill/>
          <a:ln/>
        </p:spPr>
        <p:txBody>
          <a:bodyPr wrap="square" lIns="0" tIns="0" rIns="0" bIns="0" rtlCol="0" anchor="ctr"/>
          <a:lstStyle/>
          <a:p>
            <a:pPr indent="0" marL="0">
              <a:buNone/>
            </a:pPr>
            <a:r>
              <a:rPr lang="en-US" sz="1500" dirty="0">
                <a:solidFill>
                  <a:srgbClr val="CFDDE8"/>
                </a:solidFill>
                <a:latin typeface="Arial" pitchFamily="34" charset="0"/>
                <a:ea typeface="Arial" pitchFamily="34" charset="-122"/>
                <a:cs typeface="Arial" pitchFamily="34" charset="-120"/>
              </a:rPr>
              <a:t>Chọn một tình huống cụ thể: khu Hòa Lạc, một tuyến đường, hoặc một khu dân cư.</a:t>
            </a:r>
            <a:endParaRPr lang="en-US" sz="1500" dirty="0"/>
          </a:p>
        </p:txBody>
      </p:sp>
      <p:sp>
        <p:nvSpPr>
          <p:cNvPr id="9" name="Text 7"/>
          <p:cNvSpPr txBox="1"/>
          <p:nvPr/>
        </p:nvSpPr>
        <p:spPr>
          <a:xfrm>
            <a:off x="502920" y="3136392"/>
            <a:ext cx="7955280" cy="365760"/>
          </a:xfrm>
          <a:prstGeom prst="rect">
            <a:avLst/>
          </a:prstGeom>
          <a:noFill/>
          <a:ln/>
        </p:spPr>
        <p:txBody>
          <a:bodyPr wrap="square" lIns="0" tIns="0" rIns="0" bIns="0" rtlCol="0" anchor="ctr"/>
          <a:lstStyle/>
          <a:p>
            <a:pPr indent="0" marL="0">
              <a:buNone/>
            </a:pPr>
            <a:r>
              <a:rPr lang="en-US" sz="1500" dirty="0">
                <a:solidFill>
                  <a:srgbClr val="CFDDE8"/>
                </a:solidFill>
                <a:latin typeface="Arial" pitchFamily="34" charset="0"/>
                <a:ea typeface="Arial" pitchFamily="34" charset="-122"/>
                <a:cs typeface="Arial" pitchFamily="34" charset="-120"/>
              </a:rPr>
              <a:t>Nộp: ODD, cảm biến, 3 tình huống khó nhất, 1 bước làm ngay. Tuần 17 báo cáo.</a:t>
            </a:r>
            <a:endParaRPr lang="en-US" sz="1500" dirty="0"/>
          </a:p>
        </p:txBody>
      </p:sp>
      <p:sp>
        <p:nvSpPr>
          <p:cNvPr id="10" name="Shape 8"/>
          <p:cNvSpPr/>
          <p:nvPr/>
        </p:nvSpPr>
        <p:spPr>
          <a:xfrm>
            <a:off x="502920" y="3767328"/>
            <a:ext cx="7955280" cy="713232"/>
          </a:xfrm>
          <a:prstGeom prst="roundRect">
            <a:avLst>
              <a:gd name="adj" fmla="val 11538"/>
            </a:avLst>
          </a:prstGeom>
          <a:solidFill>
            <a:srgbClr val="13314F"/>
          </a:solidFill>
          <a:ln w="15240">
            <a:solidFill>
              <a:srgbClr val="00A896"/>
            </a:solidFill>
            <a:prstDash val="solid"/>
          </a:ln>
        </p:spPr>
      </p:sp>
      <p:sp>
        <p:nvSpPr>
          <p:cNvPr id="11" name="Text 9"/>
          <p:cNvSpPr txBox="1"/>
          <p:nvPr/>
        </p:nvSpPr>
        <p:spPr>
          <a:xfrm>
            <a:off x="740664" y="3840480"/>
            <a:ext cx="7498080" cy="566928"/>
          </a:xfrm>
          <a:prstGeom prst="rect">
            <a:avLst/>
          </a:prstGeom>
          <a:noFill/>
          <a:ln/>
        </p:spPr>
        <p:txBody>
          <a:bodyPr wrap="square" lIns="0" tIns="0" rIns="0" bIns="0" rtlCol="0" anchor="ctr"/>
          <a:lstStyle/>
          <a:p>
            <a:pPr indent="0" marL="0">
              <a:buNone/>
            </a:pPr>
            <a:r>
              <a:rPr lang="en-US" sz="1350" b="1" dirty="0">
                <a:solidFill>
                  <a:srgbClr val="00A896"/>
                </a:solidFill>
                <a:latin typeface="Arial" pitchFamily="34" charset="0"/>
                <a:ea typeface="Arial" pitchFamily="34" charset="-122"/>
                <a:cs typeface="Arial" pitchFamily="34" charset="-120"/>
              </a:rPr>
              <a:t>Không có đáp án chuẩn. Và các bạn có tư cách trả lời hơn phần lớn kỹ sư trên thế giới, vì đó là con đường ở nhà các bạn.</a:t>
            </a:r>
            <a:endParaRPr lang="en-US" sz="1350" dirty="0"/>
          </a:p>
        </p:txBody>
      </p:sp>
      <p:sp>
        <p:nvSpPr>
          <p:cNvPr id="12" name="Text 10"/>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Hoạt động 1: cho tôi biết nền tảng của bạn</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Không có đúng sai, hãy trả lời thật. Câu trả lời quyết định các buổi thực hành sau sẽ bắt đầu từ mức cơ bản đến đâu.</a:t>
            </a:r>
            <a:endParaRPr lang="en-US" sz="1350" dirty="0"/>
          </a:p>
        </p:txBody>
      </p:sp>
      <p:sp>
        <p:nvSpPr>
          <p:cNvPr id="4" name="Shape 2"/>
          <p:cNvSpPr/>
          <p:nvPr/>
        </p:nvSpPr>
        <p:spPr>
          <a:xfrm>
            <a:off x="502920" y="1207008"/>
            <a:ext cx="8138160" cy="786384"/>
          </a:xfrm>
          <a:prstGeom prst="roundRect">
            <a:avLst>
              <a:gd name="adj" fmla="val 1162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Shape 3"/>
          <p:cNvSpPr/>
          <p:nvPr/>
        </p:nvSpPr>
        <p:spPr>
          <a:xfrm>
            <a:off x="722376" y="1380744"/>
            <a:ext cx="438912" cy="438912"/>
          </a:xfrm>
          <a:prstGeom prst="ellipse">
            <a:avLst/>
          </a:prstGeom>
          <a:solidFill>
            <a:srgbClr val="0B1F3A"/>
          </a:solidFill>
          <a:ln/>
        </p:spPr>
      </p:sp>
      <p:sp>
        <p:nvSpPr>
          <p:cNvPr id="6" name="Text 4"/>
          <p:cNvSpPr txBox="1"/>
          <p:nvPr/>
        </p:nvSpPr>
        <p:spPr>
          <a:xfrm>
            <a:off x="722376" y="1463040"/>
            <a:ext cx="438912"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07592" y="1298448"/>
            <a:ext cx="7040880" cy="292608"/>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Bạn đã viết Python bao giờ chưa?</a:t>
            </a:r>
            <a:endParaRPr lang="en-US" sz="1500" dirty="0"/>
          </a:p>
        </p:txBody>
      </p:sp>
      <p:sp>
        <p:nvSpPr>
          <p:cNvPr id="8" name="Text 6"/>
          <p:cNvSpPr txBox="1"/>
          <p:nvPr/>
        </p:nvSpPr>
        <p:spPr>
          <a:xfrm>
            <a:off x="1307592" y="1618488"/>
            <a:ext cx="7040880" cy="274320"/>
          </a:xfrm>
          <a:prstGeom prst="rect">
            <a:avLst/>
          </a:prstGeom>
          <a:noFill/>
          <a:ln/>
        </p:spPr>
        <p:txBody>
          <a:bodyPr wrap="square" lIns="0" tIns="0" rIns="0" bIns="0" rtlCol="0" anchor="ctr"/>
          <a:lstStyle/>
          <a:p>
            <a:pPr indent="0" marL="0">
              <a:buNone/>
            </a:pPr>
            <a:r>
              <a:rPr lang="en-US" sz="1350" dirty="0">
                <a:solidFill>
                  <a:srgbClr val="007F72"/>
                </a:solidFill>
                <a:latin typeface="Arial" pitchFamily="34" charset="0"/>
                <a:ea typeface="Arial" pitchFamily="34" charset="-122"/>
                <a:cs typeface="Arial" pitchFamily="34" charset="-120"/>
              </a:rPr>
              <a:t>Hoàn toàn chưa   ／   Có học nhưng không rành   ／   Tự viết chương trình rồi</a:t>
            </a:r>
            <a:endParaRPr lang="en-US" sz="1350" dirty="0"/>
          </a:p>
        </p:txBody>
      </p:sp>
      <p:sp>
        <p:nvSpPr>
          <p:cNvPr id="9" name="Shape 7"/>
          <p:cNvSpPr/>
          <p:nvPr/>
        </p:nvSpPr>
        <p:spPr>
          <a:xfrm>
            <a:off x="502920" y="2103120"/>
            <a:ext cx="8138160" cy="786384"/>
          </a:xfrm>
          <a:prstGeom prst="roundRect">
            <a:avLst>
              <a:gd name="adj" fmla="val 1162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722376" y="2276856"/>
            <a:ext cx="438912" cy="438912"/>
          </a:xfrm>
          <a:prstGeom prst="ellipse">
            <a:avLst/>
          </a:prstGeom>
          <a:solidFill>
            <a:srgbClr val="0B1F3A"/>
          </a:solidFill>
          <a:ln/>
        </p:spPr>
      </p:sp>
      <p:sp>
        <p:nvSpPr>
          <p:cNvPr id="11" name="Text 9"/>
          <p:cNvSpPr txBox="1"/>
          <p:nvPr/>
        </p:nvSpPr>
        <p:spPr>
          <a:xfrm>
            <a:off x="722376" y="2359152"/>
            <a:ext cx="438912"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1307592" y="2194560"/>
            <a:ext cx="7040880" cy="292608"/>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Bạn đã dùng Linux hoặc cửa sổ dòng lệnh chưa?</a:t>
            </a:r>
            <a:endParaRPr lang="en-US" sz="1500" dirty="0"/>
          </a:p>
        </p:txBody>
      </p:sp>
      <p:sp>
        <p:nvSpPr>
          <p:cNvPr id="13" name="Text 11"/>
          <p:cNvSpPr txBox="1"/>
          <p:nvPr/>
        </p:nvSpPr>
        <p:spPr>
          <a:xfrm>
            <a:off x="1307592" y="2514600"/>
            <a:ext cx="7040880" cy="274320"/>
          </a:xfrm>
          <a:prstGeom prst="rect">
            <a:avLst/>
          </a:prstGeom>
          <a:noFill/>
          <a:ln/>
        </p:spPr>
        <p:txBody>
          <a:bodyPr wrap="square" lIns="0" tIns="0" rIns="0" bIns="0" rtlCol="0" anchor="ctr"/>
          <a:lstStyle/>
          <a:p>
            <a:pPr indent="0" marL="0">
              <a:buNone/>
            </a:pPr>
            <a:r>
              <a:rPr lang="en-US" sz="1350" dirty="0">
                <a:solidFill>
                  <a:srgbClr val="007F72"/>
                </a:solidFill>
                <a:latin typeface="Arial" pitchFamily="34" charset="0"/>
                <a:ea typeface="Arial" pitchFamily="34" charset="-122"/>
                <a:cs typeface="Arial" pitchFamily="34" charset="-120"/>
              </a:rPr>
              <a:t>Chưa   ／   Dùng qua một chút   ／   Rất rành</a:t>
            </a:r>
            <a:endParaRPr lang="en-US" sz="1350" dirty="0"/>
          </a:p>
        </p:txBody>
      </p:sp>
      <p:sp>
        <p:nvSpPr>
          <p:cNvPr id="14" name="Shape 12"/>
          <p:cNvSpPr/>
          <p:nvPr/>
        </p:nvSpPr>
        <p:spPr>
          <a:xfrm>
            <a:off x="502920" y="2999232"/>
            <a:ext cx="8138160" cy="786384"/>
          </a:xfrm>
          <a:prstGeom prst="roundRect">
            <a:avLst>
              <a:gd name="adj" fmla="val 11628"/>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5" name="Shape 13"/>
          <p:cNvSpPr/>
          <p:nvPr/>
        </p:nvSpPr>
        <p:spPr>
          <a:xfrm>
            <a:off x="722376" y="3172968"/>
            <a:ext cx="438912" cy="438912"/>
          </a:xfrm>
          <a:prstGeom prst="ellipse">
            <a:avLst/>
          </a:prstGeom>
          <a:solidFill>
            <a:srgbClr val="0B1F3A"/>
          </a:solidFill>
          <a:ln/>
        </p:spPr>
      </p:sp>
      <p:sp>
        <p:nvSpPr>
          <p:cNvPr id="16" name="Text 14"/>
          <p:cNvSpPr txBox="1"/>
          <p:nvPr/>
        </p:nvSpPr>
        <p:spPr>
          <a:xfrm>
            <a:off x="722376" y="3255264"/>
            <a:ext cx="438912"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307592" y="3090672"/>
            <a:ext cx="7040880" cy="292608"/>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Bạn đã tháo linh kiện điện tử trên xe bao giờ chưa?</a:t>
            </a:r>
            <a:endParaRPr lang="en-US" sz="1500" dirty="0"/>
          </a:p>
        </p:txBody>
      </p:sp>
      <p:sp>
        <p:nvSpPr>
          <p:cNvPr id="18" name="Text 16"/>
          <p:cNvSpPr txBox="1"/>
          <p:nvPr/>
        </p:nvSpPr>
        <p:spPr>
          <a:xfrm>
            <a:off x="1307592" y="3410712"/>
            <a:ext cx="7040880" cy="274320"/>
          </a:xfrm>
          <a:prstGeom prst="rect">
            <a:avLst/>
          </a:prstGeom>
          <a:noFill/>
          <a:ln/>
        </p:spPr>
        <p:txBody>
          <a:bodyPr wrap="square" lIns="0" tIns="0" rIns="0" bIns="0" rtlCol="0" anchor="ctr"/>
          <a:lstStyle/>
          <a:p>
            <a:pPr indent="0" marL="0">
              <a:buNone/>
            </a:pPr>
            <a:r>
              <a:rPr lang="en-US" sz="1350" dirty="0">
                <a:solidFill>
                  <a:srgbClr val="007F72"/>
                </a:solidFill>
                <a:latin typeface="Arial" pitchFamily="34" charset="0"/>
                <a:ea typeface="Arial" pitchFamily="34" charset="-122"/>
                <a:cs typeface="Arial" pitchFamily="34" charset="-120"/>
              </a:rPr>
              <a:t>Chưa   ／   Xem người khác tháo   ／   Tự tay tháo rồi</a:t>
            </a:r>
            <a:endParaRPr lang="en-US" sz="1350" dirty="0"/>
          </a:p>
        </p:txBody>
      </p:sp>
      <p:sp>
        <p:nvSpPr>
          <p:cNvPr id="19" name="Text 17"/>
          <p:cNvSpPr txBox="1"/>
          <p:nvPr/>
        </p:nvSpPr>
        <p:spPr>
          <a:xfrm>
            <a:off x="502920" y="3950208"/>
            <a:ext cx="8138160" cy="502920"/>
          </a:xfrm>
          <a:prstGeom prst="rect">
            <a:avLst/>
          </a:prstGeom>
          <a:noFill/>
          <a:ln/>
        </p:spPr>
        <p:txBody>
          <a:bodyPr wrap="square" lIns="0" tIns="0" rIns="0" bIns="0" rtlCol="0" anchor="t"/>
          <a:lstStyle/>
          <a:p>
            <a:pPr indent="0" marL="0">
              <a:buNone/>
            </a:pPr>
            <a:r>
              <a:rPr lang="en-US" sz="1300" dirty="0">
                <a:solidFill>
                  <a:srgbClr val="5F7183"/>
                </a:solidFill>
                <a:latin typeface="Arial" pitchFamily="34" charset="0"/>
                <a:ea typeface="Arial" pitchFamily="34" charset="-122"/>
                <a:cs typeface="Arial" pitchFamily="34" charset="-120"/>
              </a:rPr>
              <a:t>Nếu cả lớp chưa ai viết Python thì chúng ta bắt đầu từ “biến là gì”, không có gì phải ngại.</a:t>
            </a:r>
            <a:endParaRPr lang="en-US" sz="1300" dirty="0"/>
          </a:p>
        </p:txBody>
      </p:sp>
      <p:pic>
        <p:nvPicPr>
          <p:cNvPr id="20"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1" name="Text 18"/>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Hoạt động 2: đây là L mấy?</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Bốn người một nhóm, thảo luận ba phút. Quan trọng không phải đoán đúng, mà là nói được lý do.</a:t>
            </a:r>
            <a:endParaRPr lang="en-US" sz="1350" dirty="0"/>
          </a:p>
        </p:txBody>
      </p:sp>
      <p:sp>
        <p:nvSpPr>
          <p:cNvPr id="4" name="Shape 2"/>
          <p:cNvSpPr/>
          <p:nvPr/>
        </p:nvSpPr>
        <p:spPr>
          <a:xfrm>
            <a:off x="502920" y="1207008"/>
            <a:ext cx="3950208" cy="1060704"/>
          </a:xfrm>
          <a:prstGeom prst="roundRect">
            <a:avLst>
              <a:gd name="adj" fmla="val 8621"/>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Shape 3"/>
          <p:cNvSpPr/>
          <p:nvPr/>
        </p:nvSpPr>
        <p:spPr>
          <a:xfrm>
            <a:off x="685800" y="1371600"/>
            <a:ext cx="384048" cy="384048"/>
          </a:xfrm>
          <a:prstGeom prst="ellipse">
            <a:avLst/>
          </a:prstGeom>
          <a:solidFill>
            <a:srgbClr val="FFB020"/>
          </a:solidFill>
          <a:ln/>
        </p:spPr>
      </p:sp>
      <p:sp>
        <p:nvSpPr>
          <p:cNvPr id="6" name="Text 4"/>
          <p:cNvSpPr txBox="1"/>
          <p:nvPr/>
        </p:nvSpPr>
        <p:spPr>
          <a:xfrm>
            <a:off x="685800" y="1426464"/>
            <a:ext cx="384048" cy="274320"/>
          </a:xfrm>
          <a:prstGeom prst="rect">
            <a:avLst/>
          </a:prstGeom>
          <a:noFill/>
          <a:ln/>
        </p:spPr>
        <p:txBody>
          <a:bodyPr wrap="square" lIns="0" tIns="0" rIns="0" bIns="0" rtlCol="0" anchor="ctr"/>
          <a:lstStyle/>
          <a:p>
            <a:pPr algn="ctr" indent="0" marL="0">
              <a:buNone/>
            </a:pPr>
            <a:r>
              <a:rPr lang="en-US" sz="1300" b="1" dirty="0">
                <a:solidFill>
                  <a:srgbClr val="3A2A00"/>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179576" y="1325880"/>
            <a:ext cx="3072384" cy="841248"/>
          </a:xfrm>
          <a:prstGeom prst="rect">
            <a:avLst/>
          </a:prstGeom>
          <a:noFill/>
          <a:ln/>
        </p:spPr>
        <p:txBody>
          <a:bodyPr wrap="square" lIns="0" tIns="0" rIns="0" bIns="0" rtlCol="0" anchor="t"/>
          <a:lstStyle/>
          <a:p>
            <a:pPr indent="0" marL="0">
              <a:buNone/>
            </a:pPr>
            <a:r>
              <a:rPr lang="en-US" sz="1350" dirty="0">
                <a:solidFill>
                  <a:srgbClr val="1A2733"/>
                </a:solidFill>
                <a:latin typeface="Arial" pitchFamily="34" charset="0"/>
                <a:ea typeface="Arial" pitchFamily="34" charset="-122"/>
                <a:cs typeface="Arial" pitchFamily="34" charset="-120"/>
              </a:rPr>
              <a:t>Xe tự giữ giữa làn và giữ khoảng cách với xe trước, nhưng màn hình liên tục nhắc bạn đặt tay lên vô-lăng.</a:t>
            </a:r>
            <a:endParaRPr lang="en-US" sz="1350" dirty="0"/>
          </a:p>
        </p:txBody>
      </p:sp>
      <p:sp>
        <p:nvSpPr>
          <p:cNvPr id="8" name="Shape 6"/>
          <p:cNvSpPr/>
          <p:nvPr/>
        </p:nvSpPr>
        <p:spPr>
          <a:xfrm>
            <a:off x="4690872" y="1207008"/>
            <a:ext cx="3950208" cy="1060704"/>
          </a:xfrm>
          <a:prstGeom prst="roundRect">
            <a:avLst>
              <a:gd name="adj" fmla="val 8621"/>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9" name="Shape 7"/>
          <p:cNvSpPr/>
          <p:nvPr/>
        </p:nvSpPr>
        <p:spPr>
          <a:xfrm>
            <a:off x="4873752" y="1371600"/>
            <a:ext cx="384048" cy="384048"/>
          </a:xfrm>
          <a:prstGeom prst="ellipse">
            <a:avLst/>
          </a:prstGeom>
          <a:solidFill>
            <a:srgbClr val="FFB020"/>
          </a:solidFill>
          <a:ln/>
        </p:spPr>
      </p:sp>
      <p:sp>
        <p:nvSpPr>
          <p:cNvPr id="10" name="Text 8"/>
          <p:cNvSpPr txBox="1"/>
          <p:nvPr/>
        </p:nvSpPr>
        <p:spPr>
          <a:xfrm>
            <a:off x="4873752" y="1426464"/>
            <a:ext cx="384048" cy="274320"/>
          </a:xfrm>
          <a:prstGeom prst="rect">
            <a:avLst/>
          </a:prstGeom>
          <a:noFill/>
          <a:ln/>
        </p:spPr>
        <p:txBody>
          <a:bodyPr wrap="square" lIns="0" tIns="0" rIns="0" bIns="0" rtlCol="0" anchor="ctr"/>
          <a:lstStyle/>
          <a:p>
            <a:pPr algn="ctr" indent="0" marL="0">
              <a:buNone/>
            </a:pPr>
            <a:r>
              <a:rPr lang="en-US" sz="1300" b="1" dirty="0">
                <a:solidFill>
                  <a:srgbClr val="3A2A00"/>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367528" y="1325880"/>
            <a:ext cx="3072384" cy="841248"/>
          </a:xfrm>
          <a:prstGeom prst="rect">
            <a:avLst/>
          </a:prstGeom>
          <a:noFill/>
          <a:ln/>
        </p:spPr>
        <p:txBody>
          <a:bodyPr wrap="square" lIns="0" tIns="0" rIns="0" bIns="0" rtlCol="0" anchor="t"/>
          <a:lstStyle/>
          <a:p>
            <a:pPr indent="0" marL="0">
              <a:buNone/>
            </a:pPr>
            <a:r>
              <a:rPr lang="en-US" sz="1350" dirty="0">
                <a:solidFill>
                  <a:srgbClr val="1A2733"/>
                </a:solidFill>
                <a:latin typeface="Arial" pitchFamily="34" charset="0"/>
                <a:ea typeface="Arial" pitchFamily="34" charset="-122"/>
                <a:cs typeface="Arial" pitchFamily="34" charset="-120"/>
              </a:rPr>
              <a:t>Xe chỉ tự đạp phanh khi bạn sắp tông vào xe phía trước, những lúc khác đều do bạn lái.</a:t>
            </a:r>
            <a:endParaRPr lang="en-US" sz="1350" dirty="0"/>
          </a:p>
        </p:txBody>
      </p:sp>
      <p:sp>
        <p:nvSpPr>
          <p:cNvPr id="12" name="Shape 10"/>
          <p:cNvSpPr/>
          <p:nvPr/>
        </p:nvSpPr>
        <p:spPr>
          <a:xfrm>
            <a:off x="502920" y="2414016"/>
            <a:ext cx="3950208" cy="1060704"/>
          </a:xfrm>
          <a:prstGeom prst="roundRect">
            <a:avLst>
              <a:gd name="adj" fmla="val 8621"/>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3" name="Shape 11"/>
          <p:cNvSpPr/>
          <p:nvPr/>
        </p:nvSpPr>
        <p:spPr>
          <a:xfrm>
            <a:off x="685800" y="2578608"/>
            <a:ext cx="384048" cy="384048"/>
          </a:xfrm>
          <a:prstGeom prst="ellipse">
            <a:avLst/>
          </a:prstGeom>
          <a:solidFill>
            <a:srgbClr val="FFB020"/>
          </a:solidFill>
          <a:ln/>
        </p:spPr>
      </p:sp>
      <p:sp>
        <p:nvSpPr>
          <p:cNvPr id="14" name="Text 12"/>
          <p:cNvSpPr txBox="1"/>
          <p:nvPr/>
        </p:nvSpPr>
        <p:spPr>
          <a:xfrm>
            <a:off x="685800" y="2633472"/>
            <a:ext cx="384048" cy="274320"/>
          </a:xfrm>
          <a:prstGeom prst="rect">
            <a:avLst/>
          </a:prstGeom>
          <a:noFill/>
          <a:ln/>
        </p:spPr>
        <p:txBody>
          <a:bodyPr wrap="square" lIns="0" tIns="0" rIns="0" bIns="0" rtlCol="0" anchor="ctr"/>
          <a:lstStyle/>
          <a:p>
            <a:pPr algn="ctr" indent="0" marL="0">
              <a:buNone/>
            </a:pPr>
            <a:r>
              <a:rPr lang="en-US" sz="1300" b="1" dirty="0">
                <a:solidFill>
                  <a:srgbClr val="3A2A00"/>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1179576" y="2532888"/>
            <a:ext cx="3072384" cy="841248"/>
          </a:xfrm>
          <a:prstGeom prst="rect">
            <a:avLst/>
          </a:prstGeom>
          <a:noFill/>
          <a:ln/>
        </p:spPr>
        <p:txBody>
          <a:bodyPr wrap="square" lIns="0" tIns="0" rIns="0" bIns="0" rtlCol="0" anchor="t"/>
          <a:lstStyle/>
          <a:p>
            <a:pPr indent="0" marL="0">
              <a:buNone/>
            </a:pPr>
            <a:r>
              <a:rPr lang="en-US" sz="1350" dirty="0">
                <a:solidFill>
                  <a:srgbClr val="1A2733"/>
                </a:solidFill>
                <a:latin typeface="Arial" pitchFamily="34" charset="0"/>
                <a:ea typeface="Arial" pitchFamily="34" charset="-122"/>
                <a:cs typeface="Arial" pitchFamily="34" charset="-120"/>
              </a:rPr>
              <a:t>Khi tắc đường trên cao tốc, bạn có thể buông vô-lăng xem điện thoại, hệ thống sẽ nhắc khi nào bạn phải tiếp quản.</a:t>
            </a:r>
            <a:endParaRPr lang="en-US" sz="1350" dirty="0"/>
          </a:p>
        </p:txBody>
      </p:sp>
      <p:sp>
        <p:nvSpPr>
          <p:cNvPr id="16" name="Shape 14"/>
          <p:cNvSpPr/>
          <p:nvPr/>
        </p:nvSpPr>
        <p:spPr>
          <a:xfrm>
            <a:off x="4690872" y="2414016"/>
            <a:ext cx="3950208" cy="1060704"/>
          </a:xfrm>
          <a:prstGeom prst="roundRect">
            <a:avLst>
              <a:gd name="adj" fmla="val 8621"/>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7" name="Shape 15"/>
          <p:cNvSpPr/>
          <p:nvPr/>
        </p:nvSpPr>
        <p:spPr>
          <a:xfrm>
            <a:off x="4873752" y="2578608"/>
            <a:ext cx="384048" cy="384048"/>
          </a:xfrm>
          <a:prstGeom prst="ellipse">
            <a:avLst/>
          </a:prstGeom>
          <a:solidFill>
            <a:srgbClr val="FFB020"/>
          </a:solidFill>
          <a:ln/>
        </p:spPr>
      </p:sp>
      <p:sp>
        <p:nvSpPr>
          <p:cNvPr id="18" name="Text 16"/>
          <p:cNvSpPr txBox="1"/>
          <p:nvPr/>
        </p:nvSpPr>
        <p:spPr>
          <a:xfrm>
            <a:off x="4873752" y="2633472"/>
            <a:ext cx="384048" cy="274320"/>
          </a:xfrm>
          <a:prstGeom prst="rect">
            <a:avLst/>
          </a:prstGeom>
          <a:noFill/>
          <a:ln/>
        </p:spPr>
        <p:txBody>
          <a:bodyPr wrap="square" lIns="0" tIns="0" rIns="0" bIns="0" rtlCol="0" anchor="ctr"/>
          <a:lstStyle/>
          <a:p>
            <a:pPr algn="ctr" indent="0" marL="0">
              <a:buNone/>
            </a:pPr>
            <a:r>
              <a:rPr lang="en-US" sz="1300" b="1" dirty="0">
                <a:solidFill>
                  <a:srgbClr val="3A2A00"/>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5367528" y="2532888"/>
            <a:ext cx="3072384" cy="841248"/>
          </a:xfrm>
          <a:prstGeom prst="rect">
            <a:avLst/>
          </a:prstGeom>
          <a:noFill/>
          <a:ln/>
        </p:spPr>
        <p:txBody>
          <a:bodyPr wrap="square" lIns="0" tIns="0" rIns="0" bIns="0" rtlCol="0" anchor="t"/>
          <a:lstStyle/>
          <a:p>
            <a:pPr indent="0" marL="0">
              <a:buNone/>
            </a:pPr>
            <a:r>
              <a:rPr lang="en-US" sz="1350" dirty="0">
                <a:solidFill>
                  <a:srgbClr val="1A2733"/>
                </a:solidFill>
                <a:latin typeface="Arial" pitchFamily="34" charset="0"/>
                <a:ea typeface="Arial" pitchFamily="34" charset="-122"/>
                <a:cs typeface="Arial" pitchFamily="34" charset="-120"/>
              </a:rPr>
              <a:t>Bạn gọi xe bằng điện thoại, xe tới không có người ở ghế lái, nó tự chở bạn đến nơi.</a:t>
            </a:r>
            <a:endParaRPr lang="en-US" sz="1350" dirty="0"/>
          </a:p>
        </p:txBody>
      </p:sp>
      <p:sp>
        <p:nvSpPr>
          <p:cNvPr id="20" name="Shape 18"/>
          <p:cNvSpPr/>
          <p:nvPr/>
        </p:nvSpPr>
        <p:spPr>
          <a:xfrm>
            <a:off x="502920" y="3712464"/>
            <a:ext cx="8138160" cy="475488"/>
          </a:xfrm>
          <a:prstGeom prst="roundRect">
            <a:avLst>
              <a:gd name="adj" fmla="val 17308"/>
            </a:avLst>
          </a:prstGeom>
          <a:solidFill>
            <a:srgbClr val="0B1F3A"/>
          </a:solidFill>
          <a:ln/>
        </p:spPr>
      </p:sp>
      <p:sp>
        <p:nvSpPr>
          <p:cNvPr id="21" name="Text 19"/>
          <p:cNvSpPr txBox="1"/>
          <p:nvPr/>
        </p:nvSpPr>
        <p:spPr>
          <a:xfrm>
            <a:off x="502920" y="3822192"/>
            <a:ext cx="8138160" cy="292608"/>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Hai gợi ý: tức thời hay liên tục? Lúc đó ai đang chịu trách nhiệm?</a:t>
            </a:r>
            <a:endParaRPr lang="en-US" sz="1400" dirty="0"/>
          </a:p>
        </p:txBody>
      </p:sp>
      <p:pic>
        <p:nvPicPr>
          <p:cNvPr id="22"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3" name="Text 20"/>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Đáp án và lý do</a:t>
            </a:r>
            <a:endParaRPr lang="en-US" sz="2700" dirty="0"/>
          </a:p>
        </p:txBody>
      </p:sp>
      <p:sp>
        <p:nvSpPr>
          <p:cNvPr id="3" name="Text 1"/>
          <p:cNvSpPr txBox="1"/>
          <p:nvPr/>
        </p:nvSpPr>
        <p:spPr>
          <a:xfrm>
            <a:off x="502920" y="777240"/>
            <a:ext cx="8138160" cy="274320"/>
          </a:xfrm>
          <a:prstGeom prst="rect">
            <a:avLst/>
          </a:prstGeom>
          <a:noFill/>
          <a:ln/>
        </p:spPr>
        <p:txBody>
          <a:bodyPr wrap="square" lIns="0" tIns="0" rIns="0" bIns="0" rtlCol="0" anchor="ctr"/>
          <a:lstStyle/>
          <a:p>
            <a:pPr indent="0" marL="0">
              <a:buNone/>
            </a:pPr>
            <a:r>
              <a:rPr lang="en-US" sz="1350" dirty="0">
                <a:solidFill>
                  <a:srgbClr val="5F7183"/>
                </a:solidFill>
                <a:latin typeface="Arial" pitchFamily="34" charset="0"/>
                <a:ea typeface="Arial" pitchFamily="34" charset="-122"/>
                <a:cs typeface="Arial" pitchFamily="34" charset="-120"/>
              </a:rPr>
              <a:t>Tức thời hay liên tục? Ai đang chịu trách nhiệm?</a:t>
            </a:r>
            <a:endParaRPr lang="en-US" sz="1350" dirty="0"/>
          </a:p>
        </p:txBody>
      </p:sp>
      <p:sp>
        <p:nvSpPr>
          <p:cNvPr id="4" name="Shape 2"/>
          <p:cNvSpPr/>
          <p:nvPr/>
        </p:nvSpPr>
        <p:spPr>
          <a:xfrm>
            <a:off x="502920" y="1207008"/>
            <a:ext cx="8138160" cy="676656"/>
          </a:xfrm>
          <a:prstGeom prst="roundRect">
            <a:avLst>
              <a:gd name="adj" fmla="val 135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Shape 3"/>
          <p:cNvSpPr/>
          <p:nvPr/>
        </p:nvSpPr>
        <p:spPr>
          <a:xfrm>
            <a:off x="704088" y="1344168"/>
            <a:ext cx="402336" cy="402336"/>
          </a:xfrm>
          <a:prstGeom prst="ellipse">
            <a:avLst/>
          </a:prstGeom>
          <a:solidFill>
            <a:srgbClr val="0B1F3A"/>
          </a:solidFill>
          <a:ln/>
        </p:spPr>
      </p:sp>
      <p:sp>
        <p:nvSpPr>
          <p:cNvPr id="6" name="Text 4"/>
          <p:cNvSpPr txBox="1"/>
          <p:nvPr/>
        </p:nvSpPr>
        <p:spPr>
          <a:xfrm>
            <a:off x="704088" y="1408176"/>
            <a:ext cx="402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Shape 5"/>
          <p:cNvSpPr/>
          <p:nvPr/>
        </p:nvSpPr>
        <p:spPr>
          <a:xfrm>
            <a:off x="1271016" y="1344168"/>
            <a:ext cx="658368" cy="402336"/>
          </a:xfrm>
          <a:prstGeom prst="roundRect">
            <a:avLst>
              <a:gd name="adj" fmla="val 15909"/>
            </a:avLst>
          </a:prstGeom>
          <a:solidFill>
            <a:srgbClr val="0E7C70"/>
          </a:solidFill>
          <a:ln/>
        </p:spPr>
      </p:sp>
      <p:sp>
        <p:nvSpPr>
          <p:cNvPr id="8" name="Text 6"/>
          <p:cNvSpPr txBox="1"/>
          <p:nvPr/>
        </p:nvSpPr>
        <p:spPr>
          <a:xfrm>
            <a:off x="1271016" y="1408176"/>
            <a:ext cx="658368"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L2</a:t>
            </a:r>
            <a:endParaRPr lang="en-US" sz="1500" dirty="0"/>
          </a:p>
        </p:txBody>
      </p:sp>
      <p:sp>
        <p:nvSpPr>
          <p:cNvPr id="9" name="Text 7"/>
          <p:cNvSpPr txBox="1"/>
          <p:nvPr/>
        </p:nvSpPr>
        <p:spPr>
          <a:xfrm>
            <a:off x="2075688" y="1280160"/>
            <a:ext cx="6400800" cy="548640"/>
          </a:xfrm>
          <a:prstGeom prst="rect">
            <a:avLst/>
          </a:prstGeom>
          <a:noFill/>
          <a:ln/>
        </p:spPr>
        <p:txBody>
          <a:bodyPr wrap="square" lIns="0" tIns="0" rIns="0" bIns="0" rtlCol="0" anchor="ctr"/>
          <a:lstStyle/>
          <a:p>
            <a:pPr indent="0" marL="0">
              <a:buNone/>
            </a:pPr>
            <a:r>
              <a:rPr lang="en-US" sz="1350" dirty="0">
                <a:solidFill>
                  <a:srgbClr val="1A2733"/>
                </a:solidFill>
                <a:latin typeface="Arial" pitchFamily="34" charset="0"/>
                <a:ea typeface="Arial" pitchFamily="34" charset="-122"/>
                <a:cs typeface="Arial" pitchFamily="34" charset="-120"/>
              </a:rPr>
              <a:t>Lo cả đánh lái lẫn tốc độ nên không phải L1; liên tục nhắc đặt tay lên vô-lăng, trách nhiệm vẫn thuộc bạn nên không phải L3.</a:t>
            </a:r>
            <a:endParaRPr lang="en-US" sz="1350" dirty="0"/>
          </a:p>
        </p:txBody>
      </p:sp>
      <p:sp>
        <p:nvSpPr>
          <p:cNvPr id="10" name="Shape 8"/>
          <p:cNvSpPr/>
          <p:nvPr/>
        </p:nvSpPr>
        <p:spPr>
          <a:xfrm>
            <a:off x="502920" y="1993392"/>
            <a:ext cx="8138160" cy="676656"/>
          </a:xfrm>
          <a:prstGeom prst="roundRect">
            <a:avLst>
              <a:gd name="adj" fmla="val 135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1" name="Shape 9"/>
          <p:cNvSpPr/>
          <p:nvPr/>
        </p:nvSpPr>
        <p:spPr>
          <a:xfrm>
            <a:off x="704088" y="2130552"/>
            <a:ext cx="402336" cy="402336"/>
          </a:xfrm>
          <a:prstGeom prst="ellipse">
            <a:avLst/>
          </a:prstGeom>
          <a:solidFill>
            <a:srgbClr val="0B1F3A"/>
          </a:solidFill>
          <a:ln/>
        </p:spPr>
      </p:sp>
      <p:sp>
        <p:nvSpPr>
          <p:cNvPr id="12" name="Text 10"/>
          <p:cNvSpPr txBox="1"/>
          <p:nvPr/>
        </p:nvSpPr>
        <p:spPr>
          <a:xfrm>
            <a:off x="704088" y="2194560"/>
            <a:ext cx="402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1"/>
          <p:cNvSpPr/>
          <p:nvPr/>
        </p:nvSpPr>
        <p:spPr>
          <a:xfrm>
            <a:off x="1271016" y="2130552"/>
            <a:ext cx="658368" cy="402336"/>
          </a:xfrm>
          <a:prstGeom prst="roundRect">
            <a:avLst>
              <a:gd name="adj" fmla="val 15909"/>
            </a:avLst>
          </a:prstGeom>
          <a:solidFill>
            <a:srgbClr val="0E7C70"/>
          </a:solidFill>
          <a:ln/>
        </p:spPr>
      </p:sp>
      <p:sp>
        <p:nvSpPr>
          <p:cNvPr id="14" name="Text 12"/>
          <p:cNvSpPr txBox="1"/>
          <p:nvPr/>
        </p:nvSpPr>
        <p:spPr>
          <a:xfrm>
            <a:off x="1271016" y="2194560"/>
            <a:ext cx="658368"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L0</a:t>
            </a:r>
            <a:endParaRPr lang="en-US" sz="1500" dirty="0"/>
          </a:p>
        </p:txBody>
      </p:sp>
      <p:sp>
        <p:nvSpPr>
          <p:cNvPr id="15" name="Text 13"/>
          <p:cNvSpPr txBox="1"/>
          <p:nvPr/>
        </p:nvSpPr>
        <p:spPr>
          <a:xfrm>
            <a:off x="2075688" y="2066544"/>
            <a:ext cx="6400800" cy="548640"/>
          </a:xfrm>
          <a:prstGeom prst="rect">
            <a:avLst/>
          </a:prstGeom>
          <a:noFill/>
          <a:ln/>
        </p:spPr>
        <p:txBody>
          <a:bodyPr wrap="square" lIns="0" tIns="0" rIns="0" bIns="0" rtlCol="0" anchor="ctr"/>
          <a:lstStyle/>
          <a:p>
            <a:pPr indent="0" marL="0">
              <a:buNone/>
            </a:pPr>
            <a:r>
              <a:rPr lang="en-US" sz="1350" dirty="0">
                <a:solidFill>
                  <a:srgbClr val="1A2733"/>
                </a:solidFill>
                <a:latin typeface="Arial" pitchFamily="34" charset="0"/>
                <a:ea typeface="Arial" pitchFamily="34" charset="-122"/>
                <a:cs typeface="Arial" pitchFamily="34" charset="-120"/>
              </a:rPr>
              <a:t>AEB chỉ can thiệp đúng khoảnh khắc sắp va chạm, không phải điều khiển liên tục. J3016 xếp rõ vào L0. Đây là câu nhiều người sai nhất.</a:t>
            </a:r>
            <a:endParaRPr lang="en-US" sz="1350" dirty="0"/>
          </a:p>
        </p:txBody>
      </p:sp>
      <p:sp>
        <p:nvSpPr>
          <p:cNvPr id="16" name="Shape 14"/>
          <p:cNvSpPr/>
          <p:nvPr/>
        </p:nvSpPr>
        <p:spPr>
          <a:xfrm>
            <a:off x="502920" y="2779776"/>
            <a:ext cx="8138160" cy="676656"/>
          </a:xfrm>
          <a:prstGeom prst="roundRect">
            <a:avLst>
              <a:gd name="adj" fmla="val 135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7" name="Shape 15"/>
          <p:cNvSpPr/>
          <p:nvPr/>
        </p:nvSpPr>
        <p:spPr>
          <a:xfrm>
            <a:off x="704088" y="2916936"/>
            <a:ext cx="402336" cy="402336"/>
          </a:xfrm>
          <a:prstGeom prst="ellipse">
            <a:avLst/>
          </a:prstGeom>
          <a:solidFill>
            <a:srgbClr val="0B1F3A"/>
          </a:solidFill>
          <a:ln/>
        </p:spPr>
      </p:sp>
      <p:sp>
        <p:nvSpPr>
          <p:cNvPr id="18" name="Text 16"/>
          <p:cNvSpPr txBox="1"/>
          <p:nvPr/>
        </p:nvSpPr>
        <p:spPr>
          <a:xfrm>
            <a:off x="704088" y="2980944"/>
            <a:ext cx="402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Shape 17"/>
          <p:cNvSpPr/>
          <p:nvPr/>
        </p:nvSpPr>
        <p:spPr>
          <a:xfrm>
            <a:off x="1271016" y="2916936"/>
            <a:ext cx="658368" cy="402336"/>
          </a:xfrm>
          <a:prstGeom prst="roundRect">
            <a:avLst>
              <a:gd name="adj" fmla="val 15909"/>
            </a:avLst>
          </a:prstGeom>
          <a:solidFill>
            <a:srgbClr val="0E7C70"/>
          </a:solidFill>
          <a:ln/>
        </p:spPr>
      </p:sp>
      <p:sp>
        <p:nvSpPr>
          <p:cNvPr id="20" name="Text 18"/>
          <p:cNvSpPr txBox="1"/>
          <p:nvPr/>
        </p:nvSpPr>
        <p:spPr>
          <a:xfrm>
            <a:off x="1271016" y="2980944"/>
            <a:ext cx="658368"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L3</a:t>
            </a:r>
            <a:endParaRPr lang="en-US" sz="1500" dirty="0"/>
          </a:p>
        </p:txBody>
      </p:sp>
      <p:sp>
        <p:nvSpPr>
          <p:cNvPr id="21" name="Text 19"/>
          <p:cNvSpPr txBox="1"/>
          <p:nvPr/>
        </p:nvSpPr>
        <p:spPr>
          <a:xfrm>
            <a:off x="2075688" y="2852928"/>
            <a:ext cx="6400800" cy="548640"/>
          </a:xfrm>
          <a:prstGeom prst="rect">
            <a:avLst/>
          </a:prstGeom>
          <a:noFill/>
          <a:ln/>
        </p:spPr>
        <p:txBody>
          <a:bodyPr wrap="square" lIns="0" tIns="0" rIns="0" bIns="0" rtlCol="0" anchor="ctr"/>
          <a:lstStyle/>
          <a:p>
            <a:pPr indent="0" marL="0">
              <a:buNone/>
            </a:pPr>
            <a:r>
              <a:rPr lang="en-US" sz="1350" dirty="0">
                <a:solidFill>
                  <a:srgbClr val="1A2733"/>
                </a:solidFill>
                <a:latin typeface="Arial" pitchFamily="34" charset="0"/>
                <a:ea typeface="Arial" pitchFamily="34" charset="-122"/>
                <a:cs typeface="Arial" pitchFamily="34" charset="-120"/>
              </a:rPr>
              <a:t>Có thể không nhìn đường, nhưng khi hệ thống yêu cầu thì phải tiếp quản. “Khi tắc đường trên cao tốc” chính là ODD.</a:t>
            </a:r>
            <a:endParaRPr lang="en-US" sz="1350" dirty="0"/>
          </a:p>
        </p:txBody>
      </p:sp>
      <p:sp>
        <p:nvSpPr>
          <p:cNvPr id="22" name="Shape 20"/>
          <p:cNvSpPr/>
          <p:nvPr/>
        </p:nvSpPr>
        <p:spPr>
          <a:xfrm>
            <a:off x="502920" y="3566160"/>
            <a:ext cx="8138160" cy="676656"/>
          </a:xfrm>
          <a:prstGeom prst="roundRect">
            <a:avLst>
              <a:gd name="adj" fmla="val 135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23" name="Shape 21"/>
          <p:cNvSpPr/>
          <p:nvPr/>
        </p:nvSpPr>
        <p:spPr>
          <a:xfrm>
            <a:off x="704088" y="3703320"/>
            <a:ext cx="402336" cy="402336"/>
          </a:xfrm>
          <a:prstGeom prst="ellipse">
            <a:avLst/>
          </a:prstGeom>
          <a:solidFill>
            <a:srgbClr val="0B1F3A"/>
          </a:solidFill>
          <a:ln/>
        </p:spPr>
      </p:sp>
      <p:sp>
        <p:nvSpPr>
          <p:cNvPr id="24" name="Text 22"/>
          <p:cNvSpPr txBox="1"/>
          <p:nvPr/>
        </p:nvSpPr>
        <p:spPr>
          <a:xfrm>
            <a:off x="704088" y="3767328"/>
            <a:ext cx="402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Shape 23"/>
          <p:cNvSpPr/>
          <p:nvPr/>
        </p:nvSpPr>
        <p:spPr>
          <a:xfrm>
            <a:off x="1271016" y="3703320"/>
            <a:ext cx="658368" cy="402336"/>
          </a:xfrm>
          <a:prstGeom prst="roundRect">
            <a:avLst>
              <a:gd name="adj" fmla="val 15909"/>
            </a:avLst>
          </a:prstGeom>
          <a:solidFill>
            <a:srgbClr val="0E7C70"/>
          </a:solidFill>
          <a:ln/>
        </p:spPr>
      </p:sp>
      <p:sp>
        <p:nvSpPr>
          <p:cNvPr id="26" name="Text 24"/>
          <p:cNvSpPr txBox="1"/>
          <p:nvPr/>
        </p:nvSpPr>
        <p:spPr>
          <a:xfrm>
            <a:off x="1271016" y="3767328"/>
            <a:ext cx="658368"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L4</a:t>
            </a:r>
            <a:endParaRPr lang="en-US" sz="1500" dirty="0"/>
          </a:p>
        </p:txBody>
      </p:sp>
      <p:sp>
        <p:nvSpPr>
          <p:cNvPr id="27" name="Text 25"/>
          <p:cNvSpPr txBox="1"/>
          <p:nvPr/>
        </p:nvSpPr>
        <p:spPr>
          <a:xfrm>
            <a:off x="2075688" y="3639312"/>
            <a:ext cx="6400800" cy="548640"/>
          </a:xfrm>
          <a:prstGeom prst="rect">
            <a:avLst/>
          </a:prstGeom>
          <a:noFill/>
          <a:ln/>
        </p:spPr>
        <p:txBody>
          <a:bodyPr wrap="square" lIns="0" tIns="0" rIns="0" bIns="0" rtlCol="0" anchor="ctr"/>
          <a:lstStyle/>
          <a:p>
            <a:pPr indent="0" marL="0">
              <a:buNone/>
            </a:pPr>
            <a:r>
              <a:rPr lang="en-US" sz="1350" dirty="0">
                <a:solidFill>
                  <a:srgbClr val="1A2733"/>
                </a:solidFill>
                <a:latin typeface="Arial" pitchFamily="34" charset="0"/>
                <a:ea typeface="Arial" pitchFamily="34" charset="-122"/>
                <a:cs typeface="Arial" pitchFamily="34" charset="-120"/>
              </a:rPr>
              <a:t>Ghế lái không có người, việc tiếp quản do hệ thống tự thực hiện. Đây chính là Waymo.</a:t>
            </a:r>
            <a:endParaRPr lang="en-US" sz="1350" dirty="0"/>
          </a:p>
        </p:txBody>
      </p:sp>
      <p:pic>
        <p:nvPicPr>
          <p:cNvPr id="28"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29" name="Text 26"/>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02920" y="274320"/>
            <a:ext cx="8138160" cy="475488"/>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Tuần sau</a:t>
            </a:r>
            <a:endParaRPr lang="en-US" sz="2700" dirty="0"/>
          </a:p>
        </p:txBody>
      </p:sp>
      <p:sp>
        <p:nvSpPr>
          <p:cNvPr id="3" name="Shape 1"/>
          <p:cNvSpPr/>
          <p:nvPr/>
        </p:nvSpPr>
        <p:spPr>
          <a:xfrm>
            <a:off x="502920" y="960120"/>
            <a:ext cx="8138160" cy="841248"/>
          </a:xfrm>
          <a:prstGeom prst="roundRect">
            <a:avLst>
              <a:gd name="adj" fmla="val 10870"/>
            </a:avLst>
          </a:prstGeom>
          <a:solidFill>
            <a:srgbClr val="EAF6F4"/>
          </a:solidFill>
          <a:ln w="12700">
            <a:solidFill>
              <a:srgbClr val="BFE3DD"/>
            </a:solidFill>
            <a:prstDash val="solid"/>
          </a:ln>
          <a:effectLst>
            <a:outerShdw sx="100000" sy="100000" kx="0" ky="0" algn="bl" rotWithShape="0" blurRad="76200" dist="12700" dir="5400000">
              <a:srgbClr val="9AAAB8">
                <a:alpha val="28000"/>
              </a:srgbClr>
            </a:outerShdw>
          </a:effectLst>
        </p:spPr>
      </p:sp>
      <p:sp>
        <p:nvSpPr>
          <p:cNvPr id="4" name="Text 2"/>
          <p:cNvSpPr txBox="1"/>
          <p:nvPr/>
        </p:nvSpPr>
        <p:spPr>
          <a:xfrm>
            <a:off x="758952" y="1088136"/>
            <a:ext cx="2743200" cy="274320"/>
          </a:xfrm>
          <a:prstGeom prst="rect">
            <a:avLst/>
          </a:prstGeom>
          <a:noFill/>
          <a:ln/>
        </p:spPr>
        <p:txBody>
          <a:bodyPr wrap="square" lIns="0" tIns="0" rIns="0" bIns="0" rtlCol="0" anchor="ctr"/>
          <a:lstStyle/>
          <a:p>
            <a:pPr indent="0" marL="0">
              <a:buNone/>
            </a:pPr>
            <a:r>
              <a:rPr lang="en-US" sz="1300" b="1" dirty="0">
                <a:solidFill>
                  <a:srgbClr val="007F72"/>
                </a:solidFill>
                <a:latin typeface="Arial" pitchFamily="34" charset="0"/>
                <a:ea typeface="Arial" pitchFamily="34" charset="-122"/>
                <a:cs typeface="Arial" pitchFamily="34" charset="-120"/>
              </a:rPr>
              <a:t>Tuần 2 · ngày 17 tháng 9</a:t>
            </a:r>
            <a:endParaRPr lang="en-US" sz="1300" dirty="0"/>
          </a:p>
        </p:txBody>
      </p:sp>
      <p:sp>
        <p:nvSpPr>
          <p:cNvPr id="5" name="Text 3"/>
          <p:cNvSpPr txBox="1"/>
          <p:nvPr/>
        </p:nvSpPr>
        <p:spPr>
          <a:xfrm>
            <a:off x="758952" y="1380744"/>
            <a:ext cx="7589520" cy="329184"/>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Chương 1 (phần 2): Hiện trạng ngành — bốn loại người chơi, hai tuyến đường, vì sao Waymo làm taxi còn Tesla bán xe cho bạn</a:t>
            </a:r>
            <a:endParaRPr lang="en-US" sz="1500" dirty="0"/>
          </a:p>
        </p:txBody>
      </p:sp>
      <p:sp>
        <p:nvSpPr>
          <p:cNvPr id="6" name="Shape 4"/>
          <p:cNvSpPr/>
          <p:nvPr/>
        </p:nvSpPr>
        <p:spPr>
          <a:xfrm>
            <a:off x="502920" y="2057400"/>
            <a:ext cx="292608" cy="292608"/>
          </a:xfrm>
          <a:prstGeom prst="roundRect">
            <a:avLst>
              <a:gd name="adj" fmla="val 18750"/>
            </a:avLst>
          </a:prstGeom>
          <a:solidFill>
            <a:srgbClr val="FFFFFF"/>
          </a:solidFill>
          <a:ln w="15240">
            <a:solidFill>
              <a:srgbClr val="0B1F3A"/>
            </a:solidFill>
            <a:prstDash val="solid"/>
          </a:ln>
        </p:spPr>
      </p:sp>
      <p:sp>
        <p:nvSpPr>
          <p:cNvPr id="7" name="Text 5"/>
          <p:cNvSpPr txBox="1"/>
          <p:nvPr/>
        </p:nvSpPr>
        <p:spPr>
          <a:xfrm>
            <a:off x="978408" y="2020824"/>
            <a:ext cx="7589520" cy="566928"/>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Mang giáo trình theo, bảng thuật ngữ ở phụ lục 1 tuần nào cũng dùng; đọc trước mục 1.7</a:t>
            </a:r>
            <a:endParaRPr lang="en-US" sz="1400" dirty="0"/>
          </a:p>
        </p:txBody>
      </p:sp>
      <p:sp>
        <p:nvSpPr>
          <p:cNvPr id="8" name="Shape 6"/>
          <p:cNvSpPr/>
          <p:nvPr/>
        </p:nvSpPr>
        <p:spPr>
          <a:xfrm>
            <a:off x="502920" y="2715768"/>
            <a:ext cx="292608" cy="292608"/>
          </a:xfrm>
          <a:prstGeom prst="roundRect">
            <a:avLst>
              <a:gd name="adj" fmla="val 18750"/>
            </a:avLst>
          </a:prstGeom>
          <a:solidFill>
            <a:srgbClr val="FFFFFF"/>
          </a:solidFill>
          <a:ln w="15240">
            <a:solidFill>
              <a:srgbClr val="0B1F3A"/>
            </a:solidFill>
            <a:prstDash val="solid"/>
          </a:ln>
        </p:spPr>
      </p:sp>
      <p:sp>
        <p:nvSpPr>
          <p:cNvPr id="9" name="Text 7"/>
          <p:cNvSpPr txBox="1"/>
          <p:nvPr/>
        </p:nvSpPr>
        <p:spPr>
          <a:xfrm>
            <a:off x="978408" y="2679192"/>
            <a:ext cx="7589520" cy="566928"/>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Tìm một video trải nghiệm thật trên Waymo, Tesla Robotaxi hoặc Zoox, xem xong nghĩ: bạn để ý thấy điều gì? Tiết 3 tuần sau mỗi nhóm chia sẻ một video</a:t>
            </a:r>
            <a:endParaRPr lang="en-US" sz="1400" dirty="0"/>
          </a:p>
        </p:txBody>
      </p:sp>
      <p:sp>
        <p:nvSpPr>
          <p:cNvPr id="10" name="Shape 8"/>
          <p:cNvSpPr/>
          <p:nvPr/>
        </p:nvSpPr>
        <p:spPr>
          <a:xfrm>
            <a:off x="502920" y="3374136"/>
            <a:ext cx="292608" cy="292608"/>
          </a:xfrm>
          <a:prstGeom prst="roundRect">
            <a:avLst>
              <a:gd name="adj" fmla="val 18750"/>
            </a:avLst>
          </a:prstGeom>
          <a:solidFill>
            <a:srgbClr val="FFFFFF"/>
          </a:solidFill>
          <a:ln w="15240">
            <a:solidFill>
              <a:srgbClr val="0B1F3A"/>
            </a:solidFill>
            <a:prstDash val="solid"/>
          </a:ln>
        </p:spPr>
      </p:sp>
      <p:sp>
        <p:nvSpPr>
          <p:cNvPr id="11" name="Text 9"/>
          <p:cNvSpPr txBox="1"/>
          <p:nvPr/>
        </p:nvSpPr>
        <p:spPr>
          <a:xfrm>
            <a:off x="978408" y="3337560"/>
            <a:ext cx="7589520" cy="566928"/>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Nghĩ một câu hỏi: nếu VinFast làm robotaxi ở Hà Nội, khó khăn lớn nhất sẽ là gì? Còn các công ty Đài Loan thì sao?</a:t>
            </a:r>
            <a:endParaRPr lang="en-US" sz="1400" dirty="0"/>
          </a:p>
        </p:txBody>
      </p:sp>
      <p:sp>
        <p:nvSpPr>
          <p:cNvPr id="12" name="Text 10"/>
          <p:cNvSpPr txBox="1"/>
          <p:nvPr/>
        </p:nvSpPr>
        <p:spPr>
          <a:xfrm>
            <a:off x="502920" y="4087368"/>
            <a:ext cx="8138160" cy="329184"/>
          </a:xfrm>
          <a:prstGeom prst="rect">
            <a:avLst/>
          </a:prstGeom>
          <a:noFill/>
          <a:ln/>
        </p:spPr>
        <p:txBody>
          <a:bodyPr wrap="square" lIns="0" tIns="0" rIns="0" bIns="0" rtlCol="0" anchor="ctr"/>
          <a:lstStyle/>
          <a:p>
            <a:pPr indent="0" marL="0">
              <a:buNone/>
            </a:pPr>
            <a:r>
              <a:rPr lang="en-US" sz="1350" b="1" dirty="0">
                <a:solidFill>
                  <a:srgbClr val="007F72"/>
                </a:solidFill>
                <a:latin typeface="Arial" pitchFamily="34" charset="0"/>
                <a:ea typeface="Arial" pitchFamily="34" charset="-122"/>
                <a:cs typeface="Arial" pitchFamily="34" charset="-120"/>
              </a:rPr>
              <a:t>Có thắc mắc cứ hỏi bằng tiếng Việt bất cứ lúc nào, phụ đề sẽ dịch.</a:t>
            </a:r>
            <a:endParaRPr lang="en-US" sz="1350" dirty="0"/>
          </a:p>
        </p:txBody>
      </p:sp>
      <p:pic>
        <p:nvPicPr>
          <p:cNvPr id="13" name="Image 0" descr="./logo.png">    </p:cNvPr>
          <p:cNvPicPr>
            <a:picLocks noChangeAspect="1"/>
          </p:cNvPicPr>
          <p:nvPr/>
        </p:nvPicPr>
        <p:blipFill>
          <a:blip r:embed="rId1"/>
          <a:stretch>
            <a:fillRect/>
          </a:stretch>
        </p:blipFill>
        <p:spPr>
          <a:xfrm>
            <a:off x="7498080" y="4709160"/>
            <a:ext cx="1143000" cy="252541"/>
          </a:xfrm>
          <a:prstGeom prst="rect">
            <a:avLst/>
          </a:prstGeom>
        </p:spPr>
      </p:pic>
      <p:sp>
        <p:nvSpPr>
          <p:cNvPr id="14" name="Text 11"/>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7863840" y="3108960"/>
            <a:ext cx="2560320" cy="2560320"/>
          </a:xfrm>
          <a:prstGeom prst="ellipse">
            <a:avLst/>
          </a:prstGeom>
          <a:solidFill>
            <a:srgbClr val="007F72">
              <a:alpha val="28000"/>
            </a:srgbClr>
          </a:solidFill>
          <a:ln/>
        </p:spPr>
      </p:sp>
      <p:sp>
        <p:nvSpPr>
          <p:cNvPr id="4" name="Text 2"/>
          <p:cNvSpPr txBox="1"/>
          <p:nvPr/>
        </p:nvSpPr>
        <p:spPr>
          <a:xfrm>
            <a:off x="502920" y="1874520"/>
            <a:ext cx="768096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Hôm nay đến đây</a:t>
            </a:r>
            <a:endParaRPr lang="en-US" sz="3800" dirty="0"/>
          </a:p>
        </p:txBody>
      </p:sp>
      <p:sp>
        <p:nvSpPr>
          <p:cNvPr id="5" name="Shape 3"/>
          <p:cNvSpPr/>
          <p:nvPr/>
        </p:nvSpPr>
        <p:spPr>
          <a:xfrm>
            <a:off x="502920" y="2761488"/>
            <a:ext cx="1371600" cy="41148"/>
          </a:xfrm>
          <a:prstGeom prst="rect">
            <a:avLst/>
          </a:prstGeom>
          <a:solidFill>
            <a:srgbClr val="FFB020"/>
          </a:solidFill>
          <a:ln/>
        </p:spPr>
      </p:sp>
      <p:sp>
        <p:nvSpPr>
          <p:cNvPr id="6" name="Text 4"/>
          <p:cNvSpPr txBox="1"/>
          <p:nvPr/>
        </p:nvSpPr>
        <p:spPr>
          <a:xfrm>
            <a:off x="502920" y="2962656"/>
            <a:ext cx="7680960" cy="384048"/>
          </a:xfrm>
          <a:prstGeom prst="rect">
            <a:avLst/>
          </a:prstGeom>
          <a:noFill/>
          <a:ln/>
        </p:spPr>
        <p:txBody>
          <a:bodyPr wrap="square" lIns="0" tIns="0" rIns="0" bIns="0" rtlCol="0" anchor="ctr"/>
          <a:lstStyle/>
          <a:p>
            <a:pPr indent="0" marL="0">
              <a:buNone/>
            </a:pPr>
            <a:r>
              <a:rPr lang="en-US" sz="1800" dirty="0">
                <a:solidFill>
                  <a:srgbClr val="C8D6E2"/>
                </a:solidFill>
                <a:latin typeface="Arial" pitchFamily="34" charset="0"/>
                <a:ea typeface="Arial" pitchFamily="34" charset="-122"/>
                <a:cs typeface="Arial" pitchFamily="34" charset="-120"/>
              </a:rPr>
              <a:t>Hẹn gặp lại thứ Năm tuần sau</a:t>
            </a:r>
            <a:endParaRPr lang="en-US" sz="1800" dirty="0"/>
          </a:p>
        </p:txBody>
      </p:sp>
      <p:sp>
        <p:nvSpPr>
          <p:cNvPr id="7" name="Text 5"/>
          <p:cNvSpPr txBox="1"/>
          <p:nvPr/>
        </p:nvSpPr>
        <p:spPr>
          <a:xfrm>
            <a:off x="502920" y="4343400"/>
            <a:ext cx="7680960" cy="274320"/>
          </a:xfrm>
          <a:prstGeom prst="rect">
            <a:avLst/>
          </a:prstGeom>
          <a:noFill/>
          <a:ln/>
        </p:spPr>
        <p:txBody>
          <a:bodyPr wrap="square" lIns="0" tIns="0" rIns="0" bIns="0" rtlCol="0" anchor="ctr"/>
          <a:lstStyle/>
          <a:p>
            <a:pPr indent="0" marL="0">
              <a:buNone/>
            </a:pPr>
            <a:r>
              <a:rPr lang="en-US" sz="1150" dirty="0">
                <a:solidFill>
                  <a:srgbClr val="8AA0B4"/>
                </a:solidFill>
                <a:latin typeface="Arial" pitchFamily="34" charset="0"/>
                <a:ea typeface="Arial" pitchFamily="34" charset="-122"/>
                <a:cs typeface="Arial" pitchFamily="34" charset="-120"/>
              </a:rPr>
              <a:t>Nguyên lý xe tự lái · Chương 1 (phần 1)</a:t>
            </a:r>
            <a:endParaRPr lang="en-US" sz="1150" dirty="0"/>
          </a:p>
        </p:txBody>
      </p:sp>
      <p:sp>
        <p:nvSpPr>
          <p:cNvPr id="8" name="Text 6"/>
          <p:cNvSpPr/>
          <p:nvPr/>
        </p:nvSpPr>
        <p:spPr>
          <a:xfrm>
            <a:off x="109728" y="4800600"/>
            <a:ext cx="54864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55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自動駕駛原理</dc:creator>
  <cp:lastModifiedBy>自動駕駛原理</cp:lastModifiedBy>
  <cp:revision>1</cp:revision>
  <dcterms:created xsi:type="dcterms:W3CDTF">2026-10-23T08:21:24Z</dcterms:created>
  <dcterms:modified xsi:type="dcterms:W3CDTF">2026-10-23T08:21:24Z</dcterms:modified>
</cp:coreProperties>
</file>