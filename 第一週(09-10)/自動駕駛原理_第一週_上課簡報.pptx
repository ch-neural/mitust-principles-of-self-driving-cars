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notesMasterIdLst>
    <p:notesMasterId r:id="rId5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notesMaster" Target="notesMasters/notesMaster1.xml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60" Type="http://schemas.openxmlformats.org/officeDocument/2006/relationships/theme" Target="theme/theme1.xml"/><Relationship Id="rId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時間不夠就只放 0:37–2:21。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播完停在最後一格，不要翻頁，直接進討論四。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B8R148hFxPw" TargetMode="External"/><Relationship Id="rId2" Type="http://schemas.openxmlformats.org/officeDocument/2006/relationships/hyperlink" Target="https://www.youtube.com/watch?v=B8R148hFxPw" TargetMode="External"/><Relationship Id="rId3" Type="http://schemas.openxmlformats.org/officeDocument/2006/relationships/hyperlink" Target="https://www.youtube.com/watch?v=B8R148hFxPw" TargetMode="External"/><Relationship Id="rId4" Type="http://schemas.openxmlformats.org/officeDocument/2006/relationships/hyperlink" Target="https://www.youtube.com/watch?v=B8R148hFxPw" TargetMode="External"/><Relationship Id="rId5" Type="http://schemas.openxmlformats.org/officeDocument/2006/relationships/image" Target="../media/image-1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6nDRb7ccKFY" TargetMode="External"/><Relationship Id="rId2" Type="http://schemas.openxmlformats.org/officeDocument/2006/relationships/hyperlink" Target="https://www.youtube.com/watch?v=6nDRb7ccKFY" TargetMode="External"/><Relationship Id="rId3" Type="http://schemas.openxmlformats.org/officeDocument/2006/relationships/hyperlink" Target="https://www.youtube.com/watch?v=6nDRb7ccKFY" TargetMode="External"/><Relationship Id="rId4" Type="http://schemas.openxmlformats.org/officeDocument/2006/relationships/hyperlink" Target="https://www.youtube.com/watch?v=6nDRb7ccKFY" TargetMode="External"/><Relationship Id="rId5" Type="http://schemas.openxmlformats.org/officeDocument/2006/relationships/image" Target="../media/image-2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7-1.mp4"/><Relationship Id="rId2" Type="http://schemas.microsoft.com/office/2007/relationships/media" Target="../media/media-47-1.mp4"/><Relationship Id="rId3" Type="http://schemas.openxmlformats.org/officeDocument/2006/relationships/image" Target="../media/image-4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234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115 學年度第 1 學期・南三甲・第 1 週　9/10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627632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自動駕駛原理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02920" y="2670048"/>
            <a:ext cx="1371600" cy="411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88950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第一章　自動駕駛概論（上）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159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智慧車輛與能源系・每週四 09:10–12:00（第 2–4 節）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" y="310896"/>
            <a:ext cx="221284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0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今天的三節課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987552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0664" y="1225296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0664" y="1316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1556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這門課怎麼上；人怎麼開車，機器怎麼開車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46304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教材、進度、評分；看、想、動；模組化管線與端到端　（講義 1.1、1.2）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093976"/>
            <a:ext cx="8138160" cy="987552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40664" y="23591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0664" y="2450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249424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SAE 六個等級、一百年的發展、誰負責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59689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四個術語、L0 到 L5、ODD；三次轉向；各國法規與河內的試驗　（講義 1.3–1.5）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8138160" cy="987552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0664" y="3493008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0664" y="35844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8328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為什麼要讓機器開車；台灣與越南的路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73075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事故數字與一句被引用錯的話；六個難題；期末專題；活動一、二　（講義 1.6、1.8、1.9）</a:t>
            </a:r>
            <a:endParaRPr lang="en-US" sz="1300" dirty="0"/>
          </a:p>
        </p:txBody>
      </p:sp>
      <p:pic>
        <p:nvPicPr>
          <p:cNvPr id="18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這門課怎麼上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教材來源、進度、評分方式　｜　講義 1.1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這份講義是怎麼來的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自編教材，所以先交代依據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47472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來源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內容與定位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取得方式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Introduction to Autonomous Driving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Shi &amp; He・Springer 2026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十八週的章節順序依此書編排。作者主持德拉瓦大學 CAR Lab，書中以 CARLA、Autoware 設計實作。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付費電子書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不要求購買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Autonomous Driving: Technical,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Legal and Social・Springer 2016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開放取用。倫理、法律責任、社會接受度章節仍具參考價值，是討論題的素材來源。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全書免費 PDF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Self-Driving Cars・圖賓根大學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Prof. Andreas Geiger・2025/26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十二講投影片與課堂錄影免費公開。碩士班程度，只挑適合的段落作延伸觀看。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免費公開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YouTube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官方統計與公開資料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WHO、交通部、越南統計局、NHTSA、UNECE 等。每個數字都標了出處與年份。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講義附錄四</a:t>
                      </a:r>
                      <a:endParaRPr lang="en-US" sz="10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078224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講義裡每個數字後面都有出處。看到數字先看年份，再看是誰統計的。</a:t>
            </a:r>
            <a:endParaRPr lang="en-US" sz="1200" dirty="0"/>
          </a:p>
        </p:txBody>
      </p:sp>
      <p:pic>
        <p:nvPicPr>
          <p:cNvPr id="6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這份講義分十章，就是這學期的地圖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由下往上，就是一台自駕車的組成；右欄是參考課本的章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657600"/>
                <a:gridCol w="173736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講義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主題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週次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參考課本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第十章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產業、社會與期末專題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2、17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13、14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第九章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資安與測試：被駭怎麼辦、怎麼證明夠安全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16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11、12、4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第八章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車載運算與端到端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15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9、10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第七章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車輛控制：指令變成方向盤真的轉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14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8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第六章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預測、規劃與決策：決定往哪裡走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13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7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第五章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定位與高精地圖：我在哪裡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12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6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第四章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感知：看見了什麼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8、10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第三章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感測器：眼睛與耳朵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5–7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第二章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模擬環境：在瀏覽器裡蓋一條路練習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3–4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第一章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自動駕駛概論（本章，兩週）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1–2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1、13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十八週進度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566928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週次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內容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章節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1–2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自動駕駛概論、全球現況　　9/10、9/17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第一章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3–4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模擬環境入門（瀏覽器模擬器）　　9/24、10/1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第二章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5–7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感測器技術，含手機與公開資料集實作　　10/8–10/22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第三章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8、10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感知演算法：電腦如何看見車與行人　　10/29、11/12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第四章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9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期中考　　11/5（四）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11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校慶運動會，全校停課　　11/19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12–13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定位與高精地圖、路徑規劃與決策　　11/26、12/3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第五、六章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14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線傳控制與車輛控制系統　　12/10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第七章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15–16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車載運算、端到端、資安與測試　　12/17、12/24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第八、九章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17–18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期末專題發表、期末考　　12/31、1/7（四）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第十章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02920" y="960120"/>
            <a:ext cx="8138160" cy="329184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0058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週次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600200" y="10058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內容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10058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章節</a:t>
            </a:r>
            <a:endParaRPr lang="en-US" sz="1200" dirty="0"/>
          </a:p>
        </p:txBody>
      </p:sp>
      <p:pic>
        <p:nvPicPr>
          <p:cNvPr id="8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每週三節課怎麼上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同一個概念，一次課裡出現三遍，每次方式不同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426464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" y="15270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02996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聽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39572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概念講述。投影片以圖為主，關鍵名詞中英對照。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325526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第一節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82696" y="1207008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1426464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2152" y="15270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02996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39572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案例與演示。影片、實車展示、現場操作。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25526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2472" y="1207008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81928" y="1426464"/>
            <a:ext cx="475488" cy="47548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81928" y="15270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81928" y="202996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81928" y="239572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動手實作。瀏覽器模擬器、標資料、場景分析、手機量測、分組任務。不靠專用設備。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325526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第三節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7307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第一節聽不懂沒有關係，第三節自己做過一次就會懂。</a:t>
            </a:r>
            <a:endParaRPr lang="en-US" sz="1400" dirty="0"/>
          </a:p>
        </p:txBody>
      </p:sp>
      <p:pic>
        <p:nvPicPr>
          <p:cNvPr id="23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成績怎麼算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01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實作與上機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834640" y="1014984"/>
            <a:ext cx="4297680" cy="237744"/>
          </a:xfrm>
          <a:prstGeom prst="roundRect">
            <a:avLst>
              <a:gd name="adj" fmla="val 19231"/>
            </a:avLst>
          </a:prstGeom>
          <a:solidFill>
            <a:srgbClr val="EDF1F5"/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1014984"/>
            <a:ext cx="4297680" cy="237744"/>
          </a:xfrm>
          <a:prstGeom prst="roundRect">
            <a:avLst>
              <a:gd name="adj" fmla="val 19231"/>
            </a:avLst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69480" y="9601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40%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435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期末專題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34640" y="1490472"/>
            <a:ext cx="4297680" cy="237744"/>
          </a:xfrm>
          <a:prstGeom prst="roundRect">
            <a:avLst>
              <a:gd name="adj" fmla="val 19231"/>
            </a:avLst>
          </a:prstGeom>
          <a:solidFill>
            <a:srgbClr val="EDF1F5"/>
          </a:solidFill>
          <a:ln/>
        </p:spPr>
      </p:sp>
      <p:sp>
        <p:nvSpPr>
          <p:cNvPr id="9" name="Shape 7"/>
          <p:cNvSpPr/>
          <p:nvPr/>
        </p:nvSpPr>
        <p:spPr>
          <a:xfrm>
            <a:off x="2834640" y="1490472"/>
            <a:ext cx="2686050" cy="237744"/>
          </a:xfrm>
          <a:prstGeom prst="roundRect">
            <a:avLst>
              <a:gd name="adj" fmla="val 19231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69480" y="143560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25%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19110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期中考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1965960"/>
            <a:ext cx="4297680" cy="237744"/>
          </a:xfrm>
          <a:prstGeom prst="roundRect">
            <a:avLst>
              <a:gd name="adj" fmla="val 19231"/>
            </a:avLst>
          </a:prstGeom>
          <a:solidFill>
            <a:srgbClr val="EDF1F5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4640" y="1965960"/>
            <a:ext cx="1611630" cy="237744"/>
          </a:xfrm>
          <a:prstGeom prst="roundRect">
            <a:avLst>
              <a:gd name="adj" fmla="val 19231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69480" y="191109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15%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3865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期末考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34640" y="2441448"/>
            <a:ext cx="4297680" cy="237744"/>
          </a:xfrm>
          <a:prstGeom prst="roundRect">
            <a:avLst>
              <a:gd name="adj" fmla="val 19231"/>
            </a:avLst>
          </a:prstGeom>
          <a:solidFill>
            <a:srgbClr val="EDF1F5"/>
          </a:solidFill>
          <a:ln/>
        </p:spPr>
      </p:sp>
      <p:sp>
        <p:nvSpPr>
          <p:cNvPr id="17" name="Shape 15"/>
          <p:cNvSpPr/>
          <p:nvPr/>
        </p:nvSpPr>
        <p:spPr>
          <a:xfrm>
            <a:off x="2834640" y="2441448"/>
            <a:ext cx="1611630" cy="237744"/>
          </a:xfrm>
          <a:prstGeom prst="roundRect">
            <a:avLst>
              <a:gd name="adj" fmla="val 19231"/>
            </a:avLst>
          </a:prstGeom>
          <a:solidFill>
            <a:srgbClr val="0B1F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69480" y="23865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15%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28620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課堂參與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834640" y="2916936"/>
            <a:ext cx="4297680" cy="237744"/>
          </a:xfrm>
          <a:prstGeom prst="roundRect">
            <a:avLst>
              <a:gd name="adj" fmla="val 19231"/>
            </a:avLst>
          </a:prstGeom>
          <a:solidFill>
            <a:srgbClr val="EDF1F5"/>
          </a:solidFill>
          <a:ln/>
        </p:spPr>
      </p:sp>
      <p:sp>
        <p:nvSpPr>
          <p:cNvPr id="21" name="Shape 19"/>
          <p:cNvSpPr/>
          <p:nvPr/>
        </p:nvSpPr>
        <p:spPr>
          <a:xfrm>
            <a:off x="2834640" y="2916936"/>
            <a:ext cx="537210" cy="237744"/>
          </a:xfrm>
          <a:prstGeom prst="roundRect">
            <a:avLst>
              <a:gd name="adj" fmla="val 19231"/>
            </a:avLst>
          </a:prstGeom>
          <a:solidFill>
            <a:srgbClr val="0B1F3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69480" y="28620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3502152"/>
            <a:ext cx="8138160" cy="868680"/>
          </a:xfrm>
          <a:prstGeom prst="roundRect">
            <a:avLst>
              <a:gd name="adj" fmla="val 10526"/>
            </a:avLst>
          </a:prstGeom>
          <a:solidFill>
            <a:srgbClr val="FFF6E4"/>
          </a:solidFill>
          <a:ln w="12700">
            <a:solidFill>
              <a:srgbClr val="F2D79B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758952" y="3611880"/>
            <a:ext cx="7635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A5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實作最重，考試較輕。考試有一半考的是語言；把模擬器跑起來、把場景分析出來，不需要通過語言這一關。考題以越南文為主、附中文對照，選項盡量用圖。</a:t>
            </a:r>
            <a:endParaRPr lang="en-US" sz="1300" dirty="0"/>
          </a:p>
        </p:txBody>
      </p:sp>
      <p:pic>
        <p:nvPicPr>
          <p:cNvPr id="25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語言上的協助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語言不該是學這門課的障礙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426464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" y="15270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22376" y="202996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三語術語表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22376" y="239572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全學期六十到八十個專業名詞，中、英、越對照。講義附錄一。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22376" y="325526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紙本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82696" y="1207008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2152" y="1426464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02152" y="15270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202996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即時字幕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02152" y="239572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螢幕下方同步顯示中文與越南文。用越南語發問，也會翻成中文。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502152" y="325526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2472" y="1207008"/>
            <a:ext cx="2578608" cy="2331720"/>
          </a:xfrm>
          <a:prstGeom prst="roundRect">
            <a:avLst>
              <a:gd name="adj" fmla="val 3922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81928" y="1426464"/>
            <a:ext cx="475488" cy="47548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81928" y="152704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81928" y="2029968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課後文字稿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81928" y="2395728"/>
            <a:ext cx="21396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每次上課的字幕整理成文字稿，課後發給各位複習。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281928" y="3255264"/>
            <a:ext cx="2139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課後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7307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專業名詞記英文最省事：LiDAR 在越南文裡也叫 LiDAR。</a:t>
            </a:r>
            <a:endParaRPr lang="en-US" sz="1400" dirty="0"/>
          </a:p>
        </p:txBody>
      </p:sp>
      <p:pic>
        <p:nvPicPr>
          <p:cNvPr id="23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一月的時候，各位應該做得到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0A89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97840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78408" y="905256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看到一台車，判斷它是 SAE 第幾級，並說得出理由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167335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6916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161848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說明相機、光達、雷達各自看得到什麼、什麼時候會失效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02920" y="2386584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404872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78408" y="233172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畫出自駕系統從感知到控制的完整資料流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02920" y="3099816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3118104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304495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在瀏覽器模擬器裡調整感測器與車流參數，說得出車子行為為什麼改變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02920" y="3813048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383133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78408" y="375818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為一個具體場景寫出 ODD、選出感測器配置，並說明理由</a:t>
            </a:r>
            <a:endParaRPr lang="en-US" sz="1700" dirty="0"/>
          </a:p>
        </p:txBody>
      </p:sp>
      <p:pic>
        <p:nvPicPr>
          <p:cNvPr id="18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9601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討論一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89888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你為什麼選這門課？希望帶走什麼？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2999232"/>
            <a:ext cx="7955280" cy="658368"/>
          </a:xfrm>
          <a:prstGeom prst="roundRect">
            <a:avLst>
              <a:gd name="adj" fmla="val 12500"/>
            </a:avLst>
          </a:prstGeom>
          <a:solidFill>
            <a:srgbClr val="13314F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4E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兩人一組，用越南語討論兩分鐘，然後每組講一句。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8221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FB6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沒有標準答案。想找工作、覺得有趣、被排到的，都可以誠實說。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人怎麼開車，機器怎麼開車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從各位每天騎車開始想　｜　講義 1.2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pic>
        <p:nvPicPr>
          <p:cNvPr id="4" name="Image 0" descr="./img/hanoi_pov_ri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F3A">
              <a:alpha val="2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9144000" cy="2057400"/>
          </a:xfrm>
          <a:prstGeom prst="rect">
            <a:avLst/>
          </a:prstGeom>
          <a:solidFill>
            <a:srgbClr val="0B1F3A">
              <a:alpha val="78000"/>
            </a:srgbClr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02920" y="29260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討論二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2179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你現在騎在這台車上。接下來一秒，腦袋在做什麼？</a:t>
            </a:r>
            <a:endParaRPr lang="en-US" sz="25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1463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5E2E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先看到什麼？再判斷什麼？然後手和腳做什麼？——中間發生了幾件事？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023360" y="4800600"/>
            <a:ext cx="4983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EEF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河內上午尖峰・第一人稱騎乘畫面（影片四素材 A，僅供教室內放映）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三件事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44752" y="128016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44752" y="139903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9280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29514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眼睛看到紅燈、行人、前車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91693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感知　Perception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916936" y="19202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82696" y="109728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128016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24528" y="139903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82696" y="189280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想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29514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判斷距離，決定煞車還是繼續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282696" y="291693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決策　Decision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96712" y="19202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062472" y="109728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04304" y="128016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04304" y="139903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062472" y="189280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動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227064" y="229514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腳踩煞車，手轉方向盤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291693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控制　Control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4107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三個英文字整學期都會用到。</a:t>
            </a:r>
            <a:endParaRPr lang="en-US" sz="1400" dirty="0"/>
          </a:p>
        </p:txBody>
      </p:sp>
      <p:pic>
        <p:nvPicPr>
          <p:cNvPr id="24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0.7 到 1.5 秒花在哪裡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人的反應時間可以拆成四段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32004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階段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大約時間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在做什麼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機器與人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偵測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0.1–0.3 秒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眼睛接收到「前方有變化」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機器快得多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辨識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0.2–0.4 秒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那是什麼？紅燈、人、塑膠袋？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人仍然較強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決定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0.2–0.5 秒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煞車、閃避，還是繼續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人仍然較強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動作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0.2–0.3 秒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肌肉把腳移到踏板並踩下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機器快得多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246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時速 50 走 13.9 公尺／秒。反應 1 秒＋煞車 16 公尺，煞停約 30 公尺。這條式子第三週的模擬器會再看到。</a:t>
            </a:r>
            <a:endParaRPr lang="en-US" sz="1250" dirty="0"/>
          </a:p>
        </p:txBody>
      </p:sp>
      <p:pic>
        <p:nvPicPr>
          <p:cNvPr id="6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自駕系統的架構：模組化管線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每一段有明確的輸入輸出。由下往上，就是講義第三到第七章。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09323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04088" y="12527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控制 Control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2710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F0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軌跡 → 方向盤角度、油門、煞車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261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第七章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641348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0A3A4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" y="16870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規劃 Planning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17053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F0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走哪條線、什麼速度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355080" y="16962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第六章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2075688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0B425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088" y="21214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預測 Prediction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1396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F0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別人三秒後在哪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130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第六章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2510028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0C4A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" y="25557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定位 Localization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25740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F0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我在地圖上的哪一點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5648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第五章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2944368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0D52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4088" y="29900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感知 Perception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0083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F0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那裡有一台車，12.3 公尺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2999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第四章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3378708"/>
            <a:ext cx="5669280" cy="384048"/>
          </a:xfrm>
          <a:prstGeom prst="roundRect">
            <a:avLst>
              <a:gd name="adj" fmla="val 14286"/>
            </a:avLst>
          </a:prstGeom>
          <a:solidFill>
            <a:srgbClr val="0E5A6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4088" y="34244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感測 Sensing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34427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CF0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相機、光達、雷達、GNSS、IMU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355080" y="34335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第三章</a:t>
            </a:r>
            <a:endParaRPr lang="en-US" sz="1250" dirty="0"/>
          </a:p>
        </p:txBody>
      </p:sp>
      <p:pic>
        <p:nvPicPr>
          <p:cNvPr id="28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兩條路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分段做，還是一個網路全包？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975104"/>
            <a:ext cx="3803904" cy="1755648"/>
          </a:xfrm>
          <a:prstGeom prst="roundRect">
            <a:avLst>
              <a:gd name="adj" fmla="val 5208"/>
            </a:avLst>
          </a:prstGeom>
          <a:solidFill>
            <a:srgbClr val="13314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2139696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模組化管線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542032"/>
            <a:ext cx="3328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4E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可以一段一段除錯、可以驗證；但每個介面都會丟資訊：騎士有沒有回頭看你，感知把他壓成一個方框之後就沒有了。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99432" y="1975104"/>
            <a:ext cx="3803904" cy="1755648"/>
          </a:xfrm>
          <a:prstGeom prst="roundRect">
            <a:avLst>
              <a:gd name="adj" fmla="val 5208"/>
            </a:avLst>
          </a:prstGeom>
          <a:solidFill>
            <a:srgbClr val="13314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2139696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端到端 End-to-end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2542032"/>
            <a:ext cx="3328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4E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影像進去、軌跡出來，中間全交給神經網路。1989 年就有人做過（ALVINN），等了三十五年等算力和資料。不丟資訊，但出事很難查原因。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9502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年兩條路正在收斂：模組在變成網路，網路旁邊加回規則式的護欄。第八章詳談。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機器看到的世界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Waymo 360° Experience（2018）・3 分 36 秒・360° 影片，在 YouTube 網頁播放可拖曳視角；英文旁白，字幕可自動翻譯成越南文</a:t>
            </a:r>
            <a:endParaRPr lang="en-US" sz="1300" dirty="0"/>
          </a:p>
        </p:txBody>
      </p:sp>
      <p:sp>
        <p:nvSpPr>
          <p:cNvPr id="5" name="Shape 3">
            <a:hlinkClick r:id="rId1" tooltip="Waymo 360° Experience（YouTube）"/>
          </p:cNvPr>
          <p:cNvSpPr/>
          <p:nvPr/>
        </p:nvSpPr>
        <p:spPr>
          <a:xfrm>
            <a:off x="6903720" y="384048"/>
            <a:ext cx="1737360" cy="932688"/>
          </a:xfrm>
          <a:prstGeom prst="roundRect">
            <a:avLst>
              <a:gd name="adj" fmla="val 12745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333488" y="530352"/>
            <a:ext cx="384048" cy="384048"/>
          </a:xfrm>
          <a:prstGeom prst="triangle">
            <a:avLst/>
          </a:prstGeom>
          <a:solidFill>
            <a:srgbClr val="FFB020"/>
          </a:solidFill>
          <a:ln/>
        </p:spPr>
      </p:sp>
      <p:sp>
        <p:nvSpPr>
          <p:cNvPr id="7" name="Text 5">
            <a:hlinkClick r:id="rId2" tooltip="Waymo 360° Experience（YouTube）"/>
          </p:cNvPr>
          <p:cNvSpPr txBox="1"/>
          <p:nvPr/>
        </p:nvSpPr>
        <p:spPr>
          <a:xfrm>
            <a:off x="6903720" y="932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Waymo 360° Experience（YouTube）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點此播放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8138160" cy="1847088"/>
          </a:xfrm>
          <a:prstGeom prst="roundRect">
            <a:avLst>
              <a:gd name="adj" fmla="val 495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728216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16093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0:37–1:50　它怎麼看：光達每秒百萬道雷射建立 360° 圖像；雷達量距離與速度；相機看紅綠燈。合起來→知道自己在哪→辨識周圍一切→預測下一步，遠到三個足球場外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8952" y="2112264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19933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1:50–2:21　它怎麼決定：給單車足夠空間、留意人行道上的行人；不只安全，還要讓車內外的人都安心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" y="2496312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377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2:21–3:36　坐進去是什麼感覺：駕駛座沒有人、螢幕顯示它看到的東西和路線；「不平凡的技術，要讓乘車感覺完全平凡」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8952" y="288036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7614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看的時候注意：機器「看見」的東西，和你眼睛看見的差在哪裡</a:t>
            </a:r>
            <a:endParaRPr lang="en-US" sz="1400" dirty="0"/>
          </a:p>
        </p:txBody>
      </p:sp>
      <p:sp>
        <p:nvSpPr>
          <p:cNvPr id="17" name="Shape 15">
            <a:hlinkClick r:id="rId3" tooltip="https://www.youtube.com/watch?v=B8R148hFxPw"/>
          </p:cNvPr>
          <p:cNvSpPr/>
          <p:nvPr/>
        </p:nvSpPr>
        <p:spPr>
          <a:xfrm>
            <a:off x="502920" y="3419856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EAF6F4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8" name="Text 16">
            <a:hlinkClick r:id="rId4" tooltip="https://www.youtube.com/watch?v=B8R148hFxPw"/>
          </p:cNvPr>
          <p:cNvSpPr txBox="1"/>
          <p:nvPr/>
        </p:nvSpPr>
        <p:spPr>
          <a:xfrm>
            <a:off x="502920" y="34198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4" invalidUrl="" action="" tgtFrame="" tooltip="https://www.youtube.com/watch?v=B8R148hFxPw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Waymo 360° Experience（YouTube）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7856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youtube.com/watch?v=B8R148hFxPw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114800"/>
            <a:ext cx="8138160" cy="530352"/>
          </a:xfrm>
          <a:prstGeom prst="roundRect">
            <a:avLst>
              <a:gd name="adj" fmla="val 15517"/>
            </a:avLst>
          </a:prstGeom>
          <a:solidFill>
            <a:srgbClr val="FFF6E4"/>
          </a:solidFill>
          <a:ln w="12700">
            <a:solidFill>
              <a:srgbClr val="F2D7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18795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播完問：哪一邊比較快？哪一邊比較懂？</a:t>
            </a:r>
            <a:endParaRPr lang="en-US" sz="1450" dirty="0"/>
          </a:p>
        </p:txBody>
      </p:sp>
      <p:pic>
        <p:nvPicPr>
          <p:cNvPr id="23" name="Image 0" descr=".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第一節小結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78408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0058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4984" y="94183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講義是自編的，來源都交代在前言與附錄四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1545336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5727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150876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11/5 期中考、11/19 校慶停課、1/7 期末考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02920" y="2112264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1396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207568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看、想、動：感知 Perception、決策 Decision、控制 Control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02920" y="2679192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70662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2642616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六段管線：感測、感知、定位、預測、規劃、控制；另一條路叫端到端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EAF6F4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52" y="4069080"/>
            <a:ext cx="7635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休息十分鐘。第二節學那套全世界共通的語言：SAE 分級。</a:t>
            </a:r>
            <a:endParaRPr lang="en-US" sz="1500" dirty="0"/>
          </a:p>
        </p:txBody>
      </p:sp>
      <p:pic>
        <p:nvPicPr>
          <p:cNvPr id="17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六個等級、一百年、誰負責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先學分級，再看歷史，最後談責任　｜　講義 1.3–1.5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先認識四個術語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J3016 的骨架</a:t>
            </a:r>
            <a:endParaRPr lang="en-US" sz="13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657600"/>
                <a:gridCol w="2377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術語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意思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用來分辨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DDT 動態駕駛任務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即時把車開好：轉向、加減速、加上 OEDR。不含「要走哪條路」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—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OEDR 偵測與反應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看見周圍發生什麼事，並做出反應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L2 與 L3：誰在監看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DDT fallback 接手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系統出問題時誰來收拾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L3 與 L4：人接手還是系統自己接手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ODD 運行設計域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系統被設計成能在什麼條件下運作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L4 與 L5：有沒有限制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39319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「這台車是 L4」不完整。正確的問法是：它的 ODD 是什麼？</a:t>
            </a:r>
            <a:endParaRPr lang="en-US" sz="1250" dirty="0"/>
          </a:p>
        </p:txBody>
      </p:sp>
      <p:pic>
        <p:nvPicPr>
          <p:cNvPr id="6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六個等級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全世界通用的分級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676656" cy="438912"/>
          </a:xfrm>
          <a:prstGeom prst="roundRect">
            <a:avLst>
              <a:gd name="adj" fmla="val 14583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289304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L0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3444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無自動化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123444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人做全部。系統可警告或瞬間介入。自動緊急煞車 AEB 是 L0。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676656" cy="438912"/>
          </a:xfrm>
          <a:prstGeom prst="roundRect">
            <a:avLst>
              <a:gd name="adj" fmla="val 14583"/>
            </a:avLst>
          </a:prstGeom>
          <a:solidFill>
            <a:srgbClr val="0B1F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1819656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17647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駕駛輔助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1764792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系統持續做轉向或加減速其中一項。定速巡航 ACC 是 L1。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676656" cy="438912"/>
          </a:xfrm>
          <a:prstGeom prst="roundRect">
            <a:avLst>
              <a:gd name="adj" fmla="val 14583"/>
            </a:avLst>
          </a:prstGeom>
          <a:solidFill>
            <a:srgbClr val="0E7C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35000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29514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部分自動化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2295144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系統同時做轉向和加減速，但監看環境仍是人的責任。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798064"/>
            <a:ext cx="676656" cy="438912"/>
          </a:xfrm>
          <a:prstGeom prst="roundRect">
            <a:avLst>
              <a:gd name="adj" fmla="val 14583"/>
            </a:avLst>
          </a:prstGeom>
          <a:solidFill>
            <a:srgbClr val="0E7C7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2880360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8254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有條件自動化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337560" y="2825496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ODD 內系統全做，人可以不看路，但系統要求時必須接手。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328416"/>
            <a:ext cx="676656" cy="438912"/>
          </a:xfrm>
          <a:prstGeom prst="roundRect">
            <a:avLst>
              <a:gd name="adj" fmla="val 14583"/>
            </a:avLst>
          </a:prstGeom>
          <a:solidFill>
            <a:srgbClr val="0E7C7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3410712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33558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高度自動化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337560" y="3355848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ODD 內系統全做，連接手都是系統自己。可以沒有駕駛座。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2920" y="3858768"/>
            <a:ext cx="676656" cy="438912"/>
          </a:xfrm>
          <a:prstGeom prst="roundRect">
            <a:avLst>
              <a:gd name="adj" fmla="val 14583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02920" y="3941064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886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完全自動化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37560" y="3886200"/>
            <a:ext cx="5257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 ODD 限制。目前不存在。</a:t>
            </a:r>
            <a:endParaRPr lang="en-US" sz="1300" dirty="0"/>
          </a:p>
        </p:txBody>
      </p:sp>
      <p:pic>
        <p:nvPicPr>
          <p:cNvPr id="28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三個判準，依序問就不會錯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44752" y="128016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44752" y="139903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89280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瞬間？持續？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29514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瞬間介入（AEB、ESC）＝ L0；持續控制才往上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91693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L0 的界線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916936" y="19202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82696" y="109728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24528" y="128016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24528" y="139903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282696" y="189280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一項？兩項？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29514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只管速度或只管方向＝ L1；兩項都管＝ L2 以上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282696" y="291693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L1 與 L2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96712" y="1920240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062472" y="1097280"/>
            <a:ext cx="2395728" cy="2103120"/>
          </a:xfrm>
          <a:prstGeom prst="roundRect">
            <a:avLst>
              <a:gd name="adj" fmla="val 4348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04304" y="1280160"/>
            <a:ext cx="512064" cy="51206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004304" y="139903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062472" y="189280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誰看路？誰接手？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6227064" y="2295144"/>
            <a:ext cx="20665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人監督＝ L2；人被叫才接手＝ L3；系統全包＝ L4；沒有 ODD＝ L5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062472" y="2916936"/>
            <a:ext cx="2395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L2 到 L5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4107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等級描述的是分工，不是能力。一台 L2 的 Tesla 在高速公路上可能比 L4 的園區巴士厲害，但它是 L2。</a:t>
            </a:r>
            <a:endParaRPr lang="en-US" sz="1400" dirty="0"/>
          </a:p>
        </p:txBody>
      </p:sp>
      <p:pic>
        <p:nvPicPr>
          <p:cNvPr id="24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影片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669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同一條街、同一台車，拍六遍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06070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 2 分 30 秒・規劃自製，未完成前先用下方替代影片</a:t>
            </a:r>
            <a:endParaRPr lang="en-US" sz="1300" dirty="0"/>
          </a:p>
        </p:txBody>
      </p:sp>
      <p:sp>
        <p:nvSpPr>
          <p:cNvPr id="5" name="Shape 3">
            <a:hlinkClick r:id="rId1" tooltip="替代影片：SAE Levels explained（YouTube）"/>
          </p:cNvPr>
          <p:cNvSpPr/>
          <p:nvPr/>
        </p:nvSpPr>
        <p:spPr>
          <a:xfrm>
            <a:off x="6903720" y="384048"/>
            <a:ext cx="1737360" cy="932688"/>
          </a:xfrm>
          <a:prstGeom prst="roundRect">
            <a:avLst>
              <a:gd name="adj" fmla="val 12745"/>
            </a:avLst>
          </a:prstGeom>
          <a:solidFill>
            <a:srgbClr val="0B1F3A"/>
          </a:solidFill>
          <a:ln/>
        </p:spPr>
      </p:sp>
      <p:sp>
        <p:nvSpPr>
          <p:cNvPr id="6" name="Shape 4"/>
          <p:cNvSpPr/>
          <p:nvPr/>
        </p:nvSpPr>
        <p:spPr>
          <a:xfrm rot="5400000">
            <a:off x="7333488" y="530352"/>
            <a:ext cx="384048" cy="384048"/>
          </a:xfrm>
          <a:prstGeom prst="triangle">
            <a:avLst/>
          </a:prstGeom>
          <a:solidFill>
            <a:srgbClr val="FFB020"/>
          </a:solidFill>
          <a:ln/>
        </p:spPr>
      </p:sp>
      <p:sp>
        <p:nvSpPr>
          <p:cNvPr id="7" name="Text 5">
            <a:hlinkClick r:id="rId2" tooltip="替代影片：SAE Levels explained（YouTube）"/>
          </p:cNvPr>
          <p:cNvSpPr txBox="1"/>
          <p:nvPr/>
        </p:nvSpPr>
        <p:spPr>
          <a:xfrm>
            <a:off x="6903720" y="9326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2" invalidUrl="" action="" tgtFrame="" tooltip="替代影片：SAE Levels explained（YouTube）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點此播放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8138160" cy="1847088"/>
          </a:xfrm>
          <a:prstGeom prst="roundRect">
            <a:avLst>
              <a:gd name="adj" fmla="val 495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8952" y="1728216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160934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差別只在駕駛的手和眼睛在哪裡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58952" y="2112264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05840" y="19933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L0 手握方向盤看路　L1 腳離開踏板　L2 手輕放、眼睛仍看路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" y="2496312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23774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L3 低頭看手機、系統警示、抬頭接手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58952" y="2880360"/>
            <a:ext cx="118872" cy="118872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05840" y="27614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 駕駛座沒有人　L5 同樣，場景換成暴雨山路</a:t>
            </a:r>
            <a:endParaRPr lang="en-US" sz="1400" dirty="0"/>
          </a:p>
        </p:txBody>
      </p:sp>
      <p:sp>
        <p:nvSpPr>
          <p:cNvPr id="17" name="Shape 15">
            <a:hlinkClick r:id="rId3" tooltip="https://www.youtube.com/watch?v=6nDRb7ccKFY"/>
          </p:cNvPr>
          <p:cNvSpPr/>
          <p:nvPr/>
        </p:nvSpPr>
        <p:spPr>
          <a:xfrm>
            <a:off x="502920" y="3419856"/>
            <a:ext cx="4023360" cy="329184"/>
          </a:xfrm>
          <a:prstGeom prst="roundRect">
            <a:avLst>
              <a:gd name="adj" fmla="val 22222"/>
            </a:avLst>
          </a:prstGeom>
          <a:solidFill>
            <a:srgbClr val="EAF6F4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8" name="Text 16">
            <a:hlinkClick r:id="rId4" tooltip="https://www.youtube.com/watch?v=6nDRb7ccKFY"/>
          </p:cNvPr>
          <p:cNvSpPr txBox="1"/>
          <p:nvPr/>
        </p:nvSpPr>
        <p:spPr>
          <a:xfrm>
            <a:off x="502920" y="34198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u="sng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  <a:hlinkClick r:id="rId4" invalidUrl="" action="" tgtFrame="" tooltip="https://www.youtube.com/watch?v=6nDRb7ccKF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替代影片：SAE Levels explained（YouTube）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78561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youtube.com/watch?v=6nDRb7ccKFY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4114800"/>
            <a:ext cx="8138160" cy="530352"/>
          </a:xfrm>
          <a:prstGeom prst="roundRect">
            <a:avLst>
              <a:gd name="adj" fmla="val 15517"/>
            </a:avLst>
          </a:prstGeom>
          <a:solidFill>
            <a:srgbClr val="FFF6E4"/>
          </a:solidFill>
          <a:ln w="12700">
            <a:solidFill>
              <a:srgbClr val="F2D79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952" y="418795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播完問：L2 和 L3，畫面上最大的差別是什麼？</a:t>
            </a:r>
            <a:endParaRPr lang="en-US" sz="1450" dirty="0"/>
          </a:p>
        </p:txBody>
      </p:sp>
      <p:pic>
        <p:nvPicPr>
          <p:cNvPr id="22" name="Image 0" descr=".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如果今天只記一句話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L2 和 L3 的差別，在出事的時候誰負責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975104"/>
            <a:ext cx="3803904" cy="1755648"/>
          </a:xfrm>
          <a:prstGeom prst="roundRect">
            <a:avLst>
              <a:gd name="adj" fmla="val 5208"/>
            </a:avLst>
          </a:prstGeom>
          <a:solidFill>
            <a:srgbClr val="13314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2139696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L2：人負責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542032"/>
            <a:ext cx="3328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4E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不管系統多聰明，法律上是你在開車。所以車子一直提醒你把手放方向盤上。那有一半是為了證明開車的人是你。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99432" y="1975104"/>
            <a:ext cx="3803904" cy="1755648"/>
          </a:xfrm>
          <a:prstGeom prst="roundRect">
            <a:avLst>
              <a:gd name="adj" fmla="val 5208"/>
            </a:avLst>
          </a:prstGeom>
          <a:solidFill>
            <a:srgbClr val="13314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2139696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L3：系統負責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2542032"/>
            <a:ext cx="3328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4E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ODD 內，法律上是系統在開車，所以你可以不看路。系統要求接手時你才接手。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9502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 L3 就要扛責任。全世界做過 L3 量產車的只有兩三家，Mercedes 今年一月宣布暫停，改推 L2。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幾個常見的誤解</a:t>
            </a:r>
            <a:endParaRPr lang="en-US" sz="27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常聽到的說法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實際上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AEB 是 L1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L0。它是瞬間介入，不是持續控制。判準只有兩個字：持續。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Tesla 是 L5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一般車主買到的 FSD 是 L2，要全程監控。Robotaxi 車隊才是 L4。同一家公司兩個等級。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已經有 L5 了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沒有。連法規都還沒開始處理 L5。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等級越高越好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Mercedes 2026 年 1 月把 L3 暫停改推 L2，因為 L2 能用的場景更多、成本低很多。等級是法律定義，不是產品評分。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L2+、L2++ 是官方等級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那是行銷用語。法律上仍是 L2，責任仍在駕駛。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怎麼描述一個 ODD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兩個例子並列：日本的量產 L3，與河內的園區試驗</a:t>
            </a:r>
            <a:endParaRPr lang="en-US" sz="13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37560"/>
                <a:gridCol w="3337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面向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Honda Legend（2021）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河內 Phenikaa-X（2026）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道路類型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高速公路與汽車專用道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和樂高科技園區內道路 11.5 公里、大學校區 2.8 公里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速度域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約 30 km/h 以下啟動，50 以上退出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時速 40 以下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交通狀況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限壅塞路況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園區車流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天候與光照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天候良好；感測器須能正常運作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白天 09:00–16:30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地理範圍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日本國內核定路段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河內市核定的兩個園區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人的角色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駕駛可不看路，被叫時接手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車上必須有可隨時接手的安全監督員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02920" y="4160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ODD 寫得誠實，就知道系統做不到什麼。期末專題的第一件事就是寫 ODD。</a:t>
            </a:r>
            <a:endParaRPr lang="en-US" sz="1250" dirty="0"/>
          </a:p>
        </p:txBody>
      </p:sp>
      <p:pic>
        <p:nvPicPr>
          <p:cNvPr id="6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一百年，三次轉向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 Tesla 或 Google 發明的，比各位的祖父母還老　｜　講義 1.4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1925 到 1960：讓「路」變聰明</a:t>
            </a:r>
            <a:endParaRPr lang="en-US" sz="27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年份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事件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為什麼重要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1925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American Wonder 在紐約百老匯無人駕駛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那是無線電遙控，人在後面那台車上。不是自駕。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1939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GM 在世界博覽會展出 Futurama，路面埋線導引車輛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每天三萬人參觀，影響了往後幾十年的想像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1957–58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RCA 與 GM 在內布拉斯加真的把導線埋進公路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能自動轉向與加減速；但改造全美公路要多花四到五成的錢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1089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第一次轉向：改路太貴，下一個世代改成讓車自己看。</a:t>
            </a:r>
            <a:endParaRPr lang="en-US" sz="1250" dirty="0"/>
          </a:p>
        </p:txBody>
      </p:sp>
      <p:pic>
        <p:nvPicPr>
          <p:cNvPr id="5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1977 到 1995：讓「車」自己看</a:t>
            </a:r>
            <a:endParaRPr lang="en-US" sz="27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377440"/>
                <a:gridCol w="47548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年份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做到什麼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1977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日本筑波・津川定之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世界第一輛以電腦視覺導引的車，時速約 10–30 公里（來源不一）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1987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德國・Dickmanns 的 VaMoRs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只靠攝影機在高速公路上開到 96 km/h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1989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美國 CMU・ALVINN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第一個用神經網路開車的系統。影像進去、方向盤角度出來。今天的端到端就是這個想法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1994–95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PROMETHEUS 計畫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巴黎車流中跑 1,000 公里；慕尼黑到丹麥 1,758 公里，約 95% 自主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1995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CMU・No Hands Across America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橫越美國 2,849 英里，98.2% 由電腦控制。但只有轉向，油門煞車全程是人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4023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看到驚人的數字，先問它到底在說什麼。98.2% 那一列就是例子。</a:t>
            </a:r>
            <a:endParaRPr lang="en-US" sz="1250" dirty="0"/>
          </a:p>
        </p:txBody>
      </p:sp>
      <p:pic>
        <p:nvPicPr>
          <p:cNvPr id="5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2004 到 2007：三場比賽改變一切</a:t>
            </a:r>
            <a:endParaRPr lang="en-US" sz="27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46634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年份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賽事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2004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DARPA Grand Challenge・沙漠 150 英里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沒有人完賽。最好的一隊跑了 11.78 公里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2005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DARPA Grand Challenge・212 公里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史丹佛 Stanley 奪冠，五隊完賽。Velodyne 光達原型首次登場；大量用機器學習而不是寫死的規則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2007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Urban Challenge・模擬都市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要遵守交通規則、與其他車互動。CMU Boss 奪冠</a:t>
                      </a:r>
                      <a:endParaRPr lang="en-US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1546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第二次轉向：一年半之內從無人完賽到五隊完賽，變的是方法。這些參賽者後來組成了整個產業。</a:t>
            </a:r>
            <a:endParaRPr lang="en-US" sz="1250" dirty="0"/>
          </a:p>
        </p:txBody>
      </p:sp>
      <p:pic>
        <p:nvPicPr>
          <p:cNvPr id="5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2009 到 2026：進入產業，然後第一次踩煞車</a:t>
            </a:r>
            <a:endParaRPr lang="en-US" sz="27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60120"/>
          <a:ext cx="8138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69494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年月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事件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2009/01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Google 啟動自駕車計畫，延攬 DARPA 參賽者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2014/01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SAE 首次發布 J3016，L0 到 L5 從此有共通語言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2018/03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Uber 測試車在亞利桑那撞死行人，第一起自駕車致死事故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2018/12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Waymo One 在鳳凰城推出；真正無人的公眾服務要到 2019/11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2020/11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Honda Legend 取得全球第一個 L3 認證，只做 100 台、只租不賣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2023/10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Cruise 在舊金山拖行行人，加州吊照；2024 年底通用放棄 robotaxi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2026/01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Mercedes 暫停 Drive Pilot，退出 L3，改推 L2++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2026/08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河內核准越南第一個自駕試驗；加州核准 Waymo 擴及 18 個郡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42062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有人前進，有人後退。任何「幾年後全面普及」的預測，都可以合理懷疑。</a:t>
            </a:r>
            <a:endParaRPr lang="en-US" sz="1250" dirty="0"/>
          </a:p>
        </p:txBody>
      </p:sp>
      <p:pic>
        <p:nvPicPr>
          <p:cNvPr id="5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一百年裡看到的三件事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298448" cy="786384"/>
          </a:xfrm>
          <a:prstGeom prst="roundRect">
            <a:avLst>
              <a:gd name="adj" fmla="val 10465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1978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會轉彎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84248" y="978408"/>
            <a:ext cx="6629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先想改路，再改成讓車自己看。今天的高精地圖，某種程度上是「改路」那條路線在電腦裡的回魂。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9384"/>
            <a:ext cx="1298448" cy="786384"/>
          </a:xfrm>
          <a:prstGeom prst="roundRect">
            <a:avLst>
              <a:gd name="adj" fmla="val 10465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1671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84248" y="1947672"/>
            <a:ext cx="6629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2004 到 2005 只隔一年半，硬體幾乎沒變，變的是從規則改成從資料學。2012 年之後感知全面換成深度學習，是第三次。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98448" cy="786384"/>
          </a:xfrm>
          <a:prstGeom prst="roundRect">
            <a:avLst>
              <a:gd name="adj" fmla="val 10465"/>
            </a:avLst>
          </a:prstGeom>
          <a:solidFill>
            <a:srgbClr val="FFB0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13639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不是直線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2916936"/>
            <a:ext cx="6629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2026 年 Mercedes 退出 L3、中國主管機關收緊，同時河內開始試驗、Waymo 擴張。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拼的不是誰先跑，是誰能在十年裡不出致命錯誤。</a:t>
            </a:r>
            <a:endParaRPr lang="en-US" sz="1400" dirty="0"/>
          </a:p>
        </p:txBody>
      </p:sp>
      <p:pic>
        <p:nvPicPr>
          <p:cNvPr id="13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誰負責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各地的法規走到哪裡　｜　講義 1.5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各地的法規走到哪裡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資料時點：2026 年 9 月</a:t>
            </a:r>
            <a:endParaRPr lang="en-US" sz="13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6751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國家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重點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聯合國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UN R157 是第一部 L3 國際法規，2021 生效；2023 修訂後速度上限 130 km/h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台灣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《無人載具科技創新實驗條例》2018，沙盒制度，主管機關是經濟部；累計核准 22 件，多為固定路線接駁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德國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2021 年《自動駕駛法》是全球首部允許 L4 常態營運的國家級法律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日本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2020 年引進 ODD 概念逐案指定；2023 年設 L4 制度，永平寺町首件許可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美國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無聯邦專法。聯邦管車，各州管人與路。加州 2026/08 核准 Waymo 擴及 18 個郡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越南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2025/01 生效的新法首次定義「智慧車輛」；2026/08/25 河內核准第一個試驗</a:t>
                      </a:r>
                      <a:endParaRPr lang="en-US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河內，2026 年 8 月 25 日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298448" cy="786384"/>
          </a:xfrm>
          <a:prstGeom prst="roundRect">
            <a:avLst>
              <a:gd name="adj" fmla="val 10465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1978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誰、多久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84248" y="978408"/>
            <a:ext cx="6629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越南本土的 Phenikaa-X，為期 24 個月。自駕巴士、robotaxi、清掃與配送機器人。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9384"/>
            <a:ext cx="1298448" cy="786384"/>
          </a:xfrm>
          <a:prstGeom prst="roundRect">
            <a:avLst>
              <a:gd name="adj" fmla="val 10465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1671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在哪裡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84248" y="1947672"/>
            <a:ext cx="6629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和樂高科技園區 11.5 公里、越南國家大學和樂校區 2.8 公里。不是市區。這就是 ODD 的實際應用。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98448" cy="786384"/>
          </a:xfrm>
          <a:prstGeom prst="roundRect">
            <a:avLst>
              <a:gd name="adj" fmla="val 10465"/>
            </a:avLst>
          </a:prstGeom>
          <a:solidFill>
            <a:srgbClr val="FFB0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13639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限制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2916936"/>
            <a:ext cx="6629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時速 40 以下、09:00–16:30、巴士最多 8 人、robotaxi 最多 4 人，車上必須有可隨時接手的安全監督員。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台灣的沙盒案例（台中水湳、台南沙崙）是同一個等級：園區、低速、固定路線、有安全人員。各位畢業時這個試驗剛結束。</a:t>
            </a:r>
            <a:endParaRPr lang="en-US" sz="1400" dirty="0"/>
          </a:p>
        </p:txBody>
      </p:sp>
      <p:pic>
        <p:nvPicPr>
          <p:cNvPr id="13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現場想一想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7830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車上必須有可隨時接手的安全監督員。這樣的系統，算 L 幾？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312724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7CBD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系統在 ODD 內做全部的駕駛任務，但接手的是人。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9601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討論三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89888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L2 的車撞了人，誰要賠？L3 呢？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2999232"/>
            <a:ext cx="7955280" cy="658368"/>
          </a:xfrm>
          <a:prstGeom prst="roundRect">
            <a:avLst>
              <a:gd name="adj" fmla="val 12500"/>
            </a:avLst>
          </a:prstGeom>
          <a:solidFill>
            <a:srgbClr val="13314F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4E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四人一組討論三分鐘，各組講結論。用越南語討論、發表都可以。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8221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FB6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想一想：如果你是車廠老闆，你敢不敢賣 L3 的車？Mercedes 今年一月的決定給了一半答案。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第二節小結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78408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00584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14984" y="941832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四個詞：DDT、OEDR、fallback、ODD；三個判準：瞬間或持續、一項或兩項、誰看路誰接手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02920" y="1545336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57276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1508760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AEB 是 L0；L5 目前不存在；L2+ 是行銷用語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02920" y="2112264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21396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207568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L2 與 L3 的差別是誰負責；L3 與 L4 的差別是誰接手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02920" y="2679192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2920" y="270662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14984" y="2642616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三次轉向：改路變改車；規則變學習；進度不是直線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329184" cy="32918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02920" y="32735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14984" y="3209544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河內的試驗上個月剛核准，台灣的沙盒 2019 年就開始了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02920" y="3977640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EAF6F4"/>
          </a:solidFill>
          <a:ln w="12700">
            <a:solidFill>
              <a:srgbClr val="BFE3D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58952" y="4069080"/>
            <a:ext cx="7635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休息十分鐘。第三節先問為什麼要讓機器開車，然後回到各位每天騎的路上。</a:t>
            </a:r>
            <a:endParaRPr lang="en-US" sz="1500" dirty="0"/>
          </a:p>
        </p:txBody>
      </p:sp>
      <p:pic>
        <p:nvPicPr>
          <p:cNvPr id="20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為什麼要讓機器開車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三個理由，其中兩個常被講得太誇張　｜　講義 1.6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先看事故的數字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資料年份不同，比較的時候要小心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43560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116 萬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3969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全球每年道路死亡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4203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WHO 2026 年 7 月對 2025 年的估計。機車騎士約佔三分之一。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207008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65576" y="143560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2,858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213969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台灣 2025 年死亡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254203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三十日內死亡。機車約六成，65 歲以上死亡率最高。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2472" y="1207008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45352" y="143560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10,337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213969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越南 2025 年官方通報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254203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 WHO 對 2021 年的估計是 17,229 人，約為當年官方通報的三倍。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7673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越南的兩個數字為什麼差三倍？「通報」和「估計」是兩件事。做專題引用數字時，這兩種不能混著比。</a:t>
            </a:r>
            <a:endParaRPr lang="en-US" sz="1250" dirty="0"/>
          </a:p>
        </p:txBody>
      </p:sp>
      <p:pic>
        <p:nvPicPr>
          <p:cNvPr id="17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一句到處被引用、但被引用錯了的話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「94% 的事故是人為錯誤造成的」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975104"/>
            <a:ext cx="3803904" cy="1755648"/>
          </a:xfrm>
          <a:prstGeom prst="roundRect">
            <a:avLst>
              <a:gd name="adj" fmla="val 5208"/>
            </a:avLst>
          </a:prstGeom>
          <a:solidFill>
            <a:srgbClr val="13314F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2139696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原始報告怎麼說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40664" y="2542032"/>
            <a:ext cx="3328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4E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NHTSA 2015 年：94% 事故的「關鍵原因」歸給駕駛人。但報告自己聲明，關鍵原因不等於事故成因，也不代表責任歸屬。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99432" y="1975104"/>
            <a:ext cx="3803904" cy="1755648"/>
          </a:xfrm>
          <a:prstGeom prst="roundRect">
            <a:avLst>
              <a:gd name="adj" fmla="val 5208"/>
            </a:avLst>
          </a:prstGeom>
          <a:solidFill>
            <a:srgbClr val="13314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37176" y="2139696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後來發生什麼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37176" y="2542032"/>
            <a:ext cx="33284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E4E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IIHS 2020 年重新分析：若自駕車只改善感知、複製人類的決策，約只能避免三分之一的事故。2022 年 NHTSA 把這個數字從宣導材料中拿掉。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950208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各位以後在職場上會不斷遇到被引用走樣的數字。看得出來，就比別人強。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另外兩個理由，以及反面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1298448" cy="786384"/>
          </a:xfrm>
          <a:prstGeom prst="roundRect">
            <a:avLst>
              <a:gd name="adj" fmla="val 10465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19786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高齡化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84248" y="978408"/>
            <a:ext cx="6629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台灣 2025 年底進入超高齡社會，65 歲以上佔 20%，卻佔交通死亡近 45%。越南目前約 9%，但高齡化速度是亞洲最快之一。對不能開車的人，自駕車不是便利，是自由。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29384"/>
            <a:ext cx="1298448" cy="786384"/>
          </a:xfrm>
          <a:prstGeom prst="roundRect">
            <a:avLst>
              <a:gd name="adj" fmla="val 10465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16712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物流人力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984248" y="1947672"/>
            <a:ext cx="6629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卡車協會說司機短缺，勞工統計局說那是留不住人。自駕卡車 2025 年起在德州無人上路，但別說成「解決短缺」。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898648"/>
            <a:ext cx="1298448" cy="786384"/>
          </a:xfrm>
          <a:prstGeom prst="roundRect">
            <a:avLst>
              <a:gd name="adj" fmla="val 10465"/>
            </a:avLst>
          </a:prstGeom>
          <a:solidFill>
            <a:srgbClr val="FFB0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2920" y="313639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反面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984248" y="2916936"/>
            <a:ext cx="6629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就業衝擊、資料與隱私、責任模糊，以及「安全」的證據只在 ODD 內成立：Waymo 的數字是鳳凰城的乾燥天氣，不是河內的雨季。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第四個理由「減壅塞與排放」證據最弱：坐車變方便，里程反而增加。講義 1.6 有寫。</a:t>
            </a:r>
            <a:endParaRPr lang="en-US" sz="1400" dirty="0"/>
          </a:p>
        </p:txBody>
      </p:sp>
      <p:pic>
        <p:nvPicPr>
          <p:cNvPr id="13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691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第三節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4825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台灣與越南的路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這一段不是我教各位，是各位告訴我　｜　講義 1.8、活動 1.9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越南：先看幾個數字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7,700 萬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928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登記機車數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95144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約每千人 770 輛。2024 年 9 月，越南國家交通安全委員會。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82696" y="960120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65576" y="1188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85–90%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465576" y="18928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機車佔道路流量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2295144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登記車輛中機車約佔 93–94%。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62472" y="960120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45352" y="1188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57%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189280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交通死亡者為機車騎士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2295144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2021 年，WHO 越南國別檔。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352044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全世界的感知模型幾乎都用歐美資料訓練，路上都是汽車。越南路上九成是機車。這不是難一點，是訓練資料裡幾乎沒有的東西。</a:t>
            </a:r>
            <a:endParaRPr lang="en-US" sz="1250" dirty="0"/>
          </a:p>
        </p:txBody>
      </p:sp>
      <p:pic>
        <p:nvPicPr>
          <p:cNvPr id="16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台灣：放在旁邊看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台灣是越南的縮小版：同一種難題，低一級的程度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143560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1,400 萬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3969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登記機車數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4203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每千人約 600 輛，全世界前幾名，只比越南低一級。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82696" y="1207008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465576" y="143560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 6 成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213969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交通死亡者為機車騎士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65576" y="254203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2025 年 2,858 人（三十日內死亡）。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62472" y="1207008"/>
            <a:ext cx="2578608" cy="2377440"/>
          </a:xfrm>
          <a:prstGeom prst="roundRect">
            <a:avLst>
              <a:gd name="adj" fmla="val 3846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245352" y="143560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 樣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2139696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一樣多的東西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45352" y="2542032"/>
            <a:ext cx="2212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機車、雨（梅雨、颱風、午後雷陣雨）、巷弄（騎樓、並排停車）。差在程度，不在種類。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37673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各位每天在台灣的路上騎車。在台灣勉強做得到的事，到河內會變成什麼樣？這個對照各位自己就做得出來。</a:t>
            </a:r>
            <a:endParaRPr lang="en-US" sz="1250" dirty="0"/>
          </a:p>
        </p:txBody>
      </p:sp>
      <p:pic>
        <p:nvPicPr>
          <p:cNvPr id="17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尖峰時間的河內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80760" y="201168"/>
            <a:ext cx="2788920" cy="603504"/>
          </a:xfrm>
          <a:prstGeom prst="roundRect">
            <a:avLst>
              <a:gd name="adj" fmla="val 15152"/>
            </a:avLst>
          </a:prstGeom>
          <a:solidFill>
            <a:srgbClr val="0B1F3A">
              <a:alpha val="8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080760" y="2194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影片　尖峰時間的河內　1:51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6080760" y="530352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8E4E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按一下播放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9601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討論四・本節重點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389888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 Waymo 原封不動運到河內，能跑嗎？運到台北呢？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02920" y="2999232"/>
            <a:ext cx="7955280" cy="658368"/>
          </a:xfrm>
          <a:prstGeom prst="roundRect">
            <a:avLst>
              <a:gd name="adj" fmla="val 12500"/>
            </a:avLst>
          </a:prstGeom>
          <a:solidFill>
            <a:srgbClr val="13314F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" y="3108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8E4E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全班一起。各位舉例，我寫在白板上，分成台灣一欄、越南一欄。用越南語講沒關係。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8221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9FB6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提示：機車、雨季、巷子、太陽、路邊攤、圓環、騎樓、待轉區。你每天遇到的每一件麻煩事，對那台電腦也是麻煩事。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各位剛剛講的，就是這學期要學的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同一個難題：台灣是縮小版，越南是放大版</a:t>
            </a:r>
            <a:endParaRPr lang="en-US" sz="135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926080"/>
                <a:gridCol w="29260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難題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台灣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越南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對應章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機車海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紅燈前二十台、待轉區、綠燈扇形起步；有車道當骨架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五公尺內十二台、不走車道；訓練資料裡幾乎沒有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第四、六章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雨季與積水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梅雨、颱風、午後雷陣雨；地下道積水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雨季數月、大面積積水；深度沒有感測器看得到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第三章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窄巷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台北巷弄、騎樓、高架下衛星訊號差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巷弄更多；沒人做高精地圖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第三、五章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高溫高濕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35–38 度、濕度 80%；電腦散熱吃緊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35 度以上、濕度 90%；過熱降頻就是反應慢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第八章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路況天天變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開挖、夜市、機車停滿人行道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施工、攤販、佔道；地圖下週過期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第二、五章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B1F3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無號誌路口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巷口探頭協商；規則清楚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圓環靠眼神與喇叭；寫不成規則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第六、八章</a:t>
                      </a:r>
                      <a:endParaRPr lang="en-US" sz="10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6583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期末專題・今天就給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怎樣的自駕車，才能在越南跑？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1371600" cy="411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23317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DE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這個問題跟著各位十八週。每學完一章，回頭問一次：這一章對這個問題有什麼幫助？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73405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DE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選一個具體場景：和樂園區、某一條路線、某一個社區；選台灣的路也可以，但要說明搬到越南會怎樣。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13639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DDE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交四件事：ODD、感測器配置、最難的三個情境、一個現在就能開始做的第一步。第 12 週分組，第 17 週發表。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767328"/>
            <a:ext cx="7955280" cy="713232"/>
          </a:xfrm>
          <a:prstGeom prst="roundRect">
            <a:avLst>
              <a:gd name="adj" fmla="val 11538"/>
            </a:avLst>
          </a:prstGeom>
          <a:solidFill>
            <a:srgbClr val="13314F"/>
          </a:solidFill>
          <a:ln w="1524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" y="384048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沒有標準答案。而且各位比世界上大部分工程師更有資格回答，因為那是各位家裡的路。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活動一：告訴我你的底子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沒有對錯，誠實回答。答案決定後面上機課從多基礎開始。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786384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1380744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2376" y="1463040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07592" y="129844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你寫過 Python 嗎？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07592" y="161848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完全沒有　／　上過課但不熟　／　自己寫過程式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8138160" cy="786384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22376" y="2276856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2359152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07592" y="219456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你用過 Linux 或終端機嗎？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07592" y="251460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　／　用過一點　／　很熟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2999232"/>
            <a:ext cx="8138160" cy="786384"/>
          </a:xfrm>
          <a:prstGeom prst="roundRect">
            <a:avLst>
              <a:gd name="adj" fmla="val 11628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" y="3172968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22376" y="3255264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307592" y="3090672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你拆過車上的電子零件嗎？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07592" y="341071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　／　看別人拆過　／　自己動手拆過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95020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如果全班都沒寫過 Python，我們就從「什麼是變數」開始，不用不好意思。</a:t>
            </a:r>
            <a:endParaRPr lang="en-US" sz="1300" dirty="0"/>
          </a:p>
        </p:txBody>
      </p:sp>
      <p:pic>
        <p:nvPicPr>
          <p:cNvPr id="20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活動二：這是 L 幾？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四人一組討論三分鐘。重點不是猜對，是說出理由。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50208" cy="1060704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4264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79576" y="1325880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車子會自己維持在車道中間、跟前車保持距離，但螢幕一直提醒你把手放在方向盤上。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90872" y="1207008"/>
            <a:ext cx="3950208" cy="1060704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73752" y="1371600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73752" y="14264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367528" y="1325880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車子只在你快撞到前車的時候才自己踩煞車，其他時候都是你在開。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2414016"/>
            <a:ext cx="3950208" cy="1060704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57860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6334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79576" y="2532888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高速公路塞車時，你可以放開方向盤看手機，系統會提醒你什麼時候該接手。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690872" y="2414016"/>
            <a:ext cx="3950208" cy="1060704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73752" y="257860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73752" y="26334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67528" y="2532888"/>
            <a:ext cx="30723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你用手機叫車，來的車駕駛座上沒有人，它自己載你到目的地。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3712464"/>
            <a:ext cx="8138160" cy="475488"/>
          </a:xfrm>
          <a:prstGeom prst="roundRect">
            <a:avLst>
              <a:gd name="adj" fmla="val 17308"/>
            </a:avLst>
          </a:prstGeom>
          <a:solidFill>
            <a:srgbClr val="0B1F3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38221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兩個提示：瞬間還是持續？這時候誰在負責？</a:t>
            </a:r>
            <a:endParaRPr lang="en-US" sz="1400" dirty="0"/>
          </a:p>
        </p:txBody>
      </p:sp>
      <p:pic>
        <p:nvPicPr>
          <p:cNvPr id="22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答案與理由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7772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瞬間還是持續？誰在負責？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676656"/>
          </a:xfrm>
          <a:prstGeom prst="roundRect">
            <a:avLst>
              <a:gd name="adj" fmla="val 135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344168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1408176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71016" y="1344168"/>
            <a:ext cx="658368" cy="402336"/>
          </a:xfrm>
          <a:prstGeom prst="roundRect">
            <a:avLst>
              <a:gd name="adj" fmla="val 15909"/>
            </a:avLst>
          </a:prstGeom>
          <a:solidFill>
            <a:srgbClr val="0E7C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71016" y="14081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075688" y="12801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同時管轉向和速度，所以不是 L1；一直提醒你手放方向盤，責任還在你，所以不是 L3。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1993392"/>
            <a:ext cx="8138160" cy="676656"/>
          </a:xfrm>
          <a:prstGeom prst="roundRect">
            <a:avLst>
              <a:gd name="adj" fmla="val 135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04088" y="2130552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" y="219456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71016" y="2130552"/>
            <a:ext cx="658368" cy="402336"/>
          </a:xfrm>
          <a:prstGeom prst="roundRect">
            <a:avLst>
              <a:gd name="adj" fmla="val 15909"/>
            </a:avLst>
          </a:prstGeom>
          <a:solidFill>
            <a:srgbClr val="0E7C7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71016" y="21945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075688" y="206654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AEB 只在快撞到的瞬間介入，不是持續控制。J3016 明確歸在 L0。最多人答錯的一題。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2779776"/>
            <a:ext cx="8138160" cy="676656"/>
          </a:xfrm>
          <a:prstGeom prst="roundRect">
            <a:avLst>
              <a:gd name="adj" fmla="val 135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" y="2916936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4088" y="2980944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71016" y="2916936"/>
            <a:ext cx="658368" cy="402336"/>
          </a:xfrm>
          <a:prstGeom prst="roundRect">
            <a:avLst>
              <a:gd name="adj" fmla="val 15909"/>
            </a:avLst>
          </a:prstGeom>
          <a:solidFill>
            <a:srgbClr val="0E7C7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271016" y="29809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075688" y="28529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可以不看路，但系統要求時必須接手。「高速公路塞車時」就是 ODD。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3566160"/>
            <a:ext cx="8138160" cy="676656"/>
          </a:xfrm>
          <a:prstGeom prst="roundRect">
            <a:avLst>
              <a:gd name="adj" fmla="val 13514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04088" y="3703320"/>
            <a:ext cx="402336" cy="402336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4088" y="3767328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271016" y="3703320"/>
            <a:ext cx="658368" cy="402336"/>
          </a:xfrm>
          <a:prstGeom prst="roundRect">
            <a:avLst>
              <a:gd name="adj" fmla="val 15909"/>
            </a:avLst>
          </a:prstGeom>
          <a:solidFill>
            <a:srgbClr val="0E7C7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71016" y="37673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2075688" y="363931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駕駛座沒有人，接手由系統自己執行。這就是 Waymo。</a:t>
            </a:r>
            <a:endParaRPr lang="en-US" sz="1350" dirty="0"/>
          </a:p>
        </p:txBody>
      </p:sp>
      <p:pic>
        <p:nvPicPr>
          <p:cNvPr id="28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7432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960120"/>
            <a:ext cx="8138160" cy="841248"/>
          </a:xfrm>
          <a:prstGeom prst="roundRect">
            <a:avLst>
              <a:gd name="adj" fmla="val 10870"/>
            </a:avLst>
          </a:prstGeom>
          <a:solidFill>
            <a:srgbClr val="EAF6F4"/>
          </a:solidFill>
          <a:ln w="12700">
            <a:solidFill>
              <a:srgbClr val="BFE3DD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58952" y="1088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2 週・9 月 17 日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138074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第一章（下）：產業現況——四種玩家、兩條路線、為什麼 Waymo 做計程車而 Tesla 賣車給你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240">
            <a:solidFill>
              <a:srgbClr val="0B1F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2020824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把講義帶來，附錄一的術語表每週都用；先讀 1.7 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1576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240">
            <a:solidFill>
              <a:srgbClr val="0B1F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267919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找一支 Waymo、Tesla Robotaxi 或 Zoox 的實際乘車影片，看完想：你注意到什麼？下週第三節每組分享一支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374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24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333756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想一個問題：VinFast 若要在河內做 robotaxi，最大的困難會是什麼？台灣的公司呢？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408736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有問題隨時用越南語問，字幕會翻。</a:t>
            </a:r>
            <a:endParaRPr lang="en-US" sz="1350" dirty="0"/>
          </a:p>
        </p:txBody>
      </p:sp>
      <p:pic>
        <p:nvPicPr>
          <p:cNvPr id="13" name="Image 0" descr=".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709160"/>
            <a:ext cx="1143000" cy="252541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8745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今天到這裡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2761488"/>
            <a:ext cx="1371600" cy="411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296265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下週四見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自動駕駛原理・第一章（上）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9728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2026-10-23T08:21:13Z</dcterms:created>
  <dcterms:modified xsi:type="dcterms:W3CDTF">2026-10-23T08:21:13Z</dcterms:modified>
</cp:coreProperties>
</file>